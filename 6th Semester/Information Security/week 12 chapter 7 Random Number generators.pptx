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59" r:id="rId7"/>
    <p:sldId id="260" r:id="rId8"/>
    <p:sldId id="268" r:id="rId9"/>
    <p:sldId id="261" r:id="rId10"/>
    <p:sldId id="264" r:id="rId11"/>
    <p:sldId id="269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8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4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5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5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6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8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1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9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2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5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0F30B-7CA9-4FF3-9A2A-FE2A3E1E116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2A19A-BB92-4E9C-824F-1B6953C4F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5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4632326"/>
            <a:ext cx="9144000" cy="1655762"/>
          </a:xfrm>
        </p:spPr>
        <p:txBody>
          <a:bodyPr/>
          <a:lstStyle/>
          <a:p>
            <a:r>
              <a:rPr lang="en-US" dirty="0" err="1" smtClean="0"/>
              <a:t>Razia</a:t>
            </a:r>
            <a:r>
              <a:rPr lang="en-US" dirty="0" smtClean="0"/>
              <a:t> </a:t>
            </a:r>
            <a:r>
              <a:rPr lang="en-US" dirty="0" err="1" smtClean="0"/>
              <a:t>Nisar</a:t>
            </a:r>
            <a:r>
              <a:rPr lang="en-US" dirty="0" smtClean="0"/>
              <a:t> </a:t>
            </a:r>
            <a:r>
              <a:rPr lang="en-US" dirty="0" err="1" smtClean="0"/>
              <a:t>Noorani</a:t>
            </a:r>
            <a:endParaRPr lang="en-US" dirty="0" smtClean="0"/>
          </a:p>
          <a:p>
            <a:r>
              <a:rPr lang="en-US" dirty="0" smtClean="0"/>
              <a:t>Asst. Professor</a:t>
            </a:r>
          </a:p>
          <a:p>
            <a:r>
              <a:rPr lang="en-US" dirty="0" smtClean="0"/>
              <a:t>SSUET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97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0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Use of Random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 number of network security algorithms and protocols based on cryptography make use of random binary numbers. For example, </a:t>
            </a:r>
          </a:p>
          <a:p>
            <a:r>
              <a:rPr lang="en-US" dirty="0" smtClean="0"/>
              <a:t>Key distribution and reciprocal (mutual) authentication schemes, such as those discussed in Chapters 14 and 15. In such schemes, two communicating parties cooperate by exchanging messages to distribute keys and/or authenticate each other. In many cases, </a:t>
            </a:r>
            <a:r>
              <a:rPr lang="en-US" dirty="0" err="1" smtClean="0"/>
              <a:t>nonces</a:t>
            </a:r>
            <a:r>
              <a:rPr lang="en-US" dirty="0" smtClean="0"/>
              <a:t> are used for handshaking to prevent replay attacks. The use of random numbers for the </a:t>
            </a:r>
            <a:r>
              <a:rPr lang="en-US" dirty="0" err="1" smtClean="0"/>
              <a:t>nonces</a:t>
            </a:r>
            <a:r>
              <a:rPr lang="en-US" dirty="0" smtClean="0"/>
              <a:t> frustrates an opponent’s efforts to determine or guess the nonce, in order to repeat an obsolete transaction. </a:t>
            </a:r>
          </a:p>
          <a:p>
            <a:r>
              <a:rPr lang="en-US" dirty="0" smtClean="0"/>
              <a:t>Session key generation. We will see a number of protocols in this book where a secret key for symmetric encryption is generated for use for a particular transaction (or session) and is valid for a short period of time. This key is generally called a session key. </a:t>
            </a:r>
          </a:p>
          <a:p>
            <a:r>
              <a:rPr lang="en-US" dirty="0" smtClean="0"/>
              <a:t>Generation of keys for the RSA public-key encryption algorithm (described in Chapter 9). </a:t>
            </a:r>
          </a:p>
          <a:p>
            <a:r>
              <a:rPr lang="en-US" dirty="0" smtClean="0"/>
              <a:t> Generation of a bit stream for symmetric stream encryption (described in this chapter). These applications give rise to two distinct and not necessarily compatible requirements for a sequence of random numbers: randomness and unpredictability.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91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following two criteria are used to validate that a sequence of numbers is random:  </a:t>
            </a:r>
          </a:p>
          <a:p>
            <a:r>
              <a:rPr lang="en-US" b="1" dirty="0" smtClean="0"/>
              <a:t>Uniform distribution</a:t>
            </a:r>
            <a:r>
              <a:rPr lang="en-US" dirty="0" smtClean="0"/>
              <a:t>: The distribution of bits in the sequence should be uniform; that is, the frequency of occurrence of ones and zeros should be approximately equal.</a:t>
            </a:r>
          </a:p>
          <a:p>
            <a:r>
              <a:rPr lang="en-US" b="1" dirty="0" smtClean="0"/>
              <a:t>Independence: </a:t>
            </a:r>
            <a:r>
              <a:rPr lang="en-US" dirty="0" smtClean="0"/>
              <a:t>No one subsequence in the sequence can be inferred from the others.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4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True Random Number Generator</a:t>
            </a:r>
            <a:r>
              <a:rPr lang="en-US" dirty="0" smtClean="0"/>
              <a:t>: takes as input a source that is effectively random; the source is often referred to as an entropy source.</a:t>
            </a:r>
            <a:endParaRPr lang="en-US" b="1" dirty="0" smtClean="0"/>
          </a:p>
          <a:p>
            <a:r>
              <a:rPr lang="en-US" b="1" dirty="0" smtClean="0"/>
              <a:t>Pseudorandom number generator: </a:t>
            </a:r>
            <a:r>
              <a:rPr lang="en-US" dirty="0" smtClean="0"/>
              <a:t>An algorithm that is used to produce an open-ended sequence of bits is referred to as a PRNG. A common application for an open-ended sequence of bits is as input to a symmetric</a:t>
            </a:r>
            <a:r>
              <a:rPr lang="en-US" dirty="0" smtClean="0"/>
              <a:t> stream cipher</a:t>
            </a:r>
          </a:p>
          <a:p>
            <a:endParaRPr lang="en-US" dirty="0" smtClean="0"/>
          </a:p>
          <a:p>
            <a:r>
              <a:rPr lang="en-US" b="1" dirty="0" smtClean="0"/>
              <a:t>Pseudorandom function (PRF): </a:t>
            </a:r>
            <a:r>
              <a:rPr lang="en-US" dirty="0" smtClean="0"/>
              <a:t>A PRF is used to produced a pseudorandom string of bits of some fixed length. Examples are symmetric encryption keys and </a:t>
            </a:r>
            <a:r>
              <a:rPr lang="en-US" dirty="0" err="1" smtClean="0"/>
              <a:t>nonces</a:t>
            </a:r>
            <a:r>
              <a:rPr lang="en-US" dirty="0" smtClean="0"/>
              <a:t>. Typically, the PRF takes as input a seed plus some context specific values, such as a user ID or an application 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813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TRNGs, PRNGs, and PRFs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81" y="1690688"/>
            <a:ext cx="8005762" cy="430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2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Congruential Generators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839994" cy="482336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widely used technique for pseudorandom number generation is an algorithm first proposed by </a:t>
            </a:r>
            <a:r>
              <a:rPr lang="en-US" sz="2400" dirty="0" err="1" smtClean="0"/>
              <a:t>Lehmer</a:t>
            </a:r>
            <a:r>
              <a:rPr lang="en-US" sz="2400" dirty="0" smtClean="0"/>
              <a:t> [LEHM51], which is known as the linear congruential method. The algorithm is parameterized with four numbers, as follows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m, a, c, and X</a:t>
            </a:r>
            <a:r>
              <a:rPr lang="en-US" sz="1600" dirty="0" smtClean="0"/>
              <a:t>0</a:t>
            </a:r>
            <a:r>
              <a:rPr lang="en-US" dirty="0" smtClean="0"/>
              <a:t> are integers, then this technique will produce a sequence of integers with each integer in the range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536" y="3344092"/>
            <a:ext cx="8595231" cy="214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6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selection of values for a, c, and m is critical in developing a good random number generator. For example, consider a = c = 1. The sequence produced is obviously not satisfactory. Now consider the values a = 7, c = 0, m = 32, and X0 = 1. This generates the sequence {7, 17, 23, 1, 7, etc.}, which is also clearly unsatisfactory</a:t>
            </a:r>
            <a:endParaRPr lang="en-US" dirty="0"/>
          </a:p>
          <a:p>
            <a:r>
              <a:rPr lang="en-US" dirty="0" smtClean="0"/>
              <a:t>Of the 32 possible values, only four are used; thus, the sequence is said to have a period of 4. If, instead, we change the value of a to 5, then the sequence is {5, 25, 29, 17, 21, 9, 13, 1, 5, etc.}, which increases the period to 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39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Solution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91" y="1864813"/>
            <a:ext cx="1058077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Parameters: a = 3 (multiplier), </a:t>
            </a:r>
            <a:endParaRPr lang="en-US" dirty="0" smtClean="0"/>
          </a:p>
          <a:p>
            <a:r>
              <a:rPr lang="en-US" dirty="0" smtClean="0"/>
              <a:t>c </a:t>
            </a:r>
            <a:r>
              <a:rPr lang="en-US" dirty="0"/>
              <a:t>= 5 (increment), </a:t>
            </a:r>
            <a:endParaRPr lang="en-US" dirty="0" smtClean="0"/>
          </a:p>
          <a:p>
            <a:r>
              <a:rPr lang="en-US" dirty="0" smtClean="0"/>
              <a:t>m </a:t>
            </a:r>
            <a:r>
              <a:rPr lang="en-US" dirty="0"/>
              <a:t>= 17 (modulus), and </a:t>
            </a:r>
            <a:endParaRPr lang="en-US" dirty="0" smtClean="0"/>
          </a:p>
          <a:p>
            <a:r>
              <a:rPr lang="en-US" dirty="0" smtClean="0"/>
              <a:t>X</a:t>
            </a:r>
            <a:r>
              <a:rPr lang="en-US" sz="18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= 2 (initial seed). 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Resulting </a:t>
            </a:r>
            <a:r>
              <a:rPr lang="en-US" dirty="0"/>
              <a:t>Sequence: 11, 4, 0, 5, 3, 14, 13, 10, 1, 8, 12, 7, 9, 15, 16,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832" y="487817"/>
            <a:ext cx="401002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Blum </a:t>
            </a:r>
            <a:r>
              <a:rPr lang="en-US" dirty="0" err="1" smtClean="0"/>
              <a:t>Blum</a:t>
            </a:r>
            <a:r>
              <a:rPr lang="en-US" dirty="0" smtClean="0"/>
              <a:t> </a:t>
            </a:r>
            <a:r>
              <a:rPr lang="en-US" dirty="0" err="1" smtClean="0"/>
              <a:t>Shub</a:t>
            </a:r>
            <a:r>
              <a:rPr lang="en-US" dirty="0" smtClean="0"/>
              <a:t> 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popular approach to generating secure pseudorandom numbers is known as the Blum </a:t>
            </a:r>
            <a:r>
              <a:rPr lang="en-US" dirty="0" err="1" smtClean="0"/>
              <a:t>Blum</a:t>
            </a:r>
            <a:r>
              <a:rPr lang="en-US" dirty="0" smtClean="0"/>
              <a:t> </a:t>
            </a:r>
            <a:r>
              <a:rPr lang="en-US" dirty="0" err="1" smtClean="0"/>
              <a:t>Shub</a:t>
            </a:r>
            <a:r>
              <a:rPr lang="en-US" dirty="0" smtClean="0"/>
              <a:t> (BBS) generator</a:t>
            </a:r>
          </a:p>
          <a:p>
            <a:r>
              <a:rPr lang="en-US" dirty="0"/>
              <a:t>N</a:t>
            </a:r>
            <a:r>
              <a:rPr lang="en-US" dirty="0" smtClean="0"/>
              <a:t>amed for its developers [BLUM86]. It has perhaps the strongest public proof of its cryptographic strength of any purpose-built algorithm. The procedure is as follows. First, choose two large prime numbers, p and q, that both have a remainder of 3 when divided by 4. That is,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28" y="4371566"/>
            <a:ext cx="2941006" cy="44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9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364" y="1825625"/>
            <a:ext cx="9817271" cy="336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45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4" y="312873"/>
            <a:ext cx="9490462" cy="61643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62791" y="6529491"/>
            <a:ext cx="5434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+mj-lt"/>
              <a:buAutoNum type="arabicPeriod" startAt="5"/>
            </a:pPr>
            <a:r>
              <a:rPr lang="en-US" b="1" i="0" dirty="0" smtClean="0">
                <a:solidFill>
                  <a:srgbClr val="001D35"/>
                </a:solidFill>
                <a:effectLst/>
                <a:latin typeface="Google Sans"/>
              </a:rPr>
              <a:t>Output:</a:t>
            </a:r>
            <a:r>
              <a:rPr lang="en-US" b="0" i="0" dirty="0" smtClean="0">
                <a:solidFill>
                  <a:srgbClr val="001D35"/>
                </a:solidFill>
                <a:effectLst/>
                <a:latin typeface="Google Sans"/>
              </a:rPr>
              <a:t> The generated sequence of bits is 1100. 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82610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94" y="849493"/>
            <a:ext cx="8476022" cy="568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0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787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Google Sans</vt:lpstr>
      <vt:lpstr>Office Theme</vt:lpstr>
      <vt:lpstr>Chapter 7</vt:lpstr>
      <vt:lpstr>The Use of Random Numbers</vt:lpstr>
      <vt:lpstr>Criteria</vt:lpstr>
      <vt:lpstr>PowerPoint Presentation</vt:lpstr>
      <vt:lpstr>TRNGs, PRNGs, and PRFs</vt:lpstr>
      <vt:lpstr>Linear Congruential Generators</vt:lpstr>
      <vt:lpstr>Example</vt:lpstr>
      <vt:lpstr>Solution</vt:lpstr>
      <vt:lpstr>Blum Blum Shub Generator</vt:lpstr>
      <vt:lpstr>PowerPoint Presentation</vt:lpstr>
      <vt:lpstr>Example: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18</cp:revision>
  <dcterms:created xsi:type="dcterms:W3CDTF">2025-05-20T10:16:57Z</dcterms:created>
  <dcterms:modified xsi:type="dcterms:W3CDTF">2025-05-20T10:45:29Z</dcterms:modified>
</cp:coreProperties>
</file>