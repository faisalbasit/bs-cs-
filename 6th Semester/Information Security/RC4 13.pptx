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6" r:id="rId2"/>
    <p:sldId id="264" r:id="rId3"/>
    <p:sldId id="261" r:id="rId4"/>
    <p:sldId id="262" r:id="rId5"/>
    <p:sldId id="263" r:id="rId6"/>
    <p:sldId id="267" r:id="rId7"/>
    <p:sldId id="268" r:id="rId8"/>
    <p:sldId id="269" r:id="rId9"/>
    <p:sldId id="270"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7" autoAdjust="0"/>
    <p:restoredTop sz="94660"/>
  </p:normalViewPr>
  <p:slideViewPr>
    <p:cSldViewPr>
      <p:cViewPr varScale="1">
        <p:scale>
          <a:sx n="69" d="100"/>
          <a:sy n="69" d="100"/>
        </p:scale>
        <p:origin x="1410"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702FEA-9B39-474A-B96B-6FD835496D7F}" type="datetimeFigureOut">
              <a:rPr lang="en-GB" smtClean="0"/>
              <a:t>30/05/2025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046E28-B541-4D43-B217-A4EDBDA3A48B}" type="slidenum">
              <a:rPr lang="en-GB" smtClean="0"/>
              <a:t>‹#›</a:t>
            </a:fld>
            <a:endParaRPr lang="en-GB"/>
          </a:p>
        </p:txBody>
      </p:sp>
    </p:spTree>
    <p:extLst>
      <p:ext uri="{BB962C8B-B14F-4D97-AF65-F5344CB8AC3E}">
        <p14:creationId xmlns:p14="http://schemas.microsoft.com/office/powerpoint/2010/main" val="3907631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B046E28-B541-4D43-B217-A4EDBDA3A48B}" type="slidenum">
              <a:rPr lang="en-GB" smtClean="0"/>
              <a:t>2</a:t>
            </a:fld>
            <a:endParaRPr lang="en-GB"/>
          </a:p>
        </p:txBody>
      </p:sp>
    </p:spTree>
    <p:extLst>
      <p:ext uri="{BB962C8B-B14F-4D97-AF65-F5344CB8AC3E}">
        <p14:creationId xmlns:p14="http://schemas.microsoft.com/office/powerpoint/2010/main" val="955908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B046E28-B541-4D43-B217-A4EDBDA3A48B}" type="slidenum">
              <a:rPr lang="en-GB" smtClean="0"/>
              <a:t>3</a:t>
            </a:fld>
            <a:endParaRPr lang="en-GB"/>
          </a:p>
        </p:txBody>
      </p:sp>
    </p:spTree>
    <p:extLst>
      <p:ext uri="{BB962C8B-B14F-4D97-AF65-F5344CB8AC3E}">
        <p14:creationId xmlns:p14="http://schemas.microsoft.com/office/powerpoint/2010/main" val="4075958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B046E28-B541-4D43-B217-A4EDBDA3A48B}" type="slidenum">
              <a:rPr lang="en-GB" smtClean="0"/>
              <a:t>4</a:t>
            </a:fld>
            <a:endParaRPr lang="en-GB"/>
          </a:p>
        </p:txBody>
      </p:sp>
    </p:spTree>
    <p:extLst>
      <p:ext uri="{BB962C8B-B14F-4D97-AF65-F5344CB8AC3E}">
        <p14:creationId xmlns:p14="http://schemas.microsoft.com/office/powerpoint/2010/main" val="1301701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B046E28-B541-4D43-B217-A4EDBDA3A48B}" type="slidenum">
              <a:rPr lang="en-GB" smtClean="0"/>
              <a:t>5</a:t>
            </a:fld>
            <a:endParaRPr lang="en-GB"/>
          </a:p>
        </p:txBody>
      </p:sp>
    </p:spTree>
    <p:extLst>
      <p:ext uri="{BB962C8B-B14F-4D97-AF65-F5344CB8AC3E}">
        <p14:creationId xmlns:p14="http://schemas.microsoft.com/office/powerpoint/2010/main" val="592207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53ECCFF-1515-4537-86BA-2EBC7EA12CAF}" type="datetimeFigureOut">
              <a:rPr lang="en-GB" smtClean="0"/>
              <a:t>30/05/2025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2377856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53ECCFF-1515-4537-86BA-2EBC7EA12CAF}" type="datetimeFigureOut">
              <a:rPr lang="en-GB" smtClean="0"/>
              <a:t>30/05/2025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2244900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ECCFF-1515-4537-86BA-2EBC7EA12CAF}" type="datetimeFigureOut">
              <a:rPr lang="en-GB" smtClean="0"/>
              <a:t>30/05/2025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589559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53ECCFF-1515-4537-86BA-2EBC7EA12CAF}" type="datetimeFigureOut">
              <a:rPr lang="en-GB" smtClean="0"/>
              <a:t>30/05/2025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1479575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53ECCFF-1515-4537-86BA-2EBC7EA12CAF}" type="datetimeFigureOut">
              <a:rPr lang="en-GB" smtClean="0"/>
              <a:t>30/05/2025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167930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53ECCFF-1515-4537-86BA-2EBC7EA12CAF}" type="datetimeFigureOut">
              <a:rPr lang="en-GB" smtClean="0"/>
              <a:t>30/05/2025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3246869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3ECCFF-1515-4537-86BA-2EBC7EA12CAF}" type="datetimeFigureOut">
              <a:rPr lang="en-GB" smtClean="0"/>
              <a:t>30/05/2025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1815380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ECCFF-1515-4537-86BA-2EBC7EA12CAF}" type="datetimeFigureOut">
              <a:rPr lang="en-GB" smtClean="0"/>
              <a:t>30/05/2025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271504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ECCFF-1515-4537-86BA-2EBC7EA12CAF}" type="datetimeFigureOut">
              <a:rPr lang="en-GB" smtClean="0"/>
              <a:t>30/05/2025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1596314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53ECCFF-1515-4537-86BA-2EBC7EA12CAF}" type="datetimeFigureOut">
              <a:rPr lang="en-GB" smtClean="0"/>
              <a:t>30/05/2025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3020153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53ECCFF-1515-4537-86BA-2EBC7EA12CAF}" type="datetimeFigureOut">
              <a:rPr lang="en-GB" smtClean="0"/>
              <a:t>30/05/2025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5AB9C3-8C8F-4076-A102-4983FE0D76F0}" type="slidenum">
              <a:rPr lang="en-GB" smtClean="0"/>
              <a:t>‹#›</a:t>
            </a:fld>
            <a:endParaRPr lang="en-GB"/>
          </a:p>
        </p:txBody>
      </p:sp>
    </p:spTree>
    <p:extLst>
      <p:ext uri="{BB962C8B-B14F-4D97-AF65-F5344CB8AC3E}">
        <p14:creationId xmlns:p14="http://schemas.microsoft.com/office/powerpoint/2010/main" val="2735809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3ECCFF-1515-4537-86BA-2EBC7EA12CAF}" type="datetimeFigureOut">
              <a:rPr lang="en-GB" smtClean="0"/>
              <a:t>30/05/2025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AB9C3-8C8F-4076-A102-4983FE0D76F0}" type="slidenum">
              <a:rPr lang="en-GB" smtClean="0"/>
              <a:t>‹#›</a:t>
            </a:fld>
            <a:endParaRPr lang="en-GB"/>
          </a:p>
        </p:txBody>
      </p:sp>
    </p:spTree>
    <p:extLst>
      <p:ext uri="{BB962C8B-B14F-4D97-AF65-F5344CB8AC3E}">
        <p14:creationId xmlns:p14="http://schemas.microsoft.com/office/powerpoint/2010/main" val="2357329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RC4</a:t>
            </a:r>
            <a:endParaRPr lang="en-US" dirty="0"/>
          </a:p>
        </p:txBody>
      </p:sp>
      <p:sp>
        <p:nvSpPr>
          <p:cNvPr id="3" name="Subtitle 2"/>
          <p:cNvSpPr>
            <a:spLocks noGrp="1"/>
          </p:cNvSpPr>
          <p:nvPr>
            <p:ph type="subTitle" idx="1"/>
          </p:nvPr>
        </p:nvSpPr>
        <p:spPr/>
        <p:txBody>
          <a:bodyPr>
            <a:normAutofit fontScale="85000" lnSpcReduction="20000"/>
          </a:bodyPr>
          <a:lstStyle/>
          <a:p>
            <a:r>
              <a:rPr lang="en-US" dirty="0" smtClean="0"/>
              <a:t>By</a:t>
            </a:r>
          </a:p>
          <a:p>
            <a:r>
              <a:rPr lang="en-US" dirty="0" err="1" smtClean="0"/>
              <a:t>Razia</a:t>
            </a:r>
            <a:r>
              <a:rPr lang="en-US" dirty="0" smtClean="0"/>
              <a:t> </a:t>
            </a:r>
            <a:r>
              <a:rPr lang="en-US" dirty="0" err="1" smtClean="0"/>
              <a:t>Nisar</a:t>
            </a:r>
            <a:r>
              <a:rPr lang="en-US" dirty="0" smtClean="0"/>
              <a:t> </a:t>
            </a:r>
            <a:r>
              <a:rPr lang="en-US" dirty="0" err="1" smtClean="0"/>
              <a:t>Noorani</a:t>
            </a:r>
            <a:endParaRPr lang="en-US" dirty="0" smtClean="0"/>
          </a:p>
          <a:p>
            <a:r>
              <a:rPr lang="en-US" dirty="0" smtClean="0"/>
              <a:t>Asst. Professor</a:t>
            </a:r>
          </a:p>
          <a:p>
            <a:r>
              <a:rPr lang="en-US" dirty="0" smtClean="0"/>
              <a:t>SSUET</a:t>
            </a:r>
            <a:endParaRPr lang="en-US" dirty="0"/>
          </a:p>
        </p:txBody>
      </p:sp>
    </p:spTree>
    <p:extLst>
      <p:ext uri="{BB962C8B-B14F-4D97-AF65-F5344CB8AC3E}">
        <p14:creationId xmlns:p14="http://schemas.microsoft.com/office/powerpoint/2010/main" val="3292559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2</a:t>
            </a:fld>
            <a:endParaRPr lang="en-GB"/>
          </a:p>
        </p:txBody>
      </p:sp>
      <p:sp>
        <p:nvSpPr>
          <p:cNvPr id="3" name="TextBox 2"/>
          <p:cNvSpPr txBox="1"/>
          <p:nvPr/>
        </p:nvSpPr>
        <p:spPr>
          <a:xfrm>
            <a:off x="323528" y="1124744"/>
            <a:ext cx="8568952" cy="4962897"/>
          </a:xfrm>
          <a:prstGeom prst="rect">
            <a:avLst/>
          </a:prstGeom>
          <a:noFill/>
        </p:spPr>
        <p:txBody>
          <a:bodyPr wrap="square" rtlCol="0">
            <a:spAutoFit/>
          </a:bodyPr>
          <a:lstStyle/>
          <a:p>
            <a:pPr algn="ctr"/>
            <a:r>
              <a:rPr lang="en-GB" sz="2400" b="1" dirty="0"/>
              <a:t> </a:t>
            </a:r>
            <a:r>
              <a:rPr lang="en-GB" sz="2800" b="1" dirty="0">
                <a:solidFill>
                  <a:srgbClr val="FF0000"/>
                </a:solidFill>
              </a:rPr>
              <a:t>Stream Cipher</a:t>
            </a:r>
          </a:p>
          <a:p>
            <a:endParaRPr lang="en-GB" sz="1050" b="1" dirty="0">
              <a:solidFill>
                <a:srgbClr val="0070C0"/>
              </a:solidFill>
            </a:endParaRPr>
          </a:p>
          <a:p>
            <a:r>
              <a:rPr lang="en-GB" sz="2000" b="1" dirty="0"/>
              <a:t>The RC4 Stream Cipher:</a:t>
            </a:r>
          </a:p>
          <a:p>
            <a:r>
              <a:rPr lang="en-GB" dirty="0"/>
              <a:t>RC4 is a stream cipher designed in 1987 by Ron </a:t>
            </a:r>
            <a:r>
              <a:rPr lang="en-GB" dirty="0" err="1"/>
              <a:t>Rivest</a:t>
            </a:r>
            <a:r>
              <a:rPr lang="en-GB" dirty="0"/>
              <a:t>. It is a variable key-size stream cipher with byte-oriented operations. The algorithm is based on the use of a random permutation.</a:t>
            </a:r>
          </a:p>
          <a:p>
            <a:endParaRPr lang="en-GB" sz="1050" dirty="0"/>
          </a:p>
          <a:p>
            <a:pPr marL="285750" indent="-285750">
              <a:buFont typeface="Wingdings" panose="05000000000000000000" pitchFamily="2" charset="2"/>
              <a:buChar char="q"/>
            </a:pPr>
            <a:r>
              <a:rPr lang="en-GB" dirty="0"/>
              <a:t>The period of the cipher is likely to be greater than 10</a:t>
            </a:r>
            <a:r>
              <a:rPr lang="en-GB" baseline="30000" dirty="0"/>
              <a:t>100 </a:t>
            </a:r>
            <a:r>
              <a:rPr lang="en-GB" dirty="0"/>
              <a:t>.</a:t>
            </a:r>
          </a:p>
          <a:p>
            <a:endParaRPr lang="en-GB" sz="1050" dirty="0"/>
          </a:p>
          <a:p>
            <a:pPr marL="285750" indent="-285750">
              <a:buFont typeface="Wingdings" panose="05000000000000000000" pitchFamily="2" charset="2"/>
              <a:buChar char="q"/>
            </a:pPr>
            <a:r>
              <a:rPr lang="en-GB" dirty="0"/>
              <a:t>The cipher can be expected to run very quickly in software.</a:t>
            </a:r>
          </a:p>
          <a:p>
            <a:endParaRPr lang="en-GB" sz="1050" dirty="0"/>
          </a:p>
          <a:p>
            <a:pPr marL="285750" indent="-285750">
              <a:buFont typeface="Wingdings" panose="05000000000000000000" pitchFamily="2" charset="2"/>
              <a:buChar char="q"/>
            </a:pPr>
            <a:r>
              <a:rPr lang="en-GB" dirty="0"/>
              <a:t>RC4 is used in </a:t>
            </a:r>
            <a:r>
              <a:rPr lang="en-GB" b="1" dirty="0"/>
              <a:t>WEP</a:t>
            </a:r>
            <a:r>
              <a:rPr lang="en-GB" dirty="0"/>
              <a:t> (Wired Equivalent Privacy) and </a:t>
            </a:r>
            <a:r>
              <a:rPr lang="en-GB" b="1" dirty="0"/>
              <a:t>WPA</a:t>
            </a:r>
            <a:r>
              <a:rPr lang="en-GB" dirty="0"/>
              <a:t> (</a:t>
            </a:r>
            <a:r>
              <a:rPr lang="en-GB" dirty="0" err="1"/>
              <a:t>WiFi</a:t>
            </a:r>
            <a:r>
              <a:rPr lang="en-GB" dirty="0"/>
              <a:t> Protected Access ), which are encryption protocols commonly used on wireless routers. RC4 was originally very widely used due to its simplicity and speed.</a:t>
            </a:r>
          </a:p>
          <a:p>
            <a:pPr marL="171450" indent="-171450">
              <a:buFont typeface="Wingdings" panose="05000000000000000000" pitchFamily="2" charset="2"/>
              <a:buChar char="q"/>
            </a:pPr>
            <a:endParaRPr lang="en-GB" sz="1050" dirty="0"/>
          </a:p>
          <a:p>
            <a:pPr marL="285750" indent="-285750">
              <a:buFont typeface="Wingdings" panose="05000000000000000000" pitchFamily="2" charset="2"/>
              <a:buChar char="q"/>
            </a:pPr>
            <a:r>
              <a:rPr lang="en-GB" dirty="0"/>
              <a:t>The main issue in this type of cipher is not with RC4 itself but the way in which keys are generated for use as input to RC4. Over time this code was shown to produce biased outputs towards certain sequences, mostly in first few bytes of the keystream generated.</a:t>
            </a:r>
          </a:p>
        </p:txBody>
      </p:sp>
    </p:spTree>
    <p:extLst>
      <p:ext uri="{BB962C8B-B14F-4D97-AF65-F5344CB8AC3E}">
        <p14:creationId xmlns:p14="http://schemas.microsoft.com/office/powerpoint/2010/main" val="1144766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3</a:t>
            </a:fld>
            <a:endParaRPr lang="en-GB"/>
          </a:p>
        </p:txBody>
      </p:sp>
      <p:sp>
        <p:nvSpPr>
          <p:cNvPr id="3" name="TextBox 2"/>
          <p:cNvSpPr txBox="1"/>
          <p:nvPr/>
        </p:nvSpPr>
        <p:spPr>
          <a:xfrm>
            <a:off x="323528" y="1124744"/>
            <a:ext cx="8568952" cy="4493538"/>
          </a:xfrm>
          <a:prstGeom prst="rect">
            <a:avLst/>
          </a:prstGeom>
          <a:noFill/>
        </p:spPr>
        <p:txBody>
          <a:bodyPr wrap="square" rtlCol="0">
            <a:spAutoFit/>
          </a:bodyPr>
          <a:lstStyle/>
          <a:p>
            <a:pPr algn="ctr"/>
            <a:r>
              <a:rPr lang="en-GB" sz="2400" b="1" dirty="0"/>
              <a:t> </a:t>
            </a:r>
            <a:r>
              <a:rPr lang="en-GB" sz="2400" b="1" dirty="0">
                <a:solidFill>
                  <a:srgbClr val="FF0000"/>
                </a:solidFill>
              </a:rPr>
              <a:t>RC4 Procedure</a:t>
            </a:r>
          </a:p>
          <a:p>
            <a:r>
              <a:rPr lang="en-GB" b="1" dirty="0">
                <a:solidFill>
                  <a:srgbClr val="0070C0"/>
                </a:solidFill>
              </a:rPr>
              <a:t>The RC4 algorithm:</a:t>
            </a:r>
          </a:p>
          <a:p>
            <a:r>
              <a:rPr lang="en-GB" sz="1600" dirty="0"/>
              <a:t>A variable-length key of from 1 to 256 bytes (8 to 2048 bits) is used to initialize a 256-byte state vector </a:t>
            </a:r>
            <a:r>
              <a:rPr lang="en-GB" sz="1600" b="1" dirty="0"/>
              <a:t>S</a:t>
            </a:r>
            <a:r>
              <a:rPr lang="en-GB" sz="1600" dirty="0"/>
              <a:t>, with elements </a:t>
            </a:r>
            <a:r>
              <a:rPr lang="en-GB" sz="1600" b="1" dirty="0"/>
              <a:t>S</a:t>
            </a:r>
            <a:r>
              <a:rPr lang="en-GB" sz="1600" dirty="0"/>
              <a:t>[0], </a:t>
            </a:r>
            <a:r>
              <a:rPr lang="en-GB" sz="1600" b="1" dirty="0"/>
              <a:t>S</a:t>
            </a:r>
            <a:r>
              <a:rPr lang="en-GB" sz="1600" dirty="0"/>
              <a:t>[1],..., </a:t>
            </a:r>
            <a:r>
              <a:rPr lang="en-GB" sz="1600" b="1" dirty="0"/>
              <a:t>S</a:t>
            </a:r>
            <a:r>
              <a:rPr lang="en-GB" sz="1600" dirty="0"/>
              <a:t>[255]. For encryption and decryption, a byte </a:t>
            </a:r>
            <a:r>
              <a:rPr lang="en-GB" sz="1600" b="1" dirty="0"/>
              <a:t>K</a:t>
            </a:r>
            <a:r>
              <a:rPr lang="en-GB" sz="1600" i="1" dirty="0"/>
              <a:t> </a:t>
            </a:r>
            <a:r>
              <a:rPr lang="en-GB" sz="1600" dirty="0"/>
              <a:t>is generated from </a:t>
            </a:r>
            <a:r>
              <a:rPr lang="en-GB" sz="1600" b="1" dirty="0"/>
              <a:t>S</a:t>
            </a:r>
            <a:r>
              <a:rPr lang="en-GB" sz="1600" dirty="0"/>
              <a:t> by selecting one of the 255 entries in a systematic fashion. As each a new  generated value of </a:t>
            </a:r>
            <a:r>
              <a:rPr lang="en-GB" sz="1600" b="1" dirty="0"/>
              <a:t>K</a:t>
            </a:r>
            <a:r>
              <a:rPr lang="en-GB" sz="1600" dirty="0"/>
              <a:t>, the entries in </a:t>
            </a:r>
            <a:r>
              <a:rPr lang="en-GB" sz="1600" b="1" dirty="0"/>
              <a:t>S </a:t>
            </a:r>
            <a:r>
              <a:rPr lang="en-GB" sz="1600" dirty="0"/>
              <a:t>are once again permuted.</a:t>
            </a:r>
            <a:endParaRPr lang="en-GB" sz="1600" b="1" dirty="0"/>
          </a:p>
          <a:p>
            <a:endParaRPr lang="en-GB" dirty="0"/>
          </a:p>
          <a:p>
            <a:r>
              <a:rPr lang="en-GB" b="1" dirty="0"/>
              <a:t>Step 1: Initialization of S</a:t>
            </a:r>
          </a:p>
          <a:p>
            <a:r>
              <a:rPr lang="en-GB" sz="1600" dirty="0"/>
              <a:t>To begin, (a) the entries of </a:t>
            </a:r>
            <a:r>
              <a:rPr lang="en-GB" sz="1600" b="1" dirty="0"/>
              <a:t>S</a:t>
            </a:r>
            <a:r>
              <a:rPr lang="en-GB" sz="1600" dirty="0"/>
              <a:t> are set equal to </a:t>
            </a:r>
          </a:p>
          <a:p>
            <a:r>
              <a:rPr lang="en-GB" sz="1600" dirty="0"/>
              <a:t>the values from 0 through 255 in ascending</a:t>
            </a:r>
          </a:p>
          <a:p>
            <a:r>
              <a:rPr lang="en-GB" sz="1600" dirty="0"/>
              <a:t> order; that is; </a:t>
            </a:r>
            <a:r>
              <a:rPr lang="en-GB" sz="1600" b="1" dirty="0"/>
              <a:t>S</a:t>
            </a:r>
            <a:r>
              <a:rPr lang="en-GB" sz="1600" dirty="0"/>
              <a:t>[0] = 0, </a:t>
            </a:r>
            <a:r>
              <a:rPr lang="en-GB" sz="1600" b="1" dirty="0"/>
              <a:t>S</a:t>
            </a:r>
            <a:r>
              <a:rPr lang="en-GB" sz="1600" dirty="0"/>
              <a:t>[1] = 1,...,</a:t>
            </a:r>
            <a:r>
              <a:rPr lang="en-GB" sz="1600" b="1" dirty="0"/>
              <a:t>S</a:t>
            </a:r>
            <a:r>
              <a:rPr lang="en-GB" sz="1600" dirty="0"/>
              <a:t>[255] = 255. </a:t>
            </a:r>
          </a:p>
          <a:p>
            <a:r>
              <a:rPr lang="en-GB" sz="1600" dirty="0"/>
              <a:t>(b) A temporary vector, </a:t>
            </a:r>
            <a:r>
              <a:rPr lang="en-GB" sz="1600" b="1" dirty="0"/>
              <a:t>T</a:t>
            </a:r>
            <a:r>
              <a:rPr lang="en-GB" sz="1600" dirty="0"/>
              <a:t>, is also created. </a:t>
            </a:r>
          </a:p>
          <a:p>
            <a:r>
              <a:rPr lang="en-GB" sz="1600" dirty="0"/>
              <a:t>If the length of the key </a:t>
            </a:r>
            <a:r>
              <a:rPr lang="en-GB" sz="1600" b="1" dirty="0"/>
              <a:t>K</a:t>
            </a:r>
            <a:r>
              <a:rPr lang="en-GB" sz="1600" dirty="0"/>
              <a:t> is 256 bytes, </a:t>
            </a:r>
          </a:p>
          <a:p>
            <a:r>
              <a:rPr lang="en-GB" sz="1600" dirty="0"/>
              <a:t>then </a:t>
            </a:r>
            <a:r>
              <a:rPr lang="en-GB" sz="1600" b="1" dirty="0"/>
              <a:t>K</a:t>
            </a:r>
            <a:r>
              <a:rPr lang="en-GB" sz="1600" dirty="0"/>
              <a:t> is transferred to </a:t>
            </a:r>
            <a:r>
              <a:rPr lang="en-GB" sz="1600" b="1" dirty="0"/>
              <a:t>T</a:t>
            </a:r>
            <a:r>
              <a:rPr lang="en-GB" sz="1600" dirty="0"/>
              <a:t>. Otherwise, for </a:t>
            </a:r>
          </a:p>
          <a:p>
            <a:r>
              <a:rPr lang="en-GB" sz="1600" dirty="0"/>
              <a:t>a key of length </a:t>
            </a:r>
            <a:r>
              <a:rPr lang="en-GB" sz="1600" b="1" i="1" dirty="0" err="1"/>
              <a:t>keylen</a:t>
            </a:r>
            <a:r>
              <a:rPr lang="en-GB" sz="1600" i="1" dirty="0"/>
              <a:t> </a:t>
            </a:r>
            <a:r>
              <a:rPr lang="en-GB" sz="1600" dirty="0"/>
              <a:t>bytes, </a:t>
            </a:r>
          </a:p>
          <a:p>
            <a:r>
              <a:rPr lang="en-GB" sz="1600" dirty="0"/>
              <a:t>the first </a:t>
            </a:r>
            <a:r>
              <a:rPr lang="en-GB" sz="1600" b="1" i="1" dirty="0" err="1"/>
              <a:t>keylen</a:t>
            </a:r>
            <a:r>
              <a:rPr lang="en-GB" sz="1600" b="1" i="1" dirty="0"/>
              <a:t> </a:t>
            </a:r>
            <a:r>
              <a:rPr lang="en-GB" sz="1600" dirty="0"/>
              <a:t>elements of </a:t>
            </a:r>
            <a:r>
              <a:rPr lang="en-GB" sz="1600" b="1" dirty="0"/>
              <a:t>T</a:t>
            </a:r>
            <a:r>
              <a:rPr lang="en-GB" sz="1600" dirty="0"/>
              <a:t> are copied from </a:t>
            </a:r>
            <a:r>
              <a:rPr lang="en-GB" sz="1600" b="1" dirty="0"/>
              <a:t>K</a:t>
            </a:r>
            <a:r>
              <a:rPr lang="en-GB" sz="1600" dirty="0"/>
              <a:t> </a:t>
            </a:r>
          </a:p>
          <a:p>
            <a:r>
              <a:rPr lang="en-GB" sz="1600" dirty="0"/>
              <a:t>and then </a:t>
            </a:r>
            <a:r>
              <a:rPr lang="en-GB" sz="1600" b="1" dirty="0"/>
              <a:t>K</a:t>
            </a:r>
            <a:r>
              <a:rPr lang="en-GB" sz="1600" dirty="0"/>
              <a:t> is repeated as many times as necessary to fill out </a:t>
            </a:r>
            <a:r>
              <a:rPr lang="en-GB" sz="1600" b="1" dirty="0"/>
              <a:t>T</a:t>
            </a:r>
            <a:r>
              <a:rPr lang="en-GB" sz="1600" dirty="0"/>
              <a:t>. </a:t>
            </a:r>
          </a:p>
        </p:txBody>
      </p:sp>
      <p:pic>
        <p:nvPicPr>
          <p:cNvPr id="6" name="Picture 2" descr="E:\محاضرات\cryptography lectures\محاضراتي\RC4\805px-RC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3212976"/>
            <a:ext cx="4320480" cy="1932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762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4</a:t>
            </a:fld>
            <a:endParaRPr lang="en-GB"/>
          </a:p>
        </p:txBody>
      </p:sp>
      <p:sp>
        <p:nvSpPr>
          <p:cNvPr id="3" name="TextBox 2"/>
          <p:cNvSpPr txBox="1"/>
          <p:nvPr/>
        </p:nvSpPr>
        <p:spPr>
          <a:xfrm>
            <a:off x="251520" y="333137"/>
            <a:ext cx="8568952" cy="6524863"/>
          </a:xfrm>
          <a:prstGeom prst="rect">
            <a:avLst/>
          </a:prstGeom>
          <a:noFill/>
        </p:spPr>
        <p:txBody>
          <a:bodyPr wrap="square" rtlCol="0">
            <a:spAutoFit/>
          </a:bodyPr>
          <a:lstStyle/>
          <a:p>
            <a:pPr algn="ctr"/>
            <a:r>
              <a:rPr lang="en-GB" sz="2400" b="1" dirty="0"/>
              <a:t> </a:t>
            </a:r>
            <a:r>
              <a:rPr lang="en-GB" sz="3200" b="1" dirty="0">
                <a:solidFill>
                  <a:srgbClr val="0070C0"/>
                </a:solidFill>
              </a:rPr>
              <a:t>RC4 Algorithm</a:t>
            </a:r>
          </a:p>
          <a:p>
            <a:endParaRPr lang="en-GB" sz="2000" dirty="0"/>
          </a:p>
          <a:p>
            <a:r>
              <a:rPr lang="en-GB" sz="2000" dirty="0"/>
              <a:t>The preliminary operations can be summarized as follows:</a:t>
            </a:r>
          </a:p>
          <a:p>
            <a:endParaRPr lang="en-US" sz="1100" dirty="0"/>
          </a:p>
          <a:p>
            <a:r>
              <a:rPr lang="en-US" sz="2000" dirty="0"/>
              <a:t>for  </a:t>
            </a:r>
            <a:r>
              <a:rPr lang="en-US" sz="2000" dirty="0" err="1"/>
              <a:t>i</a:t>
            </a:r>
            <a:r>
              <a:rPr lang="en-US" sz="2000" dirty="0"/>
              <a:t> = 0 to 255 do</a:t>
            </a:r>
            <a:endParaRPr lang="en-GB" sz="2000" dirty="0"/>
          </a:p>
          <a:p>
            <a:r>
              <a:rPr lang="en-US" sz="2000" dirty="0"/>
              <a:t>    </a:t>
            </a:r>
            <a:r>
              <a:rPr lang="en-US" sz="2000" b="1" dirty="0"/>
              <a:t>S</a:t>
            </a:r>
            <a:r>
              <a:rPr lang="en-US" sz="2000" dirty="0"/>
              <a:t>[</a:t>
            </a:r>
            <a:r>
              <a:rPr lang="en-US" sz="2000" dirty="0" err="1"/>
              <a:t>i</a:t>
            </a:r>
            <a:r>
              <a:rPr lang="en-US" sz="2000" dirty="0"/>
              <a:t>] = </a:t>
            </a:r>
            <a:r>
              <a:rPr lang="en-US" sz="2000" dirty="0" err="1"/>
              <a:t>i</a:t>
            </a:r>
            <a:r>
              <a:rPr lang="en-US" sz="2000" dirty="0"/>
              <a:t>;</a:t>
            </a:r>
            <a:endParaRPr lang="en-GB" sz="2000" dirty="0"/>
          </a:p>
          <a:p>
            <a:r>
              <a:rPr lang="en-US" sz="2000" dirty="0"/>
              <a:t>    </a:t>
            </a:r>
            <a:r>
              <a:rPr lang="en-US" sz="2000" b="1" dirty="0"/>
              <a:t>T</a:t>
            </a:r>
            <a:r>
              <a:rPr lang="en-US" sz="2000" dirty="0"/>
              <a:t>[</a:t>
            </a:r>
            <a:r>
              <a:rPr lang="en-US" sz="2000" dirty="0" err="1"/>
              <a:t>i</a:t>
            </a:r>
            <a:r>
              <a:rPr lang="en-US" sz="2000" dirty="0"/>
              <a:t>] = </a:t>
            </a:r>
            <a:r>
              <a:rPr lang="en-US" sz="2000" b="1" dirty="0"/>
              <a:t>K</a:t>
            </a:r>
            <a:r>
              <a:rPr lang="en-US" sz="2000" dirty="0"/>
              <a:t>[</a:t>
            </a:r>
            <a:r>
              <a:rPr lang="en-US" sz="2000" dirty="0" err="1"/>
              <a:t>i</a:t>
            </a:r>
            <a:r>
              <a:rPr lang="en-US" sz="2000" dirty="0"/>
              <a:t> mod </a:t>
            </a:r>
            <a:r>
              <a:rPr lang="en-US" sz="2000" b="1" dirty="0" err="1"/>
              <a:t>keylen</a:t>
            </a:r>
            <a:r>
              <a:rPr lang="en-US" sz="2000" dirty="0"/>
              <a:t>];</a:t>
            </a:r>
            <a:endParaRPr lang="en-GB" sz="2000" dirty="0"/>
          </a:p>
          <a:p>
            <a:endParaRPr lang="en-US" sz="2000" b="1" dirty="0"/>
          </a:p>
          <a:p>
            <a:r>
              <a:rPr lang="en-US" sz="2400" b="1" dirty="0"/>
              <a:t>Step 2: Initial Permutation of S </a:t>
            </a:r>
            <a:endParaRPr lang="en-GB" sz="2400" b="1" dirty="0"/>
          </a:p>
          <a:p>
            <a:r>
              <a:rPr lang="en-US" sz="2000" dirty="0"/>
              <a:t>Next we use </a:t>
            </a:r>
            <a:r>
              <a:rPr lang="en-US" sz="2000" b="1" dirty="0"/>
              <a:t>T</a:t>
            </a:r>
            <a:r>
              <a:rPr lang="en-US" sz="2000" dirty="0"/>
              <a:t> to produce the initial permutation of </a:t>
            </a:r>
            <a:r>
              <a:rPr lang="en-US" sz="2000" b="1" dirty="0"/>
              <a:t>S</a:t>
            </a:r>
            <a:r>
              <a:rPr lang="en-US" sz="2000" dirty="0"/>
              <a:t>. This involves starting with </a:t>
            </a:r>
            <a:r>
              <a:rPr lang="en-US" sz="2000" b="1" dirty="0"/>
              <a:t>S</a:t>
            </a:r>
            <a:r>
              <a:rPr lang="en-US" sz="2000" dirty="0"/>
              <a:t>[0] and going through to </a:t>
            </a:r>
            <a:r>
              <a:rPr lang="en-US" sz="2000" b="1" dirty="0"/>
              <a:t>S</a:t>
            </a:r>
            <a:r>
              <a:rPr lang="en-US" sz="2000" dirty="0"/>
              <a:t>[255], and, for each </a:t>
            </a:r>
            <a:r>
              <a:rPr lang="en-US" sz="2000" b="1" dirty="0"/>
              <a:t>S</a:t>
            </a:r>
            <a:r>
              <a:rPr lang="en-US" sz="2000" dirty="0"/>
              <a:t>[</a:t>
            </a:r>
            <a:r>
              <a:rPr lang="en-US" sz="2000" dirty="0" err="1"/>
              <a:t>i</a:t>
            </a:r>
            <a:r>
              <a:rPr lang="en-US" sz="2000" dirty="0"/>
              <a:t>], swapping </a:t>
            </a:r>
            <a:r>
              <a:rPr lang="en-US" sz="2000" b="1" dirty="0"/>
              <a:t>S</a:t>
            </a:r>
            <a:r>
              <a:rPr lang="en-US" sz="2000" dirty="0"/>
              <a:t>[</a:t>
            </a:r>
            <a:r>
              <a:rPr lang="en-US" sz="2000" dirty="0" err="1"/>
              <a:t>i</a:t>
            </a:r>
            <a:r>
              <a:rPr lang="en-US" sz="2000" dirty="0"/>
              <a:t>] with another byte in </a:t>
            </a:r>
            <a:r>
              <a:rPr lang="en-US" sz="2000" b="1" dirty="0"/>
              <a:t>S</a:t>
            </a:r>
            <a:r>
              <a:rPr lang="en-US" sz="2000" dirty="0"/>
              <a:t> according to a scheme dictated by </a:t>
            </a:r>
            <a:r>
              <a:rPr lang="en-US" sz="2000" b="1" dirty="0"/>
              <a:t>T</a:t>
            </a:r>
            <a:r>
              <a:rPr lang="en-US" sz="2000" dirty="0"/>
              <a:t>[</a:t>
            </a:r>
            <a:r>
              <a:rPr lang="en-US" sz="2000" dirty="0" err="1"/>
              <a:t>i</a:t>
            </a:r>
            <a:r>
              <a:rPr lang="en-US" sz="2000" dirty="0"/>
              <a:t>]:</a:t>
            </a:r>
            <a:endParaRPr lang="en-GB" sz="2000" dirty="0"/>
          </a:p>
          <a:p>
            <a:endParaRPr lang="en-US" sz="1100" dirty="0"/>
          </a:p>
          <a:p>
            <a:r>
              <a:rPr lang="en-US" sz="2000" dirty="0"/>
              <a:t>j = 0;</a:t>
            </a:r>
            <a:endParaRPr lang="en-GB" sz="2000" dirty="0"/>
          </a:p>
          <a:p>
            <a:r>
              <a:rPr lang="en-US" sz="2000" dirty="0"/>
              <a:t>for  </a:t>
            </a:r>
            <a:r>
              <a:rPr lang="en-US" sz="2000" dirty="0" err="1"/>
              <a:t>i</a:t>
            </a:r>
            <a:r>
              <a:rPr lang="en-US" sz="2000" dirty="0"/>
              <a:t> = 0 to 255 do</a:t>
            </a:r>
            <a:endParaRPr lang="en-GB" sz="2000" dirty="0"/>
          </a:p>
          <a:p>
            <a:r>
              <a:rPr lang="en-US" sz="2000" dirty="0"/>
              <a:t>    j = (j + </a:t>
            </a:r>
            <a:r>
              <a:rPr lang="en-US" sz="2000" b="1" dirty="0"/>
              <a:t>S</a:t>
            </a:r>
            <a:r>
              <a:rPr lang="en-US" sz="2000" dirty="0"/>
              <a:t>[</a:t>
            </a:r>
            <a:r>
              <a:rPr lang="en-US" sz="2000" dirty="0" err="1"/>
              <a:t>i</a:t>
            </a:r>
            <a:r>
              <a:rPr lang="en-US" sz="2000" dirty="0"/>
              <a:t>] + </a:t>
            </a:r>
            <a:r>
              <a:rPr lang="en-US" sz="2000" b="1" dirty="0"/>
              <a:t>T</a:t>
            </a:r>
            <a:r>
              <a:rPr lang="en-US" sz="2000" dirty="0"/>
              <a:t>[</a:t>
            </a:r>
            <a:r>
              <a:rPr lang="en-US" sz="2000" dirty="0" err="1"/>
              <a:t>i</a:t>
            </a:r>
            <a:r>
              <a:rPr lang="en-US" sz="2000" dirty="0"/>
              <a:t>]) mod 256;</a:t>
            </a:r>
            <a:endParaRPr lang="en-GB" sz="2000" dirty="0"/>
          </a:p>
          <a:p>
            <a:r>
              <a:rPr lang="en-US" sz="2000" dirty="0"/>
              <a:t>   Swap (</a:t>
            </a:r>
            <a:r>
              <a:rPr lang="en-US" sz="2000" b="1" dirty="0"/>
              <a:t>S</a:t>
            </a:r>
            <a:r>
              <a:rPr lang="en-US" sz="2000" dirty="0"/>
              <a:t>[</a:t>
            </a:r>
            <a:r>
              <a:rPr lang="en-US" sz="2000" dirty="0" err="1"/>
              <a:t>i</a:t>
            </a:r>
            <a:r>
              <a:rPr lang="en-US" sz="2000" dirty="0"/>
              <a:t>], </a:t>
            </a:r>
            <a:r>
              <a:rPr lang="en-US" sz="2000" b="1" dirty="0"/>
              <a:t>S</a:t>
            </a:r>
            <a:r>
              <a:rPr lang="en-US" sz="2000" dirty="0"/>
              <a:t>[j]);</a:t>
            </a:r>
            <a:endParaRPr lang="en-GB" sz="2000" dirty="0"/>
          </a:p>
          <a:p>
            <a:r>
              <a:rPr lang="en-US" sz="2000" dirty="0"/>
              <a:t> </a:t>
            </a:r>
            <a:endParaRPr lang="en-GB" sz="2000" dirty="0"/>
          </a:p>
          <a:p>
            <a:r>
              <a:rPr lang="en-US" sz="2000" dirty="0"/>
              <a:t>Because the only operation on </a:t>
            </a:r>
            <a:r>
              <a:rPr lang="en-US" sz="2000" b="1" dirty="0"/>
              <a:t>S </a:t>
            </a:r>
            <a:r>
              <a:rPr lang="en-US" sz="2000" dirty="0"/>
              <a:t>is a swap, the only effect is a permutation.</a:t>
            </a:r>
            <a:r>
              <a:rPr lang="en-US" sz="2000" b="1" dirty="0"/>
              <a:t> S </a:t>
            </a:r>
            <a:r>
              <a:rPr lang="en-US" sz="2000" dirty="0"/>
              <a:t>still contains all the numbers from 0 through 255.</a:t>
            </a:r>
            <a:endParaRPr lang="en-GB" sz="2000" dirty="0"/>
          </a:p>
          <a:p>
            <a:r>
              <a:rPr lang="en-US" sz="2000" dirty="0"/>
              <a:t> </a:t>
            </a:r>
            <a:endParaRPr lang="en-GB" sz="2000" dirty="0"/>
          </a:p>
        </p:txBody>
      </p:sp>
    </p:spTree>
    <p:extLst>
      <p:ext uri="{BB962C8B-B14F-4D97-AF65-F5344CB8AC3E}">
        <p14:creationId xmlns:p14="http://schemas.microsoft.com/office/powerpoint/2010/main" val="1961481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1077699"/>
            <a:ext cx="8712968" cy="369332"/>
          </a:xfrm>
          <a:prstGeom prst="rect">
            <a:avLst/>
          </a:prstGeom>
          <a:noFill/>
        </p:spPr>
        <p:txBody>
          <a:bodyPr wrap="square" rtlCol="0">
            <a:spAutoFit/>
          </a:bodyPr>
          <a:lstStyle/>
          <a:p>
            <a:endParaRPr lang="en-GB" dirty="0"/>
          </a:p>
        </p:txBody>
      </p:sp>
      <p:sp>
        <p:nvSpPr>
          <p:cNvPr id="2" name="Slide Number Placeholder 1"/>
          <p:cNvSpPr>
            <a:spLocks noGrp="1"/>
          </p:cNvSpPr>
          <p:nvPr>
            <p:ph type="sldNum" sz="quarter" idx="12"/>
          </p:nvPr>
        </p:nvSpPr>
        <p:spPr/>
        <p:txBody>
          <a:bodyPr/>
          <a:lstStyle/>
          <a:p>
            <a:fld id="{95F608CE-C03C-4089-8C30-2B4572834CCA}" type="slidenum">
              <a:rPr lang="en-GB" smtClean="0"/>
              <a:t>5</a:t>
            </a:fld>
            <a:endParaRPr lang="en-GB"/>
          </a:p>
        </p:txBody>
      </p:sp>
      <p:sp>
        <p:nvSpPr>
          <p:cNvPr id="3" name="TextBox 2"/>
          <p:cNvSpPr txBox="1"/>
          <p:nvPr/>
        </p:nvSpPr>
        <p:spPr>
          <a:xfrm>
            <a:off x="323528" y="429547"/>
            <a:ext cx="8568952" cy="6109365"/>
          </a:xfrm>
          <a:prstGeom prst="rect">
            <a:avLst/>
          </a:prstGeom>
          <a:noFill/>
        </p:spPr>
        <p:txBody>
          <a:bodyPr wrap="square" rtlCol="0">
            <a:spAutoFit/>
          </a:bodyPr>
          <a:lstStyle/>
          <a:p>
            <a:pPr algn="ctr"/>
            <a:r>
              <a:rPr lang="en-GB" sz="3200" b="1" dirty="0"/>
              <a:t> </a:t>
            </a:r>
            <a:r>
              <a:rPr lang="en-GB" sz="3200" b="1" dirty="0">
                <a:solidFill>
                  <a:srgbClr val="0070C0"/>
                </a:solidFill>
              </a:rPr>
              <a:t>RC4 Algorithm</a:t>
            </a:r>
            <a:r>
              <a:rPr lang="en-US" sz="2400" dirty="0"/>
              <a:t> </a:t>
            </a:r>
            <a:endParaRPr lang="en-GB" sz="2400" dirty="0"/>
          </a:p>
          <a:p>
            <a:r>
              <a:rPr lang="en-US" sz="2400" b="1" dirty="0"/>
              <a:t>Step3: Stream Generation</a:t>
            </a:r>
            <a:endParaRPr lang="en-GB" sz="2400" dirty="0"/>
          </a:p>
          <a:p>
            <a:r>
              <a:rPr lang="en-US" sz="2000" dirty="0"/>
              <a:t>Once the </a:t>
            </a:r>
            <a:r>
              <a:rPr lang="en-US" sz="2000" b="1" dirty="0"/>
              <a:t>S </a:t>
            </a:r>
            <a:r>
              <a:rPr lang="en-US" sz="2000" dirty="0"/>
              <a:t>vector is initialized, the input key is no longer used. Stream generation involves cycling through all the elements of </a:t>
            </a:r>
            <a:r>
              <a:rPr lang="en-US" sz="2000" b="1" dirty="0"/>
              <a:t>S</a:t>
            </a:r>
            <a:r>
              <a:rPr lang="en-US" sz="2000" dirty="0"/>
              <a:t>[</a:t>
            </a:r>
            <a:r>
              <a:rPr lang="en-US" sz="2000" dirty="0" err="1"/>
              <a:t>i</a:t>
            </a:r>
            <a:r>
              <a:rPr lang="en-US" sz="2000" dirty="0"/>
              <a:t>], and, for each </a:t>
            </a:r>
            <a:r>
              <a:rPr lang="en-US" sz="2000" b="1" dirty="0"/>
              <a:t>S</a:t>
            </a:r>
            <a:r>
              <a:rPr lang="en-US" sz="2000" dirty="0"/>
              <a:t>[</a:t>
            </a:r>
            <a:r>
              <a:rPr lang="en-US" sz="2000" dirty="0" err="1"/>
              <a:t>i</a:t>
            </a:r>
            <a:r>
              <a:rPr lang="en-US" sz="2000" dirty="0"/>
              <a:t>], swapping </a:t>
            </a:r>
            <a:r>
              <a:rPr lang="en-US" sz="2000" b="1" dirty="0"/>
              <a:t>S</a:t>
            </a:r>
            <a:r>
              <a:rPr lang="en-US" sz="2000" dirty="0"/>
              <a:t>[</a:t>
            </a:r>
            <a:r>
              <a:rPr lang="en-US" sz="2000" dirty="0" err="1"/>
              <a:t>i</a:t>
            </a:r>
            <a:r>
              <a:rPr lang="en-US" sz="2000" dirty="0"/>
              <a:t>] with another byte in </a:t>
            </a:r>
            <a:r>
              <a:rPr lang="en-US" sz="2000" b="1" dirty="0"/>
              <a:t>S</a:t>
            </a:r>
            <a:r>
              <a:rPr lang="en-US" sz="2000" dirty="0"/>
              <a:t> according to a scheme dictated by the current configuration of </a:t>
            </a:r>
            <a:r>
              <a:rPr lang="en-US" sz="2000" b="1" dirty="0"/>
              <a:t>S</a:t>
            </a:r>
            <a:r>
              <a:rPr lang="en-US" sz="2000" dirty="0"/>
              <a:t>. After </a:t>
            </a:r>
            <a:r>
              <a:rPr lang="en-US" sz="2000" b="1" dirty="0"/>
              <a:t>S</a:t>
            </a:r>
            <a:r>
              <a:rPr lang="en-US" sz="2000" dirty="0"/>
              <a:t>[255] is reached, the process continues, starting over again at </a:t>
            </a:r>
            <a:r>
              <a:rPr lang="en-US" sz="2000" b="1" dirty="0"/>
              <a:t>S</a:t>
            </a:r>
            <a:r>
              <a:rPr lang="en-US" sz="2000" dirty="0"/>
              <a:t>[0]:</a:t>
            </a:r>
          </a:p>
          <a:p>
            <a:endParaRPr lang="en-GB" sz="1100" dirty="0"/>
          </a:p>
          <a:p>
            <a:r>
              <a:rPr lang="en-US" sz="2000" dirty="0" err="1"/>
              <a:t>i</a:t>
            </a:r>
            <a:r>
              <a:rPr lang="en-US" sz="2000" dirty="0"/>
              <a:t>, j = 0;</a:t>
            </a:r>
            <a:endParaRPr lang="en-GB" sz="2000" dirty="0"/>
          </a:p>
          <a:p>
            <a:r>
              <a:rPr lang="en-US" sz="2000" dirty="0"/>
              <a:t>while (true)</a:t>
            </a:r>
            <a:endParaRPr lang="en-GB" sz="2000" dirty="0"/>
          </a:p>
          <a:p>
            <a:r>
              <a:rPr lang="en-US" sz="2000" dirty="0"/>
              <a:t>     </a:t>
            </a:r>
            <a:r>
              <a:rPr lang="en-US" sz="2000" dirty="0" err="1"/>
              <a:t>i</a:t>
            </a:r>
            <a:r>
              <a:rPr lang="en-US" sz="2000" dirty="0"/>
              <a:t> = (</a:t>
            </a:r>
            <a:r>
              <a:rPr lang="en-US" sz="2000" dirty="0" err="1"/>
              <a:t>i</a:t>
            </a:r>
            <a:r>
              <a:rPr lang="en-US" sz="2000" dirty="0"/>
              <a:t> + 1) mod 256;</a:t>
            </a:r>
            <a:endParaRPr lang="en-GB" sz="2000" dirty="0"/>
          </a:p>
          <a:p>
            <a:r>
              <a:rPr lang="en-US" sz="2000" dirty="0"/>
              <a:t>     j = (j + </a:t>
            </a:r>
            <a:r>
              <a:rPr lang="en-US" sz="2000" b="1" dirty="0"/>
              <a:t>S</a:t>
            </a:r>
            <a:r>
              <a:rPr lang="en-US" sz="2000" dirty="0"/>
              <a:t>[</a:t>
            </a:r>
            <a:r>
              <a:rPr lang="en-US" sz="2000" dirty="0" err="1"/>
              <a:t>i</a:t>
            </a:r>
            <a:r>
              <a:rPr lang="en-US" sz="2000" dirty="0"/>
              <a:t>]) mod 256;</a:t>
            </a:r>
            <a:endParaRPr lang="en-GB" sz="2000" dirty="0"/>
          </a:p>
          <a:p>
            <a:r>
              <a:rPr lang="en-US" sz="2000" dirty="0"/>
              <a:t>     Swap (</a:t>
            </a:r>
            <a:r>
              <a:rPr lang="en-US" sz="2000" b="1" dirty="0"/>
              <a:t>S</a:t>
            </a:r>
            <a:r>
              <a:rPr lang="en-US" sz="2000" dirty="0"/>
              <a:t>[</a:t>
            </a:r>
            <a:r>
              <a:rPr lang="en-US" sz="2000" dirty="0" err="1"/>
              <a:t>i</a:t>
            </a:r>
            <a:r>
              <a:rPr lang="en-US" sz="2000" dirty="0"/>
              <a:t>], </a:t>
            </a:r>
            <a:r>
              <a:rPr lang="en-US" sz="2000" b="1" dirty="0"/>
              <a:t>S</a:t>
            </a:r>
            <a:r>
              <a:rPr lang="en-US" sz="2000" dirty="0"/>
              <a:t>[j]);</a:t>
            </a:r>
            <a:endParaRPr lang="en-GB" sz="2000" dirty="0"/>
          </a:p>
          <a:p>
            <a:r>
              <a:rPr lang="en-US" sz="2000" dirty="0"/>
              <a:t>     t = (</a:t>
            </a:r>
            <a:r>
              <a:rPr lang="en-US" sz="2000" b="1" dirty="0"/>
              <a:t>S</a:t>
            </a:r>
            <a:r>
              <a:rPr lang="en-US" sz="2000" dirty="0"/>
              <a:t>[</a:t>
            </a:r>
            <a:r>
              <a:rPr lang="en-US" sz="2000" dirty="0" err="1"/>
              <a:t>i</a:t>
            </a:r>
            <a:r>
              <a:rPr lang="en-US" sz="2000" dirty="0"/>
              <a:t>] + </a:t>
            </a:r>
            <a:r>
              <a:rPr lang="en-US" sz="2000" b="1" dirty="0"/>
              <a:t>S</a:t>
            </a:r>
            <a:r>
              <a:rPr lang="en-US" sz="2000" dirty="0"/>
              <a:t>[j]) mod 256;</a:t>
            </a:r>
            <a:endParaRPr lang="en-GB" sz="2000" dirty="0"/>
          </a:p>
          <a:p>
            <a:r>
              <a:rPr lang="en-US" sz="2000" dirty="0"/>
              <a:t>     </a:t>
            </a:r>
            <a:r>
              <a:rPr lang="en-US" sz="2000" b="1" dirty="0"/>
              <a:t>K </a:t>
            </a:r>
            <a:r>
              <a:rPr lang="en-US" sz="2000" dirty="0"/>
              <a:t>= </a:t>
            </a:r>
            <a:r>
              <a:rPr lang="en-US" sz="2000" b="1" dirty="0"/>
              <a:t>S</a:t>
            </a:r>
            <a:r>
              <a:rPr lang="en-US" sz="2000" dirty="0"/>
              <a:t>[t];</a:t>
            </a:r>
            <a:endParaRPr lang="en-GB" sz="2000" dirty="0"/>
          </a:p>
          <a:p>
            <a:r>
              <a:rPr lang="en-US" sz="2000" dirty="0"/>
              <a:t> </a:t>
            </a:r>
            <a:endParaRPr lang="en-GB" sz="2000" dirty="0"/>
          </a:p>
          <a:p>
            <a:r>
              <a:rPr lang="en-US" sz="2400" b="1" dirty="0"/>
              <a:t>Step 4: Encryption</a:t>
            </a:r>
          </a:p>
          <a:p>
            <a:r>
              <a:rPr lang="en-US" sz="2000" dirty="0"/>
              <a:t>To encrypt, XOR the value </a:t>
            </a:r>
            <a:r>
              <a:rPr lang="en-US" sz="2000" b="1" dirty="0"/>
              <a:t>K</a:t>
            </a:r>
            <a:r>
              <a:rPr lang="en-US" sz="2000" dirty="0"/>
              <a:t> with the next byte of plaintext. To decrypt, XOR the value </a:t>
            </a:r>
            <a:r>
              <a:rPr lang="en-US" sz="2000" b="1" dirty="0"/>
              <a:t>K</a:t>
            </a:r>
            <a:r>
              <a:rPr lang="en-US" sz="2000" dirty="0"/>
              <a:t> with the next byte of </a:t>
            </a:r>
            <a:r>
              <a:rPr lang="en-US" sz="2000" dirty="0" err="1"/>
              <a:t>ciphertext</a:t>
            </a:r>
            <a:r>
              <a:rPr lang="en-US" sz="2000" dirty="0"/>
              <a:t>. </a:t>
            </a:r>
            <a:endParaRPr lang="en-GB" sz="2000" dirty="0"/>
          </a:p>
        </p:txBody>
      </p:sp>
    </p:spTree>
    <p:extLst>
      <p:ext uri="{BB962C8B-B14F-4D97-AF65-F5344CB8AC3E}">
        <p14:creationId xmlns:p14="http://schemas.microsoft.com/office/powerpoint/2010/main" val="3140005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a:t>
            </a:r>
            <a:r>
              <a:rPr lang="en-US" dirty="0" smtClean="0"/>
              <a:t>RC4 Example</a:t>
            </a:r>
            <a:endParaRPr lang="en-US" dirty="0"/>
          </a:p>
        </p:txBody>
      </p:sp>
      <p:sp>
        <p:nvSpPr>
          <p:cNvPr id="3" name="Content Placeholder 2"/>
          <p:cNvSpPr>
            <a:spLocks noGrp="1"/>
          </p:cNvSpPr>
          <p:nvPr>
            <p:ph idx="1"/>
          </p:nvPr>
        </p:nvSpPr>
        <p:spPr/>
        <p:txBody>
          <a:bodyPr/>
          <a:lstStyle/>
          <a:p>
            <a:r>
              <a:rPr lang="en-US" dirty="0"/>
              <a:t>Lets consider the stream cipher RC4, but instead of the full 256 bytes, we will use 8 × 3-bits. That is, the state vector S is 8 × 3-bits. We will operate on 3-bits of plaintext at a time since S can take the values 0 to 7, which can be represented as 3 bits.</a:t>
            </a:r>
          </a:p>
        </p:txBody>
      </p:sp>
    </p:spTree>
    <p:extLst>
      <p:ext uri="{BB962C8B-B14F-4D97-AF65-F5344CB8AC3E}">
        <p14:creationId xmlns:p14="http://schemas.microsoft.com/office/powerpoint/2010/main" val="130921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a:t>
            </a:r>
            <a:r>
              <a:rPr lang="en-US" dirty="0" smtClean="0"/>
              <a:t> RC4 </a:t>
            </a:r>
            <a:r>
              <a:rPr lang="en-US" dirty="0"/>
              <a:t>Example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Assume we use a 4 x 3-bit key, K, and plaintext P as below: </a:t>
            </a:r>
          </a:p>
          <a:p>
            <a:pPr marL="0" indent="0">
              <a:buNone/>
            </a:pPr>
            <a:r>
              <a:rPr lang="en-US" dirty="0" smtClean="0">
                <a:solidFill>
                  <a:srgbClr val="7030A0"/>
                </a:solidFill>
              </a:rPr>
              <a:t>K </a:t>
            </a:r>
            <a:r>
              <a:rPr lang="en-US" dirty="0">
                <a:solidFill>
                  <a:srgbClr val="7030A0"/>
                </a:solidFill>
              </a:rPr>
              <a:t>= [1 2 3 6] </a:t>
            </a:r>
            <a:endParaRPr lang="en-US" dirty="0" smtClean="0">
              <a:solidFill>
                <a:srgbClr val="7030A0"/>
              </a:solidFill>
            </a:endParaRPr>
          </a:p>
          <a:p>
            <a:pPr marL="0" indent="0">
              <a:buNone/>
            </a:pPr>
            <a:r>
              <a:rPr lang="en-US" dirty="0" smtClean="0">
                <a:solidFill>
                  <a:srgbClr val="7030A0"/>
                </a:solidFill>
              </a:rPr>
              <a:t>P </a:t>
            </a:r>
            <a:r>
              <a:rPr lang="en-US" dirty="0">
                <a:solidFill>
                  <a:srgbClr val="7030A0"/>
                </a:solidFill>
              </a:rPr>
              <a:t>= [1 2 2 2] </a:t>
            </a:r>
            <a:endParaRPr lang="en-US" dirty="0" smtClean="0">
              <a:solidFill>
                <a:srgbClr val="7030A0"/>
              </a:solidFill>
            </a:endParaRPr>
          </a:p>
          <a:p>
            <a:pPr marL="0" indent="0">
              <a:buNone/>
            </a:pPr>
            <a:r>
              <a:rPr lang="en-US" dirty="0" smtClean="0"/>
              <a:t>The </a:t>
            </a:r>
            <a:r>
              <a:rPr lang="en-US" dirty="0"/>
              <a:t>first step is to generate the stream. </a:t>
            </a:r>
            <a:endParaRPr lang="en-US" dirty="0" smtClean="0"/>
          </a:p>
          <a:p>
            <a:pPr marL="0" indent="0">
              <a:buNone/>
            </a:pPr>
            <a:r>
              <a:rPr lang="en-US" dirty="0" err="1" smtClean="0"/>
              <a:t>Initialise</a:t>
            </a:r>
            <a:r>
              <a:rPr lang="en-US" dirty="0" smtClean="0"/>
              <a:t> </a:t>
            </a:r>
            <a:r>
              <a:rPr lang="en-US" dirty="0"/>
              <a:t>the state vector S and temporary vector T. </a:t>
            </a:r>
            <a:endParaRPr lang="en-US" dirty="0" smtClean="0"/>
          </a:p>
          <a:p>
            <a:pPr marL="0" indent="0">
              <a:buNone/>
            </a:pPr>
            <a:r>
              <a:rPr lang="en-US" dirty="0" smtClean="0"/>
              <a:t>S </a:t>
            </a:r>
            <a:r>
              <a:rPr lang="en-US" dirty="0"/>
              <a:t>is </a:t>
            </a:r>
            <a:r>
              <a:rPr lang="en-US" dirty="0" err="1"/>
              <a:t>initialised</a:t>
            </a:r>
            <a:r>
              <a:rPr lang="en-US" dirty="0"/>
              <a:t> so the S[</a:t>
            </a:r>
            <a:r>
              <a:rPr lang="en-US" dirty="0" err="1"/>
              <a:t>i</a:t>
            </a:r>
            <a:r>
              <a:rPr lang="en-US" dirty="0"/>
              <a:t>] = </a:t>
            </a:r>
            <a:r>
              <a:rPr lang="en-US" dirty="0" err="1"/>
              <a:t>i</a:t>
            </a:r>
            <a:r>
              <a:rPr lang="en-US" dirty="0"/>
              <a:t>, and T is </a:t>
            </a:r>
            <a:r>
              <a:rPr lang="en-US" dirty="0" err="1"/>
              <a:t>initialised</a:t>
            </a:r>
            <a:r>
              <a:rPr lang="en-US" dirty="0"/>
              <a:t> so it is the key K (repeated as necessary). </a:t>
            </a:r>
            <a:endParaRPr lang="en-US" dirty="0" smtClean="0"/>
          </a:p>
          <a:p>
            <a:pPr marL="0" indent="0">
              <a:buNone/>
            </a:pPr>
            <a:r>
              <a:rPr lang="en-US" dirty="0" smtClean="0">
                <a:solidFill>
                  <a:srgbClr val="7030A0"/>
                </a:solidFill>
              </a:rPr>
              <a:t>S </a:t>
            </a:r>
            <a:r>
              <a:rPr lang="en-US" dirty="0">
                <a:solidFill>
                  <a:srgbClr val="7030A0"/>
                </a:solidFill>
              </a:rPr>
              <a:t>= [0 1 2 3 4 5 6 7] </a:t>
            </a:r>
            <a:endParaRPr lang="en-US" dirty="0" smtClean="0">
              <a:solidFill>
                <a:srgbClr val="7030A0"/>
              </a:solidFill>
            </a:endParaRPr>
          </a:p>
          <a:p>
            <a:pPr marL="0" indent="0">
              <a:buNone/>
            </a:pPr>
            <a:r>
              <a:rPr lang="en-US" dirty="0" smtClean="0">
                <a:solidFill>
                  <a:srgbClr val="7030A0"/>
                </a:solidFill>
              </a:rPr>
              <a:t>T </a:t>
            </a:r>
            <a:r>
              <a:rPr lang="en-US" dirty="0">
                <a:solidFill>
                  <a:srgbClr val="7030A0"/>
                </a:solidFill>
              </a:rPr>
              <a:t>= [1 2 3 6 1 2 3 6]</a:t>
            </a:r>
          </a:p>
        </p:txBody>
      </p:sp>
    </p:spTree>
    <p:extLst>
      <p:ext uri="{BB962C8B-B14F-4D97-AF65-F5344CB8AC3E}">
        <p14:creationId xmlns:p14="http://schemas.microsoft.com/office/powerpoint/2010/main" val="1682432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a:t>
            </a:r>
            <a:r>
              <a:rPr lang="en-US" dirty="0" smtClean="0"/>
              <a:t>RC4 </a:t>
            </a:r>
            <a:r>
              <a:rPr lang="en-US" dirty="0"/>
              <a:t>Example</a:t>
            </a:r>
          </a:p>
        </p:txBody>
      </p:sp>
      <p:sp>
        <p:nvSpPr>
          <p:cNvPr id="3" name="Content Placeholder 2"/>
          <p:cNvSpPr>
            <a:spLocks noGrp="1"/>
          </p:cNvSpPr>
          <p:nvPr>
            <p:ph idx="1"/>
          </p:nvPr>
        </p:nvSpPr>
        <p:spPr/>
        <p:txBody>
          <a:bodyPr/>
          <a:lstStyle/>
          <a:p>
            <a:r>
              <a:rPr lang="en-US" dirty="0"/>
              <a:t>Now perform the initial permutation on S. </a:t>
            </a:r>
            <a:endParaRPr lang="en-US" dirty="0" smtClean="0"/>
          </a:p>
          <a:p>
            <a:pPr marL="0" indent="0">
              <a:buNone/>
            </a:pPr>
            <a:r>
              <a:rPr lang="en-US" dirty="0" smtClean="0"/>
              <a:t>j </a:t>
            </a:r>
            <a:r>
              <a:rPr lang="en-US" dirty="0"/>
              <a:t>= 0; </a:t>
            </a:r>
            <a:endParaRPr lang="en-US" dirty="0" smtClean="0"/>
          </a:p>
          <a:p>
            <a:pPr marL="0" indent="0">
              <a:buNone/>
            </a:pPr>
            <a:r>
              <a:rPr lang="en-US" dirty="0" smtClean="0"/>
              <a:t>for </a:t>
            </a:r>
            <a:r>
              <a:rPr lang="en-US" dirty="0" err="1"/>
              <a:t>i</a:t>
            </a:r>
            <a:r>
              <a:rPr lang="en-US" dirty="0"/>
              <a:t> = 0 to 7 </a:t>
            </a:r>
            <a:endParaRPr lang="en-US" dirty="0" smtClean="0"/>
          </a:p>
          <a:p>
            <a:pPr marL="0" indent="0">
              <a:buNone/>
            </a:pPr>
            <a:r>
              <a:rPr lang="en-US" dirty="0"/>
              <a:t>	</a:t>
            </a:r>
            <a:r>
              <a:rPr lang="en-US" dirty="0" smtClean="0"/>
              <a:t>do </a:t>
            </a:r>
            <a:r>
              <a:rPr lang="en-US" dirty="0"/>
              <a:t>j = (j + S[</a:t>
            </a:r>
            <a:r>
              <a:rPr lang="en-US" dirty="0" err="1"/>
              <a:t>i</a:t>
            </a:r>
            <a:r>
              <a:rPr lang="en-US" dirty="0"/>
              <a:t>] + T[</a:t>
            </a:r>
            <a:r>
              <a:rPr lang="en-US" dirty="0" err="1"/>
              <a:t>i</a:t>
            </a:r>
            <a:r>
              <a:rPr lang="en-US" dirty="0"/>
              <a:t>]) mod 8 </a:t>
            </a:r>
            <a:r>
              <a:rPr lang="en-US" dirty="0" smtClean="0"/>
              <a:t>				Swap(S[</a:t>
            </a:r>
            <a:r>
              <a:rPr lang="en-US" dirty="0" err="1" smtClean="0"/>
              <a:t>i</a:t>
            </a:r>
            <a:r>
              <a:rPr lang="en-US" dirty="0"/>
              <a:t>],S[j]); </a:t>
            </a:r>
            <a:endParaRPr lang="en-US" dirty="0" smtClean="0"/>
          </a:p>
          <a:p>
            <a:pPr marL="0" indent="0">
              <a:buNone/>
            </a:pPr>
            <a:r>
              <a:rPr lang="en-US" dirty="0" smtClean="0"/>
              <a:t>end </a:t>
            </a:r>
            <a:endParaRPr lang="en-US" dirty="0"/>
          </a:p>
        </p:txBody>
      </p:sp>
    </p:spTree>
    <p:extLst>
      <p:ext uri="{BB962C8B-B14F-4D97-AF65-F5344CB8AC3E}">
        <p14:creationId xmlns:p14="http://schemas.microsoft.com/office/powerpoint/2010/main" val="3553744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Simplified RC4 </a:t>
            </a:r>
            <a:r>
              <a:rPr lang="en-US" dirty="0"/>
              <a:t>Example</a:t>
            </a:r>
          </a:p>
        </p:txBody>
      </p:sp>
      <p:sp>
        <p:nvSpPr>
          <p:cNvPr id="3" name="Content Placeholder 2"/>
          <p:cNvSpPr>
            <a:spLocks noGrp="1"/>
          </p:cNvSpPr>
          <p:nvPr>
            <p:ph idx="1"/>
          </p:nvPr>
        </p:nvSpPr>
        <p:spPr/>
        <p:txBody>
          <a:bodyPr>
            <a:normAutofit fontScale="77500" lnSpcReduction="20000"/>
          </a:bodyPr>
          <a:lstStyle/>
          <a:p>
            <a:r>
              <a:rPr lang="en-US" dirty="0"/>
              <a:t>Now we generate 3-bits at a time, k, that we XOR with each 3-bits of plaintext to produce the </a:t>
            </a:r>
            <a:r>
              <a:rPr lang="en-US" dirty="0" err="1"/>
              <a:t>ciphertext</a:t>
            </a:r>
            <a:r>
              <a:rPr lang="en-US" dirty="0"/>
              <a:t>. The 3-bits k is generated by: </a:t>
            </a:r>
            <a:endParaRPr lang="en-US" dirty="0" smtClean="0"/>
          </a:p>
          <a:p>
            <a:pPr marL="0" indent="0">
              <a:buNone/>
            </a:pPr>
            <a:r>
              <a:rPr lang="en-US" dirty="0" err="1" smtClean="0"/>
              <a:t>i</a:t>
            </a:r>
            <a:r>
              <a:rPr lang="en-US" dirty="0"/>
              <a:t>, j = 0; </a:t>
            </a:r>
            <a:endParaRPr lang="en-US" dirty="0" smtClean="0"/>
          </a:p>
          <a:p>
            <a:pPr marL="0" indent="0">
              <a:buNone/>
            </a:pPr>
            <a:r>
              <a:rPr lang="en-US" dirty="0" smtClean="0"/>
              <a:t>while </a:t>
            </a:r>
            <a:r>
              <a:rPr lang="en-US" dirty="0"/>
              <a:t>(true) </a:t>
            </a:r>
            <a:endParaRPr lang="en-US" dirty="0" smtClean="0"/>
          </a:p>
          <a:p>
            <a:pPr marL="0" indent="0">
              <a:buNone/>
            </a:pPr>
            <a:r>
              <a:rPr lang="en-US" dirty="0" smtClean="0"/>
              <a:t>{</a:t>
            </a:r>
          </a:p>
          <a:p>
            <a:pPr marL="0" indent="0">
              <a:buNone/>
            </a:pPr>
            <a:r>
              <a:rPr lang="en-US" dirty="0" smtClean="0"/>
              <a:t> </a:t>
            </a:r>
            <a:r>
              <a:rPr lang="en-US" dirty="0" err="1"/>
              <a:t>i</a:t>
            </a:r>
            <a:r>
              <a:rPr lang="en-US" dirty="0"/>
              <a:t> = (</a:t>
            </a:r>
            <a:r>
              <a:rPr lang="en-US" dirty="0" err="1"/>
              <a:t>i</a:t>
            </a:r>
            <a:r>
              <a:rPr lang="en-US" dirty="0"/>
              <a:t> + 1) mod 8; </a:t>
            </a:r>
            <a:endParaRPr lang="en-US" dirty="0" smtClean="0"/>
          </a:p>
          <a:p>
            <a:pPr marL="0" indent="0">
              <a:buNone/>
            </a:pPr>
            <a:r>
              <a:rPr lang="en-US" dirty="0" smtClean="0"/>
              <a:t>j </a:t>
            </a:r>
            <a:r>
              <a:rPr lang="en-US" dirty="0"/>
              <a:t>= (j + S[</a:t>
            </a:r>
            <a:r>
              <a:rPr lang="en-US" dirty="0" err="1"/>
              <a:t>i</a:t>
            </a:r>
            <a:r>
              <a:rPr lang="en-US" dirty="0"/>
              <a:t>]) mod 8; </a:t>
            </a:r>
            <a:endParaRPr lang="en-US" dirty="0" smtClean="0"/>
          </a:p>
          <a:p>
            <a:pPr marL="0" indent="0">
              <a:buNone/>
            </a:pPr>
            <a:r>
              <a:rPr lang="en-US" dirty="0" smtClean="0"/>
              <a:t>Swap </a:t>
            </a:r>
            <a:r>
              <a:rPr lang="en-US" dirty="0"/>
              <a:t>(S[</a:t>
            </a:r>
            <a:r>
              <a:rPr lang="en-US" dirty="0" err="1"/>
              <a:t>i</a:t>
            </a:r>
            <a:r>
              <a:rPr lang="en-US" dirty="0"/>
              <a:t>], S[j]); </a:t>
            </a:r>
            <a:endParaRPr lang="en-US" dirty="0" smtClean="0"/>
          </a:p>
          <a:p>
            <a:pPr marL="0" indent="0">
              <a:buNone/>
            </a:pPr>
            <a:r>
              <a:rPr lang="en-US" dirty="0" smtClean="0"/>
              <a:t>t </a:t>
            </a:r>
            <a:r>
              <a:rPr lang="en-US" dirty="0"/>
              <a:t>= (S[</a:t>
            </a:r>
            <a:r>
              <a:rPr lang="en-US" dirty="0" err="1"/>
              <a:t>i</a:t>
            </a:r>
            <a:r>
              <a:rPr lang="en-US" dirty="0"/>
              <a:t>] + S[j]) mod 8; </a:t>
            </a:r>
            <a:endParaRPr lang="en-US" dirty="0" smtClean="0"/>
          </a:p>
          <a:p>
            <a:pPr marL="0" indent="0">
              <a:buNone/>
            </a:pPr>
            <a:r>
              <a:rPr lang="en-US" dirty="0" smtClean="0"/>
              <a:t>k </a:t>
            </a:r>
            <a:r>
              <a:rPr lang="en-US" dirty="0"/>
              <a:t>= S[t]; </a:t>
            </a:r>
            <a:endParaRPr lang="en-US" dirty="0" smtClean="0"/>
          </a:p>
          <a:p>
            <a:pPr marL="0" indent="0">
              <a:buNone/>
            </a:pPr>
            <a:r>
              <a:rPr lang="en-US" dirty="0" smtClean="0"/>
              <a:t>}</a:t>
            </a:r>
            <a:endParaRPr lang="en-US" dirty="0"/>
          </a:p>
        </p:txBody>
      </p:sp>
    </p:spTree>
    <p:extLst>
      <p:ext uri="{BB962C8B-B14F-4D97-AF65-F5344CB8AC3E}">
        <p14:creationId xmlns:p14="http://schemas.microsoft.com/office/powerpoint/2010/main" val="3264225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1283</TotalTime>
  <Words>987</Words>
  <Application>Microsoft Office PowerPoint</Application>
  <PresentationFormat>On-screen Show (4:3)</PresentationFormat>
  <Paragraphs>99</Paragraphs>
  <Slides>9</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Office Theme</vt:lpstr>
      <vt:lpstr>RC4</vt:lpstr>
      <vt:lpstr>PowerPoint Presentation</vt:lpstr>
      <vt:lpstr>PowerPoint Presentation</vt:lpstr>
      <vt:lpstr>PowerPoint Presentation</vt:lpstr>
      <vt:lpstr>PowerPoint Presentation</vt:lpstr>
      <vt:lpstr>Simplified RC4 Example</vt:lpstr>
      <vt:lpstr>Simplified  RC4 Example</vt:lpstr>
      <vt:lpstr>Simplified RC4 Example</vt:lpstr>
      <vt:lpstr>Simplified RC4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fsa1g12</dc:creator>
  <cp:lastModifiedBy>admin</cp:lastModifiedBy>
  <cp:revision>140</cp:revision>
  <cp:lastPrinted>2018-10-20T17:53:20Z</cp:lastPrinted>
  <dcterms:created xsi:type="dcterms:W3CDTF">2018-09-24T19:32:07Z</dcterms:created>
  <dcterms:modified xsi:type="dcterms:W3CDTF">2025-05-30T09:22:34Z</dcterms:modified>
</cp:coreProperties>
</file>