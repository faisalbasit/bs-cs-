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1" r:id="rId6"/>
    <p:sldId id="267" r:id="rId7"/>
    <p:sldId id="258" r:id="rId8"/>
    <p:sldId id="262" r:id="rId9"/>
    <p:sldId id="264" r:id="rId10"/>
    <p:sldId id="263" r:id="rId11"/>
    <p:sldId id="268" r:id="rId12"/>
    <p:sldId id="273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7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5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0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9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8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9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1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CAD7-0841-459A-8240-8C5314F31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25C65-2C14-4105-87E4-6BC77A71C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 Theory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Razia</a:t>
            </a:r>
            <a:r>
              <a:rPr lang="en-US" dirty="0" smtClean="0"/>
              <a:t> </a:t>
            </a:r>
            <a:r>
              <a:rPr lang="en-US" dirty="0" err="1" smtClean="0"/>
              <a:t>Nisar</a:t>
            </a:r>
            <a:r>
              <a:rPr lang="en-US" dirty="0" smtClean="0"/>
              <a:t> </a:t>
            </a:r>
            <a:r>
              <a:rPr lang="en-US" dirty="0" err="1" smtClean="0"/>
              <a:t>Noorani</a:t>
            </a:r>
            <a:endParaRPr lang="en-US" dirty="0" smtClean="0"/>
          </a:p>
          <a:p>
            <a:r>
              <a:rPr lang="en-US" dirty="0" smtClean="0"/>
              <a:t>Asst. Professor</a:t>
            </a:r>
          </a:p>
          <a:p>
            <a:r>
              <a:rPr lang="en-US" dirty="0" smtClean="0"/>
              <a:t>SSUET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87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After studying this chapter, </a:t>
            </a:r>
          </a:p>
          <a:p>
            <a:r>
              <a:rPr lang="en-US" dirty="0" smtClean="0"/>
              <a:t>you should be able to: </a:t>
            </a:r>
          </a:p>
          <a:p>
            <a:r>
              <a:rPr lang="en-US" dirty="0" smtClean="0"/>
              <a:t>Understand the concept of divisibility and the division algorithm. </a:t>
            </a:r>
            <a:endParaRPr lang="en-US" dirty="0"/>
          </a:p>
          <a:p>
            <a:r>
              <a:rPr lang="en-US" dirty="0" smtClean="0"/>
              <a:t>Understand how to use the Euclidean algorithm to find the greatest common divisor.</a:t>
            </a:r>
          </a:p>
          <a:p>
            <a:r>
              <a:rPr lang="en-US" dirty="0" smtClean="0"/>
              <a:t>Present an overview of the concepts of modular arithmetic. </a:t>
            </a:r>
            <a:endParaRPr lang="en-US" dirty="0"/>
          </a:p>
          <a:p>
            <a:r>
              <a:rPr lang="en-US" dirty="0" smtClean="0"/>
              <a:t>Explain the operation of the extended Euclidean algorithm.</a:t>
            </a:r>
          </a:p>
          <a:p>
            <a:r>
              <a:rPr lang="en-US" dirty="0" smtClean="0"/>
              <a:t>Distinguish among groups, rings, and fields. u </a:t>
            </a:r>
          </a:p>
          <a:p>
            <a:r>
              <a:rPr lang="en-US" dirty="0" smtClean="0"/>
              <a:t>Define finite fields of the form GF(p). U</a:t>
            </a:r>
          </a:p>
          <a:p>
            <a:r>
              <a:rPr lang="en-US" dirty="0" smtClean="0"/>
              <a:t>Explain the differences among ordinary polynomial arithmetic, polynomial arithmetic with coefficients in </a:t>
            </a:r>
            <a:r>
              <a:rPr lang="en-US" dirty="0" err="1" smtClean="0"/>
              <a:t>Zp</a:t>
            </a:r>
            <a:r>
              <a:rPr lang="en-US" dirty="0" smtClean="0"/>
              <a:t>, and modular polynomial arithmetic in GF(2n). U</a:t>
            </a:r>
          </a:p>
          <a:p>
            <a:r>
              <a:rPr lang="en-US" dirty="0" smtClean="0"/>
              <a:t>Define finite fields of the form GF(2n). u Explain the two different uses of the mod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23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Introduction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Importance of number theory in cryptography.</a:t>
            </a:r>
          </a:p>
          <a:p>
            <a:r>
              <a:rPr lang="en-US" dirty="0" smtClean="0"/>
              <a:t>Focus on modular arithmetic, prime numbers, and number-theoretic algorithms.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09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Divisibility and Modular Arithmetic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Divides</a:t>
            </a:r>
            <a:r>
              <a:rPr lang="en-US" dirty="0" smtClean="0"/>
              <a:t>: Integer </a:t>
            </a:r>
            <a:r>
              <a:rPr lang="en-US" i="1" dirty="0" smtClean="0"/>
              <a:t>a</a:t>
            </a:r>
            <a:r>
              <a:rPr lang="en-US" dirty="0" smtClean="0"/>
              <a:t> divides </a:t>
            </a:r>
            <a:r>
              <a:rPr lang="en-US" i="1" dirty="0" smtClean="0"/>
              <a:t>b</a:t>
            </a:r>
            <a:r>
              <a:rPr lang="en-US" dirty="0" smtClean="0"/>
              <a:t> if </a:t>
            </a:r>
            <a:r>
              <a:rPr lang="en-US" i="1" dirty="0" smtClean="0"/>
              <a:t>b = </a:t>
            </a:r>
            <a:r>
              <a:rPr lang="en-US" i="1" dirty="0" err="1" smtClean="0"/>
              <a:t>ak</a:t>
            </a:r>
            <a:r>
              <a:rPr lang="en-US" dirty="0" smtClean="0"/>
              <a:t> for some integer </a:t>
            </a:r>
            <a:r>
              <a:rPr lang="en-US" i="1" dirty="0" smtClean="0"/>
              <a:t>k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Modular Arithmetic</a:t>
            </a:r>
            <a:r>
              <a:rPr lang="en-US" dirty="0" smtClean="0"/>
              <a:t>: Arithmetic system for integers where numbers “wrap around” after a certain value (modulus).</a:t>
            </a:r>
          </a:p>
          <a:p>
            <a:r>
              <a:rPr lang="en-US" dirty="0" smtClean="0"/>
              <a:t>Properties of mod:</a:t>
            </a:r>
          </a:p>
          <a:p>
            <a:pPr lvl="1"/>
            <a:r>
              <a:rPr lang="en-US" dirty="0" smtClean="0"/>
              <a:t>Congruence: </a:t>
            </a:r>
            <a:r>
              <a:rPr lang="en-US" dirty="0" err="1" smtClean="0"/>
              <a:t>a≡bmod</a:t>
            </a:r>
            <a:r>
              <a:rPr lang="en-US" dirty="0" smtClean="0"/>
              <a:t>  n</a:t>
            </a:r>
          </a:p>
          <a:p>
            <a:pPr lvl="1"/>
            <a:r>
              <a:rPr lang="en-US" dirty="0" smtClean="0"/>
              <a:t>Addition, subtraction, multiplication preserved under mod.</a:t>
            </a:r>
          </a:p>
          <a:p>
            <a:r>
              <a:rPr lang="en-US" b="1" dirty="0" smtClean="0"/>
              <a:t>Modular Exponentiation</a:t>
            </a:r>
            <a:r>
              <a:rPr lang="en-US" dirty="0" smtClean="0"/>
              <a:t>: Efficiently computes a</a:t>
            </a:r>
            <a:r>
              <a:rPr lang="en-US" baseline="30000" dirty="0"/>
              <a:t>b</a:t>
            </a:r>
            <a:r>
              <a:rPr lang="en-US" dirty="0" smtClean="0"/>
              <a:t> mod n  , crucial in cryptography.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2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 </a:t>
            </a:r>
            <a:r>
              <a:rPr lang="en-US" dirty="0" err="1" smtClean="0"/>
              <a:t>Arithmatic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Modulus If a is an integer and n is a positive integer, we define a mod n to be the remainder when a is divided by n. The integer n is called the modulus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Modular arithmetic exhibits the following properties: </a:t>
            </a:r>
          </a:p>
          <a:p>
            <a:pPr marL="514350" indent="-514350">
              <a:buAutoNum type="arabicPeriod"/>
            </a:pPr>
            <a:r>
              <a:rPr lang="en-US" dirty="0" smtClean="0"/>
              <a:t>[(a mod n) + (b mod n)] mod n = (a + b) mod n </a:t>
            </a:r>
          </a:p>
          <a:p>
            <a:pPr marL="514350" indent="-514350">
              <a:buAutoNum type="arabicPeriod"/>
            </a:pPr>
            <a:r>
              <a:rPr lang="en-US" dirty="0" smtClean="0"/>
              <a:t> [(a mod n) - (b mod n)] mod n = (a - b) mod n </a:t>
            </a:r>
          </a:p>
          <a:p>
            <a:pPr marL="514350" indent="-514350">
              <a:buAutoNum type="arabicPeriod"/>
            </a:pPr>
            <a:r>
              <a:rPr lang="en-US" dirty="0" smtClean="0"/>
              <a:t> [(a mod n) * (b mod n)] mod n = (a * b) mod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6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Integer and Modular Arithmetic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Integer Division</a:t>
            </a:r>
            <a:r>
              <a:rPr lang="en-US" dirty="0" smtClean="0"/>
              <a:t>: Quotient and remainder.</a:t>
            </a:r>
          </a:p>
          <a:p>
            <a:r>
              <a:rPr lang="en-US" b="1" dirty="0" smtClean="0"/>
              <a:t>Greatest Common Divisor (GCD)</a:t>
            </a:r>
            <a:r>
              <a:rPr lang="en-US" dirty="0" smtClean="0"/>
              <a:t>: Largest integer dividing both a and b.</a:t>
            </a:r>
          </a:p>
          <a:p>
            <a:r>
              <a:rPr lang="en-US" b="1" dirty="0" smtClean="0"/>
              <a:t>Euclidean Algorithm</a:t>
            </a:r>
            <a:r>
              <a:rPr lang="en-US" dirty="0" smtClean="0"/>
              <a:t>: Efficient method to compute GCD.</a:t>
            </a:r>
          </a:p>
          <a:p>
            <a:r>
              <a:rPr lang="en-US" b="1" dirty="0" smtClean="0"/>
              <a:t>Extended Euclidean Algorithm</a:t>
            </a:r>
            <a:r>
              <a:rPr lang="en-US" dirty="0" smtClean="0"/>
              <a:t>: Also finds integers x and y such that </a:t>
            </a:r>
            <a:r>
              <a:rPr lang="en-US" dirty="0" err="1" smtClean="0"/>
              <a:t>ax+by</a:t>
            </a:r>
            <a:r>
              <a:rPr lang="en-US" dirty="0" smtClean="0"/>
              <a:t>=</a:t>
            </a:r>
            <a:r>
              <a:rPr lang="en-US" dirty="0" err="1" smtClean="0"/>
              <a:t>gcd</a:t>
            </a:r>
            <a:r>
              <a:rPr lang="en-US" dirty="0" smtClean="0"/>
              <a:t>⁡(</a:t>
            </a:r>
            <a:r>
              <a:rPr lang="en-US" dirty="0" err="1" smtClean="0"/>
              <a:t>a,b</a:t>
            </a:r>
            <a:r>
              <a:rPr lang="en-US" dirty="0" smtClean="0"/>
              <a:t>)ax + by = \</a:t>
            </a:r>
            <a:r>
              <a:rPr lang="en-US" dirty="0" err="1" smtClean="0"/>
              <a:t>gcd</a:t>
            </a:r>
            <a:r>
              <a:rPr lang="en-US" dirty="0" smtClean="0"/>
              <a:t>(a, 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83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Euclidean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First, we need a simple definition: Two integers are relatively prime if their only common positive integer factor is 1.</a:t>
            </a:r>
          </a:p>
          <a:p>
            <a:r>
              <a:rPr lang="en-US" dirty="0" smtClean="0"/>
              <a:t>We will use the notation </a:t>
            </a:r>
            <a:r>
              <a:rPr lang="en-US" dirty="0" err="1" smtClean="0"/>
              <a:t>gcd</a:t>
            </a:r>
            <a:r>
              <a:rPr lang="en-US" dirty="0" smtClean="0"/>
              <a:t>(a, b) to mean the greatest common divisor of a and b. The greatest common divisor of a and b is the largest integer that divides both a and b. We also define </a:t>
            </a:r>
            <a:r>
              <a:rPr lang="en-US" dirty="0" err="1" smtClean="0"/>
              <a:t>gcd</a:t>
            </a:r>
            <a:r>
              <a:rPr lang="en-US" dirty="0" smtClean="0"/>
              <a:t>(0, 0) = 0.</a:t>
            </a:r>
          </a:p>
          <a:p>
            <a:r>
              <a:rPr lang="en-US" dirty="0" err="1" smtClean="0"/>
              <a:t>gcd</a:t>
            </a:r>
            <a:r>
              <a:rPr lang="en-US" dirty="0" smtClean="0"/>
              <a:t>(60, 24) = </a:t>
            </a:r>
            <a:r>
              <a:rPr lang="en-US" dirty="0" err="1" smtClean="0"/>
              <a:t>gcd</a:t>
            </a:r>
            <a:r>
              <a:rPr lang="en-US" dirty="0" smtClean="0"/>
              <a:t>(60, -24) = 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6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Prime Numbers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prime number</a:t>
            </a:r>
            <a:r>
              <a:rPr lang="en-US" dirty="0" smtClean="0"/>
              <a:t> has no positive divisors other than 1 and itself.</a:t>
            </a:r>
          </a:p>
          <a:p>
            <a:r>
              <a:rPr lang="en-US" b="1" dirty="0" smtClean="0"/>
              <a:t>Fundamental Theorem of Arithmetic</a:t>
            </a:r>
            <a:r>
              <a:rPr lang="en-US" dirty="0" smtClean="0"/>
              <a:t>: Every integer &gt; 1 is either a prime or can be factored uniquely into primes.</a:t>
            </a:r>
          </a:p>
          <a:p>
            <a:r>
              <a:rPr lang="en-US" dirty="0" smtClean="0"/>
              <a:t>Primality tests:</a:t>
            </a:r>
          </a:p>
          <a:p>
            <a:pPr lvl="1"/>
            <a:r>
              <a:rPr lang="en-US" b="1" dirty="0" smtClean="0"/>
              <a:t>Trial division</a:t>
            </a:r>
            <a:endParaRPr lang="en-US" dirty="0" smtClean="0"/>
          </a:p>
          <a:p>
            <a:pPr lvl="1"/>
            <a:r>
              <a:rPr lang="en-US" b="1" dirty="0" smtClean="0"/>
              <a:t>Fermat’s little theorem</a:t>
            </a:r>
            <a:r>
              <a:rPr lang="en-US" dirty="0" smtClean="0"/>
              <a:t>-based tests</a:t>
            </a:r>
          </a:p>
          <a:p>
            <a:pPr lvl="1"/>
            <a:r>
              <a:rPr lang="en-US" b="1" dirty="0" smtClean="0"/>
              <a:t>Miller-Rabin test</a:t>
            </a:r>
            <a:r>
              <a:rPr lang="en-US" dirty="0" smtClean="0"/>
              <a:t> (probabilistic)</a:t>
            </a:r>
          </a:p>
          <a:p>
            <a:pPr lvl="1"/>
            <a:r>
              <a:rPr lang="en-US" b="1" dirty="0" smtClean="0"/>
              <a:t>AKS test</a:t>
            </a:r>
            <a:r>
              <a:rPr lang="en-US" dirty="0" smtClean="0"/>
              <a:t> (deterministic, polynomial time)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48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Fermat’s and Euler’s Theorems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Fermat’s Little Theorem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p</a:t>
            </a:r>
            <a:r>
              <a:rPr lang="en-US" dirty="0" smtClean="0"/>
              <a:t> is prime and </a:t>
            </a:r>
            <a:r>
              <a:rPr lang="en-US" i="1" dirty="0" smtClean="0"/>
              <a:t>a</a:t>
            </a:r>
            <a:r>
              <a:rPr lang="en-US" dirty="0" smtClean="0"/>
              <a:t> is not divisible by </a:t>
            </a:r>
            <a:r>
              <a:rPr lang="en-US" i="1" dirty="0" smtClean="0"/>
              <a:t>p</a:t>
            </a:r>
            <a:r>
              <a:rPr lang="en-US" dirty="0" smtClean="0"/>
              <a:t>, then a</a:t>
            </a:r>
            <a:r>
              <a:rPr lang="en-US" baseline="30000" dirty="0" smtClean="0"/>
              <a:t>p-1</a:t>
            </a:r>
            <a:r>
              <a:rPr lang="en-US" dirty="0"/>
              <a:t> </a:t>
            </a:r>
            <a:r>
              <a:rPr lang="en-US" dirty="0" smtClean="0"/>
              <a:t>≡ 1mod  p</a:t>
            </a:r>
          </a:p>
          <a:p>
            <a:pPr lvl="1"/>
            <a:r>
              <a:rPr lang="en-US" dirty="0" smtClean="0"/>
              <a:t>pap−1≡1modp.</a:t>
            </a:r>
          </a:p>
          <a:p>
            <a:r>
              <a:rPr lang="en-US" b="1" dirty="0" smtClean="0"/>
              <a:t>Euler’s Totient Function</a:t>
            </a:r>
            <a:r>
              <a:rPr lang="en-US" dirty="0" smtClean="0"/>
              <a:t> </a:t>
            </a:r>
            <a:r>
              <a:rPr lang="el-GR" dirty="0" smtClean="0"/>
              <a:t>ϕ(</a:t>
            </a:r>
            <a:r>
              <a:rPr lang="en-US" dirty="0" smtClean="0"/>
              <a:t>n): Counts numbers &lt; n that are coprime to n.</a:t>
            </a:r>
          </a:p>
          <a:p>
            <a:r>
              <a:rPr lang="en-US" b="1" dirty="0" smtClean="0"/>
              <a:t>Euler’s Theorem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gcd</a:t>
            </a:r>
            <a:r>
              <a:rPr lang="en-US" dirty="0" smtClean="0"/>
              <a:t>⁡(</a:t>
            </a:r>
            <a:r>
              <a:rPr lang="en-US" dirty="0" err="1" smtClean="0"/>
              <a:t>a,n</a:t>
            </a:r>
            <a:r>
              <a:rPr lang="en-US" dirty="0" smtClean="0"/>
              <a:t>)=1, then a^</a:t>
            </a:r>
            <a:r>
              <a:rPr lang="el-GR" dirty="0" smtClean="0"/>
              <a:t>ϕ(</a:t>
            </a:r>
            <a:r>
              <a:rPr lang="en-US" dirty="0" smtClean="0"/>
              <a:t>n)≡1mod  n</a:t>
            </a:r>
          </a:p>
          <a:p>
            <a:r>
              <a:rPr lang="en-US" dirty="0" smtClean="0"/>
              <a:t>These theorems underpin RSA and other public-key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980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6. Testing for Primality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Importance in public-key cryptography.</a:t>
            </a:r>
          </a:p>
          <a:p>
            <a:r>
              <a:rPr lang="en-US" b="1" dirty="0" smtClean="0"/>
              <a:t>Probabilistic tests</a:t>
            </a:r>
            <a:r>
              <a:rPr lang="en-US" dirty="0" smtClean="0"/>
              <a:t> are fast and sufficient in practice.</a:t>
            </a:r>
          </a:p>
          <a:p>
            <a:r>
              <a:rPr lang="en-US" b="1" dirty="0" smtClean="0"/>
              <a:t>Miller-Rabin</a:t>
            </a:r>
            <a:r>
              <a:rPr lang="en-US" dirty="0" smtClean="0"/>
              <a:t>: Most common probabilistic test.</a:t>
            </a:r>
          </a:p>
          <a:p>
            <a:r>
              <a:rPr lang="en-US" b="1" dirty="0" smtClean="0"/>
              <a:t>Deterministic tests</a:t>
            </a:r>
            <a:r>
              <a:rPr lang="en-US" dirty="0" smtClean="0"/>
              <a:t> exist but are slower (e.g., AKS).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210" y="2191385"/>
            <a:ext cx="6888590" cy="10612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7. The Chinese Remainder Theorem (CRT)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283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Allows solving systems of </a:t>
            </a:r>
            <a:r>
              <a:rPr lang="en-US" dirty="0" err="1" smtClean="0"/>
              <a:t>congruences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moduli are pairwise coprime, there's a unique solution mod n1⋅n2⋅…⋅nkn_1 \</a:t>
            </a:r>
            <a:r>
              <a:rPr lang="en-US" dirty="0" err="1" smtClean="0"/>
              <a:t>cdot</a:t>
            </a:r>
            <a:r>
              <a:rPr lang="en-US" dirty="0" smtClean="0"/>
              <a:t> n_2 \</a:t>
            </a:r>
            <a:r>
              <a:rPr lang="en-US" dirty="0" err="1" smtClean="0"/>
              <a:t>cdot</a:t>
            </a:r>
            <a:r>
              <a:rPr lang="en-US" dirty="0" smtClean="0"/>
              <a:t> \</a:t>
            </a:r>
            <a:r>
              <a:rPr lang="en-US" dirty="0" err="1" smtClean="0"/>
              <a:t>ldots</a:t>
            </a:r>
            <a:r>
              <a:rPr lang="en-US" dirty="0" smtClean="0"/>
              <a:t> \</a:t>
            </a:r>
            <a:r>
              <a:rPr lang="en-US" dirty="0" err="1" smtClean="0"/>
              <a:t>cdot</a:t>
            </a:r>
            <a:r>
              <a:rPr lang="en-US" dirty="0" smtClean="0"/>
              <a:t> n_kn1​⋅n2​⋅…⋅</a:t>
            </a:r>
            <a:r>
              <a:rPr lang="en-US" dirty="0" err="1" smtClean="0"/>
              <a:t>nk</a:t>
            </a:r>
            <a:r>
              <a:rPr lang="en-US" dirty="0" smtClean="0"/>
              <a:t>​.</a:t>
            </a:r>
          </a:p>
          <a:p>
            <a:r>
              <a:rPr lang="en-US" dirty="0" smtClean="0"/>
              <a:t>Used in RSA for performance optimization</a:t>
            </a:r>
            <a:r>
              <a:rPr lang="en-US" dirty="0" smtClean="0"/>
              <a:t>.</a:t>
            </a:r>
          </a:p>
          <a:p>
            <a:r>
              <a:rPr lang="en-US" dirty="0"/>
              <a:t>The Chinese Remainder Theorem (CRT) is important because it provides a way to efficiently solve systems of </a:t>
            </a:r>
            <a:r>
              <a:rPr lang="en-US" dirty="0" err="1"/>
              <a:t>congruences</a:t>
            </a:r>
            <a:r>
              <a:rPr lang="en-US" dirty="0"/>
              <a:t>, which is a powerful tool in number theory and has practical applications in various fields like cryptography, error correction, and computer science. The CRT essentially enables finding a number that satisfies multiple remainder conditions simultaneously. 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8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x ≡ 2 (mod 3</a:t>
            </a:r>
            <a:r>
              <a:rPr lang="da-DK" dirty="0" smtClean="0"/>
              <a:t>)</a:t>
            </a:r>
          </a:p>
          <a:p>
            <a:r>
              <a:rPr lang="da-DK" dirty="0" smtClean="0"/>
              <a:t>x </a:t>
            </a:r>
            <a:r>
              <a:rPr lang="da-DK" dirty="0"/>
              <a:t>≡ 3 (mod 5</a:t>
            </a:r>
            <a:r>
              <a:rPr lang="da-DK" dirty="0" smtClean="0"/>
              <a:t>)</a:t>
            </a:r>
          </a:p>
          <a:p>
            <a:r>
              <a:rPr lang="da-DK" dirty="0" smtClean="0"/>
              <a:t>x </a:t>
            </a:r>
            <a:r>
              <a:rPr lang="da-DK" dirty="0"/>
              <a:t>≡ 2 (mod 7</a:t>
            </a:r>
            <a:r>
              <a:rPr lang="da-DK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2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a Polynomial?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polynomial is an expression of the form: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Coefficients </a:t>
            </a:r>
            <a:r>
              <a:rPr lang="en-US" dirty="0" err="1" smtClean="0"/>
              <a:t>a</a:t>
            </a:r>
            <a:r>
              <a:rPr lang="en-US" sz="1600" dirty="0" err="1" smtClean="0"/>
              <a:t>i</a:t>
            </a:r>
            <a:r>
              <a:rPr lang="en-US" dirty="0" smtClean="0"/>
              <a:t>​ are typically from some field (e.g., integers mod p or GF(2)).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07" y="2585356"/>
            <a:ext cx="4686247" cy="52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5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Polynomial Operations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Addition &amp; Subtraction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Combine like terms (same powers of xxx).</a:t>
            </a:r>
          </a:p>
          <a:p>
            <a:pPr lvl="1"/>
            <a:r>
              <a:rPr lang="en-US" dirty="0" smtClean="0"/>
              <a:t>Performed </a:t>
            </a:r>
            <a:r>
              <a:rPr lang="en-US" b="1" dirty="0" smtClean="0"/>
              <a:t>modulo the coefficient field</a:t>
            </a:r>
            <a:r>
              <a:rPr lang="en-US" dirty="0" smtClean="0"/>
              <a:t> (e.g., mod 2 in binary fields).</a:t>
            </a:r>
          </a:p>
          <a:p>
            <a:r>
              <a:rPr lang="en-US" b="1" dirty="0" smtClean="0"/>
              <a:t>Multiplication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Distribute terms: each term in one polynomial multiplies each term in the other.</a:t>
            </a:r>
          </a:p>
          <a:p>
            <a:pPr lvl="1"/>
            <a:r>
              <a:rPr lang="en-US" dirty="0" smtClean="0"/>
              <a:t>Coefficients reduced modulo the base field.</a:t>
            </a:r>
          </a:p>
          <a:p>
            <a:r>
              <a:rPr lang="en-US" b="1" dirty="0" smtClean="0"/>
              <a:t>Division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Similar to long division of numbers.</a:t>
            </a:r>
          </a:p>
          <a:p>
            <a:pPr lvl="1"/>
            <a:r>
              <a:rPr lang="en-US" dirty="0" smtClean="0"/>
              <a:t>Result: quotient and remainder.</a:t>
            </a:r>
          </a:p>
          <a:p>
            <a:pPr lvl="1"/>
            <a:r>
              <a:rPr lang="en-US" dirty="0" smtClean="0"/>
              <a:t>Often used in modular reduction.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61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Polynomial Arithmetic over GF(2)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Coefficients are either 0 or 1.</a:t>
            </a:r>
          </a:p>
          <a:p>
            <a:r>
              <a:rPr lang="en-US" dirty="0" smtClean="0"/>
              <a:t>Addition/Subtraction = XOR operation.</a:t>
            </a:r>
          </a:p>
          <a:p>
            <a:r>
              <a:rPr lang="en-US" dirty="0" smtClean="0"/>
              <a:t>Used in:</a:t>
            </a:r>
          </a:p>
          <a:p>
            <a:pPr lvl="1"/>
            <a:r>
              <a:rPr lang="en-US" dirty="0" smtClean="0"/>
              <a:t>CRC codes</a:t>
            </a:r>
          </a:p>
          <a:p>
            <a:pPr lvl="1"/>
            <a:r>
              <a:rPr lang="en-US" dirty="0" smtClean="0"/>
              <a:t>AES (</a:t>
            </a:r>
            <a:r>
              <a:rPr lang="en-US" dirty="0" err="1" smtClean="0"/>
              <a:t>Rijndael</a:t>
            </a:r>
            <a:r>
              <a:rPr lang="en-US" dirty="0" smtClean="0"/>
              <a:t> field operations)</a:t>
            </a:r>
          </a:p>
          <a:p>
            <a:pPr lvl="1"/>
            <a:r>
              <a:rPr lang="en-US" dirty="0" smtClean="0"/>
              <a:t>Elliptic curve cryptography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05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Modular Polynomial Arithmetic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Like modular arithmetic for integers:</a:t>
            </a:r>
          </a:p>
          <a:p>
            <a:pPr lvl="1"/>
            <a:r>
              <a:rPr lang="en-US" dirty="0" smtClean="0"/>
              <a:t>You compute f(x)mod  g(x)f(x) \mod g(x)f(x)</a:t>
            </a:r>
            <a:r>
              <a:rPr lang="en-US" dirty="0" err="1" smtClean="0"/>
              <a:t>modg</a:t>
            </a:r>
            <a:r>
              <a:rPr lang="en-US" dirty="0" smtClean="0"/>
              <a:t>(x), where g(x)g(x)g(x) is a fixed irreducible polynomial.</a:t>
            </a:r>
          </a:p>
          <a:p>
            <a:r>
              <a:rPr lang="en-US" dirty="0" smtClean="0"/>
              <a:t>Important in finite field arithmetic:</a:t>
            </a:r>
            <a:br>
              <a:rPr lang="en-US" dirty="0" smtClean="0"/>
            </a:br>
            <a:r>
              <a:rPr lang="en-US" dirty="0" smtClean="0"/>
              <a:t>E.g., GF(2⁸) uses mod of an 8th-degree irreducible polynomial.</a:t>
            </a:r>
          </a:p>
          <a:p>
            <a:pPr marL="0" indent="0">
              <a:buNone/>
            </a:pPr>
            <a:r>
              <a:rPr lang="en-US" b="1" dirty="0" smtClean="0"/>
              <a:t>Applications in Cryptography</a:t>
            </a:r>
          </a:p>
          <a:p>
            <a:r>
              <a:rPr lang="en-US" b="1" dirty="0" smtClean="0"/>
              <a:t>AES</a:t>
            </a:r>
            <a:r>
              <a:rPr lang="en-US" dirty="0" smtClean="0"/>
              <a:t>: Uses GF(2⁸) arithmetic for </a:t>
            </a:r>
            <a:r>
              <a:rPr lang="en-US" dirty="0" err="1" smtClean="0"/>
              <a:t>SubBytes</a:t>
            </a:r>
            <a:r>
              <a:rPr lang="en-US" dirty="0" smtClean="0"/>
              <a:t> and </a:t>
            </a:r>
            <a:r>
              <a:rPr lang="en-US" dirty="0" err="1" smtClean="0"/>
              <a:t>MixColumns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RSA over polynomials</a:t>
            </a:r>
            <a:r>
              <a:rPr lang="en-US" dirty="0" smtClean="0"/>
              <a:t> (rare, but used in some algebraic attacks).</a:t>
            </a:r>
          </a:p>
          <a:p>
            <a:r>
              <a:rPr lang="en-US" b="1" dirty="0" smtClean="0"/>
              <a:t>Elliptic Curve Cryptography (ECC)</a:t>
            </a:r>
            <a:r>
              <a:rPr lang="en-US" dirty="0" smtClean="0"/>
              <a:t>: Uses polynomial arithmetic over GF(p) or GF(2ⁿ).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1034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Number Theory</vt:lpstr>
      <vt:lpstr>Contents</vt:lpstr>
      <vt:lpstr>1. Introduction </vt:lpstr>
      <vt:lpstr>2. Divisibility and Modular Arithmetic </vt:lpstr>
      <vt:lpstr>Modular Arithmatic</vt:lpstr>
      <vt:lpstr>3. Integer and Modular Arithmetic </vt:lpstr>
      <vt:lpstr>Euclidean Algorithm</vt:lpstr>
      <vt:lpstr>Prime Numbers </vt:lpstr>
      <vt:lpstr>Fermat’s and Euler’s Theorems </vt:lpstr>
      <vt:lpstr>6. Testing for Primality</vt:lpstr>
      <vt:lpstr>7. The Chinese Remainder Theorem (CRT) </vt:lpstr>
      <vt:lpstr>Solve</vt:lpstr>
      <vt:lpstr>What is a Polynomial? </vt:lpstr>
      <vt:lpstr>Polynomial Operations </vt:lpstr>
      <vt:lpstr>Polynomial Arithmetic over GF(2)</vt:lpstr>
      <vt:lpstr>Modular Polynomial Arithmetic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17</cp:revision>
  <dcterms:created xsi:type="dcterms:W3CDTF">2025-05-20T07:47:17Z</dcterms:created>
  <dcterms:modified xsi:type="dcterms:W3CDTF">2025-05-21T08:24:14Z</dcterms:modified>
</cp:coreProperties>
</file>