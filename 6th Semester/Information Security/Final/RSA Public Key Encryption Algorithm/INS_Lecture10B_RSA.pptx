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2"/>
  </p:notesMasterIdLst>
  <p:sldIdLst>
    <p:sldId id="291" r:id="rId3"/>
    <p:sldId id="258" r:id="rId4"/>
    <p:sldId id="401" r:id="rId5"/>
    <p:sldId id="281" r:id="rId6"/>
    <p:sldId id="341" r:id="rId7"/>
    <p:sldId id="339" r:id="rId8"/>
    <p:sldId id="340" r:id="rId9"/>
    <p:sldId id="342" r:id="rId10"/>
    <p:sldId id="33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81" d="100"/>
          <a:sy n="81" d="100"/>
        </p:scale>
        <p:origin x="-300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078A30-8794-47AA-AD76-465A41DA6B87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8FBC87-607F-4092-ACEF-267AF81BA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63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xmlns="" id="{0A8BA244-262A-4B93-9381-13C6012FB7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ED78A4-6A5F-4CFF-AEFA-317DAE405FFD}" type="slidenum">
              <a:rPr kumimoji="0" lang="en-A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099" name="Rectangle 1026">
            <a:extLst>
              <a:ext uri="{FF2B5EF4-FFF2-40B4-BE49-F238E27FC236}">
                <a16:creationId xmlns:a16="http://schemas.microsoft.com/office/drawing/2014/main" xmlns="" id="{BC9EACA8-CA68-465A-8A0D-56AA552F1A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00" name="Rectangle 1027">
            <a:extLst>
              <a:ext uri="{FF2B5EF4-FFF2-40B4-BE49-F238E27FC236}">
                <a16:creationId xmlns:a16="http://schemas.microsoft.com/office/drawing/2014/main" xmlns="" id="{07B81F68-10EA-4D2A-BE25-B5A1EC617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4779EC-CADD-43E1-963C-88F202849E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1F02E73-C943-47AF-98DF-E206E60128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C4A0201-1577-4F82-827B-F8BD09594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E76C-F78C-4B25-AB1D-E087E81CA3F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51828FF-9D19-4542-8069-3B0318CFD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FBC8217-D65C-4821-AA1F-E0ABA66ED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1B93-8216-4DBD-B725-37D3E551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25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D357C2-5C61-4C6C-B8EA-1040B7DB8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D9EDEF-755D-4A82-A1E6-077B5D228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374599D-D861-4809-927D-9A5004854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E76C-F78C-4B25-AB1D-E087E81CA3F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64D7517-0D31-46BD-9D4B-8A538E7D4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D494221-2E7D-4840-A7A6-3B3AE169E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1B93-8216-4DBD-B725-37D3E551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163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52EE85-F32F-4790-8942-855F274FB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4FB1EE4-6904-4EEF-806B-54F275EE6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17B6F98-0743-4CD5-AE29-90E05DDD0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E76C-F78C-4B25-AB1D-E087E81CA3F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8CE6876-21B1-4065-B8C3-006558F7F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B85E52-7FAB-4DDC-898E-A65A66490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1B93-8216-4DBD-B725-37D3E551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610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DA2FDD-9089-4AA9-9799-6AA31ED18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1B0492F-9D89-4D75-9536-9CC8D99BBE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12F2720-8848-4BAB-AE89-20F933E31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E3D1233-F3C2-44F8-A83B-F0D795631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E76C-F78C-4B25-AB1D-E087E81CA3F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998A5F9-CC31-4347-91E8-F55E11E98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008D9B0-7EE1-427C-9BC5-5A4D1CFE9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1B93-8216-4DBD-B725-37D3E551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743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2C1FAC-92DB-401C-AAD6-FA64BCBFA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AAC9D88-3E1E-43D3-8E2D-9DE532987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F44E80F-925A-4F37-B5BB-B1188196D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E135459-D65C-4AD1-B1FB-4A3F3AFAF6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4F3B282-F19D-433A-8175-7DBD73C7AF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706CFEB-8D82-4B5A-9106-43036767C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E76C-F78C-4B25-AB1D-E087E81CA3F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9D5BC3A-4F4E-4090-B3E0-9C88727B1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9BE714B-77F9-422F-9167-01E823C59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1B93-8216-4DBD-B725-37D3E551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844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338B8E-9C65-4A42-B562-68AD00344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16C5140-CD32-4777-AEC8-02B898B40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E76C-F78C-4B25-AB1D-E087E81CA3F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BDD1C0D-748C-4821-B74F-19B073C9D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5A39F81-DFE0-4F27-9BDA-F2D5A5E55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1B93-8216-4DBD-B725-37D3E551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16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E036F3C-B4A6-4C2C-8E23-896007071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E76C-F78C-4B25-AB1D-E087E81CA3F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9479D7B-5CDC-4114-86D7-C23BC0B2B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EE42AAF-5E5A-43F2-93FD-DBEAB0F76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1B93-8216-4DBD-B725-37D3E551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411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5D5209-9ACC-41E4-BE18-1BEA98189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66BEF6C-C189-44F7-A74A-692920453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A3093BD-2C84-4EFD-8ACA-C12A2DD9C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B82D1F5-1EC5-48E7-A65D-BB17CB070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E76C-F78C-4B25-AB1D-E087E81CA3F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1ABAEF9-ECD2-4320-967A-3D98D08E8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54E8D1D-1F85-4C24-B991-978C603A7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1B93-8216-4DBD-B725-37D3E551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56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CEC0F8-F95C-47DF-9ACC-689B19895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28E8DB1C-47EF-4B9B-8FBA-78BF5742FD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05028C2-8105-4253-9C71-0A7FFE1A7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C83751D-DE20-4E9C-9564-BBDC431C9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E76C-F78C-4B25-AB1D-E087E81CA3F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05D8CFA-C15B-431F-A2A6-957CB04A6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98A336C-162F-404C-8CB0-F5942A204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1B93-8216-4DBD-B725-37D3E551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074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EA8C1B-2EBE-42EA-9858-439888C7C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0502873-E37D-41BC-98DB-AE5E644978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158946D-791D-46B3-A9A7-4E605EDF7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E76C-F78C-4B25-AB1D-E087E81CA3F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CD4A74E-15D9-4168-AF8E-925432FDF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5DE0D4-38F3-4ACC-858F-CD3E4398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1B93-8216-4DBD-B725-37D3E551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343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F355E24-37F8-47BB-87F1-42015B4B2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771FE7C-1D8F-46F8-BFCA-1A178F6DCD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8BB9D59-C298-44EC-8BC7-517B2EF58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E76C-F78C-4B25-AB1D-E087E81CA3F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92D7966-2BBE-4E00-A92B-6A4A7A7F7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0BF72D4-B9B8-42B7-B17D-585D6D46F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1B93-8216-4DBD-B725-37D3E551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82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7" y="228600"/>
            <a:ext cx="11243733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Online Image Placeholder 2"/>
          <p:cNvSpPr>
            <a:spLocks noGrp="1"/>
          </p:cNvSpPr>
          <p:nvPr>
            <p:ph type="clipArt" sz="half" idx="1"/>
          </p:nvPr>
        </p:nvSpPr>
        <p:spPr>
          <a:xfrm>
            <a:off x="609600" y="1524000"/>
            <a:ext cx="54864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9200" y="1524000"/>
            <a:ext cx="54864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118320B-3D2A-421B-AE79-5A63CE6AB4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6999B7D-0B75-4A82-8663-278C6E383A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E0757597-624F-4A39-9458-EB425E57AA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BCEA17-8CA5-4A00-A5FD-AABE9CEA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1644781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ADC928D-AF37-4668-92C2-8C8AA993D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EFFF265-D0F1-4B74-9B1F-1215A5F68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EFB0088-8875-4DF6-A2FC-EDDADE4A9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BF2076-6EBB-40FB-BC9A-B610537224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2067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F67A351-1C59-4A13-9028-A12ED6216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21ED9EF-F2D1-4066-94D3-A087C6434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3948D42-7CD4-47E5-8757-7E23842B1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75388C-D30E-4FF1-B38B-7C5475E7E9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18188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A92ECA4-A850-4F05-8CD5-BFF33AF6E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F1072A6-9989-4FEF-A0FE-FFA173F34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05C45AC-D7A4-42BD-9F31-D54B9707B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6A86A-628E-49ED-9545-C08B147576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3482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A3353899-F31B-46C7-9EDF-87171C828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3E3D3550-279C-4B79-8D48-00312A8CC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35F6E0DB-5A3B-4BCC-8BBE-A73D4E5A5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0C8A73-588B-488C-86B9-440077163B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72180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1B2415FC-74D0-4492-89D4-4CB55E4D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372C53CA-65A8-4CE4-A24A-7DBF69C6F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B9E66BBC-40BA-4487-885E-0B3593B02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B4251-FA0B-4BA2-9BDB-2CCC5C726AD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05465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2A65270C-0F1E-4BDF-8080-8C9D82DA6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2C22800A-D85C-429C-A20A-DEE7F727E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763E4F90-58A4-4B3C-B067-E7D4CF7DB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27C628-CBD0-4961-9AB6-AD830458FC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63567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A6FF27B7-F5AE-4E53-9947-78DDEBB82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53715A59-E217-427F-A83C-1C0BCD0D8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2EB5AD5C-574B-4C6C-B525-2B3C36773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DC9034-A007-4D61-82FB-B1CCC17744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15331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0AFDD9DD-CFC1-4A5D-891C-36A7FCBFC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0C0FFCF5-7F2C-4BBB-8DF9-707F0E813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ED26E417-DC60-4BEB-A5AC-E13636F4E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C8351A-1ACE-4206-8509-EC546A2674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11272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9351422D-2D19-411B-974F-2BFBF60D2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0C7D06B2-57ED-4BC3-AC79-7F4E7531A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6997A9BC-76AB-4ABE-B3FB-09965409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A2545D-1769-4198-83FB-BF3B5638B31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81853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B82D49-C47F-42E6-8107-E71DA9B8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04A6CB4-9100-4399-ABE6-345C5B504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705F1D3-3215-4CEE-B0DA-C84034ACA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19227-C7EA-45C4-A547-AFB1A5D6A9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25605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27DD4B4-DB17-49BF-AB82-8E2D2A127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D0FF900-747E-47A9-B63E-45A5BEBFF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2056621-4BE2-4E68-B6D0-4C07DA0D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23017-8903-451D-82DF-9D453FD951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0476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38CCFBD-FEFD-4772-9EBA-D3699EA4E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EFAA5EC-65E4-4802-BB98-73A94D1CB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A17CC56-53D4-4510-9C3E-194A126B9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5E76C-F78C-4B25-AB1D-E087E81CA3F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C5479A2-1262-4C50-BB4D-C05B772A87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BB8B627-885E-4C41-9273-F7DCCD4ED6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A1B93-8216-4DBD-B725-37D3E551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740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xmlns="" id="{20FC5C60-FB78-4585-B4CB-BFE8903023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xmlns="" id="{9B45E996-66BA-4544-ACDA-B8188B7531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174F7D4-CE26-4CCA-BB7F-B1D32A756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FD05855-0957-4BAD-8691-4CFCAE9165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A3E825B-237F-49DF-A4E1-A35D663FCD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07B6DD8-F85D-4AEF-9D08-FEA49E3942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1246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>
            <a:extLst>
              <a:ext uri="{FF2B5EF4-FFF2-40B4-BE49-F238E27FC236}">
                <a16:creationId xmlns:a16="http://schemas.microsoft.com/office/drawing/2014/main" xmlns="" id="{99FA50CC-973A-429E-A9A9-782D628D525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413353" y="993774"/>
            <a:ext cx="7848600" cy="1514153"/>
          </a:xfrm>
        </p:spPr>
        <p:txBody>
          <a:bodyPr/>
          <a:lstStyle/>
          <a:p>
            <a:pPr eaLnBrk="1" hangingPunct="1"/>
            <a:r>
              <a:rPr lang="en-US" altLang="en-US" b="1"/>
              <a:t>Information </a:t>
            </a:r>
            <a:r>
              <a:rPr lang="en-US" altLang="en-US" b="1" smtClean="0"/>
              <a:t>Security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Public and Private Key Algorithms</a:t>
            </a:r>
            <a:endParaRPr lang="en-AU" altLang="en-US" dirty="0"/>
          </a:p>
        </p:txBody>
      </p:sp>
      <p:sp>
        <p:nvSpPr>
          <p:cNvPr id="8" name="Rectangle 1026">
            <a:extLst>
              <a:ext uri="{FF2B5EF4-FFF2-40B4-BE49-F238E27FC236}">
                <a16:creationId xmlns:a16="http://schemas.microsoft.com/office/drawing/2014/main" xmlns="" id="{4F8D96F4-0C49-49F3-BEB1-5FE252080BD7}"/>
              </a:ext>
            </a:extLst>
          </p:cNvPr>
          <p:cNvSpPr txBox="1">
            <a:spLocks noChangeArrowheads="1"/>
          </p:cNvSpPr>
          <p:nvPr/>
        </p:nvSpPr>
        <p:spPr>
          <a:xfrm>
            <a:off x="2351088" y="3098801"/>
            <a:ext cx="7848600" cy="2765425"/>
          </a:xfrm>
          <a:prstGeom prst="rect">
            <a:avLst/>
          </a:prstGeom>
        </p:spPr>
        <p:txBody>
          <a:bodyPr anchor="b">
            <a:normAutofit fontScale="975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defRPr/>
            </a:pPr>
            <a:r>
              <a:rPr lang="en-US" altLang="en-US" b="1" dirty="0">
                <a:solidFill>
                  <a:prstClr val="black"/>
                </a:solidFill>
                <a:latin typeface="Calibri Light" panose="020F0302020204030204"/>
              </a:rPr>
              <a:t/>
            </a:r>
            <a:br>
              <a:rPr lang="en-US" altLang="en-US" b="1" dirty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en-US" altLang="en-US" sz="3700" b="1" dirty="0">
                <a:solidFill>
                  <a:prstClr val="black"/>
                </a:solidFill>
                <a:latin typeface="Calibri Light" panose="020F0302020204030204"/>
              </a:rPr>
              <a:t>Lecture </a:t>
            </a:r>
            <a:r>
              <a:rPr lang="en-US" altLang="en-US" sz="3700" b="1" dirty="0" smtClean="0">
                <a:solidFill>
                  <a:prstClr val="black"/>
                </a:solidFill>
                <a:latin typeface="Calibri Light" panose="020F0302020204030204"/>
              </a:rPr>
              <a:t>10</a:t>
            </a:r>
          </a:p>
          <a:p>
            <a:pPr algn="r">
              <a:defRPr/>
            </a:pPr>
            <a:r>
              <a:rPr lang="en-US" altLang="en-US" sz="3700" b="1" dirty="0" err="1" smtClean="0">
                <a:solidFill>
                  <a:prstClr val="black"/>
                </a:solidFill>
                <a:latin typeface="Calibri Light" panose="020F0302020204030204"/>
              </a:rPr>
              <a:t>Razia</a:t>
            </a:r>
            <a:r>
              <a:rPr lang="en-US" altLang="en-US" sz="3700" b="1" dirty="0" smtClean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altLang="en-US" sz="3700" b="1" dirty="0" err="1" smtClean="0">
                <a:solidFill>
                  <a:prstClr val="black"/>
                </a:solidFill>
                <a:latin typeface="Calibri Light" panose="020F0302020204030204"/>
              </a:rPr>
              <a:t>Nisar</a:t>
            </a:r>
            <a:r>
              <a:rPr lang="en-US" altLang="en-US" sz="3700" b="1" dirty="0" smtClean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altLang="en-US" sz="3700" b="1" dirty="0" err="1" smtClean="0">
                <a:solidFill>
                  <a:prstClr val="black"/>
                </a:solidFill>
                <a:latin typeface="Calibri Light" panose="020F0302020204030204"/>
              </a:rPr>
              <a:t>Noorani</a:t>
            </a:r>
            <a:r>
              <a:rPr lang="en-US" altLang="en-US" sz="3700" b="1" smtClean="0">
                <a:solidFill>
                  <a:prstClr val="black"/>
                </a:solidFill>
                <a:latin typeface="Calibri Light" panose="020F0302020204030204"/>
              </a:rPr>
              <a:t> &amp;</a:t>
            </a:r>
            <a:endParaRPr lang="en-US" altLang="en-US" b="1" dirty="0">
              <a:solidFill>
                <a:prstClr val="black"/>
              </a:solidFill>
              <a:latin typeface="Calibri Light" panose="020F0302020204030204"/>
            </a:endParaRPr>
          </a:p>
          <a:p>
            <a:pPr algn="r">
              <a:defRPr/>
            </a:pPr>
            <a:r>
              <a:rPr lang="en-US" altLang="en-US" b="1" dirty="0">
                <a:solidFill>
                  <a:prstClr val="black"/>
                </a:solidFill>
                <a:latin typeface="Calibri Light" panose="020F0302020204030204"/>
              </a:rPr>
              <a:t>Dr. Amir Mehmood</a:t>
            </a:r>
            <a:endParaRPr lang="en-AU" altLang="en-US" b="1" dirty="0">
              <a:solidFill>
                <a:prstClr val="black"/>
              </a:solidFill>
              <a:latin typeface="Calibri Light" panose="020F03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6">
            <a:extLst>
              <a:ext uri="{FF2B5EF4-FFF2-40B4-BE49-F238E27FC236}">
                <a16:creationId xmlns:a16="http://schemas.microsoft.com/office/drawing/2014/main" xmlns="" id="{1E097420-F10B-46EC-A397-C6DB0AFA28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61990468-A250-4B2E-868B-463C480BB0C3}" type="slidenum">
              <a:rPr kumimoji="0" lang="en-US" altLang="en-US" sz="1400">
                <a:solidFill>
                  <a:srgbClr val="5E574E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2</a:t>
            </a:fld>
            <a:endParaRPr kumimoji="0" lang="en-US" altLang="en-US" sz="1400">
              <a:solidFill>
                <a:srgbClr val="5E574E"/>
              </a:solidFill>
              <a:latin typeface="Arial" panose="020B0604020202020204" pitchFamily="34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xmlns="" id="{C2819983-35EF-42E3-8FCA-FF5C784EF10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24000" y="21527"/>
            <a:ext cx="9144000" cy="2035873"/>
          </a:xfrm>
        </p:spPr>
        <p:txBody>
          <a:bodyPr/>
          <a:lstStyle/>
          <a:p>
            <a:r>
              <a:rPr lang="en-US" altLang="en-US" dirty="0"/>
              <a:t>RSA Public Key Encryption Algorithm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xmlns="" id="{59978C5E-303E-46D5-9C6F-923E3F101CC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514600" y="4648200"/>
            <a:ext cx="7315200" cy="1771650"/>
          </a:xfrm>
        </p:spPr>
        <p:txBody>
          <a:bodyPr/>
          <a:lstStyle/>
          <a:p>
            <a:r>
              <a:rPr lang="en-US" altLang="en-US" sz="2800"/>
              <a:t>The best known public key cryptosystem is RSA - named after its authors, Rivest, Shamir and Adelman</a:t>
            </a:r>
          </a:p>
        </p:txBody>
      </p:sp>
      <p:pic>
        <p:nvPicPr>
          <p:cNvPr id="16389" name="Picture 1">
            <a:extLst>
              <a:ext uri="{FF2B5EF4-FFF2-40B4-BE49-F238E27FC236}">
                <a16:creationId xmlns:a16="http://schemas.microsoft.com/office/drawing/2014/main" xmlns="" id="{F6BE337F-8829-4DBC-AAB9-C447FDA96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209800"/>
            <a:ext cx="35814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xmlns="" id="{AFB40D9D-8281-4BD0-B63B-03D3B8C3F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A8C4F858-9CFD-42CA-8877-827FCE3A1760}" type="slidenum">
              <a:rPr kumimoji="0"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3</a:t>
            </a:fld>
            <a:endParaRPr kumimoji="0"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xmlns="" id="{1D567CC9-B193-487A-B88A-4F0D866180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RSA 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xmlns="" id="{0CE98DDA-F28C-4792-99C2-210F0BFAAD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RSA - named after Rivest, Shamir and Adleman, the inventors - was the first public-key scheme which was capable of signatures as well as encryption.</a:t>
            </a:r>
          </a:p>
          <a:p>
            <a:r>
              <a:rPr lang="en-US" altLang="en-US"/>
              <a:t>It is the easiest to understand as well as the most popular to implement </a:t>
            </a:r>
          </a:p>
          <a:p>
            <a:r>
              <a:rPr lang="en-US" altLang="en-US"/>
              <a:t>RSA obtains its security from the difficulty of factoring large numbers. 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>
            <a:extLst>
              <a:ext uri="{FF2B5EF4-FFF2-40B4-BE49-F238E27FC236}">
                <a16:creationId xmlns:a16="http://schemas.microsoft.com/office/drawing/2014/main" xmlns="" id="{C1E2EFFD-2893-4413-96CB-9ED4026CC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BCC41FF7-74F3-4365-922D-7BE88A00A0BF}" type="slidenum">
              <a:rPr kumimoji="0"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4</a:t>
            </a:fld>
            <a:endParaRPr kumimoji="0"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xmlns="" id="{C45BE49D-91EB-437C-B440-840FDABFEF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Encryption with RSA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xmlns="" id="{3E5DA8DD-53F1-4796-B75F-8FCEAF1380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2600" y="1600200"/>
            <a:ext cx="8610600" cy="44958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en-US" dirty="0"/>
              <a:t>To encrypt a plaintext message block m, compute 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3200" dirty="0"/>
              <a:t>C=M</a:t>
            </a:r>
            <a:r>
              <a:rPr lang="en-US" altLang="en-US" sz="3200" baseline="30000" dirty="0"/>
              <a:t>e</a:t>
            </a:r>
            <a:r>
              <a:rPr lang="en-US" altLang="en-US" sz="3200" dirty="0"/>
              <a:t> mod n </a:t>
            </a:r>
          </a:p>
          <a:p>
            <a:pPr>
              <a:lnSpc>
                <a:spcPct val="8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en-US" dirty="0"/>
              <a:t>To decrypt the block, compute 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3200" dirty="0"/>
              <a:t>M=C</a:t>
            </a:r>
            <a:r>
              <a:rPr lang="en-US" altLang="en-US" sz="3200" baseline="30000" dirty="0"/>
              <a:t>d</a:t>
            </a:r>
            <a:r>
              <a:rPr lang="en-US" altLang="en-US" sz="3200" dirty="0"/>
              <a:t> mod n </a:t>
            </a:r>
          </a:p>
          <a:p>
            <a:pPr>
              <a:lnSpc>
                <a:spcPct val="8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en-US" dirty="0"/>
              <a:t>Each plaintext block must be smaller than the value of n.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Slide Number Placeholder 4">
            <a:extLst>
              <a:ext uri="{FF2B5EF4-FFF2-40B4-BE49-F238E27FC236}">
                <a16:creationId xmlns:a16="http://schemas.microsoft.com/office/drawing/2014/main" xmlns="" id="{957F7328-4C49-4BAB-ADDE-C7E0F10260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3E77C721-95E6-4CA0-AEB5-42A9FF058B7E}" type="slidenum">
              <a:rPr kumimoji="0"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5</a:t>
            </a:fld>
            <a:endParaRPr kumimoji="0"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19460" name="Picture 5">
            <a:extLst>
              <a:ext uri="{FF2B5EF4-FFF2-40B4-BE49-F238E27FC236}">
                <a16:creationId xmlns:a16="http://schemas.microsoft.com/office/drawing/2014/main" xmlns="" id="{2442CD7F-972D-46E1-AAE6-75D520D7B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8600"/>
            <a:ext cx="9144000" cy="596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91DFA47-747C-40B6-ABBE-78C6E8EAF487}"/>
              </a:ext>
            </a:extLst>
          </p:cNvPr>
          <p:cNvSpPr txBox="1"/>
          <p:nvPr/>
        </p:nvSpPr>
        <p:spPr>
          <a:xfrm>
            <a:off x="10449016" y="1225118"/>
            <a:ext cx="1606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d=(1*24)+1/5</a:t>
            </a:r>
          </a:p>
          <a:p>
            <a:r>
              <a:rPr lang="en-US" dirty="0"/>
              <a:t>d=25/5=5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Slide Number Placeholder 4">
            <a:extLst>
              <a:ext uri="{FF2B5EF4-FFF2-40B4-BE49-F238E27FC236}">
                <a16:creationId xmlns:a16="http://schemas.microsoft.com/office/drawing/2014/main" xmlns="" id="{A655A8B4-0E61-46DB-8300-35ED6990CB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2F51901B-C15A-4DF6-A976-2E126561737A}" type="slidenum">
              <a:rPr kumimoji="0"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6</a:t>
            </a:fld>
            <a:endParaRPr kumimoji="0"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20484" name="Picture 5">
            <a:extLst>
              <a:ext uri="{FF2B5EF4-FFF2-40B4-BE49-F238E27FC236}">
                <a16:creationId xmlns:a16="http://schemas.microsoft.com/office/drawing/2014/main" xmlns="" id="{046552D1-385B-457A-B01C-40B741897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32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TextBox 1">
            <a:extLst>
              <a:ext uri="{FF2B5EF4-FFF2-40B4-BE49-F238E27FC236}">
                <a16:creationId xmlns:a16="http://schemas.microsoft.com/office/drawing/2014/main" xmlns="" id="{D328DC22-8F67-4571-828B-12D7B5356E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5350" y="6219826"/>
            <a:ext cx="44132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dirty="0"/>
              <a:t>de = (1+mx) = d= (1+160x)/7</a:t>
            </a:r>
            <a:endParaRPr lang="en-US" altLang="en-US" dirty="0"/>
          </a:p>
        </p:txBody>
      </p:sp>
      <p:sp>
        <p:nvSpPr>
          <p:cNvPr id="20486" name="TextBox 2">
            <a:extLst>
              <a:ext uri="{FF2B5EF4-FFF2-40B4-BE49-F238E27FC236}">
                <a16:creationId xmlns:a16="http://schemas.microsoft.com/office/drawing/2014/main" xmlns="" id="{DB3673E0-40CD-4155-A137-2200515C7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0200" y="2133601"/>
            <a:ext cx="965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/>
              <a:t>= m</a:t>
            </a:r>
            <a:endParaRPr lang="en-US" altLang="en-US"/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Slide Number Placeholder 4">
            <a:extLst>
              <a:ext uri="{FF2B5EF4-FFF2-40B4-BE49-F238E27FC236}">
                <a16:creationId xmlns:a16="http://schemas.microsoft.com/office/drawing/2014/main" xmlns="" id="{4D3E10BC-F2FE-4926-AA71-48AECF8463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3320E082-BDB5-42FD-98FE-E36F8C4506B0}" type="slidenum">
              <a:rPr kumimoji="0"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7</a:t>
            </a:fld>
            <a:endParaRPr kumimoji="0"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21508" name="Picture 5">
            <a:extLst>
              <a:ext uri="{FF2B5EF4-FFF2-40B4-BE49-F238E27FC236}">
                <a16:creationId xmlns:a16="http://schemas.microsoft.com/office/drawing/2014/main" xmlns="" id="{DDCF5366-7070-4AF8-AC38-C04DD8892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0"/>
            <a:ext cx="9020175" cy="626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Slide Number Placeholder 4">
            <a:extLst>
              <a:ext uri="{FF2B5EF4-FFF2-40B4-BE49-F238E27FC236}">
                <a16:creationId xmlns:a16="http://schemas.microsoft.com/office/drawing/2014/main" xmlns="" id="{9EC7769F-20F4-4927-A411-97BF8C3998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DAFECE21-DEA7-4471-9BFC-2469E763A8A8}" type="slidenum">
              <a:rPr kumimoji="0"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8</a:t>
            </a:fld>
            <a:endParaRPr kumimoji="0"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22532" name="Picture 5">
            <a:extLst>
              <a:ext uri="{FF2B5EF4-FFF2-40B4-BE49-F238E27FC236}">
                <a16:creationId xmlns:a16="http://schemas.microsoft.com/office/drawing/2014/main" xmlns="" id="{931201F4-D322-472D-80BB-74488A544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8600"/>
            <a:ext cx="9144000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3093789-9459-4358-9170-0879F0DF1A9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19400" y="4648200"/>
            <a:ext cx="5562600" cy="1938992"/>
          </a:xfrm>
          <a:prstGeom prst="rect">
            <a:avLst/>
          </a:prstGeom>
          <a:blipFill>
            <a:blip r:embed="rId3"/>
            <a:stretch>
              <a:fillRect l="-1754" t="-2516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Slide Number Placeholder 4">
            <a:extLst>
              <a:ext uri="{FF2B5EF4-FFF2-40B4-BE49-F238E27FC236}">
                <a16:creationId xmlns:a16="http://schemas.microsoft.com/office/drawing/2014/main" xmlns="" id="{4B2B04AE-1F9C-4279-8CA3-16410C7E5A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6DD57131-0F7B-4E82-B0AC-A057E7A098D5}" type="slidenum">
              <a:rPr kumimoji="0"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9</a:t>
            </a:fld>
            <a:endParaRPr kumimoji="0"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23556" name="Picture 5">
            <a:extLst>
              <a:ext uri="{FF2B5EF4-FFF2-40B4-BE49-F238E27FC236}">
                <a16:creationId xmlns:a16="http://schemas.microsoft.com/office/drawing/2014/main" xmlns="" id="{C1760FBC-82D5-428A-BADD-ED6156F91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47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1F9E489-DB0A-4E5C-AF64-E66BE933E2C9}"/>
              </a:ext>
            </a:extLst>
          </p:cNvPr>
          <p:cNvSpPr txBox="1"/>
          <p:nvPr/>
        </p:nvSpPr>
        <p:spPr>
          <a:xfrm>
            <a:off x="6276512" y="3604334"/>
            <a:ext cx="4391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 = [1+(x*m)] / e =&gt; d=[1+ (1*20)] / 7 =3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387F8B3-400D-49DC-843B-6353A6A2A127}"/>
              </a:ext>
            </a:extLst>
          </p:cNvPr>
          <p:cNvSpPr txBox="1"/>
          <p:nvPr/>
        </p:nvSpPr>
        <p:spPr>
          <a:xfrm>
            <a:off x="8144522" y="2165867"/>
            <a:ext cx="93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=m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890</TotalTime>
  <Words>169</Words>
  <Application>Microsoft Office PowerPoint</Application>
  <PresentationFormat>Custom</PresentationFormat>
  <Paragraphs>32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Office Theme</vt:lpstr>
      <vt:lpstr>1_Office Theme</vt:lpstr>
      <vt:lpstr>Information Security Public and Private Key Algorithms</vt:lpstr>
      <vt:lpstr>RSA Public Key Encryption Algorithm</vt:lpstr>
      <vt:lpstr>RSA </vt:lpstr>
      <vt:lpstr>Encryption with RSA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Diffie Hellman Key Exchange Algorithm </dc:title>
  <dc:creator>M Usman</dc:creator>
  <cp:lastModifiedBy>Razia Nisar</cp:lastModifiedBy>
  <cp:revision>32</cp:revision>
  <dcterms:created xsi:type="dcterms:W3CDTF">2020-12-15T04:54:24Z</dcterms:created>
  <dcterms:modified xsi:type="dcterms:W3CDTF">2023-06-13T05:17:05Z</dcterms:modified>
</cp:coreProperties>
</file>