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42"/>
  </p:notesMasterIdLst>
  <p:sldIdLst>
    <p:sldId id="291" r:id="rId3"/>
    <p:sldId id="402" r:id="rId4"/>
    <p:sldId id="266" r:id="rId5"/>
    <p:sldId id="335" r:id="rId6"/>
    <p:sldId id="267" r:id="rId7"/>
    <p:sldId id="403" r:id="rId8"/>
    <p:sldId id="404" r:id="rId9"/>
    <p:sldId id="337" r:id="rId10"/>
    <p:sldId id="405" r:id="rId11"/>
    <p:sldId id="303" r:id="rId12"/>
    <p:sldId id="406" r:id="rId13"/>
    <p:sldId id="407" r:id="rId14"/>
    <p:sldId id="268" r:id="rId15"/>
    <p:sldId id="274" r:id="rId16"/>
    <p:sldId id="275" r:id="rId17"/>
    <p:sldId id="273" r:id="rId18"/>
    <p:sldId id="279" r:id="rId19"/>
    <p:sldId id="379" r:id="rId20"/>
    <p:sldId id="395" r:id="rId21"/>
    <p:sldId id="396" r:id="rId22"/>
    <p:sldId id="382" r:id="rId23"/>
    <p:sldId id="383" r:id="rId24"/>
    <p:sldId id="380" r:id="rId25"/>
    <p:sldId id="271" r:id="rId26"/>
    <p:sldId id="263" r:id="rId27"/>
    <p:sldId id="408" r:id="rId28"/>
    <p:sldId id="409" r:id="rId29"/>
    <p:sldId id="272" r:id="rId30"/>
    <p:sldId id="264" r:id="rId31"/>
    <p:sldId id="259" r:id="rId32"/>
    <p:sldId id="265" r:id="rId33"/>
    <p:sldId id="261" r:id="rId34"/>
    <p:sldId id="270" r:id="rId35"/>
    <p:sldId id="398" r:id="rId36"/>
    <p:sldId id="399" r:id="rId37"/>
    <p:sldId id="393" r:id="rId38"/>
    <p:sldId id="277" r:id="rId39"/>
    <p:sldId id="276" r:id="rId40"/>
    <p:sldId id="278"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81" d="100"/>
          <a:sy n="81" d="100"/>
        </p:scale>
        <p:origin x="-300"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078A30-8794-47AA-AD76-465A41DA6B87}" type="datetimeFigureOut">
              <a:rPr lang="en-US" smtClean="0"/>
              <a:t>6/13/2023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8FBC87-607F-4092-ACEF-267AF81BAF3B}" type="slidenum">
              <a:rPr lang="en-US" smtClean="0"/>
              <a:t>‹#›</a:t>
            </a:fld>
            <a:endParaRPr lang="en-US"/>
          </a:p>
        </p:txBody>
      </p:sp>
    </p:spTree>
    <p:extLst>
      <p:ext uri="{BB962C8B-B14F-4D97-AF65-F5344CB8AC3E}">
        <p14:creationId xmlns:p14="http://schemas.microsoft.com/office/powerpoint/2010/main" val="1703363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xmlns="" id="{0A8BA244-262A-4B93-9381-13C6012FB79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EED78A4-6A5F-4CFF-AEFA-317DAE405FFD}" type="slidenum">
              <a:rPr kumimoji="0" lang="en-AU"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AU"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
        <p:nvSpPr>
          <p:cNvPr id="4099" name="Rectangle 1026">
            <a:extLst>
              <a:ext uri="{FF2B5EF4-FFF2-40B4-BE49-F238E27FC236}">
                <a16:creationId xmlns:a16="http://schemas.microsoft.com/office/drawing/2014/main" xmlns="" id="{BC9EACA8-CA68-465A-8A0D-56AA552F1A57}"/>
              </a:ext>
            </a:extLst>
          </p:cNvPr>
          <p:cNvSpPr>
            <a:spLocks noGrp="1" noRot="1" noChangeAspect="1" noChangeArrowheads="1" noTextEdit="1"/>
          </p:cNvSpPr>
          <p:nvPr>
            <p:ph type="sldImg"/>
          </p:nvPr>
        </p:nvSpPr>
        <p:spPr>
          <a:solidFill>
            <a:srgbClr val="FFFFFF"/>
          </a:solidFill>
          <a:ln/>
        </p:spPr>
      </p:sp>
      <p:sp>
        <p:nvSpPr>
          <p:cNvPr id="4100" name="Rectangle 1027">
            <a:extLst>
              <a:ext uri="{FF2B5EF4-FFF2-40B4-BE49-F238E27FC236}">
                <a16:creationId xmlns:a16="http://schemas.microsoft.com/office/drawing/2014/main" xmlns="" id="{07B81F68-10EA-4D2A-BE25-B5A1EC617A57}"/>
              </a:ext>
            </a:extLst>
          </p:cNvPr>
          <p:cNvSpPr>
            <a:spLocks noGrp="1" noChangeArrowheads="1"/>
          </p:cNvSpPr>
          <p:nvPr>
            <p:ph type="body" idx="1"/>
          </p:nvPr>
        </p:nvSpPr>
        <p:spPr>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4779EC-CADD-43E1-963C-88F202849E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71F02E73-C943-47AF-98DF-E206E60128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8C4A0201-1577-4F82-827B-F8BD0959443D}"/>
              </a:ext>
            </a:extLst>
          </p:cNvPr>
          <p:cNvSpPr>
            <a:spLocks noGrp="1"/>
          </p:cNvSpPr>
          <p:nvPr>
            <p:ph type="dt" sz="half" idx="10"/>
          </p:nvPr>
        </p:nvSpPr>
        <p:spPr/>
        <p:txBody>
          <a:bodyPr/>
          <a:lstStyle/>
          <a:p>
            <a:fld id="{E585E76C-F78C-4B25-AB1D-E087E81CA3F3}" type="datetimeFigureOut">
              <a:rPr lang="en-US" smtClean="0"/>
              <a:t>6/13/2023</a:t>
            </a:fld>
            <a:endParaRPr lang="en-US"/>
          </a:p>
        </p:txBody>
      </p:sp>
      <p:sp>
        <p:nvSpPr>
          <p:cNvPr id="5" name="Footer Placeholder 4">
            <a:extLst>
              <a:ext uri="{FF2B5EF4-FFF2-40B4-BE49-F238E27FC236}">
                <a16:creationId xmlns:a16="http://schemas.microsoft.com/office/drawing/2014/main" xmlns="" id="{551828FF-9D19-4542-8069-3B0318CFDA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CFBC8217-D65C-4821-AA1F-E0ABA66EDC29}"/>
              </a:ext>
            </a:extLst>
          </p:cNvPr>
          <p:cNvSpPr>
            <a:spLocks noGrp="1"/>
          </p:cNvSpPr>
          <p:nvPr>
            <p:ph type="sldNum" sz="quarter" idx="12"/>
          </p:nvPr>
        </p:nvSpPr>
        <p:spPr/>
        <p:txBody>
          <a:bodyPr/>
          <a:lstStyle/>
          <a:p>
            <a:fld id="{F75A1B93-8216-4DBD-B725-37D3E551B1C9}" type="slidenum">
              <a:rPr lang="en-US" smtClean="0"/>
              <a:t>‹#›</a:t>
            </a:fld>
            <a:endParaRPr lang="en-US"/>
          </a:p>
        </p:txBody>
      </p:sp>
    </p:spTree>
    <p:extLst>
      <p:ext uri="{BB962C8B-B14F-4D97-AF65-F5344CB8AC3E}">
        <p14:creationId xmlns:p14="http://schemas.microsoft.com/office/powerpoint/2010/main" val="1431425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9D357C2-5C61-4C6C-B8EA-1040B7DB88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4FD9EDEF-755D-4A82-A1E6-077B5D228E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A374599D-D861-4809-927D-9A500485487B}"/>
              </a:ext>
            </a:extLst>
          </p:cNvPr>
          <p:cNvSpPr>
            <a:spLocks noGrp="1"/>
          </p:cNvSpPr>
          <p:nvPr>
            <p:ph type="dt" sz="half" idx="10"/>
          </p:nvPr>
        </p:nvSpPr>
        <p:spPr/>
        <p:txBody>
          <a:bodyPr/>
          <a:lstStyle/>
          <a:p>
            <a:fld id="{E585E76C-F78C-4B25-AB1D-E087E81CA3F3}" type="datetimeFigureOut">
              <a:rPr lang="en-US" smtClean="0"/>
              <a:t>6/13/2023</a:t>
            </a:fld>
            <a:endParaRPr lang="en-US"/>
          </a:p>
        </p:txBody>
      </p:sp>
      <p:sp>
        <p:nvSpPr>
          <p:cNvPr id="5" name="Footer Placeholder 4">
            <a:extLst>
              <a:ext uri="{FF2B5EF4-FFF2-40B4-BE49-F238E27FC236}">
                <a16:creationId xmlns:a16="http://schemas.microsoft.com/office/drawing/2014/main" xmlns="" id="{864D7517-0D31-46BD-9D4B-8A538E7D45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ED494221-2E7D-4840-A7A6-3B3AE169E180}"/>
              </a:ext>
            </a:extLst>
          </p:cNvPr>
          <p:cNvSpPr>
            <a:spLocks noGrp="1"/>
          </p:cNvSpPr>
          <p:nvPr>
            <p:ph type="sldNum" sz="quarter" idx="12"/>
          </p:nvPr>
        </p:nvSpPr>
        <p:spPr/>
        <p:txBody>
          <a:bodyPr/>
          <a:lstStyle/>
          <a:p>
            <a:fld id="{F75A1B93-8216-4DBD-B725-37D3E551B1C9}" type="slidenum">
              <a:rPr lang="en-US" smtClean="0"/>
              <a:t>‹#›</a:t>
            </a:fld>
            <a:endParaRPr lang="en-US"/>
          </a:p>
        </p:txBody>
      </p:sp>
    </p:spTree>
    <p:extLst>
      <p:ext uri="{BB962C8B-B14F-4D97-AF65-F5344CB8AC3E}">
        <p14:creationId xmlns:p14="http://schemas.microsoft.com/office/powerpoint/2010/main" val="554163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52EE85-F32F-4790-8942-855F274FBC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54FB1EE4-6904-4EEF-806B-54F275EE60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517B6F98-0743-4CD5-AE29-90E05DDD0FFC}"/>
              </a:ext>
            </a:extLst>
          </p:cNvPr>
          <p:cNvSpPr>
            <a:spLocks noGrp="1"/>
          </p:cNvSpPr>
          <p:nvPr>
            <p:ph type="dt" sz="half" idx="10"/>
          </p:nvPr>
        </p:nvSpPr>
        <p:spPr/>
        <p:txBody>
          <a:bodyPr/>
          <a:lstStyle/>
          <a:p>
            <a:fld id="{E585E76C-F78C-4B25-AB1D-E087E81CA3F3}" type="datetimeFigureOut">
              <a:rPr lang="en-US" smtClean="0"/>
              <a:t>6/13/2023</a:t>
            </a:fld>
            <a:endParaRPr lang="en-US"/>
          </a:p>
        </p:txBody>
      </p:sp>
      <p:sp>
        <p:nvSpPr>
          <p:cNvPr id="5" name="Footer Placeholder 4">
            <a:extLst>
              <a:ext uri="{FF2B5EF4-FFF2-40B4-BE49-F238E27FC236}">
                <a16:creationId xmlns:a16="http://schemas.microsoft.com/office/drawing/2014/main" xmlns="" id="{D8CE6876-21B1-4065-B8C3-006558F7F1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52B85E52-7FAB-4DDC-898E-A65A664906A9}"/>
              </a:ext>
            </a:extLst>
          </p:cNvPr>
          <p:cNvSpPr>
            <a:spLocks noGrp="1"/>
          </p:cNvSpPr>
          <p:nvPr>
            <p:ph type="sldNum" sz="quarter" idx="12"/>
          </p:nvPr>
        </p:nvSpPr>
        <p:spPr/>
        <p:txBody>
          <a:bodyPr/>
          <a:lstStyle/>
          <a:p>
            <a:fld id="{F75A1B93-8216-4DBD-B725-37D3E551B1C9}" type="slidenum">
              <a:rPr lang="en-US" smtClean="0"/>
              <a:t>‹#›</a:t>
            </a:fld>
            <a:endParaRPr lang="en-US"/>
          </a:p>
        </p:txBody>
      </p:sp>
    </p:spTree>
    <p:extLst>
      <p:ext uri="{BB962C8B-B14F-4D97-AF65-F5344CB8AC3E}">
        <p14:creationId xmlns:p14="http://schemas.microsoft.com/office/powerpoint/2010/main" val="1834610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DA2FDD-9089-4AA9-9799-6AA31ED182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C1B0492F-9D89-4D75-9536-9CC8D99BBE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312F2720-8848-4BAB-AE89-20F933E316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9E3D1233-F3C2-44F8-A83B-F0D795631AD9}"/>
              </a:ext>
            </a:extLst>
          </p:cNvPr>
          <p:cNvSpPr>
            <a:spLocks noGrp="1"/>
          </p:cNvSpPr>
          <p:nvPr>
            <p:ph type="dt" sz="half" idx="10"/>
          </p:nvPr>
        </p:nvSpPr>
        <p:spPr/>
        <p:txBody>
          <a:bodyPr/>
          <a:lstStyle/>
          <a:p>
            <a:fld id="{E585E76C-F78C-4B25-AB1D-E087E81CA3F3}" type="datetimeFigureOut">
              <a:rPr lang="en-US" smtClean="0"/>
              <a:t>6/13/2023</a:t>
            </a:fld>
            <a:endParaRPr lang="en-US"/>
          </a:p>
        </p:txBody>
      </p:sp>
      <p:sp>
        <p:nvSpPr>
          <p:cNvPr id="6" name="Footer Placeholder 5">
            <a:extLst>
              <a:ext uri="{FF2B5EF4-FFF2-40B4-BE49-F238E27FC236}">
                <a16:creationId xmlns:a16="http://schemas.microsoft.com/office/drawing/2014/main" xmlns="" id="{F998A5F9-CC31-4347-91E8-F55E11E983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B008D9B0-7EE1-427C-9BC5-5A4D1CFE9BB5}"/>
              </a:ext>
            </a:extLst>
          </p:cNvPr>
          <p:cNvSpPr>
            <a:spLocks noGrp="1"/>
          </p:cNvSpPr>
          <p:nvPr>
            <p:ph type="sldNum" sz="quarter" idx="12"/>
          </p:nvPr>
        </p:nvSpPr>
        <p:spPr/>
        <p:txBody>
          <a:bodyPr/>
          <a:lstStyle/>
          <a:p>
            <a:fld id="{F75A1B93-8216-4DBD-B725-37D3E551B1C9}" type="slidenum">
              <a:rPr lang="en-US" smtClean="0"/>
              <a:t>‹#›</a:t>
            </a:fld>
            <a:endParaRPr lang="en-US"/>
          </a:p>
        </p:txBody>
      </p:sp>
    </p:spTree>
    <p:extLst>
      <p:ext uri="{BB962C8B-B14F-4D97-AF65-F5344CB8AC3E}">
        <p14:creationId xmlns:p14="http://schemas.microsoft.com/office/powerpoint/2010/main" val="3843743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92C1FAC-92DB-401C-AAD6-FA64BCBFADC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CAAC9D88-3E1E-43D3-8E2D-9DE5329878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DF44E80F-925A-4F37-B5BB-B1188196D9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EE135459-D65C-4AD1-B1FB-4A3F3AFAF6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14F3B282-F19D-433A-8175-7DBD73C7AF1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1706CFEB-8D82-4B5A-9106-43036767C7D2}"/>
              </a:ext>
            </a:extLst>
          </p:cNvPr>
          <p:cNvSpPr>
            <a:spLocks noGrp="1"/>
          </p:cNvSpPr>
          <p:nvPr>
            <p:ph type="dt" sz="half" idx="10"/>
          </p:nvPr>
        </p:nvSpPr>
        <p:spPr/>
        <p:txBody>
          <a:bodyPr/>
          <a:lstStyle/>
          <a:p>
            <a:fld id="{E585E76C-F78C-4B25-AB1D-E087E81CA3F3}" type="datetimeFigureOut">
              <a:rPr lang="en-US" smtClean="0"/>
              <a:t>6/13/2023</a:t>
            </a:fld>
            <a:endParaRPr lang="en-US"/>
          </a:p>
        </p:txBody>
      </p:sp>
      <p:sp>
        <p:nvSpPr>
          <p:cNvPr id="8" name="Footer Placeholder 7">
            <a:extLst>
              <a:ext uri="{FF2B5EF4-FFF2-40B4-BE49-F238E27FC236}">
                <a16:creationId xmlns:a16="http://schemas.microsoft.com/office/drawing/2014/main" xmlns="" id="{C9D5BC3A-4F4E-4090-B3E0-9C88727B1D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D9BE714B-77F9-422F-9167-01E823C597A1}"/>
              </a:ext>
            </a:extLst>
          </p:cNvPr>
          <p:cNvSpPr>
            <a:spLocks noGrp="1"/>
          </p:cNvSpPr>
          <p:nvPr>
            <p:ph type="sldNum" sz="quarter" idx="12"/>
          </p:nvPr>
        </p:nvSpPr>
        <p:spPr/>
        <p:txBody>
          <a:bodyPr/>
          <a:lstStyle/>
          <a:p>
            <a:fld id="{F75A1B93-8216-4DBD-B725-37D3E551B1C9}" type="slidenum">
              <a:rPr lang="en-US" smtClean="0"/>
              <a:t>‹#›</a:t>
            </a:fld>
            <a:endParaRPr lang="en-US"/>
          </a:p>
        </p:txBody>
      </p:sp>
    </p:spTree>
    <p:extLst>
      <p:ext uri="{BB962C8B-B14F-4D97-AF65-F5344CB8AC3E}">
        <p14:creationId xmlns:p14="http://schemas.microsoft.com/office/powerpoint/2010/main" val="1750844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338B8E-9C65-4A42-B562-68AD003443A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D16C5140-CD32-4777-AEC8-02B898B40CD5}"/>
              </a:ext>
            </a:extLst>
          </p:cNvPr>
          <p:cNvSpPr>
            <a:spLocks noGrp="1"/>
          </p:cNvSpPr>
          <p:nvPr>
            <p:ph type="dt" sz="half" idx="10"/>
          </p:nvPr>
        </p:nvSpPr>
        <p:spPr/>
        <p:txBody>
          <a:bodyPr/>
          <a:lstStyle/>
          <a:p>
            <a:fld id="{E585E76C-F78C-4B25-AB1D-E087E81CA3F3}" type="datetimeFigureOut">
              <a:rPr lang="en-US" smtClean="0"/>
              <a:t>6/13/2023</a:t>
            </a:fld>
            <a:endParaRPr lang="en-US"/>
          </a:p>
        </p:txBody>
      </p:sp>
      <p:sp>
        <p:nvSpPr>
          <p:cNvPr id="4" name="Footer Placeholder 3">
            <a:extLst>
              <a:ext uri="{FF2B5EF4-FFF2-40B4-BE49-F238E27FC236}">
                <a16:creationId xmlns:a16="http://schemas.microsoft.com/office/drawing/2014/main" xmlns="" id="{ABDD1C0D-748C-4821-B74F-19B073C9DD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A5A39F81-DFE0-4F27-9BDA-F2D5A5E55841}"/>
              </a:ext>
            </a:extLst>
          </p:cNvPr>
          <p:cNvSpPr>
            <a:spLocks noGrp="1"/>
          </p:cNvSpPr>
          <p:nvPr>
            <p:ph type="sldNum" sz="quarter" idx="12"/>
          </p:nvPr>
        </p:nvSpPr>
        <p:spPr/>
        <p:txBody>
          <a:bodyPr/>
          <a:lstStyle/>
          <a:p>
            <a:fld id="{F75A1B93-8216-4DBD-B725-37D3E551B1C9}" type="slidenum">
              <a:rPr lang="en-US" smtClean="0"/>
              <a:t>‹#›</a:t>
            </a:fld>
            <a:endParaRPr lang="en-US"/>
          </a:p>
        </p:txBody>
      </p:sp>
    </p:spTree>
    <p:extLst>
      <p:ext uri="{BB962C8B-B14F-4D97-AF65-F5344CB8AC3E}">
        <p14:creationId xmlns:p14="http://schemas.microsoft.com/office/powerpoint/2010/main" val="1664168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AE036F3C-B4A6-4C2C-8E23-8960070717A4}"/>
              </a:ext>
            </a:extLst>
          </p:cNvPr>
          <p:cNvSpPr>
            <a:spLocks noGrp="1"/>
          </p:cNvSpPr>
          <p:nvPr>
            <p:ph type="dt" sz="half" idx="10"/>
          </p:nvPr>
        </p:nvSpPr>
        <p:spPr/>
        <p:txBody>
          <a:bodyPr/>
          <a:lstStyle/>
          <a:p>
            <a:fld id="{E585E76C-F78C-4B25-AB1D-E087E81CA3F3}" type="datetimeFigureOut">
              <a:rPr lang="en-US" smtClean="0"/>
              <a:t>6/13/2023</a:t>
            </a:fld>
            <a:endParaRPr lang="en-US"/>
          </a:p>
        </p:txBody>
      </p:sp>
      <p:sp>
        <p:nvSpPr>
          <p:cNvPr id="3" name="Footer Placeholder 2">
            <a:extLst>
              <a:ext uri="{FF2B5EF4-FFF2-40B4-BE49-F238E27FC236}">
                <a16:creationId xmlns:a16="http://schemas.microsoft.com/office/drawing/2014/main" xmlns="" id="{09479D7B-5CDC-4114-86D7-C23BC0B2B7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6EE42AAF-5E5A-43F2-93FD-DBEAB0F76125}"/>
              </a:ext>
            </a:extLst>
          </p:cNvPr>
          <p:cNvSpPr>
            <a:spLocks noGrp="1"/>
          </p:cNvSpPr>
          <p:nvPr>
            <p:ph type="sldNum" sz="quarter" idx="12"/>
          </p:nvPr>
        </p:nvSpPr>
        <p:spPr/>
        <p:txBody>
          <a:bodyPr/>
          <a:lstStyle/>
          <a:p>
            <a:fld id="{F75A1B93-8216-4DBD-B725-37D3E551B1C9}" type="slidenum">
              <a:rPr lang="en-US" smtClean="0"/>
              <a:t>‹#›</a:t>
            </a:fld>
            <a:endParaRPr lang="en-US"/>
          </a:p>
        </p:txBody>
      </p:sp>
    </p:spTree>
    <p:extLst>
      <p:ext uri="{BB962C8B-B14F-4D97-AF65-F5344CB8AC3E}">
        <p14:creationId xmlns:p14="http://schemas.microsoft.com/office/powerpoint/2010/main" val="1239411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5D5209-9ACC-41E4-BE18-1BEA98189B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266BEF6C-C189-44F7-A74A-6929204533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CA3093BD-2C84-4EFD-8ACA-C12A2DD9CB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B82D1F5-1EC5-48E7-A65D-BB17CB070E9B}"/>
              </a:ext>
            </a:extLst>
          </p:cNvPr>
          <p:cNvSpPr>
            <a:spLocks noGrp="1"/>
          </p:cNvSpPr>
          <p:nvPr>
            <p:ph type="dt" sz="half" idx="10"/>
          </p:nvPr>
        </p:nvSpPr>
        <p:spPr/>
        <p:txBody>
          <a:bodyPr/>
          <a:lstStyle/>
          <a:p>
            <a:fld id="{E585E76C-F78C-4B25-AB1D-E087E81CA3F3}" type="datetimeFigureOut">
              <a:rPr lang="en-US" smtClean="0"/>
              <a:t>6/13/2023</a:t>
            </a:fld>
            <a:endParaRPr lang="en-US"/>
          </a:p>
        </p:txBody>
      </p:sp>
      <p:sp>
        <p:nvSpPr>
          <p:cNvPr id="6" name="Footer Placeholder 5">
            <a:extLst>
              <a:ext uri="{FF2B5EF4-FFF2-40B4-BE49-F238E27FC236}">
                <a16:creationId xmlns:a16="http://schemas.microsoft.com/office/drawing/2014/main" xmlns="" id="{B1ABAEF9-ECD2-4320-967A-3D98D08E8F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E54E8D1D-1F85-4C24-B991-978C603A7B9D}"/>
              </a:ext>
            </a:extLst>
          </p:cNvPr>
          <p:cNvSpPr>
            <a:spLocks noGrp="1"/>
          </p:cNvSpPr>
          <p:nvPr>
            <p:ph type="sldNum" sz="quarter" idx="12"/>
          </p:nvPr>
        </p:nvSpPr>
        <p:spPr/>
        <p:txBody>
          <a:bodyPr/>
          <a:lstStyle/>
          <a:p>
            <a:fld id="{F75A1B93-8216-4DBD-B725-37D3E551B1C9}" type="slidenum">
              <a:rPr lang="en-US" smtClean="0"/>
              <a:t>‹#›</a:t>
            </a:fld>
            <a:endParaRPr lang="en-US"/>
          </a:p>
        </p:txBody>
      </p:sp>
    </p:spTree>
    <p:extLst>
      <p:ext uri="{BB962C8B-B14F-4D97-AF65-F5344CB8AC3E}">
        <p14:creationId xmlns:p14="http://schemas.microsoft.com/office/powerpoint/2010/main" val="4105656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ACEC0F8-F95C-47DF-9ACC-689B19895F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28E8DB1C-47EF-4B9B-8FBA-78BF5742FD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705028C2-8105-4253-9C71-0A7FFE1A75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2C83751D-DE20-4E9C-9564-BBDC431C9E0C}"/>
              </a:ext>
            </a:extLst>
          </p:cNvPr>
          <p:cNvSpPr>
            <a:spLocks noGrp="1"/>
          </p:cNvSpPr>
          <p:nvPr>
            <p:ph type="dt" sz="half" idx="10"/>
          </p:nvPr>
        </p:nvSpPr>
        <p:spPr/>
        <p:txBody>
          <a:bodyPr/>
          <a:lstStyle/>
          <a:p>
            <a:fld id="{E585E76C-F78C-4B25-AB1D-E087E81CA3F3}" type="datetimeFigureOut">
              <a:rPr lang="en-US" smtClean="0"/>
              <a:t>6/13/2023</a:t>
            </a:fld>
            <a:endParaRPr lang="en-US"/>
          </a:p>
        </p:txBody>
      </p:sp>
      <p:sp>
        <p:nvSpPr>
          <p:cNvPr id="6" name="Footer Placeholder 5">
            <a:extLst>
              <a:ext uri="{FF2B5EF4-FFF2-40B4-BE49-F238E27FC236}">
                <a16:creationId xmlns:a16="http://schemas.microsoft.com/office/drawing/2014/main" xmlns="" id="{F05D8CFA-C15B-431F-A2A6-957CB04A64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F98A336C-162F-404C-8CB0-F5942A204D03}"/>
              </a:ext>
            </a:extLst>
          </p:cNvPr>
          <p:cNvSpPr>
            <a:spLocks noGrp="1"/>
          </p:cNvSpPr>
          <p:nvPr>
            <p:ph type="sldNum" sz="quarter" idx="12"/>
          </p:nvPr>
        </p:nvSpPr>
        <p:spPr/>
        <p:txBody>
          <a:bodyPr/>
          <a:lstStyle/>
          <a:p>
            <a:fld id="{F75A1B93-8216-4DBD-B725-37D3E551B1C9}" type="slidenum">
              <a:rPr lang="en-US" smtClean="0"/>
              <a:t>‹#›</a:t>
            </a:fld>
            <a:endParaRPr lang="en-US"/>
          </a:p>
        </p:txBody>
      </p:sp>
    </p:spTree>
    <p:extLst>
      <p:ext uri="{BB962C8B-B14F-4D97-AF65-F5344CB8AC3E}">
        <p14:creationId xmlns:p14="http://schemas.microsoft.com/office/powerpoint/2010/main" val="1893074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CEA8C1B-2EBE-42EA-9858-439888C7C2F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A0502873-E37D-41BC-98DB-AE5E644978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2158946D-791D-46B3-A9A7-4E605EDF7395}"/>
              </a:ext>
            </a:extLst>
          </p:cNvPr>
          <p:cNvSpPr>
            <a:spLocks noGrp="1"/>
          </p:cNvSpPr>
          <p:nvPr>
            <p:ph type="dt" sz="half" idx="10"/>
          </p:nvPr>
        </p:nvSpPr>
        <p:spPr/>
        <p:txBody>
          <a:bodyPr/>
          <a:lstStyle/>
          <a:p>
            <a:fld id="{E585E76C-F78C-4B25-AB1D-E087E81CA3F3}" type="datetimeFigureOut">
              <a:rPr lang="en-US" smtClean="0"/>
              <a:t>6/13/2023</a:t>
            </a:fld>
            <a:endParaRPr lang="en-US"/>
          </a:p>
        </p:txBody>
      </p:sp>
      <p:sp>
        <p:nvSpPr>
          <p:cNvPr id="5" name="Footer Placeholder 4">
            <a:extLst>
              <a:ext uri="{FF2B5EF4-FFF2-40B4-BE49-F238E27FC236}">
                <a16:creationId xmlns:a16="http://schemas.microsoft.com/office/drawing/2014/main" xmlns="" id="{4CD4A74E-15D9-4168-AF8E-925432FDF5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A15DE0D4-38F3-4ACC-858F-CD3E43986581}"/>
              </a:ext>
            </a:extLst>
          </p:cNvPr>
          <p:cNvSpPr>
            <a:spLocks noGrp="1"/>
          </p:cNvSpPr>
          <p:nvPr>
            <p:ph type="sldNum" sz="quarter" idx="12"/>
          </p:nvPr>
        </p:nvSpPr>
        <p:spPr/>
        <p:txBody>
          <a:bodyPr/>
          <a:lstStyle/>
          <a:p>
            <a:fld id="{F75A1B93-8216-4DBD-B725-37D3E551B1C9}" type="slidenum">
              <a:rPr lang="en-US" smtClean="0"/>
              <a:t>‹#›</a:t>
            </a:fld>
            <a:endParaRPr lang="en-US"/>
          </a:p>
        </p:txBody>
      </p:sp>
    </p:spTree>
    <p:extLst>
      <p:ext uri="{BB962C8B-B14F-4D97-AF65-F5344CB8AC3E}">
        <p14:creationId xmlns:p14="http://schemas.microsoft.com/office/powerpoint/2010/main" val="2937343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7F355E24-37F8-47BB-87F1-42015B4B28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E771FE7C-1D8F-46F8-BFCA-1A178F6DCD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28BB9D59-C298-44EC-8BC7-517B2EF584D0}"/>
              </a:ext>
            </a:extLst>
          </p:cNvPr>
          <p:cNvSpPr>
            <a:spLocks noGrp="1"/>
          </p:cNvSpPr>
          <p:nvPr>
            <p:ph type="dt" sz="half" idx="10"/>
          </p:nvPr>
        </p:nvSpPr>
        <p:spPr/>
        <p:txBody>
          <a:bodyPr/>
          <a:lstStyle/>
          <a:p>
            <a:fld id="{E585E76C-F78C-4B25-AB1D-E087E81CA3F3}" type="datetimeFigureOut">
              <a:rPr lang="en-US" smtClean="0"/>
              <a:t>6/13/2023</a:t>
            </a:fld>
            <a:endParaRPr lang="en-US"/>
          </a:p>
        </p:txBody>
      </p:sp>
      <p:sp>
        <p:nvSpPr>
          <p:cNvPr id="5" name="Footer Placeholder 4">
            <a:extLst>
              <a:ext uri="{FF2B5EF4-FFF2-40B4-BE49-F238E27FC236}">
                <a16:creationId xmlns:a16="http://schemas.microsoft.com/office/drawing/2014/main" xmlns="" id="{A92D7966-2BBE-4E00-A92B-6A4A7A7F72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F0BF72D4-B9B8-42B7-B17D-585D6D46F68B}"/>
              </a:ext>
            </a:extLst>
          </p:cNvPr>
          <p:cNvSpPr>
            <a:spLocks noGrp="1"/>
          </p:cNvSpPr>
          <p:nvPr>
            <p:ph type="sldNum" sz="quarter" idx="12"/>
          </p:nvPr>
        </p:nvSpPr>
        <p:spPr/>
        <p:txBody>
          <a:bodyPr/>
          <a:lstStyle/>
          <a:p>
            <a:fld id="{F75A1B93-8216-4DBD-B725-37D3E551B1C9}" type="slidenum">
              <a:rPr lang="en-US" smtClean="0"/>
              <a:t>‹#›</a:t>
            </a:fld>
            <a:endParaRPr lang="en-US"/>
          </a:p>
        </p:txBody>
      </p:sp>
    </p:spTree>
    <p:extLst>
      <p:ext uri="{BB962C8B-B14F-4D97-AF65-F5344CB8AC3E}">
        <p14:creationId xmlns:p14="http://schemas.microsoft.com/office/powerpoint/2010/main" val="28283822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xmlns="" id="{6ADC928D-AF37-4668-92C2-8C8AA993DC86}"/>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xmlns="" id="{5EFFF265-D0F1-4B74-9B1F-1215A5F68839}"/>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xmlns="" id="{BEFB0088-8875-4DF6-A2FC-EDDADE4A9107}"/>
              </a:ext>
            </a:extLst>
          </p:cNvPr>
          <p:cNvSpPr>
            <a:spLocks noGrp="1"/>
          </p:cNvSpPr>
          <p:nvPr>
            <p:ph type="sldNum" sz="quarter" idx="12"/>
          </p:nvPr>
        </p:nvSpPr>
        <p:spPr/>
        <p:txBody>
          <a:bodyPr/>
          <a:lstStyle>
            <a:lvl1pPr>
              <a:defRPr/>
            </a:lvl1pPr>
          </a:lstStyle>
          <a:p>
            <a:pPr>
              <a:defRPr/>
            </a:pPr>
            <a:fld id="{FABF2076-6EBB-40FB-BC9A-B610537224C9}" type="slidenum">
              <a:rPr lang="en-US" altLang="en-US"/>
              <a:pPr>
                <a:defRPr/>
              </a:pPr>
              <a:t>‹#›</a:t>
            </a:fld>
            <a:endParaRPr lang="en-US" altLang="en-US"/>
          </a:p>
        </p:txBody>
      </p:sp>
    </p:spTree>
    <p:extLst>
      <p:ext uri="{BB962C8B-B14F-4D97-AF65-F5344CB8AC3E}">
        <p14:creationId xmlns:p14="http://schemas.microsoft.com/office/powerpoint/2010/main" val="6420675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AF67A351-1C59-4A13-9028-A12ED62161CD}"/>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xmlns="" id="{421ED9EF-F2D1-4066-94D3-A087C643407D}"/>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xmlns="" id="{A3948D42-7CD4-47E5-8757-7E23842B14FE}"/>
              </a:ext>
            </a:extLst>
          </p:cNvPr>
          <p:cNvSpPr>
            <a:spLocks noGrp="1"/>
          </p:cNvSpPr>
          <p:nvPr>
            <p:ph type="sldNum" sz="quarter" idx="12"/>
          </p:nvPr>
        </p:nvSpPr>
        <p:spPr/>
        <p:txBody>
          <a:bodyPr/>
          <a:lstStyle>
            <a:lvl1pPr>
              <a:defRPr/>
            </a:lvl1pPr>
          </a:lstStyle>
          <a:p>
            <a:pPr>
              <a:defRPr/>
            </a:pPr>
            <a:fld id="{A575388C-D30E-4FF1-B38B-7C5475E7E9CE}" type="slidenum">
              <a:rPr lang="en-US" altLang="en-US"/>
              <a:pPr>
                <a:defRPr/>
              </a:pPr>
              <a:t>‹#›</a:t>
            </a:fld>
            <a:endParaRPr lang="en-US" altLang="en-US"/>
          </a:p>
        </p:txBody>
      </p:sp>
    </p:spTree>
    <p:extLst>
      <p:ext uri="{BB962C8B-B14F-4D97-AF65-F5344CB8AC3E}">
        <p14:creationId xmlns:p14="http://schemas.microsoft.com/office/powerpoint/2010/main" val="37418188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FA92ECA4-A850-4F05-8CD5-BFF33AF6EEFF}"/>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xmlns="" id="{EF1072A6-9989-4FEF-A0FE-FFA173F3494A}"/>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xmlns="" id="{105C45AC-D7A4-42BD-9F31-D54B9707B568}"/>
              </a:ext>
            </a:extLst>
          </p:cNvPr>
          <p:cNvSpPr>
            <a:spLocks noGrp="1"/>
          </p:cNvSpPr>
          <p:nvPr>
            <p:ph type="sldNum" sz="quarter" idx="12"/>
          </p:nvPr>
        </p:nvSpPr>
        <p:spPr/>
        <p:txBody>
          <a:bodyPr/>
          <a:lstStyle>
            <a:lvl1pPr>
              <a:defRPr/>
            </a:lvl1pPr>
          </a:lstStyle>
          <a:p>
            <a:pPr>
              <a:defRPr/>
            </a:pPr>
            <a:fld id="{4F86A86A-628E-49ED-9545-C08B147576CE}" type="slidenum">
              <a:rPr lang="en-US" altLang="en-US"/>
              <a:pPr>
                <a:defRPr/>
              </a:pPr>
              <a:t>‹#›</a:t>
            </a:fld>
            <a:endParaRPr lang="en-US" altLang="en-US"/>
          </a:p>
        </p:txBody>
      </p:sp>
    </p:spTree>
    <p:extLst>
      <p:ext uri="{BB962C8B-B14F-4D97-AF65-F5344CB8AC3E}">
        <p14:creationId xmlns:p14="http://schemas.microsoft.com/office/powerpoint/2010/main" val="19634820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xmlns="" id="{A3353899-F31B-46C7-9EDF-87171C828695}"/>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xmlns="" id="{3E3D3550-279C-4B79-8D48-00312A8CCEEA}"/>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xmlns="" id="{35F6E0DB-5A3B-4BCC-8BBE-A73D4E5A5DF6}"/>
              </a:ext>
            </a:extLst>
          </p:cNvPr>
          <p:cNvSpPr>
            <a:spLocks noGrp="1"/>
          </p:cNvSpPr>
          <p:nvPr>
            <p:ph type="sldNum" sz="quarter" idx="12"/>
          </p:nvPr>
        </p:nvSpPr>
        <p:spPr/>
        <p:txBody>
          <a:bodyPr/>
          <a:lstStyle>
            <a:lvl1pPr>
              <a:defRPr/>
            </a:lvl1pPr>
          </a:lstStyle>
          <a:p>
            <a:pPr>
              <a:defRPr/>
            </a:pPr>
            <a:fld id="{040C8A73-588B-488C-86B9-440077163B5F}" type="slidenum">
              <a:rPr lang="en-US" altLang="en-US"/>
              <a:pPr>
                <a:defRPr/>
              </a:pPr>
              <a:t>‹#›</a:t>
            </a:fld>
            <a:endParaRPr lang="en-US" altLang="en-US"/>
          </a:p>
        </p:txBody>
      </p:sp>
    </p:spTree>
    <p:extLst>
      <p:ext uri="{BB962C8B-B14F-4D97-AF65-F5344CB8AC3E}">
        <p14:creationId xmlns:p14="http://schemas.microsoft.com/office/powerpoint/2010/main" val="25772180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xmlns="" id="{1B2415FC-74D0-4492-89D4-4CB55E4D2C6E}"/>
              </a:ext>
            </a:extLst>
          </p:cNvPr>
          <p:cNvSpPr>
            <a:spLocks noGrp="1"/>
          </p:cNvSpPr>
          <p:nvPr>
            <p:ph type="dt" sz="half" idx="10"/>
          </p:nvPr>
        </p:nvSpPr>
        <p:spPr/>
        <p:txBody>
          <a:bodyPr/>
          <a:lstStyle>
            <a:lvl1pPr>
              <a:defRPr/>
            </a:lvl1pPr>
          </a:lstStyle>
          <a:p>
            <a:pPr>
              <a:defRPr/>
            </a:pPr>
            <a:endParaRPr lang="en-US" altLang="en-US"/>
          </a:p>
        </p:txBody>
      </p:sp>
      <p:sp>
        <p:nvSpPr>
          <p:cNvPr id="8" name="Footer Placeholder 4">
            <a:extLst>
              <a:ext uri="{FF2B5EF4-FFF2-40B4-BE49-F238E27FC236}">
                <a16:creationId xmlns:a16="http://schemas.microsoft.com/office/drawing/2014/main" xmlns="" id="{372C53CA-65A8-4CE4-A24A-7DBF69C6F2DD}"/>
              </a:ext>
            </a:extLst>
          </p:cNvPr>
          <p:cNvSpPr>
            <a:spLocks noGrp="1"/>
          </p:cNvSpPr>
          <p:nvPr>
            <p:ph type="ftr" sz="quarter" idx="11"/>
          </p:nvPr>
        </p:nvSpPr>
        <p:spPr/>
        <p:txBody>
          <a:bodyPr/>
          <a:lstStyle>
            <a:lvl1pPr>
              <a:defRPr/>
            </a:lvl1pPr>
          </a:lstStyle>
          <a:p>
            <a:pPr>
              <a:defRPr/>
            </a:pPr>
            <a:endParaRPr lang="en-US" altLang="en-US"/>
          </a:p>
        </p:txBody>
      </p:sp>
      <p:sp>
        <p:nvSpPr>
          <p:cNvPr id="9" name="Slide Number Placeholder 5">
            <a:extLst>
              <a:ext uri="{FF2B5EF4-FFF2-40B4-BE49-F238E27FC236}">
                <a16:creationId xmlns:a16="http://schemas.microsoft.com/office/drawing/2014/main" xmlns="" id="{B9E66BBC-40BA-4487-885E-0B3593B02694}"/>
              </a:ext>
            </a:extLst>
          </p:cNvPr>
          <p:cNvSpPr>
            <a:spLocks noGrp="1"/>
          </p:cNvSpPr>
          <p:nvPr>
            <p:ph type="sldNum" sz="quarter" idx="12"/>
          </p:nvPr>
        </p:nvSpPr>
        <p:spPr/>
        <p:txBody>
          <a:bodyPr/>
          <a:lstStyle>
            <a:lvl1pPr>
              <a:defRPr/>
            </a:lvl1pPr>
          </a:lstStyle>
          <a:p>
            <a:pPr>
              <a:defRPr/>
            </a:pPr>
            <a:fld id="{35DB4251-FA0B-4BA2-9BDB-2CCC5C726AD7}" type="slidenum">
              <a:rPr lang="en-US" altLang="en-US"/>
              <a:pPr>
                <a:defRPr/>
              </a:pPr>
              <a:t>‹#›</a:t>
            </a:fld>
            <a:endParaRPr lang="en-US" altLang="en-US"/>
          </a:p>
        </p:txBody>
      </p:sp>
    </p:spTree>
    <p:extLst>
      <p:ext uri="{BB962C8B-B14F-4D97-AF65-F5344CB8AC3E}">
        <p14:creationId xmlns:p14="http://schemas.microsoft.com/office/powerpoint/2010/main" val="11405465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xmlns="" id="{2A65270C-0F1E-4BDF-8080-8C9D82DA66D6}"/>
              </a:ext>
            </a:extLst>
          </p:cNvPr>
          <p:cNvSpPr>
            <a:spLocks noGrp="1"/>
          </p:cNvSpPr>
          <p:nvPr>
            <p:ph type="dt" sz="half" idx="10"/>
          </p:nvPr>
        </p:nvSpPr>
        <p:spPr/>
        <p:txBody>
          <a:bodyPr/>
          <a:lstStyle>
            <a:lvl1pPr>
              <a:defRPr/>
            </a:lvl1pPr>
          </a:lstStyle>
          <a:p>
            <a:pPr>
              <a:defRPr/>
            </a:pPr>
            <a:endParaRPr lang="en-US" altLang="en-US"/>
          </a:p>
        </p:txBody>
      </p:sp>
      <p:sp>
        <p:nvSpPr>
          <p:cNvPr id="4" name="Footer Placeholder 4">
            <a:extLst>
              <a:ext uri="{FF2B5EF4-FFF2-40B4-BE49-F238E27FC236}">
                <a16:creationId xmlns:a16="http://schemas.microsoft.com/office/drawing/2014/main" xmlns="" id="{2C22800A-D85C-429C-A20A-DEE7F727ECBC}"/>
              </a:ext>
            </a:extLst>
          </p:cNvPr>
          <p:cNvSpPr>
            <a:spLocks noGrp="1"/>
          </p:cNvSpPr>
          <p:nvPr>
            <p:ph type="ftr" sz="quarter" idx="11"/>
          </p:nvPr>
        </p:nvSpPr>
        <p:spPr/>
        <p:txBody>
          <a:bodyPr/>
          <a:lstStyle>
            <a:lvl1pPr>
              <a:defRPr/>
            </a:lvl1pPr>
          </a:lstStyle>
          <a:p>
            <a:pPr>
              <a:defRPr/>
            </a:pPr>
            <a:endParaRPr lang="en-US" altLang="en-US"/>
          </a:p>
        </p:txBody>
      </p:sp>
      <p:sp>
        <p:nvSpPr>
          <p:cNvPr id="5" name="Slide Number Placeholder 5">
            <a:extLst>
              <a:ext uri="{FF2B5EF4-FFF2-40B4-BE49-F238E27FC236}">
                <a16:creationId xmlns:a16="http://schemas.microsoft.com/office/drawing/2014/main" xmlns="" id="{763E4F90-58A4-4B3C-B067-E7D4CF7DB336}"/>
              </a:ext>
            </a:extLst>
          </p:cNvPr>
          <p:cNvSpPr>
            <a:spLocks noGrp="1"/>
          </p:cNvSpPr>
          <p:nvPr>
            <p:ph type="sldNum" sz="quarter" idx="12"/>
          </p:nvPr>
        </p:nvSpPr>
        <p:spPr/>
        <p:txBody>
          <a:bodyPr/>
          <a:lstStyle>
            <a:lvl1pPr>
              <a:defRPr/>
            </a:lvl1pPr>
          </a:lstStyle>
          <a:p>
            <a:pPr>
              <a:defRPr/>
            </a:pPr>
            <a:fld id="{3427C628-CBD0-4961-9AB6-AD830458FC9A}" type="slidenum">
              <a:rPr lang="en-US" altLang="en-US"/>
              <a:pPr>
                <a:defRPr/>
              </a:pPr>
              <a:t>‹#›</a:t>
            </a:fld>
            <a:endParaRPr lang="en-US" altLang="en-US"/>
          </a:p>
        </p:txBody>
      </p:sp>
    </p:spTree>
    <p:extLst>
      <p:ext uri="{BB962C8B-B14F-4D97-AF65-F5344CB8AC3E}">
        <p14:creationId xmlns:p14="http://schemas.microsoft.com/office/powerpoint/2010/main" val="28863567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xmlns="" id="{A6FF27B7-F5AE-4E53-9947-78DDEBB82963}"/>
              </a:ext>
            </a:extLst>
          </p:cNvPr>
          <p:cNvSpPr>
            <a:spLocks noGrp="1"/>
          </p:cNvSpPr>
          <p:nvPr>
            <p:ph type="dt" sz="half" idx="10"/>
          </p:nvPr>
        </p:nvSpPr>
        <p:spPr/>
        <p:txBody>
          <a:bodyPr/>
          <a:lstStyle>
            <a:lvl1pPr>
              <a:defRPr/>
            </a:lvl1pPr>
          </a:lstStyle>
          <a:p>
            <a:pPr>
              <a:defRPr/>
            </a:pPr>
            <a:endParaRPr lang="en-US" altLang="en-US"/>
          </a:p>
        </p:txBody>
      </p:sp>
      <p:sp>
        <p:nvSpPr>
          <p:cNvPr id="3" name="Footer Placeholder 4">
            <a:extLst>
              <a:ext uri="{FF2B5EF4-FFF2-40B4-BE49-F238E27FC236}">
                <a16:creationId xmlns:a16="http://schemas.microsoft.com/office/drawing/2014/main" xmlns="" id="{53715A59-E217-427F-A83C-1C0BCD0D883E}"/>
              </a:ext>
            </a:extLst>
          </p:cNvPr>
          <p:cNvSpPr>
            <a:spLocks noGrp="1"/>
          </p:cNvSpPr>
          <p:nvPr>
            <p:ph type="ftr" sz="quarter" idx="11"/>
          </p:nvPr>
        </p:nvSpPr>
        <p:spPr/>
        <p:txBody>
          <a:bodyPr/>
          <a:lstStyle>
            <a:lvl1pPr>
              <a:defRPr/>
            </a:lvl1pPr>
          </a:lstStyle>
          <a:p>
            <a:pPr>
              <a:defRPr/>
            </a:pPr>
            <a:endParaRPr lang="en-US" altLang="en-US"/>
          </a:p>
        </p:txBody>
      </p:sp>
      <p:sp>
        <p:nvSpPr>
          <p:cNvPr id="4" name="Slide Number Placeholder 5">
            <a:extLst>
              <a:ext uri="{FF2B5EF4-FFF2-40B4-BE49-F238E27FC236}">
                <a16:creationId xmlns:a16="http://schemas.microsoft.com/office/drawing/2014/main" xmlns="" id="{2EB5AD5C-574B-4C6C-B525-2B3C36773268}"/>
              </a:ext>
            </a:extLst>
          </p:cNvPr>
          <p:cNvSpPr>
            <a:spLocks noGrp="1"/>
          </p:cNvSpPr>
          <p:nvPr>
            <p:ph type="sldNum" sz="quarter" idx="12"/>
          </p:nvPr>
        </p:nvSpPr>
        <p:spPr/>
        <p:txBody>
          <a:bodyPr/>
          <a:lstStyle>
            <a:lvl1pPr>
              <a:defRPr/>
            </a:lvl1pPr>
          </a:lstStyle>
          <a:p>
            <a:pPr>
              <a:defRPr/>
            </a:pPr>
            <a:fld id="{C3DC9034-A007-4D61-82FB-B1CCC1774423}" type="slidenum">
              <a:rPr lang="en-US" altLang="en-US"/>
              <a:pPr>
                <a:defRPr/>
              </a:pPr>
              <a:t>‹#›</a:t>
            </a:fld>
            <a:endParaRPr lang="en-US" altLang="en-US"/>
          </a:p>
        </p:txBody>
      </p:sp>
    </p:spTree>
    <p:extLst>
      <p:ext uri="{BB962C8B-B14F-4D97-AF65-F5344CB8AC3E}">
        <p14:creationId xmlns:p14="http://schemas.microsoft.com/office/powerpoint/2010/main" val="5415331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3">
            <a:extLst>
              <a:ext uri="{FF2B5EF4-FFF2-40B4-BE49-F238E27FC236}">
                <a16:creationId xmlns:a16="http://schemas.microsoft.com/office/drawing/2014/main" xmlns="" id="{0AFDD9DD-CFC1-4A5D-891C-36A7FCBFCCAC}"/>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xmlns="" id="{0C0FFCF5-7F2C-4BBB-8DF9-707F0E813CB9}"/>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xmlns="" id="{ED26E417-DC60-4BEB-A5AC-E13636F4E657}"/>
              </a:ext>
            </a:extLst>
          </p:cNvPr>
          <p:cNvSpPr>
            <a:spLocks noGrp="1"/>
          </p:cNvSpPr>
          <p:nvPr>
            <p:ph type="sldNum" sz="quarter" idx="12"/>
          </p:nvPr>
        </p:nvSpPr>
        <p:spPr/>
        <p:txBody>
          <a:bodyPr/>
          <a:lstStyle>
            <a:lvl1pPr>
              <a:defRPr/>
            </a:lvl1pPr>
          </a:lstStyle>
          <a:p>
            <a:pPr>
              <a:defRPr/>
            </a:pPr>
            <a:fld id="{38C8351A-1ACE-4206-8509-EC546A2674D3}" type="slidenum">
              <a:rPr lang="en-US" altLang="en-US"/>
              <a:pPr>
                <a:defRPr/>
              </a:pPr>
              <a:t>‹#›</a:t>
            </a:fld>
            <a:endParaRPr lang="en-US" altLang="en-US"/>
          </a:p>
        </p:txBody>
      </p:sp>
    </p:spTree>
    <p:extLst>
      <p:ext uri="{BB962C8B-B14F-4D97-AF65-F5344CB8AC3E}">
        <p14:creationId xmlns:p14="http://schemas.microsoft.com/office/powerpoint/2010/main" val="3061127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5183188" y="987427"/>
            <a:ext cx="617220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3">
            <a:extLst>
              <a:ext uri="{FF2B5EF4-FFF2-40B4-BE49-F238E27FC236}">
                <a16:creationId xmlns:a16="http://schemas.microsoft.com/office/drawing/2014/main" xmlns="" id="{9351422D-2D19-411B-974F-2BFBF60D2641}"/>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xmlns="" id="{0C7D06B2-57ED-4BC3-AC79-7F4E7531A0C8}"/>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xmlns="" id="{6997A9BC-76AB-4ABE-B3FB-09965409574E}"/>
              </a:ext>
            </a:extLst>
          </p:cNvPr>
          <p:cNvSpPr>
            <a:spLocks noGrp="1"/>
          </p:cNvSpPr>
          <p:nvPr>
            <p:ph type="sldNum" sz="quarter" idx="12"/>
          </p:nvPr>
        </p:nvSpPr>
        <p:spPr/>
        <p:txBody>
          <a:bodyPr/>
          <a:lstStyle>
            <a:lvl1pPr>
              <a:defRPr/>
            </a:lvl1pPr>
          </a:lstStyle>
          <a:p>
            <a:pPr>
              <a:defRPr/>
            </a:pPr>
            <a:fld id="{7CA2545D-1769-4198-83FB-BF3B5638B312}" type="slidenum">
              <a:rPr lang="en-US" altLang="en-US"/>
              <a:pPr>
                <a:defRPr/>
              </a:pPr>
              <a:t>‹#›</a:t>
            </a:fld>
            <a:endParaRPr lang="en-US" altLang="en-US"/>
          </a:p>
        </p:txBody>
      </p:sp>
    </p:spTree>
    <p:extLst>
      <p:ext uri="{BB962C8B-B14F-4D97-AF65-F5344CB8AC3E}">
        <p14:creationId xmlns:p14="http://schemas.microsoft.com/office/powerpoint/2010/main" val="7181853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B5B82D49-C47F-42E6-8107-E71DA9B89E09}"/>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xmlns="" id="{804A6CB4-9100-4399-ABE6-345C5B504574}"/>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xmlns="" id="{6705F1D3-3215-4CEE-B0DA-C84034ACA6EF}"/>
              </a:ext>
            </a:extLst>
          </p:cNvPr>
          <p:cNvSpPr>
            <a:spLocks noGrp="1"/>
          </p:cNvSpPr>
          <p:nvPr>
            <p:ph type="sldNum" sz="quarter" idx="12"/>
          </p:nvPr>
        </p:nvSpPr>
        <p:spPr/>
        <p:txBody>
          <a:bodyPr/>
          <a:lstStyle>
            <a:lvl1pPr>
              <a:defRPr/>
            </a:lvl1pPr>
          </a:lstStyle>
          <a:p>
            <a:pPr>
              <a:defRPr/>
            </a:pPr>
            <a:fld id="{B3519227-C7EA-45C4-A547-AFB1A5D6A967}" type="slidenum">
              <a:rPr lang="en-US" altLang="en-US"/>
              <a:pPr>
                <a:defRPr/>
              </a:pPr>
              <a:t>‹#›</a:t>
            </a:fld>
            <a:endParaRPr lang="en-US" altLang="en-US"/>
          </a:p>
        </p:txBody>
      </p:sp>
    </p:spTree>
    <p:extLst>
      <p:ext uri="{BB962C8B-B14F-4D97-AF65-F5344CB8AC3E}">
        <p14:creationId xmlns:p14="http://schemas.microsoft.com/office/powerpoint/2010/main" val="39425605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127DD4B4-DB17-49BF-AB82-8E2D2A12729E}"/>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xmlns="" id="{7D0FF900-747E-47A9-B63E-45A5BEBFF52F}"/>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xmlns="" id="{62056621-4BE2-4E68-B6D0-4C07DA0DA9D9}"/>
              </a:ext>
            </a:extLst>
          </p:cNvPr>
          <p:cNvSpPr>
            <a:spLocks noGrp="1"/>
          </p:cNvSpPr>
          <p:nvPr>
            <p:ph type="sldNum" sz="quarter" idx="12"/>
          </p:nvPr>
        </p:nvSpPr>
        <p:spPr/>
        <p:txBody>
          <a:bodyPr/>
          <a:lstStyle>
            <a:lvl1pPr>
              <a:defRPr/>
            </a:lvl1pPr>
          </a:lstStyle>
          <a:p>
            <a:pPr>
              <a:defRPr/>
            </a:pPr>
            <a:fld id="{C0923017-8903-451D-82DF-9D453FD95198}" type="slidenum">
              <a:rPr lang="en-US" altLang="en-US"/>
              <a:pPr>
                <a:defRPr/>
              </a:pPr>
              <a:t>‹#›</a:t>
            </a:fld>
            <a:endParaRPr lang="en-US" altLang="en-US"/>
          </a:p>
        </p:txBody>
      </p:sp>
    </p:spTree>
    <p:extLst>
      <p:ext uri="{BB962C8B-B14F-4D97-AF65-F5344CB8AC3E}">
        <p14:creationId xmlns:p14="http://schemas.microsoft.com/office/powerpoint/2010/main" val="8204762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541867" y="228600"/>
            <a:ext cx="11243733" cy="1143000"/>
          </a:xfrm>
        </p:spPr>
        <p:txBody>
          <a:bodyPr/>
          <a:lstStyle/>
          <a:p>
            <a:r>
              <a:rPr lang="en-US"/>
              <a:t>Click to edit Master title style</a:t>
            </a:r>
          </a:p>
        </p:txBody>
      </p:sp>
      <p:sp>
        <p:nvSpPr>
          <p:cNvPr id="3" name="Text Placeholder 2"/>
          <p:cNvSpPr>
            <a:spLocks noGrp="1"/>
          </p:cNvSpPr>
          <p:nvPr>
            <p:ph type="body" sz="half" idx="1"/>
          </p:nvPr>
        </p:nvSpPr>
        <p:spPr>
          <a:xfrm>
            <a:off x="609600" y="1524000"/>
            <a:ext cx="54864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Online Image Placeholder 3"/>
          <p:cNvSpPr>
            <a:spLocks noGrp="1"/>
          </p:cNvSpPr>
          <p:nvPr>
            <p:ph type="clipArt" sz="half" idx="2"/>
          </p:nvPr>
        </p:nvSpPr>
        <p:spPr>
          <a:xfrm>
            <a:off x="6299200" y="1524000"/>
            <a:ext cx="5486400" cy="4876800"/>
          </a:xfrm>
        </p:spPr>
        <p:txBody>
          <a:bodyPr/>
          <a:lstStyle/>
          <a:p>
            <a:pPr lvl="0"/>
            <a:endParaRPr lang="en-US" noProof="0"/>
          </a:p>
        </p:txBody>
      </p:sp>
      <p:sp>
        <p:nvSpPr>
          <p:cNvPr id="5" name="Rectangle 4">
            <a:extLst>
              <a:ext uri="{FF2B5EF4-FFF2-40B4-BE49-F238E27FC236}">
                <a16:creationId xmlns:a16="http://schemas.microsoft.com/office/drawing/2014/main" xmlns="" id="{5353D050-90C1-4D3C-9D0E-A010B158AF6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xmlns="" id="{96739539-B62A-4646-9C01-37B3EB25C27C}"/>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xmlns="" id="{37CEFD99-C098-4F3B-A730-EFC8C79720F3}"/>
              </a:ext>
            </a:extLst>
          </p:cNvPr>
          <p:cNvSpPr>
            <a:spLocks noGrp="1" noChangeArrowheads="1"/>
          </p:cNvSpPr>
          <p:nvPr>
            <p:ph type="sldNum" sz="quarter" idx="12"/>
          </p:nvPr>
        </p:nvSpPr>
        <p:spPr>
          <a:ln/>
        </p:spPr>
        <p:txBody>
          <a:bodyPr/>
          <a:lstStyle>
            <a:lvl1pPr>
              <a:defRPr/>
            </a:lvl1pPr>
          </a:lstStyle>
          <a:p>
            <a:pPr>
              <a:defRPr/>
            </a:pPr>
            <a:fld id="{164FF2A1-C3AC-40B4-AD51-C92B95A36766}" type="slidenum">
              <a:rPr lang="en-US" altLang="en-US"/>
              <a:pPr>
                <a:defRPr/>
              </a:pPr>
              <a:t>‹#›</a:t>
            </a:fld>
            <a:endParaRPr lang="en-US" altLang="en-US"/>
          </a:p>
        </p:txBody>
      </p:sp>
    </p:spTree>
    <p:extLst>
      <p:ext uri="{BB962C8B-B14F-4D97-AF65-F5344CB8AC3E}">
        <p14:creationId xmlns:p14="http://schemas.microsoft.com/office/powerpoint/2010/main" val="2688793304"/>
      </p:ext>
    </p:extLst>
  </p:cSld>
  <p:clrMapOvr>
    <a:masterClrMapping/>
  </p:clrMapOvr>
  <p:transition spd="slow"/>
</p:sldLayout>
</file>

<file path=ppt/slideLayouts/slideLayout2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541867" y="228600"/>
            <a:ext cx="11243733" cy="1143000"/>
          </a:xfrm>
        </p:spPr>
        <p:txBody>
          <a:bodyPr/>
          <a:lstStyle/>
          <a:p>
            <a:r>
              <a:rPr lang="en-US"/>
              <a:t>Click to edit Master title style</a:t>
            </a:r>
          </a:p>
        </p:txBody>
      </p:sp>
      <p:sp>
        <p:nvSpPr>
          <p:cNvPr id="3" name="Table Placeholder 2"/>
          <p:cNvSpPr>
            <a:spLocks noGrp="1"/>
          </p:cNvSpPr>
          <p:nvPr>
            <p:ph type="tbl" idx="1"/>
          </p:nvPr>
        </p:nvSpPr>
        <p:spPr>
          <a:xfrm>
            <a:off x="609600" y="1524000"/>
            <a:ext cx="11176000" cy="4876800"/>
          </a:xfrm>
        </p:spPr>
        <p:txBody>
          <a:bodyPr/>
          <a:lstStyle/>
          <a:p>
            <a:pPr lvl="0"/>
            <a:endParaRPr lang="en-US" noProof="0"/>
          </a:p>
        </p:txBody>
      </p:sp>
      <p:sp>
        <p:nvSpPr>
          <p:cNvPr id="4" name="Rectangle 4">
            <a:extLst>
              <a:ext uri="{FF2B5EF4-FFF2-40B4-BE49-F238E27FC236}">
                <a16:creationId xmlns:a16="http://schemas.microsoft.com/office/drawing/2014/main" xmlns="" id="{D7C9E924-E7C1-48E3-90F0-FD8257F87E8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xmlns="" id="{17EE1972-9F47-483A-B64E-CA3AE3F96A7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xmlns="" id="{D48DEDD0-D946-48ED-9BEA-EBCE520FAD8E}"/>
              </a:ext>
            </a:extLst>
          </p:cNvPr>
          <p:cNvSpPr>
            <a:spLocks noGrp="1" noChangeArrowheads="1"/>
          </p:cNvSpPr>
          <p:nvPr>
            <p:ph type="sldNum" sz="quarter" idx="12"/>
          </p:nvPr>
        </p:nvSpPr>
        <p:spPr>
          <a:ln/>
        </p:spPr>
        <p:txBody>
          <a:bodyPr/>
          <a:lstStyle>
            <a:lvl1pPr>
              <a:defRPr/>
            </a:lvl1pPr>
          </a:lstStyle>
          <a:p>
            <a:pPr>
              <a:defRPr/>
            </a:pPr>
            <a:fld id="{8E69A23F-55E8-4973-94E2-23FAE8CE1DBE}" type="slidenum">
              <a:rPr lang="en-US" altLang="en-US"/>
              <a:pPr>
                <a:defRPr/>
              </a:pPr>
              <a:t>‹#›</a:t>
            </a:fld>
            <a:endParaRPr lang="en-US" altLang="en-US"/>
          </a:p>
        </p:txBody>
      </p:sp>
    </p:spTree>
    <p:extLst>
      <p:ext uri="{BB962C8B-B14F-4D97-AF65-F5344CB8AC3E}">
        <p14:creationId xmlns:p14="http://schemas.microsoft.com/office/powerpoint/2010/main" val="2970294044"/>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F38CCFBD-FEFD-4772-9EBA-D3699EA4E9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7EFAA5EC-65E4-4802-BB98-73A94D1CB7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2A17CC56-53D4-4510-9C3E-194A126B9F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85E76C-F78C-4B25-AB1D-E087E81CA3F3}" type="datetimeFigureOut">
              <a:rPr lang="en-US" smtClean="0"/>
              <a:t>6/13/2023</a:t>
            </a:fld>
            <a:endParaRPr lang="en-US"/>
          </a:p>
        </p:txBody>
      </p:sp>
      <p:sp>
        <p:nvSpPr>
          <p:cNvPr id="5" name="Footer Placeholder 4">
            <a:extLst>
              <a:ext uri="{FF2B5EF4-FFF2-40B4-BE49-F238E27FC236}">
                <a16:creationId xmlns:a16="http://schemas.microsoft.com/office/drawing/2014/main" xmlns="" id="{0C5479A2-1262-4C50-BB4D-C05B772A87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1BB8B627-885E-4C41-9273-F7DCCD4ED6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5A1B93-8216-4DBD-B725-37D3E551B1C9}" type="slidenum">
              <a:rPr lang="en-US" smtClean="0"/>
              <a:t>‹#›</a:t>
            </a:fld>
            <a:endParaRPr lang="en-US"/>
          </a:p>
        </p:txBody>
      </p:sp>
    </p:spTree>
    <p:extLst>
      <p:ext uri="{BB962C8B-B14F-4D97-AF65-F5344CB8AC3E}">
        <p14:creationId xmlns:p14="http://schemas.microsoft.com/office/powerpoint/2010/main" val="40027401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xmlns="" id="{20FC5C60-FB78-4585-B4CB-BFE890302344}"/>
              </a:ext>
            </a:extLst>
          </p:cNvPr>
          <p:cNvSpPr>
            <a:spLocks noGrp="1" noChangeArrowheads="1"/>
          </p:cNvSpPr>
          <p:nvPr>
            <p:ph type="title"/>
          </p:nvPr>
        </p:nvSpPr>
        <p:spPr bwMode="auto">
          <a:xfrm>
            <a:off x="838200" y="365126"/>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xmlns="" id="{9B45E996-66BA-4544-ACDA-B8188B75315A}"/>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xmlns="" id="{0174F7D4-CE26-4CCA-BB7F-B1D32A7567EE}"/>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defRPr>
            </a:lvl1pPr>
          </a:lstStyle>
          <a:p>
            <a:pPr>
              <a:defRPr/>
            </a:pPr>
            <a:endParaRPr lang="en-US" altLang="en-US"/>
          </a:p>
        </p:txBody>
      </p:sp>
      <p:sp>
        <p:nvSpPr>
          <p:cNvPr id="5" name="Footer Placeholder 4">
            <a:extLst>
              <a:ext uri="{FF2B5EF4-FFF2-40B4-BE49-F238E27FC236}">
                <a16:creationId xmlns:a16="http://schemas.microsoft.com/office/drawing/2014/main" xmlns="" id="{1FD05855-0957-4BAD-8691-4CFCAE916572}"/>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defRPr>
            </a:lvl1pPr>
          </a:lstStyle>
          <a:p>
            <a:pPr>
              <a:defRPr/>
            </a:pPr>
            <a:endParaRPr lang="en-US" altLang="en-US"/>
          </a:p>
        </p:txBody>
      </p:sp>
      <p:sp>
        <p:nvSpPr>
          <p:cNvPr id="6" name="Slide Number Placeholder 5">
            <a:extLst>
              <a:ext uri="{FF2B5EF4-FFF2-40B4-BE49-F238E27FC236}">
                <a16:creationId xmlns:a16="http://schemas.microsoft.com/office/drawing/2014/main" xmlns="" id="{1A3E825B-237F-49DF-A4E1-A35D663FCDEF}"/>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900">
                <a:solidFill>
                  <a:schemeClr val="tx1">
                    <a:tint val="75000"/>
                  </a:schemeClr>
                </a:solidFill>
                <a:latin typeface="+mn-lt"/>
              </a:defRPr>
            </a:lvl1pPr>
          </a:lstStyle>
          <a:p>
            <a:pPr>
              <a:defRPr/>
            </a:pPr>
            <a:fld id="{307B6DD8-F85D-4AEF-9D08-FEA49E394257}" type="slidenum">
              <a:rPr lang="en-US" altLang="en-US"/>
              <a:pPr>
                <a:defRPr/>
              </a:pPr>
              <a:t>‹#›</a:t>
            </a:fld>
            <a:endParaRPr lang="en-US" altLang="en-US"/>
          </a:p>
        </p:txBody>
      </p:sp>
    </p:spTree>
    <p:extLst>
      <p:ext uri="{BB962C8B-B14F-4D97-AF65-F5344CB8AC3E}">
        <p14:creationId xmlns:p14="http://schemas.microsoft.com/office/powerpoint/2010/main" val="260124638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4.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hyperlink" Target="http://www.cs.wm.edu/~hallyn/public_key/dh.html" TargetMode="Externa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026">
            <a:extLst>
              <a:ext uri="{FF2B5EF4-FFF2-40B4-BE49-F238E27FC236}">
                <a16:creationId xmlns:a16="http://schemas.microsoft.com/office/drawing/2014/main" xmlns="" id="{99FA50CC-973A-429E-A9A9-782D628D525E}"/>
              </a:ext>
            </a:extLst>
          </p:cNvPr>
          <p:cNvSpPr>
            <a:spLocks noGrp="1" noChangeArrowheads="1"/>
          </p:cNvSpPr>
          <p:nvPr>
            <p:ph type="ctrTitle"/>
          </p:nvPr>
        </p:nvSpPr>
        <p:spPr>
          <a:xfrm>
            <a:off x="1413353" y="993774"/>
            <a:ext cx="7848600" cy="1514153"/>
          </a:xfrm>
        </p:spPr>
        <p:txBody>
          <a:bodyPr/>
          <a:lstStyle/>
          <a:p>
            <a:pPr algn="l" eaLnBrk="1" hangingPunct="1"/>
            <a:r>
              <a:rPr lang="en-US" altLang="en-US" b="1" dirty="0"/>
              <a:t>Information Security</a:t>
            </a:r>
            <a:r>
              <a:rPr lang="en-US" altLang="en-US" dirty="0"/>
              <a:t/>
            </a:r>
            <a:br>
              <a:rPr lang="en-US" altLang="en-US" dirty="0"/>
            </a:br>
            <a:r>
              <a:rPr lang="en-US" altLang="en-US" dirty="0"/>
              <a:t>Public and Private Key Algorithms</a:t>
            </a:r>
            <a:endParaRPr lang="en-AU" altLang="en-US" dirty="0"/>
          </a:p>
        </p:txBody>
      </p:sp>
      <p:sp>
        <p:nvSpPr>
          <p:cNvPr id="8" name="Rectangle 1026">
            <a:extLst>
              <a:ext uri="{FF2B5EF4-FFF2-40B4-BE49-F238E27FC236}">
                <a16:creationId xmlns:a16="http://schemas.microsoft.com/office/drawing/2014/main" xmlns="" id="{4F8D96F4-0C49-49F3-BEB1-5FE252080BD7}"/>
              </a:ext>
            </a:extLst>
          </p:cNvPr>
          <p:cNvSpPr txBox="1">
            <a:spLocks noChangeArrowheads="1"/>
          </p:cNvSpPr>
          <p:nvPr/>
        </p:nvSpPr>
        <p:spPr>
          <a:xfrm>
            <a:off x="2351088" y="3098801"/>
            <a:ext cx="7848600" cy="2765425"/>
          </a:xfrm>
          <a:prstGeom prst="rect">
            <a:avLst/>
          </a:prstGeom>
        </p:spPr>
        <p:txBody>
          <a:bodyPr anchor="b">
            <a:normAutofit fontScale="97500"/>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r">
              <a:defRPr/>
            </a:pPr>
            <a:r>
              <a:rPr lang="en-US" altLang="en-US" b="1" dirty="0">
                <a:solidFill>
                  <a:prstClr val="black"/>
                </a:solidFill>
                <a:latin typeface="Calibri Light" panose="020F0302020204030204"/>
              </a:rPr>
              <a:t/>
            </a:r>
            <a:br>
              <a:rPr lang="en-US" altLang="en-US" b="1" dirty="0">
                <a:solidFill>
                  <a:prstClr val="black"/>
                </a:solidFill>
                <a:latin typeface="Calibri Light" panose="020F0302020204030204"/>
              </a:rPr>
            </a:br>
            <a:r>
              <a:rPr lang="en-US" altLang="en-US" sz="3700" b="1" dirty="0">
                <a:solidFill>
                  <a:prstClr val="black"/>
                </a:solidFill>
                <a:latin typeface="Calibri Light" panose="020F0302020204030204"/>
              </a:rPr>
              <a:t>Lecture 9</a:t>
            </a:r>
            <a:endParaRPr lang="en-US" altLang="en-US" b="1" dirty="0">
              <a:solidFill>
                <a:prstClr val="black"/>
              </a:solidFill>
              <a:latin typeface="Calibri Light" panose="020F0302020204030204"/>
            </a:endParaRPr>
          </a:p>
          <a:p>
            <a:pPr algn="r">
              <a:defRPr/>
            </a:pPr>
            <a:r>
              <a:rPr lang="en-US" altLang="en-US" b="1" dirty="0" err="1" smtClean="0">
                <a:solidFill>
                  <a:prstClr val="black"/>
                </a:solidFill>
                <a:latin typeface="Calibri Light" panose="020F0302020204030204"/>
              </a:rPr>
              <a:t>Razia</a:t>
            </a:r>
            <a:r>
              <a:rPr lang="en-US" altLang="en-US" b="1" dirty="0" smtClean="0">
                <a:solidFill>
                  <a:prstClr val="black"/>
                </a:solidFill>
                <a:latin typeface="Calibri Light" panose="020F0302020204030204"/>
              </a:rPr>
              <a:t> </a:t>
            </a:r>
            <a:r>
              <a:rPr lang="en-US" altLang="en-US" b="1" dirty="0" err="1" smtClean="0">
                <a:solidFill>
                  <a:prstClr val="black"/>
                </a:solidFill>
                <a:latin typeface="Calibri Light" panose="020F0302020204030204"/>
              </a:rPr>
              <a:t>Nisar</a:t>
            </a:r>
            <a:r>
              <a:rPr lang="en-US" altLang="en-US" b="1" dirty="0" smtClean="0">
                <a:solidFill>
                  <a:prstClr val="black"/>
                </a:solidFill>
                <a:latin typeface="Calibri Light" panose="020F0302020204030204"/>
              </a:rPr>
              <a:t> </a:t>
            </a:r>
            <a:r>
              <a:rPr lang="en-US" altLang="en-US" b="1" dirty="0" err="1" smtClean="0">
                <a:solidFill>
                  <a:prstClr val="black"/>
                </a:solidFill>
                <a:latin typeface="Calibri Light" panose="020F0302020204030204"/>
              </a:rPr>
              <a:t>Noorani</a:t>
            </a:r>
            <a:r>
              <a:rPr lang="en-US" altLang="en-US" b="1" dirty="0" smtClean="0">
                <a:solidFill>
                  <a:prstClr val="black"/>
                </a:solidFill>
                <a:latin typeface="Calibri Light" panose="020F0302020204030204"/>
              </a:rPr>
              <a:t> &amp;</a:t>
            </a:r>
          </a:p>
          <a:p>
            <a:pPr algn="r">
              <a:defRPr/>
            </a:pPr>
            <a:r>
              <a:rPr lang="en-US" altLang="en-US" b="1" dirty="0" smtClean="0">
                <a:solidFill>
                  <a:prstClr val="black"/>
                </a:solidFill>
                <a:latin typeface="Calibri Light" panose="020F0302020204030204"/>
              </a:rPr>
              <a:t>Dr</a:t>
            </a:r>
            <a:r>
              <a:rPr lang="en-US" altLang="en-US" b="1" dirty="0">
                <a:solidFill>
                  <a:prstClr val="black"/>
                </a:solidFill>
                <a:latin typeface="Calibri Light" panose="020F0302020204030204"/>
              </a:rPr>
              <a:t>. Amir Mehmood</a:t>
            </a:r>
            <a:endParaRPr lang="en-AU" altLang="en-US" b="1" dirty="0">
              <a:solidFill>
                <a:prstClr val="black"/>
              </a:solidFill>
              <a:latin typeface="Calibri Light" panose="020F0302020204030204"/>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a:extLst>
              <a:ext uri="{FF2B5EF4-FFF2-40B4-BE49-F238E27FC236}">
                <a16:creationId xmlns:a16="http://schemas.microsoft.com/office/drawing/2014/main" xmlns="" id="{0FA7A79C-95E4-4E5F-910B-547D7212ECE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spcBef>
                <a:spcPct val="20000"/>
              </a:spcBef>
              <a:buClr>
                <a:srgbClr val="FF0000"/>
              </a:buClr>
              <a:buFont typeface="Monotype Sorts" pitchFamily="2" charset="2"/>
              <a:buChar char="z"/>
              <a:defRPr kumimoji="1" sz="3200">
                <a:solidFill>
                  <a:schemeClr val="tx1"/>
                </a:solidFill>
                <a:latin typeface="Tahoma" panose="020B0604030504040204" pitchFamily="34" charset="0"/>
              </a:defRPr>
            </a:lvl1pPr>
            <a:lvl2pPr marL="742950" indent="-285750">
              <a:spcBef>
                <a:spcPct val="20000"/>
              </a:spcBef>
              <a:buClr>
                <a:srgbClr val="FF0000"/>
              </a:buClr>
              <a:buFont typeface="Monotype Sorts" pitchFamily="2" charset="2"/>
              <a:buChar char="y"/>
              <a:defRPr kumimoji="1" sz="2800">
                <a:solidFill>
                  <a:schemeClr val="tx1"/>
                </a:solidFill>
                <a:latin typeface="Tahoma" panose="020B0604030504040204" pitchFamily="34" charset="0"/>
              </a:defRPr>
            </a:lvl2pPr>
            <a:lvl3pPr marL="1143000" indent="-228600">
              <a:spcBef>
                <a:spcPct val="20000"/>
              </a:spcBef>
              <a:buClr>
                <a:srgbClr val="FF0000"/>
              </a:buClr>
              <a:buFont typeface="Monotype Sorts" pitchFamily="2" charset="2"/>
              <a:buChar char="x"/>
              <a:defRPr kumimoji="1" sz="2400">
                <a:solidFill>
                  <a:schemeClr val="tx1"/>
                </a:solidFill>
                <a:latin typeface="Tahoma" panose="020B0604030504040204" pitchFamily="34" charset="0"/>
              </a:defRPr>
            </a:lvl3pPr>
            <a:lvl4pPr marL="1600200" indent="-228600">
              <a:spcBef>
                <a:spcPct val="20000"/>
              </a:spcBef>
              <a:buClr>
                <a:srgbClr val="FF0000"/>
              </a:buClr>
              <a:buChar char="•"/>
              <a:defRPr kumimoji="1" sz="2000">
                <a:solidFill>
                  <a:schemeClr val="tx1"/>
                </a:solidFill>
                <a:latin typeface="Tahoma" panose="020B0604030504040204" pitchFamily="34" charset="0"/>
              </a:defRPr>
            </a:lvl4pPr>
            <a:lvl5pPr marL="2057400" indent="-228600">
              <a:spcBef>
                <a:spcPct val="20000"/>
              </a:spcBef>
              <a:buClr>
                <a:schemeClr val="accent2"/>
              </a:buClr>
              <a:buChar char="–"/>
              <a:defRPr kumimoji="1"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9pPr>
          </a:lstStyle>
          <a:p>
            <a:pPr>
              <a:spcBef>
                <a:spcPct val="50000"/>
              </a:spcBef>
              <a:buClrTx/>
              <a:buFontTx/>
              <a:buNone/>
            </a:pPr>
            <a:fld id="{42421B69-FA2A-4E7F-8E5B-DB0D80EC5603}" type="slidenum">
              <a:rPr kumimoji="0" lang="en-US" altLang="en-US" sz="1400">
                <a:solidFill>
                  <a:schemeClr val="bg2"/>
                </a:solidFill>
                <a:latin typeface="Arial" panose="020B0604020202020204" pitchFamily="34" charset="0"/>
              </a:rPr>
              <a:pPr>
                <a:spcBef>
                  <a:spcPct val="50000"/>
                </a:spcBef>
                <a:buClrTx/>
                <a:buFontTx/>
                <a:buNone/>
              </a:pPr>
              <a:t>2</a:t>
            </a:fld>
            <a:endParaRPr kumimoji="0" lang="en-US" altLang="en-US" sz="1400">
              <a:solidFill>
                <a:schemeClr val="bg2"/>
              </a:solidFill>
              <a:latin typeface="Arial" panose="020B0604020202020204" pitchFamily="34" charset="0"/>
            </a:endParaRPr>
          </a:p>
        </p:txBody>
      </p:sp>
      <p:sp>
        <p:nvSpPr>
          <p:cNvPr id="5123" name="Rectangle 4">
            <a:extLst>
              <a:ext uri="{FF2B5EF4-FFF2-40B4-BE49-F238E27FC236}">
                <a16:creationId xmlns:a16="http://schemas.microsoft.com/office/drawing/2014/main" xmlns="" id="{18C804D7-4514-471F-B737-F548490EACF6}"/>
              </a:ext>
            </a:extLst>
          </p:cNvPr>
          <p:cNvSpPr>
            <a:spLocks noGrp="1" noChangeArrowheads="1"/>
          </p:cNvSpPr>
          <p:nvPr>
            <p:ph type="title"/>
          </p:nvPr>
        </p:nvSpPr>
        <p:spPr/>
        <p:txBody>
          <a:bodyPr/>
          <a:lstStyle/>
          <a:p>
            <a:r>
              <a:rPr lang="en-US" altLang="en-US"/>
              <a:t>Secret Key Cryptography Problems</a:t>
            </a:r>
          </a:p>
        </p:txBody>
      </p:sp>
      <p:sp>
        <p:nvSpPr>
          <p:cNvPr id="5124" name="Rectangle 5">
            <a:extLst>
              <a:ext uri="{FF2B5EF4-FFF2-40B4-BE49-F238E27FC236}">
                <a16:creationId xmlns:a16="http://schemas.microsoft.com/office/drawing/2014/main" xmlns="" id="{9EB8E056-972C-4690-A483-FA0DEC4294F4}"/>
              </a:ext>
            </a:extLst>
          </p:cNvPr>
          <p:cNvSpPr>
            <a:spLocks noGrp="1" noChangeArrowheads="1"/>
          </p:cNvSpPr>
          <p:nvPr>
            <p:ph type="body" idx="1"/>
          </p:nvPr>
        </p:nvSpPr>
        <p:spPr/>
        <p:txBody>
          <a:bodyPr/>
          <a:lstStyle/>
          <a:p>
            <a:r>
              <a:rPr lang="en-US" altLang="en-US" sz="3200" dirty="0"/>
              <a:t>Traditional (secret key) cryptography uses a single key shared by both sender and receiver.  This has some drawbacks: </a:t>
            </a:r>
          </a:p>
          <a:p>
            <a:pPr lvl="1"/>
            <a:r>
              <a:rPr lang="en-US" altLang="en-US" sz="2800" dirty="0"/>
              <a:t>If this key is disclosed communications are compromised - </a:t>
            </a:r>
            <a:r>
              <a:rPr lang="en-US" altLang="en-US" sz="2800" dirty="0">
                <a:solidFill>
                  <a:srgbClr val="000000"/>
                </a:solidFill>
              </a:rPr>
              <a:t>anyone who learns the method of encryption and gets the key.</a:t>
            </a:r>
            <a:endParaRPr lang="en-US" altLang="en-US" sz="2800" dirty="0"/>
          </a:p>
          <a:p>
            <a:pPr lvl="1"/>
            <a:r>
              <a:rPr lang="en-US" altLang="en-US" sz="2800" dirty="0">
                <a:solidFill>
                  <a:srgbClr val="000000"/>
                </a:solidFill>
              </a:rPr>
              <a:t>Keys must be exchanged before transmission with any recipient or potential recipient of your message. So, to exchange keys you need a secure method of transmission, but essentially what you've done is create a need for another secure method of transmission. </a:t>
            </a:r>
            <a:r>
              <a:rPr lang="en-US" altLang="en-US" sz="2800" dirty="0"/>
              <a:t>This means that you must either use a secure channel or meet in person in order to share this key. This can be a large problem, and is certainly less than convenient.</a:t>
            </a:r>
          </a:p>
        </p:txBody>
      </p:sp>
    </p:spTree>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a:extLst>
              <a:ext uri="{FF2B5EF4-FFF2-40B4-BE49-F238E27FC236}">
                <a16:creationId xmlns:a16="http://schemas.microsoft.com/office/drawing/2014/main" xmlns="" id="{9126CD00-C077-4767-8724-B4B90D13046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spcBef>
                <a:spcPct val="20000"/>
              </a:spcBef>
              <a:buClr>
                <a:srgbClr val="FF0000"/>
              </a:buClr>
              <a:buFont typeface="Monotype Sorts" pitchFamily="2" charset="2"/>
              <a:buChar char="z"/>
              <a:defRPr kumimoji="1" sz="3200">
                <a:solidFill>
                  <a:schemeClr val="tx1"/>
                </a:solidFill>
                <a:latin typeface="Tahoma" panose="020B0604030504040204" pitchFamily="34" charset="0"/>
              </a:defRPr>
            </a:lvl1pPr>
            <a:lvl2pPr marL="742950" indent="-285750">
              <a:spcBef>
                <a:spcPct val="20000"/>
              </a:spcBef>
              <a:buClr>
                <a:srgbClr val="FF0000"/>
              </a:buClr>
              <a:buFont typeface="Monotype Sorts" pitchFamily="2" charset="2"/>
              <a:buChar char="y"/>
              <a:defRPr kumimoji="1" sz="2800">
                <a:solidFill>
                  <a:schemeClr val="tx1"/>
                </a:solidFill>
                <a:latin typeface="Tahoma" panose="020B0604030504040204" pitchFamily="34" charset="0"/>
              </a:defRPr>
            </a:lvl2pPr>
            <a:lvl3pPr marL="1143000" indent="-228600">
              <a:spcBef>
                <a:spcPct val="20000"/>
              </a:spcBef>
              <a:buClr>
                <a:srgbClr val="FF0000"/>
              </a:buClr>
              <a:buFont typeface="Monotype Sorts" pitchFamily="2" charset="2"/>
              <a:buChar char="x"/>
              <a:defRPr kumimoji="1" sz="2400">
                <a:solidFill>
                  <a:schemeClr val="tx1"/>
                </a:solidFill>
                <a:latin typeface="Tahoma" panose="020B0604030504040204" pitchFamily="34" charset="0"/>
              </a:defRPr>
            </a:lvl3pPr>
            <a:lvl4pPr marL="1600200" indent="-228600">
              <a:spcBef>
                <a:spcPct val="20000"/>
              </a:spcBef>
              <a:buClr>
                <a:srgbClr val="FF0000"/>
              </a:buClr>
              <a:buChar char="•"/>
              <a:defRPr kumimoji="1" sz="2000">
                <a:solidFill>
                  <a:schemeClr val="tx1"/>
                </a:solidFill>
                <a:latin typeface="Tahoma" panose="020B0604030504040204" pitchFamily="34" charset="0"/>
              </a:defRPr>
            </a:lvl4pPr>
            <a:lvl5pPr marL="2057400" indent="-228600">
              <a:spcBef>
                <a:spcPct val="20000"/>
              </a:spcBef>
              <a:buClr>
                <a:schemeClr val="accent2"/>
              </a:buClr>
              <a:buChar char="–"/>
              <a:defRPr kumimoji="1"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9pPr>
          </a:lstStyle>
          <a:p>
            <a:pPr>
              <a:spcBef>
                <a:spcPct val="50000"/>
              </a:spcBef>
              <a:buClrTx/>
              <a:buFontTx/>
              <a:buNone/>
            </a:pPr>
            <a:fld id="{847AB7B1-DF7C-4ED8-9292-AE4E89DAF781}" type="slidenum">
              <a:rPr kumimoji="0" lang="en-US" altLang="en-US" sz="1400">
                <a:solidFill>
                  <a:schemeClr val="bg2"/>
                </a:solidFill>
                <a:latin typeface="Arial" panose="020B0604020202020204" pitchFamily="34" charset="0"/>
              </a:rPr>
              <a:pPr>
                <a:spcBef>
                  <a:spcPct val="50000"/>
                </a:spcBef>
                <a:buClrTx/>
                <a:buFontTx/>
                <a:buNone/>
              </a:pPr>
              <a:t>3</a:t>
            </a:fld>
            <a:endParaRPr kumimoji="0" lang="en-US" altLang="en-US" sz="1400">
              <a:solidFill>
                <a:schemeClr val="bg2"/>
              </a:solidFill>
              <a:latin typeface="Arial" panose="020B0604020202020204" pitchFamily="34" charset="0"/>
            </a:endParaRPr>
          </a:p>
        </p:txBody>
      </p:sp>
      <p:sp>
        <p:nvSpPr>
          <p:cNvPr id="6147" name="Rectangle 2">
            <a:extLst>
              <a:ext uri="{FF2B5EF4-FFF2-40B4-BE49-F238E27FC236}">
                <a16:creationId xmlns:a16="http://schemas.microsoft.com/office/drawing/2014/main" xmlns="" id="{2B3E2800-0307-4B70-A5E5-ADAFB4EFD607}"/>
              </a:ext>
            </a:extLst>
          </p:cNvPr>
          <p:cNvSpPr>
            <a:spLocks noGrp="1" noChangeArrowheads="1"/>
          </p:cNvSpPr>
          <p:nvPr>
            <p:ph type="title"/>
          </p:nvPr>
        </p:nvSpPr>
        <p:spPr/>
        <p:txBody>
          <a:bodyPr/>
          <a:lstStyle/>
          <a:p>
            <a:r>
              <a:rPr lang="en-US" altLang="en-US">
                <a:solidFill>
                  <a:schemeClr val="tx1"/>
                </a:solidFill>
              </a:rPr>
              <a:t>Public-Key Cryptography</a:t>
            </a:r>
          </a:p>
        </p:txBody>
      </p:sp>
      <p:sp>
        <p:nvSpPr>
          <p:cNvPr id="6148" name="Rectangle 3">
            <a:extLst>
              <a:ext uri="{FF2B5EF4-FFF2-40B4-BE49-F238E27FC236}">
                <a16:creationId xmlns:a16="http://schemas.microsoft.com/office/drawing/2014/main" xmlns="" id="{7355A705-5165-4092-AEA0-60DCB1B8DC6B}"/>
              </a:ext>
            </a:extLst>
          </p:cNvPr>
          <p:cNvSpPr>
            <a:spLocks noGrp="1" noChangeArrowheads="1"/>
          </p:cNvSpPr>
          <p:nvPr>
            <p:ph type="body" idx="1"/>
          </p:nvPr>
        </p:nvSpPr>
        <p:spPr/>
        <p:txBody>
          <a:bodyPr/>
          <a:lstStyle/>
          <a:p>
            <a:pPr>
              <a:buFont typeface="Symbol" panose="05050102010706020507" pitchFamily="18" charset="2"/>
              <a:buChar char="·"/>
            </a:pPr>
            <a:r>
              <a:rPr lang="en-US" altLang="en-US" sz="3600" b="1" dirty="0"/>
              <a:t>Public-key</a:t>
            </a:r>
            <a:r>
              <a:rPr lang="en-US" altLang="en-US" sz="3600" dirty="0"/>
              <a:t> (or </a:t>
            </a:r>
            <a:r>
              <a:rPr lang="en-US" altLang="en-US" sz="3600" b="1" dirty="0"/>
              <a:t>two-key</a:t>
            </a:r>
            <a:r>
              <a:rPr lang="en-US" altLang="en-US" sz="3600" dirty="0"/>
              <a:t>) </a:t>
            </a:r>
            <a:r>
              <a:rPr lang="en-US" altLang="en-US" sz="3600" b="1" dirty="0"/>
              <a:t>cryptography</a:t>
            </a:r>
            <a:r>
              <a:rPr lang="en-US" altLang="en-US" sz="3600" dirty="0"/>
              <a:t> involves the use of two keys: </a:t>
            </a:r>
          </a:p>
          <a:p>
            <a:pPr lvl="1">
              <a:buFont typeface="Symbol" panose="05050102010706020507" pitchFamily="18" charset="2"/>
              <a:buChar char="·"/>
            </a:pPr>
            <a:r>
              <a:rPr lang="en-US" altLang="en-US" sz="3200" dirty="0"/>
              <a:t>A </a:t>
            </a:r>
            <a:r>
              <a:rPr lang="en-US" altLang="en-US" sz="3200" b="1" dirty="0"/>
              <a:t>public-key</a:t>
            </a:r>
            <a:r>
              <a:rPr lang="en-US" altLang="en-US" sz="3200" dirty="0"/>
              <a:t>, which may be known by anybody, and can be used to </a:t>
            </a:r>
            <a:r>
              <a:rPr lang="en-US" altLang="en-US" sz="3200" b="1" dirty="0"/>
              <a:t>encrypt messages</a:t>
            </a:r>
            <a:r>
              <a:rPr lang="en-US" altLang="en-US" sz="3200" dirty="0"/>
              <a:t>, and </a:t>
            </a:r>
            <a:r>
              <a:rPr lang="en-US" altLang="en-US" sz="3200" b="1" dirty="0"/>
              <a:t>verify signatures</a:t>
            </a:r>
          </a:p>
          <a:p>
            <a:pPr lvl="1">
              <a:buFont typeface="Symbol" panose="05050102010706020507" pitchFamily="18" charset="2"/>
              <a:buChar char="·"/>
            </a:pPr>
            <a:r>
              <a:rPr lang="en-US" altLang="en-US" sz="3200" dirty="0"/>
              <a:t>A </a:t>
            </a:r>
            <a:r>
              <a:rPr lang="en-US" altLang="en-US" sz="3200" b="1" dirty="0"/>
              <a:t>private-key</a:t>
            </a:r>
            <a:r>
              <a:rPr lang="en-US" altLang="en-US" sz="3200" dirty="0"/>
              <a:t>, known only to the recipient, used to </a:t>
            </a:r>
            <a:r>
              <a:rPr lang="en-US" altLang="en-US" sz="3200" b="1" dirty="0"/>
              <a:t>decrypt messages</a:t>
            </a:r>
            <a:r>
              <a:rPr lang="en-US" altLang="en-US" sz="3200" dirty="0"/>
              <a:t>, and </a:t>
            </a:r>
            <a:r>
              <a:rPr lang="en-US" altLang="en-US" sz="3200" b="1" dirty="0"/>
              <a:t>sign</a:t>
            </a:r>
            <a:r>
              <a:rPr lang="en-US" altLang="en-US" sz="3200" dirty="0"/>
              <a:t> (create)</a:t>
            </a:r>
            <a:r>
              <a:rPr lang="en-US" altLang="en-US" sz="3200" b="1" dirty="0"/>
              <a:t> signatures</a:t>
            </a:r>
          </a:p>
        </p:txBody>
      </p:sp>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xmlns="" id="{D2BD4868-CA20-4EAF-8A91-C860C26876B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spcBef>
                <a:spcPct val="20000"/>
              </a:spcBef>
              <a:buClr>
                <a:srgbClr val="FF0000"/>
              </a:buClr>
              <a:buFont typeface="Monotype Sorts" pitchFamily="2" charset="2"/>
              <a:buChar char="z"/>
              <a:defRPr kumimoji="1" sz="3200">
                <a:solidFill>
                  <a:schemeClr val="tx1"/>
                </a:solidFill>
                <a:latin typeface="Tahoma" panose="020B0604030504040204" pitchFamily="34" charset="0"/>
              </a:defRPr>
            </a:lvl1pPr>
            <a:lvl2pPr marL="742950" indent="-285750">
              <a:spcBef>
                <a:spcPct val="20000"/>
              </a:spcBef>
              <a:buClr>
                <a:srgbClr val="FF0000"/>
              </a:buClr>
              <a:buFont typeface="Monotype Sorts" pitchFamily="2" charset="2"/>
              <a:buChar char="y"/>
              <a:defRPr kumimoji="1" sz="2800">
                <a:solidFill>
                  <a:schemeClr val="tx1"/>
                </a:solidFill>
                <a:latin typeface="Tahoma" panose="020B0604030504040204" pitchFamily="34" charset="0"/>
              </a:defRPr>
            </a:lvl2pPr>
            <a:lvl3pPr marL="1143000" indent="-228600">
              <a:spcBef>
                <a:spcPct val="20000"/>
              </a:spcBef>
              <a:buClr>
                <a:srgbClr val="FF0000"/>
              </a:buClr>
              <a:buFont typeface="Monotype Sorts" pitchFamily="2" charset="2"/>
              <a:buChar char="x"/>
              <a:defRPr kumimoji="1" sz="2400">
                <a:solidFill>
                  <a:schemeClr val="tx1"/>
                </a:solidFill>
                <a:latin typeface="Tahoma" panose="020B0604030504040204" pitchFamily="34" charset="0"/>
              </a:defRPr>
            </a:lvl3pPr>
            <a:lvl4pPr marL="1600200" indent="-228600">
              <a:spcBef>
                <a:spcPct val="20000"/>
              </a:spcBef>
              <a:buClr>
                <a:srgbClr val="FF0000"/>
              </a:buClr>
              <a:buChar char="•"/>
              <a:defRPr kumimoji="1" sz="2000">
                <a:solidFill>
                  <a:schemeClr val="tx1"/>
                </a:solidFill>
                <a:latin typeface="Tahoma" panose="020B0604030504040204" pitchFamily="34" charset="0"/>
              </a:defRPr>
            </a:lvl4pPr>
            <a:lvl5pPr marL="2057400" indent="-228600">
              <a:spcBef>
                <a:spcPct val="20000"/>
              </a:spcBef>
              <a:buClr>
                <a:schemeClr val="accent2"/>
              </a:buClr>
              <a:buChar char="–"/>
              <a:defRPr kumimoji="1"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9pPr>
          </a:lstStyle>
          <a:p>
            <a:pPr>
              <a:spcBef>
                <a:spcPct val="50000"/>
              </a:spcBef>
              <a:buClrTx/>
              <a:buFontTx/>
              <a:buNone/>
            </a:pPr>
            <a:fld id="{D6C88CC9-AF71-43DD-8B8D-B896C499B73E}" type="slidenum">
              <a:rPr kumimoji="0" lang="en-US" altLang="en-US" sz="1400">
                <a:solidFill>
                  <a:schemeClr val="bg2"/>
                </a:solidFill>
                <a:latin typeface="Arial" panose="020B0604020202020204" pitchFamily="34" charset="0"/>
              </a:rPr>
              <a:pPr>
                <a:spcBef>
                  <a:spcPct val="50000"/>
                </a:spcBef>
                <a:buClrTx/>
                <a:buFontTx/>
                <a:buNone/>
              </a:pPr>
              <a:t>4</a:t>
            </a:fld>
            <a:endParaRPr kumimoji="0" lang="en-US" altLang="en-US" sz="1400">
              <a:solidFill>
                <a:schemeClr val="bg2"/>
              </a:solidFill>
              <a:latin typeface="Arial" panose="020B0604020202020204" pitchFamily="34" charset="0"/>
            </a:endParaRPr>
          </a:p>
        </p:txBody>
      </p:sp>
      <p:sp>
        <p:nvSpPr>
          <p:cNvPr id="7171" name="Rectangle 1026">
            <a:extLst>
              <a:ext uri="{FF2B5EF4-FFF2-40B4-BE49-F238E27FC236}">
                <a16:creationId xmlns:a16="http://schemas.microsoft.com/office/drawing/2014/main" xmlns="" id="{7B40614D-228E-48D9-9C97-88A457238CF0}"/>
              </a:ext>
            </a:extLst>
          </p:cNvPr>
          <p:cNvSpPr>
            <a:spLocks noGrp="1" noChangeArrowheads="1"/>
          </p:cNvSpPr>
          <p:nvPr>
            <p:ph type="title"/>
          </p:nvPr>
        </p:nvSpPr>
        <p:spPr/>
        <p:txBody>
          <a:bodyPr/>
          <a:lstStyle/>
          <a:p>
            <a:r>
              <a:rPr lang="en-US" altLang="en-US"/>
              <a:t>Alice, Bob and Trudy</a:t>
            </a:r>
          </a:p>
        </p:txBody>
      </p:sp>
      <p:sp>
        <p:nvSpPr>
          <p:cNvPr id="7172" name="Rectangle 1027">
            <a:extLst>
              <a:ext uri="{FF2B5EF4-FFF2-40B4-BE49-F238E27FC236}">
                <a16:creationId xmlns:a16="http://schemas.microsoft.com/office/drawing/2014/main" xmlns="" id="{75A810B6-3844-4270-93B9-CECA35ED67F6}"/>
              </a:ext>
            </a:extLst>
          </p:cNvPr>
          <p:cNvSpPr>
            <a:spLocks noGrp="1" noChangeArrowheads="1"/>
          </p:cNvSpPr>
          <p:nvPr>
            <p:ph type="body" idx="1"/>
          </p:nvPr>
        </p:nvSpPr>
        <p:spPr/>
        <p:txBody>
          <a:bodyPr/>
          <a:lstStyle/>
          <a:p>
            <a:pPr>
              <a:spcBef>
                <a:spcPts val="500"/>
              </a:spcBef>
              <a:spcAft>
                <a:spcPts val="500"/>
              </a:spcAft>
            </a:pPr>
            <a:r>
              <a:rPr lang="en-US" altLang="en-US" sz="3200" dirty="0"/>
              <a:t>In a Public Key system when Alice sends email to Bob, she finds his public key (possibly in a directory of some sort) and encrypts her message using that key. Unlike secret-key cryptography, though, the key used to encrypt will not decrypt the ciphertext. Knowledge of Bob’s public key will not help an eavesdropper. To decrypt, Bob uses his private key. If Bob wants to respond to Alice, he will encrypt his message using her public key.</a:t>
            </a:r>
          </a:p>
          <a:p>
            <a:pPr>
              <a:spcBef>
                <a:spcPts val="500"/>
              </a:spcBef>
              <a:spcAft>
                <a:spcPts val="500"/>
              </a:spcAft>
            </a:pPr>
            <a:r>
              <a:rPr lang="en-US" altLang="en-US" sz="3200" dirty="0"/>
              <a:t>Trudy (from Intruder) tries to disrupt the communication between Alice and Bob</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xmlns="" id="{19413CCE-A7C5-41FA-BCA1-D7666040FBF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spcBef>
                <a:spcPct val="20000"/>
              </a:spcBef>
              <a:buClr>
                <a:srgbClr val="FF0000"/>
              </a:buClr>
              <a:buFont typeface="Monotype Sorts" pitchFamily="2" charset="2"/>
              <a:buChar char="z"/>
              <a:defRPr kumimoji="1" sz="3200">
                <a:solidFill>
                  <a:schemeClr val="tx1"/>
                </a:solidFill>
                <a:latin typeface="Tahoma" panose="020B0604030504040204" pitchFamily="34" charset="0"/>
              </a:defRPr>
            </a:lvl1pPr>
            <a:lvl2pPr marL="742950" indent="-285750">
              <a:spcBef>
                <a:spcPct val="20000"/>
              </a:spcBef>
              <a:buClr>
                <a:srgbClr val="FF0000"/>
              </a:buClr>
              <a:buFont typeface="Monotype Sorts" pitchFamily="2" charset="2"/>
              <a:buChar char="y"/>
              <a:defRPr kumimoji="1" sz="2800">
                <a:solidFill>
                  <a:schemeClr val="tx1"/>
                </a:solidFill>
                <a:latin typeface="Tahoma" panose="020B0604030504040204" pitchFamily="34" charset="0"/>
              </a:defRPr>
            </a:lvl2pPr>
            <a:lvl3pPr marL="1143000" indent="-228600">
              <a:spcBef>
                <a:spcPct val="20000"/>
              </a:spcBef>
              <a:buClr>
                <a:srgbClr val="FF0000"/>
              </a:buClr>
              <a:buFont typeface="Monotype Sorts" pitchFamily="2" charset="2"/>
              <a:buChar char="x"/>
              <a:defRPr kumimoji="1" sz="2400">
                <a:solidFill>
                  <a:schemeClr val="tx1"/>
                </a:solidFill>
                <a:latin typeface="Tahoma" panose="020B0604030504040204" pitchFamily="34" charset="0"/>
              </a:defRPr>
            </a:lvl3pPr>
            <a:lvl4pPr marL="1600200" indent="-228600">
              <a:spcBef>
                <a:spcPct val="20000"/>
              </a:spcBef>
              <a:buClr>
                <a:srgbClr val="FF0000"/>
              </a:buClr>
              <a:buChar char="•"/>
              <a:defRPr kumimoji="1" sz="2000">
                <a:solidFill>
                  <a:schemeClr val="tx1"/>
                </a:solidFill>
                <a:latin typeface="Tahoma" panose="020B0604030504040204" pitchFamily="34" charset="0"/>
              </a:defRPr>
            </a:lvl4pPr>
            <a:lvl5pPr marL="2057400" indent="-228600">
              <a:spcBef>
                <a:spcPct val="20000"/>
              </a:spcBef>
              <a:buClr>
                <a:schemeClr val="accent2"/>
              </a:buClr>
              <a:buChar char="–"/>
              <a:defRPr kumimoji="1"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9pPr>
          </a:lstStyle>
          <a:p>
            <a:pPr>
              <a:spcBef>
                <a:spcPct val="50000"/>
              </a:spcBef>
              <a:buClrTx/>
              <a:buFontTx/>
              <a:buNone/>
            </a:pPr>
            <a:fld id="{F338A501-6504-4F41-9643-40B821201C21}" type="slidenum">
              <a:rPr kumimoji="0" lang="en-US" altLang="en-US" sz="1400">
                <a:solidFill>
                  <a:schemeClr val="bg2"/>
                </a:solidFill>
                <a:latin typeface="Arial" panose="020B0604020202020204" pitchFamily="34" charset="0"/>
              </a:rPr>
              <a:pPr>
                <a:spcBef>
                  <a:spcPct val="50000"/>
                </a:spcBef>
                <a:buClrTx/>
                <a:buFontTx/>
                <a:buNone/>
              </a:pPr>
              <a:t>5</a:t>
            </a:fld>
            <a:endParaRPr kumimoji="0" lang="en-US" altLang="en-US" sz="1400">
              <a:solidFill>
                <a:schemeClr val="bg2"/>
              </a:solidFill>
              <a:latin typeface="Arial" panose="020B0604020202020204" pitchFamily="34" charset="0"/>
            </a:endParaRPr>
          </a:p>
        </p:txBody>
      </p:sp>
      <p:sp>
        <p:nvSpPr>
          <p:cNvPr id="8195" name="Rectangle 2">
            <a:extLst>
              <a:ext uri="{FF2B5EF4-FFF2-40B4-BE49-F238E27FC236}">
                <a16:creationId xmlns:a16="http://schemas.microsoft.com/office/drawing/2014/main" xmlns="" id="{05B92649-0D70-4285-A1C3-29D33DB286C4}"/>
              </a:ext>
            </a:extLst>
          </p:cNvPr>
          <p:cNvSpPr>
            <a:spLocks noGrp="1" noChangeArrowheads="1"/>
          </p:cNvSpPr>
          <p:nvPr>
            <p:ph type="title"/>
          </p:nvPr>
        </p:nvSpPr>
        <p:spPr/>
        <p:txBody>
          <a:bodyPr/>
          <a:lstStyle/>
          <a:p>
            <a:r>
              <a:rPr lang="en-US" altLang="en-US">
                <a:solidFill>
                  <a:schemeClr val="tx1"/>
                </a:solidFill>
              </a:rPr>
              <a:t>Public-Key Cryptography Requirements</a:t>
            </a:r>
          </a:p>
        </p:txBody>
      </p:sp>
      <p:sp>
        <p:nvSpPr>
          <p:cNvPr id="8196" name="Rectangle 3">
            <a:extLst>
              <a:ext uri="{FF2B5EF4-FFF2-40B4-BE49-F238E27FC236}">
                <a16:creationId xmlns:a16="http://schemas.microsoft.com/office/drawing/2014/main" xmlns="" id="{01274E00-18BE-46C4-816F-A77960055EA8}"/>
              </a:ext>
            </a:extLst>
          </p:cNvPr>
          <p:cNvSpPr>
            <a:spLocks noGrp="1" noChangeArrowheads="1"/>
          </p:cNvSpPr>
          <p:nvPr>
            <p:ph type="body" idx="1"/>
          </p:nvPr>
        </p:nvSpPr>
        <p:spPr/>
        <p:txBody>
          <a:bodyPr/>
          <a:lstStyle/>
          <a:p>
            <a:pPr>
              <a:buFont typeface="Symbol" panose="05050102010706020507" pitchFamily="18" charset="2"/>
              <a:buChar char="·"/>
            </a:pPr>
            <a:r>
              <a:rPr lang="en-US" altLang="en-US" sz="3600" dirty="0"/>
              <a:t>Knowing the public-key and public description of the cipher, it is still computationally infeasible to compute the private key </a:t>
            </a:r>
          </a:p>
          <a:p>
            <a:pPr>
              <a:buFont typeface="Symbol" panose="05050102010706020507" pitchFamily="18" charset="2"/>
              <a:buChar char="·"/>
            </a:pPr>
            <a:r>
              <a:rPr lang="en-US" altLang="en-US" sz="3600" dirty="0"/>
              <a:t>Thus the public-key may be distributed to anyone wishing to communicate securely with its owner</a:t>
            </a:r>
          </a:p>
        </p:txBody>
      </p:sp>
    </p:spTree>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xmlns="" id="{5209854A-6ED1-46CF-A58F-3D3BEDF6942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spcBef>
                <a:spcPct val="20000"/>
              </a:spcBef>
              <a:buClr>
                <a:srgbClr val="FF0000"/>
              </a:buClr>
              <a:buFont typeface="Monotype Sorts" pitchFamily="2" charset="2"/>
              <a:buChar char="z"/>
              <a:defRPr kumimoji="1" sz="3200">
                <a:solidFill>
                  <a:schemeClr val="tx1"/>
                </a:solidFill>
                <a:latin typeface="Tahoma" panose="020B0604030504040204" pitchFamily="34" charset="0"/>
              </a:defRPr>
            </a:lvl1pPr>
            <a:lvl2pPr marL="742950" indent="-285750">
              <a:spcBef>
                <a:spcPct val="20000"/>
              </a:spcBef>
              <a:buClr>
                <a:srgbClr val="FF0000"/>
              </a:buClr>
              <a:buFont typeface="Monotype Sorts" pitchFamily="2" charset="2"/>
              <a:buChar char="y"/>
              <a:defRPr kumimoji="1" sz="2800">
                <a:solidFill>
                  <a:schemeClr val="tx1"/>
                </a:solidFill>
                <a:latin typeface="Tahoma" panose="020B0604030504040204" pitchFamily="34" charset="0"/>
              </a:defRPr>
            </a:lvl2pPr>
            <a:lvl3pPr marL="1143000" indent="-228600">
              <a:spcBef>
                <a:spcPct val="20000"/>
              </a:spcBef>
              <a:buClr>
                <a:srgbClr val="FF0000"/>
              </a:buClr>
              <a:buFont typeface="Monotype Sorts" pitchFamily="2" charset="2"/>
              <a:buChar char="x"/>
              <a:defRPr kumimoji="1" sz="2400">
                <a:solidFill>
                  <a:schemeClr val="tx1"/>
                </a:solidFill>
                <a:latin typeface="Tahoma" panose="020B0604030504040204" pitchFamily="34" charset="0"/>
              </a:defRPr>
            </a:lvl3pPr>
            <a:lvl4pPr marL="1600200" indent="-228600">
              <a:spcBef>
                <a:spcPct val="20000"/>
              </a:spcBef>
              <a:buClr>
                <a:srgbClr val="FF0000"/>
              </a:buClr>
              <a:buChar char="•"/>
              <a:defRPr kumimoji="1" sz="2000">
                <a:solidFill>
                  <a:schemeClr val="tx1"/>
                </a:solidFill>
                <a:latin typeface="Tahoma" panose="020B0604030504040204" pitchFamily="34" charset="0"/>
              </a:defRPr>
            </a:lvl4pPr>
            <a:lvl5pPr marL="2057400" indent="-228600">
              <a:spcBef>
                <a:spcPct val="20000"/>
              </a:spcBef>
              <a:buClr>
                <a:schemeClr val="accent2"/>
              </a:buClr>
              <a:buChar char="–"/>
              <a:defRPr kumimoji="1"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9pPr>
          </a:lstStyle>
          <a:p>
            <a:pPr>
              <a:spcBef>
                <a:spcPct val="50000"/>
              </a:spcBef>
              <a:buClrTx/>
              <a:buFontTx/>
              <a:buNone/>
            </a:pPr>
            <a:fld id="{4B850B90-215C-432F-8A0B-3E4EAEB768EA}" type="slidenum">
              <a:rPr kumimoji="0" lang="en-US" altLang="en-US" sz="1400">
                <a:solidFill>
                  <a:schemeClr val="bg2"/>
                </a:solidFill>
                <a:latin typeface="Arial" panose="020B0604020202020204" pitchFamily="34" charset="0"/>
              </a:rPr>
              <a:pPr>
                <a:spcBef>
                  <a:spcPct val="50000"/>
                </a:spcBef>
                <a:buClrTx/>
                <a:buFontTx/>
                <a:buNone/>
              </a:pPr>
              <a:t>6</a:t>
            </a:fld>
            <a:endParaRPr kumimoji="0" lang="en-US" altLang="en-US" sz="1400">
              <a:solidFill>
                <a:schemeClr val="bg2"/>
              </a:solidFill>
              <a:latin typeface="Arial" panose="020B0604020202020204" pitchFamily="34" charset="0"/>
            </a:endParaRPr>
          </a:p>
        </p:txBody>
      </p:sp>
      <p:sp>
        <p:nvSpPr>
          <p:cNvPr id="9219" name="Rectangle 2">
            <a:extLst>
              <a:ext uri="{FF2B5EF4-FFF2-40B4-BE49-F238E27FC236}">
                <a16:creationId xmlns:a16="http://schemas.microsoft.com/office/drawing/2014/main" xmlns="" id="{44737AF9-213E-4AE6-AAF2-5D80A547B83D}"/>
              </a:ext>
            </a:extLst>
          </p:cNvPr>
          <p:cNvSpPr>
            <a:spLocks noGrp="1" noChangeArrowheads="1"/>
          </p:cNvSpPr>
          <p:nvPr>
            <p:ph type="title"/>
          </p:nvPr>
        </p:nvSpPr>
        <p:spPr/>
        <p:txBody>
          <a:bodyPr/>
          <a:lstStyle/>
          <a:p>
            <a:r>
              <a:rPr lang="en-US" altLang="en-US"/>
              <a:t>Public Key Encryption Systems</a:t>
            </a:r>
          </a:p>
        </p:txBody>
      </p:sp>
      <p:sp>
        <p:nvSpPr>
          <p:cNvPr id="9220" name="Rectangle 3">
            <a:extLst>
              <a:ext uri="{FF2B5EF4-FFF2-40B4-BE49-F238E27FC236}">
                <a16:creationId xmlns:a16="http://schemas.microsoft.com/office/drawing/2014/main" xmlns="" id="{7D661997-6585-4474-A657-EAF00EFD9D6E}"/>
              </a:ext>
            </a:extLst>
          </p:cNvPr>
          <p:cNvSpPr>
            <a:spLocks noGrp="1" noChangeArrowheads="1"/>
          </p:cNvSpPr>
          <p:nvPr>
            <p:ph type="body" idx="1"/>
          </p:nvPr>
        </p:nvSpPr>
        <p:spPr>
          <a:xfrm>
            <a:off x="1981200" y="1524000"/>
            <a:ext cx="8382000" cy="4705350"/>
          </a:xfrm>
        </p:spPr>
        <p:txBody>
          <a:bodyPr/>
          <a:lstStyle/>
          <a:p>
            <a:r>
              <a:rPr lang="en-US" altLang="en-US" sz="3000"/>
              <a:t>Because a different key is used on each side of the process, public key systems are also known as 'asymmetric systems'. </a:t>
            </a:r>
          </a:p>
          <a:p>
            <a:r>
              <a:rPr lang="en-US" altLang="en-US" sz="3000"/>
              <a:t>The distribution of keys for public key systems is generally much easier because it is not normally necessary to keep the public key secret. </a:t>
            </a:r>
          </a:p>
          <a:p>
            <a:r>
              <a:rPr lang="en-US" altLang="en-US" sz="3000"/>
              <a:t>The private key, on the other hand, must remain secret or else security is compromised.</a:t>
            </a:r>
            <a:r>
              <a:rPr lang="en-US" altLang="en-US"/>
              <a:t> </a:t>
            </a:r>
          </a:p>
        </p:txBody>
      </p:sp>
    </p:spTree>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6">
            <a:extLst>
              <a:ext uri="{FF2B5EF4-FFF2-40B4-BE49-F238E27FC236}">
                <a16:creationId xmlns:a16="http://schemas.microsoft.com/office/drawing/2014/main" xmlns="" id="{8BEE83D5-8822-4AF8-9BA5-B8F9F46E53F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spcBef>
                <a:spcPct val="20000"/>
              </a:spcBef>
              <a:buClr>
                <a:srgbClr val="FF0000"/>
              </a:buClr>
              <a:buFont typeface="Monotype Sorts" pitchFamily="2" charset="2"/>
              <a:buChar char="z"/>
              <a:defRPr kumimoji="1" sz="3200">
                <a:solidFill>
                  <a:schemeClr val="tx1"/>
                </a:solidFill>
                <a:latin typeface="Tahoma" panose="020B0604030504040204" pitchFamily="34" charset="0"/>
              </a:defRPr>
            </a:lvl1pPr>
            <a:lvl2pPr marL="742950" indent="-285750">
              <a:spcBef>
                <a:spcPct val="20000"/>
              </a:spcBef>
              <a:buClr>
                <a:srgbClr val="FF0000"/>
              </a:buClr>
              <a:buFont typeface="Monotype Sorts" pitchFamily="2" charset="2"/>
              <a:buChar char="y"/>
              <a:defRPr kumimoji="1" sz="2800">
                <a:solidFill>
                  <a:schemeClr val="tx1"/>
                </a:solidFill>
                <a:latin typeface="Tahoma" panose="020B0604030504040204" pitchFamily="34" charset="0"/>
              </a:defRPr>
            </a:lvl2pPr>
            <a:lvl3pPr marL="1143000" indent="-228600">
              <a:spcBef>
                <a:spcPct val="20000"/>
              </a:spcBef>
              <a:buClr>
                <a:srgbClr val="FF0000"/>
              </a:buClr>
              <a:buFont typeface="Monotype Sorts" pitchFamily="2" charset="2"/>
              <a:buChar char="x"/>
              <a:defRPr kumimoji="1" sz="2400">
                <a:solidFill>
                  <a:schemeClr val="tx1"/>
                </a:solidFill>
                <a:latin typeface="Tahoma" panose="020B0604030504040204" pitchFamily="34" charset="0"/>
              </a:defRPr>
            </a:lvl3pPr>
            <a:lvl4pPr marL="1600200" indent="-228600">
              <a:spcBef>
                <a:spcPct val="20000"/>
              </a:spcBef>
              <a:buClr>
                <a:srgbClr val="FF0000"/>
              </a:buClr>
              <a:buChar char="•"/>
              <a:defRPr kumimoji="1" sz="2000">
                <a:solidFill>
                  <a:schemeClr val="tx1"/>
                </a:solidFill>
                <a:latin typeface="Tahoma" panose="020B0604030504040204" pitchFamily="34" charset="0"/>
              </a:defRPr>
            </a:lvl4pPr>
            <a:lvl5pPr marL="2057400" indent="-228600">
              <a:spcBef>
                <a:spcPct val="20000"/>
              </a:spcBef>
              <a:buClr>
                <a:schemeClr val="accent2"/>
              </a:buClr>
              <a:buChar char="–"/>
              <a:defRPr kumimoji="1"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9pPr>
          </a:lstStyle>
          <a:p>
            <a:pPr>
              <a:spcBef>
                <a:spcPct val="50000"/>
              </a:spcBef>
              <a:buClrTx/>
              <a:buFontTx/>
              <a:buNone/>
            </a:pPr>
            <a:fld id="{9157C980-5C5E-4B22-8E2C-832EBE0AE8E2}" type="slidenum">
              <a:rPr kumimoji="0" lang="en-US" altLang="en-US" sz="1400">
                <a:solidFill>
                  <a:schemeClr val="bg2"/>
                </a:solidFill>
                <a:latin typeface="Arial" panose="020B0604020202020204" pitchFamily="34" charset="0"/>
              </a:rPr>
              <a:pPr>
                <a:spcBef>
                  <a:spcPct val="50000"/>
                </a:spcBef>
                <a:buClrTx/>
                <a:buFontTx/>
                <a:buNone/>
              </a:pPr>
              <a:t>7</a:t>
            </a:fld>
            <a:endParaRPr kumimoji="0" lang="en-US" altLang="en-US" sz="1400">
              <a:solidFill>
                <a:schemeClr val="bg2"/>
              </a:solidFill>
              <a:latin typeface="Arial" panose="020B0604020202020204" pitchFamily="34" charset="0"/>
            </a:endParaRPr>
          </a:p>
        </p:txBody>
      </p:sp>
      <p:pic>
        <p:nvPicPr>
          <p:cNvPr id="10243" name="Picture 2">
            <a:extLst>
              <a:ext uri="{FF2B5EF4-FFF2-40B4-BE49-F238E27FC236}">
                <a16:creationId xmlns:a16="http://schemas.microsoft.com/office/drawing/2014/main" xmlns="" id="{AAD885CE-55F4-4DFA-A146-E4DE334E8C57}"/>
              </a:ext>
            </a:extLst>
          </p:cNvPr>
          <p:cNvPicPr>
            <a:picLocks noGrp="1" noChangeAspect="1" noChangeArrowheads="1"/>
          </p:cNvPicPr>
          <p:nvPr>
            <p:ph type="clipArt" sz="half" idx="2"/>
          </p:nvPr>
        </p:nvPicPr>
        <p:blipFill>
          <a:blip r:embed="rId2">
            <a:extLst>
              <a:ext uri="{28A0092B-C50C-407E-A947-70E740481C1C}">
                <a14:useLocalDpi xmlns:a14="http://schemas.microsoft.com/office/drawing/2010/main" val="0"/>
              </a:ext>
            </a:extLst>
          </a:blip>
          <a:srcRect/>
          <a:stretch>
            <a:fillRect/>
          </a:stretch>
        </p:blipFill>
        <p:spPr>
          <a:xfrm>
            <a:off x="1524000" y="-18662"/>
            <a:ext cx="9144000" cy="6858000"/>
          </a:xfrm>
          <a:solidFill>
            <a:schemeClr val="bg1"/>
          </a:solidFill>
        </p:spPr>
      </p:pic>
    </p:spTree>
  </p:cSld>
  <p:clrMapOvr>
    <a:masterClrMapping/>
  </p:clrMapOvr>
  <p:transition spd="slow"/>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xmlns="" id="{62773CF2-BE3E-4D56-816C-36F69853055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spcBef>
                <a:spcPct val="20000"/>
              </a:spcBef>
              <a:buClr>
                <a:srgbClr val="FF0000"/>
              </a:buClr>
              <a:buFont typeface="Monotype Sorts" pitchFamily="2" charset="2"/>
              <a:buChar char="z"/>
              <a:defRPr kumimoji="1" sz="3200">
                <a:solidFill>
                  <a:schemeClr val="tx1"/>
                </a:solidFill>
                <a:latin typeface="Tahoma" panose="020B0604030504040204" pitchFamily="34" charset="0"/>
              </a:defRPr>
            </a:lvl1pPr>
            <a:lvl2pPr marL="742950" indent="-285750">
              <a:spcBef>
                <a:spcPct val="20000"/>
              </a:spcBef>
              <a:buClr>
                <a:srgbClr val="FF0000"/>
              </a:buClr>
              <a:buFont typeface="Monotype Sorts" pitchFamily="2" charset="2"/>
              <a:buChar char="y"/>
              <a:defRPr kumimoji="1" sz="2800">
                <a:solidFill>
                  <a:schemeClr val="tx1"/>
                </a:solidFill>
                <a:latin typeface="Tahoma" panose="020B0604030504040204" pitchFamily="34" charset="0"/>
              </a:defRPr>
            </a:lvl2pPr>
            <a:lvl3pPr marL="1143000" indent="-228600">
              <a:spcBef>
                <a:spcPct val="20000"/>
              </a:spcBef>
              <a:buClr>
                <a:srgbClr val="FF0000"/>
              </a:buClr>
              <a:buFont typeface="Monotype Sorts" pitchFamily="2" charset="2"/>
              <a:buChar char="x"/>
              <a:defRPr kumimoji="1" sz="2400">
                <a:solidFill>
                  <a:schemeClr val="tx1"/>
                </a:solidFill>
                <a:latin typeface="Tahoma" panose="020B0604030504040204" pitchFamily="34" charset="0"/>
              </a:defRPr>
            </a:lvl3pPr>
            <a:lvl4pPr marL="1600200" indent="-228600">
              <a:spcBef>
                <a:spcPct val="20000"/>
              </a:spcBef>
              <a:buClr>
                <a:srgbClr val="FF0000"/>
              </a:buClr>
              <a:buChar char="•"/>
              <a:defRPr kumimoji="1" sz="2000">
                <a:solidFill>
                  <a:schemeClr val="tx1"/>
                </a:solidFill>
                <a:latin typeface="Tahoma" panose="020B0604030504040204" pitchFamily="34" charset="0"/>
              </a:defRPr>
            </a:lvl4pPr>
            <a:lvl5pPr marL="2057400" indent="-228600">
              <a:spcBef>
                <a:spcPct val="20000"/>
              </a:spcBef>
              <a:buClr>
                <a:schemeClr val="accent2"/>
              </a:buClr>
              <a:buChar char="–"/>
              <a:defRPr kumimoji="1"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9pPr>
          </a:lstStyle>
          <a:p>
            <a:pPr>
              <a:spcBef>
                <a:spcPct val="50000"/>
              </a:spcBef>
              <a:buClrTx/>
              <a:buFontTx/>
              <a:buNone/>
            </a:pPr>
            <a:fld id="{4E338E6B-7452-4422-A0D2-D4445438E23B}" type="slidenum">
              <a:rPr kumimoji="0" lang="en-US" altLang="en-US" sz="1400">
                <a:solidFill>
                  <a:schemeClr val="bg2"/>
                </a:solidFill>
                <a:latin typeface="Arial" panose="020B0604020202020204" pitchFamily="34" charset="0"/>
              </a:rPr>
              <a:pPr>
                <a:spcBef>
                  <a:spcPct val="50000"/>
                </a:spcBef>
                <a:buClrTx/>
                <a:buFontTx/>
                <a:buNone/>
              </a:pPr>
              <a:t>8</a:t>
            </a:fld>
            <a:endParaRPr kumimoji="0" lang="en-US" altLang="en-US" sz="1400">
              <a:solidFill>
                <a:schemeClr val="bg2"/>
              </a:solidFill>
              <a:latin typeface="Arial" panose="020B0604020202020204" pitchFamily="34" charset="0"/>
            </a:endParaRPr>
          </a:p>
        </p:txBody>
      </p:sp>
      <p:sp>
        <p:nvSpPr>
          <p:cNvPr id="11267" name="Rectangle 2">
            <a:extLst>
              <a:ext uri="{FF2B5EF4-FFF2-40B4-BE49-F238E27FC236}">
                <a16:creationId xmlns:a16="http://schemas.microsoft.com/office/drawing/2014/main" xmlns="" id="{1676CA18-0237-4032-810A-EC9E41D79C27}"/>
              </a:ext>
            </a:extLst>
          </p:cNvPr>
          <p:cNvSpPr>
            <a:spLocks noGrp="1" noChangeArrowheads="1"/>
          </p:cNvSpPr>
          <p:nvPr>
            <p:ph type="title"/>
          </p:nvPr>
        </p:nvSpPr>
        <p:spPr/>
        <p:txBody>
          <a:bodyPr/>
          <a:lstStyle/>
          <a:p>
            <a:r>
              <a:rPr lang="en-US" altLang="en-US"/>
              <a:t>Comparison of SK and PK</a:t>
            </a:r>
          </a:p>
        </p:txBody>
      </p:sp>
      <p:graphicFrame>
        <p:nvGraphicFramePr>
          <p:cNvPr id="11268" name="Object 3">
            <a:extLst>
              <a:ext uri="{FF2B5EF4-FFF2-40B4-BE49-F238E27FC236}">
                <a16:creationId xmlns:a16="http://schemas.microsoft.com/office/drawing/2014/main" xmlns="" id="{AF050C63-8CE8-42C0-B114-BE9D5BD4A99D}"/>
              </a:ext>
            </a:extLst>
          </p:cNvPr>
          <p:cNvGraphicFramePr>
            <a:graphicFrameLocks noGrp="1" noChangeAspect="1"/>
          </p:cNvGraphicFramePr>
          <p:nvPr>
            <p:ph type="tbl" idx="1"/>
          </p:nvPr>
        </p:nvGraphicFramePr>
        <p:xfrm>
          <a:off x="1985964" y="1524000"/>
          <a:ext cx="8656637" cy="5124450"/>
        </p:xfrm>
        <a:graphic>
          <a:graphicData uri="http://schemas.openxmlformats.org/presentationml/2006/ole">
            <mc:AlternateContent xmlns:mc="http://schemas.openxmlformats.org/markup-compatibility/2006">
              <mc:Choice xmlns:v="urn:schemas-microsoft-com:vml" Requires="v">
                <p:oleObj spid="_x0000_s1030" name="Document" r:id="rId3" imgW="8673084" imgH="5135880" progId="Word.Document.8">
                  <p:embed/>
                </p:oleObj>
              </mc:Choice>
              <mc:Fallback>
                <p:oleObj name="Document" r:id="rId3" imgW="8673084" imgH="5135880" progId="Word.Document.8">
                  <p:embed/>
                  <p:pic>
                    <p:nvPicPr>
                      <p:cNvPr id="11268" name="Object 3">
                        <a:extLst>
                          <a:ext uri="{FF2B5EF4-FFF2-40B4-BE49-F238E27FC236}">
                            <a16:creationId xmlns:a16="http://schemas.microsoft.com/office/drawing/2014/main" xmlns="" id="{AF050C63-8CE8-42C0-B114-BE9D5BD4A9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5964" y="1524000"/>
                        <a:ext cx="8656637" cy="5124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xmlns="" id="{DFAE007A-92A2-4A36-AB01-94CFA87357A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spcBef>
                <a:spcPct val="20000"/>
              </a:spcBef>
              <a:buClr>
                <a:srgbClr val="FF0000"/>
              </a:buClr>
              <a:buFont typeface="Monotype Sorts" pitchFamily="2" charset="2"/>
              <a:buChar char="z"/>
              <a:defRPr kumimoji="1" sz="3200">
                <a:solidFill>
                  <a:schemeClr val="tx1"/>
                </a:solidFill>
                <a:latin typeface="Tahoma" panose="020B0604030504040204" pitchFamily="34" charset="0"/>
              </a:defRPr>
            </a:lvl1pPr>
            <a:lvl2pPr marL="742950" indent="-285750">
              <a:spcBef>
                <a:spcPct val="20000"/>
              </a:spcBef>
              <a:buClr>
                <a:srgbClr val="FF0000"/>
              </a:buClr>
              <a:buFont typeface="Monotype Sorts" pitchFamily="2" charset="2"/>
              <a:buChar char="y"/>
              <a:defRPr kumimoji="1" sz="2800">
                <a:solidFill>
                  <a:schemeClr val="tx1"/>
                </a:solidFill>
                <a:latin typeface="Tahoma" panose="020B0604030504040204" pitchFamily="34" charset="0"/>
              </a:defRPr>
            </a:lvl2pPr>
            <a:lvl3pPr marL="1143000" indent="-228600">
              <a:spcBef>
                <a:spcPct val="20000"/>
              </a:spcBef>
              <a:buClr>
                <a:srgbClr val="FF0000"/>
              </a:buClr>
              <a:buFont typeface="Monotype Sorts" pitchFamily="2" charset="2"/>
              <a:buChar char="x"/>
              <a:defRPr kumimoji="1" sz="2400">
                <a:solidFill>
                  <a:schemeClr val="tx1"/>
                </a:solidFill>
                <a:latin typeface="Tahoma" panose="020B0604030504040204" pitchFamily="34" charset="0"/>
              </a:defRPr>
            </a:lvl3pPr>
            <a:lvl4pPr marL="1600200" indent="-228600">
              <a:spcBef>
                <a:spcPct val="20000"/>
              </a:spcBef>
              <a:buClr>
                <a:srgbClr val="FF0000"/>
              </a:buClr>
              <a:buChar char="•"/>
              <a:defRPr kumimoji="1" sz="2000">
                <a:solidFill>
                  <a:schemeClr val="tx1"/>
                </a:solidFill>
                <a:latin typeface="Tahoma" panose="020B0604030504040204" pitchFamily="34" charset="0"/>
              </a:defRPr>
            </a:lvl4pPr>
            <a:lvl5pPr marL="2057400" indent="-228600">
              <a:spcBef>
                <a:spcPct val="20000"/>
              </a:spcBef>
              <a:buClr>
                <a:schemeClr val="accent2"/>
              </a:buClr>
              <a:buChar char="–"/>
              <a:defRPr kumimoji="1"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9pPr>
          </a:lstStyle>
          <a:p>
            <a:pPr>
              <a:spcBef>
                <a:spcPct val="50000"/>
              </a:spcBef>
              <a:buClrTx/>
              <a:buFontTx/>
              <a:buNone/>
            </a:pPr>
            <a:fld id="{D5E42273-2809-419E-85EB-950869EC4B9D}" type="slidenum">
              <a:rPr kumimoji="0" lang="en-US" altLang="en-US" sz="1400">
                <a:solidFill>
                  <a:schemeClr val="bg2"/>
                </a:solidFill>
                <a:latin typeface="Arial" panose="020B0604020202020204" pitchFamily="34" charset="0"/>
              </a:rPr>
              <a:pPr>
                <a:spcBef>
                  <a:spcPct val="50000"/>
                </a:spcBef>
                <a:buClrTx/>
                <a:buFontTx/>
                <a:buNone/>
              </a:pPr>
              <a:t>9</a:t>
            </a:fld>
            <a:endParaRPr kumimoji="0" lang="en-US" altLang="en-US" sz="1400">
              <a:solidFill>
                <a:schemeClr val="bg2"/>
              </a:solidFill>
              <a:latin typeface="Arial" panose="020B0604020202020204" pitchFamily="34" charset="0"/>
            </a:endParaRPr>
          </a:p>
        </p:txBody>
      </p:sp>
      <p:sp>
        <p:nvSpPr>
          <p:cNvPr id="12291" name="Rectangle 6">
            <a:extLst>
              <a:ext uri="{FF2B5EF4-FFF2-40B4-BE49-F238E27FC236}">
                <a16:creationId xmlns:a16="http://schemas.microsoft.com/office/drawing/2014/main" xmlns="" id="{81BF3D81-9F39-4860-8DFA-563C246DCBDF}"/>
              </a:ext>
            </a:extLst>
          </p:cNvPr>
          <p:cNvSpPr>
            <a:spLocks noGrp="1" noChangeArrowheads="1"/>
          </p:cNvSpPr>
          <p:nvPr>
            <p:ph type="title"/>
          </p:nvPr>
        </p:nvSpPr>
        <p:spPr/>
        <p:txBody>
          <a:bodyPr/>
          <a:lstStyle/>
          <a:p>
            <a:r>
              <a:rPr lang="en-US" altLang="en-US"/>
              <a:t>Public Key Encryption Has Foundations in Mathematics</a:t>
            </a:r>
          </a:p>
        </p:txBody>
      </p:sp>
      <p:sp>
        <p:nvSpPr>
          <p:cNvPr id="12292" name="Rectangle 7">
            <a:extLst>
              <a:ext uri="{FF2B5EF4-FFF2-40B4-BE49-F238E27FC236}">
                <a16:creationId xmlns:a16="http://schemas.microsoft.com/office/drawing/2014/main" xmlns="" id="{F017955E-BC9F-4AA3-BA5A-C02237332E42}"/>
              </a:ext>
            </a:extLst>
          </p:cNvPr>
          <p:cNvSpPr>
            <a:spLocks noGrp="1" noChangeArrowheads="1"/>
          </p:cNvSpPr>
          <p:nvPr>
            <p:ph type="body" idx="1"/>
          </p:nvPr>
        </p:nvSpPr>
        <p:spPr/>
        <p:txBody>
          <a:bodyPr/>
          <a:lstStyle/>
          <a:p>
            <a:r>
              <a:rPr lang="en-US" altLang="en-US" sz="3100"/>
              <a:t>Public key crypto-systems were developed from some very subtle insights about the mathematics of large numbers and how they relate to the power of computers.</a:t>
            </a:r>
          </a:p>
          <a:p>
            <a:r>
              <a:rPr lang="en-US" altLang="en-US" sz="3100"/>
              <a:t>Public Key Encryption  works because of what is known in math as a trapdoor problem.</a:t>
            </a:r>
          </a:p>
          <a:p>
            <a:r>
              <a:rPr lang="en-US" altLang="en-US" sz="3100"/>
              <a:t>A trapdoor is a mathematical formula that is easy to work forward but very hard to work backward.</a:t>
            </a:r>
          </a:p>
        </p:txBody>
      </p:sp>
    </p:spTree>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a:extLst>
              <a:ext uri="{FF2B5EF4-FFF2-40B4-BE49-F238E27FC236}">
                <a16:creationId xmlns:a16="http://schemas.microsoft.com/office/drawing/2014/main" xmlns="" id="{297B7BBC-1F66-4E58-85AF-0581E37DBBF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spcBef>
                <a:spcPct val="20000"/>
              </a:spcBef>
              <a:buClr>
                <a:srgbClr val="FF0000"/>
              </a:buClr>
              <a:buFont typeface="Monotype Sorts" pitchFamily="2" charset="2"/>
              <a:buChar char="z"/>
              <a:defRPr kumimoji="1" sz="3200">
                <a:solidFill>
                  <a:schemeClr val="tx1"/>
                </a:solidFill>
                <a:latin typeface="Tahoma" panose="020B0604030504040204" pitchFamily="34" charset="0"/>
              </a:defRPr>
            </a:lvl1pPr>
            <a:lvl2pPr marL="742950" indent="-285750">
              <a:spcBef>
                <a:spcPct val="20000"/>
              </a:spcBef>
              <a:buClr>
                <a:srgbClr val="FF0000"/>
              </a:buClr>
              <a:buFont typeface="Monotype Sorts" pitchFamily="2" charset="2"/>
              <a:buChar char="y"/>
              <a:defRPr kumimoji="1" sz="2800">
                <a:solidFill>
                  <a:schemeClr val="tx1"/>
                </a:solidFill>
                <a:latin typeface="Tahoma" panose="020B0604030504040204" pitchFamily="34" charset="0"/>
              </a:defRPr>
            </a:lvl2pPr>
            <a:lvl3pPr marL="1143000" indent="-228600">
              <a:spcBef>
                <a:spcPct val="20000"/>
              </a:spcBef>
              <a:buClr>
                <a:srgbClr val="FF0000"/>
              </a:buClr>
              <a:buFont typeface="Monotype Sorts" pitchFamily="2" charset="2"/>
              <a:buChar char="x"/>
              <a:defRPr kumimoji="1" sz="2400">
                <a:solidFill>
                  <a:schemeClr val="tx1"/>
                </a:solidFill>
                <a:latin typeface="Tahoma" panose="020B0604030504040204" pitchFamily="34" charset="0"/>
              </a:defRPr>
            </a:lvl3pPr>
            <a:lvl4pPr marL="1600200" indent="-228600">
              <a:spcBef>
                <a:spcPct val="20000"/>
              </a:spcBef>
              <a:buClr>
                <a:srgbClr val="FF0000"/>
              </a:buClr>
              <a:buChar char="•"/>
              <a:defRPr kumimoji="1" sz="2000">
                <a:solidFill>
                  <a:schemeClr val="tx1"/>
                </a:solidFill>
                <a:latin typeface="Tahoma" panose="020B0604030504040204" pitchFamily="34" charset="0"/>
              </a:defRPr>
            </a:lvl4pPr>
            <a:lvl5pPr marL="2057400" indent="-228600">
              <a:spcBef>
                <a:spcPct val="20000"/>
              </a:spcBef>
              <a:buClr>
                <a:schemeClr val="accent2"/>
              </a:buClr>
              <a:buChar char="–"/>
              <a:defRPr kumimoji="1"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9pPr>
          </a:lstStyle>
          <a:p>
            <a:pPr>
              <a:spcBef>
                <a:spcPct val="50000"/>
              </a:spcBef>
              <a:buClrTx/>
              <a:buFontTx/>
              <a:buNone/>
            </a:pPr>
            <a:fld id="{90405E26-7D84-498B-AB3B-F433A6B020D2}" type="slidenum">
              <a:rPr kumimoji="0" lang="en-US" altLang="en-US" sz="1400">
                <a:solidFill>
                  <a:schemeClr val="bg2"/>
                </a:solidFill>
                <a:latin typeface="Arial" panose="020B0604020202020204" pitchFamily="34" charset="0"/>
              </a:rPr>
              <a:pPr>
                <a:spcBef>
                  <a:spcPct val="50000"/>
                </a:spcBef>
                <a:buClrTx/>
                <a:buFontTx/>
                <a:buNone/>
              </a:pPr>
              <a:t>10</a:t>
            </a:fld>
            <a:endParaRPr kumimoji="0" lang="en-US" altLang="en-US" sz="1400">
              <a:solidFill>
                <a:schemeClr val="bg2"/>
              </a:solidFill>
              <a:latin typeface="Arial" panose="020B0604020202020204" pitchFamily="34" charset="0"/>
            </a:endParaRPr>
          </a:p>
        </p:txBody>
      </p:sp>
      <p:sp>
        <p:nvSpPr>
          <p:cNvPr id="13315" name="Rectangle 4">
            <a:extLst>
              <a:ext uri="{FF2B5EF4-FFF2-40B4-BE49-F238E27FC236}">
                <a16:creationId xmlns:a16="http://schemas.microsoft.com/office/drawing/2014/main" xmlns="" id="{8936A729-9EE7-4ED7-BE2C-4786A445AA85}"/>
              </a:ext>
            </a:extLst>
          </p:cNvPr>
          <p:cNvSpPr>
            <a:spLocks noGrp="1" noChangeArrowheads="1"/>
          </p:cNvSpPr>
          <p:nvPr>
            <p:ph type="title"/>
          </p:nvPr>
        </p:nvSpPr>
        <p:spPr/>
        <p:txBody>
          <a:bodyPr/>
          <a:lstStyle/>
          <a:p>
            <a:r>
              <a:rPr lang="en-US" altLang="en-US"/>
              <a:t>Multiplication/Factorization Trapdoor Function</a:t>
            </a:r>
          </a:p>
        </p:txBody>
      </p:sp>
      <p:sp>
        <p:nvSpPr>
          <p:cNvPr id="13316" name="Rectangle 5">
            <a:extLst>
              <a:ext uri="{FF2B5EF4-FFF2-40B4-BE49-F238E27FC236}">
                <a16:creationId xmlns:a16="http://schemas.microsoft.com/office/drawing/2014/main" xmlns="" id="{FB979D9D-32FE-40D2-BEA1-809CD39A4F34}"/>
              </a:ext>
            </a:extLst>
          </p:cNvPr>
          <p:cNvSpPr>
            <a:spLocks noGrp="1" noChangeArrowheads="1"/>
          </p:cNvSpPr>
          <p:nvPr>
            <p:ph type="body" idx="1"/>
          </p:nvPr>
        </p:nvSpPr>
        <p:spPr/>
        <p:txBody>
          <a:bodyPr/>
          <a:lstStyle/>
          <a:p>
            <a:r>
              <a:rPr lang="en-US" altLang="en-US" sz="2800"/>
              <a:t>Public key algorithms depend on a person publishing a large public key and others being unable to factor this public key into its component parts. </a:t>
            </a:r>
          </a:p>
          <a:p>
            <a:r>
              <a:rPr lang="en-US" altLang="en-US" sz="2800"/>
              <a:t>Because the creator of the key knows the factors of his or her large number, he or she can use those factors to decode messages created by others using his or her public key. </a:t>
            </a:r>
          </a:p>
          <a:p>
            <a:r>
              <a:rPr lang="en-US" altLang="en-US" sz="2800"/>
              <a:t>Those who only know the public key will be unable to discover the private key, because of the difficulty of factoring the large number.</a:t>
            </a:r>
          </a:p>
        </p:txBody>
      </p:sp>
    </p:spTree>
  </p:cSld>
  <p:clrMapOvr>
    <a:masterClrMapping/>
  </p:clrMapOvr>
  <p:transition spd="slow"/>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xmlns="" id="{4354A1A6-FAA5-4C0E-8FA3-B2800E883D3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spcBef>
                <a:spcPct val="20000"/>
              </a:spcBef>
              <a:buClr>
                <a:srgbClr val="FF0000"/>
              </a:buClr>
              <a:buFont typeface="Monotype Sorts" pitchFamily="2" charset="2"/>
              <a:buChar char="z"/>
              <a:defRPr kumimoji="1" sz="3200">
                <a:solidFill>
                  <a:schemeClr val="tx1"/>
                </a:solidFill>
                <a:latin typeface="Tahoma" panose="020B0604030504040204" pitchFamily="34" charset="0"/>
              </a:defRPr>
            </a:lvl1pPr>
            <a:lvl2pPr marL="742950" indent="-285750">
              <a:spcBef>
                <a:spcPct val="20000"/>
              </a:spcBef>
              <a:buClr>
                <a:srgbClr val="FF0000"/>
              </a:buClr>
              <a:buFont typeface="Monotype Sorts" pitchFamily="2" charset="2"/>
              <a:buChar char="y"/>
              <a:defRPr kumimoji="1" sz="2800">
                <a:solidFill>
                  <a:schemeClr val="tx1"/>
                </a:solidFill>
                <a:latin typeface="Tahoma" panose="020B0604030504040204" pitchFamily="34" charset="0"/>
              </a:defRPr>
            </a:lvl2pPr>
            <a:lvl3pPr marL="1143000" indent="-228600">
              <a:spcBef>
                <a:spcPct val="20000"/>
              </a:spcBef>
              <a:buClr>
                <a:srgbClr val="FF0000"/>
              </a:buClr>
              <a:buFont typeface="Monotype Sorts" pitchFamily="2" charset="2"/>
              <a:buChar char="x"/>
              <a:defRPr kumimoji="1" sz="2400">
                <a:solidFill>
                  <a:schemeClr val="tx1"/>
                </a:solidFill>
                <a:latin typeface="Tahoma" panose="020B0604030504040204" pitchFamily="34" charset="0"/>
              </a:defRPr>
            </a:lvl3pPr>
            <a:lvl4pPr marL="1600200" indent="-228600">
              <a:spcBef>
                <a:spcPct val="20000"/>
              </a:spcBef>
              <a:buClr>
                <a:srgbClr val="FF0000"/>
              </a:buClr>
              <a:buChar char="•"/>
              <a:defRPr kumimoji="1" sz="2000">
                <a:solidFill>
                  <a:schemeClr val="tx1"/>
                </a:solidFill>
                <a:latin typeface="Tahoma" panose="020B0604030504040204" pitchFamily="34" charset="0"/>
              </a:defRPr>
            </a:lvl4pPr>
            <a:lvl5pPr marL="2057400" indent="-228600">
              <a:spcBef>
                <a:spcPct val="20000"/>
              </a:spcBef>
              <a:buClr>
                <a:schemeClr val="accent2"/>
              </a:buClr>
              <a:buChar char="–"/>
              <a:defRPr kumimoji="1"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9pPr>
          </a:lstStyle>
          <a:p>
            <a:pPr>
              <a:spcBef>
                <a:spcPct val="50000"/>
              </a:spcBef>
              <a:buClrTx/>
              <a:buFontTx/>
              <a:buNone/>
            </a:pPr>
            <a:fld id="{1BF0784E-7C77-41A5-ABCC-0E07E40850F7}" type="slidenum">
              <a:rPr kumimoji="0" lang="en-US" altLang="en-US" sz="1400">
                <a:solidFill>
                  <a:schemeClr val="bg2"/>
                </a:solidFill>
                <a:latin typeface="Arial" panose="020B0604020202020204" pitchFamily="34" charset="0"/>
              </a:rPr>
              <a:pPr>
                <a:spcBef>
                  <a:spcPct val="50000"/>
                </a:spcBef>
                <a:buClrTx/>
                <a:buFontTx/>
                <a:buNone/>
              </a:pPr>
              <a:t>11</a:t>
            </a:fld>
            <a:endParaRPr kumimoji="0" lang="en-US" altLang="en-US" sz="1400">
              <a:solidFill>
                <a:schemeClr val="bg2"/>
              </a:solidFill>
              <a:latin typeface="Arial" panose="020B0604020202020204" pitchFamily="34" charset="0"/>
            </a:endParaRPr>
          </a:p>
        </p:txBody>
      </p:sp>
      <p:sp>
        <p:nvSpPr>
          <p:cNvPr id="14339" name="Rectangle 4">
            <a:extLst>
              <a:ext uri="{FF2B5EF4-FFF2-40B4-BE49-F238E27FC236}">
                <a16:creationId xmlns:a16="http://schemas.microsoft.com/office/drawing/2014/main" xmlns="" id="{975A6A8C-A001-4B2B-9453-C65DC53E6895}"/>
              </a:ext>
            </a:extLst>
          </p:cNvPr>
          <p:cNvSpPr>
            <a:spLocks noGrp="1" noChangeArrowheads="1"/>
          </p:cNvSpPr>
          <p:nvPr>
            <p:ph type="title"/>
          </p:nvPr>
        </p:nvSpPr>
        <p:spPr/>
        <p:txBody>
          <a:bodyPr/>
          <a:lstStyle/>
          <a:p>
            <a:r>
              <a:rPr lang="en-US" altLang="en-US"/>
              <a:t>Inventors of PK Cryptography</a:t>
            </a:r>
          </a:p>
        </p:txBody>
      </p:sp>
      <p:sp>
        <p:nvSpPr>
          <p:cNvPr id="14340" name="Rectangle 5">
            <a:extLst>
              <a:ext uri="{FF2B5EF4-FFF2-40B4-BE49-F238E27FC236}">
                <a16:creationId xmlns:a16="http://schemas.microsoft.com/office/drawing/2014/main" xmlns="" id="{A457DDED-F91A-4D5D-B307-42AF020D271D}"/>
              </a:ext>
            </a:extLst>
          </p:cNvPr>
          <p:cNvSpPr>
            <a:spLocks noGrp="1" noChangeArrowheads="1"/>
          </p:cNvSpPr>
          <p:nvPr>
            <p:ph type="body" idx="1"/>
          </p:nvPr>
        </p:nvSpPr>
        <p:spPr/>
        <p:txBody>
          <a:bodyPr/>
          <a:lstStyle/>
          <a:p>
            <a:pPr>
              <a:lnSpc>
                <a:spcPct val="90000"/>
              </a:lnSpc>
            </a:pPr>
            <a:r>
              <a:rPr lang="en-US" altLang="en-US" sz="2800"/>
              <a:t>Public Key Cryptosystem idea was invented independently by Whitfield Diffie and Martin Hellman, who presented their concept in 1976, and Ralph Merkle.</a:t>
            </a:r>
          </a:p>
          <a:p>
            <a:pPr>
              <a:lnSpc>
                <a:spcPct val="90000"/>
              </a:lnSpc>
            </a:pPr>
            <a:r>
              <a:rPr lang="en-US" altLang="en-US" sz="2800"/>
              <a:t>The first public-key algorithm was the Diffie-Hellman</a:t>
            </a:r>
            <a:r>
              <a:rPr lang="en-US" altLang="en-US" sz="2800">
                <a:hlinkClick r:id="rId2"/>
              </a:rPr>
              <a:t> </a:t>
            </a:r>
            <a:r>
              <a:rPr lang="en-US" altLang="en-US" sz="2800"/>
              <a:t>key exchange algorithm.</a:t>
            </a:r>
          </a:p>
          <a:p>
            <a:pPr>
              <a:lnSpc>
                <a:spcPct val="90000"/>
              </a:lnSpc>
            </a:pPr>
            <a:r>
              <a:rPr lang="en-US" altLang="en-US" sz="2800"/>
              <a:t>The first system which could do encryption/decryption as well as signatures was RSA.</a:t>
            </a:r>
          </a:p>
        </p:txBody>
      </p:sp>
    </p:spTree>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a:extLst>
              <a:ext uri="{FF2B5EF4-FFF2-40B4-BE49-F238E27FC236}">
                <a16:creationId xmlns:a16="http://schemas.microsoft.com/office/drawing/2014/main" xmlns="" id="{1B6D5764-F174-4495-8E77-5B0A5DFFF1E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spcBef>
                <a:spcPct val="20000"/>
              </a:spcBef>
              <a:buClr>
                <a:srgbClr val="FF0000"/>
              </a:buClr>
              <a:buFont typeface="Monotype Sorts" pitchFamily="2" charset="2"/>
              <a:buChar char="z"/>
              <a:defRPr kumimoji="1" sz="3200">
                <a:solidFill>
                  <a:schemeClr val="tx1"/>
                </a:solidFill>
                <a:latin typeface="Tahoma" panose="020B0604030504040204" pitchFamily="34" charset="0"/>
              </a:defRPr>
            </a:lvl1pPr>
            <a:lvl2pPr marL="742950" indent="-285750">
              <a:spcBef>
                <a:spcPct val="20000"/>
              </a:spcBef>
              <a:buClr>
                <a:srgbClr val="FF0000"/>
              </a:buClr>
              <a:buFont typeface="Monotype Sorts" pitchFamily="2" charset="2"/>
              <a:buChar char="y"/>
              <a:defRPr kumimoji="1" sz="2800">
                <a:solidFill>
                  <a:schemeClr val="tx1"/>
                </a:solidFill>
                <a:latin typeface="Tahoma" panose="020B0604030504040204" pitchFamily="34" charset="0"/>
              </a:defRPr>
            </a:lvl2pPr>
            <a:lvl3pPr marL="1143000" indent="-228600">
              <a:spcBef>
                <a:spcPct val="20000"/>
              </a:spcBef>
              <a:buClr>
                <a:srgbClr val="FF0000"/>
              </a:buClr>
              <a:buFont typeface="Monotype Sorts" pitchFamily="2" charset="2"/>
              <a:buChar char="x"/>
              <a:defRPr kumimoji="1" sz="2400">
                <a:solidFill>
                  <a:schemeClr val="tx1"/>
                </a:solidFill>
                <a:latin typeface="Tahoma" panose="020B0604030504040204" pitchFamily="34" charset="0"/>
              </a:defRPr>
            </a:lvl3pPr>
            <a:lvl4pPr marL="1600200" indent="-228600">
              <a:spcBef>
                <a:spcPct val="20000"/>
              </a:spcBef>
              <a:buClr>
                <a:srgbClr val="FF0000"/>
              </a:buClr>
              <a:buChar char="•"/>
              <a:defRPr kumimoji="1" sz="2000">
                <a:solidFill>
                  <a:schemeClr val="tx1"/>
                </a:solidFill>
                <a:latin typeface="Tahoma" panose="020B0604030504040204" pitchFamily="34" charset="0"/>
              </a:defRPr>
            </a:lvl4pPr>
            <a:lvl5pPr marL="2057400" indent="-228600">
              <a:spcBef>
                <a:spcPct val="20000"/>
              </a:spcBef>
              <a:buClr>
                <a:schemeClr val="accent2"/>
              </a:buClr>
              <a:buChar char="–"/>
              <a:defRPr kumimoji="1"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9pPr>
          </a:lstStyle>
          <a:p>
            <a:pPr>
              <a:spcBef>
                <a:spcPct val="50000"/>
              </a:spcBef>
              <a:buClrTx/>
              <a:buFontTx/>
              <a:buNone/>
            </a:pPr>
            <a:fld id="{A3244C1D-490E-4A05-92DC-E4F46396DF13}" type="slidenum">
              <a:rPr kumimoji="0" lang="en-US" altLang="en-US" sz="1400">
                <a:solidFill>
                  <a:schemeClr val="bg2"/>
                </a:solidFill>
                <a:latin typeface="Arial" panose="020B0604020202020204" pitchFamily="34" charset="0"/>
              </a:rPr>
              <a:pPr>
                <a:spcBef>
                  <a:spcPct val="50000"/>
                </a:spcBef>
                <a:buClrTx/>
                <a:buFontTx/>
                <a:buNone/>
              </a:pPr>
              <a:t>12</a:t>
            </a:fld>
            <a:endParaRPr kumimoji="0" lang="en-US" altLang="en-US" sz="1400">
              <a:solidFill>
                <a:schemeClr val="bg2"/>
              </a:solidFill>
              <a:latin typeface="Arial" panose="020B0604020202020204" pitchFamily="34" charset="0"/>
            </a:endParaRPr>
          </a:p>
        </p:txBody>
      </p:sp>
      <p:sp>
        <p:nvSpPr>
          <p:cNvPr id="15363" name="Rectangle 2">
            <a:extLst>
              <a:ext uri="{FF2B5EF4-FFF2-40B4-BE49-F238E27FC236}">
                <a16:creationId xmlns:a16="http://schemas.microsoft.com/office/drawing/2014/main" xmlns="" id="{8795DC0A-DC52-4063-8844-EEDF4E0E98FC}"/>
              </a:ext>
            </a:extLst>
          </p:cNvPr>
          <p:cNvSpPr>
            <a:spLocks noGrp="1" noChangeArrowheads="1"/>
          </p:cNvSpPr>
          <p:nvPr>
            <p:ph type="title"/>
          </p:nvPr>
        </p:nvSpPr>
        <p:spPr/>
        <p:txBody>
          <a:bodyPr/>
          <a:lstStyle/>
          <a:p>
            <a:r>
              <a:rPr lang="en-US" altLang="en-US">
                <a:solidFill>
                  <a:schemeClr val="tx1"/>
                </a:solidFill>
              </a:rPr>
              <a:t>Application of Public-Key Ciphers</a:t>
            </a:r>
          </a:p>
        </p:txBody>
      </p:sp>
      <p:sp>
        <p:nvSpPr>
          <p:cNvPr id="15364" name="Rectangle 3">
            <a:extLst>
              <a:ext uri="{FF2B5EF4-FFF2-40B4-BE49-F238E27FC236}">
                <a16:creationId xmlns:a16="http://schemas.microsoft.com/office/drawing/2014/main" xmlns="" id="{9B71A694-6187-4E71-B904-1B4A33445669}"/>
              </a:ext>
            </a:extLst>
          </p:cNvPr>
          <p:cNvSpPr>
            <a:spLocks noGrp="1" noChangeArrowheads="1"/>
          </p:cNvSpPr>
          <p:nvPr>
            <p:ph type="body" idx="1"/>
          </p:nvPr>
        </p:nvSpPr>
        <p:spPr>
          <a:xfrm>
            <a:off x="1752600" y="1447800"/>
            <a:ext cx="8610600" cy="4648200"/>
          </a:xfrm>
        </p:spPr>
        <p:txBody>
          <a:bodyPr/>
          <a:lstStyle/>
          <a:p>
            <a:pPr>
              <a:lnSpc>
                <a:spcPct val="90000"/>
              </a:lnSpc>
              <a:buFont typeface="Symbol" panose="05050102010706020507" pitchFamily="18" charset="2"/>
              <a:buChar char="·"/>
            </a:pPr>
            <a:r>
              <a:rPr lang="en-US" altLang="en-US" sz="2400"/>
              <a:t>Three important uses of public-key algorithms: </a:t>
            </a:r>
          </a:p>
          <a:p>
            <a:pPr lvl="1">
              <a:lnSpc>
                <a:spcPct val="90000"/>
              </a:lnSpc>
              <a:buFont typeface="Symbol" panose="05050102010706020507" pitchFamily="18" charset="2"/>
              <a:buChar char="·"/>
            </a:pPr>
            <a:r>
              <a:rPr lang="en-US" altLang="en-US" sz="2400" b="1"/>
              <a:t>Public-Key Distribution Schemes</a:t>
            </a:r>
            <a:r>
              <a:rPr lang="en-US" altLang="en-US" sz="2400"/>
              <a:t> (PKDS) - where the scheme is used to securely exchange a single piece of information </a:t>
            </a:r>
          </a:p>
          <a:p>
            <a:pPr lvl="1">
              <a:lnSpc>
                <a:spcPct val="90000"/>
              </a:lnSpc>
              <a:buFont typeface="Symbol" panose="05050102010706020507" pitchFamily="18" charset="2"/>
              <a:buChar char="·"/>
            </a:pPr>
            <a:r>
              <a:rPr lang="en-US" altLang="en-US" sz="2400"/>
              <a:t>This value is normally used as a session key for a private-key scheme </a:t>
            </a:r>
          </a:p>
          <a:p>
            <a:pPr lvl="1">
              <a:lnSpc>
                <a:spcPct val="90000"/>
              </a:lnSpc>
              <a:buFont typeface="Symbol" panose="05050102010706020507" pitchFamily="18" charset="2"/>
              <a:buChar char="·"/>
            </a:pPr>
            <a:r>
              <a:rPr lang="en-US" altLang="en-US" sz="2400" b="1"/>
              <a:t>Signature Schemes</a:t>
            </a:r>
            <a:r>
              <a:rPr lang="en-US" altLang="en-US" sz="2400"/>
              <a:t> - used to create a digital signature only, where the private-key signs (create) signatures, and the public-key verifies signatures </a:t>
            </a:r>
          </a:p>
          <a:p>
            <a:pPr lvl="1">
              <a:lnSpc>
                <a:spcPct val="90000"/>
              </a:lnSpc>
              <a:buFont typeface="Symbol" panose="05050102010706020507" pitchFamily="18" charset="2"/>
              <a:buChar char="·"/>
            </a:pPr>
            <a:r>
              <a:rPr lang="en-US" altLang="en-US" sz="2400" b="1"/>
              <a:t>Public Key Schemes (PKS)</a:t>
            </a:r>
            <a:r>
              <a:rPr lang="en-US" altLang="en-US" sz="2400"/>
              <a:t> - used for encryption, where the public-key encrypts messages, and the private-key decrypts messages. </a:t>
            </a:r>
          </a:p>
        </p:txBody>
      </p:sp>
    </p:spTree>
  </p:cSld>
  <p:clrMapOvr>
    <a:masterClrMapping/>
  </p:clrMapOvr>
  <p:transition spd="slow"/>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7" name="Rectangle 136">
            <a:extLst>
              <a:ext uri="{FF2B5EF4-FFF2-40B4-BE49-F238E27FC236}">
                <a16:creationId xmlns:a16="http://schemas.microsoft.com/office/drawing/2014/main" xmlns="" id="{A8384FB5-9ADC-4DDC-881B-597D56F5B15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xmlns="" id="{91E5A9A7-95C6-4F4F-B00E-C82E07FE62E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1" name="Rectangle 140">
            <a:extLst>
              <a:ext uri="{FF2B5EF4-FFF2-40B4-BE49-F238E27FC236}">
                <a16:creationId xmlns:a16="http://schemas.microsoft.com/office/drawing/2014/main" xmlns="" id="{D07DD2DE-F619-49DD-B5E7-03A290FF4ED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xmlns="" id="{85149191-5F60-4A28-AAFF-039F96B0F3E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5" name="Freeform: Shape 144">
            <a:extLst>
              <a:ext uri="{FF2B5EF4-FFF2-40B4-BE49-F238E27FC236}">
                <a16:creationId xmlns:a16="http://schemas.microsoft.com/office/drawing/2014/main" xmlns="" id="{F8260ED5-17F7-4158-B241-D51DD4CF1B7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xmlns="" id="{83733A27-E8E4-40AE-A1F3-39531DD25D2B}"/>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a:solidFill>
                  <a:srgbClr val="FFFFFF"/>
                </a:solidFill>
                <a:latin typeface="+mj-lt"/>
                <a:ea typeface="+mj-ea"/>
                <a:cs typeface="+mj-cs"/>
              </a:rPr>
              <a:t>Diffie Hellman Key Exchange Algorithm</a:t>
            </a:r>
          </a:p>
        </p:txBody>
      </p:sp>
      <p:pic>
        <p:nvPicPr>
          <p:cNvPr id="1028" name="Picture 4" descr="Diffie Hellman Key Exchange – techguru">
            <a:extLst>
              <a:ext uri="{FF2B5EF4-FFF2-40B4-BE49-F238E27FC236}">
                <a16:creationId xmlns:a16="http://schemas.microsoft.com/office/drawing/2014/main" xmlns="" id="{4D1615EC-8C96-4437-876A-CCCB40222A7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444" r="2879" b="-1"/>
          <a:stretch/>
        </p:blipFill>
        <p:spPr bwMode="auto">
          <a:xfrm>
            <a:off x="5079849" y="467208"/>
            <a:ext cx="6070905" cy="5923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73510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xmlns="" id="{F3060C83-F051-4F0E-ABAD-AA0DFC48B2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xmlns="" id="{83C98ABE-055B-441F-B07E-44F97F083C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xmlns="" id="{29FDB030-9B49-4CED-8CCD-4D99382388A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xmlns="" id="{3783CA14-24A1-485C-8B30-D6A5D87987A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xmlns="" id="{9A97C86A-04D6-40F7-AE84-31AB43E6A8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Isosceles Triangle 25">
            <a:extLst>
              <a:ext uri="{FF2B5EF4-FFF2-40B4-BE49-F238E27FC236}">
                <a16:creationId xmlns:a16="http://schemas.microsoft.com/office/drawing/2014/main" xmlns="" id="{FF9F2414-84E8-453E-B1F3-389FDE8192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Graphical user interface, text, application&#10;&#10;Description automatically generated">
            <a:extLst>
              <a:ext uri="{FF2B5EF4-FFF2-40B4-BE49-F238E27FC236}">
                <a16:creationId xmlns:a16="http://schemas.microsoft.com/office/drawing/2014/main" xmlns="" id="{7010EF0E-0B26-4064-ADD0-8EB8614C0565}"/>
              </a:ext>
            </a:extLst>
          </p:cNvPr>
          <p:cNvPicPr>
            <a:picLocks noChangeAspect="1"/>
          </p:cNvPicPr>
          <p:nvPr/>
        </p:nvPicPr>
        <p:blipFill>
          <a:blip r:embed="rId2"/>
          <a:stretch>
            <a:fillRect/>
          </a:stretch>
        </p:blipFill>
        <p:spPr>
          <a:xfrm>
            <a:off x="815370" y="643467"/>
            <a:ext cx="10561260" cy="5571066"/>
          </a:xfrm>
          <a:prstGeom prst="rect">
            <a:avLst/>
          </a:prstGeom>
          <a:ln>
            <a:noFill/>
          </a:ln>
        </p:spPr>
      </p:pic>
      <p:sp>
        <p:nvSpPr>
          <p:cNvPr id="28" name="Isosceles Triangle 27">
            <a:extLst>
              <a:ext uri="{FF2B5EF4-FFF2-40B4-BE49-F238E27FC236}">
                <a16:creationId xmlns:a16="http://schemas.microsoft.com/office/drawing/2014/main" xmlns="" id="{3ECA69A1-7536-43AC-85EF-C7106179F5E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860107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xmlns="" id="{F3060C83-F051-4F0E-ABAD-AA0DFC48B2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xmlns="" id="{83C98ABE-055B-441F-B07E-44F97F083C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xmlns="" id="{29FDB030-9B49-4CED-8CCD-4D99382388A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3783CA14-24A1-485C-8B30-D6A5D87987A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xmlns="" id="{9A97C86A-04D6-40F7-AE84-31AB43E6A8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xmlns="" id="{FF9F2414-84E8-453E-B1F3-389FDE8192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xmlns="" id="{465293F8-C017-4376-8A96-D0D2EB61EFEE}"/>
              </a:ext>
            </a:extLst>
          </p:cNvPr>
          <p:cNvPicPr>
            <a:picLocks noChangeAspect="1"/>
          </p:cNvPicPr>
          <p:nvPr/>
        </p:nvPicPr>
        <p:blipFill rotWithShape="1">
          <a:blip r:embed="rId2"/>
          <a:srcRect t="1113" r="-1" b="1488"/>
          <a:stretch/>
        </p:blipFill>
        <p:spPr>
          <a:xfrm>
            <a:off x="919623" y="643467"/>
            <a:ext cx="10352754" cy="5571065"/>
          </a:xfrm>
          <a:prstGeom prst="rect">
            <a:avLst/>
          </a:prstGeom>
          <a:ln>
            <a:noFill/>
          </a:ln>
        </p:spPr>
      </p:pic>
      <p:sp>
        <p:nvSpPr>
          <p:cNvPr id="22" name="Isosceles Triangle 21">
            <a:extLst>
              <a:ext uri="{FF2B5EF4-FFF2-40B4-BE49-F238E27FC236}">
                <a16:creationId xmlns:a16="http://schemas.microsoft.com/office/drawing/2014/main" xmlns="" id="{3ECA69A1-7536-43AC-85EF-C7106179F5E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856442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DD6B95F-93C6-4198-8559-8BB4885BCD5E}"/>
              </a:ext>
            </a:extLst>
          </p:cNvPr>
          <p:cNvSpPr>
            <a:spLocks noGrp="1"/>
          </p:cNvSpPr>
          <p:nvPr>
            <p:ph type="title"/>
          </p:nvPr>
        </p:nvSpPr>
        <p:spPr>
          <a:xfrm>
            <a:off x="5080934" y="1686812"/>
            <a:ext cx="6586491" cy="1286160"/>
          </a:xfrm>
        </p:spPr>
        <p:txBody>
          <a:bodyPr vert="horz" lIns="91440" tIns="45720" rIns="91440" bIns="45720" rtlCol="0" anchor="b">
            <a:noAutofit/>
          </a:bodyPr>
          <a:lstStyle/>
          <a:p>
            <a:r>
              <a:rPr lang="en-US" sz="4000" b="1" dirty="0"/>
              <a:t>Diffie–Hellman Key Exchange</a:t>
            </a:r>
            <a:br>
              <a:rPr lang="en-US" sz="4000" b="1" dirty="0"/>
            </a:br>
            <a:r>
              <a:rPr lang="en-US" sz="4000" b="1" dirty="0"/>
              <a:t/>
            </a:r>
            <a:br>
              <a:rPr lang="en-US" sz="4000" b="1" dirty="0"/>
            </a:br>
            <a:r>
              <a:rPr lang="en-US" sz="4000" b="1" dirty="0"/>
              <a:t/>
            </a:r>
            <a:br>
              <a:rPr lang="en-US" sz="4000" b="1" dirty="0"/>
            </a:br>
            <a:endParaRPr lang="en-US" sz="4000" b="1" dirty="0"/>
          </a:p>
        </p:txBody>
      </p:sp>
      <p:sp>
        <p:nvSpPr>
          <p:cNvPr id="5" name="Rectangle 4">
            <a:extLst>
              <a:ext uri="{FF2B5EF4-FFF2-40B4-BE49-F238E27FC236}">
                <a16:creationId xmlns:a16="http://schemas.microsoft.com/office/drawing/2014/main" xmlns="" id="{851D64FE-71AF-4954-A0F4-8237A201F3C2}"/>
              </a:ext>
            </a:extLst>
          </p:cNvPr>
          <p:cNvSpPr/>
          <p:nvPr/>
        </p:nvSpPr>
        <p:spPr>
          <a:xfrm>
            <a:off x="4984521" y="2115117"/>
            <a:ext cx="6405774" cy="3785419"/>
          </a:xfrm>
          <a:prstGeom prst="rect">
            <a:avLst/>
          </a:prstGeom>
        </p:spPr>
        <p:txBody>
          <a:bodyPr vert="horz" lIns="91440" tIns="45720" rIns="91440" bIns="45720" rtlCol="0">
            <a:normAutofit/>
          </a:bodyPr>
          <a:lstStyle/>
          <a:p>
            <a:pPr marL="457200" indent="-457200">
              <a:lnSpc>
                <a:spcPct val="90000"/>
              </a:lnSpc>
              <a:spcAft>
                <a:spcPts val="600"/>
              </a:spcAft>
              <a:buFont typeface="Arial" panose="020B0604020202020204" pitchFamily="34" charset="0"/>
              <a:buChar char="•"/>
            </a:pPr>
            <a:r>
              <a:rPr lang="en-US" sz="2800" dirty="0"/>
              <a:t>The purpose of the algorithm is to enable  two users to securely exchange a key that can then be used for subsequent symmetric encryption of messages. </a:t>
            </a:r>
          </a:p>
          <a:p>
            <a:pPr marL="457200" indent="-457200">
              <a:lnSpc>
                <a:spcPct val="90000"/>
              </a:lnSpc>
              <a:spcAft>
                <a:spcPts val="600"/>
              </a:spcAft>
              <a:buFont typeface="Arial" panose="020B0604020202020204" pitchFamily="34" charset="0"/>
              <a:buChar char="•"/>
            </a:pPr>
            <a:r>
              <a:rPr lang="en-US" sz="2800" dirty="0"/>
              <a:t>The algorithm itself is limited to the exchange of secret values.</a:t>
            </a:r>
          </a:p>
        </p:txBody>
      </p:sp>
      <p:pic>
        <p:nvPicPr>
          <p:cNvPr id="7" name="Picture 6">
            <a:extLst>
              <a:ext uri="{FF2B5EF4-FFF2-40B4-BE49-F238E27FC236}">
                <a16:creationId xmlns:a16="http://schemas.microsoft.com/office/drawing/2014/main" xmlns="" id="{C5E9C059-416E-4FEE-9848-EA6512891B91}"/>
              </a:ext>
            </a:extLst>
          </p:cNvPr>
          <p:cNvPicPr>
            <a:picLocks noChangeAspect="1"/>
          </p:cNvPicPr>
          <p:nvPr/>
        </p:nvPicPr>
        <p:blipFill rotWithShape="1">
          <a:blip r:embed="rId2"/>
          <a:srcRect l="24292" r="30927" b="-1"/>
          <a:stretch/>
        </p:blipFill>
        <p:spPr>
          <a:xfrm>
            <a:off x="20" y="10"/>
            <a:ext cx="4635571" cy="6857990"/>
          </a:xfrm>
          <a:prstGeom prst="rect">
            <a:avLst/>
          </a:prstGeom>
          <a:effectLst/>
        </p:spPr>
      </p:pic>
      <p:cxnSp>
        <p:nvCxnSpPr>
          <p:cNvPr id="18" name="Straight Connector 15">
            <a:extLst>
              <a:ext uri="{FF2B5EF4-FFF2-40B4-BE49-F238E27FC236}">
                <a16:creationId xmlns:a16="http://schemas.microsoft.com/office/drawing/2014/main" xmlns="" id="{A7F400EE-A8A5-48AF-B4D6-291B52C6F0B0}"/>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5080934" y="2115117"/>
            <a:ext cx="63093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52405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A8384FB5-9ADC-4DDC-881B-597D56F5B15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91E5A9A7-95C6-4F4F-B00E-C82E07FE62E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xmlns="" id="{D07DD2DE-F619-49DD-B5E7-03A290FF4ED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85149191-5F60-4A28-AAFF-039F96B0F3E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xmlns="" id="{F8260ED5-17F7-4158-B241-D51DD4CF1B7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xmlns="" id="{6B03AC2E-8F1C-4FEC-B4EC-544526DDBD08}"/>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b="1" kern="1200" dirty="0">
                <a:solidFill>
                  <a:srgbClr val="FFFFFF"/>
                </a:solidFill>
                <a:latin typeface="+mj-lt"/>
                <a:ea typeface="+mj-ea"/>
                <a:cs typeface="+mj-cs"/>
              </a:rPr>
              <a:t>Diffie–Hellman Key Exchange Illustration</a:t>
            </a:r>
            <a:endParaRPr lang="en-US" sz="4000" kern="1200" dirty="0">
              <a:solidFill>
                <a:srgbClr val="FFFFFF"/>
              </a:solidFill>
              <a:latin typeface="+mj-lt"/>
              <a:ea typeface="+mj-ea"/>
              <a:cs typeface="+mj-cs"/>
            </a:endParaRPr>
          </a:p>
        </p:txBody>
      </p:sp>
      <p:pic>
        <p:nvPicPr>
          <p:cNvPr id="5" name="Content Placeholder 4">
            <a:extLst>
              <a:ext uri="{FF2B5EF4-FFF2-40B4-BE49-F238E27FC236}">
                <a16:creationId xmlns:a16="http://schemas.microsoft.com/office/drawing/2014/main" xmlns="" id="{C84A5CA0-8704-4E8B-968A-1BB5F0FFFADA}"/>
              </a:ext>
            </a:extLst>
          </p:cNvPr>
          <p:cNvPicPr>
            <a:picLocks noGrp="1" noChangeAspect="1"/>
          </p:cNvPicPr>
          <p:nvPr>
            <p:ph idx="1"/>
          </p:nvPr>
        </p:nvPicPr>
        <p:blipFill>
          <a:blip r:embed="rId2"/>
          <a:stretch>
            <a:fillRect/>
          </a:stretch>
        </p:blipFill>
        <p:spPr>
          <a:xfrm>
            <a:off x="6340762" y="467208"/>
            <a:ext cx="3549079" cy="5923584"/>
          </a:xfrm>
          <a:prstGeom prst="rect">
            <a:avLst/>
          </a:prstGeom>
        </p:spPr>
      </p:pic>
    </p:spTree>
    <p:extLst>
      <p:ext uri="{BB962C8B-B14F-4D97-AF65-F5344CB8AC3E}">
        <p14:creationId xmlns:p14="http://schemas.microsoft.com/office/powerpoint/2010/main" val="63067080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6" name="Rectangle 135">
            <a:extLst>
              <a:ext uri="{FF2B5EF4-FFF2-40B4-BE49-F238E27FC236}">
                <a16:creationId xmlns:a16="http://schemas.microsoft.com/office/drawing/2014/main" xmlns="" id="{2B566528-1B12-4246-9431-5C2D7D08116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4818" name="Rectangle 2">
            <a:extLst>
              <a:ext uri="{FF2B5EF4-FFF2-40B4-BE49-F238E27FC236}">
                <a16:creationId xmlns:a16="http://schemas.microsoft.com/office/drawing/2014/main" xmlns="" id="{A71D9591-D3A4-4CCE-90D1-C660FD604E9E}"/>
              </a:ext>
            </a:extLst>
          </p:cNvPr>
          <p:cNvSpPr>
            <a:spLocks noGrp="1" noChangeArrowheads="1"/>
          </p:cNvSpPr>
          <p:nvPr>
            <p:ph type="title"/>
          </p:nvPr>
        </p:nvSpPr>
        <p:spPr>
          <a:xfrm>
            <a:off x="643467" y="321734"/>
            <a:ext cx="10905066" cy="1135737"/>
          </a:xfrm>
        </p:spPr>
        <p:txBody>
          <a:bodyPr>
            <a:normAutofit/>
          </a:bodyPr>
          <a:lstStyle/>
          <a:p>
            <a:r>
              <a:rPr lang="en-US" altLang="en-US" sz="3600" dirty="0"/>
              <a:t>Diffie-Hellman Key Agreement</a:t>
            </a:r>
            <a:endParaRPr lang="en-US" altLang="en-US" sz="3600" i="1" dirty="0"/>
          </a:p>
        </p:txBody>
      </p:sp>
      <p:sp>
        <p:nvSpPr>
          <p:cNvPr id="674819" name="Rectangle 3">
            <a:extLst>
              <a:ext uri="{FF2B5EF4-FFF2-40B4-BE49-F238E27FC236}">
                <a16:creationId xmlns:a16="http://schemas.microsoft.com/office/drawing/2014/main" xmlns="" id="{7C098892-881D-4B9D-AD51-8CE110952D5C}"/>
              </a:ext>
            </a:extLst>
          </p:cNvPr>
          <p:cNvSpPr>
            <a:spLocks noGrp="1" noChangeArrowheads="1"/>
          </p:cNvSpPr>
          <p:nvPr>
            <p:ph type="body" idx="1"/>
          </p:nvPr>
        </p:nvSpPr>
        <p:spPr>
          <a:xfrm>
            <a:off x="643467" y="1782981"/>
            <a:ext cx="10905066" cy="4393982"/>
          </a:xfrm>
        </p:spPr>
        <p:txBody>
          <a:bodyPr>
            <a:normAutofit/>
          </a:bodyPr>
          <a:lstStyle/>
          <a:p>
            <a:pPr marL="533400" indent="-533400">
              <a:buFontTx/>
              <a:buAutoNum type="arabicPeriod"/>
            </a:pPr>
            <a:r>
              <a:rPr lang="en-US" altLang="en-US" sz="2000" dirty="0"/>
              <a:t>Choose public numbers: </a:t>
            </a:r>
            <a:r>
              <a:rPr lang="en-US" altLang="en-US" sz="2000" i="1" dirty="0">
                <a:latin typeface="Times New Roman" panose="02020603050405020304" pitchFamily="18" charset="0"/>
              </a:rPr>
              <a:t>q</a:t>
            </a:r>
            <a:r>
              <a:rPr lang="en-US" altLang="en-US" sz="2000" dirty="0"/>
              <a:t> (large prime number), </a:t>
            </a:r>
            <a:r>
              <a:rPr lang="en-US" altLang="en-US" sz="2000" dirty="0">
                <a:latin typeface="Times New Roman" panose="02020603050405020304" pitchFamily="18" charset="0"/>
                <a:sym typeface="Symbol" panose="05050102010706020507" pitchFamily="18" charset="2"/>
              </a:rPr>
              <a:t> </a:t>
            </a:r>
            <a:r>
              <a:rPr lang="en-US" altLang="en-US" sz="2000" dirty="0"/>
              <a:t>(generator mod </a:t>
            </a:r>
            <a:r>
              <a:rPr lang="en-US" altLang="en-US" sz="2000" i="1" dirty="0">
                <a:latin typeface="Times New Roman" panose="02020603050405020304" pitchFamily="18" charset="0"/>
              </a:rPr>
              <a:t>q</a:t>
            </a:r>
            <a:r>
              <a:rPr lang="en-US" altLang="en-US" sz="2000" dirty="0"/>
              <a:t>)</a:t>
            </a:r>
            <a:endParaRPr lang="en-US" altLang="en-US" sz="2000" i="1" dirty="0">
              <a:latin typeface="Times New Roman" panose="02020603050405020304" pitchFamily="18" charset="0"/>
            </a:endParaRPr>
          </a:p>
          <a:p>
            <a:pPr marL="533400" indent="-533400">
              <a:buFontTx/>
              <a:buAutoNum type="arabicPeriod"/>
            </a:pPr>
            <a:r>
              <a:rPr lang="en-US" altLang="en-US" sz="2000" dirty="0"/>
              <a:t>A generates random </a:t>
            </a:r>
            <a:r>
              <a:rPr lang="en-US" altLang="en-US" sz="2000" dirty="0">
                <a:latin typeface="Times New Roman" panose="02020603050405020304" pitchFamily="18" charset="0"/>
              </a:rPr>
              <a:t>X</a:t>
            </a:r>
            <a:r>
              <a:rPr lang="en-US" altLang="en-US" sz="2000" baseline="-25000" dirty="0">
                <a:latin typeface="Times New Roman" panose="02020603050405020304" pitchFamily="18" charset="0"/>
              </a:rPr>
              <a:t>A</a:t>
            </a:r>
            <a:r>
              <a:rPr lang="en-US" altLang="en-US" sz="2000" baseline="-25000" dirty="0"/>
              <a:t> </a:t>
            </a:r>
            <a:r>
              <a:rPr lang="en-US" altLang="en-US" sz="2000" dirty="0"/>
              <a:t>and sends B: </a:t>
            </a:r>
          </a:p>
          <a:p>
            <a:pPr marL="533400" indent="-533400">
              <a:buNone/>
            </a:pPr>
            <a:r>
              <a:rPr lang="en-US" altLang="en-US" sz="2000" dirty="0">
                <a:latin typeface="Times New Roman" panose="02020603050405020304" pitchFamily="18" charset="0"/>
              </a:rPr>
              <a:t>		Y</a:t>
            </a:r>
            <a:r>
              <a:rPr lang="en-US" altLang="en-US" sz="2000" baseline="-25000" dirty="0">
                <a:latin typeface="Times New Roman" panose="02020603050405020304" pitchFamily="18" charset="0"/>
              </a:rPr>
              <a:t>A </a:t>
            </a:r>
            <a:r>
              <a:rPr lang="en-US" altLang="en-US" sz="2000" dirty="0">
                <a:latin typeface="Times New Roman" panose="02020603050405020304" pitchFamily="18" charset="0"/>
              </a:rPr>
              <a:t>=</a:t>
            </a:r>
            <a:r>
              <a:rPr lang="en-US" altLang="en-US" sz="2000" baseline="-25000" dirty="0">
                <a:latin typeface="Times New Roman" panose="02020603050405020304" pitchFamily="18" charset="0"/>
              </a:rPr>
              <a:t>  </a:t>
            </a:r>
            <a:r>
              <a:rPr lang="en-US" altLang="en-US" sz="2000" dirty="0">
                <a:latin typeface="Times New Roman" panose="02020603050405020304" pitchFamily="18" charset="0"/>
                <a:sym typeface="Symbol" panose="05050102010706020507" pitchFamily="18" charset="2"/>
              </a:rPr>
              <a:t></a:t>
            </a:r>
            <a:r>
              <a:rPr lang="en-US" altLang="en-US" sz="2000" baseline="30000" dirty="0">
                <a:latin typeface="Times New Roman" panose="02020603050405020304" pitchFamily="18" charset="0"/>
              </a:rPr>
              <a:t>X</a:t>
            </a:r>
            <a:r>
              <a:rPr lang="en-US" altLang="en-US" sz="2000" baseline="18000" dirty="0">
                <a:latin typeface="Times New Roman" panose="02020603050405020304" pitchFamily="18" charset="0"/>
              </a:rPr>
              <a:t>A </a:t>
            </a:r>
            <a:r>
              <a:rPr lang="en-US" altLang="en-US" sz="2000" dirty="0">
                <a:latin typeface="Times New Roman" panose="02020603050405020304" pitchFamily="18" charset="0"/>
              </a:rPr>
              <a:t>mod </a:t>
            </a:r>
            <a:r>
              <a:rPr lang="en-US" altLang="en-US" sz="2000" i="1" dirty="0">
                <a:latin typeface="Times New Roman" panose="02020603050405020304" pitchFamily="18" charset="0"/>
              </a:rPr>
              <a:t>q.</a:t>
            </a:r>
          </a:p>
          <a:p>
            <a:pPr marL="533400" indent="-533400">
              <a:buFontTx/>
              <a:buAutoNum type="arabicPeriod" startAt="3"/>
            </a:pPr>
            <a:r>
              <a:rPr lang="en-US" altLang="en-US" sz="2000" dirty="0"/>
              <a:t>B generates random </a:t>
            </a:r>
            <a:r>
              <a:rPr lang="en-US" altLang="en-US" sz="2000" dirty="0">
                <a:latin typeface="Times New Roman" panose="02020603050405020304" pitchFamily="18" charset="0"/>
              </a:rPr>
              <a:t>X</a:t>
            </a:r>
            <a:r>
              <a:rPr lang="en-US" altLang="en-US" sz="2000" baseline="-25000" dirty="0">
                <a:latin typeface="Times New Roman" panose="02020603050405020304" pitchFamily="18" charset="0"/>
              </a:rPr>
              <a:t>B</a:t>
            </a:r>
            <a:r>
              <a:rPr lang="en-US" altLang="en-US" sz="2000" baseline="-25000" dirty="0"/>
              <a:t> </a:t>
            </a:r>
            <a:r>
              <a:rPr lang="en-US" altLang="en-US" sz="2000" dirty="0"/>
              <a:t>and sends A:</a:t>
            </a:r>
          </a:p>
          <a:p>
            <a:pPr marL="533400" indent="-533400">
              <a:buNone/>
            </a:pPr>
            <a:r>
              <a:rPr lang="en-US" altLang="en-US" sz="2000" dirty="0">
                <a:latin typeface="Times New Roman" panose="02020603050405020304" pitchFamily="18" charset="0"/>
              </a:rPr>
              <a:t>		Y</a:t>
            </a:r>
            <a:r>
              <a:rPr lang="en-US" altLang="en-US" sz="2000" baseline="-25000" dirty="0">
                <a:latin typeface="Times New Roman" panose="02020603050405020304" pitchFamily="18" charset="0"/>
              </a:rPr>
              <a:t>B </a:t>
            </a:r>
            <a:r>
              <a:rPr lang="en-US" altLang="en-US" sz="2000" dirty="0">
                <a:latin typeface="Times New Roman" panose="02020603050405020304" pitchFamily="18" charset="0"/>
              </a:rPr>
              <a:t>=</a:t>
            </a:r>
            <a:r>
              <a:rPr lang="en-US" altLang="en-US" sz="2000" baseline="-25000" dirty="0">
                <a:latin typeface="Times New Roman" panose="02020603050405020304" pitchFamily="18" charset="0"/>
              </a:rPr>
              <a:t>  </a:t>
            </a:r>
            <a:r>
              <a:rPr lang="en-US" altLang="en-US" sz="2000" dirty="0">
                <a:latin typeface="Times New Roman" panose="02020603050405020304" pitchFamily="18" charset="0"/>
                <a:sym typeface="Symbol" panose="05050102010706020507" pitchFamily="18" charset="2"/>
              </a:rPr>
              <a:t> </a:t>
            </a:r>
            <a:r>
              <a:rPr lang="en-US" altLang="en-US" sz="2000" baseline="30000" dirty="0">
                <a:latin typeface="Times New Roman" panose="02020603050405020304" pitchFamily="18" charset="0"/>
              </a:rPr>
              <a:t>X</a:t>
            </a:r>
            <a:r>
              <a:rPr lang="en-US" altLang="en-US" sz="2000" baseline="18000" dirty="0">
                <a:latin typeface="Times New Roman" panose="02020603050405020304" pitchFamily="18" charset="0"/>
              </a:rPr>
              <a:t>B </a:t>
            </a:r>
            <a:r>
              <a:rPr lang="en-US" altLang="en-US" sz="2000" dirty="0">
                <a:latin typeface="Times New Roman" panose="02020603050405020304" pitchFamily="18" charset="0"/>
              </a:rPr>
              <a:t>mod </a:t>
            </a:r>
            <a:r>
              <a:rPr lang="en-US" altLang="en-US" sz="2000" i="1" dirty="0">
                <a:latin typeface="Times New Roman" panose="02020603050405020304" pitchFamily="18" charset="0"/>
              </a:rPr>
              <a:t>q.</a:t>
            </a:r>
          </a:p>
          <a:p>
            <a:pPr marL="533400" indent="-533400">
              <a:buFontTx/>
              <a:buAutoNum type="arabicPeriod" startAt="4"/>
            </a:pPr>
            <a:r>
              <a:rPr lang="en-US" altLang="en-US" sz="2000" dirty="0"/>
              <a:t>A calculates secret key: </a:t>
            </a:r>
            <a:r>
              <a:rPr lang="en-US" altLang="en-US" sz="2000" dirty="0">
                <a:latin typeface="Times New Roman" panose="02020603050405020304" pitchFamily="18" charset="0"/>
              </a:rPr>
              <a:t>K = (Y</a:t>
            </a:r>
            <a:r>
              <a:rPr lang="en-US" altLang="en-US" sz="2000" baseline="-25000" dirty="0">
                <a:latin typeface="Times New Roman" panose="02020603050405020304" pitchFamily="18" charset="0"/>
              </a:rPr>
              <a:t>B</a:t>
            </a:r>
            <a:r>
              <a:rPr lang="en-US" altLang="en-US" sz="2000" dirty="0">
                <a:latin typeface="Times New Roman" panose="02020603050405020304" pitchFamily="18" charset="0"/>
              </a:rPr>
              <a:t>) </a:t>
            </a:r>
            <a:r>
              <a:rPr lang="en-US" altLang="en-US" sz="2000" baseline="30000" dirty="0">
                <a:latin typeface="Times New Roman" panose="02020603050405020304" pitchFamily="18" charset="0"/>
              </a:rPr>
              <a:t>X</a:t>
            </a:r>
            <a:r>
              <a:rPr lang="en-US" altLang="en-US" sz="2000" baseline="18000" dirty="0">
                <a:latin typeface="Times New Roman" panose="02020603050405020304" pitchFamily="18" charset="0"/>
              </a:rPr>
              <a:t>A </a:t>
            </a:r>
            <a:r>
              <a:rPr lang="en-US" altLang="en-US" sz="2000" dirty="0">
                <a:latin typeface="Times New Roman" panose="02020603050405020304" pitchFamily="18" charset="0"/>
              </a:rPr>
              <a:t>mod </a:t>
            </a:r>
            <a:r>
              <a:rPr lang="en-US" altLang="en-US" sz="2000" i="1" dirty="0">
                <a:latin typeface="Times New Roman" panose="02020603050405020304" pitchFamily="18" charset="0"/>
              </a:rPr>
              <a:t>q.</a:t>
            </a:r>
          </a:p>
          <a:p>
            <a:pPr marL="533400" indent="-533400">
              <a:buFontTx/>
              <a:buAutoNum type="arabicPeriod" startAt="4"/>
            </a:pPr>
            <a:r>
              <a:rPr lang="en-US" altLang="en-US" sz="2000" dirty="0"/>
              <a:t>B calculates secret key: </a:t>
            </a:r>
            <a:r>
              <a:rPr lang="en-US" altLang="en-US" sz="2000" dirty="0">
                <a:latin typeface="Times New Roman" panose="02020603050405020304" pitchFamily="18" charset="0"/>
              </a:rPr>
              <a:t>K = (Y</a:t>
            </a:r>
            <a:r>
              <a:rPr lang="en-US" altLang="en-US" sz="2000" baseline="-25000" dirty="0">
                <a:latin typeface="Times New Roman" panose="02020603050405020304" pitchFamily="18" charset="0"/>
              </a:rPr>
              <a:t>A</a:t>
            </a:r>
            <a:r>
              <a:rPr lang="en-US" altLang="en-US" sz="2000" dirty="0">
                <a:latin typeface="Times New Roman" panose="02020603050405020304" pitchFamily="18" charset="0"/>
              </a:rPr>
              <a:t>) </a:t>
            </a:r>
            <a:r>
              <a:rPr lang="en-US" altLang="en-US" sz="2000" baseline="30000" dirty="0">
                <a:latin typeface="Times New Roman" panose="02020603050405020304" pitchFamily="18" charset="0"/>
              </a:rPr>
              <a:t>X</a:t>
            </a:r>
            <a:r>
              <a:rPr lang="en-US" altLang="en-US" sz="2000" baseline="18000" dirty="0">
                <a:latin typeface="Times New Roman" panose="02020603050405020304" pitchFamily="18" charset="0"/>
              </a:rPr>
              <a:t>B </a:t>
            </a:r>
            <a:r>
              <a:rPr lang="en-US" altLang="en-US" sz="2000" dirty="0">
                <a:latin typeface="Times New Roman" panose="02020603050405020304" pitchFamily="18" charset="0"/>
              </a:rPr>
              <a:t>mod </a:t>
            </a:r>
            <a:r>
              <a:rPr lang="en-US" altLang="en-US" sz="2000" i="1" dirty="0">
                <a:latin typeface="Times New Roman" panose="02020603050405020304" pitchFamily="18" charset="0"/>
              </a:rPr>
              <a:t>q.</a:t>
            </a:r>
          </a:p>
        </p:txBody>
      </p:sp>
      <p:sp>
        <p:nvSpPr>
          <p:cNvPr id="138" name="Rectangle 137">
            <a:extLst>
              <a:ext uri="{FF2B5EF4-FFF2-40B4-BE49-F238E27FC236}">
                <a16:creationId xmlns:a16="http://schemas.microsoft.com/office/drawing/2014/main" xmlns="" id="{2E80C965-DB6D-4F81-9E9E-B027384D0B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Isosceles Triangle 139">
            <a:extLst>
              <a:ext uri="{FF2B5EF4-FFF2-40B4-BE49-F238E27FC236}">
                <a16:creationId xmlns:a16="http://schemas.microsoft.com/office/drawing/2014/main" xmlns="" id="{A580F890-B085-4E95-96AA-55AEBEC5CE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Isosceles Triangle 141">
            <a:extLst>
              <a:ext uri="{FF2B5EF4-FFF2-40B4-BE49-F238E27FC236}">
                <a16:creationId xmlns:a16="http://schemas.microsoft.com/office/drawing/2014/main" xmlns="" id="{D3F51FEB-38FB-4F6C-9F7B-2F2AFAB6546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4" name="Rectangle 143">
            <a:extLst>
              <a:ext uri="{FF2B5EF4-FFF2-40B4-BE49-F238E27FC236}">
                <a16:creationId xmlns:a16="http://schemas.microsoft.com/office/drawing/2014/main" xmlns="" id="{1E547BA6-BAE0-43BB-A7CA-60F69CE252F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Slide Number Placeholder 5">
            <a:extLst>
              <a:ext uri="{FF2B5EF4-FFF2-40B4-BE49-F238E27FC236}">
                <a16:creationId xmlns:a16="http://schemas.microsoft.com/office/drawing/2014/main" xmlns="" id="{9A917328-0083-46FD-ACD9-BEFE07673868}"/>
              </a:ext>
            </a:extLst>
          </p:cNvPr>
          <p:cNvSpPr>
            <a:spLocks noGrp="1"/>
          </p:cNvSpPr>
          <p:nvPr>
            <p:ph type="sldNum" sz="quarter" idx="12"/>
          </p:nvPr>
        </p:nvSpPr>
        <p:spPr>
          <a:xfrm>
            <a:off x="8805333" y="6356350"/>
            <a:ext cx="2743200" cy="365125"/>
          </a:xfrm>
        </p:spPr>
        <p:txBody>
          <a:bodyPr>
            <a:normAutofit/>
          </a:bodyPr>
          <a:lstStyle/>
          <a:p>
            <a:pPr>
              <a:spcAft>
                <a:spcPts val="600"/>
              </a:spcAft>
            </a:pPr>
            <a:fld id="{B4180B18-44B5-402F-8550-9AFC8735153C}" type="slidenum">
              <a:rPr lang="en-US" altLang="en-US" smtClean="0"/>
              <a:pPr>
                <a:spcAft>
                  <a:spcPts val="600"/>
                </a:spcAft>
              </a:pPr>
              <a:t>18</a:t>
            </a:fld>
            <a:endParaRPr lang="en-US" alt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xmlns="" id="{0B12B3F7-AD86-4FE2-B10B-7B531FED5E7F}"/>
              </a:ext>
            </a:extLst>
          </p:cNvPr>
          <p:cNvSpPr>
            <a:spLocks noGrp="1"/>
          </p:cNvSpPr>
          <p:nvPr>
            <p:ph type="sldNum" sz="quarter" idx="12"/>
          </p:nvPr>
        </p:nvSpPr>
        <p:spPr/>
        <p:txBody>
          <a:bodyPr/>
          <a:lstStyle/>
          <a:p>
            <a:fld id="{44F2D5FC-2313-4993-966B-AE8A07A3A8B6}" type="slidenum">
              <a:rPr lang="en-US" altLang="en-US"/>
              <a:pPr/>
              <a:t>19</a:t>
            </a:fld>
            <a:endParaRPr lang="en-US" altLang="en-US"/>
          </a:p>
        </p:txBody>
      </p:sp>
      <p:sp>
        <p:nvSpPr>
          <p:cNvPr id="692226" name="Rectangle 2">
            <a:extLst>
              <a:ext uri="{FF2B5EF4-FFF2-40B4-BE49-F238E27FC236}">
                <a16:creationId xmlns:a16="http://schemas.microsoft.com/office/drawing/2014/main" xmlns="" id="{20723540-9304-4CA5-8DBA-ADD133033377}"/>
              </a:ext>
            </a:extLst>
          </p:cNvPr>
          <p:cNvSpPr>
            <a:spLocks noGrp="1" noChangeArrowheads="1"/>
          </p:cNvSpPr>
          <p:nvPr>
            <p:ph type="title"/>
          </p:nvPr>
        </p:nvSpPr>
        <p:spPr/>
        <p:txBody>
          <a:bodyPr/>
          <a:lstStyle/>
          <a:p>
            <a:r>
              <a:rPr lang="en-US" altLang="en-US"/>
              <a:t>What’s a generator?</a:t>
            </a:r>
          </a:p>
        </p:txBody>
      </p:sp>
      <p:sp>
        <p:nvSpPr>
          <p:cNvPr id="692227" name="Rectangle 3">
            <a:extLst>
              <a:ext uri="{FF2B5EF4-FFF2-40B4-BE49-F238E27FC236}">
                <a16:creationId xmlns:a16="http://schemas.microsoft.com/office/drawing/2014/main" xmlns="" id="{02208518-656E-4F86-B144-606695F1AFCD}"/>
              </a:ext>
            </a:extLst>
          </p:cNvPr>
          <p:cNvSpPr>
            <a:spLocks noGrp="1" noChangeArrowheads="1"/>
          </p:cNvSpPr>
          <p:nvPr>
            <p:ph type="body" idx="1"/>
          </p:nvPr>
        </p:nvSpPr>
        <p:spPr>
          <a:xfrm>
            <a:off x="2133600" y="1752600"/>
            <a:ext cx="7772400" cy="4114800"/>
          </a:xfrm>
        </p:spPr>
        <p:txBody>
          <a:bodyPr/>
          <a:lstStyle/>
          <a:p>
            <a:r>
              <a:rPr lang="en-US" altLang="en-US" dirty="0">
                <a:latin typeface="Times New Roman" panose="02020603050405020304" pitchFamily="18" charset="0"/>
                <a:sym typeface="Symbol" panose="05050102010706020507" pitchFamily="18" charset="2"/>
              </a:rPr>
              <a:t> </a:t>
            </a:r>
            <a:r>
              <a:rPr lang="en-US" altLang="en-US" dirty="0"/>
              <a:t>is a generator </a:t>
            </a:r>
            <a:r>
              <a:rPr lang="en-US" altLang="en-US" dirty="0">
                <a:latin typeface="Times New Roman" panose="02020603050405020304" pitchFamily="18" charset="0"/>
              </a:rPr>
              <a:t>mod q</a:t>
            </a:r>
            <a:r>
              <a:rPr lang="en-US" altLang="en-US" dirty="0"/>
              <a:t> if for all </a:t>
            </a:r>
            <a:r>
              <a:rPr lang="en-US" altLang="en-US" dirty="0">
                <a:latin typeface="Times New Roman" panose="02020603050405020304" pitchFamily="18" charset="0"/>
              </a:rPr>
              <a:t>0 </a:t>
            </a:r>
            <a:r>
              <a:rPr lang="en-US" altLang="en-US" dirty="0">
                <a:latin typeface="Times New Roman" panose="02020603050405020304" pitchFamily="18" charset="0"/>
                <a:sym typeface="Symbol" panose="05050102010706020507" pitchFamily="18" charset="2"/>
              </a:rPr>
              <a:t> </a:t>
            </a:r>
            <a:r>
              <a:rPr lang="en-US" altLang="en-US" i="1" dirty="0">
                <a:latin typeface="Times New Roman" panose="02020603050405020304" pitchFamily="18" charset="0"/>
              </a:rPr>
              <a:t>n</a:t>
            </a:r>
            <a:r>
              <a:rPr lang="en-US" altLang="en-US" dirty="0">
                <a:latin typeface="Times New Roman" panose="02020603050405020304" pitchFamily="18" charset="0"/>
              </a:rPr>
              <a:t> &lt; q</a:t>
            </a:r>
            <a:r>
              <a:rPr lang="en-US" altLang="en-US" dirty="0"/>
              <a:t>, there is some </a:t>
            </a:r>
            <a:r>
              <a:rPr lang="en-US" altLang="en-US" dirty="0">
                <a:latin typeface="Times New Roman" panose="02020603050405020304" pitchFamily="18" charset="0"/>
              </a:rPr>
              <a:t>1 </a:t>
            </a:r>
            <a:r>
              <a:rPr lang="en-US" altLang="en-US" dirty="0">
                <a:latin typeface="Times New Roman" panose="02020603050405020304" pitchFamily="18" charset="0"/>
                <a:sym typeface="Symbol" panose="05050102010706020507" pitchFamily="18" charset="2"/>
              </a:rPr>
              <a:t></a:t>
            </a:r>
            <a:r>
              <a:rPr lang="en-US" altLang="en-US" dirty="0"/>
              <a:t> </a:t>
            </a:r>
            <a:r>
              <a:rPr lang="en-US" altLang="en-US" i="1" dirty="0">
                <a:latin typeface="Times New Roman" panose="02020603050405020304" pitchFamily="18" charset="0"/>
              </a:rPr>
              <a:t>m</a:t>
            </a:r>
            <a:r>
              <a:rPr lang="en-US" altLang="en-US" dirty="0"/>
              <a:t> </a:t>
            </a:r>
            <a:r>
              <a:rPr lang="en-US" altLang="en-US" dirty="0">
                <a:latin typeface="Times New Roman" panose="02020603050405020304" pitchFamily="18" charset="0"/>
              </a:rPr>
              <a:t>&lt; q</a:t>
            </a:r>
            <a:r>
              <a:rPr lang="en-US" altLang="en-US" dirty="0"/>
              <a:t> such that </a:t>
            </a:r>
          </a:p>
          <a:p>
            <a:pPr>
              <a:buFontTx/>
              <a:buNone/>
            </a:pPr>
            <a:r>
              <a:rPr lang="en-US" altLang="en-US" dirty="0"/>
              <a:t>			</a:t>
            </a:r>
            <a:r>
              <a:rPr lang="en-US" altLang="en-US" dirty="0">
                <a:latin typeface="Times New Roman" panose="02020603050405020304" pitchFamily="18" charset="0"/>
                <a:sym typeface="Symbol" panose="05050102010706020507" pitchFamily="18" charset="2"/>
              </a:rPr>
              <a:t></a:t>
            </a:r>
            <a:r>
              <a:rPr lang="en-US" altLang="en-US" i="1" baseline="30000" dirty="0">
                <a:latin typeface="Times New Roman" panose="02020603050405020304" pitchFamily="18" charset="0"/>
              </a:rPr>
              <a:t>m</a:t>
            </a:r>
            <a:r>
              <a:rPr lang="en-US" altLang="en-US" dirty="0">
                <a:latin typeface="Times New Roman" panose="02020603050405020304" pitchFamily="18" charset="0"/>
              </a:rPr>
              <a:t> = </a:t>
            </a:r>
            <a:r>
              <a:rPr lang="en-US" altLang="en-US" i="1" dirty="0">
                <a:latin typeface="Times New Roman" panose="02020603050405020304" pitchFamily="18" charset="0"/>
              </a:rPr>
              <a:t>n</a:t>
            </a:r>
            <a:r>
              <a:rPr lang="en-US" altLang="en-US" dirty="0">
                <a:latin typeface="Times New Roman" panose="02020603050405020304" pitchFamily="18" charset="0"/>
              </a:rPr>
              <a:t> mod q</a:t>
            </a:r>
          </a:p>
          <a:p>
            <a:r>
              <a:rPr lang="en-US" altLang="en-US" dirty="0"/>
              <a:t>Is </a:t>
            </a:r>
            <a:r>
              <a:rPr lang="en-US" altLang="en-US" i="1" dirty="0">
                <a:latin typeface="Times New Roman" panose="02020603050405020304" pitchFamily="18" charset="0"/>
              </a:rPr>
              <a:t>m</a:t>
            </a:r>
            <a:r>
              <a:rPr lang="en-US" altLang="en-US" dirty="0"/>
              <a:t> unique?</a:t>
            </a:r>
          </a:p>
          <a:p>
            <a:pPr lvl="1"/>
            <a:r>
              <a:rPr lang="en-US" altLang="en-US" dirty="0"/>
              <a:t>Yes: Proof by counting.</a:t>
            </a:r>
          </a:p>
          <a:p>
            <a:r>
              <a:rPr lang="en-US" altLang="en-US" dirty="0"/>
              <a:t>Discrete logarithm: given </a:t>
            </a:r>
            <a:r>
              <a:rPr lang="en-US" altLang="en-US" dirty="0">
                <a:latin typeface="Times New Roman" panose="02020603050405020304" pitchFamily="18" charset="0"/>
                <a:sym typeface="Symbol" panose="05050102010706020507" pitchFamily="18" charset="2"/>
              </a:rPr>
              <a:t></a:t>
            </a:r>
            <a:r>
              <a:rPr lang="en-US" altLang="en-US" dirty="0"/>
              <a:t>, </a:t>
            </a:r>
            <a:r>
              <a:rPr lang="en-US" altLang="en-US" i="1" dirty="0">
                <a:latin typeface="Times New Roman" panose="02020603050405020304" pitchFamily="18" charset="0"/>
              </a:rPr>
              <a:t>n</a:t>
            </a:r>
            <a:r>
              <a:rPr lang="en-US" altLang="en-US" dirty="0"/>
              <a:t>, and</a:t>
            </a:r>
            <a:r>
              <a:rPr lang="en-US" altLang="en-US" dirty="0">
                <a:latin typeface="Times New Roman" panose="02020603050405020304" pitchFamily="18" charset="0"/>
              </a:rPr>
              <a:t> q </a:t>
            </a:r>
            <a:r>
              <a:rPr lang="en-US" altLang="en-US" dirty="0"/>
              <a:t>find </a:t>
            </a:r>
            <a:r>
              <a:rPr lang="en-US" altLang="en-US" dirty="0">
                <a:latin typeface="Times New Roman" panose="02020603050405020304" pitchFamily="18" charset="0"/>
              </a:rPr>
              <a:t>0 </a:t>
            </a:r>
            <a:r>
              <a:rPr lang="en-US" altLang="en-US" dirty="0">
                <a:latin typeface="Times New Roman" panose="02020603050405020304" pitchFamily="18" charset="0"/>
                <a:sym typeface="Symbol" panose="05050102010706020507" pitchFamily="18" charset="2"/>
              </a:rPr>
              <a:t></a:t>
            </a:r>
            <a:r>
              <a:rPr lang="en-US" altLang="en-US" dirty="0"/>
              <a:t> </a:t>
            </a:r>
            <a:r>
              <a:rPr lang="en-US" altLang="en-US" i="1" dirty="0">
                <a:latin typeface="Times New Roman" panose="02020603050405020304" pitchFamily="18" charset="0"/>
              </a:rPr>
              <a:t>m</a:t>
            </a:r>
            <a:r>
              <a:rPr lang="en-US" altLang="en-US" dirty="0"/>
              <a:t> </a:t>
            </a:r>
            <a:r>
              <a:rPr lang="en-US" altLang="en-US" dirty="0">
                <a:latin typeface="Times New Roman" panose="02020603050405020304" pitchFamily="18" charset="0"/>
              </a:rPr>
              <a:t>&lt; q</a:t>
            </a:r>
            <a:r>
              <a:rPr lang="en-US" altLang="en-US" dirty="0"/>
              <a:t> such that </a:t>
            </a:r>
            <a:r>
              <a:rPr lang="en-US" altLang="en-US" dirty="0">
                <a:latin typeface="Times New Roman" panose="02020603050405020304" pitchFamily="18" charset="0"/>
                <a:sym typeface="Symbol" panose="05050102010706020507" pitchFamily="18" charset="2"/>
              </a:rPr>
              <a:t></a:t>
            </a:r>
            <a:r>
              <a:rPr lang="en-US" altLang="en-US" i="1" baseline="30000" dirty="0">
                <a:latin typeface="Times New Roman" panose="02020603050405020304" pitchFamily="18" charset="0"/>
              </a:rPr>
              <a:t>m</a:t>
            </a:r>
            <a:r>
              <a:rPr lang="en-US" altLang="en-US" dirty="0">
                <a:latin typeface="Times New Roman" panose="02020603050405020304" pitchFamily="18" charset="0"/>
              </a:rPr>
              <a:t> = </a:t>
            </a:r>
            <a:r>
              <a:rPr lang="en-US" altLang="en-US" i="1" dirty="0">
                <a:latin typeface="Times New Roman" panose="02020603050405020304" pitchFamily="18" charset="0"/>
              </a:rPr>
              <a:t>n</a:t>
            </a:r>
            <a:r>
              <a:rPr lang="en-US" altLang="en-US" dirty="0">
                <a:latin typeface="Times New Roman" panose="02020603050405020304" pitchFamily="18" charset="0"/>
              </a:rPr>
              <a:t> mod q</a:t>
            </a:r>
            <a:r>
              <a:rPr lang="en-US" altLang="en-US" dirty="0"/>
              <a:t>.</a:t>
            </a:r>
            <a:endParaRPr lang="en-US" altLang="en-US" dirty="0">
              <a:latin typeface="Times New Roman" panose="02020603050405020304" pitchFamily="18" charset="0"/>
            </a:endParaRPr>
          </a:p>
          <a:p>
            <a:endParaRPr lang="en-US" altLang="en-US" dirty="0"/>
          </a:p>
          <a:p>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92227">
                                            <p:txEl>
                                              <p:pRg st="0" end="0"/>
                                            </p:txEl>
                                          </p:spTgt>
                                        </p:tgtEl>
                                        <p:attrNameLst>
                                          <p:attrName>style.visibility</p:attrName>
                                        </p:attrNameLst>
                                      </p:cBhvr>
                                      <p:to>
                                        <p:strVal val="visible"/>
                                      </p:to>
                                    </p:set>
                                    <p:animEffect transition="in" filter="dissolve">
                                      <p:cBhvr>
                                        <p:cTn id="7" dur="500"/>
                                        <p:tgtEl>
                                          <p:spTgt spid="6922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92227">
                                            <p:txEl>
                                              <p:pRg st="1" end="1"/>
                                            </p:txEl>
                                          </p:spTgt>
                                        </p:tgtEl>
                                        <p:attrNameLst>
                                          <p:attrName>style.visibility</p:attrName>
                                        </p:attrNameLst>
                                      </p:cBhvr>
                                      <p:to>
                                        <p:strVal val="visible"/>
                                      </p:to>
                                    </p:set>
                                    <p:animEffect transition="in" filter="dissolve">
                                      <p:cBhvr>
                                        <p:cTn id="12" dur="500"/>
                                        <p:tgtEl>
                                          <p:spTgt spid="6922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92227">
                                            <p:txEl>
                                              <p:pRg st="2" end="2"/>
                                            </p:txEl>
                                          </p:spTgt>
                                        </p:tgtEl>
                                        <p:attrNameLst>
                                          <p:attrName>style.visibility</p:attrName>
                                        </p:attrNameLst>
                                      </p:cBhvr>
                                      <p:to>
                                        <p:strVal val="visible"/>
                                      </p:to>
                                    </p:set>
                                    <p:animEffect transition="in" filter="dissolve">
                                      <p:cBhvr>
                                        <p:cTn id="17" dur="500"/>
                                        <p:tgtEl>
                                          <p:spTgt spid="6922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92227">
                                            <p:txEl>
                                              <p:pRg st="3" end="3"/>
                                            </p:txEl>
                                          </p:spTgt>
                                        </p:tgtEl>
                                        <p:attrNameLst>
                                          <p:attrName>style.visibility</p:attrName>
                                        </p:attrNameLst>
                                      </p:cBhvr>
                                      <p:to>
                                        <p:strVal val="visible"/>
                                      </p:to>
                                    </p:set>
                                    <p:animEffect transition="in" filter="dissolve">
                                      <p:cBhvr>
                                        <p:cTn id="22" dur="500"/>
                                        <p:tgtEl>
                                          <p:spTgt spid="69222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92227">
                                            <p:txEl>
                                              <p:pRg st="4" end="4"/>
                                            </p:txEl>
                                          </p:spTgt>
                                        </p:tgtEl>
                                        <p:attrNameLst>
                                          <p:attrName>style.visibility</p:attrName>
                                        </p:attrNameLst>
                                      </p:cBhvr>
                                      <p:to>
                                        <p:strVal val="visible"/>
                                      </p:to>
                                    </p:set>
                                    <p:animEffect transition="in" filter="dissolve">
                                      <p:cBhvr>
                                        <p:cTn id="27" dur="500"/>
                                        <p:tgtEl>
                                          <p:spTgt spid="6922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2227" grpId="0" build="p" bldLvl="3"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xmlns="" id="{79E61609-C133-4060-8433-E2D69DFEE2CD}"/>
              </a:ext>
            </a:extLst>
          </p:cNvPr>
          <p:cNvSpPr>
            <a:spLocks noGrp="1"/>
          </p:cNvSpPr>
          <p:nvPr>
            <p:ph type="sldNum" sz="quarter" idx="12"/>
          </p:nvPr>
        </p:nvSpPr>
        <p:spPr/>
        <p:txBody>
          <a:bodyPr/>
          <a:lstStyle/>
          <a:p>
            <a:fld id="{EAF67269-3FC7-4642-ABC0-F7E1B5F6B7BC}" type="slidenum">
              <a:rPr lang="en-US" altLang="en-US"/>
              <a:pPr/>
              <a:t>20</a:t>
            </a:fld>
            <a:endParaRPr lang="en-US" altLang="en-US"/>
          </a:p>
        </p:txBody>
      </p:sp>
      <p:sp>
        <p:nvSpPr>
          <p:cNvPr id="693250" name="Rectangle 2">
            <a:extLst>
              <a:ext uri="{FF2B5EF4-FFF2-40B4-BE49-F238E27FC236}">
                <a16:creationId xmlns:a16="http://schemas.microsoft.com/office/drawing/2014/main" xmlns="" id="{D241EFA3-A213-4EF3-A741-00AEFFA2CEB6}"/>
              </a:ext>
            </a:extLst>
          </p:cNvPr>
          <p:cNvSpPr>
            <a:spLocks noGrp="1" noChangeArrowheads="1"/>
          </p:cNvSpPr>
          <p:nvPr>
            <p:ph type="title"/>
          </p:nvPr>
        </p:nvSpPr>
        <p:spPr/>
        <p:txBody>
          <a:bodyPr/>
          <a:lstStyle/>
          <a:p>
            <a:r>
              <a:rPr lang="en-US" altLang="en-US" dirty="0"/>
              <a:t>Example</a:t>
            </a:r>
          </a:p>
        </p:txBody>
      </p:sp>
      <p:sp>
        <p:nvSpPr>
          <p:cNvPr id="693251" name="Rectangle 3">
            <a:extLst>
              <a:ext uri="{FF2B5EF4-FFF2-40B4-BE49-F238E27FC236}">
                <a16:creationId xmlns:a16="http://schemas.microsoft.com/office/drawing/2014/main" xmlns="" id="{02D6106A-35D5-4811-B20C-9D767F716A09}"/>
              </a:ext>
            </a:extLst>
          </p:cNvPr>
          <p:cNvSpPr>
            <a:spLocks noGrp="1" noChangeArrowheads="1"/>
          </p:cNvSpPr>
          <p:nvPr>
            <p:ph type="body" idx="1"/>
          </p:nvPr>
        </p:nvSpPr>
        <p:spPr>
          <a:xfrm>
            <a:off x="2209800" y="1584325"/>
            <a:ext cx="7772400" cy="4114800"/>
          </a:xfrm>
        </p:spPr>
        <p:txBody>
          <a:bodyPr/>
          <a:lstStyle/>
          <a:p>
            <a:r>
              <a:rPr lang="en-US" altLang="en-US" dirty="0"/>
              <a:t>What is a generator for </a:t>
            </a:r>
            <a:r>
              <a:rPr lang="en-US" altLang="en-US" dirty="0">
                <a:latin typeface="Times New Roman" panose="02020603050405020304" pitchFamily="18" charset="0"/>
              </a:rPr>
              <a:t>q = 11</a:t>
            </a:r>
            <a:r>
              <a:rPr lang="en-US" altLang="en-US" dirty="0"/>
              <a:t>?</a:t>
            </a:r>
          </a:p>
          <a:p>
            <a:pPr>
              <a:buFontTx/>
              <a:buNone/>
            </a:pPr>
            <a:r>
              <a:rPr lang="en-US" altLang="en-US" sz="3600" dirty="0"/>
              <a:t>	 </a:t>
            </a:r>
            <a:r>
              <a:rPr lang="en-US" altLang="en-US" sz="3600" dirty="0">
                <a:latin typeface="Times New Roman" panose="02020603050405020304" pitchFamily="18" charset="0"/>
              </a:rPr>
              <a:t>2</a:t>
            </a:r>
            <a:r>
              <a:rPr lang="en-US" altLang="en-US" sz="3600" baseline="30000" dirty="0">
                <a:latin typeface="Times New Roman" panose="02020603050405020304" pitchFamily="18" charset="0"/>
              </a:rPr>
              <a:t>1</a:t>
            </a:r>
            <a:r>
              <a:rPr lang="en-US" altLang="en-US" sz="3600" dirty="0">
                <a:latin typeface="Times New Roman" panose="02020603050405020304" pitchFamily="18" charset="0"/>
              </a:rPr>
              <a:t> </a:t>
            </a:r>
            <a:r>
              <a:rPr lang="en-US" altLang="en-US" sz="3600" dirty="0">
                <a:latin typeface="Times New Roman" panose="02020603050405020304" pitchFamily="18" charset="0"/>
                <a:sym typeface="Symbol" panose="05050102010706020507" pitchFamily="18" charset="2"/>
              </a:rPr>
              <a:t></a:t>
            </a:r>
            <a:r>
              <a:rPr lang="en-US" altLang="en-US" sz="3600" baseline="-25000" dirty="0">
                <a:latin typeface="Times New Roman" panose="02020603050405020304" pitchFamily="18" charset="0"/>
                <a:sym typeface="Symbol" panose="05050102010706020507" pitchFamily="18" charset="2"/>
              </a:rPr>
              <a:t>11</a:t>
            </a:r>
            <a:r>
              <a:rPr lang="en-US" altLang="en-US" sz="3600" dirty="0">
                <a:latin typeface="Times New Roman" panose="02020603050405020304" pitchFamily="18" charset="0"/>
              </a:rPr>
              <a:t> 2</a:t>
            </a:r>
            <a:r>
              <a:rPr lang="en-US" altLang="en-US" sz="3600" dirty="0"/>
              <a:t> 	</a:t>
            </a:r>
            <a:r>
              <a:rPr lang="en-US" altLang="en-US" sz="3600" dirty="0">
                <a:latin typeface="Times New Roman" panose="02020603050405020304" pitchFamily="18" charset="0"/>
              </a:rPr>
              <a:t>		2</a:t>
            </a:r>
            <a:r>
              <a:rPr lang="en-US" altLang="en-US" sz="3600" baseline="30000" dirty="0">
                <a:latin typeface="Times New Roman" panose="02020603050405020304" pitchFamily="18" charset="0"/>
              </a:rPr>
              <a:t>6</a:t>
            </a:r>
            <a:r>
              <a:rPr lang="en-US" altLang="en-US" sz="3600" dirty="0">
                <a:latin typeface="Times New Roman" panose="02020603050405020304" pitchFamily="18" charset="0"/>
              </a:rPr>
              <a:t> = 64 </a:t>
            </a:r>
            <a:r>
              <a:rPr lang="en-US" altLang="en-US" sz="3600" dirty="0">
                <a:latin typeface="Times New Roman" panose="02020603050405020304" pitchFamily="18" charset="0"/>
                <a:sym typeface="Symbol" panose="05050102010706020507" pitchFamily="18" charset="2"/>
              </a:rPr>
              <a:t></a:t>
            </a:r>
            <a:r>
              <a:rPr lang="en-US" altLang="en-US" sz="3600" baseline="-25000" dirty="0">
                <a:latin typeface="Times New Roman" panose="02020603050405020304" pitchFamily="18" charset="0"/>
                <a:sym typeface="Symbol" panose="05050102010706020507" pitchFamily="18" charset="2"/>
              </a:rPr>
              <a:t>11</a:t>
            </a:r>
            <a:r>
              <a:rPr lang="en-US" altLang="en-US" sz="3600" dirty="0">
                <a:latin typeface="Times New Roman" panose="02020603050405020304" pitchFamily="18" charset="0"/>
              </a:rPr>
              <a:t> 9</a:t>
            </a:r>
            <a:endParaRPr lang="en-US" altLang="en-US" sz="3600" dirty="0"/>
          </a:p>
          <a:p>
            <a:pPr>
              <a:buFontTx/>
              <a:buNone/>
            </a:pPr>
            <a:r>
              <a:rPr lang="en-US" altLang="en-US" sz="3600" dirty="0">
                <a:latin typeface="Times New Roman" panose="02020603050405020304" pitchFamily="18" charset="0"/>
              </a:rPr>
              <a:t>	 2</a:t>
            </a:r>
            <a:r>
              <a:rPr lang="en-US" altLang="en-US" sz="3600" baseline="30000" dirty="0">
                <a:latin typeface="Times New Roman" panose="02020603050405020304" pitchFamily="18" charset="0"/>
              </a:rPr>
              <a:t>2</a:t>
            </a:r>
            <a:r>
              <a:rPr lang="en-US" altLang="en-US" sz="3600" dirty="0">
                <a:latin typeface="Times New Roman" panose="02020603050405020304" pitchFamily="18" charset="0"/>
              </a:rPr>
              <a:t> </a:t>
            </a:r>
            <a:r>
              <a:rPr lang="en-US" altLang="en-US" sz="3600" dirty="0">
                <a:latin typeface="Times New Roman" panose="02020603050405020304" pitchFamily="18" charset="0"/>
                <a:sym typeface="Symbol" panose="05050102010706020507" pitchFamily="18" charset="2"/>
              </a:rPr>
              <a:t></a:t>
            </a:r>
            <a:r>
              <a:rPr lang="en-US" altLang="en-US" sz="3600" baseline="-25000" dirty="0">
                <a:latin typeface="Times New Roman" panose="02020603050405020304" pitchFamily="18" charset="0"/>
                <a:sym typeface="Symbol" panose="05050102010706020507" pitchFamily="18" charset="2"/>
              </a:rPr>
              <a:t>11</a:t>
            </a:r>
            <a:r>
              <a:rPr lang="en-US" altLang="en-US" sz="3600" dirty="0">
                <a:latin typeface="Times New Roman" panose="02020603050405020304" pitchFamily="18" charset="0"/>
              </a:rPr>
              <a:t> 4 		2</a:t>
            </a:r>
            <a:r>
              <a:rPr lang="en-US" altLang="en-US" sz="3600" baseline="30000" dirty="0">
                <a:latin typeface="Times New Roman" panose="02020603050405020304" pitchFamily="18" charset="0"/>
              </a:rPr>
              <a:t>7</a:t>
            </a:r>
            <a:r>
              <a:rPr lang="en-US" altLang="en-US" sz="3600" dirty="0">
                <a:latin typeface="Times New Roman" panose="02020603050405020304" pitchFamily="18" charset="0"/>
              </a:rPr>
              <a:t> = 128 </a:t>
            </a:r>
            <a:r>
              <a:rPr lang="en-US" altLang="en-US" sz="3600" dirty="0">
                <a:latin typeface="Times New Roman" panose="02020603050405020304" pitchFamily="18" charset="0"/>
                <a:sym typeface="Symbol" panose="05050102010706020507" pitchFamily="18" charset="2"/>
              </a:rPr>
              <a:t></a:t>
            </a:r>
            <a:r>
              <a:rPr lang="en-US" altLang="en-US" sz="3600" baseline="-25000" dirty="0">
                <a:latin typeface="Times New Roman" panose="02020603050405020304" pitchFamily="18" charset="0"/>
                <a:sym typeface="Symbol" panose="05050102010706020507" pitchFamily="18" charset="2"/>
              </a:rPr>
              <a:t>11</a:t>
            </a:r>
            <a:r>
              <a:rPr lang="en-US" altLang="en-US" sz="3600" dirty="0">
                <a:latin typeface="Times New Roman" panose="02020603050405020304" pitchFamily="18" charset="0"/>
              </a:rPr>
              <a:t> 7</a:t>
            </a:r>
            <a:endParaRPr lang="en-US" altLang="en-US" sz="3600" dirty="0"/>
          </a:p>
          <a:p>
            <a:pPr>
              <a:buFontTx/>
              <a:buNone/>
            </a:pPr>
            <a:r>
              <a:rPr lang="en-US" altLang="en-US" sz="3600" dirty="0"/>
              <a:t>	 </a:t>
            </a:r>
            <a:r>
              <a:rPr lang="en-US" altLang="en-US" sz="3600" dirty="0">
                <a:latin typeface="Times New Roman" panose="02020603050405020304" pitchFamily="18" charset="0"/>
              </a:rPr>
              <a:t>2</a:t>
            </a:r>
            <a:r>
              <a:rPr lang="en-US" altLang="en-US" sz="3600" baseline="30000" dirty="0">
                <a:latin typeface="Times New Roman" panose="02020603050405020304" pitchFamily="18" charset="0"/>
              </a:rPr>
              <a:t>3</a:t>
            </a:r>
            <a:r>
              <a:rPr lang="en-US" altLang="en-US" sz="3600" dirty="0">
                <a:latin typeface="Times New Roman" panose="02020603050405020304" pitchFamily="18" charset="0"/>
              </a:rPr>
              <a:t> </a:t>
            </a:r>
            <a:r>
              <a:rPr lang="en-US" altLang="en-US" sz="3600" dirty="0">
                <a:latin typeface="Times New Roman" panose="02020603050405020304" pitchFamily="18" charset="0"/>
                <a:sym typeface="Symbol" panose="05050102010706020507" pitchFamily="18" charset="2"/>
              </a:rPr>
              <a:t></a:t>
            </a:r>
            <a:r>
              <a:rPr lang="en-US" altLang="en-US" sz="3600" baseline="-25000" dirty="0">
                <a:latin typeface="Times New Roman" panose="02020603050405020304" pitchFamily="18" charset="0"/>
                <a:sym typeface="Symbol" panose="05050102010706020507" pitchFamily="18" charset="2"/>
              </a:rPr>
              <a:t>11</a:t>
            </a:r>
            <a:r>
              <a:rPr lang="en-US" altLang="en-US" sz="3600" dirty="0">
                <a:latin typeface="Times New Roman" panose="02020603050405020304" pitchFamily="18" charset="0"/>
              </a:rPr>
              <a:t> 8 			2</a:t>
            </a:r>
            <a:r>
              <a:rPr lang="en-US" altLang="en-US" sz="3600" baseline="30000" dirty="0">
                <a:latin typeface="Times New Roman" panose="02020603050405020304" pitchFamily="18" charset="0"/>
              </a:rPr>
              <a:t>8</a:t>
            </a:r>
            <a:r>
              <a:rPr lang="en-US" altLang="en-US" sz="3600" dirty="0">
                <a:latin typeface="Times New Roman" panose="02020603050405020304" pitchFamily="18" charset="0"/>
              </a:rPr>
              <a:t> = 256 </a:t>
            </a:r>
            <a:r>
              <a:rPr lang="en-US" altLang="en-US" sz="3600" dirty="0">
                <a:latin typeface="Times New Roman" panose="02020603050405020304" pitchFamily="18" charset="0"/>
                <a:sym typeface="Symbol" panose="05050102010706020507" pitchFamily="18" charset="2"/>
              </a:rPr>
              <a:t></a:t>
            </a:r>
            <a:r>
              <a:rPr lang="en-US" altLang="en-US" sz="3600" baseline="-25000" dirty="0">
                <a:latin typeface="Times New Roman" panose="02020603050405020304" pitchFamily="18" charset="0"/>
                <a:sym typeface="Symbol" panose="05050102010706020507" pitchFamily="18" charset="2"/>
              </a:rPr>
              <a:t>11</a:t>
            </a:r>
            <a:r>
              <a:rPr lang="en-US" altLang="en-US" sz="3600" dirty="0">
                <a:latin typeface="Times New Roman" panose="02020603050405020304" pitchFamily="18" charset="0"/>
              </a:rPr>
              <a:t> 3</a:t>
            </a:r>
            <a:endParaRPr lang="en-US" altLang="en-US" sz="3600" dirty="0"/>
          </a:p>
          <a:p>
            <a:pPr>
              <a:buFontTx/>
              <a:buNone/>
            </a:pPr>
            <a:r>
              <a:rPr lang="en-US" altLang="en-US" sz="3600" dirty="0"/>
              <a:t>	 </a:t>
            </a:r>
            <a:r>
              <a:rPr lang="en-US" altLang="en-US" sz="3600" dirty="0">
                <a:latin typeface="Times New Roman" panose="02020603050405020304" pitchFamily="18" charset="0"/>
              </a:rPr>
              <a:t>2</a:t>
            </a:r>
            <a:r>
              <a:rPr lang="en-US" altLang="en-US" sz="3600" baseline="30000" dirty="0">
                <a:latin typeface="Times New Roman" panose="02020603050405020304" pitchFamily="18" charset="0"/>
              </a:rPr>
              <a:t>4</a:t>
            </a:r>
            <a:r>
              <a:rPr lang="en-US" altLang="en-US" sz="3600" dirty="0">
                <a:latin typeface="Times New Roman" panose="02020603050405020304" pitchFamily="18" charset="0"/>
              </a:rPr>
              <a:t> = 16 </a:t>
            </a:r>
            <a:r>
              <a:rPr lang="en-US" altLang="en-US" sz="3600" dirty="0">
                <a:latin typeface="Times New Roman" panose="02020603050405020304" pitchFamily="18" charset="0"/>
                <a:sym typeface="Symbol" panose="05050102010706020507" pitchFamily="18" charset="2"/>
              </a:rPr>
              <a:t></a:t>
            </a:r>
            <a:r>
              <a:rPr lang="en-US" altLang="en-US" sz="3600" baseline="-25000" dirty="0">
                <a:latin typeface="Times New Roman" panose="02020603050405020304" pitchFamily="18" charset="0"/>
                <a:sym typeface="Symbol" panose="05050102010706020507" pitchFamily="18" charset="2"/>
              </a:rPr>
              <a:t>11</a:t>
            </a:r>
            <a:r>
              <a:rPr lang="en-US" altLang="en-US" sz="3600" dirty="0">
                <a:latin typeface="Times New Roman" panose="02020603050405020304" pitchFamily="18" charset="0"/>
              </a:rPr>
              <a:t> 5 	2</a:t>
            </a:r>
            <a:r>
              <a:rPr lang="en-US" altLang="en-US" sz="3600" baseline="30000" dirty="0">
                <a:latin typeface="Times New Roman" panose="02020603050405020304" pitchFamily="18" charset="0"/>
              </a:rPr>
              <a:t>9</a:t>
            </a:r>
            <a:r>
              <a:rPr lang="en-US" altLang="en-US" sz="3600" dirty="0">
                <a:latin typeface="Times New Roman" panose="02020603050405020304" pitchFamily="18" charset="0"/>
              </a:rPr>
              <a:t> = 512 </a:t>
            </a:r>
            <a:r>
              <a:rPr lang="en-US" altLang="en-US" sz="3600" dirty="0">
                <a:latin typeface="Times New Roman" panose="02020603050405020304" pitchFamily="18" charset="0"/>
                <a:sym typeface="Symbol" panose="05050102010706020507" pitchFamily="18" charset="2"/>
              </a:rPr>
              <a:t></a:t>
            </a:r>
            <a:r>
              <a:rPr lang="en-US" altLang="en-US" sz="3600" baseline="-25000" dirty="0">
                <a:latin typeface="Times New Roman" panose="02020603050405020304" pitchFamily="18" charset="0"/>
                <a:sym typeface="Symbol" panose="05050102010706020507" pitchFamily="18" charset="2"/>
              </a:rPr>
              <a:t>11</a:t>
            </a:r>
            <a:r>
              <a:rPr lang="en-US" altLang="en-US" sz="3600" dirty="0">
                <a:latin typeface="Times New Roman" panose="02020603050405020304" pitchFamily="18" charset="0"/>
              </a:rPr>
              <a:t> 6</a:t>
            </a:r>
            <a:endParaRPr lang="en-US" altLang="en-US" sz="3600" dirty="0"/>
          </a:p>
          <a:p>
            <a:pPr>
              <a:buFontTx/>
              <a:buNone/>
            </a:pPr>
            <a:r>
              <a:rPr lang="en-US" altLang="en-US" sz="3600" dirty="0"/>
              <a:t>	 </a:t>
            </a:r>
            <a:r>
              <a:rPr lang="en-US" altLang="en-US" sz="3600" dirty="0">
                <a:latin typeface="Times New Roman" panose="02020603050405020304" pitchFamily="18" charset="0"/>
              </a:rPr>
              <a:t>2</a:t>
            </a:r>
            <a:r>
              <a:rPr lang="en-US" altLang="en-US" sz="3600" baseline="30000" dirty="0">
                <a:latin typeface="Times New Roman" panose="02020603050405020304" pitchFamily="18" charset="0"/>
              </a:rPr>
              <a:t>5</a:t>
            </a:r>
            <a:r>
              <a:rPr lang="en-US" altLang="en-US" sz="3600" dirty="0">
                <a:latin typeface="Times New Roman" panose="02020603050405020304" pitchFamily="18" charset="0"/>
              </a:rPr>
              <a:t> = 32 </a:t>
            </a:r>
            <a:r>
              <a:rPr lang="en-US" altLang="en-US" sz="3600" dirty="0">
                <a:latin typeface="Times New Roman" panose="02020603050405020304" pitchFamily="18" charset="0"/>
                <a:sym typeface="Symbol" panose="05050102010706020507" pitchFamily="18" charset="2"/>
              </a:rPr>
              <a:t></a:t>
            </a:r>
            <a:r>
              <a:rPr lang="en-US" altLang="en-US" sz="3600" baseline="-25000" dirty="0">
                <a:latin typeface="Times New Roman" panose="02020603050405020304" pitchFamily="18" charset="0"/>
                <a:sym typeface="Symbol" panose="05050102010706020507" pitchFamily="18" charset="2"/>
              </a:rPr>
              <a:t>11</a:t>
            </a:r>
            <a:r>
              <a:rPr lang="en-US" altLang="en-US" sz="3600" dirty="0">
                <a:latin typeface="Times New Roman" panose="02020603050405020304" pitchFamily="18" charset="0"/>
              </a:rPr>
              <a:t> 10</a:t>
            </a:r>
            <a:r>
              <a:rPr lang="en-US" altLang="en-US" sz="3600" dirty="0"/>
              <a:t> </a:t>
            </a:r>
            <a:r>
              <a:rPr lang="en-US" altLang="en-US" sz="3600" dirty="0">
                <a:latin typeface="Times New Roman" panose="02020603050405020304" pitchFamily="18" charset="0"/>
              </a:rPr>
              <a:t>	2</a:t>
            </a:r>
            <a:r>
              <a:rPr lang="en-US" altLang="en-US" sz="3600" baseline="30000" dirty="0">
                <a:latin typeface="Times New Roman" panose="02020603050405020304" pitchFamily="18" charset="0"/>
              </a:rPr>
              <a:t>10</a:t>
            </a:r>
            <a:r>
              <a:rPr lang="en-US" altLang="en-US" sz="3600" dirty="0">
                <a:latin typeface="Times New Roman" panose="02020603050405020304" pitchFamily="18" charset="0"/>
              </a:rPr>
              <a:t> = 1024 </a:t>
            </a:r>
            <a:r>
              <a:rPr lang="en-US" altLang="en-US" sz="3600" dirty="0">
                <a:latin typeface="Times New Roman" panose="02020603050405020304" pitchFamily="18" charset="0"/>
                <a:sym typeface="Symbol" panose="05050102010706020507" pitchFamily="18" charset="2"/>
              </a:rPr>
              <a:t></a:t>
            </a:r>
            <a:r>
              <a:rPr lang="en-US" altLang="en-US" sz="3600" baseline="-25000" dirty="0">
                <a:latin typeface="Times New Roman" panose="02020603050405020304" pitchFamily="18" charset="0"/>
                <a:sym typeface="Symbol" panose="05050102010706020507" pitchFamily="18" charset="2"/>
              </a:rPr>
              <a:t>11</a:t>
            </a:r>
            <a:r>
              <a:rPr lang="en-US" altLang="en-US" sz="3600" dirty="0">
                <a:latin typeface="Times New Roman" panose="02020603050405020304" pitchFamily="18" charset="0"/>
              </a:rPr>
              <a:t> 1</a:t>
            </a:r>
            <a:endParaRPr lang="en-US" altLang="en-US" sz="3600" dirty="0"/>
          </a:p>
          <a:p>
            <a:pPr>
              <a:buFontTx/>
              <a:buNone/>
            </a:pPr>
            <a:endParaRPr lang="en-US" altLang="en-US" sz="3600" dirty="0"/>
          </a:p>
        </p:txBody>
      </p:sp>
      <p:sp>
        <p:nvSpPr>
          <p:cNvPr id="693252" name="Text Box 4">
            <a:extLst>
              <a:ext uri="{FF2B5EF4-FFF2-40B4-BE49-F238E27FC236}">
                <a16:creationId xmlns:a16="http://schemas.microsoft.com/office/drawing/2014/main" xmlns="" id="{D1ADB703-7EEF-4161-B08B-DE5FB72A4E01}"/>
              </a:ext>
            </a:extLst>
          </p:cNvPr>
          <p:cNvSpPr txBox="1">
            <a:spLocks noChangeArrowheads="1"/>
          </p:cNvSpPr>
          <p:nvPr/>
        </p:nvSpPr>
        <p:spPr bwMode="auto">
          <a:xfrm>
            <a:off x="3284539" y="5461000"/>
            <a:ext cx="3892669" cy="369332"/>
          </a:xfrm>
          <a:prstGeom prst="rect">
            <a:avLst/>
          </a:prstGeom>
          <a:noFill/>
          <a:ln>
            <a:noFill/>
          </a:ln>
          <a:effectLst/>
          <a:extLst>
            <a:ext uri="{909E8E84-426E-40DD-AFC4-6F175D3DCCD1}">
              <a14:hiddenFill xmlns:a14="http://schemas.microsoft.com/office/drawing/2010/main">
                <a:solidFill>
                  <a:srgbClr val="FFC8BB"/>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If q is prime, there must be a generator.</a:t>
            </a:r>
          </a:p>
        </p:txBody>
      </p:sp>
      <p:sp>
        <p:nvSpPr>
          <p:cNvPr id="2" name="TextBox 1">
            <a:extLst>
              <a:ext uri="{FF2B5EF4-FFF2-40B4-BE49-F238E27FC236}">
                <a16:creationId xmlns:a16="http://schemas.microsoft.com/office/drawing/2014/main" xmlns="" id="{7058133C-20BF-4F0D-A758-B71609A6872A}"/>
              </a:ext>
            </a:extLst>
          </p:cNvPr>
          <p:cNvSpPr txBox="1"/>
          <p:nvPr/>
        </p:nvSpPr>
        <p:spPr>
          <a:xfrm>
            <a:off x="372861" y="2104008"/>
            <a:ext cx="1651247" cy="1477328"/>
          </a:xfrm>
          <a:prstGeom prst="rect">
            <a:avLst/>
          </a:prstGeom>
          <a:noFill/>
          <a:ln>
            <a:solidFill>
              <a:schemeClr val="tx1"/>
            </a:solidFill>
          </a:ln>
        </p:spPr>
        <p:txBody>
          <a:bodyPr wrap="square" rtlCol="0">
            <a:spAutoFit/>
          </a:bodyPr>
          <a:lstStyle/>
          <a:p>
            <a:r>
              <a:rPr lang="en-US" dirty="0"/>
              <a:t>Q = 5</a:t>
            </a:r>
          </a:p>
          <a:p>
            <a:r>
              <a:rPr lang="en-US" dirty="0"/>
              <a:t>2^1 mod 5 = 2</a:t>
            </a:r>
          </a:p>
          <a:p>
            <a:r>
              <a:rPr lang="en-US" dirty="0"/>
              <a:t>2^2 mod 5= 4</a:t>
            </a:r>
          </a:p>
          <a:p>
            <a:r>
              <a:rPr lang="en-US" dirty="0"/>
              <a:t>2^3 mod 5=3</a:t>
            </a:r>
          </a:p>
          <a:p>
            <a:r>
              <a:rPr lang="en-US" dirty="0"/>
              <a:t>2^4 mod 5=1</a:t>
            </a:r>
          </a:p>
        </p:txBody>
      </p:sp>
      <p:sp>
        <p:nvSpPr>
          <p:cNvPr id="3" name="TextBox 2">
            <a:extLst>
              <a:ext uri="{FF2B5EF4-FFF2-40B4-BE49-F238E27FC236}">
                <a16:creationId xmlns:a16="http://schemas.microsoft.com/office/drawing/2014/main" xmlns="" id="{49BAF621-6059-4E9D-A455-64F91377E30D}"/>
              </a:ext>
            </a:extLst>
          </p:cNvPr>
          <p:cNvSpPr txBox="1"/>
          <p:nvPr/>
        </p:nvSpPr>
        <p:spPr>
          <a:xfrm>
            <a:off x="465707" y="3764132"/>
            <a:ext cx="1651247" cy="1477328"/>
          </a:xfrm>
          <a:prstGeom prst="rect">
            <a:avLst/>
          </a:prstGeom>
          <a:noFill/>
          <a:ln>
            <a:solidFill>
              <a:schemeClr val="tx1"/>
            </a:solidFill>
          </a:ln>
        </p:spPr>
        <p:txBody>
          <a:bodyPr wrap="square" rtlCol="0">
            <a:spAutoFit/>
          </a:bodyPr>
          <a:lstStyle/>
          <a:p>
            <a:r>
              <a:rPr lang="en-US" dirty="0"/>
              <a:t>Q=5</a:t>
            </a:r>
          </a:p>
          <a:p>
            <a:r>
              <a:rPr lang="en-US" dirty="0"/>
              <a:t>3^1 mod 5=3</a:t>
            </a:r>
          </a:p>
          <a:p>
            <a:r>
              <a:rPr lang="en-US" dirty="0"/>
              <a:t>3^2 mod 5=4</a:t>
            </a:r>
          </a:p>
          <a:p>
            <a:r>
              <a:rPr lang="en-US" dirty="0"/>
              <a:t>3^3 mod 5 =2</a:t>
            </a:r>
          </a:p>
          <a:p>
            <a:r>
              <a:rPr lang="en-US" dirty="0"/>
              <a:t>3^4 mod 5 = 1</a:t>
            </a:r>
          </a:p>
        </p:txBody>
      </p:sp>
      <p:sp>
        <p:nvSpPr>
          <p:cNvPr id="10" name="TextBox 9">
            <a:extLst>
              <a:ext uri="{FF2B5EF4-FFF2-40B4-BE49-F238E27FC236}">
                <a16:creationId xmlns:a16="http://schemas.microsoft.com/office/drawing/2014/main" xmlns="" id="{53826181-123C-4E6E-A3E8-F40DDC6C1789}"/>
              </a:ext>
            </a:extLst>
          </p:cNvPr>
          <p:cNvSpPr txBox="1"/>
          <p:nvPr/>
        </p:nvSpPr>
        <p:spPr>
          <a:xfrm>
            <a:off x="10167892" y="1800129"/>
            <a:ext cx="1651247" cy="1477328"/>
          </a:xfrm>
          <a:prstGeom prst="rect">
            <a:avLst/>
          </a:prstGeom>
          <a:noFill/>
          <a:ln>
            <a:solidFill>
              <a:schemeClr val="tx1"/>
            </a:solidFill>
          </a:ln>
        </p:spPr>
        <p:txBody>
          <a:bodyPr wrap="square" rtlCol="0">
            <a:spAutoFit/>
          </a:bodyPr>
          <a:lstStyle/>
          <a:p>
            <a:r>
              <a:rPr lang="en-US" dirty="0"/>
              <a:t>Q=5</a:t>
            </a:r>
          </a:p>
          <a:p>
            <a:r>
              <a:rPr lang="en-US" dirty="0"/>
              <a:t>4^1 mod 5=4</a:t>
            </a:r>
          </a:p>
          <a:p>
            <a:r>
              <a:rPr lang="en-US" dirty="0"/>
              <a:t>4^2 mod 5=1</a:t>
            </a:r>
          </a:p>
          <a:p>
            <a:r>
              <a:rPr lang="en-US" dirty="0"/>
              <a:t>4^3 mod 5 =4</a:t>
            </a:r>
          </a:p>
          <a:p>
            <a:r>
              <a:rPr lang="en-US" dirty="0"/>
              <a:t>4^4 mod 5 = 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93252"/>
                                        </p:tgtEl>
                                        <p:attrNameLst>
                                          <p:attrName>style.visibility</p:attrName>
                                        </p:attrNameLst>
                                      </p:cBhvr>
                                      <p:to>
                                        <p:strVal val="visible"/>
                                      </p:to>
                                    </p:set>
                                    <p:animEffect transition="in" filter="barn(inHorizontal)">
                                      <p:cBhvr>
                                        <p:cTn id="7" dur="500"/>
                                        <p:tgtEl>
                                          <p:spTgt spid="693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3252"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xmlns="" id="{01B55418-344F-4D6E-8B8E-97383BEC3029}"/>
              </a:ext>
            </a:extLst>
          </p:cNvPr>
          <p:cNvSpPr>
            <a:spLocks noGrp="1"/>
          </p:cNvSpPr>
          <p:nvPr>
            <p:ph type="sldNum" sz="quarter" idx="12"/>
          </p:nvPr>
        </p:nvSpPr>
        <p:spPr/>
        <p:txBody>
          <a:bodyPr/>
          <a:lstStyle/>
          <a:p>
            <a:fld id="{714FE89E-6EE7-4127-9FB8-40D7838C8396}" type="slidenum">
              <a:rPr lang="en-US" altLang="en-US"/>
              <a:pPr/>
              <a:t>21</a:t>
            </a:fld>
            <a:endParaRPr lang="en-US" altLang="en-US"/>
          </a:p>
        </p:txBody>
      </p:sp>
      <p:sp>
        <p:nvSpPr>
          <p:cNvPr id="677890" name="Rectangle 2">
            <a:extLst>
              <a:ext uri="{FF2B5EF4-FFF2-40B4-BE49-F238E27FC236}">
                <a16:creationId xmlns:a16="http://schemas.microsoft.com/office/drawing/2014/main" xmlns="" id="{AE9FCAE4-0C01-43D3-8761-9549C702D237}"/>
              </a:ext>
            </a:extLst>
          </p:cNvPr>
          <p:cNvSpPr>
            <a:spLocks noGrp="1" noChangeArrowheads="1"/>
          </p:cNvSpPr>
          <p:nvPr>
            <p:ph type="title"/>
          </p:nvPr>
        </p:nvSpPr>
        <p:spPr/>
        <p:txBody>
          <a:bodyPr/>
          <a:lstStyle/>
          <a:p>
            <a:r>
              <a:rPr lang="en-US" altLang="en-US"/>
              <a:t>Diffie-Hellman Example</a:t>
            </a:r>
            <a:endParaRPr lang="en-US" altLang="en-US" i="1"/>
          </a:p>
        </p:txBody>
      </p:sp>
      <p:sp>
        <p:nvSpPr>
          <p:cNvPr id="677891" name="Rectangle 3">
            <a:extLst>
              <a:ext uri="{FF2B5EF4-FFF2-40B4-BE49-F238E27FC236}">
                <a16:creationId xmlns:a16="http://schemas.microsoft.com/office/drawing/2014/main" xmlns="" id="{3EB1AC8A-C51C-4F4A-A0B3-17957B1CD79F}"/>
              </a:ext>
            </a:extLst>
          </p:cNvPr>
          <p:cNvSpPr>
            <a:spLocks noGrp="1" noChangeArrowheads="1"/>
          </p:cNvSpPr>
          <p:nvPr>
            <p:ph type="body" idx="1"/>
          </p:nvPr>
        </p:nvSpPr>
        <p:spPr>
          <a:xfrm>
            <a:off x="2101850" y="1657350"/>
            <a:ext cx="7772400" cy="4114800"/>
          </a:xfrm>
        </p:spPr>
        <p:txBody>
          <a:bodyPr>
            <a:normAutofit lnSpcReduction="10000"/>
          </a:bodyPr>
          <a:lstStyle/>
          <a:p>
            <a:pPr marL="533400" indent="-533400">
              <a:buFontTx/>
              <a:buAutoNum type="arabicPeriod"/>
            </a:pPr>
            <a:r>
              <a:rPr lang="en-US" altLang="en-US" dirty="0"/>
              <a:t>Choose public numbers: </a:t>
            </a:r>
            <a:r>
              <a:rPr lang="en-US" altLang="en-US" i="1" dirty="0">
                <a:latin typeface="Times New Roman" panose="02020603050405020304" pitchFamily="18" charset="0"/>
              </a:rPr>
              <a:t>q</a:t>
            </a:r>
            <a:r>
              <a:rPr lang="en-US" altLang="en-US" dirty="0"/>
              <a:t> (large prime number), </a:t>
            </a:r>
            <a:r>
              <a:rPr lang="en-US" altLang="en-US" dirty="0">
                <a:latin typeface="Times New Roman" panose="02020603050405020304" pitchFamily="18" charset="0"/>
                <a:sym typeface="Symbol" panose="05050102010706020507" pitchFamily="18" charset="2"/>
              </a:rPr>
              <a:t> </a:t>
            </a:r>
            <a:r>
              <a:rPr lang="en-US" altLang="en-US" dirty="0"/>
              <a:t>(generator mod </a:t>
            </a:r>
            <a:r>
              <a:rPr lang="en-US" altLang="en-US" i="1" dirty="0">
                <a:latin typeface="Times New Roman" panose="02020603050405020304" pitchFamily="18" charset="0"/>
              </a:rPr>
              <a:t>q</a:t>
            </a:r>
            <a:r>
              <a:rPr lang="en-US" altLang="en-US" dirty="0"/>
              <a:t>):</a:t>
            </a:r>
          </a:p>
          <a:p>
            <a:pPr marL="914400" lvl="1" indent="-457200">
              <a:buNone/>
            </a:pPr>
            <a:r>
              <a:rPr lang="en-US" altLang="en-US" i="1" dirty="0">
                <a:latin typeface="Times New Roman" panose="02020603050405020304" pitchFamily="18" charset="0"/>
              </a:rPr>
              <a:t> 	q </a:t>
            </a:r>
            <a:r>
              <a:rPr lang="en-US" altLang="en-US" dirty="0">
                <a:latin typeface="Times New Roman" panose="02020603050405020304" pitchFamily="18" charset="0"/>
              </a:rPr>
              <a:t>= 11</a:t>
            </a:r>
            <a:r>
              <a:rPr lang="en-US" altLang="en-US" i="1" dirty="0">
                <a:latin typeface="Times New Roman" panose="02020603050405020304" pitchFamily="18" charset="0"/>
              </a:rPr>
              <a:t>, </a:t>
            </a:r>
            <a:r>
              <a:rPr lang="en-US" altLang="en-US" dirty="0">
                <a:latin typeface="Times New Roman" panose="02020603050405020304" pitchFamily="18" charset="0"/>
                <a:sym typeface="Symbol" panose="05050102010706020507" pitchFamily="18" charset="2"/>
              </a:rPr>
              <a:t> = 2</a:t>
            </a:r>
            <a:endParaRPr lang="en-US" altLang="en-US" i="1" dirty="0">
              <a:latin typeface="Times New Roman" panose="02020603050405020304" pitchFamily="18" charset="0"/>
            </a:endParaRPr>
          </a:p>
          <a:p>
            <a:pPr marL="533400" indent="-533400">
              <a:buFontTx/>
              <a:buAutoNum type="arabicPeriod"/>
            </a:pPr>
            <a:r>
              <a:rPr lang="en-US" altLang="en-US" dirty="0"/>
              <a:t>A generates random </a:t>
            </a:r>
            <a:r>
              <a:rPr lang="en-US" altLang="en-US" dirty="0">
                <a:latin typeface="Times New Roman" panose="02020603050405020304" pitchFamily="18" charset="0"/>
              </a:rPr>
              <a:t>X</a:t>
            </a:r>
            <a:r>
              <a:rPr lang="en-US" altLang="en-US" baseline="-25000" dirty="0">
                <a:latin typeface="Times New Roman" panose="02020603050405020304" pitchFamily="18" charset="0"/>
              </a:rPr>
              <a:t>A</a:t>
            </a:r>
            <a:r>
              <a:rPr lang="en-US" altLang="en-US" baseline="-25000" dirty="0"/>
              <a:t> </a:t>
            </a:r>
            <a:r>
              <a:rPr lang="en-US" altLang="en-US" dirty="0"/>
              <a:t>and sends B: </a:t>
            </a:r>
          </a:p>
          <a:p>
            <a:pPr marL="533400" indent="-533400">
              <a:buNone/>
            </a:pPr>
            <a:r>
              <a:rPr lang="en-US" altLang="en-US" dirty="0">
                <a:latin typeface="Times New Roman" panose="02020603050405020304" pitchFamily="18" charset="0"/>
              </a:rPr>
              <a:t>		Y</a:t>
            </a:r>
            <a:r>
              <a:rPr lang="en-US" altLang="en-US" baseline="-25000" dirty="0">
                <a:latin typeface="Times New Roman" panose="02020603050405020304" pitchFamily="18" charset="0"/>
              </a:rPr>
              <a:t>A </a:t>
            </a:r>
            <a:r>
              <a:rPr lang="en-US" altLang="en-US" dirty="0">
                <a:latin typeface="Times New Roman" panose="02020603050405020304" pitchFamily="18" charset="0"/>
              </a:rPr>
              <a:t>=</a:t>
            </a:r>
            <a:r>
              <a:rPr lang="en-US" altLang="en-US" baseline="-25000" dirty="0">
                <a:latin typeface="Times New Roman" panose="02020603050405020304" pitchFamily="18" charset="0"/>
              </a:rPr>
              <a:t>  </a:t>
            </a:r>
            <a:r>
              <a:rPr lang="en-US" altLang="en-US" dirty="0">
                <a:latin typeface="Times New Roman" panose="02020603050405020304" pitchFamily="18" charset="0"/>
                <a:sym typeface="Symbol" panose="05050102010706020507" pitchFamily="18" charset="2"/>
              </a:rPr>
              <a:t></a:t>
            </a:r>
            <a:r>
              <a:rPr lang="en-US" altLang="en-US" baseline="30000" dirty="0">
                <a:latin typeface="Times New Roman" panose="02020603050405020304" pitchFamily="18" charset="0"/>
              </a:rPr>
              <a:t>X</a:t>
            </a:r>
            <a:r>
              <a:rPr lang="en-US" altLang="en-US" sz="2400" baseline="18000" dirty="0">
                <a:latin typeface="Times New Roman" panose="02020603050405020304" pitchFamily="18" charset="0"/>
              </a:rPr>
              <a:t>A </a:t>
            </a:r>
            <a:r>
              <a:rPr lang="en-US" altLang="en-US" dirty="0">
                <a:latin typeface="Times New Roman" panose="02020603050405020304" pitchFamily="18" charset="0"/>
              </a:rPr>
              <a:t>mod </a:t>
            </a:r>
            <a:r>
              <a:rPr lang="en-US" altLang="en-US" i="1" dirty="0">
                <a:latin typeface="Times New Roman" panose="02020603050405020304" pitchFamily="18" charset="0"/>
              </a:rPr>
              <a:t>q.</a:t>
            </a:r>
          </a:p>
          <a:p>
            <a:pPr marL="533400" indent="-533400">
              <a:buNone/>
            </a:pPr>
            <a:r>
              <a:rPr lang="en-US" altLang="en-US" dirty="0">
                <a:latin typeface="Times New Roman" panose="02020603050405020304" pitchFamily="18" charset="0"/>
              </a:rPr>
              <a:t>	    X</a:t>
            </a:r>
            <a:r>
              <a:rPr lang="en-US" altLang="en-US" baseline="-25000" dirty="0">
                <a:latin typeface="Times New Roman" panose="02020603050405020304" pitchFamily="18" charset="0"/>
              </a:rPr>
              <a:t>A </a:t>
            </a:r>
            <a:r>
              <a:rPr lang="en-US" altLang="en-US" dirty="0">
                <a:latin typeface="Times New Roman" panose="02020603050405020304" pitchFamily="18" charset="0"/>
              </a:rPr>
              <a:t>= 4, Y</a:t>
            </a:r>
            <a:r>
              <a:rPr lang="en-US" altLang="en-US" baseline="-25000" dirty="0">
                <a:latin typeface="Times New Roman" panose="02020603050405020304" pitchFamily="18" charset="0"/>
              </a:rPr>
              <a:t>A </a:t>
            </a:r>
            <a:r>
              <a:rPr lang="en-US" altLang="en-US" dirty="0">
                <a:latin typeface="Times New Roman" panose="02020603050405020304" pitchFamily="18" charset="0"/>
              </a:rPr>
              <a:t>=</a:t>
            </a:r>
            <a:r>
              <a:rPr lang="en-US" altLang="en-US" baseline="-25000" dirty="0">
                <a:latin typeface="Times New Roman" panose="02020603050405020304" pitchFamily="18" charset="0"/>
              </a:rPr>
              <a:t>  </a:t>
            </a:r>
            <a:r>
              <a:rPr lang="en-US" altLang="en-US" dirty="0">
                <a:latin typeface="Times New Roman" panose="02020603050405020304" pitchFamily="18" charset="0"/>
                <a:sym typeface="Symbol" panose="05050102010706020507" pitchFamily="18" charset="2"/>
              </a:rPr>
              <a:t>2</a:t>
            </a:r>
            <a:r>
              <a:rPr lang="en-US" altLang="en-US" baseline="30000" dirty="0">
                <a:latin typeface="Times New Roman" panose="02020603050405020304" pitchFamily="18" charset="0"/>
              </a:rPr>
              <a:t>4</a:t>
            </a:r>
            <a:r>
              <a:rPr lang="en-US" altLang="en-US" sz="2400" baseline="18000" dirty="0">
                <a:latin typeface="Times New Roman" panose="02020603050405020304" pitchFamily="18" charset="0"/>
              </a:rPr>
              <a:t> </a:t>
            </a:r>
            <a:r>
              <a:rPr lang="en-US" altLang="en-US" dirty="0">
                <a:latin typeface="Times New Roman" panose="02020603050405020304" pitchFamily="18" charset="0"/>
              </a:rPr>
              <a:t>mod 11 = 16 mod 11 = 5</a:t>
            </a:r>
            <a:endParaRPr lang="en-US" altLang="en-US" i="1" dirty="0">
              <a:latin typeface="Times New Roman" panose="02020603050405020304" pitchFamily="18" charset="0"/>
            </a:endParaRPr>
          </a:p>
          <a:p>
            <a:pPr marL="533400" indent="-533400">
              <a:buFontTx/>
              <a:buAutoNum type="arabicPeriod" startAt="3"/>
            </a:pPr>
            <a:r>
              <a:rPr lang="en-US" altLang="en-US" dirty="0"/>
              <a:t>B generates random </a:t>
            </a:r>
            <a:r>
              <a:rPr lang="en-US" altLang="en-US" dirty="0">
                <a:latin typeface="Times New Roman" panose="02020603050405020304" pitchFamily="18" charset="0"/>
              </a:rPr>
              <a:t>X</a:t>
            </a:r>
            <a:r>
              <a:rPr lang="en-US" altLang="en-US" baseline="-25000" dirty="0">
                <a:latin typeface="Times New Roman" panose="02020603050405020304" pitchFamily="18" charset="0"/>
              </a:rPr>
              <a:t>B</a:t>
            </a:r>
            <a:r>
              <a:rPr lang="en-US" altLang="en-US" baseline="-25000" dirty="0"/>
              <a:t> </a:t>
            </a:r>
            <a:r>
              <a:rPr lang="en-US" altLang="en-US" dirty="0"/>
              <a:t>and sends A:</a:t>
            </a:r>
          </a:p>
          <a:p>
            <a:pPr marL="533400" indent="-533400">
              <a:buNone/>
            </a:pPr>
            <a:r>
              <a:rPr lang="en-US" altLang="en-US" dirty="0">
                <a:latin typeface="Times New Roman" panose="02020603050405020304" pitchFamily="18" charset="0"/>
              </a:rPr>
              <a:t>		Y</a:t>
            </a:r>
            <a:r>
              <a:rPr lang="en-US" altLang="en-US" baseline="-25000" dirty="0">
                <a:latin typeface="Times New Roman" panose="02020603050405020304" pitchFamily="18" charset="0"/>
              </a:rPr>
              <a:t>B </a:t>
            </a:r>
            <a:r>
              <a:rPr lang="en-US" altLang="en-US" dirty="0">
                <a:latin typeface="Times New Roman" panose="02020603050405020304" pitchFamily="18" charset="0"/>
              </a:rPr>
              <a:t>=</a:t>
            </a:r>
            <a:r>
              <a:rPr lang="en-US" altLang="en-US" baseline="-25000" dirty="0">
                <a:latin typeface="Times New Roman" panose="02020603050405020304" pitchFamily="18" charset="0"/>
              </a:rPr>
              <a:t>  </a:t>
            </a:r>
            <a:r>
              <a:rPr lang="en-US" altLang="en-US" dirty="0">
                <a:latin typeface="Times New Roman" panose="02020603050405020304" pitchFamily="18" charset="0"/>
                <a:sym typeface="Symbol" panose="05050102010706020507" pitchFamily="18" charset="2"/>
              </a:rPr>
              <a:t> </a:t>
            </a:r>
            <a:r>
              <a:rPr lang="en-US" altLang="en-US" baseline="30000" dirty="0">
                <a:latin typeface="Times New Roman" panose="02020603050405020304" pitchFamily="18" charset="0"/>
              </a:rPr>
              <a:t>X</a:t>
            </a:r>
            <a:r>
              <a:rPr lang="en-US" altLang="en-US" sz="2400" baseline="18000" dirty="0">
                <a:latin typeface="Times New Roman" panose="02020603050405020304" pitchFamily="18" charset="0"/>
              </a:rPr>
              <a:t>B </a:t>
            </a:r>
            <a:r>
              <a:rPr lang="en-US" altLang="en-US" dirty="0">
                <a:latin typeface="Times New Roman" panose="02020603050405020304" pitchFamily="18" charset="0"/>
              </a:rPr>
              <a:t>mod </a:t>
            </a:r>
            <a:r>
              <a:rPr lang="en-US" altLang="en-US" i="1" dirty="0">
                <a:latin typeface="Times New Roman" panose="02020603050405020304" pitchFamily="18" charset="0"/>
              </a:rPr>
              <a:t>q.</a:t>
            </a:r>
          </a:p>
          <a:p>
            <a:pPr marL="533400" indent="-533400">
              <a:buNone/>
            </a:pPr>
            <a:r>
              <a:rPr lang="en-US" altLang="en-US" i="1" dirty="0">
                <a:latin typeface="Times New Roman" panose="02020603050405020304" pitchFamily="18" charset="0"/>
              </a:rPr>
              <a:t>		</a:t>
            </a:r>
            <a:r>
              <a:rPr lang="en-US" altLang="en-US" dirty="0">
                <a:latin typeface="Times New Roman" panose="02020603050405020304" pitchFamily="18" charset="0"/>
              </a:rPr>
              <a:t>X</a:t>
            </a:r>
            <a:r>
              <a:rPr lang="en-US" altLang="en-US" baseline="-25000" dirty="0">
                <a:latin typeface="Times New Roman" panose="02020603050405020304" pitchFamily="18" charset="0"/>
              </a:rPr>
              <a:t>B </a:t>
            </a:r>
            <a:r>
              <a:rPr lang="en-US" altLang="en-US" dirty="0">
                <a:latin typeface="Times New Roman" panose="02020603050405020304" pitchFamily="18" charset="0"/>
              </a:rPr>
              <a:t>= 6, Y</a:t>
            </a:r>
            <a:r>
              <a:rPr lang="en-US" altLang="en-US" baseline="-25000" dirty="0">
                <a:latin typeface="Times New Roman" panose="02020603050405020304" pitchFamily="18" charset="0"/>
              </a:rPr>
              <a:t>B </a:t>
            </a:r>
            <a:r>
              <a:rPr lang="en-US" altLang="en-US" dirty="0">
                <a:latin typeface="Times New Roman" panose="02020603050405020304" pitchFamily="18" charset="0"/>
              </a:rPr>
              <a:t>=</a:t>
            </a:r>
            <a:r>
              <a:rPr lang="en-US" altLang="en-US" baseline="-25000" dirty="0">
                <a:latin typeface="Times New Roman" panose="02020603050405020304" pitchFamily="18" charset="0"/>
              </a:rPr>
              <a:t>  </a:t>
            </a:r>
            <a:r>
              <a:rPr lang="en-US" altLang="en-US" dirty="0">
                <a:latin typeface="Times New Roman" panose="02020603050405020304" pitchFamily="18" charset="0"/>
                <a:sym typeface="Symbol" panose="05050102010706020507" pitchFamily="18" charset="2"/>
              </a:rPr>
              <a:t>2</a:t>
            </a:r>
            <a:r>
              <a:rPr lang="en-US" altLang="en-US" baseline="30000" dirty="0">
                <a:latin typeface="Times New Roman" panose="02020603050405020304" pitchFamily="18" charset="0"/>
              </a:rPr>
              <a:t>6</a:t>
            </a:r>
            <a:r>
              <a:rPr lang="en-US" altLang="en-US" sz="2400" baseline="18000" dirty="0">
                <a:latin typeface="Times New Roman" panose="02020603050405020304" pitchFamily="18" charset="0"/>
              </a:rPr>
              <a:t> </a:t>
            </a:r>
            <a:r>
              <a:rPr lang="en-US" altLang="en-US" dirty="0">
                <a:latin typeface="Times New Roman" panose="02020603050405020304" pitchFamily="18" charset="0"/>
              </a:rPr>
              <a:t>mod 11 = 64 mod 11 = 9</a:t>
            </a:r>
            <a:endParaRPr lang="en-US" altLang="en-US" i="1" dirty="0">
              <a:latin typeface="Times New Roman" panose="02020603050405020304" pitchFamily="18" charset="0"/>
            </a:endParaRPr>
          </a:p>
        </p:txBody>
      </p:sp>
      <p:sp>
        <p:nvSpPr>
          <p:cNvPr id="677892" name="Text Box 4">
            <a:extLst>
              <a:ext uri="{FF2B5EF4-FFF2-40B4-BE49-F238E27FC236}">
                <a16:creationId xmlns:a16="http://schemas.microsoft.com/office/drawing/2014/main" xmlns="" id="{69BA1A5C-FFD4-48CB-8846-515991B71CD6}"/>
              </a:ext>
            </a:extLst>
          </p:cNvPr>
          <p:cNvSpPr txBox="1">
            <a:spLocks noChangeArrowheads="1"/>
          </p:cNvSpPr>
          <p:nvPr/>
        </p:nvSpPr>
        <p:spPr bwMode="auto">
          <a:xfrm>
            <a:off x="3548064" y="5938839"/>
            <a:ext cx="6179449" cy="276999"/>
          </a:xfrm>
          <a:prstGeom prst="rect">
            <a:avLst/>
          </a:prstGeom>
          <a:noFill/>
          <a:ln>
            <a:noFill/>
          </a:ln>
          <a:effectLst/>
          <a:extLst>
            <a:ext uri="{909E8E84-426E-40DD-AFC4-6F175D3DCCD1}">
              <a14:hiddenFill xmlns:a14="http://schemas.microsoft.com/office/drawing/2010/main">
                <a:solidFill>
                  <a:srgbClr val="FFC8BB"/>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dirty="0"/>
              <a:t>Example from Tom </a:t>
            </a:r>
            <a:r>
              <a:rPr lang="en-US" altLang="en-US" sz="1200" dirty="0" err="1"/>
              <a:t>Dunigan’s</a:t>
            </a:r>
            <a:r>
              <a:rPr lang="en-US" altLang="en-US" sz="1200" dirty="0"/>
              <a:t> notes: http://www.cs.utk.edu/~dunigan/cs594-cns00/class14.html</a:t>
            </a:r>
          </a:p>
        </p:txBody>
      </p:sp>
      <p:sp>
        <p:nvSpPr>
          <p:cNvPr id="677899" name="Text Box 11">
            <a:extLst>
              <a:ext uri="{FF2B5EF4-FFF2-40B4-BE49-F238E27FC236}">
                <a16:creationId xmlns:a16="http://schemas.microsoft.com/office/drawing/2014/main" xmlns="" id="{11A4F85C-FA71-4C8C-A825-78AACA7B49FB}"/>
              </a:ext>
            </a:extLst>
          </p:cNvPr>
          <p:cNvSpPr txBox="1">
            <a:spLocks noChangeArrowheads="1"/>
          </p:cNvSpPr>
          <p:nvPr/>
        </p:nvSpPr>
        <p:spPr bwMode="auto">
          <a:xfrm>
            <a:off x="6537326" y="5754688"/>
            <a:ext cx="184731" cy="369332"/>
          </a:xfrm>
          <a:prstGeom prst="rect">
            <a:avLst/>
          </a:prstGeom>
          <a:noFill/>
          <a:ln>
            <a:noFill/>
          </a:ln>
          <a:effectLst/>
          <a:extLst>
            <a:ext uri="{909E8E84-426E-40DD-AFC4-6F175D3DCCD1}">
              <a14:hiddenFill xmlns:a14="http://schemas.microsoft.com/office/drawing/2010/main">
                <a:solidFill>
                  <a:srgbClr val="FFC8BB"/>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77891">
                                            <p:txEl>
                                              <p:pRg st="0" end="0"/>
                                            </p:txEl>
                                          </p:spTgt>
                                        </p:tgtEl>
                                        <p:attrNameLst>
                                          <p:attrName>style.visibility</p:attrName>
                                        </p:attrNameLst>
                                      </p:cBhvr>
                                      <p:to>
                                        <p:strVal val="visible"/>
                                      </p:to>
                                    </p:set>
                                    <p:anim calcmode="lin" valueType="num">
                                      <p:cBhvr additive="base">
                                        <p:cTn id="7" dur="500" fill="hold"/>
                                        <p:tgtEl>
                                          <p:spTgt spid="6778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778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77891">
                                            <p:txEl>
                                              <p:pRg st="1" end="1"/>
                                            </p:txEl>
                                          </p:spTgt>
                                        </p:tgtEl>
                                        <p:attrNameLst>
                                          <p:attrName>style.visibility</p:attrName>
                                        </p:attrNameLst>
                                      </p:cBhvr>
                                      <p:to>
                                        <p:strVal val="visible"/>
                                      </p:to>
                                    </p:set>
                                    <p:anim calcmode="lin" valueType="num">
                                      <p:cBhvr additive="base">
                                        <p:cTn id="13" dur="500" fill="hold"/>
                                        <p:tgtEl>
                                          <p:spTgt spid="67789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778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77891">
                                            <p:txEl>
                                              <p:pRg st="2" end="2"/>
                                            </p:txEl>
                                          </p:spTgt>
                                        </p:tgtEl>
                                        <p:attrNameLst>
                                          <p:attrName>style.visibility</p:attrName>
                                        </p:attrNameLst>
                                      </p:cBhvr>
                                      <p:to>
                                        <p:strVal val="visible"/>
                                      </p:to>
                                    </p:set>
                                    <p:anim calcmode="lin" valueType="num">
                                      <p:cBhvr additive="base">
                                        <p:cTn id="19" dur="500" fill="hold"/>
                                        <p:tgtEl>
                                          <p:spTgt spid="67789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7789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77891">
                                            <p:txEl>
                                              <p:pRg st="3" end="3"/>
                                            </p:txEl>
                                          </p:spTgt>
                                        </p:tgtEl>
                                        <p:attrNameLst>
                                          <p:attrName>style.visibility</p:attrName>
                                        </p:attrNameLst>
                                      </p:cBhvr>
                                      <p:to>
                                        <p:strVal val="visible"/>
                                      </p:to>
                                    </p:set>
                                    <p:anim calcmode="lin" valueType="num">
                                      <p:cBhvr additive="base">
                                        <p:cTn id="25" dur="500" fill="hold"/>
                                        <p:tgtEl>
                                          <p:spTgt spid="67789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7789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77891">
                                            <p:txEl>
                                              <p:pRg st="4" end="4"/>
                                            </p:txEl>
                                          </p:spTgt>
                                        </p:tgtEl>
                                        <p:attrNameLst>
                                          <p:attrName>style.visibility</p:attrName>
                                        </p:attrNameLst>
                                      </p:cBhvr>
                                      <p:to>
                                        <p:strVal val="visible"/>
                                      </p:to>
                                    </p:set>
                                    <p:anim calcmode="lin" valueType="num">
                                      <p:cBhvr additive="base">
                                        <p:cTn id="31" dur="500" fill="hold"/>
                                        <p:tgtEl>
                                          <p:spTgt spid="67789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7789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677891">
                                            <p:txEl>
                                              <p:pRg st="5" end="5"/>
                                            </p:txEl>
                                          </p:spTgt>
                                        </p:tgtEl>
                                        <p:attrNameLst>
                                          <p:attrName>style.visibility</p:attrName>
                                        </p:attrNameLst>
                                      </p:cBhvr>
                                      <p:to>
                                        <p:strVal val="visible"/>
                                      </p:to>
                                    </p:set>
                                    <p:anim calcmode="lin" valueType="num">
                                      <p:cBhvr additive="base">
                                        <p:cTn id="37" dur="500" fill="hold"/>
                                        <p:tgtEl>
                                          <p:spTgt spid="67789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67789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677891">
                                            <p:txEl>
                                              <p:pRg st="6" end="6"/>
                                            </p:txEl>
                                          </p:spTgt>
                                        </p:tgtEl>
                                        <p:attrNameLst>
                                          <p:attrName>style.visibility</p:attrName>
                                        </p:attrNameLst>
                                      </p:cBhvr>
                                      <p:to>
                                        <p:strVal val="visible"/>
                                      </p:to>
                                    </p:set>
                                    <p:anim calcmode="lin" valueType="num">
                                      <p:cBhvr additive="base">
                                        <p:cTn id="43" dur="500" fill="hold"/>
                                        <p:tgtEl>
                                          <p:spTgt spid="677891">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67789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677891">
                                            <p:txEl>
                                              <p:pRg st="7" end="7"/>
                                            </p:txEl>
                                          </p:spTgt>
                                        </p:tgtEl>
                                        <p:attrNameLst>
                                          <p:attrName>style.visibility</p:attrName>
                                        </p:attrNameLst>
                                      </p:cBhvr>
                                      <p:to>
                                        <p:strVal val="visible"/>
                                      </p:to>
                                    </p:set>
                                    <p:anim calcmode="lin" valueType="num">
                                      <p:cBhvr additive="base">
                                        <p:cTn id="49" dur="500" fill="hold"/>
                                        <p:tgtEl>
                                          <p:spTgt spid="677891">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677891">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7891" grpId="0" build="p" bldLvl="3"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xmlns="" id="{CA6FAC17-799D-4A0E-BDDB-8AF428A78DEC}"/>
              </a:ext>
            </a:extLst>
          </p:cNvPr>
          <p:cNvSpPr>
            <a:spLocks noGrp="1"/>
          </p:cNvSpPr>
          <p:nvPr>
            <p:ph type="sldNum" sz="quarter" idx="12"/>
          </p:nvPr>
        </p:nvSpPr>
        <p:spPr/>
        <p:txBody>
          <a:bodyPr/>
          <a:lstStyle/>
          <a:p>
            <a:fld id="{B6458A60-713D-4E42-BFFC-DFCF7903397A}" type="slidenum">
              <a:rPr lang="en-US" altLang="en-US"/>
              <a:pPr/>
              <a:t>22</a:t>
            </a:fld>
            <a:endParaRPr lang="en-US" altLang="en-US"/>
          </a:p>
        </p:txBody>
      </p:sp>
      <p:sp>
        <p:nvSpPr>
          <p:cNvPr id="678914" name="Rectangle 2">
            <a:extLst>
              <a:ext uri="{FF2B5EF4-FFF2-40B4-BE49-F238E27FC236}">
                <a16:creationId xmlns:a16="http://schemas.microsoft.com/office/drawing/2014/main" xmlns="" id="{BDAC9DC0-FC3E-4264-A334-9EC325A74C7B}"/>
              </a:ext>
            </a:extLst>
          </p:cNvPr>
          <p:cNvSpPr>
            <a:spLocks noGrp="1" noChangeArrowheads="1"/>
          </p:cNvSpPr>
          <p:nvPr>
            <p:ph type="title"/>
          </p:nvPr>
        </p:nvSpPr>
        <p:spPr/>
        <p:txBody>
          <a:bodyPr/>
          <a:lstStyle/>
          <a:p>
            <a:r>
              <a:rPr lang="en-US" altLang="en-US"/>
              <a:t>Diffie-Hellman Example, cont.</a:t>
            </a:r>
          </a:p>
        </p:txBody>
      </p:sp>
      <p:sp>
        <p:nvSpPr>
          <p:cNvPr id="678915" name="Rectangle 3">
            <a:extLst>
              <a:ext uri="{FF2B5EF4-FFF2-40B4-BE49-F238E27FC236}">
                <a16:creationId xmlns:a16="http://schemas.microsoft.com/office/drawing/2014/main" xmlns="" id="{81EA1892-6168-462F-AF86-C6BC93E206FF}"/>
              </a:ext>
            </a:extLst>
          </p:cNvPr>
          <p:cNvSpPr>
            <a:spLocks noGrp="1" noChangeArrowheads="1"/>
          </p:cNvSpPr>
          <p:nvPr>
            <p:ph type="body" idx="1"/>
          </p:nvPr>
        </p:nvSpPr>
        <p:spPr/>
        <p:txBody>
          <a:bodyPr/>
          <a:lstStyle/>
          <a:p>
            <a:pPr marL="990600" lvl="1" indent="-533400">
              <a:buNone/>
            </a:pPr>
            <a:r>
              <a:rPr lang="en-US" altLang="en-US" i="1" dirty="0">
                <a:latin typeface="Times New Roman" panose="02020603050405020304" pitchFamily="18" charset="0"/>
              </a:rPr>
              <a:t>		</a:t>
            </a:r>
            <a:r>
              <a:rPr lang="en-US" altLang="en-US" i="1" dirty="0">
                <a:highlight>
                  <a:srgbClr val="00FFFF"/>
                </a:highlight>
                <a:latin typeface="Times New Roman" panose="02020603050405020304" pitchFamily="18" charset="0"/>
              </a:rPr>
              <a:t>q </a:t>
            </a:r>
            <a:r>
              <a:rPr lang="en-US" altLang="en-US" dirty="0">
                <a:highlight>
                  <a:srgbClr val="00FFFF"/>
                </a:highlight>
                <a:latin typeface="Times New Roman" panose="02020603050405020304" pitchFamily="18" charset="0"/>
              </a:rPr>
              <a:t>= 11</a:t>
            </a:r>
            <a:r>
              <a:rPr lang="en-US" altLang="en-US" i="1" dirty="0">
                <a:highlight>
                  <a:srgbClr val="00FFFF"/>
                </a:highlight>
                <a:latin typeface="Times New Roman" panose="02020603050405020304" pitchFamily="18" charset="0"/>
              </a:rPr>
              <a:t>, </a:t>
            </a:r>
            <a:r>
              <a:rPr lang="en-US" altLang="en-US" dirty="0">
                <a:highlight>
                  <a:srgbClr val="00FFFF"/>
                </a:highlight>
                <a:latin typeface="Times New Roman" panose="02020603050405020304" pitchFamily="18" charset="0"/>
                <a:sym typeface="Symbol" panose="05050102010706020507" pitchFamily="18" charset="2"/>
              </a:rPr>
              <a:t> = 2</a:t>
            </a:r>
            <a:endParaRPr lang="en-US" altLang="en-US" i="1" dirty="0">
              <a:highlight>
                <a:srgbClr val="00FFFF"/>
              </a:highlight>
              <a:latin typeface="Times New Roman" panose="02020603050405020304" pitchFamily="18" charset="0"/>
            </a:endParaRPr>
          </a:p>
          <a:p>
            <a:pPr marL="609600" indent="-609600">
              <a:buNone/>
            </a:pPr>
            <a:r>
              <a:rPr lang="en-US" altLang="en-US" dirty="0">
                <a:latin typeface="Times New Roman" panose="02020603050405020304" pitchFamily="18" charset="0"/>
              </a:rPr>
              <a:t>			</a:t>
            </a:r>
            <a:r>
              <a:rPr lang="en-US" altLang="en-US" dirty="0">
                <a:highlight>
                  <a:srgbClr val="FFFF00"/>
                </a:highlight>
                <a:latin typeface="Times New Roman" panose="02020603050405020304" pitchFamily="18" charset="0"/>
              </a:rPr>
              <a:t>X</a:t>
            </a:r>
            <a:r>
              <a:rPr lang="en-US" altLang="en-US" baseline="-25000" dirty="0">
                <a:highlight>
                  <a:srgbClr val="FFFF00"/>
                </a:highlight>
                <a:latin typeface="Times New Roman" panose="02020603050405020304" pitchFamily="18" charset="0"/>
              </a:rPr>
              <a:t>A </a:t>
            </a:r>
            <a:r>
              <a:rPr lang="en-US" altLang="en-US" dirty="0">
                <a:highlight>
                  <a:srgbClr val="FFFF00"/>
                </a:highlight>
                <a:latin typeface="Times New Roman" panose="02020603050405020304" pitchFamily="18" charset="0"/>
              </a:rPr>
              <a:t>= 4</a:t>
            </a:r>
            <a:r>
              <a:rPr lang="en-US" altLang="en-US" dirty="0">
                <a:latin typeface="Times New Roman" panose="02020603050405020304" pitchFamily="18" charset="0"/>
              </a:rPr>
              <a:t>, </a:t>
            </a:r>
            <a:r>
              <a:rPr lang="en-US" altLang="en-US" dirty="0">
                <a:solidFill>
                  <a:srgbClr val="FF0000"/>
                </a:solidFill>
                <a:latin typeface="Times New Roman" panose="02020603050405020304" pitchFamily="18" charset="0"/>
              </a:rPr>
              <a:t>Y</a:t>
            </a:r>
            <a:r>
              <a:rPr lang="en-US" altLang="en-US" baseline="-25000" dirty="0">
                <a:solidFill>
                  <a:srgbClr val="FF0000"/>
                </a:solidFill>
                <a:latin typeface="Times New Roman" panose="02020603050405020304" pitchFamily="18" charset="0"/>
              </a:rPr>
              <a:t>A </a:t>
            </a:r>
            <a:r>
              <a:rPr lang="en-US" altLang="en-US" dirty="0">
                <a:solidFill>
                  <a:srgbClr val="FF0000"/>
                </a:solidFill>
                <a:latin typeface="Times New Roman" panose="02020603050405020304" pitchFamily="18" charset="0"/>
              </a:rPr>
              <a:t>=</a:t>
            </a:r>
            <a:r>
              <a:rPr lang="en-US" altLang="en-US" baseline="-25000" dirty="0">
                <a:solidFill>
                  <a:srgbClr val="FF0000"/>
                </a:solidFill>
                <a:latin typeface="Times New Roman" panose="02020603050405020304" pitchFamily="18" charset="0"/>
              </a:rPr>
              <a:t> </a:t>
            </a:r>
            <a:r>
              <a:rPr lang="en-US" altLang="en-US" dirty="0">
                <a:solidFill>
                  <a:srgbClr val="FF0000"/>
                </a:solidFill>
                <a:latin typeface="Times New Roman" panose="02020603050405020304" pitchFamily="18" charset="0"/>
              </a:rPr>
              <a:t>5    X</a:t>
            </a:r>
            <a:r>
              <a:rPr lang="en-US" altLang="en-US" baseline="-25000" dirty="0">
                <a:solidFill>
                  <a:srgbClr val="FF0000"/>
                </a:solidFill>
                <a:latin typeface="Times New Roman" panose="02020603050405020304" pitchFamily="18" charset="0"/>
              </a:rPr>
              <a:t>B </a:t>
            </a:r>
            <a:r>
              <a:rPr lang="en-US" altLang="en-US" dirty="0">
                <a:solidFill>
                  <a:srgbClr val="FF0000"/>
                </a:solidFill>
                <a:latin typeface="Times New Roman" panose="02020603050405020304" pitchFamily="18" charset="0"/>
              </a:rPr>
              <a:t>= 6</a:t>
            </a:r>
            <a:r>
              <a:rPr lang="en-US" altLang="en-US" dirty="0">
                <a:latin typeface="Times New Roman" panose="02020603050405020304" pitchFamily="18" charset="0"/>
              </a:rPr>
              <a:t>, </a:t>
            </a:r>
            <a:r>
              <a:rPr lang="en-US" altLang="en-US" dirty="0">
                <a:highlight>
                  <a:srgbClr val="FFFF00"/>
                </a:highlight>
                <a:latin typeface="Times New Roman" panose="02020603050405020304" pitchFamily="18" charset="0"/>
              </a:rPr>
              <a:t>Y</a:t>
            </a:r>
            <a:r>
              <a:rPr lang="en-US" altLang="en-US" baseline="-25000" dirty="0">
                <a:highlight>
                  <a:srgbClr val="FFFF00"/>
                </a:highlight>
                <a:latin typeface="Times New Roman" panose="02020603050405020304" pitchFamily="18" charset="0"/>
              </a:rPr>
              <a:t>B </a:t>
            </a:r>
            <a:r>
              <a:rPr lang="en-US" altLang="en-US" dirty="0">
                <a:highlight>
                  <a:srgbClr val="FFFF00"/>
                </a:highlight>
                <a:latin typeface="Times New Roman" panose="02020603050405020304" pitchFamily="18" charset="0"/>
              </a:rPr>
              <a:t>=</a:t>
            </a:r>
            <a:r>
              <a:rPr lang="en-US" altLang="en-US" baseline="-25000" dirty="0">
                <a:highlight>
                  <a:srgbClr val="FFFF00"/>
                </a:highlight>
                <a:latin typeface="Times New Roman" panose="02020603050405020304" pitchFamily="18" charset="0"/>
              </a:rPr>
              <a:t> </a:t>
            </a:r>
            <a:r>
              <a:rPr lang="en-US" altLang="en-US" dirty="0">
                <a:highlight>
                  <a:srgbClr val="FFFF00"/>
                </a:highlight>
                <a:latin typeface="Times New Roman" panose="02020603050405020304" pitchFamily="18" charset="0"/>
              </a:rPr>
              <a:t>9</a:t>
            </a:r>
            <a:endParaRPr lang="en-US" altLang="en-US" dirty="0">
              <a:highlight>
                <a:srgbClr val="FFFF00"/>
              </a:highlight>
            </a:endParaRPr>
          </a:p>
          <a:p>
            <a:pPr marL="609600" indent="-609600">
              <a:buFontTx/>
              <a:buAutoNum type="arabicPeriod" startAt="4"/>
            </a:pPr>
            <a:r>
              <a:rPr lang="en-US" altLang="en-US" dirty="0"/>
              <a:t>A calculates secret key: </a:t>
            </a:r>
            <a:r>
              <a:rPr lang="en-US" altLang="en-US" dirty="0">
                <a:latin typeface="Times New Roman" panose="02020603050405020304" pitchFamily="18" charset="0"/>
              </a:rPr>
              <a:t>K = (Y</a:t>
            </a:r>
            <a:r>
              <a:rPr lang="en-US" altLang="en-US" baseline="-25000" dirty="0">
                <a:latin typeface="Times New Roman" panose="02020603050405020304" pitchFamily="18" charset="0"/>
              </a:rPr>
              <a:t>B</a:t>
            </a:r>
            <a:r>
              <a:rPr lang="en-US" altLang="en-US" dirty="0">
                <a:latin typeface="Times New Roman" panose="02020603050405020304" pitchFamily="18" charset="0"/>
              </a:rPr>
              <a:t>) </a:t>
            </a:r>
            <a:r>
              <a:rPr lang="en-US" altLang="en-US" baseline="30000" dirty="0">
                <a:latin typeface="Times New Roman" panose="02020603050405020304" pitchFamily="18" charset="0"/>
              </a:rPr>
              <a:t>X</a:t>
            </a:r>
            <a:r>
              <a:rPr lang="en-US" altLang="en-US" baseline="18000" dirty="0">
                <a:latin typeface="Times New Roman" panose="02020603050405020304" pitchFamily="18" charset="0"/>
              </a:rPr>
              <a:t>A </a:t>
            </a:r>
            <a:r>
              <a:rPr lang="en-US" altLang="en-US" dirty="0">
                <a:latin typeface="Times New Roman" panose="02020603050405020304" pitchFamily="18" charset="0"/>
              </a:rPr>
              <a:t>mod </a:t>
            </a:r>
            <a:r>
              <a:rPr lang="en-US" altLang="en-US" i="1" dirty="0">
                <a:latin typeface="Times New Roman" panose="02020603050405020304" pitchFamily="18" charset="0"/>
              </a:rPr>
              <a:t>q.</a:t>
            </a:r>
          </a:p>
          <a:p>
            <a:pPr marL="990600" lvl="1" indent="-533400">
              <a:buNone/>
            </a:pPr>
            <a:r>
              <a:rPr lang="en-US" altLang="en-US" i="1" dirty="0">
                <a:latin typeface="Times New Roman" panose="02020603050405020304" pitchFamily="18" charset="0"/>
              </a:rPr>
              <a:t>	</a:t>
            </a:r>
            <a:r>
              <a:rPr lang="en-US" altLang="en-US" dirty="0">
                <a:latin typeface="Times New Roman" panose="02020603050405020304" pitchFamily="18" charset="0"/>
              </a:rPr>
              <a:t>K = 9</a:t>
            </a:r>
            <a:r>
              <a:rPr lang="en-US" altLang="en-US" baseline="30000" dirty="0">
                <a:latin typeface="Times New Roman" panose="02020603050405020304" pitchFamily="18" charset="0"/>
              </a:rPr>
              <a:t>4</a:t>
            </a:r>
            <a:r>
              <a:rPr lang="en-US" altLang="en-US" baseline="18000" dirty="0">
                <a:latin typeface="Times New Roman" panose="02020603050405020304" pitchFamily="18" charset="0"/>
              </a:rPr>
              <a:t> </a:t>
            </a:r>
            <a:r>
              <a:rPr lang="en-US" altLang="en-US" dirty="0">
                <a:latin typeface="Times New Roman" panose="02020603050405020304" pitchFamily="18" charset="0"/>
              </a:rPr>
              <a:t>mod 11 = 6561 mod 11 = 5.</a:t>
            </a:r>
            <a:endParaRPr lang="en-US" altLang="en-US" i="1" dirty="0">
              <a:latin typeface="Times New Roman" panose="02020603050405020304" pitchFamily="18" charset="0"/>
            </a:endParaRPr>
          </a:p>
          <a:p>
            <a:pPr marL="609600" indent="-609600">
              <a:buFontTx/>
              <a:buAutoNum type="arabicPeriod" startAt="4"/>
            </a:pPr>
            <a:r>
              <a:rPr lang="en-US" altLang="en-US" dirty="0"/>
              <a:t>B calculates secret key: </a:t>
            </a:r>
            <a:r>
              <a:rPr lang="en-US" altLang="en-US" dirty="0">
                <a:latin typeface="Times New Roman" panose="02020603050405020304" pitchFamily="18" charset="0"/>
              </a:rPr>
              <a:t>K = (Y</a:t>
            </a:r>
            <a:r>
              <a:rPr lang="en-US" altLang="en-US" baseline="-25000" dirty="0">
                <a:latin typeface="Times New Roman" panose="02020603050405020304" pitchFamily="18" charset="0"/>
              </a:rPr>
              <a:t>A</a:t>
            </a:r>
            <a:r>
              <a:rPr lang="en-US" altLang="en-US" dirty="0">
                <a:latin typeface="Times New Roman" panose="02020603050405020304" pitchFamily="18" charset="0"/>
              </a:rPr>
              <a:t>) </a:t>
            </a:r>
            <a:r>
              <a:rPr lang="en-US" altLang="en-US" baseline="30000" dirty="0">
                <a:latin typeface="Times New Roman" panose="02020603050405020304" pitchFamily="18" charset="0"/>
              </a:rPr>
              <a:t>X</a:t>
            </a:r>
            <a:r>
              <a:rPr lang="en-US" altLang="en-US" baseline="18000" dirty="0">
                <a:latin typeface="Times New Roman" panose="02020603050405020304" pitchFamily="18" charset="0"/>
              </a:rPr>
              <a:t>B </a:t>
            </a:r>
            <a:r>
              <a:rPr lang="en-US" altLang="en-US" dirty="0">
                <a:latin typeface="Times New Roman" panose="02020603050405020304" pitchFamily="18" charset="0"/>
              </a:rPr>
              <a:t>mod </a:t>
            </a:r>
            <a:r>
              <a:rPr lang="en-US" altLang="en-US" i="1" dirty="0">
                <a:latin typeface="Times New Roman" panose="02020603050405020304" pitchFamily="18" charset="0"/>
              </a:rPr>
              <a:t>q.</a:t>
            </a:r>
          </a:p>
          <a:p>
            <a:pPr marL="990600" lvl="1" indent="-533400">
              <a:buNone/>
            </a:pPr>
            <a:r>
              <a:rPr lang="en-US" altLang="en-US" i="1" dirty="0">
                <a:latin typeface="Times New Roman" panose="02020603050405020304" pitchFamily="18" charset="0"/>
              </a:rPr>
              <a:t>	</a:t>
            </a:r>
            <a:r>
              <a:rPr lang="en-US" altLang="en-US" dirty="0">
                <a:latin typeface="Times New Roman" panose="02020603050405020304" pitchFamily="18" charset="0"/>
              </a:rPr>
              <a:t>K = 5</a:t>
            </a:r>
            <a:r>
              <a:rPr lang="en-US" altLang="en-US" baseline="30000" dirty="0">
                <a:latin typeface="Times New Roman" panose="02020603050405020304" pitchFamily="18" charset="0"/>
              </a:rPr>
              <a:t>6</a:t>
            </a:r>
            <a:r>
              <a:rPr lang="en-US" altLang="en-US" baseline="18000" dirty="0">
                <a:latin typeface="Times New Roman" panose="02020603050405020304" pitchFamily="18" charset="0"/>
              </a:rPr>
              <a:t> </a:t>
            </a:r>
            <a:r>
              <a:rPr lang="en-US" altLang="en-US" dirty="0">
                <a:latin typeface="Times New Roman" panose="02020603050405020304" pitchFamily="18" charset="0"/>
              </a:rPr>
              <a:t>mod 11 = 15625 mod 11 = 5.</a:t>
            </a:r>
            <a:endParaRPr lang="en-US" altLang="en-US" i="1" dirty="0">
              <a:latin typeface="Times New Roman" panose="02020603050405020304" pitchFamily="18" charset="0"/>
            </a:endParaRPr>
          </a:p>
          <a:p>
            <a:pPr marL="609600" indent="-609600">
              <a:buNone/>
            </a:pP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78915">
                                            <p:txEl>
                                              <p:pRg st="0" end="0"/>
                                            </p:txEl>
                                          </p:spTgt>
                                        </p:tgtEl>
                                        <p:attrNameLst>
                                          <p:attrName>style.visibility</p:attrName>
                                        </p:attrNameLst>
                                      </p:cBhvr>
                                      <p:to>
                                        <p:strVal val="visible"/>
                                      </p:to>
                                    </p:set>
                                    <p:animEffect transition="in" filter="dissolve">
                                      <p:cBhvr>
                                        <p:cTn id="7" dur="500"/>
                                        <p:tgtEl>
                                          <p:spTgt spid="6789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78915">
                                            <p:txEl>
                                              <p:pRg st="1" end="1"/>
                                            </p:txEl>
                                          </p:spTgt>
                                        </p:tgtEl>
                                        <p:attrNameLst>
                                          <p:attrName>style.visibility</p:attrName>
                                        </p:attrNameLst>
                                      </p:cBhvr>
                                      <p:to>
                                        <p:strVal val="visible"/>
                                      </p:to>
                                    </p:set>
                                    <p:animEffect transition="in" filter="dissolve">
                                      <p:cBhvr>
                                        <p:cTn id="12" dur="500"/>
                                        <p:tgtEl>
                                          <p:spTgt spid="6789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78915">
                                            <p:txEl>
                                              <p:pRg st="2" end="2"/>
                                            </p:txEl>
                                          </p:spTgt>
                                        </p:tgtEl>
                                        <p:attrNameLst>
                                          <p:attrName>style.visibility</p:attrName>
                                        </p:attrNameLst>
                                      </p:cBhvr>
                                      <p:to>
                                        <p:strVal val="visible"/>
                                      </p:to>
                                    </p:set>
                                    <p:animEffect transition="in" filter="dissolve">
                                      <p:cBhvr>
                                        <p:cTn id="17" dur="500"/>
                                        <p:tgtEl>
                                          <p:spTgt spid="6789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78915">
                                            <p:txEl>
                                              <p:pRg st="3" end="3"/>
                                            </p:txEl>
                                          </p:spTgt>
                                        </p:tgtEl>
                                        <p:attrNameLst>
                                          <p:attrName>style.visibility</p:attrName>
                                        </p:attrNameLst>
                                      </p:cBhvr>
                                      <p:to>
                                        <p:strVal val="visible"/>
                                      </p:to>
                                    </p:set>
                                    <p:animEffect transition="in" filter="dissolve">
                                      <p:cBhvr>
                                        <p:cTn id="22" dur="500"/>
                                        <p:tgtEl>
                                          <p:spTgt spid="67891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78915">
                                            <p:txEl>
                                              <p:pRg st="4" end="4"/>
                                            </p:txEl>
                                          </p:spTgt>
                                        </p:tgtEl>
                                        <p:attrNameLst>
                                          <p:attrName>style.visibility</p:attrName>
                                        </p:attrNameLst>
                                      </p:cBhvr>
                                      <p:to>
                                        <p:strVal val="visible"/>
                                      </p:to>
                                    </p:set>
                                    <p:animEffect transition="in" filter="dissolve">
                                      <p:cBhvr>
                                        <p:cTn id="27" dur="500"/>
                                        <p:tgtEl>
                                          <p:spTgt spid="67891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678915">
                                            <p:txEl>
                                              <p:pRg st="5" end="5"/>
                                            </p:txEl>
                                          </p:spTgt>
                                        </p:tgtEl>
                                        <p:attrNameLst>
                                          <p:attrName>style.visibility</p:attrName>
                                        </p:attrNameLst>
                                      </p:cBhvr>
                                      <p:to>
                                        <p:strVal val="visible"/>
                                      </p:to>
                                    </p:set>
                                    <p:animEffect transition="in" filter="dissolve">
                                      <p:cBhvr>
                                        <p:cTn id="32" dur="500"/>
                                        <p:tgtEl>
                                          <p:spTgt spid="6789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8915" grpId="0" build="p" bldLvl="3"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xmlns="" id="{E95F562E-76E6-4E03-99DB-95804D0BD0E0}"/>
              </a:ext>
            </a:extLst>
          </p:cNvPr>
          <p:cNvSpPr>
            <a:spLocks noGrp="1"/>
          </p:cNvSpPr>
          <p:nvPr>
            <p:ph type="sldNum" sz="quarter" idx="12"/>
          </p:nvPr>
        </p:nvSpPr>
        <p:spPr/>
        <p:txBody>
          <a:bodyPr/>
          <a:lstStyle/>
          <a:p>
            <a:fld id="{DCC7DC1C-52A6-43F9-A885-769353E1C82E}" type="slidenum">
              <a:rPr lang="en-US" altLang="en-US" smtClean="0"/>
              <a:pPr/>
              <a:t>23</a:t>
            </a:fld>
            <a:endParaRPr lang="en-US" altLang="en-US"/>
          </a:p>
        </p:txBody>
      </p:sp>
      <p:sp>
        <p:nvSpPr>
          <p:cNvPr id="675842" name="Rectangle 2">
            <a:extLst>
              <a:ext uri="{FF2B5EF4-FFF2-40B4-BE49-F238E27FC236}">
                <a16:creationId xmlns:a16="http://schemas.microsoft.com/office/drawing/2014/main" xmlns="" id="{29C934FA-628C-4C7D-A50E-37B5B84A8949}"/>
              </a:ext>
            </a:extLst>
          </p:cNvPr>
          <p:cNvSpPr>
            <a:spLocks noGrp="1" noChangeArrowheads="1"/>
          </p:cNvSpPr>
          <p:nvPr>
            <p:ph type="title"/>
          </p:nvPr>
        </p:nvSpPr>
        <p:spPr/>
        <p:txBody>
          <a:bodyPr/>
          <a:lstStyle/>
          <a:p>
            <a:r>
              <a:rPr lang="en-US" altLang="en-US"/>
              <a:t>Is it magic? Things to Prove:</a:t>
            </a:r>
          </a:p>
        </p:txBody>
      </p:sp>
      <p:sp>
        <p:nvSpPr>
          <p:cNvPr id="675843" name="Rectangle 3">
            <a:extLst>
              <a:ext uri="{FF2B5EF4-FFF2-40B4-BE49-F238E27FC236}">
                <a16:creationId xmlns:a16="http://schemas.microsoft.com/office/drawing/2014/main" xmlns="" id="{FCC4A542-66AE-46A4-9D8C-4A08855C6FF7}"/>
              </a:ext>
            </a:extLst>
          </p:cNvPr>
          <p:cNvSpPr>
            <a:spLocks noGrp="1" noChangeArrowheads="1"/>
          </p:cNvSpPr>
          <p:nvPr>
            <p:ph type="body" idx="1"/>
          </p:nvPr>
        </p:nvSpPr>
        <p:spPr/>
        <p:txBody>
          <a:bodyPr/>
          <a:lstStyle/>
          <a:p>
            <a:pPr marL="609600" indent="-609600">
              <a:buFontTx/>
              <a:buAutoNum type="arabicPeriod"/>
            </a:pPr>
            <a:r>
              <a:rPr lang="en-US" altLang="en-US" dirty="0"/>
              <a:t>They generate the same keys: </a:t>
            </a:r>
          </a:p>
          <a:p>
            <a:pPr marL="609600" indent="-609600">
              <a:buNone/>
            </a:pPr>
            <a:r>
              <a:rPr lang="en-US" altLang="en-US" dirty="0">
                <a:latin typeface="Times New Roman" panose="02020603050405020304" pitchFamily="18" charset="0"/>
              </a:rPr>
              <a:t>		K = (Y</a:t>
            </a:r>
            <a:r>
              <a:rPr lang="en-US" altLang="en-US" baseline="-25000" dirty="0">
                <a:latin typeface="Times New Roman" panose="02020603050405020304" pitchFamily="18" charset="0"/>
              </a:rPr>
              <a:t>B</a:t>
            </a:r>
            <a:r>
              <a:rPr lang="en-US" altLang="en-US" dirty="0">
                <a:latin typeface="Times New Roman" panose="02020603050405020304" pitchFamily="18" charset="0"/>
              </a:rPr>
              <a:t>) </a:t>
            </a:r>
            <a:r>
              <a:rPr lang="en-US" altLang="en-US" baseline="30000" dirty="0">
                <a:latin typeface="Times New Roman" panose="02020603050405020304" pitchFamily="18" charset="0"/>
              </a:rPr>
              <a:t>X</a:t>
            </a:r>
            <a:r>
              <a:rPr lang="en-US" altLang="en-US" baseline="18000" dirty="0">
                <a:latin typeface="Times New Roman" panose="02020603050405020304" pitchFamily="18" charset="0"/>
              </a:rPr>
              <a:t>A </a:t>
            </a:r>
            <a:r>
              <a:rPr lang="en-US" altLang="en-US" dirty="0">
                <a:latin typeface="Times New Roman" panose="02020603050405020304" pitchFamily="18" charset="0"/>
              </a:rPr>
              <a:t>mod </a:t>
            </a:r>
            <a:r>
              <a:rPr lang="en-US" altLang="en-US" i="1" dirty="0">
                <a:latin typeface="Times New Roman" panose="02020603050405020304" pitchFamily="18" charset="0"/>
              </a:rPr>
              <a:t>q </a:t>
            </a:r>
            <a:r>
              <a:rPr lang="en-US" altLang="en-US" dirty="0">
                <a:latin typeface="Times New Roman" panose="02020603050405020304" pitchFamily="18" charset="0"/>
              </a:rPr>
              <a:t>= (Y</a:t>
            </a:r>
            <a:r>
              <a:rPr lang="en-US" altLang="en-US" baseline="-25000" dirty="0">
                <a:latin typeface="Times New Roman" panose="02020603050405020304" pitchFamily="18" charset="0"/>
              </a:rPr>
              <a:t>A</a:t>
            </a:r>
            <a:r>
              <a:rPr lang="en-US" altLang="en-US" dirty="0">
                <a:latin typeface="Times New Roman" panose="02020603050405020304" pitchFamily="18" charset="0"/>
              </a:rPr>
              <a:t>) </a:t>
            </a:r>
            <a:r>
              <a:rPr lang="en-US" altLang="en-US" baseline="30000" dirty="0">
                <a:latin typeface="Times New Roman" panose="02020603050405020304" pitchFamily="18" charset="0"/>
              </a:rPr>
              <a:t>X</a:t>
            </a:r>
            <a:r>
              <a:rPr lang="en-US" altLang="en-US" baseline="18000" dirty="0">
                <a:latin typeface="Times New Roman" panose="02020603050405020304" pitchFamily="18" charset="0"/>
              </a:rPr>
              <a:t>B </a:t>
            </a:r>
            <a:r>
              <a:rPr lang="en-US" altLang="en-US" dirty="0">
                <a:latin typeface="Times New Roman" panose="02020603050405020304" pitchFamily="18" charset="0"/>
              </a:rPr>
              <a:t>mod </a:t>
            </a:r>
            <a:r>
              <a:rPr lang="en-US" altLang="en-US" i="1" dirty="0">
                <a:latin typeface="Times New Roman" panose="02020603050405020304" pitchFamily="18" charset="0"/>
              </a:rPr>
              <a:t>q</a:t>
            </a:r>
            <a:endParaRPr lang="en-US" altLang="en-US" dirty="0"/>
          </a:p>
          <a:p>
            <a:pPr marL="609600" indent="-609600">
              <a:buFontTx/>
              <a:buAutoNum type="arabicPeriod" startAt="2"/>
            </a:pPr>
            <a:r>
              <a:rPr lang="en-US" altLang="en-US" dirty="0"/>
              <a:t>An eavesdropper cannot find </a:t>
            </a:r>
            <a:r>
              <a:rPr lang="en-US" altLang="en-US" dirty="0">
                <a:latin typeface="Times New Roman" panose="02020603050405020304" pitchFamily="18" charset="0"/>
              </a:rPr>
              <a:t>K</a:t>
            </a:r>
            <a:r>
              <a:rPr lang="en-US" altLang="en-US" dirty="0"/>
              <a:t> from any transmitted value:</a:t>
            </a:r>
          </a:p>
          <a:p>
            <a:pPr marL="609600" indent="-609600">
              <a:buNone/>
            </a:pPr>
            <a:r>
              <a:rPr lang="en-US" altLang="en-US" dirty="0"/>
              <a:t>		 </a:t>
            </a:r>
            <a:r>
              <a:rPr lang="en-US" altLang="en-US" i="1" dirty="0">
                <a:latin typeface="Times New Roman" panose="02020603050405020304" pitchFamily="18" charset="0"/>
              </a:rPr>
              <a:t>q</a:t>
            </a:r>
            <a:r>
              <a:rPr lang="en-US" altLang="en-US" dirty="0"/>
              <a:t>, </a:t>
            </a:r>
            <a:r>
              <a:rPr lang="en-US" altLang="en-US" dirty="0">
                <a:latin typeface="Times New Roman" panose="02020603050405020304" pitchFamily="18" charset="0"/>
                <a:sym typeface="Symbol" panose="05050102010706020507" pitchFamily="18" charset="2"/>
              </a:rPr>
              <a:t></a:t>
            </a:r>
            <a:r>
              <a:rPr lang="en-US" altLang="en-US" dirty="0"/>
              <a:t>,</a:t>
            </a:r>
            <a:r>
              <a:rPr lang="en-US" altLang="en-US" dirty="0">
                <a:latin typeface="Times New Roman" panose="02020603050405020304" pitchFamily="18" charset="0"/>
                <a:sym typeface="Symbol" panose="05050102010706020507" pitchFamily="18" charset="2"/>
              </a:rPr>
              <a:t> </a:t>
            </a:r>
            <a:r>
              <a:rPr lang="en-US" altLang="en-US" dirty="0">
                <a:latin typeface="Times New Roman" panose="02020603050405020304" pitchFamily="18" charset="0"/>
              </a:rPr>
              <a:t>Y</a:t>
            </a:r>
            <a:r>
              <a:rPr lang="en-US" altLang="en-US" baseline="-25000" dirty="0">
                <a:latin typeface="Times New Roman" panose="02020603050405020304" pitchFamily="18" charset="0"/>
              </a:rPr>
              <a:t>A</a:t>
            </a:r>
            <a:r>
              <a:rPr lang="en-US" altLang="en-US" dirty="0"/>
              <a:t>, </a:t>
            </a:r>
            <a:r>
              <a:rPr lang="en-US" altLang="en-US" dirty="0">
                <a:latin typeface="Times New Roman" panose="02020603050405020304" pitchFamily="18" charset="0"/>
              </a:rPr>
              <a:t>Y</a:t>
            </a:r>
            <a:r>
              <a:rPr lang="en-US" altLang="en-US" baseline="-25000" dirty="0">
                <a:latin typeface="Times New Roman" panose="02020603050405020304" pitchFamily="18" charset="0"/>
              </a:rPr>
              <a:t>B</a:t>
            </a:r>
            <a:endParaRPr lang="en-US" altLang="en-US" dirty="0"/>
          </a:p>
          <a:p>
            <a:pPr marL="609600" indent="-609600">
              <a:buNone/>
            </a:pPr>
            <a:r>
              <a:rPr lang="en-US" altLang="en-US" dirty="0"/>
              <a:t>	</a:t>
            </a:r>
          </a:p>
          <a:p>
            <a:pPr marL="609600" indent="-609600"/>
            <a:endParaRPr lang="en-US" alt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Text&#10;&#10;Description automatically generated">
            <a:extLst>
              <a:ext uri="{FF2B5EF4-FFF2-40B4-BE49-F238E27FC236}">
                <a16:creationId xmlns:a16="http://schemas.microsoft.com/office/drawing/2014/main" xmlns="" id="{6CF6BA7C-794B-4FEE-B47B-76859FF35985}"/>
              </a:ext>
            </a:extLst>
          </p:cNvPr>
          <p:cNvPicPr>
            <a:picLocks noChangeAspect="1"/>
          </p:cNvPicPr>
          <p:nvPr/>
        </p:nvPicPr>
        <p:blipFill>
          <a:blip r:embed="rId2"/>
          <a:stretch>
            <a:fillRect/>
          </a:stretch>
        </p:blipFill>
        <p:spPr>
          <a:xfrm>
            <a:off x="1334405" y="643467"/>
            <a:ext cx="9523190" cy="5571066"/>
          </a:xfrm>
          <a:prstGeom prst="rect">
            <a:avLst/>
          </a:prstGeom>
        </p:spPr>
      </p:pic>
    </p:spTree>
    <p:extLst>
      <p:ext uri="{BB962C8B-B14F-4D97-AF65-F5344CB8AC3E}">
        <p14:creationId xmlns:p14="http://schemas.microsoft.com/office/powerpoint/2010/main" val="148355458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xmlns="" id="{01D0AF59-99C3-4251-AB9A-C966C6AD440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xmlns="" id="{1855405F-37A2-4869-9154-F8BE3BECE6C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xmlns="" id="{E3C071A5-EC65-4AC1-B3A6-9AB19F560C59}"/>
              </a:ext>
            </a:extLst>
          </p:cNvPr>
          <p:cNvPicPr>
            <a:picLocks noChangeAspect="1"/>
          </p:cNvPicPr>
          <p:nvPr/>
        </p:nvPicPr>
        <p:blipFill>
          <a:blip r:embed="rId2"/>
          <a:stretch>
            <a:fillRect/>
          </a:stretch>
        </p:blipFill>
        <p:spPr>
          <a:xfrm>
            <a:off x="643467" y="988992"/>
            <a:ext cx="10905066" cy="4880016"/>
          </a:xfrm>
          <a:prstGeom prst="rect">
            <a:avLst/>
          </a:prstGeom>
        </p:spPr>
      </p:pic>
      <p:pic>
        <p:nvPicPr>
          <p:cNvPr id="2" name="Picture 1">
            <a:extLst>
              <a:ext uri="{FF2B5EF4-FFF2-40B4-BE49-F238E27FC236}">
                <a16:creationId xmlns:a16="http://schemas.microsoft.com/office/drawing/2014/main" xmlns="" id="{9E7DB64E-03EF-41F6-8A56-6F1FA031CBC9}"/>
              </a:ext>
            </a:extLst>
          </p:cNvPr>
          <p:cNvPicPr>
            <a:picLocks noChangeAspect="1"/>
          </p:cNvPicPr>
          <p:nvPr/>
        </p:nvPicPr>
        <p:blipFill>
          <a:blip r:embed="rId3"/>
          <a:stretch>
            <a:fillRect/>
          </a:stretch>
        </p:blipFill>
        <p:spPr>
          <a:xfrm>
            <a:off x="1798361" y="2236096"/>
            <a:ext cx="1416227" cy="546860"/>
          </a:xfrm>
          <a:prstGeom prst="rect">
            <a:avLst/>
          </a:prstGeom>
        </p:spPr>
      </p:pic>
      <p:sp>
        <p:nvSpPr>
          <p:cNvPr id="6" name="TextBox 5">
            <a:extLst>
              <a:ext uri="{FF2B5EF4-FFF2-40B4-BE49-F238E27FC236}">
                <a16:creationId xmlns:a16="http://schemas.microsoft.com/office/drawing/2014/main" xmlns="" id="{CE0BFA73-61B9-46ED-81D7-C0788E68B3DE}"/>
              </a:ext>
            </a:extLst>
          </p:cNvPr>
          <p:cNvSpPr txBox="1"/>
          <p:nvPr/>
        </p:nvSpPr>
        <p:spPr>
          <a:xfrm>
            <a:off x="972737" y="2991775"/>
            <a:ext cx="1651247" cy="2031325"/>
          </a:xfrm>
          <a:prstGeom prst="rect">
            <a:avLst/>
          </a:prstGeom>
          <a:noFill/>
          <a:ln>
            <a:solidFill>
              <a:schemeClr val="tx1"/>
            </a:solidFill>
          </a:ln>
        </p:spPr>
        <p:txBody>
          <a:bodyPr wrap="square" rtlCol="0">
            <a:spAutoFit/>
          </a:bodyPr>
          <a:lstStyle/>
          <a:p>
            <a:r>
              <a:rPr lang="en-US" dirty="0"/>
              <a:t>Q = 7</a:t>
            </a:r>
          </a:p>
          <a:p>
            <a:r>
              <a:rPr lang="en-US" dirty="0"/>
              <a:t>2^1 mod 7 = 2</a:t>
            </a:r>
          </a:p>
          <a:p>
            <a:r>
              <a:rPr lang="en-US" dirty="0"/>
              <a:t>2^2 mod 7= 4</a:t>
            </a:r>
          </a:p>
          <a:p>
            <a:r>
              <a:rPr lang="en-US" dirty="0"/>
              <a:t>2^3 mod 7=1</a:t>
            </a:r>
          </a:p>
          <a:p>
            <a:r>
              <a:rPr lang="en-US" dirty="0"/>
              <a:t>2^4 mod 7=2</a:t>
            </a:r>
          </a:p>
          <a:p>
            <a:r>
              <a:rPr lang="en-US" dirty="0"/>
              <a:t>2^5 mod 7 = 4</a:t>
            </a:r>
          </a:p>
          <a:p>
            <a:r>
              <a:rPr lang="en-US" dirty="0"/>
              <a:t>2^6 mod 7= 1</a:t>
            </a:r>
          </a:p>
        </p:txBody>
      </p:sp>
    </p:spTree>
    <p:extLst>
      <p:ext uri="{BB962C8B-B14F-4D97-AF65-F5344CB8AC3E}">
        <p14:creationId xmlns:p14="http://schemas.microsoft.com/office/powerpoint/2010/main" val="155098918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27549625"/>
              </p:ext>
            </p:extLst>
          </p:nvPr>
        </p:nvGraphicFramePr>
        <p:xfrm>
          <a:off x="1547447" y="875128"/>
          <a:ext cx="2250830" cy="5607733"/>
        </p:xfrm>
        <a:graphic>
          <a:graphicData uri="http://schemas.openxmlformats.org/drawingml/2006/table">
            <a:tbl>
              <a:tblPr/>
              <a:tblGrid>
                <a:gridCol w="1141938"/>
                <a:gridCol w="1108892"/>
              </a:tblGrid>
              <a:tr h="140366">
                <a:tc gridSpan="2">
                  <a:txBody>
                    <a:bodyPr/>
                    <a:lstStyle/>
                    <a:p>
                      <a:pPr algn="l"/>
                      <a:r>
                        <a:rPr lang="en-US" sz="1400">
                          <a:effectLst/>
                        </a:rPr>
                        <a:t>g = 2</a:t>
                      </a:r>
                    </a:p>
                  </a:txBody>
                  <a:tcPr marL="35091" marR="35091" marT="17546" marB="17546" anchor="ctr">
                    <a:lnL>
                      <a:noFill/>
                    </a:lnL>
                    <a:lnR>
                      <a:noFill/>
                    </a:lnR>
                    <a:lnT>
                      <a:noFill/>
                    </a:lnT>
                    <a:lnB>
                      <a:noFill/>
                    </a:lnB>
                  </a:tcPr>
                </a:tc>
                <a:tc hMerge="1">
                  <a:txBody>
                    <a:bodyPr/>
                    <a:lstStyle/>
                    <a:p>
                      <a:endParaRPr lang="en-US"/>
                    </a:p>
                  </a:txBody>
                  <a:tcPr/>
                </a:tc>
              </a:tr>
              <a:tr h="245640">
                <a:tc>
                  <a:txBody>
                    <a:bodyPr/>
                    <a:lstStyle/>
                    <a:p>
                      <a:pPr algn="l"/>
                      <a:r>
                        <a:rPr lang="en-US" sz="1400">
                          <a:effectLst/>
                        </a:rPr>
                        <a:t>n</a:t>
                      </a:r>
                    </a:p>
                  </a:txBody>
                  <a:tcPr marL="35091" marR="35091" marT="17546" marB="17546" anchor="ctr">
                    <a:lnL>
                      <a:noFill/>
                    </a:lnL>
                    <a:lnR>
                      <a:noFill/>
                    </a:lnR>
                    <a:lnT>
                      <a:noFill/>
                    </a:lnT>
                    <a:lnB>
                      <a:noFill/>
                    </a:lnB>
                  </a:tcPr>
                </a:tc>
                <a:tc>
                  <a:txBody>
                    <a:bodyPr/>
                    <a:lstStyle/>
                    <a:p>
                      <a:pPr algn="l"/>
                      <a:r>
                        <a:rPr lang="en-US" sz="1400">
                          <a:effectLst/>
                        </a:rPr>
                        <a:t>g</a:t>
                      </a:r>
                      <a:r>
                        <a:rPr lang="en-US" sz="1400" baseline="30000">
                          <a:effectLst/>
                        </a:rPr>
                        <a:t>n-1</a:t>
                      </a:r>
                      <a:r>
                        <a:rPr lang="en-US" sz="1400">
                          <a:effectLst/>
                        </a:rPr>
                        <a:t> mod p</a:t>
                      </a:r>
                    </a:p>
                  </a:txBody>
                  <a:tcPr marL="35091" marR="35091" marT="17546" marB="17546" anchor="ctr">
                    <a:lnL>
                      <a:noFill/>
                    </a:lnL>
                    <a:lnR>
                      <a:noFill/>
                    </a:lnR>
                    <a:lnT>
                      <a:noFill/>
                    </a:lnT>
                    <a:lnB>
                      <a:noFill/>
                    </a:lnB>
                  </a:tcPr>
                </a:tc>
              </a:tr>
              <a:tr h="350914">
                <a:tc>
                  <a:txBody>
                    <a:bodyPr/>
                    <a:lstStyle/>
                    <a:p>
                      <a:r>
                        <a:rPr lang="en-US" sz="1400">
                          <a:effectLst/>
                        </a:rPr>
                        <a:t>1</a:t>
                      </a:r>
                    </a:p>
                  </a:txBody>
                  <a:tcPr marL="35091" marR="35091" marT="17546" marB="17546" anchor="ctr">
                    <a:lnL>
                      <a:noFill/>
                    </a:lnL>
                    <a:lnR>
                      <a:noFill/>
                    </a:lnR>
                    <a:lnT>
                      <a:noFill/>
                    </a:lnT>
                    <a:lnB>
                      <a:noFill/>
                    </a:lnB>
                  </a:tcPr>
                </a:tc>
                <a:tc>
                  <a:txBody>
                    <a:bodyPr/>
                    <a:lstStyle/>
                    <a:p>
                      <a:r>
                        <a:rPr lang="en-US" sz="1400">
                          <a:effectLst/>
                        </a:rPr>
                        <a:t>2</a:t>
                      </a:r>
                      <a:r>
                        <a:rPr lang="en-US" sz="1400" baseline="30000">
                          <a:effectLst/>
                        </a:rPr>
                        <a:t>1-1</a:t>
                      </a:r>
                      <a:r>
                        <a:rPr lang="en-US" sz="1400">
                          <a:effectLst/>
                        </a:rPr>
                        <a:t> mod 11 = 1</a:t>
                      </a:r>
                    </a:p>
                  </a:txBody>
                  <a:tcPr marL="35091" marR="35091" marT="17546" marB="17546" anchor="ctr">
                    <a:lnL>
                      <a:noFill/>
                    </a:lnL>
                    <a:lnR>
                      <a:noFill/>
                    </a:lnR>
                    <a:lnT>
                      <a:noFill/>
                    </a:lnT>
                    <a:lnB>
                      <a:noFill/>
                    </a:lnB>
                  </a:tcPr>
                </a:tc>
              </a:tr>
              <a:tr h="350914">
                <a:tc>
                  <a:txBody>
                    <a:bodyPr/>
                    <a:lstStyle/>
                    <a:p>
                      <a:r>
                        <a:rPr lang="en-US" sz="1400">
                          <a:effectLst/>
                        </a:rPr>
                        <a:t>2</a:t>
                      </a:r>
                    </a:p>
                  </a:txBody>
                  <a:tcPr marL="35091" marR="35091" marT="17546" marB="17546" anchor="ctr">
                    <a:lnL>
                      <a:noFill/>
                    </a:lnL>
                    <a:lnR>
                      <a:noFill/>
                    </a:lnR>
                    <a:lnT>
                      <a:noFill/>
                    </a:lnT>
                    <a:lnB>
                      <a:noFill/>
                    </a:lnB>
                  </a:tcPr>
                </a:tc>
                <a:tc>
                  <a:txBody>
                    <a:bodyPr/>
                    <a:lstStyle/>
                    <a:p>
                      <a:r>
                        <a:rPr lang="en-US" sz="1400">
                          <a:effectLst/>
                        </a:rPr>
                        <a:t>2</a:t>
                      </a:r>
                      <a:r>
                        <a:rPr lang="en-US" sz="1400" baseline="30000">
                          <a:effectLst/>
                        </a:rPr>
                        <a:t>2-1</a:t>
                      </a:r>
                      <a:r>
                        <a:rPr lang="en-US" sz="1400">
                          <a:effectLst/>
                        </a:rPr>
                        <a:t> mod 11 = 2</a:t>
                      </a:r>
                    </a:p>
                  </a:txBody>
                  <a:tcPr marL="35091" marR="35091" marT="17546" marB="17546" anchor="ctr">
                    <a:lnL>
                      <a:noFill/>
                    </a:lnL>
                    <a:lnR>
                      <a:noFill/>
                    </a:lnR>
                    <a:lnT>
                      <a:noFill/>
                    </a:lnT>
                    <a:lnB>
                      <a:noFill/>
                    </a:lnB>
                  </a:tcPr>
                </a:tc>
              </a:tr>
              <a:tr h="350914">
                <a:tc>
                  <a:txBody>
                    <a:bodyPr/>
                    <a:lstStyle/>
                    <a:p>
                      <a:r>
                        <a:rPr lang="en-US" sz="1400">
                          <a:effectLst/>
                        </a:rPr>
                        <a:t>3</a:t>
                      </a:r>
                    </a:p>
                  </a:txBody>
                  <a:tcPr marL="35091" marR="35091" marT="17546" marB="17546" anchor="ctr">
                    <a:lnL>
                      <a:noFill/>
                    </a:lnL>
                    <a:lnR>
                      <a:noFill/>
                    </a:lnR>
                    <a:lnT>
                      <a:noFill/>
                    </a:lnT>
                    <a:lnB>
                      <a:noFill/>
                    </a:lnB>
                  </a:tcPr>
                </a:tc>
                <a:tc>
                  <a:txBody>
                    <a:bodyPr/>
                    <a:lstStyle/>
                    <a:p>
                      <a:r>
                        <a:rPr lang="en-US" sz="1400">
                          <a:effectLst/>
                        </a:rPr>
                        <a:t>2</a:t>
                      </a:r>
                      <a:r>
                        <a:rPr lang="en-US" sz="1400" baseline="30000">
                          <a:effectLst/>
                        </a:rPr>
                        <a:t>3-1</a:t>
                      </a:r>
                      <a:r>
                        <a:rPr lang="en-US" sz="1400">
                          <a:effectLst/>
                        </a:rPr>
                        <a:t> mod 11 = 4</a:t>
                      </a:r>
                    </a:p>
                  </a:txBody>
                  <a:tcPr marL="35091" marR="35091" marT="17546" marB="17546" anchor="ctr">
                    <a:lnL>
                      <a:noFill/>
                    </a:lnL>
                    <a:lnR>
                      <a:noFill/>
                    </a:lnR>
                    <a:lnT>
                      <a:noFill/>
                    </a:lnT>
                    <a:lnB>
                      <a:noFill/>
                    </a:lnB>
                  </a:tcPr>
                </a:tc>
              </a:tr>
              <a:tr h="350914">
                <a:tc>
                  <a:txBody>
                    <a:bodyPr/>
                    <a:lstStyle/>
                    <a:p>
                      <a:r>
                        <a:rPr lang="en-US" sz="1400" dirty="0">
                          <a:effectLst/>
                        </a:rPr>
                        <a:t>4</a:t>
                      </a:r>
                    </a:p>
                  </a:txBody>
                  <a:tcPr marL="35091" marR="35091" marT="17546" marB="17546" anchor="ctr">
                    <a:lnL>
                      <a:noFill/>
                    </a:lnL>
                    <a:lnR>
                      <a:noFill/>
                    </a:lnR>
                    <a:lnT>
                      <a:noFill/>
                    </a:lnT>
                    <a:lnB>
                      <a:noFill/>
                    </a:lnB>
                  </a:tcPr>
                </a:tc>
                <a:tc>
                  <a:txBody>
                    <a:bodyPr/>
                    <a:lstStyle/>
                    <a:p>
                      <a:r>
                        <a:rPr lang="en-US" sz="1400">
                          <a:effectLst/>
                        </a:rPr>
                        <a:t>2</a:t>
                      </a:r>
                      <a:r>
                        <a:rPr lang="en-US" sz="1400" baseline="30000">
                          <a:effectLst/>
                        </a:rPr>
                        <a:t>4-1</a:t>
                      </a:r>
                      <a:r>
                        <a:rPr lang="en-US" sz="1400">
                          <a:effectLst/>
                        </a:rPr>
                        <a:t> mod 11 = 8</a:t>
                      </a:r>
                    </a:p>
                  </a:txBody>
                  <a:tcPr marL="35091" marR="35091" marT="17546" marB="17546" anchor="ctr">
                    <a:lnL>
                      <a:noFill/>
                    </a:lnL>
                    <a:lnR>
                      <a:noFill/>
                    </a:lnR>
                    <a:lnT>
                      <a:noFill/>
                    </a:lnT>
                    <a:lnB>
                      <a:noFill/>
                    </a:lnB>
                  </a:tcPr>
                </a:tc>
              </a:tr>
              <a:tr h="492709">
                <a:tc>
                  <a:txBody>
                    <a:bodyPr/>
                    <a:lstStyle/>
                    <a:p>
                      <a:r>
                        <a:rPr lang="en-US" sz="1400">
                          <a:effectLst/>
                        </a:rPr>
                        <a:t>5</a:t>
                      </a:r>
                    </a:p>
                  </a:txBody>
                  <a:tcPr marL="35091" marR="35091" marT="17546" marB="17546" anchor="ctr">
                    <a:lnL>
                      <a:noFill/>
                    </a:lnL>
                    <a:lnR>
                      <a:noFill/>
                    </a:lnR>
                    <a:lnT>
                      <a:noFill/>
                    </a:lnT>
                    <a:lnB>
                      <a:noFill/>
                    </a:lnB>
                  </a:tcPr>
                </a:tc>
                <a:tc>
                  <a:txBody>
                    <a:bodyPr/>
                    <a:lstStyle/>
                    <a:p>
                      <a:r>
                        <a:rPr lang="en-US" sz="1400">
                          <a:effectLst/>
                        </a:rPr>
                        <a:t>2</a:t>
                      </a:r>
                      <a:r>
                        <a:rPr lang="en-US" sz="1400" baseline="30000">
                          <a:effectLst/>
                        </a:rPr>
                        <a:t>5-1</a:t>
                      </a:r>
                      <a:r>
                        <a:rPr lang="en-US" sz="1400">
                          <a:effectLst/>
                        </a:rPr>
                        <a:t> mod 11 = 5</a:t>
                      </a:r>
                    </a:p>
                  </a:txBody>
                  <a:tcPr marL="35091" marR="35091" marT="17546" marB="17546" anchor="ctr">
                    <a:lnL>
                      <a:noFill/>
                    </a:lnL>
                    <a:lnR>
                      <a:noFill/>
                    </a:lnR>
                    <a:lnT>
                      <a:noFill/>
                    </a:lnT>
                    <a:lnB>
                      <a:noFill/>
                    </a:lnB>
                  </a:tcPr>
                </a:tc>
              </a:tr>
              <a:tr h="350914">
                <a:tc>
                  <a:txBody>
                    <a:bodyPr/>
                    <a:lstStyle/>
                    <a:p>
                      <a:r>
                        <a:rPr lang="en-US" sz="1400">
                          <a:effectLst/>
                        </a:rPr>
                        <a:t>6</a:t>
                      </a:r>
                    </a:p>
                  </a:txBody>
                  <a:tcPr marL="35091" marR="35091" marT="17546" marB="17546" anchor="ctr">
                    <a:lnL>
                      <a:noFill/>
                    </a:lnL>
                    <a:lnR>
                      <a:noFill/>
                    </a:lnR>
                    <a:lnT>
                      <a:noFill/>
                    </a:lnT>
                    <a:lnB>
                      <a:noFill/>
                    </a:lnB>
                  </a:tcPr>
                </a:tc>
                <a:tc>
                  <a:txBody>
                    <a:bodyPr/>
                    <a:lstStyle/>
                    <a:p>
                      <a:r>
                        <a:rPr lang="en-US" sz="1400">
                          <a:effectLst/>
                        </a:rPr>
                        <a:t>2</a:t>
                      </a:r>
                      <a:r>
                        <a:rPr lang="en-US" sz="1400" baseline="30000">
                          <a:effectLst/>
                        </a:rPr>
                        <a:t>6-1</a:t>
                      </a:r>
                      <a:r>
                        <a:rPr lang="en-US" sz="1400">
                          <a:effectLst/>
                        </a:rPr>
                        <a:t> mod 11 = 10</a:t>
                      </a:r>
                    </a:p>
                  </a:txBody>
                  <a:tcPr marL="35091" marR="35091" marT="17546" marB="17546" anchor="ctr">
                    <a:lnL>
                      <a:noFill/>
                    </a:lnL>
                    <a:lnR>
                      <a:noFill/>
                    </a:lnR>
                    <a:lnT>
                      <a:noFill/>
                    </a:lnT>
                    <a:lnB>
                      <a:noFill/>
                    </a:lnB>
                  </a:tcPr>
                </a:tc>
              </a:tr>
              <a:tr h="350914">
                <a:tc>
                  <a:txBody>
                    <a:bodyPr/>
                    <a:lstStyle/>
                    <a:p>
                      <a:r>
                        <a:rPr lang="en-US" sz="1400">
                          <a:effectLst/>
                        </a:rPr>
                        <a:t>7</a:t>
                      </a:r>
                    </a:p>
                  </a:txBody>
                  <a:tcPr marL="35091" marR="35091" marT="17546" marB="17546" anchor="ctr">
                    <a:lnL>
                      <a:noFill/>
                    </a:lnL>
                    <a:lnR>
                      <a:noFill/>
                    </a:lnR>
                    <a:lnT>
                      <a:noFill/>
                    </a:lnT>
                    <a:lnB>
                      <a:noFill/>
                    </a:lnB>
                  </a:tcPr>
                </a:tc>
                <a:tc>
                  <a:txBody>
                    <a:bodyPr/>
                    <a:lstStyle/>
                    <a:p>
                      <a:r>
                        <a:rPr lang="en-US" sz="1400">
                          <a:effectLst/>
                        </a:rPr>
                        <a:t>2</a:t>
                      </a:r>
                      <a:r>
                        <a:rPr lang="en-US" sz="1400" baseline="30000">
                          <a:effectLst/>
                        </a:rPr>
                        <a:t>7-1</a:t>
                      </a:r>
                      <a:r>
                        <a:rPr lang="en-US" sz="1400">
                          <a:effectLst/>
                        </a:rPr>
                        <a:t> mod 11 = 9</a:t>
                      </a:r>
                    </a:p>
                  </a:txBody>
                  <a:tcPr marL="35091" marR="35091" marT="17546" marB="17546" anchor="ctr">
                    <a:lnL>
                      <a:noFill/>
                    </a:lnL>
                    <a:lnR>
                      <a:noFill/>
                    </a:lnR>
                    <a:lnT>
                      <a:noFill/>
                    </a:lnT>
                    <a:lnB>
                      <a:noFill/>
                    </a:lnB>
                  </a:tcPr>
                </a:tc>
              </a:tr>
              <a:tr h="350914">
                <a:tc>
                  <a:txBody>
                    <a:bodyPr/>
                    <a:lstStyle/>
                    <a:p>
                      <a:r>
                        <a:rPr lang="en-US" sz="1400">
                          <a:effectLst/>
                        </a:rPr>
                        <a:t>8</a:t>
                      </a:r>
                    </a:p>
                  </a:txBody>
                  <a:tcPr marL="35091" marR="35091" marT="17546" marB="17546" anchor="ctr">
                    <a:lnL>
                      <a:noFill/>
                    </a:lnL>
                    <a:lnR>
                      <a:noFill/>
                    </a:lnR>
                    <a:lnT>
                      <a:noFill/>
                    </a:lnT>
                    <a:lnB>
                      <a:noFill/>
                    </a:lnB>
                  </a:tcPr>
                </a:tc>
                <a:tc>
                  <a:txBody>
                    <a:bodyPr/>
                    <a:lstStyle/>
                    <a:p>
                      <a:r>
                        <a:rPr lang="en-US" sz="1400">
                          <a:effectLst/>
                        </a:rPr>
                        <a:t>2</a:t>
                      </a:r>
                      <a:r>
                        <a:rPr lang="en-US" sz="1400" baseline="30000">
                          <a:effectLst/>
                        </a:rPr>
                        <a:t>8-1</a:t>
                      </a:r>
                      <a:r>
                        <a:rPr lang="en-US" sz="1400">
                          <a:effectLst/>
                        </a:rPr>
                        <a:t> mod 11 = 7</a:t>
                      </a:r>
                    </a:p>
                  </a:txBody>
                  <a:tcPr marL="35091" marR="35091" marT="17546" marB="17546" anchor="ctr">
                    <a:lnL>
                      <a:noFill/>
                    </a:lnL>
                    <a:lnR>
                      <a:noFill/>
                    </a:lnR>
                    <a:lnT>
                      <a:noFill/>
                    </a:lnT>
                    <a:lnB>
                      <a:noFill/>
                    </a:lnB>
                  </a:tcPr>
                </a:tc>
              </a:tr>
              <a:tr h="350914">
                <a:tc>
                  <a:txBody>
                    <a:bodyPr/>
                    <a:lstStyle/>
                    <a:p>
                      <a:r>
                        <a:rPr lang="en-US" sz="1400">
                          <a:effectLst/>
                        </a:rPr>
                        <a:t>9</a:t>
                      </a:r>
                    </a:p>
                  </a:txBody>
                  <a:tcPr marL="35091" marR="35091" marT="17546" marB="17546" anchor="ctr">
                    <a:lnL>
                      <a:noFill/>
                    </a:lnL>
                    <a:lnR>
                      <a:noFill/>
                    </a:lnR>
                    <a:lnT>
                      <a:noFill/>
                    </a:lnT>
                    <a:lnB>
                      <a:noFill/>
                    </a:lnB>
                  </a:tcPr>
                </a:tc>
                <a:tc>
                  <a:txBody>
                    <a:bodyPr/>
                    <a:lstStyle/>
                    <a:p>
                      <a:r>
                        <a:rPr lang="en-US" sz="1400">
                          <a:effectLst/>
                        </a:rPr>
                        <a:t>2</a:t>
                      </a:r>
                      <a:r>
                        <a:rPr lang="en-US" sz="1400" baseline="30000">
                          <a:effectLst/>
                        </a:rPr>
                        <a:t>9-1</a:t>
                      </a:r>
                      <a:r>
                        <a:rPr lang="en-US" sz="1400">
                          <a:effectLst/>
                        </a:rPr>
                        <a:t> mod 11 = 3</a:t>
                      </a:r>
                    </a:p>
                  </a:txBody>
                  <a:tcPr marL="35091" marR="35091" marT="17546" marB="17546" anchor="ctr">
                    <a:lnL>
                      <a:noFill/>
                    </a:lnL>
                    <a:lnR>
                      <a:noFill/>
                    </a:lnR>
                    <a:lnT>
                      <a:noFill/>
                    </a:lnT>
                    <a:lnB>
                      <a:noFill/>
                    </a:lnB>
                  </a:tcPr>
                </a:tc>
              </a:tr>
              <a:tr h="350914">
                <a:tc>
                  <a:txBody>
                    <a:bodyPr/>
                    <a:lstStyle/>
                    <a:p>
                      <a:r>
                        <a:rPr lang="en-US" sz="1400">
                          <a:effectLst/>
                        </a:rPr>
                        <a:t>10</a:t>
                      </a:r>
                    </a:p>
                  </a:txBody>
                  <a:tcPr marL="35091" marR="35091" marT="17546" marB="17546" anchor="ctr">
                    <a:lnL>
                      <a:noFill/>
                    </a:lnL>
                    <a:lnR>
                      <a:noFill/>
                    </a:lnR>
                    <a:lnT>
                      <a:noFill/>
                    </a:lnT>
                    <a:lnB>
                      <a:noFill/>
                    </a:lnB>
                  </a:tcPr>
                </a:tc>
                <a:tc>
                  <a:txBody>
                    <a:bodyPr/>
                    <a:lstStyle/>
                    <a:p>
                      <a:r>
                        <a:rPr lang="en-US" sz="1400">
                          <a:effectLst/>
                        </a:rPr>
                        <a:t>2</a:t>
                      </a:r>
                      <a:r>
                        <a:rPr lang="en-US" sz="1400" baseline="30000">
                          <a:effectLst/>
                        </a:rPr>
                        <a:t>10-1</a:t>
                      </a:r>
                      <a:r>
                        <a:rPr lang="en-US" sz="1400">
                          <a:effectLst/>
                        </a:rPr>
                        <a:t> mod 11 = 6</a:t>
                      </a:r>
                    </a:p>
                  </a:txBody>
                  <a:tcPr marL="35091" marR="35091" marT="17546" marB="17546" anchor="ctr">
                    <a:lnL>
                      <a:noFill/>
                    </a:lnL>
                    <a:lnR>
                      <a:noFill/>
                    </a:lnR>
                    <a:lnT>
                      <a:noFill/>
                    </a:lnT>
                    <a:lnB>
                      <a:noFill/>
                    </a:lnB>
                  </a:tcPr>
                </a:tc>
              </a:tr>
              <a:tr h="456189">
                <a:tc gridSpan="2">
                  <a:txBody>
                    <a:bodyPr/>
                    <a:lstStyle/>
                    <a:p>
                      <a:r>
                        <a:rPr lang="en-US" sz="1400" b="1" dirty="0">
                          <a:solidFill>
                            <a:srgbClr val="396D04"/>
                          </a:solidFill>
                          <a:effectLst/>
                        </a:rPr>
                        <a:t>The number 11 is a primitive root of the prime number 2.</a:t>
                      </a:r>
                      <a:endParaRPr lang="en-US" sz="1400" dirty="0">
                        <a:effectLst/>
                      </a:endParaRPr>
                    </a:p>
                  </a:txBody>
                  <a:tcPr marL="35091" marR="35091" marT="17546" marB="17546" anchor="ctr">
                    <a:lnL>
                      <a:noFill/>
                    </a:lnL>
                    <a:lnR>
                      <a:noFill/>
                    </a:lnR>
                    <a:lnT>
                      <a:noFill/>
                    </a:lnT>
                    <a:lnB>
                      <a:noFill/>
                    </a:lnB>
                  </a:tcPr>
                </a:tc>
                <a:tc hMerge="1">
                  <a:txBody>
                    <a:bodyPr/>
                    <a:lstStyle/>
                    <a:p>
                      <a:endParaRPr lang="en-US"/>
                    </a:p>
                  </a:txBody>
                  <a:tcPr/>
                </a:tc>
              </a:tr>
            </a:tbl>
          </a:graphicData>
        </a:graphic>
      </p:graphicFrame>
      <p:sp>
        <p:nvSpPr>
          <p:cNvPr id="5" name="Rectangle 1"/>
          <p:cNvSpPr>
            <a:spLocks noChangeArrowheads="1"/>
          </p:cNvSpPr>
          <p:nvPr/>
        </p:nvSpPr>
        <p:spPr bwMode="auto">
          <a:xfrm>
            <a:off x="877520" y="507614"/>
            <a:ext cx="6093335" cy="396526"/>
          </a:xfrm>
          <a:prstGeom prst="rect">
            <a:avLst/>
          </a:prstGeom>
          <a:solidFill>
            <a:srgbClr val="D9ED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179331"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3C763D"/>
                </a:solidFill>
                <a:effectLst/>
                <a:latin typeface="Open Sans"/>
                <a:cs typeface="Arial" pitchFamily="34" charset="0"/>
              </a:rPr>
              <a:t>Since we </a:t>
            </a:r>
            <a:r>
              <a:rPr kumimoji="0" lang="en-US" sz="1100" b="0" i="0" u="none" strike="noStrike" cap="none" normalizeH="0" baseline="0" dirty="0" err="1" smtClean="0">
                <a:ln>
                  <a:noFill/>
                </a:ln>
                <a:solidFill>
                  <a:srgbClr val="3C763D"/>
                </a:solidFill>
                <a:effectLst/>
                <a:latin typeface="Open Sans"/>
                <a:cs typeface="Arial" pitchFamily="34" charset="0"/>
              </a:rPr>
              <a:t>archieved</a:t>
            </a:r>
            <a:r>
              <a:rPr kumimoji="0" lang="en-US" sz="1100" b="0" i="0" u="none" strike="noStrike" cap="none" normalizeH="0" baseline="0" dirty="0" smtClean="0">
                <a:ln>
                  <a:noFill/>
                </a:ln>
                <a:solidFill>
                  <a:srgbClr val="3C763D"/>
                </a:solidFill>
                <a:effectLst/>
                <a:latin typeface="Open Sans"/>
                <a:cs typeface="Arial" pitchFamily="34" charset="0"/>
              </a:rPr>
              <a:t> all values from 1 to 10 in our residue results, then </a:t>
            </a:r>
            <a:r>
              <a:rPr kumimoji="0" lang="en-US" sz="1100" b="1" i="0" u="none" strike="noStrike" cap="none" normalizeH="0" baseline="0" dirty="0" smtClean="0">
                <a:ln>
                  <a:noFill/>
                </a:ln>
                <a:solidFill>
                  <a:srgbClr val="3C763D"/>
                </a:solidFill>
                <a:effectLst/>
                <a:latin typeface="Open Sans"/>
                <a:cs typeface="Arial" pitchFamily="34" charset="0"/>
              </a:rPr>
              <a:t>2</a:t>
            </a:r>
            <a:r>
              <a:rPr kumimoji="0" lang="en-US" sz="1100" b="0" i="0" u="none" strike="noStrike" cap="none" normalizeH="0" baseline="0" dirty="0" smtClean="0">
                <a:ln>
                  <a:noFill/>
                </a:ln>
                <a:solidFill>
                  <a:srgbClr val="3C763D"/>
                </a:solidFill>
                <a:effectLst/>
                <a:latin typeface="Open Sans"/>
                <a:cs typeface="Arial" pitchFamily="34" charset="0"/>
              </a:rPr>
              <a:t> </a:t>
            </a:r>
            <a:r>
              <a:rPr kumimoji="0" lang="en-US" sz="1100" b="0" i="0" u="sng" strike="noStrike" cap="none" normalizeH="0" baseline="0" dirty="0" smtClean="0">
                <a:ln>
                  <a:noFill/>
                </a:ln>
                <a:solidFill>
                  <a:srgbClr val="3C763D"/>
                </a:solidFill>
                <a:effectLst/>
                <a:latin typeface="Open Sans"/>
                <a:cs typeface="Arial" pitchFamily="34" charset="0"/>
              </a:rPr>
              <a:t>is a primitive root of</a:t>
            </a:r>
            <a:r>
              <a:rPr kumimoji="0" lang="en-US" sz="1100" b="0" i="0" u="none" strike="noStrike" cap="none" normalizeH="0" baseline="0" dirty="0" smtClean="0">
                <a:ln>
                  <a:noFill/>
                </a:ln>
                <a:solidFill>
                  <a:srgbClr val="3C763D"/>
                </a:solidFill>
                <a:effectLst/>
                <a:latin typeface="Open Sans"/>
                <a:cs typeface="Arial" pitchFamily="34" charset="0"/>
              </a:rPr>
              <a:t> </a:t>
            </a:r>
            <a:r>
              <a:rPr kumimoji="0" lang="en-US" sz="1100" b="1" i="0" u="none" strike="noStrike" cap="none" normalizeH="0" baseline="0" dirty="0" smtClean="0">
                <a:ln>
                  <a:noFill/>
                </a:ln>
                <a:solidFill>
                  <a:srgbClr val="3C763D"/>
                </a:solidFill>
                <a:effectLst/>
                <a:latin typeface="Open Sans"/>
                <a:cs typeface="Arial" pitchFamily="34" charset="0"/>
              </a:rPr>
              <a:t>11</a:t>
            </a:r>
            <a:endParaRPr kumimoji="0" lang="en-US" sz="14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44751863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207355957"/>
              </p:ext>
            </p:extLst>
          </p:nvPr>
        </p:nvGraphicFramePr>
        <p:xfrm>
          <a:off x="621322" y="1515967"/>
          <a:ext cx="4923694" cy="5342033"/>
        </p:xfrm>
        <a:graphic>
          <a:graphicData uri="http://schemas.openxmlformats.org/drawingml/2006/table">
            <a:tbl>
              <a:tblPr/>
              <a:tblGrid>
                <a:gridCol w="2461847"/>
                <a:gridCol w="2461847"/>
              </a:tblGrid>
              <a:tr h="172513">
                <a:tc gridSpan="2">
                  <a:txBody>
                    <a:bodyPr/>
                    <a:lstStyle/>
                    <a:p>
                      <a:pPr algn="l"/>
                      <a:r>
                        <a:rPr lang="en-US" sz="1200">
                          <a:effectLst/>
                        </a:rPr>
                        <a:t>g = 3</a:t>
                      </a:r>
                    </a:p>
                  </a:txBody>
                  <a:tcPr marL="35091" marR="35091" marT="17546" marB="17546" anchor="ctr">
                    <a:lnL>
                      <a:noFill/>
                    </a:lnL>
                    <a:lnR>
                      <a:noFill/>
                    </a:lnR>
                    <a:lnT>
                      <a:noFill/>
                    </a:lnT>
                    <a:lnB>
                      <a:noFill/>
                    </a:lnB>
                  </a:tcPr>
                </a:tc>
                <a:tc hMerge="1">
                  <a:txBody>
                    <a:bodyPr/>
                    <a:lstStyle/>
                    <a:p>
                      <a:endParaRPr lang="en-US"/>
                    </a:p>
                  </a:txBody>
                  <a:tcPr/>
                </a:tc>
              </a:tr>
              <a:tr h="298904">
                <a:tc>
                  <a:txBody>
                    <a:bodyPr/>
                    <a:lstStyle/>
                    <a:p>
                      <a:pPr algn="l"/>
                      <a:r>
                        <a:rPr lang="en-US" sz="1200">
                          <a:effectLst/>
                        </a:rPr>
                        <a:t>n</a:t>
                      </a:r>
                    </a:p>
                  </a:txBody>
                  <a:tcPr marL="35091" marR="35091" marT="17546" marB="17546" anchor="ctr">
                    <a:lnL>
                      <a:noFill/>
                    </a:lnL>
                    <a:lnR>
                      <a:noFill/>
                    </a:lnR>
                    <a:lnT>
                      <a:noFill/>
                    </a:lnT>
                    <a:lnB>
                      <a:noFill/>
                    </a:lnB>
                  </a:tcPr>
                </a:tc>
                <a:tc>
                  <a:txBody>
                    <a:bodyPr/>
                    <a:lstStyle/>
                    <a:p>
                      <a:pPr algn="l"/>
                      <a:r>
                        <a:rPr lang="en-US" sz="1200">
                          <a:effectLst/>
                        </a:rPr>
                        <a:t>g</a:t>
                      </a:r>
                      <a:r>
                        <a:rPr lang="en-US" sz="1200" baseline="30000">
                          <a:effectLst/>
                        </a:rPr>
                        <a:t>n-1</a:t>
                      </a:r>
                      <a:r>
                        <a:rPr lang="en-US" sz="1200">
                          <a:effectLst/>
                        </a:rPr>
                        <a:t> mod p</a:t>
                      </a:r>
                    </a:p>
                  </a:txBody>
                  <a:tcPr marL="35091" marR="35091" marT="17546" marB="17546" anchor="ctr">
                    <a:lnL>
                      <a:noFill/>
                    </a:lnL>
                    <a:lnR>
                      <a:noFill/>
                    </a:lnR>
                    <a:lnT>
                      <a:noFill/>
                    </a:lnT>
                    <a:lnB>
                      <a:noFill/>
                    </a:lnB>
                  </a:tcPr>
                </a:tc>
              </a:tr>
              <a:tr h="427005">
                <a:tc>
                  <a:txBody>
                    <a:bodyPr/>
                    <a:lstStyle/>
                    <a:p>
                      <a:r>
                        <a:rPr lang="en-US" sz="1200">
                          <a:effectLst/>
                        </a:rPr>
                        <a:t>1</a:t>
                      </a:r>
                    </a:p>
                  </a:txBody>
                  <a:tcPr marL="35091" marR="35091" marT="17546" marB="17546" anchor="ctr">
                    <a:lnL>
                      <a:noFill/>
                    </a:lnL>
                    <a:lnR>
                      <a:noFill/>
                    </a:lnR>
                    <a:lnT>
                      <a:noFill/>
                    </a:lnT>
                    <a:lnB>
                      <a:noFill/>
                    </a:lnB>
                  </a:tcPr>
                </a:tc>
                <a:tc>
                  <a:txBody>
                    <a:bodyPr/>
                    <a:lstStyle/>
                    <a:p>
                      <a:r>
                        <a:rPr lang="en-US" sz="1200">
                          <a:effectLst/>
                        </a:rPr>
                        <a:t>3</a:t>
                      </a:r>
                      <a:r>
                        <a:rPr lang="en-US" sz="1200" baseline="30000">
                          <a:effectLst/>
                        </a:rPr>
                        <a:t>1-1</a:t>
                      </a:r>
                      <a:r>
                        <a:rPr lang="en-US" sz="1200">
                          <a:effectLst/>
                        </a:rPr>
                        <a:t> mod 11 = 1</a:t>
                      </a:r>
                    </a:p>
                  </a:txBody>
                  <a:tcPr marL="35091" marR="35091" marT="17546" marB="17546" anchor="ctr">
                    <a:lnL>
                      <a:noFill/>
                    </a:lnL>
                    <a:lnR>
                      <a:noFill/>
                    </a:lnR>
                    <a:lnT>
                      <a:noFill/>
                    </a:lnT>
                    <a:lnB>
                      <a:noFill/>
                    </a:lnB>
                  </a:tcPr>
                </a:tc>
              </a:tr>
              <a:tr h="427005">
                <a:tc>
                  <a:txBody>
                    <a:bodyPr/>
                    <a:lstStyle/>
                    <a:p>
                      <a:r>
                        <a:rPr lang="en-US" sz="1200">
                          <a:effectLst/>
                        </a:rPr>
                        <a:t>2</a:t>
                      </a:r>
                    </a:p>
                  </a:txBody>
                  <a:tcPr marL="35091" marR="35091" marT="17546" marB="17546" anchor="ctr">
                    <a:lnL>
                      <a:noFill/>
                    </a:lnL>
                    <a:lnR>
                      <a:noFill/>
                    </a:lnR>
                    <a:lnT>
                      <a:noFill/>
                    </a:lnT>
                    <a:lnB>
                      <a:noFill/>
                    </a:lnB>
                  </a:tcPr>
                </a:tc>
                <a:tc>
                  <a:txBody>
                    <a:bodyPr/>
                    <a:lstStyle/>
                    <a:p>
                      <a:r>
                        <a:rPr lang="en-US" sz="1200">
                          <a:effectLst/>
                        </a:rPr>
                        <a:t>3</a:t>
                      </a:r>
                      <a:r>
                        <a:rPr lang="en-US" sz="1200" baseline="30000">
                          <a:effectLst/>
                        </a:rPr>
                        <a:t>2-1</a:t>
                      </a:r>
                      <a:r>
                        <a:rPr lang="en-US" sz="1200">
                          <a:effectLst/>
                        </a:rPr>
                        <a:t> mod 11 = 3</a:t>
                      </a:r>
                    </a:p>
                  </a:txBody>
                  <a:tcPr marL="35091" marR="35091" marT="17546" marB="17546" anchor="ctr">
                    <a:lnL>
                      <a:noFill/>
                    </a:lnL>
                    <a:lnR>
                      <a:noFill/>
                    </a:lnR>
                    <a:lnT>
                      <a:noFill/>
                    </a:lnT>
                    <a:lnB>
                      <a:noFill/>
                    </a:lnB>
                  </a:tcPr>
                </a:tc>
              </a:tr>
              <a:tr h="427005">
                <a:tc>
                  <a:txBody>
                    <a:bodyPr/>
                    <a:lstStyle/>
                    <a:p>
                      <a:r>
                        <a:rPr lang="en-US" sz="1200">
                          <a:effectLst/>
                        </a:rPr>
                        <a:t>3</a:t>
                      </a:r>
                    </a:p>
                  </a:txBody>
                  <a:tcPr marL="35091" marR="35091" marT="17546" marB="17546" anchor="ctr">
                    <a:lnL>
                      <a:noFill/>
                    </a:lnL>
                    <a:lnR>
                      <a:noFill/>
                    </a:lnR>
                    <a:lnT>
                      <a:noFill/>
                    </a:lnT>
                    <a:lnB>
                      <a:noFill/>
                    </a:lnB>
                  </a:tcPr>
                </a:tc>
                <a:tc>
                  <a:txBody>
                    <a:bodyPr/>
                    <a:lstStyle/>
                    <a:p>
                      <a:r>
                        <a:rPr lang="en-US" sz="1200">
                          <a:effectLst/>
                        </a:rPr>
                        <a:t>3</a:t>
                      </a:r>
                      <a:r>
                        <a:rPr lang="en-US" sz="1200" baseline="30000">
                          <a:effectLst/>
                        </a:rPr>
                        <a:t>3-1</a:t>
                      </a:r>
                      <a:r>
                        <a:rPr lang="en-US" sz="1200">
                          <a:effectLst/>
                        </a:rPr>
                        <a:t> mod 11 = 9</a:t>
                      </a:r>
                    </a:p>
                  </a:txBody>
                  <a:tcPr marL="35091" marR="35091" marT="17546" marB="17546" anchor="ctr">
                    <a:lnL>
                      <a:noFill/>
                    </a:lnL>
                    <a:lnR>
                      <a:noFill/>
                    </a:lnR>
                    <a:lnT>
                      <a:noFill/>
                    </a:lnT>
                    <a:lnB>
                      <a:noFill/>
                    </a:lnB>
                  </a:tcPr>
                </a:tc>
              </a:tr>
              <a:tr h="427005">
                <a:tc>
                  <a:txBody>
                    <a:bodyPr/>
                    <a:lstStyle/>
                    <a:p>
                      <a:r>
                        <a:rPr lang="en-US" sz="1200" dirty="0">
                          <a:effectLst/>
                        </a:rPr>
                        <a:t>4</a:t>
                      </a:r>
                    </a:p>
                  </a:txBody>
                  <a:tcPr marL="35091" marR="35091" marT="17546" marB="17546" anchor="ctr">
                    <a:lnL>
                      <a:noFill/>
                    </a:lnL>
                    <a:lnR>
                      <a:noFill/>
                    </a:lnR>
                    <a:lnT>
                      <a:noFill/>
                    </a:lnT>
                    <a:lnB>
                      <a:noFill/>
                    </a:lnB>
                  </a:tcPr>
                </a:tc>
                <a:tc>
                  <a:txBody>
                    <a:bodyPr/>
                    <a:lstStyle/>
                    <a:p>
                      <a:r>
                        <a:rPr lang="en-US" sz="1200">
                          <a:effectLst/>
                        </a:rPr>
                        <a:t>3</a:t>
                      </a:r>
                      <a:r>
                        <a:rPr lang="en-US" sz="1200" baseline="30000">
                          <a:effectLst/>
                        </a:rPr>
                        <a:t>4-1</a:t>
                      </a:r>
                      <a:r>
                        <a:rPr lang="en-US" sz="1200">
                          <a:effectLst/>
                        </a:rPr>
                        <a:t> mod 11 = 5</a:t>
                      </a:r>
                    </a:p>
                  </a:txBody>
                  <a:tcPr marL="35091" marR="35091" marT="17546" marB="17546" anchor="ctr">
                    <a:lnL>
                      <a:noFill/>
                    </a:lnL>
                    <a:lnR>
                      <a:noFill/>
                    </a:lnR>
                    <a:lnT>
                      <a:noFill/>
                    </a:lnT>
                    <a:lnB>
                      <a:noFill/>
                    </a:lnB>
                  </a:tcPr>
                </a:tc>
              </a:tr>
              <a:tr h="427005">
                <a:tc>
                  <a:txBody>
                    <a:bodyPr/>
                    <a:lstStyle/>
                    <a:p>
                      <a:r>
                        <a:rPr lang="en-US" sz="1200">
                          <a:effectLst/>
                        </a:rPr>
                        <a:t>5</a:t>
                      </a:r>
                    </a:p>
                  </a:txBody>
                  <a:tcPr marL="35091" marR="35091" marT="17546" marB="17546" anchor="ctr">
                    <a:lnL>
                      <a:noFill/>
                    </a:lnL>
                    <a:lnR>
                      <a:noFill/>
                    </a:lnR>
                    <a:lnT>
                      <a:noFill/>
                    </a:lnT>
                    <a:lnB>
                      <a:noFill/>
                    </a:lnB>
                  </a:tcPr>
                </a:tc>
                <a:tc>
                  <a:txBody>
                    <a:bodyPr/>
                    <a:lstStyle/>
                    <a:p>
                      <a:r>
                        <a:rPr lang="en-US" sz="1200">
                          <a:effectLst/>
                        </a:rPr>
                        <a:t>3</a:t>
                      </a:r>
                      <a:r>
                        <a:rPr lang="en-US" sz="1200" baseline="30000">
                          <a:effectLst/>
                        </a:rPr>
                        <a:t>5-1</a:t>
                      </a:r>
                      <a:r>
                        <a:rPr lang="en-US" sz="1200">
                          <a:effectLst/>
                        </a:rPr>
                        <a:t> mod 11 = 4</a:t>
                      </a:r>
                    </a:p>
                  </a:txBody>
                  <a:tcPr marL="35091" marR="35091" marT="17546" marB="17546" anchor="ctr">
                    <a:lnL>
                      <a:noFill/>
                    </a:lnL>
                    <a:lnR>
                      <a:noFill/>
                    </a:lnR>
                    <a:lnT>
                      <a:noFill/>
                    </a:lnT>
                    <a:lnB>
                      <a:noFill/>
                    </a:lnB>
                  </a:tcPr>
                </a:tc>
              </a:tr>
              <a:tr h="427005">
                <a:tc>
                  <a:txBody>
                    <a:bodyPr/>
                    <a:lstStyle/>
                    <a:p>
                      <a:r>
                        <a:rPr lang="en-US" sz="1200">
                          <a:effectLst/>
                        </a:rPr>
                        <a:t>6</a:t>
                      </a:r>
                    </a:p>
                  </a:txBody>
                  <a:tcPr marL="35091" marR="35091" marT="17546" marB="17546" anchor="ctr">
                    <a:lnL>
                      <a:noFill/>
                    </a:lnL>
                    <a:lnR>
                      <a:noFill/>
                    </a:lnR>
                    <a:lnT>
                      <a:noFill/>
                    </a:lnT>
                    <a:lnB>
                      <a:noFill/>
                    </a:lnB>
                  </a:tcPr>
                </a:tc>
                <a:tc>
                  <a:txBody>
                    <a:bodyPr/>
                    <a:lstStyle/>
                    <a:p>
                      <a:r>
                        <a:rPr lang="en-US" sz="1200">
                          <a:effectLst/>
                        </a:rPr>
                        <a:t>3</a:t>
                      </a:r>
                      <a:r>
                        <a:rPr lang="en-US" sz="1200" baseline="30000">
                          <a:effectLst/>
                        </a:rPr>
                        <a:t>6-1</a:t>
                      </a:r>
                      <a:r>
                        <a:rPr lang="en-US" sz="1200">
                          <a:effectLst/>
                        </a:rPr>
                        <a:t> mod 11 = 1</a:t>
                      </a:r>
                    </a:p>
                  </a:txBody>
                  <a:tcPr marL="35091" marR="35091" marT="17546" marB="17546" anchor="ctr">
                    <a:lnL>
                      <a:noFill/>
                    </a:lnL>
                    <a:lnR>
                      <a:noFill/>
                    </a:lnR>
                    <a:lnT>
                      <a:noFill/>
                    </a:lnT>
                    <a:lnB>
                      <a:noFill/>
                    </a:lnB>
                  </a:tcPr>
                </a:tc>
              </a:tr>
              <a:tr h="427005">
                <a:tc>
                  <a:txBody>
                    <a:bodyPr/>
                    <a:lstStyle/>
                    <a:p>
                      <a:r>
                        <a:rPr lang="en-US" sz="1200">
                          <a:effectLst/>
                        </a:rPr>
                        <a:t>7</a:t>
                      </a:r>
                    </a:p>
                  </a:txBody>
                  <a:tcPr marL="35091" marR="35091" marT="17546" marB="17546" anchor="ctr">
                    <a:lnL>
                      <a:noFill/>
                    </a:lnL>
                    <a:lnR>
                      <a:noFill/>
                    </a:lnR>
                    <a:lnT>
                      <a:noFill/>
                    </a:lnT>
                    <a:lnB>
                      <a:noFill/>
                    </a:lnB>
                  </a:tcPr>
                </a:tc>
                <a:tc>
                  <a:txBody>
                    <a:bodyPr/>
                    <a:lstStyle/>
                    <a:p>
                      <a:r>
                        <a:rPr lang="en-US" sz="1200">
                          <a:effectLst/>
                        </a:rPr>
                        <a:t>3</a:t>
                      </a:r>
                      <a:r>
                        <a:rPr lang="en-US" sz="1200" baseline="30000">
                          <a:effectLst/>
                        </a:rPr>
                        <a:t>7-1</a:t>
                      </a:r>
                      <a:r>
                        <a:rPr lang="en-US" sz="1200">
                          <a:effectLst/>
                        </a:rPr>
                        <a:t> mod 11 = 3</a:t>
                      </a:r>
                    </a:p>
                  </a:txBody>
                  <a:tcPr marL="35091" marR="35091" marT="17546" marB="17546" anchor="ctr">
                    <a:lnL>
                      <a:noFill/>
                    </a:lnL>
                    <a:lnR>
                      <a:noFill/>
                    </a:lnR>
                    <a:lnT>
                      <a:noFill/>
                    </a:lnT>
                    <a:lnB>
                      <a:noFill/>
                    </a:lnB>
                  </a:tcPr>
                </a:tc>
              </a:tr>
              <a:tr h="427005">
                <a:tc>
                  <a:txBody>
                    <a:bodyPr/>
                    <a:lstStyle/>
                    <a:p>
                      <a:r>
                        <a:rPr lang="en-US" sz="1200">
                          <a:effectLst/>
                        </a:rPr>
                        <a:t>8</a:t>
                      </a:r>
                    </a:p>
                  </a:txBody>
                  <a:tcPr marL="35091" marR="35091" marT="17546" marB="17546" anchor="ctr">
                    <a:lnL>
                      <a:noFill/>
                    </a:lnL>
                    <a:lnR>
                      <a:noFill/>
                    </a:lnR>
                    <a:lnT>
                      <a:noFill/>
                    </a:lnT>
                    <a:lnB>
                      <a:noFill/>
                    </a:lnB>
                  </a:tcPr>
                </a:tc>
                <a:tc>
                  <a:txBody>
                    <a:bodyPr/>
                    <a:lstStyle/>
                    <a:p>
                      <a:r>
                        <a:rPr lang="en-US" sz="1200">
                          <a:effectLst/>
                        </a:rPr>
                        <a:t>3</a:t>
                      </a:r>
                      <a:r>
                        <a:rPr lang="en-US" sz="1200" baseline="30000">
                          <a:effectLst/>
                        </a:rPr>
                        <a:t>8-1</a:t>
                      </a:r>
                      <a:r>
                        <a:rPr lang="en-US" sz="1200">
                          <a:effectLst/>
                        </a:rPr>
                        <a:t> mod 11 = 9</a:t>
                      </a:r>
                    </a:p>
                  </a:txBody>
                  <a:tcPr marL="35091" marR="35091" marT="17546" marB="17546" anchor="ctr">
                    <a:lnL>
                      <a:noFill/>
                    </a:lnL>
                    <a:lnR>
                      <a:noFill/>
                    </a:lnR>
                    <a:lnT>
                      <a:noFill/>
                    </a:lnT>
                    <a:lnB>
                      <a:noFill/>
                    </a:lnB>
                  </a:tcPr>
                </a:tc>
              </a:tr>
              <a:tr h="427005">
                <a:tc>
                  <a:txBody>
                    <a:bodyPr/>
                    <a:lstStyle/>
                    <a:p>
                      <a:r>
                        <a:rPr lang="en-US" sz="1200">
                          <a:effectLst/>
                        </a:rPr>
                        <a:t>9</a:t>
                      </a:r>
                    </a:p>
                  </a:txBody>
                  <a:tcPr marL="35091" marR="35091" marT="17546" marB="17546" anchor="ctr">
                    <a:lnL>
                      <a:noFill/>
                    </a:lnL>
                    <a:lnR>
                      <a:noFill/>
                    </a:lnR>
                    <a:lnT>
                      <a:noFill/>
                    </a:lnT>
                    <a:lnB>
                      <a:noFill/>
                    </a:lnB>
                  </a:tcPr>
                </a:tc>
                <a:tc>
                  <a:txBody>
                    <a:bodyPr/>
                    <a:lstStyle/>
                    <a:p>
                      <a:r>
                        <a:rPr lang="en-US" sz="1200">
                          <a:effectLst/>
                        </a:rPr>
                        <a:t>3</a:t>
                      </a:r>
                      <a:r>
                        <a:rPr lang="en-US" sz="1200" baseline="30000">
                          <a:effectLst/>
                        </a:rPr>
                        <a:t>9-1</a:t>
                      </a:r>
                      <a:r>
                        <a:rPr lang="en-US" sz="1200">
                          <a:effectLst/>
                        </a:rPr>
                        <a:t> mod 11 = 5</a:t>
                      </a:r>
                    </a:p>
                  </a:txBody>
                  <a:tcPr marL="35091" marR="35091" marT="17546" marB="17546" anchor="ctr">
                    <a:lnL>
                      <a:noFill/>
                    </a:lnL>
                    <a:lnR>
                      <a:noFill/>
                    </a:lnR>
                    <a:lnT>
                      <a:noFill/>
                    </a:lnT>
                    <a:lnB>
                      <a:noFill/>
                    </a:lnB>
                  </a:tcPr>
                </a:tc>
              </a:tr>
              <a:tr h="427005">
                <a:tc>
                  <a:txBody>
                    <a:bodyPr/>
                    <a:lstStyle/>
                    <a:p>
                      <a:r>
                        <a:rPr lang="en-US" sz="1200">
                          <a:effectLst/>
                        </a:rPr>
                        <a:t>10</a:t>
                      </a:r>
                    </a:p>
                  </a:txBody>
                  <a:tcPr marL="35091" marR="35091" marT="17546" marB="17546" anchor="ctr">
                    <a:lnL>
                      <a:noFill/>
                    </a:lnL>
                    <a:lnR>
                      <a:noFill/>
                    </a:lnR>
                    <a:lnT>
                      <a:noFill/>
                    </a:lnT>
                    <a:lnB>
                      <a:noFill/>
                    </a:lnB>
                  </a:tcPr>
                </a:tc>
                <a:tc>
                  <a:txBody>
                    <a:bodyPr/>
                    <a:lstStyle/>
                    <a:p>
                      <a:r>
                        <a:rPr lang="en-US" sz="1200">
                          <a:effectLst/>
                        </a:rPr>
                        <a:t>3</a:t>
                      </a:r>
                      <a:r>
                        <a:rPr lang="en-US" sz="1200" baseline="30000">
                          <a:effectLst/>
                        </a:rPr>
                        <a:t>10-1</a:t>
                      </a:r>
                      <a:r>
                        <a:rPr lang="en-US" sz="1200">
                          <a:effectLst/>
                        </a:rPr>
                        <a:t> mod 11 = 4</a:t>
                      </a:r>
                    </a:p>
                  </a:txBody>
                  <a:tcPr marL="35091" marR="35091" marT="17546" marB="17546" anchor="ctr">
                    <a:lnL>
                      <a:noFill/>
                    </a:lnL>
                    <a:lnR>
                      <a:noFill/>
                    </a:lnR>
                    <a:lnT>
                      <a:noFill/>
                    </a:lnT>
                    <a:lnB>
                      <a:noFill/>
                    </a:lnB>
                  </a:tcPr>
                </a:tc>
              </a:tr>
              <a:tr h="555107">
                <a:tc gridSpan="2">
                  <a:txBody>
                    <a:bodyPr/>
                    <a:lstStyle/>
                    <a:p>
                      <a:r>
                        <a:rPr lang="en-US" sz="1200" b="1" dirty="0">
                          <a:solidFill>
                            <a:srgbClr val="FF0000"/>
                          </a:solidFill>
                          <a:effectLst/>
                        </a:rPr>
                        <a:t>The number 11 is not a primitive root of the prime number 3.</a:t>
                      </a:r>
                      <a:endParaRPr lang="en-US" sz="1200" dirty="0">
                        <a:effectLst/>
                      </a:endParaRPr>
                    </a:p>
                  </a:txBody>
                  <a:tcPr marL="35091" marR="35091" marT="17546" marB="17546" anchor="ctr">
                    <a:lnL>
                      <a:noFill/>
                    </a:lnL>
                    <a:lnR>
                      <a:noFill/>
                    </a:lnR>
                    <a:lnT>
                      <a:noFill/>
                    </a:lnT>
                    <a:lnB>
                      <a:noFill/>
                    </a:lnB>
                  </a:tcPr>
                </a:tc>
                <a:tc hMerge="1">
                  <a:txBody>
                    <a:bodyPr/>
                    <a:lstStyle/>
                    <a:p>
                      <a:endParaRPr lang="en-US"/>
                    </a:p>
                  </a:txBody>
                  <a:tcPr/>
                </a:tc>
              </a:tr>
            </a:tbl>
          </a:graphicData>
        </a:graphic>
      </p:graphicFrame>
      <p:sp>
        <p:nvSpPr>
          <p:cNvPr id="5" name="Rectangle 4"/>
          <p:cNvSpPr/>
          <p:nvPr/>
        </p:nvSpPr>
        <p:spPr>
          <a:xfrm>
            <a:off x="468923" y="515035"/>
            <a:ext cx="6096000" cy="646331"/>
          </a:xfrm>
          <a:prstGeom prst="rect">
            <a:avLst/>
          </a:prstGeom>
        </p:spPr>
        <p:txBody>
          <a:bodyPr>
            <a:spAutoFit/>
          </a:bodyPr>
          <a:lstStyle/>
          <a:p>
            <a:r>
              <a:rPr lang="en-US" dirty="0"/>
              <a:t>Since we did not </a:t>
            </a:r>
            <a:r>
              <a:rPr lang="en-US" dirty="0" err="1"/>
              <a:t>archieve</a:t>
            </a:r>
            <a:r>
              <a:rPr lang="en-US" dirty="0"/>
              <a:t> residue values of (2,6,7,8,10), then </a:t>
            </a:r>
            <a:r>
              <a:rPr lang="en-US" b="1" dirty="0"/>
              <a:t>3</a:t>
            </a:r>
            <a:r>
              <a:rPr lang="en-US" dirty="0"/>
              <a:t> </a:t>
            </a:r>
            <a:r>
              <a:rPr lang="en-US" u="sng" dirty="0"/>
              <a:t>is NOT a primitive root of</a:t>
            </a:r>
            <a:r>
              <a:rPr lang="en-US" dirty="0"/>
              <a:t> 11</a:t>
            </a:r>
            <a:endParaRPr lang="en-US" dirty="0"/>
          </a:p>
        </p:txBody>
      </p:sp>
    </p:spTree>
    <p:extLst>
      <p:ext uri="{BB962C8B-B14F-4D97-AF65-F5344CB8AC3E}">
        <p14:creationId xmlns:p14="http://schemas.microsoft.com/office/powerpoint/2010/main" val="6137350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5C14C4B4-1ED6-47FB-906F-C2981C11C690}"/>
              </a:ext>
            </a:extLst>
          </p:cNvPr>
          <p:cNvPicPr>
            <a:picLocks noChangeAspect="1"/>
          </p:cNvPicPr>
          <p:nvPr/>
        </p:nvPicPr>
        <p:blipFill rotWithShape="1">
          <a:blip r:embed="rId2"/>
          <a:srcRect t="1834" r="1350"/>
          <a:stretch/>
        </p:blipFill>
        <p:spPr>
          <a:xfrm>
            <a:off x="3267075" y="1497497"/>
            <a:ext cx="5581503" cy="3936516"/>
          </a:xfrm>
          <a:prstGeom prst="rect">
            <a:avLst/>
          </a:prstGeom>
        </p:spPr>
      </p:pic>
    </p:spTree>
    <p:extLst>
      <p:ext uri="{BB962C8B-B14F-4D97-AF65-F5344CB8AC3E}">
        <p14:creationId xmlns:p14="http://schemas.microsoft.com/office/powerpoint/2010/main" val="76460173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 name="Rectangle 32">
            <a:extLst>
              <a:ext uri="{FF2B5EF4-FFF2-40B4-BE49-F238E27FC236}">
                <a16:creationId xmlns:a16="http://schemas.microsoft.com/office/drawing/2014/main" xmlns="" id="{01D0AF59-99C3-4251-AB9A-C966C6AD440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4">
            <a:extLst>
              <a:ext uri="{FF2B5EF4-FFF2-40B4-BE49-F238E27FC236}">
                <a16:creationId xmlns:a16="http://schemas.microsoft.com/office/drawing/2014/main" xmlns="" id="{1855405F-37A2-4869-9154-F8BE3BECE6C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xmlns="" id="{9022EE7A-44F1-48F9-8FC8-D805B895BDB6}"/>
              </a:ext>
            </a:extLst>
          </p:cNvPr>
          <p:cNvPicPr>
            <a:picLocks noChangeAspect="1"/>
          </p:cNvPicPr>
          <p:nvPr/>
        </p:nvPicPr>
        <p:blipFill rotWithShape="1">
          <a:blip r:embed="rId2"/>
          <a:srcRect r="1425"/>
          <a:stretch/>
        </p:blipFill>
        <p:spPr>
          <a:xfrm>
            <a:off x="643467" y="1257942"/>
            <a:ext cx="10905066" cy="4342115"/>
          </a:xfrm>
          <a:prstGeom prst="rect">
            <a:avLst/>
          </a:prstGeom>
        </p:spPr>
      </p:pic>
    </p:spTree>
    <p:extLst>
      <p:ext uri="{BB962C8B-B14F-4D97-AF65-F5344CB8AC3E}">
        <p14:creationId xmlns:p14="http://schemas.microsoft.com/office/powerpoint/2010/main" val="35906468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xmlns="" id="{01D0AF59-99C3-4251-AB9A-C966C6AD440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xmlns="" id="{1855405F-37A2-4869-9154-F8BE3BECE6C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xmlns="" id="{C0619C3A-9A99-4F78-A912-D0DA655D6B67}"/>
              </a:ext>
            </a:extLst>
          </p:cNvPr>
          <p:cNvPicPr>
            <a:picLocks noChangeAspect="1"/>
          </p:cNvPicPr>
          <p:nvPr/>
        </p:nvPicPr>
        <p:blipFill rotWithShape="1">
          <a:blip r:embed="rId2"/>
          <a:srcRect b="6268"/>
          <a:stretch/>
        </p:blipFill>
        <p:spPr>
          <a:xfrm>
            <a:off x="643467" y="1550795"/>
            <a:ext cx="10905066" cy="3756410"/>
          </a:xfrm>
          <a:prstGeom prst="rect">
            <a:avLst/>
          </a:prstGeom>
        </p:spPr>
      </p:pic>
    </p:spTree>
    <p:extLst>
      <p:ext uri="{BB962C8B-B14F-4D97-AF65-F5344CB8AC3E}">
        <p14:creationId xmlns:p14="http://schemas.microsoft.com/office/powerpoint/2010/main" val="33116324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 name="Rectangle 25">
            <a:extLst>
              <a:ext uri="{FF2B5EF4-FFF2-40B4-BE49-F238E27FC236}">
                <a16:creationId xmlns:a16="http://schemas.microsoft.com/office/drawing/2014/main" xmlns="" id="{01D0AF59-99C3-4251-AB9A-C966C6AD440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27">
            <a:extLst>
              <a:ext uri="{FF2B5EF4-FFF2-40B4-BE49-F238E27FC236}">
                <a16:creationId xmlns:a16="http://schemas.microsoft.com/office/drawing/2014/main" xmlns="" id="{1855405F-37A2-4869-9154-F8BE3BECE6C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xmlns="" id="{12825F71-5517-46A6-AE23-5632598A9B9A}"/>
              </a:ext>
            </a:extLst>
          </p:cNvPr>
          <p:cNvPicPr>
            <a:picLocks noChangeAspect="1"/>
          </p:cNvPicPr>
          <p:nvPr/>
        </p:nvPicPr>
        <p:blipFill>
          <a:blip r:embed="rId2"/>
          <a:stretch>
            <a:fillRect/>
          </a:stretch>
        </p:blipFill>
        <p:spPr>
          <a:xfrm>
            <a:off x="643467" y="729996"/>
            <a:ext cx="10905066" cy="5398006"/>
          </a:xfrm>
          <a:prstGeom prst="rect">
            <a:avLst/>
          </a:prstGeom>
        </p:spPr>
      </p:pic>
    </p:spTree>
    <p:extLst>
      <p:ext uri="{BB962C8B-B14F-4D97-AF65-F5344CB8AC3E}">
        <p14:creationId xmlns:p14="http://schemas.microsoft.com/office/powerpoint/2010/main" val="14984325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57845966-6EFC-468A-9CC7-BAB4B95854E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354372" y="0"/>
            <a:ext cx="9483256" cy="6858000"/>
          </a:xfrm>
          <a:prstGeom prst="rect">
            <a:avLst/>
          </a:prstGeom>
          <a:solidFill>
            <a:srgbClr val="895A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xmlns="" id="{75554383-98AF-4A47-BB65-705FAAA4BE6A}"/>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xmlns=""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Freeform: Shape 12">
            <a:extLst>
              <a:ext uri="{FF2B5EF4-FFF2-40B4-BE49-F238E27FC236}">
                <a16:creationId xmlns:a16="http://schemas.microsoft.com/office/drawing/2014/main" xmlns="" id="{ADAD1991-FFD1-4E94-ABAB-7560D33008E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2144484" y="0"/>
            <a:ext cx="7837716" cy="6858000"/>
          </a:xfrm>
          <a:custGeom>
            <a:avLst/>
            <a:gdLst>
              <a:gd name="connsiteX0" fmla="*/ 2232159 w 7837716"/>
              <a:gd name="connsiteY0" fmla="*/ 0 h 6858000"/>
              <a:gd name="connsiteX1" fmla="*/ 5605557 w 7837716"/>
              <a:gd name="connsiteY1" fmla="*/ 0 h 6858000"/>
              <a:gd name="connsiteX2" fmla="*/ 5617845 w 7837716"/>
              <a:gd name="connsiteY2" fmla="*/ 5384 h 6858000"/>
              <a:gd name="connsiteX3" fmla="*/ 7837716 w 7837716"/>
              <a:gd name="connsiteY3" fmla="*/ 3429000 h 6858000"/>
              <a:gd name="connsiteX4" fmla="*/ 5617845 w 7837716"/>
              <a:gd name="connsiteY4" fmla="*/ 6852616 h 6858000"/>
              <a:gd name="connsiteX5" fmla="*/ 5605557 w 7837716"/>
              <a:gd name="connsiteY5" fmla="*/ 6858000 h 6858000"/>
              <a:gd name="connsiteX6" fmla="*/ 2232159 w 7837716"/>
              <a:gd name="connsiteY6" fmla="*/ 6858000 h 6858000"/>
              <a:gd name="connsiteX7" fmla="*/ 2219871 w 7837716"/>
              <a:gd name="connsiteY7" fmla="*/ 6852616 h 6858000"/>
              <a:gd name="connsiteX8" fmla="*/ 0 w 7837716"/>
              <a:gd name="connsiteY8" fmla="*/ 3429000 h 6858000"/>
              <a:gd name="connsiteX9" fmla="*/ 2219871 w 7837716"/>
              <a:gd name="connsiteY9" fmla="*/ 538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37716" h="6858000">
                <a:moveTo>
                  <a:pt x="2232159" y="0"/>
                </a:moveTo>
                <a:lnTo>
                  <a:pt x="5605557" y="0"/>
                </a:lnTo>
                <a:lnTo>
                  <a:pt x="5617845" y="5384"/>
                </a:lnTo>
                <a:cubicBezTo>
                  <a:pt x="6931322" y="618789"/>
                  <a:pt x="7837716" y="1921305"/>
                  <a:pt x="7837716" y="3429000"/>
                </a:cubicBezTo>
                <a:cubicBezTo>
                  <a:pt x="7837716" y="4936696"/>
                  <a:pt x="6931322" y="6239212"/>
                  <a:pt x="5617845" y="6852616"/>
                </a:cubicBezTo>
                <a:lnTo>
                  <a:pt x="5605557" y="6858000"/>
                </a:lnTo>
                <a:lnTo>
                  <a:pt x="2232159" y="6858000"/>
                </a:lnTo>
                <a:lnTo>
                  <a:pt x="2219871" y="6852616"/>
                </a:lnTo>
                <a:cubicBezTo>
                  <a:pt x="906394" y="6239212"/>
                  <a:pt x="0" y="4936696"/>
                  <a:pt x="0" y="3429000"/>
                </a:cubicBezTo>
                <a:cubicBezTo>
                  <a:pt x="0" y="1921305"/>
                  <a:pt x="906394" y="618789"/>
                  <a:pt x="2219871" y="5384"/>
                </a:cubicBezTo>
                <a:close/>
              </a:path>
            </a:pathLst>
          </a:custGeom>
          <a:solidFill>
            <a:schemeClr val="bg1"/>
          </a:solidFill>
          <a:ln>
            <a:gradFill>
              <a:gsLst>
                <a:gs pos="0">
                  <a:schemeClr val="accent1">
                    <a:lumMod val="40000"/>
                    <a:lumOff val="60000"/>
                  </a:schemeClr>
                </a:gs>
                <a:gs pos="23000">
                  <a:schemeClr val="accent1">
                    <a:lumMod val="45000"/>
                    <a:lumOff val="55000"/>
                  </a:schemeClr>
                </a:gs>
                <a:gs pos="83000">
                  <a:schemeClr val="bg2">
                    <a:lumMod val="82000"/>
                  </a:schemeClr>
                </a:gs>
                <a:gs pos="100000">
                  <a:schemeClr val="bg2">
                    <a:lumMod val="87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a:extLst>
              <a:ext uri="{FF2B5EF4-FFF2-40B4-BE49-F238E27FC236}">
                <a16:creationId xmlns:a16="http://schemas.microsoft.com/office/drawing/2014/main" xmlns="" id="{401C3257-BDD1-4E4C-BC68-73EB987E5EC4}"/>
              </a:ext>
            </a:extLst>
          </p:cNvPr>
          <p:cNvPicPr>
            <a:picLocks noChangeAspect="1"/>
          </p:cNvPicPr>
          <p:nvPr/>
        </p:nvPicPr>
        <p:blipFill>
          <a:blip r:embed="rId3"/>
          <a:stretch>
            <a:fillRect/>
          </a:stretch>
        </p:blipFill>
        <p:spPr>
          <a:xfrm>
            <a:off x="3963903" y="1176793"/>
            <a:ext cx="4007102" cy="4548146"/>
          </a:xfrm>
          <a:prstGeom prst="rect">
            <a:avLst/>
          </a:prstGeom>
        </p:spPr>
      </p:pic>
    </p:spTree>
    <p:extLst>
      <p:ext uri="{BB962C8B-B14F-4D97-AF65-F5344CB8AC3E}">
        <p14:creationId xmlns:p14="http://schemas.microsoft.com/office/powerpoint/2010/main" val="19462429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94087E04-C99E-4195-8EBA-1BD4C45117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Content Placeholder 3" descr="Diagram&#10;&#10;Description automatically generated">
            <a:extLst>
              <a:ext uri="{FF2B5EF4-FFF2-40B4-BE49-F238E27FC236}">
                <a16:creationId xmlns:a16="http://schemas.microsoft.com/office/drawing/2014/main" xmlns="" id="{C8863FE1-FBEB-4387-8C5B-02D2F843DDED}"/>
              </a:ext>
            </a:extLst>
          </p:cNvPr>
          <p:cNvPicPr>
            <a:picLocks noGrp="1" noChangeAspect="1"/>
          </p:cNvPicPr>
          <p:nvPr>
            <p:ph idx="1"/>
          </p:nvPr>
        </p:nvPicPr>
        <p:blipFill rotWithShape="1">
          <a:blip r:embed="rId2"/>
          <a:srcRect t="2402"/>
          <a:stretch/>
        </p:blipFill>
        <p:spPr>
          <a:xfrm>
            <a:off x="457200" y="457200"/>
            <a:ext cx="11277599" cy="5943599"/>
          </a:xfrm>
          <a:prstGeom prst="rect">
            <a:avLst/>
          </a:prstGeom>
          <a:ln w="12700" cap="flat" cmpd="sng" algn="ctr">
            <a:noFill/>
            <a:prstDash val="solid"/>
            <a:miter lim="800000"/>
          </a:ln>
          <a:effectLst>
            <a:outerShdw blurRad="317500" algn="ctr" rotWithShape="0">
              <a:schemeClr val="tx1">
                <a:alpha val="25000"/>
              </a:schemeClr>
            </a:outerShdw>
          </a:effectLst>
        </p:spPr>
      </p:pic>
    </p:spTree>
    <p:extLst>
      <p:ext uri="{BB962C8B-B14F-4D97-AF65-F5344CB8AC3E}">
        <p14:creationId xmlns:p14="http://schemas.microsoft.com/office/powerpoint/2010/main" val="3298805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xmlns="" id="{2B566528-1B12-4246-9431-5C2D7D08116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xmlns="" id="{462E8BAE-FD1E-4F62-8CCE-09FCBE066D1C}"/>
              </a:ext>
            </a:extLst>
          </p:cNvPr>
          <p:cNvSpPr>
            <a:spLocks noGrp="1"/>
          </p:cNvSpPr>
          <p:nvPr>
            <p:ph type="title"/>
          </p:nvPr>
        </p:nvSpPr>
        <p:spPr>
          <a:xfrm>
            <a:off x="643467" y="321734"/>
            <a:ext cx="10905066" cy="1135737"/>
          </a:xfrm>
        </p:spPr>
        <p:txBody>
          <a:bodyPr vert="horz" lIns="91440" tIns="45720" rIns="91440" bIns="45720" rtlCol="0" anchor="ctr">
            <a:normAutofit/>
          </a:bodyPr>
          <a:lstStyle/>
          <a:p>
            <a:r>
              <a:rPr lang="en-US" b="1" kern="1200" dirty="0">
                <a:solidFill>
                  <a:schemeClr val="tx1"/>
                </a:solidFill>
                <a:latin typeface="+mj-lt"/>
                <a:ea typeface="+mj-ea"/>
                <a:cs typeface="+mj-cs"/>
              </a:rPr>
              <a:t>Secrecy Chart</a:t>
            </a:r>
          </a:p>
        </p:txBody>
      </p:sp>
      <p:sp>
        <p:nvSpPr>
          <p:cNvPr id="7" name="Content Placeholder 2">
            <a:extLst>
              <a:ext uri="{FF2B5EF4-FFF2-40B4-BE49-F238E27FC236}">
                <a16:creationId xmlns:a16="http://schemas.microsoft.com/office/drawing/2014/main" xmlns="" id="{DCD65A70-0CC7-428B-BB71-05F8ACCBB08C}"/>
              </a:ext>
            </a:extLst>
          </p:cNvPr>
          <p:cNvSpPr txBox="1">
            <a:spLocks/>
          </p:cNvSpPr>
          <p:nvPr/>
        </p:nvSpPr>
        <p:spPr>
          <a:xfrm>
            <a:off x="643469" y="1782981"/>
            <a:ext cx="4376798" cy="439398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 g = public (prime) base, known to Alice, Bob, and Eve (eavesdropper).</a:t>
            </a:r>
          </a:p>
          <a:p>
            <a:pPr lvl="1"/>
            <a:r>
              <a:rPr lang="en-US" sz="1600" dirty="0"/>
              <a:t>g = 5</a:t>
            </a:r>
          </a:p>
          <a:p>
            <a:r>
              <a:rPr lang="en-US" sz="1600" dirty="0"/>
              <a:t> p = public (prime) modulus, known to Alice, Bob, and Eve.</a:t>
            </a:r>
          </a:p>
          <a:p>
            <a:pPr lvl="1"/>
            <a:r>
              <a:rPr lang="en-US" sz="1600" dirty="0"/>
              <a:t>p = 23</a:t>
            </a:r>
          </a:p>
          <a:p>
            <a:r>
              <a:rPr lang="en-US" sz="1600" dirty="0"/>
              <a:t> a = Alice's private key, known only to Alice.</a:t>
            </a:r>
          </a:p>
          <a:p>
            <a:pPr lvl="1"/>
            <a:r>
              <a:rPr lang="en-US" sz="1600" dirty="0"/>
              <a:t>a = 6</a:t>
            </a:r>
          </a:p>
          <a:p>
            <a:r>
              <a:rPr lang="en-US" sz="1600" dirty="0"/>
              <a:t> b = Bob's private key known only to Bob.</a:t>
            </a:r>
          </a:p>
          <a:p>
            <a:pPr lvl="1"/>
            <a:r>
              <a:rPr lang="en-US" sz="1600" dirty="0"/>
              <a:t>b = 15</a:t>
            </a:r>
          </a:p>
          <a:p>
            <a:r>
              <a:rPr lang="en-US" sz="1600" dirty="0"/>
              <a:t> A = Alice's public key, known to Alice, Bob, and Eve.</a:t>
            </a:r>
          </a:p>
          <a:p>
            <a:pPr lvl="1"/>
            <a:r>
              <a:rPr lang="en-US" sz="1600" dirty="0"/>
              <a:t>A = </a:t>
            </a:r>
            <a:r>
              <a:rPr lang="en-US" sz="1600" dirty="0" err="1"/>
              <a:t>ga</a:t>
            </a:r>
            <a:r>
              <a:rPr lang="en-US" sz="1600" dirty="0"/>
              <a:t> mod p = 8</a:t>
            </a:r>
          </a:p>
          <a:p>
            <a:r>
              <a:rPr lang="en-US" sz="1600" dirty="0"/>
              <a:t> B = Bob's public key, known to Alice, Bob, and Eve.</a:t>
            </a:r>
          </a:p>
          <a:p>
            <a:pPr lvl="1"/>
            <a:r>
              <a:rPr lang="en-US" sz="1600" dirty="0"/>
              <a:t>B = </a:t>
            </a:r>
            <a:r>
              <a:rPr lang="en-US" sz="1600" dirty="0" err="1"/>
              <a:t>gb</a:t>
            </a:r>
            <a:r>
              <a:rPr lang="en-US" sz="1600" dirty="0"/>
              <a:t> mod p = 19</a:t>
            </a:r>
          </a:p>
        </p:txBody>
      </p:sp>
      <p:grpSp>
        <p:nvGrpSpPr>
          <p:cNvPr id="14" name="Group 13">
            <a:extLst>
              <a:ext uri="{FF2B5EF4-FFF2-40B4-BE49-F238E27FC236}">
                <a16:creationId xmlns:a16="http://schemas.microsoft.com/office/drawing/2014/main" xmlns="" id="{828A5161-06F1-46CF-8AD7-844680A59E13}"/>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0" y="4601497"/>
            <a:ext cx="1014060" cy="2017580"/>
            <a:chOff x="0" y="4601497"/>
            <a:chExt cx="1014060" cy="2017580"/>
          </a:xfrm>
        </p:grpSpPr>
        <p:sp>
          <p:nvSpPr>
            <p:cNvPr id="15" name="Isosceles Triangle 14">
              <a:extLst>
                <a:ext uri="{FF2B5EF4-FFF2-40B4-BE49-F238E27FC236}">
                  <a16:creationId xmlns:a16="http://schemas.microsoft.com/office/drawing/2014/main" xmlns="" id="{D3F51FEB-38FB-4F6C-9F7B-2F2AFAB6546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1E547BA6-BAE0-43BB-A7CA-60F69CE252F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Content Placeholder 4">
            <a:extLst>
              <a:ext uri="{FF2B5EF4-FFF2-40B4-BE49-F238E27FC236}">
                <a16:creationId xmlns:a16="http://schemas.microsoft.com/office/drawing/2014/main" xmlns="" id="{E97497DA-8E5D-46A5-8C45-D159500463F6}"/>
              </a:ext>
            </a:extLst>
          </p:cNvPr>
          <p:cNvPicPr>
            <a:picLocks noGrp="1" noChangeAspect="1"/>
          </p:cNvPicPr>
          <p:nvPr>
            <p:ph idx="1"/>
          </p:nvPr>
        </p:nvPicPr>
        <p:blipFill>
          <a:blip r:embed="rId2"/>
          <a:stretch>
            <a:fillRect/>
          </a:stretch>
        </p:blipFill>
        <p:spPr>
          <a:xfrm>
            <a:off x="5295319" y="1644699"/>
            <a:ext cx="6621629" cy="4393982"/>
          </a:xfrm>
          <a:prstGeom prst="rect">
            <a:avLst/>
          </a:prstGeom>
        </p:spPr>
      </p:pic>
      <p:grpSp>
        <p:nvGrpSpPr>
          <p:cNvPr id="18" name="Group 17">
            <a:extLst>
              <a:ext uri="{FF2B5EF4-FFF2-40B4-BE49-F238E27FC236}">
                <a16:creationId xmlns:a16="http://schemas.microsoft.com/office/drawing/2014/main" xmlns="" id="{5995D10D-E9C9-47DB-AE7E-801FEF38F5C9}"/>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1219290" y="1"/>
            <a:ext cx="972709" cy="1935307"/>
            <a:chOff x="10918968" y="713127"/>
            <a:chExt cx="1273032" cy="2532832"/>
          </a:xfrm>
        </p:grpSpPr>
        <p:sp>
          <p:nvSpPr>
            <p:cNvPr id="19" name="Rectangle 18">
              <a:extLst>
                <a:ext uri="{FF2B5EF4-FFF2-40B4-BE49-F238E27FC236}">
                  <a16:creationId xmlns:a16="http://schemas.microsoft.com/office/drawing/2014/main" xmlns="" id="{CC1A72C6-3DE4-4EC3-9AD5-9E0D40D8CE8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xmlns="" id="{0B0DA1F1-C391-4EDF-9FE0-23E86E13776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8840447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5C39E8-A961-49FE-8057-B1FA3F401924}"/>
              </a:ext>
            </a:extLst>
          </p:cNvPr>
          <p:cNvSpPr>
            <a:spLocks noGrp="1"/>
          </p:cNvSpPr>
          <p:nvPr>
            <p:ph type="title"/>
          </p:nvPr>
        </p:nvSpPr>
        <p:spPr/>
        <p:txBody>
          <a:bodyPr/>
          <a:lstStyle/>
          <a:p>
            <a:r>
              <a:rPr lang="en-GB" b="1" dirty="0"/>
              <a:t>Another Example</a:t>
            </a:r>
            <a:endParaRPr lang="en-US" b="1" dirty="0"/>
          </a:p>
        </p:txBody>
      </p:sp>
      <p:pic>
        <p:nvPicPr>
          <p:cNvPr id="9" name="Content Placeholder 8">
            <a:extLst>
              <a:ext uri="{FF2B5EF4-FFF2-40B4-BE49-F238E27FC236}">
                <a16:creationId xmlns:a16="http://schemas.microsoft.com/office/drawing/2014/main" xmlns="" id="{AC2B93B5-A571-41EE-AD93-9C398244E080}"/>
              </a:ext>
            </a:extLst>
          </p:cNvPr>
          <p:cNvPicPr>
            <a:picLocks noGrp="1" noChangeAspect="1"/>
          </p:cNvPicPr>
          <p:nvPr>
            <p:ph idx="1"/>
          </p:nvPr>
        </p:nvPicPr>
        <p:blipFill rotWithShape="1">
          <a:blip r:embed="rId2"/>
          <a:srcRect l="27097" t="18679" r="23158" b="12149"/>
          <a:stretch/>
        </p:blipFill>
        <p:spPr>
          <a:xfrm>
            <a:off x="2887401" y="1207363"/>
            <a:ext cx="6668286" cy="5215788"/>
          </a:xfrm>
        </p:spPr>
      </p:pic>
      <p:sp>
        <p:nvSpPr>
          <p:cNvPr id="10" name="TextBox 9">
            <a:extLst>
              <a:ext uri="{FF2B5EF4-FFF2-40B4-BE49-F238E27FC236}">
                <a16:creationId xmlns:a16="http://schemas.microsoft.com/office/drawing/2014/main" xmlns="" id="{552C3609-1874-4F4F-B01D-72ADE36C2D3D}"/>
              </a:ext>
            </a:extLst>
          </p:cNvPr>
          <p:cNvSpPr txBox="1"/>
          <p:nvPr/>
        </p:nvSpPr>
        <p:spPr>
          <a:xfrm>
            <a:off x="8762260" y="1012054"/>
            <a:ext cx="2842628" cy="2862322"/>
          </a:xfrm>
          <a:prstGeom prst="rect">
            <a:avLst/>
          </a:prstGeom>
          <a:noFill/>
          <a:ln>
            <a:solidFill>
              <a:schemeClr val="tx1"/>
            </a:solidFill>
          </a:ln>
        </p:spPr>
        <p:txBody>
          <a:bodyPr wrap="square" rtlCol="0">
            <a:spAutoFit/>
          </a:bodyPr>
          <a:lstStyle/>
          <a:p>
            <a:r>
              <a:rPr lang="en-US" dirty="0"/>
              <a:t>q = 353</a:t>
            </a:r>
          </a:p>
          <a:p>
            <a:r>
              <a:rPr lang="el-GR" dirty="0"/>
              <a:t>α</a:t>
            </a:r>
            <a:r>
              <a:rPr lang="en-US" dirty="0"/>
              <a:t>= 3</a:t>
            </a:r>
          </a:p>
          <a:p>
            <a:r>
              <a:rPr lang="en-US" dirty="0" err="1"/>
              <a:t>Xa</a:t>
            </a:r>
            <a:r>
              <a:rPr lang="en-US" dirty="0"/>
              <a:t> = 97</a:t>
            </a:r>
          </a:p>
          <a:p>
            <a:r>
              <a:rPr lang="en-US" dirty="0" err="1"/>
              <a:t>Xb</a:t>
            </a:r>
            <a:r>
              <a:rPr lang="en-US" dirty="0"/>
              <a:t> =223</a:t>
            </a:r>
          </a:p>
          <a:p>
            <a:r>
              <a:rPr lang="en-US" dirty="0" err="1"/>
              <a:t>Ya</a:t>
            </a:r>
            <a:r>
              <a:rPr lang="en-US" dirty="0"/>
              <a:t> = 3^97 mod 353 = 40</a:t>
            </a:r>
          </a:p>
          <a:p>
            <a:r>
              <a:rPr lang="en-US" dirty="0"/>
              <a:t>Yb = 3^223 mod 353 = 125</a:t>
            </a:r>
          </a:p>
          <a:p>
            <a:r>
              <a:rPr lang="en-US" dirty="0"/>
              <a:t>Ka= </a:t>
            </a:r>
            <a:r>
              <a:rPr lang="en-US" dirty="0" err="1"/>
              <a:t>yb</a:t>
            </a:r>
            <a:r>
              <a:rPr lang="en-US" dirty="0"/>
              <a:t>^(</a:t>
            </a:r>
            <a:r>
              <a:rPr lang="en-US" dirty="0" err="1"/>
              <a:t>xa</a:t>
            </a:r>
            <a:r>
              <a:rPr lang="en-US" dirty="0"/>
              <a:t>) mod 353 </a:t>
            </a:r>
          </a:p>
          <a:p>
            <a:r>
              <a:rPr lang="en-US" dirty="0"/>
              <a:t>Ka = 125^97 mod 353 = 77</a:t>
            </a:r>
          </a:p>
          <a:p>
            <a:r>
              <a:rPr lang="en-US" dirty="0" err="1"/>
              <a:t>Kb</a:t>
            </a:r>
            <a:r>
              <a:rPr lang="en-US" dirty="0"/>
              <a:t> = </a:t>
            </a:r>
            <a:r>
              <a:rPr lang="en-US" dirty="0" err="1"/>
              <a:t>ya</a:t>
            </a:r>
            <a:r>
              <a:rPr lang="en-US" dirty="0"/>
              <a:t>^(</a:t>
            </a:r>
            <a:r>
              <a:rPr lang="en-US" dirty="0" err="1"/>
              <a:t>xb</a:t>
            </a:r>
            <a:r>
              <a:rPr lang="en-US" dirty="0"/>
              <a:t>) mod 353 </a:t>
            </a:r>
          </a:p>
          <a:p>
            <a:r>
              <a:rPr lang="en-US" dirty="0" err="1"/>
              <a:t>Kb</a:t>
            </a:r>
            <a:r>
              <a:rPr lang="en-US" dirty="0"/>
              <a:t> =40^223 mod 353 = 77</a:t>
            </a:r>
          </a:p>
        </p:txBody>
      </p:sp>
    </p:spTree>
    <p:extLst>
      <p:ext uri="{BB962C8B-B14F-4D97-AF65-F5344CB8AC3E}">
        <p14:creationId xmlns:p14="http://schemas.microsoft.com/office/powerpoint/2010/main" val="7782560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3F4C047D-D6ED-4F27-AB00-F2D07AD30ABE}"/>
              </a:ext>
            </a:extLst>
          </p:cNvPr>
          <p:cNvSpPr>
            <a:spLocks noGrp="1"/>
          </p:cNvSpPr>
          <p:nvPr>
            <p:ph type="dt" sz="half" idx="10"/>
          </p:nvPr>
        </p:nvSpPr>
        <p:spPr/>
        <p:txBody>
          <a:bodyPr/>
          <a:lstStyle/>
          <a:p>
            <a:r>
              <a:rPr lang="en-US" altLang="en-US"/>
              <a:t>30 Aug 2000</a:t>
            </a:r>
          </a:p>
        </p:txBody>
      </p:sp>
      <p:sp>
        <p:nvSpPr>
          <p:cNvPr id="5" name="Footer Placeholder 4">
            <a:extLst>
              <a:ext uri="{FF2B5EF4-FFF2-40B4-BE49-F238E27FC236}">
                <a16:creationId xmlns:a16="http://schemas.microsoft.com/office/drawing/2014/main" xmlns="" id="{732B4227-C20A-4387-9C5E-F4E97A8C0F41}"/>
              </a:ext>
            </a:extLst>
          </p:cNvPr>
          <p:cNvSpPr>
            <a:spLocks noGrp="1"/>
          </p:cNvSpPr>
          <p:nvPr>
            <p:ph type="ftr" sz="quarter" idx="11"/>
          </p:nvPr>
        </p:nvSpPr>
        <p:spPr/>
        <p:txBody>
          <a:bodyPr/>
          <a:lstStyle/>
          <a:p>
            <a:r>
              <a:rPr lang="en-US" altLang="en-US"/>
              <a:t>University of Virginia CS 551</a:t>
            </a:r>
          </a:p>
        </p:txBody>
      </p:sp>
      <p:sp>
        <p:nvSpPr>
          <p:cNvPr id="6" name="Slide Number Placeholder 5">
            <a:extLst>
              <a:ext uri="{FF2B5EF4-FFF2-40B4-BE49-F238E27FC236}">
                <a16:creationId xmlns:a16="http://schemas.microsoft.com/office/drawing/2014/main" xmlns="" id="{E401B454-1A04-4747-B9AC-BD39EC7B831B}"/>
              </a:ext>
            </a:extLst>
          </p:cNvPr>
          <p:cNvSpPr>
            <a:spLocks noGrp="1"/>
          </p:cNvSpPr>
          <p:nvPr>
            <p:ph type="sldNum" sz="quarter" idx="12"/>
          </p:nvPr>
        </p:nvSpPr>
        <p:spPr/>
        <p:txBody>
          <a:bodyPr/>
          <a:lstStyle/>
          <a:p>
            <a:fld id="{0014962C-3166-4DF0-9274-2BAB85BC1A3D}" type="slidenum">
              <a:rPr lang="en-US" altLang="en-US" smtClean="0"/>
              <a:pPr/>
              <a:t>36</a:t>
            </a:fld>
            <a:endParaRPr lang="en-US" altLang="en-US"/>
          </a:p>
        </p:txBody>
      </p:sp>
      <p:sp>
        <p:nvSpPr>
          <p:cNvPr id="690178" name="Rectangle 2">
            <a:extLst>
              <a:ext uri="{FF2B5EF4-FFF2-40B4-BE49-F238E27FC236}">
                <a16:creationId xmlns:a16="http://schemas.microsoft.com/office/drawing/2014/main" xmlns="" id="{EEBF504E-0982-4FEE-9ECB-A3CD4E802E08}"/>
              </a:ext>
            </a:extLst>
          </p:cNvPr>
          <p:cNvSpPr>
            <a:spLocks noGrp="1" noChangeArrowheads="1"/>
          </p:cNvSpPr>
          <p:nvPr>
            <p:ph type="title"/>
          </p:nvPr>
        </p:nvSpPr>
        <p:spPr/>
        <p:txBody>
          <a:bodyPr/>
          <a:lstStyle/>
          <a:p>
            <a:r>
              <a:rPr lang="en-US" altLang="en-US"/>
              <a:t>Diffie-Hellman Use</a:t>
            </a:r>
          </a:p>
        </p:txBody>
      </p:sp>
      <p:sp>
        <p:nvSpPr>
          <p:cNvPr id="690179" name="Rectangle 3">
            <a:extLst>
              <a:ext uri="{FF2B5EF4-FFF2-40B4-BE49-F238E27FC236}">
                <a16:creationId xmlns:a16="http://schemas.microsoft.com/office/drawing/2014/main" xmlns="" id="{FE769A5E-D381-419E-B3EA-585CA4BA5DE6}"/>
              </a:ext>
            </a:extLst>
          </p:cNvPr>
          <p:cNvSpPr>
            <a:spLocks noGrp="1" noChangeArrowheads="1"/>
          </p:cNvSpPr>
          <p:nvPr>
            <p:ph type="body" idx="1"/>
          </p:nvPr>
        </p:nvSpPr>
        <p:spPr/>
        <p:txBody>
          <a:bodyPr/>
          <a:lstStyle/>
          <a:p>
            <a:r>
              <a:rPr lang="en-US" altLang="en-US"/>
              <a:t>SSL</a:t>
            </a:r>
          </a:p>
          <a:p>
            <a:r>
              <a:rPr lang="en-US" altLang="en-US"/>
              <a:t>Cisco encrypting routers</a:t>
            </a:r>
          </a:p>
          <a:p>
            <a:r>
              <a:rPr lang="en-US" altLang="en-US"/>
              <a:t>Sun secure RPC</a:t>
            </a:r>
          </a:p>
          <a:p>
            <a:r>
              <a:rPr lang="en-US" altLang="en-US"/>
              <a:t>etc...</a:t>
            </a:r>
          </a:p>
          <a:p>
            <a:endParaRPr lang="en-US" altLang="en-US"/>
          </a:p>
          <a:p>
            <a:pPr>
              <a:buFontTx/>
              <a:buNone/>
            </a:pPr>
            <a:endParaRPr lang="en-US"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xmlns="" id="{B9FF99BD-075F-4761-A995-6FC574BD25E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xmlns="" id="{A7B21A54-9BA3-4EA9-B460-5A829ADD905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77012" y="480060"/>
            <a:ext cx="11237976" cy="589788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xmlns="" id="{6FA8F714-B9D8-488A-8CCA-E9948FF913A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Text&#10;&#10;Description automatically generated">
            <a:extLst>
              <a:ext uri="{FF2B5EF4-FFF2-40B4-BE49-F238E27FC236}">
                <a16:creationId xmlns:a16="http://schemas.microsoft.com/office/drawing/2014/main" xmlns="" id="{9FC70EAE-6A20-4652-8E77-FF748DBE5B4F}"/>
              </a:ext>
            </a:extLst>
          </p:cNvPr>
          <p:cNvPicPr>
            <a:picLocks noChangeAspect="1"/>
          </p:cNvPicPr>
          <p:nvPr/>
        </p:nvPicPr>
        <p:blipFill>
          <a:blip r:embed="rId2"/>
          <a:stretch>
            <a:fillRect/>
          </a:stretch>
        </p:blipFill>
        <p:spPr>
          <a:xfrm>
            <a:off x="477011" y="480060"/>
            <a:ext cx="11237976" cy="5897880"/>
          </a:xfrm>
          <a:prstGeom prst="rect">
            <a:avLst/>
          </a:prstGeom>
        </p:spPr>
      </p:pic>
    </p:spTree>
    <p:extLst>
      <p:ext uri="{BB962C8B-B14F-4D97-AF65-F5344CB8AC3E}">
        <p14:creationId xmlns:p14="http://schemas.microsoft.com/office/powerpoint/2010/main" val="30598439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32BC26D8-82FB-445E-AA49-62A77D7C1EE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rgbClr val="4237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xmlns="" id="{CB44330D-EA18-4254-AA95-EB49948539B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xmlns="" id="{7E846AD3-5EAE-4A71-B009-6B4EB3B99BB2}"/>
              </a:ext>
            </a:extLst>
          </p:cNvPr>
          <p:cNvPicPr>
            <a:picLocks noChangeAspect="1"/>
          </p:cNvPicPr>
          <p:nvPr/>
        </p:nvPicPr>
        <p:blipFill>
          <a:blip r:embed="rId2"/>
          <a:stretch>
            <a:fillRect/>
          </a:stretch>
        </p:blipFill>
        <p:spPr>
          <a:xfrm>
            <a:off x="1491175" y="643467"/>
            <a:ext cx="8693834" cy="5571066"/>
          </a:xfrm>
          <a:prstGeom prst="rect">
            <a:avLst/>
          </a:prstGeom>
        </p:spPr>
      </p:pic>
    </p:spTree>
    <p:extLst>
      <p:ext uri="{BB962C8B-B14F-4D97-AF65-F5344CB8AC3E}">
        <p14:creationId xmlns:p14="http://schemas.microsoft.com/office/powerpoint/2010/main" val="4272399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32BC26D8-82FB-445E-AA49-62A77D7C1EE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rgbClr val="383B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xmlns="" id="{CB44330D-EA18-4254-AA95-EB49948539B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xmlns="" id="{E6333C27-F2B4-4CC1-B1C9-E40AAE482A7E}"/>
              </a:ext>
            </a:extLst>
          </p:cNvPr>
          <p:cNvPicPr>
            <a:picLocks noChangeAspect="1"/>
          </p:cNvPicPr>
          <p:nvPr/>
        </p:nvPicPr>
        <p:blipFill>
          <a:blip r:embed="rId2"/>
          <a:stretch>
            <a:fillRect/>
          </a:stretch>
        </p:blipFill>
        <p:spPr>
          <a:xfrm>
            <a:off x="2489981" y="643467"/>
            <a:ext cx="6963507" cy="5571066"/>
          </a:xfrm>
          <a:prstGeom prst="rect">
            <a:avLst/>
          </a:prstGeom>
        </p:spPr>
      </p:pic>
    </p:spTree>
    <p:extLst>
      <p:ext uri="{BB962C8B-B14F-4D97-AF65-F5344CB8AC3E}">
        <p14:creationId xmlns:p14="http://schemas.microsoft.com/office/powerpoint/2010/main" val="18372264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781</TotalTime>
  <Words>1375</Words>
  <Application>Microsoft Office PowerPoint</Application>
  <PresentationFormat>Custom</PresentationFormat>
  <Paragraphs>213</Paragraphs>
  <Slides>39</Slides>
  <Notes>1</Notes>
  <HiddenSlides>0</HiddenSlides>
  <MMClips>0</MMClips>
  <ScaleCrop>false</ScaleCrop>
  <HeadingPairs>
    <vt:vector size="6" baseType="variant">
      <vt:variant>
        <vt:lpstr>Theme</vt:lpstr>
      </vt:variant>
      <vt:variant>
        <vt:i4>2</vt:i4>
      </vt:variant>
      <vt:variant>
        <vt:lpstr>Embedded OLE Servers</vt:lpstr>
      </vt:variant>
      <vt:variant>
        <vt:i4>1</vt:i4>
      </vt:variant>
      <vt:variant>
        <vt:lpstr>Slide Titles</vt:lpstr>
      </vt:variant>
      <vt:variant>
        <vt:i4>39</vt:i4>
      </vt:variant>
    </vt:vector>
  </HeadingPairs>
  <TitlesOfParts>
    <vt:vector size="42" baseType="lpstr">
      <vt:lpstr>Office Theme</vt:lpstr>
      <vt:lpstr>1_Office Theme</vt:lpstr>
      <vt:lpstr>Document</vt:lpstr>
      <vt:lpstr>Information Security Public and Private Key Algorithms</vt:lpstr>
      <vt:lpstr>Secret Key Cryptography Problems</vt:lpstr>
      <vt:lpstr>Public-Key Cryptography</vt:lpstr>
      <vt:lpstr>Alice, Bob and Trudy</vt:lpstr>
      <vt:lpstr>Public-Key Cryptography Requirements</vt:lpstr>
      <vt:lpstr>Public Key Encryption Systems</vt:lpstr>
      <vt:lpstr>PowerPoint Presentation</vt:lpstr>
      <vt:lpstr>Comparison of SK and PK</vt:lpstr>
      <vt:lpstr>Public Key Encryption Has Foundations in Mathematics</vt:lpstr>
      <vt:lpstr>Multiplication/Factorization Trapdoor Function</vt:lpstr>
      <vt:lpstr>Inventors of PK Cryptography</vt:lpstr>
      <vt:lpstr>Application of Public-Key Ciphers</vt:lpstr>
      <vt:lpstr>Diffie Hellman Key Exchange Algorithm</vt:lpstr>
      <vt:lpstr>PowerPoint Presentation</vt:lpstr>
      <vt:lpstr>PowerPoint Presentation</vt:lpstr>
      <vt:lpstr>Diffie–Hellman Key Exchange   </vt:lpstr>
      <vt:lpstr>Diffie–Hellman Key Exchange Illustration</vt:lpstr>
      <vt:lpstr>Diffie-Hellman Key Agreement</vt:lpstr>
      <vt:lpstr>What’s a generator?</vt:lpstr>
      <vt:lpstr>Example</vt:lpstr>
      <vt:lpstr>Diffie-Hellman Example</vt:lpstr>
      <vt:lpstr>Diffie-Hellman Example, cont.</vt:lpstr>
      <vt:lpstr>Is it magic? Things to Prove: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Secrecy Chart</vt:lpstr>
      <vt:lpstr>Another Example</vt:lpstr>
      <vt:lpstr>Diffie-Hellman Use</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Diffie Hellman Key Exchange Algorithm</dc:title>
  <dc:creator>M Usman</dc:creator>
  <cp:lastModifiedBy>Razia Nisar</cp:lastModifiedBy>
  <cp:revision>32</cp:revision>
  <dcterms:created xsi:type="dcterms:W3CDTF">2020-12-15T04:54:24Z</dcterms:created>
  <dcterms:modified xsi:type="dcterms:W3CDTF">2023-06-13T05:09:19Z</dcterms:modified>
</cp:coreProperties>
</file>