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1" r:id="rId1"/>
  </p:sldMasterIdLst>
  <p:notesMasterIdLst>
    <p:notesMasterId r:id="rId25"/>
  </p:notesMasterIdLst>
  <p:sldIdLst>
    <p:sldId id="257" r:id="rId2"/>
    <p:sldId id="258" r:id="rId3"/>
    <p:sldId id="279" r:id="rId4"/>
    <p:sldId id="280" r:id="rId5"/>
    <p:sldId id="281" r:id="rId6"/>
    <p:sldId id="260" r:id="rId7"/>
    <p:sldId id="262" r:id="rId8"/>
    <p:sldId id="264" r:id="rId9"/>
    <p:sldId id="265" r:id="rId10"/>
    <p:sldId id="266" r:id="rId11"/>
    <p:sldId id="286" r:id="rId12"/>
    <p:sldId id="287" r:id="rId13"/>
    <p:sldId id="288" r:id="rId14"/>
    <p:sldId id="267" r:id="rId15"/>
    <p:sldId id="268" r:id="rId16"/>
    <p:sldId id="275" r:id="rId17"/>
    <p:sldId id="285" r:id="rId18"/>
    <p:sldId id="272" r:id="rId19"/>
    <p:sldId id="274" r:id="rId20"/>
    <p:sldId id="278" r:id="rId21"/>
    <p:sldId id="277" r:id="rId22"/>
    <p:sldId id="284" r:id="rId23"/>
    <p:sldId id="283"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249" autoAdjust="0"/>
  </p:normalViewPr>
  <p:slideViewPr>
    <p:cSldViewPr>
      <p:cViewPr varScale="1">
        <p:scale>
          <a:sx n="107" d="100"/>
          <a:sy n="107" d="100"/>
        </p:scale>
        <p:origin x="114" y="1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B15A970-192F-483C-97E3-B61FB2E663EA}" type="doc">
      <dgm:prSet loTypeId="urn:microsoft.com/office/officeart/2005/8/layout/process4" loCatId="process" qsTypeId="urn:microsoft.com/office/officeart/2005/8/quickstyle/simple1" qsCatId="simple" csTypeId="urn:microsoft.com/office/officeart/2005/8/colors/colorful2" csCatId="colorful"/>
      <dgm:spPr/>
      <dgm:t>
        <a:bodyPr/>
        <a:lstStyle/>
        <a:p>
          <a:endParaRPr lang="en-US"/>
        </a:p>
      </dgm:t>
    </dgm:pt>
    <dgm:pt modelId="{9CBF054A-74C4-421F-9947-F27FC31656C7}">
      <dgm:prSet/>
      <dgm:spPr/>
      <dgm:t>
        <a:bodyPr/>
        <a:lstStyle/>
        <a:p>
          <a:r>
            <a:rPr lang="en-US"/>
            <a:t>( ∃ x) (Person (x) ∧ father (x, Ahmed) ).</a:t>
          </a:r>
        </a:p>
      </dgm:t>
    </dgm:pt>
    <dgm:pt modelId="{11E13AE2-F020-4AC4-B82A-F07E193AE72F}" type="parTrans" cxnId="{9DBA16D7-882E-4863-9306-E8598389CD18}">
      <dgm:prSet/>
      <dgm:spPr/>
      <dgm:t>
        <a:bodyPr/>
        <a:lstStyle/>
        <a:p>
          <a:endParaRPr lang="en-US"/>
        </a:p>
      </dgm:t>
    </dgm:pt>
    <dgm:pt modelId="{F54DC535-5F18-4F7C-AD7E-ED2EEE0EA1A1}" type="sibTrans" cxnId="{9DBA16D7-882E-4863-9306-E8598389CD18}">
      <dgm:prSet/>
      <dgm:spPr/>
      <dgm:t>
        <a:bodyPr/>
        <a:lstStyle/>
        <a:p>
          <a:endParaRPr lang="en-US"/>
        </a:p>
      </dgm:t>
    </dgm:pt>
    <dgm:pt modelId="{44C72665-EC5E-46FC-B306-E9D1B90EC0DD}">
      <dgm:prSet/>
      <dgm:spPr/>
      <dgm:t>
        <a:bodyPr/>
        <a:lstStyle/>
        <a:p>
          <a:r>
            <a:rPr lang="en-US"/>
            <a:t>In words this reads as: there exists some person, x who is Ahmed’s father.</a:t>
          </a:r>
        </a:p>
      </dgm:t>
    </dgm:pt>
    <dgm:pt modelId="{ADD70B94-9F20-495F-8C88-64603F244046}" type="parTrans" cxnId="{701B4684-02B4-49DA-93A3-BABE3A288EF8}">
      <dgm:prSet/>
      <dgm:spPr/>
      <dgm:t>
        <a:bodyPr/>
        <a:lstStyle/>
        <a:p>
          <a:endParaRPr lang="en-US"/>
        </a:p>
      </dgm:t>
    </dgm:pt>
    <dgm:pt modelId="{497FD280-0B61-4D82-A14A-9AA176DCCFED}" type="sibTrans" cxnId="{701B4684-02B4-49DA-93A3-BABE3A288EF8}">
      <dgm:prSet/>
      <dgm:spPr/>
      <dgm:t>
        <a:bodyPr/>
        <a:lstStyle/>
        <a:p>
          <a:endParaRPr lang="en-US"/>
        </a:p>
      </dgm:t>
    </dgm:pt>
    <dgm:pt modelId="{6249D7C6-4820-4123-B959-463F53B25605}" type="pres">
      <dgm:prSet presAssocID="{9B15A970-192F-483C-97E3-B61FB2E663EA}" presName="Name0" presStyleCnt="0">
        <dgm:presLayoutVars>
          <dgm:dir/>
          <dgm:animLvl val="lvl"/>
          <dgm:resizeHandles val="exact"/>
        </dgm:presLayoutVars>
      </dgm:prSet>
      <dgm:spPr/>
      <dgm:t>
        <a:bodyPr/>
        <a:lstStyle/>
        <a:p>
          <a:endParaRPr lang="en-GB"/>
        </a:p>
      </dgm:t>
    </dgm:pt>
    <dgm:pt modelId="{AD334262-2B42-4EF2-94EC-E7A4B9364E8C}" type="pres">
      <dgm:prSet presAssocID="{44C72665-EC5E-46FC-B306-E9D1B90EC0DD}" presName="boxAndChildren" presStyleCnt="0"/>
      <dgm:spPr/>
    </dgm:pt>
    <dgm:pt modelId="{BFA9A3FB-6EC1-4805-84F9-52DC21A19EC0}" type="pres">
      <dgm:prSet presAssocID="{44C72665-EC5E-46FC-B306-E9D1B90EC0DD}" presName="parentTextBox" presStyleLbl="node1" presStyleIdx="0" presStyleCnt="2"/>
      <dgm:spPr/>
      <dgm:t>
        <a:bodyPr/>
        <a:lstStyle/>
        <a:p>
          <a:endParaRPr lang="en-GB"/>
        </a:p>
      </dgm:t>
    </dgm:pt>
    <dgm:pt modelId="{4F9FC73C-D805-40EA-A96E-FB30DD7A4034}" type="pres">
      <dgm:prSet presAssocID="{F54DC535-5F18-4F7C-AD7E-ED2EEE0EA1A1}" presName="sp" presStyleCnt="0"/>
      <dgm:spPr/>
    </dgm:pt>
    <dgm:pt modelId="{E017FA95-A520-44C4-AEB0-B9018C3B5014}" type="pres">
      <dgm:prSet presAssocID="{9CBF054A-74C4-421F-9947-F27FC31656C7}" presName="arrowAndChildren" presStyleCnt="0"/>
      <dgm:spPr/>
    </dgm:pt>
    <dgm:pt modelId="{60C5AED6-970F-499E-8643-E108A88C1FC9}" type="pres">
      <dgm:prSet presAssocID="{9CBF054A-74C4-421F-9947-F27FC31656C7}" presName="parentTextArrow" presStyleLbl="node1" presStyleIdx="1" presStyleCnt="2"/>
      <dgm:spPr/>
      <dgm:t>
        <a:bodyPr/>
        <a:lstStyle/>
        <a:p>
          <a:endParaRPr lang="en-GB"/>
        </a:p>
      </dgm:t>
    </dgm:pt>
  </dgm:ptLst>
  <dgm:cxnLst>
    <dgm:cxn modelId="{CBD2E9FB-4BD7-4AF5-BA2C-284FC198944A}" type="presOf" srcId="{44C72665-EC5E-46FC-B306-E9D1B90EC0DD}" destId="{BFA9A3FB-6EC1-4805-84F9-52DC21A19EC0}" srcOrd="0" destOrd="0" presId="urn:microsoft.com/office/officeart/2005/8/layout/process4"/>
    <dgm:cxn modelId="{F80AE93E-E1C5-4B40-8BDC-890A9AFEC4DF}" type="presOf" srcId="{9CBF054A-74C4-421F-9947-F27FC31656C7}" destId="{60C5AED6-970F-499E-8643-E108A88C1FC9}" srcOrd="0" destOrd="0" presId="urn:microsoft.com/office/officeart/2005/8/layout/process4"/>
    <dgm:cxn modelId="{701B4684-02B4-49DA-93A3-BABE3A288EF8}" srcId="{9B15A970-192F-483C-97E3-B61FB2E663EA}" destId="{44C72665-EC5E-46FC-B306-E9D1B90EC0DD}" srcOrd="1" destOrd="0" parTransId="{ADD70B94-9F20-495F-8C88-64603F244046}" sibTransId="{497FD280-0B61-4D82-A14A-9AA176DCCFED}"/>
    <dgm:cxn modelId="{A7A0FF27-6B9A-4022-BAEB-085FFCCFD67D}" type="presOf" srcId="{9B15A970-192F-483C-97E3-B61FB2E663EA}" destId="{6249D7C6-4820-4123-B959-463F53B25605}" srcOrd="0" destOrd="0" presId="urn:microsoft.com/office/officeart/2005/8/layout/process4"/>
    <dgm:cxn modelId="{9DBA16D7-882E-4863-9306-E8598389CD18}" srcId="{9B15A970-192F-483C-97E3-B61FB2E663EA}" destId="{9CBF054A-74C4-421F-9947-F27FC31656C7}" srcOrd="0" destOrd="0" parTransId="{11E13AE2-F020-4AC4-B82A-F07E193AE72F}" sibTransId="{F54DC535-5F18-4F7C-AD7E-ED2EEE0EA1A1}"/>
    <dgm:cxn modelId="{FCDF70E1-844F-467F-A4E3-0B6994B5A3A4}" type="presParOf" srcId="{6249D7C6-4820-4123-B959-463F53B25605}" destId="{AD334262-2B42-4EF2-94EC-E7A4B9364E8C}" srcOrd="0" destOrd="0" presId="urn:microsoft.com/office/officeart/2005/8/layout/process4"/>
    <dgm:cxn modelId="{9A7A674A-1BBF-42AA-A167-E7751619FF14}" type="presParOf" srcId="{AD334262-2B42-4EF2-94EC-E7A4B9364E8C}" destId="{BFA9A3FB-6EC1-4805-84F9-52DC21A19EC0}" srcOrd="0" destOrd="0" presId="urn:microsoft.com/office/officeart/2005/8/layout/process4"/>
    <dgm:cxn modelId="{BA4BC909-7338-4D00-B3DE-D856A9F2B127}" type="presParOf" srcId="{6249D7C6-4820-4123-B959-463F53B25605}" destId="{4F9FC73C-D805-40EA-A96E-FB30DD7A4034}" srcOrd="1" destOrd="0" presId="urn:microsoft.com/office/officeart/2005/8/layout/process4"/>
    <dgm:cxn modelId="{CAAC569F-87A7-487C-96B1-DB21894888F1}" type="presParOf" srcId="{6249D7C6-4820-4123-B959-463F53B25605}" destId="{E017FA95-A520-44C4-AEB0-B9018C3B5014}" srcOrd="2" destOrd="0" presId="urn:microsoft.com/office/officeart/2005/8/layout/process4"/>
    <dgm:cxn modelId="{1C735551-BA2D-4B7E-958D-B3D43E1B0379}" type="presParOf" srcId="{E017FA95-A520-44C4-AEB0-B9018C3B5014}" destId="{60C5AED6-970F-499E-8643-E108A88C1FC9}"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43F4454-3A79-4680-AD8A-DF9F1D1F3BB9}"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891936C2-B3F5-4AB8-8554-24BAC00580C9}">
      <dgm:prSet/>
      <dgm:spPr/>
      <dgm:t>
        <a:bodyPr/>
        <a:lstStyle/>
        <a:p>
          <a:r>
            <a:rPr lang="en-US"/>
            <a:t>Universal quantifiers are often used with “implies” to form “rules”:</a:t>
          </a:r>
        </a:p>
      </dgm:t>
    </dgm:pt>
    <dgm:pt modelId="{E189B08A-EE80-48E2-8BA3-3809ED75C3AE}" type="parTrans" cxnId="{8E4EECE1-EC1F-474E-8C85-9DBE4A494574}">
      <dgm:prSet/>
      <dgm:spPr/>
      <dgm:t>
        <a:bodyPr/>
        <a:lstStyle/>
        <a:p>
          <a:endParaRPr lang="en-US"/>
        </a:p>
      </dgm:t>
    </dgm:pt>
    <dgm:pt modelId="{3F3DD60B-8CF3-45A7-9616-6BFA9D9F438F}" type="sibTrans" cxnId="{8E4EECE1-EC1F-474E-8C85-9DBE4A494574}">
      <dgm:prSet/>
      <dgm:spPr/>
      <dgm:t>
        <a:bodyPr/>
        <a:lstStyle/>
        <a:p>
          <a:endParaRPr lang="en-US"/>
        </a:p>
      </dgm:t>
    </dgm:pt>
    <dgm:pt modelId="{D72226E6-FA12-4C81-BD38-1506FC676601}">
      <dgm:prSet/>
      <dgm:spPr/>
      <dgm:t>
        <a:bodyPr/>
        <a:lstStyle/>
        <a:p>
          <a:r>
            <a:rPr lang="en-US" dirty="0"/>
            <a:t>(</a:t>
          </a:r>
          <a:r>
            <a:rPr lang="en-US" dirty="0">
              <a:sym typeface="Symbol" panose="05050102010706020507" pitchFamily="18" charset="2"/>
            </a:rPr>
            <a:t></a:t>
          </a:r>
          <a:r>
            <a:rPr lang="en-US" dirty="0"/>
            <a:t>x) student(x) </a:t>
          </a:r>
          <a:r>
            <a:rPr lang="en-US" dirty="0">
              <a:sym typeface="Symbol" panose="05050102010706020507" pitchFamily="18" charset="2"/>
            </a:rPr>
            <a:t></a:t>
          </a:r>
          <a:r>
            <a:rPr lang="en-US" dirty="0"/>
            <a:t> smart(x) means “All students are smart”</a:t>
          </a:r>
        </a:p>
      </dgm:t>
    </dgm:pt>
    <dgm:pt modelId="{C9E56730-286C-4297-8CA0-98F83B97C3CE}" type="parTrans" cxnId="{B9422CB0-3C63-439A-A318-C340859D8A83}">
      <dgm:prSet/>
      <dgm:spPr/>
      <dgm:t>
        <a:bodyPr/>
        <a:lstStyle/>
        <a:p>
          <a:endParaRPr lang="en-US"/>
        </a:p>
      </dgm:t>
    </dgm:pt>
    <dgm:pt modelId="{C1350FE3-32E4-458D-BA02-115EFF67A5B9}" type="sibTrans" cxnId="{B9422CB0-3C63-439A-A318-C340859D8A83}">
      <dgm:prSet/>
      <dgm:spPr/>
      <dgm:t>
        <a:bodyPr/>
        <a:lstStyle/>
        <a:p>
          <a:endParaRPr lang="en-US"/>
        </a:p>
      </dgm:t>
    </dgm:pt>
    <dgm:pt modelId="{FF6E8112-7EF4-4E47-9448-BDDDEB8D61F8}">
      <dgm:prSet/>
      <dgm:spPr/>
      <dgm:t>
        <a:bodyPr/>
        <a:lstStyle/>
        <a:p>
          <a:r>
            <a:rPr lang="en-US"/>
            <a:t>Universal quantification is </a:t>
          </a:r>
          <a:r>
            <a:rPr lang="en-US" i="1"/>
            <a:t>rarely </a:t>
          </a:r>
          <a:r>
            <a:rPr lang="en-US"/>
            <a:t>used to make blanket statements about every individual in the world: </a:t>
          </a:r>
        </a:p>
      </dgm:t>
    </dgm:pt>
    <dgm:pt modelId="{35791314-86A6-4677-A058-2F232A8E8ABF}" type="parTrans" cxnId="{317EC2FC-EA5A-4B4F-BE38-C4F5D3049CAB}">
      <dgm:prSet/>
      <dgm:spPr/>
      <dgm:t>
        <a:bodyPr/>
        <a:lstStyle/>
        <a:p>
          <a:endParaRPr lang="en-US"/>
        </a:p>
      </dgm:t>
    </dgm:pt>
    <dgm:pt modelId="{F7CC78F3-4E5C-4F1A-9D40-9BF354B84D78}" type="sibTrans" cxnId="{317EC2FC-EA5A-4B4F-BE38-C4F5D3049CAB}">
      <dgm:prSet/>
      <dgm:spPr/>
      <dgm:t>
        <a:bodyPr/>
        <a:lstStyle/>
        <a:p>
          <a:endParaRPr lang="en-US"/>
        </a:p>
      </dgm:t>
    </dgm:pt>
    <dgm:pt modelId="{1AC68E96-A880-415A-9C3A-CDAD22B79EB7}">
      <dgm:prSet/>
      <dgm:spPr/>
      <dgm:t>
        <a:bodyPr/>
        <a:lstStyle/>
        <a:p>
          <a:r>
            <a:rPr lang="en-US" dirty="0"/>
            <a:t>(</a:t>
          </a:r>
          <a:r>
            <a:rPr lang="en-US" dirty="0">
              <a:sym typeface="Symbol" panose="05050102010706020507" pitchFamily="18" charset="2"/>
            </a:rPr>
            <a:t></a:t>
          </a:r>
          <a:r>
            <a:rPr lang="en-US" dirty="0"/>
            <a:t>x)student(x)</a:t>
          </a:r>
          <a:r>
            <a:rPr lang="en-US" dirty="0">
              <a:sym typeface="Symbol" panose="05050102010706020507" pitchFamily="18" charset="2"/>
            </a:rPr>
            <a:t></a:t>
          </a:r>
          <a:r>
            <a:rPr lang="en-US" dirty="0"/>
            <a:t>smart(x) means “Everyone </a:t>
          </a:r>
          <a:r>
            <a:rPr lang="en-US" dirty="0" smtClean="0"/>
            <a:t>is </a:t>
          </a:r>
          <a:r>
            <a:rPr lang="en-US" dirty="0"/>
            <a:t>a student and is smart”</a:t>
          </a:r>
        </a:p>
      </dgm:t>
    </dgm:pt>
    <dgm:pt modelId="{83A23CF2-64EF-4E19-B15C-EF8A138F6A3E}" type="parTrans" cxnId="{5AC70B5E-6838-49BD-8CF1-3AE0DAFC36AD}">
      <dgm:prSet/>
      <dgm:spPr/>
      <dgm:t>
        <a:bodyPr/>
        <a:lstStyle/>
        <a:p>
          <a:endParaRPr lang="en-US"/>
        </a:p>
      </dgm:t>
    </dgm:pt>
    <dgm:pt modelId="{6A476742-D506-4637-8827-BE5A0BEA34CD}" type="sibTrans" cxnId="{5AC70B5E-6838-49BD-8CF1-3AE0DAFC36AD}">
      <dgm:prSet/>
      <dgm:spPr/>
      <dgm:t>
        <a:bodyPr/>
        <a:lstStyle/>
        <a:p>
          <a:endParaRPr lang="en-US"/>
        </a:p>
      </dgm:t>
    </dgm:pt>
    <dgm:pt modelId="{B0E5E933-1337-4AC7-A1F0-35DA66B9A74B}">
      <dgm:prSet/>
      <dgm:spPr/>
      <dgm:t>
        <a:bodyPr/>
        <a:lstStyle/>
        <a:p>
          <a:r>
            <a:rPr lang="en-US"/>
            <a:t>Existential quantifiers are usually used with “and” to specify a list of properties about an individual:</a:t>
          </a:r>
        </a:p>
      </dgm:t>
    </dgm:pt>
    <dgm:pt modelId="{675E89C3-A785-4878-A1D4-CA8C3D3C373B}" type="parTrans" cxnId="{EAECB1AC-80C8-492C-9245-124D4FDF794C}">
      <dgm:prSet/>
      <dgm:spPr/>
      <dgm:t>
        <a:bodyPr/>
        <a:lstStyle/>
        <a:p>
          <a:endParaRPr lang="en-US"/>
        </a:p>
      </dgm:t>
    </dgm:pt>
    <dgm:pt modelId="{ADECF5CF-B92B-4B86-92E9-C480B96A7280}" type="sibTrans" cxnId="{EAECB1AC-80C8-492C-9245-124D4FDF794C}">
      <dgm:prSet/>
      <dgm:spPr/>
      <dgm:t>
        <a:bodyPr/>
        <a:lstStyle/>
        <a:p>
          <a:endParaRPr lang="en-US"/>
        </a:p>
      </dgm:t>
    </dgm:pt>
    <dgm:pt modelId="{99A0C203-4CA7-4809-BF2E-A855694C21C7}">
      <dgm:prSet/>
      <dgm:spPr/>
      <dgm:t>
        <a:bodyPr/>
        <a:lstStyle/>
        <a:p>
          <a:r>
            <a:rPr lang="en-US"/>
            <a:t>(</a:t>
          </a:r>
          <a:r>
            <a:rPr lang="en-US">
              <a:sym typeface="Symbol" panose="05050102010706020507" pitchFamily="18" charset="2"/>
            </a:rPr>
            <a:t></a:t>
          </a:r>
          <a:r>
            <a:rPr lang="en-US"/>
            <a:t>x) student(x) </a:t>
          </a:r>
          <a:r>
            <a:rPr lang="en-US">
              <a:sym typeface="Symbol" panose="05050102010706020507" pitchFamily="18" charset="2"/>
            </a:rPr>
            <a:t></a:t>
          </a:r>
          <a:r>
            <a:rPr lang="en-US"/>
            <a:t> smart(x) means “There is a student who is smart”</a:t>
          </a:r>
        </a:p>
      </dgm:t>
    </dgm:pt>
    <dgm:pt modelId="{70C1852D-A4D3-49F4-A950-4620E282F108}" type="parTrans" cxnId="{2C64E395-CD72-4D58-8FFE-863FDC9F0456}">
      <dgm:prSet/>
      <dgm:spPr/>
      <dgm:t>
        <a:bodyPr/>
        <a:lstStyle/>
        <a:p>
          <a:endParaRPr lang="en-US"/>
        </a:p>
      </dgm:t>
    </dgm:pt>
    <dgm:pt modelId="{B20769A1-ECCB-4934-8AAC-8682F5C9536B}" type="sibTrans" cxnId="{2C64E395-CD72-4D58-8FFE-863FDC9F0456}">
      <dgm:prSet/>
      <dgm:spPr/>
      <dgm:t>
        <a:bodyPr/>
        <a:lstStyle/>
        <a:p>
          <a:endParaRPr lang="en-US"/>
        </a:p>
      </dgm:t>
    </dgm:pt>
    <dgm:pt modelId="{7FC0C7B6-10FB-4BC4-9CDC-478B71DFBC85}" type="pres">
      <dgm:prSet presAssocID="{F43F4454-3A79-4680-AD8A-DF9F1D1F3BB9}" presName="linear" presStyleCnt="0">
        <dgm:presLayoutVars>
          <dgm:animLvl val="lvl"/>
          <dgm:resizeHandles val="exact"/>
        </dgm:presLayoutVars>
      </dgm:prSet>
      <dgm:spPr/>
      <dgm:t>
        <a:bodyPr/>
        <a:lstStyle/>
        <a:p>
          <a:endParaRPr lang="en-GB"/>
        </a:p>
      </dgm:t>
    </dgm:pt>
    <dgm:pt modelId="{C73DA4B4-F37D-40C4-8A0C-D72F2BA95014}" type="pres">
      <dgm:prSet presAssocID="{891936C2-B3F5-4AB8-8554-24BAC00580C9}" presName="parentText" presStyleLbl="node1" presStyleIdx="0" presStyleCnt="3">
        <dgm:presLayoutVars>
          <dgm:chMax val="0"/>
          <dgm:bulletEnabled val="1"/>
        </dgm:presLayoutVars>
      </dgm:prSet>
      <dgm:spPr/>
      <dgm:t>
        <a:bodyPr/>
        <a:lstStyle/>
        <a:p>
          <a:endParaRPr lang="en-GB"/>
        </a:p>
      </dgm:t>
    </dgm:pt>
    <dgm:pt modelId="{8B066AD5-5295-454D-B786-B08179F27F9B}" type="pres">
      <dgm:prSet presAssocID="{891936C2-B3F5-4AB8-8554-24BAC00580C9}" presName="childText" presStyleLbl="revTx" presStyleIdx="0" presStyleCnt="3">
        <dgm:presLayoutVars>
          <dgm:bulletEnabled val="1"/>
        </dgm:presLayoutVars>
      </dgm:prSet>
      <dgm:spPr/>
      <dgm:t>
        <a:bodyPr/>
        <a:lstStyle/>
        <a:p>
          <a:endParaRPr lang="en-GB"/>
        </a:p>
      </dgm:t>
    </dgm:pt>
    <dgm:pt modelId="{2537CE63-9240-499E-9AAC-545F6B9DDA8F}" type="pres">
      <dgm:prSet presAssocID="{FF6E8112-7EF4-4E47-9448-BDDDEB8D61F8}" presName="parentText" presStyleLbl="node1" presStyleIdx="1" presStyleCnt="3">
        <dgm:presLayoutVars>
          <dgm:chMax val="0"/>
          <dgm:bulletEnabled val="1"/>
        </dgm:presLayoutVars>
      </dgm:prSet>
      <dgm:spPr/>
      <dgm:t>
        <a:bodyPr/>
        <a:lstStyle/>
        <a:p>
          <a:endParaRPr lang="en-GB"/>
        </a:p>
      </dgm:t>
    </dgm:pt>
    <dgm:pt modelId="{F5F3869D-2EBD-471D-90A5-C9609072C9F1}" type="pres">
      <dgm:prSet presAssocID="{FF6E8112-7EF4-4E47-9448-BDDDEB8D61F8}" presName="childText" presStyleLbl="revTx" presStyleIdx="1" presStyleCnt="3">
        <dgm:presLayoutVars>
          <dgm:bulletEnabled val="1"/>
        </dgm:presLayoutVars>
      </dgm:prSet>
      <dgm:spPr/>
      <dgm:t>
        <a:bodyPr/>
        <a:lstStyle/>
        <a:p>
          <a:endParaRPr lang="en-GB"/>
        </a:p>
      </dgm:t>
    </dgm:pt>
    <dgm:pt modelId="{F6991439-F7ED-4F35-9B5B-D3DF0873D620}" type="pres">
      <dgm:prSet presAssocID="{B0E5E933-1337-4AC7-A1F0-35DA66B9A74B}" presName="parentText" presStyleLbl="node1" presStyleIdx="2" presStyleCnt="3">
        <dgm:presLayoutVars>
          <dgm:chMax val="0"/>
          <dgm:bulletEnabled val="1"/>
        </dgm:presLayoutVars>
      </dgm:prSet>
      <dgm:spPr/>
      <dgm:t>
        <a:bodyPr/>
        <a:lstStyle/>
        <a:p>
          <a:endParaRPr lang="en-GB"/>
        </a:p>
      </dgm:t>
    </dgm:pt>
    <dgm:pt modelId="{39BC0547-C9BA-426F-B005-B0E45FC3A478}" type="pres">
      <dgm:prSet presAssocID="{B0E5E933-1337-4AC7-A1F0-35DA66B9A74B}" presName="childText" presStyleLbl="revTx" presStyleIdx="2" presStyleCnt="3">
        <dgm:presLayoutVars>
          <dgm:bulletEnabled val="1"/>
        </dgm:presLayoutVars>
      </dgm:prSet>
      <dgm:spPr/>
      <dgm:t>
        <a:bodyPr/>
        <a:lstStyle/>
        <a:p>
          <a:endParaRPr lang="en-GB"/>
        </a:p>
      </dgm:t>
    </dgm:pt>
  </dgm:ptLst>
  <dgm:cxnLst>
    <dgm:cxn modelId="{FDFB31A4-067B-45F0-9613-DF78DB51E714}" type="presOf" srcId="{F43F4454-3A79-4680-AD8A-DF9F1D1F3BB9}" destId="{7FC0C7B6-10FB-4BC4-9CDC-478B71DFBC85}" srcOrd="0" destOrd="0" presId="urn:microsoft.com/office/officeart/2005/8/layout/vList2"/>
    <dgm:cxn modelId="{1AF045EC-691F-456B-B2AF-88C3D07FF377}" type="presOf" srcId="{1AC68E96-A880-415A-9C3A-CDAD22B79EB7}" destId="{F5F3869D-2EBD-471D-90A5-C9609072C9F1}" srcOrd="0" destOrd="0" presId="urn:microsoft.com/office/officeart/2005/8/layout/vList2"/>
    <dgm:cxn modelId="{EAECB1AC-80C8-492C-9245-124D4FDF794C}" srcId="{F43F4454-3A79-4680-AD8A-DF9F1D1F3BB9}" destId="{B0E5E933-1337-4AC7-A1F0-35DA66B9A74B}" srcOrd="2" destOrd="0" parTransId="{675E89C3-A785-4878-A1D4-CA8C3D3C373B}" sibTransId="{ADECF5CF-B92B-4B86-92E9-C480B96A7280}"/>
    <dgm:cxn modelId="{88F49534-C2A8-48CB-B605-2E2B77C1B306}" type="presOf" srcId="{B0E5E933-1337-4AC7-A1F0-35DA66B9A74B}" destId="{F6991439-F7ED-4F35-9B5B-D3DF0873D620}" srcOrd="0" destOrd="0" presId="urn:microsoft.com/office/officeart/2005/8/layout/vList2"/>
    <dgm:cxn modelId="{8E4EECE1-EC1F-474E-8C85-9DBE4A494574}" srcId="{F43F4454-3A79-4680-AD8A-DF9F1D1F3BB9}" destId="{891936C2-B3F5-4AB8-8554-24BAC00580C9}" srcOrd="0" destOrd="0" parTransId="{E189B08A-EE80-48E2-8BA3-3809ED75C3AE}" sibTransId="{3F3DD60B-8CF3-45A7-9616-6BFA9D9F438F}"/>
    <dgm:cxn modelId="{0F1804E7-A575-4CA8-A8AA-AA149ACAE901}" type="presOf" srcId="{FF6E8112-7EF4-4E47-9448-BDDDEB8D61F8}" destId="{2537CE63-9240-499E-9AAC-545F6B9DDA8F}" srcOrd="0" destOrd="0" presId="urn:microsoft.com/office/officeart/2005/8/layout/vList2"/>
    <dgm:cxn modelId="{79817EB9-7DE0-4D55-9BA9-1FA30A4D388E}" type="presOf" srcId="{99A0C203-4CA7-4809-BF2E-A855694C21C7}" destId="{39BC0547-C9BA-426F-B005-B0E45FC3A478}" srcOrd="0" destOrd="0" presId="urn:microsoft.com/office/officeart/2005/8/layout/vList2"/>
    <dgm:cxn modelId="{4CE19F9D-9760-49A4-AF90-3E522C40F5E0}" type="presOf" srcId="{891936C2-B3F5-4AB8-8554-24BAC00580C9}" destId="{C73DA4B4-F37D-40C4-8A0C-D72F2BA95014}" srcOrd="0" destOrd="0" presId="urn:microsoft.com/office/officeart/2005/8/layout/vList2"/>
    <dgm:cxn modelId="{E60724CB-D4A8-4831-A7BC-A1C0A60387CB}" type="presOf" srcId="{D72226E6-FA12-4C81-BD38-1506FC676601}" destId="{8B066AD5-5295-454D-B786-B08179F27F9B}" srcOrd="0" destOrd="0" presId="urn:microsoft.com/office/officeart/2005/8/layout/vList2"/>
    <dgm:cxn modelId="{2C64E395-CD72-4D58-8FFE-863FDC9F0456}" srcId="{B0E5E933-1337-4AC7-A1F0-35DA66B9A74B}" destId="{99A0C203-4CA7-4809-BF2E-A855694C21C7}" srcOrd="0" destOrd="0" parTransId="{70C1852D-A4D3-49F4-A950-4620E282F108}" sibTransId="{B20769A1-ECCB-4934-8AAC-8682F5C9536B}"/>
    <dgm:cxn modelId="{317EC2FC-EA5A-4B4F-BE38-C4F5D3049CAB}" srcId="{F43F4454-3A79-4680-AD8A-DF9F1D1F3BB9}" destId="{FF6E8112-7EF4-4E47-9448-BDDDEB8D61F8}" srcOrd="1" destOrd="0" parTransId="{35791314-86A6-4677-A058-2F232A8E8ABF}" sibTransId="{F7CC78F3-4E5C-4F1A-9D40-9BF354B84D78}"/>
    <dgm:cxn modelId="{5AC70B5E-6838-49BD-8CF1-3AE0DAFC36AD}" srcId="{FF6E8112-7EF4-4E47-9448-BDDDEB8D61F8}" destId="{1AC68E96-A880-415A-9C3A-CDAD22B79EB7}" srcOrd="0" destOrd="0" parTransId="{83A23CF2-64EF-4E19-B15C-EF8A138F6A3E}" sibTransId="{6A476742-D506-4637-8827-BE5A0BEA34CD}"/>
    <dgm:cxn modelId="{B9422CB0-3C63-439A-A318-C340859D8A83}" srcId="{891936C2-B3F5-4AB8-8554-24BAC00580C9}" destId="{D72226E6-FA12-4C81-BD38-1506FC676601}" srcOrd="0" destOrd="0" parTransId="{C9E56730-286C-4297-8CA0-98F83B97C3CE}" sibTransId="{C1350FE3-32E4-458D-BA02-115EFF67A5B9}"/>
    <dgm:cxn modelId="{8A42406B-9177-4DF6-A975-48735D0876D1}" type="presParOf" srcId="{7FC0C7B6-10FB-4BC4-9CDC-478B71DFBC85}" destId="{C73DA4B4-F37D-40C4-8A0C-D72F2BA95014}" srcOrd="0" destOrd="0" presId="urn:microsoft.com/office/officeart/2005/8/layout/vList2"/>
    <dgm:cxn modelId="{2940B5A4-3EC2-44CA-A36D-BDA9FF293D79}" type="presParOf" srcId="{7FC0C7B6-10FB-4BC4-9CDC-478B71DFBC85}" destId="{8B066AD5-5295-454D-B786-B08179F27F9B}" srcOrd="1" destOrd="0" presId="urn:microsoft.com/office/officeart/2005/8/layout/vList2"/>
    <dgm:cxn modelId="{0721BFA6-17DD-4280-B9EA-137AFCCF4431}" type="presParOf" srcId="{7FC0C7B6-10FB-4BC4-9CDC-478B71DFBC85}" destId="{2537CE63-9240-499E-9AAC-545F6B9DDA8F}" srcOrd="2" destOrd="0" presId="urn:microsoft.com/office/officeart/2005/8/layout/vList2"/>
    <dgm:cxn modelId="{F05B4292-CD2A-42ED-A684-6D2B3FA362D7}" type="presParOf" srcId="{7FC0C7B6-10FB-4BC4-9CDC-478B71DFBC85}" destId="{F5F3869D-2EBD-471D-90A5-C9609072C9F1}" srcOrd="3" destOrd="0" presId="urn:microsoft.com/office/officeart/2005/8/layout/vList2"/>
    <dgm:cxn modelId="{CDE58349-B691-4562-89A6-F3F7C82AD166}" type="presParOf" srcId="{7FC0C7B6-10FB-4BC4-9CDC-478B71DFBC85}" destId="{F6991439-F7ED-4F35-9B5B-D3DF0873D620}" srcOrd="4" destOrd="0" presId="urn:microsoft.com/office/officeart/2005/8/layout/vList2"/>
    <dgm:cxn modelId="{C4EA16CE-9F95-482A-95F5-8D03E4A73760}" type="presParOf" srcId="{7FC0C7B6-10FB-4BC4-9CDC-478B71DFBC85}" destId="{39BC0547-C9BA-426F-B005-B0E45FC3A478}"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5E6E4A2-52DC-4CF3-8CEA-AE9E30216CC5}"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7F1020B6-F87E-44CD-9928-0D815183576F}">
      <dgm:prSet/>
      <dgm:spPr/>
      <dgm:t>
        <a:bodyPr/>
        <a:lstStyle/>
        <a:p>
          <a:r>
            <a:rPr lang="en-US" dirty="0"/>
            <a:t>To say “everyone likes McDonalds”, the following is too broad!</a:t>
          </a:r>
        </a:p>
      </dgm:t>
    </dgm:pt>
    <dgm:pt modelId="{9C788D4C-DA78-43E5-AF74-EA36A0A0B41E}" type="parTrans" cxnId="{3F6FD1C2-1F6A-4411-84F7-9B228AADDA11}">
      <dgm:prSet/>
      <dgm:spPr/>
      <dgm:t>
        <a:bodyPr/>
        <a:lstStyle/>
        <a:p>
          <a:endParaRPr lang="en-US"/>
        </a:p>
      </dgm:t>
    </dgm:pt>
    <dgm:pt modelId="{5AFCA339-10C0-4265-B0AC-0A5581474470}" type="sibTrans" cxnId="{3F6FD1C2-1F6A-4411-84F7-9B228AADDA11}">
      <dgm:prSet/>
      <dgm:spPr/>
      <dgm:t>
        <a:bodyPr/>
        <a:lstStyle/>
        <a:p>
          <a:endParaRPr lang="en-US"/>
        </a:p>
      </dgm:t>
    </dgm:pt>
    <dgm:pt modelId="{CF152B83-99E0-4A6F-9846-22C0924E265C}">
      <dgm:prSet/>
      <dgm:spPr/>
      <dgm:t>
        <a:bodyPr/>
        <a:lstStyle/>
        <a:p>
          <a:r>
            <a:rPr lang="en-US" dirty="0">
              <a:sym typeface="Symbol" panose="05050102010706020507" pitchFamily="18" charset="2"/>
            </a:rPr>
            <a:t></a:t>
          </a:r>
          <a:r>
            <a:rPr lang="en-US" dirty="0"/>
            <a:t>x,  likes(x, McDonalds)</a:t>
          </a:r>
        </a:p>
      </dgm:t>
    </dgm:pt>
    <dgm:pt modelId="{71C2C31E-4658-45BC-851D-A1BB92E29519}" type="parTrans" cxnId="{92498FC7-AB9D-4F01-97EE-1828820610C2}">
      <dgm:prSet/>
      <dgm:spPr/>
      <dgm:t>
        <a:bodyPr/>
        <a:lstStyle/>
        <a:p>
          <a:endParaRPr lang="en-US"/>
        </a:p>
      </dgm:t>
    </dgm:pt>
    <dgm:pt modelId="{0D0A730F-A074-4C8B-B601-2FFD43EA6BFB}" type="sibTrans" cxnId="{92498FC7-AB9D-4F01-97EE-1828820610C2}">
      <dgm:prSet/>
      <dgm:spPr/>
      <dgm:t>
        <a:bodyPr/>
        <a:lstStyle/>
        <a:p>
          <a:endParaRPr lang="en-US"/>
        </a:p>
      </dgm:t>
    </dgm:pt>
    <dgm:pt modelId="{F227A1DC-D24B-4383-80FC-6227AB090073}">
      <dgm:prSet/>
      <dgm:spPr/>
      <dgm:t>
        <a:bodyPr/>
        <a:lstStyle/>
        <a:p>
          <a:r>
            <a:rPr lang="en-US" dirty="0"/>
            <a:t>Rush’s example:  likes (McDonalds, McDonalds)</a:t>
          </a:r>
        </a:p>
      </dgm:t>
    </dgm:pt>
    <dgm:pt modelId="{66F631C5-FB96-4FFB-BD33-294F52FD6D2B}" type="parTrans" cxnId="{5FE08425-15F2-490E-A3A1-2BC2B4D823F6}">
      <dgm:prSet/>
      <dgm:spPr/>
      <dgm:t>
        <a:bodyPr/>
        <a:lstStyle/>
        <a:p>
          <a:endParaRPr lang="en-US"/>
        </a:p>
      </dgm:t>
    </dgm:pt>
    <dgm:pt modelId="{A2A859E9-FA37-4B2D-9F1E-54EDF1ED337A}" type="sibTrans" cxnId="{5FE08425-15F2-490E-A3A1-2BC2B4D823F6}">
      <dgm:prSet/>
      <dgm:spPr/>
      <dgm:t>
        <a:bodyPr/>
        <a:lstStyle/>
        <a:p>
          <a:endParaRPr lang="en-US"/>
        </a:p>
      </dgm:t>
    </dgm:pt>
    <dgm:pt modelId="{D23BBEE5-8BC4-4897-A52B-3622EB16214D}">
      <dgm:prSet/>
      <dgm:spPr/>
      <dgm:t>
        <a:bodyPr/>
        <a:lstStyle/>
        <a:p>
          <a:r>
            <a:rPr lang="en-US" dirty="0"/>
            <a:t>We mean:  Everyone (who is a human) likes McDonalds</a:t>
          </a:r>
        </a:p>
      </dgm:t>
    </dgm:pt>
    <dgm:pt modelId="{034AF447-B269-4006-BDF3-C1A4D8E9657C}" type="parTrans" cxnId="{A6E38639-1F28-4DEA-8474-882C31A8117B}">
      <dgm:prSet/>
      <dgm:spPr/>
      <dgm:t>
        <a:bodyPr/>
        <a:lstStyle/>
        <a:p>
          <a:endParaRPr lang="en-US"/>
        </a:p>
      </dgm:t>
    </dgm:pt>
    <dgm:pt modelId="{2F836DD6-1BED-4C00-898E-D9A997A25446}" type="sibTrans" cxnId="{A6E38639-1F28-4DEA-8474-882C31A8117B}">
      <dgm:prSet/>
      <dgm:spPr/>
      <dgm:t>
        <a:bodyPr/>
        <a:lstStyle/>
        <a:p>
          <a:endParaRPr lang="en-US"/>
        </a:p>
      </dgm:t>
    </dgm:pt>
    <dgm:pt modelId="{C9A6E491-039C-4A31-A9E5-4B719C280F60}">
      <dgm:prSet/>
      <dgm:spPr/>
      <dgm:t>
        <a:bodyPr/>
        <a:lstStyle/>
        <a:p>
          <a:r>
            <a:rPr lang="en-US">
              <a:sym typeface="Symbol" panose="05050102010706020507" pitchFamily="18" charset="2"/>
            </a:rPr>
            <a:t></a:t>
          </a:r>
          <a:r>
            <a:rPr lang="en-US"/>
            <a:t>x, person(x) </a:t>
          </a:r>
          <a:r>
            <a:rPr lang="en-US">
              <a:sym typeface="Symbol" panose="05050102010706020507" pitchFamily="18" charset="2"/>
            </a:rPr>
            <a:t></a:t>
          </a:r>
          <a:r>
            <a:rPr lang="en-US"/>
            <a:t> likes(x, McDonalds)</a:t>
          </a:r>
        </a:p>
      </dgm:t>
    </dgm:pt>
    <dgm:pt modelId="{4CE4ABDE-B872-49E4-9C17-D908BD4914D8}" type="parTrans" cxnId="{67DE5D86-C10B-434B-AAC3-E5D593164B1F}">
      <dgm:prSet/>
      <dgm:spPr/>
      <dgm:t>
        <a:bodyPr/>
        <a:lstStyle/>
        <a:p>
          <a:endParaRPr lang="en-US"/>
        </a:p>
      </dgm:t>
    </dgm:pt>
    <dgm:pt modelId="{03613D13-A607-4029-816A-D6F0CCF3C843}" type="sibTrans" cxnId="{67DE5D86-C10B-434B-AAC3-E5D593164B1F}">
      <dgm:prSet/>
      <dgm:spPr/>
      <dgm:t>
        <a:bodyPr/>
        <a:lstStyle/>
        <a:p>
          <a:endParaRPr lang="en-US"/>
        </a:p>
      </dgm:t>
    </dgm:pt>
    <dgm:pt modelId="{0FC2FFF0-B413-4241-8F18-5250F1511DE9}">
      <dgm:prSet/>
      <dgm:spPr/>
      <dgm:t>
        <a:bodyPr/>
        <a:lstStyle/>
        <a:p>
          <a:r>
            <a:rPr lang="en-US"/>
            <a:t>Essentially, the left side of the rule declares the class of the variable x</a:t>
          </a:r>
        </a:p>
      </dgm:t>
    </dgm:pt>
    <dgm:pt modelId="{96D7D373-B759-4717-8F0B-ABB416E2DD34}" type="parTrans" cxnId="{7B3510BA-2977-4F7B-BF49-62DD76709D02}">
      <dgm:prSet/>
      <dgm:spPr/>
      <dgm:t>
        <a:bodyPr/>
        <a:lstStyle/>
        <a:p>
          <a:endParaRPr lang="en-US"/>
        </a:p>
      </dgm:t>
    </dgm:pt>
    <dgm:pt modelId="{654D7403-36F8-43B6-8703-C10DE26C41C0}" type="sibTrans" cxnId="{7B3510BA-2977-4F7B-BF49-62DD76709D02}">
      <dgm:prSet/>
      <dgm:spPr/>
      <dgm:t>
        <a:bodyPr/>
        <a:lstStyle/>
        <a:p>
          <a:endParaRPr lang="en-US"/>
        </a:p>
      </dgm:t>
    </dgm:pt>
    <dgm:pt modelId="{F66952BD-3AF3-4E20-9317-B2290C4D0741}">
      <dgm:prSet/>
      <dgm:spPr/>
      <dgm:t>
        <a:bodyPr/>
        <a:lstStyle/>
        <a:p>
          <a:r>
            <a:rPr lang="en-US"/>
            <a:t>Constraints like this are often called “domain constraints”</a:t>
          </a:r>
        </a:p>
      </dgm:t>
    </dgm:pt>
    <dgm:pt modelId="{4C893892-636D-4A6F-A955-9FE1E4F691A0}" type="parTrans" cxnId="{A3A512B8-0A62-4D23-8794-1C9B0CBEA0A1}">
      <dgm:prSet/>
      <dgm:spPr/>
      <dgm:t>
        <a:bodyPr/>
        <a:lstStyle/>
        <a:p>
          <a:endParaRPr lang="en-US"/>
        </a:p>
      </dgm:t>
    </dgm:pt>
    <dgm:pt modelId="{D5315E71-D5CC-4108-8898-A1C95622FB28}" type="sibTrans" cxnId="{A3A512B8-0A62-4D23-8794-1C9B0CBEA0A1}">
      <dgm:prSet/>
      <dgm:spPr/>
      <dgm:t>
        <a:bodyPr/>
        <a:lstStyle/>
        <a:p>
          <a:endParaRPr lang="en-US"/>
        </a:p>
      </dgm:t>
    </dgm:pt>
    <dgm:pt modelId="{3332EE77-D93F-4318-AA3B-B616482D32DD}" type="pres">
      <dgm:prSet presAssocID="{E5E6E4A2-52DC-4CF3-8CEA-AE9E30216CC5}" presName="linear" presStyleCnt="0">
        <dgm:presLayoutVars>
          <dgm:animLvl val="lvl"/>
          <dgm:resizeHandles val="exact"/>
        </dgm:presLayoutVars>
      </dgm:prSet>
      <dgm:spPr/>
      <dgm:t>
        <a:bodyPr/>
        <a:lstStyle/>
        <a:p>
          <a:endParaRPr lang="en-GB"/>
        </a:p>
      </dgm:t>
    </dgm:pt>
    <dgm:pt modelId="{022893FD-8557-42A4-922A-2227813287E3}" type="pres">
      <dgm:prSet presAssocID="{7F1020B6-F87E-44CD-9928-0D815183576F}" presName="parentText" presStyleLbl="node1" presStyleIdx="0" presStyleCnt="4">
        <dgm:presLayoutVars>
          <dgm:chMax val="0"/>
          <dgm:bulletEnabled val="1"/>
        </dgm:presLayoutVars>
      </dgm:prSet>
      <dgm:spPr/>
      <dgm:t>
        <a:bodyPr/>
        <a:lstStyle/>
        <a:p>
          <a:endParaRPr lang="en-GB"/>
        </a:p>
      </dgm:t>
    </dgm:pt>
    <dgm:pt modelId="{B2133ADB-0F5C-40D6-9E5F-E3BA74D5D196}" type="pres">
      <dgm:prSet presAssocID="{7F1020B6-F87E-44CD-9928-0D815183576F}" presName="childText" presStyleLbl="revTx" presStyleIdx="0" presStyleCnt="2">
        <dgm:presLayoutVars>
          <dgm:bulletEnabled val="1"/>
        </dgm:presLayoutVars>
      </dgm:prSet>
      <dgm:spPr/>
      <dgm:t>
        <a:bodyPr/>
        <a:lstStyle/>
        <a:p>
          <a:endParaRPr lang="en-GB"/>
        </a:p>
      </dgm:t>
    </dgm:pt>
    <dgm:pt modelId="{D20D0508-0761-4FD6-BC57-9526FC27FD52}" type="pres">
      <dgm:prSet presAssocID="{D23BBEE5-8BC4-4897-A52B-3622EB16214D}" presName="parentText" presStyleLbl="node1" presStyleIdx="1" presStyleCnt="4">
        <dgm:presLayoutVars>
          <dgm:chMax val="0"/>
          <dgm:bulletEnabled val="1"/>
        </dgm:presLayoutVars>
      </dgm:prSet>
      <dgm:spPr/>
      <dgm:t>
        <a:bodyPr/>
        <a:lstStyle/>
        <a:p>
          <a:endParaRPr lang="en-GB"/>
        </a:p>
      </dgm:t>
    </dgm:pt>
    <dgm:pt modelId="{41F1A573-A5D4-4A50-A65B-1A9BF4E05EBF}" type="pres">
      <dgm:prSet presAssocID="{D23BBEE5-8BC4-4897-A52B-3622EB16214D}" presName="childText" presStyleLbl="revTx" presStyleIdx="1" presStyleCnt="2">
        <dgm:presLayoutVars>
          <dgm:bulletEnabled val="1"/>
        </dgm:presLayoutVars>
      </dgm:prSet>
      <dgm:spPr/>
      <dgm:t>
        <a:bodyPr/>
        <a:lstStyle/>
        <a:p>
          <a:endParaRPr lang="en-GB"/>
        </a:p>
      </dgm:t>
    </dgm:pt>
    <dgm:pt modelId="{E53E36B5-EFF1-4E36-B3E4-99C02686EAEA}" type="pres">
      <dgm:prSet presAssocID="{0FC2FFF0-B413-4241-8F18-5250F1511DE9}" presName="parentText" presStyleLbl="node1" presStyleIdx="2" presStyleCnt="4">
        <dgm:presLayoutVars>
          <dgm:chMax val="0"/>
          <dgm:bulletEnabled val="1"/>
        </dgm:presLayoutVars>
      </dgm:prSet>
      <dgm:spPr/>
      <dgm:t>
        <a:bodyPr/>
        <a:lstStyle/>
        <a:p>
          <a:endParaRPr lang="en-GB"/>
        </a:p>
      </dgm:t>
    </dgm:pt>
    <dgm:pt modelId="{9F881130-EABC-43DC-AC18-C92C53DD48C5}" type="pres">
      <dgm:prSet presAssocID="{654D7403-36F8-43B6-8703-C10DE26C41C0}" presName="spacer" presStyleCnt="0"/>
      <dgm:spPr/>
    </dgm:pt>
    <dgm:pt modelId="{102E8191-A273-45DB-882B-C345A65C883C}" type="pres">
      <dgm:prSet presAssocID="{F66952BD-3AF3-4E20-9317-B2290C4D0741}" presName="parentText" presStyleLbl="node1" presStyleIdx="3" presStyleCnt="4">
        <dgm:presLayoutVars>
          <dgm:chMax val="0"/>
          <dgm:bulletEnabled val="1"/>
        </dgm:presLayoutVars>
      </dgm:prSet>
      <dgm:spPr/>
      <dgm:t>
        <a:bodyPr/>
        <a:lstStyle/>
        <a:p>
          <a:endParaRPr lang="en-GB"/>
        </a:p>
      </dgm:t>
    </dgm:pt>
  </dgm:ptLst>
  <dgm:cxnLst>
    <dgm:cxn modelId="{D10BB540-5960-4DE2-B1FF-81ACB07E2531}" type="presOf" srcId="{0FC2FFF0-B413-4241-8F18-5250F1511DE9}" destId="{E53E36B5-EFF1-4E36-B3E4-99C02686EAEA}" srcOrd="0" destOrd="0" presId="urn:microsoft.com/office/officeart/2005/8/layout/vList2"/>
    <dgm:cxn modelId="{ACB745EA-E350-4F31-9FD3-0ACCAE23FE78}" type="presOf" srcId="{F66952BD-3AF3-4E20-9317-B2290C4D0741}" destId="{102E8191-A273-45DB-882B-C345A65C883C}" srcOrd="0" destOrd="0" presId="urn:microsoft.com/office/officeart/2005/8/layout/vList2"/>
    <dgm:cxn modelId="{397989AB-B138-4995-966A-DC215DBC9EBA}" type="presOf" srcId="{F227A1DC-D24B-4383-80FC-6227AB090073}" destId="{B2133ADB-0F5C-40D6-9E5F-E3BA74D5D196}" srcOrd="0" destOrd="1" presId="urn:microsoft.com/office/officeart/2005/8/layout/vList2"/>
    <dgm:cxn modelId="{67DE5D86-C10B-434B-AAC3-E5D593164B1F}" srcId="{D23BBEE5-8BC4-4897-A52B-3622EB16214D}" destId="{C9A6E491-039C-4A31-A9E5-4B719C280F60}" srcOrd="0" destOrd="0" parTransId="{4CE4ABDE-B872-49E4-9C17-D908BD4914D8}" sibTransId="{03613D13-A607-4029-816A-D6F0CCF3C843}"/>
    <dgm:cxn modelId="{A6E38639-1F28-4DEA-8474-882C31A8117B}" srcId="{E5E6E4A2-52DC-4CF3-8CEA-AE9E30216CC5}" destId="{D23BBEE5-8BC4-4897-A52B-3622EB16214D}" srcOrd="1" destOrd="0" parTransId="{034AF447-B269-4006-BDF3-C1A4D8E9657C}" sibTransId="{2F836DD6-1BED-4C00-898E-D9A997A25446}"/>
    <dgm:cxn modelId="{3F6FD1C2-1F6A-4411-84F7-9B228AADDA11}" srcId="{E5E6E4A2-52DC-4CF3-8CEA-AE9E30216CC5}" destId="{7F1020B6-F87E-44CD-9928-0D815183576F}" srcOrd="0" destOrd="0" parTransId="{9C788D4C-DA78-43E5-AF74-EA36A0A0B41E}" sibTransId="{5AFCA339-10C0-4265-B0AC-0A5581474470}"/>
    <dgm:cxn modelId="{D3B0EE10-D89E-4290-A7E5-680AD862DD2F}" type="presOf" srcId="{C9A6E491-039C-4A31-A9E5-4B719C280F60}" destId="{41F1A573-A5D4-4A50-A65B-1A9BF4E05EBF}" srcOrd="0" destOrd="0" presId="urn:microsoft.com/office/officeart/2005/8/layout/vList2"/>
    <dgm:cxn modelId="{A3A512B8-0A62-4D23-8794-1C9B0CBEA0A1}" srcId="{E5E6E4A2-52DC-4CF3-8CEA-AE9E30216CC5}" destId="{F66952BD-3AF3-4E20-9317-B2290C4D0741}" srcOrd="3" destOrd="0" parTransId="{4C893892-636D-4A6F-A955-9FE1E4F691A0}" sibTransId="{D5315E71-D5CC-4108-8898-A1C95622FB28}"/>
    <dgm:cxn modelId="{663DD4F3-5528-4CE7-A37B-D6258D36853C}" type="presOf" srcId="{D23BBEE5-8BC4-4897-A52B-3622EB16214D}" destId="{D20D0508-0761-4FD6-BC57-9526FC27FD52}" srcOrd="0" destOrd="0" presId="urn:microsoft.com/office/officeart/2005/8/layout/vList2"/>
    <dgm:cxn modelId="{92498FC7-AB9D-4F01-97EE-1828820610C2}" srcId="{7F1020B6-F87E-44CD-9928-0D815183576F}" destId="{CF152B83-99E0-4A6F-9846-22C0924E265C}" srcOrd="0" destOrd="0" parTransId="{71C2C31E-4658-45BC-851D-A1BB92E29519}" sibTransId="{0D0A730F-A074-4C8B-B601-2FFD43EA6BFB}"/>
    <dgm:cxn modelId="{7B3510BA-2977-4F7B-BF49-62DD76709D02}" srcId="{E5E6E4A2-52DC-4CF3-8CEA-AE9E30216CC5}" destId="{0FC2FFF0-B413-4241-8F18-5250F1511DE9}" srcOrd="2" destOrd="0" parTransId="{96D7D373-B759-4717-8F0B-ABB416E2DD34}" sibTransId="{654D7403-36F8-43B6-8703-C10DE26C41C0}"/>
    <dgm:cxn modelId="{3E494E59-BD94-46FC-99C8-0A54F4AB61FC}" type="presOf" srcId="{CF152B83-99E0-4A6F-9846-22C0924E265C}" destId="{B2133ADB-0F5C-40D6-9E5F-E3BA74D5D196}" srcOrd="0" destOrd="0" presId="urn:microsoft.com/office/officeart/2005/8/layout/vList2"/>
    <dgm:cxn modelId="{AFCA1647-5D30-4E44-BA81-A9B14F32462A}" type="presOf" srcId="{E5E6E4A2-52DC-4CF3-8CEA-AE9E30216CC5}" destId="{3332EE77-D93F-4318-AA3B-B616482D32DD}" srcOrd="0" destOrd="0" presId="urn:microsoft.com/office/officeart/2005/8/layout/vList2"/>
    <dgm:cxn modelId="{5FE08425-15F2-490E-A3A1-2BC2B4D823F6}" srcId="{7F1020B6-F87E-44CD-9928-0D815183576F}" destId="{F227A1DC-D24B-4383-80FC-6227AB090073}" srcOrd="1" destOrd="0" parTransId="{66F631C5-FB96-4FFB-BD33-294F52FD6D2B}" sibTransId="{A2A859E9-FA37-4B2D-9F1E-54EDF1ED337A}"/>
    <dgm:cxn modelId="{36226393-1E4B-4A2D-AD85-326BBD3ED8F8}" type="presOf" srcId="{7F1020B6-F87E-44CD-9928-0D815183576F}" destId="{022893FD-8557-42A4-922A-2227813287E3}" srcOrd="0" destOrd="0" presId="urn:microsoft.com/office/officeart/2005/8/layout/vList2"/>
    <dgm:cxn modelId="{3E3CC0C1-1DC0-4D20-9395-A1623815E5EC}" type="presParOf" srcId="{3332EE77-D93F-4318-AA3B-B616482D32DD}" destId="{022893FD-8557-42A4-922A-2227813287E3}" srcOrd="0" destOrd="0" presId="urn:microsoft.com/office/officeart/2005/8/layout/vList2"/>
    <dgm:cxn modelId="{730E1377-424F-4A2F-BBC6-BEFA7F7AD2BF}" type="presParOf" srcId="{3332EE77-D93F-4318-AA3B-B616482D32DD}" destId="{B2133ADB-0F5C-40D6-9E5F-E3BA74D5D196}" srcOrd="1" destOrd="0" presId="urn:microsoft.com/office/officeart/2005/8/layout/vList2"/>
    <dgm:cxn modelId="{31D15341-17D7-477D-876C-324098765CC6}" type="presParOf" srcId="{3332EE77-D93F-4318-AA3B-B616482D32DD}" destId="{D20D0508-0761-4FD6-BC57-9526FC27FD52}" srcOrd="2" destOrd="0" presId="urn:microsoft.com/office/officeart/2005/8/layout/vList2"/>
    <dgm:cxn modelId="{864A463E-8605-4ACC-B1A2-2CB52E3320D1}" type="presParOf" srcId="{3332EE77-D93F-4318-AA3B-B616482D32DD}" destId="{41F1A573-A5D4-4A50-A65B-1A9BF4E05EBF}" srcOrd="3" destOrd="0" presId="urn:microsoft.com/office/officeart/2005/8/layout/vList2"/>
    <dgm:cxn modelId="{92F90F08-37E5-409A-8D03-6E4A2C659A29}" type="presParOf" srcId="{3332EE77-D93F-4318-AA3B-B616482D32DD}" destId="{E53E36B5-EFF1-4E36-B3E4-99C02686EAEA}" srcOrd="4" destOrd="0" presId="urn:microsoft.com/office/officeart/2005/8/layout/vList2"/>
    <dgm:cxn modelId="{4E7A1C33-C164-450E-8393-BC6F25D9A76E}" type="presParOf" srcId="{3332EE77-D93F-4318-AA3B-B616482D32DD}" destId="{9F881130-EABC-43DC-AC18-C92C53DD48C5}" srcOrd="5" destOrd="0" presId="urn:microsoft.com/office/officeart/2005/8/layout/vList2"/>
    <dgm:cxn modelId="{8F8851A0-359A-4FCB-89C7-DDCB25A5340F}" type="presParOf" srcId="{3332EE77-D93F-4318-AA3B-B616482D32DD}" destId="{102E8191-A273-45DB-882B-C345A65C883C}"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A9A3FB-6EC1-4805-84F9-52DC21A19EC0}">
      <dsp:nvSpPr>
        <dsp:cNvPr id="0" name=""/>
        <dsp:cNvSpPr/>
      </dsp:nvSpPr>
      <dsp:spPr>
        <a:xfrm>
          <a:off x="0" y="3081379"/>
          <a:ext cx="4869656" cy="2021718"/>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34696" tIns="234696" rIns="234696" bIns="234696" numCol="1" spcCol="1270" anchor="ctr" anchorCtr="0">
          <a:noAutofit/>
        </a:bodyPr>
        <a:lstStyle/>
        <a:p>
          <a:pPr lvl="0" algn="ctr" defTabSz="1466850">
            <a:lnSpc>
              <a:spcPct val="90000"/>
            </a:lnSpc>
            <a:spcBef>
              <a:spcPct val="0"/>
            </a:spcBef>
            <a:spcAft>
              <a:spcPct val="35000"/>
            </a:spcAft>
          </a:pPr>
          <a:r>
            <a:rPr lang="en-US" sz="3300" kern="1200"/>
            <a:t>In words this reads as: there exists some person, x who is Ahmed’s father.</a:t>
          </a:r>
        </a:p>
      </dsp:txBody>
      <dsp:txXfrm>
        <a:off x="0" y="3081379"/>
        <a:ext cx="4869656" cy="2021718"/>
      </dsp:txXfrm>
    </dsp:sp>
    <dsp:sp modelId="{60C5AED6-970F-499E-8643-E108A88C1FC9}">
      <dsp:nvSpPr>
        <dsp:cNvPr id="0" name=""/>
        <dsp:cNvSpPr/>
      </dsp:nvSpPr>
      <dsp:spPr>
        <a:xfrm rot="10800000">
          <a:off x="0" y="2302"/>
          <a:ext cx="4869656" cy="3109402"/>
        </a:xfrm>
        <a:prstGeom prst="upArrowCallou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34696" tIns="234696" rIns="234696" bIns="234696" numCol="1" spcCol="1270" anchor="ctr" anchorCtr="0">
          <a:noAutofit/>
        </a:bodyPr>
        <a:lstStyle/>
        <a:p>
          <a:pPr lvl="0" algn="ctr" defTabSz="1466850">
            <a:lnSpc>
              <a:spcPct val="90000"/>
            </a:lnSpc>
            <a:spcBef>
              <a:spcPct val="0"/>
            </a:spcBef>
            <a:spcAft>
              <a:spcPct val="35000"/>
            </a:spcAft>
          </a:pPr>
          <a:r>
            <a:rPr lang="en-US" sz="3300" kern="1200"/>
            <a:t>( ∃ x) (Person (x) ∧ father (x, Ahmed) ).</a:t>
          </a:r>
        </a:p>
      </dsp:txBody>
      <dsp:txXfrm rot="10800000">
        <a:off x="0" y="2302"/>
        <a:ext cx="4869656" cy="202039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3DA4B4-F37D-40C4-8A0C-D72F2BA95014}">
      <dsp:nvSpPr>
        <dsp:cNvPr id="0" name=""/>
        <dsp:cNvSpPr/>
      </dsp:nvSpPr>
      <dsp:spPr>
        <a:xfrm>
          <a:off x="0" y="77439"/>
          <a:ext cx="4869656" cy="1230693"/>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lvl="0" algn="l" defTabSz="977900">
            <a:lnSpc>
              <a:spcPct val="90000"/>
            </a:lnSpc>
            <a:spcBef>
              <a:spcPct val="0"/>
            </a:spcBef>
            <a:spcAft>
              <a:spcPct val="35000"/>
            </a:spcAft>
          </a:pPr>
          <a:r>
            <a:rPr lang="en-US" sz="2200" kern="1200"/>
            <a:t>Universal quantifiers are often used with “implies” to form “rules”:</a:t>
          </a:r>
        </a:p>
      </dsp:txBody>
      <dsp:txXfrm>
        <a:off x="60077" y="137516"/>
        <a:ext cx="4749502" cy="1110539"/>
      </dsp:txXfrm>
    </dsp:sp>
    <dsp:sp modelId="{8B066AD5-5295-454D-B786-B08179F27F9B}">
      <dsp:nvSpPr>
        <dsp:cNvPr id="0" name=""/>
        <dsp:cNvSpPr/>
      </dsp:nvSpPr>
      <dsp:spPr>
        <a:xfrm>
          <a:off x="0" y="1308133"/>
          <a:ext cx="4869656" cy="5464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4612"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dirty="0"/>
            <a:t>(</a:t>
          </a:r>
          <a:r>
            <a:rPr lang="en-US" sz="1700" kern="1200" dirty="0">
              <a:sym typeface="Symbol" panose="05050102010706020507" pitchFamily="18" charset="2"/>
            </a:rPr>
            <a:t></a:t>
          </a:r>
          <a:r>
            <a:rPr lang="en-US" sz="1700" kern="1200" dirty="0"/>
            <a:t>x) student(x) </a:t>
          </a:r>
          <a:r>
            <a:rPr lang="en-US" sz="1700" kern="1200" dirty="0">
              <a:sym typeface="Symbol" panose="05050102010706020507" pitchFamily="18" charset="2"/>
            </a:rPr>
            <a:t></a:t>
          </a:r>
          <a:r>
            <a:rPr lang="en-US" sz="1700" kern="1200" dirty="0"/>
            <a:t> smart(x) means “All students are smart”</a:t>
          </a:r>
        </a:p>
      </dsp:txBody>
      <dsp:txXfrm>
        <a:off x="0" y="1308133"/>
        <a:ext cx="4869656" cy="546480"/>
      </dsp:txXfrm>
    </dsp:sp>
    <dsp:sp modelId="{2537CE63-9240-499E-9AAC-545F6B9DDA8F}">
      <dsp:nvSpPr>
        <dsp:cNvPr id="0" name=""/>
        <dsp:cNvSpPr/>
      </dsp:nvSpPr>
      <dsp:spPr>
        <a:xfrm>
          <a:off x="0" y="1854613"/>
          <a:ext cx="4869656" cy="1230693"/>
        </a:xfrm>
        <a:prstGeom prst="roundRect">
          <a:avLst/>
        </a:prstGeom>
        <a:solidFill>
          <a:schemeClr val="accent2">
            <a:hueOff val="-727682"/>
            <a:satOff val="-41964"/>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lvl="0" algn="l" defTabSz="977900">
            <a:lnSpc>
              <a:spcPct val="90000"/>
            </a:lnSpc>
            <a:spcBef>
              <a:spcPct val="0"/>
            </a:spcBef>
            <a:spcAft>
              <a:spcPct val="35000"/>
            </a:spcAft>
          </a:pPr>
          <a:r>
            <a:rPr lang="en-US" sz="2200" kern="1200"/>
            <a:t>Universal quantification is </a:t>
          </a:r>
          <a:r>
            <a:rPr lang="en-US" sz="2200" i="1" kern="1200"/>
            <a:t>rarely </a:t>
          </a:r>
          <a:r>
            <a:rPr lang="en-US" sz="2200" kern="1200"/>
            <a:t>used to make blanket statements about every individual in the world: </a:t>
          </a:r>
        </a:p>
      </dsp:txBody>
      <dsp:txXfrm>
        <a:off x="60077" y="1914690"/>
        <a:ext cx="4749502" cy="1110539"/>
      </dsp:txXfrm>
    </dsp:sp>
    <dsp:sp modelId="{F5F3869D-2EBD-471D-90A5-C9609072C9F1}">
      <dsp:nvSpPr>
        <dsp:cNvPr id="0" name=""/>
        <dsp:cNvSpPr/>
      </dsp:nvSpPr>
      <dsp:spPr>
        <a:xfrm>
          <a:off x="0" y="3085306"/>
          <a:ext cx="4869656" cy="5464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4612"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dirty="0"/>
            <a:t>(</a:t>
          </a:r>
          <a:r>
            <a:rPr lang="en-US" sz="1700" kern="1200" dirty="0">
              <a:sym typeface="Symbol" panose="05050102010706020507" pitchFamily="18" charset="2"/>
            </a:rPr>
            <a:t></a:t>
          </a:r>
          <a:r>
            <a:rPr lang="en-US" sz="1700" kern="1200" dirty="0"/>
            <a:t>x)student(x)</a:t>
          </a:r>
          <a:r>
            <a:rPr lang="en-US" sz="1700" kern="1200" dirty="0">
              <a:sym typeface="Symbol" panose="05050102010706020507" pitchFamily="18" charset="2"/>
            </a:rPr>
            <a:t></a:t>
          </a:r>
          <a:r>
            <a:rPr lang="en-US" sz="1700" kern="1200" dirty="0"/>
            <a:t>smart(x) means “Everyone </a:t>
          </a:r>
          <a:r>
            <a:rPr lang="en-US" sz="1700" kern="1200" dirty="0" smtClean="0"/>
            <a:t>is </a:t>
          </a:r>
          <a:r>
            <a:rPr lang="en-US" sz="1700" kern="1200" dirty="0"/>
            <a:t>a student and is smart”</a:t>
          </a:r>
        </a:p>
      </dsp:txBody>
      <dsp:txXfrm>
        <a:off x="0" y="3085306"/>
        <a:ext cx="4869656" cy="546480"/>
      </dsp:txXfrm>
    </dsp:sp>
    <dsp:sp modelId="{F6991439-F7ED-4F35-9B5B-D3DF0873D620}">
      <dsp:nvSpPr>
        <dsp:cNvPr id="0" name=""/>
        <dsp:cNvSpPr/>
      </dsp:nvSpPr>
      <dsp:spPr>
        <a:xfrm>
          <a:off x="0" y="3631786"/>
          <a:ext cx="4869656" cy="1230693"/>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lvl="0" algn="l" defTabSz="977900">
            <a:lnSpc>
              <a:spcPct val="90000"/>
            </a:lnSpc>
            <a:spcBef>
              <a:spcPct val="0"/>
            </a:spcBef>
            <a:spcAft>
              <a:spcPct val="35000"/>
            </a:spcAft>
          </a:pPr>
          <a:r>
            <a:rPr lang="en-US" sz="2200" kern="1200"/>
            <a:t>Existential quantifiers are usually used with “and” to specify a list of properties about an individual:</a:t>
          </a:r>
        </a:p>
      </dsp:txBody>
      <dsp:txXfrm>
        <a:off x="60077" y="3691863"/>
        <a:ext cx="4749502" cy="1110539"/>
      </dsp:txXfrm>
    </dsp:sp>
    <dsp:sp modelId="{39BC0547-C9BA-426F-B005-B0E45FC3A478}">
      <dsp:nvSpPr>
        <dsp:cNvPr id="0" name=""/>
        <dsp:cNvSpPr/>
      </dsp:nvSpPr>
      <dsp:spPr>
        <a:xfrm>
          <a:off x="0" y="4862480"/>
          <a:ext cx="4869656" cy="5464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4612"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a:t>(</a:t>
          </a:r>
          <a:r>
            <a:rPr lang="en-US" sz="1700" kern="1200">
              <a:sym typeface="Symbol" panose="05050102010706020507" pitchFamily="18" charset="2"/>
            </a:rPr>
            <a:t></a:t>
          </a:r>
          <a:r>
            <a:rPr lang="en-US" sz="1700" kern="1200"/>
            <a:t>x) student(x) </a:t>
          </a:r>
          <a:r>
            <a:rPr lang="en-US" sz="1700" kern="1200">
              <a:sym typeface="Symbol" panose="05050102010706020507" pitchFamily="18" charset="2"/>
            </a:rPr>
            <a:t></a:t>
          </a:r>
          <a:r>
            <a:rPr lang="en-US" sz="1700" kern="1200"/>
            <a:t> smart(x) means “There is a student who is smart”</a:t>
          </a:r>
        </a:p>
      </dsp:txBody>
      <dsp:txXfrm>
        <a:off x="0" y="4862480"/>
        <a:ext cx="4869656" cy="54648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2893FD-8557-42A4-922A-2227813287E3}">
      <dsp:nvSpPr>
        <dsp:cNvPr id="0" name=""/>
        <dsp:cNvSpPr/>
      </dsp:nvSpPr>
      <dsp:spPr>
        <a:xfrm>
          <a:off x="0" y="183843"/>
          <a:ext cx="4869656" cy="91494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lvl="0" algn="l" defTabSz="1022350">
            <a:lnSpc>
              <a:spcPct val="90000"/>
            </a:lnSpc>
            <a:spcBef>
              <a:spcPct val="0"/>
            </a:spcBef>
            <a:spcAft>
              <a:spcPct val="35000"/>
            </a:spcAft>
          </a:pPr>
          <a:r>
            <a:rPr lang="en-US" sz="2300" kern="1200" dirty="0"/>
            <a:t>To say “everyone likes McDonalds”, the following is too broad!</a:t>
          </a:r>
        </a:p>
      </dsp:txBody>
      <dsp:txXfrm>
        <a:off x="44664" y="228507"/>
        <a:ext cx="4780328" cy="825612"/>
      </dsp:txXfrm>
    </dsp:sp>
    <dsp:sp modelId="{B2133ADB-0F5C-40D6-9E5F-E3BA74D5D196}">
      <dsp:nvSpPr>
        <dsp:cNvPr id="0" name=""/>
        <dsp:cNvSpPr/>
      </dsp:nvSpPr>
      <dsp:spPr>
        <a:xfrm>
          <a:off x="0" y="1098783"/>
          <a:ext cx="4869656" cy="6308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4612"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kern="1200" dirty="0">
              <a:sym typeface="Symbol" panose="05050102010706020507" pitchFamily="18" charset="2"/>
            </a:rPr>
            <a:t></a:t>
          </a:r>
          <a:r>
            <a:rPr lang="en-US" sz="1800" kern="1200" dirty="0"/>
            <a:t>x,  likes(x, McDonalds)</a:t>
          </a:r>
        </a:p>
        <a:p>
          <a:pPr marL="171450" lvl="1" indent="-171450" algn="l" defTabSz="800100">
            <a:lnSpc>
              <a:spcPct val="90000"/>
            </a:lnSpc>
            <a:spcBef>
              <a:spcPct val="0"/>
            </a:spcBef>
            <a:spcAft>
              <a:spcPct val="20000"/>
            </a:spcAft>
            <a:buChar char="••"/>
          </a:pPr>
          <a:r>
            <a:rPr lang="en-US" sz="1800" kern="1200" dirty="0"/>
            <a:t>Rush’s example:  likes (McDonalds, McDonalds)</a:t>
          </a:r>
        </a:p>
      </dsp:txBody>
      <dsp:txXfrm>
        <a:off x="0" y="1098783"/>
        <a:ext cx="4869656" cy="630832"/>
      </dsp:txXfrm>
    </dsp:sp>
    <dsp:sp modelId="{D20D0508-0761-4FD6-BC57-9526FC27FD52}">
      <dsp:nvSpPr>
        <dsp:cNvPr id="0" name=""/>
        <dsp:cNvSpPr/>
      </dsp:nvSpPr>
      <dsp:spPr>
        <a:xfrm>
          <a:off x="0" y="1729616"/>
          <a:ext cx="4869656" cy="914940"/>
        </a:xfrm>
        <a:prstGeom prst="roundRect">
          <a:avLst/>
        </a:prstGeom>
        <a:solidFill>
          <a:schemeClr val="accent2">
            <a:hueOff val="-485121"/>
            <a:satOff val="-27976"/>
            <a:lumOff val="28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lvl="0" algn="l" defTabSz="1022350">
            <a:lnSpc>
              <a:spcPct val="90000"/>
            </a:lnSpc>
            <a:spcBef>
              <a:spcPct val="0"/>
            </a:spcBef>
            <a:spcAft>
              <a:spcPct val="35000"/>
            </a:spcAft>
          </a:pPr>
          <a:r>
            <a:rPr lang="en-US" sz="2300" kern="1200" dirty="0"/>
            <a:t>We mean:  Everyone (who is a human) likes McDonalds</a:t>
          </a:r>
        </a:p>
      </dsp:txBody>
      <dsp:txXfrm>
        <a:off x="44664" y="1774280"/>
        <a:ext cx="4780328" cy="825612"/>
      </dsp:txXfrm>
    </dsp:sp>
    <dsp:sp modelId="{41F1A573-A5D4-4A50-A65B-1A9BF4E05EBF}">
      <dsp:nvSpPr>
        <dsp:cNvPr id="0" name=""/>
        <dsp:cNvSpPr/>
      </dsp:nvSpPr>
      <dsp:spPr>
        <a:xfrm>
          <a:off x="0" y="2644556"/>
          <a:ext cx="4869656" cy="3808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4612"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kern="1200">
              <a:sym typeface="Symbol" panose="05050102010706020507" pitchFamily="18" charset="2"/>
            </a:rPr>
            <a:t></a:t>
          </a:r>
          <a:r>
            <a:rPr lang="en-US" sz="1800" kern="1200"/>
            <a:t>x, person(x) </a:t>
          </a:r>
          <a:r>
            <a:rPr lang="en-US" sz="1800" kern="1200">
              <a:sym typeface="Symbol" panose="05050102010706020507" pitchFamily="18" charset="2"/>
            </a:rPr>
            <a:t></a:t>
          </a:r>
          <a:r>
            <a:rPr lang="en-US" sz="1800" kern="1200"/>
            <a:t> likes(x, McDonalds)</a:t>
          </a:r>
        </a:p>
      </dsp:txBody>
      <dsp:txXfrm>
        <a:off x="0" y="2644556"/>
        <a:ext cx="4869656" cy="380880"/>
      </dsp:txXfrm>
    </dsp:sp>
    <dsp:sp modelId="{E53E36B5-EFF1-4E36-B3E4-99C02686EAEA}">
      <dsp:nvSpPr>
        <dsp:cNvPr id="0" name=""/>
        <dsp:cNvSpPr/>
      </dsp:nvSpPr>
      <dsp:spPr>
        <a:xfrm>
          <a:off x="0" y="3025436"/>
          <a:ext cx="4869656" cy="914940"/>
        </a:xfrm>
        <a:prstGeom prst="roundRect">
          <a:avLst/>
        </a:prstGeom>
        <a:solidFill>
          <a:schemeClr val="accent2">
            <a:hueOff val="-970242"/>
            <a:satOff val="-55952"/>
            <a:lumOff val="575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lvl="0" algn="l" defTabSz="1022350">
            <a:lnSpc>
              <a:spcPct val="90000"/>
            </a:lnSpc>
            <a:spcBef>
              <a:spcPct val="0"/>
            </a:spcBef>
            <a:spcAft>
              <a:spcPct val="35000"/>
            </a:spcAft>
          </a:pPr>
          <a:r>
            <a:rPr lang="en-US" sz="2300" kern="1200"/>
            <a:t>Essentially, the left side of the rule declares the class of the variable x</a:t>
          </a:r>
        </a:p>
      </dsp:txBody>
      <dsp:txXfrm>
        <a:off x="44664" y="3070100"/>
        <a:ext cx="4780328" cy="825612"/>
      </dsp:txXfrm>
    </dsp:sp>
    <dsp:sp modelId="{102E8191-A273-45DB-882B-C345A65C883C}">
      <dsp:nvSpPr>
        <dsp:cNvPr id="0" name=""/>
        <dsp:cNvSpPr/>
      </dsp:nvSpPr>
      <dsp:spPr>
        <a:xfrm>
          <a:off x="0" y="4006616"/>
          <a:ext cx="4869656" cy="914940"/>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lvl="0" algn="l" defTabSz="1022350">
            <a:lnSpc>
              <a:spcPct val="90000"/>
            </a:lnSpc>
            <a:spcBef>
              <a:spcPct val="0"/>
            </a:spcBef>
            <a:spcAft>
              <a:spcPct val="35000"/>
            </a:spcAft>
          </a:pPr>
          <a:r>
            <a:rPr lang="en-US" sz="2300" kern="1200"/>
            <a:t>Constraints like this are often called “domain constraints”</a:t>
          </a:r>
        </a:p>
      </dsp:txBody>
      <dsp:txXfrm>
        <a:off x="44664" y="4051280"/>
        <a:ext cx="4780328" cy="825612"/>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9FFCD11-F840-4F6D-828D-A0F18921864A}" type="datetimeFigureOut">
              <a:rPr lang="en-US" smtClean="0"/>
              <a:pPr/>
              <a:t>6/4/2024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996A31D-EB6B-4130-8521-DB7E42417BF3}" type="slidenum">
              <a:rPr lang="en-US" smtClean="0"/>
              <a:pPr/>
              <a:t>‹#›</a:t>
            </a:fld>
            <a:endParaRPr lang="en-US"/>
          </a:p>
        </p:txBody>
      </p:sp>
    </p:spTree>
    <p:extLst>
      <p:ext uri="{BB962C8B-B14F-4D97-AF65-F5344CB8AC3E}">
        <p14:creationId xmlns:p14="http://schemas.microsoft.com/office/powerpoint/2010/main" val="37782605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4588" y="684213"/>
            <a:ext cx="4570412"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C22B723-4480-414C-A3F8-C429B0226413}" type="slidenum">
              <a:rPr lang="en-US" smtClean="0"/>
              <a:pPr/>
              <a:t>1</a:t>
            </a:fld>
            <a:endParaRPr lang="en-US"/>
          </a:p>
        </p:txBody>
      </p:sp>
    </p:spTree>
    <p:extLst>
      <p:ext uri="{BB962C8B-B14F-4D97-AF65-F5344CB8AC3E}">
        <p14:creationId xmlns:p14="http://schemas.microsoft.com/office/powerpoint/2010/main" val="17783953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mn-lt"/>
                <a:ea typeface="+mn-ea"/>
                <a:cs typeface="+mn-cs"/>
              </a:rPr>
              <a:t>Predicates: A fact or proposition is divided into two parts </a:t>
            </a:r>
          </a:p>
          <a:p>
            <a:r>
              <a:rPr lang="en-US" sz="1200" kern="1200" dirty="0">
                <a:solidFill>
                  <a:schemeClr val="tx1"/>
                </a:solidFill>
                <a:latin typeface="+mn-lt"/>
                <a:ea typeface="+mn-ea"/>
                <a:cs typeface="+mn-cs"/>
              </a:rPr>
              <a:t>Predicate: the assertion of the proposition</a:t>
            </a:r>
          </a:p>
          <a:p>
            <a:r>
              <a:rPr lang="en-US" sz="1200" kern="1200" dirty="0">
                <a:solidFill>
                  <a:schemeClr val="tx1"/>
                </a:solidFill>
                <a:latin typeface="+mn-lt"/>
                <a:ea typeface="+mn-ea"/>
                <a:cs typeface="+mn-cs"/>
              </a:rPr>
              <a:t> Argument: the object of the proposition</a:t>
            </a:r>
          </a:p>
          <a:p>
            <a:r>
              <a:rPr lang="en-US" sz="1200" kern="1200" dirty="0">
                <a:solidFill>
                  <a:schemeClr val="tx1"/>
                </a:solidFill>
                <a:latin typeface="+mn-lt"/>
                <a:ea typeface="+mn-ea"/>
                <a:cs typeface="+mn-cs"/>
              </a:rPr>
              <a:t>For example, the proposition “Ali likes bananas” can be represented in predicate logic as Likes (Ali, bananas), where Likes is the predicate and Ali and bananas are the arguments</a:t>
            </a:r>
            <a:endParaRPr lang="en-US" dirty="0"/>
          </a:p>
        </p:txBody>
      </p:sp>
      <p:sp>
        <p:nvSpPr>
          <p:cNvPr id="4" name="Slide Number Placeholder 3"/>
          <p:cNvSpPr>
            <a:spLocks noGrp="1"/>
          </p:cNvSpPr>
          <p:nvPr>
            <p:ph type="sldNum" sz="quarter" idx="10"/>
          </p:nvPr>
        </p:nvSpPr>
        <p:spPr/>
        <p:txBody>
          <a:bodyPr/>
          <a:lstStyle/>
          <a:p>
            <a:fld id="{2996A31D-EB6B-4130-8521-DB7E42417BF3}" type="slidenum">
              <a:rPr lang="en-US" smtClean="0"/>
              <a:pPr/>
              <a:t>9</a:t>
            </a:fld>
            <a:endParaRPr lang="en-US"/>
          </a:p>
        </p:txBody>
      </p:sp>
    </p:spTree>
    <p:extLst>
      <p:ext uri="{BB962C8B-B14F-4D97-AF65-F5344CB8AC3E}">
        <p14:creationId xmlns:p14="http://schemas.microsoft.com/office/powerpoint/2010/main" val="16577288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a:solidFill>
                  <a:schemeClr val="tx1"/>
                </a:solidFill>
                <a:latin typeface="+mn-lt"/>
                <a:ea typeface="+mn-ea"/>
                <a:cs typeface="+mn-cs"/>
              </a:rPr>
              <a:t>Existential quantifier</a:t>
            </a:r>
          </a:p>
          <a:p>
            <a:r>
              <a:rPr lang="en-US" sz="1200" kern="1200" dirty="0">
                <a:solidFill>
                  <a:schemeClr val="tx1"/>
                </a:solidFill>
                <a:latin typeface="+mn-lt"/>
                <a:ea typeface="+mn-ea"/>
                <a:cs typeface="+mn-cs"/>
              </a:rPr>
              <a:t>The symbol for the existential quantifier is  ∃ W. It is read as “there exists”, “  for some”,  “for at least  one”,  “there  is one”,  and is used in formulae  to say  that something  is true for at least one value in the domain,  e.g. in the  domain  of persons, we can say that</a:t>
            </a:r>
          </a:p>
          <a:p>
            <a:r>
              <a:rPr lang="en-US" sz="1200" kern="1200" dirty="0">
                <a:solidFill>
                  <a:schemeClr val="tx1"/>
                </a:solidFill>
                <a:latin typeface="+mn-lt"/>
                <a:ea typeface="+mn-ea"/>
                <a:cs typeface="+mn-cs"/>
              </a:rPr>
              <a:t>( ∃ x) (Person (x) ∧ father (x, Ahmed) ). In words this reads as: there exists some person, x who is Ahmed’s father.</a:t>
            </a:r>
          </a:p>
          <a:p>
            <a:endParaRPr lang="en-US" dirty="0"/>
          </a:p>
          <a:p>
            <a:endParaRPr lang="en-US" dirty="0"/>
          </a:p>
          <a:p>
            <a:endParaRPr lang="en-US" dirty="0"/>
          </a:p>
          <a:p>
            <a:r>
              <a:rPr lang="en-US" sz="1200" kern="1200" dirty="0">
                <a:solidFill>
                  <a:schemeClr val="tx1"/>
                </a:solidFill>
                <a:latin typeface="+mn-lt"/>
                <a:ea typeface="+mn-ea"/>
                <a:cs typeface="+mn-cs"/>
              </a:rPr>
              <a:t>The symbol for the universal quantifier is ∀ </a:t>
            </a:r>
            <a:r>
              <a:rPr lang="en-US" sz="1200" kern="1200" dirty="0" err="1">
                <a:solidFill>
                  <a:schemeClr val="tx1"/>
                </a:solidFill>
                <a:latin typeface="+mn-lt"/>
                <a:ea typeface="+mn-ea"/>
                <a:cs typeface="+mn-cs"/>
              </a:rPr>
              <a:t>VIt</a:t>
            </a:r>
            <a:r>
              <a:rPr lang="en-US" sz="1200" kern="1200" dirty="0">
                <a:solidFill>
                  <a:schemeClr val="tx1"/>
                </a:solidFill>
                <a:latin typeface="+mn-lt"/>
                <a:ea typeface="+mn-ea"/>
                <a:cs typeface="+mn-cs"/>
              </a:rPr>
              <a:t> is read as “for every” or “for all” and used in formulae to assign the same truth value to all variables in the  domain, </a:t>
            </a:r>
            <a:endParaRPr lang="en-US" dirty="0"/>
          </a:p>
        </p:txBody>
      </p:sp>
      <p:sp>
        <p:nvSpPr>
          <p:cNvPr id="4" name="Slide Number Placeholder 3"/>
          <p:cNvSpPr>
            <a:spLocks noGrp="1"/>
          </p:cNvSpPr>
          <p:nvPr>
            <p:ph type="sldNum" sz="quarter" idx="10"/>
          </p:nvPr>
        </p:nvSpPr>
        <p:spPr/>
        <p:txBody>
          <a:bodyPr/>
          <a:lstStyle/>
          <a:p>
            <a:fld id="{2996A31D-EB6B-4130-8521-DB7E42417BF3}" type="slidenum">
              <a:rPr lang="en-US" smtClean="0"/>
              <a:pPr/>
              <a:t>10</a:t>
            </a:fld>
            <a:endParaRPr lang="en-US"/>
          </a:p>
        </p:txBody>
      </p:sp>
    </p:spTree>
    <p:extLst>
      <p:ext uri="{BB962C8B-B14F-4D97-AF65-F5344CB8AC3E}">
        <p14:creationId xmlns:p14="http://schemas.microsoft.com/office/powerpoint/2010/main" val="9322593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B52FC42-8720-46AD-96B1-AD34EEACB6E2}" type="datetimeFigureOut">
              <a:rPr lang="en-US" smtClean="0"/>
              <a:pPr/>
              <a:t>6/4/2024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57D30E-0F06-4CCC-8B56-B38CDA172D3A}" type="slidenum">
              <a:rPr lang="en-US" smtClean="0"/>
              <a:pPr/>
              <a:t>‹#›</a:t>
            </a:fld>
            <a:endParaRPr lang="en-US"/>
          </a:p>
        </p:txBody>
      </p:sp>
    </p:spTree>
    <p:extLst>
      <p:ext uri="{BB962C8B-B14F-4D97-AF65-F5344CB8AC3E}">
        <p14:creationId xmlns:p14="http://schemas.microsoft.com/office/powerpoint/2010/main" val="1218306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B52FC42-8720-46AD-96B1-AD34EEACB6E2}" type="datetimeFigureOut">
              <a:rPr lang="en-US" smtClean="0"/>
              <a:pPr/>
              <a:t>6/4/2024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57D30E-0F06-4CCC-8B56-B38CDA172D3A}" type="slidenum">
              <a:rPr lang="en-US" smtClean="0"/>
              <a:pPr/>
              <a:t>‹#›</a:t>
            </a:fld>
            <a:endParaRPr lang="en-US"/>
          </a:p>
        </p:txBody>
      </p:sp>
    </p:spTree>
    <p:extLst>
      <p:ext uri="{BB962C8B-B14F-4D97-AF65-F5344CB8AC3E}">
        <p14:creationId xmlns:p14="http://schemas.microsoft.com/office/powerpoint/2010/main" val="6484083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B52FC42-8720-46AD-96B1-AD34EEACB6E2}" type="datetimeFigureOut">
              <a:rPr lang="en-US" smtClean="0"/>
              <a:pPr/>
              <a:t>6/4/2024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57D30E-0F06-4CCC-8B56-B38CDA172D3A}" type="slidenum">
              <a:rPr lang="en-US" smtClean="0"/>
              <a:pPr/>
              <a:t>‹#›</a:t>
            </a:fld>
            <a:endParaRPr lang="en-US"/>
          </a:p>
        </p:txBody>
      </p:sp>
    </p:spTree>
    <p:extLst>
      <p:ext uri="{BB962C8B-B14F-4D97-AF65-F5344CB8AC3E}">
        <p14:creationId xmlns:p14="http://schemas.microsoft.com/office/powerpoint/2010/main" val="36857847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286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291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B52FC42-8720-46AD-96B1-AD34EEACB6E2}" type="datetimeFigureOut">
              <a:rPr lang="en-US" smtClean="0"/>
              <a:pPr/>
              <a:t>6/4/2024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57D30E-0F06-4CCC-8B56-B38CDA172D3A}" type="slidenum">
              <a:rPr lang="en-US" smtClean="0"/>
              <a:pPr/>
              <a:t>‹#›</a:t>
            </a:fld>
            <a:endParaRPr lang="en-US"/>
          </a:p>
        </p:txBody>
      </p:sp>
    </p:spTree>
    <p:extLst>
      <p:ext uri="{BB962C8B-B14F-4D97-AF65-F5344CB8AC3E}">
        <p14:creationId xmlns:p14="http://schemas.microsoft.com/office/powerpoint/2010/main" val="38412588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B52FC42-8720-46AD-96B1-AD34EEACB6E2}" type="datetimeFigureOut">
              <a:rPr lang="en-US" smtClean="0"/>
              <a:pPr/>
              <a:t>6/4/2024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57D30E-0F06-4CCC-8B56-B38CDA172D3A}" type="slidenum">
              <a:rPr lang="en-US" smtClean="0"/>
              <a:pPr/>
              <a:t>‹#›</a:t>
            </a:fld>
            <a:endParaRPr lang="en-US"/>
          </a:p>
        </p:txBody>
      </p:sp>
    </p:spTree>
    <p:extLst>
      <p:ext uri="{BB962C8B-B14F-4D97-AF65-F5344CB8AC3E}">
        <p14:creationId xmlns:p14="http://schemas.microsoft.com/office/powerpoint/2010/main" val="33263798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B52FC42-8720-46AD-96B1-AD34EEACB6E2}" type="datetimeFigureOut">
              <a:rPr lang="en-US" smtClean="0"/>
              <a:pPr/>
              <a:t>6/4/2024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57D30E-0F06-4CCC-8B56-B38CDA172D3A}" type="slidenum">
              <a:rPr lang="en-US" smtClean="0"/>
              <a:pPr/>
              <a:t>‹#›</a:t>
            </a:fld>
            <a:endParaRPr lang="en-US"/>
          </a:p>
        </p:txBody>
      </p:sp>
    </p:spTree>
    <p:extLst>
      <p:ext uri="{BB962C8B-B14F-4D97-AF65-F5344CB8AC3E}">
        <p14:creationId xmlns:p14="http://schemas.microsoft.com/office/powerpoint/2010/main" val="9025749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52FC42-8720-46AD-96B1-AD34EEACB6E2}" type="datetimeFigureOut">
              <a:rPr lang="en-US" smtClean="0"/>
              <a:pPr/>
              <a:t>6/4/2024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57D30E-0F06-4CCC-8B56-B38CDA172D3A}" type="slidenum">
              <a:rPr lang="en-US" smtClean="0"/>
              <a:pPr/>
              <a:t>‹#›</a:t>
            </a:fld>
            <a:endParaRPr lang="en-US"/>
          </a:p>
        </p:txBody>
      </p:sp>
    </p:spTree>
    <p:extLst>
      <p:ext uri="{BB962C8B-B14F-4D97-AF65-F5344CB8AC3E}">
        <p14:creationId xmlns:p14="http://schemas.microsoft.com/office/powerpoint/2010/main" val="2653774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B52FC42-8720-46AD-96B1-AD34EEACB6E2}" type="datetimeFigureOut">
              <a:rPr lang="en-US" smtClean="0"/>
              <a:pPr/>
              <a:t>6/4/2024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57D30E-0F06-4CCC-8B56-B38CDA172D3A}" type="slidenum">
              <a:rPr lang="en-US" smtClean="0"/>
              <a:pPr/>
              <a:t>‹#›</a:t>
            </a:fld>
            <a:endParaRPr lang="en-US"/>
          </a:p>
        </p:txBody>
      </p:sp>
    </p:spTree>
    <p:extLst>
      <p:ext uri="{BB962C8B-B14F-4D97-AF65-F5344CB8AC3E}">
        <p14:creationId xmlns:p14="http://schemas.microsoft.com/office/powerpoint/2010/main" val="10171149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B52FC42-8720-46AD-96B1-AD34EEACB6E2}" type="datetimeFigureOut">
              <a:rPr lang="en-US" smtClean="0"/>
              <a:pPr/>
              <a:t>6/4/2024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57D30E-0F06-4CCC-8B56-B38CDA172D3A}" type="slidenum">
              <a:rPr lang="en-US" smtClean="0"/>
              <a:pPr/>
              <a:t>‹#›</a:t>
            </a:fld>
            <a:endParaRPr lang="en-US"/>
          </a:p>
        </p:txBody>
      </p:sp>
    </p:spTree>
    <p:extLst>
      <p:ext uri="{BB962C8B-B14F-4D97-AF65-F5344CB8AC3E}">
        <p14:creationId xmlns:p14="http://schemas.microsoft.com/office/powerpoint/2010/main" val="11335382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B52FC42-8720-46AD-96B1-AD34EEACB6E2}" type="datetimeFigureOut">
              <a:rPr lang="en-US" smtClean="0"/>
              <a:pPr/>
              <a:t>6/4/2024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57D30E-0F06-4CCC-8B56-B38CDA172D3A}" type="slidenum">
              <a:rPr lang="en-US" smtClean="0"/>
              <a:pPr/>
              <a:t>‹#›</a:t>
            </a:fld>
            <a:endParaRPr lang="en-US"/>
          </a:p>
        </p:txBody>
      </p:sp>
    </p:spTree>
    <p:extLst>
      <p:ext uri="{BB962C8B-B14F-4D97-AF65-F5344CB8AC3E}">
        <p14:creationId xmlns:p14="http://schemas.microsoft.com/office/powerpoint/2010/main" val="28244590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B52FC42-8720-46AD-96B1-AD34EEACB6E2}" type="datetimeFigureOut">
              <a:rPr lang="en-US" smtClean="0"/>
              <a:pPr/>
              <a:t>6/4/2024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57D30E-0F06-4CCC-8B56-B38CDA172D3A}" type="slidenum">
              <a:rPr lang="en-US" smtClean="0"/>
              <a:pPr/>
              <a:t>‹#›</a:t>
            </a:fld>
            <a:endParaRPr lang="en-US"/>
          </a:p>
        </p:txBody>
      </p:sp>
    </p:spTree>
    <p:extLst>
      <p:ext uri="{BB962C8B-B14F-4D97-AF65-F5344CB8AC3E}">
        <p14:creationId xmlns:p14="http://schemas.microsoft.com/office/powerpoint/2010/main" val="14706048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8B52FC42-8720-46AD-96B1-AD34EEACB6E2}" type="datetimeFigureOut">
              <a:rPr lang="en-US" smtClean="0"/>
              <a:pPr/>
              <a:t>6/4/2024</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257D30E-0F06-4CCC-8B56-B38CDA172D3A}" type="slidenum">
              <a:rPr lang="en-US" smtClean="0"/>
              <a:pPr/>
              <a:t>‹#›</a:t>
            </a:fld>
            <a:endParaRPr lang="en-US"/>
          </a:p>
        </p:txBody>
      </p:sp>
    </p:spTree>
    <p:extLst>
      <p:ext uri="{BB962C8B-B14F-4D97-AF65-F5344CB8AC3E}">
        <p14:creationId xmlns:p14="http://schemas.microsoft.com/office/powerpoint/2010/main" val="2590435990"/>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mmehmood@ssuet.edu.pk"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38400" y="2130432"/>
            <a:ext cx="6705600" cy="1470025"/>
          </a:xfrm>
        </p:spPr>
        <p:txBody>
          <a:bodyPr>
            <a:normAutofit/>
          </a:bodyPr>
          <a:lstStyle/>
          <a:p>
            <a:r>
              <a:rPr lang="en-US" dirty="0"/>
              <a:t>Artificial Intelligence</a:t>
            </a:r>
          </a:p>
        </p:txBody>
      </p:sp>
      <p:sp>
        <p:nvSpPr>
          <p:cNvPr id="3" name="Subtitle 2"/>
          <p:cNvSpPr>
            <a:spLocks noGrp="1"/>
          </p:cNvSpPr>
          <p:nvPr>
            <p:ph type="subTitle" idx="1"/>
          </p:nvPr>
        </p:nvSpPr>
        <p:spPr/>
        <p:txBody>
          <a:bodyPr/>
          <a:lstStyle/>
          <a:p>
            <a:pPr algn="r"/>
            <a:r>
              <a:rPr lang="en-US" sz="2000" dirty="0">
                <a:solidFill>
                  <a:schemeClr val="accent6">
                    <a:lumMod val="75000"/>
                  </a:schemeClr>
                </a:solidFill>
              </a:rPr>
              <a:t>Lecturer</a:t>
            </a:r>
          </a:p>
          <a:p>
            <a:pPr algn="r"/>
            <a:r>
              <a:rPr lang="en-US" sz="2000" dirty="0" err="1">
                <a:solidFill>
                  <a:schemeClr val="accent6">
                    <a:lumMod val="75000"/>
                  </a:schemeClr>
                </a:solidFill>
                <a:hlinkClick r:id="rId3"/>
              </a:rPr>
              <a:t>Rabiya</a:t>
            </a:r>
            <a:r>
              <a:rPr lang="en-US" sz="2000" dirty="0">
                <a:solidFill>
                  <a:schemeClr val="accent6">
                    <a:lumMod val="75000"/>
                  </a:schemeClr>
                </a:solidFill>
                <a:hlinkClick r:id="rId3"/>
              </a:rPr>
              <a:t> Tahir</a:t>
            </a:r>
          </a:p>
          <a:p>
            <a:pPr algn="r"/>
            <a:r>
              <a:rPr lang="en-US" sz="2000" dirty="0">
                <a:solidFill>
                  <a:schemeClr val="accent6">
                    <a:lumMod val="75000"/>
                  </a:schemeClr>
                </a:solidFill>
                <a:hlinkClick r:id="rId3"/>
              </a:rPr>
              <a:t>ratahir@ssuet.edu.pk</a:t>
            </a:r>
            <a:endParaRPr lang="en-US" dirty="0">
              <a:solidFill>
                <a:schemeClr val="accent6">
                  <a:lumMod val="75000"/>
                </a:schemeClr>
              </a:solidFill>
            </a:endParaRPr>
          </a:p>
          <a:p>
            <a:pPr algn="r"/>
            <a:endParaRPr lang="en-US" dirty="0">
              <a:solidFill>
                <a:schemeClr val="accent6">
                  <a:lumMod val="75000"/>
                </a:schemeClr>
              </a:solidFill>
            </a:endParaRPr>
          </a:p>
        </p:txBody>
      </p:sp>
      <p:sp>
        <p:nvSpPr>
          <p:cNvPr id="4" name="Footer Placeholder 3"/>
          <p:cNvSpPr>
            <a:spLocks noGrp="1"/>
          </p:cNvSpPr>
          <p:nvPr>
            <p:ph type="ftr" sz="quarter" idx="11"/>
          </p:nvPr>
        </p:nvSpPr>
        <p:spPr/>
        <p:txBody>
          <a:bodyPr/>
          <a:lstStyle/>
          <a:p>
            <a:r>
              <a:rPr lang="en-US" dirty="0" err="1"/>
              <a:t>Rabiya</a:t>
            </a:r>
            <a:r>
              <a:rPr lang="en-US" dirty="0"/>
              <a:t> Tahir</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xmlns="" id="{15655827-B42D-4180-88D3-D83F25E4BD1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4000" cy="6858000"/>
          </a:xfrm>
          <a:prstGeom prst="rect">
            <a:avLst/>
          </a:prstGeom>
          <a:ln>
            <a:noFill/>
          </a:ln>
          <a:effectLst/>
        </p:spPr>
        <p:txBody>
          <a:bodyPr rtlCol="0" anchor="ctr"/>
          <a:lstStyle/>
          <a:p>
            <a:pPr algn="ctr"/>
            <a:endParaRPr lang="en-US"/>
          </a:p>
        </p:txBody>
      </p:sp>
      <p:sp>
        <p:nvSpPr>
          <p:cNvPr id="13" name="Freeform: Shape 12">
            <a:extLst>
              <a:ext uri="{FF2B5EF4-FFF2-40B4-BE49-F238E27FC236}">
                <a16:creationId xmlns:a16="http://schemas.microsoft.com/office/drawing/2014/main" xmlns="" id="{24ACCB06-563C-4ADE-B4D6-1FE9F723C7D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auto">
          <a:xfrm>
            <a:off x="0" y="3955594"/>
            <a:ext cx="1371718" cy="2902407"/>
          </a:xfrm>
          <a:custGeom>
            <a:avLst/>
            <a:gdLst>
              <a:gd name="connsiteX0" fmla="*/ 0 w 1828958"/>
              <a:gd name="connsiteY0" fmla="*/ 0 h 2902407"/>
              <a:gd name="connsiteX1" fmla="*/ 1828958 w 1828958"/>
              <a:gd name="connsiteY1" fmla="*/ 2902407 h 2902407"/>
              <a:gd name="connsiteX2" fmla="*/ 1709896 w 1828958"/>
              <a:gd name="connsiteY2" fmla="*/ 2902407 h 2902407"/>
              <a:gd name="connsiteX3" fmla="*/ 0 w 1828958"/>
              <a:gd name="connsiteY3" fmla="*/ 63474 h 2902407"/>
            </a:gdLst>
            <a:ahLst/>
            <a:cxnLst>
              <a:cxn ang="0">
                <a:pos x="connsiteX0" y="connsiteY0"/>
              </a:cxn>
              <a:cxn ang="0">
                <a:pos x="connsiteX1" y="connsiteY1"/>
              </a:cxn>
              <a:cxn ang="0">
                <a:pos x="connsiteX2" y="connsiteY2"/>
              </a:cxn>
              <a:cxn ang="0">
                <a:pos x="connsiteX3" y="connsiteY3"/>
              </a:cxn>
            </a:cxnLst>
            <a:rect l="l" t="t" r="r" b="b"/>
            <a:pathLst>
              <a:path w="1828958" h="2902407">
                <a:moveTo>
                  <a:pt x="0" y="0"/>
                </a:moveTo>
                <a:lnTo>
                  <a:pt x="1828958" y="2902407"/>
                </a:lnTo>
                <a:lnTo>
                  <a:pt x="1709896" y="2902407"/>
                </a:lnTo>
                <a:lnTo>
                  <a:pt x="0" y="63474"/>
                </a:lnTo>
                <a:close/>
              </a:path>
            </a:pathLst>
          </a:custGeom>
          <a:solidFill>
            <a:srgbClr val="262626"/>
          </a:solidFill>
          <a:ln>
            <a:noFill/>
          </a:ln>
        </p:spPr>
      </p:sp>
      <p:sp>
        <p:nvSpPr>
          <p:cNvPr id="15" name="Freeform: Shape 14">
            <a:extLst>
              <a:ext uri="{FF2B5EF4-FFF2-40B4-BE49-F238E27FC236}">
                <a16:creationId xmlns:a16="http://schemas.microsoft.com/office/drawing/2014/main" xmlns="" id="{40761ECD-D92B-46AE-82CA-640023D282F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auto">
          <a:xfrm>
            <a:off x="0" y="3220098"/>
            <a:ext cx="2182534" cy="3637903"/>
          </a:xfrm>
          <a:custGeom>
            <a:avLst/>
            <a:gdLst>
              <a:gd name="connsiteX0" fmla="*/ 0 w 2910045"/>
              <a:gd name="connsiteY0" fmla="*/ 0 h 3637903"/>
              <a:gd name="connsiteX1" fmla="*/ 2910045 w 2910045"/>
              <a:gd name="connsiteY1" fmla="*/ 3637903 h 3637903"/>
              <a:gd name="connsiteX2" fmla="*/ 2786220 w 2910045"/>
              <a:gd name="connsiteY2" fmla="*/ 3637903 h 3637903"/>
              <a:gd name="connsiteX3" fmla="*/ 0 w 2910045"/>
              <a:gd name="connsiteY3" fmla="*/ 20366 h 3637903"/>
            </a:gdLst>
            <a:ahLst/>
            <a:cxnLst>
              <a:cxn ang="0">
                <a:pos x="connsiteX0" y="connsiteY0"/>
              </a:cxn>
              <a:cxn ang="0">
                <a:pos x="connsiteX1" y="connsiteY1"/>
              </a:cxn>
              <a:cxn ang="0">
                <a:pos x="connsiteX2" y="connsiteY2"/>
              </a:cxn>
              <a:cxn ang="0">
                <a:pos x="connsiteX3" y="connsiteY3"/>
              </a:cxn>
            </a:cxnLst>
            <a:rect l="l" t="t" r="r" b="b"/>
            <a:pathLst>
              <a:path w="2910045" h="3637903">
                <a:moveTo>
                  <a:pt x="0" y="0"/>
                </a:moveTo>
                <a:lnTo>
                  <a:pt x="2910045" y="3637903"/>
                </a:lnTo>
                <a:lnTo>
                  <a:pt x="2786220" y="3637903"/>
                </a:lnTo>
                <a:lnTo>
                  <a:pt x="0" y="20366"/>
                </a:lnTo>
                <a:close/>
              </a:path>
            </a:pathLst>
          </a:custGeom>
          <a:solidFill>
            <a:schemeClr val="accent1">
              <a:lumMod val="50000"/>
            </a:schemeClr>
          </a:solidFill>
          <a:ln>
            <a:noFill/>
          </a:ln>
        </p:spPr>
      </p:sp>
      <p:sp>
        <p:nvSpPr>
          <p:cNvPr id="17" name="Freeform: Shape 16">
            <a:extLst>
              <a:ext uri="{FF2B5EF4-FFF2-40B4-BE49-F238E27FC236}">
                <a16:creationId xmlns:a16="http://schemas.microsoft.com/office/drawing/2014/main" xmlns="" id="{9A928607-C55C-40FD-B2DF-6CD6A7226A7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auto">
          <a:xfrm>
            <a:off x="0" y="2845509"/>
            <a:ext cx="3112413" cy="4012491"/>
          </a:xfrm>
          <a:custGeom>
            <a:avLst/>
            <a:gdLst>
              <a:gd name="connsiteX0" fmla="*/ 0 w 4149883"/>
              <a:gd name="connsiteY0" fmla="*/ 0 h 4012491"/>
              <a:gd name="connsiteX1" fmla="*/ 4149883 w 4149883"/>
              <a:gd name="connsiteY1" fmla="*/ 4012491 h 4012491"/>
              <a:gd name="connsiteX2" fmla="*/ 2910046 w 4149883"/>
              <a:gd name="connsiteY2" fmla="*/ 4012491 h 4012491"/>
              <a:gd name="connsiteX3" fmla="*/ 0 w 4149883"/>
              <a:gd name="connsiteY3" fmla="*/ 374587 h 4012491"/>
            </a:gdLst>
            <a:ahLst/>
            <a:cxnLst>
              <a:cxn ang="0">
                <a:pos x="connsiteX0" y="connsiteY0"/>
              </a:cxn>
              <a:cxn ang="0">
                <a:pos x="connsiteX1" y="connsiteY1"/>
              </a:cxn>
              <a:cxn ang="0">
                <a:pos x="connsiteX2" y="connsiteY2"/>
              </a:cxn>
              <a:cxn ang="0">
                <a:pos x="connsiteX3" y="connsiteY3"/>
              </a:cxn>
            </a:cxnLst>
            <a:rect l="l" t="t" r="r" b="b"/>
            <a:pathLst>
              <a:path w="4149883" h="4012491">
                <a:moveTo>
                  <a:pt x="0" y="0"/>
                </a:moveTo>
                <a:lnTo>
                  <a:pt x="4149883" y="4012491"/>
                </a:lnTo>
                <a:lnTo>
                  <a:pt x="2910046" y="4012491"/>
                </a:lnTo>
                <a:lnTo>
                  <a:pt x="0" y="374587"/>
                </a:lnTo>
                <a:close/>
              </a:path>
            </a:pathLst>
          </a:custGeom>
          <a:solidFill>
            <a:schemeClr val="accent1">
              <a:lumMod val="75000"/>
            </a:schemeClr>
          </a:solidFill>
          <a:ln>
            <a:noFill/>
          </a:ln>
        </p:spPr>
      </p:sp>
      <p:sp>
        <p:nvSpPr>
          <p:cNvPr id="19" name="Freeform: Shape 18">
            <a:extLst>
              <a:ext uri="{FF2B5EF4-FFF2-40B4-BE49-F238E27FC236}">
                <a16:creationId xmlns:a16="http://schemas.microsoft.com/office/drawing/2014/main" xmlns="" id="{400A20C1-29A4-43E0-AB15-7931F76F8C2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auto">
          <a:xfrm>
            <a:off x="0" y="3332410"/>
            <a:ext cx="2039659" cy="3525590"/>
          </a:xfrm>
          <a:custGeom>
            <a:avLst/>
            <a:gdLst>
              <a:gd name="connsiteX0" fmla="*/ 0 w 2719546"/>
              <a:gd name="connsiteY0" fmla="*/ 0 h 3525590"/>
              <a:gd name="connsiteX1" fmla="*/ 2719546 w 2719546"/>
              <a:gd name="connsiteY1" fmla="*/ 3525590 h 3525590"/>
              <a:gd name="connsiteX2" fmla="*/ 1828959 w 2719546"/>
              <a:gd name="connsiteY2" fmla="*/ 3525590 h 3525590"/>
              <a:gd name="connsiteX3" fmla="*/ 0 w 2719546"/>
              <a:gd name="connsiteY3" fmla="*/ 623183 h 3525590"/>
            </a:gdLst>
            <a:ahLst/>
            <a:cxnLst>
              <a:cxn ang="0">
                <a:pos x="connsiteX0" y="connsiteY0"/>
              </a:cxn>
              <a:cxn ang="0">
                <a:pos x="connsiteX1" y="connsiteY1"/>
              </a:cxn>
              <a:cxn ang="0">
                <a:pos x="connsiteX2" y="connsiteY2"/>
              </a:cxn>
              <a:cxn ang="0">
                <a:pos x="connsiteX3" y="connsiteY3"/>
              </a:cxn>
            </a:cxnLst>
            <a:rect l="l" t="t" r="r" b="b"/>
            <a:pathLst>
              <a:path w="2719546" h="3525590">
                <a:moveTo>
                  <a:pt x="0" y="0"/>
                </a:moveTo>
                <a:lnTo>
                  <a:pt x="2719546" y="3525590"/>
                </a:lnTo>
                <a:lnTo>
                  <a:pt x="1828959" y="3525590"/>
                </a:lnTo>
                <a:lnTo>
                  <a:pt x="0" y="623183"/>
                </a:lnTo>
                <a:close/>
              </a:path>
            </a:pathLst>
          </a:custGeom>
          <a:solidFill>
            <a:srgbClr val="404040"/>
          </a:solidFill>
          <a:ln>
            <a:noFill/>
          </a:ln>
        </p:spPr>
      </p:sp>
      <p:sp>
        <p:nvSpPr>
          <p:cNvPr id="5" name="Title 4"/>
          <p:cNvSpPr>
            <a:spLocks noGrp="1"/>
          </p:cNvSpPr>
          <p:nvPr>
            <p:ph type="ctrTitle"/>
          </p:nvPr>
        </p:nvSpPr>
        <p:spPr>
          <a:xfrm>
            <a:off x="1143000" y="643468"/>
            <a:ext cx="6858000" cy="3618898"/>
          </a:xfrm>
        </p:spPr>
        <p:txBody>
          <a:bodyPr anchor="b">
            <a:normAutofit/>
          </a:bodyPr>
          <a:lstStyle/>
          <a:p>
            <a:pPr algn="ctr"/>
            <a:r>
              <a:rPr lang="en-US" sz="6300" dirty="0"/>
              <a:t>Lecture # 11</a:t>
            </a:r>
          </a:p>
        </p:txBody>
      </p:sp>
      <p:sp>
        <p:nvSpPr>
          <p:cNvPr id="6" name="Subtitle 5"/>
          <p:cNvSpPr>
            <a:spLocks noGrp="1"/>
          </p:cNvSpPr>
          <p:nvPr>
            <p:ph type="subTitle" idx="1"/>
          </p:nvPr>
        </p:nvSpPr>
        <p:spPr>
          <a:xfrm>
            <a:off x="2039659" y="4552335"/>
            <a:ext cx="5064681" cy="1091381"/>
          </a:xfrm>
        </p:spPr>
        <p:txBody>
          <a:bodyPr>
            <a:normAutofit/>
          </a:bodyPr>
          <a:lstStyle/>
          <a:p>
            <a:pPr algn="ctr"/>
            <a:r>
              <a:rPr lang="en-US" sz="2100" b="1" dirty="0"/>
              <a:t>First Order Logic</a:t>
            </a:r>
          </a:p>
          <a:p>
            <a:pPr algn="ctr"/>
            <a:r>
              <a:rPr lang="en-US" sz="2100" b="1" dirty="0"/>
              <a:t>(FOL)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609600"/>
            <a:ext cx="7989752" cy="1083329"/>
          </a:xfrm>
        </p:spPr>
        <p:txBody>
          <a:bodyPr/>
          <a:lstStyle/>
          <a:p>
            <a:r>
              <a:rPr lang="en-US" dirty="0"/>
              <a:t>Agenda</a:t>
            </a:r>
          </a:p>
        </p:txBody>
      </p:sp>
      <p:sp>
        <p:nvSpPr>
          <p:cNvPr id="3" name="Content Placeholder 2"/>
          <p:cNvSpPr>
            <a:spLocks noGrp="1"/>
          </p:cNvSpPr>
          <p:nvPr>
            <p:ph idx="1"/>
          </p:nvPr>
        </p:nvSpPr>
        <p:spPr/>
        <p:txBody>
          <a:bodyPr>
            <a:normAutofit/>
          </a:bodyPr>
          <a:lstStyle/>
          <a:p>
            <a:r>
              <a:rPr lang="en-US" altLang="en-US" sz="2400" dirty="0"/>
              <a:t>Pros and cons of propositional logic (P.L)</a:t>
            </a:r>
          </a:p>
          <a:p>
            <a:endParaRPr lang="en-US" altLang="en-US" sz="2400" dirty="0"/>
          </a:p>
          <a:p>
            <a:r>
              <a:rPr lang="en-US" altLang="en-US" sz="2400" dirty="0"/>
              <a:t>Why FOL?</a:t>
            </a:r>
          </a:p>
          <a:p>
            <a:endParaRPr lang="en-US" altLang="en-US" sz="2400" dirty="0"/>
          </a:p>
          <a:p>
            <a:r>
              <a:rPr lang="en-US" altLang="en-US" sz="2400" dirty="0"/>
              <a:t>Syntax and semantics of FOL</a:t>
            </a:r>
          </a:p>
          <a:p>
            <a:endParaRPr lang="en-US" altLang="en-US" sz="2400" dirty="0"/>
          </a:p>
          <a:p>
            <a:r>
              <a:rPr lang="en-US" altLang="en-US" sz="2400" dirty="0"/>
              <a:t>Examples</a:t>
            </a:r>
            <a:endParaRPr lang="en-US" sz="2400" dirty="0"/>
          </a:p>
        </p:txBody>
      </p:sp>
      <p:sp>
        <p:nvSpPr>
          <p:cNvPr id="4" name="Slide Number Placeholder 3"/>
          <p:cNvSpPr>
            <a:spLocks noGrp="1"/>
          </p:cNvSpPr>
          <p:nvPr>
            <p:ph type="sldNum" sz="quarter" idx="12"/>
          </p:nvPr>
        </p:nvSpPr>
        <p:spPr/>
        <p:txBody>
          <a:bodyPr/>
          <a:lstStyle/>
          <a:p>
            <a:fld id="{2A92DEFD-C7DD-4590-9839-9D59973925CB}" type="slidenum">
              <a:rPr lang="en-US" smtClean="0"/>
              <a:t>3</a:t>
            </a:fld>
            <a:endParaRPr lang="en-US"/>
          </a:p>
        </p:txBody>
      </p:sp>
    </p:spTree>
    <p:extLst>
      <p:ext uri="{BB962C8B-B14F-4D97-AF65-F5344CB8AC3E}">
        <p14:creationId xmlns:p14="http://schemas.microsoft.com/office/powerpoint/2010/main" val="42516362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457200" y="533400"/>
            <a:ext cx="8915400" cy="1143000"/>
          </a:xfrm>
        </p:spPr>
        <p:txBody>
          <a:bodyPr/>
          <a:lstStyle/>
          <a:p>
            <a:pPr eaLnBrk="1" hangingPunct="1"/>
            <a:r>
              <a:rPr lang="en-US" altLang="en-US" dirty="0"/>
              <a:t>Pros &amp; Cons of Propositional logic</a:t>
            </a:r>
          </a:p>
        </p:txBody>
      </p:sp>
      <p:sp>
        <p:nvSpPr>
          <p:cNvPr id="6" name="Rectangle 3"/>
          <p:cNvSpPr txBox="1">
            <a:spLocks noChangeArrowheads="1"/>
          </p:cNvSpPr>
          <p:nvPr/>
        </p:nvSpPr>
        <p:spPr>
          <a:xfrm>
            <a:off x="457200" y="2103437"/>
            <a:ext cx="8229600" cy="4525963"/>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gn="just">
              <a:lnSpc>
                <a:spcPct val="80000"/>
              </a:lnSpc>
              <a:buFont typeface="Wingdings" panose="05000000000000000000" pitchFamily="2" charset="2"/>
              <a:buChar char="§"/>
            </a:pPr>
            <a:r>
              <a:rPr lang="en-US" altLang="en-US" sz="2400" dirty="0"/>
              <a:t>Propositional logic is </a:t>
            </a:r>
            <a:r>
              <a:rPr lang="en-US" altLang="en-US" sz="2400" dirty="0">
                <a:solidFill>
                  <a:srgbClr val="FF0000"/>
                </a:solidFill>
              </a:rPr>
              <a:t>declarative</a:t>
            </a:r>
            <a:r>
              <a:rPr lang="en-US" altLang="en-US" sz="2400" dirty="0"/>
              <a:t>
Propositional logic allows partial/disjunctive/negated information</a:t>
            </a:r>
          </a:p>
          <a:p>
            <a:pPr lvl="1" algn="just">
              <a:lnSpc>
                <a:spcPct val="80000"/>
              </a:lnSpc>
              <a:buFont typeface="Arial" panose="020B0604020202020204" pitchFamily="34" charset="0"/>
              <a:buChar char="•"/>
            </a:pPr>
            <a:r>
              <a:rPr lang="en-US" altLang="en-US" sz="2000" dirty="0"/>
              <a:t>(unlike most data structures and databases)</a:t>
            </a:r>
          </a:p>
          <a:p>
            <a:pPr algn="just">
              <a:lnSpc>
                <a:spcPct val="80000"/>
              </a:lnSpc>
              <a:buFont typeface="Wingdings" panose="05000000000000000000" pitchFamily="2" charset="2"/>
              <a:buChar char="§"/>
            </a:pPr>
            <a:r>
              <a:rPr lang="en-US" altLang="en-US" sz="2400" dirty="0"/>
              <a:t>Propositional logic is </a:t>
            </a:r>
            <a:r>
              <a:rPr lang="en-US" altLang="en-US" sz="2400" dirty="0">
                <a:solidFill>
                  <a:srgbClr val="FF0000"/>
                </a:solidFill>
              </a:rPr>
              <a:t>compositional</a:t>
            </a:r>
            <a:endParaRPr lang="en-US" altLang="en-US" sz="2400" dirty="0"/>
          </a:p>
          <a:p>
            <a:pPr algn="just">
              <a:lnSpc>
                <a:spcPct val="80000"/>
              </a:lnSpc>
            </a:pPr>
            <a:r>
              <a:rPr lang="en-US" altLang="en-US" sz="2400" dirty="0" smtClean="0"/>
              <a:t>Propositional </a:t>
            </a:r>
            <a:r>
              <a:rPr lang="en-US" altLang="en-US" sz="2400" dirty="0"/>
              <a:t>logic has very limited expressive power</a:t>
            </a:r>
          </a:p>
          <a:p>
            <a:pPr lvl="1" algn="just">
              <a:lnSpc>
                <a:spcPct val="80000"/>
              </a:lnSpc>
              <a:buFont typeface="Arial" panose="020B0604020202020204" pitchFamily="34" charset="0"/>
              <a:buChar char="•"/>
            </a:pPr>
            <a:r>
              <a:rPr lang="en-US" altLang="en-US" sz="2000" dirty="0"/>
              <a:t>(unlike natural language</a:t>
            </a:r>
            <a:r>
              <a:rPr lang="en-US" altLang="en-US" sz="2000" dirty="0" smtClean="0"/>
              <a:t>)</a:t>
            </a:r>
          </a:p>
          <a:p>
            <a:r>
              <a:rPr lang="en-US" sz="2400" dirty="0"/>
              <a:t>Cannot analyze the internal structure of the sentence</a:t>
            </a:r>
          </a:p>
          <a:p>
            <a:r>
              <a:rPr lang="en-US" sz="2400" dirty="0"/>
              <a:t>No quantifiers are available, e.g. for-all, there-exists</a:t>
            </a:r>
          </a:p>
          <a:p>
            <a:pPr lvl="1" algn="just">
              <a:lnSpc>
                <a:spcPct val="80000"/>
              </a:lnSpc>
              <a:buFont typeface="Arial" panose="020B0604020202020204" pitchFamily="34" charset="0"/>
              <a:buChar char="•"/>
            </a:pPr>
            <a:endParaRPr lang="en-US" altLang="en-US" sz="2000" dirty="0"/>
          </a:p>
        </p:txBody>
      </p:sp>
    </p:spTree>
    <p:extLst>
      <p:ext uri="{BB962C8B-B14F-4D97-AF65-F5344CB8AC3E}">
        <p14:creationId xmlns:p14="http://schemas.microsoft.com/office/powerpoint/2010/main" val="35411857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533400" y="609600"/>
            <a:ext cx="7989752" cy="1083329"/>
          </a:xfrm>
        </p:spPr>
        <p:txBody>
          <a:bodyPr/>
          <a:lstStyle/>
          <a:p>
            <a:r>
              <a:rPr lang="en-US" altLang="en-US" dirty="0">
                <a:solidFill>
                  <a:schemeClr val="bg1"/>
                </a:solidFill>
              </a:rPr>
              <a:t>First-order </a:t>
            </a:r>
            <a:r>
              <a:rPr lang="en-US" altLang="en-US" dirty="0" smtClean="0">
                <a:solidFill>
                  <a:srgbClr val="C00000"/>
                </a:solidFill>
              </a:rPr>
              <a:t>First Order Logic</a:t>
            </a:r>
            <a:endParaRPr lang="en-US" altLang="en-US" dirty="0">
              <a:solidFill>
                <a:srgbClr val="C00000"/>
              </a:solidFill>
            </a:endParaRPr>
          </a:p>
        </p:txBody>
      </p:sp>
      <p:sp>
        <p:nvSpPr>
          <p:cNvPr id="6147" name="Rectangle 3"/>
          <p:cNvSpPr>
            <a:spLocks noGrp="1" noChangeArrowheads="1"/>
          </p:cNvSpPr>
          <p:nvPr>
            <p:ph idx="1"/>
          </p:nvPr>
        </p:nvSpPr>
        <p:spPr>
          <a:xfrm>
            <a:off x="457200" y="2286000"/>
            <a:ext cx="8113744" cy="3941136"/>
          </a:xfrm>
        </p:spPr>
        <p:txBody>
          <a:bodyPr>
            <a:noAutofit/>
          </a:bodyPr>
          <a:lstStyle/>
          <a:p>
            <a:pPr algn="just">
              <a:lnSpc>
                <a:spcPct val="90000"/>
              </a:lnSpc>
            </a:pPr>
            <a:r>
              <a:rPr lang="en-US" altLang="en-US" sz="2400" dirty="0"/>
              <a:t>Propositional logic assumes the world contains </a:t>
            </a:r>
            <a:r>
              <a:rPr lang="en-US" altLang="en-US" sz="2400" dirty="0">
                <a:solidFill>
                  <a:srgbClr val="FF0000"/>
                </a:solidFill>
              </a:rPr>
              <a:t>facts</a:t>
            </a:r>
            <a:r>
              <a:rPr lang="en-US" altLang="en-US" sz="2400" dirty="0"/>
              <a:t>,</a:t>
            </a:r>
          </a:p>
          <a:p>
            <a:pPr algn="just">
              <a:lnSpc>
                <a:spcPct val="90000"/>
              </a:lnSpc>
            </a:pPr>
            <a:r>
              <a:rPr lang="en-US" altLang="en-US" sz="2400" dirty="0"/>
              <a:t>First-Order Logic (like natural language) assumes the world contains</a:t>
            </a:r>
          </a:p>
          <a:p>
            <a:pPr algn="just">
              <a:lnSpc>
                <a:spcPct val="90000"/>
              </a:lnSpc>
            </a:pPr>
            <a:endParaRPr lang="en-US" altLang="en-US" sz="2400" dirty="0"/>
          </a:p>
          <a:p>
            <a:pPr lvl="1" algn="just">
              <a:lnSpc>
                <a:spcPct val="90000"/>
              </a:lnSpc>
              <a:buFont typeface="Arial" panose="020B0604020202020204" pitchFamily="34" charset="0"/>
              <a:buChar char="•"/>
            </a:pPr>
            <a:r>
              <a:rPr lang="en-US" altLang="en-US" sz="2400" dirty="0">
                <a:solidFill>
                  <a:schemeClr val="accent2"/>
                </a:solidFill>
              </a:rPr>
              <a:t>Objects</a:t>
            </a:r>
            <a:r>
              <a:rPr lang="en-US" altLang="en-US" sz="2400" dirty="0"/>
              <a:t>: people, houses, numbers, colors, baseball games, wars, …</a:t>
            </a:r>
          </a:p>
          <a:p>
            <a:pPr lvl="1" algn="just">
              <a:lnSpc>
                <a:spcPct val="90000"/>
              </a:lnSpc>
              <a:buFont typeface="Arial" panose="020B0604020202020204" pitchFamily="34" charset="0"/>
              <a:buChar char="•"/>
            </a:pPr>
            <a:r>
              <a:rPr lang="en-US" altLang="en-US" sz="2400" dirty="0">
                <a:solidFill>
                  <a:schemeClr val="accent2"/>
                </a:solidFill>
              </a:rPr>
              <a:t>Relations</a:t>
            </a:r>
            <a:r>
              <a:rPr lang="en-US" altLang="en-US" sz="2400" dirty="0"/>
              <a:t>: red, round, prime, …</a:t>
            </a:r>
          </a:p>
          <a:p>
            <a:pPr lvl="1" algn="just">
              <a:lnSpc>
                <a:spcPct val="90000"/>
              </a:lnSpc>
              <a:buFont typeface="Arial" panose="020B0604020202020204" pitchFamily="34" charset="0"/>
              <a:buChar char="•"/>
            </a:pPr>
            <a:r>
              <a:rPr lang="en-US" altLang="en-US" sz="2400" dirty="0">
                <a:solidFill>
                  <a:schemeClr val="accent2"/>
                </a:solidFill>
              </a:rPr>
              <a:t>Functions</a:t>
            </a:r>
            <a:r>
              <a:rPr lang="en-US" altLang="en-US" sz="2400" dirty="0"/>
              <a:t>: father of, best friend, one more than, plus, …</a:t>
            </a:r>
          </a:p>
          <a:p>
            <a:pPr lvl="1" algn="just">
              <a:lnSpc>
                <a:spcPct val="90000"/>
              </a:lnSpc>
              <a:buFont typeface="Arial" panose="020B0604020202020204" pitchFamily="34" charset="0"/>
              <a:buChar char="•"/>
            </a:pPr>
            <a:r>
              <a:rPr lang="en-US" altLang="en-US" sz="2400" b="1" dirty="0">
                <a:solidFill>
                  <a:schemeClr val="bg2">
                    <a:lumMod val="50000"/>
                  </a:schemeClr>
                </a:solidFill>
              </a:rPr>
              <a:t>Properties:</a:t>
            </a:r>
            <a:r>
              <a:rPr lang="en-US" altLang="en-US" sz="2400" b="1" dirty="0"/>
              <a:t> </a:t>
            </a:r>
            <a:r>
              <a:rPr lang="en-US" altLang="en-US" sz="2400" dirty="0"/>
              <a:t>Color(car), </a:t>
            </a:r>
            <a:r>
              <a:rPr lang="en-US" altLang="en-US" sz="2400" dirty="0" err="1"/>
              <a:t>IsOpen</a:t>
            </a:r>
            <a:r>
              <a:rPr lang="en-US" altLang="en-US" sz="2400" dirty="0"/>
              <a:t>(door), </a:t>
            </a:r>
            <a:r>
              <a:rPr lang="en-US" altLang="en-US" sz="2400" dirty="0" err="1"/>
              <a:t>IsOn</a:t>
            </a:r>
            <a:r>
              <a:rPr lang="en-US" altLang="en-US" sz="2400" dirty="0"/>
              <a:t>(engine)</a:t>
            </a:r>
          </a:p>
        </p:txBody>
      </p:sp>
      <p:sp>
        <p:nvSpPr>
          <p:cNvPr id="2" name="Slide Number Placeholder 1"/>
          <p:cNvSpPr>
            <a:spLocks noGrp="1"/>
          </p:cNvSpPr>
          <p:nvPr>
            <p:ph type="sldNum" sz="quarter" idx="12"/>
          </p:nvPr>
        </p:nvSpPr>
        <p:spPr/>
        <p:txBody>
          <a:bodyPr/>
          <a:lstStyle/>
          <a:p>
            <a:fld id="{2A92DEFD-C7DD-4590-9839-9D59973925CB}" type="slidenum">
              <a:rPr lang="en-US" smtClean="0"/>
              <a:t>5</a:t>
            </a:fld>
            <a:endParaRPr lang="en-US"/>
          </a:p>
        </p:txBody>
      </p:sp>
    </p:spTree>
    <p:extLst>
      <p:ext uri="{BB962C8B-B14F-4D97-AF65-F5344CB8AC3E}">
        <p14:creationId xmlns:p14="http://schemas.microsoft.com/office/powerpoint/2010/main" val="25667407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3234" y="685801"/>
            <a:ext cx="7514035" cy="1066799"/>
          </a:xfrm>
        </p:spPr>
        <p:txBody>
          <a:bodyPr>
            <a:noAutofit/>
          </a:bodyPr>
          <a:lstStyle/>
          <a:p>
            <a:r>
              <a:rPr lang="en-US" sz="6600" baseline="3103" dirty="0">
                <a:latin typeface="Calibri"/>
                <a:ea typeface="+mn-ea"/>
                <a:cs typeface="Calibri"/>
              </a:rPr>
              <a:t>Predicate Calculus (PC)</a:t>
            </a:r>
          </a:p>
        </p:txBody>
      </p:sp>
      <p:sp>
        <p:nvSpPr>
          <p:cNvPr id="3" name="Content Placeholder 2"/>
          <p:cNvSpPr>
            <a:spLocks noGrp="1"/>
          </p:cNvSpPr>
          <p:nvPr>
            <p:ph idx="1"/>
          </p:nvPr>
        </p:nvSpPr>
        <p:spPr>
          <a:xfrm>
            <a:off x="1113233" y="1600200"/>
            <a:ext cx="7514035" cy="4191001"/>
          </a:xfrm>
        </p:spPr>
        <p:txBody>
          <a:bodyPr>
            <a:normAutofit/>
          </a:bodyPr>
          <a:lstStyle/>
          <a:p>
            <a:r>
              <a:rPr lang="en-US" sz="2600" dirty="0"/>
              <a:t>Predicate Calculus is an extension of propositional logic that allows the structure of  facts  and  sentences  to  be  defined.  With  predicate  logic,  we  can  use expressions like</a:t>
            </a:r>
          </a:p>
          <a:p>
            <a:pPr>
              <a:buNone/>
            </a:pPr>
            <a:endParaRPr lang="en-US" sz="2600" dirty="0"/>
          </a:p>
          <a:p>
            <a:pPr lvl="1"/>
            <a:r>
              <a:rPr lang="en-US" sz="2100" dirty="0"/>
              <a:t>Color( ball, blue)</a:t>
            </a:r>
          </a:p>
          <a:p>
            <a:pPr lvl="1">
              <a:buNone/>
            </a:pPr>
            <a:endParaRPr lang="en-US" dirty="0"/>
          </a:p>
          <a:p>
            <a:r>
              <a:rPr lang="en-US" sz="2600" dirty="0"/>
              <a:t>This allows the relationship of sub-sentence units to be expressed, e.g. the relationship between color, ball and blue in the above example. </a:t>
            </a:r>
            <a:endParaRPr lang="en-US" sz="2600" dirty="0" smtClean="0"/>
          </a:p>
          <a:p>
            <a:pPr marL="0" indent="0">
              <a:buNone/>
            </a:pP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object 25"/>
          <p:cNvSpPr txBox="1"/>
          <p:nvPr/>
        </p:nvSpPr>
        <p:spPr>
          <a:xfrm>
            <a:off x="0" y="3806190"/>
            <a:ext cx="9144000" cy="1009400"/>
          </a:xfrm>
          <a:prstGeom prst="rect">
            <a:avLst/>
          </a:prstGeom>
        </p:spPr>
        <p:txBody>
          <a:bodyPr wrap="square" lIns="0" tIns="0" rIns="0" bIns="0" rtlCol="0">
            <a:noAutofit/>
          </a:bodyPr>
          <a:lstStyle/>
          <a:p>
            <a:pPr marL="2538222">
              <a:lnSpc>
                <a:spcPts val="2035"/>
              </a:lnSpc>
              <a:spcBef>
                <a:spcPts val="101"/>
              </a:spcBef>
            </a:pPr>
            <a:r>
              <a:rPr sz="3000" spc="-4" baseline="4096" dirty="0">
                <a:latin typeface="Calibri"/>
                <a:cs typeface="Calibri"/>
              </a:rPr>
              <a:t>li</a:t>
            </a:r>
            <a:r>
              <a:rPr sz="3000" spc="0" baseline="4096" dirty="0">
                <a:latin typeface="Calibri"/>
                <a:cs typeface="Calibri"/>
              </a:rPr>
              <a:t>k  </a:t>
            </a:r>
            <a:r>
              <a:rPr sz="3000" spc="362" baseline="4096" dirty="0">
                <a:latin typeface="Calibri"/>
                <a:cs typeface="Calibri"/>
              </a:rPr>
              <a:t> </a:t>
            </a:r>
            <a:r>
              <a:rPr sz="3000" spc="64" baseline="4096" dirty="0">
                <a:latin typeface="Calibri"/>
                <a:cs typeface="Calibri"/>
              </a:rPr>
              <a:t>(</a:t>
            </a:r>
            <a:r>
              <a:rPr sz="3000" spc="0" baseline="4096" dirty="0">
                <a:latin typeface="Calibri"/>
                <a:cs typeface="Calibri"/>
              </a:rPr>
              <a:t>j </a:t>
            </a:r>
            <a:r>
              <a:rPr sz="3000" spc="148" baseline="4096" dirty="0">
                <a:latin typeface="Calibri"/>
                <a:cs typeface="Calibri"/>
              </a:rPr>
              <a:t> </a:t>
            </a:r>
            <a:r>
              <a:rPr sz="3000" spc="0" baseline="4096" dirty="0">
                <a:latin typeface="Calibri"/>
                <a:cs typeface="Calibri"/>
              </a:rPr>
              <a:t>h          </a:t>
            </a:r>
            <a:r>
              <a:rPr sz="3000" spc="89" baseline="4096" dirty="0">
                <a:latin typeface="Calibri"/>
                <a:cs typeface="Calibri"/>
              </a:rPr>
              <a:t> </a:t>
            </a:r>
            <a:r>
              <a:rPr sz="3000" spc="0" baseline="4096" dirty="0">
                <a:latin typeface="Calibri"/>
                <a:cs typeface="Calibri"/>
              </a:rPr>
              <a:t>l  </a:t>
            </a:r>
            <a:r>
              <a:rPr sz="3000" spc="421" baseline="4096" dirty="0">
                <a:latin typeface="Calibri"/>
                <a:cs typeface="Calibri"/>
              </a:rPr>
              <a:t> </a:t>
            </a:r>
            <a:r>
              <a:rPr sz="3000" spc="0" baseline="4096" dirty="0">
                <a:latin typeface="Calibri"/>
                <a:cs typeface="Calibri"/>
              </a:rPr>
              <a:t>)</a:t>
            </a:r>
            <a:endParaRPr sz="2000">
              <a:latin typeface="Calibri"/>
              <a:cs typeface="Calibri"/>
            </a:endParaRPr>
          </a:p>
        </p:txBody>
      </p:sp>
      <p:sp>
        <p:nvSpPr>
          <p:cNvPr id="22" name="object 22"/>
          <p:cNvSpPr/>
          <p:nvPr/>
        </p:nvSpPr>
        <p:spPr>
          <a:xfrm>
            <a:off x="0" y="4814839"/>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19" name="object 19"/>
          <p:cNvSpPr txBox="1"/>
          <p:nvPr/>
        </p:nvSpPr>
        <p:spPr>
          <a:xfrm>
            <a:off x="878841" y="681740"/>
            <a:ext cx="6377641" cy="1875509"/>
          </a:xfrm>
          <a:prstGeom prst="rect">
            <a:avLst/>
          </a:prstGeom>
        </p:spPr>
        <p:txBody>
          <a:bodyPr wrap="square" lIns="0" tIns="0" rIns="0" bIns="0" rtlCol="0">
            <a:noAutofit/>
          </a:bodyPr>
          <a:lstStyle/>
          <a:p>
            <a:pPr marL="1104645">
              <a:lnSpc>
                <a:spcPts val="4580"/>
              </a:lnSpc>
              <a:spcBef>
                <a:spcPts val="229"/>
              </a:spcBef>
            </a:pPr>
            <a:r>
              <a:rPr sz="6600" spc="0" baseline="3103" dirty="0">
                <a:latin typeface="Calibri"/>
                <a:cs typeface="Calibri"/>
              </a:rPr>
              <a:t>P</a:t>
            </a:r>
            <a:r>
              <a:rPr sz="6600" spc="-54" baseline="3103" dirty="0">
                <a:latin typeface="Calibri"/>
                <a:cs typeface="Calibri"/>
              </a:rPr>
              <a:t>r</a:t>
            </a:r>
            <a:r>
              <a:rPr sz="6600" spc="0" baseline="3103" dirty="0">
                <a:latin typeface="Calibri"/>
                <a:cs typeface="Calibri"/>
              </a:rPr>
              <a:t>edi</a:t>
            </a:r>
            <a:r>
              <a:rPr sz="6600" spc="-34" baseline="3103" dirty="0">
                <a:latin typeface="Calibri"/>
                <a:cs typeface="Calibri"/>
              </a:rPr>
              <a:t>c</a:t>
            </a:r>
            <a:r>
              <a:rPr sz="6600" spc="-44" baseline="3103" dirty="0">
                <a:latin typeface="Calibri"/>
                <a:cs typeface="Calibri"/>
              </a:rPr>
              <a:t>at</a:t>
            </a:r>
            <a:r>
              <a:rPr sz="6600" spc="0" baseline="3103" dirty="0">
                <a:latin typeface="Calibri"/>
                <a:cs typeface="Calibri"/>
              </a:rPr>
              <a:t>e</a:t>
            </a:r>
            <a:r>
              <a:rPr sz="6600" spc="-6" baseline="3103" dirty="0">
                <a:latin typeface="Calibri"/>
                <a:cs typeface="Calibri"/>
              </a:rPr>
              <a:t> </a:t>
            </a:r>
            <a:r>
              <a:rPr sz="6600" spc="0" baseline="3103" dirty="0">
                <a:latin typeface="Calibri"/>
                <a:cs typeface="Calibri"/>
              </a:rPr>
              <a:t>Calculus</a:t>
            </a:r>
            <a:r>
              <a:rPr sz="6600" spc="34" baseline="3103" dirty="0">
                <a:latin typeface="Calibri"/>
                <a:cs typeface="Calibri"/>
              </a:rPr>
              <a:t> </a:t>
            </a:r>
            <a:r>
              <a:rPr sz="6600" spc="0" baseline="3103" dirty="0">
                <a:latin typeface="Calibri"/>
                <a:cs typeface="Calibri"/>
              </a:rPr>
              <a:t>(PC)</a:t>
            </a:r>
            <a:endParaRPr sz="4400" dirty="0">
              <a:latin typeface="Calibri"/>
              <a:cs typeface="Calibri"/>
            </a:endParaRPr>
          </a:p>
          <a:p>
            <a:pPr marL="12700" marR="83781">
              <a:lnSpc>
                <a:spcPct val="101725"/>
              </a:lnSpc>
              <a:spcBef>
                <a:spcPts val="1452"/>
              </a:spcBef>
            </a:pPr>
            <a:r>
              <a:rPr sz="2400" spc="0" dirty="0">
                <a:latin typeface="Calibri"/>
                <a:cs typeface="Calibri"/>
              </a:rPr>
              <a:t>P</a:t>
            </a:r>
            <a:r>
              <a:rPr sz="2400" spc="-34" dirty="0">
                <a:latin typeface="Calibri"/>
                <a:cs typeface="Calibri"/>
              </a:rPr>
              <a:t>r</a:t>
            </a:r>
            <a:r>
              <a:rPr sz="2400" spc="0" dirty="0">
                <a:latin typeface="Calibri"/>
                <a:cs typeface="Calibri"/>
              </a:rPr>
              <a:t>opositional</a:t>
            </a:r>
            <a:r>
              <a:rPr sz="2400" spc="-34" dirty="0">
                <a:latin typeface="Calibri"/>
                <a:cs typeface="Calibri"/>
              </a:rPr>
              <a:t> </a:t>
            </a:r>
            <a:r>
              <a:rPr sz="2400" spc="0" dirty="0">
                <a:latin typeface="Calibri"/>
                <a:cs typeface="Calibri"/>
              </a:rPr>
              <a:t>logic</a:t>
            </a:r>
            <a:r>
              <a:rPr sz="2400" spc="-14" dirty="0">
                <a:latin typeface="Calibri"/>
                <a:cs typeface="Calibri"/>
              </a:rPr>
              <a:t> </a:t>
            </a:r>
            <a:r>
              <a:rPr sz="2400" spc="-19" dirty="0">
                <a:latin typeface="Calibri"/>
                <a:cs typeface="Calibri"/>
              </a:rPr>
              <a:t>c</a:t>
            </a:r>
            <a:r>
              <a:rPr sz="2400" spc="0" dirty="0">
                <a:latin typeface="Calibri"/>
                <a:cs typeface="Calibri"/>
              </a:rPr>
              <a:t>o</a:t>
            </a:r>
            <a:r>
              <a:rPr sz="2400" spc="4" dirty="0">
                <a:latin typeface="Calibri"/>
                <a:cs typeface="Calibri"/>
              </a:rPr>
              <a:t>m</a:t>
            </a:r>
            <a:r>
              <a:rPr sz="2400" spc="0" dirty="0">
                <a:latin typeface="Calibri"/>
                <a:cs typeface="Calibri"/>
              </a:rPr>
              <a:t>bines</a:t>
            </a:r>
            <a:r>
              <a:rPr sz="2400" spc="-9" dirty="0">
                <a:latin typeface="Calibri"/>
                <a:cs typeface="Calibri"/>
              </a:rPr>
              <a:t> </a:t>
            </a:r>
            <a:r>
              <a:rPr sz="2400" spc="-25" dirty="0">
                <a:latin typeface="Calibri"/>
                <a:cs typeface="Calibri"/>
              </a:rPr>
              <a:t>at</a:t>
            </a:r>
            <a:r>
              <a:rPr sz="2400" spc="0" dirty="0">
                <a:latin typeface="Calibri"/>
                <a:cs typeface="Calibri"/>
              </a:rPr>
              <a:t>o</a:t>
            </a:r>
            <a:r>
              <a:rPr sz="2400" spc="4" dirty="0">
                <a:latin typeface="Calibri"/>
                <a:cs typeface="Calibri"/>
              </a:rPr>
              <a:t>m</a:t>
            </a:r>
            <a:r>
              <a:rPr sz="2400" spc="0" dirty="0">
                <a:latin typeface="Calibri"/>
                <a:cs typeface="Calibri"/>
              </a:rPr>
              <a:t>s</a:t>
            </a:r>
            <a:endParaRPr sz="2400" dirty="0">
              <a:latin typeface="Calibri"/>
              <a:cs typeface="Calibri"/>
            </a:endParaRPr>
          </a:p>
          <a:p>
            <a:pPr marL="127000" marR="83781">
              <a:lnSpc>
                <a:spcPct val="101725"/>
              </a:lnSpc>
              <a:spcBef>
                <a:spcPts val="439"/>
              </a:spcBef>
            </a:pPr>
            <a:r>
              <a:rPr sz="2000" spc="0" dirty="0">
                <a:latin typeface="Arial"/>
                <a:cs typeface="Arial"/>
              </a:rPr>
              <a:t>– </a:t>
            </a:r>
            <a:r>
              <a:rPr sz="2000" spc="18" dirty="0">
                <a:latin typeface="Arial"/>
                <a:cs typeface="Arial"/>
              </a:rPr>
              <a:t> </a:t>
            </a:r>
            <a:r>
              <a:rPr sz="2000" spc="0" dirty="0">
                <a:latin typeface="Calibri"/>
                <a:cs typeface="Calibri"/>
              </a:rPr>
              <a:t>An</a:t>
            </a:r>
            <a:r>
              <a:rPr sz="2000" spc="-21" dirty="0">
                <a:latin typeface="Calibri"/>
                <a:cs typeface="Calibri"/>
              </a:rPr>
              <a:t> </a:t>
            </a:r>
            <a:r>
              <a:rPr sz="2000" spc="-14" dirty="0">
                <a:latin typeface="Calibri"/>
                <a:cs typeface="Calibri"/>
              </a:rPr>
              <a:t>at</a:t>
            </a:r>
            <a:r>
              <a:rPr sz="2000" spc="0" dirty="0">
                <a:latin typeface="Calibri"/>
                <a:cs typeface="Calibri"/>
              </a:rPr>
              <a:t>om</a:t>
            </a:r>
            <a:r>
              <a:rPr sz="2000" spc="-26" dirty="0">
                <a:latin typeface="Calibri"/>
                <a:cs typeface="Calibri"/>
              </a:rPr>
              <a:t> </a:t>
            </a:r>
            <a:r>
              <a:rPr sz="2000" spc="-19" dirty="0">
                <a:latin typeface="Calibri"/>
                <a:cs typeface="Calibri"/>
              </a:rPr>
              <a:t>c</a:t>
            </a:r>
            <a:r>
              <a:rPr sz="2000" spc="0" dirty="0">
                <a:latin typeface="Calibri"/>
                <a:cs typeface="Calibri"/>
              </a:rPr>
              <a:t>o</a:t>
            </a:r>
            <a:r>
              <a:rPr sz="2000" spc="-19" dirty="0">
                <a:latin typeface="Calibri"/>
                <a:cs typeface="Calibri"/>
              </a:rPr>
              <a:t>nt</a:t>
            </a:r>
            <a:r>
              <a:rPr sz="2000" spc="0" dirty="0">
                <a:latin typeface="Calibri"/>
                <a:cs typeface="Calibri"/>
              </a:rPr>
              <a:t>a</a:t>
            </a:r>
            <a:r>
              <a:rPr sz="2000" spc="-4" dirty="0">
                <a:latin typeface="Calibri"/>
                <a:cs typeface="Calibri"/>
              </a:rPr>
              <a:t>i</a:t>
            </a:r>
            <a:r>
              <a:rPr sz="2000" spc="0" dirty="0">
                <a:latin typeface="Calibri"/>
                <a:cs typeface="Calibri"/>
              </a:rPr>
              <a:t>ns</a:t>
            </a:r>
            <a:r>
              <a:rPr sz="2000" spc="-3" dirty="0">
                <a:latin typeface="Calibri"/>
                <a:cs typeface="Calibri"/>
              </a:rPr>
              <a:t> </a:t>
            </a:r>
            <a:r>
              <a:rPr sz="2000" spc="0" dirty="0">
                <a:latin typeface="Calibri"/>
                <a:cs typeface="Calibri"/>
              </a:rPr>
              <a:t>no</a:t>
            </a:r>
            <a:r>
              <a:rPr sz="2000" spc="-25" dirty="0">
                <a:latin typeface="Calibri"/>
                <a:cs typeface="Calibri"/>
              </a:rPr>
              <a:t> </a:t>
            </a:r>
            <a:r>
              <a:rPr sz="2000" spc="0" dirty="0">
                <a:latin typeface="Calibri"/>
                <a:cs typeface="Calibri"/>
              </a:rPr>
              <a:t>p</a:t>
            </a:r>
            <a:r>
              <a:rPr sz="2000" spc="-29" dirty="0">
                <a:latin typeface="Calibri"/>
                <a:cs typeface="Calibri"/>
              </a:rPr>
              <a:t>r</a:t>
            </a:r>
            <a:r>
              <a:rPr sz="2000" spc="0" dirty="0">
                <a:latin typeface="Calibri"/>
                <a:cs typeface="Calibri"/>
              </a:rPr>
              <a:t>opositional</a:t>
            </a:r>
            <a:r>
              <a:rPr sz="2000" spc="-75" dirty="0">
                <a:latin typeface="Calibri"/>
                <a:cs typeface="Calibri"/>
              </a:rPr>
              <a:t> </a:t>
            </a:r>
            <a:r>
              <a:rPr sz="2000" spc="-14" dirty="0">
                <a:latin typeface="Calibri"/>
                <a:cs typeface="Calibri"/>
              </a:rPr>
              <a:t>c</a:t>
            </a:r>
            <a:r>
              <a:rPr sz="2000" spc="0" dirty="0">
                <a:latin typeface="Calibri"/>
                <a:cs typeface="Calibri"/>
              </a:rPr>
              <a:t>onnecti</a:t>
            </a:r>
            <a:r>
              <a:rPr sz="2000" spc="-19" dirty="0">
                <a:latin typeface="Calibri"/>
                <a:cs typeface="Calibri"/>
              </a:rPr>
              <a:t>v</a:t>
            </a:r>
            <a:r>
              <a:rPr sz="2000" spc="0" dirty="0">
                <a:latin typeface="Calibri"/>
                <a:cs typeface="Calibri"/>
              </a:rPr>
              <a:t>es</a:t>
            </a:r>
            <a:endParaRPr sz="2000" dirty="0">
              <a:latin typeface="Calibri"/>
              <a:cs typeface="Calibri"/>
            </a:endParaRPr>
          </a:p>
          <a:p>
            <a:pPr marL="126955" marR="83781">
              <a:lnSpc>
                <a:spcPct val="101725"/>
              </a:lnSpc>
              <a:spcBef>
                <a:spcPts val="434"/>
              </a:spcBef>
            </a:pPr>
            <a:r>
              <a:rPr sz="2000" spc="0" dirty="0">
                <a:solidFill>
                  <a:srgbClr val="CC0065"/>
                </a:solidFill>
                <a:latin typeface="Arial"/>
                <a:cs typeface="Arial"/>
              </a:rPr>
              <a:t>– </a:t>
            </a:r>
            <a:r>
              <a:rPr sz="2000" spc="18" dirty="0">
                <a:solidFill>
                  <a:srgbClr val="CC0065"/>
                </a:solidFill>
                <a:latin typeface="Arial"/>
                <a:cs typeface="Arial"/>
              </a:rPr>
              <a:t> </a:t>
            </a:r>
            <a:r>
              <a:rPr sz="2000" spc="-4" dirty="0">
                <a:solidFill>
                  <a:srgbClr val="CC0065"/>
                </a:solidFill>
                <a:latin typeface="Calibri"/>
                <a:cs typeface="Calibri"/>
              </a:rPr>
              <a:t>H</a:t>
            </a:r>
            <a:r>
              <a:rPr sz="2000" spc="-34" dirty="0">
                <a:solidFill>
                  <a:srgbClr val="CC0065"/>
                </a:solidFill>
                <a:latin typeface="Calibri"/>
                <a:cs typeface="Calibri"/>
              </a:rPr>
              <a:t>a</a:t>
            </a:r>
            <a:r>
              <a:rPr sz="2000" spc="-19" dirty="0">
                <a:solidFill>
                  <a:srgbClr val="CC0065"/>
                </a:solidFill>
                <a:latin typeface="Calibri"/>
                <a:cs typeface="Calibri"/>
              </a:rPr>
              <a:t>v</a:t>
            </a:r>
            <a:r>
              <a:rPr sz="2000" spc="0" dirty="0">
                <a:solidFill>
                  <a:srgbClr val="CC0065"/>
                </a:solidFill>
                <a:latin typeface="Calibri"/>
                <a:cs typeface="Calibri"/>
              </a:rPr>
              <a:t>e</a:t>
            </a:r>
            <a:r>
              <a:rPr sz="2000" spc="-12" dirty="0">
                <a:solidFill>
                  <a:srgbClr val="CC0065"/>
                </a:solidFill>
                <a:latin typeface="Calibri"/>
                <a:cs typeface="Calibri"/>
              </a:rPr>
              <a:t> </a:t>
            </a:r>
            <a:r>
              <a:rPr sz="2000" spc="0" dirty="0">
                <a:solidFill>
                  <a:srgbClr val="CC0065"/>
                </a:solidFill>
                <a:latin typeface="Calibri"/>
                <a:cs typeface="Calibri"/>
              </a:rPr>
              <a:t>no</a:t>
            </a:r>
            <a:r>
              <a:rPr sz="2000" spc="-25" dirty="0">
                <a:solidFill>
                  <a:srgbClr val="CC0065"/>
                </a:solidFill>
                <a:latin typeface="Calibri"/>
                <a:cs typeface="Calibri"/>
              </a:rPr>
              <a:t> s</a:t>
            </a:r>
            <a:r>
              <a:rPr sz="2000" spc="4" dirty="0">
                <a:solidFill>
                  <a:srgbClr val="CC0065"/>
                </a:solidFill>
                <a:latin typeface="Calibri"/>
                <a:cs typeface="Calibri"/>
              </a:rPr>
              <a:t>t</a:t>
            </a:r>
            <a:r>
              <a:rPr sz="2000" spc="0" dirty="0">
                <a:solidFill>
                  <a:srgbClr val="CC0065"/>
                </a:solidFill>
                <a:latin typeface="Calibri"/>
                <a:cs typeface="Calibri"/>
              </a:rPr>
              <a:t>ruc</a:t>
            </a:r>
            <a:r>
              <a:rPr sz="2000" spc="4" dirty="0">
                <a:solidFill>
                  <a:srgbClr val="CC0065"/>
                </a:solidFill>
                <a:latin typeface="Calibri"/>
                <a:cs typeface="Calibri"/>
              </a:rPr>
              <a:t>t</a:t>
            </a:r>
            <a:r>
              <a:rPr sz="2000" spc="0" dirty="0">
                <a:solidFill>
                  <a:srgbClr val="CC0065"/>
                </a:solidFill>
                <a:latin typeface="Calibri"/>
                <a:cs typeface="Calibri"/>
              </a:rPr>
              <a:t>u</a:t>
            </a:r>
            <a:r>
              <a:rPr sz="2000" spc="-25" dirty="0">
                <a:solidFill>
                  <a:srgbClr val="CC0065"/>
                </a:solidFill>
                <a:latin typeface="Calibri"/>
                <a:cs typeface="Calibri"/>
              </a:rPr>
              <a:t>r</a:t>
            </a:r>
            <a:r>
              <a:rPr sz="2000" spc="0" dirty="0">
                <a:solidFill>
                  <a:srgbClr val="CC0065"/>
                </a:solidFill>
                <a:latin typeface="Calibri"/>
                <a:cs typeface="Calibri"/>
              </a:rPr>
              <a:t>e</a:t>
            </a:r>
            <a:r>
              <a:rPr sz="2000" spc="3" dirty="0">
                <a:solidFill>
                  <a:srgbClr val="CC0065"/>
                </a:solidFill>
                <a:latin typeface="Calibri"/>
                <a:cs typeface="Calibri"/>
              </a:rPr>
              <a:t> </a:t>
            </a:r>
            <a:r>
              <a:rPr sz="2000" spc="0" dirty="0">
                <a:latin typeface="Calibri"/>
                <a:cs typeface="Calibri"/>
              </a:rPr>
              <a:t>(</a:t>
            </a:r>
            <a:r>
              <a:rPr sz="2000" spc="-14" dirty="0">
                <a:latin typeface="Calibri"/>
                <a:cs typeface="Calibri"/>
              </a:rPr>
              <a:t>t</a:t>
            </a:r>
            <a:r>
              <a:rPr sz="2000" spc="0" dirty="0">
                <a:latin typeface="Calibri"/>
                <a:cs typeface="Calibri"/>
              </a:rPr>
              <a:t>od</a:t>
            </a:r>
            <a:r>
              <a:rPr sz="2000" spc="-34" dirty="0">
                <a:latin typeface="Calibri"/>
                <a:cs typeface="Calibri"/>
              </a:rPr>
              <a:t>a</a:t>
            </a:r>
            <a:r>
              <a:rPr sz="2000" spc="0" dirty="0">
                <a:latin typeface="Calibri"/>
                <a:cs typeface="Calibri"/>
              </a:rPr>
              <a:t>y_is_</a:t>
            </a:r>
            <a:r>
              <a:rPr sz="2000" spc="-19" dirty="0">
                <a:latin typeface="Calibri"/>
                <a:cs typeface="Calibri"/>
              </a:rPr>
              <a:t>w</a:t>
            </a:r>
            <a:r>
              <a:rPr sz="2000" spc="-4" dirty="0">
                <a:latin typeface="Calibri"/>
                <a:cs typeface="Calibri"/>
              </a:rPr>
              <a:t>e</a:t>
            </a:r>
            <a:r>
              <a:rPr sz="2000" spc="0" dirty="0">
                <a:latin typeface="Calibri"/>
                <a:cs typeface="Calibri"/>
              </a:rPr>
              <a:t>t,</a:t>
            </a:r>
            <a:r>
              <a:rPr sz="2000" spc="-57" dirty="0">
                <a:latin typeface="Calibri"/>
                <a:cs typeface="Calibri"/>
              </a:rPr>
              <a:t> </a:t>
            </a:r>
            <a:r>
              <a:rPr sz="2000" spc="0" dirty="0">
                <a:latin typeface="Calibri"/>
                <a:cs typeface="Calibri"/>
              </a:rPr>
              <a:t>john_li</a:t>
            </a:r>
            <a:r>
              <a:rPr sz="2000" spc="-69" dirty="0">
                <a:latin typeface="Calibri"/>
                <a:cs typeface="Calibri"/>
              </a:rPr>
              <a:t>k</a:t>
            </a:r>
            <a:r>
              <a:rPr sz="2000" spc="0" dirty="0">
                <a:latin typeface="Calibri"/>
                <a:cs typeface="Calibri"/>
              </a:rPr>
              <a:t>es_apples)</a:t>
            </a:r>
            <a:endParaRPr sz="2000" dirty="0">
              <a:latin typeface="Calibri"/>
              <a:cs typeface="Calibri"/>
            </a:endParaRPr>
          </a:p>
        </p:txBody>
      </p:sp>
      <p:sp>
        <p:nvSpPr>
          <p:cNvPr id="18" name="object 18"/>
          <p:cNvSpPr txBox="1"/>
          <p:nvPr/>
        </p:nvSpPr>
        <p:spPr>
          <a:xfrm>
            <a:off x="535940" y="1493925"/>
            <a:ext cx="177800" cy="324787"/>
          </a:xfrm>
          <a:prstGeom prst="rect">
            <a:avLst/>
          </a:prstGeom>
        </p:spPr>
        <p:txBody>
          <a:bodyPr wrap="square" lIns="0" tIns="0" rIns="0" bIns="0" rtlCol="0">
            <a:noAutofit/>
          </a:bodyPr>
          <a:lstStyle/>
          <a:p>
            <a:pPr marL="12700">
              <a:lnSpc>
                <a:spcPts val="2555"/>
              </a:lnSpc>
              <a:spcBef>
                <a:spcPts val="127"/>
              </a:spcBef>
            </a:pPr>
            <a:r>
              <a:rPr sz="2400" spc="0" dirty="0">
                <a:latin typeface="Arial"/>
                <a:cs typeface="Arial"/>
              </a:rPr>
              <a:t>•</a:t>
            </a:r>
            <a:endParaRPr sz="2400">
              <a:latin typeface="Arial"/>
              <a:cs typeface="Arial"/>
            </a:endParaRPr>
          </a:p>
        </p:txBody>
      </p:sp>
      <p:sp>
        <p:nvSpPr>
          <p:cNvPr id="17" name="object 17"/>
          <p:cNvSpPr txBox="1"/>
          <p:nvPr/>
        </p:nvSpPr>
        <p:spPr>
          <a:xfrm>
            <a:off x="535940" y="3004934"/>
            <a:ext cx="177800" cy="324787"/>
          </a:xfrm>
          <a:prstGeom prst="rect">
            <a:avLst/>
          </a:prstGeom>
        </p:spPr>
        <p:txBody>
          <a:bodyPr wrap="square" lIns="0" tIns="0" rIns="0" bIns="0" rtlCol="0">
            <a:noAutofit/>
          </a:bodyPr>
          <a:lstStyle/>
          <a:p>
            <a:pPr marL="12700">
              <a:lnSpc>
                <a:spcPts val="2555"/>
              </a:lnSpc>
              <a:spcBef>
                <a:spcPts val="127"/>
              </a:spcBef>
            </a:pPr>
            <a:r>
              <a:rPr sz="2400" spc="0" dirty="0">
                <a:latin typeface="Arial"/>
                <a:cs typeface="Arial"/>
              </a:rPr>
              <a:t>•</a:t>
            </a:r>
            <a:endParaRPr sz="2400">
              <a:latin typeface="Arial"/>
              <a:cs typeface="Arial"/>
            </a:endParaRPr>
          </a:p>
        </p:txBody>
      </p:sp>
      <p:sp>
        <p:nvSpPr>
          <p:cNvPr id="16" name="object 16"/>
          <p:cNvSpPr txBox="1"/>
          <p:nvPr/>
        </p:nvSpPr>
        <p:spPr>
          <a:xfrm>
            <a:off x="878841" y="3023016"/>
            <a:ext cx="5067089" cy="324787"/>
          </a:xfrm>
          <a:prstGeom prst="rect">
            <a:avLst/>
          </a:prstGeom>
        </p:spPr>
        <p:txBody>
          <a:bodyPr wrap="square" lIns="0" tIns="0" rIns="0" bIns="0" rtlCol="0">
            <a:noAutofit/>
          </a:bodyPr>
          <a:lstStyle/>
          <a:p>
            <a:pPr marL="12700">
              <a:lnSpc>
                <a:spcPts val="2545"/>
              </a:lnSpc>
              <a:spcBef>
                <a:spcPts val="127"/>
              </a:spcBef>
            </a:pPr>
            <a:r>
              <a:rPr sz="3600" b="1" spc="0" baseline="3413" dirty="0">
                <a:latin typeface="Calibri"/>
                <a:cs typeface="Calibri"/>
              </a:rPr>
              <a:t>P</a:t>
            </a:r>
            <a:r>
              <a:rPr sz="3600" b="1" spc="-34" baseline="3413" dirty="0">
                <a:latin typeface="Calibri"/>
                <a:cs typeface="Calibri"/>
              </a:rPr>
              <a:t>r</a:t>
            </a:r>
            <a:r>
              <a:rPr sz="3600" b="1" spc="0" baseline="3413" dirty="0">
                <a:latin typeface="Calibri"/>
                <a:cs typeface="Calibri"/>
              </a:rPr>
              <a:t>edi</a:t>
            </a:r>
            <a:r>
              <a:rPr sz="3600" b="1" spc="-14" baseline="3413" dirty="0">
                <a:latin typeface="Calibri"/>
                <a:cs typeface="Calibri"/>
              </a:rPr>
              <a:t>c</a:t>
            </a:r>
            <a:r>
              <a:rPr sz="3600" b="1" spc="-25" baseline="3413" dirty="0">
                <a:latin typeface="Calibri"/>
                <a:cs typeface="Calibri"/>
              </a:rPr>
              <a:t>at</a:t>
            </a:r>
            <a:r>
              <a:rPr sz="3600" b="1" spc="0" baseline="3413" dirty="0">
                <a:latin typeface="Calibri"/>
                <a:cs typeface="Calibri"/>
              </a:rPr>
              <a:t>es</a:t>
            </a:r>
            <a:r>
              <a:rPr sz="3600" b="1" spc="14" baseline="3413" dirty="0">
                <a:latin typeface="Calibri"/>
                <a:cs typeface="Calibri"/>
              </a:rPr>
              <a:t> </a:t>
            </a:r>
            <a:r>
              <a:rPr sz="3600" spc="0" baseline="3413" dirty="0">
                <a:latin typeface="Calibri"/>
                <a:cs typeface="Calibri"/>
              </a:rPr>
              <a:t>all</a:t>
            </a:r>
            <a:r>
              <a:rPr sz="3600" spc="-14" baseline="3413" dirty="0">
                <a:latin typeface="Calibri"/>
                <a:cs typeface="Calibri"/>
              </a:rPr>
              <a:t>o</a:t>
            </a:r>
            <a:r>
              <a:rPr sz="3600" spc="0" baseline="3413" dirty="0">
                <a:latin typeface="Calibri"/>
                <a:cs typeface="Calibri"/>
              </a:rPr>
              <a:t>w</a:t>
            </a:r>
            <a:r>
              <a:rPr sz="3600" spc="-14" baseline="3413" dirty="0">
                <a:latin typeface="Calibri"/>
                <a:cs typeface="Calibri"/>
              </a:rPr>
              <a:t> </a:t>
            </a:r>
            <a:r>
              <a:rPr sz="3600" spc="0" baseline="3413" dirty="0">
                <a:latin typeface="Calibri"/>
                <a:cs typeface="Calibri"/>
              </a:rPr>
              <a:t>us </a:t>
            </a:r>
            <a:r>
              <a:rPr sz="3600" spc="-25" baseline="3413" dirty="0">
                <a:latin typeface="Calibri"/>
                <a:cs typeface="Calibri"/>
              </a:rPr>
              <a:t>t</a:t>
            </a:r>
            <a:r>
              <a:rPr sz="3600" spc="0" baseline="3413" dirty="0">
                <a:latin typeface="Calibri"/>
                <a:cs typeface="Calibri"/>
              </a:rPr>
              <a:t>o</a:t>
            </a:r>
            <a:r>
              <a:rPr sz="3600" spc="-14" baseline="3413" dirty="0">
                <a:latin typeface="Calibri"/>
                <a:cs typeface="Calibri"/>
              </a:rPr>
              <a:t> </a:t>
            </a:r>
            <a:r>
              <a:rPr sz="3600" spc="-29" baseline="3413" dirty="0">
                <a:latin typeface="Calibri"/>
                <a:cs typeface="Calibri"/>
              </a:rPr>
              <a:t>t</a:t>
            </a:r>
            <a:r>
              <a:rPr sz="3600" spc="0" baseline="3413" dirty="0">
                <a:latin typeface="Calibri"/>
                <a:cs typeface="Calibri"/>
              </a:rPr>
              <a:t>alk</a:t>
            </a:r>
            <a:r>
              <a:rPr sz="3600" spc="-9" baseline="3413" dirty="0">
                <a:latin typeface="Calibri"/>
                <a:cs typeface="Calibri"/>
              </a:rPr>
              <a:t> </a:t>
            </a:r>
            <a:r>
              <a:rPr sz="3600" spc="0" baseline="3413" dirty="0">
                <a:latin typeface="Calibri"/>
                <a:cs typeface="Calibri"/>
              </a:rPr>
              <a:t>about</a:t>
            </a:r>
            <a:r>
              <a:rPr sz="3600" spc="-14" baseline="3413" dirty="0">
                <a:latin typeface="Calibri"/>
                <a:cs typeface="Calibri"/>
              </a:rPr>
              <a:t> </a:t>
            </a:r>
            <a:r>
              <a:rPr sz="3600" spc="0" baseline="3413" dirty="0">
                <a:latin typeface="Calibri"/>
                <a:cs typeface="Calibri"/>
              </a:rPr>
              <a:t>objects</a:t>
            </a:r>
            <a:endParaRPr sz="2400" dirty="0">
              <a:latin typeface="Calibri"/>
              <a:cs typeface="Calibri"/>
            </a:endParaRPr>
          </a:p>
        </p:txBody>
      </p:sp>
      <p:sp>
        <p:nvSpPr>
          <p:cNvPr id="15" name="object 15"/>
          <p:cNvSpPr txBox="1"/>
          <p:nvPr/>
        </p:nvSpPr>
        <p:spPr>
          <a:xfrm>
            <a:off x="993140" y="3418880"/>
            <a:ext cx="204544" cy="634334"/>
          </a:xfrm>
          <a:prstGeom prst="rect">
            <a:avLst/>
          </a:prstGeom>
        </p:spPr>
        <p:txBody>
          <a:bodyPr wrap="square" lIns="0" tIns="0" rIns="0" bIns="0" rtlCol="0">
            <a:noAutofit/>
          </a:bodyPr>
          <a:lstStyle/>
          <a:p>
            <a:pPr marL="12700" marR="0">
              <a:lnSpc>
                <a:spcPts val="2145"/>
              </a:lnSpc>
              <a:spcBef>
                <a:spcPts val="107"/>
              </a:spcBef>
            </a:pPr>
            <a:r>
              <a:rPr sz="2000" spc="0" dirty="0">
                <a:solidFill>
                  <a:srgbClr val="CC0065"/>
                </a:solidFill>
                <a:latin typeface="Arial"/>
                <a:cs typeface="Arial"/>
              </a:rPr>
              <a:t>–</a:t>
            </a:r>
            <a:endParaRPr sz="2000" dirty="0">
              <a:latin typeface="Arial"/>
              <a:cs typeface="Arial"/>
            </a:endParaRPr>
          </a:p>
          <a:p>
            <a:pPr marL="12700">
              <a:lnSpc>
                <a:spcPct val="95825"/>
              </a:lnSpc>
              <a:spcBef>
                <a:spcPts val="472"/>
              </a:spcBef>
            </a:pPr>
            <a:r>
              <a:rPr sz="2000" spc="0" dirty="0">
                <a:solidFill>
                  <a:srgbClr val="CC0065"/>
                </a:solidFill>
                <a:latin typeface="Arial"/>
                <a:cs typeface="Arial"/>
              </a:rPr>
              <a:t>–</a:t>
            </a:r>
            <a:endParaRPr sz="2000" dirty="0">
              <a:latin typeface="Arial"/>
              <a:cs typeface="Arial"/>
            </a:endParaRPr>
          </a:p>
        </p:txBody>
      </p:sp>
      <p:sp>
        <p:nvSpPr>
          <p:cNvPr id="14" name="object 14"/>
          <p:cNvSpPr txBox="1"/>
          <p:nvPr/>
        </p:nvSpPr>
        <p:spPr>
          <a:xfrm>
            <a:off x="1278883" y="3433934"/>
            <a:ext cx="2783218" cy="274570"/>
          </a:xfrm>
          <a:prstGeom prst="rect">
            <a:avLst/>
          </a:prstGeom>
        </p:spPr>
        <p:txBody>
          <a:bodyPr wrap="square" lIns="0" tIns="0" rIns="0" bIns="0" rtlCol="0">
            <a:noAutofit/>
          </a:bodyPr>
          <a:lstStyle/>
          <a:p>
            <a:pPr marL="12700">
              <a:lnSpc>
                <a:spcPts val="2135"/>
              </a:lnSpc>
              <a:spcBef>
                <a:spcPts val="106"/>
              </a:spcBef>
            </a:pPr>
            <a:r>
              <a:rPr sz="3000" spc="0" baseline="2730" dirty="0">
                <a:solidFill>
                  <a:srgbClr val="CC0065"/>
                </a:solidFill>
                <a:latin typeface="Calibri"/>
                <a:cs typeface="Calibri"/>
              </a:rPr>
              <a:t>P</a:t>
            </a:r>
            <a:r>
              <a:rPr sz="3000" spc="-29" baseline="2730" dirty="0">
                <a:solidFill>
                  <a:srgbClr val="CC0065"/>
                </a:solidFill>
                <a:latin typeface="Calibri"/>
                <a:cs typeface="Calibri"/>
              </a:rPr>
              <a:t>r</a:t>
            </a:r>
            <a:r>
              <a:rPr sz="3000" spc="0" baseline="2730" dirty="0">
                <a:solidFill>
                  <a:srgbClr val="CC0065"/>
                </a:solidFill>
                <a:latin typeface="Calibri"/>
                <a:cs typeface="Calibri"/>
              </a:rPr>
              <a:t>operties</a:t>
            </a:r>
            <a:r>
              <a:rPr sz="3000" spc="0" baseline="2730" dirty="0">
                <a:latin typeface="Calibri"/>
                <a:cs typeface="Calibri"/>
              </a:rPr>
              <a:t>:  </a:t>
            </a:r>
            <a:r>
              <a:rPr sz="3000" spc="14" baseline="2730" dirty="0">
                <a:latin typeface="Calibri"/>
                <a:cs typeface="Calibri"/>
              </a:rPr>
              <a:t> </a:t>
            </a:r>
            <a:r>
              <a:rPr sz="3000" spc="0" baseline="2730" dirty="0">
                <a:latin typeface="Calibri"/>
                <a:cs typeface="Calibri"/>
              </a:rPr>
              <a:t>is_</a:t>
            </a:r>
            <a:r>
              <a:rPr sz="3000" spc="-19" baseline="2730" dirty="0">
                <a:latin typeface="Calibri"/>
                <a:cs typeface="Calibri"/>
              </a:rPr>
              <a:t>w</a:t>
            </a:r>
            <a:r>
              <a:rPr sz="3000" spc="0" baseline="2730" dirty="0">
                <a:latin typeface="Calibri"/>
                <a:cs typeface="Calibri"/>
              </a:rPr>
              <a:t>e</a:t>
            </a:r>
            <a:r>
              <a:rPr sz="3000" spc="9" baseline="2730" dirty="0">
                <a:latin typeface="Calibri"/>
                <a:cs typeface="Calibri"/>
              </a:rPr>
              <a:t>t</a:t>
            </a:r>
            <a:r>
              <a:rPr sz="3000" spc="0" baseline="2730" dirty="0">
                <a:latin typeface="Calibri"/>
                <a:cs typeface="Calibri"/>
              </a:rPr>
              <a:t>(</a:t>
            </a:r>
            <a:r>
              <a:rPr sz="3000" spc="-14" baseline="2730" dirty="0">
                <a:latin typeface="Calibri"/>
                <a:cs typeface="Calibri"/>
              </a:rPr>
              <a:t>t</a:t>
            </a:r>
            <a:r>
              <a:rPr sz="3000" spc="0" baseline="2730" dirty="0">
                <a:latin typeface="Calibri"/>
                <a:cs typeface="Calibri"/>
              </a:rPr>
              <a:t>od</a:t>
            </a:r>
            <a:r>
              <a:rPr sz="3000" spc="-34" baseline="2730" dirty="0">
                <a:latin typeface="Calibri"/>
                <a:cs typeface="Calibri"/>
              </a:rPr>
              <a:t>a</a:t>
            </a:r>
            <a:r>
              <a:rPr sz="3000" spc="0" baseline="2730" dirty="0">
                <a:latin typeface="Calibri"/>
                <a:cs typeface="Calibri"/>
              </a:rPr>
              <a:t>y)</a:t>
            </a:r>
            <a:endParaRPr sz="2000">
              <a:latin typeface="Calibri"/>
              <a:cs typeface="Calibri"/>
            </a:endParaRPr>
          </a:p>
        </p:txBody>
      </p:sp>
      <p:sp>
        <p:nvSpPr>
          <p:cNvPr id="13" name="object 13"/>
          <p:cNvSpPr txBox="1"/>
          <p:nvPr/>
        </p:nvSpPr>
        <p:spPr>
          <a:xfrm>
            <a:off x="1278891" y="3793698"/>
            <a:ext cx="1078513" cy="274570"/>
          </a:xfrm>
          <a:prstGeom prst="rect">
            <a:avLst/>
          </a:prstGeom>
        </p:spPr>
        <p:txBody>
          <a:bodyPr wrap="square" lIns="0" tIns="0" rIns="0" bIns="0" rtlCol="0">
            <a:noAutofit/>
          </a:bodyPr>
          <a:lstStyle/>
          <a:p>
            <a:pPr marL="12700">
              <a:lnSpc>
                <a:spcPts val="2135"/>
              </a:lnSpc>
              <a:spcBef>
                <a:spcPts val="106"/>
              </a:spcBef>
            </a:pPr>
            <a:r>
              <a:rPr sz="3000" spc="-34" baseline="2730" dirty="0">
                <a:solidFill>
                  <a:srgbClr val="CC0065"/>
                </a:solidFill>
                <a:latin typeface="Calibri"/>
                <a:cs typeface="Calibri"/>
              </a:rPr>
              <a:t>R</a:t>
            </a:r>
            <a:r>
              <a:rPr sz="3000" spc="0" baseline="2730" dirty="0">
                <a:solidFill>
                  <a:srgbClr val="CC0065"/>
                </a:solidFill>
                <a:latin typeface="Calibri"/>
                <a:cs typeface="Calibri"/>
              </a:rPr>
              <a:t>e</a:t>
            </a:r>
            <a:r>
              <a:rPr sz="3000" spc="-4" baseline="2730" dirty="0">
                <a:solidFill>
                  <a:srgbClr val="CC0065"/>
                </a:solidFill>
                <a:latin typeface="Calibri"/>
                <a:cs typeface="Calibri"/>
              </a:rPr>
              <a:t>l</a:t>
            </a:r>
            <a:r>
              <a:rPr sz="3000" spc="-14" baseline="2730" dirty="0">
                <a:solidFill>
                  <a:srgbClr val="CC0065"/>
                </a:solidFill>
                <a:latin typeface="Calibri"/>
                <a:cs typeface="Calibri"/>
              </a:rPr>
              <a:t>a</a:t>
            </a:r>
            <a:r>
              <a:rPr sz="3000" spc="4" baseline="2730" dirty="0">
                <a:solidFill>
                  <a:srgbClr val="CC0065"/>
                </a:solidFill>
                <a:latin typeface="Calibri"/>
                <a:cs typeface="Calibri"/>
              </a:rPr>
              <a:t>t</a:t>
            </a:r>
            <a:r>
              <a:rPr sz="3000" spc="-4" baseline="2730" dirty="0">
                <a:solidFill>
                  <a:srgbClr val="CC0065"/>
                </a:solidFill>
                <a:latin typeface="Calibri"/>
                <a:cs typeface="Calibri"/>
              </a:rPr>
              <a:t>i</a:t>
            </a:r>
            <a:r>
              <a:rPr sz="3000" spc="0" baseline="2730" dirty="0">
                <a:solidFill>
                  <a:srgbClr val="CC0065"/>
                </a:solidFill>
                <a:latin typeface="Calibri"/>
                <a:cs typeface="Calibri"/>
              </a:rPr>
              <a:t>ons</a:t>
            </a:r>
            <a:r>
              <a:rPr sz="3000" spc="0" baseline="2730" dirty="0">
                <a:latin typeface="Calibri"/>
                <a:cs typeface="Calibri"/>
              </a:rPr>
              <a:t>:</a:t>
            </a:r>
            <a:endParaRPr sz="2000">
              <a:latin typeface="Calibri"/>
              <a:cs typeface="Calibri"/>
            </a:endParaRPr>
          </a:p>
        </p:txBody>
      </p:sp>
      <p:sp>
        <p:nvSpPr>
          <p:cNvPr id="12" name="object 12"/>
          <p:cNvSpPr txBox="1"/>
          <p:nvPr/>
        </p:nvSpPr>
        <p:spPr>
          <a:xfrm>
            <a:off x="2525523" y="3793698"/>
            <a:ext cx="1931865" cy="274570"/>
          </a:xfrm>
          <a:prstGeom prst="rect">
            <a:avLst/>
          </a:prstGeom>
        </p:spPr>
        <p:txBody>
          <a:bodyPr wrap="square" lIns="0" tIns="0" rIns="0" bIns="0" rtlCol="0">
            <a:noAutofit/>
          </a:bodyPr>
          <a:lstStyle/>
          <a:p>
            <a:pPr marL="12700">
              <a:lnSpc>
                <a:spcPts val="2135"/>
              </a:lnSpc>
              <a:spcBef>
                <a:spcPts val="106"/>
              </a:spcBef>
            </a:pPr>
            <a:r>
              <a:rPr sz="3000" spc="-4" baseline="2730" dirty="0">
                <a:latin typeface="Calibri"/>
                <a:cs typeface="Calibri"/>
              </a:rPr>
              <a:t>li</a:t>
            </a:r>
            <a:r>
              <a:rPr sz="3000" spc="-69" baseline="2730" dirty="0">
                <a:latin typeface="Calibri"/>
                <a:cs typeface="Calibri"/>
              </a:rPr>
              <a:t>k</a:t>
            </a:r>
            <a:r>
              <a:rPr sz="3000" spc="9" baseline="2730" dirty="0">
                <a:latin typeface="Calibri"/>
                <a:cs typeface="Calibri"/>
              </a:rPr>
              <a:t>e</a:t>
            </a:r>
            <a:r>
              <a:rPr sz="3000" spc="4" baseline="2730" dirty="0">
                <a:latin typeface="Calibri"/>
                <a:cs typeface="Calibri"/>
              </a:rPr>
              <a:t>s</a:t>
            </a:r>
            <a:r>
              <a:rPr sz="3000" spc="64" baseline="2730" dirty="0">
                <a:latin typeface="Calibri"/>
                <a:cs typeface="Calibri"/>
              </a:rPr>
              <a:t>(</a:t>
            </a:r>
            <a:r>
              <a:rPr sz="3000" spc="0" baseline="2730" dirty="0">
                <a:latin typeface="Calibri"/>
                <a:cs typeface="Calibri"/>
              </a:rPr>
              <a:t>john,</a:t>
            </a:r>
            <a:r>
              <a:rPr sz="3000" spc="-39" baseline="2730" dirty="0">
                <a:latin typeface="Calibri"/>
                <a:cs typeface="Calibri"/>
              </a:rPr>
              <a:t> </a:t>
            </a:r>
            <a:r>
              <a:rPr sz="3000" spc="0" baseline="2730" dirty="0">
                <a:latin typeface="Calibri"/>
                <a:cs typeface="Calibri"/>
              </a:rPr>
              <a:t>app</a:t>
            </a:r>
            <a:r>
              <a:rPr sz="3000" spc="-4" baseline="2730" dirty="0">
                <a:latin typeface="Calibri"/>
                <a:cs typeface="Calibri"/>
              </a:rPr>
              <a:t>l</a:t>
            </a:r>
            <a:r>
              <a:rPr sz="3000" spc="0" baseline="2730" dirty="0">
                <a:latin typeface="Calibri"/>
                <a:cs typeface="Calibri"/>
              </a:rPr>
              <a:t>e</a:t>
            </a:r>
            <a:r>
              <a:rPr sz="3000" spc="4" baseline="2730" dirty="0">
                <a:latin typeface="Calibri"/>
                <a:cs typeface="Calibri"/>
              </a:rPr>
              <a:t>s</a:t>
            </a:r>
            <a:r>
              <a:rPr sz="3000" spc="0" baseline="2730" dirty="0">
                <a:latin typeface="Calibri"/>
                <a:cs typeface="Calibri"/>
              </a:rPr>
              <a:t>)</a:t>
            </a:r>
            <a:endParaRPr sz="2000">
              <a:latin typeface="Calibri"/>
              <a:cs typeface="Calibri"/>
            </a:endParaRPr>
          </a:p>
        </p:txBody>
      </p:sp>
      <p:sp>
        <p:nvSpPr>
          <p:cNvPr id="11" name="object 11"/>
          <p:cNvSpPr txBox="1"/>
          <p:nvPr/>
        </p:nvSpPr>
        <p:spPr>
          <a:xfrm>
            <a:off x="993140" y="4138407"/>
            <a:ext cx="204544" cy="274570"/>
          </a:xfrm>
          <a:prstGeom prst="rect">
            <a:avLst/>
          </a:prstGeom>
        </p:spPr>
        <p:txBody>
          <a:bodyPr wrap="square" lIns="0" tIns="0" rIns="0" bIns="0" rtlCol="0">
            <a:noAutofit/>
          </a:bodyPr>
          <a:lstStyle/>
          <a:p>
            <a:pPr marL="12700">
              <a:lnSpc>
                <a:spcPts val="2145"/>
              </a:lnSpc>
              <a:spcBef>
                <a:spcPts val="107"/>
              </a:spcBef>
            </a:pPr>
            <a:r>
              <a:rPr sz="2000" spc="0" dirty="0">
                <a:solidFill>
                  <a:srgbClr val="CC0065"/>
                </a:solidFill>
                <a:latin typeface="Arial"/>
                <a:cs typeface="Arial"/>
              </a:rPr>
              <a:t>–</a:t>
            </a:r>
            <a:endParaRPr sz="2000">
              <a:latin typeface="Arial"/>
              <a:cs typeface="Arial"/>
            </a:endParaRPr>
          </a:p>
        </p:txBody>
      </p:sp>
      <p:sp>
        <p:nvSpPr>
          <p:cNvPr id="10" name="object 10"/>
          <p:cNvSpPr txBox="1"/>
          <p:nvPr/>
        </p:nvSpPr>
        <p:spPr>
          <a:xfrm>
            <a:off x="1278884" y="4153462"/>
            <a:ext cx="1334033" cy="274570"/>
          </a:xfrm>
          <a:prstGeom prst="rect">
            <a:avLst/>
          </a:prstGeom>
        </p:spPr>
        <p:txBody>
          <a:bodyPr wrap="square" lIns="0" tIns="0" rIns="0" bIns="0" rtlCol="0">
            <a:noAutofit/>
          </a:bodyPr>
          <a:lstStyle/>
          <a:p>
            <a:pPr marL="12700">
              <a:lnSpc>
                <a:spcPts val="2135"/>
              </a:lnSpc>
              <a:spcBef>
                <a:spcPts val="106"/>
              </a:spcBef>
            </a:pPr>
            <a:r>
              <a:rPr sz="3000" spc="-129" baseline="2730" dirty="0">
                <a:solidFill>
                  <a:srgbClr val="CC0065"/>
                </a:solidFill>
                <a:latin typeface="Calibri"/>
                <a:cs typeface="Calibri"/>
              </a:rPr>
              <a:t>T</a:t>
            </a:r>
            <a:r>
              <a:rPr sz="3000" spc="0" baseline="2730" dirty="0">
                <a:solidFill>
                  <a:srgbClr val="CC0065"/>
                </a:solidFill>
                <a:latin typeface="Calibri"/>
                <a:cs typeface="Calibri"/>
              </a:rPr>
              <a:t>rue</a:t>
            </a:r>
            <a:r>
              <a:rPr sz="3000" spc="-5" baseline="2730" dirty="0">
                <a:solidFill>
                  <a:srgbClr val="CC0065"/>
                </a:solidFill>
                <a:latin typeface="Calibri"/>
                <a:cs typeface="Calibri"/>
              </a:rPr>
              <a:t> </a:t>
            </a:r>
            <a:r>
              <a:rPr sz="3000" spc="0" baseline="2730" dirty="0">
                <a:latin typeface="Calibri"/>
                <a:cs typeface="Calibri"/>
              </a:rPr>
              <a:t>or </a:t>
            </a:r>
            <a:r>
              <a:rPr sz="3000" spc="-39" baseline="2730" dirty="0">
                <a:solidFill>
                  <a:srgbClr val="CC0065"/>
                </a:solidFill>
                <a:latin typeface="Calibri"/>
                <a:cs typeface="Calibri"/>
              </a:rPr>
              <a:t>f</a:t>
            </a:r>
            <a:r>
              <a:rPr sz="3000" spc="4" baseline="2730" dirty="0">
                <a:solidFill>
                  <a:srgbClr val="CC0065"/>
                </a:solidFill>
                <a:latin typeface="Calibri"/>
                <a:cs typeface="Calibri"/>
              </a:rPr>
              <a:t>a</a:t>
            </a:r>
            <a:r>
              <a:rPr sz="3000" spc="-4" baseline="2730" dirty="0">
                <a:solidFill>
                  <a:srgbClr val="CC0065"/>
                </a:solidFill>
                <a:latin typeface="Calibri"/>
                <a:cs typeface="Calibri"/>
              </a:rPr>
              <a:t>l</a:t>
            </a:r>
            <a:r>
              <a:rPr sz="3000" spc="0" baseline="2730" dirty="0">
                <a:solidFill>
                  <a:srgbClr val="CC0065"/>
                </a:solidFill>
                <a:latin typeface="Calibri"/>
                <a:cs typeface="Calibri"/>
              </a:rPr>
              <a:t>se</a:t>
            </a:r>
            <a:endParaRPr sz="2000">
              <a:latin typeface="Calibri"/>
              <a:cs typeface="Calibri"/>
            </a:endParaRPr>
          </a:p>
        </p:txBody>
      </p:sp>
      <p:sp>
        <p:nvSpPr>
          <p:cNvPr id="8" name="object 8"/>
          <p:cNvSpPr txBox="1"/>
          <p:nvPr/>
        </p:nvSpPr>
        <p:spPr>
          <a:xfrm>
            <a:off x="535940" y="4575153"/>
            <a:ext cx="177800" cy="324787"/>
          </a:xfrm>
          <a:prstGeom prst="rect">
            <a:avLst/>
          </a:prstGeom>
        </p:spPr>
        <p:txBody>
          <a:bodyPr wrap="square" lIns="0" tIns="0" rIns="0" bIns="0" rtlCol="0">
            <a:noAutofit/>
          </a:bodyPr>
          <a:lstStyle/>
          <a:p>
            <a:pPr marL="12700">
              <a:lnSpc>
                <a:spcPts val="2555"/>
              </a:lnSpc>
              <a:spcBef>
                <a:spcPts val="127"/>
              </a:spcBef>
            </a:pPr>
            <a:r>
              <a:rPr sz="2400" spc="0" dirty="0">
                <a:latin typeface="Arial"/>
                <a:cs typeface="Arial"/>
              </a:rPr>
              <a:t>•</a:t>
            </a:r>
            <a:endParaRPr sz="2400">
              <a:latin typeface="Arial"/>
              <a:cs typeface="Arial"/>
            </a:endParaRPr>
          </a:p>
        </p:txBody>
      </p:sp>
      <p:sp>
        <p:nvSpPr>
          <p:cNvPr id="4" name="object 4"/>
          <p:cNvSpPr txBox="1"/>
          <p:nvPr/>
        </p:nvSpPr>
        <p:spPr>
          <a:xfrm>
            <a:off x="2123988" y="5079167"/>
            <a:ext cx="60655" cy="149902"/>
          </a:xfrm>
          <a:prstGeom prst="rect">
            <a:avLst/>
          </a:prstGeom>
        </p:spPr>
        <p:txBody>
          <a:bodyPr wrap="square" lIns="0" tIns="0" rIns="0" bIns="0" rtlCol="0">
            <a:noAutofit/>
          </a:bodyPr>
          <a:lstStyle/>
          <a:p>
            <a:pPr marL="25400">
              <a:lnSpc>
                <a:spcPts val="1000"/>
              </a:lnSpc>
            </a:pPr>
            <a:endParaRPr sz="1000"/>
          </a:p>
        </p:txBody>
      </p:sp>
      <p:sp>
        <p:nvSpPr>
          <p:cNvPr id="3" name="object 3"/>
          <p:cNvSpPr txBox="1"/>
          <p:nvPr/>
        </p:nvSpPr>
        <p:spPr>
          <a:xfrm>
            <a:off x="2751989" y="5079167"/>
            <a:ext cx="58239" cy="149902"/>
          </a:xfrm>
          <a:prstGeom prst="rect">
            <a:avLst/>
          </a:prstGeom>
        </p:spPr>
        <p:txBody>
          <a:bodyPr wrap="square" lIns="0" tIns="0" rIns="0" bIns="0" rtlCol="0">
            <a:noAutofit/>
          </a:bodyPr>
          <a:lstStyle/>
          <a:p>
            <a:pPr marL="25400">
              <a:lnSpc>
                <a:spcPts val="1000"/>
              </a:lnSpc>
            </a:pPr>
            <a:endParaRPr sz="1000"/>
          </a:p>
        </p:txBody>
      </p:sp>
      <p:sp>
        <p:nvSpPr>
          <p:cNvPr id="2" name="object 2"/>
          <p:cNvSpPr txBox="1"/>
          <p:nvPr/>
        </p:nvSpPr>
        <p:spPr>
          <a:xfrm>
            <a:off x="4712605" y="5079167"/>
            <a:ext cx="59000" cy="149902"/>
          </a:xfrm>
          <a:prstGeom prst="rect">
            <a:avLst/>
          </a:prstGeom>
        </p:spPr>
        <p:txBody>
          <a:bodyPr wrap="square" lIns="0" tIns="0" rIns="0" bIns="0" rtlCol="0">
            <a:noAutofit/>
          </a:bodyPr>
          <a:lstStyle/>
          <a:p>
            <a:pPr marL="25400">
              <a:lnSpc>
                <a:spcPts val="1000"/>
              </a:lnSpc>
            </a:pPr>
            <a:endParaRPr sz="1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object 24"/>
          <p:cNvSpPr txBox="1"/>
          <p:nvPr/>
        </p:nvSpPr>
        <p:spPr>
          <a:xfrm>
            <a:off x="0" y="3827112"/>
            <a:ext cx="9144000" cy="988477"/>
          </a:xfrm>
          <a:prstGeom prst="rect">
            <a:avLst/>
          </a:prstGeom>
        </p:spPr>
        <p:txBody>
          <a:bodyPr wrap="square" lIns="0" tIns="0" rIns="0" bIns="0" rtlCol="0">
            <a:noAutofit/>
          </a:bodyPr>
          <a:lstStyle/>
          <a:p>
            <a:pPr marL="2377440">
              <a:lnSpc>
                <a:spcPts val="2045"/>
              </a:lnSpc>
              <a:spcBef>
                <a:spcPts val="102"/>
              </a:spcBef>
            </a:pPr>
            <a:r>
              <a:rPr sz="2000" b="1" spc="0" dirty="0">
                <a:latin typeface="Arial"/>
                <a:cs typeface="Arial"/>
              </a:rPr>
              <a:t>lik  </a:t>
            </a:r>
            <a:r>
              <a:rPr sz="2000" b="1" spc="553" dirty="0">
                <a:latin typeface="Arial"/>
                <a:cs typeface="Arial"/>
              </a:rPr>
              <a:t> </a:t>
            </a:r>
            <a:r>
              <a:rPr sz="2000" b="1" spc="0" dirty="0">
                <a:latin typeface="Arial"/>
                <a:cs typeface="Arial"/>
              </a:rPr>
              <a:t>(j </a:t>
            </a:r>
            <a:r>
              <a:rPr sz="2000" b="1" spc="114" dirty="0">
                <a:latin typeface="Arial"/>
                <a:cs typeface="Arial"/>
              </a:rPr>
              <a:t> </a:t>
            </a:r>
            <a:r>
              <a:rPr sz="2000" b="1" spc="0" dirty="0">
                <a:latin typeface="Arial"/>
                <a:cs typeface="Arial"/>
              </a:rPr>
              <a:t>h         </a:t>
            </a:r>
            <a:r>
              <a:rPr sz="2000" b="1" spc="318" dirty="0">
                <a:latin typeface="Arial"/>
                <a:cs typeface="Arial"/>
              </a:rPr>
              <a:t> </a:t>
            </a:r>
            <a:r>
              <a:rPr sz="2000" b="1" spc="0" dirty="0">
                <a:latin typeface="Arial"/>
                <a:cs typeface="Arial"/>
              </a:rPr>
              <a:t>l   </a:t>
            </a:r>
            <a:r>
              <a:rPr sz="2000" b="1" spc="4" dirty="0">
                <a:latin typeface="Arial"/>
                <a:cs typeface="Arial"/>
              </a:rPr>
              <a:t> </a:t>
            </a:r>
            <a:r>
              <a:rPr sz="2000" b="1" spc="0" dirty="0">
                <a:latin typeface="Arial"/>
                <a:cs typeface="Arial"/>
              </a:rPr>
              <a:t>)</a:t>
            </a:r>
            <a:endParaRPr sz="2000">
              <a:latin typeface="Arial"/>
              <a:cs typeface="Arial"/>
            </a:endParaRPr>
          </a:p>
        </p:txBody>
      </p:sp>
      <p:sp>
        <p:nvSpPr>
          <p:cNvPr id="19" name="object 19"/>
          <p:cNvSpPr/>
          <p:nvPr/>
        </p:nvSpPr>
        <p:spPr>
          <a:xfrm>
            <a:off x="0" y="1925485"/>
            <a:ext cx="9144000" cy="963868"/>
          </a:xfrm>
          <a:custGeom>
            <a:avLst/>
            <a:gdLst/>
            <a:ahLst/>
            <a:cxnLst/>
            <a:rect l="l" t="t" r="r" b="b"/>
            <a:pathLst>
              <a:path w="9144000" h="979932">
                <a:moveTo>
                  <a:pt x="9144000" y="979931"/>
                </a:moveTo>
                <a:lnTo>
                  <a:pt x="9144000" y="762"/>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20" name="object 20"/>
          <p:cNvSpPr/>
          <p:nvPr/>
        </p:nvSpPr>
        <p:spPr>
          <a:xfrm>
            <a:off x="0" y="2888603"/>
            <a:ext cx="9144000" cy="963868"/>
          </a:xfrm>
          <a:custGeom>
            <a:avLst/>
            <a:gdLst/>
            <a:ahLst/>
            <a:cxnLst/>
            <a:rect l="l" t="t" r="r" b="b"/>
            <a:pathLst>
              <a:path w="9144000" h="979932">
                <a:moveTo>
                  <a:pt x="9144000" y="979931"/>
                </a:moveTo>
                <a:lnTo>
                  <a:pt x="9144000" y="761"/>
                </a:lnTo>
                <a:lnTo>
                  <a:pt x="0" y="762"/>
                </a:lnTo>
                <a:lnTo>
                  <a:pt x="0" y="979932"/>
                </a:lnTo>
                <a:lnTo>
                  <a:pt x="9144000" y="979931"/>
                </a:lnTo>
                <a:close/>
              </a:path>
            </a:pathLst>
          </a:custGeom>
          <a:solidFill>
            <a:srgbClr val="FFFFFF"/>
          </a:solidFill>
        </p:spPr>
        <p:txBody>
          <a:bodyPr wrap="square" lIns="0" tIns="0" rIns="0" bIns="0" rtlCol="0">
            <a:noAutofit/>
          </a:bodyPr>
          <a:lstStyle/>
          <a:p>
            <a:endParaRPr/>
          </a:p>
        </p:txBody>
      </p:sp>
      <p:sp>
        <p:nvSpPr>
          <p:cNvPr id="21" name="object 21"/>
          <p:cNvSpPr/>
          <p:nvPr/>
        </p:nvSpPr>
        <p:spPr>
          <a:xfrm>
            <a:off x="0" y="3851721"/>
            <a:ext cx="9144000" cy="963868"/>
          </a:xfrm>
          <a:custGeom>
            <a:avLst/>
            <a:gdLst/>
            <a:ahLst/>
            <a:cxnLst/>
            <a:rect l="l" t="t" r="r" b="b"/>
            <a:pathLst>
              <a:path w="9144000" h="979932">
                <a:moveTo>
                  <a:pt x="9144000" y="979932"/>
                </a:moveTo>
                <a:lnTo>
                  <a:pt x="9144000" y="762"/>
                </a:lnTo>
                <a:lnTo>
                  <a:pt x="0" y="762"/>
                </a:lnTo>
                <a:lnTo>
                  <a:pt x="0" y="979932"/>
                </a:lnTo>
                <a:lnTo>
                  <a:pt x="9144000" y="979932"/>
                </a:lnTo>
                <a:close/>
              </a:path>
            </a:pathLst>
          </a:custGeom>
          <a:solidFill>
            <a:srgbClr val="FFFFFF"/>
          </a:solidFill>
        </p:spPr>
        <p:txBody>
          <a:bodyPr wrap="square" lIns="0" tIns="0" rIns="0" bIns="0" rtlCol="0">
            <a:noAutofit/>
          </a:bodyPr>
          <a:lstStyle/>
          <a:p>
            <a:endParaRPr/>
          </a:p>
        </p:txBody>
      </p:sp>
      <p:sp>
        <p:nvSpPr>
          <p:cNvPr id="17" name="object 17"/>
          <p:cNvSpPr/>
          <p:nvPr/>
        </p:nvSpPr>
        <p:spPr>
          <a:xfrm>
            <a:off x="0" y="5777959"/>
            <a:ext cx="9144000" cy="967615"/>
          </a:xfrm>
          <a:custGeom>
            <a:avLst/>
            <a:gdLst/>
            <a:ahLst/>
            <a:cxnLst/>
            <a:rect l="l" t="t" r="r" b="b"/>
            <a:pathLst>
              <a:path w="9144000" h="983742">
                <a:moveTo>
                  <a:pt x="9144000" y="762"/>
                </a:moveTo>
                <a:lnTo>
                  <a:pt x="0" y="762"/>
                </a:lnTo>
                <a:lnTo>
                  <a:pt x="0" y="983742"/>
                </a:lnTo>
                <a:lnTo>
                  <a:pt x="9144000" y="983742"/>
                </a:lnTo>
                <a:lnTo>
                  <a:pt x="9144000" y="762"/>
                </a:lnTo>
                <a:close/>
              </a:path>
            </a:pathLst>
          </a:custGeom>
          <a:solidFill>
            <a:srgbClr val="FFFFFF"/>
          </a:solidFill>
        </p:spPr>
        <p:txBody>
          <a:bodyPr wrap="square" lIns="0" tIns="0" rIns="0" bIns="0" rtlCol="0">
            <a:noAutofit/>
          </a:bodyPr>
          <a:lstStyle/>
          <a:p>
            <a:endParaRPr/>
          </a:p>
        </p:txBody>
      </p:sp>
      <p:sp>
        <p:nvSpPr>
          <p:cNvPr id="16" name="object 16"/>
          <p:cNvSpPr txBox="1"/>
          <p:nvPr/>
        </p:nvSpPr>
        <p:spPr>
          <a:xfrm>
            <a:off x="878841" y="681739"/>
            <a:ext cx="7020569" cy="1344868"/>
          </a:xfrm>
          <a:prstGeom prst="rect">
            <a:avLst/>
          </a:prstGeom>
        </p:spPr>
        <p:txBody>
          <a:bodyPr wrap="square" lIns="0" tIns="0" rIns="0" bIns="0" rtlCol="0">
            <a:noAutofit/>
          </a:bodyPr>
          <a:lstStyle/>
          <a:p>
            <a:pPr marL="1839976" marR="38061">
              <a:lnSpc>
                <a:spcPts val="4580"/>
              </a:lnSpc>
              <a:spcBef>
                <a:spcPts val="229"/>
              </a:spcBef>
            </a:pPr>
            <a:r>
              <a:rPr sz="6600" spc="0" baseline="3103" dirty="0">
                <a:latin typeface="Calibri"/>
                <a:cs typeface="Calibri"/>
              </a:rPr>
              <a:t>Fi</a:t>
            </a:r>
            <a:r>
              <a:rPr sz="6600" spc="-79" baseline="3103" dirty="0">
                <a:latin typeface="Calibri"/>
                <a:cs typeface="Calibri"/>
              </a:rPr>
              <a:t>r</a:t>
            </a:r>
            <a:r>
              <a:rPr sz="6600" spc="-44" baseline="3103" dirty="0">
                <a:latin typeface="Calibri"/>
                <a:cs typeface="Calibri"/>
              </a:rPr>
              <a:t>s</a:t>
            </a:r>
            <a:r>
              <a:rPr sz="6600" spc="0" baseline="3103" dirty="0">
                <a:latin typeface="Calibri"/>
                <a:cs typeface="Calibri"/>
              </a:rPr>
              <a:t>t</a:t>
            </a:r>
            <a:r>
              <a:rPr sz="6600" spc="2" baseline="3103" dirty="0">
                <a:latin typeface="Calibri"/>
                <a:cs typeface="Calibri"/>
              </a:rPr>
              <a:t> </a:t>
            </a:r>
            <a:r>
              <a:rPr sz="6600" spc="0" baseline="3103" dirty="0">
                <a:latin typeface="Calibri"/>
                <a:cs typeface="Calibri"/>
              </a:rPr>
              <a:t>O</a:t>
            </a:r>
            <a:r>
              <a:rPr sz="6600" spc="-54" baseline="3103" dirty="0">
                <a:latin typeface="Calibri"/>
                <a:cs typeface="Calibri"/>
              </a:rPr>
              <a:t>r</a:t>
            </a:r>
            <a:r>
              <a:rPr sz="6600" spc="0" baseline="3103" dirty="0">
                <a:latin typeface="Calibri"/>
                <a:cs typeface="Calibri"/>
              </a:rPr>
              <a:t>der</a:t>
            </a:r>
            <a:r>
              <a:rPr sz="6600" spc="9" baseline="3103" dirty="0">
                <a:latin typeface="Calibri"/>
                <a:cs typeface="Calibri"/>
              </a:rPr>
              <a:t> </a:t>
            </a:r>
            <a:r>
              <a:rPr sz="6600" spc="0" baseline="3103" dirty="0">
                <a:latin typeface="Calibri"/>
                <a:cs typeface="Calibri"/>
              </a:rPr>
              <a:t>Logic</a:t>
            </a:r>
            <a:endParaRPr sz="4400">
              <a:latin typeface="Calibri"/>
              <a:cs typeface="Calibri"/>
            </a:endParaRPr>
          </a:p>
          <a:p>
            <a:pPr marL="12712" marR="38061">
              <a:lnSpc>
                <a:spcPct val="101725"/>
              </a:lnSpc>
              <a:spcBef>
                <a:spcPts val="813"/>
              </a:spcBef>
            </a:pPr>
            <a:r>
              <a:rPr sz="2000" spc="0" dirty="0">
                <a:latin typeface="Calibri"/>
                <a:cs typeface="Calibri"/>
              </a:rPr>
              <a:t>Mo</a:t>
            </a:r>
            <a:r>
              <a:rPr sz="2000" spc="-25" dirty="0">
                <a:latin typeface="Calibri"/>
                <a:cs typeface="Calibri"/>
              </a:rPr>
              <a:t>r</a:t>
            </a:r>
            <a:r>
              <a:rPr sz="2000" spc="0" dirty="0">
                <a:latin typeface="Calibri"/>
                <a:cs typeface="Calibri"/>
              </a:rPr>
              <a:t>e</a:t>
            </a:r>
            <a:r>
              <a:rPr sz="2000" spc="-4" dirty="0">
                <a:latin typeface="Calibri"/>
                <a:cs typeface="Calibri"/>
              </a:rPr>
              <a:t> </a:t>
            </a:r>
            <a:r>
              <a:rPr sz="2000" spc="-29" dirty="0">
                <a:latin typeface="Calibri"/>
                <a:cs typeface="Calibri"/>
              </a:rPr>
              <a:t>e</a:t>
            </a:r>
            <a:r>
              <a:rPr sz="2000" spc="0" dirty="0">
                <a:latin typeface="Calibri"/>
                <a:cs typeface="Calibri"/>
              </a:rPr>
              <a:t>xp</a:t>
            </a:r>
            <a:r>
              <a:rPr sz="2000" spc="-25" dirty="0">
                <a:latin typeface="Calibri"/>
                <a:cs typeface="Calibri"/>
              </a:rPr>
              <a:t>r</a:t>
            </a:r>
            <a:r>
              <a:rPr sz="2000" spc="4" dirty="0">
                <a:latin typeface="Calibri"/>
                <a:cs typeface="Calibri"/>
              </a:rPr>
              <a:t>e</a:t>
            </a:r>
            <a:r>
              <a:rPr sz="2000" spc="0" dirty="0">
                <a:latin typeface="Calibri"/>
                <a:cs typeface="Calibri"/>
              </a:rPr>
              <a:t>s</a:t>
            </a:r>
            <a:r>
              <a:rPr sz="2000" spc="4" dirty="0">
                <a:latin typeface="Calibri"/>
                <a:cs typeface="Calibri"/>
              </a:rPr>
              <a:t>s</a:t>
            </a:r>
            <a:r>
              <a:rPr sz="2000" spc="-4" dirty="0">
                <a:latin typeface="Calibri"/>
                <a:cs typeface="Calibri"/>
              </a:rPr>
              <a:t>i</a:t>
            </a:r>
            <a:r>
              <a:rPr sz="2000" spc="-14" dirty="0">
                <a:latin typeface="Calibri"/>
                <a:cs typeface="Calibri"/>
              </a:rPr>
              <a:t>v</a:t>
            </a:r>
            <a:r>
              <a:rPr sz="2000" spc="0" dirty="0">
                <a:latin typeface="Calibri"/>
                <a:cs typeface="Calibri"/>
              </a:rPr>
              <a:t>e</a:t>
            </a:r>
            <a:r>
              <a:rPr sz="2000" spc="-19" dirty="0">
                <a:latin typeface="Calibri"/>
                <a:cs typeface="Calibri"/>
              </a:rPr>
              <a:t> </a:t>
            </a:r>
            <a:r>
              <a:rPr sz="2000" spc="0" dirty="0">
                <a:latin typeface="Calibri"/>
                <a:cs typeface="Calibri"/>
              </a:rPr>
              <a:t>logic</a:t>
            </a:r>
            <a:r>
              <a:rPr sz="2000" spc="4" dirty="0">
                <a:latin typeface="Calibri"/>
                <a:cs typeface="Calibri"/>
              </a:rPr>
              <a:t> </a:t>
            </a:r>
            <a:r>
              <a:rPr sz="2000" spc="0" dirty="0">
                <a:latin typeface="Calibri"/>
                <a:cs typeface="Calibri"/>
              </a:rPr>
              <a:t>than</a:t>
            </a:r>
            <a:r>
              <a:rPr sz="2000" spc="-37" dirty="0">
                <a:latin typeface="Calibri"/>
                <a:cs typeface="Calibri"/>
              </a:rPr>
              <a:t> </a:t>
            </a:r>
            <a:r>
              <a:rPr sz="2000" spc="0" dirty="0">
                <a:latin typeface="Calibri"/>
                <a:cs typeface="Calibri"/>
              </a:rPr>
              <a:t>p</a:t>
            </a:r>
            <a:r>
              <a:rPr sz="2000" spc="-29" dirty="0">
                <a:latin typeface="Calibri"/>
                <a:cs typeface="Calibri"/>
              </a:rPr>
              <a:t>r</a:t>
            </a:r>
            <a:r>
              <a:rPr sz="2000" spc="0" dirty="0">
                <a:latin typeface="Calibri"/>
                <a:cs typeface="Calibri"/>
              </a:rPr>
              <a:t>opositional</a:t>
            </a:r>
            <a:endParaRPr sz="2000">
              <a:latin typeface="Calibri"/>
              <a:cs typeface="Calibri"/>
            </a:endParaRPr>
          </a:p>
          <a:p>
            <a:pPr marL="12700">
              <a:lnSpc>
                <a:spcPct val="101725"/>
              </a:lnSpc>
              <a:spcBef>
                <a:spcPts val="195"/>
              </a:spcBef>
            </a:pPr>
            <a:r>
              <a:rPr sz="2000" spc="0" dirty="0">
                <a:latin typeface="Calibri"/>
                <a:cs typeface="Calibri"/>
              </a:rPr>
              <a:t>Enhances</a:t>
            </a:r>
            <a:r>
              <a:rPr sz="2000" spc="-66" dirty="0">
                <a:latin typeface="Calibri"/>
                <a:cs typeface="Calibri"/>
              </a:rPr>
              <a:t> </a:t>
            </a:r>
            <a:r>
              <a:rPr sz="2000" spc="0" dirty="0">
                <a:latin typeface="Calibri"/>
                <a:cs typeface="Calibri"/>
              </a:rPr>
              <a:t>p</a:t>
            </a:r>
            <a:r>
              <a:rPr sz="2000" spc="-29" dirty="0">
                <a:latin typeface="Calibri"/>
                <a:cs typeface="Calibri"/>
              </a:rPr>
              <a:t>r</a:t>
            </a:r>
            <a:r>
              <a:rPr sz="2000" spc="0" dirty="0">
                <a:latin typeface="Calibri"/>
                <a:cs typeface="Calibri"/>
              </a:rPr>
              <a:t>ocessing</a:t>
            </a:r>
            <a:r>
              <a:rPr sz="2000" spc="19" dirty="0">
                <a:latin typeface="Calibri"/>
                <a:cs typeface="Calibri"/>
              </a:rPr>
              <a:t> </a:t>
            </a:r>
            <a:r>
              <a:rPr sz="2000" spc="-9" dirty="0">
                <a:latin typeface="Calibri"/>
                <a:cs typeface="Calibri"/>
              </a:rPr>
              <a:t>b</a:t>
            </a:r>
            <a:r>
              <a:rPr sz="2000" spc="0" dirty="0">
                <a:latin typeface="Calibri"/>
                <a:cs typeface="Calibri"/>
              </a:rPr>
              <a:t>y</a:t>
            </a:r>
            <a:r>
              <a:rPr sz="2000" spc="-4" dirty="0">
                <a:latin typeface="Calibri"/>
                <a:cs typeface="Calibri"/>
              </a:rPr>
              <a:t> </a:t>
            </a:r>
            <a:r>
              <a:rPr sz="2000" spc="0" dirty="0">
                <a:latin typeface="Calibri"/>
                <a:cs typeface="Calibri"/>
              </a:rPr>
              <a:t>allowing the</a:t>
            </a:r>
            <a:r>
              <a:rPr sz="2000" spc="9" dirty="0">
                <a:latin typeface="Calibri"/>
                <a:cs typeface="Calibri"/>
              </a:rPr>
              <a:t> </a:t>
            </a:r>
            <a:r>
              <a:rPr sz="2000" spc="0" dirty="0">
                <a:latin typeface="Calibri"/>
                <a:cs typeface="Calibri"/>
              </a:rPr>
              <a:t>use</a:t>
            </a:r>
            <a:r>
              <a:rPr sz="2000" spc="-18" dirty="0">
                <a:latin typeface="Calibri"/>
                <a:cs typeface="Calibri"/>
              </a:rPr>
              <a:t> </a:t>
            </a:r>
            <a:r>
              <a:rPr sz="2000" spc="0" dirty="0">
                <a:latin typeface="Calibri"/>
                <a:cs typeface="Calibri"/>
              </a:rPr>
              <a:t>of</a:t>
            </a:r>
            <a:r>
              <a:rPr sz="2000" spc="-21" dirty="0">
                <a:latin typeface="Calibri"/>
                <a:cs typeface="Calibri"/>
              </a:rPr>
              <a:t> </a:t>
            </a:r>
            <a:r>
              <a:rPr sz="2000" spc="-29" dirty="0">
                <a:latin typeface="Calibri"/>
                <a:cs typeface="Calibri"/>
              </a:rPr>
              <a:t>v</a:t>
            </a:r>
            <a:r>
              <a:rPr sz="2000" spc="4" dirty="0">
                <a:latin typeface="Calibri"/>
                <a:cs typeface="Calibri"/>
              </a:rPr>
              <a:t>a</a:t>
            </a:r>
            <a:r>
              <a:rPr sz="2000" spc="0" dirty="0">
                <a:latin typeface="Calibri"/>
                <a:cs typeface="Calibri"/>
              </a:rPr>
              <a:t>r</a:t>
            </a:r>
            <a:r>
              <a:rPr sz="2000" spc="-4" dirty="0">
                <a:latin typeface="Calibri"/>
                <a:cs typeface="Calibri"/>
              </a:rPr>
              <a:t>i</a:t>
            </a:r>
            <a:r>
              <a:rPr sz="2000" spc="4" dirty="0">
                <a:latin typeface="Calibri"/>
                <a:cs typeface="Calibri"/>
              </a:rPr>
              <a:t>a</a:t>
            </a:r>
            <a:r>
              <a:rPr sz="2000" spc="0" dirty="0">
                <a:latin typeface="Calibri"/>
                <a:cs typeface="Calibri"/>
              </a:rPr>
              <a:t>b</a:t>
            </a:r>
            <a:r>
              <a:rPr sz="2000" spc="-4" dirty="0">
                <a:latin typeface="Calibri"/>
                <a:cs typeface="Calibri"/>
              </a:rPr>
              <a:t>l</a:t>
            </a:r>
            <a:r>
              <a:rPr sz="2000" spc="9" dirty="0">
                <a:latin typeface="Calibri"/>
                <a:cs typeface="Calibri"/>
              </a:rPr>
              <a:t>e</a:t>
            </a:r>
            <a:r>
              <a:rPr sz="2000" spc="0" dirty="0">
                <a:latin typeface="Calibri"/>
                <a:cs typeface="Calibri"/>
              </a:rPr>
              <a:t>s</a:t>
            </a:r>
            <a:r>
              <a:rPr sz="2000" spc="-26" dirty="0">
                <a:latin typeface="Calibri"/>
                <a:cs typeface="Calibri"/>
              </a:rPr>
              <a:t> </a:t>
            </a:r>
            <a:r>
              <a:rPr sz="2000" spc="0" dirty="0">
                <a:latin typeface="Calibri"/>
                <a:cs typeface="Calibri"/>
              </a:rPr>
              <a:t>and</a:t>
            </a:r>
            <a:r>
              <a:rPr sz="2000" spc="-30" dirty="0">
                <a:latin typeface="Calibri"/>
                <a:cs typeface="Calibri"/>
              </a:rPr>
              <a:t> </a:t>
            </a:r>
            <a:r>
              <a:rPr sz="2000" spc="0" dirty="0">
                <a:latin typeface="Calibri"/>
                <a:cs typeface="Calibri"/>
              </a:rPr>
              <a:t>functions.</a:t>
            </a:r>
            <a:endParaRPr sz="2000">
              <a:latin typeface="Calibri"/>
              <a:cs typeface="Calibri"/>
            </a:endParaRPr>
          </a:p>
        </p:txBody>
      </p:sp>
      <p:sp>
        <p:nvSpPr>
          <p:cNvPr id="15" name="object 15"/>
          <p:cNvSpPr txBox="1"/>
          <p:nvPr/>
        </p:nvSpPr>
        <p:spPr>
          <a:xfrm>
            <a:off x="535914" y="1407199"/>
            <a:ext cx="152298" cy="604348"/>
          </a:xfrm>
          <a:prstGeom prst="rect">
            <a:avLst/>
          </a:prstGeom>
        </p:spPr>
        <p:txBody>
          <a:bodyPr wrap="square" lIns="0" tIns="0" rIns="0" bIns="0" rtlCol="0">
            <a:noAutofit/>
          </a:bodyPr>
          <a:lstStyle/>
          <a:p>
            <a:pPr marL="12725">
              <a:lnSpc>
                <a:spcPts val="2145"/>
              </a:lnSpc>
              <a:spcBef>
                <a:spcPts val="107"/>
              </a:spcBef>
            </a:pPr>
            <a:r>
              <a:rPr sz="2000" spc="0" dirty="0">
                <a:latin typeface="Arial"/>
                <a:cs typeface="Arial"/>
              </a:rPr>
              <a:t>•</a:t>
            </a:r>
            <a:endParaRPr sz="2000">
              <a:latin typeface="Arial"/>
              <a:cs typeface="Arial"/>
            </a:endParaRPr>
          </a:p>
          <a:p>
            <a:pPr marL="12700" marR="25">
              <a:lnSpc>
                <a:spcPct val="95825"/>
              </a:lnSpc>
              <a:spcBef>
                <a:spcPts val="232"/>
              </a:spcBef>
            </a:pPr>
            <a:r>
              <a:rPr sz="2000" spc="0" dirty="0">
                <a:latin typeface="Arial"/>
                <a:cs typeface="Arial"/>
              </a:rPr>
              <a:t>•</a:t>
            </a:r>
            <a:endParaRPr sz="2000">
              <a:latin typeface="Arial"/>
              <a:cs typeface="Arial"/>
            </a:endParaRPr>
          </a:p>
        </p:txBody>
      </p:sp>
      <p:sp>
        <p:nvSpPr>
          <p:cNvPr id="14" name="object 14"/>
          <p:cNvSpPr txBox="1"/>
          <p:nvPr/>
        </p:nvSpPr>
        <p:spPr>
          <a:xfrm>
            <a:off x="535940" y="2375564"/>
            <a:ext cx="514698" cy="274570"/>
          </a:xfrm>
          <a:prstGeom prst="rect">
            <a:avLst/>
          </a:prstGeom>
        </p:spPr>
        <p:txBody>
          <a:bodyPr wrap="square" lIns="0" tIns="0" rIns="0" bIns="0" rtlCol="0">
            <a:noAutofit/>
          </a:bodyPr>
          <a:lstStyle/>
          <a:p>
            <a:pPr marL="12700">
              <a:lnSpc>
                <a:spcPts val="2145"/>
              </a:lnSpc>
              <a:spcBef>
                <a:spcPts val="107"/>
              </a:spcBef>
            </a:pPr>
            <a:r>
              <a:rPr sz="2000" spc="0" dirty="0">
                <a:latin typeface="Arial"/>
                <a:cs typeface="Arial"/>
              </a:rPr>
              <a:t>Use</a:t>
            </a:r>
            <a:endParaRPr sz="2000">
              <a:latin typeface="Arial"/>
              <a:cs typeface="Arial"/>
            </a:endParaRPr>
          </a:p>
        </p:txBody>
      </p:sp>
      <p:sp>
        <p:nvSpPr>
          <p:cNvPr id="13" name="object 13"/>
          <p:cNvSpPr txBox="1"/>
          <p:nvPr/>
        </p:nvSpPr>
        <p:spPr>
          <a:xfrm>
            <a:off x="1057693" y="2375564"/>
            <a:ext cx="4473569" cy="574373"/>
          </a:xfrm>
          <a:prstGeom prst="rect">
            <a:avLst/>
          </a:prstGeom>
        </p:spPr>
        <p:txBody>
          <a:bodyPr wrap="square" lIns="0" tIns="0" rIns="0" bIns="0" rtlCol="0">
            <a:noAutofit/>
          </a:bodyPr>
          <a:lstStyle/>
          <a:p>
            <a:pPr marL="12700" marR="38061">
              <a:lnSpc>
                <a:spcPts val="2145"/>
              </a:lnSpc>
              <a:spcBef>
                <a:spcPts val="107"/>
              </a:spcBef>
            </a:pPr>
            <a:r>
              <a:rPr sz="2000" spc="0" dirty="0">
                <a:latin typeface="Arial"/>
                <a:cs typeface="Arial"/>
              </a:rPr>
              <a:t>symbols</a:t>
            </a:r>
            <a:r>
              <a:rPr sz="2000" spc="-73" dirty="0">
                <a:latin typeface="Arial"/>
                <a:cs typeface="Arial"/>
              </a:rPr>
              <a:t> </a:t>
            </a:r>
            <a:r>
              <a:rPr sz="2000" spc="0" dirty="0">
                <a:latin typeface="Arial"/>
                <a:cs typeface="Arial"/>
              </a:rPr>
              <a:t>that</a:t>
            </a:r>
            <a:r>
              <a:rPr sz="2000" spc="-14" dirty="0">
                <a:latin typeface="Arial"/>
                <a:cs typeface="Arial"/>
              </a:rPr>
              <a:t> </a:t>
            </a:r>
            <a:r>
              <a:rPr sz="2000" spc="0" dirty="0">
                <a:latin typeface="Arial"/>
                <a:cs typeface="Arial"/>
              </a:rPr>
              <a:t>represent</a:t>
            </a:r>
            <a:endParaRPr sz="2000">
              <a:latin typeface="Arial"/>
              <a:cs typeface="Arial"/>
            </a:endParaRPr>
          </a:p>
          <a:p>
            <a:pPr marL="405347">
              <a:lnSpc>
                <a:spcPct val="95825"/>
              </a:lnSpc>
            </a:pPr>
            <a:r>
              <a:rPr sz="2000" b="1" spc="0" dirty="0">
                <a:solidFill>
                  <a:srgbClr val="0000FF"/>
                </a:solidFill>
                <a:latin typeface="Arial"/>
                <a:cs typeface="Arial"/>
              </a:rPr>
              <a:t>constants</a:t>
            </a:r>
            <a:r>
              <a:rPr sz="2000" b="1" spc="-79" dirty="0">
                <a:solidFill>
                  <a:srgbClr val="0000FF"/>
                </a:solidFill>
                <a:latin typeface="Arial"/>
                <a:cs typeface="Arial"/>
              </a:rPr>
              <a:t> </a:t>
            </a:r>
            <a:r>
              <a:rPr sz="2000" spc="0" dirty="0">
                <a:latin typeface="Arial"/>
                <a:cs typeface="Arial"/>
              </a:rPr>
              <a:t>are</a:t>
            </a:r>
            <a:r>
              <a:rPr sz="2000" spc="-28" dirty="0">
                <a:latin typeface="Arial"/>
                <a:cs typeface="Arial"/>
              </a:rPr>
              <a:t> </a:t>
            </a:r>
            <a:r>
              <a:rPr sz="2000" spc="0" dirty="0">
                <a:latin typeface="Arial"/>
                <a:cs typeface="Arial"/>
              </a:rPr>
              <a:t>objects:</a:t>
            </a:r>
            <a:r>
              <a:rPr sz="2000" spc="-68" dirty="0">
                <a:latin typeface="Arial"/>
                <a:cs typeface="Arial"/>
              </a:rPr>
              <a:t> </a:t>
            </a:r>
            <a:r>
              <a:rPr sz="2000" spc="0" dirty="0">
                <a:latin typeface="Arial"/>
                <a:cs typeface="Arial"/>
              </a:rPr>
              <a:t>john,</a:t>
            </a:r>
            <a:r>
              <a:rPr sz="2000" spc="-37" dirty="0">
                <a:latin typeface="Arial"/>
                <a:cs typeface="Arial"/>
              </a:rPr>
              <a:t> </a:t>
            </a:r>
            <a:r>
              <a:rPr sz="2000" spc="0" dirty="0">
                <a:latin typeface="Arial"/>
                <a:cs typeface="Arial"/>
              </a:rPr>
              <a:t>apples</a:t>
            </a:r>
            <a:endParaRPr sz="2000">
              <a:latin typeface="Arial"/>
              <a:cs typeface="Arial"/>
            </a:endParaRPr>
          </a:p>
        </p:txBody>
      </p:sp>
      <p:sp>
        <p:nvSpPr>
          <p:cNvPr id="12" name="object 12"/>
          <p:cNvSpPr txBox="1"/>
          <p:nvPr/>
        </p:nvSpPr>
        <p:spPr>
          <a:xfrm>
            <a:off x="1450341" y="3274974"/>
            <a:ext cx="3661765" cy="814216"/>
          </a:xfrm>
          <a:prstGeom prst="rect">
            <a:avLst/>
          </a:prstGeom>
        </p:spPr>
        <p:txBody>
          <a:bodyPr wrap="square" lIns="0" tIns="0" rIns="0" bIns="0" rtlCol="0">
            <a:noAutofit/>
          </a:bodyPr>
          <a:lstStyle/>
          <a:p>
            <a:pPr marL="12700" marR="21905">
              <a:lnSpc>
                <a:spcPts val="2145"/>
              </a:lnSpc>
              <a:spcBef>
                <a:spcPts val="107"/>
              </a:spcBef>
            </a:pPr>
            <a:r>
              <a:rPr sz="2000" b="1" spc="0" dirty="0">
                <a:solidFill>
                  <a:srgbClr val="0000FF"/>
                </a:solidFill>
                <a:latin typeface="Arial"/>
                <a:cs typeface="Arial"/>
              </a:rPr>
              <a:t>predicates</a:t>
            </a:r>
            <a:endParaRPr sz="2000">
              <a:latin typeface="Arial"/>
              <a:cs typeface="Arial"/>
            </a:endParaRPr>
          </a:p>
          <a:p>
            <a:pPr marL="435293" algn="ctr">
              <a:lnSpc>
                <a:spcPts val="2160"/>
              </a:lnSpc>
              <a:spcBef>
                <a:spcPts val="0"/>
              </a:spcBef>
            </a:pPr>
            <a:r>
              <a:rPr sz="2000" spc="0" dirty="0">
                <a:latin typeface="Arial"/>
                <a:cs typeface="Arial"/>
              </a:rPr>
              <a:t>are</a:t>
            </a:r>
            <a:r>
              <a:rPr sz="2000" spc="-28" dirty="0">
                <a:latin typeface="Arial"/>
                <a:cs typeface="Arial"/>
              </a:rPr>
              <a:t> </a:t>
            </a:r>
            <a:r>
              <a:rPr sz="2000" spc="0" dirty="0">
                <a:latin typeface="Arial"/>
                <a:cs typeface="Arial"/>
              </a:rPr>
              <a:t>properties</a:t>
            </a:r>
            <a:r>
              <a:rPr sz="2000" spc="-88" dirty="0">
                <a:latin typeface="Arial"/>
                <a:cs typeface="Arial"/>
              </a:rPr>
              <a:t> </a:t>
            </a:r>
            <a:r>
              <a:rPr sz="2000" spc="0" dirty="0">
                <a:latin typeface="Arial"/>
                <a:cs typeface="Arial"/>
              </a:rPr>
              <a:t>and</a:t>
            </a:r>
            <a:r>
              <a:rPr sz="2000" spc="-33" dirty="0">
                <a:latin typeface="Arial"/>
                <a:cs typeface="Arial"/>
              </a:rPr>
              <a:t> </a:t>
            </a:r>
            <a:r>
              <a:rPr sz="2000" spc="0" dirty="0">
                <a:latin typeface="Arial"/>
                <a:cs typeface="Arial"/>
              </a:rPr>
              <a:t>relations:</a:t>
            </a:r>
            <a:endParaRPr sz="2000">
              <a:latin typeface="Arial"/>
              <a:cs typeface="Arial"/>
            </a:endParaRPr>
          </a:p>
          <a:p>
            <a:pPr marL="895369" marR="491694" algn="ctr">
              <a:lnSpc>
                <a:spcPts val="2160"/>
              </a:lnSpc>
            </a:pPr>
            <a:r>
              <a:rPr sz="2000" b="1" spc="4" dirty="0">
                <a:latin typeface="Arial"/>
                <a:cs typeface="Arial"/>
              </a:rPr>
              <a:t>li</a:t>
            </a:r>
            <a:r>
              <a:rPr sz="2000" b="1" spc="0" dirty="0">
                <a:latin typeface="Arial"/>
                <a:cs typeface="Arial"/>
              </a:rPr>
              <a:t>kes(</a:t>
            </a:r>
            <a:r>
              <a:rPr sz="2000" b="1" spc="4" dirty="0">
                <a:latin typeface="Arial"/>
                <a:cs typeface="Arial"/>
              </a:rPr>
              <a:t>j</a:t>
            </a:r>
            <a:r>
              <a:rPr sz="2000" b="1" spc="-4" dirty="0">
                <a:latin typeface="Arial"/>
                <a:cs typeface="Arial"/>
              </a:rPr>
              <a:t>oh</a:t>
            </a:r>
            <a:r>
              <a:rPr sz="2000" b="1" spc="0" dirty="0">
                <a:latin typeface="Arial"/>
                <a:cs typeface="Arial"/>
              </a:rPr>
              <a:t>n,</a:t>
            </a:r>
            <a:r>
              <a:rPr sz="2000" b="1" spc="-37" dirty="0">
                <a:latin typeface="Arial"/>
                <a:cs typeface="Arial"/>
              </a:rPr>
              <a:t> </a:t>
            </a:r>
            <a:r>
              <a:rPr sz="2000" b="1" spc="0" dirty="0">
                <a:latin typeface="Arial"/>
                <a:cs typeface="Arial"/>
              </a:rPr>
              <a:t>ap</a:t>
            </a:r>
            <a:r>
              <a:rPr sz="2000" b="1" spc="-4" dirty="0">
                <a:latin typeface="Arial"/>
                <a:cs typeface="Arial"/>
              </a:rPr>
              <a:t>p</a:t>
            </a:r>
            <a:r>
              <a:rPr sz="2000" b="1" spc="4" dirty="0">
                <a:latin typeface="Arial"/>
                <a:cs typeface="Arial"/>
              </a:rPr>
              <a:t>l</a:t>
            </a:r>
            <a:r>
              <a:rPr sz="2000" b="1" spc="0" dirty="0">
                <a:latin typeface="Arial"/>
                <a:cs typeface="Arial"/>
              </a:rPr>
              <a:t>es)</a:t>
            </a:r>
            <a:endParaRPr sz="2000">
              <a:latin typeface="Arial"/>
              <a:cs typeface="Arial"/>
            </a:endParaRPr>
          </a:p>
        </p:txBody>
      </p:sp>
      <p:sp>
        <p:nvSpPr>
          <p:cNvPr id="11" name="object 11"/>
          <p:cNvSpPr txBox="1"/>
          <p:nvPr/>
        </p:nvSpPr>
        <p:spPr>
          <a:xfrm>
            <a:off x="1450340" y="4414226"/>
            <a:ext cx="1163704" cy="274570"/>
          </a:xfrm>
          <a:prstGeom prst="rect">
            <a:avLst/>
          </a:prstGeom>
        </p:spPr>
        <p:txBody>
          <a:bodyPr wrap="square" lIns="0" tIns="0" rIns="0" bIns="0" rtlCol="0">
            <a:noAutofit/>
          </a:bodyPr>
          <a:lstStyle/>
          <a:p>
            <a:pPr marL="12700">
              <a:lnSpc>
                <a:spcPts val="2145"/>
              </a:lnSpc>
              <a:spcBef>
                <a:spcPts val="107"/>
              </a:spcBef>
            </a:pPr>
            <a:r>
              <a:rPr sz="2000" b="1" spc="0" dirty="0">
                <a:solidFill>
                  <a:srgbClr val="0000FF"/>
                </a:solidFill>
                <a:latin typeface="Arial"/>
                <a:cs typeface="Arial"/>
              </a:rPr>
              <a:t>variables</a:t>
            </a:r>
            <a:endParaRPr sz="2000">
              <a:latin typeface="Arial"/>
              <a:cs typeface="Arial"/>
            </a:endParaRPr>
          </a:p>
        </p:txBody>
      </p:sp>
      <p:sp>
        <p:nvSpPr>
          <p:cNvPr id="10" name="object 10"/>
          <p:cNvSpPr txBox="1"/>
          <p:nvPr/>
        </p:nvSpPr>
        <p:spPr>
          <a:xfrm>
            <a:off x="2821941" y="4714030"/>
            <a:ext cx="3404507" cy="274570"/>
          </a:xfrm>
          <a:prstGeom prst="rect">
            <a:avLst/>
          </a:prstGeom>
        </p:spPr>
        <p:txBody>
          <a:bodyPr wrap="square" lIns="0" tIns="0" rIns="0" bIns="0" rtlCol="0">
            <a:noAutofit/>
          </a:bodyPr>
          <a:lstStyle/>
          <a:p>
            <a:pPr marL="12700">
              <a:lnSpc>
                <a:spcPts val="2145"/>
              </a:lnSpc>
              <a:spcBef>
                <a:spcPts val="107"/>
              </a:spcBef>
            </a:pPr>
            <a:r>
              <a:rPr sz="2000" spc="0" dirty="0">
                <a:latin typeface="Arial"/>
                <a:cs typeface="Arial"/>
              </a:rPr>
              <a:t>represent</a:t>
            </a:r>
            <a:r>
              <a:rPr sz="2000" spc="-94" dirty="0">
                <a:latin typeface="Arial"/>
                <a:cs typeface="Arial"/>
              </a:rPr>
              <a:t> </a:t>
            </a:r>
            <a:r>
              <a:rPr sz="2000" spc="0" dirty="0">
                <a:latin typeface="Arial"/>
                <a:cs typeface="Arial"/>
              </a:rPr>
              <a:t>any</a:t>
            </a:r>
            <a:r>
              <a:rPr sz="2000" spc="-32" dirty="0">
                <a:latin typeface="Arial"/>
                <a:cs typeface="Arial"/>
              </a:rPr>
              <a:t> </a:t>
            </a:r>
            <a:r>
              <a:rPr sz="2000" spc="0" dirty="0">
                <a:latin typeface="Arial"/>
                <a:cs typeface="Arial"/>
              </a:rPr>
              <a:t>object:</a:t>
            </a:r>
            <a:r>
              <a:rPr sz="2000" spc="500" dirty="0">
                <a:latin typeface="Arial"/>
                <a:cs typeface="Arial"/>
              </a:rPr>
              <a:t> </a:t>
            </a:r>
            <a:r>
              <a:rPr sz="2000" spc="0" dirty="0">
                <a:latin typeface="Arial"/>
                <a:cs typeface="Arial"/>
              </a:rPr>
              <a:t>likes(X,</a:t>
            </a:r>
            <a:endParaRPr sz="2000">
              <a:latin typeface="Arial"/>
              <a:cs typeface="Arial"/>
            </a:endParaRPr>
          </a:p>
        </p:txBody>
      </p:sp>
      <p:sp>
        <p:nvSpPr>
          <p:cNvPr id="9" name="object 9"/>
          <p:cNvSpPr txBox="1"/>
          <p:nvPr/>
        </p:nvSpPr>
        <p:spPr>
          <a:xfrm>
            <a:off x="6232653" y="4714030"/>
            <a:ext cx="895317" cy="274570"/>
          </a:xfrm>
          <a:prstGeom prst="rect">
            <a:avLst/>
          </a:prstGeom>
        </p:spPr>
        <p:txBody>
          <a:bodyPr wrap="square" lIns="0" tIns="0" rIns="0" bIns="0" rtlCol="0">
            <a:noAutofit/>
          </a:bodyPr>
          <a:lstStyle/>
          <a:p>
            <a:pPr marL="12700">
              <a:lnSpc>
                <a:spcPts val="2145"/>
              </a:lnSpc>
              <a:spcBef>
                <a:spcPts val="107"/>
              </a:spcBef>
            </a:pPr>
            <a:r>
              <a:rPr sz="2000" spc="0" dirty="0">
                <a:latin typeface="Arial"/>
                <a:cs typeface="Arial"/>
              </a:rPr>
              <a:t>apples)</a:t>
            </a:r>
            <a:endParaRPr sz="2000">
              <a:latin typeface="Arial"/>
              <a:cs typeface="Arial"/>
            </a:endParaRPr>
          </a:p>
        </p:txBody>
      </p:sp>
      <p:sp>
        <p:nvSpPr>
          <p:cNvPr id="8" name="object 8"/>
          <p:cNvSpPr txBox="1"/>
          <p:nvPr/>
        </p:nvSpPr>
        <p:spPr>
          <a:xfrm>
            <a:off x="1450341" y="5013833"/>
            <a:ext cx="1204177" cy="274570"/>
          </a:xfrm>
          <a:prstGeom prst="rect">
            <a:avLst/>
          </a:prstGeom>
        </p:spPr>
        <p:txBody>
          <a:bodyPr wrap="square" lIns="0" tIns="0" rIns="0" bIns="0" rtlCol="0">
            <a:noAutofit/>
          </a:bodyPr>
          <a:lstStyle/>
          <a:p>
            <a:pPr marL="12700">
              <a:lnSpc>
                <a:spcPts val="2145"/>
              </a:lnSpc>
              <a:spcBef>
                <a:spcPts val="107"/>
              </a:spcBef>
            </a:pPr>
            <a:r>
              <a:rPr sz="2000" b="1" spc="0" dirty="0">
                <a:solidFill>
                  <a:srgbClr val="0000FF"/>
                </a:solidFill>
                <a:latin typeface="Arial"/>
                <a:cs typeface="Arial"/>
              </a:rPr>
              <a:t>functions</a:t>
            </a:r>
            <a:endParaRPr sz="2000">
              <a:latin typeface="Arial"/>
              <a:cs typeface="Arial"/>
            </a:endParaRPr>
          </a:p>
        </p:txBody>
      </p:sp>
      <p:sp>
        <p:nvSpPr>
          <p:cNvPr id="7" name="object 7"/>
          <p:cNvSpPr txBox="1"/>
          <p:nvPr/>
        </p:nvSpPr>
        <p:spPr>
          <a:xfrm>
            <a:off x="2821939" y="5283661"/>
            <a:ext cx="4240731" cy="544397"/>
          </a:xfrm>
          <a:prstGeom prst="rect">
            <a:avLst/>
          </a:prstGeom>
        </p:spPr>
        <p:txBody>
          <a:bodyPr wrap="square" lIns="0" tIns="0" rIns="0" bIns="0" rtlCol="0">
            <a:noAutofit/>
          </a:bodyPr>
          <a:lstStyle/>
          <a:p>
            <a:pPr marL="12700" marR="38063">
              <a:lnSpc>
                <a:spcPts val="2145"/>
              </a:lnSpc>
              <a:spcBef>
                <a:spcPts val="107"/>
              </a:spcBef>
            </a:pPr>
            <a:r>
              <a:rPr sz="2000" b="1" spc="0" dirty="0">
                <a:latin typeface="Arial"/>
                <a:cs typeface="Arial"/>
              </a:rPr>
              <a:t>transform</a:t>
            </a:r>
            <a:r>
              <a:rPr sz="2000" b="1" spc="-103" dirty="0">
                <a:latin typeface="Arial"/>
                <a:cs typeface="Arial"/>
              </a:rPr>
              <a:t> </a:t>
            </a:r>
            <a:r>
              <a:rPr sz="2000" b="1" spc="0" dirty="0">
                <a:latin typeface="Arial"/>
                <a:cs typeface="Arial"/>
              </a:rPr>
              <a:t>objects:</a:t>
            </a:r>
            <a:endParaRPr sz="2000">
              <a:latin typeface="Arial"/>
              <a:cs typeface="Arial"/>
            </a:endParaRPr>
          </a:p>
          <a:p>
            <a:pPr marL="469899">
              <a:lnSpc>
                <a:spcPts val="2160"/>
              </a:lnSpc>
              <a:spcBef>
                <a:spcPts val="0"/>
              </a:spcBef>
            </a:pPr>
            <a:r>
              <a:rPr sz="2000" b="1" spc="0" dirty="0">
                <a:latin typeface="Arial"/>
                <a:cs typeface="Arial"/>
              </a:rPr>
              <a:t>likes(</a:t>
            </a:r>
            <a:r>
              <a:rPr sz="2000" b="1" spc="4" dirty="0">
                <a:latin typeface="Arial"/>
                <a:cs typeface="Arial"/>
              </a:rPr>
              <a:t>j</a:t>
            </a:r>
            <a:r>
              <a:rPr sz="2000" b="1" spc="0" dirty="0">
                <a:latin typeface="Arial"/>
                <a:cs typeface="Arial"/>
              </a:rPr>
              <a:t>oh</a:t>
            </a:r>
            <a:r>
              <a:rPr sz="2000" b="1" spc="-4" dirty="0">
                <a:latin typeface="Arial"/>
                <a:cs typeface="Arial"/>
              </a:rPr>
              <a:t>n</a:t>
            </a:r>
            <a:r>
              <a:rPr sz="2000" b="1" spc="0" dirty="0">
                <a:latin typeface="Arial"/>
                <a:cs typeface="Arial"/>
              </a:rPr>
              <a:t>,</a:t>
            </a:r>
            <a:r>
              <a:rPr sz="2000" b="1" spc="-54" dirty="0">
                <a:latin typeface="Arial"/>
                <a:cs typeface="Arial"/>
              </a:rPr>
              <a:t> </a:t>
            </a:r>
            <a:r>
              <a:rPr sz="2000" b="1" spc="0" dirty="0">
                <a:latin typeface="Arial"/>
                <a:cs typeface="Arial"/>
              </a:rPr>
              <a:t>fruit_</a:t>
            </a:r>
            <a:r>
              <a:rPr sz="2000" b="1" spc="-4" dirty="0">
                <a:latin typeface="Arial"/>
                <a:cs typeface="Arial"/>
              </a:rPr>
              <a:t>o</a:t>
            </a:r>
            <a:r>
              <a:rPr sz="2000" b="1" spc="0" dirty="0">
                <a:latin typeface="Arial"/>
                <a:cs typeface="Arial"/>
              </a:rPr>
              <a:t>f(ap</a:t>
            </a:r>
            <a:r>
              <a:rPr sz="2000" b="1" spc="-4" dirty="0">
                <a:latin typeface="Arial"/>
                <a:cs typeface="Arial"/>
              </a:rPr>
              <a:t>p</a:t>
            </a:r>
            <a:r>
              <a:rPr sz="2000" b="1" spc="0" dirty="0">
                <a:latin typeface="Arial"/>
                <a:cs typeface="Arial"/>
              </a:rPr>
              <a:t>le</a:t>
            </a:r>
            <a:r>
              <a:rPr sz="2000" b="1" spc="-4" dirty="0">
                <a:latin typeface="Arial"/>
                <a:cs typeface="Arial"/>
              </a:rPr>
              <a:t>_</a:t>
            </a:r>
            <a:r>
              <a:rPr sz="2000" b="1" spc="0" dirty="0">
                <a:latin typeface="Arial"/>
                <a:cs typeface="Arial"/>
              </a:rPr>
              <a:t>tree))</a:t>
            </a:r>
            <a:endParaRPr sz="2000">
              <a:latin typeface="Arial"/>
              <a:cs typeface="Arial"/>
            </a:endParaRPr>
          </a:p>
        </p:txBody>
      </p:sp>
      <p:sp>
        <p:nvSpPr>
          <p:cNvPr id="6" name="object 6"/>
          <p:cNvSpPr txBox="1"/>
          <p:nvPr/>
        </p:nvSpPr>
        <p:spPr>
          <a:xfrm>
            <a:off x="535941" y="6174071"/>
            <a:ext cx="152273" cy="274570"/>
          </a:xfrm>
          <a:prstGeom prst="rect">
            <a:avLst/>
          </a:prstGeom>
        </p:spPr>
        <p:txBody>
          <a:bodyPr wrap="square" lIns="0" tIns="0" rIns="0" bIns="0" rtlCol="0">
            <a:noAutofit/>
          </a:bodyPr>
          <a:lstStyle/>
          <a:p>
            <a:pPr marL="12700">
              <a:lnSpc>
                <a:spcPts val="2145"/>
              </a:lnSpc>
              <a:spcBef>
                <a:spcPts val="107"/>
              </a:spcBef>
            </a:pPr>
            <a:r>
              <a:rPr sz="2000" spc="0" dirty="0">
                <a:latin typeface="Arial"/>
                <a:cs typeface="Arial"/>
              </a:rPr>
              <a:t>•</a:t>
            </a:r>
            <a:endParaRPr sz="2000">
              <a:latin typeface="Arial"/>
              <a:cs typeface="Arial"/>
            </a:endParaRPr>
          </a:p>
        </p:txBody>
      </p:sp>
      <p:sp>
        <p:nvSpPr>
          <p:cNvPr id="5" name="object 5"/>
          <p:cNvSpPr txBox="1"/>
          <p:nvPr/>
        </p:nvSpPr>
        <p:spPr>
          <a:xfrm>
            <a:off x="878852" y="6189125"/>
            <a:ext cx="4769702" cy="274569"/>
          </a:xfrm>
          <a:prstGeom prst="rect">
            <a:avLst/>
          </a:prstGeom>
        </p:spPr>
        <p:txBody>
          <a:bodyPr wrap="square" lIns="0" tIns="0" rIns="0" bIns="0" rtlCol="0">
            <a:noAutofit/>
          </a:bodyPr>
          <a:lstStyle/>
          <a:p>
            <a:pPr marL="12700">
              <a:lnSpc>
                <a:spcPts val="2135"/>
              </a:lnSpc>
              <a:spcBef>
                <a:spcPts val="106"/>
              </a:spcBef>
            </a:pPr>
            <a:r>
              <a:rPr sz="3000" spc="0" baseline="2730" dirty="0">
                <a:latin typeface="Calibri"/>
                <a:cs typeface="Calibri"/>
              </a:rPr>
              <a:t>Ope</a:t>
            </a:r>
            <a:r>
              <a:rPr sz="3000" spc="-39" baseline="2730" dirty="0">
                <a:latin typeface="Calibri"/>
                <a:cs typeface="Calibri"/>
              </a:rPr>
              <a:t>r</a:t>
            </a:r>
            <a:r>
              <a:rPr sz="3000" spc="-14" baseline="2730" dirty="0">
                <a:latin typeface="Calibri"/>
                <a:cs typeface="Calibri"/>
              </a:rPr>
              <a:t>a</a:t>
            </a:r>
            <a:r>
              <a:rPr sz="3000" spc="-19" baseline="2730" dirty="0">
                <a:latin typeface="Calibri"/>
                <a:cs typeface="Calibri"/>
              </a:rPr>
              <a:t>t</a:t>
            </a:r>
            <a:r>
              <a:rPr sz="3000" spc="0" baseline="2730" dirty="0">
                <a:latin typeface="Calibri"/>
                <a:cs typeface="Calibri"/>
              </a:rPr>
              <a:t>e</a:t>
            </a:r>
            <a:r>
              <a:rPr sz="3000" spc="-35" baseline="2730" dirty="0">
                <a:latin typeface="Calibri"/>
                <a:cs typeface="Calibri"/>
              </a:rPr>
              <a:t> </a:t>
            </a:r>
            <a:r>
              <a:rPr sz="3000" spc="0" baseline="2730" dirty="0">
                <a:latin typeface="Calibri"/>
                <a:cs typeface="Calibri"/>
              </a:rPr>
              <a:t>on</a:t>
            </a:r>
            <a:r>
              <a:rPr sz="3000" spc="-30" baseline="2730" dirty="0">
                <a:latin typeface="Calibri"/>
                <a:cs typeface="Calibri"/>
              </a:rPr>
              <a:t> </a:t>
            </a:r>
            <a:r>
              <a:rPr sz="3000" spc="0" baseline="2730" dirty="0">
                <a:latin typeface="Calibri"/>
                <a:cs typeface="Calibri"/>
              </a:rPr>
              <a:t>these</a:t>
            </a:r>
            <a:r>
              <a:rPr sz="3000" spc="19" baseline="2730" dirty="0">
                <a:latin typeface="Calibri"/>
                <a:cs typeface="Calibri"/>
              </a:rPr>
              <a:t> </a:t>
            </a:r>
            <a:r>
              <a:rPr sz="3000" spc="-39" baseline="2730" dirty="0">
                <a:latin typeface="Calibri"/>
                <a:cs typeface="Calibri"/>
              </a:rPr>
              <a:t>s</a:t>
            </a:r>
            <a:r>
              <a:rPr sz="3000" spc="0" baseline="2730" dirty="0">
                <a:latin typeface="Calibri"/>
                <a:cs typeface="Calibri"/>
              </a:rPr>
              <a:t>ymbols</a:t>
            </a:r>
            <a:r>
              <a:rPr sz="3000" spc="-42" baseline="2730" dirty="0">
                <a:latin typeface="Calibri"/>
                <a:cs typeface="Calibri"/>
              </a:rPr>
              <a:t> </a:t>
            </a:r>
            <a:r>
              <a:rPr sz="3000" spc="0" baseline="2730" dirty="0">
                <a:latin typeface="Calibri"/>
                <a:cs typeface="Calibri"/>
              </a:rPr>
              <a:t>using</a:t>
            </a:r>
            <a:r>
              <a:rPr sz="3000" spc="-37" baseline="2730" dirty="0">
                <a:latin typeface="Calibri"/>
                <a:cs typeface="Calibri"/>
              </a:rPr>
              <a:t> </a:t>
            </a:r>
            <a:r>
              <a:rPr sz="3000" spc="0" baseline="2730" dirty="0">
                <a:latin typeface="Calibri"/>
                <a:cs typeface="Calibri"/>
              </a:rPr>
              <a:t>PL ope</a:t>
            </a:r>
            <a:r>
              <a:rPr sz="3000" spc="-39" baseline="2730" dirty="0">
                <a:latin typeface="Calibri"/>
                <a:cs typeface="Calibri"/>
              </a:rPr>
              <a:t>r</a:t>
            </a:r>
            <a:r>
              <a:rPr sz="3000" spc="-14" baseline="2730" dirty="0">
                <a:latin typeface="Calibri"/>
                <a:cs typeface="Calibri"/>
              </a:rPr>
              <a:t>at</a:t>
            </a:r>
            <a:r>
              <a:rPr sz="3000" spc="0" baseline="2730" dirty="0">
                <a:latin typeface="Calibri"/>
                <a:cs typeface="Calibri"/>
              </a:rPr>
              <a:t>o</a:t>
            </a:r>
            <a:r>
              <a:rPr sz="3000" spc="-34" baseline="2730" dirty="0">
                <a:latin typeface="Calibri"/>
                <a:cs typeface="Calibri"/>
              </a:rPr>
              <a:t>r</a:t>
            </a:r>
            <a:r>
              <a:rPr sz="3000" spc="0" baseline="2730" dirty="0">
                <a:latin typeface="Calibri"/>
                <a:cs typeface="Calibri"/>
              </a:rPr>
              <a:t>s.</a:t>
            </a:r>
            <a:endParaRPr sz="2000">
              <a:latin typeface="Calibri"/>
              <a:cs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a:xfrm>
            <a:off x="685800" y="381000"/>
            <a:ext cx="7772400" cy="1143000"/>
          </a:xfrm>
        </p:spPr>
        <p:txBody>
          <a:bodyPr/>
          <a:lstStyle/>
          <a:p>
            <a:r>
              <a:rPr lang="en-US" altLang="en-US"/>
              <a:t>FOL Provides</a:t>
            </a:r>
          </a:p>
        </p:txBody>
      </p:sp>
      <p:sp>
        <p:nvSpPr>
          <p:cNvPr id="17412" name="Rectangle 3"/>
          <p:cNvSpPr>
            <a:spLocks noGrp="1" noChangeArrowheads="1"/>
          </p:cNvSpPr>
          <p:nvPr>
            <p:ph idx="1"/>
          </p:nvPr>
        </p:nvSpPr>
        <p:spPr>
          <a:xfrm>
            <a:off x="685800" y="1676400"/>
            <a:ext cx="7772400" cy="4114800"/>
          </a:xfrm>
        </p:spPr>
        <p:txBody>
          <a:bodyPr/>
          <a:lstStyle/>
          <a:p>
            <a:r>
              <a:rPr lang="en-US" altLang="en-US" b="1" dirty="0">
                <a:solidFill>
                  <a:schemeClr val="accent2"/>
                </a:solidFill>
              </a:rPr>
              <a:t>Variable symbols</a:t>
            </a:r>
            <a:endParaRPr lang="en-US" altLang="en-US" dirty="0">
              <a:solidFill>
                <a:schemeClr val="accent2"/>
              </a:solidFill>
            </a:endParaRPr>
          </a:p>
          <a:p>
            <a:pPr lvl="1"/>
            <a:r>
              <a:rPr lang="en-US" altLang="en-US" sz="2400" dirty="0"/>
              <a:t>E.g., </a:t>
            </a:r>
            <a:r>
              <a:rPr lang="en-US" altLang="en-US" sz="2400" dirty="0" smtClean="0"/>
              <a:t>X,Y</a:t>
            </a:r>
            <a:endParaRPr lang="en-US" altLang="en-US" dirty="0"/>
          </a:p>
          <a:p>
            <a:r>
              <a:rPr lang="en-US" altLang="en-US" b="1" dirty="0">
                <a:solidFill>
                  <a:schemeClr val="accent2"/>
                </a:solidFill>
              </a:rPr>
              <a:t>Connectives</a:t>
            </a:r>
            <a:endParaRPr lang="en-US" altLang="en-US" dirty="0">
              <a:solidFill>
                <a:schemeClr val="accent2"/>
              </a:solidFill>
            </a:endParaRPr>
          </a:p>
          <a:p>
            <a:pPr lvl="1"/>
            <a:r>
              <a:rPr lang="en-US" altLang="en-US" sz="2400" dirty="0"/>
              <a:t>Same as in PL: not (</a:t>
            </a:r>
            <a:r>
              <a:rPr lang="en-US" altLang="en-US" sz="2400" dirty="0">
                <a:sym typeface="Symbol" pitchFamily="18" charset="2"/>
              </a:rPr>
              <a:t></a:t>
            </a:r>
            <a:r>
              <a:rPr lang="en-US" altLang="en-US" sz="2400" dirty="0"/>
              <a:t>), and (</a:t>
            </a:r>
            <a:r>
              <a:rPr lang="en-US" altLang="en-US" sz="2400" dirty="0">
                <a:sym typeface="Symbol" pitchFamily="18" charset="2"/>
              </a:rPr>
              <a:t></a:t>
            </a:r>
            <a:r>
              <a:rPr lang="en-US" altLang="en-US" sz="2400" dirty="0"/>
              <a:t>), or (</a:t>
            </a:r>
            <a:r>
              <a:rPr lang="en-US" altLang="en-US" sz="2400" dirty="0">
                <a:sym typeface="Symbol" pitchFamily="18" charset="2"/>
              </a:rPr>
              <a:t></a:t>
            </a:r>
            <a:r>
              <a:rPr lang="en-US" altLang="en-US" sz="2400" dirty="0"/>
              <a:t>), implies (</a:t>
            </a:r>
            <a:r>
              <a:rPr lang="en-US" altLang="en-US" sz="2400" dirty="0">
                <a:sym typeface="Symbol" pitchFamily="18" charset="2"/>
              </a:rPr>
              <a:t></a:t>
            </a:r>
            <a:r>
              <a:rPr lang="en-US" altLang="en-US" sz="2400" dirty="0"/>
              <a:t>), if and only if (</a:t>
            </a:r>
            <a:r>
              <a:rPr lang="en-US" altLang="en-US" sz="2400" dirty="0" err="1"/>
              <a:t>biconditional</a:t>
            </a:r>
            <a:r>
              <a:rPr lang="en-US" altLang="en-US" sz="2400" dirty="0"/>
              <a:t> </a:t>
            </a:r>
            <a:r>
              <a:rPr lang="en-US" altLang="en-US" sz="2400" dirty="0">
                <a:sym typeface="Symbol" pitchFamily="18" charset="2"/>
              </a:rPr>
              <a:t>)</a:t>
            </a:r>
            <a:endParaRPr lang="en-US" altLang="en-US" dirty="0">
              <a:sym typeface="Symbol" pitchFamily="18" charset="2"/>
            </a:endParaRPr>
          </a:p>
          <a:p>
            <a:r>
              <a:rPr lang="en-US" altLang="en-US" b="1" dirty="0">
                <a:solidFill>
                  <a:schemeClr val="accent2"/>
                </a:solidFill>
              </a:rPr>
              <a:t>Quantifiers</a:t>
            </a:r>
            <a:endParaRPr lang="en-US" altLang="en-US" dirty="0">
              <a:solidFill>
                <a:schemeClr val="accent2"/>
              </a:solidFill>
            </a:endParaRPr>
          </a:p>
          <a:p>
            <a:pPr lvl="1"/>
            <a:r>
              <a:rPr lang="en-US" altLang="en-US" sz="2400" dirty="0"/>
              <a:t>Universal </a:t>
            </a:r>
            <a:r>
              <a:rPr lang="en-US" altLang="en-US" sz="2400" b="1" dirty="0">
                <a:sym typeface="Symbol" pitchFamily="18" charset="2"/>
              </a:rPr>
              <a:t>x</a:t>
            </a:r>
            <a:r>
              <a:rPr lang="en-US" altLang="en-US" sz="2400" dirty="0">
                <a:sym typeface="Symbol" pitchFamily="18" charset="2"/>
              </a:rPr>
              <a:t> or  </a:t>
            </a:r>
            <a:r>
              <a:rPr lang="en-US" altLang="en-US" sz="2400" b="1" dirty="0"/>
              <a:t>(Ax)</a:t>
            </a:r>
            <a:endParaRPr lang="en-US" altLang="en-US" sz="2400" dirty="0"/>
          </a:p>
          <a:p>
            <a:pPr lvl="1"/>
            <a:r>
              <a:rPr lang="en-US" altLang="en-US" sz="2400" dirty="0"/>
              <a:t>Existential </a:t>
            </a:r>
            <a:r>
              <a:rPr lang="en-US" altLang="en-US" sz="2400" b="1" dirty="0">
                <a:sym typeface="Symbol" pitchFamily="18" charset="2"/>
              </a:rPr>
              <a:t></a:t>
            </a:r>
            <a:r>
              <a:rPr lang="en-US" altLang="en-US" sz="2400" b="1" dirty="0"/>
              <a:t>x</a:t>
            </a:r>
            <a:r>
              <a:rPr lang="en-US" altLang="en-US" sz="2400" dirty="0"/>
              <a:t> or </a:t>
            </a:r>
            <a:r>
              <a:rPr lang="en-US" altLang="en-US" sz="2400" b="1" dirty="0"/>
              <a:t>(Ex)</a:t>
            </a:r>
            <a:r>
              <a:rPr lang="en-US" altLang="en-US" dirty="0"/>
              <a:t> </a:t>
            </a:r>
          </a:p>
          <a:p>
            <a:endParaRPr lang="en-US" altLang="en-US" dirty="0"/>
          </a:p>
        </p:txBody>
      </p:sp>
      <p:sp>
        <p:nvSpPr>
          <p:cNvPr id="17410" name="Slide Number Placeholder 3"/>
          <p:cNvSpPr>
            <a:spLocks noGrp="1"/>
          </p:cNvSpPr>
          <p:nvPr>
            <p:ph type="sldNum" sz="quarter" idx="12"/>
          </p:nvPr>
        </p:nvSpPr>
        <p:spPr>
          <a:noFill/>
        </p:spPr>
        <p:txBody>
          <a:bodyPr/>
          <a:lstStyle/>
          <a:p>
            <a:fld id="{AEF846F5-0077-4585-AE1D-3203C8E2BAF8}" type="slidenum">
              <a:rPr lang="en-US" altLang="en-US"/>
              <a:pPr/>
              <a:t>9</a:t>
            </a:fld>
            <a:endParaRPr lang="en-US"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xmlns="" id="{C8643778-7F6C-4E8D-84D1-D5CDB992819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Freeform: Shape 74">
            <a:extLst>
              <a:ext uri="{FF2B5EF4-FFF2-40B4-BE49-F238E27FC236}">
                <a16:creationId xmlns:a16="http://schemas.microsoft.com/office/drawing/2014/main" xmlns="" id="{1D22F88D-6907-48AF-B024-346E855E0D9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V="1">
            <a:off x="0" y="-1"/>
            <a:ext cx="3302781" cy="6858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435" name="Rectangle 2"/>
          <p:cNvSpPr>
            <a:spLocks noGrp="1" noChangeArrowheads="1"/>
          </p:cNvSpPr>
          <p:nvPr>
            <p:ph type="title"/>
          </p:nvPr>
        </p:nvSpPr>
        <p:spPr>
          <a:xfrm>
            <a:off x="372084" y="685801"/>
            <a:ext cx="2057400" cy="5105400"/>
          </a:xfrm>
        </p:spPr>
        <p:txBody>
          <a:bodyPr>
            <a:normAutofit/>
          </a:bodyPr>
          <a:lstStyle/>
          <a:p>
            <a:pPr algn="l"/>
            <a:r>
              <a:rPr lang="en-US" altLang="en-US" sz="2800">
                <a:solidFill>
                  <a:srgbClr val="FFFFFF"/>
                </a:solidFill>
              </a:rPr>
              <a:t>Quantifiers</a:t>
            </a:r>
            <a:endParaRPr lang="en-US" altLang="en-US" sz="2800" b="0">
              <a:solidFill>
                <a:srgbClr val="FFFFFF"/>
              </a:solidFill>
            </a:endParaRPr>
          </a:p>
        </p:txBody>
      </p:sp>
      <p:sp>
        <p:nvSpPr>
          <p:cNvPr id="18436" name="Rectangle 3"/>
          <p:cNvSpPr>
            <a:spLocks noGrp="1" noChangeArrowheads="1"/>
          </p:cNvSpPr>
          <p:nvPr>
            <p:ph idx="1"/>
          </p:nvPr>
        </p:nvSpPr>
        <p:spPr>
          <a:xfrm>
            <a:off x="3124201" y="806720"/>
            <a:ext cx="5503068" cy="5594080"/>
          </a:xfrm>
        </p:spPr>
        <p:txBody>
          <a:bodyPr>
            <a:normAutofit/>
          </a:bodyPr>
          <a:lstStyle/>
          <a:p>
            <a:r>
              <a:rPr lang="en-US" altLang="en-US" sz="2400" b="1" dirty="0"/>
              <a:t>Universal quantification</a:t>
            </a:r>
            <a:r>
              <a:rPr lang="en-US" altLang="en-US" sz="2400" dirty="0"/>
              <a:t> </a:t>
            </a:r>
          </a:p>
          <a:p>
            <a:pPr lvl="1"/>
            <a:r>
              <a:rPr lang="en-US" altLang="en-US" sz="2400" dirty="0"/>
              <a:t>(</a:t>
            </a:r>
            <a:r>
              <a:rPr lang="en-US" altLang="en-US" sz="2400" b="1" dirty="0">
                <a:sym typeface="Symbol" pitchFamily="18" charset="2"/>
              </a:rPr>
              <a:t></a:t>
            </a:r>
            <a:r>
              <a:rPr lang="en-US" altLang="en-US" sz="2400" dirty="0"/>
              <a:t>x)P(x) means that P holds for </a:t>
            </a:r>
            <a:r>
              <a:rPr lang="en-US" altLang="en-US" sz="2400" b="1" dirty="0"/>
              <a:t>all</a:t>
            </a:r>
            <a:r>
              <a:rPr lang="en-US" altLang="en-US" sz="2400" dirty="0"/>
              <a:t> values of x in the domain associated with that variable</a:t>
            </a:r>
          </a:p>
          <a:p>
            <a:pPr lvl="1"/>
            <a:r>
              <a:rPr lang="en-US" altLang="en-US" sz="2400" dirty="0"/>
              <a:t>E.g., (</a:t>
            </a:r>
            <a:r>
              <a:rPr lang="en-US" altLang="en-US" sz="2400" b="1" dirty="0">
                <a:sym typeface="Symbol" pitchFamily="18" charset="2"/>
              </a:rPr>
              <a:t></a:t>
            </a:r>
            <a:r>
              <a:rPr lang="en-US" altLang="en-US" sz="2400" dirty="0"/>
              <a:t>x) dolphin(x) </a:t>
            </a:r>
            <a:r>
              <a:rPr lang="en-US" altLang="en-US" sz="2400" dirty="0">
                <a:sym typeface="Symbol" pitchFamily="18" charset="2"/>
              </a:rPr>
              <a:t></a:t>
            </a:r>
            <a:r>
              <a:rPr lang="en-US" altLang="en-US" sz="2400" dirty="0"/>
              <a:t> mammal(x) </a:t>
            </a:r>
          </a:p>
          <a:p>
            <a:r>
              <a:rPr lang="en-US" altLang="en-US" sz="2400" b="1" dirty="0"/>
              <a:t>Existential</a:t>
            </a:r>
            <a:r>
              <a:rPr lang="en-US" altLang="en-US" sz="2400" dirty="0"/>
              <a:t> </a:t>
            </a:r>
            <a:r>
              <a:rPr lang="en-US" altLang="en-US" sz="2400" b="1" dirty="0"/>
              <a:t>quantification</a:t>
            </a:r>
            <a:r>
              <a:rPr lang="en-US" altLang="en-US" sz="2400" dirty="0"/>
              <a:t> </a:t>
            </a:r>
          </a:p>
          <a:p>
            <a:pPr lvl="1"/>
            <a:r>
              <a:rPr lang="en-US" altLang="en-US" sz="2400" dirty="0"/>
              <a:t>(</a:t>
            </a:r>
            <a:r>
              <a:rPr lang="en-US" altLang="en-US" sz="2400" b="1" dirty="0">
                <a:sym typeface="Symbol" pitchFamily="18" charset="2"/>
              </a:rPr>
              <a:t></a:t>
            </a:r>
            <a:r>
              <a:rPr lang="en-US" altLang="en-US" sz="2400" dirty="0"/>
              <a:t> x)P(x) means that P holds for </a:t>
            </a:r>
            <a:r>
              <a:rPr lang="en-US" altLang="en-US" sz="2400" b="1" dirty="0"/>
              <a:t>some</a:t>
            </a:r>
            <a:r>
              <a:rPr lang="en-US" altLang="en-US" sz="2400" dirty="0"/>
              <a:t> value of x in the domain associated with that variable</a:t>
            </a:r>
          </a:p>
          <a:p>
            <a:pPr lvl="1"/>
            <a:r>
              <a:rPr lang="en-US" altLang="en-US" sz="2400" dirty="0"/>
              <a:t>E.g., (</a:t>
            </a:r>
            <a:r>
              <a:rPr lang="en-US" altLang="en-US" sz="2400" b="1" dirty="0">
                <a:sym typeface="Symbol" pitchFamily="18" charset="2"/>
              </a:rPr>
              <a:t></a:t>
            </a:r>
            <a:r>
              <a:rPr lang="en-US" altLang="en-US" sz="2400" dirty="0"/>
              <a:t> x) mammal(x) </a:t>
            </a:r>
            <a:r>
              <a:rPr lang="en-US" altLang="en-US" sz="2400" dirty="0">
                <a:sym typeface="Symbol" pitchFamily="18" charset="2"/>
              </a:rPr>
              <a:t></a:t>
            </a:r>
            <a:r>
              <a:rPr lang="en-US" altLang="en-US" sz="2400" dirty="0"/>
              <a:t> lays-eggs(x)</a:t>
            </a:r>
          </a:p>
          <a:p>
            <a:pPr lvl="1"/>
            <a:r>
              <a:rPr lang="en-US" altLang="en-US" sz="2400" dirty="0"/>
              <a:t>Permits one to make a statement about some object without naming it</a:t>
            </a:r>
          </a:p>
          <a:p>
            <a:pPr lvl="1"/>
            <a:endParaRPr lang="en-US" altLang="en-US" sz="1700" dirty="0"/>
          </a:p>
        </p:txBody>
      </p:sp>
      <p:sp>
        <p:nvSpPr>
          <p:cNvPr id="18434" name="Slide Number Placeholder 3"/>
          <p:cNvSpPr>
            <a:spLocks noGrp="1"/>
          </p:cNvSpPr>
          <p:nvPr>
            <p:ph type="sldNum" sz="quarter" idx="12"/>
          </p:nvPr>
        </p:nvSpPr>
        <p:spPr/>
        <p:txBody>
          <a:bodyPr>
            <a:normAutofit/>
          </a:bodyPr>
          <a:lstStyle/>
          <a:p>
            <a:pPr>
              <a:spcAft>
                <a:spcPts val="600"/>
              </a:spcAft>
            </a:pPr>
            <a:fld id="{6551D7E5-9F62-4AA5-A2E2-2AB63029A4E9}" type="slidenum">
              <a:rPr lang="en-US" altLang="en-US"/>
              <a:pPr>
                <a:spcAft>
                  <a:spcPts val="600"/>
                </a:spcAft>
              </a:pPr>
              <a:t>10</a:t>
            </a:fld>
            <a:endParaRPr lang="en-US" altLang="en-US"/>
          </a:p>
        </p:txBody>
      </p:sp>
      <p:grpSp>
        <p:nvGrpSpPr>
          <p:cNvPr id="77" name="Group 76">
            <a:extLst>
              <a:ext uri="{FF2B5EF4-FFF2-40B4-BE49-F238E27FC236}">
                <a16:creationId xmlns:a16="http://schemas.microsoft.com/office/drawing/2014/main" xmlns="" id="{F3842748-48B5-4DD0-A06A-A31C74024A99}"/>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2486469" y="0"/>
            <a:ext cx="1827609" cy="6858001"/>
            <a:chOff x="1320800" y="0"/>
            <a:chExt cx="2436813" cy="6858001"/>
          </a:xfrm>
        </p:grpSpPr>
        <p:sp>
          <p:nvSpPr>
            <p:cNvPr id="78" name="Freeform 6">
              <a:extLst>
                <a:ext uri="{FF2B5EF4-FFF2-40B4-BE49-F238E27FC236}">
                  <a16:creationId xmlns:a16="http://schemas.microsoft.com/office/drawing/2014/main" xmlns="" id="{548E99BE-1071-4690-9B9C-07926CEE5557}"/>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79" name="Freeform 7">
              <a:extLst>
                <a:ext uri="{FF2B5EF4-FFF2-40B4-BE49-F238E27FC236}">
                  <a16:creationId xmlns:a16="http://schemas.microsoft.com/office/drawing/2014/main" xmlns="" id="{9301F039-B467-413A-B25C-770E51069D42}"/>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80" name="Freeform 8">
              <a:extLst>
                <a:ext uri="{FF2B5EF4-FFF2-40B4-BE49-F238E27FC236}">
                  <a16:creationId xmlns:a16="http://schemas.microsoft.com/office/drawing/2014/main" xmlns="" id="{9F06AEC1-5558-49E8-8CAC-FEBD00DF0031}"/>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81" name="Freeform 9">
              <a:extLst>
                <a:ext uri="{FF2B5EF4-FFF2-40B4-BE49-F238E27FC236}">
                  <a16:creationId xmlns:a16="http://schemas.microsoft.com/office/drawing/2014/main" xmlns="" id="{D10B76B9-BA68-471E-B58C-ED91198A9FAB}"/>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82" name="Freeform 10">
              <a:extLst>
                <a:ext uri="{FF2B5EF4-FFF2-40B4-BE49-F238E27FC236}">
                  <a16:creationId xmlns:a16="http://schemas.microsoft.com/office/drawing/2014/main" xmlns="" id="{FEB3913B-54A3-490E-BA4B-5D0330990FCB}"/>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83" name="Freeform 11">
              <a:extLst>
                <a:ext uri="{FF2B5EF4-FFF2-40B4-BE49-F238E27FC236}">
                  <a16:creationId xmlns:a16="http://schemas.microsoft.com/office/drawing/2014/main" xmlns="" id="{F75DC961-08A4-46F8-8A80-2E1FB977E1F4}"/>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544648" y="593071"/>
            <a:ext cx="7989752" cy="1083329"/>
          </a:xfrm>
        </p:spPr>
        <p:txBody>
          <a:bodyPr/>
          <a:lstStyle/>
          <a:p>
            <a:r>
              <a:rPr lang="en-US" altLang="en-US" b="1" dirty="0">
                <a:solidFill>
                  <a:srgbClr val="C00000"/>
                </a:solidFill>
              </a:rPr>
              <a:t>A common mistake to avoid</a:t>
            </a:r>
          </a:p>
        </p:txBody>
      </p:sp>
      <p:sp>
        <p:nvSpPr>
          <p:cNvPr id="13315" name="Rectangle 3"/>
          <p:cNvSpPr>
            <a:spLocks noGrp="1" noChangeArrowheads="1"/>
          </p:cNvSpPr>
          <p:nvPr>
            <p:ph idx="1"/>
          </p:nvPr>
        </p:nvSpPr>
        <p:spPr>
          <a:xfrm>
            <a:off x="729395" y="2438400"/>
            <a:ext cx="7576406" cy="3530600"/>
          </a:xfrm>
        </p:spPr>
        <p:txBody>
          <a:bodyPr>
            <a:normAutofit/>
          </a:bodyPr>
          <a:lstStyle/>
          <a:p>
            <a:pPr algn="just"/>
            <a:r>
              <a:rPr lang="en-US" altLang="en-US" sz="2800" dirty="0"/>
              <a:t>Typically, </a:t>
            </a:r>
            <a:r>
              <a:rPr lang="en-US" altLang="en-US" sz="2800" dirty="0">
                <a:sym typeface="Symbol" pitchFamily="18" charset="2"/>
              </a:rPr>
              <a:t></a:t>
            </a:r>
            <a:r>
              <a:rPr lang="en-US" altLang="en-US" sz="2800" dirty="0"/>
              <a:t> is the main connective with </a:t>
            </a:r>
            <a:r>
              <a:rPr lang="en-US" altLang="en-US" sz="2800" dirty="0">
                <a:sym typeface="Symbol" pitchFamily="18" charset="2"/>
              </a:rPr>
              <a:t></a:t>
            </a:r>
          </a:p>
          <a:p>
            <a:pPr algn="just"/>
            <a:endParaRPr lang="en-US" altLang="en-US" sz="2800" dirty="0"/>
          </a:p>
          <a:p>
            <a:pPr algn="just"/>
            <a:r>
              <a:rPr lang="en-US" altLang="en-US" sz="2800" dirty="0"/>
              <a:t>Common mistake: using </a:t>
            </a:r>
            <a:r>
              <a:rPr lang="en-US" altLang="en-US" sz="2800" dirty="0">
                <a:sym typeface="Symbol" pitchFamily="18" charset="2"/>
              </a:rPr>
              <a:t></a:t>
            </a:r>
            <a:r>
              <a:rPr lang="en-US" altLang="en-US" sz="2800" dirty="0"/>
              <a:t> as the main connective with </a:t>
            </a:r>
            <a:r>
              <a:rPr lang="en-US" altLang="en-US" sz="2800" dirty="0">
                <a:sym typeface="Symbol" pitchFamily="18" charset="2"/>
              </a:rPr>
              <a:t></a:t>
            </a:r>
            <a:r>
              <a:rPr lang="en-US" altLang="en-US" sz="2800" dirty="0"/>
              <a:t>:</a:t>
            </a:r>
          </a:p>
        </p:txBody>
      </p:sp>
      <p:sp>
        <p:nvSpPr>
          <p:cNvPr id="2" name="Slide Number Placeholder 1"/>
          <p:cNvSpPr>
            <a:spLocks noGrp="1"/>
          </p:cNvSpPr>
          <p:nvPr>
            <p:ph type="sldNum" sz="quarter" idx="12"/>
          </p:nvPr>
        </p:nvSpPr>
        <p:spPr/>
        <p:txBody>
          <a:bodyPr/>
          <a:lstStyle/>
          <a:p>
            <a:fld id="{2A92DEFD-C7DD-4590-9839-9D59973925CB}" type="slidenum">
              <a:rPr lang="en-US" smtClean="0"/>
              <a:t>11</a:t>
            </a:fld>
            <a:endParaRPr lang="en-US"/>
          </a:p>
        </p:txBody>
      </p:sp>
    </p:spTree>
    <p:extLst>
      <p:ext uri="{BB962C8B-B14F-4D97-AF65-F5344CB8AC3E}">
        <p14:creationId xmlns:p14="http://schemas.microsoft.com/office/powerpoint/2010/main" val="13818888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457200" y="533400"/>
            <a:ext cx="7989752" cy="1083329"/>
          </a:xfrm>
        </p:spPr>
        <p:txBody>
          <a:bodyPr>
            <a:normAutofit/>
          </a:bodyPr>
          <a:lstStyle/>
          <a:p>
            <a:r>
              <a:rPr lang="en-US" altLang="en-US" dirty="0">
                <a:solidFill>
                  <a:srgbClr val="C00000"/>
                </a:solidFill>
              </a:rPr>
              <a:t>Another common mistake to avoid</a:t>
            </a:r>
          </a:p>
        </p:txBody>
      </p:sp>
      <p:sp>
        <p:nvSpPr>
          <p:cNvPr id="15363" name="Rectangle 3"/>
          <p:cNvSpPr>
            <a:spLocks noGrp="1" noChangeArrowheads="1"/>
          </p:cNvSpPr>
          <p:nvPr>
            <p:ph idx="1"/>
          </p:nvPr>
        </p:nvSpPr>
        <p:spPr>
          <a:xfrm>
            <a:off x="457200" y="2057400"/>
            <a:ext cx="8113743" cy="3530600"/>
          </a:xfrm>
        </p:spPr>
        <p:txBody>
          <a:bodyPr/>
          <a:lstStyle/>
          <a:p>
            <a:pPr algn="just"/>
            <a:r>
              <a:rPr lang="en-US" altLang="en-US" sz="2800" dirty="0"/>
              <a:t>Typically, </a:t>
            </a:r>
            <a:r>
              <a:rPr lang="en-US" altLang="en-US" sz="2800" dirty="0">
                <a:sym typeface="Symbol" pitchFamily="18" charset="2"/>
              </a:rPr>
              <a:t> </a:t>
            </a:r>
            <a:r>
              <a:rPr lang="en-US" altLang="en-US" sz="2800" dirty="0"/>
              <a:t>is the main connective with </a:t>
            </a:r>
            <a:r>
              <a:rPr lang="en-US" altLang="en-US" sz="2800" dirty="0">
                <a:sym typeface="Symbol" pitchFamily="18" charset="2"/>
              </a:rPr>
              <a:t></a:t>
            </a:r>
            <a:endParaRPr lang="en-US" altLang="en-US" sz="2800" dirty="0"/>
          </a:p>
          <a:p>
            <a:pPr lvl="4" algn="just"/>
            <a:endParaRPr lang="en-US" altLang="en-US" sz="1800" dirty="0"/>
          </a:p>
          <a:p>
            <a:pPr algn="just"/>
            <a:r>
              <a:rPr lang="en-US" altLang="en-US" sz="2800" dirty="0"/>
              <a:t>Common mistake: using </a:t>
            </a:r>
            <a:r>
              <a:rPr lang="en-US" altLang="en-US" sz="2800" dirty="0">
                <a:sym typeface="Symbol" pitchFamily="18" charset="2"/>
              </a:rPr>
              <a:t></a:t>
            </a:r>
            <a:r>
              <a:rPr lang="en-US" altLang="en-US" sz="2800" dirty="0"/>
              <a:t> as the main connective with </a:t>
            </a:r>
            <a:r>
              <a:rPr lang="en-US" altLang="en-US" sz="2800" dirty="0">
                <a:sym typeface="Symbol" pitchFamily="18" charset="2"/>
              </a:rPr>
              <a:t></a:t>
            </a:r>
            <a:r>
              <a:rPr lang="en-US" altLang="en-US" sz="2800" dirty="0"/>
              <a:t>:</a:t>
            </a:r>
          </a:p>
        </p:txBody>
      </p:sp>
      <p:sp>
        <p:nvSpPr>
          <p:cNvPr id="2" name="Slide Number Placeholder 1"/>
          <p:cNvSpPr>
            <a:spLocks noGrp="1"/>
          </p:cNvSpPr>
          <p:nvPr>
            <p:ph type="sldNum" sz="quarter" idx="12"/>
          </p:nvPr>
        </p:nvSpPr>
        <p:spPr/>
        <p:txBody>
          <a:bodyPr/>
          <a:lstStyle/>
          <a:p>
            <a:fld id="{2A92DEFD-C7DD-4590-9839-9D59973925CB}" type="slidenum">
              <a:rPr lang="en-US" smtClean="0"/>
              <a:t>12</a:t>
            </a:fld>
            <a:endParaRPr lang="en-US"/>
          </a:p>
        </p:txBody>
      </p:sp>
    </p:spTree>
    <p:extLst>
      <p:ext uri="{BB962C8B-B14F-4D97-AF65-F5344CB8AC3E}">
        <p14:creationId xmlns:p14="http://schemas.microsoft.com/office/powerpoint/2010/main" val="21628089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4648" y="516871"/>
            <a:ext cx="7989752" cy="1083329"/>
          </a:xfrm>
        </p:spPr>
        <p:txBody>
          <a:bodyPr/>
          <a:lstStyle/>
          <a:p>
            <a:r>
              <a:rPr lang="en-US" dirty="0"/>
              <a:t>FOL</a:t>
            </a:r>
          </a:p>
        </p:txBody>
      </p:sp>
      <p:sp>
        <p:nvSpPr>
          <p:cNvPr id="3" name="Content Placeholder 2"/>
          <p:cNvSpPr>
            <a:spLocks noGrp="1"/>
          </p:cNvSpPr>
          <p:nvPr>
            <p:ph idx="1"/>
          </p:nvPr>
        </p:nvSpPr>
        <p:spPr/>
        <p:txBody>
          <a:bodyPr>
            <a:normAutofit/>
          </a:bodyPr>
          <a:lstStyle/>
          <a:p>
            <a:r>
              <a:rPr lang="en-US" sz="2400" dirty="0"/>
              <a:t>All boys like cricket</a:t>
            </a:r>
          </a:p>
          <a:p>
            <a:pPr marL="0" indent="0">
              <a:buNone/>
            </a:pPr>
            <a:r>
              <a:rPr lang="en-US" altLang="en-US" sz="2400" dirty="0">
                <a:solidFill>
                  <a:schemeClr val="accent1">
                    <a:lumMod val="75000"/>
                  </a:schemeClr>
                </a:solidFill>
                <a:sym typeface="Symbol" pitchFamily="18" charset="2"/>
              </a:rPr>
              <a:t>x: boy(x) </a:t>
            </a:r>
            <a:r>
              <a:rPr lang="en-US" altLang="en-US" sz="2400" dirty="0">
                <a:solidFill>
                  <a:schemeClr val="accent1">
                    <a:lumMod val="75000"/>
                  </a:schemeClr>
                </a:solidFill>
                <a:sym typeface="Wingdings" panose="05000000000000000000" pitchFamily="2" charset="2"/>
              </a:rPr>
              <a:t> l</a:t>
            </a:r>
            <a:r>
              <a:rPr lang="en-US" sz="2400" dirty="0">
                <a:solidFill>
                  <a:schemeClr val="accent1">
                    <a:lumMod val="75000"/>
                  </a:schemeClr>
                </a:solidFill>
              </a:rPr>
              <a:t>ike (x, cricket)</a:t>
            </a:r>
          </a:p>
          <a:p>
            <a:pPr marL="0" indent="0">
              <a:buNone/>
            </a:pPr>
            <a:endParaRPr lang="en-US" sz="2400" dirty="0"/>
          </a:p>
          <a:p>
            <a:r>
              <a:rPr lang="en-US" sz="2400" dirty="0"/>
              <a:t>Some boys like cricket</a:t>
            </a:r>
          </a:p>
          <a:p>
            <a:pPr marL="0" indent="0">
              <a:buNone/>
            </a:pPr>
            <a:r>
              <a:rPr lang="en-US" altLang="en-US" sz="2400" dirty="0">
                <a:sym typeface="Symbol" pitchFamily="18" charset="2"/>
              </a:rPr>
              <a:t></a:t>
            </a:r>
            <a:r>
              <a:rPr lang="en-US" altLang="en-US" sz="2400" dirty="0">
                <a:solidFill>
                  <a:schemeClr val="accent1">
                    <a:lumMod val="75000"/>
                  </a:schemeClr>
                </a:solidFill>
                <a:sym typeface="Symbol" pitchFamily="18" charset="2"/>
              </a:rPr>
              <a:t>x: boy(x) </a:t>
            </a:r>
            <a:r>
              <a:rPr lang="en-US" altLang="en-US" sz="2400" dirty="0">
                <a:solidFill>
                  <a:schemeClr val="accent1">
                    <a:lumMod val="75000"/>
                  </a:schemeClr>
                </a:solidFill>
                <a:sym typeface="Wingdings" panose="05000000000000000000" pitchFamily="2" charset="2"/>
              </a:rPr>
              <a:t>^ l</a:t>
            </a:r>
            <a:r>
              <a:rPr lang="en-US" sz="2400" dirty="0">
                <a:solidFill>
                  <a:schemeClr val="accent1">
                    <a:lumMod val="75000"/>
                  </a:schemeClr>
                </a:solidFill>
              </a:rPr>
              <a:t>ike (x, cricket)</a:t>
            </a:r>
          </a:p>
          <a:p>
            <a:endParaRPr lang="en-US" sz="2400" dirty="0"/>
          </a:p>
          <a:p>
            <a:pPr marL="0" indent="0">
              <a:buNone/>
            </a:pPr>
            <a:endParaRPr lang="en-US" sz="2400" dirty="0"/>
          </a:p>
        </p:txBody>
      </p:sp>
      <p:sp>
        <p:nvSpPr>
          <p:cNvPr id="4" name="Slide Number Placeholder 3"/>
          <p:cNvSpPr>
            <a:spLocks noGrp="1"/>
          </p:cNvSpPr>
          <p:nvPr>
            <p:ph type="sldNum" sz="quarter" idx="12"/>
          </p:nvPr>
        </p:nvSpPr>
        <p:spPr/>
        <p:txBody>
          <a:bodyPr/>
          <a:lstStyle/>
          <a:p>
            <a:fld id="{2A92DEFD-C7DD-4590-9839-9D59973925CB}" type="slidenum">
              <a:rPr lang="en-US" smtClean="0"/>
              <a:t>13</a:t>
            </a:fld>
            <a:endParaRPr lang="en-US"/>
          </a:p>
        </p:txBody>
      </p:sp>
    </p:spTree>
    <p:extLst>
      <p:ext uri="{BB962C8B-B14F-4D97-AF65-F5344CB8AC3E}">
        <p14:creationId xmlns:p14="http://schemas.microsoft.com/office/powerpoint/2010/main" val="30733907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64000"/>
                <a:lumMod val="98000"/>
              </a:schemeClr>
            </a:gs>
          </a:gsLst>
          <a:lin ang="5400000" scaled="0"/>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xmlns="" id="{5B2F4B0B-6CDE-4467-A567-7930C669253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xmlns="" id="{4FBD904E-E2AA-40C0-9B75-6705C293600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V="1">
            <a:off x="0" y="-1"/>
            <a:ext cx="3302781" cy="6858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p:cNvSpPr>
            <a:spLocks noGrp="1"/>
          </p:cNvSpPr>
          <p:nvPr>
            <p:ph type="title"/>
          </p:nvPr>
        </p:nvSpPr>
        <p:spPr>
          <a:xfrm>
            <a:off x="401265" y="685800"/>
            <a:ext cx="1979972" cy="5105400"/>
          </a:xfrm>
        </p:spPr>
        <p:txBody>
          <a:bodyPr>
            <a:normAutofit/>
          </a:bodyPr>
          <a:lstStyle/>
          <a:p>
            <a:r>
              <a:rPr lang="en-US">
                <a:solidFill>
                  <a:srgbClr val="FFFFFF"/>
                </a:solidFill>
              </a:rPr>
              <a:t>Example </a:t>
            </a:r>
          </a:p>
        </p:txBody>
      </p:sp>
      <p:graphicFrame>
        <p:nvGraphicFramePr>
          <p:cNvPr id="5" name="Content Placeholder 2">
            <a:extLst>
              <a:ext uri="{FF2B5EF4-FFF2-40B4-BE49-F238E27FC236}">
                <a16:creationId xmlns:a16="http://schemas.microsoft.com/office/drawing/2014/main" xmlns="" id="{2834EEE9-563A-46D5-A190-2BE30308E9E4}"/>
              </a:ext>
            </a:extLst>
          </p:cNvPr>
          <p:cNvGraphicFramePr>
            <a:graphicFrameLocks noGrp="1"/>
          </p:cNvGraphicFramePr>
          <p:nvPr>
            <p:ph idx="1"/>
            <p:extLst>
              <p:ext uri="{D42A27DB-BD31-4B8C-83A1-F6EECF244321}">
                <p14:modId xmlns:p14="http://schemas.microsoft.com/office/powerpoint/2010/main" val="118789866"/>
              </p:ext>
            </p:extLst>
          </p:nvPr>
        </p:nvGraphicFramePr>
        <p:xfrm>
          <a:off x="3757612" y="685800"/>
          <a:ext cx="4869656" cy="5105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13" name="Group 12">
            <a:extLst>
              <a:ext uri="{FF2B5EF4-FFF2-40B4-BE49-F238E27FC236}">
                <a16:creationId xmlns:a16="http://schemas.microsoft.com/office/drawing/2014/main" xmlns="" id="{C2CA0337-9B09-4746-93D0-7E92F422020B}"/>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2486469" y="0"/>
            <a:ext cx="1827609" cy="6858001"/>
            <a:chOff x="1320800" y="0"/>
            <a:chExt cx="2436813" cy="6858001"/>
          </a:xfrm>
        </p:grpSpPr>
        <p:sp>
          <p:nvSpPr>
            <p:cNvPr id="14" name="Freeform 6">
              <a:extLst>
                <a:ext uri="{FF2B5EF4-FFF2-40B4-BE49-F238E27FC236}">
                  <a16:creationId xmlns:a16="http://schemas.microsoft.com/office/drawing/2014/main" xmlns="" id="{9400DCF3-F870-42BD-9169-1B4BD854DE1B}"/>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15" name="Freeform 7">
              <a:extLst>
                <a:ext uri="{FF2B5EF4-FFF2-40B4-BE49-F238E27FC236}">
                  <a16:creationId xmlns:a16="http://schemas.microsoft.com/office/drawing/2014/main" xmlns="" id="{BC4C6F6B-30DD-4B7F-8169-7A575C25C8C9}"/>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6" name="Freeform 8">
              <a:extLst>
                <a:ext uri="{FF2B5EF4-FFF2-40B4-BE49-F238E27FC236}">
                  <a16:creationId xmlns:a16="http://schemas.microsoft.com/office/drawing/2014/main" xmlns="" id="{66C1E1CC-3625-43BC-98A8-A1C67FADC32E}"/>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7" name="Freeform 9">
              <a:extLst>
                <a:ext uri="{FF2B5EF4-FFF2-40B4-BE49-F238E27FC236}">
                  <a16:creationId xmlns:a16="http://schemas.microsoft.com/office/drawing/2014/main" xmlns="" id="{37C6358A-C557-444E-A1F5-149AD3B6C94F}"/>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8" name="Freeform 10">
              <a:extLst>
                <a:ext uri="{FF2B5EF4-FFF2-40B4-BE49-F238E27FC236}">
                  <a16:creationId xmlns:a16="http://schemas.microsoft.com/office/drawing/2014/main" xmlns="" id="{E1981B58-ABB6-4FEB-BE0A-17F8AD1B4DA6}"/>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9" name="Freeform 11">
              <a:extLst>
                <a:ext uri="{FF2B5EF4-FFF2-40B4-BE49-F238E27FC236}">
                  <a16:creationId xmlns:a16="http://schemas.microsoft.com/office/drawing/2014/main" xmlns="" id="{828B56B0-6617-4529-B84C-73B093A8F2E0}"/>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64000"/>
                <a:lumMod val="98000"/>
              </a:schemeClr>
            </a:gs>
          </a:gsLst>
          <a:lin ang="5400000" scaled="0"/>
        </a:gradFill>
        <a:effectLst/>
      </p:bgPr>
    </p:bg>
    <p:spTree>
      <p:nvGrpSpPr>
        <p:cNvPr id="1" name=""/>
        <p:cNvGrpSpPr/>
        <p:nvPr/>
      </p:nvGrpSpPr>
      <p:grpSpPr>
        <a:xfrm>
          <a:off x="0" y="0"/>
          <a:ext cx="0" cy="0"/>
          <a:chOff x="0" y="0"/>
          <a:chExt cx="0" cy="0"/>
        </a:xfrm>
      </p:grpSpPr>
      <p:sp useBgFill="1">
        <p:nvSpPr>
          <p:cNvPr id="138" name="Rectangle 137">
            <a:extLst>
              <a:ext uri="{FF2B5EF4-FFF2-40B4-BE49-F238E27FC236}">
                <a16:creationId xmlns:a16="http://schemas.microsoft.com/office/drawing/2014/main" xmlns="" id="{5B2F4B0B-6CDE-4467-A567-7930C669253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Freeform: Shape 139">
            <a:extLst>
              <a:ext uri="{FF2B5EF4-FFF2-40B4-BE49-F238E27FC236}">
                <a16:creationId xmlns:a16="http://schemas.microsoft.com/office/drawing/2014/main" xmlns="" id="{4FBD904E-E2AA-40C0-9B75-6705C293600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V="1">
            <a:off x="0" y="-1"/>
            <a:ext cx="3302781" cy="6858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459" name="Rectangle 2"/>
          <p:cNvSpPr>
            <a:spLocks noGrp="1" noChangeArrowheads="1"/>
          </p:cNvSpPr>
          <p:nvPr>
            <p:ph type="title"/>
          </p:nvPr>
        </p:nvSpPr>
        <p:spPr>
          <a:xfrm>
            <a:off x="401265" y="685800"/>
            <a:ext cx="1979972" cy="5105400"/>
          </a:xfrm>
        </p:spPr>
        <p:txBody>
          <a:bodyPr>
            <a:normAutofit/>
          </a:bodyPr>
          <a:lstStyle/>
          <a:p>
            <a:r>
              <a:rPr lang="en-US" altLang="en-US">
                <a:solidFill>
                  <a:srgbClr val="FFFFFF"/>
                </a:solidFill>
              </a:rPr>
              <a:t>Quantifiers</a:t>
            </a:r>
          </a:p>
        </p:txBody>
      </p:sp>
      <p:graphicFrame>
        <p:nvGraphicFramePr>
          <p:cNvPr id="19462" name="Rectangle 3">
            <a:extLst>
              <a:ext uri="{FF2B5EF4-FFF2-40B4-BE49-F238E27FC236}">
                <a16:creationId xmlns:a16="http://schemas.microsoft.com/office/drawing/2014/main" xmlns="" id="{5C60DDD7-CBC5-4DF7-814F-EB7C03E0BCCE}"/>
              </a:ext>
            </a:extLst>
          </p:cNvPr>
          <p:cNvGraphicFramePr>
            <a:graphicFrameLocks noGrp="1"/>
          </p:cNvGraphicFramePr>
          <p:nvPr>
            <p:ph idx="1"/>
            <p:extLst>
              <p:ext uri="{D42A27DB-BD31-4B8C-83A1-F6EECF244321}">
                <p14:modId xmlns:p14="http://schemas.microsoft.com/office/powerpoint/2010/main" val="3043663780"/>
              </p:ext>
            </p:extLst>
          </p:nvPr>
        </p:nvGraphicFramePr>
        <p:xfrm>
          <a:off x="3757612" y="685800"/>
          <a:ext cx="4869656" cy="5486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9458" name="Slide Number Placeholder 3"/>
          <p:cNvSpPr>
            <a:spLocks noGrp="1"/>
          </p:cNvSpPr>
          <p:nvPr>
            <p:ph type="sldNum" sz="quarter" idx="12"/>
          </p:nvPr>
        </p:nvSpPr>
        <p:spPr/>
        <p:txBody>
          <a:bodyPr>
            <a:normAutofit/>
          </a:bodyPr>
          <a:lstStyle/>
          <a:p>
            <a:pPr>
              <a:spcAft>
                <a:spcPts val="600"/>
              </a:spcAft>
            </a:pPr>
            <a:fld id="{73FDBD7B-FF26-45A0-BA0C-8A121353BE80}" type="slidenum">
              <a:rPr lang="en-US" altLang="en-US"/>
              <a:pPr>
                <a:spcAft>
                  <a:spcPts val="600"/>
                </a:spcAft>
              </a:pPr>
              <a:t>15</a:t>
            </a:fld>
            <a:endParaRPr lang="en-US" altLang="en-US"/>
          </a:p>
        </p:txBody>
      </p:sp>
      <p:grpSp>
        <p:nvGrpSpPr>
          <p:cNvPr id="142" name="Group 141">
            <a:extLst>
              <a:ext uri="{FF2B5EF4-FFF2-40B4-BE49-F238E27FC236}">
                <a16:creationId xmlns:a16="http://schemas.microsoft.com/office/drawing/2014/main" xmlns="" id="{C2CA0337-9B09-4746-93D0-7E92F422020B}"/>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2486469" y="0"/>
            <a:ext cx="1827609" cy="6858001"/>
            <a:chOff x="1320800" y="0"/>
            <a:chExt cx="2436813" cy="6858001"/>
          </a:xfrm>
        </p:grpSpPr>
        <p:sp>
          <p:nvSpPr>
            <p:cNvPr id="143" name="Freeform 6">
              <a:extLst>
                <a:ext uri="{FF2B5EF4-FFF2-40B4-BE49-F238E27FC236}">
                  <a16:creationId xmlns:a16="http://schemas.microsoft.com/office/drawing/2014/main" xmlns="" id="{9400DCF3-F870-42BD-9169-1B4BD854DE1B}"/>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144" name="Freeform 7">
              <a:extLst>
                <a:ext uri="{FF2B5EF4-FFF2-40B4-BE49-F238E27FC236}">
                  <a16:creationId xmlns:a16="http://schemas.microsoft.com/office/drawing/2014/main" xmlns="" id="{BC4C6F6B-30DD-4B7F-8169-7A575C25C8C9}"/>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45" name="Freeform 8">
              <a:extLst>
                <a:ext uri="{FF2B5EF4-FFF2-40B4-BE49-F238E27FC236}">
                  <a16:creationId xmlns:a16="http://schemas.microsoft.com/office/drawing/2014/main" xmlns="" id="{66C1E1CC-3625-43BC-98A8-A1C67FADC32E}"/>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46" name="Freeform 9">
              <a:extLst>
                <a:ext uri="{FF2B5EF4-FFF2-40B4-BE49-F238E27FC236}">
                  <a16:creationId xmlns:a16="http://schemas.microsoft.com/office/drawing/2014/main" xmlns="" id="{37C6358A-C557-444E-A1F5-149AD3B6C94F}"/>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47" name="Freeform 10">
              <a:extLst>
                <a:ext uri="{FF2B5EF4-FFF2-40B4-BE49-F238E27FC236}">
                  <a16:creationId xmlns:a16="http://schemas.microsoft.com/office/drawing/2014/main" xmlns="" id="{E1981B58-ABB6-4FEB-BE0A-17F8AD1B4DA6}"/>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48" name="Freeform 11">
              <a:extLst>
                <a:ext uri="{FF2B5EF4-FFF2-40B4-BE49-F238E27FC236}">
                  <a16:creationId xmlns:a16="http://schemas.microsoft.com/office/drawing/2014/main" xmlns="" id="{828B56B0-6617-4529-B84C-73B093A8F2E0}"/>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64000"/>
                <a:lumMod val="98000"/>
              </a:schemeClr>
            </a:gs>
          </a:gsLst>
          <a:lin ang="5400000" scaled="0"/>
        </a:gradFill>
        <a:effectLst/>
      </p:bgPr>
    </p:bg>
    <p:spTree>
      <p:nvGrpSpPr>
        <p:cNvPr id="1" name=""/>
        <p:cNvGrpSpPr/>
        <p:nvPr/>
      </p:nvGrpSpPr>
      <p:grpSpPr>
        <a:xfrm>
          <a:off x="0" y="0"/>
          <a:ext cx="0" cy="0"/>
          <a:chOff x="0" y="0"/>
          <a:chExt cx="0" cy="0"/>
        </a:xfrm>
      </p:grpSpPr>
      <p:sp useBgFill="1">
        <p:nvSpPr>
          <p:cNvPr id="141" name="Rectangle 140">
            <a:extLst>
              <a:ext uri="{FF2B5EF4-FFF2-40B4-BE49-F238E27FC236}">
                <a16:creationId xmlns:a16="http://schemas.microsoft.com/office/drawing/2014/main" xmlns="" id="{5B2F4B0B-6CDE-4467-A567-7930C669253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Freeform: Shape 142">
            <a:extLst>
              <a:ext uri="{FF2B5EF4-FFF2-40B4-BE49-F238E27FC236}">
                <a16:creationId xmlns:a16="http://schemas.microsoft.com/office/drawing/2014/main" xmlns="" id="{4FBD904E-E2AA-40C0-9B75-6705C293600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V="1">
            <a:off x="0" y="-1"/>
            <a:ext cx="3302781" cy="6858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4581" name="Rectangle 2"/>
          <p:cNvSpPr>
            <a:spLocks noGrp="1" noChangeArrowheads="1"/>
          </p:cNvSpPr>
          <p:nvPr>
            <p:ph type="title"/>
          </p:nvPr>
        </p:nvSpPr>
        <p:spPr>
          <a:xfrm>
            <a:off x="401265" y="685800"/>
            <a:ext cx="1979972" cy="5105400"/>
          </a:xfrm>
        </p:spPr>
        <p:txBody>
          <a:bodyPr>
            <a:normAutofit/>
          </a:bodyPr>
          <a:lstStyle/>
          <a:p>
            <a:pPr eaLnBrk="1" hangingPunct="1"/>
            <a:r>
              <a:rPr lang="en-US" altLang="en-US" sz="2300">
                <a:solidFill>
                  <a:srgbClr val="FFFFFF"/>
                </a:solidFill>
              </a:rPr>
              <a:t>Other Comments About Quantification</a:t>
            </a:r>
          </a:p>
        </p:txBody>
      </p:sp>
      <p:graphicFrame>
        <p:nvGraphicFramePr>
          <p:cNvPr id="24584" name="Rectangle 3">
            <a:extLst>
              <a:ext uri="{FF2B5EF4-FFF2-40B4-BE49-F238E27FC236}">
                <a16:creationId xmlns:a16="http://schemas.microsoft.com/office/drawing/2014/main" xmlns="" id="{D1170F9C-DBC2-4F97-AE8C-7B08D1A5AE55}"/>
              </a:ext>
            </a:extLst>
          </p:cNvPr>
          <p:cNvGraphicFramePr>
            <a:graphicFrameLocks noGrp="1"/>
          </p:cNvGraphicFramePr>
          <p:nvPr>
            <p:ph idx="1"/>
            <p:extLst>
              <p:ext uri="{D42A27DB-BD31-4B8C-83A1-F6EECF244321}">
                <p14:modId xmlns:p14="http://schemas.microsoft.com/office/powerpoint/2010/main" val="2814982270"/>
              </p:ext>
            </p:extLst>
          </p:nvPr>
        </p:nvGraphicFramePr>
        <p:xfrm>
          <a:off x="3757612" y="685800"/>
          <a:ext cx="4869656" cy="5105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145" name="Group 144">
            <a:extLst>
              <a:ext uri="{FF2B5EF4-FFF2-40B4-BE49-F238E27FC236}">
                <a16:creationId xmlns:a16="http://schemas.microsoft.com/office/drawing/2014/main" xmlns="" id="{C2CA0337-9B09-4746-93D0-7E92F422020B}"/>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2486469" y="0"/>
            <a:ext cx="1827609" cy="6858001"/>
            <a:chOff x="1320800" y="0"/>
            <a:chExt cx="2436813" cy="6858001"/>
          </a:xfrm>
        </p:grpSpPr>
        <p:sp>
          <p:nvSpPr>
            <p:cNvPr id="146" name="Freeform 6">
              <a:extLst>
                <a:ext uri="{FF2B5EF4-FFF2-40B4-BE49-F238E27FC236}">
                  <a16:creationId xmlns:a16="http://schemas.microsoft.com/office/drawing/2014/main" xmlns="" id="{9400DCF3-F870-42BD-9169-1B4BD854DE1B}"/>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147" name="Freeform 7">
              <a:extLst>
                <a:ext uri="{FF2B5EF4-FFF2-40B4-BE49-F238E27FC236}">
                  <a16:creationId xmlns:a16="http://schemas.microsoft.com/office/drawing/2014/main" xmlns="" id="{BC4C6F6B-30DD-4B7F-8169-7A575C25C8C9}"/>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48" name="Freeform 8">
              <a:extLst>
                <a:ext uri="{FF2B5EF4-FFF2-40B4-BE49-F238E27FC236}">
                  <a16:creationId xmlns:a16="http://schemas.microsoft.com/office/drawing/2014/main" xmlns="" id="{66C1E1CC-3625-43BC-98A8-A1C67FADC32E}"/>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49" name="Freeform 9">
              <a:extLst>
                <a:ext uri="{FF2B5EF4-FFF2-40B4-BE49-F238E27FC236}">
                  <a16:creationId xmlns:a16="http://schemas.microsoft.com/office/drawing/2014/main" xmlns="" id="{37C6358A-C557-444E-A1F5-149AD3B6C94F}"/>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50" name="Freeform 10">
              <a:extLst>
                <a:ext uri="{FF2B5EF4-FFF2-40B4-BE49-F238E27FC236}">
                  <a16:creationId xmlns:a16="http://schemas.microsoft.com/office/drawing/2014/main" xmlns="" id="{E1981B58-ABB6-4FEB-BE0A-17F8AD1B4DA6}"/>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51" name="Freeform 11">
              <a:extLst>
                <a:ext uri="{FF2B5EF4-FFF2-40B4-BE49-F238E27FC236}">
                  <a16:creationId xmlns:a16="http://schemas.microsoft.com/office/drawing/2014/main" xmlns="" id="{828B56B0-6617-4529-B84C-73B093A8F2E0}"/>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200" y="533400"/>
            <a:ext cx="7989752" cy="1083329"/>
          </a:xfrm>
        </p:spPr>
        <p:txBody>
          <a:bodyPr/>
          <a:lstStyle/>
          <a:p>
            <a:r>
              <a:rPr lang="en-US" altLang="en-US" dirty="0"/>
              <a:t>Properties of quantifiers</a:t>
            </a:r>
          </a:p>
        </p:txBody>
      </p:sp>
      <p:sp>
        <p:nvSpPr>
          <p:cNvPr id="16387" name="Rectangle 3"/>
          <p:cNvSpPr>
            <a:spLocks noGrp="1" noChangeArrowheads="1"/>
          </p:cNvSpPr>
          <p:nvPr>
            <p:ph idx="1"/>
          </p:nvPr>
        </p:nvSpPr>
        <p:spPr>
          <a:xfrm>
            <a:off x="539045" y="1828800"/>
            <a:ext cx="7989752" cy="3630795"/>
          </a:xfrm>
        </p:spPr>
        <p:txBody>
          <a:bodyPr>
            <a:noAutofit/>
          </a:bodyPr>
          <a:lstStyle/>
          <a:p>
            <a:pPr>
              <a:lnSpc>
                <a:spcPct val="80000"/>
              </a:lnSpc>
            </a:pPr>
            <a:r>
              <a:rPr lang="en-US" altLang="en-US" sz="2400" dirty="0">
                <a:sym typeface="Symbol" pitchFamily="18" charset="2"/>
              </a:rPr>
              <a:t>x y</a:t>
            </a:r>
            <a:r>
              <a:rPr lang="en-US" altLang="en-US" sz="2400" dirty="0"/>
              <a:t> is the same as </a:t>
            </a:r>
            <a:r>
              <a:rPr lang="en-US" altLang="en-US" sz="2400" dirty="0">
                <a:sym typeface="Symbol" pitchFamily="18" charset="2"/>
              </a:rPr>
              <a:t>y</a:t>
            </a:r>
            <a:r>
              <a:rPr lang="en-US" altLang="en-US" sz="2400" dirty="0"/>
              <a:t> </a:t>
            </a:r>
            <a:r>
              <a:rPr lang="en-US" altLang="en-US" sz="2400" dirty="0">
                <a:sym typeface="Symbol" pitchFamily="18" charset="2"/>
              </a:rPr>
              <a:t>x</a:t>
            </a:r>
          </a:p>
          <a:p>
            <a:pPr>
              <a:lnSpc>
                <a:spcPct val="80000"/>
              </a:lnSpc>
            </a:pPr>
            <a:endParaRPr lang="en-US" altLang="en-US" sz="2400" dirty="0">
              <a:sym typeface="Symbol" pitchFamily="18" charset="2"/>
            </a:endParaRPr>
          </a:p>
          <a:p>
            <a:pPr>
              <a:lnSpc>
                <a:spcPct val="80000"/>
              </a:lnSpc>
            </a:pPr>
            <a:r>
              <a:rPr lang="en-US" altLang="en-US" sz="2400" dirty="0">
                <a:sym typeface="Symbol" pitchFamily="18" charset="2"/>
              </a:rPr>
              <a:t>x y</a:t>
            </a:r>
            <a:r>
              <a:rPr lang="en-US" altLang="en-US" sz="2400" dirty="0"/>
              <a:t> is the same as </a:t>
            </a:r>
            <a:r>
              <a:rPr lang="en-US" altLang="en-US" sz="2400" dirty="0">
                <a:sym typeface="Symbol" pitchFamily="18" charset="2"/>
              </a:rPr>
              <a:t>y</a:t>
            </a:r>
            <a:r>
              <a:rPr lang="en-US" altLang="en-US" sz="2400" dirty="0"/>
              <a:t> </a:t>
            </a:r>
            <a:r>
              <a:rPr lang="en-US" altLang="en-US" sz="2400" dirty="0">
                <a:sym typeface="Symbol" pitchFamily="18" charset="2"/>
              </a:rPr>
              <a:t>x</a:t>
            </a:r>
            <a:r>
              <a:rPr lang="en-US" altLang="en-US" sz="2400" dirty="0"/>
              <a:t> </a:t>
            </a:r>
          </a:p>
          <a:p>
            <a:pPr>
              <a:lnSpc>
                <a:spcPct val="80000"/>
              </a:lnSpc>
            </a:pPr>
            <a:endParaRPr lang="en-US" altLang="en-US" sz="2400" dirty="0"/>
          </a:p>
          <a:p>
            <a:pPr>
              <a:lnSpc>
                <a:spcPct val="80000"/>
              </a:lnSpc>
            </a:pPr>
            <a:r>
              <a:rPr lang="en-US" altLang="en-US" sz="2400" dirty="0">
                <a:sym typeface="Symbol" pitchFamily="18" charset="2"/>
              </a:rPr>
              <a:t></a:t>
            </a:r>
            <a:r>
              <a:rPr lang="en-US" altLang="en-US" sz="2400" dirty="0"/>
              <a:t>x </a:t>
            </a:r>
            <a:r>
              <a:rPr lang="en-US" altLang="en-US" sz="2400" dirty="0">
                <a:sym typeface="Symbol" pitchFamily="18" charset="2"/>
              </a:rPr>
              <a:t>y</a:t>
            </a:r>
            <a:r>
              <a:rPr lang="en-US" altLang="en-US" sz="2400" dirty="0"/>
              <a:t> is </a:t>
            </a:r>
            <a:r>
              <a:rPr lang="en-US" altLang="en-US" sz="2400" dirty="0">
                <a:solidFill>
                  <a:schemeClr val="accent2"/>
                </a:solidFill>
              </a:rPr>
              <a:t>not</a:t>
            </a:r>
            <a:r>
              <a:rPr lang="en-US" altLang="en-US" sz="2400" dirty="0"/>
              <a:t> the same as </a:t>
            </a:r>
            <a:r>
              <a:rPr lang="en-US" altLang="en-US" sz="2400" dirty="0">
                <a:sym typeface="Symbol" pitchFamily="18" charset="2"/>
              </a:rPr>
              <a:t>y</a:t>
            </a:r>
            <a:r>
              <a:rPr lang="en-US" altLang="en-US" sz="2400" dirty="0"/>
              <a:t> </a:t>
            </a:r>
            <a:r>
              <a:rPr lang="en-US" altLang="en-US" sz="2400" dirty="0">
                <a:sym typeface="Symbol" pitchFamily="18" charset="2"/>
              </a:rPr>
              <a:t>x</a:t>
            </a:r>
            <a:endParaRPr lang="en-US" altLang="en-US" sz="2400" dirty="0"/>
          </a:p>
          <a:p>
            <a:pPr>
              <a:lnSpc>
                <a:spcPct val="80000"/>
              </a:lnSpc>
            </a:pPr>
            <a:endParaRPr lang="en-US" altLang="en-US" sz="2400" dirty="0">
              <a:sym typeface="Symbol" pitchFamily="18" charset="2"/>
            </a:endParaRPr>
          </a:p>
          <a:p>
            <a:pPr>
              <a:lnSpc>
                <a:spcPct val="80000"/>
              </a:lnSpc>
            </a:pPr>
            <a:r>
              <a:rPr lang="en-US" altLang="en-US" sz="2400" dirty="0">
                <a:sym typeface="Symbol" pitchFamily="18" charset="2"/>
              </a:rPr>
              <a:t></a:t>
            </a:r>
            <a:r>
              <a:rPr lang="en-US" altLang="en-US" sz="2400" dirty="0"/>
              <a:t>x </a:t>
            </a:r>
            <a:r>
              <a:rPr lang="en-US" altLang="en-US" sz="2400" dirty="0">
                <a:sym typeface="Symbol" pitchFamily="18" charset="2"/>
              </a:rPr>
              <a:t>y</a:t>
            </a:r>
            <a:r>
              <a:rPr lang="en-US" altLang="en-US" sz="2400" dirty="0"/>
              <a:t> Loves(</a:t>
            </a:r>
            <a:r>
              <a:rPr lang="en-US" altLang="en-US" sz="2400" dirty="0" err="1"/>
              <a:t>x,y</a:t>
            </a:r>
            <a:r>
              <a:rPr lang="en-US" altLang="en-US" sz="2400" dirty="0"/>
              <a:t>)</a:t>
            </a:r>
          </a:p>
          <a:p>
            <a:pPr lvl="1">
              <a:lnSpc>
                <a:spcPct val="80000"/>
              </a:lnSpc>
            </a:pPr>
            <a:r>
              <a:rPr lang="en-US" altLang="en-US" sz="2400" dirty="0"/>
              <a:t>“There is a person who loves everyone in the world”</a:t>
            </a:r>
          </a:p>
          <a:p>
            <a:pPr>
              <a:lnSpc>
                <a:spcPct val="80000"/>
              </a:lnSpc>
            </a:pPr>
            <a:endParaRPr lang="en-US" altLang="en-US" sz="2400" dirty="0">
              <a:sym typeface="Symbol" pitchFamily="18" charset="2"/>
            </a:endParaRPr>
          </a:p>
          <a:p>
            <a:pPr>
              <a:lnSpc>
                <a:spcPct val="80000"/>
              </a:lnSpc>
            </a:pPr>
            <a:r>
              <a:rPr lang="en-US" altLang="en-US" sz="2400" dirty="0">
                <a:sym typeface="Symbol" pitchFamily="18" charset="2"/>
              </a:rPr>
              <a:t>y</a:t>
            </a:r>
            <a:r>
              <a:rPr lang="en-US" altLang="en-US" sz="2400" dirty="0"/>
              <a:t> </a:t>
            </a:r>
            <a:r>
              <a:rPr lang="en-US" altLang="en-US" sz="2400" dirty="0">
                <a:sym typeface="Symbol" pitchFamily="18" charset="2"/>
              </a:rPr>
              <a:t></a:t>
            </a:r>
            <a:r>
              <a:rPr lang="en-US" altLang="en-US" sz="2400" dirty="0"/>
              <a:t>x Loves(</a:t>
            </a:r>
            <a:r>
              <a:rPr lang="en-US" altLang="en-US" sz="2400" dirty="0" err="1"/>
              <a:t>x,y</a:t>
            </a:r>
            <a:r>
              <a:rPr lang="en-US" altLang="en-US" sz="2400" dirty="0"/>
              <a:t>)</a:t>
            </a:r>
          </a:p>
          <a:p>
            <a:pPr lvl="1">
              <a:lnSpc>
                <a:spcPct val="80000"/>
              </a:lnSpc>
            </a:pPr>
            <a:r>
              <a:rPr lang="en-US" altLang="en-US" sz="2400" dirty="0"/>
              <a:t>“Everyone in the world is loved by at least one person”</a:t>
            </a:r>
          </a:p>
          <a:p>
            <a:pPr>
              <a:lnSpc>
                <a:spcPct val="80000"/>
              </a:lnSpc>
            </a:pPr>
            <a:endParaRPr lang="en-US" altLang="en-US" sz="2400" dirty="0"/>
          </a:p>
        </p:txBody>
      </p:sp>
      <p:sp>
        <p:nvSpPr>
          <p:cNvPr id="2" name="Slide Number Placeholder 1"/>
          <p:cNvSpPr>
            <a:spLocks noGrp="1"/>
          </p:cNvSpPr>
          <p:nvPr>
            <p:ph type="sldNum" sz="quarter" idx="12"/>
          </p:nvPr>
        </p:nvSpPr>
        <p:spPr/>
        <p:txBody>
          <a:bodyPr/>
          <a:lstStyle/>
          <a:p>
            <a:fld id="{2A92DEFD-C7DD-4590-9839-9D59973925CB}" type="slidenum">
              <a:rPr lang="en-US" smtClean="0"/>
              <a:t>17</a:t>
            </a:fld>
            <a:endParaRPr lang="en-US"/>
          </a:p>
        </p:txBody>
      </p:sp>
    </p:spTree>
    <p:extLst>
      <p:ext uri="{BB962C8B-B14F-4D97-AF65-F5344CB8AC3E}">
        <p14:creationId xmlns:p14="http://schemas.microsoft.com/office/powerpoint/2010/main" val="19034722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xmlns="" id="{C8643778-7F6C-4E8D-84D1-D5CDB992819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Freeform: Shape 74">
            <a:extLst>
              <a:ext uri="{FF2B5EF4-FFF2-40B4-BE49-F238E27FC236}">
                <a16:creationId xmlns:a16="http://schemas.microsoft.com/office/drawing/2014/main" xmlns="" id="{1D22F88D-6907-48AF-B024-346E855E0D9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V="1">
            <a:off x="0" y="-1"/>
            <a:ext cx="3302781" cy="6858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1507" name="Rectangle 2"/>
          <p:cNvSpPr>
            <a:spLocks noGrp="1" noChangeArrowheads="1"/>
          </p:cNvSpPr>
          <p:nvPr>
            <p:ph type="title"/>
          </p:nvPr>
        </p:nvSpPr>
        <p:spPr>
          <a:xfrm>
            <a:off x="372084" y="685801"/>
            <a:ext cx="2057400" cy="5105400"/>
          </a:xfrm>
        </p:spPr>
        <p:txBody>
          <a:bodyPr>
            <a:normAutofit/>
          </a:bodyPr>
          <a:lstStyle/>
          <a:p>
            <a:pPr algn="l"/>
            <a:r>
              <a:rPr lang="en-US" altLang="en-US" sz="2800">
                <a:solidFill>
                  <a:srgbClr val="FFFFFF"/>
                </a:solidFill>
              </a:rPr>
              <a:t>Connections between All and Exists</a:t>
            </a:r>
          </a:p>
        </p:txBody>
      </p:sp>
      <p:sp>
        <p:nvSpPr>
          <p:cNvPr id="21508" name="Rectangle 3"/>
          <p:cNvSpPr>
            <a:spLocks noGrp="1" noChangeArrowheads="1"/>
          </p:cNvSpPr>
          <p:nvPr>
            <p:ph idx="1"/>
          </p:nvPr>
        </p:nvSpPr>
        <p:spPr>
          <a:xfrm>
            <a:off x="3837829" y="685801"/>
            <a:ext cx="4789439" cy="5105400"/>
          </a:xfrm>
        </p:spPr>
        <p:txBody>
          <a:bodyPr>
            <a:normAutofit/>
          </a:bodyPr>
          <a:lstStyle/>
          <a:p>
            <a:pPr marL="63500" indent="-63500">
              <a:buFontTx/>
              <a:buNone/>
            </a:pPr>
            <a:r>
              <a:rPr lang="en-US" altLang="en-US" sz="2800" dirty="0"/>
              <a:t>We can relate sentences involving </a:t>
            </a:r>
            <a:r>
              <a:rPr lang="en-US" altLang="en-US" sz="2800" dirty="0">
                <a:sym typeface="Symbol" pitchFamily="18" charset="2"/>
              </a:rPr>
              <a:t></a:t>
            </a:r>
            <a:r>
              <a:rPr lang="en-US" altLang="en-US" sz="2800" dirty="0"/>
              <a:t> and </a:t>
            </a:r>
            <a:r>
              <a:rPr lang="en-US" altLang="en-US" sz="2800" dirty="0">
                <a:sym typeface="Symbol" pitchFamily="18" charset="2"/>
              </a:rPr>
              <a:t></a:t>
            </a:r>
            <a:r>
              <a:rPr lang="en-US" altLang="en-US" sz="2800" dirty="0"/>
              <a:t> using De Morgan’s laws:</a:t>
            </a:r>
          </a:p>
          <a:p>
            <a:pPr lvl="2">
              <a:buFontTx/>
              <a:buNone/>
            </a:pPr>
            <a:r>
              <a:rPr lang="en-US" altLang="en-US" sz="2800" dirty="0"/>
              <a:t>(</a:t>
            </a:r>
            <a:r>
              <a:rPr lang="en-US" altLang="en-US" sz="2800" dirty="0">
                <a:sym typeface="Symbol" pitchFamily="18" charset="2"/>
              </a:rPr>
              <a:t></a:t>
            </a:r>
            <a:r>
              <a:rPr lang="en-US" altLang="en-US" sz="2800" dirty="0"/>
              <a:t>x) </a:t>
            </a:r>
            <a:r>
              <a:rPr lang="en-US" altLang="en-US" sz="2800" dirty="0">
                <a:sym typeface="Symbol" pitchFamily="18" charset="2"/>
              </a:rPr>
              <a:t></a:t>
            </a:r>
            <a:r>
              <a:rPr lang="en-US" altLang="en-US" sz="2800" dirty="0"/>
              <a:t>P(x) </a:t>
            </a:r>
            <a:r>
              <a:rPr lang="en-US" altLang="en-US" sz="2800" dirty="0">
                <a:cs typeface="Times New Roman" pitchFamily="18" charset="0"/>
              </a:rPr>
              <a:t>↔</a:t>
            </a:r>
            <a:r>
              <a:rPr lang="en-US" altLang="en-US" sz="2800" dirty="0"/>
              <a:t> </a:t>
            </a:r>
            <a:r>
              <a:rPr lang="en-US" altLang="en-US" sz="2800" dirty="0">
                <a:sym typeface="Symbol" pitchFamily="18" charset="2"/>
              </a:rPr>
              <a:t></a:t>
            </a:r>
            <a:r>
              <a:rPr lang="en-US" altLang="en-US" sz="2800" dirty="0"/>
              <a:t>(</a:t>
            </a:r>
            <a:r>
              <a:rPr lang="en-US" altLang="en-US" sz="2800" dirty="0">
                <a:sym typeface="Symbol" pitchFamily="18" charset="2"/>
              </a:rPr>
              <a:t></a:t>
            </a:r>
            <a:r>
              <a:rPr lang="en-US" altLang="en-US" sz="2800" dirty="0"/>
              <a:t>x) P(x)</a:t>
            </a:r>
          </a:p>
          <a:p>
            <a:pPr lvl="2">
              <a:buFontTx/>
              <a:buNone/>
            </a:pPr>
            <a:r>
              <a:rPr lang="en-US" altLang="en-US" sz="2800" dirty="0">
                <a:sym typeface="Symbol" pitchFamily="18" charset="2"/>
              </a:rPr>
              <a:t></a:t>
            </a:r>
            <a:r>
              <a:rPr lang="en-US" altLang="en-US" sz="2800" dirty="0"/>
              <a:t>(</a:t>
            </a:r>
            <a:r>
              <a:rPr lang="en-US" altLang="en-US" sz="2800" dirty="0">
                <a:sym typeface="Symbol" pitchFamily="18" charset="2"/>
              </a:rPr>
              <a:t></a:t>
            </a:r>
            <a:r>
              <a:rPr lang="en-US" altLang="en-US" sz="2800" dirty="0"/>
              <a:t>x) </a:t>
            </a:r>
            <a:r>
              <a:rPr lang="en-US" altLang="en-US" sz="2800" dirty="0" smtClean="0"/>
              <a:t>P(x) </a:t>
            </a:r>
            <a:r>
              <a:rPr lang="en-US" altLang="en-US" sz="2800" dirty="0">
                <a:cs typeface="Times New Roman" pitchFamily="18" charset="0"/>
              </a:rPr>
              <a:t>↔</a:t>
            </a:r>
            <a:r>
              <a:rPr lang="en-US" altLang="en-US" sz="2800" dirty="0"/>
              <a:t> (</a:t>
            </a:r>
            <a:r>
              <a:rPr lang="en-US" altLang="en-US" sz="2800" dirty="0">
                <a:sym typeface="Symbol" pitchFamily="18" charset="2"/>
              </a:rPr>
              <a:t></a:t>
            </a:r>
            <a:r>
              <a:rPr lang="en-US" altLang="en-US" sz="2800" dirty="0"/>
              <a:t>x) </a:t>
            </a:r>
            <a:r>
              <a:rPr lang="en-US" altLang="en-US" sz="2800" dirty="0">
                <a:sym typeface="Symbol" pitchFamily="18" charset="2"/>
              </a:rPr>
              <a:t></a:t>
            </a:r>
            <a:r>
              <a:rPr lang="en-US" altLang="en-US" sz="2800" dirty="0"/>
              <a:t>P(x)</a:t>
            </a:r>
          </a:p>
          <a:p>
            <a:pPr lvl="2">
              <a:buFontTx/>
              <a:buNone/>
            </a:pPr>
            <a:r>
              <a:rPr lang="en-US" altLang="en-US" sz="2800" dirty="0"/>
              <a:t>(</a:t>
            </a:r>
            <a:r>
              <a:rPr lang="en-US" altLang="en-US" sz="2800" dirty="0">
                <a:sym typeface="Symbol" pitchFamily="18" charset="2"/>
              </a:rPr>
              <a:t></a:t>
            </a:r>
            <a:r>
              <a:rPr lang="en-US" altLang="en-US" sz="2800" dirty="0"/>
              <a:t>x) P(x) </a:t>
            </a:r>
            <a:r>
              <a:rPr lang="en-US" altLang="en-US" sz="2800" dirty="0">
                <a:cs typeface="Times New Roman" pitchFamily="18" charset="0"/>
              </a:rPr>
              <a:t>↔</a:t>
            </a:r>
            <a:r>
              <a:rPr lang="en-US" altLang="en-US" sz="2800" dirty="0"/>
              <a:t> </a:t>
            </a:r>
            <a:r>
              <a:rPr lang="en-US" altLang="en-US" sz="2800" dirty="0">
                <a:sym typeface="Symbol" pitchFamily="18" charset="2"/>
              </a:rPr>
              <a:t></a:t>
            </a:r>
            <a:r>
              <a:rPr lang="en-US" altLang="en-US" sz="2800" dirty="0"/>
              <a:t> (</a:t>
            </a:r>
            <a:r>
              <a:rPr lang="en-US" altLang="en-US" sz="2800" dirty="0">
                <a:sym typeface="Symbol" pitchFamily="18" charset="2"/>
              </a:rPr>
              <a:t></a:t>
            </a:r>
            <a:r>
              <a:rPr lang="en-US" altLang="en-US" sz="2800" dirty="0"/>
              <a:t>x) </a:t>
            </a:r>
            <a:r>
              <a:rPr lang="en-US" altLang="en-US" sz="2800" dirty="0">
                <a:sym typeface="Symbol" pitchFamily="18" charset="2"/>
              </a:rPr>
              <a:t></a:t>
            </a:r>
            <a:r>
              <a:rPr lang="en-US" altLang="en-US" sz="2800" dirty="0"/>
              <a:t>P(x)</a:t>
            </a:r>
          </a:p>
          <a:p>
            <a:pPr lvl="2">
              <a:buFontTx/>
              <a:buNone/>
            </a:pPr>
            <a:r>
              <a:rPr lang="en-US" altLang="en-US" sz="2800" dirty="0"/>
              <a:t>(</a:t>
            </a:r>
            <a:r>
              <a:rPr lang="en-US" altLang="en-US" sz="2800" dirty="0">
                <a:sym typeface="Symbol" pitchFamily="18" charset="2"/>
              </a:rPr>
              <a:t></a:t>
            </a:r>
            <a:r>
              <a:rPr lang="en-US" altLang="en-US" sz="2800" dirty="0"/>
              <a:t>x) P(x) </a:t>
            </a:r>
            <a:r>
              <a:rPr lang="en-US" altLang="en-US" sz="2800" dirty="0">
                <a:cs typeface="Times New Roman" pitchFamily="18" charset="0"/>
              </a:rPr>
              <a:t>↔</a:t>
            </a:r>
            <a:r>
              <a:rPr lang="en-US" altLang="en-US" sz="2800" dirty="0"/>
              <a:t> </a:t>
            </a:r>
            <a:r>
              <a:rPr lang="en-US" altLang="en-US" sz="2800" dirty="0">
                <a:sym typeface="Symbol" pitchFamily="18" charset="2"/>
              </a:rPr>
              <a:t></a:t>
            </a:r>
            <a:r>
              <a:rPr lang="en-US" altLang="en-US" sz="2800" dirty="0"/>
              <a:t>(</a:t>
            </a:r>
            <a:r>
              <a:rPr lang="en-US" altLang="en-US" sz="2800" dirty="0">
                <a:sym typeface="Symbol" pitchFamily="18" charset="2"/>
              </a:rPr>
              <a:t></a:t>
            </a:r>
            <a:r>
              <a:rPr lang="en-US" altLang="en-US" sz="2800" dirty="0"/>
              <a:t>x) </a:t>
            </a:r>
            <a:r>
              <a:rPr lang="en-US" altLang="en-US" sz="2800" dirty="0">
                <a:sym typeface="Symbol" pitchFamily="18" charset="2"/>
              </a:rPr>
              <a:t></a:t>
            </a:r>
            <a:r>
              <a:rPr lang="en-US" altLang="en-US" sz="2800" dirty="0"/>
              <a:t>P(x)</a:t>
            </a:r>
          </a:p>
          <a:p>
            <a:pPr marL="63500" indent="-63500"/>
            <a:endParaRPr lang="en-US" altLang="en-US" sz="1700" dirty="0"/>
          </a:p>
        </p:txBody>
      </p:sp>
      <p:sp>
        <p:nvSpPr>
          <p:cNvPr id="21506" name="Slide Number Placeholder 3"/>
          <p:cNvSpPr>
            <a:spLocks noGrp="1"/>
          </p:cNvSpPr>
          <p:nvPr>
            <p:ph type="sldNum" sz="quarter" idx="12"/>
          </p:nvPr>
        </p:nvSpPr>
        <p:spPr/>
        <p:txBody>
          <a:bodyPr>
            <a:normAutofit/>
          </a:bodyPr>
          <a:lstStyle/>
          <a:p>
            <a:pPr>
              <a:spcAft>
                <a:spcPts val="600"/>
              </a:spcAft>
            </a:pPr>
            <a:fld id="{A37444BF-3554-402A-9339-856D5751250B}" type="slidenum">
              <a:rPr lang="en-US" altLang="en-US"/>
              <a:pPr>
                <a:spcAft>
                  <a:spcPts val="600"/>
                </a:spcAft>
              </a:pPr>
              <a:t>18</a:t>
            </a:fld>
            <a:endParaRPr lang="en-US" altLang="en-US"/>
          </a:p>
        </p:txBody>
      </p:sp>
      <p:grpSp>
        <p:nvGrpSpPr>
          <p:cNvPr id="77" name="Group 76">
            <a:extLst>
              <a:ext uri="{FF2B5EF4-FFF2-40B4-BE49-F238E27FC236}">
                <a16:creationId xmlns:a16="http://schemas.microsoft.com/office/drawing/2014/main" xmlns="" id="{F3842748-48B5-4DD0-A06A-A31C74024A99}"/>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2486469" y="0"/>
            <a:ext cx="1827609" cy="6858001"/>
            <a:chOff x="1320800" y="0"/>
            <a:chExt cx="2436813" cy="6858001"/>
          </a:xfrm>
        </p:grpSpPr>
        <p:sp>
          <p:nvSpPr>
            <p:cNvPr id="78" name="Freeform 6">
              <a:extLst>
                <a:ext uri="{FF2B5EF4-FFF2-40B4-BE49-F238E27FC236}">
                  <a16:creationId xmlns:a16="http://schemas.microsoft.com/office/drawing/2014/main" xmlns="" id="{548E99BE-1071-4690-9B9C-07926CEE5557}"/>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79" name="Freeform 7">
              <a:extLst>
                <a:ext uri="{FF2B5EF4-FFF2-40B4-BE49-F238E27FC236}">
                  <a16:creationId xmlns:a16="http://schemas.microsoft.com/office/drawing/2014/main" xmlns="" id="{9301F039-B467-413A-B25C-770E51069D42}"/>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80" name="Freeform 8">
              <a:extLst>
                <a:ext uri="{FF2B5EF4-FFF2-40B4-BE49-F238E27FC236}">
                  <a16:creationId xmlns:a16="http://schemas.microsoft.com/office/drawing/2014/main" xmlns="" id="{9F06AEC1-5558-49E8-8CAC-FEBD00DF0031}"/>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81" name="Freeform 9">
              <a:extLst>
                <a:ext uri="{FF2B5EF4-FFF2-40B4-BE49-F238E27FC236}">
                  <a16:creationId xmlns:a16="http://schemas.microsoft.com/office/drawing/2014/main" xmlns="" id="{D10B76B9-BA68-471E-B58C-ED91198A9FAB}"/>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82" name="Freeform 10">
              <a:extLst>
                <a:ext uri="{FF2B5EF4-FFF2-40B4-BE49-F238E27FC236}">
                  <a16:creationId xmlns:a16="http://schemas.microsoft.com/office/drawing/2014/main" xmlns="" id="{FEB3913B-54A3-490E-BA4B-5D0330990FCB}"/>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83" name="Freeform 11">
              <a:extLst>
                <a:ext uri="{FF2B5EF4-FFF2-40B4-BE49-F238E27FC236}">
                  <a16:creationId xmlns:a16="http://schemas.microsoft.com/office/drawing/2014/main" xmlns="" id="{F75DC961-08A4-46F8-8A80-2E1FB977E1F4}"/>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useBgFill="1">
        <p:nvSpPr>
          <p:cNvPr id="136" name="Rectangle 135">
            <a:extLst>
              <a:ext uri="{FF2B5EF4-FFF2-40B4-BE49-F238E27FC236}">
                <a16:creationId xmlns:a16="http://schemas.microsoft.com/office/drawing/2014/main" xmlns="" id="{C8643778-7F6C-4E8D-84D1-D5CDB992819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Freeform: Shape 137">
            <a:extLst>
              <a:ext uri="{FF2B5EF4-FFF2-40B4-BE49-F238E27FC236}">
                <a16:creationId xmlns:a16="http://schemas.microsoft.com/office/drawing/2014/main" xmlns="" id="{1D22F88D-6907-48AF-B024-346E855E0D9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V="1">
            <a:off x="0" y="-1"/>
            <a:ext cx="3302781" cy="6858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555" name="Rectangle 2"/>
          <p:cNvSpPr>
            <a:spLocks noGrp="1" noChangeArrowheads="1"/>
          </p:cNvSpPr>
          <p:nvPr>
            <p:ph type="title"/>
          </p:nvPr>
        </p:nvSpPr>
        <p:spPr>
          <a:xfrm>
            <a:off x="372084" y="685801"/>
            <a:ext cx="2057400" cy="5105400"/>
          </a:xfrm>
        </p:spPr>
        <p:txBody>
          <a:bodyPr>
            <a:normAutofit/>
          </a:bodyPr>
          <a:lstStyle/>
          <a:p>
            <a:pPr algn="l"/>
            <a:r>
              <a:rPr lang="en-US" altLang="en-US" sz="2800">
                <a:solidFill>
                  <a:srgbClr val="FFFFFF"/>
                </a:solidFill>
              </a:rPr>
              <a:t>Translating English to FOL</a:t>
            </a:r>
          </a:p>
        </p:txBody>
      </p:sp>
      <p:sp>
        <p:nvSpPr>
          <p:cNvPr id="149507" name="Rectangle 3"/>
          <p:cNvSpPr>
            <a:spLocks noGrp="1" noChangeArrowheads="1"/>
          </p:cNvSpPr>
          <p:nvPr>
            <p:ph idx="1"/>
          </p:nvPr>
        </p:nvSpPr>
        <p:spPr>
          <a:xfrm>
            <a:off x="3408013" y="685800"/>
            <a:ext cx="5219256" cy="5329237"/>
          </a:xfrm>
        </p:spPr>
        <p:txBody>
          <a:bodyPr>
            <a:normAutofit/>
          </a:bodyPr>
          <a:lstStyle/>
          <a:p>
            <a:pPr>
              <a:buFontTx/>
              <a:buNone/>
            </a:pPr>
            <a:r>
              <a:rPr lang="en-US" altLang="en-US" sz="2000" b="1" dirty="0"/>
              <a:t>Every gardener likes the sun.</a:t>
            </a:r>
          </a:p>
          <a:p>
            <a:pPr>
              <a:buFontTx/>
              <a:buNone/>
            </a:pPr>
            <a:endParaRPr lang="en-US" altLang="en-US" sz="2000" b="1" dirty="0"/>
          </a:p>
          <a:p>
            <a:pPr>
              <a:buFontTx/>
              <a:buNone/>
            </a:pPr>
            <a:r>
              <a:rPr lang="en-US" altLang="en-US" sz="2000" b="1" dirty="0"/>
              <a:t>You can fool some of the people all of the time.</a:t>
            </a:r>
            <a:endParaRPr lang="en-US" altLang="en-US" sz="2000" dirty="0"/>
          </a:p>
          <a:p>
            <a:pPr>
              <a:buFontTx/>
              <a:buNone/>
            </a:pPr>
            <a:endParaRPr lang="en-US" altLang="en-US" sz="2000" b="1" dirty="0"/>
          </a:p>
          <a:p>
            <a:pPr>
              <a:buFontTx/>
              <a:buNone/>
            </a:pPr>
            <a:r>
              <a:rPr lang="en-US" altLang="en-US" sz="2000" b="1" dirty="0"/>
              <a:t>You can fool all of the people some of the time.</a:t>
            </a:r>
          </a:p>
          <a:p>
            <a:pPr>
              <a:buFontTx/>
              <a:buNone/>
            </a:pPr>
            <a:endParaRPr lang="en-US" altLang="en-US" sz="2000" b="1" dirty="0"/>
          </a:p>
          <a:p>
            <a:pPr>
              <a:buFontTx/>
              <a:buNone/>
            </a:pPr>
            <a:r>
              <a:rPr lang="en-US" altLang="en-US" sz="2000" b="1" dirty="0"/>
              <a:t>All purple mushrooms are poisonous</a:t>
            </a:r>
            <a:r>
              <a:rPr lang="en-US" altLang="en-US" sz="2000" dirty="0"/>
              <a:t>.</a:t>
            </a:r>
          </a:p>
          <a:p>
            <a:pPr>
              <a:buFontTx/>
              <a:buNone/>
            </a:pPr>
            <a:endParaRPr lang="en-US" altLang="en-US" sz="2000" b="1" dirty="0"/>
          </a:p>
          <a:p>
            <a:pPr>
              <a:buFontTx/>
              <a:buNone/>
            </a:pPr>
            <a:r>
              <a:rPr lang="en-US" altLang="en-US" sz="2000" b="1" dirty="0"/>
              <a:t>No purple mushroom is poisonous.</a:t>
            </a:r>
          </a:p>
          <a:p>
            <a:pPr>
              <a:buFontTx/>
              <a:buNone/>
            </a:pPr>
            <a:endParaRPr lang="en-US" altLang="en-US" sz="2000" b="1" dirty="0"/>
          </a:p>
          <a:p>
            <a:pPr>
              <a:buFontTx/>
              <a:buNone/>
            </a:pPr>
            <a:r>
              <a:rPr lang="en-US" altLang="en-US" sz="2000" b="1" dirty="0"/>
              <a:t>Clinton is not tall.</a:t>
            </a:r>
          </a:p>
          <a:p>
            <a:pPr>
              <a:buFontTx/>
              <a:buNone/>
            </a:pPr>
            <a:endParaRPr lang="en-US" altLang="en-US" sz="1700" dirty="0"/>
          </a:p>
        </p:txBody>
      </p:sp>
      <p:sp>
        <p:nvSpPr>
          <p:cNvPr id="23554" name="Slide Number Placeholder 3"/>
          <p:cNvSpPr>
            <a:spLocks noGrp="1"/>
          </p:cNvSpPr>
          <p:nvPr>
            <p:ph type="sldNum" sz="quarter" idx="12"/>
          </p:nvPr>
        </p:nvSpPr>
        <p:spPr/>
        <p:txBody>
          <a:bodyPr>
            <a:normAutofit/>
          </a:bodyPr>
          <a:lstStyle/>
          <a:p>
            <a:pPr>
              <a:spcAft>
                <a:spcPts val="600"/>
              </a:spcAft>
            </a:pPr>
            <a:fld id="{F8734344-8B1F-4352-BBC3-DDFF3F371B2F}" type="slidenum">
              <a:rPr lang="en-US" altLang="en-US"/>
              <a:pPr>
                <a:spcAft>
                  <a:spcPts val="600"/>
                </a:spcAft>
              </a:pPr>
              <a:t>19</a:t>
            </a:fld>
            <a:endParaRPr lang="en-US" altLang="en-US"/>
          </a:p>
        </p:txBody>
      </p:sp>
      <p:grpSp>
        <p:nvGrpSpPr>
          <p:cNvPr id="140" name="Group 139">
            <a:extLst>
              <a:ext uri="{FF2B5EF4-FFF2-40B4-BE49-F238E27FC236}">
                <a16:creationId xmlns:a16="http://schemas.microsoft.com/office/drawing/2014/main" xmlns="" id="{F3842748-48B5-4DD0-A06A-A31C74024A99}"/>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2486469" y="0"/>
            <a:ext cx="1827609" cy="6858001"/>
            <a:chOff x="1320800" y="0"/>
            <a:chExt cx="2436813" cy="6858001"/>
          </a:xfrm>
        </p:grpSpPr>
        <p:sp>
          <p:nvSpPr>
            <p:cNvPr id="141" name="Freeform 6">
              <a:extLst>
                <a:ext uri="{FF2B5EF4-FFF2-40B4-BE49-F238E27FC236}">
                  <a16:creationId xmlns:a16="http://schemas.microsoft.com/office/drawing/2014/main" xmlns="" id="{548E99BE-1071-4690-9B9C-07926CEE5557}"/>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142" name="Freeform 7">
              <a:extLst>
                <a:ext uri="{FF2B5EF4-FFF2-40B4-BE49-F238E27FC236}">
                  <a16:creationId xmlns:a16="http://schemas.microsoft.com/office/drawing/2014/main" xmlns="" id="{9301F039-B467-413A-B25C-770E51069D42}"/>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43" name="Freeform 8">
              <a:extLst>
                <a:ext uri="{FF2B5EF4-FFF2-40B4-BE49-F238E27FC236}">
                  <a16:creationId xmlns:a16="http://schemas.microsoft.com/office/drawing/2014/main" xmlns="" id="{9F06AEC1-5558-49E8-8CAC-FEBD00DF0031}"/>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44" name="Freeform 9">
              <a:extLst>
                <a:ext uri="{FF2B5EF4-FFF2-40B4-BE49-F238E27FC236}">
                  <a16:creationId xmlns:a16="http://schemas.microsoft.com/office/drawing/2014/main" xmlns="" id="{D10B76B9-BA68-471E-B58C-ED91198A9FAB}"/>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45" name="Freeform 10">
              <a:extLst>
                <a:ext uri="{FF2B5EF4-FFF2-40B4-BE49-F238E27FC236}">
                  <a16:creationId xmlns:a16="http://schemas.microsoft.com/office/drawing/2014/main" xmlns="" id="{FEB3913B-54A3-490E-BA4B-5D0330990FCB}"/>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46" name="Freeform 11">
              <a:extLst>
                <a:ext uri="{FF2B5EF4-FFF2-40B4-BE49-F238E27FC236}">
                  <a16:creationId xmlns:a16="http://schemas.microsoft.com/office/drawing/2014/main" xmlns="" id="{F75DC961-08A4-46F8-8A80-2E1FB977E1F4}"/>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a:xfrm>
            <a:off x="685800" y="381000"/>
            <a:ext cx="7772400" cy="838200"/>
          </a:xfrm>
        </p:spPr>
        <p:txBody>
          <a:bodyPr/>
          <a:lstStyle/>
          <a:p>
            <a:r>
              <a:rPr lang="en-US" altLang="en-US" dirty="0"/>
              <a:t>Translating English to FOL</a:t>
            </a:r>
          </a:p>
        </p:txBody>
      </p:sp>
      <p:sp>
        <p:nvSpPr>
          <p:cNvPr id="149507" name="Rectangle 3"/>
          <p:cNvSpPr>
            <a:spLocks noGrp="1" noChangeArrowheads="1"/>
          </p:cNvSpPr>
          <p:nvPr>
            <p:ph idx="1"/>
          </p:nvPr>
        </p:nvSpPr>
        <p:spPr>
          <a:xfrm>
            <a:off x="609600" y="1219200"/>
            <a:ext cx="8229600" cy="5638800"/>
          </a:xfrm>
        </p:spPr>
        <p:txBody>
          <a:bodyPr>
            <a:normAutofit/>
          </a:bodyPr>
          <a:lstStyle/>
          <a:p>
            <a:pPr>
              <a:lnSpc>
                <a:spcPct val="80000"/>
              </a:lnSpc>
              <a:buFontTx/>
              <a:buNone/>
            </a:pPr>
            <a:r>
              <a:rPr lang="en-US" altLang="en-US" sz="1800" b="1" dirty="0"/>
              <a:t>	Every gardener likes the sun.</a:t>
            </a:r>
          </a:p>
          <a:p>
            <a:pPr lvl="1">
              <a:lnSpc>
                <a:spcPct val="80000"/>
              </a:lnSpc>
              <a:buFontTx/>
              <a:buNone/>
            </a:pPr>
            <a:r>
              <a:rPr lang="en-US" altLang="en-US" sz="1800" dirty="0">
                <a:sym typeface="Symbol" pitchFamily="18" charset="2"/>
              </a:rPr>
              <a:t></a:t>
            </a:r>
            <a:r>
              <a:rPr lang="en-US" altLang="en-US" sz="1800" dirty="0"/>
              <a:t>x gardener(x) </a:t>
            </a:r>
            <a:r>
              <a:rPr lang="en-US" altLang="en-US" sz="1800" dirty="0">
                <a:sym typeface="Symbol" pitchFamily="18" charset="2"/>
              </a:rPr>
              <a:t></a:t>
            </a:r>
            <a:r>
              <a:rPr lang="en-US" altLang="en-US" sz="1800" dirty="0"/>
              <a:t> likes(</a:t>
            </a:r>
            <a:r>
              <a:rPr lang="en-US" altLang="en-US" sz="1800" dirty="0" err="1"/>
              <a:t>x,sun</a:t>
            </a:r>
            <a:r>
              <a:rPr lang="en-US" altLang="en-US" sz="1800" dirty="0"/>
              <a:t>) </a:t>
            </a:r>
          </a:p>
          <a:p>
            <a:pPr lvl="1">
              <a:lnSpc>
                <a:spcPct val="80000"/>
              </a:lnSpc>
              <a:buFontTx/>
              <a:buNone/>
            </a:pPr>
            <a:endParaRPr lang="en-US" altLang="en-US" sz="1800" dirty="0"/>
          </a:p>
          <a:p>
            <a:pPr>
              <a:lnSpc>
                <a:spcPct val="80000"/>
              </a:lnSpc>
              <a:buFontTx/>
              <a:buNone/>
            </a:pPr>
            <a:r>
              <a:rPr lang="en-US" altLang="en-US" sz="1800" b="1" dirty="0"/>
              <a:t>You can fool some of the people all of the time.</a:t>
            </a:r>
            <a:endParaRPr lang="en-US" altLang="en-US" sz="1800" dirty="0"/>
          </a:p>
          <a:p>
            <a:pPr lvl="1">
              <a:lnSpc>
                <a:spcPct val="80000"/>
              </a:lnSpc>
              <a:buFontTx/>
              <a:buNone/>
            </a:pPr>
            <a:r>
              <a:rPr lang="en-US" altLang="en-US" sz="1800" dirty="0">
                <a:sym typeface="Symbol" pitchFamily="18" charset="2"/>
              </a:rPr>
              <a:t></a:t>
            </a:r>
            <a:r>
              <a:rPr lang="en-US" altLang="en-US" sz="1800" dirty="0"/>
              <a:t>x </a:t>
            </a:r>
            <a:r>
              <a:rPr lang="en-US" altLang="en-US" sz="1800" dirty="0">
                <a:sym typeface="Symbol" pitchFamily="18" charset="2"/>
              </a:rPr>
              <a:t></a:t>
            </a:r>
            <a:r>
              <a:rPr lang="en-US" altLang="en-US" sz="1800" dirty="0"/>
              <a:t>t  person(x) </a:t>
            </a:r>
            <a:r>
              <a:rPr lang="en-US" altLang="en-US" sz="1800" dirty="0">
                <a:sym typeface="Symbol" pitchFamily="18" charset="2"/>
              </a:rPr>
              <a:t></a:t>
            </a:r>
            <a:r>
              <a:rPr lang="en-US" altLang="en-US" sz="1800" dirty="0"/>
              <a:t>time(t) </a:t>
            </a:r>
            <a:r>
              <a:rPr lang="en-US" altLang="en-US" sz="1800" dirty="0">
                <a:sym typeface="Symbol" pitchFamily="18" charset="2"/>
              </a:rPr>
              <a:t></a:t>
            </a:r>
            <a:r>
              <a:rPr lang="en-US" altLang="en-US" sz="1800" dirty="0"/>
              <a:t> can-fool(</a:t>
            </a:r>
            <a:r>
              <a:rPr lang="en-US" altLang="en-US" sz="1800" dirty="0" err="1"/>
              <a:t>x,t</a:t>
            </a:r>
            <a:r>
              <a:rPr lang="en-US" altLang="en-US" sz="1800" dirty="0"/>
              <a:t>)</a:t>
            </a:r>
          </a:p>
          <a:p>
            <a:pPr lvl="1">
              <a:lnSpc>
                <a:spcPct val="80000"/>
              </a:lnSpc>
              <a:buFontTx/>
              <a:buNone/>
            </a:pPr>
            <a:endParaRPr lang="en-US" altLang="en-US" sz="1800" dirty="0"/>
          </a:p>
          <a:p>
            <a:pPr>
              <a:lnSpc>
                <a:spcPct val="80000"/>
              </a:lnSpc>
              <a:buFontTx/>
              <a:buNone/>
            </a:pPr>
            <a:r>
              <a:rPr lang="en-US" altLang="en-US" sz="1800" b="1" dirty="0"/>
              <a:t>You can fool all of the people some of the time.</a:t>
            </a:r>
          </a:p>
          <a:p>
            <a:pPr lvl="1">
              <a:lnSpc>
                <a:spcPct val="80000"/>
              </a:lnSpc>
              <a:buFontTx/>
              <a:buNone/>
            </a:pPr>
            <a:r>
              <a:rPr lang="en-US" altLang="en-US" sz="1800" dirty="0">
                <a:sym typeface="Symbol" pitchFamily="18" charset="2"/>
              </a:rPr>
              <a:t></a:t>
            </a:r>
            <a:r>
              <a:rPr lang="en-US" altLang="en-US" sz="1800" dirty="0"/>
              <a:t>x </a:t>
            </a:r>
            <a:r>
              <a:rPr lang="en-US" altLang="en-US" sz="1800" dirty="0">
                <a:sym typeface="Symbol" pitchFamily="18" charset="2"/>
              </a:rPr>
              <a:t></a:t>
            </a:r>
            <a:r>
              <a:rPr lang="en-US" altLang="en-US" sz="1800" dirty="0"/>
              <a:t>t (person(x) </a:t>
            </a:r>
            <a:r>
              <a:rPr lang="en-US" altLang="en-US" sz="1800" dirty="0">
                <a:sym typeface="Symbol" pitchFamily="18" charset="2"/>
              </a:rPr>
              <a:t></a:t>
            </a:r>
            <a:r>
              <a:rPr lang="en-US" altLang="en-US" sz="1800" dirty="0"/>
              <a:t> time(t) </a:t>
            </a:r>
            <a:r>
              <a:rPr lang="en-US" altLang="en-US" sz="1800" dirty="0">
                <a:sym typeface="Symbol" pitchFamily="18" charset="2"/>
              </a:rPr>
              <a:t></a:t>
            </a:r>
            <a:r>
              <a:rPr lang="en-US" altLang="en-US" sz="1800" dirty="0"/>
              <a:t>can-fool(</a:t>
            </a:r>
            <a:r>
              <a:rPr lang="en-US" altLang="en-US" sz="1800" dirty="0" err="1"/>
              <a:t>x,t</a:t>
            </a:r>
            <a:r>
              <a:rPr lang="en-US" altLang="en-US" sz="1800" dirty="0"/>
              <a:t>))</a:t>
            </a:r>
          </a:p>
          <a:p>
            <a:pPr lvl="1">
              <a:lnSpc>
                <a:spcPct val="80000"/>
              </a:lnSpc>
              <a:buFontTx/>
              <a:buNone/>
            </a:pPr>
            <a:r>
              <a:rPr lang="en-US" altLang="en-US" sz="1800" dirty="0">
                <a:sym typeface="Symbol" pitchFamily="18" charset="2"/>
              </a:rPr>
              <a:t></a:t>
            </a:r>
            <a:r>
              <a:rPr lang="en-US" altLang="en-US" sz="1800" dirty="0"/>
              <a:t>x (person(x) </a:t>
            </a:r>
            <a:r>
              <a:rPr lang="en-US" altLang="en-US" sz="1800" dirty="0">
                <a:sym typeface="Symbol" pitchFamily="18" charset="2"/>
              </a:rPr>
              <a:t> </a:t>
            </a:r>
            <a:r>
              <a:rPr lang="en-US" altLang="en-US" sz="1800" dirty="0"/>
              <a:t>t (time(t) </a:t>
            </a:r>
            <a:r>
              <a:rPr lang="en-US" altLang="en-US" sz="1800" dirty="0">
                <a:sym typeface="Symbol" pitchFamily="18" charset="2"/>
              </a:rPr>
              <a:t></a:t>
            </a:r>
            <a:r>
              <a:rPr lang="en-US" altLang="en-US" sz="1800" dirty="0"/>
              <a:t>can-fool(</a:t>
            </a:r>
            <a:r>
              <a:rPr lang="en-US" altLang="en-US" sz="1800" dirty="0" err="1"/>
              <a:t>x,t</a:t>
            </a:r>
            <a:r>
              <a:rPr lang="en-US" altLang="en-US" sz="1800" dirty="0"/>
              <a:t>))</a:t>
            </a:r>
          </a:p>
          <a:p>
            <a:pPr>
              <a:lnSpc>
                <a:spcPct val="80000"/>
              </a:lnSpc>
              <a:buFontTx/>
              <a:buNone/>
            </a:pPr>
            <a:r>
              <a:rPr lang="en-US" altLang="en-US" sz="1800" b="1" dirty="0"/>
              <a:t>All purple mushrooms are poisonous</a:t>
            </a:r>
            <a:r>
              <a:rPr lang="en-US" altLang="en-US" sz="1800" dirty="0"/>
              <a:t>.</a:t>
            </a:r>
          </a:p>
          <a:p>
            <a:pPr lvl="1">
              <a:lnSpc>
                <a:spcPct val="80000"/>
              </a:lnSpc>
              <a:buFontTx/>
              <a:buNone/>
            </a:pPr>
            <a:r>
              <a:rPr lang="en-US" altLang="en-US" sz="1800" dirty="0">
                <a:sym typeface="Symbol" pitchFamily="18" charset="2"/>
              </a:rPr>
              <a:t></a:t>
            </a:r>
            <a:r>
              <a:rPr lang="en-US" altLang="en-US" sz="1800" dirty="0"/>
              <a:t>x (mushroom(x) </a:t>
            </a:r>
            <a:r>
              <a:rPr lang="en-US" altLang="en-US" sz="1800" dirty="0">
                <a:sym typeface="Symbol" pitchFamily="18" charset="2"/>
              </a:rPr>
              <a:t></a:t>
            </a:r>
            <a:r>
              <a:rPr lang="en-US" altLang="en-US" sz="1800" dirty="0"/>
              <a:t> purple(x)) </a:t>
            </a:r>
            <a:r>
              <a:rPr lang="en-US" altLang="en-US" sz="1800" dirty="0">
                <a:sym typeface="Symbol" pitchFamily="18" charset="2"/>
              </a:rPr>
              <a:t></a:t>
            </a:r>
            <a:r>
              <a:rPr lang="en-US" altLang="en-US" sz="1800" dirty="0"/>
              <a:t> poisonous(x)</a:t>
            </a:r>
          </a:p>
          <a:p>
            <a:pPr lvl="1">
              <a:lnSpc>
                <a:spcPct val="80000"/>
              </a:lnSpc>
              <a:buFontTx/>
              <a:buNone/>
            </a:pPr>
            <a:r>
              <a:rPr lang="en-US" altLang="en-US" sz="1800" dirty="0"/>
              <a:t> </a:t>
            </a:r>
          </a:p>
          <a:p>
            <a:pPr>
              <a:lnSpc>
                <a:spcPct val="80000"/>
              </a:lnSpc>
              <a:buFontTx/>
              <a:buNone/>
            </a:pPr>
            <a:r>
              <a:rPr lang="en-US" altLang="en-US" sz="1800" b="1" dirty="0"/>
              <a:t>No purple mushroom is poisonous.</a:t>
            </a:r>
          </a:p>
          <a:p>
            <a:pPr lvl="1">
              <a:lnSpc>
                <a:spcPct val="80000"/>
              </a:lnSpc>
              <a:buFontTx/>
              <a:buNone/>
            </a:pPr>
            <a:r>
              <a:rPr lang="en-US" altLang="en-US" sz="1800" dirty="0">
                <a:sym typeface="Symbol" pitchFamily="18" charset="2"/>
              </a:rPr>
              <a:t>  </a:t>
            </a:r>
            <a:r>
              <a:rPr lang="en-US" altLang="en-US" sz="1800" dirty="0"/>
              <a:t>x purple(x) </a:t>
            </a:r>
            <a:r>
              <a:rPr lang="en-US" altLang="en-US" sz="1800" dirty="0">
                <a:sym typeface="Symbol" pitchFamily="18" charset="2"/>
              </a:rPr>
              <a:t></a:t>
            </a:r>
            <a:r>
              <a:rPr lang="en-US" altLang="en-US" sz="1800" dirty="0"/>
              <a:t> mushroom(x) ^</a:t>
            </a:r>
            <a:r>
              <a:rPr lang="en-US" altLang="en-US" sz="1800" dirty="0">
                <a:sym typeface="Symbol" pitchFamily="18" charset="2"/>
              </a:rPr>
              <a:t> </a:t>
            </a:r>
            <a:r>
              <a:rPr lang="en-US" altLang="en-US" sz="1800" dirty="0"/>
              <a:t>poisonous(x) </a:t>
            </a:r>
          </a:p>
          <a:p>
            <a:pPr lvl="1">
              <a:lnSpc>
                <a:spcPct val="80000"/>
              </a:lnSpc>
              <a:buFontTx/>
              <a:buNone/>
            </a:pPr>
            <a:r>
              <a:rPr lang="en-US" altLang="en-US" sz="1800" dirty="0">
                <a:sym typeface="Symbol" pitchFamily="18" charset="2"/>
              </a:rPr>
              <a:t></a:t>
            </a:r>
            <a:r>
              <a:rPr lang="en-US" altLang="en-US" sz="1800" dirty="0"/>
              <a:t>x  (mushroom(x) </a:t>
            </a:r>
            <a:r>
              <a:rPr lang="en-US" altLang="en-US" sz="1800" dirty="0">
                <a:sym typeface="Symbol" pitchFamily="18" charset="2"/>
              </a:rPr>
              <a:t></a:t>
            </a:r>
            <a:r>
              <a:rPr lang="en-US" altLang="en-US" sz="1800" dirty="0"/>
              <a:t> purple(x)) </a:t>
            </a:r>
            <a:r>
              <a:rPr lang="en-US" altLang="en-US" sz="1800" dirty="0">
                <a:sym typeface="Symbol" pitchFamily="18" charset="2"/>
              </a:rPr>
              <a:t></a:t>
            </a:r>
            <a:r>
              <a:rPr lang="en-US" altLang="en-US" sz="1800" dirty="0"/>
              <a:t> </a:t>
            </a:r>
            <a:r>
              <a:rPr lang="en-US" altLang="en-US" sz="1800" dirty="0">
                <a:sym typeface="Symbol" pitchFamily="18" charset="2"/>
              </a:rPr>
              <a:t></a:t>
            </a:r>
            <a:r>
              <a:rPr lang="en-US" altLang="en-US" sz="1800" dirty="0"/>
              <a:t>poisonous(x) </a:t>
            </a:r>
          </a:p>
          <a:p>
            <a:pPr lvl="1">
              <a:lnSpc>
                <a:spcPct val="80000"/>
              </a:lnSpc>
              <a:buFontTx/>
              <a:buNone/>
            </a:pPr>
            <a:endParaRPr lang="en-US" altLang="en-US" sz="1800" dirty="0"/>
          </a:p>
          <a:p>
            <a:pPr>
              <a:lnSpc>
                <a:spcPct val="80000"/>
              </a:lnSpc>
              <a:buFontTx/>
              <a:buNone/>
            </a:pPr>
            <a:r>
              <a:rPr lang="en-US" altLang="en-US" sz="1800" b="1" dirty="0"/>
              <a:t>Clinton is not tall.</a:t>
            </a:r>
          </a:p>
          <a:p>
            <a:pPr lvl="1">
              <a:lnSpc>
                <a:spcPct val="80000"/>
              </a:lnSpc>
              <a:buFontTx/>
              <a:buNone/>
            </a:pPr>
            <a:r>
              <a:rPr lang="en-US" altLang="en-US" sz="1800" dirty="0">
                <a:sym typeface="Symbol" pitchFamily="18" charset="2"/>
              </a:rPr>
              <a:t></a:t>
            </a:r>
            <a:r>
              <a:rPr lang="en-US" altLang="en-US" sz="1800" dirty="0"/>
              <a:t>tall(Clinton) </a:t>
            </a:r>
          </a:p>
          <a:p>
            <a:pPr lvl="1">
              <a:lnSpc>
                <a:spcPct val="80000"/>
              </a:lnSpc>
              <a:buFontTx/>
              <a:buNone/>
            </a:pPr>
            <a:endParaRPr lang="en-US" altLang="en-US" sz="1800" dirty="0"/>
          </a:p>
          <a:p>
            <a:pPr>
              <a:lnSpc>
                <a:spcPct val="80000"/>
              </a:lnSpc>
              <a:buFontTx/>
              <a:buNone/>
            </a:pPr>
            <a:endParaRPr lang="en-US" altLang="en-US" sz="1800" dirty="0"/>
          </a:p>
        </p:txBody>
      </p:sp>
      <p:sp>
        <p:nvSpPr>
          <p:cNvPr id="23554" name="Slide Number Placeholder 3"/>
          <p:cNvSpPr>
            <a:spLocks noGrp="1"/>
          </p:cNvSpPr>
          <p:nvPr>
            <p:ph type="sldNum" sz="quarter" idx="12"/>
          </p:nvPr>
        </p:nvSpPr>
        <p:spPr>
          <a:noFill/>
        </p:spPr>
        <p:txBody>
          <a:bodyPr/>
          <a:lstStyle/>
          <a:p>
            <a:fld id="{F8734344-8B1F-4352-BBC3-DDFF3F371B2F}" type="slidenum">
              <a:rPr lang="en-US" altLang="en-US"/>
              <a:pPr/>
              <a:t>20</a:t>
            </a:fld>
            <a:endParaRPr lang="en-US" altLang="en-US"/>
          </a:p>
        </p:txBody>
      </p:sp>
      <p:sp>
        <p:nvSpPr>
          <p:cNvPr id="149508" name="Text Box 4"/>
          <p:cNvSpPr txBox="1">
            <a:spLocks noChangeArrowheads="1"/>
          </p:cNvSpPr>
          <p:nvPr/>
        </p:nvSpPr>
        <p:spPr bwMode="auto">
          <a:xfrm>
            <a:off x="6172200" y="2667000"/>
            <a:ext cx="1501775" cy="457200"/>
          </a:xfrm>
          <a:prstGeom prst="rect">
            <a:avLst/>
          </a:prstGeom>
          <a:noFill/>
          <a:ln w="9525">
            <a:noFill/>
            <a:miter lim="800000"/>
            <a:headEnd/>
            <a:tailEnd/>
          </a:ln>
        </p:spPr>
        <p:txBody>
          <a:bodyPr wrap="none">
            <a:spAutoFit/>
          </a:bodyPr>
          <a:lstStyle/>
          <a:p>
            <a:r>
              <a:rPr lang="en-US" altLang="en-US">
                <a:solidFill>
                  <a:srgbClr val="FF0000"/>
                </a:solidFill>
              </a:rPr>
              <a:t>Equivalent</a:t>
            </a:r>
          </a:p>
        </p:txBody>
      </p:sp>
      <p:sp>
        <p:nvSpPr>
          <p:cNvPr id="149509" name="Line 5"/>
          <p:cNvSpPr>
            <a:spLocks noChangeShapeType="1"/>
          </p:cNvSpPr>
          <p:nvPr/>
        </p:nvSpPr>
        <p:spPr bwMode="auto">
          <a:xfrm flipH="1" flipV="1">
            <a:off x="5334000" y="2819400"/>
            <a:ext cx="838200" cy="76200"/>
          </a:xfrm>
          <a:prstGeom prst="line">
            <a:avLst/>
          </a:prstGeom>
          <a:noFill/>
          <a:ln w="9525">
            <a:solidFill>
              <a:schemeClr val="tx1"/>
            </a:solidFill>
            <a:round/>
            <a:headEnd/>
            <a:tailEnd type="triangle" w="med" len="med"/>
          </a:ln>
        </p:spPr>
        <p:txBody>
          <a:bodyPr/>
          <a:lstStyle/>
          <a:p>
            <a:endParaRPr lang="en-US"/>
          </a:p>
        </p:txBody>
      </p:sp>
      <p:sp>
        <p:nvSpPr>
          <p:cNvPr id="149510" name="Line 6"/>
          <p:cNvSpPr>
            <a:spLocks noChangeShapeType="1"/>
          </p:cNvSpPr>
          <p:nvPr/>
        </p:nvSpPr>
        <p:spPr bwMode="auto">
          <a:xfrm flipH="1">
            <a:off x="5334000" y="2971800"/>
            <a:ext cx="838200" cy="76200"/>
          </a:xfrm>
          <a:prstGeom prst="line">
            <a:avLst/>
          </a:prstGeom>
          <a:noFill/>
          <a:ln w="9525">
            <a:solidFill>
              <a:schemeClr val="tx1"/>
            </a:solidFill>
            <a:round/>
            <a:headEnd/>
            <a:tailEnd type="triangle" w="med" len="med"/>
          </a:ln>
        </p:spPr>
        <p:txBody>
          <a:bodyPr/>
          <a:lstStyle/>
          <a:p>
            <a:endParaRPr lang="en-US"/>
          </a:p>
        </p:txBody>
      </p:sp>
      <p:sp>
        <p:nvSpPr>
          <p:cNvPr id="149511" name="Text Box 7"/>
          <p:cNvSpPr txBox="1">
            <a:spLocks noChangeArrowheads="1"/>
          </p:cNvSpPr>
          <p:nvPr/>
        </p:nvSpPr>
        <p:spPr bwMode="auto">
          <a:xfrm>
            <a:off x="6629400" y="4114800"/>
            <a:ext cx="1501775" cy="457200"/>
          </a:xfrm>
          <a:prstGeom prst="rect">
            <a:avLst/>
          </a:prstGeom>
          <a:noFill/>
          <a:ln w="9525">
            <a:noFill/>
            <a:miter lim="800000"/>
            <a:headEnd/>
            <a:tailEnd/>
          </a:ln>
        </p:spPr>
        <p:txBody>
          <a:bodyPr wrap="none">
            <a:spAutoFit/>
          </a:bodyPr>
          <a:lstStyle/>
          <a:p>
            <a:r>
              <a:rPr lang="en-US" altLang="en-US">
                <a:solidFill>
                  <a:srgbClr val="FF0000"/>
                </a:solidFill>
              </a:rPr>
              <a:t>Equivalent</a:t>
            </a:r>
          </a:p>
        </p:txBody>
      </p:sp>
      <p:sp>
        <p:nvSpPr>
          <p:cNvPr id="149512" name="Line 8"/>
          <p:cNvSpPr>
            <a:spLocks noChangeShapeType="1"/>
          </p:cNvSpPr>
          <p:nvPr/>
        </p:nvSpPr>
        <p:spPr bwMode="auto">
          <a:xfrm flipH="1" flipV="1">
            <a:off x="5791200" y="4267200"/>
            <a:ext cx="838200" cy="76200"/>
          </a:xfrm>
          <a:prstGeom prst="line">
            <a:avLst/>
          </a:prstGeom>
          <a:noFill/>
          <a:ln w="9525">
            <a:solidFill>
              <a:schemeClr val="tx1"/>
            </a:solidFill>
            <a:round/>
            <a:headEnd/>
            <a:tailEnd type="triangle" w="med" len="med"/>
          </a:ln>
        </p:spPr>
        <p:txBody>
          <a:bodyPr/>
          <a:lstStyle/>
          <a:p>
            <a:endParaRPr lang="en-US"/>
          </a:p>
        </p:txBody>
      </p:sp>
      <p:sp>
        <p:nvSpPr>
          <p:cNvPr id="149513" name="Line 9"/>
          <p:cNvSpPr>
            <a:spLocks noChangeShapeType="1"/>
          </p:cNvSpPr>
          <p:nvPr/>
        </p:nvSpPr>
        <p:spPr bwMode="auto">
          <a:xfrm flipH="1">
            <a:off x="5791200" y="4419600"/>
            <a:ext cx="838200" cy="76200"/>
          </a:xfrm>
          <a:prstGeom prst="line">
            <a:avLst/>
          </a:prstGeom>
          <a:noFill/>
          <a:ln w="9525">
            <a:solidFill>
              <a:schemeClr val="tx1"/>
            </a:solidFill>
            <a:round/>
            <a:headEnd/>
            <a:tailEnd type="triangle" w="med" len="med"/>
          </a:ln>
        </p:spPr>
        <p:txBody>
          <a:bodyPr/>
          <a:lstStyle/>
          <a:p>
            <a:endParaRPr lang="en-US"/>
          </a:p>
        </p:txBody>
      </p:sp>
    </p:spTree>
    <p:extLst>
      <p:ext uri="{BB962C8B-B14F-4D97-AF65-F5344CB8AC3E}">
        <p14:creationId xmlns:p14="http://schemas.microsoft.com/office/powerpoint/2010/main" val="38285600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950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49507">
                                            <p:txEl>
                                              <p:pRg st="4" end="4"/>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49507">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9507">
                                            <p:txEl>
                                              <p:pRg st="8" end="8"/>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950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95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9508"/>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149507">
                                            <p:txEl>
                                              <p:pRg st="10" end="1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49507">
                                            <p:txEl>
                                              <p:pRg st="11" end="11"/>
                                            </p:txEl>
                                          </p:spTgt>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0"/>
                                          </p:stCondLst>
                                        </p:cTn>
                                        <p:tgtEl>
                                          <p:spTgt spid="149507">
                                            <p:txEl>
                                              <p:pRg st="13" end="13"/>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49507">
                                            <p:txEl>
                                              <p:pRg st="14" end="14"/>
                                            </p:txEl>
                                          </p:spTgt>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4951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4951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49511"/>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nodeType="clickEffect">
                                  <p:stCondLst>
                                    <p:cond delay="0"/>
                                  </p:stCondLst>
                                  <p:childTnLst>
                                    <p:set>
                                      <p:cBhvr>
                                        <p:cTn id="50" dur="1" fill="hold">
                                          <p:stCondLst>
                                            <p:cond delay="0"/>
                                          </p:stCondLst>
                                        </p:cTn>
                                        <p:tgtEl>
                                          <p:spTgt spid="149507">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08" grpId="0"/>
      <p:bldP spid="149509" grpId="0" animBg="1"/>
      <p:bldP spid="149510" grpId="0" animBg="1"/>
      <p:bldP spid="149511" grpId="0"/>
      <p:bldP spid="149512" grpId="0" animBg="1"/>
      <p:bldP spid="14951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C8643778-7F6C-4E8D-84D1-D5CDB992819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xmlns="" id="{1D22F88D-6907-48AF-B024-346E855E0D9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V="1">
            <a:off x="0" y="-1"/>
            <a:ext cx="3302781" cy="6858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p:cNvSpPr>
            <a:spLocks noGrp="1"/>
          </p:cNvSpPr>
          <p:nvPr>
            <p:ph type="title"/>
          </p:nvPr>
        </p:nvSpPr>
        <p:spPr>
          <a:xfrm>
            <a:off x="372084" y="685801"/>
            <a:ext cx="2057400" cy="5105400"/>
          </a:xfrm>
        </p:spPr>
        <p:txBody>
          <a:bodyPr>
            <a:normAutofit/>
          </a:bodyPr>
          <a:lstStyle/>
          <a:p>
            <a:pPr algn="l"/>
            <a:r>
              <a:rPr lang="en-US" sz="2800">
                <a:solidFill>
                  <a:srgbClr val="FFFFFF"/>
                </a:solidFill>
              </a:rPr>
              <a:t>Exercise</a:t>
            </a:r>
          </a:p>
        </p:txBody>
      </p:sp>
      <p:sp>
        <p:nvSpPr>
          <p:cNvPr id="3" name="Content Placeholder 2"/>
          <p:cNvSpPr>
            <a:spLocks noGrp="1"/>
          </p:cNvSpPr>
          <p:nvPr>
            <p:ph idx="1"/>
          </p:nvPr>
        </p:nvSpPr>
        <p:spPr>
          <a:xfrm>
            <a:off x="3837829" y="685801"/>
            <a:ext cx="4789439" cy="5105400"/>
          </a:xfrm>
        </p:spPr>
        <p:txBody>
          <a:bodyPr>
            <a:normAutofit/>
          </a:bodyPr>
          <a:lstStyle/>
          <a:p>
            <a:r>
              <a:rPr lang="en-US" sz="2400" dirty="0"/>
              <a:t>All Trojan are clever.</a:t>
            </a:r>
          </a:p>
          <a:p>
            <a:r>
              <a:rPr lang="en-US" sz="2400" dirty="0"/>
              <a:t>Some one in the class is sleeping.</a:t>
            </a:r>
          </a:p>
          <a:p>
            <a:r>
              <a:rPr lang="en-US" sz="2400" dirty="0"/>
              <a:t>Every one likes MacDonald.</a:t>
            </a:r>
          </a:p>
          <a:p>
            <a:r>
              <a:rPr lang="en-US" sz="2400" dirty="0"/>
              <a:t>Not Every one likes MacDonald.</a:t>
            </a:r>
          </a:p>
          <a:p>
            <a:r>
              <a:rPr lang="en-US" sz="2400" dirty="0"/>
              <a:t>Every one likes MacDonald unless they are allergic to it.</a:t>
            </a:r>
          </a:p>
          <a:p>
            <a:r>
              <a:rPr lang="en-US" sz="2400" dirty="0"/>
              <a:t>Every one like some kind of food.</a:t>
            </a:r>
          </a:p>
          <a:p>
            <a:r>
              <a:rPr lang="en-US" sz="2400" dirty="0"/>
              <a:t>Brothers are siblings.</a:t>
            </a:r>
          </a:p>
        </p:txBody>
      </p:sp>
      <p:grpSp>
        <p:nvGrpSpPr>
          <p:cNvPr id="12" name="Group 11">
            <a:extLst>
              <a:ext uri="{FF2B5EF4-FFF2-40B4-BE49-F238E27FC236}">
                <a16:creationId xmlns:a16="http://schemas.microsoft.com/office/drawing/2014/main" xmlns="" id="{F3842748-48B5-4DD0-A06A-A31C74024A99}"/>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2486469" y="0"/>
            <a:ext cx="1827609" cy="6858001"/>
            <a:chOff x="1320800" y="0"/>
            <a:chExt cx="2436813" cy="6858001"/>
          </a:xfrm>
        </p:grpSpPr>
        <p:sp>
          <p:nvSpPr>
            <p:cNvPr id="13" name="Freeform 6">
              <a:extLst>
                <a:ext uri="{FF2B5EF4-FFF2-40B4-BE49-F238E27FC236}">
                  <a16:creationId xmlns:a16="http://schemas.microsoft.com/office/drawing/2014/main" xmlns="" id="{548E99BE-1071-4690-9B9C-07926CEE5557}"/>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14" name="Freeform 7">
              <a:extLst>
                <a:ext uri="{FF2B5EF4-FFF2-40B4-BE49-F238E27FC236}">
                  <a16:creationId xmlns:a16="http://schemas.microsoft.com/office/drawing/2014/main" xmlns="" id="{9301F039-B467-413A-B25C-770E51069D42}"/>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5" name="Freeform 8">
              <a:extLst>
                <a:ext uri="{FF2B5EF4-FFF2-40B4-BE49-F238E27FC236}">
                  <a16:creationId xmlns:a16="http://schemas.microsoft.com/office/drawing/2014/main" xmlns="" id="{9F06AEC1-5558-49E8-8CAC-FEBD00DF0031}"/>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6" name="Freeform 9">
              <a:extLst>
                <a:ext uri="{FF2B5EF4-FFF2-40B4-BE49-F238E27FC236}">
                  <a16:creationId xmlns:a16="http://schemas.microsoft.com/office/drawing/2014/main" xmlns="" id="{D10B76B9-BA68-471E-B58C-ED91198A9FAB}"/>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7" name="Freeform 10">
              <a:extLst>
                <a:ext uri="{FF2B5EF4-FFF2-40B4-BE49-F238E27FC236}">
                  <a16:creationId xmlns:a16="http://schemas.microsoft.com/office/drawing/2014/main" xmlns="" id="{FEB3913B-54A3-490E-BA4B-5D0330990FCB}"/>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8" name="Freeform 11">
              <a:extLst>
                <a:ext uri="{FF2B5EF4-FFF2-40B4-BE49-F238E27FC236}">
                  <a16:creationId xmlns:a16="http://schemas.microsoft.com/office/drawing/2014/main" xmlns="" id="{F75DC961-08A4-46F8-8A80-2E1FB977E1F4}"/>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7989752" cy="1083329"/>
          </a:xfrm>
        </p:spPr>
        <p:txBody>
          <a:bodyPr/>
          <a:lstStyle/>
          <a:p>
            <a:r>
              <a:rPr lang="en-US" dirty="0"/>
              <a:t>SUMMARY</a:t>
            </a:r>
          </a:p>
        </p:txBody>
      </p:sp>
      <p:sp>
        <p:nvSpPr>
          <p:cNvPr id="3" name="Content Placeholder 2"/>
          <p:cNvSpPr>
            <a:spLocks noGrp="1"/>
          </p:cNvSpPr>
          <p:nvPr>
            <p:ph idx="1"/>
          </p:nvPr>
        </p:nvSpPr>
        <p:spPr>
          <a:xfrm>
            <a:off x="457201" y="2133600"/>
            <a:ext cx="8153400" cy="3886200"/>
          </a:xfrm>
        </p:spPr>
        <p:txBody>
          <a:bodyPr>
            <a:normAutofit/>
          </a:bodyPr>
          <a:lstStyle/>
          <a:p>
            <a:pPr algn="just"/>
            <a:r>
              <a:rPr lang="en-US" sz="2400" dirty="0"/>
              <a:t>First-order logic:</a:t>
            </a:r>
          </a:p>
          <a:p>
            <a:pPr lvl="2" algn="just">
              <a:buFont typeface="Arial" panose="020B0604020202020204" pitchFamily="34" charset="0"/>
              <a:buChar char="•"/>
            </a:pPr>
            <a:r>
              <a:rPr lang="en-US" sz="2200" dirty="0"/>
              <a:t>Much more expressive than propositional logic.</a:t>
            </a:r>
          </a:p>
          <a:p>
            <a:pPr lvl="2" algn="just">
              <a:buFont typeface="Arial" panose="020B0604020202020204" pitchFamily="34" charset="0"/>
              <a:buChar char="•"/>
            </a:pPr>
            <a:r>
              <a:rPr lang="en-US" sz="2200" dirty="0"/>
              <a:t>Allows objects and relations as semantic primitives</a:t>
            </a:r>
          </a:p>
          <a:p>
            <a:pPr lvl="2" algn="just">
              <a:buFont typeface="Arial" panose="020B0604020202020204" pitchFamily="34" charset="0"/>
              <a:buChar char="•"/>
            </a:pPr>
            <a:r>
              <a:rPr lang="en-US" sz="2200" dirty="0"/>
              <a:t>Universal and existential quantifiers</a:t>
            </a:r>
          </a:p>
          <a:p>
            <a:pPr algn="just"/>
            <a:r>
              <a:rPr lang="en-US" sz="2400" dirty="0"/>
              <a:t>Syntax: constants, functions, predicates, quantifiers</a:t>
            </a:r>
          </a:p>
          <a:p>
            <a:pPr algn="just"/>
            <a:r>
              <a:rPr lang="en-US" sz="2400" dirty="0"/>
              <a:t>Translate simple English sentences to FOL</a:t>
            </a:r>
          </a:p>
        </p:txBody>
      </p:sp>
      <p:sp>
        <p:nvSpPr>
          <p:cNvPr id="4" name="Slide Number Placeholder 3"/>
          <p:cNvSpPr>
            <a:spLocks noGrp="1"/>
          </p:cNvSpPr>
          <p:nvPr>
            <p:ph type="sldNum" sz="quarter" idx="12"/>
          </p:nvPr>
        </p:nvSpPr>
        <p:spPr/>
        <p:txBody>
          <a:bodyPr/>
          <a:lstStyle/>
          <a:p>
            <a:fld id="{2A92DEFD-C7DD-4590-9839-9D59973925CB}" type="slidenum">
              <a:rPr lang="en-US" smtClean="0"/>
              <a:t>22</a:t>
            </a:fld>
            <a:endParaRPr lang="en-US"/>
          </a:p>
        </p:txBody>
      </p:sp>
    </p:spTree>
    <p:extLst>
      <p:ext uri="{BB962C8B-B14F-4D97-AF65-F5344CB8AC3E}">
        <p14:creationId xmlns:p14="http://schemas.microsoft.com/office/powerpoint/2010/main" val="19566106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
            </a:r>
            <a:br>
              <a:rPr lang="en-US" dirty="0" smtClean="0"/>
            </a:br>
            <a:r>
              <a:rPr lang="en-US" dirty="0" smtClean="0">
                <a:latin typeface="Comic Sans MS" panose="030F0702030302020204" pitchFamily="66" charset="0"/>
              </a:rPr>
              <a:t>Quote of the Day!</a:t>
            </a:r>
            <a:endParaRPr lang="en-US" dirty="0">
              <a:latin typeface="Comic Sans MS" panose="030F0702030302020204" pitchFamily="66" charset="0"/>
            </a:endParaRPr>
          </a:p>
        </p:txBody>
      </p:sp>
      <p:pic>
        <p:nvPicPr>
          <p:cNvPr id="4" name="Content Placeholder 3"/>
          <p:cNvPicPr>
            <a:picLocks noGrp="1" noChangeAspect="1"/>
          </p:cNvPicPr>
          <p:nvPr>
            <p:ph idx="1"/>
          </p:nvPr>
        </p:nvPicPr>
        <p:blipFill>
          <a:blip r:embed="rId2"/>
          <a:stretch>
            <a:fillRect/>
          </a:stretch>
        </p:blipFill>
        <p:spPr>
          <a:xfrm>
            <a:off x="2552700" y="2005806"/>
            <a:ext cx="4038600" cy="3990975"/>
          </a:xfrm>
          <a:prstGeom prst="rect">
            <a:avLst/>
          </a:prstGeom>
        </p:spPr>
      </p:pic>
    </p:spTree>
    <p:extLst>
      <p:ext uri="{BB962C8B-B14F-4D97-AF65-F5344CB8AC3E}">
        <p14:creationId xmlns:p14="http://schemas.microsoft.com/office/powerpoint/2010/main" val="13163583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140</TotalTime>
  <Words>1260</Words>
  <Application>Microsoft Office PowerPoint</Application>
  <PresentationFormat>On-screen Show (4:3)</PresentationFormat>
  <Paragraphs>216</Paragraphs>
  <Slides>23</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Arial</vt:lpstr>
      <vt:lpstr>Calibri</vt:lpstr>
      <vt:lpstr>Calibri Light</vt:lpstr>
      <vt:lpstr>Comic Sans MS</vt:lpstr>
      <vt:lpstr>Symbol</vt:lpstr>
      <vt:lpstr>Times New Roman</vt:lpstr>
      <vt:lpstr>Wingdings</vt:lpstr>
      <vt:lpstr>Wingdings 2</vt:lpstr>
      <vt:lpstr>Office Theme</vt:lpstr>
      <vt:lpstr>Artificial Intelligence</vt:lpstr>
      <vt:lpstr>Lecture # 11</vt:lpstr>
      <vt:lpstr>Agenda</vt:lpstr>
      <vt:lpstr>Pros &amp; Cons of Propositional logic</vt:lpstr>
      <vt:lpstr>First-order First Order Logic</vt:lpstr>
      <vt:lpstr>Predicate Calculus (PC)</vt:lpstr>
      <vt:lpstr>PowerPoint Presentation</vt:lpstr>
      <vt:lpstr>PowerPoint Presentation</vt:lpstr>
      <vt:lpstr>FOL Provides</vt:lpstr>
      <vt:lpstr>Quantifiers</vt:lpstr>
      <vt:lpstr>A common mistake to avoid</vt:lpstr>
      <vt:lpstr>Another common mistake to avoid</vt:lpstr>
      <vt:lpstr>FOL</vt:lpstr>
      <vt:lpstr>Example </vt:lpstr>
      <vt:lpstr>Quantifiers</vt:lpstr>
      <vt:lpstr>Other Comments About Quantification</vt:lpstr>
      <vt:lpstr>Properties of quantifiers</vt:lpstr>
      <vt:lpstr>Connections between All and Exists</vt:lpstr>
      <vt:lpstr>Translating English to FOL</vt:lpstr>
      <vt:lpstr>Translating English to FOL</vt:lpstr>
      <vt:lpstr>Exercise</vt:lpstr>
      <vt:lpstr>SUMMARY</vt:lpstr>
      <vt:lpstr> Quote of the Day!</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Artificial Intelligence</dc:title>
  <dc:creator>AbdulSamad Rajput</dc:creator>
  <cp:lastModifiedBy>gulraiz</cp:lastModifiedBy>
  <cp:revision>12</cp:revision>
  <dcterms:created xsi:type="dcterms:W3CDTF">2020-10-02T15:23:09Z</dcterms:created>
  <dcterms:modified xsi:type="dcterms:W3CDTF">2024-06-04T13:47:50Z</dcterms:modified>
</cp:coreProperties>
</file>