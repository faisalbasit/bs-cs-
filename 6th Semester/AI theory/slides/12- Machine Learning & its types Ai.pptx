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25"/>
  </p:notesMasterIdLst>
  <p:handoutMasterIdLst>
    <p:handoutMasterId r:id="rId26"/>
  </p:handoutMasterIdLst>
  <p:sldIdLst>
    <p:sldId id="256" r:id="rId2"/>
    <p:sldId id="280" r:id="rId3"/>
    <p:sldId id="283" r:id="rId4"/>
    <p:sldId id="278" r:id="rId5"/>
    <p:sldId id="279" r:id="rId6"/>
    <p:sldId id="257" r:id="rId7"/>
    <p:sldId id="266" r:id="rId8"/>
    <p:sldId id="259" r:id="rId9"/>
    <p:sldId id="258" r:id="rId10"/>
    <p:sldId id="284" r:id="rId11"/>
    <p:sldId id="263" r:id="rId12"/>
    <p:sldId id="268" r:id="rId13"/>
    <p:sldId id="269" r:id="rId14"/>
    <p:sldId id="285" r:id="rId15"/>
    <p:sldId id="286" r:id="rId16"/>
    <p:sldId id="262" r:id="rId17"/>
    <p:sldId id="270" r:id="rId18"/>
    <p:sldId id="271" r:id="rId19"/>
    <p:sldId id="261" r:id="rId20"/>
    <p:sldId id="264" r:id="rId21"/>
    <p:sldId id="273" r:id="rId22"/>
    <p:sldId id="265" r:id="rId23"/>
    <p:sldId id="281" r:id="rId24"/>
  </p:sldIdLst>
  <p:sldSz cx="9144000" cy="6858000" type="screen4x3"/>
  <p:notesSz cx="7053263"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3" d="100"/>
          <a:sy n="103" d="100"/>
        </p:scale>
        <p:origin x="23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7072"/>
          </a:xfrm>
          <a:prstGeom prst="rect">
            <a:avLst/>
          </a:prstGeom>
        </p:spPr>
        <p:txBody>
          <a:bodyPr vert="horz" lIns="93497" tIns="46749" rIns="93497" bIns="46749" rtlCol="0"/>
          <a:lstStyle>
            <a:lvl1pPr algn="l">
              <a:defRPr sz="1200"/>
            </a:lvl1pPr>
          </a:lstStyle>
          <a:p>
            <a:r>
              <a:rPr lang="en-US"/>
              <a:t>Chapter#09: Introduction To Machine Learning</a:t>
            </a:r>
          </a:p>
        </p:txBody>
      </p:sp>
      <p:sp>
        <p:nvSpPr>
          <p:cNvPr id="3" name="Date Placeholder 2"/>
          <p:cNvSpPr>
            <a:spLocks noGrp="1"/>
          </p:cNvSpPr>
          <p:nvPr>
            <p:ph type="dt" sz="quarter" idx="1"/>
          </p:nvPr>
        </p:nvSpPr>
        <p:spPr>
          <a:xfrm>
            <a:off x="3995217" y="0"/>
            <a:ext cx="3056414" cy="467072"/>
          </a:xfrm>
          <a:prstGeom prst="rect">
            <a:avLst/>
          </a:prstGeom>
        </p:spPr>
        <p:txBody>
          <a:bodyPr vert="horz" lIns="93497" tIns="46749" rIns="93497" bIns="46749" rtlCol="0"/>
          <a:lstStyle>
            <a:lvl1pPr algn="r">
              <a:defRPr sz="1200"/>
            </a:lvl1pPr>
          </a:lstStyle>
          <a:p>
            <a:fld id="{EB3F4495-623A-4F96-A284-F0BF724A6F7C}" type="datetimeFigureOut">
              <a:rPr lang="en-US" smtClean="0"/>
              <a:t>6/5/2024</a:t>
            </a:fld>
            <a:endParaRPr lang="en-US"/>
          </a:p>
        </p:txBody>
      </p:sp>
      <p:sp>
        <p:nvSpPr>
          <p:cNvPr id="4" name="Footer Placeholder 3"/>
          <p:cNvSpPr>
            <a:spLocks noGrp="1"/>
          </p:cNvSpPr>
          <p:nvPr>
            <p:ph type="ftr" sz="quarter" idx="2"/>
          </p:nvPr>
        </p:nvSpPr>
        <p:spPr>
          <a:xfrm>
            <a:off x="0" y="8842030"/>
            <a:ext cx="3056414" cy="467071"/>
          </a:xfrm>
          <a:prstGeom prst="rect">
            <a:avLst/>
          </a:prstGeom>
        </p:spPr>
        <p:txBody>
          <a:bodyPr vert="horz" lIns="93497" tIns="46749" rIns="93497" bIns="46749" rtlCol="0" anchor="b"/>
          <a:lstStyle>
            <a:lvl1pPr algn="l">
              <a:defRPr sz="1200"/>
            </a:lvl1pPr>
          </a:lstStyle>
          <a:p>
            <a:endParaRPr lang="en-US"/>
          </a:p>
        </p:txBody>
      </p:sp>
      <p:sp>
        <p:nvSpPr>
          <p:cNvPr id="5" name="Slide Number Placeholder 4"/>
          <p:cNvSpPr>
            <a:spLocks noGrp="1"/>
          </p:cNvSpPr>
          <p:nvPr>
            <p:ph type="sldNum" sz="quarter" idx="3"/>
          </p:nvPr>
        </p:nvSpPr>
        <p:spPr>
          <a:xfrm>
            <a:off x="3995217" y="8842030"/>
            <a:ext cx="3056414" cy="467071"/>
          </a:xfrm>
          <a:prstGeom prst="rect">
            <a:avLst/>
          </a:prstGeom>
        </p:spPr>
        <p:txBody>
          <a:bodyPr vert="horz" lIns="93497" tIns="46749" rIns="93497" bIns="46749" rtlCol="0" anchor="b"/>
          <a:lstStyle>
            <a:lvl1pPr algn="r">
              <a:defRPr sz="1200"/>
            </a:lvl1pPr>
          </a:lstStyle>
          <a:p>
            <a:fld id="{ED5417F2-C78B-48E8-A7C5-5B68ED92F126}" type="slidenum">
              <a:rPr lang="en-US" smtClean="0"/>
              <a:t>‹#›</a:t>
            </a:fld>
            <a:endParaRPr lang="en-US"/>
          </a:p>
        </p:txBody>
      </p:sp>
    </p:spTree>
    <p:extLst>
      <p:ext uri="{BB962C8B-B14F-4D97-AF65-F5344CB8AC3E}">
        <p14:creationId xmlns:p14="http://schemas.microsoft.com/office/powerpoint/2010/main" val="3661189294"/>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5455"/>
          </a:xfrm>
          <a:prstGeom prst="rect">
            <a:avLst/>
          </a:prstGeom>
        </p:spPr>
        <p:txBody>
          <a:bodyPr vert="horz" lIns="93497" tIns="46749" rIns="93497" bIns="46749" rtlCol="0"/>
          <a:lstStyle>
            <a:lvl1pPr algn="l">
              <a:defRPr sz="1200"/>
            </a:lvl1pPr>
          </a:lstStyle>
          <a:p>
            <a:r>
              <a:rPr lang="en-US"/>
              <a:t>Chapter#09: Introduction To Machine Learning</a:t>
            </a:r>
          </a:p>
        </p:txBody>
      </p:sp>
      <p:sp>
        <p:nvSpPr>
          <p:cNvPr id="3" name="Date Placeholder 2"/>
          <p:cNvSpPr>
            <a:spLocks noGrp="1"/>
          </p:cNvSpPr>
          <p:nvPr>
            <p:ph type="dt" idx="1"/>
          </p:nvPr>
        </p:nvSpPr>
        <p:spPr>
          <a:xfrm>
            <a:off x="3995217" y="0"/>
            <a:ext cx="3056414" cy="465455"/>
          </a:xfrm>
          <a:prstGeom prst="rect">
            <a:avLst/>
          </a:prstGeom>
        </p:spPr>
        <p:txBody>
          <a:bodyPr vert="horz" lIns="93497" tIns="46749" rIns="93497" bIns="46749" rtlCol="0"/>
          <a:lstStyle>
            <a:lvl1pPr algn="r">
              <a:defRPr sz="1200"/>
            </a:lvl1pPr>
          </a:lstStyle>
          <a:p>
            <a:fld id="{879FD2F4-DF45-43B6-9C74-5D17E63A7246}" type="datetimeFigureOut">
              <a:rPr lang="en-US" smtClean="0"/>
              <a:t>6/5/2024</a:t>
            </a:fld>
            <a:endParaRPr lang="en-US"/>
          </a:p>
        </p:txBody>
      </p:sp>
      <p:sp>
        <p:nvSpPr>
          <p:cNvPr id="4" name="Slide Image Placeholder 3"/>
          <p:cNvSpPr>
            <a:spLocks noGrp="1" noRot="1" noChangeAspect="1"/>
          </p:cNvSpPr>
          <p:nvPr>
            <p:ph type="sldImg" idx="2"/>
          </p:nvPr>
        </p:nvSpPr>
        <p:spPr>
          <a:xfrm>
            <a:off x="1200150" y="698500"/>
            <a:ext cx="4654550" cy="3490913"/>
          </a:xfrm>
          <a:prstGeom prst="rect">
            <a:avLst/>
          </a:prstGeom>
          <a:noFill/>
          <a:ln w="12700">
            <a:solidFill>
              <a:prstClr val="black"/>
            </a:solidFill>
          </a:ln>
        </p:spPr>
        <p:txBody>
          <a:bodyPr vert="horz" lIns="93497" tIns="46749" rIns="93497" bIns="46749" rtlCol="0" anchor="ctr"/>
          <a:lstStyle/>
          <a:p>
            <a:endParaRPr lang="en-US"/>
          </a:p>
        </p:txBody>
      </p:sp>
      <p:sp>
        <p:nvSpPr>
          <p:cNvPr id="5" name="Notes Placeholder 4"/>
          <p:cNvSpPr>
            <a:spLocks noGrp="1"/>
          </p:cNvSpPr>
          <p:nvPr>
            <p:ph type="body" sz="quarter" idx="3"/>
          </p:nvPr>
        </p:nvSpPr>
        <p:spPr>
          <a:xfrm>
            <a:off x="705327" y="4421823"/>
            <a:ext cx="5642610" cy="4189095"/>
          </a:xfrm>
          <a:prstGeom prst="rect">
            <a:avLst/>
          </a:prstGeom>
        </p:spPr>
        <p:txBody>
          <a:bodyPr vert="horz" lIns="93497" tIns="46749" rIns="93497" bIns="4674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56414" cy="465455"/>
          </a:xfrm>
          <a:prstGeom prst="rect">
            <a:avLst/>
          </a:prstGeom>
        </p:spPr>
        <p:txBody>
          <a:bodyPr vert="horz" lIns="93497" tIns="46749" rIns="93497" bIns="46749" rtlCol="0" anchor="b"/>
          <a:lstStyle>
            <a:lvl1pPr algn="l">
              <a:defRPr sz="1200"/>
            </a:lvl1pPr>
          </a:lstStyle>
          <a:p>
            <a:endParaRPr lang="en-US"/>
          </a:p>
        </p:txBody>
      </p:sp>
      <p:sp>
        <p:nvSpPr>
          <p:cNvPr id="7" name="Slide Number Placeholder 6"/>
          <p:cNvSpPr>
            <a:spLocks noGrp="1"/>
          </p:cNvSpPr>
          <p:nvPr>
            <p:ph type="sldNum" sz="quarter" idx="5"/>
          </p:nvPr>
        </p:nvSpPr>
        <p:spPr>
          <a:xfrm>
            <a:off x="3995217" y="8842029"/>
            <a:ext cx="3056414" cy="465455"/>
          </a:xfrm>
          <a:prstGeom prst="rect">
            <a:avLst/>
          </a:prstGeom>
        </p:spPr>
        <p:txBody>
          <a:bodyPr vert="horz" lIns="93497" tIns="46749" rIns="93497" bIns="46749" rtlCol="0" anchor="b"/>
          <a:lstStyle>
            <a:lvl1pPr algn="r">
              <a:defRPr sz="1200"/>
            </a:lvl1pPr>
          </a:lstStyle>
          <a:p>
            <a:fld id="{20E5A98C-BD64-4A82-AE8C-87A8F4B54953}" type="slidenum">
              <a:rPr lang="en-US" smtClean="0"/>
              <a:t>‹#›</a:t>
            </a:fld>
            <a:endParaRPr lang="en-US"/>
          </a:p>
        </p:txBody>
      </p:sp>
    </p:spTree>
    <p:extLst>
      <p:ext uri="{BB962C8B-B14F-4D97-AF65-F5344CB8AC3E}">
        <p14:creationId xmlns:p14="http://schemas.microsoft.com/office/powerpoint/2010/main" val="331890676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E5A98C-BD64-4A82-AE8C-87A8F4B54953}" type="slidenum">
              <a:rPr lang="en-US" smtClean="0"/>
              <a:t>6</a:t>
            </a:fld>
            <a:endParaRPr lang="en-US"/>
          </a:p>
        </p:txBody>
      </p:sp>
      <p:sp>
        <p:nvSpPr>
          <p:cNvPr id="6" name="Header Placeholder 5"/>
          <p:cNvSpPr>
            <a:spLocks noGrp="1"/>
          </p:cNvSpPr>
          <p:nvPr>
            <p:ph type="hdr" sz="quarter" idx="12"/>
          </p:nvPr>
        </p:nvSpPr>
        <p:spPr/>
        <p:txBody>
          <a:bodyPr/>
          <a:lstStyle/>
          <a:p>
            <a:r>
              <a:rPr lang="en-US"/>
              <a:t>Chapter#09: Introduction To Machine Learning</a:t>
            </a:r>
          </a:p>
        </p:txBody>
      </p:sp>
      <p:sp>
        <p:nvSpPr>
          <p:cNvPr id="7" name="Footer Placeholder 6">
            <a:extLst>
              <a:ext uri="{FF2B5EF4-FFF2-40B4-BE49-F238E27FC236}">
                <a16:creationId xmlns:a16="http://schemas.microsoft.com/office/drawing/2014/main" xmlns="" id="{A392E998-05E7-460C-A6FF-7941877C90A6}"/>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939429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E5A98C-BD64-4A82-AE8C-87A8F4B54953}" type="slidenum">
              <a:rPr lang="en-US" smtClean="0"/>
              <a:t>7</a:t>
            </a:fld>
            <a:endParaRPr lang="en-US"/>
          </a:p>
        </p:txBody>
      </p:sp>
      <p:sp>
        <p:nvSpPr>
          <p:cNvPr id="6" name="Header Placeholder 5"/>
          <p:cNvSpPr>
            <a:spLocks noGrp="1"/>
          </p:cNvSpPr>
          <p:nvPr>
            <p:ph type="hdr" sz="quarter" idx="12"/>
          </p:nvPr>
        </p:nvSpPr>
        <p:spPr/>
        <p:txBody>
          <a:bodyPr/>
          <a:lstStyle/>
          <a:p>
            <a:r>
              <a:rPr lang="en-US"/>
              <a:t>Chapter#09: Introduction To Machine Learning</a:t>
            </a:r>
          </a:p>
        </p:txBody>
      </p:sp>
      <p:sp>
        <p:nvSpPr>
          <p:cNvPr id="7" name="Footer Placeholder 6">
            <a:extLst>
              <a:ext uri="{FF2B5EF4-FFF2-40B4-BE49-F238E27FC236}">
                <a16:creationId xmlns:a16="http://schemas.microsoft.com/office/drawing/2014/main" xmlns="" id="{62020549-73B9-4578-8372-B4DE05F7B793}"/>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739030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E5A98C-BD64-4A82-AE8C-87A8F4B54953}" type="slidenum">
              <a:rPr lang="en-US" smtClean="0"/>
              <a:t>11</a:t>
            </a:fld>
            <a:endParaRPr lang="en-US"/>
          </a:p>
        </p:txBody>
      </p:sp>
      <p:sp>
        <p:nvSpPr>
          <p:cNvPr id="6" name="Header Placeholder 5"/>
          <p:cNvSpPr>
            <a:spLocks noGrp="1"/>
          </p:cNvSpPr>
          <p:nvPr>
            <p:ph type="hdr" sz="quarter" idx="12"/>
          </p:nvPr>
        </p:nvSpPr>
        <p:spPr/>
        <p:txBody>
          <a:bodyPr/>
          <a:lstStyle/>
          <a:p>
            <a:r>
              <a:rPr lang="en-US"/>
              <a:t>Chapter#09: Introduction To Machine Learning</a:t>
            </a:r>
          </a:p>
        </p:txBody>
      </p:sp>
      <p:sp>
        <p:nvSpPr>
          <p:cNvPr id="7" name="Footer Placeholder 6">
            <a:extLst>
              <a:ext uri="{FF2B5EF4-FFF2-40B4-BE49-F238E27FC236}">
                <a16:creationId xmlns:a16="http://schemas.microsoft.com/office/drawing/2014/main" xmlns="" id="{AED2A4B9-FA4C-45FF-A157-DCEF606B517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1592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4974">
              <a:defRPr/>
            </a:pPr>
            <a:r>
              <a:rPr lang="en-US" dirty="0"/>
              <a:t>https://www.geeksforgeeks.org/supervised-unsupervised-learning/</a:t>
            </a:r>
          </a:p>
          <a:p>
            <a:endParaRPr lang="en-US" b="1" dirty="0"/>
          </a:p>
          <a:p>
            <a:r>
              <a:rPr lang="en-US" b="1" dirty="0"/>
              <a:t>For instance</a:t>
            </a:r>
            <a:r>
              <a:rPr lang="en-US" dirty="0"/>
              <a:t>, suppose…</a:t>
            </a:r>
          </a:p>
          <a:p>
            <a:r>
              <a:rPr lang="en-US" dirty="0"/>
              <a:t>…</a:t>
            </a:r>
          </a:p>
          <a:p>
            <a:pPr defTabSz="934974">
              <a:defRPr/>
            </a:pPr>
            <a:r>
              <a:rPr lang="en-US" dirty="0"/>
              <a:t>Now suppose after training the data, you have given a new separate fruit say Banana from basket and asked to identify it.</a:t>
            </a:r>
          </a:p>
          <a:p>
            <a:r>
              <a:rPr lang="en-US" dirty="0"/>
              <a:t>Since machine has already learnt the things from previous data and this time have to use it wisely. </a:t>
            </a:r>
          </a:p>
          <a:p>
            <a:r>
              <a:rPr lang="en-US" dirty="0"/>
              <a:t>It will first classify the fruit with its shape and color, and would confirm the fruit name as BANANA and put it in Banana category. </a:t>
            </a:r>
          </a:p>
          <a:p>
            <a:r>
              <a:rPr lang="en-US" dirty="0"/>
              <a:t>Thus machine learns the things from training data(basket containing fruits) and then apply the knowledge to test data(new fruit).</a:t>
            </a:r>
          </a:p>
          <a:p>
            <a:endParaRPr lang="en-US" dirty="0"/>
          </a:p>
          <a:p>
            <a:pPr fontAlgn="base"/>
            <a:r>
              <a:rPr lang="en-US" dirty="0"/>
              <a:t>Supervised learning classified into two categories of algorithms:</a:t>
            </a:r>
          </a:p>
          <a:p>
            <a:pPr fontAlgn="base"/>
            <a:r>
              <a:rPr lang="en-US" b="1" dirty="0"/>
              <a:t>Classification</a:t>
            </a:r>
            <a:r>
              <a:rPr lang="en-US" dirty="0"/>
              <a:t>: A classification problem is when the output variable is a category, such as “Red” or “blue” or “disease” and “no disease”.</a:t>
            </a:r>
          </a:p>
          <a:p>
            <a:pPr fontAlgn="base"/>
            <a:r>
              <a:rPr lang="en-US" b="1" dirty="0"/>
              <a:t>Regression</a:t>
            </a:r>
            <a:r>
              <a:rPr lang="en-US" dirty="0"/>
              <a:t>: A regression problem is when the output variable is a real value, such as “dollars” or “weight”.</a:t>
            </a:r>
          </a:p>
          <a:p>
            <a:endParaRPr lang="en-US" dirty="0"/>
          </a:p>
        </p:txBody>
      </p:sp>
      <p:sp>
        <p:nvSpPr>
          <p:cNvPr id="4" name="Slide Number Placeholder 3"/>
          <p:cNvSpPr>
            <a:spLocks noGrp="1"/>
          </p:cNvSpPr>
          <p:nvPr>
            <p:ph type="sldNum" sz="quarter" idx="10"/>
          </p:nvPr>
        </p:nvSpPr>
        <p:spPr/>
        <p:txBody>
          <a:bodyPr/>
          <a:lstStyle/>
          <a:p>
            <a:fld id="{20E5A98C-BD64-4A82-AE8C-87A8F4B54953}" type="slidenum">
              <a:rPr lang="en-US" smtClean="0"/>
              <a:t>12</a:t>
            </a:fld>
            <a:endParaRPr lang="en-US"/>
          </a:p>
        </p:txBody>
      </p:sp>
      <p:sp>
        <p:nvSpPr>
          <p:cNvPr id="6" name="Header Placeholder 5"/>
          <p:cNvSpPr>
            <a:spLocks noGrp="1"/>
          </p:cNvSpPr>
          <p:nvPr>
            <p:ph type="hdr" sz="quarter" idx="12"/>
          </p:nvPr>
        </p:nvSpPr>
        <p:spPr/>
        <p:txBody>
          <a:bodyPr/>
          <a:lstStyle/>
          <a:p>
            <a:r>
              <a:rPr lang="en-US"/>
              <a:t>Chapter#09: Introduction To Machine Learning</a:t>
            </a:r>
          </a:p>
        </p:txBody>
      </p:sp>
      <p:sp>
        <p:nvSpPr>
          <p:cNvPr id="7" name="Footer Placeholder 6">
            <a:extLst>
              <a:ext uri="{FF2B5EF4-FFF2-40B4-BE49-F238E27FC236}">
                <a16:creationId xmlns:a16="http://schemas.microsoft.com/office/drawing/2014/main" xmlns="" id="{193A9A39-C6C2-401C-A007-DE29DA174016}"/>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2026472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E5A98C-BD64-4A82-AE8C-87A8F4B54953}" type="slidenum">
              <a:rPr lang="en-US" smtClean="0"/>
              <a:t>13</a:t>
            </a:fld>
            <a:endParaRPr lang="en-US"/>
          </a:p>
        </p:txBody>
      </p:sp>
      <p:sp>
        <p:nvSpPr>
          <p:cNvPr id="6" name="Header Placeholder 5"/>
          <p:cNvSpPr>
            <a:spLocks noGrp="1"/>
          </p:cNvSpPr>
          <p:nvPr>
            <p:ph type="hdr" sz="quarter" idx="12"/>
          </p:nvPr>
        </p:nvSpPr>
        <p:spPr/>
        <p:txBody>
          <a:bodyPr/>
          <a:lstStyle/>
          <a:p>
            <a:r>
              <a:rPr lang="en-US"/>
              <a:t>Chapter#09: Introduction To Machine Learning</a:t>
            </a:r>
          </a:p>
        </p:txBody>
      </p:sp>
      <p:sp>
        <p:nvSpPr>
          <p:cNvPr id="7" name="Footer Placeholder 6">
            <a:extLst>
              <a:ext uri="{FF2B5EF4-FFF2-40B4-BE49-F238E27FC236}">
                <a16:creationId xmlns:a16="http://schemas.microsoft.com/office/drawing/2014/main" xmlns="" id="{D7030925-D7C3-4C61-A9CA-31EAFF11812C}"/>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202647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endParaRPr lang="en-US" dirty="0"/>
          </a:p>
        </p:txBody>
      </p:sp>
      <p:sp>
        <p:nvSpPr>
          <p:cNvPr id="4" name="Slide Number Placeholder 3"/>
          <p:cNvSpPr>
            <a:spLocks noGrp="1"/>
          </p:cNvSpPr>
          <p:nvPr>
            <p:ph type="sldNum" sz="quarter" idx="10"/>
          </p:nvPr>
        </p:nvSpPr>
        <p:spPr/>
        <p:txBody>
          <a:bodyPr/>
          <a:lstStyle/>
          <a:p>
            <a:fld id="{20E5A98C-BD64-4A82-AE8C-87A8F4B54953}" type="slidenum">
              <a:rPr lang="en-US" smtClean="0"/>
              <a:t>16</a:t>
            </a:fld>
            <a:endParaRPr lang="en-US"/>
          </a:p>
        </p:txBody>
      </p:sp>
      <p:sp>
        <p:nvSpPr>
          <p:cNvPr id="6" name="Header Placeholder 5"/>
          <p:cNvSpPr>
            <a:spLocks noGrp="1"/>
          </p:cNvSpPr>
          <p:nvPr>
            <p:ph type="hdr" sz="quarter" idx="12"/>
          </p:nvPr>
        </p:nvSpPr>
        <p:spPr/>
        <p:txBody>
          <a:bodyPr/>
          <a:lstStyle/>
          <a:p>
            <a:r>
              <a:rPr lang="en-US"/>
              <a:t>Chapter#09: Introduction To Machine Learning</a:t>
            </a:r>
          </a:p>
        </p:txBody>
      </p:sp>
      <p:sp>
        <p:nvSpPr>
          <p:cNvPr id="7" name="Footer Placeholder 6">
            <a:extLst>
              <a:ext uri="{FF2B5EF4-FFF2-40B4-BE49-F238E27FC236}">
                <a16:creationId xmlns:a16="http://schemas.microsoft.com/office/drawing/2014/main" xmlns="" id="{B15140D5-A646-4504-9611-F17B881426D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333685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endParaRPr lang="en-US" dirty="0"/>
          </a:p>
        </p:txBody>
      </p:sp>
      <p:sp>
        <p:nvSpPr>
          <p:cNvPr id="4" name="Slide Number Placeholder 3"/>
          <p:cNvSpPr>
            <a:spLocks noGrp="1"/>
          </p:cNvSpPr>
          <p:nvPr>
            <p:ph type="sldNum" sz="quarter" idx="10"/>
          </p:nvPr>
        </p:nvSpPr>
        <p:spPr/>
        <p:txBody>
          <a:bodyPr/>
          <a:lstStyle/>
          <a:p>
            <a:fld id="{20E5A98C-BD64-4A82-AE8C-87A8F4B54953}" type="slidenum">
              <a:rPr lang="en-US" smtClean="0"/>
              <a:t>17</a:t>
            </a:fld>
            <a:endParaRPr lang="en-US"/>
          </a:p>
        </p:txBody>
      </p:sp>
      <p:sp>
        <p:nvSpPr>
          <p:cNvPr id="6" name="Header Placeholder 5"/>
          <p:cNvSpPr>
            <a:spLocks noGrp="1"/>
          </p:cNvSpPr>
          <p:nvPr>
            <p:ph type="hdr" sz="quarter" idx="12"/>
          </p:nvPr>
        </p:nvSpPr>
        <p:spPr/>
        <p:txBody>
          <a:bodyPr/>
          <a:lstStyle/>
          <a:p>
            <a:r>
              <a:rPr lang="en-US"/>
              <a:t>Chapter#09: Introduction To Machine Learning</a:t>
            </a:r>
          </a:p>
        </p:txBody>
      </p:sp>
      <p:sp>
        <p:nvSpPr>
          <p:cNvPr id="7" name="Footer Placeholder 6">
            <a:extLst>
              <a:ext uri="{FF2B5EF4-FFF2-40B4-BE49-F238E27FC236}">
                <a16:creationId xmlns:a16="http://schemas.microsoft.com/office/drawing/2014/main" xmlns="" id="{115018D6-EFA7-4A82-8F10-FD2F442FB6D6}"/>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3336856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E5A98C-BD64-4A82-AE8C-87A8F4B54953}" type="slidenum">
              <a:rPr lang="en-US" smtClean="0"/>
              <a:t>18</a:t>
            </a:fld>
            <a:endParaRPr lang="en-US"/>
          </a:p>
        </p:txBody>
      </p:sp>
      <p:sp>
        <p:nvSpPr>
          <p:cNvPr id="6" name="Header Placeholder 5"/>
          <p:cNvSpPr>
            <a:spLocks noGrp="1"/>
          </p:cNvSpPr>
          <p:nvPr>
            <p:ph type="hdr" sz="quarter" idx="12"/>
          </p:nvPr>
        </p:nvSpPr>
        <p:spPr/>
        <p:txBody>
          <a:bodyPr/>
          <a:lstStyle/>
          <a:p>
            <a:r>
              <a:rPr lang="en-US"/>
              <a:t>Chapter#09: Introduction To Machine Learning</a:t>
            </a:r>
          </a:p>
        </p:txBody>
      </p:sp>
      <p:sp>
        <p:nvSpPr>
          <p:cNvPr id="7" name="Footer Placeholder 6">
            <a:extLst>
              <a:ext uri="{FF2B5EF4-FFF2-40B4-BE49-F238E27FC236}">
                <a16:creationId xmlns:a16="http://schemas.microsoft.com/office/drawing/2014/main" xmlns="" id="{8303E66E-F5DD-48E0-B122-89BBA3EDE84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9923422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20E5A98C-BD64-4A82-AE8C-87A8F4B54953}" type="slidenum">
              <a:rPr lang="en-US" smtClean="0"/>
              <a:t>19</a:t>
            </a:fld>
            <a:endParaRPr lang="en-US"/>
          </a:p>
        </p:txBody>
      </p:sp>
      <p:sp>
        <p:nvSpPr>
          <p:cNvPr id="6" name="Header Placeholder 5"/>
          <p:cNvSpPr>
            <a:spLocks noGrp="1"/>
          </p:cNvSpPr>
          <p:nvPr>
            <p:ph type="hdr" sz="quarter" idx="12"/>
          </p:nvPr>
        </p:nvSpPr>
        <p:spPr/>
        <p:txBody>
          <a:bodyPr/>
          <a:lstStyle/>
          <a:p>
            <a:r>
              <a:rPr lang="en-US"/>
              <a:t>Chapter#09: Introduction To Machine Learning</a:t>
            </a:r>
          </a:p>
        </p:txBody>
      </p:sp>
      <p:sp>
        <p:nvSpPr>
          <p:cNvPr id="7" name="Footer Placeholder 6">
            <a:extLst>
              <a:ext uri="{FF2B5EF4-FFF2-40B4-BE49-F238E27FC236}">
                <a16:creationId xmlns:a16="http://schemas.microsoft.com/office/drawing/2014/main" xmlns="" id="{6F6B61E8-3D95-45F5-ADA5-CA8AA636AE5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922832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endParaRPr lang="en-US" dirty="0"/>
          </a:p>
        </p:txBody>
      </p:sp>
      <p:sp>
        <p:nvSpPr>
          <p:cNvPr id="4" name="Slide Number Placeholder 3"/>
          <p:cNvSpPr>
            <a:spLocks noGrp="1"/>
          </p:cNvSpPr>
          <p:nvPr>
            <p:ph type="sldNum" sz="quarter" idx="10"/>
          </p:nvPr>
        </p:nvSpPr>
        <p:spPr/>
        <p:txBody>
          <a:bodyPr/>
          <a:lstStyle/>
          <a:p>
            <a:fld id="{20E5A98C-BD64-4A82-AE8C-87A8F4B54953}" type="slidenum">
              <a:rPr lang="en-US" smtClean="0"/>
              <a:t>20</a:t>
            </a:fld>
            <a:endParaRPr lang="en-US"/>
          </a:p>
        </p:txBody>
      </p:sp>
      <p:sp>
        <p:nvSpPr>
          <p:cNvPr id="6" name="Header Placeholder 5"/>
          <p:cNvSpPr>
            <a:spLocks noGrp="1"/>
          </p:cNvSpPr>
          <p:nvPr>
            <p:ph type="hdr" sz="quarter" idx="12"/>
          </p:nvPr>
        </p:nvSpPr>
        <p:spPr/>
        <p:txBody>
          <a:bodyPr/>
          <a:lstStyle/>
          <a:p>
            <a:r>
              <a:rPr lang="en-US"/>
              <a:t>Chapter#09: Introduction To Machine Learning</a:t>
            </a:r>
          </a:p>
        </p:txBody>
      </p:sp>
      <p:sp>
        <p:nvSpPr>
          <p:cNvPr id="7" name="Footer Placeholder 6">
            <a:extLst>
              <a:ext uri="{FF2B5EF4-FFF2-40B4-BE49-F238E27FC236}">
                <a16:creationId xmlns:a16="http://schemas.microsoft.com/office/drawing/2014/main" xmlns="" id="{439B8141-E481-4360-B57B-E2F5B318A113}"/>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0270733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endParaRPr lang="en-US" dirty="0"/>
          </a:p>
        </p:txBody>
      </p:sp>
      <p:sp>
        <p:nvSpPr>
          <p:cNvPr id="4" name="Slide Number Placeholder 3"/>
          <p:cNvSpPr>
            <a:spLocks noGrp="1"/>
          </p:cNvSpPr>
          <p:nvPr>
            <p:ph type="sldNum" sz="quarter" idx="10"/>
          </p:nvPr>
        </p:nvSpPr>
        <p:spPr/>
        <p:txBody>
          <a:bodyPr/>
          <a:lstStyle/>
          <a:p>
            <a:fld id="{20E5A98C-BD64-4A82-AE8C-87A8F4B54953}" type="slidenum">
              <a:rPr lang="en-US" smtClean="0"/>
              <a:t>21</a:t>
            </a:fld>
            <a:endParaRPr lang="en-US"/>
          </a:p>
        </p:txBody>
      </p:sp>
      <p:sp>
        <p:nvSpPr>
          <p:cNvPr id="6" name="Header Placeholder 5"/>
          <p:cNvSpPr>
            <a:spLocks noGrp="1"/>
          </p:cNvSpPr>
          <p:nvPr>
            <p:ph type="hdr" sz="quarter" idx="12"/>
          </p:nvPr>
        </p:nvSpPr>
        <p:spPr/>
        <p:txBody>
          <a:bodyPr/>
          <a:lstStyle/>
          <a:p>
            <a:r>
              <a:rPr lang="en-US"/>
              <a:t>Chapter#09: Introduction To Machine Learning</a:t>
            </a:r>
          </a:p>
        </p:txBody>
      </p:sp>
      <p:sp>
        <p:nvSpPr>
          <p:cNvPr id="7" name="Footer Placeholder 6">
            <a:extLst>
              <a:ext uri="{FF2B5EF4-FFF2-40B4-BE49-F238E27FC236}">
                <a16:creationId xmlns:a16="http://schemas.microsoft.com/office/drawing/2014/main" xmlns="" id="{F9F304AD-4AE5-421B-8C8C-32CB9CD905E2}"/>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0270733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E5A98C-BD64-4A82-AE8C-87A8F4B54953}" type="slidenum">
              <a:rPr lang="en-US" smtClean="0"/>
              <a:t>22</a:t>
            </a:fld>
            <a:endParaRPr lang="en-US"/>
          </a:p>
        </p:txBody>
      </p:sp>
      <p:sp>
        <p:nvSpPr>
          <p:cNvPr id="6" name="Header Placeholder 5"/>
          <p:cNvSpPr>
            <a:spLocks noGrp="1"/>
          </p:cNvSpPr>
          <p:nvPr>
            <p:ph type="hdr" sz="quarter" idx="12"/>
          </p:nvPr>
        </p:nvSpPr>
        <p:spPr/>
        <p:txBody>
          <a:bodyPr/>
          <a:lstStyle/>
          <a:p>
            <a:r>
              <a:rPr lang="en-US"/>
              <a:t>Chapter#09: Introduction To Machine Learning</a:t>
            </a:r>
          </a:p>
        </p:txBody>
      </p:sp>
      <p:sp>
        <p:nvSpPr>
          <p:cNvPr id="7" name="Footer Placeholder 6">
            <a:extLst>
              <a:ext uri="{FF2B5EF4-FFF2-40B4-BE49-F238E27FC236}">
                <a16:creationId xmlns:a16="http://schemas.microsoft.com/office/drawing/2014/main" xmlns="" id="{F344A2B1-DDC9-4E4F-8B40-BDA65F713615}"/>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817856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4FABC2B2-5F7E-47A1-AE52-D736D3163398}" type="datetime1">
              <a:rPr lang="en-US" smtClean="0"/>
              <a:t>6/5/2024</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27185C7E-18AA-4248-8BDF-5DF0BC17B615}" type="slidenum">
              <a:rPr lang="en-US" smtClean="0"/>
              <a:t>‹#›</a:t>
            </a:fld>
            <a:endParaRPr lang="en-US"/>
          </a:p>
        </p:txBody>
      </p:sp>
    </p:spTree>
    <p:extLst>
      <p:ext uri="{BB962C8B-B14F-4D97-AF65-F5344CB8AC3E}">
        <p14:creationId xmlns:p14="http://schemas.microsoft.com/office/powerpoint/2010/main" val="2784344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627FEA-97F3-4AB7-8304-1D28DD8222D2}" type="datetime1">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185C7E-18AA-4248-8BDF-5DF0BC17B615}" type="slidenum">
              <a:rPr lang="en-US" smtClean="0"/>
              <a:t>‹#›</a:t>
            </a:fld>
            <a:endParaRPr lang="en-US"/>
          </a:p>
        </p:txBody>
      </p:sp>
    </p:spTree>
    <p:extLst>
      <p:ext uri="{BB962C8B-B14F-4D97-AF65-F5344CB8AC3E}">
        <p14:creationId xmlns:p14="http://schemas.microsoft.com/office/powerpoint/2010/main" val="1567179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8A6F1D85-F7DE-4B1D-A3AC-8F0DD2333B64}" type="datetime1">
              <a:rPr lang="en-US" smtClean="0"/>
              <a:t>6/5/2024</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27185C7E-18AA-4248-8BDF-5DF0BC17B615}" type="slidenum">
              <a:rPr lang="en-US" smtClean="0"/>
              <a:t>‹#›</a:t>
            </a:fld>
            <a:endParaRPr lang="en-US"/>
          </a:p>
        </p:txBody>
      </p:sp>
    </p:spTree>
    <p:extLst>
      <p:ext uri="{BB962C8B-B14F-4D97-AF65-F5344CB8AC3E}">
        <p14:creationId xmlns:p14="http://schemas.microsoft.com/office/powerpoint/2010/main" val="1168838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338273-C333-4375-82EE-991A5F92C4E5}" type="datetime1">
              <a:rPr lang="en-US" smtClean="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185C7E-18AA-4248-8BDF-5DF0BC17B615}" type="slidenum">
              <a:rPr lang="en-US" smtClean="0"/>
              <a:t>‹#›</a:t>
            </a:fld>
            <a:endParaRPr lang="en-US"/>
          </a:p>
        </p:txBody>
      </p:sp>
    </p:spTree>
    <p:extLst>
      <p:ext uri="{BB962C8B-B14F-4D97-AF65-F5344CB8AC3E}">
        <p14:creationId xmlns:p14="http://schemas.microsoft.com/office/powerpoint/2010/main" val="3195417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A71365-92F0-4697-A708-1F10C3C4EE7C}" type="datetime1">
              <a:rPr lang="en-US" smtClean="0"/>
              <a:t>6/5/2024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185C7E-18AA-4248-8BDF-5DF0BC17B615}" type="slidenum">
              <a:rPr lang="en-US" smtClean="0"/>
              <a:t>‹#›</a:t>
            </a:fld>
            <a:endParaRPr lang="en-US"/>
          </a:p>
        </p:txBody>
      </p:sp>
    </p:spTree>
    <p:extLst>
      <p:ext uri="{BB962C8B-B14F-4D97-AF65-F5344CB8AC3E}">
        <p14:creationId xmlns:p14="http://schemas.microsoft.com/office/powerpoint/2010/main" val="37132365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08FAC1-6A94-4C97-A12E-F2E465A72C3E}" type="datetime1">
              <a:rPr lang="en-US" smtClean="0"/>
              <a:t>6/5/2024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185C7E-18AA-4248-8BDF-5DF0BC17B615}" type="slidenum">
              <a:rPr lang="en-US" smtClean="0"/>
              <a:t>‹#›</a:t>
            </a:fld>
            <a:endParaRPr lang="en-US"/>
          </a:p>
        </p:txBody>
      </p:sp>
    </p:spTree>
    <p:extLst>
      <p:ext uri="{BB962C8B-B14F-4D97-AF65-F5344CB8AC3E}">
        <p14:creationId xmlns:p14="http://schemas.microsoft.com/office/powerpoint/2010/main" val="3571568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1D8DC4-9892-4ADB-830A-1E128F04F2AF}" type="datetime1">
              <a:rPr lang="en-US" smtClean="0"/>
              <a:t>6/5/2024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185C7E-18AA-4248-8BDF-5DF0BC17B615}" type="slidenum">
              <a:rPr lang="en-US" smtClean="0"/>
              <a:t>‹#›</a:t>
            </a:fld>
            <a:endParaRPr lang="en-US"/>
          </a:p>
        </p:txBody>
      </p:sp>
    </p:spTree>
    <p:extLst>
      <p:ext uri="{BB962C8B-B14F-4D97-AF65-F5344CB8AC3E}">
        <p14:creationId xmlns:p14="http://schemas.microsoft.com/office/powerpoint/2010/main" val="198010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D1BFF873-B2B7-4803-A9FE-EC9435612F29}" type="datetime1">
              <a:rPr lang="en-US" smtClean="0"/>
              <a:t>6/5/2024</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27185C7E-18AA-4248-8BDF-5DF0BC17B615}" type="slidenum">
              <a:rPr lang="en-US" smtClean="0"/>
              <a:t>‹#›</a:t>
            </a:fld>
            <a:endParaRPr lang="en-US"/>
          </a:p>
        </p:txBody>
      </p:sp>
    </p:spTree>
    <p:extLst>
      <p:ext uri="{BB962C8B-B14F-4D97-AF65-F5344CB8AC3E}">
        <p14:creationId xmlns:p14="http://schemas.microsoft.com/office/powerpoint/2010/main" val="2194068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F6791F-F102-44A4-9F85-3A157A90F8F6}" type="datetime1">
              <a:rPr lang="en-US" smtClean="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185C7E-18AA-4248-8BDF-5DF0BC17B615}" type="slidenum">
              <a:rPr lang="en-US" smtClean="0"/>
              <a:t>‹#›</a:t>
            </a:fld>
            <a:endParaRPr lang="en-US"/>
          </a:p>
        </p:txBody>
      </p:sp>
    </p:spTree>
    <p:extLst>
      <p:ext uri="{BB962C8B-B14F-4D97-AF65-F5344CB8AC3E}">
        <p14:creationId xmlns:p14="http://schemas.microsoft.com/office/powerpoint/2010/main" val="1301932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F57C5A-5750-4272-AFE5-6200664E8B30}" type="datetime1">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185C7E-18AA-4248-8BDF-5DF0BC17B615}" type="slidenum">
              <a:rPr lang="en-US" smtClean="0"/>
              <a:t>‹#›</a:t>
            </a:fld>
            <a:endParaRPr lang="en-US"/>
          </a:p>
        </p:txBody>
      </p:sp>
    </p:spTree>
    <p:extLst>
      <p:ext uri="{BB962C8B-B14F-4D97-AF65-F5344CB8AC3E}">
        <p14:creationId xmlns:p14="http://schemas.microsoft.com/office/powerpoint/2010/main" val="3315750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fld id="{1E6ACB80-5EF3-43B4-991D-B55EC5D57CCF}" type="datetime1">
              <a:rPr lang="en-US" smtClean="0"/>
              <a:t>6/5/2024</a:t>
            </a:fld>
            <a:endParaRPr lang="en-US"/>
          </a:p>
        </p:txBody>
      </p:sp>
      <p:sp>
        <p:nvSpPr>
          <p:cNvPr id="5" name="Footer Placeholder 4"/>
          <p:cNvSpPr>
            <a:spLocks noGrp="1"/>
          </p:cNvSpPr>
          <p:nvPr>
            <p:ph type="ftr" sz="quarter" idx="11"/>
          </p:nvPr>
        </p:nvSpPr>
        <p:spPr>
          <a:xfrm>
            <a:off x="581192" y="5951810"/>
            <a:ext cx="5922209" cy="365125"/>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27185C7E-18AA-4248-8BDF-5DF0BC17B615}" type="slidenum">
              <a:rPr lang="en-US" smtClean="0"/>
              <a:t>‹#›</a:t>
            </a:fld>
            <a:endParaRPr lang="en-US"/>
          </a:p>
        </p:txBody>
      </p:sp>
    </p:spTree>
    <p:extLst>
      <p:ext uri="{BB962C8B-B14F-4D97-AF65-F5344CB8AC3E}">
        <p14:creationId xmlns:p14="http://schemas.microsoft.com/office/powerpoint/2010/main" val="1583632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fld id="{29E59048-4E52-4777-97EB-28F32873D97A}" type="datetime1">
              <a:rPr lang="en-US" smtClean="0"/>
              <a:t>6/5/2024</a:t>
            </a:fld>
            <a:endParaRPr lang="en-US"/>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27185C7E-18AA-4248-8BDF-5DF0BC17B615}" type="slidenum">
              <a:rPr lang="en-US" smtClean="0"/>
              <a:t>‹#›</a:t>
            </a:fld>
            <a:endParaRPr lang="en-US"/>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721422496"/>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685800"/>
            <a:ext cx="8610600" cy="2057399"/>
          </a:xfrm>
        </p:spPr>
        <p:txBody>
          <a:bodyPr>
            <a:normAutofit/>
          </a:bodyPr>
          <a:lstStyle/>
          <a:p>
            <a:r>
              <a:rPr lang="en-US" sz="3200" b="1" dirty="0" smtClean="0"/>
              <a:t>LecTure</a:t>
            </a:r>
            <a:r>
              <a:rPr lang="en-US" sz="3200" b="1" dirty="0" smtClean="0"/>
              <a:t>#12</a:t>
            </a:r>
            <a:r>
              <a:rPr lang="en-US" sz="3200" b="1" dirty="0"/>
              <a:t/>
            </a:r>
            <a:br>
              <a:rPr lang="en-US" sz="3200" b="1" dirty="0"/>
            </a:br>
            <a:r>
              <a:rPr lang="en-US" sz="3200" b="1" dirty="0"/>
              <a:t>Introduction to Machine Learning</a:t>
            </a:r>
          </a:p>
        </p:txBody>
      </p:sp>
      <p:sp>
        <p:nvSpPr>
          <p:cNvPr id="4" name="Subtitle 1"/>
          <p:cNvSpPr txBox="1">
            <a:spLocks/>
          </p:cNvSpPr>
          <p:nvPr/>
        </p:nvSpPr>
        <p:spPr>
          <a:xfrm>
            <a:off x="1066800" y="3505200"/>
            <a:ext cx="5943600" cy="1524000"/>
          </a:xfrm>
          <a:prstGeom prst="rect">
            <a:avLst/>
          </a:prstGeom>
        </p:spPr>
        <p:txBody>
          <a:bodyPr>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lnSpc>
                <a:spcPct val="120000"/>
              </a:lnSpc>
              <a:spcAft>
                <a:spcPts val="0"/>
              </a:spcAft>
              <a:buFont typeface="Wingdings 3" charset="2"/>
              <a:buNone/>
              <a:defRPr/>
            </a:pPr>
            <a:r>
              <a:rPr lang="en-US" sz="2000" dirty="0">
                <a:solidFill>
                  <a:schemeClr val="bg1"/>
                </a:solidFill>
              </a:rPr>
              <a:t>         </a:t>
            </a:r>
            <a:endParaRPr lang="en-US" sz="2000" dirty="0"/>
          </a:p>
        </p:txBody>
      </p:sp>
    </p:spTree>
    <p:extLst>
      <p:ext uri="{BB962C8B-B14F-4D97-AF65-F5344CB8AC3E}">
        <p14:creationId xmlns:p14="http://schemas.microsoft.com/office/powerpoint/2010/main" val="912310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581192" y="687474"/>
            <a:ext cx="7989752" cy="1083329"/>
          </a:xfrm>
          <a:noFill/>
          <a:ln/>
        </p:spPr>
        <p:txBody>
          <a:bodyPr lIns="92075" tIns="46038" rIns="92075" bIns="46038" anchor="ctr"/>
          <a:lstStyle/>
          <a:p>
            <a:r>
              <a:rPr lang="en-US" altLang="en-US" dirty="0"/>
              <a:t>Agenda </a:t>
            </a:r>
          </a:p>
        </p:txBody>
      </p:sp>
      <p:sp>
        <p:nvSpPr>
          <p:cNvPr id="5" name="Rectangle 3"/>
          <p:cNvSpPr>
            <a:spLocks noGrp="1" noChangeArrowheads="1"/>
          </p:cNvSpPr>
          <p:nvPr>
            <p:ph idx="1"/>
          </p:nvPr>
        </p:nvSpPr>
        <p:spPr>
          <a:xfrm>
            <a:off x="581192" y="2228003"/>
            <a:ext cx="7989752" cy="3630795"/>
          </a:xfrm>
          <a:noFill/>
          <a:ln/>
        </p:spPr>
        <p:txBody>
          <a:bodyPr lIns="182562" tIns="46038" rIns="182562" bIns="46038">
            <a:normAutofit/>
          </a:bodyPr>
          <a:lstStyle/>
          <a:p>
            <a:r>
              <a:rPr lang="en-US" altLang="en-US" sz="2400" dirty="0"/>
              <a:t>Why Machine Learning introduces?</a:t>
            </a:r>
          </a:p>
          <a:p>
            <a:r>
              <a:rPr lang="en-US" altLang="en-US" sz="2400" dirty="0"/>
              <a:t>Machine Learning Definitions</a:t>
            </a:r>
          </a:p>
          <a:p>
            <a:r>
              <a:rPr lang="en-US" altLang="en-US" sz="2400" dirty="0"/>
              <a:t>Applications</a:t>
            </a:r>
          </a:p>
          <a:p>
            <a:r>
              <a:rPr lang="en-US" altLang="en-US" sz="2400" dirty="0"/>
              <a:t>Machine Learning Process Flow</a:t>
            </a:r>
          </a:p>
          <a:p>
            <a:r>
              <a:rPr lang="en-US" altLang="en-US" sz="2400" dirty="0"/>
              <a:t>Types of Machine Learning Algorithms</a:t>
            </a:r>
          </a:p>
          <a:p>
            <a:r>
              <a:rPr lang="en-US" altLang="en-US" sz="2400" dirty="0"/>
              <a:t>Summary</a:t>
            </a:r>
          </a:p>
          <a:p>
            <a:pPr marL="0" indent="0">
              <a:buNone/>
            </a:pPr>
            <a:endParaRPr lang="en-US" altLang="en-US" sz="2400" dirty="0"/>
          </a:p>
        </p:txBody>
      </p:sp>
    </p:spTree>
    <p:extLst>
      <p:ext uri="{BB962C8B-B14F-4D97-AF65-F5344CB8AC3E}">
        <p14:creationId xmlns:p14="http://schemas.microsoft.com/office/powerpoint/2010/main" val="4008188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2400" dirty="0"/>
              <a:t>Why Machine Learning introduces &amp; what we achieved using Machine learning?</a:t>
            </a:r>
          </a:p>
        </p:txBody>
      </p:sp>
      <p:sp>
        <p:nvSpPr>
          <p:cNvPr id="3" name="Content Placeholder 2"/>
          <p:cNvSpPr>
            <a:spLocks noGrp="1"/>
          </p:cNvSpPr>
          <p:nvPr>
            <p:ph idx="1"/>
          </p:nvPr>
        </p:nvSpPr>
        <p:spPr>
          <a:xfrm>
            <a:off x="581192" y="2057400"/>
            <a:ext cx="7989752" cy="4172797"/>
          </a:xfrm>
        </p:spPr>
        <p:txBody>
          <a:bodyPr>
            <a:normAutofit/>
          </a:bodyPr>
          <a:lstStyle/>
          <a:p>
            <a:r>
              <a:rPr lang="en-US" sz="2400" dirty="0"/>
              <a:t>Data Generation</a:t>
            </a:r>
          </a:p>
          <a:p>
            <a:r>
              <a:rPr lang="en-US" sz="2400" dirty="0"/>
              <a:t>Data Analytics</a:t>
            </a:r>
          </a:p>
          <a:p>
            <a:r>
              <a:rPr lang="en-US" sz="2400" dirty="0"/>
              <a:t>Patterns</a:t>
            </a:r>
          </a:p>
          <a:p>
            <a:r>
              <a:rPr lang="en-US" sz="2400" dirty="0"/>
              <a:t>Algorithm</a:t>
            </a:r>
          </a:p>
          <a:p>
            <a:r>
              <a:rPr lang="en-US" sz="2400" dirty="0"/>
              <a:t>When we do not have algorithm? </a:t>
            </a:r>
          </a:p>
          <a:p>
            <a:r>
              <a:rPr lang="en-US" sz="2400" dirty="0"/>
              <a:t>When we do not need to learn?</a:t>
            </a:r>
          </a:p>
          <a:p>
            <a:r>
              <a:rPr lang="en-US" sz="2400" dirty="0"/>
              <a:t>Learning means approximation?</a:t>
            </a:r>
          </a:p>
        </p:txBody>
      </p:sp>
    </p:spTree>
    <p:extLst>
      <p:ext uri="{BB962C8B-B14F-4D97-AF65-F5344CB8AC3E}">
        <p14:creationId xmlns:p14="http://schemas.microsoft.com/office/powerpoint/2010/main" val="542843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Machine Learning?</a:t>
            </a:r>
          </a:p>
        </p:txBody>
      </p:sp>
      <p:sp>
        <p:nvSpPr>
          <p:cNvPr id="3" name="Content Placeholder 2"/>
          <p:cNvSpPr>
            <a:spLocks noGrp="1"/>
          </p:cNvSpPr>
          <p:nvPr>
            <p:ph idx="1"/>
          </p:nvPr>
        </p:nvSpPr>
        <p:spPr>
          <a:xfrm>
            <a:off x="866441" y="2209800"/>
            <a:ext cx="7744159" cy="4191000"/>
          </a:xfrm>
        </p:spPr>
        <p:txBody>
          <a:bodyPr>
            <a:noAutofit/>
          </a:bodyPr>
          <a:lstStyle/>
          <a:p>
            <a:pPr algn="just"/>
            <a:r>
              <a:rPr lang="en-US" sz="2000" dirty="0"/>
              <a:t>It provides systems the ability to automatically learn and improve from experience without being explicitly programmed. </a:t>
            </a:r>
          </a:p>
          <a:p>
            <a:pPr marL="0" indent="0" algn="just">
              <a:buNone/>
            </a:pPr>
            <a:endParaRPr lang="en-US" sz="2000" dirty="0"/>
          </a:p>
          <a:p>
            <a:pPr algn="just"/>
            <a:r>
              <a:rPr lang="en-US" sz="2000" dirty="0"/>
              <a:t>“Learning is any process by which a system improves performance from experience.”   - Herbert Simon</a:t>
            </a:r>
          </a:p>
          <a:p>
            <a:pPr algn="just"/>
            <a:endParaRPr lang="en-US" sz="2000" dirty="0"/>
          </a:p>
          <a:p>
            <a:pPr marL="0" indent="0" algn="just">
              <a:buNone/>
            </a:pPr>
            <a:r>
              <a:rPr lang="en-US" sz="2000" dirty="0"/>
              <a:t>Definition by Tom Mitchell (1998):</a:t>
            </a:r>
          </a:p>
          <a:p>
            <a:pPr algn="just"/>
            <a:r>
              <a:rPr lang="en-US" sz="2000" dirty="0"/>
              <a:t>Machine Learning is the study of algorithms that</a:t>
            </a:r>
          </a:p>
          <a:p>
            <a:pPr marL="0" indent="0" algn="just">
              <a:buNone/>
            </a:pPr>
            <a:r>
              <a:rPr lang="en-US" sz="2000" dirty="0"/>
              <a:t>	• improve their performance P</a:t>
            </a:r>
          </a:p>
          <a:p>
            <a:pPr marL="0" indent="0" algn="just">
              <a:buNone/>
            </a:pPr>
            <a:r>
              <a:rPr lang="en-US" sz="2000" dirty="0"/>
              <a:t>	• at some task T</a:t>
            </a:r>
          </a:p>
          <a:p>
            <a:pPr marL="0" indent="0" algn="just">
              <a:buNone/>
            </a:pPr>
            <a:r>
              <a:rPr lang="en-US" sz="2000" dirty="0"/>
              <a:t>	• with experience E.</a:t>
            </a:r>
          </a:p>
          <a:p>
            <a:pPr marL="0" indent="0" algn="just">
              <a:buNone/>
            </a:pPr>
            <a:r>
              <a:rPr lang="en-US" sz="2000" dirty="0"/>
              <a:t>	A well-defined learning task is given by &lt;P, T, E&gt;.</a:t>
            </a:r>
          </a:p>
        </p:txBody>
      </p:sp>
    </p:spTree>
    <p:extLst>
      <p:ext uri="{BB962C8B-B14F-4D97-AF65-F5344CB8AC3E}">
        <p14:creationId xmlns:p14="http://schemas.microsoft.com/office/powerpoint/2010/main" val="2443811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Machine Learning?</a:t>
            </a:r>
          </a:p>
        </p:txBody>
      </p:sp>
      <p:pic>
        <p:nvPicPr>
          <p:cNvPr id="5" name="Picture 4"/>
          <p:cNvPicPr>
            <a:picLocks noChangeAspect="1"/>
          </p:cNvPicPr>
          <p:nvPr/>
        </p:nvPicPr>
        <p:blipFill>
          <a:blip r:embed="rId2"/>
          <a:stretch>
            <a:fillRect/>
          </a:stretch>
        </p:blipFill>
        <p:spPr>
          <a:xfrm>
            <a:off x="1238250" y="2209800"/>
            <a:ext cx="6610350" cy="4533900"/>
          </a:xfrm>
          <a:prstGeom prst="rect">
            <a:avLst/>
          </a:prstGeom>
        </p:spPr>
      </p:pic>
    </p:spTree>
    <p:extLst>
      <p:ext uri="{BB962C8B-B14F-4D97-AF65-F5344CB8AC3E}">
        <p14:creationId xmlns:p14="http://schemas.microsoft.com/office/powerpoint/2010/main" val="1680967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a:t>
            </a:r>
          </a:p>
        </p:txBody>
      </p:sp>
      <p:sp>
        <p:nvSpPr>
          <p:cNvPr id="3" name="Content Placeholder 2"/>
          <p:cNvSpPr>
            <a:spLocks noGrp="1"/>
          </p:cNvSpPr>
          <p:nvPr>
            <p:ph idx="1"/>
          </p:nvPr>
        </p:nvSpPr>
        <p:spPr>
          <a:xfrm>
            <a:off x="457200" y="2133600"/>
            <a:ext cx="8229600" cy="4724400"/>
          </a:xfrm>
        </p:spPr>
        <p:txBody>
          <a:bodyPr>
            <a:normAutofit fontScale="92500" lnSpcReduction="20000"/>
          </a:bodyPr>
          <a:lstStyle/>
          <a:p>
            <a:pPr lvl="1"/>
            <a:r>
              <a:rPr lang="en-US" sz="2400" dirty="0"/>
              <a:t>Image processing and Computer Vision</a:t>
            </a:r>
          </a:p>
          <a:p>
            <a:pPr lvl="2"/>
            <a:r>
              <a:rPr lang="en-US" sz="2200" dirty="0"/>
              <a:t>Face recognition, motion detection &amp; object detection</a:t>
            </a:r>
          </a:p>
          <a:p>
            <a:pPr lvl="1"/>
            <a:r>
              <a:rPr lang="en-US" sz="2400" dirty="0"/>
              <a:t>Computational biology</a:t>
            </a:r>
          </a:p>
          <a:p>
            <a:pPr lvl="2"/>
            <a:r>
              <a:rPr lang="en-US" sz="2200" dirty="0"/>
              <a:t>Tumor detection, drug discovery, DNA sequencing</a:t>
            </a:r>
          </a:p>
          <a:p>
            <a:pPr lvl="1"/>
            <a:r>
              <a:rPr lang="en-US" sz="2400" dirty="0"/>
              <a:t>Energy production</a:t>
            </a:r>
          </a:p>
          <a:p>
            <a:pPr lvl="2"/>
            <a:r>
              <a:rPr lang="en-US" sz="2200" dirty="0"/>
              <a:t>Price and load forecasting</a:t>
            </a:r>
          </a:p>
          <a:p>
            <a:pPr lvl="1"/>
            <a:r>
              <a:rPr lang="en-US" sz="2400" dirty="0"/>
              <a:t>Automotive, aerospace, and manufacturing</a:t>
            </a:r>
          </a:p>
          <a:p>
            <a:pPr lvl="2"/>
            <a:r>
              <a:rPr lang="en-US" sz="2200" dirty="0"/>
              <a:t>predictive maintenance</a:t>
            </a:r>
          </a:p>
          <a:p>
            <a:pPr lvl="1"/>
            <a:r>
              <a:rPr lang="en-US" sz="2400" dirty="0"/>
              <a:t>Natural Language Processing</a:t>
            </a:r>
          </a:p>
          <a:p>
            <a:pPr lvl="2"/>
            <a:r>
              <a:rPr lang="en-US" sz="2200" dirty="0"/>
              <a:t>practical speech recognition</a:t>
            </a:r>
          </a:p>
          <a:p>
            <a:pPr lvl="1"/>
            <a:r>
              <a:rPr lang="en-US" sz="2400" dirty="0"/>
              <a:t>…</a:t>
            </a:r>
            <a:endParaRPr lang="en-US" dirty="0"/>
          </a:p>
          <a:p>
            <a:endParaRPr lang="en-US" dirty="0"/>
          </a:p>
        </p:txBody>
      </p:sp>
    </p:spTree>
    <p:extLst>
      <p:ext uri="{BB962C8B-B14F-4D97-AF65-F5344CB8AC3E}">
        <p14:creationId xmlns:p14="http://schemas.microsoft.com/office/powerpoint/2010/main" val="1772434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When should you use machine learning</a:t>
            </a:r>
          </a:p>
        </p:txBody>
      </p:sp>
      <p:sp>
        <p:nvSpPr>
          <p:cNvPr id="2" name="Content Placeholder 1"/>
          <p:cNvSpPr>
            <a:spLocks noGrp="1"/>
          </p:cNvSpPr>
          <p:nvPr>
            <p:ph idx="1"/>
          </p:nvPr>
        </p:nvSpPr>
        <p:spPr>
          <a:xfrm>
            <a:off x="866441" y="2489200"/>
            <a:ext cx="7363159" cy="3530600"/>
          </a:xfrm>
        </p:spPr>
        <p:txBody>
          <a:bodyPr>
            <a:noAutofit/>
          </a:bodyPr>
          <a:lstStyle/>
          <a:p>
            <a:pPr algn="just"/>
            <a:r>
              <a:rPr lang="en-US" sz="2400" dirty="0"/>
              <a:t>Hand-written rules and equations are too complex—</a:t>
            </a:r>
          </a:p>
          <a:p>
            <a:pPr lvl="1" algn="just"/>
            <a:r>
              <a:rPr lang="en-US" sz="2400" dirty="0"/>
              <a:t>as in face recognition and speech recognition.</a:t>
            </a:r>
          </a:p>
          <a:p>
            <a:pPr algn="just"/>
            <a:endParaRPr lang="en-US" sz="2400" dirty="0"/>
          </a:p>
          <a:p>
            <a:pPr algn="just"/>
            <a:r>
              <a:rPr lang="en-US" sz="2400" dirty="0"/>
              <a:t>The rules of a task are constantly changing</a:t>
            </a:r>
          </a:p>
          <a:p>
            <a:pPr lvl="1" algn="just"/>
            <a:r>
              <a:rPr lang="en-US" sz="2400" dirty="0"/>
              <a:t>as in fraud detection from transaction records.</a:t>
            </a:r>
          </a:p>
          <a:p>
            <a:pPr algn="just"/>
            <a:endParaRPr lang="en-US" sz="2400" dirty="0"/>
          </a:p>
          <a:p>
            <a:pPr algn="just"/>
            <a:r>
              <a:rPr lang="en-US" sz="2400" dirty="0"/>
              <a:t>The nature of the data keeps changing, and the program needs to adapt—</a:t>
            </a:r>
          </a:p>
          <a:p>
            <a:pPr lvl="1" algn="just"/>
            <a:r>
              <a:rPr lang="en-US" sz="2400" dirty="0"/>
              <a:t>as in automated trading, energy demand forecasting, and predicting shopping trends.</a:t>
            </a:r>
          </a:p>
        </p:txBody>
      </p:sp>
    </p:spTree>
    <p:extLst>
      <p:ext uri="{BB962C8B-B14F-4D97-AF65-F5344CB8AC3E}">
        <p14:creationId xmlns:p14="http://schemas.microsoft.com/office/powerpoint/2010/main" val="1742491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Machine Learning Process flow</a:t>
            </a:r>
          </a:p>
        </p:txBody>
      </p:sp>
      <p:sp>
        <p:nvSpPr>
          <p:cNvPr id="2" name="Content Placeholder 1"/>
          <p:cNvSpPr>
            <a:spLocks noGrp="1"/>
          </p:cNvSpPr>
          <p:nvPr>
            <p:ph idx="1"/>
          </p:nvPr>
        </p:nvSpPr>
        <p:spPr>
          <a:xfrm>
            <a:off x="457200" y="1905000"/>
            <a:ext cx="7989752" cy="2658398"/>
          </a:xfrm>
        </p:spPr>
        <p:txBody>
          <a:bodyPr>
            <a:normAutofit/>
          </a:bodyPr>
          <a:lstStyle/>
          <a:p>
            <a:r>
              <a:rPr lang="en-US" sz="2400" dirty="0"/>
              <a:t>Identifies relevant data sets and prepares them for analysis.</a:t>
            </a:r>
          </a:p>
          <a:p>
            <a:r>
              <a:rPr lang="en-US" sz="2400" dirty="0"/>
              <a:t>Choose the type of machine learning algorithm to use.</a:t>
            </a:r>
          </a:p>
          <a:p>
            <a:r>
              <a:rPr lang="en-US" sz="2400" dirty="0"/>
              <a:t>Builds an analytical model based on the chosen algorithm.</a:t>
            </a:r>
          </a:p>
          <a:p>
            <a:r>
              <a:rPr lang="en-US" sz="2400" dirty="0"/>
              <a:t>Trains the model on test datasets revising it as needed.</a:t>
            </a:r>
          </a:p>
          <a:p>
            <a:r>
              <a:rPr lang="en-US" sz="2400" dirty="0"/>
              <a:t>Run the model to generate scores and other findings.</a:t>
            </a:r>
          </a:p>
        </p:txBody>
      </p:sp>
      <p:sp>
        <p:nvSpPr>
          <p:cNvPr id="4" name="Rectangle 1"/>
          <p:cNvSpPr>
            <a:spLocks noChangeArrowheads="1"/>
          </p:cNvSpPr>
          <p:nvPr/>
        </p:nvSpPr>
        <p:spPr bwMode="auto">
          <a:xfrm>
            <a:off x="159793" y="4476750"/>
            <a:ext cx="1027960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4B4B4B"/>
                </a:solidFill>
                <a:effectLst/>
                <a:latin typeface="Fira Sans"/>
              </a:rPr>
              <a:t>.</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4B4B4B"/>
                </a:solidFill>
                <a:effectLst/>
                <a:latin typeface="Fira Sans"/>
              </a:rPr>
              <a:t>  </a:t>
            </a:r>
            <a:endParaRPr kumimoji="0" lang="en-US" altLang="en-US" sz="11600" b="0" i="0" u="none" strike="noStrike" cap="none" normalizeH="0" baseline="0">
              <a:ln>
                <a:noFill/>
              </a:ln>
              <a:solidFill>
                <a:srgbClr val="4B4B4B"/>
              </a:solidFill>
              <a:effectLst/>
              <a:latin typeface="Fira Sans"/>
            </a:endParaRPr>
          </a:p>
        </p:txBody>
      </p:sp>
      <p:pic>
        <p:nvPicPr>
          <p:cNvPr id="1026" name="Picture 2" descr="https://cdn.elearningindustry.com/wp-content/uploads/2017/05/5280bfffd968877d684e571d73d3f28f.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4476750"/>
            <a:ext cx="8163167"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5333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of learning algorithms </a:t>
            </a:r>
          </a:p>
        </p:txBody>
      </p:sp>
      <p:sp>
        <p:nvSpPr>
          <p:cNvPr id="3" name="Content Placeholder 2"/>
          <p:cNvSpPr>
            <a:spLocks noGrp="1"/>
          </p:cNvSpPr>
          <p:nvPr>
            <p:ph idx="1"/>
          </p:nvPr>
        </p:nvSpPr>
        <p:spPr>
          <a:xfrm>
            <a:off x="581192" y="2438400"/>
            <a:ext cx="7989752" cy="2048798"/>
          </a:xfrm>
        </p:spPr>
        <p:txBody>
          <a:bodyPr>
            <a:normAutofit/>
          </a:bodyPr>
          <a:lstStyle/>
          <a:p>
            <a:r>
              <a:rPr lang="en-US" sz="2400" dirty="0"/>
              <a:t>Supervised learning</a:t>
            </a:r>
          </a:p>
          <a:p>
            <a:r>
              <a:rPr lang="en-US" sz="2400" dirty="0"/>
              <a:t>Unsupervised learning</a:t>
            </a:r>
          </a:p>
          <a:p>
            <a:r>
              <a:rPr lang="en-US" sz="2400" dirty="0"/>
              <a:t>Reinforcement learning</a:t>
            </a:r>
          </a:p>
        </p:txBody>
      </p:sp>
    </p:spTree>
    <p:extLst>
      <p:ext uri="{BB962C8B-B14F-4D97-AF65-F5344CB8AC3E}">
        <p14:creationId xmlns:p14="http://schemas.microsoft.com/office/powerpoint/2010/main" val="3973216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2967274-C76F-426F-A144-5CAA2EDFD3F6}" type="slidenum">
              <a:rPr lang="en-US" altLang="en-US" sz="1400" smtClean="0"/>
              <a:pPr>
                <a:spcBef>
                  <a:spcPct val="0"/>
                </a:spcBef>
                <a:buFontTx/>
                <a:buNone/>
              </a:pPr>
              <a:t>10</a:t>
            </a:fld>
            <a:endParaRPr lang="en-US" altLang="en-US" sz="1400" smtClean="0"/>
          </a:p>
        </p:txBody>
      </p:sp>
      <p:sp>
        <p:nvSpPr>
          <p:cNvPr id="23555" name="Rectangle 2"/>
          <p:cNvSpPr>
            <a:spLocks noGrp="1" noChangeArrowheads="1"/>
          </p:cNvSpPr>
          <p:nvPr>
            <p:ph type="title"/>
          </p:nvPr>
        </p:nvSpPr>
        <p:spPr/>
        <p:txBody>
          <a:bodyPr/>
          <a:lstStyle/>
          <a:p>
            <a:pPr eaLnBrk="1" hangingPunct="1"/>
            <a:r>
              <a:rPr lang="en-US" altLang="en-US" smtClean="0"/>
              <a:t>Machine Learning Methods</a:t>
            </a:r>
          </a:p>
        </p:txBody>
      </p:sp>
      <p:sp>
        <p:nvSpPr>
          <p:cNvPr id="23556" name="Rectangle 3"/>
          <p:cNvSpPr>
            <a:spLocks noGrp="1" noChangeArrowheads="1"/>
          </p:cNvSpPr>
          <p:nvPr>
            <p:ph type="body" idx="1"/>
          </p:nvPr>
        </p:nvSpPr>
        <p:spPr>
          <a:xfrm>
            <a:off x="581192" y="1981201"/>
            <a:ext cx="7989752" cy="1447800"/>
          </a:xfrm>
        </p:spPr>
        <p:txBody>
          <a:bodyPr/>
          <a:lstStyle/>
          <a:p>
            <a:pPr marL="0" indent="0" eaLnBrk="1" hangingPunct="1">
              <a:lnSpc>
                <a:spcPct val="90000"/>
              </a:lnSpc>
              <a:buNone/>
            </a:pPr>
            <a:r>
              <a:rPr lang="en-US" altLang="en-US" sz="2400" b="1" dirty="0" smtClean="0">
                <a:solidFill>
                  <a:schemeClr val="accent2"/>
                </a:solidFill>
              </a:rPr>
              <a:t>Supervised Learning</a:t>
            </a:r>
            <a:r>
              <a:rPr lang="en-US" altLang="en-US" sz="2400" b="1" dirty="0" smtClean="0"/>
              <a:t>: </a:t>
            </a:r>
            <a:r>
              <a:rPr lang="en-US" altLang="en-US" sz="2400" dirty="0" smtClean="0"/>
              <a:t>Use labeled training data to learn the mapping function from the input variables (X) to the output variable (Y).</a:t>
            </a:r>
          </a:p>
          <a:p>
            <a:pPr eaLnBrk="1" hangingPunct="1">
              <a:lnSpc>
                <a:spcPct val="90000"/>
              </a:lnSpc>
            </a:pPr>
            <a:endParaRPr lang="en-US" altLang="en-US" sz="2400" dirty="0" smtClean="0"/>
          </a:p>
        </p:txBody>
      </p:sp>
      <p:pic>
        <p:nvPicPr>
          <p:cNvPr id="23557"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048000"/>
            <a:ext cx="6629400" cy="359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965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Supervised learning</a:t>
            </a:r>
          </a:p>
        </p:txBody>
      </p:sp>
      <p:sp>
        <p:nvSpPr>
          <p:cNvPr id="2" name="Content Placeholder 1"/>
          <p:cNvSpPr>
            <a:spLocks noGrp="1"/>
          </p:cNvSpPr>
          <p:nvPr>
            <p:ph idx="1"/>
          </p:nvPr>
        </p:nvSpPr>
        <p:spPr/>
        <p:txBody>
          <a:bodyPr>
            <a:normAutofit/>
          </a:bodyPr>
          <a:lstStyle/>
          <a:p>
            <a:pPr algn="just"/>
            <a:r>
              <a:rPr lang="en-US" sz="2400" dirty="0"/>
              <a:t>It  build a mathematical model of a set of data that contains both the inputs and the desired outputs.</a:t>
            </a:r>
          </a:p>
          <a:p>
            <a:pPr algn="just"/>
            <a:endParaRPr lang="en-US" sz="2400" dirty="0"/>
          </a:p>
          <a:p>
            <a:pPr algn="just"/>
            <a:r>
              <a:rPr lang="en-US" sz="2400" dirty="0"/>
              <a:t>Data scientists determine which variables, or features, the model should analyze and use to develop predictions. </a:t>
            </a:r>
          </a:p>
          <a:p>
            <a:pPr algn="just"/>
            <a:endParaRPr lang="en-US" sz="2400" dirty="0"/>
          </a:p>
          <a:p>
            <a:pPr algn="just"/>
            <a:r>
              <a:rPr lang="en-US" sz="2400" dirty="0"/>
              <a:t>Once training is complete, the algorithm will apply what was learned to new data.</a:t>
            </a:r>
          </a:p>
        </p:txBody>
      </p:sp>
    </p:spTree>
    <p:extLst>
      <p:ext uri="{BB962C8B-B14F-4D97-AF65-F5344CB8AC3E}">
        <p14:creationId xmlns:p14="http://schemas.microsoft.com/office/powerpoint/2010/main" val="3689145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Example:</a:t>
            </a:r>
          </a:p>
        </p:txBody>
      </p:sp>
      <p:sp>
        <p:nvSpPr>
          <p:cNvPr id="2" name="Content Placeholder 1"/>
          <p:cNvSpPr>
            <a:spLocks noGrp="1"/>
          </p:cNvSpPr>
          <p:nvPr>
            <p:ph idx="1"/>
          </p:nvPr>
        </p:nvSpPr>
        <p:spPr>
          <a:xfrm>
            <a:off x="581192" y="2541405"/>
            <a:ext cx="7989752" cy="3630795"/>
          </a:xfrm>
        </p:spPr>
        <p:txBody>
          <a:bodyPr>
            <a:normAutofit/>
          </a:bodyPr>
          <a:lstStyle/>
          <a:p>
            <a:pPr algn="just"/>
            <a:r>
              <a:rPr lang="en-US" sz="2400" b="1" dirty="0"/>
              <a:t>S</a:t>
            </a:r>
            <a:r>
              <a:rPr lang="en-US" sz="2400" dirty="0"/>
              <a:t>uppose you are given an basket filled with different kinds of fruits. </a:t>
            </a:r>
          </a:p>
          <a:p>
            <a:pPr algn="just"/>
            <a:r>
              <a:rPr lang="en-US" sz="2400" dirty="0"/>
              <a:t>Now the first step is to train the machine with all different fruits one by one like this</a:t>
            </a:r>
          </a:p>
          <a:p>
            <a:pPr algn="just" fontAlgn="base"/>
            <a:r>
              <a:rPr lang="en-US" sz="2400" dirty="0"/>
              <a:t>If shape of object is rounded and depression at top having color </a:t>
            </a:r>
            <a:r>
              <a:rPr lang="en-US" sz="2400" dirty="0">
                <a:solidFill>
                  <a:srgbClr val="FF0000"/>
                </a:solidFill>
              </a:rPr>
              <a:t>Red</a:t>
            </a:r>
            <a:r>
              <a:rPr lang="en-US" sz="2400" dirty="0"/>
              <a:t> then it will be labelled as –</a:t>
            </a:r>
            <a:r>
              <a:rPr lang="en-US" sz="2400" b="1" dirty="0"/>
              <a:t>Apple</a:t>
            </a:r>
            <a:r>
              <a:rPr lang="en-US" sz="2400" dirty="0"/>
              <a:t>.</a:t>
            </a:r>
          </a:p>
          <a:p>
            <a:pPr algn="just" fontAlgn="base"/>
            <a:r>
              <a:rPr lang="en-US" sz="2400" dirty="0"/>
              <a:t>If shape of object is long curving cylinder having color </a:t>
            </a:r>
            <a:r>
              <a:rPr lang="en-US" sz="2400" dirty="0">
                <a:solidFill>
                  <a:srgbClr val="00B050"/>
                </a:solidFill>
              </a:rPr>
              <a:t>Green</a:t>
            </a:r>
            <a:r>
              <a:rPr lang="en-US" sz="2400" dirty="0"/>
              <a:t>-</a:t>
            </a:r>
            <a:r>
              <a:rPr lang="en-US" sz="2400" dirty="0">
                <a:solidFill>
                  <a:srgbClr val="00B050"/>
                </a:solidFill>
              </a:rPr>
              <a:t>Yellow</a:t>
            </a:r>
            <a:r>
              <a:rPr lang="en-US" sz="2400" dirty="0"/>
              <a:t> then it will be labelled as –</a:t>
            </a:r>
            <a:r>
              <a:rPr lang="en-US" sz="2400" b="1" dirty="0"/>
              <a:t>Banana</a:t>
            </a:r>
            <a:r>
              <a:rPr lang="en-US" sz="2400" dirty="0"/>
              <a:t>.</a:t>
            </a:r>
          </a:p>
          <a:p>
            <a:pPr algn="just" fontAlgn="base"/>
            <a:endParaRPr lang="en-US" sz="2400" dirty="0"/>
          </a:p>
          <a:p>
            <a:pPr algn="just"/>
            <a:endParaRPr lang="en-US" sz="2400" dirty="0"/>
          </a:p>
        </p:txBody>
      </p:sp>
    </p:spTree>
    <p:extLst>
      <p:ext uri="{BB962C8B-B14F-4D97-AF65-F5344CB8AC3E}">
        <p14:creationId xmlns:p14="http://schemas.microsoft.com/office/powerpoint/2010/main" val="2046764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Example:</a:t>
            </a:r>
          </a:p>
        </p:txBody>
      </p:sp>
      <p:sp>
        <p:nvSpPr>
          <p:cNvPr id="2" name="Content Placeholder 1"/>
          <p:cNvSpPr>
            <a:spLocks noGrp="1"/>
          </p:cNvSpPr>
          <p:nvPr>
            <p:ph idx="1"/>
          </p:nvPr>
        </p:nvSpPr>
        <p:spPr>
          <a:xfrm>
            <a:off x="866441" y="2489200"/>
            <a:ext cx="7704503" cy="4064000"/>
          </a:xfrm>
        </p:spPr>
        <p:txBody>
          <a:bodyPr>
            <a:noAutofit/>
          </a:bodyPr>
          <a:lstStyle/>
          <a:p>
            <a:pPr algn="just"/>
            <a:endParaRPr lang="en-US" sz="2400" b="1" dirty="0"/>
          </a:p>
          <a:p>
            <a:pPr algn="just"/>
            <a:endParaRPr lang="en-US" sz="2400" b="1" dirty="0"/>
          </a:p>
          <a:p>
            <a:pPr algn="just"/>
            <a:endParaRPr lang="en-US" sz="2400" b="1" dirty="0"/>
          </a:p>
          <a:p>
            <a:pPr algn="just"/>
            <a:endParaRPr lang="en-US" sz="2400" b="1" dirty="0"/>
          </a:p>
          <a:p>
            <a:pPr algn="just"/>
            <a:endParaRPr lang="en-US" sz="2400" b="1" dirty="0"/>
          </a:p>
          <a:p>
            <a:pPr algn="just"/>
            <a:r>
              <a:rPr lang="en-US" sz="2400" dirty="0"/>
              <a:t>Now suppose after training the data, you have given a new separate fruit say Banana from basket and asked to identify it.</a:t>
            </a:r>
            <a:br>
              <a:rPr lang="en-US" sz="2400" dirty="0"/>
            </a:br>
            <a:r>
              <a:rPr lang="en-US" sz="2400" dirty="0"/>
              <a:t/>
            </a:r>
            <a:br>
              <a:rPr lang="en-US" sz="2400" dirty="0"/>
            </a:br>
            <a:endParaRPr lang="en-US" sz="2400" dirty="0"/>
          </a:p>
          <a:p>
            <a:pPr algn="just"/>
            <a:endParaRPr lang="en-US" sz="2400" dirty="0"/>
          </a:p>
        </p:txBody>
      </p:sp>
      <p:pic>
        <p:nvPicPr>
          <p:cNvPr id="1026" name="Picture 2" descr="Sunbur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2057400"/>
            <a:ext cx="2652198" cy="2211932"/>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91000" y="5688872"/>
            <a:ext cx="1790700" cy="940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22459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371CF26-05C8-474A-AF32-F61EB39A984F}" type="slidenum">
              <a:rPr lang="en-US" altLang="en-US" sz="1400" smtClean="0"/>
              <a:pPr>
                <a:spcBef>
                  <a:spcPct val="0"/>
                </a:spcBef>
                <a:buFontTx/>
                <a:buNone/>
              </a:pPr>
              <a:t>14</a:t>
            </a:fld>
            <a:endParaRPr lang="en-US" altLang="en-US" sz="1400" smtClean="0"/>
          </a:p>
        </p:txBody>
      </p:sp>
      <p:sp>
        <p:nvSpPr>
          <p:cNvPr id="24579" name="Rectangle 2"/>
          <p:cNvSpPr>
            <a:spLocks noGrp="1" noChangeArrowheads="1"/>
          </p:cNvSpPr>
          <p:nvPr>
            <p:ph type="title"/>
          </p:nvPr>
        </p:nvSpPr>
        <p:spPr>
          <a:xfrm>
            <a:off x="457200" y="274638"/>
            <a:ext cx="8458200" cy="868362"/>
          </a:xfrm>
        </p:spPr>
        <p:txBody>
          <a:bodyPr>
            <a:normAutofit fontScale="90000"/>
          </a:bodyPr>
          <a:lstStyle/>
          <a:p>
            <a:pPr eaLnBrk="1" hangingPunct="1"/>
            <a:r>
              <a:rPr lang="en-US" altLang="en-US" sz="3200" dirty="0" smtClean="0"/>
              <a:t>Supervised Learning : Important Concepts</a:t>
            </a:r>
          </a:p>
        </p:txBody>
      </p:sp>
      <p:sp>
        <p:nvSpPr>
          <p:cNvPr id="120835" name="Rectangle 3"/>
          <p:cNvSpPr>
            <a:spLocks noGrp="1" noChangeArrowheads="1"/>
          </p:cNvSpPr>
          <p:nvPr>
            <p:ph type="body" idx="1"/>
          </p:nvPr>
        </p:nvSpPr>
        <p:spPr>
          <a:xfrm>
            <a:off x="458755" y="1676400"/>
            <a:ext cx="8229600" cy="5257800"/>
          </a:xfrm>
        </p:spPr>
        <p:txBody>
          <a:bodyPr>
            <a:normAutofit fontScale="92500" lnSpcReduction="10000"/>
          </a:bodyPr>
          <a:lstStyle/>
          <a:p>
            <a:pPr eaLnBrk="1" hangingPunct="1">
              <a:lnSpc>
                <a:spcPct val="80000"/>
              </a:lnSpc>
            </a:pPr>
            <a:r>
              <a:rPr lang="en-US" altLang="en-US" sz="2400" dirty="0" smtClean="0">
                <a:solidFill>
                  <a:srgbClr val="FF0000"/>
                </a:solidFill>
              </a:rPr>
              <a:t>Data:</a:t>
            </a:r>
            <a:r>
              <a:rPr lang="en-US" altLang="en-US" sz="2400" dirty="0" smtClean="0"/>
              <a:t> labeled instances </a:t>
            </a:r>
            <a:r>
              <a:rPr lang="en-US" altLang="en-US" sz="2400" i="1" dirty="0" smtClean="0"/>
              <a:t>&lt;x</a:t>
            </a:r>
            <a:r>
              <a:rPr lang="en-US" altLang="en-US" sz="2400" i="1" baseline="-25000" dirty="0" smtClean="0"/>
              <a:t>i</a:t>
            </a:r>
            <a:r>
              <a:rPr lang="en-US" altLang="en-US" sz="2400" i="1" dirty="0" smtClean="0"/>
              <a:t>, y&gt;</a:t>
            </a:r>
            <a:r>
              <a:rPr lang="en-US" altLang="en-US" sz="2400" dirty="0" smtClean="0"/>
              <a:t>, e.g. emails marked spam/not spam</a:t>
            </a:r>
          </a:p>
          <a:p>
            <a:pPr lvl="1" eaLnBrk="1" hangingPunct="1">
              <a:lnSpc>
                <a:spcPct val="80000"/>
              </a:lnSpc>
            </a:pPr>
            <a:r>
              <a:rPr lang="en-US" altLang="en-US" sz="2000" dirty="0" smtClean="0"/>
              <a:t>Training Set</a:t>
            </a:r>
          </a:p>
          <a:p>
            <a:pPr lvl="1" eaLnBrk="1" hangingPunct="1">
              <a:lnSpc>
                <a:spcPct val="80000"/>
              </a:lnSpc>
            </a:pPr>
            <a:r>
              <a:rPr lang="en-US" altLang="en-US" sz="2000" dirty="0" smtClean="0"/>
              <a:t>Held-out Set</a:t>
            </a:r>
          </a:p>
          <a:p>
            <a:pPr lvl="1" eaLnBrk="1" hangingPunct="1">
              <a:lnSpc>
                <a:spcPct val="80000"/>
              </a:lnSpc>
            </a:pPr>
            <a:r>
              <a:rPr lang="en-US" altLang="en-US" sz="2000" dirty="0" smtClean="0"/>
              <a:t>Test Set</a:t>
            </a:r>
          </a:p>
          <a:p>
            <a:pPr eaLnBrk="1" hangingPunct="1">
              <a:lnSpc>
                <a:spcPct val="80000"/>
              </a:lnSpc>
            </a:pPr>
            <a:r>
              <a:rPr lang="en-US" altLang="en-US" sz="2400" dirty="0" smtClean="0">
                <a:solidFill>
                  <a:srgbClr val="FF0000"/>
                </a:solidFill>
              </a:rPr>
              <a:t>Features:</a:t>
            </a:r>
            <a:r>
              <a:rPr lang="en-US" altLang="en-US" sz="2400" dirty="0" smtClean="0"/>
              <a:t> attribute-value pairs which characterize each </a:t>
            </a:r>
            <a:r>
              <a:rPr lang="en-US" altLang="en-US" sz="2400" i="1" dirty="0" smtClean="0"/>
              <a:t>x</a:t>
            </a:r>
          </a:p>
          <a:p>
            <a:pPr eaLnBrk="1" hangingPunct="1">
              <a:lnSpc>
                <a:spcPct val="80000"/>
              </a:lnSpc>
            </a:pPr>
            <a:r>
              <a:rPr lang="en-US" altLang="en-US" sz="2400" dirty="0" smtClean="0">
                <a:solidFill>
                  <a:srgbClr val="FF0000"/>
                </a:solidFill>
              </a:rPr>
              <a:t>Experimentation cycle</a:t>
            </a:r>
          </a:p>
          <a:p>
            <a:pPr lvl="1" eaLnBrk="1" hangingPunct="1">
              <a:lnSpc>
                <a:spcPct val="80000"/>
              </a:lnSpc>
            </a:pPr>
            <a:r>
              <a:rPr lang="en-US" altLang="en-US" sz="2000" dirty="0" smtClean="0"/>
              <a:t>Learn parameters (e.g. model probabilities) on training set</a:t>
            </a:r>
          </a:p>
          <a:p>
            <a:pPr lvl="1" eaLnBrk="1" hangingPunct="1">
              <a:lnSpc>
                <a:spcPct val="80000"/>
              </a:lnSpc>
            </a:pPr>
            <a:r>
              <a:rPr lang="en-US" altLang="en-US" sz="2000" dirty="0" smtClean="0"/>
              <a:t>Compute accuracy of test set</a:t>
            </a:r>
          </a:p>
          <a:p>
            <a:pPr lvl="1" eaLnBrk="1" hangingPunct="1">
              <a:lnSpc>
                <a:spcPct val="80000"/>
              </a:lnSpc>
            </a:pPr>
            <a:r>
              <a:rPr lang="en-US" altLang="en-US" sz="2000" dirty="0" smtClean="0"/>
              <a:t>Very important: never “peek” at the test set!</a:t>
            </a:r>
          </a:p>
          <a:p>
            <a:pPr eaLnBrk="1" hangingPunct="1">
              <a:lnSpc>
                <a:spcPct val="80000"/>
              </a:lnSpc>
            </a:pPr>
            <a:r>
              <a:rPr lang="en-US" altLang="en-US" sz="2400" dirty="0" smtClean="0"/>
              <a:t> </a:t>
            </a:r>
            <a:r>
              <a:rPr lang="en-US" altLang="en-US" sz="2400" dirty="0" smtClean="0">
                <a:solidFill>
                  <a:srgbClr val="FF0000"/>
                </a:solidFill>
              </a:rPr>
              <a:t>Evaluation</a:t>
            </a:r>
          </a:p>
          <a:p>
            <a:pPr lvl="1" eaLnBrk="1" hangingPunct="1">
              <a:lnSpc>
                <a:spcPct val="80000"/>
              </a:lnSpc>
            </a:pPr>
            <a:r>
              <a:rPr lang="en-US" altLang="en-US" sz="2000" dirty="0" smtClean="0">
                <a:solidFill>
                  <a:srgbClr val="FF0000"/>
                </a:solidFill>
              </a:rPr>
              <a:t>Accuracy:</a:t>
            </a:r>
            <a:r>
              <a:rPr lang="en-US" altLang="en-US" sz="2000" dirty="0" smtClean="0"/>
              <a:t> fraction of instances predicted correctly</a:t>
            </a:r>
          </a:p>
          <a:p>
            <a:pPr eaLnBrk="1" hangingPunct="1">
              <a:lnSpc>
                <a:spcPct val="80000"/>
              </a:lnSpc>
            </a:pPr>
            <a:r>
              <a:rPr lang="en-US" altLang="en-US" sz="2400" dirty="0" smtClean="0">
                <a:solidFill>
                  <a:srgbClr val="FF0000"/>
                </a:solidFill>
              </a:rPr>
              <a:t>Overfitting and generalization</a:t>
            </a:r>
          </a:p>
          <a:p>
            <a:pPr lvl="1" eaLnBrk="1" hangingPunct="1">
              <a:lnSpc>
                <a:spcPct val="80000"/>
              </a:lnSpc>
            </a:pPr>
            <a:r>
              <a:rPr lang="en-US" altLang="en-US" sz="2000" dirty="0" smtClean="0"/>
              <a:t>Want a classifier which does well on test data</a:t>
            </a:r>
          </a:p>
          <a:p>
            <a:pPr lvl="1" eaLnBrk="1" hangingPunct="1">
              <a:lnSpc>
                <a:spcPct val="80000"/>
              </a:lnSpc>
            </a:pPr>
            <a:r>
              <a:rPr lang="en-US" altLang="en-US" sz="2000" dirty="0" smtClean="0"/>
              <a:t>Overfitting: fitting the training data very closely, but not  generalizing well</a:t>
            </a:r>
          </a:p>
        </p:txBody>
      </p:sp>
    </p:spTree>
    <p:extLst>
      <p:ext uri="{BB962C8B-B14F-4D97-AF65-F5344CB8AC3E}">
        <p14:creationId xmlns:p14="http://schemas.microsoft.com/office/powerpoint/2010/main" val="1563301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083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083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083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0835">
                                            <p:txEl>
                                              <p:pRg st="8" end="8"/>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20835">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0835">
                                            <p:txEl>
                                              <p:pRg st="10" end="1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20835">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0835">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083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smtClean="0"/>
              <a:t>Machine Learning Methods</a:t>
            </a:r>
            <a:endParaRPr lang="en-GB" altLang="en-US" smtClean="0"/>
          </a:p>
        </p:txBody>
      </p:sp>
      <p:pic>
        <p:nvPicPr>
          <p:cNvPr id="25603"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905000" y="2819400"/>
            <a:ext cx="5673725" cy="1673225"/>
          </a:xfrm>
        </p:spPr>
      </p:pic>
      <p:sp>
        <p:nvSpPr>
          <p:cNvPr id="25604"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736802A-720C-40BD-A9AA-C4CB77FBFAA7}" type="slidenum">
              <a:rPr lang="en-US" altLang="en-US" sz="1400" smtClean="0"/>
              <a:pPr>
                <a:spcBef>
                  <a:spcPct val="0"/>
                </a:spcBef>
                <a:buFontTx/>
                <a:buNone/>
              </a:pPr>
              <a:t>15</a:t>
            </a:fld>
            <a:endParaRPr lang="en-US" altLang="en-US" sz="1400" smtClean="0"/>
          </a:p>
        </p:txBody>
      </p:sp>
      <p:sp>
        <p:nvSpPr>
          <p:cNvPr id="25605" name="Rectangle 4"/>
          <p:cNvSpPr>
            <a:spLocks noChangeArrowheads="1"/>
          </p:cNvSpPr>
          <p:nvPr/>
        </p:nvSpPr>
        <p:spPr bwMode="auto">
          <a:xfrm>
            <a:off x="457200" y="1905000"/>
            <a:ext cx="80772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0"/>
              </a:spcBef>
              <a:buFontTx/>
              <a:buNone/>
            </a:pPr>
            <a:r>
              <a:rPr lang="en-US" altLang="en-US" sz="1800">
                <a:solidFill>
                  <a:schemeClr val="accent2"/>
                </a:solidFill>
              </a:rPr>
              <a:t>Unsupervised Learning</a:t>
            </a:r>
            <a:r>
              <a:rPr lang="en-US" altLang="en-US" sz="1800"/>
              <a:t>: Only data is given, no labels provided</a:t>
            </a:r>
          </a:p>
          <a:p>
            <a:pPr eaLnBrk="1" hangingPunct="1">
              <a:lnSpc>
                <a:spcPct val="90000"/>
              </a:lnSpc>
              <a:spcBef>
                <a:spcPct val="0"/>
              </a:spcBef>
              <a:buFontTx/>
              <a:buNone/>
            </a:pPr>
            <a:endParaRPr lang="en-US" altLang="en-US" sz="1800"/>
          </a:p>
        </p:txBody>
      </p:sp>
    </p:spTree>
    <p:extLst>
      <p:ext uri="{BB962C8B-B14F-4D97-AF65-F5344CB8AC3E}">
        <p14:creationId xmlns:p14="http://schemas.microsoft.com/office/powerpoint/2010/main" val="1089520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Unsupervised Learning</a:t>
            </a:r>
          </a:p>
        </p:txBody>
      </p:sp>
      <p:sp>
        <p:nvSpPr>
          <p:cNvPr id="2" name="Content Placeholder 1"/>
          <p:cNvSpPr>
            <a:spLocks noGrp="1"/>
          </p:cNvSpPr>
          <p:nvPr>
            <p:ph idx="1"/>
          </p:nvPr>
        </p:nvSpPr>
        <p:spPr>
          <a:xfrm>
            <a:off x="457200" y="1524000"/>
            <a:ext cx="8229600" cy="3630795"/>
          </a:xfrm>
        </p:spPr>
        <p:txBody>
          <a:bodyPr>
            <a:normAutofit/>
          </a:bodyPr>
          <a:lstStyle/>
          <a:p>
            <a:pPr algn="just"/>
            <a:r>
              <a:rPr lang="en-US" sz="2400" dirty="0"/>
              <a:t>It do not need to be trained with desired outcome data.</a:t>
            </a:r>
          </a:p>
          <a:p>
            <a:pPr algn="just"/>
            <a:r>
              <a:rPr lang="en-US" sz="2400" b="1" dirty="0"/>
              <a:t>S</a:t>
            </a:r>
            <a:r>
              <a:rPr lang="en-US" sz="2400" dirty="0"/>
              <a:t>uppose it is given an image having both dogs and cats which have not seen ever.</a:t>
            </a:r>
            <a:br>
              <a:rPr lang="en-US" sz="2400" dirty="0"/>
            </a:br>
            <a:endParaRPr lang="en-US" sz="2400" dirty="0"/>
          </a:p>
        </p:txBody>
      </p:sp>
      <p:pic>
        <p:nvPicPr>
          <p:cNvPr id="2050" name="Picture 2" descr="https://cdncontribute.geeksforgeeks.org/wp-content/uploads/cat-and-dog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181475"/>
            <a:ext cx="6400800" cy="2676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9225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Unsupervised Learning</a:t>
            </a:r>
          </a:p>
        </p:txBody>
      </p:sp>
      <p:sp>
        <p:nvSpPr>
          <p:cNvPr id="2" name="Content Placeholder 1"/>
          <p:cNvSpPr>
            <a:spLocks noGrp="1"/>
          </p:cNvSpPr>
          <p:nvPr>
            <p:ph idx="1"/>
          </p:nvPr>
        </p:nvSpPr>
        <p:spPr>
          <a:xfrm>
            <a:off x="381000" y="2209800"/>
            <a:ext cx="8305799" cy="4343400"/>
          </a:xfrm>
        </p:spPr>
        <p:txBody>
          <a:bodyPr>
            <a:noAutofit/>
          </a:bodyPr>
          <a:lstStyle/>
          <a:p>
            <a:pPr algn="just"/>
            <a:r>
              <a:rPr lang="en-US" sz="2400" dirty="0"/>
              <a:t>Thus machine has no any idea about the features of dogs and cat so we can’t categorize it in dogs and cats. </a:t>
            </a:r>
          </a:p>
          <a:p>
            <a:pPr algn="just"/>
            <a:r>
              <a:rPr lang="en-US" sz="2400" dirty="0"/>
              <a:t>But it can categorize them according to their similarities, patterns and differences i.e., we can easily categorize the above picture into two parts. </a:t>
            </a:r>
          </a:p>
          <a:p>
            <a:pPr algn="just"/>
            <a:r>
              <a:rPr lang="en-US" sz="2400" dirty="0"/>
              <a:t>First may contain all pics having </a:t>
            </a:r>
            <a:r>
              <a:rPr lang="en-US" sz="2400" b="1" dirty="0"/>
              <a:t>dogs</a:t>
            </a:r>
            <a:r>
              <a:rPr lang="en-US" sz="2400" dirty="0"/>
              <a:t> in it and second part may contain all pics having </a:t>
            </a:r>
            <a:r>
              <a:rPr lang="en-US" sz="2400" b="1" dirty="0"/>
              <a:t>cats</a:t>
            </a:r>
            <a:r>
              <a:rPr lang="en-US" sz="2400" dirty="0"/>
              <a:t> in it. </a:t>
            </a:r>
          </a:p>
          <a:p>
            <a:pPr algn="just"/>
            <a:r>
              <a:rPr lang="en-US" sz="2400" dirty="0"/>
              <a:t>Here you didn’t learn anything before, means no training data or examples.</a:t>
            </a:r>
            <a:br>
              <a:rPr lang="en-US" sz="2400" dirty="0"/>
            </a:br>
            <a:endParaRPr lang="en-US" sz="2400" dirty="0"/>
          </a:p>
        </p:txBody>
      </p:sp>
    </p:spTree>
    <p:extLst>
      <p:ext uri="{BB962C8B-B14F-4D97-AF65-F5344CB8AC3E}">
        <p14:creationId xmlns:p14="http://schemas.microsoft.com/office/powerpoint/2010/main" val="387816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Unsupervised Learning</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2514600"/>
            <a:ext cx="8287387" cy="4038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67218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Semi supervised learning</a:t>
            </a:r>
          </a:p>
        </p:txBody>
      </p:sp>
      <p:sp>
        <p:nvSpPr>
          <p:cNvPr id="2" name="Content Placeholder 1"/>
          <p:cNvSpPr>
            <a:spLocks noGrp="1"/>
          </p:cNvSpPr>
          <p:nvPr>
            <p:ph idx="1"/>
          </p:nvPr>
        </p:nvSpPr>
        <p:spPr/>
        <p:txBody>
          <a:bodyPr>
            <a:normAutofit/>
          </a:bodyPr>
          <a:lstStyle/>
          <a:p>
            <a:pPr algn="just"/>
            <a:r>
              <a:rPr lang="en-US" sz="2400" dirty="0"/>
              <a:t>It fall somewhere in between supervised and unsupervised learning</a:t>
            </a:r>
          </a:p>
          <a:p>
            <a:pPr algn="just"/>
            <a:r>
              <a:rPr lang="en-US" sz="2400" dirty="0"/>
              <a:t>Since they use both labeled and unlabeled data for training </a:t>
            </a:r>
          </a:p>
          <a:p>
            <a:pPr algn="just"/>
            <a:r>
              <a:rPr lang="en-US" sz="2400" dirty="0"/>
              <a:t>Typically a small amount of labeled data and a large amount of unlabeled data</a:t>
            </a:r>
          </a:p>
          <a:p>
            <a:pPr algn="just"/>
            <a:r>
              <a:rPr lang="en-US" sz="2400" dirty="0"/>
              <a:t>Applications</a:t>
            </a:r>
          </a:p>
          <a:p>
            <a:pPr lvl="1" algn="just"/>
            <a:r>
              <a:rPr lang="en-US" sz="2400" dirty="0"/>
              <a:t>Speech analysis, web content classification etc.</a:t>
            </a:r>
          </a:p>
        </p:txBody>
      </p:sp>
    </p:spTree>
    <p:extLst>
      <p:ext uri="{BB962C8B-B14F-4D97-AF65-F5344CB8AC3E}">
        <p14:creationId xmlns:p14="http://schemas.microsoft.com/office/powerpoint/2010/main" val="4194625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Reinforcement learning </a:t>
            </a:r>
          </a:p>
        </p:txBody>
      </p:sp>
      <p:sp>
        <p:nvSpPr>
          <p:cNvPr id="4" name="Content Placeholder 3"/>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321859"/>
            <a:ext cx="7924800" cy="45361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6451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Reinforcement learning </a:t>
            </a:r>
          </a:p>
        </p:txBody>
      </p:sp>
      <p:sp>
        <p:nvSpPr>
          <p:cNvPr id="2" name="Content Placeholder 1"/>
          <p:cNvSpPr>
            <a:spLocks noGrp="1"/>
          </p:cNvSpPr>
          <p:nvPr>
            <p:ph idx="1"/>
          </p:nvPr>
        </p:nvSpPr>
        <p:spPr>
          <a:xfrm>
            <a:off x="866441" y="2413000"/>
            <a:ext cx="7363159" cy="4216400"/>
          </a:xfrm>
        </p:spPr>
        <p:txBody>
          <a:bodyPr>
            <a:noAutofit/>
          </a:bodyPr>
          <a:lstStyle/>
          <a:p>
            <a:pPr algn="just" fontAlgn="base"/>
            <a:r>
              <a:rPr lang="en-US" sz="2000" dirty="0"/>
              <a:t>Reward feedback in a particular situation. </a:t>
            </a:r>
          </a:p>
          <a:p>
            <a:pPr algn="just" fontAlgn="base"/>
            <a:endParaRPr lang="en-US" sz="2000" dirty="0"/>
          </a:p>
          <a:p>
            <a:pPr algn="just" fontAlgn="base"/>
            <a:r>
              <a:rPr lang="en-US" sz="2000" dirty="0"/>
              <a:t>To find the best possible behavior or path it should take in a specific situation. </a:t>
            </a:r>
          </a:p>
          <a:p>
            <a:pPr algn="just" fontAlgn="base"/>
            <a:endParaRPr lang="en-US" sz="2000" dirty="0"/>
          </a:p>
          <a:p>
            <a:pPr algn="just" fontAlgn="base"/>
            <a:r>
              <a:rPr lang="en-US" sz="2000" dirty="0"/>
              <a:t>Reinforcement learning differs from the supervised learning in a way that in supervised learning the training data has the answer key with it so the model is trained with the correct answer itself whereas in reinforcement learning, there is no answer but the reinforcement agent decides what to do to perform the given task. </a:t>
            </a:r>
          </a:p>
          <a:p>
            <a:pPr algn="just" fontAlgn="base"/>
            <a:endParaRPr lang="en-US" sz="2000" dirty="0"/>
          </a:p>
          <a:p>
            <a:pPr fontAlgn="base"/>
            <a:r>
              <a:rPr lang="en-US" sz="2000" dirty="0"/>
              <a:t>In the absence of training dataset, it is bound to learn from its experience.</a:t>
            </a:r>
            <a:br>
              <a:rPr lang="en-US" sz="2000" dirty="0"/>
            </a:br>
            <a:endParaRPr lang="en-US" sz="2000" dirty="0"/>
          </a:p>
        </p:txBody>
      </p:sp>
    </p:spTree>
    <p:extLst>
      <p:ext uri="{BB962C8B-B14F-4D97-AF65-F5344CB8AC3E}">
        <p14:creationId xmlns:p14="http://schemas.microsoft.com/office/powerpoint/2010/main" val="14115570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2286000"/>
            <a:ext cx="8763000" cy="4572000"/>
            <a:chOff x="152400" y="304800"/>
            <a:chExt cx="8763000" cy="6553200"/>
          </a:xfrm>
        </p:grpSpPr>
        <p:sp>
          <p:nvSpPr>
            <p:cNvPr id="4" name="Rectangle 3"/>
            <p:cNvSpPr/>
            <p:nvPr/>
          </p:nvSpPr>
          <p:spPr>
            <a:xfrm>
              <a:off x="3200400" y="304800"/>
              <a:ext cx="2819400" cy="1066800"/>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lumMod val="95000"/>
                      <a:lumOff val="5000"/>
                    </a:schemeClr>
                  </a:solidFill>
                </a:rPr>
                <a:t>Machine Learning</a:t>
              </a:r>
            </a:p>
          </p:txBody>
        </p:sp>
        <p:sp>
          <p:nvSpPr>
            <p:cNvPr id="5" name="Rectangle 4"/>
            <p:cNvSpPr/>
            <p:nvPr/>
          </p:nvSpPr>
          <p:spPr>
            <a:xfrm>
              <a:off x="6096000" y="1981200"/>
              <a:ext cx="2819400" cy="1066800"/>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lumMod val="95000"/>
                      <a:lumOff val="5000"/>
                    </a:schemeClr>
                  </a:solidFill>
                </a:rPr>
                <a:t>Unsupervised Learning</a:t>
              </a:r>
            </a:p>
          </p:txBody>
        </p:sp>
        <p:sp>
          <p:nvSpPr>
            <p:cNvPr id="6" name="Rectangle 5"/>
            <p:cNvSpPr/>
            <p:nvPr/>
          </p:nvSpPr>
          <p:spPr>
            <a:xfrm>
              <a:off x="1600200" y="1981200"/>
              <a:ext cx="2819400" cy="1066800"/>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lumMod val="95000"/>
                      <a:lumOff val="5000"/>
                    </a:schemeClr>
                  </a:solidFill>
                </a:rPr>
                <a:t>Supervised Learning</a:t>
              </a:r>
            </a:p>
          </p:txBody>
        </p:sp>
        <p:sp>
          <p:nvSpPr>
            <p:cNvPr id="7" name="Rectangle 6"/>
            <p:cNvSpPr/>
            <p:nvPr/>
          </p:nvSpPr>
          <p:spPr>
            <a:xfrm>
              <a:off x="152400" y="3505200"/>
              <a:ext cx="2667000" cy="1066800"/>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tx1">
                      <a:lumMod val="95000"/>
                      <a:lumOff val="5000"/>
                    </a:schemeClr>
                  </a:solidFill>
                </a:rPr>
                <a:t>Classification</a:t>
              </a:r>
            </a:p>
          </p:txBody>
        </p:sp>
        <p:sp>
          <p:nvSpPr>
            <p:cNvPr id="8" name="Rectangle 7"/>
            <p:cNvSpPr/>
            <p:nvPr/>
          </p:nvSpPr>
          <p:spPr>
            <a:xfrm>
              <a:off x="3200400" y="3505200"/>
              <a:ext cx="2362200" cy="1066800"/>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tx1">
                      <a:lumMod val="95000"/>
                      <a:lumOff val="5000"/>
                    </a:schemeClr>
                  </a:solidFill>
                </a:rPr>
                <a:t>Regression</a:t>
              </a:r>
            </a:p>
          </p:txBody>
        </p:sp>
        <p:sp>
          <p:nvSpPr>
            <p:cNvPr id="9" name="Rectangle 8"/>
            <p:cNvSpPr/>
            <p:nvPr/>
          </p:nvSpPr>
          <p:spPr>
            <a:xfrm>
              <a:off x="6400800" y="3505200"/>
              <a:ext cx="2438400" cy="1066800"/>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tx1">
                      <a:lumMod val="95000"/>
                      <a:lumOff val="5000"/>
                    </a:schemeClr>
                  </a:solidFill>
                </a:rPr>
                <a:t>Clustering</a:t>
              </a:r>
            </a:p>
          </p:txBody>
        </p:sp>
        <p:cxnSp>
          <p:nvCxnSpPr>
            <p:cNvPr id="14" name="Straight Arrow Connector 13"/>
            <p:cNvCxnSpPr>
              <a:stCxn id="4" idx="2"/>
              <a:endCxn id="6" idx="0"/>
            </p:cNvCxnSpPr>
            <p:nvPr/>
          </p:nvCxnSpPr>
          <p:spPr>
            <a:xfrm flipH="1">
              <a:off x="3009900" y="1371600"/>
              <a:ext cx="1600200" cy="609600"/>
            </a:xfrm>
            <a:prstGeom prst="straightConnector1">
              <a:avLst/>
            </a:prstGeom>
            <a:ln w="76200">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4" idx="2"/>
              <a:endCxn id="5" idx="0"/>
            </p:cNvCxnSpPr>
            <p:nvPr/>
          </p:nvCxnSpPr>
          <p:spPr>
            <a:xfrm>
              <a:off x="4610100" y="1371600"/>
              <a:ext cx="2895600" cy="609600"/>
            </a:xfrm>
            <a:prstGeom prst="straightConnector1">
              <a:avLst/>
            </a:prstGeom>
            <a:ln w="76200">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2"/>
              <a:endCxn id="7" idx="0"/>
            </p:cNvCxnSpPr>
            <p:nvPr/>
          </p:nvCxnSpPr>
          <p:spPr>
            <a:xfrm flipH="1">
              <a:off x="1485900" y="3048000"/>
              <a:ext cx="1524000" cy="457200"/>
            </a:xfrm>
            <a:prstGeom prst="straightConnector1">
              <a:avLst/>
            </a:prstGeom>
            <a:ln w="76200">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2"/>
              <a:endCxn id="8" idx="0"/>
            </p:cNvCxnSpPr>
            <p:nvPr/>
          </p:nvCxnSpPr>
          <p:spPr>
            <a:xfrm>
              <a:off x="3009900" y="3048000"/>
              <a:ext cx="1371600" cy="457200"/>
            </a:xfrm>
            <a:prstGeom prst="straightConnector1">
              <a:avLst/>
            </a:prstGeom>
            <a:ln w="76200">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5" idx="2"/>
              <a:endCxn id="9" idx="0"/>
            </p:cNvCxnSpPr>
            <p:nvPr/>
          </p:nvCxnSpPr>
          <p:spPr>
            <a:xfrm>
              <a:off x="7505700" y="3048000"/>
              <a:ext cx="114300" cy="457200"/>
            </a:xfrm>
            <a:prstGeom prst="straightConnector1">
              <a:avLst/>
            </a:prstGeom>
            <a:ln w="76200">
              <a:solidFill>
                <a:srgbClr val="00206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152400" y="4724400"/>
              <a:ext cx="2667000" cy="2133600"/>
            </a:xfrm>
            <a:prstGeom prst="rect">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95000"/>
                      <a:lumOff val="5000"/>
                    </a:schemeClr>
                  </a:solidFill>
                </a:rPr>
                <a:t>SVM, </a:t>
              </a:r>
            </a:p>
            <a:p>
              <a:pPr algn="ctr"/>
              <a:r>
                <a:rPr lang="en-US" sz="2000" dirty="0">
                  <a:solidFill>
                    <a:schemeClr val="tx1">
                      <a:lumMod val="95000"/>
                      <a:lumOff val="5000"/>
                    </a:schemeClr>
                  </a:solidFill>
                </a:rPr>
                <a:t>Naïve Bayes,</a:t>
              </a:r>
            </a:p>
            <a:p>
              <a:pPr algn="ctr"/>
              <a:r>
                <a:rPr lang="en-US" sz="2000" dirty="0">
                  <a:solidFill>
                    <a:schemeClr val="tx1">
                      <a:lumMod val="95000"/>
                      <a:lumOff val="5000"/>
                    </a:schemeClr>
                  </a:solidFill>
                </a:rPr>
                <a:t>Nearest Neighbor</a:t>
              </a:r>
            </a:p>
            <a:p>
              <a:pPr algn="ctr"/>
              <a:r>
                <a:rPr lang="en-US" sz="2500" dirty="0">
                  <a:solidFill>
                    <a:schemeClr val="tx1">
                      <a:lumMod val="95000"/>
                      <a:lumOff val="5000"/>
                    </a:schemeClr>
                  </a:solidFill>
                </a:rPr>
                <a:t>…</a:t>
              </a:r>
            </a:p>
          </p:txBody>
        </p:sp>
        <p:sp>
          <p:nvSpPr>
            <p:cNvPr id="28" name="Rectangle 27"/>
            <p:cNvSpPr/>
            <p:nvPr/>
          </p:nvSpPr>
          <p:spPr>
            <a:xfrm>
              <a:off x="3200400" y="4724400"/>
              <a:ext cx="2438400" cy="2133600"/>
            </a:xfrm>
            <a:prstGeom prst="rect">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95000"/>
                      <a:lumOff val="5000"/>
                    </a:schemeClr>
                  </a:solidFill>
                </a:rPr>
                <a:t>Linear regression, Logistic regression</a:t>
              </a:r>
            </a:p>
            <a:p>
              <a:pPr algn="ctr"/>
              <a:r>
                <a:rPr lang="en-US" sz="2000" dirty="0">
                  <a:solidFill>
                    <a:schemeClr val="tx1">
                      <a:lumMod val="95000"/>
                      <a:lumOff val="5000"/>
                    </a:schemeClr>
                  </a:solidFill>
                </a:rPr>
                <a:t>Decision trees,</a:t>
              </a:r>
            </a:p>
            <a:p>
              <a:pPr algn="ctr"/>
              <a:r>
                <a:rPr lang="en-US" sz="2000" dirty="0">
                  <a:solidFill>
                    <a:schemeClr val="tx1">
                      <a:lumMod val="95000"/>
                      <a:lumOff val="5000"/>
                    </a:schemeClr>
                  </a:solidFill>
                </a:rPr>
                <a:t>Neural Networks</a:t>
              </a:r>
            </a:p>
            <a:p>
              <a:pPr algn="ctr"/>
              <a:r>
                <a:rPr lang="en-US" sz="2000" dirty="0">
                  <a:solidFill>
                    <a:schemeClr val="tx1">
                      <a:lumMod val="95000"/>
                      <a:lumOff val="5000"/>
                    </a:schemeClr>
                  </a:solidFill>
                </a:rPr>
                <a:t>…</a:t>
              </a:r>
            </a:p>
          </p:txBody>
        </p:sp>
        <p:sp>
          <p:nvSpPr>
            <p:cNvPr id="29" name="Rectangle 28"/>
            <p:cNvSpPr/>
            <p:nvPr/>
          </p:nvSpPr>
          <p:spPr>
            <a:xfrm>
              <a:off x="6400800" y="4724400"/>
              <a:ext cx="2438400" cy="2133600"/>
            </a:xfrm>
            <a:prstGeom prst="rect">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95000"/>
                      <a:lumOff val="5000"/>
                    </a:schemeClr>
                  </a:solidFill>
                </a:rPr>
                <a:t>K mean, Fuzzy, HMM, Gaussian Mixture</a:t>
              </a:r>
            </a:p>
            <a:p>
              <a:pPr algn="ctr"/>
              <a:r>
                <a:rPr lang="en-US" sz="2200" dirty="0" smtClean="0">
                  <a:solidFill>
                    <a:schemeClr val="tx1">
                      <a:lumMod val="95000"/>
                      <a:lumOff val="5000"/>
                    </a:schemeClr>
                  </a:solidFill>
                </a:rPr>
                <a:t>…</a:t>
              </a:r>
              <a:endParaRPr lang="en-US" sz="2200" dirty="0">
                <a:solidFill>
                  <a:schemeClr val="tx1">
                    <a:lumMod val="95000"/>
                    <a:lumOff val="5000"/>
                  </a:schemeClr>
                </a:solidFill>
              </a:endParaRPr>
            </a:p>
          </p:txBody>
        </p:sp>
      </p:grpSp>
      <p:sp>
        <p:nvSpPr>
          <p:cNvPr id="19" name="Title 1"/>
          <p:cNvSpPr>
            <a:spLocks noGrp="1"/>
          </p:cNvSpPr>
          <p:nvPr>
            <p:ph type="title"/>
          </p:nvPr>
        </p:nvSpPr>
        <p:spPr>
          <a:xfrm>
            <a:off x="581192" y="687474"/>
            <a:ext cx="7989752" cy="1083329"/>
          </a:xfrm>
        </p:spPr>
        <p:txBody>
          <a:bodyPr/>
          <a:lstStyle/>
          <a:p>
            <a:r>
              <a:rPr lang="en-US" dirty="0"/>
              <a:t>Sub-Type of learning algorithms </a:t>
            </a:r>
          </a:p>
        </p:txBody>
      </p:sp>
    </p:spTree>
    <p:extLst>
      <p:ext uri="{BB962C8B-B14F-4D97-AF65-F5344CB8AC3E}">
        <p14:creationId xmlns:p14="http://schemas.microsoft.com/office/powerpoint/2010/main" val="2886638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581192" y="2617605"/>
            <a:ext cx="7989752" cy="3630795"/>
          </a:xfrm>
        </p:spPr>
        <p:txBody>
          <a:bodyPr>
            <a:noAutofit/>
          </a:bodyPr>
          <a:lstStyle/>
          <a:p>
            <a:pPr algn="just"/>
            <a:r>
              <a:rPr lang="en-US" sz="2400" dirty="0"/>
              <a:t>Machine learning (ML) is a relevant, popular topic with applications spanning many data-driven tasks </a:t>
            </a:r>
          </a:p>
          <a:p>
            <a:pPr algn="just"/>
            <a:r>
              <a:rPr lang="en-US" sz="2400" dirty="0"/>
              <a:t>ML spans tasks in inductive reasoning; unlike classic AI, ML infers general patterns from specific samples </a:t>
            </a:r>
          </a:p>
          <a:p>
            <a:pPr algn="just"/>
            <a:r>
              <a:rPr lang="en-US" sz="2400" dirty="0"/>
              <a:t>ML algorithms can be viewed as pattern analyzers—the patterns they find can be used to make predictions </a:t>
            </a:r>
          </a:p>
          <a:p>
            <a:pPr algn="just"/>
            <a:r>
              <a:rPr lang="en-US" sz="2400" dirty="0"/>
              <a:t>Common tasks in ML include regression, classification, subspace discovery, &amp; clustering</a:t>
            </a:r>
          </a:p>
          <a:p>
            <a:pPr algn="just"/>
            <a:r>
              <a:rPr lang="en-US" sz="2400" dirty="0"/>
              <a:t>Learning algorithms face challenges including choosing an inductive bias, under- &amp; over-fitting, &amp; computational efficiency</a:t>
            </a:r>
          </a:p>
        </p:txBody>
      </p:sp>
    </p:spTree>
    <p:extLst>
      <p:ext uri="{BB962C8B-B14F-4D97-AF65-F5344CB8AC3E}">
        <p14:creationId xmlns:p14="http://schemas.microsoft.com/office/powerpoint/2010/main" val="3524154651"/>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2713</TotalTime>
  <Words>1093</Words>
  <Application>Microsoft Office PowerPoint</Application>
  <PresentationFormat>On-screen Show (4:3)</PresentationFormat>
  <Paragraphs>186</Paragraphs>
  <Slides>23</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Fira Sans</vt:lpstr>
      <vt:lpstr>Gill Sans MT</vt:lpstr>
      <vt:lpstr>Wingdings 2</vt:lpstr>
      <vt:lpstr>Wingdings 3</vt:lpstr>
      <vt:lpstr>Dividend</vt:lpstr>
      <vt:lpstr>LecTure#12 Introduction to Machine Learning</vt:lpstr>
      <vt:lpstr>Agenda </vt:lpstr>
      <vt:lpstr>Why Machine Learning introduces &amp; what we achieved using Machine learning?</vt:lpstr>
      <vt:lpstr>What is Machine Learning?</vt:lpstr>
      <vt:lpstr>What is Machine Learning?</vt:lpstr>
      <vt:lpstr>Applications</vt:lpstr>
      <vt:lpstr>When should you use machine learning</vt:lpstr>
      <vt:lpstr>Machine Learning Process flow</vt:lpstr>
      <vt:lpstr>Type of learning algorithms </vt:lpstr>
      <vt:lpstr>Machine Learning Methods</vt:lpstr>
      <vt:lpstr>Supervised learning</vt:lpstr>
      <vt:lpstr>Example:</vt:lpstr>
      <vt:lpstr>Example:</vt:lpstr>
      <vt:lpstr>Supervised Learning : Important Concepts</vt:lpstr>
      <vt:lpstr>Machine Learning Methods</vt:lpstr>
      <vt:lpstr>Unsupervised Learning</vt:lpstr>
      <vt:lpstr>Unsupervised Learning</vt:lpstr>
      <vt:lpstr>Unsupervised Learning</vt:lpstr>
      <vt:lpstr>Semi supervised learning</vt:lpstr>
      <vt:lpstr>Reinforcement learning </vt:lpstr>
      <vt:lpstr>Reinforcement learning </vt:lpstr>
      <vt:lpstr>Sub-Type of learning algorithms </vt:lpstr>
      <vt:lpstr>Summary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shaheena</dc:creator>
  <cp:lastModifiedBy>gulraiz</cp:lastModifiedBy>
  <cp:revision>199</cp:revision>
  <cp:lastPrinted>2021-12-28T05:27:24Z</cp:lastPrinted>
  <dcterms:created xsi:type="dcterms:W3CDTF">2019-03-01T05:49:15Z</dcterms:created>
  <dcterms:modified xsi:type="dcterms:W3CDTF">2024-06-06T11:52:28Z</dcterms:modified>
</cp:coreProperties>
</file>