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7" r:id="rId1"/>
  </p:sldMasterIdLst>
  <p:notesMasterIdLst>
    <p:notesMasterId r:id="rId63"/>
  </p:notesMasterIdLst>
  <p:sldIdLst>
    <p:sldId id="328" r:id="rId2"/>
    <p:sldId id="301" r:id="rId3"/>
    <p:sldId id="302" r:id="rId4"/>
    <p:sldId id="303" r:id="rId5"/>
    <p:sldId id="304" r:id="rId6"/>
    <p:sldId id="305" r:id="rId7"/>
    <p:sldId id="306" r:id="rId8"/>
    <p:sldId id="344" r:id="rId9"/>
    <p:sldId id="298" r:id="rId10"/>
    <p:sldId id="330" r:id="rId11"/>
    <p:sldId id="329" r:id="rId12"/>
    <p:sldId id="275" r:id="rId13"/>
    <p:sldId id="286" r:id="rId14"/>
    <p:sldId id="262" r:id="rId15"/>
    <p:sldId id="276" r:id="rId16"/>
    <p:sldId id="277" r:id="rId17"/>
    <p:sldId id="278" r:id="rId18"/>
    <p:sldId id="270" r:id="rId19"/>
    <p:sldId id="308" r:id="rId20"/>
    <p:sldId id="309" r:id="rId21"/>
    <p:sldId id="279" r:id="rId22"/>
    <p:sldId id="271" r:id="rId23"/>
    <p:sldId id="345" r:id="rId24"/>
    <p:sldId id="280" r:id="rId25"/>
    <p:sldId id="331" r:id="rId26"/>
    <p:sldId id="273" r:id="rId27"/>
    <p:sldId id="346" r:id="rId28"/>
    <p:sldId id="310" r:id="rId29"/>
    <p:sldId id="332" r:id="rId30"/>
    <p:sldId id="333" r:id="rId31"/>
    <p:sldId id="334" r:id="rId32"/>
    <p:sldId id="335" r:id="rId33"/>
    <p:sldId id="336" r:id="rId34"/>
    <p:sldId id="338" r:id="rId35"/>
    <p:sldId id="339" r:id="rId36"/>
    <p:sldId id="340" r:id="rId37"/>
    <p:sldId id="341" r:id="rId38"/>
    <p:sldId id="311" r:id="rId39"/>
    <p:sldId id="312" r:id="rId40"/>
    <p:sldId id="283" r:id="rId41"/>
    <p:sldId id="313" r:id="rId42"/>
    <p:sldId id="284" r:id="rId43"/>
    <p:sldId id="285" r:id="rId44"/>
    <p:sldId id="314" r:id="rId45"/>
    <p:sldId id="315" r:id="rId46"/>
    <p:sldId id="347" r:id="rId47"/>
    <p:sldId id="316" r:id="rId48"/>
    <p:sldId id="318" r:id="rId49"/>
    <p:sldId id="319" r:id="rId50"/>
    <p:sldId id="320" r:id="rId51"/>
    <p:sldId id="321" r:id="rId52"/>
    <p:sldId id="322" r:id="rId53"/>
    <p:sldId id="323" r:id="rId54"/>
    <p:sldId id="324" r:id="rId55"/>
    <p:sldId id="325" r:id="rId56"/>
    <p:sldId id="317" r:id="rId57"/>
    <p:sldId id="342" r:id="rId58"/>
    <p:sldId id="343" r:id="rId59"/>
    <p:sldId id="326" r:id="rId60"/>
    <p:sldId id="327" r:id="rId61"/>
    <p:sldId id="299"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p:scale>
          <a:sx n="77" d="100"/>
          <a:sy n="77" d="100"/>
        </p:scale>
        <p:origin x="682" y="1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D83019-279C-4AF9-9071-541BA6BA0CD2}" type="datetimeFigureOut">
              <a:rPr lang="en-US" smtClean="0"/>
              <a:t>3/6/2025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258509F-71CF-417E-AEDA-B915C29FB9EE}" type="slidenum">
              <a:rPr lang="en-US" smtClean="0"/>
              <a:t>‹#›</a:t>
            </a:fld>
            <a:endParaRPr lang="en-US"/>
          </a:p>
        </p:txBody>
      </p:sp>
    </p:spTree>
    <p:extLst>
      <p:ext uri="{BB962C8B-B14F-4D97-AF65-F5344CB8AC3E}">
        <p14:creationId xmlns:p14="http://schemas.microsoft.com/office/powerpoint/2010/main" val="2161036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258509F-71CF-417E-AEDA-B915C29FB9EE}" type="slidenum">
              <a:rPr lang="en-US" smtClean="0"/>
              <a:t>24</a:t>
            </a:fld>
            <a:endParaRPr lang="en-US"/>
          </a:p>
        </p:txBody>
      </p:sp>
    </p:spTree>
    <p:extLst>
      <p:ext uri="{BB962C8B-B14F-4D97-AF65-F5344CB8AC3E}">
        <p14:creationId xmlns:p14="http://schemas.microsoft.com/office/powerpoint/2010/main" val="11613736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07147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03FFBFB-A4A0-4F5C-A4DE-07EDB7FE4DC9}" type="datetimeFigureOut">
              <a:rPr lang="en-US" smtClean="0"/>
              <a:t>3/6/2025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3D26F300-2662-4F86-AEB2-EEBDD98F2AEB}"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41758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3FFBFB-A4A0-4F5C-A4DE-07EDB7FE4DC9}"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26F300-2662-4F86-AEB2-EEBDD98F2AEB}"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9458609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3FFBFB-A4A0-4F5C-A4DE-07EDB7FE4DC9}"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26F300-2662-4F86-AEB2-EEBDD98F2AEB}"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282011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03FFBFB-A4A0-4F5C-A4DE-07EDB7FE4DC9}" type="datetimeFigureOut">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26F300-2662-4F86-AEB2-EEBDD98F2AEB}"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2859757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03FFBFB-A4A0-4F5C-A4DE-07EDB7FE4DC9}" type="datetimeFigureOut">
              <a:rPr lang="en-US" smtClean="0"/>
              <a:t>3/6/2025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26F300-2662-4F86-AEB2-EEBDD98F2AEB}"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4797293"/>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03FFBFB-A4A0-4F5C-A4DE-07EDB7FE4DC9}" type="datetimeFigureOut">
              <a:rPr lang="en-US" smtClean="0"/>
              <a:t>3/6/2025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26F300-2662-4F86-AEB2-EEBDD98F2AEB}"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1469822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3FFBFB-A4A0-4F5C-A4DE-07EDB7FE4DC9}" type="datetimeFigureOut">
              <a:rPr lang="en-US" smtClean="0"/>
              <a:t>3/6/2025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26F300-2662-4F86-AEB2-EEBDD98F2AEB}" type="slidenum">
              <a:rPr lang="en-US" smtClean="0"/>
              <a:t>‹#›</a:t>
            </a:fld>
            <a:endParaRPr lang="en-US"/>
          </a:p>
        </p:txBody>
      </p:sp>
    </p:spTree>
    <p:extLst>
      <p:ext uri="{BB962C8B-B14F-4D97-AF65-F5344CB8AC3E}">
        <p14:creationId xmlns:p14="http://schemas.microsoft.com/office/powerpoint/2010/main" val="35606308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03FFBFB-A4A0-4F5C-A4DE-07EDB7FE4DC9}" type="datetimeFigureOut">
              <a:rPr lang="en-US" smtClean="0"/>
              <a:t>3/6/2025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26F300-2662-4F86-AEB2-EEBDD98F2AEB}"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7429906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B03FFBFB-A4A0-4F5C-A4DE-07EDB7FE4DC9}" type="datetimeFigureOut">
              <a:rPr lang="en-US" smtClean="0"/>
              <a:t>3/6/2025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3D26F300-2662-4F86-AEB2-EEBDD98F2AEB}"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722954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3FFBFB-A4A0-4F5C-A4DE-07EDB7FE4DC9}"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26F300-2662-4F86-AEB2-EEBDD98F2AEB}"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277667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03FFBFB-A4A0-4F5C-A4DE-07EDB7FE4DC9}"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26F300-2662-4F86-AEB2-EEBDD98F2AEB}"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74529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03FFBFB-A4A0-4F5C-A4DE-07EDB7FE4DC9}" type="datetimeFigureOut">
              <a:rPr lang="en-US" smtClean="0"/>
              <a:t>3/6/2025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26F300-2662-4F86-AEB2-EEBDD98F2AEB}" type="slidenum">
              <a:rPr lang="en-US" smtClean="0"/>
              <a:t>‹#›</a:t>
            </a:fld>
            <a:endParaRPr lang="en-US"/>
          </a:p>
        </p:txBody>
      </p:sp>
    </p:spTree>
    <p:extLst>
      <p:ext uri="{BB962C8B-B14F-4D97-AF65-F5344CB8AC3E}">
        <p14:creationId xmlns:p14="http://schemas.microsoft.com/office/powerpoint/2010/main" val="38853790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4">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B03FFBFB-A4A0-4F5C-A4DE-07EDB7FE4DC9}" type="datetimeFigureOut">
              <a:rPr lang="en-US" smtClean="0"/>
              <a:t>3/6/2025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3D26F300-2662-4F86-AEB2-EEBDD98F2AEB}"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2459271"/>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s://www.edureka.co/blog/top-15-hot-artificial-intelligence-technologies/#DeepLearningPlatforms" TargetMode="External"/><Relationship Id="rId13" Type="http://schemas.openxmlformats.org/officeDocument/2006/relationships/hyperlink" Target="https://www.edureka.co/blog/top-15-hot-artificial-intelligence-technologies/#ContentCreation" TargetMode="External"/><Relationship Id="rId3" Type="http://schemas.openxmlformats.org/officeDocument/2006/relationships/hyperlink" Target="https://www.edureka.co/blog/top-15-hot-artificial-intelligence-technologies/#SpeechRecognition" TargetMode="External"/><Relationship Id="rId7" Type="http://schemas.openxmlformats.org/officeDocument/2006/relationships/hyperlink" Target="https://www.edureka.co/blog/top-15-hot-artificial-intelligence-technologies/#AIOptimizedHardware" TargetMode="External"/><Relationship Id="rId12" Type="http://schemas.openxmlformats.org/officeDocument/2006/relationships/hyperlink" Target="https://www.edureka.co/blog/top-15-hot-artificial-intelligence-technologies/#CyberDefense" TargetMode="External"/><Relationship Id="rId2" Type="http://schemas.openxmlformats.org/officeDocument/2006/relationships/hyperlink" Target="https://www.edureka.co/blog/top-15-hot-artificial-intelligence-technologies/#NaturalLanguageGeneration" TargetMode="External"/><Relationship Id="rId16" Type="http://schemas.openxmlformats.org/officeDocument/2006/relationships/hyperlink" Target="https://www.edureka.co/blog/top-15-hot-artificial-intelligence-technologies/#MarketingAutomation" TargetMode="External"/><Relationship Id="rId1" Type="http://schemas.openxmlformats.org/officeDocument/2006/relationships/slideLayout" Target="../slideLayouts/slideLayout2.xml"/><Relationship Id="rId6" Type="http://schemas.openxmlformats.org/officeDocument/2006/relationships/hyperlink" Target="https://www.edureka.co/blog/top-15-hot-artificial-intelligence-technologies/#DecisionManagement" TargetMode="External"/><Relationship Id="rId11" Type="http://schemas.openxmlformats.org/officeDocument/2006/relationships/hyperlink" Target="https://www.edureka.co/blog/top-15-hot-artificial-intelligence-technologies/#Bio-metrics" TargetMode="External"/><Relationship Id="rId5" Type="http://schemas.openxmlformats.org/officeDocument/2006/relationships/hyperlink" Target="https://www.edureka.co/blog/top-15-hot-artificial-intelligence-technologies/#VirtualAgents" TargetMode="External"/><Relationship Id="rId15" Type="http://schemas.openxmlformats.org/officeDocument/2006/relationships/hyperlink" Target="https://www.edureka.co/blog/top-15-hot-artificial-intelligence-technologies/#ImageRecognition" TargetMode="External"/><Relationship Id="rId10" Type="http://schemas.openxmlformats.org/officeDocument/2006/relationships/hyperlink" Target="https://www.edureka.co/blog/top-15-hot-artificial-intelligence-technologies/#TextAnalyticsandNaturalLanguageProcessing(NLP)" TargetMode="External"/><Relationship Id="rId4" Type="http://schemas.openxmlformats.org/officeDocument/2006/relationships/hyperlink" Target="https://www.edureka.co/blog/top-15-hot-artificial-intelligence-technologies/#MachineLearningPlatforms" TargetMode="External"/><Relationship Id="rId9" Type="http://schemas.openxmlformats.org/officeDocument/2006/relationships/hyperlink" Target="https://www.edureka.co/blog/top-15-hot-artificial-intelligence-technologies/#RoboticProcessAutomation" TargetMode="External"/><Relationship Id="rId14" Type="http://schemas.openxmlformats.org/officeDocument/2006/relationships/hyperlink" Target="https://www.edureka.co/blog/top-15-hot-artificial-intelligence-technologies/#EmotionRecognition"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8159E05B-F2CB-4917-AD7C-1D4EE320D13B}"/>
              </a:ext>
            </a:extLst>
          </p:cNvPr>
          <p:cNvSpPr>
            <a:spLocks noGrp="1"/>
          </p:cNvSpPr>
          <p:nvPr>
            <p:ph type="title"/>
          </p:nvPr>
        </p:nvSpPr>
        <p:spPr/>
        <p:txBody>
          <a:bodyPr>
            <a:normAutofit fontScale="90000"/>
          </a:bodyPr>
          <a:lstStyle/>
          <a:p>
            <a:br>
              <a:rPr lang="en-GB" sz="4000" b="1" i="1" dirty="0">
                <a:solidFill>
                  <a:schemeClr val="tx1">
                    <a:lumMod val="75000"/>
                    <a:lumOff val="25000"/>
                  </a:schemeClr>
                </a:solidFill>
                <a:latin typeface="Bell MT" pitchFamily="18" charset="0"/>
              </a:rPr>
            </a:br>
            <a:br>
              <a:rPr lang="en-GB" sz="4000" b="1" i="1" dirty="0">
                <a:solidFill>
                  <a:schemeClr val="tx1">
                    <a:lumMod val="75000"/>
                    <a:lumOff val="25000"/>
                  </a:schemeClr>
                </a:solidFill>
                <a:latin typeface="Bell MT" pitchFamily="18" charset="0"/>
              </a:rPr>
            </a:br>
            <a:br>
              <a:rPr lang="en-GB" sz="4000" b="1" i="1" dirty="0">
                <a:solidFill>
                  <a:schemeClr val="tx1">
                    <a:lumMod val="75000"/>
                    <a:lumOff val="25000"/>
                  </a:schemeClr>
                </a:solidFill>
                <a:latin typeface="Bell MT" pitchFamily="18" charset="0"/>
              </a:rPr>
            </a:br>
            <a:br>
              <a:rPr lang="en-GB" sz="4000" b="1" i="1" dirty="0">
                <a:solidFill>
                  <a:schemeClr val="tx1">
                    <a:lumMod val="75000"/>
                    <a:lumOff val="25000"/>
                  </a:schemeClr>
                </a:solidFill>
                <a:latin typeface="Bell MT" pitchFamily="18" charset="0"/>
              </a:rPr>
            </a:br>
            <a:r>
              <a:rPr lang="en-GB" sz="4000" b="1" i="1" dirty="0">
                <a:solidFill>
                  <a:schemeClr val="tx1">
                    <a:lumMod val="75000"/>
                    <a:lumOff val="25000"/>
                  </a:schemeClr>
                </a:solidFill>
                <a:latin typeface="Bell MT" pitchFamily="18" charset="0"/>
              </a:rPr>
              <a:t>Introduction to</a:t>
            </a:r>
            <a:br>
              <a:rPr lang="en-GB" sz="4000" b="1" i="1" dirty="0">
                <a:solidFill>
                  <a:schemeClr val="tx1">
                    <a:lumMod val="75000"/>
                    <a:lumOff val="25000"/>
                  </a:schemeClr>
                </a:solidFill>
                <a:latin typeface="Bell MT" pitchFamily="18" charset="0"/>
              </a:rPr>
            </a:br>
            <a:r>
              <a:rPr lang="en-GB" sz="4000" b="1" i="1" dirty="0">
                <a:solidFill>
                  <a:schemeClr val="tx1">
                    <a:lumMod val="75000"/>
                    <a:lumOff val="25000"/>
                  </a:schemeClr>
                </a:solidFill>
                <a:latin typeface="Bell MT" pitchFamily="18" charset="0"/>
              </a:rPr>
              <a:t>Artificial Intelligence</a:t>
            </a:r>
            <a:br>
              <a:rPr lang="x-none" dirty="0"/>
            </a:br>
            <a:endParaRPr lang="x-none" dirty="0"/>
          </a:p>
        </p:txBody>
      </p:sp>
      <p:sp>
        <p:nvSpPr>
          <p:cNvPr id="3" name="Content Placeholder 2">
            <a:extLst>
              <a:ext uri="{FF2B5EF4-FFF2-40B4-BE49-F238E27FC236}">
                <a16:creationId xmlns:a16="http://schemas.microsoft.com/office/drawing/2014/main" id="{79F26747-9828-42DD-A40D-FEBC1B99592C}"/>
              </a:ext>
            </a:extLst>
          </p:cNvPr>
          <p:cNvSpPr>
            <a:spLocks noGrp="1"/>
          </p:cNvSpPr>
          <p:nvPr>
            <p:ph type="body" idx="1"/>
          </p:nvPr>
        </p:nvSpPr>
        <p:spPr/>
        <p:txBody>
          <a:bodyPr/>
          <a:lstStyle/>
          <a:p>
            <a:r>
              <a:rPr lang="en-US" dirty="0"/>
              <a:t>					</a:t>
            </a:r>
            <a:r>
              <a:rPr lang="en-US" sz="3200" b="1" i="1" dirty="0">
                <a:ln w="3175" cmpd="sng">
                  <a:noFill/>
                </a:ln>
                <a:solidFill>
                  <a:schemeClr val="tx1">
                    <a:lumMod val="75000"/>
                    <a:lumOff val="25000"/>
                  </a:schemeClr>
                </a:solidFill>
                <a:latin typeface="Bell MT" pitchFamily="18" charset="0"/>
              </a:rPr>
              <a:t>Lecture # 1</a:t>
            </a:r>
          </a:p>
          <a:p>
            <a:r>
              <a:rPr lang="en-US" dirty="0"/>
              <a:t>	</a:t>
            </a:r>
            <a:endParaRPr lang="x-none" dirty="0"/>
          </a:p>
        </p:txBody>
      </p:sp>
      <p:sp>
        <p:nvSpPr>
          <p:cNvPr id="5" name="TextBox 4">
            <a:extLst>
              <a:ext uri="{FF2B5EF4-FFF2-40B4-BE49-F238E27FC236}">
                <a16:creationId xmlns:a16="http://schemas.microsoft.com/office/drawing/2014/main" id="{D4EC9B63-2897-4DDA-9860-A7262862B8C7}"/>
              </a:ext>
            </a:extLst>
          </p:cNvPr>
          <p:cNvSpPr txBox="1"/>
          <p:nvPr/>
        </p:nvSpPr>
        <p:spPr>
          <a:xfrm>
            <a:off x="3220278" y="190927"/>
            <a:ext cx="7474226" cy="371061"/>
          </a:xfrm>
          <a:prstGeom prst="rect">
            <a:avLst/>
          </a:prstGeom>
          <a:noFill/>
        </p:spPr>
        <p:txBody>
          <a:bodyPr wrap="square" rtlCol="0">
            <a:spAutoFit/>
          </a:bodyPr>
          <a:lstStyle/>
          <a:p>
            <a:r>
              <a:rPr lang="en-US" dirty="0"/>
              <a:t>Sir Syed University of Engineering &amp; Technology, Karachi</a:t>
            </a:r>
          </a:p>
        </p:txBody>
      </p:sp>
      <p:sp>
        <p:nvSpPr>
          <p:cNvPr id="7" name="TextBox 6">
            <a:extLst>
              <a:ext uri="{FF2B5EF4-FFF2-40B4-BE49-F238E27FC236}">
                <a16:creationId xmlns:a16="http://schemas.microsoft.com/office/drawing/2014/main" id="{9D4BBF24-28BD-4EF6-BE8C-C0137218FF61}"/>
              </a:ext>
            </a:extLst>
          </p:cNvPr>
          <p:cNvSpPr txBox="1"/>
          <p:nvPr/>
        </p:nvSpPr>
        <p:spPr>
          <a:xfrm>
            <a:off x="3513696" y="6409887"/>
            <a:ext cx="6199016" cy="369332"/>
          </a:xfrm>
          <a:prstGeom prst="rect">
            <a:avLst/>
          </a:prstGeom>
          <a:noFill/>
        </p:spPr>
        <p:txBody>
          <a:bodyPr wrap="square" rtlCol="0">
            <a:spAutoFit/>
          </a:bodyPr>
          <a:lstStyle/>
          <a:p>
            <a:r>
              <a:rPr lang="en-US" dirty="0"/>
              <a:t>Department of Computer Science &amp; Information Technology</a:t>
            </a:r>
          </a:p>
        </p:txBody>
      </p:sp>
    </p:spTree>
    <p:extLst>
      <p:ext uri="{BB962C8B-B14F-4D97-AF65-F5344CB8AC3E}">
        <p14:creationId xmlns:p14="http://schemas.microsoft.com/office/powerpoint/2010/main" val="1107014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A6AAF-56B4-4CFD-B8F8-3C3A4A4A21F5}"/>
              </a:ext>
            </a:extLst>
          </p:cNvPr>
          <p:cNvSpPr>
            <a:spLocks noGrp="1"/>
          </p:cNvSpPr>
          <p:nvPr>
            <p:ph type="title"/>
          </p:nvPr>
        </p:nvSpPr>
        <p:spPr>
          <a:xfrm>
            <a:off x="1484311" y="685801"/>
            <a:ext cx="10018713" cy="930058"/>
          </a:xfrm>
        </p:spPr>
        <p:txBody>
          <a:bodyPr/>
          <a:lstStyle/>
          <a:p>
            <a:r>
              <a:rPr lang="en-US" b="1" dirty="0"/>
              <a:t>Course Description</a:t>
            </a:r>
            <a:endParaRPr lang="x-none" dirty="0"/>
          </a:p>
        </p:txBody>
      </p:sp>
      <p:sp>
        <p:nvSpPr>
          <p:cNvPr id="3" name="Content Placeholder 2">
            <a:extLst>
              <a:ext uri="{FF2B5EF4-FFF2-40B4-BE49-F238E27FC236}">
                <a16:creationId xmlns:a16="http://schemas.microsoft.com/office/drawing/2014/main" id="{FCD6BA20-DBD1-4E4A-B17A-1951B0EF02D1}"/>
              </a:ext>
            </a:extLst>
          </p:cNvPr>
          <p:cNvSpPr>
            <a:spLocks noGrp="1"/>
          </p:cNvSpPr>
          <p:nvPr>
            <p:ph idx="1"/>
          </p:nvPr>
        </p:nvSpPr>
        <p:spPr>
          <a:xfrm>
            <a:off x="1484310" y="1753644"/>
            <a:ext cx="10018713" cy="4559474"/>
          </a:xfrm>
        </p:spPr>
        <p:txBody>
          <a:bodyPr>
            <a:normAutofit/>
          </a:bodyPr>
          <a:lstStyle/>
          <a:p>
            <a:r>
              <a:rPr lang="en-US" dirty="0"/>
              <a:t>Introduction to Artificial Intelligence (AI) history and applications </a:t>
            </a:r>
          </a:p>
          <a:p>
            <a:r>
              <a:rPr lang="en-US" dirty="0"/>
              <a:t>Intelligent Agents</a:t>
            </a:r>
          </a:p>
          <a:p>
            <a:r>
              <a:rPr lang="en-US" dirty="0"/>
              <a:t>Knowledge representation </a:t>
            </a:r>
          </a:p>
          <a:p>
            <a:r>
              <a:rPr lang="en-US" dirty="0"/>
              <a:t>Problem solving in artificial intelligence, searching and reasoning;</a:t>
            </a:r>
          </a:p>
          <a:p>
            <a:r>
              <a:rPr lang="en-US" dirty="0"/>
              <a:t>Searching techniques</a:t>
            </a:r>
          </a:p>
          <a:p>
            <a:r>
              <a:rPr lang="en-US" dirty="0"/>
              <a:t>Design &amp; development of Expert Systems</a:t>
            </a:r>
          </a:p>
          <a:p>
            <a:r>
              <a:rPr lang="en-US" dirty="0"/>
              <a:t>Machine learning</a:t>
            </a:r>
          </a:p>
          <a:p>
            <a:r>
              <a:rPr lang="en-US" dirty="0"/>
              <a:t>Advanced AI Topics. ANN, Natural language processing, Computer vision, Fuzzy logic.</a:t>
            </a:r>
          </a:p>
          <a:p>
            <a:r>
              <a:rPr lang="en-US"/>
              <a:t>Generative AI.</a:t>
            </a:r>
            <a:endParaRPr lang="en-US" dirty="0"/>
          </a:p>
          <a:p>
            <a:endParaRPr lang="x-none" dirty="0"/>
          </a:p>
        </p:txBody>
      </p:sp>
    </p:spTree>
    <p:extLst>
      <p:ext uri="{BB962C8B-B14F-4D97-AF65-F5344CB8AC3E}">
        <p14:creationId xmlns:p14="http://schemas.microsoft.com/office/powerpoint/2010/main" val="31012253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1855C-BD24-4EE8-9669-0F176ABF6329}"/>
              </a:ext>
            </a:extLst>
          </p:cNvPr>
          <p:cNvSpPr>
            <a:spLocks noGrp="1"/>
          </p:cNvSpPr>
          <p:nvPr>
            <p:ph type="title"/>
          </p:nvPr>
        </p:nvSpPr>
        <p:spPr>
          <a:xfrm>
            <a:off x="1484311" y="685800"/>
            <a:ext cx="10018713" cy="654485"/>
          </a:xfrm>
        </p:spPr>
        <p:txBody>
          <a:bodyPr>
            <a:normAutofit/>
          </a:bodyPr>
          <a:lstStyle/>
          <a:p>
            <a:r>
              <a:rPr lang="en-US" dirty="0"/>
              <a:t>Learning Outcomes</a:t>
            </a:r>
            <a:endParaRPr lang="x-none" dirty="0"/>
          </a:p>
        </p:txBody>
      </p:sp>
      <p:sp>
        <p:nvSpPr>
          <p:cNvPr id="3" name="Content Placeholder 2">
            <a:extLst>
              <a:ext uri="{FF2B5EF4-FFF2-40B4-BE49-F238E27FC236}">
                <a16:creationId xmlns:a16="http://schemas.microsoft.com/office/drawing/2014/main" id="{C57CE778-A0D3-41C2-8FFC-C1C7266C2D2E}"/>
              </a:ext>
            </a:extLst>
          </p:cNvPr>
          <p:cNvSpPr>
            <a:spLocks noGrp="1"/>
          </p:cNvSpPr>
          <p:nvPr>
            <p:ph idx="1"/>
          </p:nvPr>
        </p:nvSpPr>
        <p:spPr>
          <a:xfrm>
            <a:off x="1043610" y="2047461"/>
            <a:ext cx="10459414" cy="4315761"/>
          </a:xfrm>
        </p:spPr>
        <p:txBody>
          <a:bodyPr>
            <a:normAutofit/>
          </a:bodyPr>
          <a:lstStyle/>
          <a:p>
            <a:r>
              <a:rPr lang="en-US" dirty="0"/>
              <a:t>Understand the meaning of AI, its alternative approaches and the implications of AI for cognitive science more broadly.</a:t>
            </a:r>
          </a:p>
          <a:p>
            <a:r>
              <a:rPr lang="en-US" dirty="0"/>
              <a:t>Expand knowledge about searching techniques, genetic algorithm, planning, and learning algorithms.</a:t>
            </a:r>
          </a:p>
          <a:p>
            <a:r>
              <a:rPr lang="en-US" dirty="0"/>
              <a:t>Understand the basic methods in planning and reasoning using both logic and uncertain inference.</a:t>
            </a:r>
          </a:p>
          <a:p>
            <a:r>
              <a:rPr lang="en-US" dirty="0"/>
              <a:t>Know a variety of ways to represent and retrieve knowledge and information [Expert systems, Agents].</a:t>
            </a:r>
          </a:p>
          <a:p>
            <a:r>
              <a:rPr lang="en-US" dirty="0"/>
              <a:t>Know the fundamentals of AI programming techniques and advanced machine learning in a modern programming language.</a:t>
            </a:r>
          </a:p>
          <a:p>
            <a:endParaRPr lang="x-none" dirty="0"/>
          </a:p>
        </p:txBody>
      </p:sp>
    </p:spTree>
    <p:extLst>
      <p:ext uri="{BB962C8B-B14F-4D97-AF65-F5344CB8AC3E}">
        <p14:creationId xmlns:p14="http://schemas.microsoft.com/office/powerpoint/2010/main" val="1038363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7BC7E-382A-497B-B860-4F4FF68CD48B}"/>
              </a:ext>
            </a:extLst>
          </p:cNvPr>
          <p:cNvSpPr>
            <a:spLocks noGrp="1"/>
          </p:cNvSpPr>
          <p:nvPr>
            <p:ph type="title"/>
          </p:nvPr>
        </p:nvSpPr>
        <p:spPr>
          <a:xfrm>
            <a:off x="1484311" y="685800"/>
            <a:ext cx="10018713" cy="1014413"/>
          </a:xfrm>
        </p:spPr>
        <p:txBody>
          <a:bodyPr/>
          <a:lstStyle/>
          <a:p>
            <a:r>
              <a:rPr lang="en-US" dirty="0"/>
              <a:t>Lecture Outline</a:t>
            </a:r>
            <a:endParaRPr lang="x-none" dirty="0"/>
          </a:p>
        </p:txBody>
      </p:sp>
      <p:sp>
        <p:nvSpPr>
          <p:cNvPr id="3" name="Content Placeholder 2">
            <a:extLst>
              <a:ext uri="{FF2B5EF4-FFF2-40B4-BE49-F238E27FC236}">
                <a16:creationId xmlns:a16="http://schemas.microsoft.com/office/drawing/2014/main" id="{CB4CDF19-CD03-42BE-AAB0-B8A6D305ADC6}"/>
              </a:ext>
            </a:extLst>
          </p:cNvPr>
          <p:cNvSpPr>
            <a:spLocks noGrp="1"/>
          </p:cNvSpPr>
          <p:nvPr>
            <p:ph idx="1"/>
          </p:nvPr>
        </p:nvSpPr>
        <p:spPr>
          <a:xfrm>
            <a:off x="1484310" y="2057399"/>
            <a:ext cx="10018713" cy="3733801"/>
          </a:xfrm>
        </p:spPr>
        <p:txBody>
          <a:bodyPr/>
          <a:lstStyle/>
          <a:p>
            <a:pPr>
              <a:buFont typeface="Arial" panose="020B0604020202020204" pitchFamily="34" charset="0"/>
              <a:buChar char="•"/>
            </a:pPr>
            <a:r>
              <a:rPr lang="en-US" sz="3600" baseline="3413" dirty="0">
                <a:latin typeface="Calibri"/>
                <a:cs typeface="Calibri"/>
              </a:rPr>
              <a:t>Course overview</a:t>
            </a:r>
          </a:p>
          <a:p>
            <a:pPr>
              <a:buFont typeface="Arial" panose="020B0604020202020204" pitchFamily="34" charset="0"/>
              <a:buChar char="•"/>
            </a:pPr>
            <a:r>
              <a:rPr lang="en-US" sz="3600" baseline="3413" dirty="0">
                <a:latin typeface="Calibri"/>
                <a:cs typeface="Calibri"/>
              </a:rPr>
              <a:t>Wh</a:t>
            </a:r>
            <a:r>
              <a:rPr lang="en-US" sz="3600" spc="-29" baseline="3413" dirty="0">
                <a:latin typeface="Calibri"/>
                <a:cs typeface="Calibri"/>
              </a:rPr>
              <a:t>a</a:t>
            </a:r>
            <a:r>
              <a:rPr lang="en-US" sz="3600" baseline="3413" dirty="0">
                <a:latin typeface="Calibri"/>
                <a:cs typeface="Calibri"/>
              </a:rPr>
              <a:t>t</a:t>
            </a:r>
            <a:r>
              <a:rPr lang="en-US" sz="3600" spc="-40" baseline="3413" dirty="0">
                <a:latin typeface="Calibri"/>
                <a:cs typeface="Calibri"/>
              </a:rPr>
              <a:t> </a:t>
            </a:r>
            <a:r>
              <a:rPr lang="en-US" sz="3600" baseline="3413" dirty="0">
                <a:latin typeface="Calibri"/>
                <a:cs typeface="Calibri"/>
              </a:rPr>
              <a:t>is</a:t>
            </a:r>
            <a:r>
              <a:rPr lang="en-US" sz="3600" spc="9" baseline="3413" dirty="0">
                <a:latin typeface="Calibri"/>
                <a:cs typeface="Calibri"/>
              </a:rPr>
              <a:t> </a:t>
            </a:r>
            <a:r>
              <a:rPr lang="en-US" sz="3600" baseline="3413" dirty="0">
                <a:latin typeface="Calibri"/>
                <a:cs typeface="Calibri"/>
              </a:rPr>
              <a:t>AI?</a:t>
            </a:r>
          </a:p>
          <a:p>
            <a:pPr>
              <a:buFont typeface="Arial" panose="020B0604020202020204" pitchFamily="34" charset="0"/>
              <a:buChar char="•"/>
            </a:pPr>
            <a:r>
              <a:rPr lang="en-US" sz="3600" baseline="3413" dirty="0">
                <a:latin typeface="Calibri"/>
                <a:cs typeface="Calibri"/>
              </a:rPr>
              <a:t>Foundations of AI</a:t>
            </a:r>
          </a:p>
          <a:p>
            <a:pPr>
              <a:buFont typeface="Arial" panose="020B0604020202020204" pitchFamily="34" charset="0"/>
              <a:buChar char="•"/>
            </a:pPr>
            <a:r>
              <a:rPr lang="en-US" sz="3600" baseline="3413" dirty="0">
                <a:latin typeface="Calibri"/>
                <a:cs typeface="Calibri"/>
              </a:rPr>
              <a:t>Areas &amp; Applications of AI</a:t>
            </a:r>
          </a:p>
          <a:p>
            <a:pPr>
              <a:buFont typeface="Arial" panose="020B0604020202020204" pitchFamily="34" charset="0"/>
              <a:buChar char="•"/>
            </a:pPr>
            <a:r>
              <a:rPr lang="en-US" sz="3600" baseline="3413" dirty="0">
                <a:latin typeface="Calibri"/>
                <a:cs typeface="Calibri"/>
              </a:rPr>
              <a:t>A brief history of AI</a:t>
            </a:r>
          </a:p>
          <a:p>
            <a:pPr>
              <a:buFont typeface="Arial" panose="020B0604020202020204" pitchFamily="34" charset="0"/>
              <a:buChar char="•"/>
            </a:pPr>
            <a:endParaRPr lang="en-US" sz="3600" baseline="3413" dirty="0">
              <a:latin typeface="Calibri"/>
              <a:cs typeface="Calibri"/>
            </a:endParaRPr>
          </a:p>
          <a:p>
            <a:pPr>
              <a:buFont typeface="Arial" panose="020B0604020202020204" pitchFamily="34" charset="0"/>
              <a:buChar char="•"/>
            </a:pPr>
            <a:endParaRPr lang="en-US" sz="3600" dirty="0">
              <a:latin typeface="Calibri"/>
              <a:cs typeface="Calibri"/>
            </a:endParaRPr>
          </a:p>
          <a:p>
            <a:endParaRPr lang="x-none" dirty="0"/>
          </a:p>
        </p:txBody>
      </p:sp>
    </p:spTree>
    <p:extLst>
      <p:ext uri="{BB962C8B-B14F-4D97-AF65-F5344CB8AC3E}">
        <p14:creationId xmlns:p14="http://schemas.microsoft.com/office/powerpoint/2010/main" val="23897521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FF701-E0B9-42B6-B761-E6B395DF471A}"/>
              </a:ext>
            </a:extLst>
          </p:cNvPr>
          <p:cNvSpPr>
            <a:spLocks noGrp="1"/>
          </p:cNvSpPr>
          <p:nvPr>
            <p:ph type="title"/>
          </p:nvPr>
        </p:nvSpPr>
        <p:spPr>
          <a:xfrm>
            <a:off x="1484311" y="685800"/>
            <a:ext cx="10018713" cy="717115"/>
          </a:xfrm>
        </p:spPr>
        <p:txBody>
          <a:bodyPr/>
          <a:lstStyle/>
          <a:p>
            <a:r>
              <a:rPr lang="en-US" dirty="0"/>
              <a:t>About Theory Course</a:t>
            </a:r>
            <a:endParaRPr lang="x-none" dirty="0"/>
          </a:p>
        </p:txBody>
      </p:sp>
      <p:graphicFrame>
        <p:nvGraphicFramePr>
          <p:cNvPr id="6" name="Content Placeholder 5">
            <a:extLst>
              <a:ext uri="{FF2B5EF4-FFF2-40B4-BE49-F238E27FC236}">
                <a16:creationId xmlns:a16="http://schemas.microsoft.com/office/drawing/2014/main" id="{EF6EF79D-C20F-4C02-98F9-C39FA5BD851C}"/>
              </a:ext>
            </a:extLst>
          </p:cNvPr>
          <p:cNvGraphicFramePr>
            <a:graphicFrameLocks noGrp="1"/>
          </p:cNvGraphicFramePr>
          <p:nvPr>
            <p:ph idx="1"/>
            <p:extLst>
              <p:ext uri="{D42A27DB-BD31-4B8C-83A1-F6EECF244321}">
                <p14:modId xmlns:p14="http://schemas.microsoft.com/office/powerpoint/2010/main" val="4234641119"/>
              </p:ext>
            </p:extLst>
          </p:nvPr>
        </p:nvGraphicFramePr>
        <p:xfrm>
          <a:off x="1086643" y="1976230"/>
          <a:ext cx="10018714" cy="3306347"/>
        </p:xfrm>
        <a:graphic>
          <a:graphicData uri="http://schemas.openxmlformats.org/drawingml/2006/table">
            <a:tbl>
              <a:tblPr firstRow="1" bandRow="1">
                <a:tableStyleId>{5C22544A-7EE6-4342-B048-85BDC9FD1C3A}</a:tableStyleId>
              </a:tblPr>
              <a:tblGrid>
                <a:gridCol w="3501047">
                  <a:extLst>
                    <a:ext uri="{9D8B030D-6E8A-4147-A177-3AD203B41FA5}">
                      <a16:colId xmlns:a16="http://schemas.microsoft.com/office/drawing/2014/main" val="3941995178"/>
                    </a:ext>
                  </a:extLst>
                </a:gridCol>
                <a:gridCol w="6517667">
                  <a:extLst>
                    <a:ext uri="{9D8B030D-6E8A-4147-A177-3AD203B41FA5}">
                      <a16:colId xmlns:a16="http://schemas.microsoft.com/office/drawing/2014/main" val="871482812"/>
                    </a:ext>
                  </a:extLst>
                </a:gridCol>
              </a:tblGrid>
              <a:tr h="491575">
                <a:tc>
                  <a:txBody>
                    <a:bodyPr/>
                    <a:lstStyle/>
                    <a:p>
                      <a:r>
                        <a:rPr lang="en-US" dirty="0"/>
                        <a:t>Course Code</a:t>
                      </a:r>
                      <a:endParaRPr lang="x-none" dirty="0"/>
                    </a:p>
                  </a:txBody>
                  <a:tcPr/>
                </a:tc>
                <a:tc>
                  <a:txBody>
                    <a:bodyPr/>
                    <a:lstStyle/>
                    <a:p>
                      <a:r>
                        <a:rPr lang="en-US" dirty="0"/>
                        <a:t>CS- 325T</a:t>
                      </a:r>
                    </a:p>
                  </a:txBody>
                  <a:tcPr/>
                </a:tc>
                <a:extLst>
                  <a:ext uri="{0D108BD9-81ED-4DB2-BD59-A6C34878D82A}">
                    <a16:rowId xmlns:a16="http://schemas.microsoft.com/office/drawing/2014/main" val="4268262118"/>
                  </a:ext>
                </a:extLst>
              </a:tr>
              <a:tr h="491575">
                <a:tc>
                  <a:txBody>
                    <a:bodyPr/>
                    <a:lstStyle/>
                    <a:p>
                      <a:r>
                        <a:rPr lang="en-US" sz="2000" b="1" spc="0" dirty="0">
                          <a:latin typeface="Calibri"/>
                          <a:cs typeface="Calibri"/>
                        </a:rPr>
                        <a:t>Cou</a:t>
                      </a:r>
                      <a:r>
                        <a:rPr lang="en-US" sz="2000" b="1" spc="-44" dirty="0">
                          <a:latin typeface="Calibri"/>
                          <a:cs typeface="Calibri"/>
                        </a:rPr>
                        <a:t>r</a:t>
                      </a:r>
                      <a:r>
                        <a:rPr lang="en-US" sz="2000" b="1" spc="0" dirty="0">
                          <a:latin typeface="Calibri"/>
                          <a:cs typeface="Calibri"/>
                        </a:rPr>
                        <a:t>se</a:t>
                      </a:r>
                      <a:r>
                        <a:rPr lang="en-US" sz="2000" b="1" spc="-9" dirty="0">
                          <a:latin typeface="Calibri"/>
                          <a:cs typeface="Calibri"/>
                        </a:rPr>
                        <a:t> </a:t>
                      </a:r>
                      <a:r>
                        <a:rPr lang="en-US" sz="2000" b="1" spc="0" dirty="0">
                          <a:latin typeface="Calibri"/>
                          <a:cs typeface="Calibri"/>
                        </a:rPr>
                        <a:t>Title</a:t>
                      </a:r>
                      <a:endParaRPr lang="x-none" sz="2000" b="1" dirty="0"/>
                    </a:p>
                  </a:txBody>
                  <a:tcPr/>
                </a:tc>
                <a:tc>
                  <a:txBody>
                    <a:bodyPr/>
                    <a:lstStyle/>
                    <a:p>
                      <a:r>
                        <a:rPr lang="en-US" sz="2000" dirty="0"/>
                        <a:t>Artificial Intelligence</a:t>
                      </a:r>
                      <a:endParaRPr lang="x-none" sz="2000" dirty="0"/>
                    </a:p>
                  </a:txBody>
                  <a:tcPr/>
                </a:tc>
                <a:extLst>
                  <a:ext uri="{0D108BD9-81ED-4DB2-BD59-A6C34878D82A}">
                    <a16:rowId xmlns:a16="http://schemas.microsoft.com/office/drawing/2014/main" val="4004434555"/>
                  </a:ext>
                </a:extLst>
              </a:tr>
              <a:tr h="491575">
                <a:tc>
                  <a:txBody>
                    <a:bodyPr/>
                    <a:lstStyle/>
                    <a:p>
                      <a:r>
                        <a:rPr lang="en-US" sz="2000" b="1" spc="0" dirty="0">
                          <a:latin typeface="Calibri"/>
                          <a:cs typeface="Calibri"/>
                        </a:rPr>
                        <a:t>C</a:t>
                      </a:r>
                      <a:r>
                        <a:rPr lang="en-US" sz="2000" b="1" spc="-29" dirty="0">
                          <a:latin typeface="Calibri"/>
                          <a:cs typeface="Calibri"/>
                        </a:rPr>
                        <a:t>r</a:t>
                      </a:r>
                      <a:r>
                        <a:rPr lang="en-US" sz="2000" b="1" spc="0" dirty="0">
                          <a:latin typeface="Calibri"/>
                          <a:cs typeface="Calibri"/>
                        </a:rPr>
                        <a:t>edit</a:t>
                      </a:r>
                      <a:r>
                        <a:rPr lang="en-US" sz="2000" b="1" spc="-9" dirty="0">
                          <a:latin typeface="Calibri"/>
                          <a:cs typeface="Calibri"/>
                        </a:rPr>
                        <a:t> </a:t>
                      </a:r>
                      <a:r>
                        <a:rPr lang="en-US" sz="2000" b="1" spc="0" dirty="0">
                          <a:latin typeface="Calibri"/>
                          <a:cs typeface="Calibri"/>
                        </a:rPr>
                        <a:t>Hou</a:t>
                      </a:r>
                      <a:r>
                        <a:rPr lang="en-US" sz="2000" b="1" spc="-44" dirty="0">
                          <a:latin typeface="Calibri"/>
                          <a:cs typeface="Calibri"/>
                        </a:rPr>
                        <a:t>r</a:t>
                      </a:r>
                      <a:r>
                        <a:rPr lang="en-US" sz="2000" b="1" spc="0" dirty="0">
                          <a:latin typeface="Calibri"/>
                          <a:cs typeface="Calibri"/>
                        </a:rPr>
                        <a:t>s</a:t>
                      </a:r>
                      <a:endParaRPr lang="x-none" sz="2000" b="1" dirty="0"/>
                    </a:p>
                  </a:txBody>
                  <a:tcPr/>
                </a:tc>
                <a:tc>
                  <a:txBody>
                    <a:bodyPr/>
                    <a:lstStyle/>
                    <a:p>
                      <a:r>
                        <a:rPr lang="en-US" sz="2000" dirty="0"/>
                        <a:t>3</a:t>
                      </a:r>
                      <a:endParaRPr lang="x-none" sz="2000" dirty="0"/>
                    </a:p>
                  </a:txBody>
                  <a:tcPr/>
                </a:tc>
                <a:extLst>
                  <a:ext uri="{0D108BD9-81ED-4DB2-BD59-A6C34878D82A}">
                    <a16:rowId xmlns:a16="http://schemas.microsoft.com/office/drawing/2014/main" val="3149713371"/>
                  </a:ext>
                </a:extLst>
              </a:tr>
              <a:tr h="491575">
                <a:tc>
                  <a:txBody>
                    <a:bodyPr/>
                    <a:lstStyle/>
                    <a:p>
                      <a:r>
                        <a:rPr lang="en-US" sz="2000" b="1" spc="0" dirty="0">
                          <a:latin typeface="Calibri"/>
                          <a:cs typeface="Calibri"/>
                        </a:rPr>
                        <a:t>Abb</a:t>
                      </a:r>
                      <a:r>
                        <a:rPr lang="en-US" sz="2000" b="1" spc="-34" dirty="0">
                          <a:latin typeface="Calibri"/>
                          <a:cs typeface="Calibri"/>
                        </a:rPr>
                        <a:t>r</a:t>
                      </a:r>
                      <a:r>
                        <a:rPr lang="en-US" sz="2000" b="1" spc="-9" dirty="0">
                          <a:latin typeface="Calibri"/>
                          <a:cs typeface="Calibri"/>
                        </a:rPr>
                        <a:t>e</a:t>
                      </a:r>
                      <a:r>
                        <a:rPr lang="en-US" sz="2000" b="1" spc="4" dirty="0">
                          <a:latin typeface="Calibri"/>
                          <a:cs typeface="Calibri"/>
                        </a:rPr>
                        <a:t>v</a:t>
                      </a:r>
                      <a:r>
                        <a:rPr lang="en-US" sz="2000" b="1" spc="0" dirty="0">
                          <a:latin typeface="Calibri"/>
                          <a:cs typeface="Calibri"/>
                        </a:rPr>
                        <a:t>i</a:t>
                      </a:r>
                      <a:r>
                        <a:rPr lang="en-US" sz="2000" b="1" spc="-25" dirty="0">
                          <a:latin typeface="Calibri"/>
                          <a:cs typeface="Calibri"/>
                        </a:rPr>
                        <a:t>a</a:t>
                      </a:r>
                      <a:r>
                        <a:rPr lang="en-US" sz="2000" b="1" spc="0" dirty="0">
                          <a:latin typeface="Calibri"/>
                          <a:cs typeface="Calibri"/>
                        </a:rPr>
                        <a:t>tion</a:t>
                      </a:r>
                      <a:endParaRPr lang="x-none" sz="2000" b="1" dirty="0"/>
                    </a:p>
                  </a:txBody>
                  <a:tcPr/>
                </a:tc>
                <a:tc>
                  <a:txBody>
                    <a:bodyPr/>
                    <a:lstStyle/>
                    <a:p>
                      <a:r>
                        <a:rPr lang="en-US" sz="2000" dirty="0"/>
                        <a:t>AI</a:t>
                      </a:r>
                      <a:endParaRPr lang="x-none" sz="2000" dirty="0"/>
                    </a:p>
                  </a:txBody>
                  <a:tcPr/>
                </a:tc>
                <a:extLst>
                  <a:ext uri="{0D108BD9-81ED-4DB2-BD59-A6C34878D82A}">
                    <a16:rowId xmlns:a16="http://schemas.microsoft.com/office/drawing/2014/main" val="2578352801"/>
                  </a:ext>
                </a:extLst>
              </a:tr>
              <a:tr h="848472">
                <a:tc>
                  <a:txBody>
                    <a:bodyPr/>
                    <a:lstStyle/>
                    <a:p>
                      <a:r>
                        <a:rPr lang="en-US" sz="2000" b="1" spc="0" dirty="0">
                          <a:latin typeface="Calibri"/>
                          <a:cs typeface="Calibri"/>
                        </a:rPr>
                        <a:t>P</a:t>
                      </a:r>
                      <a:r>
                        <a:rPr lang="en-US" sz="2000" b="1" spc="-29" dirty="0">
                          <a:latin typeface="Calibri"/>
                          <a:cs typeface="Calibri"/>
                        </a:rPr>
                        <a:t>r</a:t>
                      </a:r>
                      <a:r>
                        <a:rPr lang="en-US" sz="2000" b="1" spc="0" dirty="0">
                          <a:latin typeface="Calibri"/>
                          <a:cs typeface="Calibri"/>
                        </a:rPr>
                        <a:t>e</a:t>
                      </a:r>
                      <a:r>
                        <a:rPr lang="en-US" sz="2000" b="1" spc="-29" dirty="0">
                          <a:latin typeface="Calibri"/>
                          <a:cs typeface="Calibri"/>
                        </a:rPr>
                        <a:t>r</a:t>
                      </a:r>
                      <a:r>
                        <a:rPr lang="en-US" sz="2000" b="1" spc="0" dirty="0">
                          <a:latin typeface="Calibri"/>
                          <a:cs typeface="Calibri"/>
                        </a:rPr>
                        <a:t>equisi</a:t>
                      </a:r>
                      <a:r>
                        <a:rPr lang="en-US" sz="2000" b="1" spc="-25" dirty="0">
                          <a:latin typeface="Calibri"/>
                          <a:cs typeface="Calibri"/>
                        </a:rPr>
                        <a:t>t</a:t>
                      </a:r>
                      <a:r>
                        <a:rPr lang="en-US" sz="2000" b="1" spc="0" dirty="0">
                          <a:latin typeface="Calibri"/>
                          <a:cs typeface="Calibri"/>
                        </a:rPr>
                        <a:t>e</a:t>
                      </a:r>
                      <a:endParaRPr lang="x-none" sz="2000" b="1"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spc="0" dirty="0">
                          <a:latin typeface="Calibri"/>
                          <a:cs typeface="Calibri"/>
                        </a:rPr>
                        <a:t>Programming Fundamentals</a:t>
                      </a:r>
                      <a:endParaRPr lang="en-US" sz="2000" dirty="0">
                        <a:latin typeface="Calibri"/>
                        <a:cs typeface="Calibri"/>
                      </a:endParaRPr>
                    </a:p>
                    <a:p>
                      <a:endParaRPr lang="x-none" sz="2000" dirty="0"/>
                    </a:p>
                  </a:txBody>
                  <a:tcPr/>
                </a:tc>
                <a:extLst>
                  <a:ext uri="{0D108BD9-81ED-4DB2-BD59-A6C34878D82A}">
                    <a16:rowId xmlns:a16="http://schemas.microsoft.com/office/drawing/2014/main" val="4149101059"/>
                  </a:ext>
                </a:extLst>
              </a:tr>
              <a:tr h="491575">
                <a:tc>
                  <a:txBody>
                    <a:bodyPr/>
                    <a:lstStyle/>
                    <a:p>
                      <a:r>
                        <a:rPr lang="en-US" sz="2000" b="1" spc="-109" dirty="0">
                          <a:latin typeface="Calibri"/>
                          <a:cs typeface="Calibri"/>
                        </a:rPr>
                        <a:t>T</a:t>
                      </a:r>
                      <a:r>
                        <a:rPr lang="en-US" sz="2000" b="1" spc="0" dirty="0">
                          <a:latin typeface="Calibri"/>
                          <a:cs typeface="Calibri"/>
                        </a:rPr>
                        <a:t>ype of Cou</a:t>
                      </a:r>
                      <a:r>
                        <a:rPr lang="en-US" sz="2000" b="1" spc="-44" dirty="0">
                          <a:latin typeface="Calibri"/>
                          <a:cs typeface="Calibri"/>
                        </a:rPr>
                        <a:t>r</a:t>
                      </a:r>
                      <a:r>
                        <a:rPr lang="en-US" sz="2000" b="1" spc="0" dirty="0">
                          <a:latin typeface="Calibri"/>
                          <a:cs typeface="Calibri"/>
                        </a:rPr>
                        <a:t>se</a:t>
                      </a:r>
                      <a:endParaRPr lang="x-none" sz="2000" b="1" dirty="0"/>
                    </a:p>
                  </a:txBody>
                  <a:tcPr/>
                </a:tc>
                <a:tc>
                  <a:txBody>
                    <a:bodyPr/>
                    <a:lstStyle/>
                    <a:p>
                      <a:r>
                        <a:rPr lang="en-US" sz="2000" dirty="0"/>
                        <a:t>Core course</a:t>
                      </a:r>
                      <a:endParaRPr lang="x-none" sz="2000" dirty="0"/>
                    </a:p>
                  </a:txBody>
                  <a:tcPr/>
                </a:tc>
                <a:extLst>
                  <a:ext uri="{0D108BD9-81ED-4DB2-BD59-A6C34878D82A}">
                    <a16:rowId xmlns:a16="http://schemas.microsoft.com/office/drawing/2014/main" val="3320021158"/>
                  </a:ext>
                </a:extLst>
              </a:tr>
            </a:tbl>
          </a:graphicData>
        </a:graphic>
      </p:graphicFrame>
    </p:spTree>
    <p:extLst>
      <p:ext uri="{BB962C8B-B14F-4D97-AF65-F5344CB8AC3E}">
        <p14:creationId xmlns:p14="http://schemas.microsoft.com/office/powerpoint/2010/main" val="4099427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17BEB-9B3B-488B-9206-A725D8133A0E}"/>
              </a:ext>
            </a:extLst>
          </p:cNvPr>
          <p:cNvSpPr>
            <a:spLocks noGrp="1"/>
          </p:cNvSpPr>
          <p:nvPr>
            <p:ph type="title"/>
          </p:nvPr>
        </p:nvSpPr>
        <p:spPr/>
        <p:txBody>
          <a:bodyPr/>
          <a:lstStyle/>
          <a:p>
            <a:r>
              <a:rPr lang="en-US" dirty="0"/>
              <a:t>Course Assessment</a:t>
            </a:r>
            <a:endParaRPr lang="x-none" dirty="0"/>
          </a:p>
        </p:txBody>
      </p:sp>
      <p:graphicFrame>
        <p:nvGraphicFramePr>
          <p:cNvPr id="4" name="Content Placeholder 3">
            <a:extLst>
              <a:ext uri="{FF2B5EF4-FFF2-40B4-BE49-F238E27FC236}">
                <a16:creationId xmlns:a16="http://schemas.microsoft.com/office/drawing/2014/main" id="{D6299B12-4FB2-4074-9F15-FC0CDF725589}"/>
              </a:ext>
            </a:extLst>
          </p:cNvPr>
          <p:cNvGraphicFramePr>
            <a:graphicFrameLocks noGrp="1"/>
          </p:cNvGraphicFramePr>
          <p:nvPr>
            <p:ph idx="1"/>
            <p:extLst>
              <p:ext uri="{D42A27DB-BD31-4B8C-83A1-F6EECF244321}">
                <p14:modId xmlns:p14="http://schemas.microsoft.com/office/powerpoint/2010/main" val="3391881952"/>
              </p:ext>
            </p:extLst>
          </p:nvPr>
        </p:nvGraphicFramePr>
        <p:xfrm>
          <a:off x="1450975" y="2016125"/>
          <a:ext cx="9604376" cy="2556610"/>
        </p:xfrm>
        <a:graphic>
          <a:graphicData uri="http://schemas.openxmlformats.org/drawingml/2006/table">
            <a:tbl>
              <a:tblPr firstRow="1" bandRow="1">
                <a:tableStyleId>{5C22544A-7EE6-4342-B048-85BDC9FD1C3A}</a:tableStyleId>
              </a:tblPr>
              <a:tblGrid>
                <a:gridCol w="4802188">
                  <a:extLst>
                    <a:ext uri="{9D8B030D-6E8A-4147-A177-3AD203B41FA5}">
                      <a16:colId xmlns:a16="http://schemas.microsoft.com/office/drawing/2014/main" val="2744307189"/>
                    </a:ext>
                  </a:extLst>
                </a:gridCol>
                <a:gridCol w="4802188">
                  <a:extLst>
                    <a:ext uri="{9D8B030D-6E8A-4147-A177-3AD203B41FA5}">
                      <a16:colId xmlns:a16="http://schemas.microsoft.com/office/drawing/2014/main" val="1539357668"/>
                    </a:ext>
                  </a:extLst>
                </a:gridCol>
              </a:tblGrid>
              <a:tr h="55088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spc="0" dirty="0">
                          <a:latin typeface="Calibri"/>
                          <a:cs typeface="Calibri"/>
                        </a:rPr>
                        <a:t>Quiz</a:t>
                      </a:r>
                      <a:r>
                        <a:rPr lang="en-US" sz="2000" b="1" spc="-54" dirty="0">
                          <a:latin typeface="Calibri"/>
                          <a:cs typeface="Calibri"/>
                        </a:rPr>
                        <a:t>z</a:t>
                      </a:r>
                      <a:r>
                        <a:rPr lang="en-US" sz="2000" b="1" spc="0" dirty="0">
                          <a:latin typeface="Calibri"/>
                          <a:cs typeface="Calibri"/>
                        </a:rPr>
                        <a:t>es</a:t>
                      </a:r>
                      <a:r>
                        <a:rPr lang="en-US" sz="2000" b="1" dirty="0">
                          <a:cs typeface="Calibri"/>
                        </a:rPr>
                        <a:t> and Assignme</a:t>
                      </a:r>
                      <a:r>
                        <a:rPr lang="en-US" sz="2000" b="1" spc="-25" dirty="0">
                          <a:cs typeface="Calibri"/>
                        </a:rPr>
                        <a:t>n</a:t>
                      </a:r>
                      <a:r>
                        <a:rPr lang="en-US" sz="2000" b="1" dirty="0">
                          <a:cs typeface="Calibri"/>
                        </a:rPr>
                        <a:t>ts</a:t>
                      </a:r>
                      <a:endParaRPr lang="en-US" sz="2000" b="1" dirty="0">
                        <a:latin typeface="Calibri"/>
                        <a:cs typeface="Calibri"/>
                      </a:endParaRPr>
                    </a:p>
                  </a:txBody>
                  <a:tcPr marL="87658" marR="87658"/>
                </a:tc>
                <a:tc>
                  <a:txBody>
                    <a:bodyPr/>
                    <a:lstStyle/>
                    <a:p>
                      <a:r>
                        <a:rPr lang="en-US" sz="2000" dirty="0"/>
                        <a:t>20%</a:t>
                      </a:r>
                      <a:endParaRPr lang="x-none" sz="2000" dirty="0"/>
                    </a:p>
                  </a:txBody>
                  <a:tcPr marL="87658" marR="87658"/>
                </a:tc>
                <a:extLst>
                  <a:ext uri="{0D108BD9-81ED-4DB2-BD59-A6C34878D82A}">
                    <a16:rowId xmlns:a16="http://schemas.microsoft.com/office/drawing/2014/main" val="1989246570"/>
                  </a:ext>
                </a:extLst>
              </a:tr>
              <a:tr h="55088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spc="0" dirty="0">
                          <a:latin typeface="Calibri"/>
                          <a:cs typeface="Calibri"/>
                        </a:rPr>
                        <a:t>Mid</a:t>
                      </a:r>
                      <a:r>
                        <a:rPr lang="en-US" sz="2000" b="1" spc="-25" dirty="0">
                          <a:latin typeface="Calibri"/>
                          <a:cs typeface="Calibri"/>
                        </a:rPr>
                        <a:t>t</a:t>
                      </a:r>
                      <a:r>
                        <a:rPr lang="en-US" sz="2000" b="1" spc="0" dirty="0">
                          <a:latin typeface="Calibri"/>
                          <a:cs typeface="Calibri"/>
                        </a:rPr>
                        <a:t>erm</a:t>
                      </a:r>
                      <a:r>
                        <a:rPr lang="en-US" sz="2000" b="1" spc="-9" dirty="0">
                          <a:latin typeface="Calibri"/>
                          <a:cs typeface="Calibri"/>
                        </a:rPr>
                        <a:t> </a:t>
                      </a:r>
                      <a:r>
                        <a:rPr lang="en-US" sz="2000" b="1" spc="0" dirty="0">
                          <a:latin typeface="Calibri"/>
                          <a:cs typeface="Calibri"/>
                        </a:rPr>
                        <a:t>E</a:t>
                      </a:r>
                      <a:r>
                        <a:rPr lang="en-US" sz="2000" b="1" spc="-44" dirty="0">
                          <a:latin typeface="Calibri"/>
                          <a:cs typeface="Calibri"/>
                        </a:rPr>
                        <a:t>x</a:t>
                      </a:r>
                      <a:r>
                        <a:rPr lang="en-US" sz="2000" b="1" spc="0" dirty="0">
                          <a:latin typeface="Calibri"/>
                          <a:cs typeface="Calibri"/>
                        </a:rPr>
                        <a:t>a</a:t>
                      </a:r>
                      <a:r>
                        <a:rPr lang="en-US" sz="2000" b="1" spc="4" dirty="0">
                          <a:latin typeface="Calibri"/>
                          <a:cs typeface="Calibri"/>
                        </a:rPr>
                        <a:t>m</a:t>
                      </a:r>
                      <a:r>
                        <a:rPr lang="en-US" sz="2000" b="1" spc="0" dirty="0">
                          <a:latin typeface="Calibri"/>
                          <a:cs typeface="Calibri"/>
                        </a:rPr>
                        <a:t>in</a:t>
                      </a:r>
                      <a:r>
                        <a:rPr lang="en-US" sz="2000" b="1" spc="-19" dirty="0">
                          <a:latin typeface="Calibri"/>
                          <a:cs typeface="Calibri"/>
                        </a:rPr>
                        <a:t>a</a:t>
                      </a:r>
                      <a:r>
                        <a:rPr lang="en-US" sz="2000" b="1" spc="0" dirty="0">
                          <a:latin typeface="Calibri"/>
                          <a:cs typeface="Calibri"/>
                        </a:rPr>
                        <a:t>tion</a:t>
                      </a:r>
                      <a:endParaRPr lang="en-US" sz="2000" b="1" dirty="0">
                        <a:latin typeface="Calibri"/>
                        <a:cs typeface="Calibri"/>
                      </a:endParaRPr>
                    </a:p>
                  </a:txBody>
                  <a:tcPr marL="87658" marR="87658"/>
                </a:tc>
                <a:tc>
                  <a:txBody>
                    <a:bodyPr/>
                    <a:lstStyle/>
                    <a:p>
                      <a:r>
                        <a:rPr lang="en-US" sz="2000" dirty="0"/>
                        <a:t>30%</a:t>
                      </a:r>
                      <a:endParaRPr lang="x-none" sz="2000" dirty="0"/>
                    </a:p>
                  </a:txBody>
                  <a:tcPr marL="87658" marR="87658"/>
                </a:tc>
                <a:extLst>
                  <a:ext uri="{0D108BD9-81ED-4DB2-BD59-A6C34878D82A}">
                    <a16:rowId xmlns:a16="http://schemas.microsoft.com/office/drawing/2014/main" val="15845831"/>
                  </a:ext>
                </a:extLst>
              </a:tr>
              <a:tr h="550887">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000" b="1" spc="0" dirty="0">
                          <a:latin typeface="Calibri"/>
                          <a:cs typeface="Calibri"/>
                        </a:rPr>
                        <a:t>Final</a:t>
                      </a:r>
                      <a:r>
                        <a:rPr lang="en-US" sz="2000" b="1" spc="-25" dirty="0">
                          <a:latin typeface="Calibri"/>
                          <a:cs typeface="Calibri"/>
                        </a:rPr>
                        <a:t> </a:t>
                      </a:r>
                      <a:r>
                        <a:rPr lang="en-US" sz="2000" b="1" spc="0" dirty="0">
                          <a:latin typeface="Calibri"/>
                          <a:cs typeface="Calibri"/>
                        </a:rPr>
                        <a:t>E</a:t>
                      </a:r>
                      <a:r>
                        <a:rPr lang="en-US" sz="2000" b="1" spc="-44" dirty="0">
                          <a:latin typeface="Calibri"/>
                          <a:cs typeface="Calibri"/>
                        </a:rPr>
                        <a:t>x</a:t>
                      </a:r>
                      <a:r>
                        <a:rPr lang="en-US" sz="2000" b="1" spc="0" dirty="0">
                          <a:latin typeface="Calibri"/>
                          <a:cs typeface="Calibri"/>
                        </a:rPr>
                        <a:t>amin</a:t>
                      </a:r>
                      <a:r>
                        <a:rPr lang="en-US" sz="2000" b="1" spc="-25" dirty="0">
                          <a:latin typeface="Calibri"/>
                          <a:cs typeface="Calibri"/>
                        </a:rPr>
                        <a:t>a</a:t>
                      </a:r>
                      <a:r>
                        <a:rPr lang="en-US" sz="2000" b="1" spc="0" dirty="0">
                          <a:latin typeface="Calibri"/>
                          <a:cs typeface="Calibri"/>
                        </a:rPr>
                        <a:t>tion</a:t>
                      </a:r>
                      <a:endParaRPr lang="en-US" sz="2000" b="1" dirty="0">
                        <a:latin typeface="Calibri"/>
                        <a:cs typeface="Calibri"/>
                      </a:endParaRPr>
                    </a:p>
                  </a:txBody>
                  <a:tcPr marL="87658" marR="87658"/>
                </a:tc>
                <a:tc>
                  <a:txBody>
                    <a:bodyPr/>
                    <a:lstStyle/>
                    <a:p>
                      <a:r>
                        <a:rPr lang="en-US" sz="2000" dirty="0"/>
                        <a:t>50%</a:t>
                      </a:r>
                      <a:endParaRPr lang="x-none" sz="2000" dirty="0"/>
                    </a:p>
                  </a:txBody>
                  <a:tcPr marL="87658" marR="87658"/>
                </a:tc>
                <a:extLst>
                  <a:ext uri="{0D108BD9-81ED-4DB2-BD59-A6C34878D82A}">
                    <a16:rowId xmlns:a16="http://schemas.microsoft.com/office/drawing/2014/main" val="1586846680"/>
                  </a:ext>
                </a:extLst>
              </a:tr>
              <a:tr h="903949">
                <a:tc>
                  <a:txBody>
                    <a:bodyPr/>
                    <a:lstStyle/>
                    <a:p>
                      <a:r>
                        <a:rPr lang="en-US" sz="2000" b="1" dirty="0"/>
                        <a:t>                                                                            Total</a:t>
                      </a:r>
                      <a:endParaRPr lang="x-none" sz="2000" b="1" dirty="0"/>
                    </a:p>
                  </a:txBody>
                  <a:tcPr marL="87658" marR="87658"/>
                </a:tc>
                <a:tc>
                  <a:txBody>
                    <a:bodyPr/>
                    <a:lstStyle/>
                    <a:p>
                      <a:r>
                        <a:rPr lang="en-US" sz="2000" dirty="0"/>
                        <a:t>100%</a:t>
                      </a:r>
                      <a:endParaRPr lang="x-none" sz="2000" dirty="0"/>
                    </a:p>
                  </a:txBody>
                  <a:tcPr marL="87658" marR="87658"/>
                </a:tc>
                <a:extLst>
                  <a:ext uri="{0D108BD9-81ED-4DB2-BD59-A6C34878D82A}">
                    <a16:rowId xmlns:a16="http://schemas.microsoft.com/office/drawing/2014/main" val="513812833"/>
                  </a:ext>
                </a:extLst>
              </a:tr>
            </a:tbl>
          </a:graphicData>
        </a:graphic>
      </p:graphicFrame>
    </p:spTree>
    <p:extLst>
      <p:ext uri="{BB962C8B-B14F-4D97-AF65-F5344CB8AC3E}">
        <p14:creationId xmlns:p14="http://schemas.microsoft.com/office/powerpoint/2010/main" val="4152524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FD3B-DFBE-4FE6-A39E-D54F28C0E20E}"/>
              </a:ext>
            </a:extLst>
          </p:cNvPr>
          <p:cNvSpPr>
            <a:spLocks noGrp="1"/>
          </p:cNvSpPr>
          <p:nvPr>
            <p:ph type="title"/>
          </p:nvPr>
        </p:nvSpPr>
        <p:spPr>
          <a:xfrm>
            <a:off x="1484311" y="685801"/>
            <a:ext cx="10018713" cy="1042792"/>
          </a:xfrm>
        </p:spPr>
        <p:txBody>
          <a:bodyPr/>
          <a:lstStyle/>
          <a:p>
            <a:r>
              <a:rPr lang="en-US" dirty="0"/>
              <a:t>Text &amp; Reference Books</a:t>
            </a:r>
            <a:endParaRPr lang="x-none" dirty="0"/>
          </a:p>
        </p:txBody>
      </p:sp>
      <p:sp>
        <p:nvSpPr>
          <p:cNvPr id="3" name="Content Placeholder 2">
            <a:extLst>
              <a:ext uri="{FF2B5EF4-FFF2-40B4-BE49-F238E27FC236}">
                <a16:creationId xmlns:a16="http://schemas.microsoft.com/office/drawing/2014/main" id="{EE56263C-B380-4CA6-954D-B1D25E6C5709}"/>
              </a:ext>
            </a:extLst>
          </p:cNvPr>
          <p:cNvSpPr>
            <a:spLocks noGrp="1"/>
          </p:cNvSpPr>
          <p:nvPr>
            <p:ph idx="1"/>
          </p:nvPr>
        </p:nvSpPr>
        <p:spPr>
          <a:xfrm>
            <a:off x="1484311" y="1618954"/>
            <a:ext cx="10018713" cy="4553245"/>
          </a:xfrm>
        </p:spPr>
        <p:txBody>
          <a:bodyPr/>
          <a:lstStyle/>
          <a:p>
            <a:pPr marL="0" indent="0">
              <a:buNone/>
            </a:pPr>
            <a:r>
              <a:rPr lang="en-US" b="1" spc="-209" dirty="0">
                <a:latin typeface="Calibri"/>
                <a:cs typeface="Calibri"/>
              </a:rPr>
              <a:t>T</a:t>
            </a:r>
            <a:r>
              <a:rPr lang="en-US" b="1" spc="-39" dirty="0">
                <a:latin typeface="Calibri"/>
                <a:cs typeface="Calibri"/>
              </a:rPr>
              <a:t>e</a:t>
            </a:r>
            <a:r>
              <a:rPr lang="en-US" b="1" dirty="0">
                <a:latin typeface="Calibri"/>
                <a:cs typeface="Calibri"/>
              </a:rPr>
              <a:t>xt Book</a:t>
            </a:r>
            <a:endParaRPr lang="en-US" dirty="0">
              <a:latin typeface="Calibri"/>
              <a:cs typeface="Calibri"/>
            </a:endParaRPr>
          </a:p>
          <a:p>
            <a:r>
              <a:rPr lang="en-US" dirty="0"/>
              <a:t>Artificial Intelligence: A Modern Approach” by </a:t>
            </a:r>
            <a:r>
              <a:rPr lang="en-US" dirty="0" err="1"/>
              <a:t>Struart</a:t>
            </a:r>
            <a:r>
              <a:rPr lang="en-US" dirty="0"/>
              <a:t> Russel and Peter </a:t>
            </a:r>
            <a:r>
              <a:rPr lang="en-US" dirty="0" err="1"/>
              <a:t>Norving</a:t>
            </a:r>
            <a:r>
              <a:rPr lang="en-US" dirty="0"/>
              <a:t>, 4</a:t>
            </a:r>
            <a:r>
              <a:rPr lang="en-US" baseline="30000" dirty="0"/>
              <a:t>th</a:t>
            </a:r>
            <a:r>
              <a:rPr lang="en-US" dirty="0"/>
              <a:t>Edition</a:t>
            </a:r>
            <a:endParaRPr lang="en-US" sz="3200" b="1" spc="-34" baseline="3413" dirty="0">
              <a:latin typeface="Calibri"/>
              <a:cs typeface="Calibri"/>
            </a:endParaRPr>
          </a:p>
          <a:p>
            <a:pPr marL="0" indent="0">
              <a:buNone/>
            </a:pPr>
            <a:r>
              <a:rPr lang="en-US" sz="3200" b="1" spc="-34" baseline="3413" dirty="0">
                <a:latin typeface="Calibri"/>
                <a:cs typeface="Calibri"/>
              </a:rPr>
              <a:t>R</a:t>
            </a:r>
            <a:r>
              <a:rPr lang="en-US" sz="3200" b="1" spc="-19" baseline="3413" dirty="0">
                <a:latin typeface="Calibri"/>
                <a:cs typeface="Calibri"/>
              </a:rPr>
              <a:t>e</a:t>
            </a:r>
            <a:r>
              <a:rPr lang="en-US" sz="3200" b="1" spc="-39" baseline="3413" dirty="0">
                <a:latin typeface="Calibri"/>
                <a:cs typeface="Calibri"/>
              </a:rPr>
              <a:t>f</a:t>
            </a:r>
            <a:r>
              <a:rPr lang="en-US" sz="3200" b="1" spc="-4" baseline="3413" dirty="0">
                <a:latin typeface="Calibri"/>
                <a:cs typeface="Calibri"/>
              </a:rPr>
              <a:t>e</a:t>
            </a:r>
            <a:r>
              <a:rPr lang="en-US" sz="3200" b="1" spc="-29" baseline="3413" dirty="0">
                <a:latin typeface="Calibri"/>
                <a:cs typeface="Calibri"/>
              </a:rPr>
              <a:t>r</a:t>
            </a:r>
            <a:r>
              <a:rPr lang="en-US" sz="3200" b="1" spc="-4" baseline="3413" dirty="0">
                <a:latin typeface="Calibri"/>
                <a:cs typeface="Calibri"/>
              </a:rPr>
              <a:t>e</a:t>
            </a:r>
            <a:r>
              <a:rPr lang="en-US" sz="3200" b="1" baseline="3413" dirty="0">
                <a:latin typeface="Calibri"/>
                <a:cs typeface="Calibri"/>
              </a:rPr>
              <a:t>nce</a:t>
            </a:r>
            <a:r>
              <a:rPr lang="en-US" sz="3200" b="1" spc="14" baseline="3413" dirty="0">
                <a:latin typeface="Calibri"/>
                <a:cs typeface="Calibri"/>
              </a:rPr>
              <a:t> </a:t>
            </a:r>
            <a:r>
              <a:rPr lang="en-US" sz="3200" b="1" baseline="3413" dirty="0">
                <a:latin typeface="Calibri"/>
                <a:cs typeface="Calibri"/>
              </a:rPr>
              <a:t>boo</a:t>
            </a:r>
            <a:r>
              <a:rPr lang="en-US" sz="3200" b="1" spc="-14" baseline="3413" dirty="0">
                <a:latin typeface="Calibri"/>
                <a:cs typeface="Calibri"/>
              </a:rPr>
              <a:t>k</a:t>
            </a:r>
            <a:r>
              <a:rPr lang="en-US" sz="3200" b="1" baseline="3413" dirty="0">
                <a:latin typeface="Calibri"/>
                <a:cs typeface="Calibri"/>
              </a:rPr>
              <a:t>s</a:t>
            </a:r>
            <a:endParaRPr lang="en-US" sz="3200" dirty="0">
              <a:latin typeface="Calibri"/>
              <a:cs typeface="Calibri"/>
            </a:endParaRPr>
          </a:p>
          <a:p>
            <a:pPr lvl="0"/>
            <a:r>
              <a:rPr lang="en-US" b="1" dirty="0"/>
              <a:t>“</a:t>
            </a:r>
            <a:r>
              <a:rPr lang="en-US" dirty="0"/>
              <a:t>Artificial </a:t>
            </a:r>
            <a:r>
              <a:rPr lang="en-US" dirty="0" err="1"/>
              <a:t>Intellegence</a:t>
            </a:r>
            <a:r>
              <a:rPr lang="en-US" dirty="0"/>
              <a:t>“ by George F Luger</a:t>
            </a:r>
          </a:p>
          <a:p>
            <a:r>
              <a:rPr lang="en-US" dirty="0"/>
              <a:t>“Fuzzy Logic with Engineering Application” by Timothy </a:t>
            </a:r>
            <a:r>
              <a:rPr lang="en-US" dirty="0" err="1"/>
              <a:t>J.Ross</a:t>
            </a:r>
            <a:endParaRPr lang="en-US" sz="3200" dirty="0">
              <a:latin typeface="Calibri"/>
              <a:cs typeface="Calibri"/>
            </a:endParaRPr>
          </a:p>
          <a:p>
            <a:pPr marL="12700" marR="45720">
              <a:lnSpc>
                <a:spcPts val="2475"/>
              </a:lnSpc>
              <a:spcBef>
                <a:spcPts val="123"/>
              </a:spcBef>
            </a:pPr>
            <a:endParaRPr lang="en-US" sz="3200" dirty="0">
              <a:latin typeface="Calibri"/>
              <a:cs typeface="Calibri"/>
            </a:endParaRPr>
          </a:p>
          <a:p>
            <a:pPr marL="0" indent="0">
              <a:buNone/>
            </a:pPr>
            <a:endParaRPr lang="en-US" sz="2800" dirty="0">
              <a:latin typeface="Calibri"/>
              <a:cs typeface="Calibri"/>
            </a:endParaRPr>
          </a:p>
          <a:p>
            <a:endParaRPr lang="en-US" sz="2800" dirty="0">
              <a:latin typeface="Calibri"/>
              <a:cs typeface="Calibri"/>
            </a:endParaRPr>
          </a:p>
          <a:p>
            <a:endParaRPr lang="x-none" dirty="0"/>
          </a:p>
        </p:txBody>
      </p:sp>
    </p:spTree>
    <p:extLst>
      <p:ext uri="{BB962C8B-B14F-4D97-AF65-F5344CB8AC3E}">
        <p14:creationId xmlns:p14="http://schemas.microsoft.com/office/powerpoint/2010/main" val="4045552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4" cy="821028"/>
          </a:xfrm>
        </p:spPr>
        <p:txBody>
          <a:bodyPr/>
          <a:lstStyle/>
          <a:p>
            <a:r>
              <a:rPr lang="en-US" dirty="0"/>
              <a:t>Top Technologies of AI</a:t>
            </a:r>
          </a:p>
        </p:txBody>
      </p:sp>
      <p:sp>
        <p:nvSpPr>
          <p:cNvPr id="3" name="Content Placeholder 2"/>
          <p:cNvSpPr>
            <a:spLocks noGrp="1"/>
          </p:cNvSpPr>
          <p:nvPr>
            <p:ph idx="1"/>
          </p:nvPr>
        </p:nvSpPr>
        <p:spPr>
          <a:xfrm>
            <a:off x="1262130" y="1506829"/>
            <a:ext cx="10240893" cy="4713667"/>
          </a:xfrm>
        </p:spPr>
        <p:txBody>
          <a:bodyPr>
            <a:normAutofit fontScale="25000" lnSpcReduction="20000"/>
          </a:bodyPr>
          <a:lstStyle/>
          <a:p>
            <a:r>
              <a:rPr lang="en-US" sz="6400" dirty="0">
                <a:latin typeface="Calibri" panose="020F0502020204030204" pitchFamily="34" charset="0"/>
                <a:cs typeface="Calibri" panose="020F0502020204030204" pitchFamily="34" charset="0"/>
                <a:hlinkClick r:id="rId2"/>
              </a:rPr>
              <a:t>Natural Language Generation</a:t>
            </a:r>
            <a:endParaRPr lang="en-US" sz="6400" dirty="0">
              <a:latin typeface="Calibri" panose="020F0502020204030204" pitchFamily="34" charset="0"/>
              <a:cs typeface="Calibri" panose="020F0502020204030204" pitchFamily="34" charset="0"/>
            </a:endParaRPr>
          </a:p>
          <a:p>
            <a:r>
              <a:rPr lang="en-US" sz="6400" dirty="0">
                <a:latin typeface="Calibri" panose="020F0502020204030204" pitchFamily="34" charset="0"/>
                <a:cs typeface="Calibri" panose="020F0502020204030204" pitchFamily="34" charset="0"/>
                <a:hlinkClick r:id="rId3"/>
              </a:rPr>
              <a:t>Speech Recognition</a:t>
            </a:r>
            <a:endParaRPr lang="en-US" sz="6400" dirty="0">
              <a:latin typeface="Calibri" panose="020F0502020204030204" pitchFamily="34" charset="0"/>
              <a:cs typeface="Calibri" panose="020F0502020204030204" pitchFamily="34" charset="0"/>
            </a:endParaRPr>
          </a:p>
          <a:p>
            <a:r>
              <a:rPr lang="en-US" sz="6400" dirty="0">
                <a:latin typeface="Calibri" panose="020F0502020204030204" pitchFamily="34" charset="0"/>
                <a:cs typeface="Calibri" panose="020F0502020204030204" pitchFamily="34" charset="0"/>
                <a:hlinkClick r:id="rId4"/>
              </a:rPr>
              <a:t>Machine Learning Platforms</a:t>
            </a:r>
            <a:endParaRPr lang="en-US" sz="6400" dirty="0">
              <a:latin typeface="Calibri" panose="020F0502020204030204" pitchFamily="34" charset="0"/>
              <a:cs typeface="Calibri" panose="020F0502020204030204" pitchFamily="34" charset="0"/>
            </a:endParaRPr>
          </a:p>
          <a:p>
            <a:r>
              <a:rPr lang="en-US" sz="6400" dirty="0">
                <a:latin typeface="Calibri" panose="020F0502020204030204" pitchFamily="34" charset="0"/>
                <a:cs typeface="Calibri" panose="020F0502020204030204" pitchFamily="34" charset="0"/>
                <a:hlinkClick r:id="rId5"/>
              </a:rPr>
              <a:t>Virtual Agents</a:t>
            </a:r>
            <a:endParaRPr lang="en-US" sz="6400" dirty="0">
              <a:latin typeface="Calibri" panose="020F0502020204030204" pitchFamily="34" charset="0"/>
              <a:cs typeface="Calibri" panose="020F0502020204030204" pitchFamily="34" charset="0"/>
            </a:endParaRPr>
          </a:p>
          <a:p>
            <a:r>
              <a:rPr lang="en-US" sz="6400" dirty="0">
                <a:latin typeface="Calibri" panose="020F0502020204030204" pitchFamily="34" charset="0"/>
                <a:cs typeface="Calibri" panose="020F0502020204030204" pitchFamily="34" charset="0"/>
                <a:hlinkClick r:id="rId6"/>
              </a:rPr>
              <a:t>Decision Management</a:t>
            </a:r>
            <a:endParaRPr lang="en-US" sz="6400" dirty="0">
              <a:latin typeface="Calibri" panose="020F0502020204030204" pitchFamily="34" charset="0"/>
              <a:cs typeface="Calibri" panose="020F0502020204030204" pitchFamily="34" charset="0"/>
            </a:endParaRPr>
          </a:p>
          <a:p>
            <a:r>
              <a:rPr lang="en-US" sz="6400" dirty="0">
                <a:latin typeface="Calibri" panose="020F0502020204030204" pitchFamily="34" charset="0"/>
                <a:cs typeface="Calibri" panose="020F0502020204030204" pitchFamily="34" charset="0"/>
                <a:hlinkClick r:id="rId7"/>
              </a:rPr>
              <a:t>AI Optimized Hardware</a:t>
            </a:r>
            <a:endParaRPr lang="en-US" sz="6400" dirty="0">
              <a:latin typeface="Calibri" panose="020F0502020204030204" pitchFamily="34" charset="0"/>
              <a:cs typeface="Calibri" panose="020F0502020204030204" pitchFamily="34" charset="0"/>
            </a:endParaRPr>
          </a:p>
          <a:p>
            <a:r>
              <a:rPr lang="en-US" sz="6400" dirty="0">
                <a:latin typeface="Calibri" panose="020F0502020204030204" pitchFamily="34" charset="0"/>
                <a:cs typeface="Calibri" panose="020F0502020204030204" pitchFamily="34" charset="0"/>
                <a:hlinkClick r:id="rId8"/>
              </a:rPr>
              <a:t>Deep Learning Platforms</a:t>
            </a:r>
            <a:endParaRPr lang="en-US" sz="6400" dirty="0">
              <a:latin typeface="Calibri" panose="020F0502020204030204" pitchFamily="34" charset="0"/>
              <a:cs typeface="Calibri" panose="020F0502020204030204" pitchFamily="34" charset="0"/>
            </a:endParaRPr>
          </a:p>
          <a:p>
            <a:r>
              <a:rPr lang="en-US" sz="6400" dirty="0">
                <a:latin typeface="Calibri" panose="020F0502020204030204" pitchFamily="34" charset="0"/>
                <a:cs typeface="Calibri" panose="020F0502020204030204" pitchFamily="34" charset="0"/>
                <a:hlinkClick r:id="rId9"/>
              </a:rPr>
              <a:t>Robotic Process Automation</a:t>
            </a:r>
            <a:endParaRPr lang="en-US" sz="6400" dirty="0">
              <a:latin typeface="Calibri" panose="020F0502020204030204" pitchFamily="34" charset="0"/>
              <a:cs typeface="Calibri" panose="020F0502020204030204" pitchFamily="34" charset="0"/>
            </a:endParaRPr>
          </a:p>
          <a:p>
            <a:r>
              <a:rPr lang="en-US" sz="6400" dirty="0">
                <a:latin typeface="Calibri" panose="020F0502020204030204" pitchFamily="34" charset="0"/>
                <a:cs typeface="Calibri" panose="020F0502020204030204" pitchFamily="34" charset="0"/>
                <a:hlinkClick r:id="rId10"/>
              </a:rPr>
              <a:t>Text Analytics and Natural Language Processing (NLP)</a:t>
            </a:r>
            <a:endParaRPr lang="en-US" sz="6400" dirty="0">
              <a:latin typeface="Calibri" panose="020F0502020204030204" pitchFamily="34" charset="0"/>
              <a:cs typeface="Calibri" panose="020F0502020204030204" pitchFamily="34" charset="0"/>
            </a:endParaRPr>
          </a:p>
          <a:p>
            <a:r>
              <a:rPr lang="en-US" sz="6400" dirty="0">
                <a:latin typeface="Calibri" panose="020F0502020204030204" pitchFamily="34" charset="0"/>
                <a:cs typeface="Calibri" panose="020F0502020204030204" pitchFamily="34" charset="0"/>
                <a:hlinkClick r:id="rId11"/>
              </a:rPr>
              <a:t>Bio-metrics</a:t>
            </a:r>
            <a:endParaRPr lang="en-US" sz="6400" dirty="0">
              <a:latin typeface="Calibri" panose="020F0502020204030204" pitchFamily="34" charset="0"/>
              <a:cs typeface="Calibri" panose="020F0502020204030204" pitchFamily="34" charset="0"/>
            </a:endParaRPr>
          </a:p>
          <a:p>
            <a:r>
              <a:rPr lang="en-US" sz="6400" dirty="0">
                <a:latin typeface="Calibri" panose="020F0502020204030204" pitchFamily="34" charset="0"/>
                <a:cs typeface="Calibri" panose="020F0502020204030204" pitchFamily="34" charset="0"/>
                <a:hlinkClick r:id="rId12"/>
              </a:rPr>
              <a:t>Cyber Defense</a:t>
            </a:r>
            <a:endParaRPr lang="en-US" sz="6400" dirty="0">
              <a:latin typeface="Calibri" panose="020F0502020204030204" pitchFamily="34" charset="0"/>
              <a:cs typeface="Calibri" panose="020F0502020204030204" pitchFamily="34" charset="0"/>
            </a:endParaRPr>
          </a:p>
          <a:p>
            <a:r>
              <a:rPr lang="en-US" sz="6400" dirty="0">
                <a:latin typeface="Calibri" panose="020F0502020204030204" pitchFamily="34" charset="0"/>
                <a:cs typeface="Calibri" panose="020F0502020204030204" pitchFamily="34" charset="0"/>
                <a:hlinkClick r:id="rId13"/>
              </a:rPr>
              <a:t>Content Creation</a:t>
            </a:r>
            <a:endParaRPr lang="en-US" sz="6400" dirty="0">
              <a:latin typeface="Calibri" panose="020F0502020204030204" pitchFamily="34" charset="0"/>
              <a:cs typeface="Calibri" panose="020F0502020204030204" pitchFamily="34" charset="0"/>
            </a:endParaRPr>
          </a:p>
          <a:p>
            <a:r>
              <a:rPr lang="en-US" sz="6400" dirty="0">
                <a:latin typeface="Calibri" panose="020F0502020204030204" pitchFamily="34" charset="0"/>
                <a:cs typeface="Calibri" panose="020F0502020204030204" pitchFamily="34" charset="0"/>
                <a:hlinkClick r:id="rId14"/>
              </a:rPr>
              <a:t>Emotion Recognition</a:t>
            </a:r>
            <a:endParaRPr lang="en-US" sz="6400" dirty="0">
              <a:latin typeface="Calibri" panose="020F0502020204030204" pitchFamily="34" charset="0"/>
              <a:cs typeface="Calibri" panose="020F0502020204030204" pitchFamily="34" charset="0"/>
            </a:endParaRPr>
          </a:p>
          <a:p>
            <a:r>
              <a:rPr lang="en-US" sz="6400" dirty="0">
                <a:latin typeface="Calibri" panose="020F0502020204030204" pitchFamily="34" charset="0"/>
                <a:cs typeface="Calibri" panose="020F0502020204030204" pitchFamily="34" charset="0"/>
                <a:hlinkClick r:id="rId15"/>
              </a:rPr>
              <a:t>Image Recognition</a:t>
            </a:r>
            <a:endParaRPr lang="en-US" sz="6400" dirty="0">
              <a:latin typeface="Calibri" panose="020F0502020204030204" pitchFamily="34" charset="0"/>
              <a:cs typeface="Calibri" panose="020F0502020204030204" pitchFamily="34" charset="0"/>
            </a:endParaRPr>
          </a:p>
          <a:p>
            <a:r>
              <a:rPr lang="en-US" sz="6400" dirty="0">
                <a:latin typeface="Calibri" panose="020F0502020204030204" pitchFamily="34" charset="0"/>
                <a:cs typeface="Calibri" panose="020F0502020204030204" pitchFamily="34" charset="0"/>
                <a:hlinkClick r:id="rId16"/>
              </a:rPr>
              <a:t>Marketing Automation</a:t>
            </a:r>
            <a:endParaRPr lang="en-US" sz="6400" dirty="0">
              <a:latin typeface="Calibri" panose="020F0502020204030204" pitchFamily="34" charset="0"/>
              <a:cs typeface="Calibri" panose="020F0502020204030204" pitchFamily="34" charset="0"/>
            </a:endParaRPr>
          </a:p>
          <a:p>
            <a:endParaRPr lang="en-US" dirty="0"/>
          </a:p>
        </p:txBody>
      </p:sp>
    </p:spTree>
    <p:extLst>
      <p:ext uri="{BB962C8B-B14F-4D97-AF65-F5344CB8AC3E}">
        <p14:creationId xmlns:p14="http://schemas.microsoft.com/office/powerpoint/2010/main" val="45989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Intelligence</a:t>
            </a:r>
          </a:p>
        </p:txBody>
      </p:sp>
      <p:sp>
        <p:nvSpPr>
          <p:cNvPr id="3" name="Content Placeholder 2"/>
          <p:cNvSpPr>
            <a:spLocks noGrp="1"/>
          </p:cNvSpPr>
          <p:nvPr>
            <p:ph idx="1"/>
          </p:nvPr>
        </p:nvSpPr>
        <p:spPr>
          <a:xfrm>
            <a:off x="1328738" y="2214563"/>
            <a:ext cx="10174285" cy="3576637"/>
          </a:xfrm>
        </p:spPr>
        <p:txBody>
          <a:bodyPr>
            <a:normAutofit/>
          </a:bodyPr>
          <a:lstStyle/>
          <a:p>
            <a:pPr algn="just"/>
            <a:r>
              <a:rPr lang="en-US" dirty="0"/>
              <a:t>Intelligence is a property of mind that encompasses many related mental abilities, such as the capabilities to </a:t>
            </a:r>
          </a:p>
          <a:p>
            <a:pPr lvl="1" algn="just"/>
            <a:r>
              <a:rPr lang="en-US" dirty="0"/>
              <a:t>     reason</a:t>
            </a:r>
          </a:p>
          <a:p>
            <a:pPr lvl="1" algn="just"/>
            <a:r>
              <a:rPr lang="en-US" dirty="0"/>
              <a:t>     plan </a:t>
            </a:r>
          </a:p>
          <a:p>
            <a:pPr lvl="1" algn="just"/>
            <a:r>
              <a:rPr lang="en-US" dirty="0"/>
              <a:t>     solve problems</a:t>
            </a:r>
          </a:p>
          <a:p>
            <a:pPr lvl="1" algn="just"/>
            <a:r>
              <a:rPr lang="en-US" dirty="0"/>
              <a:t>     think abstractly </a:t>
            </a:r>
          </a:p>
          <a:p>
            <a:pPr lvl="1" algn="just"/>
            <a:r>
              <a:rPr lang="en-US" dirty="0"/>
              <a:t>     Perception</a:t>
            </a:r>
          </a:p>
        </p:txBody>
      </p:sp>
    </p:spTree>
    <p:extLst>
      <p:ext uri="{BB962C8B-B14F-4D97-AF65-F5344CB8AC3E}">
        <p14:creationId xmlns:p14="http://schemas.microsoft.com/office/powerpoint/2010/main" val="33848999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E295D-D0D2-4558-9EE2-46FEDB4ACB40}"/>
              </a:ext>
            </a:extLst>
          </p:cNvPr>
          <p:cNvSpPr>
            <a:spLocks noGrp="1"/>
          </p:cNvSpPr>
          <p:nvPr>
            <p:ph type="title"/>
          </p:nvPr>
        </p:nvSpPr>
        <p:spPr/>
        <p:txBody>
          <a:bodyPr/>
          <a:lstStyle/>
          <a:p>
            <a:r>
              <a:rPr lang="en-US" dirty="0"/>
              <a:t>Cont...</a:t>
            </a:r>
            <a:endParaRPr lang="x-none" dirty="0"/>
          </a:p>
        </p:txBody>
      </p:sp>
      <p:sp>
        <p:nvSpPr>
          <p:cNvPr id="3" name="Content Placeholder 2">
            <a:extLst>
              <a:ext uri="{FF2B5EF4-FFF2-40B4-BE49-F238E27FC236}">
                <a16:creationId xmlns:a16="http://schemas.microsoft.com/office/drawing/2014/main" id="{50782F48-B8BB-4073-9391-8396961BFF60}"/>
              </a:ext>
            </a:extLst>
          </p:cNvPr>
          <p:cNvSpPr>
            <a:spLocks noGrp="1"/>
          </p:cNvSpPr>
          <p:nvPr>
            <p:ph idx="1"/>
          </p:nvPr>
        </p:nvSpPr>
        <p:spPr/>
        <p:txBody>
          <a:bodyPr/>
          <a:lstStyle/>
          <a:p>
            <a:r>
              <a:rPr lang="en-US" dirty="0"/>
              <a:t>In 1950 Alan Turing published a paper in a conference with title</a:t>
            </a:r>
          </a:p>
          <a:p>
            <a:pPr marL="0" indent="0">
              <a:buNone/>
            </a:pPr>
            <a:r>
              <a:rPr lang="en-US" dirty="0"/>
              <a:t>	</a:t>
            </a:r>
            <a:r>
              <a:rPr lang="en-US" b="1" i="1" dirty="0"/>
              <a:t>“Can Machines think”</a:t>
            </a:r>
          </a:p>
          <a:p>
            <a:pPr marL="0" indent="0">
              <a:buNone/>
            </a:pPr>
            <a:r>
              <a:rPr lang="en-US" dirty="0"/>
              <a:t>We are still finding the answer of that question...</a:t>
            </a:r>
            <a:endParaRPr lang="x-none" dirty="0"/>
          </a:p>
        </p:txBody>
      </p:sp>
    </p:spTree>
    <p:extLst>
      <p:ext uri="{BB962C8B-B14F-4D97-AF65-F5344CB8AC3E}">
        <p14:creationId xmlns:p14="http://schemas.microsoft.com/office/powerpoint/2010/main" val="18440856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28E64C-3A32-43E2-B04F-C1C60F0941DD}"/>
              </a:ext>
            </a:extLst>
          </p:cNvPr>
          <p:cNvSpPr>
            <a:spLocks noGrp="1"/>
          </p:cNvSpPr>
          <p:nvPr>
            <p:ph type="title"/>
          </p:nvPr>
        </p:nvSpPr>
        <p:spPr>
          <a:xfrm>
            <a:off x="1484311" y="685800"/>
            <a:ext cx="10018713" cy="1000125"/>
          </a:xfrm>
        </p:spPr>
        <p:txBody>
          <a:bodyPr/>
          <a:lstStyle/>
          <a:p>
            <a:r>
              <a:rPr lang="en-US" dirty="0"/>
              <a:t>Evolution of Artificial Intelligence</a:t>
            </a:r>
            <a:endParaRPr lang="x-none" dirty="0"/>
          </a:p>
        </p:txBody>
      </p:sp>
      <p:pic>
        <p:nvPicPr>
          <p:cNvPr id="4" name="Content Placeholder 3">
            <a:extLst>
              <a:ext uri="{FF2B5EF4-FFF2-40B4-BE49-F238E27FC236}">
                <a16:creationId xmlns:a16="http://schemas.microsoft.com/office/drawing/2014/main" id="{4284DC95-2B9D-4CE3-9B1C-2356629652CC}"/>
              </a:ext>
            </a:extLst>
          </p:cNvPr>
          <p:cNvPicPr>
            <a:picLocks noGrp="1" noChangeAspect="1"/>
          </p:cNvPicPr>
          <p:nvPr>
            <p:ph idx="1"/>
          </p:nvPr>
        </p:nvPicPr>
        <p:blipFill>
          <a:blip r:embed="rId2"/>
          <a:stretch>
            <a:fillRect/>
          </a:stretch>
        </p:blipFill>
        <p:spPr>
          <a:xfrm>
            <a:off x="2085278" y="1588051"/>
            <a:ext cx="9337530" cy="4584147"/>
          </a:xfrm>
          <a:prstGeom prst="rect">
            <a:avLst/>
          </a:prstGeom>
        </p:spPr>
      </p:pic>
    </p:spTree>
    <p:extLst>
      <p:ext uri="{BB962C8B-B14F-4D97-AF65-F5344CB8AC3E}">
        <p14:creationId xmlns:p14="http://schemas.microsoft.com/office/powerpoint/2010/main" val="40207892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cs typeface="Trebuchet MS" panose="020B0603020202020204" pitchFamily="34" charset="0"/>
              </a:rPr>
              <a:t>What is Artificial Intelligence</a:t>
            </a:r>
            <a:endParaRPr lang="en-US" dirty="0">
              <a:cs typeface="Trebuchet MS" panose="020B0603020202020204" pitchFamily="34" charset="0"/>
            </a:endParaRPr>
          </a:p>
        </p:txBody>
      </p:sp>
      <p:sp>
        <p:nvSpPr>
          <p:cNvPr id="3" name="Content Placeholder 2"/>
          <p:cNvSpPr>
            <a:spLocks noGrp="1"/>
          </p:cNvSpPr>
          <p:nvPr>
            <p:ph idx="1"/>
          </p:nvPr>
        </p:nvSpPr>
        <p:spPr/>
        <p:txBody>
          <a:bodyPr>
            <a:normAutofit/>
          </a:bodyPr>
          <a:lstStyle/>
          <a:p>
            <a:pPr>
              <a:buClr>
                <a:schemeClr val="tx1"/>
              </a:buClr>
              <a:buSzPct val="120000"/>
            </a:pPr>
            <a:r>
              <a:rPr lang="en-GB" dirty="0">
                <a:solidFill>
                  <a:srgbClr val="FF0000"/>
                </a:solidFill>
              </a:rPr>
              <a:t>Intelligence</a:t>
            </a:r>
            <a:r>
              <a:rPr lang="en-GB" dirty="0"/>
              <a:t>: “ability to learn, understand and think” (Oxford dictionary).</a:t>
            </a:r>
          </a:p>
          <a:p>
            <a:pPr>
              <a:buClr>
                <a:schemeClr val="tx1"/>
              </a:buClr>
              <a:buSzPct val="120000"/>
            </a:pPr>
            <a:endParaRPr lang="en-GB" b="1" dirty="0"/>
          </a:p>
          <a:p>
            <a:pPr>
              <a:buClr>
                <a:schemeClr val="tx1"/>
              </a:buClr>
              <a:buSzPct val="120000"/>
            </a:pPr>
            <a:r>
              <a:rPr lang="en-GB" dirty="0"/>
              <a:t>AI is the study of how to make computers make things which at present people do better.</a:t>
            </a:r>
          </a:p>
          <a:p>
            <a:pPr>
              <a:buClr>
                <a:schemeClr val="tx1"/>
              </a:buClr>
              <a:buSzPct val="120000"/>
            </a:pPr>
            <a:endParaRPr lang="en-GB" dirty="0"/>
          </a:p>
          <a:p>
            <a:pPr>
              <a:buClr>
                <a:schemeClr val="tx1"/>
              </a:buClr>
              <a:buSzPct val="120000"/>
            </a:pPr>
            <a:r>
              <a:rPr lang="en-GB" dirty="0"/>
              <a:t>Examples: Speech recognition, Smell, Face, Object, Intuition, Inferencing, Learning new skills, Decision making, Abstract thinking.</a:t>
            </a:r>
          </a:p>
          <a:p>
            <a:endParaRPr lang="en-US" dirty="0"/>
          </a:p>
        </p:txBody>
      </p:sp>
    </p:spTree>
    <p:extLst>
      <p:ext uri="{BB962C8B-B14F-4D97-AF65-F5344CB8AC3E}">
        <p14:creationId xmlns:p14="http://schemas.microsoft.com/office/powerpoint/2010/main" val="4199339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cs typeface="Trebuchet MS" panose="020B0603020202020204" pitchFamily="34" charset="0"/>
              </a:rPr>
              <a:t>More Formal Definition of AI</a:t>
            </a:r>
          </a:p>
        </p:txBody>
      </p:sp>
      <p:sp>
        <p:nvSpPr>
          <p:cNvPr id="3" name="Content Placeholder 2"/>
          <p:cNvSpPr>
            <a:spLocks noGrp="1"/>
          </p:cNvSpPr>
          <p:nvPr>
            <p:ph idx="1"/>
          </p:nvPr>
        </p:nvSpPr>
        <p:spPr/>
        <p:txBody>
          <a:bodyPr>
            <a:normAutofit/>
          </a:bodyPr>
          <a:lstStyle/>
          <a:p>
            <a:pPr lvl="1" algn="just">
              <a:spcBef>
                <a:spcPct val="0"/>
              </a:spcBef>
              <a:buClr>
                <a:schemeClr val="accent1"/>
              </a:buClr>
              <a:buSzPct val="65000"/>
              <a:buFont typeface="Wingdings" panose="05000000000000000000" pitchFamily="2" charset="2"/>
              <a:buChar char="n"/>
            </a:pPr>
            <a:r>
              <a:rPr lang="en-US" sz="2400" dirty="0"/>
              <a:t>AI is a branch of computer science which is concerned with the study and creation of computer systems that exhibit</a:t>
            </a:r>
          </a:p>
          <a:p>
            <a:pPr lvl="1" algn="just">
              <a:spcBef>
                <a:spcPct val="0"/>
              </a:spcBef>
              <a:buClr>
                <a:schemeClr val="accent1"/>
              </a:buClr>
              <a:buSzPct val="65000"/>
              <a:buFont typeface="Wingdings" panose="05000000000000000000" pitchFamily="2" charset="2"/>
              <a:buChar char="n"/>
            </a:pPr>
            <a:endParaRPr lang="en-US" sz="2400" dirty="0"/>
          </a:p>
          <a:p>
            <a:pPr lvl="3" algn="just">
              <a:spcBef>
                <a:spcPct val="0"/>
              </a:spcBef>
              <a:buClr>
                <a:schemeClr val="tx2"/>
              </a:buClr>
              <a:buSzPct val="65000"/>
            </a:pPr>
            <a:r>
              <a:rPr lang="en-US" sz="2400" dirty="0"/>
              <a:t>some form of intelligence </a:t>
            </a:r>
          </a:p>
          <a:p>
            <a:pPr lvl="3" algn="just">
              <a:spcBef>
                <a:spcPct val="0"/>
              </a:spcBef>
              <a:buClr>
                <a:schemeClr val="tx2"/>
              </a:buClr>
              <a:buSzPct val="65000"/>
              <a:buFont typeface="Wingdings" panose="05000000000000000000" pitchFamily="2" charset="2"/>
              <a:buNone/>
            </a:pPr>
            <a:r>
              <a:rPr lang="en-US" sz="2400" dirty="0"/>
              <a:t>		OR</a:t>
            </a:r>
          </a:p>
          <a:p>
            <a:pPr lvl="3" algn="just">
              <a:spcBef>
                <a:spcPct val="0"/>
              </a:spcBef>
              <a:buClr>
                <a:schemeClr val="tx2"/>
              </a:buClr>
              <a:buSzPct val="65000"/>
            </a:pPr>
            <a:r>
              <a:rPr lang="en-US" sz="2400" dirty="0"/>
              <a:t>those characteristics which we associate with intelligence in human behavior.</a:t>
            </a:r>
          </a:p>
          <a:p>
            <a:endParaRPr lang="en-US" dirty="0"/>
          </a:p>
        </p:txBody>
      </p:sp>
    </p:spTree>
    <p:extLst>
      <p:ext uri="{BB962C8B-B14F-4D97-AF65-F5344CB8AC3E}">
        <p14:creationId xmlns:p14="http://schemas.microsoft.com/office/powerpoint/2010/main" val="23008383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p:txBody>
          <a:bodyPr>
            <a:normAutofit/>
          </a:bodyPr>
          <a:lstStyle/>
          <a:p>
            <a:r>
              <a:rPr lang="en-GB" dirty="0">
                <a:cs typeface="Trebuchet MS" panose="020B0603020202020204" pitchFamily="34" charset="0"/>
              </a:rPr>
              <a:t>What is </a:t>
            </a:r>
            <a:r>
              <a:rPr lang="en-GB" b="1" i="1" dirty="0">
                <a:cs typeface="Trebuchet MS" panose="020B0603020202020204" pitchFamily="34" charset="0"/>
              </a:rPr>
              <a:t>Artificial Intelligence?</a:t>
            </a:r>
          </a:p>
        </p:txBody>
      </p:sp>
      <p:graphicFrame>
        <p:nvGraphicFramePr>
          <p:cNvPr id="5" name="Group 45"/>
          <p:cNvGraphicFramePr>
            <a:graphicFrameLocks noGrp="1"/>
          </p:cNvGraphicFramePr>
          <p:nvPr>
            <p:extLst>
              <p:ext uri="{D42A27DB-BD31-4B8C-83A1-F6EECF244321}">
                <p14:modId xmlns:p14="http://schemas.microsoft.com/office/powerpoint/2010/main" val="2530526879"/>
              </p:ext>
            </p:extLst>
          </p:nvPr>
        </p:nvGraphicFramePr>
        <p:xfrm>
          <a:off x="2957512" y="2547257"/>
          <a:ext cx="6904946" cy="2708956"/>
        </p:xfrm>
        <a:graphic>
          <a:graphicData uri="http://schemas.openxmlformats.org/drawingml/2006/table">
            <a:tbl>
              <a:tblPr/>
              <a:tblGrid>
                <a:gridCol w="3452473">
                  <a:extLst>
                    <a:ext uri="{9D8B030D-6E8A-4147-A177-3AD203B41FA5}">
                      <a16:colId xmlns:a16="http://schemas.microsoft.com/office/drawing/2014/main" val="20000"/>
                    </a:ext>
                  </a:extLst>
                </a:gridCol>
                <a:gridCol w="3452473">
                  <a:extLst>
                    <a:ext uri="{9D8B030D-6E8A-4147-A177-3AD203B41FA5}">
                      <a16:colId xmlns:a16="http://schemas.microsoft.com/office/drawing/2014/main" val="20001"/>
                    </a:ext>
                  </a:extLst>
                </a:gridCol>
              </a:tblGrid>
              <a:tr h="135447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Unicode MS"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dirty="0">
                          <a:ln>
                            <a:noFill/>
                          </a:ln>
                          <a:solidFill>
                            <a:schemeClr val="tx1"/>
                          </a:solidFill>
                          <a:effectLst/>
                          <a:latin typeface="Arial Unicode MS" pitchFamily="34" charset="-128"/>
                        </a:rPr>
                        <a:t>Thinking humanly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Unicode MS"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dirty="0">
                          <a:ln>
                            <a:noFill/>
                          </a:ln>
                          <a:solidFill>
                            <a:schemeClr val="tx1"/>
                          </a:solidFill>
                          <a:effectLst/>
                          <a:latin typeface="Arial Unicode MS" pitchFamily="34" charset="-128"/>
                        </a:rPr>
                        <a:t>Thinking rationally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35447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Unicode MS"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dirty="0">
                          <a:ln>
                            <a:noFill/>
                          </a:ln>
                          <a:solidFill>
                            <a:schemeClr val="tx1"/>
                          </a:solidFill>
                          <a:effectLst/>
                          <a:latin typeface="Arial Unicode MS" pitchFamily="34" charset="-128"/>
                        </a:rPr>
                        <a:t>Acting humanly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GB" sz="2400" b="0" i="0" u="none" strike="noStrike" cap="none" normalizeH="0" baseline="0" dirty="0">
                        <a:ln>
                          <a:noFill/>
                        </a:ln>
                        <a:solidFill>
                          <a:schemeClr val="tx1"/>
                        </a:solidFill>
                        <a:effectLst/>
                        <a:latin typeface="Arial Unicode MS" pitchFamily="34" charset="-128"/>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en-GB" sz="2400" b="0" i="0" u="none" strike="noStrike" cap="none" normalizeH="0" baseline="0" dirty="0">
                          <a:ln>
                            <a:noFill/>
                          </a:ln>
                          <a:solidFill>
                            <a:schemeClr val="tx1"/>
                          </a:solidFill>
                          <a:effectLst/>
                          <a:latin typeface="Arial Unicode MS" pitchFamily="34" charset="-128"/>
                        </a:rPr>
                        <a:t>Acting rationally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284084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cs typeface="Trebuchet MS" panose="020B0603020202020204" pitchFamily="34" charset="0"/>
              </a:rPr>
              <a:t>Acting Humanly: The Turing Test</a:t>
            </a:r>
            <a:endParaRPr lang="en-US" dirty="0"/>
          </a:p>
        </p:txBody>
      </p:sp>
      <p:sp>
        <p:nvSpPr>
          <p:cNvPr id="3" name="Content Placeholder 2"/>
          <p:cNvSpPr>
            <a:spLocks noGrp="1"/>
          </p:cNvSpPr>
          <p:nvPr>
            <p:ph idx="1"/>
          </p:nvPr>
        </p:nvSpPr>
        <p:spPr/>
        <p:txBody>
          <a:bodyPr>
            <a:normAutofit/>
          </a:bodyPr>
          <a:lstStyle/>
          <a:p>
            <a:pPr>
              <a:buClr>
                <a:schemeClr val="tx1"/>
              </a:buClr>
              <a:buSzPct val="120000"/>
            </a:pPr>
            <a:r>
              <a:rPr lang="en-GB" dirty="0"/>
              <a:t>Predicted that by 2000, a machine might have a 30% chance of fooling a lay person for 5 minutes.</a:t>
            </a:r>
          </a:p>
          <a:p>
            <a:pPr>
              <a:spcBef>
                <a:spcPct val="0"/>
              </a:spcBef>
              <a:buClr>
                <a:schemeClr val="tx1"/>
              </a:buClr>
              <a:buSzPct val="120000"/>
              <a:buNone/>
            </a:pPr>
            <a:endParaRPr lang="en-GB" dirty="0"/>
          </a:p>
          <a:p>
            <a:pPr>
              <a:spcBef>
                <a:spcPct val="0"/>
              </a:spcBef>
              <a:buClr>
                <a:schemeClr val="tx1"/>
              </a:buClr>
              <a:buSzPct val="120000"/>
            </a:pPr>
            <a:r>
              <a:rPr lang="en-GB" dirty="0"/>
              <a:t>Anticipated all major arguments against AI in following 50 years.</a:t>
            </a:r>
          </a:p>
          <a:p>
            <a:pPr>
              <a:spcBef>
                <a:spcPct val="0"/>
              </a:spcBef>
              <a:buClr>
                <a:schemeClr val="tx1"/>
              </a:buClr>
              <a:buSzPct val="120000"/>
              <a:buNone/>
            </a:pPr>
            <a:endParaRPr lang="en-GB" dirty="0"/>
          </a:p>
          <a:p>
            <a:pPr>
              <a:spcBef>
                <a:spcPct val="0"/>
              </a:spcBef>
              <a:buClr>
                <a:schemeClr val="tx1"/>
              </a:buClr>
              <a:buSzPct val="120000"/>
            </a:pPr>
            <a:r>
              <a:rPr lang="en-GB" dirty="0"/>
              <a:t>Suggested major components of AI: knowledge,  reasoning, language, understanding, learning.</a:t>
            </a:r>
          </a:p>
          <a:p>
            <a:endParaRPr lang="en-US" dirty="0"/>
          </a:p>
        </p:txBody>
      </p:sp>
    </p:spTree>
    <p:extLst>
      <p:ext uri="{BB962C8B-B14F-4D97-AF65-F5344CB8AC3E}">
        <p14:creationId xmlns:p14="http://schemas.microsoft.com/office/powerpoint/2010/main" val="10897137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cs typeface="Trebuchet MS" panose="020B0603020202020204" pitchFamily="34" charset="0"/>
              </a:rPr>
              <a:t>Acting Humanly: The Turing Test</a:t>
            </a:r>
            <a:endParaRPr lang="en-US" dirty="0"/>
          </a:p>
        </p:txBody>
      </p:sp>
      <p:sp>
        <p:nvSpPr>
          <p:cNvPr id="3" name="Content Placeholder 2"/>
          <p:cNvSpPr>
            <a:spLocks noGrp="1"/>
          </p:cNvSpPr>
          <p:nvPr>
            <p:ph idx="1"/>
          </p:nvPr>
        </p:nvSpPr>
        <p:spPr>
          <a:xfrm>
            <a:off x="1484310" y="2666999"/>
            <a:ext cx="10018713" cy="3148014"/>
          </a:xfrm>
        </p:spPr>
        <p:txBody>
          <a:bodyPr>
            <a:normAutofit/>
          </a:bodyPr>
          <a:lstStyle/>
          <a:p>
            <a:r>
              <a:rPr lang="en-US" dirty="0"/>
              <a:t>The </a:t>
            </a:r>
            <a:r>
              <a:rPr lang="en-US" b="1" dirty="0"/>
              <a:t>Turing Test</a:t>
            </a:r>
            <a:r>
              <a:rPr lang="en-US" dirty="0"/>
              <a:t>, proposed by Alan Turing (Turing, 1950)</a:t>
            </a:r>
          </a:p>
          <a:p>
            <a:r>
              <a:rPr lang="en-US" dirty="0"/>
              <a:t>Turing defined intelligent behavior as the ability to achieve human-level performance in all cognitive tasks, sufficient to fool an interrogator.</a:t>
            </a:r>
          </a:p>
          <a:p>
            <a:r>
              <a:rPr lang="en-US" dirty="0"/>
              <a:t>Roughly speaking, the test he proposed is that the computer should be interrogated by a human via a teletype, and passes the test if the interrogator cannot tell if there is a computer or a human at the other end. </a:t>
            </a:r>
          </a:p>
        </p:txBody>
      </p:sp>
    </p:spTree>
    <p:extLst>
      <p:ext uri="{BB962C8B-B14F-4D97-AF65-F5344CB8AC3E}">
        <p14:creationId xmlns:p14="http://schemas.microsoft.com/office/powerpoint/2010/main" val="2170290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0" y="0"/>
            <a:ext cx="10018713" cy="1478071"/>
          </a:xfrm>
        </p:spPr>
        <p:txBody>
          <a:bodyPr/>
          <a:lstStyle/>
          <a:p>
            <a:r>
              <a:rPr lang="en-US" dirty="0"/>
              <a:t>Systems that act like humans</a:t>
            </a:r>
          </a:p>
        </p:txBody>
      </p:sp>
      <p:pic>
        <p:nvPicPr>
          <p:cNvPr id="6" name="Content Placeholder 5">
            <a:extLst>
              <a:ext uri="{FF2B5EF4-FFF2-40B4-BE49-F238E27FC236}">
                <a16:creationId xmlns:a16="http://schemas.microsoft.com/office/drawing/2014/main" id="{F821F39D-AAD7-4964-B5EF-ED2185AC1429}"/>
              </a:ext>
            </a:extLst>
          </p:cNvPr>
          <p:cNvPicPr>
            <a:picLocks noGrp="1" noChangeAspect="1"/>
          </p:cNvPicPr>
          <p:nvPr>
            <p:ph idx="1"/>
          </p:nvPr>
        </p:nvPicPr>
        <p:blipFill>
          <a:blip r:embed="rId2"/>
          <a:stretch>
            <a:fillRect/>
          </a:stretch>
        </p:blipFill>
        <p:spPr>
          <a:xfrm>
            <a:off x="3403655" y="2016125"/>
            <a:ext cx="5699015" cy="3449638"/>
          </a:xfrm>
          <a:prstGeom prst="rect">
            <a:avLst/>
          </a:prstGeom>
        </p:spPr>
      </p:pic>
    </p:spTree>
    <p:extLst>
      <p:ext uri="{BB962C8B-B14F-4D97-AF65-F5344CB8AC3E}">
        <p14:creationId xmlns:p14="http://schemas.microsoft.com/office/powerpoint/2010/main" val="982480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09" y="0"/>
            <a:ext cx="10018713" cy="1752599"/>
          </a:xfrm>
        </p:spPr>
        <p:txBody>
          <a:bodyPr>
            <a:normAutofit/>
          </a:bodyPr>
          <a:lstStyle/>
          <a:p>
            <a:r>
              <a:rPr lang="en-US" dirty="0"/>
              <a:t>Systems that act like humans</a:t>
            </a:r>
            <a:endParaRPr lang="en-US" dirty="0">
              <a:cs typeface="Trebuchet MS" panose="020B0603020202020204" pitchFamily="34" charset="0"/>
            </a:endParaRPr>
          </a:p>
        </p:txBody>
      </p:sp>
      <p:sp>
        <p:nvSpPr>
          <p:cNvPr id="3" name="Content Placeholder 2"/>
          <p:cNvSpPr>
            <a:spLocks noGrp="1"/>
          </p:cNvSpPr>
          <p:nvPr>
            <p:ph idx="1"/>
          </p:nvPr>
        </p:nvSpPr>
        <p:spPr>
          <a:xfrm>
            <a:off x="1484309" y="2695574"/>
            <a:ext cx="10018713" cy="3124201"/>
          </a:xfrm>
        </p:spPr>
        <p:txBody>
          <a:bodyPr>
            <a:noAutofit/>
          </a:bodyPr>
          <a:lstStyle/>
          <a:p>
            <a:pPr marL="0" indent="0">
              <a:buNone/>
            </a:pPr>
            <a:r>
              <a:rPr lang="en-US" i="1" dirty="0"/>
              <a:t>To pass the Turing test computer would need to possess the following capabilities:</a:t>
            </a:r>
          </a:p>
          <a:p>
            <a:r>
              <a:rPr lang="en-US" b="1" i="1" dirty="0"/>
              <a:t>natural language processing</a:t>
            </a:r>
            <a:r>
              <a:rPr lang="en-US" i="1" dirty="0"/>
              <a:t> to enable it to communicate successfully in English (or some other human language);</a:t>
            </a:r>
          </a:p>
          <a:p>
            <a:r>
              <a:rPr lang="en-US" b="1" i="1" dirty="0"/>
              <a:t>knowledge representation</a:t>
            </a:r>
            <a:r>
              <a:rPr lang="en-US" i="1" dirty="0"/>
              <a:t> to store information provided before or during the interrogation;</a:t>
            </a:r>
          </a:p>
          <a:p>
            <a:r>
              <a:rPr lang="en-US" b="1" i="1" dirty="0"/>
              <a:t>automated reasoning</a:t>
            </a:r>
            <a:r>
              <a:rPr lang="en-US" i="1" dirty="0"/>
              <a:t> to use the stored information to answer questions and to draw new conclusions;</a:t>
            </a:r>
          </a:p>
          <a:p>
            <a:r>
              <a:rPr lang="en-US" b="1" i="1" dirty="0"/>
              <a:t>machine learning</a:t>
            </a:r>
            <a:r>
              <a:rPr lang="en-US" i="1" dirty="0"/>
              <a:t> to adapt to new circumstances and to detect and extrapolate patterns.</a:t>
            </a:r>
          </a:p>
          <a:p>
            <a:endParaRPr lang="en-US" sz="2000" dirty="0"/>
          </a:p>
        </p:txBody>
      </p:sp>
    </p:spTree>
    <p:extLst>
      <p:ext uri="{BB962C8B-B14F-4D97-AF65-F5344CB8AC3E}">
        <p14:creationId xmlns:p14="http://schemas.microsoft.com/office/powerpoint/2010/main" val="2288302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28DAD-BBCF-4CA6-9862-F6CCAF222FF4}"/>
              </a:ext>
            </a:extLst>
          </p:cNvPr>
          <p:cNvSpPr>
            <a:spLocks noGrp="1"/>
          </p:cNvSpPr>
          <p:nvPr>
            <p:ph type="title"/>
          </p:nvPr>
        </p:nvSpPr>
        <p:spPr/>
        <p:txBody>
          <a:bodyPr/>
          <a:lstStyle/>
          <a:p>
            <a:r>
              <a:rPr lang="en-US" dirty="0"/>
              <a:t>Systems that act like humans</a:t>
            </a:r>
            <a:endParaRPr lang="x-none" dirty="0"/>
          </a:p>
        </p:txBody>
      </p:sp>
      <p:sp>
        <p:nvSpPr>
          <p:cNvPr id="3" name="Content Placeholder 2">
            <a:extLst>
              <a:ext uri="{FF2B5EF4-FFF2-40B4-BE49-F238E27FC236}">
                <a16:creationId xmlns:a16="http://schemas.microsoft.com/office/drawing/2014/main" id="{75A2E2FE-F55D-4C28-93BD-E17C2F2B32F6}"/>
              </a:ext>
            </a:extLst>
          </p:cNvPr>
          <p:cNvSpPr>
            <a:spLocks noGrp="1"/>
          </p:cNvSpPr>
          <p:nvPr>
            <p:ph idx="1"/>
          </p:nvPr>
        </p:nvSpPr>
        <p:spPr/>
        <p:txBody>
          <a:bodyPr/>
          <a:lstStyle/>
          <a:p>
            <a:pPr marL="0" indent="0">
              <a:buNone/>
            </a:pPr>
            <a:r>
              <a:rPr lang="en-US" sz="3200" baseline="3413" dirty="0">
                <a:latin typeface="Calibri"/>
                <a:cs typeface="Calibri"/>
              </a:rPr>
              <a:t>Ho</a:t>
            </a:r>
            <a:r>
              <a:rPr lang="en-US" sz="3200" spc="-25" baseline="3413" dirty="0">
                <a:latin typeface="Calibri"/>
                <a:cs typeface="Calibri"/>
              </a:rPr>
              <a:t>w</a:t>
            </a:r>
            <a:r>
              <a:rPr lang="en-US" sz="3200" spc="-9" baseline="3413" dirty="0">
                <a:latin typeface="Calibri"/>
                <a:cs typeface="Calibri"/>
              </a:rPr>
              <a:t>e</a:t>
            </a:r>
            <a:r>
              <a:rPr lang="en-US" sz="3200" spc="-19" baseline="3413" dirty="0">
                <a:latin typeface="Calibri"/>
                <a:cs typeface="Calibri"/>
              </a:rPr>
              <a:t>v</a:t>
            </a:r>
            <a:r>
              <a:rPr lang="en-US" sz="3200" baseline="3413" dirty="0">
                <a:latin typeface="Calibri"/>
                <a:cs typeface="Calibri"/>
              </a:rPr>
              <a:t>er </a:t>
            </a:r>
            <a:r>
              <a:rPr lang="en-US" sz="3200" spc="-44" baseline="3413" dirty="0">
                <a:latin typeface="Calibri"/>
                <a:cs typeface="Calibri"/>
              </a:rPr>
              <a:t>,</a:t>
            </a:r>
            <a:r>
              <a:rPr lang="en-US" sz="3200" baseline="3413" dirty="0">
                <a:latin typeface="Calibri"/>
                <a:cs typeface="Calibri"/>
              </a:rPr>
              <a:t>the </a:t>
            </a:r>
            <a:r>
              <a:rPr lang="en-US" sz="3200" spc="-150" baseline="3413" dirty="0">
                <a:latin typeface="Calibri"/>
                <a:cs typeface="Calibri"/>
              </a:rPr>
              <a:t>T</a:t>
            </a:r>
            <a:r>
              <a:rPr lang="en-US" sz="3200" baseline="3413" dirty="0">
                <a:latin typeface="Calibri"/>
                <a:cs typeface="Calibri"/>
              </a:rPr>
              <a:t>uring </a:t>
            </a:r>
            <a:r>
              <a:rPr lang="en-US" sz="3200" spc="-25" baseline="3413" dirty="0">
                <a:latin typeface="Calibri"/>
                <a:cs typeface="Calibri"/>
              </a:rPr>
              <a:t>t</a:t>
            </a:r>
            <a:r>
              <a:rPr lang="en-US" sz="3200" baseline="3413" dirty="0">
                <a:latin typeface="Calibri"/>
                <a:cs typeface="Calibri"/>
              </a:rPr>
              <a:t>e</a:t>
            </a:r>
            <a:r>
              <a:rPr lang="en-US" sz="3200" spc="-34" baseline="3413" dirty="0">
                <a:latin typeface="Calibri"/>
                <a:cs typeface="Calibri"/>
              </a:rPr>
              <a:t>s</a:t>
            </a:r>
            <a:r>
              <a:rPr lang="en-US" sz="3200" baseline="3413" dirty="0">
                <a:latin typeface="Calibri"/>
                <a:cs typeface="Calibri"/>
              </a:rPr>
              <a:t>t </a:t>
            </a:r>
            <a:r>
              <a:rPr lang="en-US" sz="3200" spc="-34" baseline="3413" dirty="0">
                <a:latin typeface="Calibri"/>
                <a:cs typeface="Calibri"/>
              </a:rPr>
              <a:t>e</a:t>
            </a:r>
            <a:r>
              <a:rPr lang="en-US" sz="3200" spc="-54" baseline="3413" dirty="0">
                <a:latin typeface="Calibri"/>
                <a:cs typeface="Calibri"/>
              </a:rPr>
              <a:t>x</a:t>
            </a:r>
            <a:r>
              <a:rPr lang="en-US" sz="3200" baseline="3413" dirty="0">
                <a:latin typeface="Calibri"/>
                <a:cs typeface="Calibri"/>
              </a:rPr>
              <a:t>cludes di</a:t>
            </a:r>
            <a:r>
              <a:rPr lang="en-US" sz="3200" spc="-34" baseline="3413" dirty="0">
                <a:latin typeface="Calibri"/>
                <a:cs typeface="Calibri"/>
              </a:rPr>
              <a:t>r</a:t>
            </a:r>
            <a:r>
              <a:rPr lang="en-US" sz="3200" baseline="3413" dirty="0">
                <a:latin typeface="Calibri"/>
                <a:cs typeface="Calibri"/>
              </a:rPr>
              <a:t>ect </a:t>
            </a:r>
            <a:r>
              <a:rPr lang="en-US" sz="3200" u="heavy" baseline="3413" dirty="0">
                <a:solidFill>
                  <a:srgbClr val="BF0000"/>
                </a:solidFill>
                <a:latin typeface="Calibri"/>
                <a:cs typeface="Calibri"/>
              </a:rPr>
              <a:t>p</a:t>
            </a:r>
            <a:r>
              <a:rPr lang="en-US" sz="3200" u="heavy" spc="-44" baseline="3413" dirty="0">
                <a:solidFill>
                  <a:srgbClr val="BF0000"/>
                </a:solidFill>
                <a:latin typeface="Calibri"/>
                <a:cs typeface="Calibri"/>
              </a:rPr>
              <a:t>h</a:t>
            </a:r>
            <a:r>
              <a:rPr lang="en-US" sz="3200" u="heavy" spc="-25" baseline="3413" dirty="0">
                <a:solidFill>
                  <a:srgbClr val="BF0000"/>
                </a:solidFill>
                <a:latin typeface="Calibri"/>
                <a:cs typeface="Calibri"/>
              </a:rPr>
              <a:t>y</a:t>
            </a:r>
            <a:r>
              <a:rPr lang="en-US" sz="3200" u="heavy" spc="-4" baseline="3413" dirty="0">
                <a:solidFill>
                  <a:srgbClr val="BF0000"/>
                </a:solidFill>
                <a:latin typeface="Calibri"/>
                <a:cs typeface="Calibri"/>
              </a:rPr>
              <a:t>s</a:t>
            </a:r>
            <a:r>
              <a:rPr lang="en-US" sz="3200" u="heavy" baseline="3413" dirty="0">
                <a:solidFill>
                  <a:srgbClr val="BF0000"/>
                </a:solidFill>
                <a:latin typeface="Calibri"/>
                <a:cs typeface="Calibri"/>
              </a:rPr>
              <a:t>i</a:t>
            </a:r>
            <a:r>
              <a:rPr lang="en-US" sz="3200" u="heavy" spc="-19" baseline="3413" dirty="0">
                <a:solidFill>
                  <a:srgbClr val="BF0000"/>
                </a:solidFill>
                <a:latin typeface="Calibri"/>
                <a:cs typeface="Calibri"/>
              </a:rPr>
              <a:t>c</a:t>
            </a:r>
            <a:r>
              <a:rPr lang="en-US" sz="3200" u="heavy" baseline="3413" dirty="0">
                <a:solidFill>
                  <a:srgbClr val="BF0000"/>
                </a:solidFill>
                <a:latin typeface="Calibri"/>
                <a:cs typeface="Calibri"/>
              </a:rPr>
              <a:t>al</a:t>
            </a:r>
            <a:r>
              <a:rPr lang="en-US" sz="3200" u="heavy" spc="-9" baseline="3413" dirty="0">
                <a:solidFill>
                  <a:srgbClr val="BF0000"/>
                </a:solidFill>
                <a:latin typeface="Calibri"/>
                <a:cs typeface="Calibri"/>
              </a:rPr>
              <a:t> </a:t>
            </a:r>
            <a:r>
              <a:rPr lang="en-US" sz="3200" u="heavy" spc="-19" baseline="3413" dirty="0">
                <a:solidFill>
                  <a:srgbClr val="BF0000"/>
                </a:solidFill>
                <a:latin typeface="Calibri"/>
                <a:cs typeface="Calibri"/>
              </a:rPr>
              <a:t>c</a:t>
            </a:r>
            <a:r>
              <a:rPr lang="en-US" sz="3200" u="heavy" baseline="3413" dirty="0">
                <a:solidFill>
                  <a:srgbClr val="BF0000"/>
                </a:solidFill>
                <a:latin typeface="Calibri"/>
                <a:cs typeface="Calibri"/>
              </a:rPr>
              <a:t>o</a:t>
            </a:r>
            <a:r>
              <a:rPr lang="en-US" sz="3200" u="heavy" spc="-25" baseline="3413" dirty="0">
                <a:solidFill>
                  <a:srgbClr val="BF0000"/>
                </a:solidFill>
                <a:latin typeface="Calibri"/>
                <a:cs typeface="Calibri"/>
              </a:rPr>
              <a:t>n</a:t>
            </a:r>
            <a:r>
              <a:rPr lang="en-US" sz="3200" u="heavy" spc="-29" baseline="3413" dirty="0">
                <a:solidFill>
                  <a:srgbClr val="BF0000"/>
                </a:solidFill>
                <a:latin typeface="Calibri"/>
                <a:cs typeface="Calibri"/>
              </a:rPr>
              <a:t>t</a:t>
            </a:r>
            <a:r>
              <a:rPr lang="en-US" sz="3200" u="heavy" baseline="3413" dirty="0">
                <a:solidFill>
                  <a:srgbClr val="BF0000"/>
                </a:solidFill>
                <a:latin typeface="Calibri"/>
                <a:cs typeface="Calibri"/>
              </a:rPr>
              <a:t>act </a:t>
            </a:r>
            <a:r>
              <a:rPr lang="en-US" sz="3200" baseline="3413" dirty="0">
                <a:latin typeface="Calibri"/>
                <a:cs typeface="Calibri"/>
              </a:rPr>
              <a:t>bet</a:t>
            </a:r>
            <a:r>
              <a:rPr lang="en-US" sz="3200" spc="-19" baseline="3413" dirty="0">
                <a:latin typeface="Calibri"/>
                <a:cs typeface="Calibri"/>
              </a:rPr>
              <a:t>w</a:t>
            </a:r>
            <a:r>
              <a:rPr lang="en-US" sz="3200" baseline="3413" dirty="0">
                <a:latin typeface="Calibri"/>
                <a:cs typeface="Calibri"/>
              </a:rPr>
              <a:t>een</a:t>
            </a:r>
            <a:r>
              <a:rPr lang="en-US" sz="3200" spc="9" baseline="3413" dirty="0">
                <a:latin typeface="Calibri"/>
                <a:cs typeface="Calibri"/>
              </a:rPr>
              <a:t> </a:t>
            </a:r>
            <a:r>
              <a:rPr lang="en-US" sz="3200" spc="-9" baseline="3413" dirty="0">
                <a:latin typeface="Calibri"/>
                <a:cs typeface="Calibri"/>
              </a:rPr>
              <a:t>t</a:t>
            </a:r>
            <a:r>
              <a:rPr lang="en-US" sz="3200" baseline="3413" dirty="0">
                <a:latin typeface="Calibri"/>
                <a:cs typeface="Calibri"/>
              </a:rPr>
              <a:t>he machine</a:t>
            </a:r>
            <a:r>
              <a:rPr lang="en-US" sz="3200" spc="-9" baseline="3413" dirty="0">
                <a:latin typeface="Calibri"/>
                <a:cs typeface="Calibri"/>
              </a:rPr>
              <a:t> </a:t>
            </a:r>
            <a:r>
              <a:rPr lang="en-US" sz="3200" baseline="3413" dirty="0">
                <a:latin typeface="Calibri"/>
                <a:cs typeface="Calibri"/>
              </a:rPr>
              <a:t>and the i</a:t>
            </a:r>
            <a:r>
              <a:rPr lang="en-US" sz="3200" spc="-25" baseline="3413" dirty="0">
                <a:latin typeface="Calibri"/>
                <a:cs typeface="Calibri"/>
              </a:rPr>
              <a:t>nt</a:t>
            </a:r>
            <a:r>
              <a:rPr lang="en-US" sz="3200" baseline="3413" dirty="0">
                <a:latin typeface="Calibri"/>
                <a:cs typeface="Calibri"/>
              </a:rPr>
              <a:t>er</a:t>
            </a:r>
            <a:r>
              <a:rPr lang="en-US" sz="3200" spc="-34" baseline="3413" dirty="0">
                <a:latin typeface="Calibri"/>
                <a:cs typeface="Calibri"/>
              </a:rPr>
              <a:t>r</a:t>
            </a:r>
            <a:r>
              <a:rPr lang="en-US" sz="3200" baseline="3413" dirty="0">
                <a:latin typeface="Calibri"/>
                <a:cs typeface="Calibri"/>
              </a:rPr>
              <a:t>o</a:t>
            </a:r>
            <a:r>
              <a:rPr lang="en-US" sz="3200" spc="-44" baseline="3413" dirty="0">
                <a:latin typeface="Calibri"/>
                <a:cs typeface="Calibri"/>
              </a:rPr>
              <a:t>g</a:t>
            </a:r>
            <a:r>
              <a:rPr lang="en-US" sz="3200" spc="-19" baseline="3413" dirty="0">
                <a:latin typeface="Calibri"/>
                <a:cs typeface="Calibri"/>
              </a:rPr>
              <a:t>a</a:t>
            </a:r>
            <a:r>
              <a:rPr lang="en-US" sz="3200" spc="-25" baseline="3413" dirty="0">
                <a:latin typeface="Calibri"/>
                <a:cs typeface="Calibri"/>
              </a:rPr>
              <a:t>t</a:t>
            </a:r>
            <a:r>
              <a:rPr lang="en-US" sz="3200" baseline="3413" dirty="0">
                <a:latin typeface="Calibri"/>
                <a:cs typeface="Calibri"/>
              </a:rPr>
              <a:t>o</a:t>
            </a:r>
            <a:r>
              <a:rPr lang="en-US" sz="3200" spc="-244" baseline="3413" dirty="0">
                <a:latin typeface="Calibri"/>
                <a:cs typeface="Calibri"/>
              </a:rPr>
              <a:t>r</a:t>
            </a:r>
            <a:r>
              <a:rPr lang="en-US" sz="3200" baseline="3413" dirty="0">
                <a:latin typeface="Calibri"/>
                <a:cs typeface="Calibri"/>
              </a:rPr>
              <a:t>.</a:t>
            </a:r>
            <a:r>
              <a:rPr lang="en-US" sz="3200" spc="-19" baseline="3413" dirty="0">
                <a:latin typeface="Calibri"/>
                <a:cs typeface="Calibri"/>
              </a:rPr>
              <a:t> </a:t>
            </a:r>
            <a:r>
              <a:rPr lang="en-US" sz="3200" baseline="3413" dirty="0">
                <a:latin typeface="Calibri"/>
                <a:cs typeface="Calibri"/>
              </a:rPr>
              <a:t>The</a:t>
            </a:r>
            <a:r>
              <a:rPr lang="en-US" sz="3200" spc="9" baseline="3413" dirty="0">
                <a:latin typeface="Calibri"/>
                <a:cs typeface="Calibri"/>
              </a:rPr>
              <a:t> </a:t>
            </a:r>
            <a:r>
              <a:rPr lang="en-US" sz="3200" baseline="3413" dirty="0">
                <a:latin typeface="Calibri"/>
                <a:cs typeface="Calibri"/>
              </a:rPr>
              <a:t>so</a:t>
            </a:r>
            <a:r>
              <a:rPr lang="en-US" sz="3200" spc="-9" baseline="3413" dirty="0">
                <a:latin typeface="Calibri"/>
                <a:cs typeface="Calibri"/>
              </a:rPr>
              <a:t> </a:t>
            </a:r>
            <a:r>
              <a:rPr lang="en-US" sz="3200" spc="-19" baseline="3413" dirty="0">
                <a:latin typeface="Calibri"/>
                <a:cs typeface="Calibri"/>
              </a:rPr>
              <a:t>c</a:t>
            </a:r>
            <a:r>
              <a:rPr lang="en-US" sz="3200" spc="4" baseline="3413" dirty="0">
                <a:latin typeface="Calibri"/>
                <a:cs typeface="Calibri"/>
              </a:rPr>
              <a:t>a</a:t>
            </a:r>
            <a:r>
              <a:rPr lang="en-US" sz="3200" baseline="3413" dirty="0">
                <a:latin typeface="Calibri"/>
                <a:cs typeface="Calibri"/>
              </a:rPr>
              <a:t>lled the </a:t>
            </a:r>
            <a:r>
              <a:rPr lang="en-US" sz="3200" baseline="3413" dirty="0">
                <a:solidFill>
                  <a:schemeClr val="accent2"/>
                </a:solidFill>
                <a:latin typeface="Calibri"/>
                <a:cs typeface="Calibri"/>
              </a:rPr>
              <a:t>Total Turing test </a:t>
            </a:r>
            <a:r>
              <a:rPr lang="en-US" sz="3200" baseline="3413" dirty="0">
                <a:latin typeface="Calibri"/>
                <a:cs typeface="Calibri"/>
              </a:rPr>
              <a:t>brings forward the following two requirements.</a:t>
            </a:r>
          </a:p>
          <a:p>
            <a:pPr>
              <a:buFont typeface="Arial" panose="020B0604020202020204" pitchFamily="34" charset="0"/>
              <a:buChar char="•"/>
            </a:pPr>
            <a:r>
              <a:rPr lang="en-US" sz="3200" b="1" u="heavy" spc="-39" baseline="2730" dirty="0">
                <a:solidFill>
                  <a:srgbClr val="0070C0"/>
                </a:solidFill>
                <a:latin typeface="Calibri"/>
                <a:cs typeface="Calibri"/>
              </a:rPr>
              <a:t>R</a:t>
            </a:r>
            <a:r>
              <a:rPr lang="en-US" sz="3200" b="1" u="heavy" baseline="2730" dirty="0">
                <a:solidFill>
                  <a:srgbClr val="0070C0"/>
                </a:solidFill>
                <a:latin typeface="Calibri"/>
                <a:cs typeface="Calibri"/>
              </a:rPr>
              <a:t>obotics</a:t>
            </a:r>
            <a:r>
              <a:rPr lang="en-US" sz="3200" spc="-10" baseline="2730" dirty="0">
                <a:solidFill>
                  <a:srgbClr val="2005E7"/>
                </a:solidFill>
                <a:latin typeface="Calibri"/>
                <a:cs typeface="Calibri"/>
              </a:rPr>
              <a:t> </a:t>
            </a:r>
            <a:r>
              <a:rPr lang="en-US" sz="3200" baseline="2730" dirty="0">
                <a:latin typeface="Calibri"/>
                <a:cs typeface="Calibri"/>
              </a:rPr>
              <a:t>in o</a:t>
            </a:r>
            <a:r>
              <a:rPr lang="en-US" sz="3200" spc="-29" baseline="2730" dirty="0">
                <a:latin typeface="Calibri"/>
                <a:cs typeface="Calibri"/>
              </a:rPr>
              <a:t>r</a:t>
            </a:r>
            <a:r>
              <a:rPr lang="en-US" sz="3200" baseline="2730" dirty="0">
                <a:latin typeface="Calibri"/>
                <a:cs typeface="Calibri"/>
              </a:rPr>
              <a:t>der </a:t>
            </a:r>
            <a:r>
              <a:rPr lang="en-US" sz="3200" spc="-14" baseline="2730" dirty="0">
                <a:latin typeface="Calibri"/>
                <a:cs typeface="Calibri"/>
              </a:rPr>
              <a:t>t</a:t>
            </a:r>
            <a:r>
              <a:rPr lang="en-US" sz="3200" baseline="2730" dirty="0">
                <a:latin typeface="Calibri"/>
                <a:cs typeface="Calibri"/>
              </a:rPr>
              <a:t>o</a:t>
            </a:r>
            <a:r>
              <a:rPr lang="en-US" sz="3200" spc="-10" baseline="2730" dirty="0">
                <a:latin typeface="Calibri"/>
                <a:cs typeface="Calibri"/>
              </a:rPr>
              <a:t> </a:t>
            </a:r>
            <a:r>
              <a:rPr lang="en-US" sz="3200" baseline="2730" dirty="0">
                <a:latin typeface="Calibri"/>
                <a:cs typeface="Calibri"/>
              </a:rPr>
              <a:t>m</a:t>
            </a:r>
            <a:r>
              <a:rPr lang="en-US" sz="3200" spc="-9" baseline="2730" dirty="0">
                <a:latin typeface="Calibri"/>
                <a:cs typeface="Calibri"/>
              </a:rPr>
              <a:t>o</a:t>
            </a:r>
            <a:r>
              <a:rPr lang="en-US" sz="3200" spc="-19" baseline="2730" dirty="0">
                <a:latin typeface="Calibri"/>
                <a:cs typeface="Calibri"/>
              </a:rPr>
              <a:t>v</a:t>
            </a:r>
            <a:r>
              <a:rPr lang="en-US" sz="3200" baseline="2730" dirty="0">
                <a:latin typeface="Calibri"/>
                <a:cs typeface="Calibri"/>
              </a:rPr>
              <a:t>e</a:t>
            </a:r>
            <a:r>
              <a:rPr lang="en-US" sz="3200" spc="-26" baseline="2730" dirty="0">
                <a:latin typeface="Calibri"/>
                <a:cs typeface="Calibri"/>
              </a:rPr>
              <a:t> </a:t>
            </a:r>
            <a:r>
              <a:rPr lang="en-US" sz="3200" baseline="2730" dirty="0">
                <a:latin typeface="Calibri"/>
                <a:cs typeface="Calibri"/>
              </a:rPr>
              <a:t>objects</a:t>
            </a:r>
          </a:p>
          <a:p>
            <a:pPr>
              <a:buFont typeface="Arial" panose="020B0604020202020204" pitchFamily="34" charset="0"/>
              <a:buChar char="•"/>
            </a:pPr>
            <a:r>
              <a:rPr lang="en-US" sz="3200" b="1" u="sng" baseline="2730" dirty="0">
                <a:solidFill>
                  <a:srgbClr val="0070C0"/>
                </a:solidFill>
                <a:latin typeface="Calibri"/>
                <a:cs typeface="Calibri"/>
              </a:rPr>
              <a:t>Computer vision </a:t>
            </a:r>
            <a:r>
              <a:rPr lang="en-US" sz="3200" baseline="2730" dirty="0">
                <a:latin typeface="Calibri"/>
                <a:cs typeface="Calibri"/>
              </a:rPr>
              <a:t>in order to perceive objects</a:t>
            </a:r>
            <a:endParaRPr lang="en-US" dirty="0">
              <a:latin typeface="Calibri"/>
              <a:cs typeface="Calibri"/>
            </a:endParaRPr>
          </a:p>
          <a:p>
            <a:pPr marL="0" indent="0">
              <a:buNone/>
            </a:pPr>
            <a:endParaRPr lang="en-US" sz="3200" dirty="0">
              <a:latin typeface="Calibri"/>
              <a:cs typeface="Calibri"/>
            </a:endParaRPr>
          </a:p>
        </p:txBody>
      </p:sp>
      <p:sp>
        <p:nvSpPr>
          <p:cNvPr id="4" name="object 10">
            <a:extLst>
              <a:ext uri="{FF2B5EF4-FFF2-40B4-BE49-F238E27FC236}">
                <a16:creationId xmlns:a16="http://schemas.microsoft.com/office/drawing/2014/main" id="{B8DB7B65-EB8C-4D26-8B48-61E330D3A1FA}"/>
              </a:ext>
            </a:extLst>
          </p:cNvPr>
          <p:cNvSpPr txBox="1"/>
          <p:nvPr/>
        </p:nvSpPr>
        <p:spPr>
          <a:xfrm>
            <a:off x="1692586" y="4229099"/>
            <a:ext cx="5154134" cy="274570"/>
          </a:xfrm>
          <a:prstGeom prst="rect">
            <a:avLst/>
          </a:prstGeom>
        </p:spPr>
        <p:txBody>
          <a:bodyPr wrap="square" lIns="0" tIns="0" rIns="0" bIns="0" rtlCol="0">
            <a:noAutofit/>
          </a:bodyPr>
          <a:lstStyle/>
          <a:p>
            <a:pPr marL="12700">
              <a:lnSpc>
                <a:spcPts val="2135"/>
              </a:lnSpc>
              <a:spcBef>
                <a:spcPts val="106"/>
              </a:spcBef>
            </a:pPr>
            <a:endParaRPr sz="2000" dirty="0">
              <a:latin typeface="Calibri"/>
              <a:cs typeface="Calibri"/>
            </a:endParaRPr>
          </a:p>
        </p:txBody>
      </p:sp>
    </p:spTree>
    <p:extLst>
      <p:ext uri="{BB962C8B-B14F-4D97-AF65-F5344CB8AC3E}">
        <p14:creationId xmlns:p14="http://schemas.microsoft.com/office/powerpoint/2010/main" val="725303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81C3-EC86-40F5-AEA9-BDFC09C51F70}"/>
              </a:ext>
            </a:extLst>
          </p:cNvPr>
          <p:cNvSpPr>
            <a:spLocks noGrp="1"/>
          </p:cNvSpPr>
          <p:nvPr>
            <p:ph type="title"/>
          </p:nvPr>
        </p:nvSpPr>
        <p:spPr>
          <a:xfrm>
            <a:off x="1484311" y="685800"/>
            <a:ext cx="10018713" cy="849239"/>
          </a:xfrm>
        </p:spPr>
        <p:txBody>
          <a:bodyPr/>
          <a:lstStyle/>
          <a:p>
            <a:r>
              <a:rPr lang="en-US" dirty="0"/>
              <a:t>Systems that act like humans</a:t>
            </a:r>
            <a:endParaRPr lang="x-none" dirty="0"/>
          </a:p>
        </p:txBody>
      </p:sp>
      <p:pic>
        <p:nvPicPr>
          <p:cNvPr id="4" name="Content Placeholder 3">
            <a:extLst>
              <a:ext uri="{FF2B5EF4-FFF2-40B4-BE49-F238E27FC236}">
                <a16:creationId xmlns:a16="http://schemas.microsoft.com/office/drawing/2014/main" id="{64F56E5A-95E6-4518-A16C-667FD4D1E52D}"/>
              </a:ext>
            </a:extLst>
          </p:cNvPr>
          <p:cNvPicPr>
            <a:picLocks noGrp="1" noChangeAspect="1"/>
          </p:cNvPicPr>
          <p:nvPr>
            <p:ph idx="1"/>
          </p:nvPr>
        </p:nvPicPr>
        <p:blipFill>
          <a:blip r:embed="rId2"/>
          <a:stretch>
            <a:fillRect/>
          </a:stretch>
        </p:blipFill>
        <p:spPr>
          <a:xfrm>
            <a:off x="3353409" y="2016125"/>
            <a:ext cx="5799506" cy="3449638"/>
          </a:xfrm>
          <a:prstGeom prst="rect">
            <a:avLst/>
          </a:prstGeom>
        </p:spPr>
      </p:pic>
    </p:spTree>
    <p:extLst>
      <p:ext uri="{BB962C8B-B14F-4D97-AF65-F5344CB8AC3E}">
        <p14:creationId xmlns:p14="http://schemas.microsoft.com/office/powerpoint/2010/main" val="13258158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cs typeface="Trebuchet MS" panose="020B0603020202020204" pitchFamily="34" charset="0"/>
              </a:rPr>
              <a:t>Thinking Humanly</a:t>
            </a:r>
            <a:endParaRPr lang="en-US" dirty="0"/>
          </a:p>
        </p:txBody>
      </p:sp>
      <p:sp>
        <p:nvSpPr>
          <p:cNvPr id="3" name="Content Placeholder 2"/>
          <p:cNvSpPr>
            <a:spLocks noGrp="1"/>
          </p:cNvSpPr>
          <p:nvPr>
            <p:ph idx="1"/>
          </p:nvPr>
        </p:nvSpPr>
        <p:spPr>
          <a:xfrm>
            <a:off x="1484311" y="1777285"/>
            <a:ext cx="10018712" cy="4013915"/>
          </a:xfrm>
        </p:spPr>
        <p:txBody>
          <a:bodyPr>
            <a:normAutofit fontScale="85000" lnSpcReduction="20000"/>
          </a:bodyPr>
          <a:lstStyle/>
          <a:p>
            <a:pPr marL="0" indent="0">
              <a:buNone/>
            </a:pPr>
            <a:br>
              <a:rPr lang="en-US" dirty="0"/>
            </a:br>
            <a:r>
              <a:rPr lang="en-US" dirty="0"/>
              <a:t>•</a:t>
            </a:r>
            <a:r>
              <a:rPr lang="en-US" sz="2800" dirty="0"/>
              <a:t>This requires "getting inside" of the human mind to see how it works and then comparing our computer programs to this. </a:t>
            </a:r>
          </a:p>
          <a:p>
            <a:pPr marL="0" indent="0">
              <a:buNone/>
            </a:pPr>
            <a:r>
              <a:rPr lang="en-US" dirty="0"/>
              <a:t> </a:t>
            </a:r>
            <a:br>
              <a:rPr lang="en-US" sz="3100" dirty="0"/>
            </a:br>
            <a:r>
              <a:rPr lang="en-US" sz="3100" dirty="0"/>
              <a:t>• There are (at least) two possible routes that humans use to find the answer to a question:</a:t>
            </a:r>
            <a:br>
              <a:rPr lang="en-US" sz="3100" dirty="0"/>
            </a:br>
            <a:r>
              <a:rPr lang="en-US" sz="3100" dirty="0"/>
              <a:t>– We reason about it to find the answer. This is called “introspection”.</a:t>
            </a:r>
            <a:br>
              <a:rPr lang="en-US" sz="3100" dirty="0"/>
            </a:br>
            <a:r>
              <a:rPr lang="en-US" sz="3100" dirty="0"/>
              <a:t>– We conduct experiments to find the answer, drawing upon scientific techniques to conduct controlled experiments and measure change.</a:t>
            </a:r>
            <a:br>
              <a:rPr lang="en-US" sz="3100" dirty="0"/>
            </a:br>
            <a:endParaRPr lang="en-US" dirty="0"/>
          </a:p>
        </p:txBody>
      </p:sp>
    </p:spTree>
    <p:extLst>
      <p:ext uri="{BB962C8B-B14F-4D97-AF65-F5344CB8AC3E}">
        <p14:creationId xmlns:p14="http://schemas.microsoft.com/office/powerpoint/2010/main" val="3081127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dirty="0">
                <a:cs typeface="Trebuchet MS" panose="020B0603020202020204" pitchFamily="34" charset="0"/>
              </a:rPr>
              <a:t>Thinking Humanly: Cognitive Modelling</a:t>
            </a:r>
            <a:endParaRPr lang="en-US" dirty="0">
              <a:cs typeface="Trebuchet MS" panose="020B0603020202020204" pitchFamily="34" charset="0"/>
            </a:endParaRPr>
          </a:p>
        </p:txBody>
      </p:sp>
      <p:sp>
        <p:nvSpPr>
          <p:cNvPr id="3" name="Content Placeholder 2"/>
          <p:cNvSpPr>
            <a:spLocks noGrp="1"/>
          </p:cNvSpPr>
          <p:nvPr>
            <p:ph idx="1"/>
          </p:nvPr>
        </p:nvSpPr>
        <p:spPr>
          <a:xfrm>
            <a:off x="1236372" y="2202288"/>
            <a:ext cx="10266651" cy="3588912"/>
          </a:xfrm>
        </p:spPr>
        <p:txBody>
          <a:bodyPr>
            <a:normAutofit/>
          </a:bodyPr>
          <a:lstStyle/>
          <a:p>
            <a:pPr marL="0" indent="0">
              <a:buNone/>
            </a:pPr>
            <a:endParaRPr lang="en-US" dirty="0"/>
          </a:p>
          <a:p>
            <a:r>
              <a:rPr lang="en-US" dirty="0"/>
              <a:t>For example, Allen Newell and Herbert Simon in 1961, who developed GPS, the “General Problem Solver” was an early computer program that attempted to model human thinking (Newell and Simon,1961)</a:t>
            </a:r>
            <a:endParaRPr lang="en-GB" dirty="0"/>
          </a:p>
          <a:p>
            <a:pPr algn="just">
              <a:spcBef>
                <a:spcPct val="0"/>
              </a:spcBef>
              <a:buClr>
                <a:schemeClr val="tx1"/>
              </a:buClr>
              <a:buSzPct val="120000"/>
            </a:pPr>
            <a:r>
              <a:rPr lang="en-US" dirty="0"/>
              <a:t>The developers were not so much interested in whether or not GPS solved problems correctly.</a:t>
            </a:r>
            <a:endParaRPr lang="en-GB" dirty="0"/>
          </a:p>
          <a:p>
            <a:pPr algn="just">
              <a:spcBef>
                <a:spcPct val="0"/>
              </a:spcBef>
              <a:buClr>
                <a:schemeClr val="tx1"/>
              </a:buClr>
              <a:buSzPct val="120000"/>
            </a:pPr>
            <a:r>
              <a:rPr lang="en-US" dirty="0"/>
              <a:t>They were more interested in showing that it solved problems like people, going through the same steps and taking around the same amount of time to perform those steps.</a:t>
            </a:r>
            <a:r>
              <a:rPr lang="en-GB" dirty="0"/>
              <a:t>.</a:t>
            </a:r>
          </a:p>
          <a:p>
            <a:pPr algn="just">
              <a:spcBef>
                <a:spcPct val="0"/>
              </a:spcBef>
              <a:buClr>
                <a:schemeClr val="tx1"/>
              </a:buClr>
              <a:buSzPct val="120000"/>
            </a:pPr>
            <a:r>
              <a:rPr lang="en-US" dirty="0"/>
              <a:t>This is what </a:t>
            </a:r>
            <a:r>
              <a:rPr lang="en-US" b="1" i="1" dirty="0"/>
              <a:t>cognitive</a:t>
            </a:r>
            <a:r>
              <a:rPr lang="en-US" b="1" dirty="0"/>
              <a:t> </a:t>
            </a:r>
            <a:r>
              <a:rPr lang="en-US" b="1" i="1" dirty="0"/>
              <a:t>science</a:t>
            </a:r>
            <a:r>
              <a:rPr lang="en-US" dirty="0"/>
              <a:t> attempts to do. Another way to do this is to observe a human problem solving and argue that one's programs go about problem solving in a similar way.</a:t>
            </a:r>
          </a:p>
        </p:txBody>
      </p:sp>
    </p:spTree>
    <p:extLst>
      <p:ext uri="{BB962C8B-B14F-4D97-AF65-F5344CB8AC3E}">
        <p14:creationId xmlns:p14="http://schemas.microsoft.com/office/powerpoint/2010/main" val="12876892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cs typeface="Trebuchet MS" panose="020B0603020202020204" pitchFamily="34" charset="0"/>
              </a:rPr>
              <a:t>Thinking Rationally:</a:t>
            </a:r>
            <a:r>
              <a:rPr lang="en-US" dirty="0"/>
              <a:t>The “laws of thought” approach</a:t>
            </a:r>
          </a:p>
        </p:txBody>
      </p:sp>
      <p:sp>
        <p:nvSpPr>
          <p:cNvPr id="3" name="Content Placeholder 2"/>
          <p:cNvSpPr>
            <a:spLocks noGrp="1"/>
          </p:cNvSpPr>
          <p:nvPr>
            <p:ph idx="1"/>
          </p:nvPr>
        </p:nvSpPr>
        <p:spPr/>
        <p:txBody>
          <a:bodyPr>
            <a:normAutofit/>
          </a:bodyPr>
          <a:lstStyle/>
          <a:p>
            <a:r>
              <a:rPr lang="en-US" dirty="0"/>
              <a:t>Aristotle was one of the first to attempt to codify "thinking".</a:t>
            </a:r>
          </a:p>
          <a:p>
            <a:r>
              <a:rPr lang="en-US" dirty="0"/>
              <a:t>Approach is to model how we should think.</a:t>
            </a:r>
          </a:p>
          <a:p>
            <a:r>
              <a:rPr lang="en-US" dirty="0"/>
              <a:t>This was the first step toward enabling computer programs to reason logically.</a:t>
            </a:r>
          </a:p>
          <a:p>
            <a:r>
              <a:rPr lang="en-US" dirty="0"/>
              <a:t>By 1965, programs existed that could, given enough time and memory, take a description of the problem in logical notation and find the solution, if one existed. The </a:t>
            </a:r>
            <a:r>
              <a:rPr lang="en-US" b="1" dirty="0" err="1"/>
              <a:t>logicist</a:t>
            </a:r>
            <a:r>
              <a:rPr lang="en-US" dirty="0"/>
              <a:t> tradition in AI hopes to build on such programs to create intelligence.</a:t>
            </a:r>
          </a:p>
          <a:p>
            <a:endParaRPr lang="en-US" dirty="0"/>
          </a:p>
          <a:p>
            <a:endParaRPr lang="en-US" dirty="0"/>
          </a:p>
        </p:txBody>
      </p:sp>
    </p:spTree>
    <p:extLst>
      <p:ext uri="{BB962C8B-B14F-4D97-AF65-F5344CB8AC3E}">
        <p14:creationId xmlns:p14="http://schemas.microsoft.com/office/powerpoint/2010/main" val="488204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cs typeface="Trebuchet MS" panose="020B0603020202020204" pitchFamily="34" charset="0"/>
              </a:rPr>
              <a:t>Thinking Rationally:</a:t>
            </a:r>
            <a:r>
              <a:rPr lang="en-US" dirty="0"/>
              <a:t>The “laws of thought” approach</a:t>
            </a:r>
          </a:p>
        </p:txBody>
      </p:sp>
      <p:sp>
        <p:nvSpPr>
          <p:cNvPr id="3" name="Content Placeholder 2"/>
          <p:cNvSpPr>
            <a:spLocks noGrp="1"/>
          </p:cNvSpPr>
          <p:nvPr>
            <p:ph idx="1"/>
          </p:nvPr>
        </p:nvSpPr>
        <p:spPr>
          <a:xfrm>
            <a:off x="1484310" y="2438399"/>
            <a:ext cx="10018713" cy="3876676"/>
          </a:xfrm>
        </p:spPr>
        <p:txBody>
          <a:bodyPr>
            <a:normAutofit fontScale="85000" lnSpcReduction="20000"/>
          </a:bodyPr>
          <a:lstStyle/>
          <a:p>
            <a:r>
              <a:rPr lang="en-US" sz="2600" dirty="0"/>
              <a:t>The “thinking rationally” approach to AI uses symbolic logic to capture the laws of rational thought as symbols that can be manipulated.</a:t>
            </a:r>
          </a:p>
          <a:p>
            <a:r>
              <a:rPr lang="en-US" sz="2600" dirty="0"/>
              <a:t>Reasoning involves manipulating the symbols according to well-defined rules, kind of like algebra.</a:t>
            </a:r>
          </a:p>
          <a:p>
            <a:pPr marL="0" indent="0">
              <a:buNone/>
            </a:pPr>
            <a:endParaRPr lang="en-US" sz="2600" dirty="0"/>
          </a:p>
          <a:p>
            <a:r>
              <a:rPr lang="en-US" dirty="0"/>
              <a:t>for example, </a:t>
            </a:r>
          </a:p>
          <a:p>
            <a:pPr marL="0" indent="0">
              <a:buNone/>
            </a:pPr>
            <a:r>
              <a:rPr lang="en-US" sz="2600" dirty="0"/>
              <a:t>	</a:t>
            </a:r>
            <a:r>
              <a:rPr lang="en-US" sz="2800" dirty="0"/>
              <a:t> </a:t>
            </a:r>
            <a:r>
              <a:rPr lang="en-US" sz="2800" i="1" dirty="0"/>
              <a:t>“Socrates is a man; all men are mortal; therefore, Socrates is mortal.”</a:t>
            </a:r>
            <a:endParaRPr lang="en-US" sz="2600" i="1" dirty="0"/>
          </a:p>
          <a:p>
            <a:pPr marL="0" indent="0">
              <a:buNone/>
            </a:pPr>
            <a:r>
              <a:rPr lang="en-US" i="1" dirty="0"/>
              <a:t>	“All computers use energy. Using energy always generates heat. Therefore, all computers generate heat.”</a:t>
            </a:r>
          </a:p>
          <a:p>
            <a:pPr marL="0" indent="0">
              <a:buNone/>
            </a:pPr>
            <a:r>
              <a:rPr lang="en-US" dirty="0"/>
              <a:t>	</a:t>
            </a:r>
          </a:p>
          <a:p>
            <a:pPr marL="0" indent="0">
              <a:buNone/>
            </a:pPr>
            <a:endParaRPr lang="en-US" dirty="0"/>
          </a:p>
        </p:txBody>
      </p:sp>
    </p:spTree>
    <p:extLst>
      <p:ext uri="{BB962C8B-B14F-4D97-AF65-F5344CB8AC3E}">
        <p14:creationId xmlns:p14="http://schemas.microsoft.com/office/powerpoint/2010/main" val="30360855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cs typeface="Trebuchet MS" panose="020B0603020202020204" pitchFamily="34" charset="0"/>
              </a:rPr>
              <a:t>Thinking Rationally:</a:t>
            </a:r>
            <a:r>
              <a:rPr lang="en-US" dirty="0"/>
              <a:t>The “laws of thought” approach</a:t>
            </a:r>
          </a:p>
        </p:txBody>
      </p:sp>
      <p:sp>
        <p:nvSpPr>
          <p:cNvPr id="3" name="Content Placeholder 2"/>
          <p:cNvSpPr>
            <a:spLocks noGrp="1"/>
          </p:cNvSpPr>
          <p:nvPr>
            <p:ph idx="1"/>
          </p:nvPr>
        </p:nvSpPr>
        <p:spPr>
          <a:xfrm>
            <a:off x="1484310" y="2438399"/>
            <a:ext cx="10018713" cy="3876676"/>
          </a:xfrm>
        </p:spPr>
        <p:txBody>
          <a:bodyPr>
            <a:normAutofit/>
          </a:bodyPr>
          <a:lstStyle/>
          <a:p>
            <a:pPr marL="0" indent="0">
              <a:buNone/>
            </a:pPr>
            <a:r>
              <a:rPr lang="en-US" dirty="0"/>
              <a:t>There are two main obstacles to this approach: </a:t>
            </a:r>
          </a:p>
          <a:p>
            <a:r>
              <a:rPr lang="en-US" dirty="0"/>
              <a:t>First, it is difficult to make informal knowledge precise enough to use the </a:t>
            </a:r>
            <a:r>
              <a:rPr lang="en-US" dirty="0" err="1"/>
              <a:t>logicist</a:t>
            </a:r>
            <a:r>
              <a:rPr lang="en-US" dirty="0"/>
              <a:t> approach particularly when there is uncertainty in the knowledge.</a:t>
            </a:r>
          </a:p>
          <a:p>
            <a:r>
              <a:rPr lang="en-US" dirty="0"/>
              <a:t>Second, there is a big difference between being able to solve a problem in principle and doing so in practice.</a:t>
            </a:r>
          </a:p>
        </p:txBody>
      </p:sp>
    </p:spTree>
    <p:extLst>
      <p:ext uri="{BB962C8B-B14F-4D97-AF65-F5344CB8AC3E}">
        <p14:creationId xmlns:p14="http://schemas.microsoft.com/office/powerpoint/2010/main" val="7193659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cs typeface="Trebuchet MS" panose="020B0603020202020204" pitchFamily="34" charset="0"/>
              </a:rPr>
              <a:t>Acting Rationally: The Rational Agent Approach</a:t>
            </a:r>
            <a:endParaRPr lang="en-US" dirty="0"/>
          </a:p>
        </p:txBody>
      </p:sp>
      <p:sp>
        <p:nvSpPr>
          <p:cNvPr id="3" name="Content Placeholder 2"/>
          <p:cNvSpPr>
            <a:spLocks noGrp="1"/>
          </p:cNvSpPr>
          <p:nvPr>
            <p:ph idx="1"/>
          </p:nvPr>
        </p:nvSpPr>
        <p:spPr/>
        <p:txBody>
          <a:bodyPr>
            <a:normAutofit/>
          </a:bodyPr>
          <a:lstStyle/>
          <a:p>
            <a:pPr algn="just">
              <a:spcBef>
                <a:spcPct val="0"/>
              </a:spcBef>
              <a:buClr>
                <a:schemeClr val="tx1"/>
              </a:buClr>
              <a:buSzPct val="84000"/>
              <a:buFont typeface="Wingdings" panose="05000000000000000000" pitchFamily="2" charset="2"/>
              <a:buChar char="Ø"/>
              <a:defRPr/>
            </a:pPr>
            <a:r>
              <a:rPr lang="en-GB" dirty="0">
                <a:solidFill>
                  <a:schemeClr val="tx1">
                    <a:lumMod val="75000"/>
                    <a:lumOff val="25000"/>
                  </a:schemeClr>
                </a:solidFill>
              </a:rPr>
              <a:t>Acting so, as to achieve one’s goals, given one’s beliefs. </a:t>
            </a:r>
          </a:p>
          <a:p>
            <a:pPr algn="just">
              <a:spcBef>
                <a:spcPct val="0"/>
              </a:spcBef>
              <a:buClr>
                <a:schemeClr val="tx1"/>
              </a:buClr>
              <a:buSzPct val="84000"/>
              <a:buFont typeface="Wingdings" panose="05000000000000000000" pitchFamily="2" charset="2"/>
              <a:buChar char="Ø"/>
              <a:defRPr/>
            </a:pPr>
            <a:r>
              <a:rPr lang="en-GB" dirty="0">
                <a:solidFill>
                  <a:schemeClr val="tx1">
                    <a:lumMod val="75000"/>
                    <a:lumOff val="25000"/>
                  </a:schemeClr>
                </a:solidFill>
              </a:rPr>
              <a:t>Does not necessarily involve thinking.</a:t>
            </a:r>
          </a:p>
          <a:p>
            <a:pPr algn="just">
              <a:spcBef>
                <a:spcPct val="0"/>
              </a:spcBef>
              <a:buClr>
                <a:schemeClr val="tx1"/>
              </a:buClr>
              <a:buSzPct val="81000"/>
              <a:buFont typeface="Wingdings" panose="05000000000000000000" pitchFamily="2" charset="2"/>
              <a:buChar char="Ø"/>
              <a:defRPr/>
            </a:pPr>
            <a:r>
              <a:rPr lang="en-US" dirty="0"/>
              <a:t>In the logical approach to AI, the emphasis is on correct inferences.</a:t>
            </a:r>
          </a:p>
          <a:p>
            <a:r>
              <a:rPr lang="en-US" dirty="0"/>
              <a:t>But this is not all of rationality because agents often find themselves in situations where there is no provably correct thing to do, yet they must do something.</a:t>
            </a:r>
          </a:p>
          <a:p>
            <a:r>
              <a:rPr lang="en-US" dirty="0"/>
              <a:t>There are also ways to act rationally that do not seem to involve inference, e.g., reflex actions.</a:t>
            </a:r>
          </a:p>
          <a:p>
            <a:pPr algn="just">
              <a:spcBef>
                <a:spcPct val="0"/>
              </a:spcBef>
              <a:buClr>
                <a:schemeClr val="tx1"/>
              </a:buClr>
              <a:buSzPct val="81000"/>
              <a:buFont typeface="Wingdings" panose="05000000000000000000" pitchFamily="2" charset="2"/>
              <a:buChar char="Ø"/>
              <a:defRPr/>
            </a:pPr>
            <a:endParaRPr lang="en-GB" dirty="0">
              <a:solidFill>
                <a:schemeClr val="tx1">
                  <a:lumMod val="75000"/>
                  <a:lumOff val="25000"/>
                </a:schemeClr>
              </a:solidFill>
            </a:endParaRPr>
          </a:p>
          <a:p>
            <a:pPr>
              <a:spcBef>
                <a:spcPct val="0"/>
              </a:spcBef>
              <a:buClr>
                <a:schemeClr val="tx1"/>
              </a:buClr>
              <a:buSzPct val="120000"/>
              <a:buNone/>
              <a:defRPr/>
            </a:pPr>
            <a:endParaRPr lang="en-GB" sz="2000" dirty="0">
              <a:solidFill>
                <a:schemeClr val="tx1">
                  <a:lumMod val="75000"/>
                  <a:lumOff val="25000"/>
                </a:schemeClr>
              </a:solidFill>
            </a:endParaRPr>
          </a:p>
          <a:p>
            <a:endParaRPr lang="en-US" dirty="0"/>
          </a:p>
        </p:txBody>
      </p:sp>
    </p:spTree>
    <p:extLst>
      <p:ext uri="{BB962C8B-B14F-4D97-AF65-F5344CB8AC3E}">
        <p14:creationId xmlns:p14="http://schemas.microsoft.com/office/powerpoint/2010/main" val="24472429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cs typeface="Trebuchet MS" panose="020B0603020202020204" pitchFamily="34" charset="0"/>
              </a:rPr>
              <a:t>Acting Rationally: The Rational Agent Approach</a:t>
            </a:r>
            <a:endParaRPr lang="en-US" dirty="0"/>
          </a:p>
        </p:txBody>
      </p:sp>
      <p:sp>
        <p:nvSpPr>
          <p:cNvPr id="3" name="Content Placeholder 2"/>
          <p:cNvSpPr>
            <a:spLocks noGrp="1"/>
          </p:cNvSpPr>
          <p:nvPr>
            <p:ph idx="1"/>
          </p:nvPr>
        </p:nvSpPr>
        <p:spPr/>
        <p:txBody>
          <a:bodyPr>
            <a:normAutofit/>
          </a:bodyPr>
          <a:lstStyle/>
          <a:p>
            <a:pPr marL="0" indent="0">
              <a:buNone/>
            </a:pPr>
            <a:r>
              <a:rPr lang="en-US" dirty="0"/>
              <a:t>Advantages:</a:t>
            </a:r>
          </a:p>
          <a:p>
            <a:r>
              <a:rPr lang="en-US" dirty="0"/>
              <a:t>It is more general than the logical approach because correct inference is only a useful mechanism for achieving rationality, not a necessary one.</a:t>
            </a:r>
          </a:p>
          <a:p>
            <a:r>
              <a:rPr lang="en-US" dirty="0"/>
              <a:t>It is more amenable to scientific development than approaches based on human </a:t>
            </a:r>
            <a:r>
              <a:rPr lang="en-US" dirty="0" err="1"/>
              <a:t>behaviour</a:t>
            </a:r>
            <a:r>
              <a:rPr lang="en-US" dirty="0"/>
              <a:t> because a standard of rationality can be defined independent of humans.</a:t>
            </a:r>
          </a:p>
        </p:txBody>
      </p:sp>
    </p:spTree>
    <p:extLst>
      <p:ext uri="{BB962C8B-B14F-4D97-AF65-F5344CB8AC3E}">
        <p14:creationId xmlns:p14="http://schemas.microsoft.com/office/powerpoint/2010/main" val="388489039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F6B8D-518C-443C-805D-1793424F8C10}"/>
              </a:ext>
            </a:extLst>
          </p:cNvPr>
          <p:cNvSpPr>
            <a:spLocks noGrp="1"/>
          </p:cNvSpPr>
          <p:nvPr>
            <p:ph type="title"/>
          </p:nvPr>
        </p:nvSpPr>
        <p:spPr>
          <a:xfrm>
            <a:off x="1484311" y="685800"/>
            <a:ext cx="10018713" cy="326559"/>
          </a:xfrm>
        </p:spPr>
        <p:txBody>
          <a:bodyPr>
            <a:normAutofit fontScale="90000"/>
          </a:bodyPr>
          <a:lstStyle/>
          <a:p>
            <a:r>
              <a:rPr lang="en-US" dirty="0"/>
              <a:t>AI Tree</a:t>
            </a:r>
            <a:endParaRPr lang="x-none" dirty="0"/>
          </a:p>
        </p:txBody>
      </p:sp>
      <p:pic>
        <p:nvPicPr>
          <p:cNvPr id="4" name="Content Placeholder 3">
            <a:extLst>
              <a:ext uri="{FF2B5EF4-FFF2-40B4-BE49-F238E27FC236}">
                <a16:creationId xmlns:a16="http://schemas.microsoft.com/office/drawing/2014/main" id="{D38A407F-FB69-4102-82E8-97F0A97C51A1}"/>
              </a:ext>
            </a:extLst>
          </p:cNvPr>
          <p:cNvPicPr>
            <a:picLocks noGrp="1" noChangeAspect="1"/>
          </p:cNvPicPr>
          <p:nvPr>
            <p:ph idx="1"/>
          </p:nvPr>
        </p:nvPicPr>
        <p:blipFill>
          <a:blip r:embed="rId2"/>
          <a:stretch>
            <a:fillRect/>
          </a:stretch>
        </p:blipFill>
        <p:spPr>
          <a:xfrm>
            <a:off x="2442575" y="1097509"/>
            <a:ext cx="8567803" cy="5559263"/>
          </a:xfrm>
          <a:prstGeom prst="rect">
            <a:avLst/>
          </a:prstGeom>
        </p:spPr>
      </p:pic>
    </p:spTree>
    <p:extLst>
      <p:ext uri="{BB962C8B-B14F-4D97-AF65-F5344CB8AC3E}">
        <p14:creationId xmlns:p14="http://schemas.microsoft.com/office/powerpoint/2010/main" val="161141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Types of AI</a:t>
            </a:r>
          </a:p>
        </p:txBody>
      </p:sp>
      <p:sp>
        <p:nvSpPr>
          <p:cNvPr id="3" name="Content Placeholder 2"/>
          <p:cNvSpPr>
            <a:spLocks noGrp="1"/>
          </p:cNvSpPr>
          <p:nvPr>
            <p:ph idx="1"/>
          </p:nvPr>
        </p:nvSpPr>
        <p:spPr/>
        <p:txBody>
          <a:bodyPr/>
          <a:lstStyle/>
          <a:p>
            <a:r>
              <a:rPr lang="en-GB" dirty="0"/>
              <a:t>Reactive Artificial Intelligence </a:t>
            </a:r>
          </a:p>
          <a:p>
            <a:r>
              <a:rPr lang="en-GB" dirty="0"/>
              <a:t> Theory of Mind AI </a:t>
            </a:r>
          </a:p>
          <a:p>
            <a:r>
              <a:rPr lang="en-GB" dirty="0"/>
              <a:t>Limited Memory AI </a:t>
            </a:r>
          </a:p>
          <a:p>
            <a:r>
              <a:rPr lang="en-GB" dirty="0"/>
              <a:t>Self-Aware AI</a:t>
            </a:r>
          </a:p>
        </p:txBody>
      </p:sp>
    </p:spTree>
    <p:extLst>
      <p:ext uri="{BB962C8B-B14F-4D97-AF65-F5344CB8AC3E}">
        <p14:creationId xmlns:p14="http://schemas.microsoft.com/office/powerpoint/2010/main" val="203330877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Reactive Artificial Intelligence </a:t>
            </a:r>
            <a:br>
              <a:rPr lang="en-GB" dirty="0"/>
            </a:br>
            <a:endParaRPr lang="en-GB" dirty="0"/>
          </a:p>
        </p:txBody>
      </p:sp>
      <p:sp>
        <p:nvSpPr>
          <p:cNvPr id="3" name="Content Placeholder 2"/>
          <p:cNvSpPr>
            <a:spLocks noGrp="1"/>
          </p:cNvSpPr>
          <p:nvPr>
            <p:ph idx="1"/>
          </p:nvPr>
        </p:nvSpPr>
        <p:spPr/>
        <p:txBody>
          <a:bodyPr>
            <a:normAutofit/>
          </a:bodyPr>
          <a:lstStyle/>
          <a:p>
            <a:r>
              <a:rPr lang="en-GB" dirty="0"/>
              <a:t>Machines and systems based on this type of AI neither have a concept of the past, historic data and inferences from it nor the ability to conceive a future.</a:t>
            </a:r>
          </a:p>
          <a:p>
            <a:r>
              <a:rPr lang="en-GB" dirty="0"/>
              <a:t>Such machines work on the present, a scenario or a task that is right in front of them.</a:t>
            </a:r>
          </a:p>
          <a:p>
            <a:r>
              <a:rPr lang="en-GB" dirty="0"/>
              <a:t>A popular example of a reactive AI machine is </a:t>
            </a:r>
            <a:r>
              <a:rPr lang="en-GB" b="1" dirty="0"/>
              <a:t>IBM's Deep Blue</a:t>
            </a:r>
            <a:r>
              <a:rPr lang="en-GB" dirty="0"/>
              <a:t>, a machine that beat chess Grandmaster Garry Kasparov in 1997. </a:t>
            </a:r>
            <a:r>
              <a:rPr lang="en-US" dirty="0"/>
              <a:t>Spam filters, Netflix recommendation engine etc.</a:t>
            </a:r>
          </a:p>
          <a:p>
            <a:endParaRPr lang="en-GB" dirty="0"/>
          </a:p>
        </p:txBody>
      </p:sp>
    </p:spTree>
    <p:extLst>
      <p:ext uri="{BB962C8B-B14F-4D97-AF65-F5344CB8AC3E}">
        <p14:creationId xmlns:p14="http://schemas.microsoft.com/office/powerpoint/2010/main" val="39450930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Theory of Mind AI </a:t>
            </a:r>
            <a:br>
              <a:rPr lang="en-GB" dirty="0"/>
            </a:br>
            <a:endParaRPr lang="en-GB" dirty="0"/>
          </a:p>
        </p:txBody>
      </p:sp>
      <p:sp>
        <p:nvSpPr>
          <p:cNvPr id="3" name="Content Placeholder 2"/>
          <p:cNvSpPr>
            <a:spLocks noGrp="1"/>
          </p:cNvSpPr>
          <p:nvPr>
            <p:ph idx="1"/>
          </p:nvPr>
        </p:nvSpPr>
        <p:spPr>
          <a:xfrm>
            <a:off x="1484311" y="2074985"/>
            <a:ext cx="10215320" cy="4149969"/>
          </a:xfrm>
        </p:spPr>
        <p:txBody>
          <a:bodyPr>
            <a:normAutofit/>
          </a:bodyPr>
          <a:lstStyle/>
          <a:p>
            <a:r>
              <a:rPr lang="en-GB" dirty="0"/>
              <a:t>The theory of mind AI will focus mainly on emotional intelligence so that human thoughts and believes can be better comprehended. It is more on the books and science fiction movies.</a:t>
            </a:r>
          </a:p>
          <a:p>
            <a:pPr algn="just"/>
            <a:r>
              <a:rPr lang="en-GB" dirty="0"/>
              <a:t>Computers equipped with this kind of AI will be able to understand emotions, and they will be able to differentiate between various emotions of different people. This kind of AI is a work-in-progress.</a:t>
            </a:r>
          </a:p>
          <a:p>
            <a:pPr algn="just"/>
            <a:r>
              <a:rPr lang="en-GB" dirty="0"/>
              <a:t>A humanoid robot Sophia can come in this type.</a:t>
            </a:r>
          </a:p>
        </p:txBody>
      </p:sp>
    </p:spTree>
    <p:extLst>
      <p:ext uri="{BB962C8B-B14F-4D97-AF65-F5344CB8AC3E}">
        <p14:creationId xmlns:p14="http://schemas.microsoft.com/office/powerpoint/2010/main" val="26514310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Limited Memory AI </a:t>
            </a:r>
            <a:br>
              <a:rPr lang="en-GB" dirty="0"/>
            </a:br>
            <a:endParaRPr lang="en-GB" dirty="0"/>
          </a:p>
        </p:txBody>
      </p:sp>
      <p:sp>
        <p:nvSpPr>
          <p:cNvPr id="3" name="Content Placeholder 2"/>
          <p:cNvSpPr>
            <a:spLocks noGrp="1"/>
          </p:cNvSpPr>
          <p:nvPr>
            <p:ph idx="1"/>
          </p:nvPr>
        </p:nvSpPr>
        <p:spPr/>
        <p:txBody>
          <a:bodyPr>
            <a:normAutofit/>
          </a:bodyPr>
          <a:lstStyle/>
          <a:p>
            <a:r>
              <a:rPr lang="en-GB" dirty="0"/>
              <a:t>The memory in such systems is short lived.</a:t>
            </a:r>
          </a:p>
          <a:p>
            <a:r>
              <a:rPr lang="en-GB" dirty="0"/>
              <a:t>Such systems can go back to their past for a short time and learn from it.</a:t>
            </a:r>
          </a:p>
          <a:p>
            <a:r>
              <a:rPr lang="en-GB" b="1" dirty="0"/>
              <a:t>Self-driving cars</a:t>
            </a:r>
            <a:r>
              <a:rPr lang="en-GB" dirty="0"/>
              <a:t> are one of the best examples of Limited Memory systems. These cars can store recent speed of nearby cars, the distance of other cars, speed limit, and other information to navigate the road.</a:t>
            </a:r>
          </a:p>
        </p:txBody>
      </p:sp>
    </p:spTree>
    <p:extLst>
      <p:ext uri="{BB962C8B-B14F-4D97-AF65-F5344CB8AC3E}">
        <p14:creationId xmlns:p14="http://schemas.microsoft.com/office/powerpoint/2010/main" val="20539266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7049" y="662354"/>
            <a:ext cx="10018713" cy="474785"/>
          </a:xfrm>
        </p:spPr>
        <p:txBody>
          <a:bodyPr>
            <a:normAutofit fontScale="90000"/>
          </a:bodyPr>
          <a:lstStyle/>
          <a:p>
            <a:r>
              <a:rPr lang="en-GB" dirty="0"/>
              <a:t>Self-Aware AI</a:t>
            </a:r>
            <a:br>
              <a:rPr lang="en-GB" dirty="0"/>
            </a:br>
            <a:endParaRPr lang="en-GB" dirty="0"/>
          </a:p>
        </p:txBody>
      </p:sp>
      <p:sp>
        <p:nvSpPr>
          <p:cNvPr id="3" name="Content Placeholder 2"/>
          <p:cNvSpPr>
            <a:spLocks noGrp="1"/>
          </p:cNvSpPr>
          <p:nvPr>
            <p:ph idx="1"/>
          </p:nvPr>
        </p:nvSpPr>
        <p:spPr>
          <a:xfrm>
            <a:off x="1613264" y="1342292"/>
            <a:ext cx="10018713" cy="3124201"/>
          </a:xfrm>
        </p:spPr>
        <p:txBody>
          <a:bodyPr/>
          <a:lstStyle/>
          <a:p>
            <a:r>
              <a:rPr lang="en-GB" dirty="0"/>
              <a:t>Self-aware artificial intelligence is an extension of the Theory of Mind class of artificial intelligence.</a:t>
            </a:r>
          </a:p>
          <a:p>
            <a:r>
              <a:rPr lang="en-GB" dirty="0"/>
              <a:t>In this type of artificial intelligence, machines or robots have their own consciousness and are aware of who they are, understand their internal traits, states and conditions and even perceive human emotions.</a:t>
            </a:r>
          </a:p>
          <a:p>
            <a:r>
              <a:rPr lang="en-GB" dirty="0"/>
              <a:t>Does not exist yet.</a:t>
            </a:r>
          </a:p>
        </p:txBody>
      </p:sp>
      <p:pic>
        <p:nvPicPr>
          <p:cNvPr id="4" name="Picture 3"/>
          <p:cNvPicPr>
            <a:picLocks noChangeAspect="1"/>
          </p:cNvPicPr>
          <p:nvPr/>
        </p:nvPicPr>
        <p:blipFill>
          <a:blip r:embed="rId2"/>
          <a:stretch>
            <a:fillRect/>
          </a:stretch>
        </p:blipFill>
        <p:spPr>
          <a:xfrm>
            <a:off x="7228742" y="4010025"/>
            <a:ext cx="3924300" cy="2847975"/>
          </a:xfrm>
          <a:prstGeom prst="rect">
            <a:avLst/>
          </a:prstGeom>
        </p:spPr>
      </p:pic>
    </p:spTree>
    <p:extLst>
      <p:ext uri="{BB962C8B-B14F-4D97-AF65-F5344CB8AC3E}">
        <p14:creationId xmlns:p14="http://schemas.microsoft.com/office/powerpoint/2010/main" val="24487671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Stages of AI</a:t>
            </a:r>
          </a:p>
        </p:txBody>
      </p:sp>
      <p:sp>
        <p:nvSpPr>
          <p:cNvPr id="3" name="Content Placeholder 2"/>
          <p:cNvSpPr>
            <a:spLocks noGrp="1"/>
          </p:cNvSpPr>
          <p:nvPr>
            <p:ph idx="1"/>
          </p:nvPr>
        </p:nvSpPr>
        <p:spPr/>
        <p:txBody>
          <a:bodyPr/>
          <a:lstStyle/>
          <a:p>
            <a:r>
              <a:rPr lang="en-GB" dirty="0"/>
              <a:t>Artificial Narrow Intelligence (ANI)</a:t>
            </a:r>
          </a:p>
          <a:p>
            <a:r>
              <a:rPr lang="en-GB" dirty="0"/>
              <a:t>Artificial General Intelligence (AGI)</a:t>
            </a:r>
          </a:p>
          <a:p>
            <a:r>
              <a:rPr lang="en-GB" dirty="0"/>
              <a:t>Artificial Super Intelligence (ASI)</a:t>
            </a:r>
          </a:p>
        </p:txBody>
      </p:sp>
    </p:spTree>
    <p:extLst>
      <p:ext uri="{BB962C8B-B14F-4D97-AF65-F5344CB8AC3E}">
        <p14:creationId xmlns:p14="http://schemas.microsoft.com/office/powerpoint/2010/main" val="34889287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Artificial Narrow Intelligence (ANI)</a:t>
            </a:r>
            <a:br>
              <a:rPr lang="en-GB" dirty="0"/>
            </a:br>
            <a:endParaRPr lang="en-GB" dirty="0"/>
          </a:p>
        </p:txBody>
      </p:sp>
      <p:sp>
        <p:nvSpPr>
          <p:cNvPr id="3" name="Content Placeholder 2"/>
          <p:cNvSpPr>
            <a:spLocks noGrp="1"/>
          </p:cNvSpPr>
          <p:nvPr>
            <p:ph idx="1"/>
          </p:nvPr>
        </p:nvSpPr>
        <p:spPr>
          <a:xfrm>
            <a:off x="1395046" y="2215663"/>
            <a:ext cx="10107977" cy="3575538"/>
          </a:xfrm>
        </p:spPr>
        <p:txBody>
          <a:bodyPr>
            <a:normAutofit fontScale="92500"/>
          </a:bodyPr>
          <a:lstStyle/>
          <a:p>
            <a:r>
              <a:rPr lang="en-GB" dirty="0"/>
              <a:t>The first stage ANI, is also called weak AI is for example, on par with an infant. </a:t>
            </a:r>
          </a:p>
          <a:p>
            <a:r>
              <a:rPr lang="en-GB" dirty="0"/>
              <a:t>As the name suggests, is limited in scope with intelligence restricted to only one functional area.</a:t>
            </a:r>
          </a:p>
          <a:p>
            <a:r>
              <a:rPr lang="en-US" dirty="0"/>
              <a:t>ANI is the thinking focused towards the development of technology capable of carrying out pre-planned moves based on some rules and applying these to achieve a certain goal.</a:t>
            </a:r>
          </a:p>
          <a:p>
            <a:r>
              <a:rPr lang="en-US" dirty="0"/>
              <a:t>The principle behind Weak AI is simply the fact that machines can be made to act as if they are intelligent.</a:t>
            </a:r>
          </a:p>
          <a:p>
            <a:r>
              <a:rPr lang="en-GB" b="1" dirty="0"/>
              <a:t>IBM's Watson supercomputer, expert systems and the self-driving car</a:t>
            </a:r>
            <a:r>
              <a:rPr lang="en-GB" dirty="0"/>
              <a:t> are all examples of weak or narrow AI.</a:t>
            </a:r>
            <a:endParaRPr lang="en-US" dirty="0"/>
          </a:p>
        </p:txBody>
      </p:sp>
    </p:spTree>
    <p:extLst>
      <p:ext uri="{BB962C8B-B14F-4D97-AF65-F5344CB8AC3E}">
        <p14:creationId xmlns:p14="http://schemas.microsoft.com/office/powerpoint/2010/main" val="422314057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Artificial General Intelligence (AGI)</a:t>
            </a:r>
            <a:br>
              <a:rPr lang="en-GB" dirty="0"/>
            </a:br>
            <a:endParaRPr lang="en-GB" dirty="0"/>
          </a:p>
        </p:txBody>
      </p:sp>
      <p:sp>
        <p:nvSpPr>
          <p:cNvPr id="3" name="Content Placeholder 2"/>
          <p:cNvSpPr>
            <a:spLocks noGrp="1"/>
          </p:cNvSpPr>
          <p:nvPr>
            <p:ph idx="1"/>
          </p:nvPr>
        </p:nvSpPr>
        <p:spPr>
          <a:xfrm>
            <a:off x="1484311" y="2074985"/>
            <a:ext cx="10018712" cy="3716215"/>
          </a:xfrm>
        </p:spPr>
        <p:txBody>
          <a:bodyPr>
            <a:normAutofit/>
          </a:bodyPr>
          <a:lstStyle/>
          <a:p>
            <a:r>
              <a:rPr lang="en-GB" dirty="0"/>
              <a:t>The second stage AGI is also called </a:t>
            </a:r>
            <a:r>
              <a:rPr lang="en-GB" b="1" dirty="0"/>
              <a:t>Strong AI</a:t>
            </a:r>
            <a:r>
              <a:rPr lang="en-GB" dirty="0"/>
              <a:t>.</a:t>
            </a:r>
          </a:p>
          <a:p>
            <a:r>
              <a:rPr lang="en-GB" dirty="0"/>
              <a:t>It covers more than one field like power of reasoning, problem solving and abstract thinking, which is mostly on par with adults. </a:t>
            </a:r>
          </a:p>
          <a:p>
            <a:r>
              <a:rPr lang="en-US" dirty="0"/>
              <a:t>The principle behind Strong AI is that the machines could be made to think or in other words could represent human minds in the future. If that is the case, machines will have the ability to </a:t>
            </a:r>
            <a:r>
              <a:rPr lang="en-US" b="1" dirty="0"/>
              <a:t>reason</a:t>
            </a:r>
            <a:r>
              <a:rPr lang="en-US" dirty="0"/>
              <a:t>, </a:t>
            </a:r>
            <a:r>
              <a:rPr lang="en-US" b="1" dirty="0"/>
              <a:t>think</a:t>
            </a:r>
            <a:r>
              <a:rPr lang="en-US" dirty="0"/>
              <a:t> and </a:t>
            </a:r>
            <a:r>
              <a:rPr lang="en-US" b="1" dirty="0"/>
              <a:t>do all functions that a human can do.</a:t>
            </a:r>
          </a:p>
          <a:p>
            <a:r>
              <a:rPr lang="en-US" b="1" u="sng" dirty="0"/>
              <a:t>But according to most people, this technology will never be developed or at least it will take a very long time. </a:t>
            </a:r>
          </a:p>
          <a:p>
            <a:endParaRPr lang="en-GB" dirty="0"/>
          </a:p>
        </p:txBody>
      </p:sp>
    </p:spTree>
    <p:extLst>
      <p:ext uri="{BB962C8B-B14F-4D97-AF65-F5344CB8AC3E}">
        <p14:creationId xmlns:p14="http://schemas.microsoft.com/office/powerpoint/2010/main" val="20471105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Artificial Super Intelligence (ASI)</a:t>
            </a:r>
            <a:br>
              <a:rPr lang="en-GB" dirty="0"/>
            </a:br>
            <a:endParaRPr lang="en-GB" dirty="0"/>
          </a:p>
        </p:txBody>
      </p:sp>
      <p:sp>
        <p:nvSpPr>
          <p:cNvPr id="3" name="Content Placeholder 2"/>
          <p:cNvSpPr>
            <a:spLocks noGrp="1"/>
          </p:cNvSpPr>
          <p:nvPr>
            <p:ph idx="1"/>
          </p:nvPr>
        </p:nvSpPr>
        <p:spPr/>
        <p:txBody>
          <a:bodyPr/>
          <a:lstStyle/>
          <a:p>
            <a:r>
              <a:rPr lang="en-GB" dirty="0"/>
              <a:t>ASI is the final stage of the intelligence explosion, in which AI surpasses human intelligence across all fields.</a:t>
            </a:r>
          </a:p>
          <a:p>
            <a:r>
              <a:rPr lang="en-GB" dirty="0"/>
              <a:t>Presently seen as hypothetical situation as depicted in movies and science fiction books where machines will take over the world.</a:t>
            </a:r>
          </a:p>
          <a:p>
            <a:r>
              <a:rPr lang="en-GB" dirty="0"/>
              <a:t>However tech masterminds like Elon musk believes that ASI will take over the world by the year 2040.</a:t>
            </a:r>
          </a:p>
        </p:txBody>
      </p:sp>
    </p:spTree>
    <p:extLst>
      <p:ext uri="{BB962C8B-B14F-4D97-AF65-F5344CB8AC3E}">
        <p14:creationId xmlns:p14="http://schemas.microsoft.com/office/powerpoint/2010/main" val="8024935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AAD91-0800-4546-A910-B1828C449D26}"/>
              </a:ext>
            </a:extLst>
          </p:cNvPr>
          <p:cNvSpPr>
            <a:spLocks noGrp="1"/>
          </p:cNvSpPr>
          <p:nvPr>
            <p:ph type="title"/>
          </p:nvPr>
        </p:nvSpPr>
        <p:spPr/>
        <p:txBody>
          <a:bodyPr/>
          <a:lstStyle/>
          <a:p>
            <a:r>
              <a:rPr lang="en-US" dirty="0"/>
              <a:t>Foundations of AI</a:t>
            </a:r>
            <a:endParaRPr lang="x-none" dirty="0"/>
          </a:p>
        </p:txBody>
      </p:sp>
      <p:sp>
        <p:nvSpPr>
          <p:cNvPr id="3" name="Content Placeholder 2">
            <a:extLst>
              <a:ext uri="{FF2B5EF4-FFF2-40B4-BE49-F238E27FC236}">
                <a16:creationId xmlns:a16="http://schemas.microsoft.com/office/drawing/2014/main" id="{D3F7320E-D7CB-463B-A623-D59024CB380B}"/>
              </a:ext>
            </a:extLst>
          </p:cNvPr>
          <p:cNvSpPr>
            <a:spLocks noGrp="1"/>
          </p:cNvSpPr>
          <p:nvPr>
            <p:ph idx="1"/>
          </p:nvPr>
        </p:nvSpPr>
        <p:spPr>
          <a:xfrm>
            <a:off x="1484310" y="1871003"/>
            <a:ext cx="10018713" cy="3920197"/>
          </a:xfrm>
        </p:spPr>
        <p:txBody>
          <a:bodyPr>
            <a:normAutofit/>
          </a:bodyPr>
          <a:lstStyle/>
          <a:p>
            <a:pPr marL="0" indent="0">
              <a:buNone/>
            </a:pPr>
            <a:r>
              <a:rPr lang="en-US" dirty="0"/>
              <a:t>AI is a young field. It has inherited its ideas, concepts and techniques from many disciplines which are considered as the foundations of AI.</a:t>
            </a:r>
          </a:p>
          <a:p>
            <a:r>
              <a:rPr lang="en-US" b="1" dirty="0"/>
              <a:t>Philosophy</a:t>
            </a:r>
            <a:r>
              <a:rPr lang="en-US" dirty="0"/>
              <a:t>: Logic, methods of reasoning, mind as physical system, foundations of learning, language, rationality.</a:t>
            </a:r>
          </a:p>
          <a:p>
            <a:r>
              <a:rPr lang="en-US" b="1" dirty="0"/>
              <a:t>Mathematics:</a:t>
            </a:r>
            <a:r>
              <a:rPr lang="en-US" dirty="0"/>
              <a:t> From mathematics we have formal theories of logic, probability, decision-making and computation.</a:t>
            </a:r>
          </a:p>
          <a:p>
            <a:r>
              <a:rPr lang="en-US" b="1" dirty="0"/>
              <a:t>Psychology:</a:t>
            </a:r>
            <a:r>
              <a:rPr lang="en-US" dirty="0"/>
              <a:t> Tools and techniques to investigate the human mind and ways to represent the resulting theories based on psychology.</a:t>
            </a:r>
          </a:p>
          <a:p>
            <a:r>
              <a:rPr lang="en-US" dirty="0"/>
              <a:t>•</a:t>
            </a:r>
            <a:r>
              <a:rPr lang="en-US" b="1" dirty="0"/>
              <a:t>Economics:</a:t>
            </a:r>
            <a:r>
              <a:rPr lang="en-US" dirty="0"/>
              <a:t> Utility, decision theory, rational economic agents</a:t>
            </a:r>
          </a:p>
          <a:p>
            <a:pPr marL="0" indent="0">
              <a:buNone/>
            </a:pPr>
            <a:endParaRPr lang="x-none" dirty="0"/>
          </a:p>
        </p:txBody>
      </p:sp>
    </p:spTree>
    <p:extLst>
      <p:ext uri="{BB962C8B-B14F-4D97-AF65-F5344CB8AC3E}">
        <p14:creationId xmlns:p14="http://schemas.microsoft.com/office/powerpoint/2010/main" val="328130307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84753-2A6F-4332-B2AB-53A9746E5901}"/>
              </a:ext>
            </a:extLst>
          </p:cNvPr>
          <p:cNvSpPr>
            <a:spLocks noGrp="1"/>
          </p:cNvSpPr>
          <p:nvPr>
            <p:ph type="title"/>
          </p:nvPr>
        </p:nvSpPr>
        <p:spPr/>
        <p:txBody>
          <a:bodyPr/>
          <a:lstStyle/>
          <a:p>
            <a:r>
              <a:rPr lang="en-US" dirty="0"/>
              <a:t>Cont...</a:t>
            </a:r>
            <a:endParaRPr lang="x-none" dirty="0"/>
          </a:p>
        </p:txBody>
      </p:sp>
      <p:sp>
        <p:nvSpPr>
          <p:cNvPr id="3" name="Content Placeholder 2">
            <a:extLst>
              <a:ext uri="{FF2B5EF4-FFF2-40B4-BE49-F238E27FC236}">
                <a16:creationId xmlns:a16="http://schemas.microsoft.com/office/drawing/2014/main" id="{BFAA1D60-5DBB-4C77-B0F4-E3DB93C3D758}"/>
              </a:ext>
            </a:extLst>
          </p:cNvPr>
          <p:cNvSpPr>
            <a:spLocks noGrp="1"/>
          </p:cNvSpPr>
          <p:nvPr>
            <p:ph idx="1"/>
          </p:nvPr>
        </p:nvSpPr>
        <p:spPr>
          <a:xfrm>
            <a:off x="1484310" y="2053883"/>
            <a:ext cx="10018713" cy="3737317"/>
          </a:xfrm>
        </p:spPr>
        <p:txBody>
          <a:bodyPr>
            <a:normAutofit/>
          </a:bodyPr>
          <a:lstStyle/>
          <a:p>
            <a:r>
              <a:rPr lang="en-US" b="1" dirty="0"/>
              <a:t>Linguistics:</a:t>
            </a:r>
            <a:r>
              <a:rPr lang="en-US" dirty="0"/>
              <a:t> Linguistics provides us with the theories of structure and meaning of language.</a:t>
            </a:r>
            <a:endParaRPr lang="en-US" b="1" dirty="0"/>
          </a:p>
          <a:p>
            <a:r>
              <a:rPr lang="en-US" b="1" dirty="0"/>
              <a:t>Biology: </a:t>
            </a:r>
            <a:r>
              <a:rPr lang="en-US" dirty="0"/>
              <a:t>From biology we have information about the network structure of a human brain and all the theories on functionalities of different human organs.</a:t>
            </a:r>
          </a:p>
          <a:p>
            <a:r>
              <a:rPr lang="en-US" b="1" dirty="0"/>
              <a:t>Control theory:</a:t>
            </a:r>
            <a:r>
              <a:rPr lang="en-US" dirty="0"/>
              <a:t> Purposeful </a:t>
            </a:r>
            <a:r>
              <a:rPr lang="en-US" dirty="0" err="1"/>
              <a:t>behaviour</a:t>
            </a:r>
            <a:r>
              <a:rPr lang="en-US" dirty="0"/>
              <a:t> arising from a regulatory mechanism to minimize the difference between goal state and current state (“error”)</a:t>
            </a:r>
          </a:p>
          <a:p>
            <a:r>
              <a:rPr lang="en-US" b="1" dirty="0"/>
              <a:t>Computer Science: </a:t>
            </a:r>
            <a:r>
              <a:rPr lang="en-US" dirty="0"/>
              <a:t>Finally from computer science we have tools and concepts to make AI a reality.</a:t>
            </a:r>
            <a:endParaRPr lang="x-none" dirty="0"/>
          </a:p>
        </p:txBody>
      </p:sp>
    </p:spTree>
    <p:extLst>
      <p:ext uri="{BB962C8B-B14F-4D97-AF65-F5344CB8AC3E}">
        <p14:creationId xmlns:p14="http://schemas.microsoft.com/office/powerpoint/2010/main" val="190641946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Goals of AI</a:t>
            </a:r>
          </a:p>
        </p:txBody>
      </p:sp>
      <p:sp>
        <p:nvSpPr>
          <p:cNvPr id="3" name="Content Placeholder 2"/>
          <p:cNvSpPr>
            <a:spLocks noGrp="1"/>
          </p:cNvSpPr>
          <p:nvPr>
            <p:ph idx="1"/>
          </p:nvPr>
        </p:nvSpPr>
        <p:spPr/>
        <p:txBody>
          <a:bodyPr/>
          <a:lstStyle/>
          <a:p>
            <a:r>
              <a:rPr lang="en-US" b="1" dirty="0"/>
              <a:t>To Create Expert Systems</a:t>
            </a:r>
            <a:r>
              <a:rPr lang="en-US" dirty="0"/>
              <a:t> − The systems which exhibit intelligent behavior, learn, demonstrate, explain, and advice its users.</a:t>
            </a:r>
          </a:p>
          <a:p>
            <a:r>
              <a:rPr lang="en-US" b="1" dirty="0"/>
              <a:t>To Implement Human Intelligence in Machines</a:t>
            </a:r>
            <a:r>
              <a:rPr lang="en-US" dirty="0"/>
              <a:t> − Creating systems that understand, think, learn, and behave like humans.</a:t>
            </a:r>
          </a:p>
          <a:p>
            <a:endParaRPr lang="en-US" dirty="0"/>
          </a:p>
        </p:txBody>
      </p:sp>
    </p:spTree>
    <p:extLst>
      <p:ext uri="{BB962C8B-B14F-4D97-AF65-F5344CB8AC3E}">
        <p14:creationId xmlns:p14="http://schemas.microsoft.com/office/powerpoint/2010/main" val="56216877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914AC-609D-4742-A789-67D16C02B8C6}"/>
              </a:ext>
            </a:extLst>
          </p:cNvPr>
          <p:cNvSpPr>
            <a:spLocks noGrp="1"/>
          </p:cNvSpPr>
          <p:nvPr>
            <p:ph type="title"/>
          </p:nvPr>
        </p:nvSpPr>
        <p:spPr>
          <a:xfrm>
            <a:off x="1484311" y="685800"/>
            <a:ext cx="10018713" cy="735037"/>
          </a:xfrm>
        </p:spPr>
        <p:txBody>
          <a:bodyPr/>
          <a:lstStyle/>
          <a:p>
            <a:r>
              <a:rPr lang="en-US" dirty="0"/>
              <a:t>Areas of AI</a:t>
            </a:r>
            <a:endParaRPr lang="x-none" dirty="0"/>
          </a:p>
        </p:txBody>
      </p:sp>
      <p:pic>
        <p:nvPicPr>
          <p:cNvPr id="4" name="Content Placeholder 3">
            <a:extLst>
              <a:ext uri="{FF2B5EF4-FFF2-40B4-BE49-F238E27FC236}">
                <a16:creationId xmlns:a16="http://schemas.microsoft.com/office/drawing/2014/main" id="{91ED9FD3-D0D4-49D1-A5FA-5949E98A8C44}"/>
              </a:ext>
            </a:extLst>
          </p:cNvPr>
          <p:cNvPicPr>
            <a:picLocks noGrp="1" noChangeAspect="1"/>
          </p:cNvPicPr>
          <p:nvPr>
            <p:ph idx="1"/>
          </p:nvPr>
        </p:nvPicPr>
        <p:blipFill>
          <a:blip r:embed="rId2"/>
          <a:stretch>
            <a:fillRect/>
          </a:stretch>
        </p:blipFill>
        <p:spPr>
          <a:xfrm>
            <a:off x="3813619" y="2016125"/>
            <a:ext cx="4879086" cy="3449638"/>
          </a:xfrm>
          <a:prstGeom prst="rect">
            <a:avLst/>
          </a:prstGeom>
        </p:spPr>
      </p:pic>
    </p:spTree>
    <p:extLst>
      <p:ext uri="{BB962C8B-B14F-4D97-AF65-F5344CB8AC3E}">
        <p14:creationId xmlns:p14="http://schemas.microsoft.com/office/powerpoint/2010/main" val="428524193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Areas &amp; Applications of AI</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r>
              <a:rPr lang="en-US" b="1" dirty="0"/>
              <a:t>Gaming</a:t>
            </a:r>
            <a:r>
              <a:rPr lang="en-US" dirty="0"/>
              <a:t> − AI plays crucial role in strategic games such as chess, poker, tic-tac-toe, </a:t>
            </a:r>
            <a:r>
              <a:rPr lang="en-US" dirty="0" err="1"/>
              <a:t>etc</a:t>
            </a:r>
            <a:endParaRPr lang="en-US" dirty="0"/>
          </a:p>
          <a:p>
            <a:r>
              <a:rPr lang="en-US" b="1" dirty="0"/>
              <a:t>Natural Language Processing</a:t>
            </a:r>
            <a:r>
              <a:rPr lang="en-US" dirty="0"/>
              <a:t> − It is possible to interact with the computer that understands natural language spoken by humans.</a:t>
            </a:r>
          </a:p>
          <a:p>
            <a:r>
              <a:rPr lang="en-US" b="1" dirty="0"/>
              <a:t>Expert Systems</a:t>
            </a:r>
            <a:r>
              <a:rPr lang="en-US" dirty="0"/>
              <a:t> − There are some applications which integrate machine, software, and special information to impart reasoning and advising. They provide explanation and advice to the users.</a:t>
            </a:r>
          </a:p>
          <a:p>
            <a:r>
              <a:rPr lang="en-US" b="1" dirty="0"/>
              <a:t>Vision Systems</a:t>
            </a:r>
            <a:r>
              <a:rPr lang="en-US" dirty="0"/>
              <a:t> − These systems understand, interpret, and comprehend visual input on the computer. For example,</a:t>
            </a:r>
          </a:p>
          <a:p>
            <a:pPr lvl="1"/>
            <a:r>
              <a:rPr lang="en-US" dirty="0"/>
              <a:t>A spying aero plane takes photographs, which are used to figure out spatial information or map of the areas.</a:t>
            </a:r>
          </a:p>
          <a:p>
            <a:endParaRPr lang="en-US" dirty="0"/>
          </a:p>
        </p:txBody>
      </p:sp>
    </p:spTree>
    <p:extLst>
      <p:ext uri="{BB962C8B-B14F-4D97-AF65-F5344CB8AC3E}">
        <p14:creationId xmlns:p14="http://schemas.microsoft.com/office/powerpoint/2010/main" val="115040710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a:t>
            </a:r>
          </a:p>
        </p:txBody>
      </p:sp>
      <p:sp>
        <p:nvSpPr>
          <p:cNvPr id="3" name="Content Placeholder 2"/>
          <p:cNvSpPr>
            <a:spLocks noGrp="1"/>
          </p:cNvSpPr>
          <p:nvPr>
            <p:ph idx="1"/>
          </p:nvPr>
        </p:nvSpPr>
        <p:spPr/>
        <p:txBody>
          <a:bodyPr/>
          <a:lstStyle/>
          <a:p>
            <a:r>
              <a:rPr lang="en-US" b="1" dirty="0"/>
              <a:t>Speech Recognition</a:t>
            </a:r>
            <a:r>
              <a:rPr lang="en-US" dirty="0"/>
              <a:t> − Some intelligent systems are capable of hearing and comprehending the language in terms of sentences and their meanings while a human talks to it.</a:t>
            </a:r>
            <a:endParaRPr lang="en-US" b="1" dirty="0"/>
          </a:p>
          <a:p>
            <a:r>
              <a:rPr lang="en-US" b="1" dirty="0"/>
              <a:t>Handwriting Recognition</a:t>
            </a:r>
            <a:r>
              <a:rPr lang="en-US" dirty="0"/>
              <a:t> − The handwriting recognition software reads the text written on paper by a pen or on screen by a stylus.</a:t>
            </a:r>
          </a:p>
          <a:p>
            <a:r>
              <a:rPr lang="en-US" b="1" dirty="0"/>
              <a:t>Intelligent Robots</a:t>
            </a:r>
            <a:r>
              <a:rPr lang="en-US" dirty="0"/>
              <a:t> − Robots are able to perform the tasks given by a human. </a:t>
            </a:r>
          </a:p>
        </p:txBody>
      </p:sp>
    </p:spTree>
    <p:extLst>
      <p:ext uri="{BB962C8B-B14F-4D97-AF65-F5344CB8AC3E}">
        <p14:creationId xmlns:p14="http://schemas.microsoft.com/office/powerpoint/2010/main" val="325816811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76000"/>
                <a:satMod val="180000"/>
              </a:schemeClr>
              <a:schemeClr val="bg2">
                <a:tint val="80000"/>
                <a:satMod val="120000"/>
                <a:lumMod val="180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27C97-574B-44E9-996D-729AD5F8517C}"/>
              </a:ext>
            </a:extLst>
          </p:cNvPr>
          <p:cNvSpPr>
            <a:spLocks noGrp="1"/>
          </p:cNvSpPr>
          <p:nvPr>
            <p:ph type="title"/>
          </p:nvPr>
        </p:nvSpPr>
        <p:spPr>
          <a:xfrm>
            <a:off x="1484311" y="1081548"/>
            <a:ext cx="3333495" cy="1504335"/>
          </a:xfrm>
        </p:spPr>
        <p:txBody>
          <a:bodyPr>
            <a:normAutofit/>
          </a:bodyPr>
          <a:lstStyle/>
          <a:p>
            <a:r>
              <a:rPr lang="en-US" sz="2400" b="1" dirty="0"/>
              <a:t>History &amp; Evolution of AI</a:t>
            </a:r>
            <a:endParaRPr lang="x-none" sz="2400" b="1" dirty="0"/>
          </a:p>
        </p:txBody>
      </p:sp>
      <p:sp>
        <p:nvSpPr>
          <p:cNvPr id="3" name="Content Placeholder 2">
            <a:extLst>
              <a:ext uri="{FF2B5EF4-FFF2-40B4-BE49-F238E27FC236}">
                <a16:creationId xmlns:a16="http://schemas.microsoft.com/office/drawing/2014/main" id="{C5DF4F6D-3191-4016-9A9E-F98AE11E1AF1}"/>
              </a:ext>
            </a:extLst>
          </p:cNvPr>
          <p:cNvSpPr>
            <a:spLocks noGrp="1"/>
          </p:cNvSpPr>
          <p:nvPr>
            <p:ph idx="1"/>
          </p:nvPr>
        </p:nvSpPr>
        <p:spPr>
          <a:xfrm>
            <a:off x="1484311" y="2666999"/>
            <a:ext cx="3333496" cy="3124201"/>
          </a:xfrm>
        </p:spPr>
        <p:txBody>
          <a:bodyPr anchor="t">
            <a:normAutofit lnSpcReduction="10000"/>
          </a:bodyPr>
          <a:lstStyle/>
          <a:p>
            <a:r>
              <a:rPr lang="en-US" sz="2000" dirty="0"/>
              <a:t>The history of AI begins with the following articles:</a:t>
            </a:r>
          </a:p>
          <a:p>
            <a:pPr marL="0" indent="0">
              <a:buNone/>
            </a:pPr>
            <a:r>
              <a:rPr lang="en-US" sz="2000" dirty="0"/>
              <a:t>	-</a:t>
            </a:r>
            <a:r>
              <a:rPr lang="en-US" sz="2000" b="1" dirty="0"/>
              <a:t>Turing, A.M. (1950), 	Computing machinery 	and intelligence, Mind, 	Vol. 59, pp. 433-460</a:t>
            </a:r>
            <a:r>
              <a:rPr lang="en-US" sz="1600" dirty="0"/>
              <a:t>.</a:t>
            </a:r>
          </a:p>
          <a:p>
            <a:pPr marL="0" indent="0">
              <a:buNone/>
            </a:pPr>
            <a:endParaRPr lang="x-none" sz="1600" dirty="0"/>
          </a:p>
        </p:txBody>
      </p:sp>
      <p:pic>
        <p:nvPicPr>
          <p:cNvPr id="4" name="Picture 3">
            <a:extLst>
              <a:ext uri="{FF2B5EF4-FFF2-40B4-BE49-F238E27FC236}">
                <a16:creationId xmlns:a16="http://schemas.microsoft.com/office/drawing/2014/main" id="{46C616E1-E665-4F0D-AC71-44AB9D4CF9DB}"/>
              </a:ext>
            </a:extLst>
          </p:cNvPr>
          <p:cNvPicPr>
            <a:picLocks noChangeAspect="1"/>
          </p:cNvPicPr>
          <p:nvPr/>
        </p:nvPicPr>
        <p:blipFill>
          <a:blip r:embed="rId3"/>
          <a:stretch>
            <a:fillRect/>
          </a:stretch>
        </p:blipFill>
        <p:spPr>
          <a:xfrm>
            <a:off x="4813637" y="1605269"/>
            <a:ext cx="6689386" cy="4171183"/>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pic>
    </p:spTree>
    <p:extLst>
      <p:ext uri="{BB962C8B-B14F-4D97-AF65-F5344CB8AC3E}">
        <p14:creationId xmlns:p14="http://schemas.microsoft.com/office/powerpoint/2010/main" val="405745454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2A38213-2422-419F-8BD3-B6B803092EAC}"/>
              </a:ext>
            </a:extLst>
          </p:cNvPr>
          <p:cNvSpPr>
            <a:spLocks noGrp="1"/>
          </p:cNvSpPr>
          <p:nvPr>
            <p:ph type="title"/>
          </p:nvPr>
        </p:nvSpPr>
        <p:spPr/>
        <p:txBody>
          <a:bodyPr/>
          <a:lstStyle/>
          <a:p>
            <a:r>
              <a:rPr lang="en-US" dirty="0"/>
              <a:t>Brief History of AI</a:t>
            </a:r>
            <a:endParaRPr lang="x-none" dirty="0"/>
          </a:p>
        </p:txBody>
      </p:sp>
      <p:sp>
        <p:nvSpPr>
          <p:cNvPr id="9" name="Content Placeholder 8">
            <a:extLst>
              <a:ext uri="{FF2B5EF4-FFF2-40B4-BE49-F238E27FC236}">
                <a16:creationId xmlns:a16="http://schemas.microsoft.com/office/drawing/2014/main" id="{3ACB1863-0C55-4479-A4F9-81F983499918}"/>
              </a:ext>
            </a:extLst>
          </p:cNvPr>
          <p:cNvSpPr>
            <a:spLocks noGrp="1"/>
          </p:cNvSpPr>
          <p:nvPr>
            <p:ph idx="1"/>
          </p:nvPr>
        </p:nvSpPr>
        <p:spPr>
          <a:xfrm>
            <a:off x="1484310" y="2180493"/>
            <a:ext cx="10018713" cy="3610708"/>
          </a:xfrm>
        </p:spPr>
        <p:txBody>
          <a:bodyPr>
            <a:normAutofit/>
          </a:bodyPr>
          <a:lstStyle/>
          <a:p>
            <a:r>
              <a:rPr lang="en-US" b="1" dirty="0"/>
              <a:t>The birth of artificial intelligence</a:t>
            </a:r>
          </a:p>
          <a:p>
            <a:pPr marL="0" indent="0">
              <a:buNone/>
            </a:pPr>
            <a:r>
              <a:rPr lang="en-US" dirty="0"/>
              <a:t>	-1950: Turing’s landmark paper “Computing machinery and intelligence” 	and Turing Test</a:t>
            </a:r>
          </a:p>
          <a:p>
            <a:pPr marL="0" indent="0">
              <a:buNone/>
            </a:pPr>
            <a:r>
              <a:rPr lang="en-US" dirty="0"/>
              <a:t>	-1951: AI programs were developed at Manchester:</a:t>
            </a:r>
          </a:p>
          <a:p>
            <a:pPr>
              <a:buFont typeface="Courier New" panose="02070309020205020404" pitchFamily="49" charset="0"/>
              <a:buChar char="o"/>
            </a:pPr>
            <a:r>
              <a:rPr lang="en-US" dirty="0"/>
              <a:t>		A draughts-playing program by Christopher Strachey</a:t>
            </a:r>
          </a:p>
          <a:p>
            <a:pPr>
              <a:buFont typeface="Courier New" panose="02070309020205020404" pitchFamily="49" charset="0"/>
              <a:buChar char="o"/>
            </a:pPr>
            <a:r>
              <a:rPr lang="en-US" dirty="0"/>
              <a:t>		A chess-playing program by Dietrich Prinz</a:t>
            </a:r>
          </a:p>
          <a:p>
            <a:pPr>
              <a:buFont typeface="Courier New" panose="02070309020205020404" pitchFamily="49" charset="0"/>
              <a:buChar char="o"/>
            </a:pPr>
            <a:r>
              <a:rPr lang="en-US" dirty="0"/>
              <a:t>		These ran on the Ferranti Mark I in 1951.</a:t>
            </a:r>
          </a:p>
          <a:p>
            <a:endParaRPr lang="en-US" dirty="0"/>
          </a:p>
        </p:txBody>
      </p:sp>
    </p:spTree>
    <p:extLst>
      <p:ext uri="{BB962C8B-B14F-4D97-AF65-F5344CB8AC3E}">
        <p14:creationId xmlns:p14="http://schemas.microsoft.com/office/powerpoint/2010/main" val="26875321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1"/>
            <a:ext cx="10018713" cy="760228"/>
          </a:xfrm>
        </p:spPr>
        <p:txBody>
          <a:bodyPr/>
          <a:lstStyle/>
          <a:p>
            <a:r>
              <a:rPr lang="en-US" dirty="0"/>
              <a:t>Ferranti Mark I</a:t>
            </a:r>
          </a:p>
        </p:txBody>
      </p:sp>
      <p:sp>
        <p:nvSpPr>
          <p:cNvPr id="3" name="Content Placeholder 2"/>
          <p:cNvSpPr>
            <a:spLocks noGrp="1"/>
          </p:cNvSpPr>
          <p:nvPr>
            <p:ph idx="1"/>
          </p:nvPr>
        </p:nvSpPr>
        <p:spPr/>
        <p:txBody>
          <a:bodyPr/>
          <a:lstStyle/>
          <a:p>
            <a:endParaRPr lang="en-US" dirty="0"/>
          </a:p>
        </p:txBody>
      </p:sp>
      <p:pic>
        <p:nvPicPr>
          <p:cNvPr id="5" name="Picture 4"/>
          <p:cNvPicPr>
            <a:picLocks noChangeAspect="1"/>
          </p:cNvPicPr>
          <p:nvPr/>
        </p:nvPicPr>
        <p:blipFill>
          <a:blip r:embed="rId2"/>
          <a:stretch>
            <a:fillRect/>
          </a:stretch>
        </p:blipFill>
        <p:spPr>
          <a:xfrm>
            <a:off x="2905756" y="1573621"/>
            <a:ext cx="6404156" cy="4472538"/>
          </a:xfrm>
          <a:prstGeom prst="rect">
            <a:avLst/>
          </a:prstGeom>
        </p:spPr>
      </p:pic>
    </p:spTree>
    <p:extLst>
      <p:ext uri="{BB962C8B-B14F-4D97-AF65-F5344CB8AC3E}">
        <p14:creationId xmlns:p14="http://schemas.microsoft.com/office/powerpoint/2010/main" val="28521507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2A38213-2422-419F-8BD3-B6B803092EAC}"/>
              </a:ext>
            </a:extLst>
          </p:cNvPr>
          <p:cNvSpPr>
            <a:spLocks noGrp="1"/>
          </p:cNvSpPr>
          <p:nvPr>
            <p:ph type="title"/>
          </p:nvPr>
        </p:nvSpPr>
        <p:spPr>
          <a:xfrm>
            <a:off x="1484311" y="685801"/>
            <a:ext cx="10018713" cy="1058594"/>
          </a:xfrm>
        </p:spPr>
        <p:txBody>
          <a:bodyPr/>
          <a:lstStyle/>
          <a:p>
            <a:r>
              <a:rPr lang="en-US" dirty="0"/>
              <a:t>Cont...</a:t>
            </a:r>
            <a:endParaRPr lang="x-none" dirty="0"/>
          </a:p>
        </p:txBody>
      </p:sp>
      <p:sp>
        <p:nvSpPr>
          <p:cNvPr id="9" name="Content Placeholder 8">
            <a:extLst>
              <a:ext uri="{FF2B5EF4-FFF2-40B4-BE49-F238E27FC236}">
                <a16:creationId xmlns:a16="http://schemas.microsoft.com/office/drawing/2014/main" id="{3ACB1863-0C55-4479-A4F9-81F983499918}"/>
              </a:ext>
            </a:extLst>
          </p:cNvPr>
          <p:cNvSpPr>
            <a:spLocks noGrp="1"/>
          </p:cNvSpPr>
          <p:nvPr>
            <p:ph idx="1"/>
          </p:nvPr>
        </p:nvSpPr>
        <p:spPr>
          <a:xfrm>
            <a:off x="1484310" y="1477109"/>
            <a:ext cx="10018713" cy="4314092"/>
          </a:xfrm>
        </p:spPr>
        <p:txBody>
          <a:bodyPr>
            <a:normAutofit/>
          </a:bodyPr>
          <a:lstStyle/>
          <a:p>
            <a:pPr marL="0" indent="0">
              <a:buNone/>
            </a:pPr>
            <a:r>
              <a:rPr lang="en-US" b="1" dirty="0"/>
              <a:t>-1955: Symbolic reasoning and the Logic Theorist</a:t>
            </a:r>
          </a:p>
          <a:p>
            <a:pPr marL="0" indent="0" algn="just">
              <a:buNone/>
            </a:pPr>
            <a:r>
              <a:rPr lang="en-US" dirty="0"/>
              <a:t>	Allen Newell and (future Nobel Laureate) Herbert Simon created the</a:t>
            </a:r>
          </a:p>
          <a:p>
            <a:pPr marL="0" indent="0">
              <a:buNone/>
            </a:pPr>
            <a:r>
              <a:rPr lang="en-US" dirty="0"/>
              <a:t>	"Logic Theorist". The program would eventually prove 38 of the first</a:t>
            </a:r>
          </a:p>
          <a:p>
            <a:pPr marL="0" indent="0">
              <a:buNone/>
            </a:pPr>
            <a:r>
              <a:rPr lang="en-US" dirty="0"/>
              <a:t>	52 theorems in Russell and Whitehead's Principia Mathematica.</a:t>
            </a:r>
          </a:p>
          <a:p>
            <a:pPr marL="0" indent="0">
              <a:buNone/>
            </a:pPr>
            <a:r>
              <a:rPr lang="en-US" b="1" dirty="0"/>
              <a:t>-1956: Dartmouth Conference - "Artificial Intelligence" adopted </a:t>
            </a:r>
          </a:p>
          <a:p>
            <a:pPr marL="0" indent="0" algn="just">
              <a:buNone/>
            </a:pPr>
            <a:r>
              <a:rPr lang="en-US" dirty="0"/>
              <a:t>	The term ‘Artificial Intelligence’ was coined in a proposal for the 		conference at Dartmouth College in 1956 </a:t>
            </a:r>
            <a:r>
              <a:rPr lang="en-US"/>
              <a:t>by John McCarthy .</a:t>
            </a:r>
            <a:endParaRPr lang="x-none" dirty="0"/>
          </a:p>
        </p:txBody>
      </p:sp>
    </p:spTree>
    <p:extLst>
      <p:ext uri="{BB962C8B-B14F-4D97-AF65-F5344CB8AC3E}">
        <p14:creationId xmlns:p14="http://schemas.microsoft.com/office/powerpoint/2010/main" val="299390671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7DE10-B2B7-45BD-924D-E212418730C0}"/>
              </a:ext>
            </a:extLst>
          </p:cNvPr>
          <p:cNvSpPr>
            <a:spLocks noGrp="1"/>
          </p:cNvSpPr>
          <p:nvPr>
            <p:ph type="title"/>
          </p:nvPr>
        </p:nvSpPr>
        <p:spPr/>
        <p:txBody>
          <a:bodyPr/>
          <a:lstStyle/>
          <a:p>
            <a:r>
              <a:rPr lang="en-US" dirty="0"/>
              <a:t>Brief history of AI - Golden years 1956-74</a:t>
            </a:r>
            <a:endParaRPr lang="x-none" dirty="0"/>
          </a:p>
        </p:txBody>
      </p:sp>
      <p:sp>
        <p:nvSpPr>
          <p:cNvPr id="3" name="Content Placeholder 2">
            <a:extLst>
              <a:ext uri="{FF2B5EF4-FFF2-40B4-BE49-F238E27FC236}">
                <a16:creationId xmlns:a16="http://schemas.microsoft.com/office/drawing/2014/main" id="{DD785DF1-353C-41A5-8504-966A1DADA4D7}"/>
              </a:ext>
            </a:extLst>
          </p:cNvPr>
          <p:cNvSpPr>
            <a:spLocks noGrp="1"/>
          </p:cNvSpPr>
          <p:nvPr>
            <p:ph idx="1"/>
          </p:nvPr>
        </p:nvSpPr>
        <p:spPr>
          <a:xfrm>
            <a:off x="1484310" y="1955409"/>
            <a:ext cx="10018713" cy="3835791"/>
          </a:xfrm>
        </p:spPr>
        <p:txBody>
          <a:bodyPr>
            <a:normAutofit/>
          </a:bodyPr>
          <a:lstStyle/>
          <a:p>
            <a:r>
              <a:rPr lang="en-US" b="1" dirty="0"/>
              <a:t>Research:</a:t>
            </a:r>
          </a:p>
          <a:p>
            <a:pPr marL="0" indent="0">
              <a:buNone/>
            </a:pPr>
            <a:r>
              <a:rPr lang="en-US" dirty="0"/>
              <a:t>	-Reasoning as search: Newell and Simon developed a program called the</a:t>
            </a:r>
          </a:p>
          <a:p>
            <a:pPr marL="0" indent="0">
              <a:buNone/>
            </a:pPr>
            <a:r>
              <a:rPr lang="en-US" dirty="0"/>
              <a:t>	"General Problem Solver".</a:t>
            </a:r>
          </a:p>
          <a:p>
            <a:pPr marL="0" indent="0">
              <a:buNone/>
            </a:pPr>
            <a:r>
              <a:rPr lang="en-US" dirty="0"/>
              <a:t>	-</a:t>
            </a:r>
            <a:r>
              <a:rPr lang="en-GB" dirty="0"/>
              <a:t> it could find solutions to a wide range of fairly structured problems, such  	as logical proofs and mathematical word problems</a:t>
            </a:r>
            <a:r>
              <a:rPr lang="en-US" dirty="0"/>
              <a:t>.</a:t>
            </a:r>
          </a:p>
          <a:p>
            <a:pPr marL="0" indent="0">
              <a:buNone/>
            </a:pPr>
            <a:r>
              <a:rPr lang="en-US" dirty="0"/>
              <a:t>	-Lisp: John McCarthy (MIT) invented the Lisp language in 1960.</a:t>
            </a:r>
          </a:p>
          <a:p>
            <a:endParaRPr lang="en-US" dirty="0"/>
          </a:p>
        </p:txBody>
      </p:sp>
    </p:spTree>
    <p:extLst>
      <p:ext uri="{BB962C8B-B14F-4D97-AF65-F5344CB8AC3E}">
        <p14:creationId xmlns:p14="http://schemas.microsoft.com/office/powerpoint/2010/main" val="28796212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7DE10-B2B7-45BD-924D-E212418730C0}"/>
              </a:ext>
            </a:extLst>
          </p:cNvPr>
          <p:cNvSpPr>
            <a:spLocks noGrp="1"/>
          </p:cNvSpPr>
          <p:nvPr>
            <p:ph type="title"/>
          </p:nvPr>
        </p:nvSpPr>
        <p:spPr/>
        <p:txBody>
          <a:bodyPr/>
          <a:lstStyle/>
          <a:p>
            <a:r>
              <a:rPr lang="en-US" dirty="0"/>
              <a:t>Brief history of AI - Golden years 1956-74</a:t>
            </a:r>
            <a:endParaRPr lang="x-none" dirty="0"/>
          </a:p>
        </p:txBody>
      </p:sp>
      <p:sp>
        <p:nvSpPr>
          <p:cNvPr id="3" name="Content Placeholder 2">
            <a:extLst>
              <a:ext uri="{FF2B5EF4-FFF2-40B4-BE49-F238E27FC236}">
                <a16:creationId xmlns:a16="http://schemas.microsoft.com/office/drawing/2014/main" id="{DD785DF1-353C-41A5-8504-966A1DADA4D7}"/>
              </a:ext>
            </a:extLst>
          </p:cNvPr>
          <p:cNvSpPr>
            <a:spLocks noGrp="1"/>
          </p:cNvSpPr>
          <p:nvPr>
            <p:ph idx="1"/>
          </p:nvPr>
        </p:nvSpPr>
        <p:spPr>
          <a:xfrm>
            <a:off x="1484310" y="1983545"/>
            <a:ext cx="10018713" cy="3807655"/>
          </a:xfrm>
        </p:spPr>
        <p:txBody>
          <a:bodyPr>
            <a:normAutofit fontScale="92500" lnSpcReduction="10000"/>
          </a:bodyPr>
          <a:lstStyle/>
          <a:p>
            <a:r>
              <a:rPr lang="en-US" sz="3400" b="1" dirty="0"/>
              <a:t>Funding for AI research:</a:t>
            </a:r>
          </a:p>
          <a:p>
            <a:pPr marL="0" indent="0">
              <a:buNone/>
            </a:pPr>
            <a:r>
              <a:rPr lang="en-US" dirty="0"/>
              <a:t>	-Significant funding from both USA and UK governments</a:t>
            </a:r>
          </a:p>
          <a:p>
            <a:endParaRPr lang="en-US" dirty="0"/>
          </a:p>
          <a:p>
            <a:r>
              <a:rPr lang="en-US" sz="3100" b="1" dirty="0"/>
              <a:t>The optimism:</a:t>
            </a:r>
          </a:p>
          <a:p>
            <a:pPr marL="0" indent="0">
              <a:buNone/>
            </a:pPr>
            <a:r>
              <a:rPr lang="en-US" dirty="0"/>
              <a:t>	-1965, Simon: "machines will be capable, within twenty years, of doing any work a 	man can do</a:t>
            </a:r>
          </a:p>
          <a:p>
            <a:pPr marL="0" indent="0">
              <a:buNone/>
            </a:pPr>
            <a:r>
              <a:rPr lang="en-US" dirty="0"/>
              <a:t>	-1970, Minsky: "In from three to eight years we will have a machine with 	the general intelligence of an average human being."</a:t>
            </a:r>
            <a:endParaRPr lang="x-none" dirty="0"/>
          </a:p>
        </p:txBody>
      </p:sp>
    </p:spTree>
    <p:extLst>
      <p:ext uri="{BB962C8B-B14F-4D97-AF65-F5344CB8AC3E}">
        <p14:creationId xmlns:p14="http://schemas.microsoft.com/office/powerpoint/2010/main" val="20935311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97473-95EA-4AEA-967B-DA845F2678C2}"/>
              </a:ext>
            </a:extLst>
          </p:cNvPr>
          <p:cNvSpPr>
            <a:spLocks noGrp="1"/>
          </p:cNvSpPr>
          <p:nvPr>
            <p:ph type="title"/>
          </p:nvPr>
        </p:nvSpPr>
        <p:spPr/>
        <p:txBody>
          <a:bodyPr/>
          <a:lstStyle/>
          <a:p>
            <a:r>
              <a:rPr lang="en-US" dirty="0"/>
              <a:t>The first AI winter</a:t>
            </a:r>
            <a:endParaRPr lang="x-none" dirty="0"/>
          </a:p>
        </p:txBody>
      </p:sp>
      <p:sp>
        <p:nvSpPr>
          <p:cNvPr id="3" name="Content Placeholder 2">
            <a:extLst>
              <a:ext uri="{FF2B5EF4-FFF2-40B4-BE49-F238E27FC236}">
                <a16:creationId xmlns:a16="http://schemas.microsoft.com/office/drawing/2014/main" id="{8A48C3E1-6E28-4ADE-8B7F-6ECC3B784E25}"/>
              </a:ext>
            </a:extLst>
          </p:cNvPr>
          <p:cNvSpPr>
            <a:spLocks noGrp="1"/>
          </p:cNvSpPr>
          <p:nvPr>
            <p:ph idx="1"/>
          </p:nvPr>
        </p:nvSpPr>
        <p:spPr>
          <a:xfrm>
            <a:off x="1484310" y="1934817"/>
            <a:ext cx="10018713" cy="3856383"/>
          </a:xfrm>
        </p:spPr>
        <p:txBody>
          <a:bodyPr>
            <a:normAutofit fontScale="92500" lnSpcReduction="20000"/>
          </a:bodyPr>
          <a:lstStyle/>
          <a:p>
            <a:r>
              <a:rPr lang="en-US" sz="3200" b="1" dirty="0"/>
              <a:t>The first AI winter 1974−1980:</a:t>
            </a:r>
          </a:p>
          <a:p>
            <a:pPr marL="0" indent="0">
              <a:buNone/>
            </a:pPr>
            <a:r>
              <a:rPr lang="en-US" sz="2900" b="1" dirty="0"/>
              <a:t>	-Problems</a:t>
            </a:r>
          </a:p>
          <a:p>
            <a:pPr marL="0" indent="0">
              <a:buNone/>
            </a:pPr>
            <a:r>
              <a:rPr lang="en-US" b="1" dirty="0"/>
              <a:t>	Limited computer power: </a:t>
            </a:r>
            <a:r>
              <a:rPr lang="en-US" dirty="0"/>
              <a:t>There was not enough memory or processing 	speed 	to 	accomplish anything truly useful.</a:t>
            </a:r>
          </a:p>
          <a:p>
            <a:pPr marL="0" indent="0">
              <a:buNone/>
            </a:pPr>
            <a:r>
              <a:rPr lang="en-US" dirty="0"/>
              <a:t>	</a:t>
            </a:r>
            <a:r>
              <a:rPr lang="en-US" b="1" dirty="0"/>
              <a:t>Intractability and the combinatorial explosion. </a:t>
            </a:r>
            <a:r>
              <a:rPr lang="en-US" dirty="0"/>
              <a:t>In 1972 Richard Karp 	showed 	there are many problems that can probably only be solved in exponential time 	(in 	the size of the inputs).</a:t>
            </a:r>
          </a:p>
          <a:p>
            <a:pPr marL="0" indent="0">
              <a:buNone/>
            </a:pPr>
            <a:r>
              <a:rPr lang="en-US" b="1" dirty="0"/>
              <a:t>	Commonsense knowledge and reasoning</a:t>
            </a:r>
            <a:r>
              <a:rPr lang="en-US" dirty="0"/>
              <a:t>. Many important applications like 	vision or natural language require simply enormous amounts of information 	about the world and handling uncertainty.</a:t>
            </a:r>
          </a:p>
          <a:p>
            <a:pPr marL="0" indent="0">
              <a:buNone/>
            </a:pPr>
            <a:endParaRPr lang="en-US" dirty="0"/>
          </a:p>
        </p:txBody>
      </p:sp>
    </p:spTree>
    <p:extLst>
      <p:ext uri="{BB962C8B-B14F-4D97-AF65-F5344CB8AC3E}">
        <p14:creationId xmlns:p14="http://schemas.microsoft.com/office/powerpoint/2010/main" val="137854384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97473-95EA-4AEA-967B-DA845F2678C2}"/>
              </a:ext>
            </a:extLst>
          </p:cNvPr>
          <p:cNvSpPr>
            <a:spLocks noGrp="1"/>
          </p:cNvSpPr>
          <p:nvPr>
            <p:ph type="title"/>
          </p:nvPr>
        </p:nvSpPr>
        <p:spPr/>
        <p:txBody>
          <a:bodyPr/>
          <a:lstStyle/>
          <a:p>
            <a:r>
              <a:rPr lang="en-US" dirty="0"/>
              <a:t>The first AI winter</a:t>
            </a:r>
            <a:endParaRPr lang="x-none" dirty="0"/>
          </a:p>
        </p:txBody>
      </p:sp>
      <p:sp>
        <p:nvSpPr>
          <p:cNvPr id="3" name="Content Placeholder 2">
            <a:extLst>
              <a:ext uri="{FF2B5EF4-FFF2-40B4-BE49-F238E27FC236}">
                <a16:creationId xmlns:a16="http://schemas.microsoft.com/office/drawing/2014/main" id="{8A48C3E1-6E28-4ADE-8B7F-6ECC3B784E25}"/>
              </a:ext>
            </a:extLst>
          </p:cNvPr>
          <p:cNvSpPr>
            <a:spLocks noGrp="1"/>
          </p:cNvSpPr>
          <p:nvPr>
            <p:ph idx="1"/>
          </p:nvPr>
        </p:nvSpPr>
        <p:spPr>
          <a:xfrm>
            <a:off x="1484310" y="1961323"/>
            <a:ext cx="10018713" cy="3829878"/>
          </a:xfrm>
        </p:spPr>
        <p:txBody>
          <a:bodyPr>
            <a:normAutofit/>
          </a:bodyPr>
          <a:lstStyle/>
          <a:p>
            <a:pPr marL="0" indent="0">
              <a:buNone/>
            </a:pPr>
            <a:r>
              <a:rPr lang="en-US" b="1" dirty="0"/>
              <a:t>Critiques from across campus:</a:t>
            </a:r>
          </a:p>
          <a:p>
            <a:pPr marL="0" indent="0">
              <a:buNone/>
            </a:pPr>
            <a:r>
              <a:rPr lang="en-US" dirty="0"/>
              <a:t>	Several philosophers had strong objections to the claims being made by AI</a:t>
            </a:r>
          </a:p>
          <a:p>
            <a:pPr marL="0" indent="0">
              <a:buNone/>
            </a:pPr>
            <a:r>
              <a:rPr lang="en-US" dirty="0"/>
              <a:t>	researchers and the promised results failed to materialize</a:t>
            </a:r>
          </a:p>
          <a:p>
            <a:pPr marL="0" indent="0">
              <a:buNone/>
            </a:pPr>
            <a:r>
              <a:rPr lang="en-US" b="1" dirty="0"/>
              <a:t>The end of funding:</a:t>
            </a:r>
          </a:p>
          <a:p>
            <a:pPr marL="0" indent="0">
              <a:buNone/>
            </a:pPr>
            <a:r>
              <a:rPr lang="en-US" dirty="0"/>
              <a:t>	The agencies which funded AI research became frustrated with the lack of</a:t>
            </a:r>
          </a:p>
          <a:p>
            <a:pPr marL="0" indent="0">
              <a:buNone/>
            </a:pPr>
            <a:r>
              <a:rPr lang="en-US" dirty="0"/>
              <a:t>	progress and eventually cut off most funding for AI research.</a:t>
            </a:r>
            <a:endParaRPr lang="x-none" dirty="0"/>
          </a:p>
        </p:txBody>
      </p:sp>
    </p:spTree>
    <p:extLst>
      <p:ext uri="{BB962C8B-B14F-4D97-AF65-F5344CB8AC3E}">
        <p14:creationId xmlns:p14="http://schemas.microsoft.com/office/powerpoint/2010/main" val="289419005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8D539-E29A-4444-9706-551FF5DBBC29}"/>
              </a:ext>
            </a:extLst>
          </p:cNvPr>
          <p:cNvSpPr>
            <a:spLocks noGrp="1"/>
          </p:cNvSpPr>
          <p:nvPr>
            <p:ph type="title"/>
          </p:nvPr>
        </p:nvSpPr>
        <p:spPr>
          <a:xfrm>
            <a:off x="1484311" y="685800"/>
            <a:ext cx="10018713" cy="1235765"/>
          </a:xfrm>
        </p:spPr>
        <p:txBody>
          <a:bodyPr/>
          <a:lstStyle/>
          <a:p>
            <a:r>
              <a:rPr lang="en-US" dirty="0"/>
              <a:t>Brief history of AI -Boom 1980–1987</a:t>
            </a:r>
            <a:endParaRPr lang="x-none" dirty="0"/>
          </a:p>
        </p:txBody>
      </p:sp>
      <p:sp>
        <p:nvSpPr>
          <p:cNvPr id="3" name="Content Placeholder 2">
            <a:extLst>
              <a:ext uri="{FF2B5EF4-FFF2-40B4-BE49-F238E27FC236}">
                <a16:creationId xmlns:a16="http://schemas.microsoft.com/office/drawing/2014/main" id="{90E79BB2-9E16-4D89-8D2D-59C8837B368F}"/>
              </a:ext>
            </a:extLst>
          </p:cNvPr>
          <p:cNvSpPr>
            <a:spLocks noGrp="1"/>
          </p:cNvSpPr>
          <p:nvPr>
            <p:ph idx="1"/>
          </p:nvPr>
        </p:nvSpPr>
        <p:spPr>
          <a:xfrm>
            <a:off x="1484310" y="1630017"/>
            <a:ext cx="10018713" cy="4161183"/>
          </a:xfrm>
        </p:spPr>
        <p:txBody>
          <a:bodyPr>
            <a:normAutofit/>
          </a:bodyPr>
          <a:lstStyle/>
          <a:p>
            <a:r>
              <a:rPr lang="en-US" sz="3600" b="1" dirty="0"/>
              <a:t>Boom 1980–1987</a:t>
            </a:r>
            <a:r>
              <a:rPr lang="en-US" dirty="0"/>
              <a:t>:</a:t>
            </a:r>
          </a:p>
          <a:p>
            <a:pPr marL="0" indent="0">
              <a:buNone/>
            </a:pPr>
            <a:r>
              <a:rPr lang="en-US" dirty="0"/>
              <a:t>-In the 1980s a form of AI program called "expert systems" was adopted by corporations around the world and knowledge representation became the focus of mainstream AI research</a:t>
            </a:r>
          </a:p>
          <a:p>
            <a:pPr>
              <a:buFont typeface="Courier New" panose="02070309020205020404" pitchFamily="49" charset="0"/>
              <a:buChar char="o"/>
            </a:pPr>
            <a:r>
              <a:rPr lang="en-US" dirty="0"/>
              <a:t>	The power of expert systems came from the expert knowledge using rules that 	are 	derived from the domain experts.</a:t>
            </a:r>
          </a:p>
          <a:p>
            <a:pPr marL="0" indent="0">
              <a:buNone/>
            </a:pPr>
            <a:r>
              <a:rPr lang="en-US" dirty="0"/>
              <a:t>	In 1980, an expert system called XCON was completed for the Digital Equipment 	Corporation. It was an enormous success: it was saving the 	company 40 million 	dollars annually by 1986.</a:t>
            </a:r>
          </a:p>
          <a:p>
            <a:pPr>
              <a:buFont typeface="Courier New" panose="02070309020205020404" pitchFamily="49" charset="0"/>
              <a:buChar char="o"/>
            </a:pPr>
            <a:r>
              <a:rPr lang="en-US" dirty="0"/>
              <a:t>	By 1985 the market for AI had reached over a billion dollars.</a:t>
            </a:r>
            <a:endParaRPr lang="x-none" dirty="0"/>
          </a:p>
        </p:txBody>
      </p:sp>
    </p:spTree>
    <p:extLst>
      <p:ext uri="{BB962C8B-B14F-4D97-AF65-F5344CB8AC3E}">
        <p14:creationId xmlns:p14="http://schemas.microsoft.com/office/powerpoint/2010/main" val="16517215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7BF3F-CC6B-458C-94D8-C31651A68738}"/>
              </a:ext>
            </a:extLst>
          </p:cNvPr>
          <p:cNvSpPr>
            <a:spLocks noGrp="1"/>
          </p:cNvSpPr>
          <p:nvPr>
            <p:ph type="title"/>
          </p:nvPr>
        </p:nvSpPr>
        <p:spPr/>
        <p:txBody>
          <a:bodyPr/>
          <a:lstStyle/>
          <a:p>
            <a:r>
              <a:rPr lang="en-US" dirty="0"/>
              <a:t>Cont...</a:t>
            </a:r>
            <a:endParaRPr lang="x-none" dirty="0"/>
          </a:p>
        </p:txBody>
      </p:sp>
      <p:sp>
        <p:nvSpPr>
          <p:cNvPr id="3" name="Content Placeholder 2">
            <a:extLst>
              <a:ext uri="{FF2B5EF4-FFF2-40B4-BE49-F238E27FC236}">
                <a16:creationId xmlns:a16="http://schemas.microsoft.com/office/drawing/2014/main" id="{DA0ADCA9-6B54-4317-AA26-19E63E0AF884}"/>
              </a:ext>
            </a:extLst>
          </p:cNvPr>
          <p:cNvSpPr>
            <a:spLocks noGrp="1"/>
          </p:cNvSpPr>
          <p:nvPr>
            <p:ph idx="1"/>
          </p:nvPr>
        </p:nvSpPr>
        <p:spPr>
          <a:xfrm>
            <a:off x="1484310" y="2067339"/>
            <a:ext cx="10018713" cy="3723861"/>
          </a:xfrm>
        </p:spPr>
        <p:txBody>
          <a:bodyPr>
            <a:normAutofit/>
          </a:bodyPr>
          <a:lstStyle/>
          <a:p>
            <a:pPr marL="0" indent="0">
              <a:buNone/>
            </a:pPr>
            <a:r>
              <a:rPr lang="en-US" b="1" dirty="0"/>
              <a:t>-The money returns: the fifth generation project.</a:t>
            </a:r>
          </a:p>
          <a:p>
            <a:pPr marL="0" indent="0" algn="just">
              <a:buNone/>
            </a:pPr>
            <a:r>
              <a:rPr lang="en-US" dirty="0"/>
              <a:t>	Japan aggressively funded AI within its fifth generation computer project 	(but 	based on another AI programming language - Prolog created by 	</a:t>
            </a:r>
            <a:r>
              <a:rPr lang="en-US" dirty="0" err="1"/>
              <a:t>Colmerauer</a:t>
            </a:r>
            <a:r>
              <a:rPr lang="en-US" dirty="0"/>
              <a:t>  in 	1972).</a:t>
            </a:r>
          </a:p>
          <a:p>
            <a:pPr marL="0" indent="0">
              <a:buNone/>
            </a:pPr>
            <a:r>
              <a:rPr lang="en-US" dirty="0"/>
              <a:t>	This inspired the U.S and UK governments to restore funding for AI 	research.</a:t>
            </a:r>
          </a:p>
          <a:p>
            <a:pPr marL="0" indent="0" algn="just">
              <a:buNone/>
            </a:pPr>
            <a:r>
              <a:rPr lang="en-US" dirty="0"/>
              <a:t>	The expert systems are based a more flexibly interpreted version of the 	‘rule-	based’ approach for knowledge representation to replace the logic 	representation 	and reasoning</a:t>
            </a:r>
            <a:endParaRPr lang="x-none" dirty="0"/>
          </a:p>
        </p:txBody>
      </p:sp>
    </p:spTree>
    <p:extLst>
      <p:ext uri="{BB962C8B-B14F-4D97-AF65-F5344CB8AC3E}">
        <p14:creationId xmlns:p14="http://schemas.microsoft.com/office/powerpoint/2010/main" val="12192267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B7264-FAC5-4739-8A16-4E3C98A0C97E}"/>
              </a:ext>
            </a:extLst>
          </p:cNvPr>
          <p:cNvSpPr>
            <a:spLocks noGrp="1"/>
          </p:cNvSpPr>
          <p:nvPr>
            <p:ph type="title"/>
          </p:nvPr>
        </p:nvSpPr>
        <p:spPr>
          <a:xfrm>
            <a:off x="1484311" y="685801"/>
            <a:ext cx="10018713" cy="1116496"/>
          </a:xfrm>
        </p:spPr>
        <p:txBody>
          <a:bodyPr/>
          <a:lstStyle/>
          <a:p>
            <a:r>
              <a:rPr lang="en-US" dirty="0"/>
              <a:t>Brief history of AI - the second AI winter</a:t>
            </a:r>
            <a:endParaRPr lang="x-none" dirty="0"/>
          </a:p>
        </p:txBody>
      </p:sp>
      <p:sp>
        <p:nvSpPr>
          <p:cNvPr id="3" name="Content Placeholder 2">
            <a:extLst>
              <a:ext uri="{FF2B5EF4-FFF2-40B4-BE49-F238E27FC236}">
                <a16:creationId xmlns:a16="http://schemas.microsoft.com/office/drawing/2014/main" id="{C01200D4-A291-4A68-8A04-4875DB5310D7}"/>
              </a:ext>
            </a:extLst>
          </p:cNvPr>
          <p:cNvSpPr>
            <a:spLocks noGrp="1"/>
          </p:cNvSpPr>
          <p:nvPr>
            <p:ph idx="1"/>
          </p:nvPr>
        </p:nvSpPr>
        <p:spPr>
          <a:xfrm>
            <a:off x="1484310" y="1683027"/>
            <a:ext cx="10018713" cy="4108174"/>
          </a:xfrm>
        </p:spPr>
        <p:txBody>
          <a:bodyPr>
            <a:normAutofit/>
          </a:bodyPr>
          <a:lstStyle/>
          <a:p>
            <a:r>
              <a:rPr lang="en-US" b="1" dirty="0"/>
              <a:t>The second AI winter 1987−1993</a:t>
            </a:r>
          </a:p>
          <a:p>
            <a:pPr marL="0" indent="0" algn="just">
              <a:buNone/>
            </a:pPr>
            <a:r>
              <a:rPr lang="en-US" dirty="0"/>
              <a:t>	-In 1987, the Lisp Machine market was collapsed, as desktop computers 	from 	Apple and IBM had been steadily gaining speed and power and in 	1987 they became more powerful than the more expensive Lisp machines 	made by </a:t>
            </a:r>
            <a:r>
              <a:rPr lang="en-US" dirty="0" err="1"/>
              <a:t>Symbolics</a:t>
            </a:r>
            <a:r>
              <a:rPr lang="en-US" dirty="0"/>
              <a:t> and others.</a:t>
            </a:r>
          </a:p>
          <a:p>
            <a:pPr marL="0" indent="0" algn="just">
              <a:buNone/>
            </a:pPr>
            <a:r>
              <a:rPr lang="en-US" dirty="0"/>
              <a:t>	-Eventually the earliest successful expert systems, such as XCON, proved 	too expensive to maintain, due to difficult to update and unable to learn.</a:t>
            </a:r>
          </a:p>
        </p:txBody>
      </p:sp>
    </p:spTree>
    <p:extLst>
      <p:ext uri="{BB962C8B-B14F-4D97-AF65-F5344CB8AC3E}">
        <p14:creationId xmlns:p14="http://schemas.microsoft.com/office/powerpoint/2010/main" val="271948003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B7264-FAC5-4739-8A16-4E3C98A0C97E}"/>
              </a:ext>
            </a:extLst>
          </p:cNvPr>
          <p:cNvSpPr>
            <a:spLocks noGrp="1"/>
          </p:cNvSpPr>
          <p:nvPr>
            <p:ph type="title"/>
          </p:nvPr>
        </p:nvSpPr>
        <p:spPr>
          <a:xfrm>
            <a:off x="1484311" y="685801"/>
            <a:ext cx="10018713" cy="1116496"/>
          </a:xfrm>
        </p:spPr>
        <p:txBody>
          <a:bodyPr/>
          <a:lstStyle/>
          <a:p>
            <a:r>
              <a:rPr lang="en-US" dirty="0"/>
              <a:t>Brief history of AI - the second AI winter</a:t>
            </a:r>
            <a:endParaRPr lang="x-none" dirty="0"/>
          </a:p>
        </p:txBody>
      </p:sp>
      <p:sp>
        <p:nvSpPr>
          <p:cNvPr id="3" name="Content Placeholder 2">
            <a:extLst>
              <a:ext uri="{FF2B5EF4-FFF2-40B4-BE49-F238E27FC236}">
                <a16:creationId xmlns:a16="http://schemas.microsoft.com/office/drawing/2014/main" id="{C01200D4-A291-4A68-8A04-4875DB5310D7}"/>
              </a:ext>
            </a:extLst>
          </p:cNvPr>
          <p:cNvSpPr>
            <a:spLocks noGrp="1"/>
          </p:cNvSpPr>
          <p:nvPr>
            <p:ph idx="1"/>
          </p:nvPr>
        </p:nvSpPr>
        <p:spPr>
          <a:xfrm>
            <a:off x="1484310" y="1683027"/>
            <a:ext cx="10018713" cy="4108174"/>
          </a:xfrm>
        </p:spPr>
        <p:txBody>
          <a:bodyPr>
            <a:normAutofit/>
          </a:bodyPr>
          <a:lstStyle/>
          <a:p>
            <a:pPr marL="0" indent="0" algn="just">
              <a:buNone/>
            </a:pPr>
            <a:r>
              <a:rPr lang="en-US" dirty="0"/>
              <a:t>	-In the late 80s and early 90s, funding for AI has been deeply cut due to the 	limitations of the expert systems and the expectations for Japan’s Fifth 	Generation Project not being met</a:t>
            </a:r>
          </a:p>
          <a:p>
            <a:pPr marL="0" indent="0">
              <a:buNone/>
            </a:pPr>
            <a:r>
              <a:rPr lang="en-US" dirty="0"/>
              <a:t>	</a:t>
            </a:r>
            <a:r>
              <a:rPr lang="en-US" b="1" dirty="0"/>
              <a:t>-Nouvelle AI: </a:t>
            </a:r>
            <a:r>
              <a:rPr lang="en-US" dirty="0"/>
              <a:t>But in the late 80s, a completely new approach to AI, based on robotics, has bee proposed by Brooks in his paper "Elephants Don’t Play Chess”, based on the belief that, to show real intelligence, a machine needs to have a body — it needs to perceive, move, survive and deal with the world.</a:t>
            </a:r>
            <a:endParaRPr lang="x-none" dirty="0"/>
          </a:p>
        </p:txBody>
      </p:sp>
    </p:spTree>
    <p:extLst>
      <p:ext uri="{BB962C8B-B14F-4D97-AF65-F5344CB8AC3E}">
        <p14:creationId xmlns:p14="http://schemas.microsoft.com/office/powerpoint/2010/main" val="86914167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545C9-779A-4D31-8C84-DD315A0485D1}"/>
              </a:ext>
            </a:extLst>
          </p:cNvPr>
          <p:cNvSpPr>
            <a:spLocks noGrp="1"/>
          </p:cNvSpPr>
          <p:nvPr>
            <p:ph type="title"/>
          </p:nvPr>
        </p:nvSpPr>
        <p:spPr/>
        <p:txBody>
          <a:bodyPr/>
          <a:lstStyle/>
          <a:p>
            <a:r>
              <a:rPr lang="en-US" dirty="0"/>
              <a:t>Becoming  an Industry</a:t>
            </a:r>
            <a:endParaRPr lang="x-none" dirty="0"/>
          </a:p>
        </p:txBody>
      </p:sp>
      <p:sp>
        <p:nvSpPr>
          <p:cNvPr id="3" name="Content Placeholder 2">
            <a:extLst>
              <a:ext uri="{FF2B5EF4-FFF2-40B4-BE49-F238E27FC236}">
                <a16:creationId xmlns:a16="http://schemas.microsoft.com/office/drawing/2014/main" id="{91610B38-B9D1-4A7E-A8CD-C6E847CAA837}"/>
              </a:ext>
            </a:extLst>
          </p:cNvPr>
          <p:cNvSpPr>
            <a:spLocks noGrp="1"/>
          </p:cNvSpPr>
          <p:nvPr>
            <p:ph idx="1"/>
          </p:nvPr>
        </p:nvSpPr>
        <p:spPr>
          <a:xfrm>
            <a:off x="1484310" y="1927275"/>
            <a:ext cx="10018713" cy="3863926"/>
          </a:xfrm>
        </p:spPr>
        <p:txBody>
          <a:bodyPr>
            <a:normAutofit/>
          </a:bodyPr>
          <a:lstStyle/>
          <a:p>
            <a:r>
              <a:rPr lang="en-US" dirty="0"/>
              <a:t>One of the early research in AI is search problem such as for game-playing. Game-playing can be usefully viewed as a search problem in a space defined by a fixed set of rules</a:t>
            </a:r>
          </a:p>
          <a:p>
            <a:r>
              <a:rPr lang="en-US" dirty="0"/>
              <a:t>The real success of AI in game-playing was achieved in 1996 IBM Deep Blue beat Gary Kasparov for the first time.</a:t>
            </a:r>
          </a:p>
          <a:p>
            <a:r>
              <a:rPr lang="en-US" dirty="0"/>
              <a:t>1997 an upgraded version won an entire match against the same opponent.</a:t>
            </a:r>
          </a:p>
        </p:txBody>
      </p:sp>
    </p:spTree>
    <p:extLst>
      <p:ext uri="{BB962C8B-B14F-4D97-AF65-F5344CB8AC3E}">
        <p14:creationId xmlns:p14="http://schemas.microsoft.com/office/powerpoint/2010/main" val="19436131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err="1"/>
              <a:t>Cont</a:t>
            </a:r>
            <a:r>
              <a:rPr lang="en-GB" dirty="0"/>
              <a:t>…</a:t>
            </a:r>
          </a:p>
        </p:txBody>
      </p:sp>
      <p:sp>
        <p:nvSpPr>
          <p:cNvPr id="3" name="Content Placeholder 2"/>
          <p:cNvSpPr>
            <a:spLocks noGrp="1"/>
          </p:cNvSpPr>
          <p:nvPr>
            <p:ph idx="1"/>
          </p:nvPr>
        </p:nvSpPr>
        <p:spPr/>
        <p:txBody>
          <a:bodyPr>
            <a:normAutofit/>
          </a:bodyPr>
          <a:lstStyle/>
          <a:p>
            <a:r>
              <a:rPr lang="en-US" dirty="0"/>
              <a:t>SIRI has been developed in 2011 .</a:t>
            </a:r>
          </a:p>
          <a:p>
            <a:r>
              <a:rPr lang="en-GB" dirty="0"/>
              <a:t>In </a:t>
            </a:r>
            <a:r>
              <a:rPr lang="en-GB" b="1" dirty="0"/>
              <a:t>2012</a:t>
            </a:r>
            <a:r>
              <a:rPr lang="en-GB" dirty="0"/>
              <a:t>, a team at Google created a neural network that learns to recognize cats from pictures. The model built using un-supervised Deep Learning, was exposed to over 10 million images for 3 days.</a:t>
            </a:r>
          </a:p>
          <a:p>
            <a:endParaRPr lang="en-GB" dirty="0"/>
          </a:p>
        </p:txBody>
      </p:sp>
    </p:spTree>
    <p:extLst>
      <p:ext uri="{BB962C8B-B14F-4D97-AF65-F5344CB8AC3E}">
        <p14:creationId xmlns:p14="http://schemas.microsoft.com/office/powerpoint/2010/main" val="398965999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792773"/>
          </a:xfrm>
        </p:spPr>
        <p:txBody>
          <a:bodyPr/>
          <a:lstStyle/>
          <a:p>
            <a:r>
              <a:rPr lang="en-GB" dirty="0" err="1"/>
              <a:t>Cont</a:t>
            </a:r>
            <a:r>
              <a:rPr lang="en-GB" dirty="0"/>
              <a:t>…</a:t>
            </a:r>
          </a:p>
        </p:txBody>
      </p:sp>
      <p:sp>
        <p:nvSpPr>
          <p:cNvPr id="3" name="Content Placeholder 2"/>
          <p:cNvSpPr>
            <a:spLocks noGrp="1"/>
          </p:cNvSpPr>
          <p:nvPr>
            <p:ph idx="1"/>
          </p:nvPr>
        </p:nvSpPr>
        <p:spPr>
          <a:xfrm>
            <a:off x="1390525" y="1822937"/>
            <a:ext cx="10018713" cy="3124201"/>
          </a:xfrm>
        </p:spPr>
        <p:txBody>
          <a:bodyPr/>
          <a:lstStyle/>
          <a:p>
            <a:pPr algn="just"/>
            <a:r>
              <a:rPr lang="en-GB" dirty="0"/>
              <a:t>Sophia is a social humanoid robot developed by Hong Kong-based company Hanson Robotics. Sophia was activated on </a:t>
            </a:r>
            <a:r>
              <a:rPr lang="en-GB" b="1" dirty="0"/>
              <a:t>February 14, 2016</a:t>
            </a:r>
            <a:r>
              <a:rPr lang="en-GB" dirty="0"/>
              <a:t>, and made her first public appearance at South by Southwest Festival (SXSW) in mid-March 2016 in Austin, Texas, United States.</a:t>
            </a:r>
          </a:p>
          <a:p>
            <a:endParaRPr lang="x-none" dirty="0"/>
          </a:p>
          <a:p>
            <a:endParaRPr lang="en-GB" dirty="0"/>
          </a:p>
        </p:txBody>
      </p:sp>
      <p:pic>
        <p:nvPicPr>
          <p:cNvPr id="4" name="Picture 3"/>
          <p:cNvPicPr>
            <a:picLocks noChangeAspect="1"/>
          </p:cNvPicPr>
          <p:nvPr/>
        </p:nvPicPr>
        <p:blipFill>
          <a:blip r:embed="rId2"/>
          <a:stretch>
            <a:fillRect/>
          </a:stretch>
        </p:blipFill>
        <p:spPr>
          <a:xfrm>
            <a:off x="7913077" y="3572606"/>
            <a:ext cx="2391508" cy="2914651"/>
          </a:xfrm>
          <a:prstGeom prst="rect">
            <a:avLst/>
          </a:prstGeom>
        </p:spPr>
      </p:pic>
    </p:spTree>
    <p:extLst>
      <p:ext uri="{BB962C8B-B14F-4D97-AF65-F5344CB8AC3E}">
        <p14:creationId xmlns:p14="http://schemas.microsoft.com/office/powerpoint/2010/main" val="28560318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2AB62-E3F1-4710-9706-473454011DA2}"/>
              </a:ext>
            </a:extLst>
          </p:cNvPr>
          <p:cNvSpPr>
            <a:spLocks noGrp="1"/>
          </p:cNvSpPr>
          <p:nvPr>
            <p:ph type="title"/>
          </p:nvPr>
        </p:nvSpPr>
        <p:spPr>
          <a:xfrm>
            <a:off x="1484311" y="685800"/>
            <a:ext cx="10018713" cy="891209"/>
          </a:xfrm>
        </p:spPr>
        <p:txBody>
          <a:bodyPr>
            <a:normAutofit fontScale="90000"/>
          </a:bodyPr>
          <a:lstStyle/>
          <a:p>
            <a:r>
              <a:rPr lang="en-US" dirty="0"/>
              <a:t>Diagram summarizes the history and evolution of AI in a comprehensive shape.</a:t>
            </a:r>
            <a:endParaRPr lang="x-none" dirty="0"/>
          </a:p>
        </p:txBody>
      </p:sp>
      <p:pic>
        <p:nvPicPr>
          <p:cNvPr id="4" name="Content Placeholder 3">
            <a:extLst>
              <a:ext uri="{FF2B5EF4-FFF2-40B4-BE49-F238E27FC236}">
                <a16:creationId xmlns:a16="http://schemas.microsoft.com/office/drawing/2014/main" id="{538FAEF2-0A4C-4C10-8B03-A271DD07F9E5}"/>
              </a:ext>
            </a:extLst>
          </p:cNvPr>
          <p:cNvPicPr>
            <a:picLocks noGrp="1" noChangeAspect="1"/>
          </p:cNvPicPr>
          <p:nvPr>
            <p:ph idx="1"/>
          </p:nvPr>
        </p:nvPicPr>
        <p:blipFill>
          <a:blip r:embed="rId2"/>
          <a:stretch>
            <a:fillRect/>
          </a:stretch>
        </p:blipFill>
        <p:spPr>
          <a:xfrm>
            <a:off x="2672862" y="1695371"/>
            <a:ext cx="6835574" cy="4764044"/>
          </a:xfrm>
          <a:prstGeom prst="rect">
            <a:avLst/>
          </a:prstGeom>
        </p:spPr>
      </p:pic>
    </p:spTree>
    <p:extLst>
      <p:ext uri="{BB962C8B-B14F-4D97-AF65-F5344CB8AC3E}">
        <p14:creationId xmlns:p14="http://schemas.microsoft.com/office/powerpoint/2010/main" val="180828852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A03AF-61D2-49DE-94A6-EA178809C60E}"/>
              </a:ext>
            </a:extLst>
          </p:cNvPr>
          <p:cNvSpPr>
            <a:spLocks noGrp="1"/>
          </p:cNvSpPr>
          <p:nvPr>
            <p:ph type="title"/>
          </p:nvPr>
        </p:nvSpPr>
        <p:spPr>
          <a:xfrm>
            <a:off x="1484311" y="685800"/>
            <a:ext cx="10018713" cy="1103243"/>
          </a:xfrm>
        </p:spPr>
        <p:txBody>
          <a:bodyPr/>
          <a:lstStyle/>
          <a:p>
            <a:r>
              <a:rPr lang="en-US" dirty="0"/>
              <a:t>End Lecture Assignments</a:t>
            </a:r>
            <a:endParaRPr lang="x-none" dirty="0"/>
          </a:p>
        </p:txBody>
      </p:sp>
      <p:sp>
        <p:nvSpPr>
          <p:cNvPr id="3" name="Content Placeholder 2">
            <a:extLst>
              <a:ext uri="{FF2B5EF4-FFF2-40B4-BE49-F238E27FC236}">
                <a16:creationId xmlns:a16="http://schemas.microsoft.com/office/drawing/2014/main" id="{A29EA62B-E5E2-4D0A-B7AD-6E6DE1B9A0C8}"/>
              </a:ext>
            </a:extLst>
          </p:cNvPr>
          <p:cNvSpPr>
            <a:spLocks noGrp="1"/>
          </p:cNvSpPr>
          <p:nvPr>
            <p:ph idx="1"/>
          </p:nvPr>
        </p:nvSpPr>
        <p:spPr>
          <a:xfrm>
            <a:off x="1484310" y="1656523"/>
            <a:ext cx="10018713" cy="4134678"/>
          </a:xfrm>
        </p:spPr>
        <p:txBody>
          <a:bodyPr>
            <a:normAutofit/>
          </a:bodyPr>
          <a:lstStyle/>
          <a:p>
            <a:r>
              <a:rPr lang="en-US" b="1" dirty="0"/>
              <a:t>Turing’s paper on AI</a:t>
            </a:r>
          </a:p>
          <a:p>
            <a:r>
              <a:rPr lang="en-US" dirty="0"/>
              <a:t>You can get this article for yourself: go to</a:t>
            </a:r>
          </a:p>
          <a:p>
            <a:pPr marL="0" indent="0">
              <a:buNone/>
            </a:pPr>
            <a:r>
              <a:rPr lang="en-US" dirty="0"/>
              <a:t>	http://www.library.manchester.ac.uk/eresources/</a:t>
            </a:r>
          </a:p>
          <a:p>
            <a:pPr marL="0" indent="0">
              <a:buNone/>
            </a:pPr>
            <a:r>
              <a:rPr lang="en-US" dirty="0"/>
              <a:t>	select ‘Electronic Journals’ and find the journal Mind. The reference is:</a:t>
            </a:r>
          </a:p>
          <a:p>
            <a:pPr marL="0" indent="0">
              <a:buNone/>
            </a:pPr>
            <a:r>
              <a:rPr lang="en-US" dirty="0"/>
              <a:t>-A. M. Turing, “Computing Machinery and Intelligence”, Mind, (New Series), Vol. 59, No. 236, 1950, pp. 433-460.</a:t>
            </a:r>
          </a:p>
          <a:p>
            <a:pPr marL="0" indent="0">
              <a:buNone/>
            </a:pPr>
            <a:r>
              <a:rPr lang="en-US" dirty="0"/>
              <a:t>-You should read (and make notes on) this article in advance for your next class.</a:t>
            </a:r>
          </a:p>
          <a:p>
            <a:pPr marL="0" indent="0">
              <a:buNone/>
            </a:pPr>
            <a:r>
              <a:rPr lang="en-US" dirty="0"/>
              <a:t>-Differentiate between human intelligence and artificial intelligence. Write down the pros and cons of both.</a:t>
            </a:r>
            <a:endParaRPr lang="x-none" dirty="0"/>
          </a:p>
        </p:txBody>
      </p:sp>
    </p:spTree>
    <p:extLst>
      <p:ext uri="{BB962C8B-B14F-4D97-AF65-F5344CB8AC3E}">
        <p14:creationId xmlns:p14="http://schemas.microsoft.com/office/powerpoint/2010/main" val="14304634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2242915" y="2981622"/>
            <a:ext cx="8220520" cy="1015663"/>
          </a:xfrm>
          <a:prstGeom prst="rect">
            <a:avLst/>
          </a:prstGeom>
          <a:noFill/>
        </p:spPr>
        <p:txBody>
          <a:bodyPr wrap="none" lIns="91440" tIns="45720" rIns="91440" bIns="45720">
            <a:spAutoFit/>
          </a:bodyPr>
          <a:lstStyle/>
          <a:p>
            <a:pPr algn="ctr"/>
            <a:r>
              <a:rPr lang="en-US" sz="6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latin typeface="Arial" panose="020B0604020202020204" pitchFamily="34" charset="0"/>
                <a:cs typeface="Arial" panose="020B0604020202020204" pitchFamily="34" charset="0"/>
              </a:rPr>
              <a:t>END OF LECTURE # 1</a:t>
            </a:r>
            <a:endParaRPr lang="en-US" sz="6000" b="1" cap="none" spc="0" dirty="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endParaRPr>
          </a:p>
        </p:txBody>
      </p:sp>
    </p:spTree>
    <p:extLst>
      <p:ext uri="{BB962C8B-B14F-4D97-AF65-F5344CB8AC3E}">
        <p14:creationId xmlns:p14="http://schemas.microsoft.com/office/powerpoint/2010/main" val="2760069128"/>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2318</TotalTime>
  <Words>3702</Words>
  <Application>Microsoft Office PowerPoint</Application>
  <PresentationFormat>Widescreen</PresentationFormat>
  <Paragraphs>314</Paragraphs>
  <Slides>61</Slides>
  <Notes>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61</vt:i4>
      </vt:variant>
    </vt:vector>
  </HeadingPairs>
  <TitlesOfParts>
    <vt:vector size="70" baseType="lpstr">
      <vt:lpstr>Arial</vt:lpstr>
      <vt:lpstr>Arial Unicode MS</vt:lpstr>
      <vt:lpstr>Bell MT</vt:lpstr>
      <vt:lpstr>Calibri</vt:lpstr>
      <vt:lpstr>Courier New</vt:lpstr>
      <vt:lpstr>Gill Sans MT</vt:lpstr>
      <vt:lpstr>Trebuchet MS</vt:lpstr>
      <vt:lpstr>Wingdings</vt:lpstr>
      <vt:lpstr>Gallery</vt:lpstr>
      <vt:lpstr>    Introduction to Artificial Intelligence </vt:lpstr>
      <vt:lpstr>Course Description</vt:lpstr>
      <vt:lpstr>Learning Outcomes</vt:lpstr>
      <vt:lpstr>Lecture Outline</vt:lpstr>
      <vt:lpstr>About Theory Course</vt:lpstr>
      <vt:lpstr>Course Assessment</vt:lpstr>
      <vt:lpstr>Text &amp; Reference Books</vt:lpstr>
      <vt:lpstr>Top Technologies of AI</vt:lpstr>
      <vt:lpstr>Intelligence</vt:lpstr>
      <vt:lpstr>Cont...</vt:lpstr>
      <vt:lpstr>Evolution of Artificial Intelligence</vt:lpstr>
      <vt:lpstr>What is Artificial Intelligence</vt:lpstr>
      <vt:lpstr>More Formal Definition of AI</vt:lpstr>
      <vt:lpstr>What is Artificial Intelligence?</vt:lpstr>
      <vt:lpstr>Acting Humanly: The Turing Test</vt:lpstr>
      <vt:lpstr>Acting Humanly: The Turing Test</vt:lpstr>
      <vt:lpstr>Systems that act like humans</vt:lpstr>
      <vt:lpstr>Systems that act like humans</vt:lpstr>
      <vt:lpstr>Systems that act like humans</vt:lpstr>
      <vt:lpstr>Systems that act like humans</vt:lpstr>
      <vt:lpstr>Thinking Humanly</vt:lpstr>
      <vt:lpstr>Thinking Humanly: Cognitive Modelling</vt:lpstr>
      <vt:lpstr>Thinking Rationally:The “laws of thought” approach</vt:lpstr>
      <vt:lpstr>Thinking Rationally:The “laws of thought” approach</vt:lpstr>
      <vt:lpstr>Thinking Rationally:The “laws of thought” approach</vt:lpstr>
      <vt:lpstr>Acting Rationally: The Rational Agent Approach</vt:lpstr>
      <vt:lpstr>Acting Rationally: The Rational Agent Approach</vt:lpstr>
      <vt:lpstr>AI Tree</vt:lpstr>
      <vt:lpstr>Types of AI</vt:lpstr>
      <vt:lpstr>Reactive Artificial Intelligence  </vt:lpstr>
      <vt:lpstr>Theory of Mind AI  </vt:lpstr>
      <vt:lpstr>Limited Memory AI  </vt:lpstr>
      <vt:lpstr>Self-Aware AI </vt:lpstr>
      <vt:lpstr>Stages of AI</vt:lpstr>
      <vt:lpstr>Artificial Narrow Intelligence (ANI) </vt:lpstr>
      <vt:lpstr>Artificial General Intelligence (AGI) </vt:lpstr>
      <vt:lpstr>Artificial Super Intelligence (ASI) </vt:lpstr>
      <vt:lpstr>Foundations of AI</vt:lpstr>
      <vt:lpstr>Cont...</vt:lpstr>
      <vt:lpstr>Goals of AI</vt:lpstr>
      <vt:lpstr>Areas of AI</vt:lpstr>
      <vt:lpstr>Areas &amp; Applications of AI </vt:lpstr>
      <vt:lpstr>Cont...</vt:lpstr>
      <vt:lpstr>History &amp; Evolution of AI</vt:lpstr>
      <vt:lpstr>Brief History of AI</vt:lpstr>
      <vt:lpstr>Ferranti Mark I</vt:lpstr>
      <vt:lpstr>Cont...</vt:lpstr>
      <vt:lpstr>Brief history of AI - Golden years 1956-74</vt:lpstr>
      <vt:lpstr>Brief history of AI - Golden years 1956-74</vt:lpstr>
      <vt:lpstr>The first AI winter</vt:lpstr>
      <vt:lpstr>The first AI winter</vt:lpstr>
      <vt:lpstr>Brief history of AI -Boom 1980–1987</vt:lpstr>
      <vt:lpstr>Cont...</vt:lpstr>
      <vt:lpstr>Brief history of AI - the second AI winter</vt:lpstr>
      <vt:lpstr>Brief history of AI - the second AI winter</vt:lpstr>
      <vt:lpstr>Becoming  an Industry</vt:lpstr>
      <vt:lpstr>Cont…</vt:lpstr>
      <vt:lpstr>Cont…</vt:lpstr>
      <vt:lpstr>Diagram summarizes the history and evolution of AI in a comprehensive shape.</vt:lpstr>
      <vt:lpstr>End Lecture Assignments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Artificial Intelligence</dc:title>
  <dc:creator>Rabiya Khan</dc:creator>
  <cp:lastModifiedBy>mehwish wahid</cp:lastModifiedBy>
  <cp:revision>66</cp:revision>
  <dcterms:created xsi:type="dcterms:W3CDTF">2020-07-16T20:39:49Z</dcterms:created>
  <dcterms:modified xsi:type="dcterms:W3CDTF">2025-03-06T07:34:55Z</dcterms:modified>
</cp:coreProperties>
</file>