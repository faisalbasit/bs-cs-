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2" r:id="rId1"/>
  </p:sldMasterIdLst>
  <p:notesMasterIdLst>
    <p:notesMasterId r:id="rId44"/>
  </p:notesMasterIdLst>
  <p:sldIdLst>
    <p:sldId id="507" r:id="rId2"/>
    <p:sldId id="508" r:id="rId3"/>
    <p:sldId id="509" r:id="rId4"/>
    <p:sldId id="510" r:id="rId5"/>
    <p:sldId id="511" r:id="rId6"/>
    <p:sldId id="512" r:id="rId7"/>
    <p:sldId id="514" r:id="rId8"/>
    <p:sldId id="515" r:id="rId9"/>
    <p:sldId id="516" r:id="rId10"/>
    <p:sldId id="517" r:id="rId11"/>
    <p:sldId id="518" r:id="rId12"/>
    <p:sldId id="519" r:id="rId13"/>
    <p:sldId id="520" r:id="rId14"/>
    <p:sldId id="521" r:id="rId15"/>
    <p:sldId id="522" r:id="rId16"/>
    <p:sldId id="523" r:id="rId17"/>
    <p:sldId id="524" r:id="rId18"/>
    <p:sldId id="525" r:id="rId19"/>
    <p:sldId id="527" r:id="rId20"/>
    <p:sldId id="528" r:id="rId21"/>
    <p:sldId id="531" r:id="rId22"/>
    <p:sldId id="532" r:id="rId23"/>
    <p:sldId id="533" r:id="rId24"/>
    <p:sldId id="534" r:id="rId25"/>
    <p:sldId id="558" r:id="rId26"/>
    <p:sldId id="535" r:id="rId27"/>
    <p:sldId id="549" r:id="rId28"/>
    <p:sldId id="550" r:id="rId29"/>
    <p:sldId id="536" r:id="rId30"/>
    <p:sldId id="553" r:id="rId31"/>
    <p:sldId id="538" r:id="rId32"/>
    <p:sldId id="554" r:id="rId33"/>
    <p:sldId id="555" r:id="rId34"/>
    <p:sldId id="556" r:id="rId35"/>
    <p:sldId id="557" r:id="rId36"/>
    <p:sldId id="546" r:id="rId37"/>
    <p:sldId id="552" r:id="rId38"/>
    <p:sldId id="541" r:id="rId39"/>
    <p:sldId id="551" r:id="rId40"/>
    <p:sldId id="542" r:id="rId41"/>
    <p:sldId id="543" r:id="rId42"/>
    <p:sldId id="544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0" autoAdjust="0"/>
    <p:restoredTop sz="94249" autoAdjust="0"/>
  </p:normalViewPr>
  <p:slideViewPr>
    <p:cSldViewPr>
      <p:cViewPr varScale="1">
        <p:scale>
          <a:sx n="82" d="100"/>
          <a:sy n="82" d="100"/>
        </p:scale>
        <p:origin x="148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A4C36-0174-4F91-AD6C-BB28D87E0BA3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3BACE-9753-4288-81BF-CA0AA97B45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72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4588" y="684213"/>
            <a:ext cx="4570412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2B723-4480-414C-A3F8-C429B022641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94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8676" name="Date Placeholder 1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A19669-899F-4549-87D8-69042733A02B}" type="datetime1">
              <a:rPr lang="en-US" altLang="en-US" b="0" smtClean="0"/>
              <a:pPr/>
              <a:t>4/9/2025</a:t>
            </a:fld>
            <a:endParaRPr lang="en-US" altLang="en-US" b="0"/>
          </a:p>
        </p:txBody>
      </p:sp>
      <p:sp>
        <p:nvSpPr>
          <p:cNvPr id="28677" name="Footer Placeholder 2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0"/>
          </a:p>
        </p:txBody>
      </p:sp>
      <p:sp>
        <p:nvSpPr>
          <p:cNvPr id="28678" name="Header Placeholder 3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0"/>
          </a:p>
        </p:txBody>
      </p:sp>
    </p:spTree>
    <p:extLst>
      <p:ext uri="{BB962C8B-B14F-4D97-AF65-F5344CB8AC3E}">
        <p14:creationId xmlns:p14="http://schemas.microsoft.com/office/powerpoint/2010/main" val="423100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2532" name="Date Placeholder 1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0FFD0E-FFA4-4E7D-9939-9FD3597CECEB}" type="datetime1">
              <a:rPr lang="en-US" altLang="en-US" b="0" smtClean="0"/>
              <a:pPr/>
              <a:t>4/9/2025</a:t>
            </a:fld>
            <a:endParaRPr lang="en-US" altLang="en-US" b="0"/>
          </a:p>
        </p:txBody>
      </p:sp>
      <p:sp>
        <p:nvSpPr>
          <p:cNvPr id="22533" name="Footer Placeholder 2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0"/>
          </a:p>
        </p:txBody>
      </p:sp>
      <p:sp>
        <p:nvSpPr>
          <p:cNvPr id="22534" name="Header Placeholder 3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0"/>
          </a:p>
        </p:txBody>
      </p:sp>
    </p:spTree>
    <p:extLst>
      <p:ext uri="{BB962C8B-B14F-4D97-AF65-F5344CB8AC3E}">
        <p14:creationId xmlns:p14="http://schemas.microsoft.com/office/powerpoint/2010/main" val="4284219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4580" name="Date Placeholder 1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A233139-34FF-46D1-A224-2E01D81AA7C9}" type="datetime1">
              <a:rPr lang="en-US" altLang="en-US" b="0" smtClean="0"/>
              <a:pPr/>
              <a:t>4/9/2025</a:t>
            </a:fld>
            <a:endParaRPr lang="en-US" altLang="en-US" b="0"/>
          </a:p>
        </p:txBody>
      </p:sp>
      <p:sp>
        <p:nvSpPr>
          <p:cNvPr id="24581" name="Footer Placeholder 2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0"/>
          </a:p>
        </p:txBody>
      </p:sp>
      <p:sp>
        <p:nvSpPr>
          <p:cNvPr id="24582" name="Header Placeholder 3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0"/>
          </a:p>
        </p:txBody>
      </p:sp>
    </p:spTree>
    <p:extLst>
      <p:ext uri="{BB962C8B-B14F-4D97-AF65-F5344CB8AC3E}">
        <p14:creationId xmlns:p14="http://schemas.microsoft.com/office/powerpoint/2010/main" val="447468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6628" name="Date Placeholder 1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B15C96-8409-4F2F-9822-D35A8873B38B}" type="datetime1">
              <a:rPr lang="en-US" altLang="en-US" b="0" smtClean="0"/>
              <a:pPr/>
              <a:t>4/9/2025</a:t>
            </a:fld>
            <a:endParaRPr lang="en-US" altLang="en-US" b="0"/>
          </a:p>
        </p:txBody>
      </p:sp>
      <p:sp>
        <p:nvSpPr>
          <p:cNvPr id="26629" name="Footer Placeholder 2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0"/>
          </a:p>
        </p:txBody>
      </p:sp>
      <p:sp>
        <p:nvSpPr>
          <p:cNvPr id="26630" name="Header Placeholder 3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0"/>
          </a:p>
        </p:txBody>
      </p:sp>
    </p:spTree>
    <p:extLst>
      <p:ext uri="{BB962C8B-B14F-4D97-AF65-F5344CB8AC3E}">
        <p14:creationId xmlns:p14="http://schemas.microsoft.com/office/powerpoint/2010/main" val="3305787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8676" name="Date Placeholder 1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DA19669-899F-4549-87D8-69042733A02B}" type="datetime1">
              <a:rPr lang="en-US" altLang="en-US" b="0" smtClean="0"/>
              <a:pPr/>
              <a:t>4/9/2025</a:t>
            </a:fld>
            <a:endParaRPr lang="en-US" altLang="en-US" b="0"/>
          </a:p>
        </p:txBody>
      </p:sp>
      <p:sp>
        <p:nvSpPr>
          <p:cNvPr id="28677" name="Footer Placeholder 2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0"/>
          </a:p>
        </p:txBody>
      </p:sp>
      <p:sp>
        <p:nvSpPr>
          <p:cNvPr id="28678" name="Header Placeholder 3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b="0"/>
          </a:p>
        </p:txBody>
      </p:sp>
    </p:spTree>
    <p:extLst>
      <p:ext uri="{BB962C8B-B14F-4D97-AF65-F5344CB8AC3E}">
        <p14:creationId xmlns:p14="http://schemas.microsoft.com/office/powerpoint/2010/main" val="2325697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02CEF-DA6B-4027-8862-345D3D4D8FFF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Rabiya Tahir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600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5151A-9277-4BF5-B1E0-0B08D99A888A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Rabiya Tahir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66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E9F4F-1FAE-45E1-81BE-3AEDFCAC6EA4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Rabiya Tahir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85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40254-CEF2-40AF-9FFE-71BCBE00B15F}" type="datetime1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Rabiya Tahir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79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3D0DE-EE81-4530-8B26-97DDE23079C3}" type="datetime1">
              <a:rPr lang="en-US" smtClean="0"/>
              <a:t>4/9/2025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Rabiya Tahir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499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5D5E8-A2A9-4CEB-9F32-C9859FEE0997}" type="datetime1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Rabiya Tahir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349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973EB-EE90-4972-9BED-B7AA10921FB8}" type="datetime1">
              <a:rPr lang="en-US" smtClean="0"/>
              <a:t>4/9/2025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Rabiya Tahir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9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21062-1703-4FFA-A503-50F5A5FA80D5}" type="datetime1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Rabiya Tahir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48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0A082-5D38-4320-AE35-55EEAF0AC9D4}" type="datetime1">
              <a:rPr lang="en-US" smtClean="0"/>
              <a:t>4/9/2025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Rabiya Tahir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02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F9FA-F902-4858-8200-6BAA67FC135E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Rabiya Tahir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37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26815-CD23-402F-AF82-CAB1498497C1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Rabiya Tahir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599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6C8EB-CA25-4670-9B73-E79605FC660E}" type="datetime1">
              <a:rPr lang="en-US" smtClean="0"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Rabiya Tahir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310FD-7414-42D3-8348-EB66D3F8703C}" type="datetime1">
              <a:rPr lang="en-US" smtClean="0"/>
              <a:t>4/9/2025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Rabiya Tahir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2A1D3-94CF-4BE8-B9A0-75EFE4C74F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02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67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5655827-B42D-4180-88D3-D83F25E4B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4ACCB06-563C-4ADE-B4D6-1FE9F723C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955594"/>
            <a:ext cx="1371718" cy="2902407"/>
          </a:xfrm>
          <a:custGeom>
            <a:avLst/>
            <a:gdLst>
              <a:gd name="connsiteX0" fmla="*/ 0 w 1828958"/>
              <a:gd name="connsiteY0" fmla="*/ 0 h 2902407"/>
              <a:gd name="connsiteX1" fmla="*/ 1828958 w 1828958"/>
              <a:gd name="connsiteY1" fmla="*/ 2902407 h 2902407"/>
              <a:gd name="connsiteX2" fmla="*/ 1709896 w 1828958"/>
              <a:gd name="connsiteY2" fmla="*/ 2902407 h 2902407"/>
              <a:gd name="connsiteX3" fmla="*/ 0 w 1828958"/>
              <a:gd name="connsiteY3" fmla="*/ 63474 h 2902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958" h="2902407">
                <a:moveTo>
                  <a:pt x="0" y="0"/>
                </a:moveTo>
                <a:lnTo>
                  <a:pt x="1828958" y="2902407"/>
                </a:lnTo>
                <a:lnTo>
                  <a:pt x="1709896" y="2902407"/>
                </a:lnTo>
                <a:lnTo>
                  <a:pt x="0" y="63474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0761ECD-D92B-46AE-82CA-640023D28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220098"/>
            <a:ext cx="2182534" cy="3637903"/>
          </a:xfrm>
          <a:custGeom>
            <a:avLst/>
            <a:gdLst>
              <a:gd name="connsiteX0" fmla="*/ 0 w 2910045"/>
              <a:gd name="connsiteY0" fmla="*/ 0 h 3637903"/>
              <a:gd name="connsiteX1" fmla="*/ 2910045 w 2910045"/>
              <a:gd name="connsiteY1" fmla="*/ 3637903 h 3637903"/>
              <a:gd name="connsiteX2" fmla="*/ 2786220 w 2910045"/>
              <a:gd name="connsiteY2" fmla="*/ 3637903 h 3637903"/>
              <a:gd name="connsiteX3" fmla="*/ 0 w 2910045"/>
              <a:gd name="connsiteY3" fmla="*/ 20366 h 3637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0045" h="3637903">
                <a:moveTo>
                  <a:pt x="0" y="0"/>
                </a:moveTo>
                <a:lnTo>
                  <a:pt x="2910045" y="3637903"/>
                </a:lnTo>
                <a:lnTo>
                  <a:pt x="2786220" y="3637903"/>
                </a:lnTo>
                <a:lnTo>
                  <a:pt x="0" y="20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28607-C55C-40FD-B2DF-6CD6A722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2845509"/>
            <a:ext cx="3112413" cy="4012491"/>
          </a:xfrm>
          <a:custGeom>
            <a:avLst/>
            <a:gdLst>
              <a:gd name="connsiteX0" fmla="*/ 0 w 4149883"/>
              <a:gd name="connsiteY0" fmla="*/ 0 h 4012491"/>
              <a:gd name="connsiteX1" fmla="*/ 4149883 w 4149883"/>
              <a:gd name="connsiteY1" fmla="*/ 4012491 h 4012491"/>
              <a:gd name="connsiteX2" fmla="*/ 2910046 w 4149883"/>
              <a:gd name="connsiteY2" fmla="*/ 4012491 h 4012491"/>
              <a:gd name="connsiteX3" fmla="*/ 0 w 4149883"/>
              <a:gd name="connsiteY3" fmla="*/ 374587 h 401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49883" h="4012491">
                <a:moveTo>
                  <a:pt x="0" y="0"/>
                </a:moveTo>
                <a:lnTo>
                  <a:pt x="4149883" y="4012491"/>
                </a:lnTo>
                <a:lnTo>
                  <a:pt x="2910046" y="4012491"/>
                </a:lnTo>
                <a:lnTo>
                  <a:pt x="0" y="3745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00A20C1-29A4-43E0-AB15-7931F76F8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3332410"/>
            <a:ext cx="2039659" cy="3525590"/>
          </a:xfrm>
          <a:custGeom>
            <a:avLst/>
            <a:gdLst>
              <a:gd name="connsiteX0" fmla="*/ 0 w 2719546"/>
              <a:gd name="connsiteY0" fmla="*/ 0 h 3525590"/>
              <a:gd name="connsiteX1" fmla="*/ 2719546 w 2719546"/>
              <a:gd name="connsiteY1" fmla="*/ 3525590 h 3525590"/>
              <a:gd name="connsiteX2" fmla="*/ 1828959 w 2719546"/>
              <a:gd name="connsiteY2" fmla="*/ 3525590 h 3525590"/>
              <a:gd name="connsiteX3" fmla="*/ 0 w 2719546"/>
              <a:gd name="connsiteY3" fmla="*/ 623183 h 3525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546" h="3525590">
                <a:moveTo>
                  <a:pt x="0" y="0"/>
                </a:moveTo>
                <a:lnTo>
                  <a:pt x="2719546" y="3525590"/>
                </a:lnTo>
                <a:lnTo>
                  <a:pt x="1828959" y="3525590"/>
                </a:lnTo>
                <a:lnTo>
                  <a:pt x="0" y="623183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43468"/>
            <a:ext cx="6858000" cy="3618898"/>
          </a:xfrm>
        </p:spPr>
        <p:txBody>
          <a:bodyPr anchor="b">
            <a:normAutofit/>
          </a:bodyPr>
          <a:lstStyle/>
          <a:p>
            <a:pPr algn="ctr"/>
            <a:r>
              <a:rPr lang="en-US" sz="6300" dirty="0"/>
              <a:t>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9659" y="4552335"/>
            <a:ext cx="5064681" cy="1091381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# 10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Propositional Logic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993140" y="541116"/>
            <a:ext cx="4679930" cy="559053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spc="-2" dirty="0">
                <a:latin typeface="Times New Roman"/>
                <a:cs typeface="Times New Roman"/>
              </a:rPr>
              <a:t>Logic in General (1)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1699798"/>
            <a:ext cx="7572932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2800" i="1" spc="1" dirty="0">
                <a:solidFill>
                  <a:srgbClr val="FF9933"/>
                </a:solidFill>
                <a:latin typeface="Arial"/>
                <a:cs typeface="Arial"/>
              </a:rPr>
              <a:t>Logics </a:t>
            </a:r>
            <a:r>
              <a:rPr sz="2800" spc="1" dirty="0">
                <a:latin typeface="Arial"/>
                <a:cs typeface="Arial"/>
              </a:rPr>
              <a:t>are formal languages for representing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840" y="2270188"/>
            <a:ext cx="7579468" cy="381253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sz="2800" spc="1" dirty="0">
                <a:latin typeface="Arial"/>
                <a:cs typeface="Arial"/>
              </a:rPr>
              <a:t>information such that conclusions can be drawn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2638582"/>
            <a:ext cx="7727772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2800" spc="0" dirty="0">
                <a:latin typeface="Arial"/>
                <a:cs typeface="Arial"/>
              </a:rPr>
              <a:t>When people talk about logic they often mean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40" y="3208972"/>
            <a:ext cx="6636584" cy="381253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sz="2800" i="1" spc="1" dirty="0">
                <a:solidFill>
                  <a:srgbClr val="FF9933"/>
                </a:solidFill>
                <a:latin typeface="Arial"/>
                <a:cs typeface="Arial"/>
              </a:rPr>
              <a:t>propositional </a:t>
            </a:r>
            <a:r>
              <a:rPr sz="2800" spc="1" dirty="0">
                <a:latin typeface="Arial"/>
                <a:cs typeface="Arial"/>
              </a:rPr>
              <a:t>or </a:t>
            </a:r>
            <a:r>
              <a:rPr sz="2800" i="1" spc="1" dirty="0">
                <a:solidFill>
                  <a:srgbClr val="FF9933"/>
                </a:solidFill>
                <a:latin typeface="Arial"/>
                <a:cs typeface="Arial"/>
              </a:rPr>
              <a:t>first-order predicate </a:t>
            </a:r>
            <a:r>
              <a:rPr sz="2800" spc="1" dirty="0">
                <a:solidFill>
                  <a:srgbClr val="FF9933"/>
                </a:solidFill>
                <a:latin typeface="Arial"/>
                <a:cs typeface="Arial"/>
              </a:rPr>
              <a:t>logic.</a:t>
            </a:r>
            <a:endParaRPr sz="280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F16FD7-6EF9-4DDB-B6C8-ECA2713E0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993140" y="427021"/>
            <a:ext cx="4679848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spc="-1" dirty="0">
                <a:latin typeface="Times New Roman"/>
                <a:cs typeface="Times New Roman"/>
              </a:rPr>
              <a:t>Logic in General (2)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0740" y="1733326"/>
            <a:ext cx="5730484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800" spc="0" dirty="0">
                <a:latin typeface="Arial"/>
                <a:cs typeface="Arial"/>
              </a:rPr>
              <a:t>A </a:t>
            </a:r>
            <a:r>
              <a:rPr sz="2800" i="1" spc="0" dirty="0">
                <a:solidFill>
                  <a:srgbClr val="FF9933"/>
                </a:solidFill>
                <a:latin typeface="Arial"/>
                <a:cs typeface="Arial"/>
              </a:rPr>
              <a:t>logic </a:t>
            </a:r>
            <a:r>
              <a:rPr sz="2800" spc="0" dirty="0">
                <a:latin typeface="Arial"/>
                <a:cs typeface="Arial"/>
              </a:rPr>
              <a:t>usually has a well defined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65006" y="1876996"/>
            <a:ext cx="1207981" cy="381253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sz="2800" dirty="0">
                <a:latin typeface="Arial"/>
                <a:cs typeface="Arial"/>
              </a:rPr>
              <a:t>syntax,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0740" y="2261044"/>
            <a:ext cx="7646177" cy="3709924"/>
          </a:xfrm>
          <a:prstGeom prst="rect">
            <a:avLst/>
          </a:prstGeom>
        </p:spPr>
        <p:txBody>
          <a:bodyPr wrap="square" lIns="0" tIns="17875" rIns="0" bIns="0" rtlCol="0">
            <a:noAutofit/>
          </a:bodyPr>
          <a:lstStyle/>
          <a:p>
            <a:pPr marL="355600" marR="53378">
              <a:lnSpc>
                <a:spcPts val="2815"/>
              </a:lnSpc>
            </a:pPr>
            <a:r>
              <a:rPr sz="2800" spc="0" dirty="0">
                <a:latin typeface="Arial"/>
                <a:cs typeface="Arial"/>
              </a:rPr>
              <a:t>semantics and proof theory.</a:t>
            </a:r>
            <a:endParaRPr sz="2800">
              <a:latin typeface="Arial"/>
              <a:cs typeface="Arial"/>
            </a:endParaRPr>
          </a:p>
          <a:p>
            <a:pPr marL="12700" marR="18799">
              <a:lnSpc>
                <a:spcPts val="4070"/>
              </a:lnSpc>
              <a:spcBef>
                <a:spcPts val="62"/>
              </a:spcBef>
            </a:pPr>
            <a:r>
              <a:rPr sz="42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800" spc="0" dirty="0">
                <a:latin typeface="Arial"/>
                <a:cs typeface="Arial"/>
              </a:rPr>
              <a:t>The </a:t>
            </a:r>
            <a:r>
              <a:rPr sz="2800" i="1" spc="0" dirty="0">
                <a:solidFill>
                  <a:srgbClr val="FF9933"/>
                </a:solidFill>
                <a:latin typeface="Arial"/>
                <a:cs typeface="Arial"/>
              </a:rPr>
              <a:t>syntax </a:t>
            </a:r>
            <a:r>
              <a:rPr sz="2800" spc="0" dirty="0">
                <a:latin typeface="Arial"/>
                <a:cs typeface="Arial"/>
              </a:rPr>
              <a:t>of a logic defines the syntactically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ts val="2800"/>
              </a:lnSpc>
            </a:pPr>
            <a:r>
              <a:rPr sz="2800" spc="1" dirty="0">
                <a:latin typeface="Arial"/>
                <a:cs typeface="Arial"/>
              </a:rPr>
              <a:t>acceptable objects of the logic, or </a:t>
            </a:r>
            <a:r>
              <a:rPr sz="2800" i="1" spc="1" dirty="0">
                <a:latin typeface="Arial"/>
                <a:cs typeface="Arial"/>
              </a:rPr>
              <a:t>well-formed</a:t>
            </a:r>
            <a:endParaRPr sz="2800">
              <a:latin typeface="Arial"/>
              <a:cs typeface="Arial"/>
            </a:endParaRPr>
          </a:p>
          <a:p>
            <a:pPr marL="355600" marR="53378">
              <a:lnSpc>
                <a:spcPts val="2875"/>
              </a:lnSpc>
              <a:spcBef>
                <a:spcPts val="3"/>
              </a:spcBef>
            </a:pPr>
            <a:r>
              <a:rPr sz="2800" i="1" spc="2" dirty="0">
                <a:latin typeface="Arial"/>
                <a:cs typeface="Arial"/>
              </a:rPr>
              <a:t>formulae</a:t>
            </a:r>
            <a:r>
              <a:rPr sz="2800" spc="2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12700" marR="53378">
              <a:lnSpc>
                <a:spcPts val="4075"/>
              </a:lnSpc>
              <a:spcBef>
                <a:spcPts val="60"/>
              </a:spcBef>
            </a:pPr>
            <a:r>
              <a:rPr sz="42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800" spc="0" dirty="0">
                <a:latin typeface="Arial"/>
                <a:cs typeface="Arial"/>
              </a:rPr>
              <a:t>The </a:t>
            </a:r>
            <a:r>
              <a:rPr sz="2800" i="1" spc="0" dirty="0">
                <a:solidFill>
                  <a:srgbClr val="FF9933"/>
                </a:solidFill>
                <a:latin typeface="Arial"/>
                <a:cs typeface="Arial"/>
              </a:rPr>
              <a:t>semantics </a:t>
            </a:r>
            <a:r>
              <a:rPr sz="2800" spc="0" dirty="0">
                <a:latin typeface="Arial"/>
                <a:cs typeface="Arial"/>
              </a:rPr>
              <a:t>of a logic associate each</a:t>
            </a:r>
            <a:endParaRPr sz="2800">
              <a:latin typeface="Arial"/>
              <a:cs typeface="Arial"/>
            </a:endParaRPr>
          </a:p>
          <a:p>
            <a:pPr marL="355600" marR="53378">
              <a:lnSpc>
                <a:spcPts val="2650"/>
              </a:lnSpc>
            </a:pPr>
            <a:r>
              <a:rPr sz="2800" spc="1" dirty="0">
                <a:latin typeface="Arial"/>
                <a:cs typeface="Arial"/>
              </a:rPr>
              <a:t>formula with a </a:t>
            </a:r>
            <a:r>
              <a:rPr sz="2800" i="1" spc="1" dirty="0">
                <a:solidFill>
                  <a:srgbClr val="FF9933"/>
                </a:solidFill>
                <a:latin typeface="Arial"/>
                <a:cs typeface="Arial"/>
              </a:rPr>
              <a:t>meaning</a:t>
            </a:r>
            <a:r>
              <a:rPr sz="2800" spc="1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12700" marR="53378">
              <a:lnSpc>
                <a:spcPts val="4070"/>
              </a:lnSpc>
              <a:spcBef>
                <a:spcPts val="71"/>
              </a:spcBef>
            </a:pPr>
            <a:r>
              <a:rPr sz="42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800" spc="1" dirty="0">
                <a:latin typeface="Arial"/>
                <a:cs typeface="Arial"/>
              </a:rPr>
              <a:t>The </a:t>
            </a:r>
            <a:r>
              <a:rPr sz="2800" i="1" spc="1" dirty="0">
                <a:latin typeface="Arial"/>
                <a:cs typeface="Arial"/>
              </a:rPr>
              <a:t>proof theory </a:t>
            </a:r>
            <a:r>
              <a:rPr sz="2800" spc="1" dirty="0">
                <a:latin typeface="Arial"/>
                <a:cs typeface="Arial"/>
              </a:rPr>
              <a:t>is concerned with</a:t>
            </a:r>
            <a:endParaRPr sz="2800">
              <a:latin typeface="Arial"/>
              <a:cs typeface="Arial"/>
            </a:endParaRPr>
          </a:p>
          <a:p>
            <a:pPr marL="355600" marR="53378">
              <a:lnSpc>
                <a:spcPts val="2800"/>
              </a:lnSpc>
            </a:pPr>
            <a:r>
              <a:rPr sz="2800" spc="1" dirty="0">
                <a:latin typeface="Arial"/>
                <a:cs typeface="Arial"/>
              </a:rPr>
              <a:t>manipulating formulae according to certain</a:t>
            </a:r>
            <a:endParaRPr sz="2800">
              <a:latin typeface="Arial"/>
              <a:cs typeface="Arial"/>
            </a:endParaRPr>
          </a:p>
          <a:p>
            <a:pPr marL="355600" marR="53378">
              <a:lnSpc>
                <a:spcPts val="3025"/>
              </a:lnSpc>
              <a:spcBef>
                <a:spcPts val="11"/>
              </a:spcBef>
            </a:pPr>
            <a:r>
              <a:rPr sz="2800" spc="4" dirty="0">
                <a:latin typeface="Arial"/>
                <a:cs typeface="Arial"/>
              </a:rPr>
              <a:t>rules.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EEE667-E331-4142-9BCD-5F2D82482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993140" y="602535"/>
            <a:ext cx="4563567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spc="0" dirty="0">
                <a:latin typeface="Times New Roman"/>
                <a:cs typeface="Times New Roman"/>
              </a:rPr>
              <a:t>Propositional Logic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40" y="1547398"/>
            <a:ext cx="5947035" cy="1378363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800" spc="1" dirty="0">
                <a:latin typeface="Arial"/>
                <a:cs typeface="Arial"/>
              </a:rPr>
              <a:t>The </a:t>
            </a:r>
            <a:r>
              <a:rPr sz="2800" spc="1" dirty="0">
                <a:solidFill>
                  <a:srgbClr val="FF9933"/>
                </a:solidFill>
                <a:latin typeface="Arial"/>
                <a:cs typeface="Arial"/>
              </a:rPr>
              <a:t>syntax </a:t>
            </a:r>
            <a:r>
              <a:rPr sz="2800" spc="1" dirty="0">
                <a:latin typeface="Arial"/>
                <a:cs typeface="Arial"/>
              </a:rPr>
              <a:t>of propositional logic is</a:t>
            </a:r>
            <a:endParaRPr sz="2800">
              <a:latin typeface="Arial"/>
              <a:cs typeface="Arial"/>
            </a:endParaRPr>
          </a:p>
          <a:p>
            <a:pPr marL="355600" marR="80009">
              <a:lnSpc>
                <a:spcPts val="3065"/>
              </a:lnSpc>
            </a:pPr>
            <a:r>
              <a:rPr sz="2800" spc="0" dirty="0">
                <a:latin typeface="Arial"/>
                <a:cs typeface="Arial"/>
              </a:rPr>
              <a:t>constructed from </a:t>
            </a:r>
            <a:r>
              <a:rPr sz="2800" i="1" spc="0" dirty="0">
                <a:solidFill>
                  <a:srgbClr val="FF9933"/>
                </a:solidFill>
                <a:latin typeface="Arial"/>
                <a:cs typeface="Arial"/>
              </a:rPr>
              <a:t>propositions </a:t>
            </a:r>
            <a:r>
              <a:rPr sz="2800" spc="0" dirty="0">
                <a:latin typeface="Arial"/>
                <a:cs typeface="Arial"/>
              </a:rPr>
              <a:t>and</a:t>
            </a:r>
            <a:endParaRPr sz="2800">
              <a:latin typeface="Arial"/>
              <a:cs typeface="Arial"/>
            </a:endParaRPr>
          </a:p>
          <a:p>
            <a:pPr marL="355600" marR="80009">
              <a:lnSpc>
                <a:spcPct val="95825"/>
              </a:lnSpc>
            </a:pPr>
            <a:r>
              <a:rPr sz="2800" i="1" spc="2" dirty="0">
                <a:solidFill>
                  <a:srgbClr val="FF9933"/>
                </a:solidFill>
                <a:latin typeface="Arial"/>
                <a:cs typeface="Arial"/>
              </a:rPr>
              <a:t>connectives</a:t>
            </a:r>
            <a:r>
              <a:rPr sz="2800" spc="2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140" y="2912902"/>
            <a:ext cx="7147039" cy="951643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800" spc="0" dirty="0">
                <a:latin typeface="Arial"/>
                <a:cs typeface="Arial"/>
              </a:rPr>
              <a:t>A </a:t>
            </a:r>
            <a:r>
              <a:rPr sz="2800" b="1" spc="0" dirty="0">
                <a:solidFill>
                  <a:srgbClr val="FF9933"/>
                </a:solidFill>
                <a:latin typeface="Arial"/>
                <a:cs typeface="Arial"/>
              </a:rPr>
              <a:t>proposition </a:t>
            </a:r>
            <a:r>
              <a:rPr sz="2800" spc="0" dirty="0">
                <a:latin typeface="Arial"/>
                <a:cs typeface="Arial"/>
              </a:rPr>
              <a:t>is a statement that is either</a:t>
            </a:r>
            <a:endParaRPr sz="2800">
              <a:latin typeface="Arial"/>
              <a:cs typeface="Arial"/>
            </a:endParaRPr>
          </a:p>
          <a:p>
            <a:pPr marL="355600" marR="80009">
              <a:lnSpc>
                <a:spcPts val="3065"/>
              </a:lnSpc>
            </a:pPr>
            <a:r>
              <a:rPr sz="2800" spc="0" dirty="0">
                <a:latin typeface="Arial"/>
                <a:cs typeface="Arial"/>
              </a:rPr>
              <a:t>true or false but not </a:t>
            </a:r>
            <a:r>
              <a:rPr sz="2800" i="1" spc="0" dirty="0">
                <a:latin typeface="Arial"/>
                <a:cs typeface="Arial"/>
              </a:rPr>
              <a:t>both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8000" y="1417637"/>
            <a:ext cx="1828800" cy="762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0"/>
              </a:spcBef>
            </a:pPr>
            <a:endParaRPr sz="600"/>
          </a:p>
        </p:txBody>
      </p:sp>
      <p:sp>
        <p:nvSpPr>
          <p:cNvPr id="2" name="object 2"/>
          <p:cNvSpPr txBox="1"/>
          <p:nvPr/>
        </p:nvSpPr>
        <p:spPr>
          <a:xfrm>
            <a:off x="6858000" y="1493901"/>
            <a:ext cx="1828800" cy="106299"/>
          </a:xfrm>
          <a:prstGeom prst="rect">
            <a:avLst/>
          </a:prstGeom>
        </p:spPr>
        <p:txBody>
          <a:bodyPr wrap="square" lIns="0" tIns="4699" rIns="0" bIns="0" rtlCol="0">
            <a:noAutofit/>
          </a:bodyPr>
          <a:lstStyle/>
          <a:p>
            <a:pPr marL="25400">
              <a:lnSpc>
                <a:spcPts val="800"/>
              </a:lnSpc>
            </a:pPr>
            <a:endParaRPr sz="8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A8A1FB-01E5-4B4F-827D-B965F4DC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6858000" y="1417637"/>
            <a:ext cx="1828800" cy="182562"/>
          </a:xfrm>
          <a:custGeom>
            <a:avLst/>
            <a:gdLst/>
            <a:ahLst/>
            <a:cxnLst/>
            <a:rect l="l" t="t" r="r" b="b"/>
            <a:pathLst>
              <a:path w="1828800" h="182562">
                <a:moveTo>
                  <a:pt x="0" y="182562"/>
                </a:moveTo>
                <a:lnTo>
                  <a:pt x="1828800" y="182562"/>
                </a:lnTo>
                <a:lnTo>
                  <a:pt x="1828800" y="0"/>
                </a:lnTo>
                <a:lnTo>
                  <a:pt x="0" y="0"/>
                </a:lnTo>
                <a:lnTo>
                  <a:pt x="0" y="182562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1000" y="1493901"/>
            <a:ext cx="8305800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0" y="0"/>
                </a:lnTo>
              </a:path>
            </a:pathLst>
          </a:custGeom>
          <a:ln w="19050">
            <a:solidFill>
              <a:srgbClr val="3300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3140" y="602535"/>
            <a:ext cx="3750665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dirty="0">
                <a:latin typeface="Times New Roman"/>
                <a:cs typeface="Times New Roman"/>
              </a:rPr>
              <a:t>Propositions???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140" y="1559586"/>
            <a:ext cx="3826713" cy="4871974"/>
          </a:xfrm>
          <a:prstGeom prst="rect">
            <a:avLst/>
          </a:prstGeom>
        </p:spPr>
        <p:txBody>
          <a:bodyPr wrap="square" lIns="0" tIns="23272" rIns="0" bIns="0" rtlCol="0">
            <a:noAutofit/>
          </a:bodyPr>
          <a:lstStyle/>
          <a:p>
            <a:pPr marL="12700" marR="68579">
              <a:lnSpc>
                <a:spcPts val="3665"/>
              </a:lnSpc>
            </a:pPr>
            <a:r>
              <a:rPr sz="3600" spc="9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400" spc="0" dirty="0">
                <a:latin typeface="Arial"/>
                <a:cs typeface="Arial"/>
              </a:rPr>
              <a:t>Najib is Prime Minister</a:t>
            </a:r>
            <a:endParaRPr sz="2400">
              <a:latin typeface="Arial"/>
              <a:cs typeface="Arial"/>
            </a:endParaRPr>
          </a:p>
          <a:p>
            <a:pPr marL="12700" marR="68579">
              <a:lnSpc>
                <a:spcPts val="3454"/>
              </a:lnSpc>
            </a:pPr>
            <a:r>
              <a:rPr sz="3600" spc="9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400" spc="0" dirty="0">
                <a:latin typeface="Arial"/>
                <a:cs typeface="Arial"/>
              </a:rPr>
              <a:t>What is the time?</a:t>
            </a:r>
            <a:endParaRPr sz="2400">
              <a:latin typeface="Arial"/>
              <a:cs typeface="Arial"/>
            </a:endParaRPr>
          </a:p>
          <a:p>
            <a:pPr marL="12700" marR="68579">
              <a:lnSpc>
                <a:spcPts val="3454"/>
              </a:lnSpc>
            </a:pPr>
            <a:r>
              <a:rPr sz="3600" spc="9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400" spc="0" dirty="0">
                <a:latin typeface="Arial"/>
                <a:cs typeface="Arial"/>
              </a:rPr>
              <a:t>2 + 3 = 5</a:t>
            </a:r>
            <a:endParaRPr sz="2400">
              <a:latin typeface="Arial"/>
              <a:cs typeface="Arial"/>
            </a:endParaRPr>
          </a:p>
          <a:p>
            <a:pPr marL="12700" marR="68579">
              <a:lnSpc>
                <a:spcPts val="3454"/>
              </a:lnSpc>
            </a:pPr>
            <a:r>
              <a:rPr sz="3600" spc="-152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400" spc="-17" dirty="0">
                <a:latin typeface="Arial"/>
                <a:cs typeface="Arial"/>
              </a:rPr>
              <a:t>„Phone‟ has five letters.</a:t>
            </a:r>
            <a:endParaRPr sz="2400">
              <a:latin typeface="Arial"/>
              <a:cs typeface="Arial"/>
            </a:endParaRPr>
          </a:p>
          <a:p>
            <a:pPr marL="12700" marR="68579">
              <a:lnSpc>
                <a:spcPts val="3454"/>
              </a:lnSpc>
            </a:pPr>
            <a:r>
              <a:rPr sz="3600" spc="9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400" spc="0" dirty="0">
                <a:latin typeface="Arial"/>
                <a:cs typeface="Arial"/>
              </a:rPr>
              <a:t>2 + 3 = 6</a:t>
            </a:r>
            <a:endParaRPr sz="2400">
              <a:latin typeface="Arial"/>
              <a:cs typeface="Arial"/>
            </a:endParaRPr>
          </a:p>
          <a:p>
            <a:pPr marL="12700" marR="68579">
              <a:lnSpc>
                <a:spcPts val="3460"/>
              </a:lnSpc>
              <a:spcBef>
                <a:spcPts val="0"/>
              </a:spcBef>
            </a:pPr>
            <a:r>
              <a:rPr sz="3600" spc="9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400" spc="-1" dirty="0">
                <a:latin typeface="Arial"/>
                <a:cs typeface="Arial"/>
              </a:rPr>
              <a:t>Oh dear!</a:t>
            </a:r>
            <a:endParaRPr sz="2400">
              <a:latin typeface="Arial"/>
              <a:cs typeface="Arial"/>
            </a:endParaRPr>
          </a:p>
          <a:p>
            <a:pPr marL="12700" marR="68579">
              <a:lnSpc>
                <a:spcPts val="3454"/>
              </a:lnSpc>
            </a:pPr>
            <a:r>
              <a:rPr sz="3600" spc="-152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400" spc="-17" dirty="0">
                <a:latin typeface="Arial"/>
                <a:cs typeface="Arial"/>
              </a:rPr>
              <a:t>„Work‟ has five letters.</a:t>
            </a:r>
            <a:endParaRPr sz="2400">
              <a:latin typeface="Arial"/>
              <a:cs typeface="Arial"/>
            </a:endParaRPr>
          </a:p>
          <a:p>
            <a:pPr marL="12700" marR="68579">
              <a:lnSpc>
                <a:spcPts val="3454"/>
              </a:lnSpc>
            </a:pPr>
            <a:r>
              <a:rPr sz="3600" spc="9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400" spc="0" dirty="0">
                <a:latin typeface="Arial"/>
                <a:cs typeface="Arial"/>
              </a:rPr>
              <a:t>the reactor is on</a:t>
            </a:r>
            <a:endParaRPr sz="2400">
              <a:latin typeface="Arial"/>
              <a:cs typeface="Arial"/>
            </a:endParaRPr>
          </a:p>
          <a:p>
            <a:pPr marL="12700" marR="68579">
              <a:lnSpc>
                <a:spcPts val="3454"/>
              </a:lnSpc>
            </a:pPr>
            <a:r>
              <a:rPr sz="3600" spc="9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400" spc="0" dirty="0">
                <a:latin typeface="Arial"/>
                <a:cs typeface="Arial"/>
              </a:rPr>
              <a:t>2+3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3454"/>
              </a:lnSpc>
            </a:pPr>
            <a:r>
              <a:rPr sz="3600" spc="9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400" i="1" spc="0" dirty="0">
                <a:latin typeface="Arial"/>
                <a:cs typeface="Arial"/>
              </a:rPr>
              <a:t>All </a:t>
            </a:r>
            <a:r>
              <a:rPr sz="2400" spc="0" dirty="0">
                <a:latin typeface="Arial"/>
                <a:cs typeface="Arial"/>
              </a:rPr>
              <a:t>elephants have 4 legs</a:t>
            </a:r>
            <a:endParaRPr sz="2400">
              <a:latin typeface="Arial"/>
              <a:cs typeface="Arial"/>
            </a:endParaRPr>
          </a:p>
          <a:p>
            <a:pPr marL="12700" marR="68579">
              <a:lnSpc>
                <a:spcPts val="3565"/>
              </a:lnSpc>
              <a:spcBef>
                <a:spcPts val="5"/>
              </a:spcBef>
            </a:pPr>
            <a:r>
              <a:rPr sz="3600" spc="9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400" spc="0" dirty="0">
                <a:latin typeface="Arial"/>
                <a:cs typeface="Arial"/>
              </a:rPr>
              <a:t>I like AI class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1417637"/>
            <a:ext cx="6477000" cy="762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0"/>
              </a:spcBef>
            </a:pPr>
            <a:endParaRPr sz="600"/>
          </a:p>
        </p:txBody>
      </p:sp>
      <p:sp>
        <p:nvSpPr>
          <p:cNvPr id="4" name="object 4"/>
          <p:cNvSpPr txBox="1"/>
          <p:nvPr/>
        </p:nvSpPr>
        <p:spPr>
          <a:xfrm>
            <a:off x="6858000" y="1417637"/>
            <a:ext cx="1828800" cy="762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0"/>
              </a:spcBef>
            </a:pPr>
            <a:endParaRPr sz="600"/>
          </a:p>
        </p:txBody>
      </p:sp>
      <p:sp>
        <p:nvSpPr>
          <p:cNvPr id="3" name="object 3"/>
          <p:cNvSpPr txBox="1"/>
          <p:nvPr/>
        </p:nvSpPr>
        <p:spPr>
          <a:xfrm>
            <a:off x="381000" y="1493901"/>
            <a:ext cx="6477000" cy="106299"/>
          </a:xfrm>
          <a:prstGeom prst="rect">
            <a:avLst/>
          </a:prstGeom>
        </p:spPr>
        <p:txBody>
          <a:bodyPr wrap="square" lIns="0" tIns="4699" rIns="0" bIns="0" rtlCol="0">
            <a:noAutofit/>
          </a:bodyPr>
          <a:lstStyle/>
          <a:p>
            <a:pPr marL="25400">
              <a:lnSpc>
                <a:spcPts val="800"/>
              </a:lnSpc>
            </a:pPr>
            <a:endParaRPr sz="800"/>
          </a:p>
        </p:txBody>
      </p:sp>
      <p:sp>
        <p:nvSpPr>
          <p:cNvPr id="2" name="object 2"/>
          <p:cNvSpPr txBox="1"/>
          <p:nvPr/>
        </p:nvSpPr>
        <p:spPr>
          <a:xfrm>
            <a:off x="6858000" y="1493901"/>
            <a:ext cx="1828800" cy="106299"/>
          </a:xfrm>
          <a:prstGeom prst="rect">
            <a:avLst/>
          </a:prstGeom>
        </p:spPr>
        <p:txBody>
          <a:bodyPr wrap="square" lIns="0" tIns="4699" rIns="0" bIns="0" rtlCol="0">
            <a:noAutofit/>
          </a:bodyPr>
          <a:lstStyle/>
          <a:p>
            <a:pPr marL="25400">
              <a:lnSpc>
                <a:spcPts val="800"/>
              </a:lnSpc>
            </a:pPr>
            <a:endParaRPr sz="80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04C4B7-7E56-447E-873C-8BE098460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/>
          <p:nvPr/>
        </p:nvSpPr>
        <p:spPr>
          <a:xfrm>
            <a:off x="6858000" y="1417637"/>
            <a:ext cx="1828800" cy="182562"/>
          </a:xfrm>
          <a:custGeom>
            <a:avLst/>
            <a:gdLst/>
            <a:ahLst/>
            <a:cxnLst/>
            <a:rect l="l" t="t" r="r" b="b"/>
            <a:pathLst>
              <a:path w="1828800" h="182562">
                <a:moveTo>
                  <a:pt x="0" y="182562"/>
                </a:moveTo>
                <a:lnTo>
                  <a:pt x="1828800" y="182562"/>
                </a:lnTo>
                <a:lnTo>
                  <a:pt x="1828800" y="0"/>
                </a:lnTo>
                <a:lnTo>
                  <a:pt x="0" y="0"/>
                </a:lnTo>
                <a:lnTo>
                  <a:pt x="0" y="182562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1000" y="1493901"/>
            <a:ext cx="8305800" cy="0"/>
          </a:xfrm>
          <a:custGeom>
            <a:avLst/>
            <a:gdLst/>
            <a:ahLst/>
            <a:cxnLst/>
            <a:rect l="l" t="t" r="r" b="b"/>
            <a:pathLst>
              <a:path w="8305800">
                <a:moveTo>
                  <a:pt x="0" y="0"/>
                </a:moveTo>
                <a:lnTo>
                  <a:pt x="8305800" y="0"/>
                </a:lnTo>
              </a:path>
            </a:pathLst>
          </a:custGeom>
          <a:ln w="19050">
            <a:solidFill>
              <a:srgbClr val="33003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371600" y="3352788"/>
            <a:ext cx="343878" cy="279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447800" y="3657667"/>
            <a:ext cx="327412" cy="3476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371600" y="4038668"/>
            <a:ext cx="444508" cy="2967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47800" y="4419665"/>
            <a:ext cx="394825" cy="2553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553200" y="4724400"/>
            <a:ext cx="550862" cy="3206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00800" y="4419655"/>
            <a:ext cx="271374" cy="21442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24000" y="4724461"/>
            <a:ext cx="271374" cy="17304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905000" y="609600"/>
            <a:ext cx="2589551" cy="507746"/>
          </a:xfrm>
          <a:prstGeom prst="rect">
            <a:avLst/>
          </a:prstGeom>
        </p:spPr>
        <p:txBody>
          <a:bodyPr wrap="square" lIns="0" tIns="25273" rIns="0" bIns="0" rtlCol="0">
            <a:noAutofit/>
          </a:bodyPr>
          <a:lstStyle/>
          <a:p>
            <a:pPr marL="12700">
              <a:lnSpc>
                <a:spcPts val="3979"/>
              </a:lnSpc>
            </a:pPr>
            <a:r>
              <a:rPr lang="en-US" sz="3800" b="1" dirty="0">
                <a:latin typeface="Times New Roman"/>
                <a:cs typeface="Times New Roman"/>
              </a:rPr>
              <a:t>c</a:t>
            </a:r>
            <a:r>
              <a:rPr sz="3800" b="1" dirty="0">
                <a:latin typeface="Times New Roman"/>
                <a:cs typeface="Times New Roman"/>
              </a:rPr>
              <a:t>onnectives</a:t>
            </a:r>
            <a:endParaRPr sz="38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21740" y="1761132"/>
            <a:ext cx="7131076" cy="444500"/>
          </a:xfrm>
          <a:prstGeom prst="rect">
            <a:avLst/>
          </a:prstGeom>
        </p:spPr>
        <p:txBody>
          <a:bodyPr wrap="square" lIns="0" tIns="22034" rIns="0" bIns="0" rtlCol="0">
            <a:noAutofit/>
          </a:bodyPr>
          <a:lstStyle/>
          <a:p>
            <a:pPr marL="12700">
              <a:lnSpc>
                <a:spcPts val="3470"/>
              </a:lnSpc>
            </a:pPr>
            <a:r>
              <a:rPr sz="3300" spc="234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200" spc="0" dirty="0">
                <a:latin typeface="Arial"/>
                <a:cs typeface="Arial"/>
              </a:rPr>
              <a:t>Propositions may be </a:t>
            </a:r>
            <a:r>
              <a:rPr sz="2200" spc="0" dirty="0">
                <a:solidFill>
                  <a:srgbClr val="FF9933"/>
                </a:solidFill>
                <a:latin typeface="Arial"/>
                <a:cs typeface="Arial"/>
              </a:rPr>
              <a:t>combined </a:t>
            </a:r>
            <a:r>
              <a:rPr sz="2200" spc="0" dirty="0">
                <a:latin typeface="Arial"/>
                <a:cs typeface="Arial"/>
              </a:rPr>
              <a:t>with other propositions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43134" y="1873972"/>
            <a:ext cx="300579" cy="305053"/>
          </a:xfrm>
          <a:prstGeom prst="rect">
            <a:avLst/>
          </a:prstGeom>
        </p:spPr>
        <p:txBody>
          <a:bodyPr wrap="square" lIns="0" tIns="14922" rIns="0" bIns="0" rtlCol="0">
            <a:noAutofit/>
          </a:bodyPr>
          <a:lstStyle/>
          <a:p>
            <a:pPr marL="12700">
              <a:lnSpc>
                <a:spcPts val="2350"/>
              </a:lnSpc>
            </a:pPr>
            <a:r>
              <a:rPr sz="2200" dirty="0">
                <a:latin typeface="Arial"/>
                <a:cs typeface="Arial"/>
              </a:rPr>
              <a:t>to</a:t>
            </a:r>
            <a:endParaRPr sz="2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64640" y="2175724"/>
            <a:ext cx="6306317" cy="606805"/>
          </a:xfrm>
          <a:prstGeom prst="rect">
            <a:avLst/>
          </a:prstGeom>
        </p:spPr>
        <p:txBody>
          <a:bodyPr wrap="square" lIns="0" tIns="14922" rIns="0" bIns="0" rtlCol="0">
            <a:noAutofit/>
          </a:bodyPr>
          <a:lstStyle/>
          <a:p>
            <a:pPr marL="12700">
              <a:lnSpc>
                <a:spcPts val="2350"/>
              </a:lnSpc>
            </a:pPr>
            <a:r>
              <a:rPr sz="2200" spc="1" dirty="0">
                <a:latin typeface="Arial"/>
                <a:cs typeface="Arial"/>
              </a:rPr>
              <a:t>form </a:t>
            </a:r>
            <a:r>
              <a:rPr sz="2200" b="1" spc="1" dirty="0">
                <a:solidFill>
                  <a:srgbClr val="FF9933"/>
                </a:solidFill>
                <a:latin typeface="Arial"/>
                <a:cs typeface="Arial"/>
              </a:rPr>
              <a:t>compound propositions</a:t>
            </a:r>
            <a:r>
              <a:rPr sz="2200" spc="1" dirty="0">
                <a:latin typeface="Arial"/>
                <a:cs typeface="Arial"/>
              </a:rPr>
              <a:t>. These in turn may</a:t>
            </a:r>
            <a:endParaRPr sz="2200">
              <a:latin typeface="Arial"/>
              <a:cs typeface="Arial"/>
            </a:endParaRPr>
          </a:p>
          <a:p>
            <a:pPr marL="12700" marR="41948">
              <a:lnSpc>
                <a:spcPts val="2375"/>
              </a:lnSpc>
              <a:spcBef>
                <a:spcPts val="1"/>
              </a:spcBef>
            </a:pPr>
            <a:r>
              <a:rPr sz="2200" spc="0" dirty="0">
                <a:latin typeface="Arial"/>
                <a:cs typeface="Arial"/>
              </a:rPr>
              <a:t>combined into further propositions.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81353" y="2175724"/>
            <a:ext cx="378323" cy="305053"/>
          </a:xfrm>
          <a:prstGeom prst="rect">
            <a:avLst/>
          </a:prstGeom>
        </p:spPr>
        <p:txBody>
          <a:bodyPr wrap="square" lIns="0" tIns="14922" rIns="0" bIns="0" rtlCol="0">
            <a:noAutofit/>
          </a:bodyPr>
          <a:lstStyle/>
          <a:p>
            <a:pPr marL="12700">
              <a:lnSpc>
                <a:spcPts val="2350"/>
              </a:lnSpc>
            </a:pPr>
            <a:r>
              <a:rPr sz="2200" dirty="0">
                <a:latin typeface="Arial"/>
                <a:cs typeface="Arial"/>
              </a:rPr>
              <a:t>be</a:t>
            </a:r>
            <a:endParaRPr sz="2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21740" y="2733444"/>
            <a:ext cx="2468164" cy="1524317"/>
          </a:xfrm>
          <a:prstGeom prst="rect">
            <a:avLst/>
          </a:prstGeom>
        </p:spPr>
        <p:txBody>
          <a:bodyPr wrap="square" lIns="0" tIns="22034" rIns="0" bIns="0" rtlCol="0">
            <a:noAutofit/>
          </a:bodyPr>
          <a:lstStyle/>
          <a:p>
            <a:pPr marL="12700">
              <a:lnSpc>
                <a:spcPts val="3470"/>
              </a:lnSpc>
            </a:pPr>
            <a:r>
              <a:rPr sz="3300" spc="234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200" spc="0" dirty="0">
                <a:latin typeface="Arial"/>
                <a:cs typeface="Arial"/>
              </a:rPr>
              <a:t>The connectives</a:t>
            </a:r>
            <a:endParaRPr sz="2200" dirty="0">
              <a:latin typeface="Arial"/>
              <a:cs typeface="Arial"/>
            </a:endParaRPr>
          </a:p>
          <a:p>
            <a:pPr marL="927354" marR="1026274">
              <a:lnSpc>
                <a:spcPts val="2529"/>
              </a:lnSpc>
            </a:pPr>
            <a:r>
              <a:rPr sz="2200" dirty="0">
                <a:latin typeface="Arial"/>
                <a:cs typeface="Arial"/>
              </a:rPr>
              <a:t>and </a:t>
            </a:r>
          </a:p>
          <a:p>
            <a:pPr marL="927354" marR="1026274">
              <a:lnSpc>
                <a:spcPts val="2529"/>
              </a:lnSpc>
              <a:spcBef>
                <a:spcPts val="374"/>
              </a:spcBef>
            </a:pPr>
            <a:r>
              <a:rPr sz="2200" dirty="0">
                <a:latin typeface="Arial"/>
                <a:cs typeface="Arial"/>
              </a:rPr>
              <a:t>or</a:t>
            </a:r>
          </a:p>
          <a:p>
            <a:pPr marL="893679" marR="1118536" algn="ctr">
              <a:lnSpc>
                <a:spcPct val="95825"/>
              </a:lnSpc>
              <a:spcBef>
                <a:spcPts val="384"/>
              </a:spcBef>
            </a:pPr>
            <a:r>
              <a:rPr lang="en-US" sz="2200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ot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678264" y="2846284"/>
            <a:ext cx="533810" cy="305053"/>
          </a:xfrm>
          <a:prstGeom prst="rect">
            <a:avLst/>
          </a:prstGeom>
        </p:spPr>
        <p:txBody>
          <a:bodyPr wrap="square" lIns="0" tIns="14922" rIns="0" bIns="0" rtlCol="0">
            <a:noAutofit/>
          </a:bodyPr>
          <a:lstStyle/>
          <a:p>
            <a:pPr marL="12700">
              <a:lnSpc>
                <a:spcPts val="2350"/>
              </a:lnSpc>
            </a:pPr>
            <a:r>
              <a:rPr sz="2200" dirty="0">
                <a:latin typeface="Arial"/>
                <a:cs typeface="Arial"/>
              </a:rPr>
              <a:t>that</a:t>
            </a:r>
            <a:endParaRPr sz="2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22471" y="2846284"/>
            <a:ext cx="596173" cy="305053"/>
          </a:xfrm>
          <a:prstGeom prst="rect">
            <a:avLst/>
          </a:prstGeom>
        </p:spPr>
        <p:txBody>
          <a:bodyPr wrap="square" lIns="0" tIns="14922" rIns="0" bIns="0" rtlCol="0">
            <a:noAutofit/>
          </a:bodyPr>
          <a:lstStyle/>
          <a:p>
            <a:pPr marL="12700">
              <a:lnSpc>
                <a:spcPts val="2350"/>
              </a:lnSpc>
            </a:pPr>
            <a:r>
              <a:rPr sz="2200" spc="1" dirty="0">
                <a:latin typeface="Arial"/>
                <a:cs typeface="Arial"/>
              </a:rPr>
              <a:t>may</a:t>
            </a:r>
            <a:endParaRPr sz="2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29041" y="2846284"/>
            <a:ext cx="2457183" cy="1780539"/>
          </a:xfrm>
          <a:prstGeom prst="rect">
            <a:avLst/>
          </a:prstGeom>
        </p:spPr>
        <p:txBody>
          <a:bodyPr wrap="square" lIns="0" tIns="14922" rIns="0" bIns="0" rtlCol="0">
            <a:noAutofit/>
          </a:bodyPr>
          <a:lstStyle/>
          <a:p>
            <a:pPr marL="12700" marR="35492">
              <a:lnSpc>
                <a:spcPts val="2350"/>
              </a:lnSpc>
            </a:pPr>
            <a:r>
              <a:rPr sz="2200" dirty="0">
                <a:latin typeface="Arial"/>
                <a:cs typeface="Arial"/>
              </a:rPr>
              <a:t>be used are</a:t>
            </a:r>
            <a:endParaRPr sz="2200">
              <a:latin typeface="Arial"/>
              <a:cs typeface="Arial"/>
            </a:endParaRPr>
          </a:p>
          <a:p>
            <a:pPr marL="63252">
              <a:lnSpc>
                <a:spcPts val="2529"/>
              </a:lnSpc>
              <a:spcBef>
                <a:spcPts val="257"/>
              </a:spcBef>
            </a:pPr>
            <a:r>
              <a:rPr sz="2200" spc="0" dirty="0">
                <a:latin typeface="Arial"/>
                <a:cs typeface="Arial"/>
              </a:rPr>
              <a:t>conjunction (&amp; or .) </a:t>
            </a:r>
            <a:endParaRPr sz="2200">
              <a:latin typeface="Arial"/>
              <a:cs typeface="Arial"/>
            </a:endParaRPr>
          </a:p>
          <a:p>
            <a:pPr marL="63252">
              <a:lnSpc>
                <a:spcPts val="2529"/>
              </a:lnSpc>
              <a:spcBef>
                <a:spcPts val="374"/>
              </a:spcBef>
            </a:pPr>
            <a:r>
              <a:rPr sz="2200" dirty="0">
                <a:latin typeface="Arial"/>
                <a:cs typeface="Arial"/>
              </a:rPr>
              <a:t>disjunction (| or +) </a:t>
            </a:r>
            <a:endParaRPr sz="2200">
              <a:latin typeface="Arial"/>
              <a:cs typeface="Arial"/>
            </a:endParaRPr>
          </a:p>
          <a:p>
            <a:pPr marL="63252">
              <a:lnSpc>
                <a:spcPts val="2529"/>
              </a:lnSpc>
              <a:spcBef>
                <a:spcPts val="374"/>
              </a:spcBef>
            </a:pPr>
            <a:r>
              <a:rPr sz="2200" spc="0" dirty="0">
                <a:latin typeface="Arial"/>
                <a:cs typeface="Arial"/>
              </a:rPr>
              <a:t>negation (~)</a:t>
            </a:r>
            <a:endParaRPr sz="2200">
              <a:latin typeface="Arial"/>
              <a:cs typeface="Arial"/>
            </a:endParaRPr>
          </a:p>
          <a:p>
            <a:pPr marL="63252" marR="35492">
              <a:lnSpc>
                <a:spcPct val="95825"/>
              </a:lnSpc>
              <a:spcBef>
                <a:spcPts val="384"/>
              </a:spcBef>
            </a:pPr>
            <a:r>
              <a:rPr sz="2200" spc="0" dirty="0">
                <a:latin typeface="Arial"/>
                <a:cs typeface="Arial"/>
              </a:rPr>
              <a:t>imp</a:t>
            </a:r>
            <a:r>
              <a:rPr sz="2200" spc="4" dirty="0">
                <a:latin typeface="Arial"/>
                <a:cs typeface="Arial"/>
              </a:rPr>
              <a:t>l</a:t>
            </a:r>
            <a:r>
              <a:rPr sz="2200" spc="0" dirty="0">
                <a:latin typeface="Arial"/>
                <a:cs typeface="Arial"/>
              </a:rPr>
              <a:t>icat</a:t>
            </a:r>
            <a:r>
              <a:rPr sz="2200" spc="4" dirty="0">
                <a:latin typeface="Arial"/>
                <a:cs typeface="Arial"/>
              </a:rPr>
              <a:t>i</a:t>
            </a:r>
            <a:r>
              <a:rPr sz="2200" spc="0" dirty="0">
                <a:latin typeface="Arial"/>
                <a:cs typeface="Arial"/>
              </a:rPr>
              <a:t>on</a:t>
            </a:r>
            <a:r>
              <a:rPr sz="2200" spc="-19" dirty="0">
                <a:latin typeface="Arial"/>
                <a:cs typeface="Arial"/>
              </a:rPr>
              <a:t> </a:t>
            </a:r>
            <a:r>
              <a:rPr sz="2200" spc="0" dirty="0">
                <a:latin typeface="Arial"/>
                <a:cs typeface="Arial"/>
              </a:rPr>
              <a:t>(   </a:t>
            </a:r>
            <a:r>
              <a:rPr sz="2200" spc="19" dirty="0">
                <a:latin typeface="Arial"/>
                <a:cs typeface="Arial"/>
              </a:rPr>
              <a:t> </a:t>
            </a:r>
            <a:r>
              <a:rPr sz="2200" spc="0" dirty="0"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36394" y="4321770"/>
            <a:ext cx="517031" cy="402630"/>
          </a:xfrm>
          <a:prstGeom prst="rect">
            <a:avLst/>
          </a:prstGeom>
        </p:spPr>
        <p:txBody>
          <a:bodyPr wrap="square" lIns="0" tIns="14922" rIns="0" bIns="0" rtlCol="0">
            <a:noAutofit/>
          </a:bodyPr>
          <a:lstStyle/>
          <a:p>
            <a:pPr marL="12700">
              <a:lnSpc>
                <a:spcPts val="2350"/>
              </a:lnSpc>
            </a:pPr>
            <a:r>
              <a:rPr sz="2200" dirty="0">
                <a:latin typeface="Arial"/>
                <a:cs typeface="Arial"/>
              </a:rPr>
              <a:t>if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433075" y="4321770"/>
            <a:ext cx="1135003" cy="304799"/>
          </a:xfrm>
          <a:prstGeom prst="rect">
            <a:avLst/>
          </a:prstGeom>
        </p:spPr>
        <p:txBody>
          <a:bodyPr wrap="square" lIns="0" tIns="14922" rIns="0" bIns="0" rtlCol="0">
            <a:noAutofit/>
          </a:bodyPr>
          <a:lstStyle/>
          <a:p>
            <a:pPr marL="12700">
              <a:lnSpc>
                <a:spcPts val="2350"/>
              </a:lnSpc>
            </a:pPr>
            <a:r>
              <a:rPr lang="en-US" sz="2200" dirty="0">
                <a:latin typeface="Arial"/>
                <a:cs typeface="Arial"/>
              </a:rPr>
              <a:t>…..</a:t>
            </a:r>
            <a:r>
              <a:rPr sz="2200" dirty="0">
                <a:latin typeface="Arial"/>
                <a:cs typeface="Arial"/>
              </a:rPr>
              <a:t>then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21740" y="4690578"/>
            <a:ext cx="3600763" cy="975613"/>
          </a:xfrm>
          <a:prstGeom prst="rect">
            <a:avLst/>
          </a:prstGeom>
        </p:spPr>
        <p:txBody>
          <a:bodyPr wrap="square" lIns="0" tIns="14192" rIns="0" bIns="0" rtlCol="0">
            <a:noAutofit/>
          </a:bodyPr>
          <a:lstStyle/>
          <a:p>
            <a:pPr marL="893679" marR="1148060" algn="ctr">
              <a:lnSpc>
                <a:spcPts val="2235"/>
              </a:lnSpc>
            </a:pPr>
            <a:r>
              <a:rPr sz="2200" spc="0" dirty="0">
                <a:latin typeface="Arial"/>
                <a:cs typeface="Arial"/>
              </a:rPr>
              <a:t>if and only if</a:t>
            </a:r>
            <a:endParaRPr sz="2200" dirty="0">
              <a:latin typeface="Arial"/>
              <a:cs typeface="Arial"/>
            </a:endParaRPr>
          </a:p>
          <a:p>
            <a:pPr marL="12700">
              <a:lnSpc>
                <a:spcPts val="3200"/>
              </a:lnSpc>
              <a:spcBef>
                <a:spcPts val="48"/>
              </a:spcBef>
            </a:pPr>
            <a:r>
              <a:rPr sz="3300" spc="234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200" spc="0" dirty="0">
                <a:latin typeface="Arial"/>
                <a:cs typeface="Arial"/>
              </a:rPr>
              <a:t>Some books use different</a:t>
            </a:r>
            <a:endParaRPr sz="2200" dirty="0">
              <a:latin typeface="Arial"/>
              <a:cs typeface="Arial"/>
            </a:endParaRPr>
          </a:p>
          <a:p>
            <a:pPr marL="321925" marR="554217" algn="ctr">
              <a:lnSpc>
                <a:spcPts val="2200"/>
              </a:lnSpc>
            </a:pPr>
            <a:r>
              <a:rPr sz="2200" dirty="0">
                <a:latin typeface="Arial"/>
                <a:cs typeface="Arial"/>
              </a:rPr>
              <a:t>given in parentheses.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879594" y="4690578"/>
            <a:ext cx="1729331" cy="305053"/>
          </a:xfrm>
          <a:prstGeom prst="rect">
            <a:avLst/>
          </a:prstGeom>
        </p:spPr>
        <p:txBody>
          <a:bodyPr wrap="square" lIns="0" tIns="14922" rIns="0" bIns="0" rtlCol="0">
            <a:noAutofit/>
          </a:bodyPr>
          <a:lstStyle/>
          <a:p>
            <a:pPr marL="12700">
              <a:lnSpc>
                <a:spcPts val="2350"/>
              </a:lnSpc>
            </a:pPr>
            <a:r>
              <a:rPr sz="2200" spc="0" dirty="0">
                <a:latin typeface="Arial"/>
                <a:cs typeface="Arial"/>
              </a:rPr>
              <a:t>equivalence (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64646" y="4690578"/>
            <a:ext cx="160472" cy="305053"/>
          </a:xfrm>
          <a:prstGeom prst="rect">
            <a:avLst/>
          </a:prstGeom>
        </p:spPr>
        <p:txBody>
          <a:bodyPr wrap="square" lIns="0" tIns="14922" rIns="0" bIns="0" rtlCol="0">
            <a:noAutofit/>
          </a:bodyPr>
          <a:lstStyle/>
          <a:p>
            <a:pPr marL="12700">
              <a:lnSpc>
                <a:spcPts val="2350"/>
              </a:lnSpc>
            </a:pPr>
            <a:r>
              <a:rPr sz="2200" dirty="0"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13380" y="5059386"/>
            <a:ext cx="3160880" cy="305054"/>
          </a:xfrm>
          <a:prstGeom prst="rect">
            <a:avLst/>
          </a:prstGeom>
        </p:spPr>
        <p:txBody>
          <a:bodyPr wrap="square" lIns="0" tIns="14922" rIns="0" bIns="0" rtlCol="0">
            <a:noAutofit/>
          </a:bodyPr>
          <a:lstStyle/>
          <a:p>
            <a:pPr marL="12700">
              <a:lnSpc>
                <a:spcPts val="2350"/>
              </a:lnSpc>
            </a:pPr>
            <a:r>
              <a:rPr sz="2200" dirty="0">
                <a:latin typeface="Arial"/>
                <a:cs typeface="Arial"/>
              </a:rPr>
              <a:t>notations. Some of these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84656" y="5059386"/>
            <a:ext cx="471448" cy="305054"/>
          </a:xfrm>
          <a:prstGeom prst="rect">
            <a:avLst/>
          </a:prstGeom>
        </p:spPr>
        <p:txBody>
          <a:bodyPr wrap="square" lIns="0" tIns="14922" rIns="0" bIns="0" rtlCol="0">
            <a:noAutofit/>
          </a:bodyPr>
          <a:lstStyle/>
          <a:p>
            <a:pPr marL="12700">
              <a:lnSpc>
                <a:spcPts val="2350"/>
              </a:lnSpc>
            </a:pPr>
            <a:r>
              <a:rPr sz="2200" dirty="0">
                <a:latin typeface="Arial"/>
                <a:cs typeface="Arial"/>
              </a:rPr>
              <a:t>are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1417637"/>
            <a:ext cx="6477000" cy="762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0"/>
              </a:spcBef>
            </a:pPr>
            <a:endParaRPr sz="600"/>
          </a:p>
        </p:txBody>
      </p:sp>
      <p:sp>
        <p:nvSpPr>
          <p:cNvPr id="4" name="object 4"/>
          <p:cNvSpPr txBox="1"/>
          <p:nvPr/>
        </p:nvSpPr>
        <p:spPr>
          <a:xfrm>
            <a:off x="6858000" y="1417637"/>
            <a:ext cx="1828800" cy="762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0"/>
              </a:spcBef>
            </a:pPr>
            <a:endParaRPr sz="600"/>
          </a:p>
        </p:txBody>
      </p:sp>
      <p:sp>
        <p:nvSpPr>
          <p:cNvPr id="3" name="object 3"/>
          <p:cNvSpPr txBox="1"/>
          <p:nvPr/>
        </p:nvSpPr>
        <p:spPr>
          <a:xfrm>
            <a:off x="381000" y="1493901"/>
            <a:ext cx="6477000" cy="106299"/>
          </a:xfrm>
          <a:prstGeom prst="rect">
            <a:avLst/>
          </a:prstGeom>
        </p:spPr>
        <p:txBody>
          <a:bodyPr wrap="square" lIns="0" tIns="4699" rIns="0" bIns="0" rtlCol="0">
            <a:noAutofit/>
          </a:bodyPr>
          <a:lstStyle/>
          <a:p>
            <a:pPr marL="25400">
              <a:lnSpc>
                <a:spcPts val="800"/>
              </a:lnSpc>
            </a:pPr>
            <a:endParaRPr sz="800"/>
          </a:p>
        </p:txBody>
      </p:sp>
      <p:sp>
        <p:nvSpPr>
          <p:cNvPr id="2" name="object 2"/>
          <p:cNvSpPr txBox="1"/>
          <p:nvPr/>
        </p:nvSpPr>
        <p:spPr>
          <a:xfrm>
            <a:off x="6858000" y="1493901"/>
            <a:ext cx="1828800" cy="106299"/>
          </a:xfrm>
          <a:prstGeom prst="rect">
            <a:avLst/>
          </a:prstGeom>
        </p:spPr>
        <p:txBody>
          <a:bodyPr wrap="square" lIns="0" tIns="4699" rIns="0" bIns="0" rtlCol="0">
            <a:noAutofit/>
          </a:bodyPr>
          <a:lstStyle/>
          <a:p>
            <a:pPr marL="25400">
              <a:lnSpc>
                <a:spcPts val="800"/>
              </a:lnSpc>
            </a:pPr>
            <a:endParaRPr sz="80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3A48B341-580A-4199-B252-24F80E8B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3352800" y="2286065"/>
            <a:ext cx="374326" cy="2649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572000" y="2971807"/>
            <a:ext cx="327412" cy="3460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572000" y="2666988"/>
            <a:ext cx="363231" cy="2793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95800" y="3352865"/>
            <a:ext cx="394825" cy="2553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95800" y="3657600"/>
            <a:ext cx="550862" cy="32067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93140" y="602535"/>
            <a:ext cx="6445402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spc="0" dirty="0">
                <a:latin typeface="Times New Roman"/>
                <a:cs typeface="Times New Roman"/>
              </a:rPr>
              <a:t>Propositional Logic: Syntax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940" y="1798849"/>
            <a:ext cx="6010938" cy="406400"/>
          </a:xfrm>
          <a:prstGeom prst="rect">
            <a:avLst/>
          </a:prstGeom>
        </p:spPr>
        <p:txBody>
          <a:bodyPr wrap="square" lIns="0" tIns="20097" rIns="0" bIns="0" rtlCol="0">
            <a:noAutofit/>
          </a:bodyPr>
          <a:lstStyle/>
          <a:p>
            <a:pPr marL="12700">
              <a:lnSpc>
                <a:spcPts val="3165"/>
              </a:lnSpc>
            </a:pPr>
            <a:r>
              <a:rPr sz="30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3000" spc="-3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6" dirty="0">
                <a:latin typeface="Arial"/>
                <a:cs typeface="Arial"/>
              </a:rPr>
              <a:t>The proposition </a:t>
            </a:r>
            <a:r>
              <a:rPr sz="2000" spc="-6" dirty="0">
                <a:solidFill>
                  <a:srgbClr val="FF9933"/>
                </a:solidFill>
                <a:latin typeface="Arial"/>
                <a:cs typeface="Arial"/>
              </a:rPr>
              <a:t>symbols </a:t>
            </a:r>
            <a:r>
              <a:rPr sz="2000" i="1" spc="-34" dirty="0">
                <a:latin typeface="Times New Roman"/>
                <a:cs typeface="Times New Roman"/>
              </a:rPr>
              <a:t>P1, P2 </a:t>
            </a:r>
            <a:r>
              <a:rPr sz="2000" spc="-6" dirty="0">
                <a:latin typeface="Arial"/>
                <a:cs typeface="Arial"/>
              </a:rPr>
              <a:t>etc are sentences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40" y="2164609"/>
            <a:ext cx="2396954" cy="406400"/>
          </a:xfrm>
          <a:prstGeom prst="rect">
            <a:avLst/>
          </a:prstGeom>
        </p:spPr>
        <p:txBody>
          <a:bodyPr wrap="square" lIns="0" tIns="20097" rIns="0" bIns="0" rtlCol="0">
            <a:noAutofit/>
          </a:bodyPr>
          <a:lstStyle/>
          <a:p>
            <a:pPr marL="12700">
              <a:lnSpc>
                <a:spcPts val="3165"/>
              </a:lnSpc>
            </a:pPr>
            <a:r>
              <a:rPr sz="30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3000" spc="-8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" dirty="0">
                <a:latin typeface="Arial"/>
                <a:cs typeface="Arial"/>
              </a:rPr>
              <a:t>If </a:t>
            </a:r>
            <a:r>
              <a:rPr sz="2000" i="1" spc="-83" dirty="0">
                <a:latin typeface="Times New Roman"/>
                <a:cs typeface="Times New Roman"/>
              </a:rPr>
              <a:t>S </a:t>
            </a:r>
            <a:r>
              <a:rPr sz="2000" spc="-2" dirty="0">
                <a:latin typeface="Arial"/>
                <a:cs typeface="Arial"/>
              </a:rPr>
              <a:t>is a sentence,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29736" y="2267583"/>
            <a:ext cx="2967828" cy="280577"/>
          </a:xfrm>
          <a:prstGeom prst="rect">
            <a:avLst/>
          </a:prstGeom>
        </p:spPr>
        <p:txBody>
          <a:bodyPr wrap="square" lIns="0" tIns="13652" rIns="0" bIns="0" rtlCol="0">
            <a:noAutofit/>
          </a:bodyPr>
          <a:lstStyle/>
          <a:p>
            <a:pPr marL="12700">
              <a:lnSpc>
                <a:spcPts val="2150"/>
              </a:lnSpc>
            </a:pPr>
            <a:r>
              <a:rPr sz="2000" i="1" spc="19" dirty="0">
                <a:latin typeface="Times New Roman"/>
                <a:cs typeface="Times New Roman"/>
              </a:rPr>
              <a:t>S </a:t>
            </a:r>
            <a:r>
              <a:rPr sz="2000" spc="-4" dirty="0">
                <a:latin typeface="Arial"/>
                <a:cs typeface="Arial"/>
              </a:rPr>
              <a:t>is a sentence (</a:t>
            </a:r>
            <a:r>
              <a:rPr sz="2000" i="1" spc="-4" dirty="0">
                <a:latin typeface="Arial"/>
                <a:cs typeface="Arial"/>
              </a:rPr>
              <a:t>negation</a:t>
            </a:r>
            <a:r>
              <a:rPr sz="2000" spc="-4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40" y="2530369"/>
            <a:ext cx="2059992" cy="1526794"/>
          </a:xfrm>
          <a:prstGeom prst="rect">
            <a:avLst/>
          </a:prstGeom>
        </p:spPr>
        <p:txBody>
          <a:bodyPr wrap="square" lIns="0" tIns="19970" rIns="0" bIns="0" rtlCol="0">
            <a:noAutofit/>
          </a:bodyPr>
          <a:lstStyle/>
          <a:p>
            <a:pPr marL="12700" marR="0">
              <a:lnSpc>
                <a:spcPts val="3145"/>
              </a:lnSpc>
            </a:pPr>
            <a:r>
              <a:rPr sz="30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3000" spc="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If </a:t>
            </a:r>
            <a:r>
              <a:rPr sz="2000" i="1" spc="22" dirty="0">
                <a:latin typeface="Times New Roman"/>
                <a:cs typeface="Times New Roman"/>
              </a:rPr>
              <a:t>S</a:t>
            </a:r>
            <a:r>
              <a:rPr sz="1950" i="1" spc="22" baseline="-22298" dirty="0">
                <a:latin typeface="Times New Roman"/>
                <a:cs typeface="Times New Roman"/>
              </a:rPr>
              <a:t>1 </a:t>
            </a:r>
            <a:r>
              <a:rPr sz="2000" spc="-5" dirty="0">
                <a:latin typeface="Arial"/>
                <a:cs typeface="Arial"/>
              </a:rPr>
              <a:t>and </a:t>
            </a:r>
            <a:r>
              <a:rPr sz="2000" i="1" spc="22" dirty="0">
                <a:latin typeface="Times New Roman"/>
                <a:cs typeface="Times New Roman"/>
              </a:rPr>
              <a:t>S</a:t>
            </a:r>
            <a:r>
              <a:rPr sz="1950" i="1" spc="22" baseline="-22298" dirty="0">
                <a:latin typeface="Times New Roman"/>
                <a:cs typeface="Times New Roman"/>
              </a:rPr>
              <a:t>2 </a:t>
            </a:r>
            <a:r>
              <a:rPr sz="2000" spc="-5" dirty="0">
                <a:latin typeface="Arial"/>
                <a:cs typeface="Arial"/>
              </a:rPr>
              <a:t>are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880"/>
              </a:lnSpc>
            </a:pPr>
            <a:r>
              <a:rPr sz="30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3000" spc="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If </a:t>
            </a:r>
            <a:r>
              <a:rPr sz="2000" i="1" spc="22" dirty="0">
                <a:latin typeface="Times New Roman"/>
                <a:cs typeface="Times New Roman"/>
              </a:rPr>
              <a:t>S</a:t>
            </a:r>
            <a:r>
              <a:rPr sz="1950" i="1" spc="22" baseline="-20068" dirty="0">
                <a:latin typeface="Times New Roman"/>
                <a:cs typeface="Times New Roman"/>
              </a:rPr>
              <a:t>1 </a:t>
            </a:r>
            <a:r>
              <a:rPr sz="2000" spc="-5" dirty="0">
                <a:latin typeface="Arial"/>
                <a:cs typeface="Arial"/>
              </a:rPr>
              <a:t>and </a:t>
            </a:r>
            <a:r>
              <a:rPr sz="2000" i="1" spc="22" dirty="0">
                <a:latin typeface="Times New Roman"/>
                <a:cs typeface="Times New Roman"/>
              </a:rPr>
              <a:t>S</a:t>
            </a:r>
            <a:r>
              <a:rPr sz="1950" i="1" spc="22" baseline="-20068" dirty="0">
                <a:latin typeface="Times New Roman"/>
                <a:cs typeface="Times New Roman"/>
              </a:rPr>
              <a:t>2 </a:t>
            </a:r>
            <a:r>
              <a:rPr sz="2000" spc="-5" dirty="0">
                <a:latin typeface="Arial"/>
                <a:cs typeface="Arial"/>
              </a:rPr>
              <a:t>are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880"/>
              </a:lnSpc>
            </a:pPr>
            <a:r>
              <a:rPr sz="30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3000" spc="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If </a:t>
            </a:r>
            <a:r>
              <a:rPr sz="2000" i="1" spc="22" dirty="0">
                <a:latin typeface="Times New Roman"/>
                <a:cs typeface="Times New Roman"/>
              </a:rPr>
              <a:t>S</a:t>
            </a:r>
            <a:r>
              <a:rPr sz="1950" i="1" spc="22" baseline="-20068" dirty="0">
                <a:latin typeface="Times New Roman"/>
                <a:cs typeface="Times New Roman"/>
              </a:rPr>
              <a:t>1 </a:t>
            </a:r>
            <a:r>
              <a:rPr sz="2000" spc="-5" dirty="0">
                <a:latin typeface="Arial"/>
                <a:cs typeface="Arial"/>
              </a:rPr>
              <a:t>and </a:t>
            </a:r>
            <a:r>
              <a:rPr sz="2000" i="1" spc="22" dirty="0">
                <a:latin typeface="Times New Roman"/>
                <a:cs typeface="Times New Roman"/>
              </a:rPr>
              <a:t>S</a:t>
            </a:r>
            <a:r>
              <a:rPr sz="1950" i="1" spc="22" baseline="-20068" dirty="0">
                <a:latin typeface="Times New Roman"/>
                <a:cs typeface="Times New Roman"/>
              </a:rPr>
              <a:t>2 </a:t>
            </a:r>
            <a:r>
              <a:rPr sz="2000" spc="-5" dirty="0">
                <a:latin typeface="Arial"/>
                <a:cs typeface="Arial"/>
              </a:rPr>
              <a:t>are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3045"/>
              </a:lnSpc>
              <a:spcBef>
                <a:spcPts val="8"/>
              </a:spcBef>
            </a:pPr>
            <a:r>
              <a:rPr sz="30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3000" spc="2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If </a:t>
            </a:r>
            <a:r>
              <a:rPr sz="2000" i="1" spc="22" dirty="0">
                <a:latin typeface="Times New Roman"/>
                <a:cs typeface="Times New Roman"/>
              </a:rPr>
              <a:t>S</a:t>
            </a:r>
            <a:r>
              <a:rPr sz="1950" i="1" spc="22" baseline="-13379" dirty="0">
                <a:latin typeface="Times New Roman"/>
                <a:cs typeface="Times New Roman"/>
              </a:rPr>
              <a:t>1 </a:t>
            </a:r>
            <a:r>
              <a:rPr sz="2000" spc="-5" dirty="0">
                <a:latin typeface="Arial"/>
                <a:cs typeface="Arial"/>
              </a:rPr>
              <a:t>and </a:t>
            </a:r>
            <a:r>
              <a:rPr sz="2000" i="1" spc="22" dirty="0">
                <a:latin typeface="Times New Roman"/>
                <a:cs typeface="Times New Roman"/>
              </a:rPr>
              <a:t>S</a:t>
            </a:r>
            <a:r>
              <a:rPr sz="1950" i="1" spc="22" baseline="-13379" dirty="0">
                <a:latin typeface="Times New Roman"/>
                <a:cs typeface="Times New Roman"/>
              </a:rPr>
              <a:t>2 </a:t>
            </a:r>
            <a:r>
              <a:rPr sz="2000" spc="-5" dirty="0">
                <a:latin typeface="Arial"/>
                <a:cs typeface="Arial"/>
              </a:rPr>
              <a:t>are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61456" y="2633343"/>
            <a:ext cx="1584200" cy="142382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5448">
              <a:lnSpc>
                <a:spcPts val="2500"/>
              </a:lnSpc>
            </a:pPr>
            <a:r>
              <a:rPr sz="3000" spc="-9" baseline="8696" dirty="0">
                <a:latin typeface="Arial"/>
                <a:cs typeface="Arial"/>
              </a:rPr>
              <a:t>sentences, </a:t>
            </a:r>
            <a:r>
              <a:rPr sz="3000" i="1" spc="4" baseline="8696" dirty="0">
                <a:latin typeface="Times New Roman"/>
                <a:cs typeface="Times New Roman"/>
              </a:rPr>
              <a:t>S</a:t>
            </a:r>
            <a:r>
              <a:rPr sz="1950" i="1" spc="4" baseline="-8919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ts val="2316"/>
              </a:lnSpc>
              <a:spcBef>
                <a:spcPts val="95"/>
              </a:spcBef>
            </a:pPr>
            <a:r>
              <a:rPr sz="2000" spc="-9" dirty="0">
                <a:latin typeface="Arial"/>
                <a:cs typeface="Arial"/>
              </a:rPr>
              <a:t>sentences, </a:t>
            </a:r>
            <a:r>
              <a:rPr sz="2000" i="1" spc="4" dirty="0">
                <a:latin typeface="Times New Roman"/>
                <a:cs typeface="Times New Roman"/>
              </a:rPr>
              <a:t>S</a:t>
            </a:r>
            <a:r>
              <a:rPr sz="1950" i="1" spc="4" baseline="-22298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  <a:p>
            <a:pPr marL="12700" marR="5448">
              <a:lnSpc>
                <a:spcPts val="2316"/>
              </a:lnSpc>
              <a:spcBef>
                <a:spcPts val="220"/>
              </a:spcBef>
            </a:pPr>
            <a:r>
              <a:rPr sz="2000" spc="-9" dirty="0">
                <a:latin typeface="Arial"/>
                <a:cs typeface="Arial"/>
              </a:rPr>
              <a:t>sentences, </a:t>
            </a:r>
            <a:r>
              <a:rPr sz="2000" i="1" spc="4" dirty="0">
                <a:latin typeface="Times New Roman"/>
                <a:cs typeface="Times New Roman"/>
              </a:rPr>
              <a:t>S</a:t>
            </a:r>
            <a:r>
              <a:rPr sz="1950" i="1" spc="4" baseline="-22298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  <a:p>
            <a:pPr marL="12700" marR="5448">
              <a:lnSpc>
                <a:spcPts val="2316"/>
              </a:lnSpc>
              <a:spcBef>
                <a:spcPts val="220"/>
              </a:spcBef>
            </a:pPr>
            <a:r>
              <a:rPr sz="2000" spc="-9" dirty="0">
                <a:latin typeface="Arial"/>
                <a:cs typeface="Arial"/>
              </a:rPr>
              <a:t>sentences, </a:t>
            </a:r>
            <a:r>
              <a:rPr sz="2000" i="1" spc="4" dirty="0">
                <a:latin typeface="Times New Roman"/>
                <a:cs typeface="Times New Roman"/>
              </a:rPr>
              <a:t>S</a:t>
            </a:r>
            <a:r>
              <a:rPr sz="1950" i="1" spc="4" baseline="-22298" dirty="0">
                <a:latin typeface="Times New Roman"/>
                <a:cs typeface="Times New Roman"/>
              </a:rPr>
              <a:t>1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75428" y="2633343"/>
            <a:ext cx="3462402" cy="142382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35560" marR="45171">
              <a:lnSpc>
                <a:spcPts val="2500"/>
              </a:lnSpc>
            </a:pPr>
            <a:r>
              <a:rPr sz="3000" i="1" spc="4" baseline="8696" dirty="0">
                <a:latin typeface="Times New Roman"/>
                <a:cs typeface="Times New Roman"/>
              </a:rPr>
              <a:t>S</a:t>
            </a:r>
            <a:r>
              <a:rPr sz="1950" i="1" spc="4" baseline="-8919" dirty="0">
                <a:latin typeface="Times New Roman"/>
                <a:cs typeface="Times New Roman"/>
              </a:rPr>
              <a:t>2 </a:t>
            </a:r>
            <a:r>
              <a:rPr sz="3000" spc="-3" baseline="8696" dirty="0">
                <a:latin typeface="Arial"/>
                <a:cs typeface="Arial"/>
              </a:rPr>
              <a:t>is a sentence (</a:t>
            </a:r>
            <a:r>
              <a:rPr sz="3000" i="1" spc="-3" baseline="8696" dirty="0">
                <a:latin typeface="Arial"/>
                <a:cs typeface="Arial"/>
              </a:rPr>
              <a:t>conjunction</a:t>
            </a:r>
            <a:r>
              <a:rPr sz="3000" spc="-3" baseline="8696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35560" marR="45171">
              <a:lnSpc>
                <a:spcPts val="2114"/>
              </a:lnSpc>
              <a:spcBef>
                <a:spcPts val="95"/>
              </a:spcBef>
            </a:pPr>
            <a:r>
              <a:rPr sz="2000" i="1" spc="74" dirty="0">
                <a:latin typeface="Times New Roman"/>
                <a:cs typeface="Times New Roman"/>
              </a:rPr>
              <a:t>S</a:t>
            </a:r>
            <a:r>
              <a:rPr sz="1950" i="1" spc="74" baseline="-22298" dirty="0">
                <a:latin typeface="Times New Roman"/>
                <a:cs typeface="Times New Roman"/>
              </a:rPr>
              <a:t>2 </a:t>
            </a:r>
            <a:r>
              <a:rPr sz="2000" spc="-3" dirty="0">
                <a:latin typeface="Arial"/>
                <a:cs typeface="Arial"/>
              </a:rPr>
              <a:t>is a sentence (</a:t>
            </a:r>
            <a:r>
              <a:rPr sz="2000" i="1" spc="-3" dirty="0">
                <a:latin typeface="Arial"/>
                <a:cs typeface="Arial"/>
              </a:rPr>
              <a:t>disjunction</a:t>
            </a:r>
            <a:r>
              <a:rPr sz="2000" spc="-3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12700" marR="45171">
              <a:lnSpc>
                <a:spcPts val="2114"/>
              </a:lnSpc>
              <a:spcBef>
                <a:spcPts val="720"/>
              </a:spcBef>
            </a:pPr>
            <a:r>
              <a:rPr sz="2000" i="1" spc="75" dirty="0">
                <a:latin typeface="Times New Roman"/>
                <a:cs typeface="Times New Roman"/>
              </a:rPr>
              <a:t>S</a:t>
            </a:r>
            <a:r>
              <a:rPr sz="1950" i="1" spc="75" baseline="-22298" dirty="0">
                <a:latin typeface="Times New Roman"/>
                <a:cs typeface="Times New Roman"/>
              </a:rPr>
              <a:t>2 </a:t>
            </a:r>
            <a:r>
              <a:rPr sz="2000" spc="-3" dirty="0">
                <a:latin typeface="Arial"/>
                <a:cs typeface="Arial"/>
              </a:rPr>
              <a:t>is a sentence (</a:t>
            </a:r>
            <a:r>
              <a:rPr sz="2000" i="1" spc="-3" dirty="0">
                <a:latin typeface="Arial"/>
                <a:cs typeface="Arial"/>
              </a:rPr>
              <a:t>implication</a:t>
            </a:r>
            <a:r>
              <a:rPr sz="2000" spc="-3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35560">
              <a:lnSpc>
                <a:spcPts val="2114"/>
              </a:lnSpc>
              <a:spcBef>
                <a:spcPts val="720"/>
              </a:spcBef>
            </a:pPr>
            <a:r>
              <a:rPr sz="2000" i="1" spc="74" dirty="0">
                <a:latin typeface="Times New Roman"/>
                <a:cs typeface="Times New Roman"/>
              </a:rPr>
              <a:t>S</a:t>
            </a:r>
            <a:r>
              <a:rPr sz="1950" i="1" spc="74" baseline="-22298" dirty="0">
                <a:latin typeface="Times New Roman"/>
                <a:cs typeface="Times New Roman"/>
              </a:rPr>
              <a:t>2 </a:t>
            </a:r>
            <a:r>
              <a:rPr sz="2000" spc="-4" dirty="0">
                <a:latin typeface="Arial"/>
                <a:cs typeface="Arial"/>
              </a:rPr>
              <a:t>is a sentence (</a:t>
            </a:r>
            <a:r>
              <a:rPr sz="2000" i="1" spc="-4" dirty="0">
                <a:latin typeface="Arial"/>
                <a:cs typeface="Arial"/>
              </a:rPr>
              <a:t>equivalence</a:t>
            </a:r>
            <a:r>
              <a:rPr sz="2000" spc="-4" dirty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B30DAA-699D-4080-B0D2-0505DA098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4843526" y="2285991"/>
            <a:ext cx="4071917" cy="1447859"/>
          </a:xfrm>
          <a:custGeom>
            <a:avLst/>
            <a:gdLst/>
            <a:ahLst/>
            <a:cxnLst/>
            <a:rect l="l" t="t" r="r" b="b"/>
            <a:pathLst>
              <a:path w="4071917" h="1447859">
                <a:moveTo>
                  <a:pt x="1718390" y="458238"/>
                </a:moveTo>
                <a:lnTo>
                  <a:pt x="1687135" y="511035"/>
                </a:lnTo>
                <a:lnTo>
                  <a:pt x="1662759" y="565384"/>
                </a:lnTo>
                <a:lnTo>
                  <a:pt x="1645514" y="621067"/>
                </a:lnTo>
                <a:lnTo>
                  <a:pt x="1635653" y="677869"/>
                </a:lnTo>
                <a:lnTo>
                  <a:pt x="1633430" y="735571"/>
                </a:lnTo>
                <a:lnTo>
                  <a:pt x="1639096" y="793958"/>
                </a:lnTo>
                <a:lnTo>
                  <a:pt x="1652904" y="852813"/>
                </a:lnTo>
                <a:lnTo>
                  <a:pt x="0" y="1382784"/>
                </a:lnTo>
                <a:lnTo>
                  <a:pt x="1821560" y="1110242"/>
                </a:lnTo>
                <a:lnTo>
                  <a:pt x="1863040" y="1146764"/>
                </a:lnTo>
                <a:lnTo>
                  <a:pt x="1907772" y="1181432"/>
                </a:lnTo>
                <a:lnTo>
                  <a:pt x="1955582" y="1214200"/>
                </a:lnTo>
                <a:lnTo>
                  <a:pt x="2006294" y="1245024"/>
                </a:lnTo>
                <a:lnTo>
                  <a:pt x="2059733" y="1273856"/>
                </a:lnTo>
                <a:lnTo>
                  <a:pt x="2115725" y="1300651"/>
                </a:lnTo>
                <a:lnTo>
                  <a:pt x="2174095" y="1325363"/>
                </a:lnTo>
                <a:lnTo>
                  <a:pt x="2234668" y="1347947"/>
                </a:lnTo>
                <a:lnTo>
                  <a:pt x="2297269" y="1368357"/>
                </a:lnTo>
                <a:lnTo>
                  <a:pt x="2361723" y="1386546"/>
                </a:lnTo>
                <a:lnTo>
                  <a:pt x="2427856" y="1402470"/>
                </a:lnTo>
                <a:lnTo>
                  <a:pt x="2495492" y="1416081"/>
                </a:lnTo>
                <a:lnTo>
                  <a:pt x="2564456" y="1427335"/>
                </a:lnTo>
                <a:lnTo>
                  <a:pt x="2634574" y="1436186"/>
                </a:lnTo>
                <a:lnTo>
                  <a:pt x="2705671" y="1442587"/>
                </a:lnTo>
                <a:lnTo>
                  <a:pt x="2777572" y="1446493"/>
                </a:lnTo>
                <a:lnTo>
                  <a:pt x="2850102" y="1447859"/>
                </a:lnTo>
                <a:lnTo>
                  <a:pt x="2923086" y="1446637"/>
                </a:lnTo>
                <a:lnTo>
                  <a:pt x="2996349" y="1442783"/>
                </a:lnTo>
                <a:lnTo>
                  <a:pt x="3069717" y="1436251"/>
                </a:lnTo>
                <a:lnTo>
                  <a:pt x="3167388" y="1423327"/>
                </a:lnTo>
                <a:lnTo>
                  <a:pt x="3261468" y="1406037"/>
                </a:lnTo>
                <a:lnTo>
                  <a:pt x="3351703" y="1384596"/>
                </a:lnTo>
                <a:lnTo>
                  <a:pt x="3437840" y="1359222"/>
                </a:lnTo>
                <a:lnTo>
                  <a:pt x="3519626" y="1330131"/>
                </a:lnTo>
                <a:lnTo>
                  <a:pt x="3596809" y="1297539"/>
                </a:lnTo>
                <a:lnTo>
                  <a:pt x="3669135" y="1261663"/>
                </a:lnTo>
                <a:lnTo>
                  <a:pt x="3736353" y="1222720"/>
                </a:lnTo>
                <a:lnTo>
                  <a:pt x="3798208" y="1180927"/>
                </a:lnTo>
                <a:lnTo>
                  <a:pt x="3854449" y="1136499"/>
                </a:lnTo>
                <a:lnTo>
                  <a:pt x="3904823" y="1089654"/>
                </a:lnTo>
                <a:lnTo>
                  <a:pt x="3949077" y="1040608"/>
                </a:lnTo>
                <a:lnTo>
                  <a:pt x="3986957" y="989578"/>
                </a:lnTo>
                <a:lnTo>
                  <a:pt x="4018212" y="936781"/>
                </a:lnTo>
                <a:lnTo>
                  <a:pt x="4042588" y="882432"/>
                </a:lnTo>
                <a:lnTo>
                  <a:pt x="4059833" y="826749"/>
                </a:lnTo>
                <a:lnTo>
                  <a:pt x="4069694" y="769947"/>
                </a:lnTo>
                <a:lnTo>
                  <a:pt x="4071917" y="712245"/>
                </a:lnTo>
                <a:lnTo>
                  <a:pt x="4066251" y="653858"/>
                </a:lnTo>
                <a:lnTo>
                  <a:pt x="4052443" y="595003"/>
                </a:lnTo>
                <a:lnTo>
                  <a:pt x="4030662" y="537021"/>
                </a:lnTo>
                <a:lnTo>
                  <a:pt x="4001528" y="481170"/>
                </a:lnTo>
                <a:lnTo>
                  <a:pt x="3965407" y="427601"/>
                </a:lnTo>
                <a:lnTo>
                  <a:pt x="3922663" y="376463"/>
                </a:lnTo>
                <a:lnTo>
                  <a:pt x="3873660" y="327908"/>
                </a:lnTo>
                <a:lnTo>
                  <a:pt x="3818764" y="282085"/>
                </a:lnTo>
                <a:lnTo>
                  <a:pt x="3758339" y="239144"/>
                </a:lnTo>
                <a:lnTo>
                  <a:pt x="3692750" y="199236"/>
                </a:lnTo>
                <a:lnTo>
                  <a:pt x="3622361" y="162511"/>
                </a:lnTo>
                <a:lnTo>
                  <a:pt x="3547538" y="129119"/>
                </a:lnTo>
                <a:lnTo>
                  <a:pt x="3468645" y="99211"/>
                </a:lnTo>
                <a:lnTo>
                  <a:pt x="3386046" y="72935"/>
                </a:lnTo>
                <a:lnTo>
                  <a:pt x="3300107" y="50444"/>
                </a:lnTo>
                <a:lnTo>
                  <a:pt x="3211192" y="31886"/>
                </a:lnTo>
                <a:lnTo>
                  <a:pt x="3119665" y="17413"/>
                </a:lnTo>
                <a:lnTo>
                  <a:pt x="3025892" y="7174"/>
                </a:lnTo>
                <a:lnTo>
                  <a:pt x="2930238" y="1319"/>
                </a:lnTo>
                <a:lnTo>
                  <a:pt x="2833066" y="0"/>
                </a:lnTo>
                <a:lnTo>
                  <a:pt x="2734742" y="3365"/>
                </a:lnTo>
                <a:lnTo>
                  <a:pt x="2635630" y="11565"/>
                </a:lnTo>
                <a:lnTo>
                  <a:pt x="2537959" y="24489"/>
                </a:lnTo>
                <a:lnTo>
                  <a:pt x="2443879" y="41779"/>
                </a:lnTo>
                <a:lnTo>
                  <a:pt x="2353644" y="63220"/>
                </a:lnTo>
                <a:lnTo>
                  <a:pt x="2267507" y="88594"/>
                </a:lnTo>
                <a:lnTo>
                  <a:pt x="2185721" y="117685"/>
                </a:lnTo>
                <a:lnTo>
                  <a:pt x="2108538" y="150277"/>
                </a:lnTo>
                <a:lnTo>
                  <a:pt x="2036212" y="186153"/>
                </a:lnTo>
                <a:lnTo>
                  <a:pt x="1968994" y="225096"/>
                </a:lnTo>
                <a:lnTo>
                  <a:pt x="1907139" y="266889"/>
                </a:lnTo>
                <a:lnTo>
                  <a:pt x="1850897" y="311317"/>
                </a:lnTo>
                <a:lnTo>
                  <a:pt x="1800524" y="358162"/>
                </a:lnTo>
                <a:lnTo>
                  <a:pt x="1756270" y="407208"/>
                </a:lnTo>
                <a:lnTo>
                  <a:pt x="1718390" y="458238"/>
                </a:lnTo>
                <a:close/>
              </a:path>
            </a:pathLst>
          </a:custGeom>
          <a:solidFill>
            <a:srgbClr val="CCCC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43526" y="2285991"/>
            <a:ext cx="4071917" cy="1447859"/>
          </a:xfrm>
          <a:custGeom>
            <a:avLst/>
            <a:gdLst/>
            <a:ahLst/>
            <a:cxnLst/>
            <a:rect l="l" t="t" r="r" b="b"/>
            <a:pathLst>
              <a:path w="4071917" h="1447859">
                <a:moveTo>
                  <a:pt x="0" y="1382784"/>
                </a:moveTo>
                <a:lnTo>
                  <a:pt x="1652904" y="852813"/>
                </a:lnTo>
                <a:lnTo>
                  <a:pt x="1639096" y="793958"/>
                </a:lnTo>
                <a:lnTo>
                  <a:pt x="1633430" y="735571"/>
                </a:lnTo>
                <a:lnTo>
                  <a:pt x="1635653" y="677869"/>
                </a:lnTo>
                <a:lnTo>
                  <a:pt x="1645514" y="621067"/>
                </a:lnTo>
                <a:lnTo>
                  <a:pt x="1662759" y="565384"/>
                </a:lnTo>
                <a:lnTo>
                  <a:pt x="1687135" y="511035"/>
                </a:lnTo>
                <a:lnTo>
                  <a:pt x="1718390" y="458238"/>
                </a:lnTo>
                <a:lnTo>
                  <a:pt x="1756270" y="407208"/>
                </a:lnTo>
                <a:lnTo>
                  <a:pt x="1800524" y="358162"/>
                </a:lnTo>
                <a:lnTo>
                  <a:pt x="1850897" y="311317"/>
                </a:lnTo>
                <a:lnTo>
                  <a:pt x="1907139" y="266889"/>
                </a:lnTo>
                <a:lnTo>
                  <a:pt x="1968994" y="225096"/>
                </a:lnTo>
                <a:lnTo>
                  <a:pt x="2036212" y="186153"/>
                </a:lnTo>
                <a:lnTo>
                  <a:pt x="2108538" y="150277"/>
                </a:lnTo>
                <a:lnTo>
                  <a:pt x="2185721" y="117685"/>
                </a:lnTo>
                <a:lnTo>
                  <a:pt x="2267507" y="88594"/>
                </a:lnTo>
                <a:lnTo>
                  <a:pt x="2353644" y="63220"/>
                </a:lnTo>
                <a:lnTo>
                  <a:pt x="2443879" y="41779"/>
                </a:lnTo>
                <a:lnTo>
                  <a:pt x="2537959" y="24489"/>
                </a:lnTo>
                <a:lnTo>
                  <a:pt x="2635630" y="11565"/>
                </a:lnTo>
                <a:lnTo>
                  <a:pt x="2734742" y="3365"/>
                </a:lnTo>
                <a:lnTo>
                  <a:pt x="2833066" y="0"/>
                </a:lnTo>
                <a:lnTo>
                  <a:pt x="2930238" y="1319"/>
                </a:lnTo>
                <a:lnTo>
                  <a:pt x="3025892" y="7174"/>
                </a:lnTo>
                <a:lnTo>
                  <a:pt x="3119665" y="17413"/>
                </a:lnTo>
                <a:lnTo>
                  <a:pt x="3211192" y="31886"/>
                </a:lnTo>
                <a:lnTo>
                  <a:pt x="3300107" y="50444"/>
                </a:lnTo>
                <a:lnTo>
                  <a:pt x="3386046" y="72935"/>
                </a:lnTo>
                <a:lnTo>
                  <a:pt x="3468645" y="99211"/>
                </a:lnTo>
                <a:lnTo>
                  <a:pt x="3547538" y="129119"/>
                </a:lnTo>
                <a:lnTo>
                  <a:pt x="3622361" y="162511"/>
                </a:lnTo>
                <a:lnTo>
                  <a:pt x="3692750" y="199236"/>
                </a:lnTo>
                <a:lnTo>
                  <a:pt x="3758339" y="239144"/>
                </a:lnTo>
                <a:lnTo>
                  <a:pt x="3818764" y="282085"/>
                </a:lnTo>
                <a:lnTo>
                  <a:pt x="3873660" y="327908"/>
                </a:lnTo>
                <a:lnTo>
                  <a:pt x="3922663" y="376463"/>
                </a:lnTo>
                <a:lnTo>
                  <a:pt x="3965407" y="427601"/>
                </a:lnTo>
                <a:lnTo>
                  <a:pt x="4001528" y="481170"/>
                </a:lnTo>
                <a:lnTo>
                  <a:pt x="4030662" y="537021"/>
                </a:lnTo>
                <a:lnTo>
                  <a:pt x="4052443" y="595003"/>
                </a:lnTo>
                <a:lnTo>
                  <a:pt x="4066251" y="653858"/>
                </a:lnTo>
                <a:lnTo>
                  <a:pt x="4071917" y="712245"/>
                </a:lnTo>
                <a:lnTo>
                  <a:pt x="4069694" y="769947"/>
                </a:lnTo>
                <a:lnTo>
                  <a:pt x="4059833" y="826749"/>
                </a:lnTo>
                <a:lnTo>
                  <a:pt x="4042588" y="882432"/>
                </a:lnTo>
                <a:lnTo>
                  <a:pt x="4018212" y="936781"/>
                </a:lnTo>
                <a:lnTo>
                  <a:pt x="3986957" y="989578"/>
                </a:lnTo>
                <a:lnTo>
                  <a:pt x="3949077" y="1040608"/>
                </a:lnTo>
                <a:lnTo>
                  <a:pt x="3904823" y="1089654"/>
                </a:lnTo>
                <a:lnTo>
                  <a:pt x="3854449" y="1136499"/>
                </a:lnTo>
                <a:lnTo>
                  <a:pt x="3798208" y="1180927"/>
                </a:lnTo>
                <a:lnTo>
                  <a:pt x="3736353" y="1222720"/>
                </a:lnTo>
                <a:lnTo>
                  <a:pt x="3669135" y="1261663"/>
                </a:lnTo>
                <a:lnTo>
                  <a:pt x="3596809" y="1297539"/>
                </a:lnTo>
                <a:lnTo>
                  <a:pt x="3519626" y="1330131"/>
                </a:lnTo>
                <a:lnTo>
                  <a:pt x="3437840" y="1359222"/>
                </a:lnTo>
                <a:lnTo>
                  <a:pt x="3351703" y="1384596"/>
                </a:lnTo>
                <a:lnTo>
                  <a:pt x="3261468" y="1406037"/>
                </a:lnTo>
                <a:lnTo>
                  <a:pt x="3167388" y="1423327"/>
                </a:lnTo>
                <a:lnTo>
                  <a:pt x="3069717" y="1436251"/>
                </a:lnTo>
                <a:lnTo>
                  <a:pt x="2996349" y="1442783"/>
                </a:lnTo>
                <a:lnTo>
                  <a:pt x="2923086" y="1446637"/>
                </a:lnTo>
                <a:lnTo>
                  <a:pt x="2850102" y="1447859"/>
                </a:lnTo>
                <a:lnTo>
                  <a:pt x="2777572" y="1446493"/>
                </a:lnTo>
                <a:lnTo>
                  <a:pt x="2705671" y="1442587"/>
                </a:lnTo>
                <a:lnTo>
                  <a:pt x="2634574" y="1436186"/>
                </a:lnTo>
                <a:lnTo>
                  <a:pt x="2564456" y="1427335"/>
                </a:lnTo>
                <a:lnTo>
                  <a:pt x="2495492" y="1416081"/>
                </a:lnTo>
                <a:lnTo>
                  <a:pt x="2427856" y="1402470"/>
                </a:lnTo>
                <a:lnTo>
                  <a:pt x="2361723" y="1386546"/>
                </a:lnTo>
                <a:lnTo>
                  <a:pt x="2297269" y="1368357"/>
                </a:lnTo>
                <a:lnTo>
                  <a:pt x="2234668" y="1347947"/>
                </a:lnTo>
                <a:lnTo>
                  <a:pt x="2174095" y="1325363"/>
                </a:lnTo>
                <a:lnTo>
                  <a:pt x="2115725" y="1300651"/>
                </a:lnTo>
                <a:lnTo>
                  <a:pt x="2059733" y="1273856"/>
                </a:lnTo>
                <a:lnTo>
                  <a:pt x="2006294" y="1245024"/>
                </a:lnTo>
                <a:lnTo>
                  <a:pt x="1955582" y="1214200"/>
                </a:lnTo>
                <a:lnTo>
                  <a:pt x="1907772" y="1181432"/>
                </a:lnTo>
                <a:lnTo>
                  <a:pt x="1863040" y="1146764"/>
                </a:lnTo>
                <a:lnTo>
                  <a:pt x="1821560" y="1110242"/>
                </a:lnTo>
                <a:lnTo>
                  <a:pt x="0" y="138278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93140" y="488726"/>
            <a:ext cx="6312712" cy="508000"/>
          </a:xfrm>
          <a:prstGeom prst="rect">
            <a:avLst/>
          </a:prstGeom>
        </p:spPr>
        <p:txBody>
          <a:bodyPr wrap="square" lIns="0" tIns="25273" rIns="0" bIns="0" rtlCol="0">
            <a:noAutofit/>
          </a:bodyPr>
          <a:lstStyle/>
          <a:p>
            <a:pPr marL="12700">
              <a:lnSpc>
                <a:spcPts val="3979"/>
              </a:lnSpc>
            </a:pPr>
            <a:r>
              <a:rPr sz="3800" b="1" spc="-1" dirty="0">
                <a:latin typeface="Times New Roman"/>
                <a:cs typeface="Times New Roman"/>
              </a:rPr>
              <a:t>Propositional Logic: Semantic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9840" y="1767268"/>
            <a:ext cx="6214354" cy="807973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sz="2800" spc="1" dirty="0">
                <a:latin typeface="Arial"/>
                <a:cs typeface="Arial"/>
              </a:rPr>
              <a:t>Each model species </a:t>
            </a:r>
            <a:r>
              <a:rPr sz="2800" spc="1" dirty="0">
                <a:solidFill>
                  <a:srgbClr val="FF9933"/>
                </a:solidFill>
                <a:latin typeface="Arial"/>
                <a:cs typeface="Arial"/>
              </a:rPr>
              <a:t>true/false </a:t>
            </a:r>
            <a:r>
              <a:rPr sz="2800" spc="1" dirty="0">
                <a:latin typeface="Arial"/>
                <a:cs typeface="Arial"/>
              </a:rPr>
              <a:t>for each</a:t>
            </a:r>
            <a:endParaRPr sz="2800">
              <a:latin typeface="Arial"/>
              <a:cs typeface="Arial"/>
            </a:endParaRPr>
          </a:p>
          <a:p>
            <a:pPr marL="12700" marR="53378">
              <a:lnSpc>
                <a:spcPct val="95825"/>
              </a:lnSpc>
            </a:pPr>
            <a:r>
              <a:rPr sz="2800" dirty="0">
                <a:latin typeface="Arial"/>
                <a:cs typeface="Arial"/>
              </a:rPr>
              <a:t>proposition symbol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81011" y="2588958"/>
            <a:ext cx="790486" cy="381253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sz="2800" dirty="0">
                <a:latin typeface="Arial"/>
                <a:cs typeface="Arial"/>
              </a:rPr>
              <a:t>Why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90223" y="2588958"/>
            <a:ext cx="474487" cy="381253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sz="2800" dirty="0">
                <a:latin typeface="Arial"/>
                <a:cs typeface="Arial"/>
              </a:rPr>
              <a:t>8?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9840" y="2703766"/>
            <a:ext cx="711842" cy="381253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sz="2800" dirty="0">
                <a:latin typeface="Arial"/>
                <a:cs typeface="Arial"/>
              </a:rPr>
              <a:t>E.g.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19680" y="2705773"/>
            <a:ext cx="719114" cy="893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435609">
              <a:lnSpc>
                <a:spcPts val="2960"/>
              </a:lnSpc>
            </a:pPr>
            <a:r>
              <a:rPr sz="2800" i="1" dirty="0"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  <a:p>
            <a:pPr marL="12700" marR="53378">
              <a:lnSpc>
                <a:spcPct val="95825"/>
              </a:lnSpc>
              <a:spcBef>
                <a:spcPts val="664"/>
              </a:spcBef>
            </a:pPr>
            <a:r>
              <a:rPr sz="2800" i="1" dirty="0">
                <a:latin typeface="Times New Roman"/>
                <a:cs typeface="Times New Roman"/>
              </a:rPr>
              <a:t>true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47391" y="2705773"/>
            <a:ext cx="814645" cy="893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491640">
              <a:lnSpc>
                <a:spcPts val="2960"/>
              </a:lnSpc>
            </a:pPr>
            <a:r>
              <a:rPr sz="2800" i="1" dirty="0"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  <a:p>
            <a:pPr marL="12700" marR="53378">
              <a:lnSpc>
                <a:spcPct val="95825"/>
              </a:lnSpc>
              <a:spcBef>
                <a:spcPts val="664"/>
              </a:spcBef>
            </a:pPr>
            <a:r>
              <a:rPr sz="2800" i="1" dirty="0">
                <a:latin typeface="Times New Roman"/>
                <a:cs typeface="Times New Roman"/>
              </a:rPr>
              <a:t>true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63710" y="2705773"/>
            <a:ext cx="797394" cy="893317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R="12700" algn="r">
              <a:lnSpc>
                <a:spcPts val="2960"/>
              </a:lnSpc>
            </a:pPr>
            <a:r>
              <a:rPr sz="2800" i="1" dirty="0"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664"/>
              </a:spcBef>
            </a:pPr>
            <a:r>
              <a:rPr sz="2800" i="1" dirty="0">
                <a:latin typeface="Times New Roman"/>
                <a:cs typeface="Times New Roman"/>
              </a:rPr>
              <a:t>false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9840" y="3730180"/>
            <a:ext cx="7104935" cy="1747012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sz="2800" spc="0" dirty="0">
                <a:latin typeface="Arial"/>
                <a:cs typeface="Arial"/>
              </a:rPr>
              <a:t>(With these symbols, </a:t>
            </a:r>
            <a:r>
              <a:rPr sz="2800" spc="0" dirty="0">
                <a:solidFill>
                  <a:srgbClr val="FF9933"/>
                </a:solidFill>
                <a:latin typeface="Arial"/>
                <a:cs typeface="Arial"/>
              </a:rPr>
              <a:t>8 </a:t>
            </a:r>
            <a:r>
              <a:rPr sz="2800" spc="0" dirty="0">
                <a:latin typeface="Arial"/>
                <a:cs typeface="Arial"/>
              </a:rPr>
              <a:t>possible models, can</a:t>
            </a:r>
            <a:endParaRPr sz="2800">
              <a:latin typeface="Arial"/>
              <a:cs typeface="Arial"/>
            </a:endParaRPr>
          </a:p>
          <a:p>
            <a:pPr marL="12700" marR="53378">
              <a:lnSpc>
                <a:spcPct val="95825"/>
              </a:lnSpc>
            </a:pPr>
            <a:r>
              <a:rPr sz="2800" spc="1" dirty="0">
                <a:latin typeface="Arial"/>
                <a:cs typeface="Arial"/>
              </a:rPr>
              <a:t>enumerated automatically.)</a:t>
            </a:r>
            <a:endParaRPr sz="2800">
              <a:latin typeface="Arial"/>
              <a:cs typeface="Arial"/>
            </a:endParaRPr>
          </a:p>
          <a:p>
            <a:pPr marL="12700" marR="382479">
              <a:lnSpc>
                <a:spcPct val="100041"/>
              </a:lnSpc>
              <a:spcBef>
                <a:spcPts val="812"/>
              </a:spcBef>
            </a:pPr>
            <a:r>
              <a:rPr sz="2800" spc="1" dirty="0">
                <a:latin typeface="Arial"/>
                <a:cs typeface="Arial"/>
              </a:rPr>
              <a:t>Rules for evaluating truth with respect to a model m are determined by </a:t>
            </a:r>
            <a:r>
              <a:rPr sz="2800" i="1" spc="1" dirty="0">
                <a:latin typeface="Arial"/>
                <a:cs typeface="Arial"/>
              </a:rPr>
              <a:t>truth tables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84122" y="3730180"/>
            <a:ext cx="475018" cy="381254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sz="2800" dirty="0">
                <a:latin typeface="Arial"/>
                <a:cs typeface="Arial"/>
              </a:rPr>
              <a:t>be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10E6C-C2AD-467A-8044-C0CAA5BEB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34"/>
          <p:cNvSpPr/>
          <p:nvPr/>
        </p:nvSpPr>
        <p:spPr>
          <a:xfrm>
            <a:off x="4953000" y="4114857"/>
            <a:ext cx="3495348" cy="25907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057400" y="533400"/>
            <a:ext cx="461237" cy="4523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096000" y="1828788"/>
            <a:ext cx="363231" cy="2793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324600" y="2971788"/>
            <a:ext cx="363231" cy="2793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93140" y="411714"/>
            <a:ext cx="982374" cy="507746"/>
          </a:xfrm>
          <a:prstGeom prst="rect">
            <a:avLst/>
          </a:prstGeom>
        </p:spPr>
        <p:txBody>
          <a:bodyPr wrap="square" lIns="0" tIns="25273" rIns="0" bIns="0" rtlCol="0">
            <a:noAutofit/>
          </a:bodyPr>
          <a:lstStyle/>
          <a:p>
            <a:pPr marL="12700">
              <a:lnSpc>
                <a:spcPts val="3979"/>
              </a:lnSpc>
            </a:pPr>
            <a:r>
              <a:rPr sz="3800" b="1" dirty="0">
                <a:latin typeface="Times New Roman"/>
                <a:cs typeface="Times New Roman"/>
              </a:rPr>
              <a:t>And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01281" y="411714"/>
            <a:ext cx="5056111" cy="507746"/>
          </a:xfrm>
          <a:prstGeom prst="rect">
            <a:avLst/>
          </a:prstGeom>
        </p:spPr>
        <p:txBody>
          <a:bodyPr wrap="square" lIns="0" tIns="25273" rIns="0" bIns="0" rtlCol="0">
            <a:noAutofit/>
          </a:bodyPr>
          <a:lstStyle/>
          <a:p>
            <a:pPr marL="12700">
              <a:lnSpc>
                <a:spcPts val="3979"/>
              </a:lnSpc>
            </a:pPr>
            <a:r>
              <a:rPr sz="3800" b="1" spc="-1" dirty="0">
                <a:latin typeface="Times New Roman"/>
                <a:cs typeface="Times New Roman"/>
              </a:rPr>
              <a:t>(also called </a:t>
            </a:r>
            <a:r>
              <a:rPr sz="3800" b="1" i="1" spc="-1" dirty="0">
                <a:latin typeface="Times New Roman"/>
                <a:cs typeface="Times New Roman"/>
              </a:rPr>
              <a:t>conjunction</a:t>
            </a:r>
            <a:r>
              <a:rPr sz="3800" b="1" spc="-1" dirty="0">
                <a:latin typeface="Times New Roman"/>
                <a:cs typeface="Times New Roman"/>
              </a:rPr>
              <a:t>)</a:t>
            </a:r>
            <a:endParaRPr sz="3800" dirty="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93140" y="1634262"/>
            <a:ext cx="5206745" cy="482600"/>
          </a:xfrm>
          <a:prstGeom prst="rect">
            <a:avLst/>
          </a:prstGeom>
        </p:spPr>
        <p:txBody>
          <a:bodyPr wrap="square" lIns="0" tIns="23971" rIns="0" bIns="0" rtlCol="0">
            <a:noAutofit/>
          </a:bodyPr>
          <a:lstStyle/>
          <a:p>
            <a:pPr marL="12700">
              <a:lnSpc>
                <a:spcPts val="3775"/>
              </a:lnSpc>
            </a:pPr>
            <a:r>
              <a:rPr sz="3600" spc="9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400" spc="0" dirty="0">
                <a:latin typeface="Arial"/>
                <a:cs typeface="Arial"/>
              </a:rPr>
              <a:t>The </a:t>
            </a:r>
            <a:r>
              <a:rPr sz="2400" i="1" spc="0" dirty="0">
                <a:latin typeface="Arial"/>
                <a:cs typeface="Arial"/>
              </a:rPr>
              <a:t>conjunction ‘</a:t>
            </a:r>
            <a:r>
              <a:rPr sz="2400" i="1" spc="5" dirty="0">
                <a:latin typeface="Times New Roman"/>
                <a:cs typeface="Times New Roman"/>
              </a:rPr>
              <a:t>p AND q’, </a:t>
            </a:r>
            <a:r>
              <a:rPr sz="2400" spc="0" dirty="0">
                <a:latin typeface="Arial"/>
                <a:cs typeface="Arial"/>
              </a:rPr>
              <a:t>written </a:t>
            </a:r>
            <a:r>
              <a:rPr sz="2400" i="1" spc="5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86906" y="1757584"/>
            <a:ext cx="1205538" cy="331919"/>
          </a:xfrm>
          <a:prstGeom prst="rect">
            <a:avLst/>
          </a:prstGeom>
        </p:spPr>
        <p:txBody>
          <a:bodyPr wrap="square" lIns="0" tIns="16287" rIns="0" bIns="0" rtlCol="0">
            <a:noAutofit/>
          </a:bodyPr>
          <a:lstStyle/>
          <a:p>
            <a:pPr marL="12700">
              <a:lnSpc>
                <a:spcPts val="2565"/>
              </a:lnSpc>
            </a:pPr>
            <a:r>
              <a:rPr sz="2400" i="1" dirty="0">
                <a:latin typeface="Times New Roman"/>
                <a:cs typeface="Times New Roman"/>
              </a:rPr>
              <a:t>q</a:t>
            </a:r>
            <a:r>
              <a:rPr sz="2400" dirty="0">
                <a:latin typeface="Arial"/>
                <a:cs typeface="Arial"/>
              </a:rPr>
              <a:t>, of two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36040" y="2123344"/>
            <a:ext cx="6409897" cy="697484"/>
          </a:xfrm>
          <a:prstGeom prst="rect">
            <a:avLst/>
          </a:prstGeom>
        </p:spPr>
        <p:txBody>
          <a:bodyPr wrap="square" lIns="0" tIns="16287" rIns="0" bIns="0" rtlCol="0">
            <a:noAutofit/>
          </a:bodyPr>
          <a:lstStyle/>
          <a:p>
            <a:pPr marL="12700">
              <a:lnSpc>
                <a:spcPts val="2565"/>
              </a:lnSpc>
            </a:pPr>
            <a:r>
              <a:rPr sz="2400" spc="0" dirty="0">
                <a:latin typeface="Arial"/>
                <a:cs typeface="Arial"/>
              </a:rPr>
              <a:t>propositions is true when both </a:t>
            </a:r>
            <a:r>
              <a:rPr sz="2400" i="1" spc="32" dirty="0">
                <a:latin typeface="Times New Roman"/>
                <a:cs typeface="Times New Roman"/>
              </a:rPr>
              <a:t>p </a:t>
            </a:r>
            <a:r>
              <a:rPr sz="2400" spc="0" dirty="0">
                <a:latin typeface="Arial"/>
                <a:cs typeface="Arial"/>
              </a:rPr>
              <a:t>and </a:t>
            </a:r>
            <a:r>
              <a:rPr sz="2400" i="1" spc="32" dirty="0">
                <a:latin typeface="Times New Roman"/>
                <a:cs typeface="Times New Roman"/>
              </a:rPr>
              <a:t>q </a:t>
            </a:r>
            <a:r>
              <a:rPr sz="2400" spc="0" dirty="0">
                <a:latin typeface="Arial"/>
                <a:cs typeface="Arial"/>
              </a:rPr>
              <a:t>are true,</a:t>
            </a:r>
            <a:endParaRPr sz="2400">
              <a:latin typeface="Arial"/>
              <a:cs typeface="Arial"/>
            </a:endParaRPr>
          </a:p>
          <a:p>
            <a:pPr marL="12700" marR="45977">
              <a:lnSpc>
                <a:spcPct val="95825"/>
              </a:lnSpc>
            </a:pPr>
            <a:r>
              <a:rPr sz="2400" spc="0" dirty="0">
                <a:latin typeface="Arial"/>
                <a:cs typeface="Arial"/>
              </a:rPr>
              <a:t>otherwise.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59293" y="2123344"/>
            <a:ext cx="713943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sz="2400" spc="0" dirty="0">
                <a:latin typeface="Arial"/>
                <a:cs typeface="Arial"/>
              </a:rPr>
              <a:t>false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3140" y="2806218"/>
            <a:ext cx="5249062" cy="482600"/>
          </a:xfrm>
          <a:prstGeom prst="rect">
            <a:avLst/>
          </a:prstGeom>
        </p:spPr>
        <p:txBody>
          <a:bodyPr wrap="square" lIns="0" tIns="23971" rIns="0" bIns="0" rtlCol="0">
            <a:noAutofit/>
          </a:bodyPr>
          <a:lstStyle/>
          <a:p>
            <a:pPr marL="12700">
              <a:lnSpc>
                <a:spcPts val="3775"/>
              </a:lnSpc>
            </a:pPr>
            <a:r>
              <a:rPr sz="3600" spc="9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400" spc="0" dirty="0">
                <a:latin typeface="Arial"/>
                <a:cs typeface="Arial"/>
              </a:rPr>
              <a:t>We can summarise the operation of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38010" y="2929540"/>
            <a:ext cx="1749044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sz="2400" spc="0" dirty="0">
                <a:latin typeface="Arial"/>
                <a:cs typeface="Arial"/>
              </a:rPr>
              <a:t>using a truth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36040" y="3295300"/>
            <a:ext cx="7307681" cy="695959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sz="2400" spc="0" dirty="0">
                <a:latin typeface="Arial"/>
                <a:cs typeface="Arial"/>
              </a:rPr>
              <a:t>table. Rows in the table give all possible setting of the</a:t>
            </a:r>
            <a:endParaRPr sz="2400">
              <a:latin typeface="Arial"/>
              <a:cs typeface="Arial"/>
            </a:endParaRPr>
          </a:p>
          <a:p>
            <a:pPr marL="12700" marR="45720">
              <a:lnSpc>
                <a:spcPct val="95825"/>
              </a:lnSpc>
            </a:pPr>
            <a:r>
              <a:rPr sz="2400" dirty="0">
                <a:latin typeface="Arial"/>
                <a:cs typeface="Arial"/>
              </a:rPr>
              <a:t>propositions to true (T) or false (F).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47800" y="45720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2159000" y="54864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2870200" y="54864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1447800" y="59436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2159000" y="59436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4" name="object 38"/>
          <p:cNvSpPr/>
          <p:nvPr/>
        </p:nvSpPr>
        <p:spPr>
          <a:xfrm>
            <a:off x="2159000" y="4100449"/>
            <a:ext cx="0" cy="2314638"/>
          </a:xfrm>
          <a:custGeom>
            <a:avLst/>
            <a:gdLst/>
            <a:ahLst/>
            <a:cxnLst/>
            <a:rect l="l" t="t" r="r" b="b"/>
            <a:pathLst>
              <a:path h="2314638">
                <a:moveTo>
                  <a:pt x="0" y="0"/>
                </a:moveTo>
                <a:lnTo>
                  <a:pt x="0" y="231463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39"/>
          <p:cNvSpPr/>
          <p:nvPr/>
        </p:nvSpPr>
        <p:spPr>
          <a:xfrm>
            <a:off x="2870200" y="4100449"/>
            <a:ext cx="0" cy="2314638"/>
          </a:xfrm>
          <a:custGeom>
            <a:avLst/>
            <a:gdLst/>
            <a:ahLst/>
            <a:cxnLst/>
            <a:rect l="l" t="t" r="r" b="b"/>
            <a:pathLst>
              <a:path h="2314638">
                <a:moveTo>
                  <a:pt x="0" y="0"/>
                </a:moveTo>
                <a:lnTo>
                  <a:pt x="0" y="231463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40"/>
          <p:cNvSpPr/>
          <p:nvPr/>
        </p:nvSpPr>
        <p:spPr>
          <a:xfrm>
            <a:off x="1433576" y="45720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41"/>
          <p:cNvSpPr/>
          <p:nvPr/>
        </p:nvSpPr>
        <p:spPr>
          <a:xfrm>
            <a:off x="1433576" y="50292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42"/>
          <p:cNvSpPr/>
          <p:nvPr/>
        </p:nvSpPr>
        <p:spPr>
          <a:xfrm>
            <a:off x="1433576" y="54864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43"/>
          <p:cNvSpPr/>
          <p:nvPr/>
        </p:nvSpPr>
        <p:spPr>
          <a:xfrm>
            <a:off x="1433576" y="59436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44"/>
          <p:cNvSpPr/>
          <p:nvPr/>
        </p:nvSpPr>
        <p:spPr>
          <a:xfrm>
            <a:off x="1447800" y="4100449"/>
            <a:ext cx="0" cy="2314638"/>
          </a:xfrm>
          <a:custGeom>
            <a:avLst/>
            <a:gdLst/>
            <a:ahLst/>
            <a:cxnLst/>
            <a:rect l="l" t="t" r="r" b="b"/>
            <a:pathLst>
              <a:path h="2314638">
                <a:moveTo>
                  <a:pt x="0" y="0"/>
                </a:moveTo>
                <a:lnTo>
                  <a:pt x="0" y="231463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45"/>
          <p:cNvSpPr/>
          <p:nvPr/>
        </p:nvSpPr>
        <p:spPr>
          <a:xfrm>
            <a:off x="3581400" y="4100449"/>
            <a:ext cx="0" cy="2314638"/>
          </a:xfrm>
          <a:custGeom>
            <a:avLst/>
            <a:gdLst/>
            <a:ahLst/>
            <a:cxnLst/>
            <a:rect l="l" t="t" r="r" b="b"/>
            <a:pathLst>
              <a:path h="2314638">
                <a:moveTo>
                  <a:pt x="0" y="0"/>
                </a:moveTo>
                <a:lnTo>
                  <a:pt x="0" y="231463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46"/>
          <p:cNvSpPr/>
          <p:nvPr/>
        </p:nvSpPr>
        <p:spPr>
          <a:xfrm>
            <a:off x="1433576" y="41148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47"/>
          <p:cNvSpPr/>
          <p:nvPr/>
        </p:nvSpPr>
        <p:spPr>
          <a:xfrm>
            <a:off x="1433576" y="64008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20"/>
          <p:cNvSpPr txBox="1"/>
          <p:nvPr/>
        </p:nvSpPr>
        <p:spPr>
          <a:xfrm>
            <a:off x="1524000" y="4114800"/>
            <a:ext cx="711200" cy="457200"/>
          </a:xfrm>
          <a:prstGeom prst="rect">
            <a:avLst/>
          </a:prstGeom>
        </p:spPr>
        <p:txBody>
          <a:bodyPr wrap="square" lIns="0" tIns="56515" rIns="0" bIns="0" rtlCol="0">
            <a:noAutofit/>
          </a:bodyPr>
          <a:lstStyle/>
          <a:p>
            <a:pPr marL="91440">
              <a:lnSpc>
                <a:spcPct val="95825"/>
              </a:lnSpc>
            </a:pPr>
            <a:r>
              <a:rPr sz="2400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85" name="object 19"/>
          <p:cNvSpPr txBox="1"/>
          <p:nvPr/>
        </p:nvSpPr>
        <p:spPr>
          <a:xfrm>
            <a:off x="2159000" y="4114800"/>
            <a:ext cx="711200" cy="457200"/>
          </a:xfrm>
          <a:prstGeom prst="rect">
            <a:avLst/>
          </a:prstGeom>
        </p:spPr>
        <p:txBody>
          <a:bodyPr wrap="square" lIns="0" tIns="56515" rIns="0" bIns="0" rtlCol="0">
            <a:noAutofit/>
          </a:bodyPr>
          <a:lstStyle/>
          <a:p>
            <a:pPr marL="91693">
              <a:lnSpc>
                <a:spcPct val="95825"/>
              </a:lnSpc>
            </a:pPr>
            <a:r>
              <a:rPr sz="2400" dirty="0">
                <a:latin typeface="Arial"/>
                <a:cs typeface="Arial"/>
              </a:rPr>
              <a:t>q</a:t>
            </a:r>
            <a:endParaRPr sz="2400">
              <a:latin typeface="Arial"/>
              <a:cs typeface="Arial"/>
            </a:endParaRPr>
          </a:p>
        </p:txBody>
      </p:sp>
      <p:sp>
        <p:nvSpPr>
          <p:cNvPr id="86" name="object 18"/>
          <p:cNvSpPr txBox="1"/>
          <p:nvPr/>
        </p:nvSpPr>
        <p:spPr>
          <a:xfrm>
            <a:off x="2870200" y="41148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7" name="object 17"/>
          <p:cNvSpPr txBox="1"/>
          <p:nvPr/>
        </p:nvSpPr>
        <p:spPr>
          <a:xfrm>
            <a:off x="1447800" y="45720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8" name="object 16"/>
          <p:cNvSpPr txBox="1"/>
          <p:nvPr/>
        </p:nvSpPr>
        <p:spPr>
          <a:xfrm>
            <a:off x="2159000" y="45720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9" name="object 15"/>
          <p:cNvSpPr txBox="1"/>
          <p:nvPr/>
        </p:nvSpPr>
        <p:spPr>
          <a:xfrm>
            <a:off x="2870200" y="45720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0" name="object 14"/>
          <p:cNvSpPr txBox="1"/>
          <p:nvPr/>
        </p:nvSpPr>
        <p:spPr>
          <a:xfrm>
            <a:off x="1447800" y="50292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1" name="object 13"/>
          <p:cNvSpPr txBox="1"/>
          <p:nvPr/>
        </p:nvSpPr>
        <p:spPr>
          <a:xfrm>
            <a:off x="2159000" y="50292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2" name="object 12"/>
          <p:cNvSpPr txBox="1"/>
          <p:nvPr/>
        </p:nvSpPr>
        <p:spPr>
          <a:xfrm>
            <a:off x="2870200" y="50292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3" name="object 11"/>
          <p:cNvSpPr txBox="1"/>
          <p:nvPr/>
        </p:nvSpPr>
        <p:spPr>
          <a:xfrm>
            <a:off x="1447800" y="54864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4" name="object 10"/>
          <p:cNvSpPr txBox="1"/>
          <p:nvPr/>
        </p:nvSpPr>
        <p:spPr>
          <a:xfrm>
            <a:off x="2159000" y="54864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5" name="object 9"/>
          <p:cNvSpPr txBox="1"/>
          <p:nvPr/>
        </p:nvSpPr>
        <p:spPr>
          <a:xfrm>
            <a:off x="2870200" y="54864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6" name="object 8"/>
          <p:cNvSpPr txBox="1"/>
          <p:nvPr/>
        </p:nvSpPr>
        <p:spPr>
          <a:xfrm>
            <a:off x="1447800" y="59436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7" name="object 7"/>
          <p:cNvSpPr txBox="1"/>
          <p:nvPr/>
        </p:nvSpPr>
        <p:spPr>
          <a:xfrm>
            <a:off x="2159000" y="59436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8" name="object 6"/>
          <p:cNvSpPr txBox="1"/>
          <p:nvPr/>
        </p:nvSpPr>
        <p:spPr>
          <a:xfrm>
            <a:off x="2870200" y="59436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9F589E-A6BB-4541-994C-2F624E297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/>
          <p:nvPr/>
        </p:nvSpPr>
        <p:spPr>
          <a:xfrm>
            <a:off x="993140" y="602535"/>
            <a:ext cx="1883232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dirty="0">
                <a:latin typeface="Times New Roman"/>
                <a:cs typeface="Times New Roman"/>
              </a:rPr>
              <a:t>Natural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04312" y="602535"/>
            <a:ext cx="4506493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dirty="0">
                <a:latin typeface="Times New Roman"/>
                <a:cs typeface="Times New Roman"/>
              </a:rPr>
              <a:t>Language Meaning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37882" y="602535"/>
            <a:ext cx="727125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dirty="0">
                <a:solidFill>
                  <a:srgbClr val="0000CC"/>
                </a:solidFill>
                <a:latin typeface="Times New Roman"/>
                <a:cs typeface="Times New Roman"/>
              </a:rPr>
              <a:t>(1)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7940" y="1766989"/>
            <a:ext cx="256705" cy="1405381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sz="2800" i="1" dirty="0">
                <a:latin typeface="Times New Roman"/>
                <a:cs typeface="Times New Roman"/>
              </a:rPr>
              <a:t>p</a:t>
            </a:r>
            <a:endParaRPr sz="2800" dirty="0">
              <a:latin typeface="Times New Roman"/>
              <a:cs typeface="Times New Roman"/>
            </a:endParaRPr>
          </a:p>
          <a:p>
            <a:pPr marL="12700" marR="4742">
              <a:lnSpc>
                <a:spcPts val="4029"/>
              </a:lnSpc>
              <a:spcBef>
                <a:spcPts val="253"/>
              </a:spcBef>
            </a:pPr>
            <a:r>
              <a:rPr sz="2800" i="1" dirty="0">
                <a:latin typeface="Times New Roman"/>
                <a:cs typeface="Times New Roman"/>
              </a:rPr>
              <a:t>q p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26994" y="1764982"/>
            <a:ext cx="4227563" cy="2431795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 marR="48635">
              <a:lnSpc>
                <a:spcPts val="2965"/>
              </a:lnSpc>
            </a:pPr>
            <a:r>
              <a:rPr sz="2800" spc="0" dirty="0">
                <a:latin typeface="Arial"/>
                <a:cs typeface="Arial"/>
              </a:rPr>
              <a:t>Its Monday.</a:t>
            </a:r>
            <a:endParaRPr sz="2800">
              <a:latin typeface="Arial"/>
              <a:cs typeface="Arial"/>
            </a:endParaRPr>
          </a:p>
          <a:p>
            <a:pPr marL="12700" marR="48635">
              <a:lnSpc>
                <a:spcPct val="95825"/>
              </a:lnSpc>
              <a:spcBef>
                <a:spcPts val="664"/>
              </a:spcBef>
            </a:pPr>
            <a:r>
              <a:rPr sz="2800" spc="0" dirty="0">
                <a:latin typeface="Arial"/>
                <a:cs typeface="Arial"/>
              </a:rPr>
              <a:t>Its raining.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3219"/>
              </a:lnSpc>
              <a:spcBef>
                <a:spcPts val="812"/>
              </a:spcBef>
            </a:pPr>
            <a:r>
              <a:rPr sz="2800" dirty="0">
                <a:latin typeface="Arial"/>
                <a:cs typeface="Arial"/>
              </a:rPr>
              <a:t>Its</a:t>
            </a:r>
            <a:r>
              <a:rPr sz="2800" spc="-14" dirty="0">
                <a:latin typeface="Arial"/>
                <a:cs typeface="Arial"/>
              </a:rPr>
              <a:t> </a:t>
            </a:r>
            <a:r>
              <a:rPr sz="2800" spc="0" dirty="0">
                <a:latin typeface="Arial"/>
                <a:cs typeface="Arial"/>
              </a:rPr>
              <a:t>Monday</a:t>
            </a:r>
            <a:r>
              <a:rPr sz="2800" spc="9" dirty="0">
                <a:latin typeface="Arial"/>
                <a:cs typeface="Arial"/>
              </a:rPr>
              <a:t> </a:t>
            </a:r>
            <a:r>
              <a:rPr sz="2800" spc="4" dirty="0">
                <a:latin typeface="Arial"/>
                <a:cs typeface="Arial"/>
              </a:rPr>
              <a:t>a</a:t>
            </a:r>
            <a:r>
              <a:rPr sz="2800" spc="0" dirty="0">
                <a:latin typeface="Arial"/>
                <a:cs typeface="Arial"/>
              </a:rPr>
              <a:t>nd its rai</a:t>
            </a:r>
            <a:r>
              <a:rPr sz="2800" spc="4" dirty="0">
                <a:latin typeface="Arial"/>
                <a:cs typeface="Arial"/>
              </a:rPr>
              <a:t>n</a:t>
            </a:r>
            <a:r>
              <a:rPr sz="2800" spc="0" dirty="0">
                <a:latin typeface="Arial"/>
                <a:cs typeface="Arial"/>
              </a:rPr>
              <a:t>ing. 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3219"/>
              </a:lnSpc>
              <a:spcBef>
                <a:spcPts val="830"/>
              </a:spcBef>
            </a:pPr>
            <a:r>
              <a:rPr sz="2800" spc="0" dirty="0">
                <a:latin typeface="Arial"/>
                <a:cs typeface="Arial"/>
              </a:rPr>
              <a:t>Its Monday but its raining.</a:t>
            </a:r>
            <a:endParaRPr sz="2800">
              <a:latin typeface="Arial"/>
              <a:cs typeface="Arial"/>
            </a:endParaRPr>
          </a:p>
          <a:p>
            <a:pPr marL="12700" marR="48635">
              <a:lnSpc>
                <a:spcPct val="95825"/>
              </a:lnSpc>
              <a:spcBef>
                <a:spcPts val="835"/>
              </a:spcBef>
            </a:pPr>
            <a:r>
              <a:rPr sz="2800" dirty="0">
                <a:latin typeface="Arial"/>
                <a:cs typeface="Arial"/>
              </a:rPr>
              <a:t>Its Monday. Its raining.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0839" y="2791117"/>
            <a:ext cx="228948" cy="381253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sz="2800" i="1" dirty="0">
                <a:latin typeface="Times New Roman"/>
                <a:cs typeface="Times New Roman"/>
              </a:rPr>
              <a:t>^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8937" y="2791117"/>
            <a:ext cx="256705" cy="381253"/>
          </a:xfrm>
          <a:prstGeom prst="rect">
            <a:avLst/>
          </a:prstGeom>
        </p:spPr>
        <p:txBody>
          <a:bodyPr wrap="square" lIns="0" tIns="18796" rIns="0" bIns="0" rtlCol="0">
            <a:noAutofit/>
          </a:bodyPr>
          <a:lstStyle/>
          <a:p>
            <a:pPr marL="12700">
              <a:lnSpc>
                <a:spcPts val="2960"/>
              </a:lnSpc>
            </a:pPr>
            <a:r>
              <a:rPr sz="2800" i="1" dirty="0"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49750B-0EC0-43C9-B0B9-AF1FCC0D2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993140" y="602535"/>
            <a:ext cx="4269130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dirty="0">
                <a:latin typeface="Times New Roman"/>
                <a:cs typeface="Times New Roman"/>
              </a:rPr>
              <a:t>Natural Language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90210" y="602535"/>
            <a:ext cx="2120595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dirty="0">
                <a:latin typeface="Times New Roman"/>
                <a:cs typeface="Times New Roman"/>
              </a:rPr>
              <a:t>Meaning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3140" y="1682908"/>
            <a:ext cx="120528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sz="2400" spc="0" dirty="0">
                <a:latin typeface="Arial"/>
                <a:cs typeface="Arial"/>
              </a:rPr>
              <a:t>Caution: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3356" y="1682908"/>
            <a:ext cx="1611579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sz="2400" spc="0" dirty="0">
                <a:solidFill>
                  <a:srgbClr val="FF9933"/>
                </a:solidFill>
                <a:latin typeface="Arial"/>
                <a:cs typeface="Arial"/>
              </a:rPr>
              <a:t>semantics?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3140" y="2560927"/>
            <a:ext cx="651099" cy="164719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39873">
              <a:lnSpc>
                <a:spcPts val="255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  <a:p>
            <a:pPr marL="12700" marR="39873">
              <a:lnSpc>
                <a:spcPct val="95825"/>
              </a:lnSpc>
              <a:spcBef>
                <a:spcPts val="568"/>
              </a:spcBef>
            </a:pPr>
            <a:r>
              <a:rPr sz="2400" i="1" dirty="0"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3460"/>
              </a:lnSpc>
              <a:spcBef>
                <a:spcPts val="338"/>
              </a:spcBef>
            </a:pPr>
            <a:r>
              <a:rPr sz="2400" i="1" dirty="0">
                <a:latin typeface="Times New Roman"/>
                <a:cs typeface="Times New Roman"/>
              </a:rPr>
              <a:t>p ^ q q ^ 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22194" y="2559208"/>
            <a:ext cx="4398919" cy="1647189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 marR="39873">
              <a:lnSpc>
                <a:spcPts val="2555"/>
              </a:lnSpc>
            </a:pPr>
            <a:r>
              <a:rPr sz="2400" spc="-1" dirty="0">
                <a:latin typeface="Arial"/>
                <a:cs typeface="Arial"/>
              </a:rPr>
              <a:t>I took a shower</a:t>
            </a:r>
            <a:endParaRPr sz="2400">
              <a:latin typeface="Arial"/>
              <a:cs typeface="Arial"/>
            </a:endParaRPr>
          </a:p>
          <a:p>
            <a:pPr marL="12700" marR="39873">
              <a:lnSpc>
                <a:spcPct val="95825"/>
              </a:lnSpc>
              <a:spcBef>
                <a:spcPts val="568"/>
              </a:spcBef>
            </a:pPr>
            <a:r>
              <a:rPr sz="2400" spc="0" dirty="0">
                <a:latin typeface="Arial"/>
                <a:cs typeface="Arial"/>
              </a:rPr>
              <a:t>I woke up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3460"/>
              </a:lnSpc>
              <a:spcBef>
                <a:spcPts val="353"/>
              </a:spcBef>
            </a:pPr>
            <a:r>
              <a:rPr sz="2400" spc="0" dirty="0">
                <a:latin typeface="Arial"/>
                <a:cs typeface="Arial"/>
              </a:rPr>
              <a:t>“I took a shower and I woke up” “I woke up and I took a shower”.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40" y="4316634"/>
            <a:ext cx="6253175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sz="2400" spc="0" dirty="0">
                <a:latin typeface="Arial"/>
                <a:cs typeface="Arial"/>
              </a:rPr>
              <a:t>Logically the same! </a:t>
            </a:r>
            <a:r>
              <a:rPr sz="2400" i="1" spc="0" dirty="0">
                <a:latin typeface="Arial"/>
                <a:cs typeface="Arial"/>
              </a:rPr>
              <a:t>WE </a:t>
            </a:r>
            <a:r>
              <a:rPr sz="2400" spc="0" dirty="0">
                <a:latin typeface="Arial"/>
                <a:cs typeface="Arial"/>
              </a:rPr>
              <a:t>may see a difference.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140" y="5194458"/>
            <a:ext cx="7319822" cy="69596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sz="2400" spc="0" dirty="0">
                <a:latin typeface="Arial"/>
                <a:cs typeface="Arial"/>
              </a:rPr>
              <a:t>The word </a:t>
            </a:r>
            <a:r>
              <a:rPr sz="2400" i="1" spc="0" dirty="0">
                <a:latin typeface="Arial"/>
                <a:cs typeface="Arial"/>
              </a:rPr>
              <a:t>both </a:t>
            </a:r>
            <a:r>
              <a:rPr sz="2400" spc="0" dirty="0">
                <a:latin typeface="Arial"/>
                <a:cs typeface="Arial"/>
              </a:rPr>
              <a:t>is often useful eg. </a:t>
            </a:r>
            <a:r>
              <a:rPr sz="2400" i="1" spc="0" dirty="0">
                <a:latin typeface="Arial"/>
                <a:cs typeface="Arial"/>
              </a:rPr>
              <a:t>I both took a shower</a:t>
            </a:r>
            <a:endParaRPr sz="2400">
              <a:latin typeface="Arial"/>
              <a:cs typeface="Arial"/>
            </a:endParaRPr>
          </a:p>
          <a:p>
            <a:pPr marL="12700" marR="45720">
              <a:lnSpc>
                <a:spcPct val="95825"/>
              </a:lnSpc>
            </a:pPr>
            <a:r>
              <a:rPr sz="2400" i="1" dirty="0">
                <a:latin typeface="Arial"/>
                <a:cs typeface="Arial"/>
              </a:rPr>
              <a:t>and I woke up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85E802-7775-4053-8670-FE534565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27"/>
          <p:cNvSpPr/>
          <p:nvPr/>
        </p:nvSpPr>
        <p:spPr>
          <a:xfrm>
            <a:off x="1905000" y="533392"/>
            <a:ext cx="511011" cy="4190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62600" y="3886125"/>
            <a:ext cx="3037731" cy="28196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993140" y="465932"/>
            <a:ext cx="756262" cy="559053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spc="-4" dirty="0">
                <a:latin typeface="Times New Roman"/>
                <a:cs typeface="Times New Roman"/>
              </a:rPr>
              <a:t>Or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93140" y="1682908"/>
            <a:ext cx="7451946" cy="1939544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 marR="40074">
              <a:lnSpc>
                <a:spcPts val="2555"/>
              </a:lnSpc>
            </a:pPr>
            <a:r>
              <a:rPr sz="2400" spc="0" dirty="0">
                <a:latin typeface="Arial"/>
                <a:cs typeface="Arial"/>
              </a:rPr>
              <a:t>Also called </a:t>
            </a:r>
            <a:r>
              <a:rPr sz="2400" i="1" spc="0" dirty="0">
                <a:latin typeface="Arial"/>
                <a:cs typeface="Arial"/>
              </a:rPr>
              <a:t>disjunction.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99849"/>
              </a:lnSpc>
              <a:spcBef>
                <a:spcPts val="556"/>
              </a:spcBef>
            </a:pPr>
            <a:r>
              <a:rPr sz="2400" spc="0" dirty="0">
                <a:latin typeface="Arial"/>
                <a:cs typeface="Arial"/>
              </a:rPr>
              <a:t>The disjunc</a:t>
            </a:r>
            <a:r>
              <a:rPr sz="2400" spc="-4" dirty="0">
                <a:latin typeface="Arial"/>
                <a:cs typeface="Arial"/>
              </a:rPr>
              <a:t>t</a:t>
            </a:r>
            <a:r>
              <a:rPr sz="2400" spc="4" dirty="0">
                <a:latin typeface="Arial"/>
                <a:cs typeface="Arial"/>
              </a:rPr>
              <a:t>i</a:t>
            </a:r>
            <a:r>
              <a:rPr sz="2400" spc="0" dirty="0">
                <a:latin typeface="Arial"/>
                <a:cs typeface="Arial"/>
              </a:rPr>
              <a:t>on</a:t>
            </a:r>
            <a:r>
              <a:rPr sz="2400" spc="14" dirty="0">
                <a:latin typeface="Arial"/>
                <a:cs typeface="Arial"/>
              </a:rPr>
              <a:t> </a:t>
            </a:r>
            <a:r>
              <a:rPr sz="2400" spc="-262" dirty="0">
                <a:latin typeface="Arial"/>
                <a:cs typeface="Arial"/>
              </a:rPr>
              <a:t>„</a:t>
            </a:r>
            <a:r>
              <a:rPr sz="2400" i="1" spc="0" dirty="0">
                <a:latin typeface="Times New Roman"/>
                <a:cs typeface="Times New Roman"/>
              </a:rPr>
              <a:t>p </a:t>
            </a:r>
            <a:r>
              <a:rPr sz="2400" i="1" spc="4" dirty="0">
                <a:latin typeface="Times New Roman"/>
                <a:cs typeface="Times New Roman"/>
              </a:rPr>
              <a:t>O</a:t>
            </a:r>
            <a:r>
              <a:rPr sz="2400" i="1" spc="0" dirty="0">
                <a:latin typeface="Times New Roman"/>
                <a:cs typeface="Times New Roman"/>
              </a:rPr>
              <a:t>R </a:t>
            </a:r>
            <a:r>
              <a:rPr sz="2400" i="1" spc="-131" dirty="0">
                <a:latin typeface="Times New Roman"/>
                <a:cs typeface="Times New Roman"/>
              </a:rPr>
              <a:t>q</a:t>
            </a:r>
            <a:r>
              <a:rPr sz="2400" spc="-80" dirty="0">
                <a:latin typeface="Arial"/>
                <a:cs typeface="Arial"/>
              </a:rPr>
              <a:t>‟,</a:t>
            </a:r>
            <a:r>
              <a:rPr sz="2400" spc="13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written </a:t>
            </a:r>
            <a:r>
              <a:rPr sz="2400" i="1" spc="0" dirty="0">
                <a:latin typeface="Times New Roman"/>
                <a:cs typeface="Times New Roman"/>
              </a:rPr>
              <a:t>p    q</a:t>
            </a:r>
            <a:r>
              <a:rPr sz="2400" spc="0" dirty="0">
                <a:latin typeface="Arial"/>
                <a:cs typeface="Arial"/>
              </a:rPr>
              <a:t>, of two pro</a:t>
            </a:r>
            <a:r>
              <a:rPr sz="2400" spc="-4" dirty="0">
                <a:latin typeface="Arial"/>
                <a:cs typeface="Arial"/>
              </a:rPr>
              <a:t>p</a:t>
            </a:r>
            <a:r>
              <a:rPr sz="2400" spc="0" dirty="0">
                <a:latin typeface="Arial"/>
                <a:cs typeface="Arial"/>
              </a:rPr>
              <a:t>ositions</a:t>
            </a:r>
            <a:r>
              <a:rPr sz="2400" spc="19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is true when</a:t>
            </a:r>
            <a:r>
              <a:rPr sz="2400" spc="19" dirty="0">
                <a:latin typeface="Arial"/>
                <a:cs typeface="Arial"/>
              </a:rPr>
              <a:t> </a:t>
            </a:r>
            <a:r>
              <a:rPr sz="2400" i="1" spc="0" dirty="0">
                <a:latin typeface="Times New Roman"/>
                <a:cs typeface="Times New Roman"/>
              </a:rPr>
              <a:t>p</a:t>
            </a:r>
            <a:r>
              <a:rPr sz="2400" i="1" spc="59" dirty="0">
                <a:latin typeface="Times New Roman"/>
                <a:cs typeface="Times New Roman"/>
              </a:rPr>
              <a:t> </a:t>
            </a:r>
            <a:r>
              <a:rPr sz="2400" spc="0" dirty="0">
                <a:latin typeface="Arial"/>
                <a:cs typeface="Arial"/>
              </a:rPr>
              <a:t>or </a:t>
            </a:r>
            <a:r>
              <a:rPr sz="2400" i="1" spc="0" dirty="0">
                <a:latin typeface="Times New Roman"/>
                <a:cs typeface="Times New Roman"/>
              </a:rPr>
              <a:t>q</a:t>
            </a:r>
            <a:r>
              <a:rPr sz="2400" i="1" spc="59" dirty="0">
                <a:latin typeface="Times New Roman"/>
                <a:cs typeface="Times New Roman"/>
              </a:rPr>
              <a:t> </a:t>
            </a:r>
            <a:r>
              <a:rPr sz="2400" spc="0" dirty="0">
                <a:latin typeface="Arial"/>
                <a:cs typeface="Arial"/>
              </a:rPr>
              <a:t>(or bot</a:t>
            </a:r>
            <a:r>
              <a:rPr sz="2400" spc="-4" dirty="0">
                <a:latin typeface="Arial"/>
                <a:cs typeface="Arial"/>
              </a:rPr>
              <a:t>h</a:t>
            </a:r>
            <a:r>
              <a:rPr sz="2400" spc="0" dirty="0">
                <a:latin typeface="Arial"/>
                <a:cs typeface="Arial"/>
              </a:rPr>
              <a:t>)</a:t>
            </a:r>
            <a:r>
              <a:rPr sz="2400" spc="9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are true, f</a:t>
            </a:r>
            <a:r>
              <a:rPr sz="2400" spc="-4" dirty="0">
                <a:latin typeface="Arial"/>
                <a:cs typeface="Arial"/>
              </a:rPr>
              <a:t>a</a:t>
            </a:r>
            <a:r>
              <a:rPr sz="2400" spc="0" dirty="0">
                <a:latin typeface="Arial"/>
                <a:cs typeface="Arial"/>
              </a:rPr>
              <a:t>lse oth</a:t>
            </a:r>
            <a:r>
              <a:rPr sz="2400" spc="-9" dirty="0">
                <a:latin typeface="Arial"/>
                <a:cs typeface="Arial"/>
              </a:rPr>
              <a:t>e</a:t>
            </a:r>
            <a:r>
              <a:rPr sz="2400" spc="0" dirty="0">
                <a:latin typeface="Arial"/>
                <a:cs typeface="Arial"/>
              </a:rPr>
              <a:t>rwise.</a:t>
            </a:r>
            <a:endParaRPr sz="2400">
              <a:latin typeface="Arial"/>
              <a:cs typeface="Arial"/>
            </a:endParaRPr>
          </a:p>
          <a:p>
            <a:pPr marL="12700" marR="40074">
              <a:lnSpc>
                <a:spcPct val="95825"/>
              </a:lnSpc>
              <a:spcBef>
                <a:spcPts val="583"/>
              </a:spcBef>
            </a:pPr>
            <a:r>
              <a:rPr sz="2400" spc="1" dirty="0">
                <a:latin typeface="Arial"/>
                <a:cs typeface="Arial"/>
              </a:rPr>
              <a:t>Sometimes called </a:t>
            </a:r>
            <a:r>
              <a:rPr sz="2400" i="1" spc="1" dirty="0">
                <a:latin typeface="Arial"/>
                <a:cs typeface="Arial"/>
              </a:rPr>
              <a:t>inclusive or</a:t>
            </a:r>
            <a:r>
              <a:rPr sz="2400" spc="1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38"/>
          <p:cNvSpPr/>
          <p:nvPr/>
        </p:nvSpPr>
        <p:spPr>
          <a:xfrm>
            <a:off x="2159000" y="4100449"/>
            <a:ext cx="0" cy="2314638"/>
          </a:xfrm>
          <a:custGeom>
            <a:avLst/>
            <a:gdLst/>
            <a:ahLst/>
            <a:cxnLst/>
            <a:rect l="l" t="t" r="r" b="b"/>
            <a:pathLst>
              <a:path h="2314638">
                <a:moveTo>
                  <a:pt x="0" y="0"/>
                </a:moveTo>
                <a:lnTo>
                  <a:pt x="0" y="231463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39"/>
          <p:cNvSpPr/>
          <p:nvPr/>
        </p:nvSpPr>
        <p:spPr>
          <a:xfrm>
            <a:off x="2870200" y="4100449"/>
            <a:ext cx="0" cy="2314638"/>
          </a:xfrm>
          <a:custGeom>
            <a:avLst/>
            <a:gdLst/>
            <a:ahLst/>
            <a:cxnLst/>
            <a:rect l="l" t="t" r="r" b="b"/>
            <a:pathLst>
              <a:path h="2314638">
                <a:moveTo>
                  <a:pt x="0" y="0"/>
                </a:moveTo>
                <a:lnTo>
                  <a:pt x="0" y="231463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0"/>
          <p:cNvSpPr/>
          <p:nvPr/>
        </p:nvSpPr>
        <p:spPr>
          <a:xfrm>
            <a:off x="1433576" y="45720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1"/>
          <p:cNvSpPr/>
          <p:nvPr/>
        </p:nvSpPr>
        <p:spPr>
          <a:xfrm>
            <a:off x="1433576" y="50292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2"/>
          <p:cNvSpPr/>
          <p:nvPr/>
        </p:nvSpPr>
        <p:spPr>
          <a:xfrm>
            <a:off x="1433576" y="54864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3"/>
          <p:cNvSpPr/>
          <p:nvPr/>
        </p:nvSpPr>
        <p:spPr>
          <a:xfrm>
            <a:off x="1433576" y="59436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4"/>
          <p:cNvSpPr/>
          <p:nvPr/>
        </p:nvSpPr>
        <p:spPr>
          <a:xfrm>
            <a:off x="1447800" y="4100449"/>
            <a:ext cx="0" cy="2314638"/>
          </a:xfrm>
          <a:custGeom>
            <a:avLst/>
            <a:gdLst/>
            <a:ahLst/>
            <a:cxnLst/>
            <a:rect l="l" t="t" r="r" b="b"/>
            <a:pathLst>
              <a:path h="2314638">
                <a:moveTo>
                  <a:pt x="0" y="0"/>
                </a:moveTo>
                <a:lnTo>
                  <a:pt x="0" y="231463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5"/>
          <p:cNvSpPr/>
          <p:nvPr/>
        </p:nvSpPr>
        <p:spPr>
          <a:xfrm>
            <a:off x="3581400" y="4100449"/>
            <a:ext cx="0" cy="2314638"/>
          </a:xfrm>
          <a:custGeom>
            <a:avLst/>
            <a:gdLst/>
            <a:ahLst/>
            <a:cxnLst/>
            <a:rect l="l" t="t" r="r" b="b"/>
            <a:pathLst>
              <a:path h="2314638">
                <a:moveTo>
                  <a:pt x="0" y="0"/>
                </a:moveTo>
                <a:lnTo>
                  <a:pt x="0" y="231463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6"/>
          <p:cNvSpPr/>
          <p:nvPr/>
        </p:nvSpPr>
        <p:spPr>
          <a:xfrm>
            <a:off x="1433576" y="41148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47"/>
          <p:cNvSpPr/>
          <p:nvPr/>
        </p:nvSpPr>
        <p:spPr>
          <a:xfrm>
            <a:off x="1433576" y="64008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20"/>
          <p:cNvSpPr txBox="1"/>
          <p:nvPr/>
        </p:nvSpPr>
        <p:spPr>
          <a:xfrm>
            <a:off x="1524000" y="4114800"/>
            <a:ext cx="711200" cy="457200"/>
          </a:xfrm>
          <a:prstGeom prst="rect">
            <a:avLst/>
          </a:prstGeom>
        </p:spPr>
        <p:txBody>
          <a:bodyPr wrap="square" lIns="0" tIns="56515" rIns="0" bIns="0" rtlCol="0">
            <a:noAutofit/>
          </a:bodyPr>
          <a:lstStyle/>
          <a:p>
            <a:pPr marL="91440">
              <a:lnSpc>
                <a:spcPct val="95825"/>
              </a:lnSpc>
            </a:pPr>
            <a:r>
              <a:rPr sz="2400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52" name="object 19"/>
          <p:cNvSpPr txBox="1"/>
          <p:nvPr/>
        </p:nvSpPr>
        <p:spPr>
          <a:xfrm>
            <a:off x="2159000" y="4114800"/>
            <a:ext cx="711200" cy="457200"/>
          </a:xfrm>
          <a:prstGeom prst="rect">
            <a:avLst/>
          </a:prstGeom>
        </p:spPr>
        <p:txBody>
          <a:bodyPr wrap="square" lIns="0" tIns="56515" rIns="0" bIns="0" rtlCol="0">
            <a:noAutofit/>
          </a:bodyPr>
          <a:lstStyle/>
          <a:p>
            <a:pPr marL="91693">
              <a:lnSpc>
                <a:spcPct val="95825"/>
              </a:lnSpc>
            </a:pPr>
            <a:r>
              <a:rPr sz="2400" dirty="0">
                <a:latin typeface="Arial"/>
                <a:cs typeface="Arial"/>
              </a:rPr>
              <a:t>q</a:t>
            </a:r>
            <a:endParaRPr sz="2400">
              <a:latin typeface="Arial"/>
              <a:cs typeface="Arial"/>
            </a:endParaRPr>
          </a:p>
        </p:txBody>
      </p:sp>
      <p:sp>
        <p:nvSpPr>
          <p:cNvPr id="53" name="object 18"/>
          <p:cNvSpPr txBox="1"/>
          <p:nvPr/>
        </p:nvSpPr>
        <p:spPr>
          <a:xfrm>
            <a:off x="2870200" y="41148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4" name="object 17"/>
          <p:cNvSpPr txBox="1"/>
          <p:nvPr/>
        </p:nvSpPr>
        <p:spPr>
          <a:xfrm>
            <a:off x="1447800" y="45720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5" name="object 16"/>
          <p:cNvSpPr txBox="1"/>
          <p:nvPr/>
        </p:nvSpPr>
        <p:spPr>
          <a:xfrm>
            <a:off x="2159000" y="45720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6" name="object 15"/>
          <p:cNvSpPr txBox="1"/>
          <p:nvPr/>
        </p:nvSpPr>
        <p:spPr>
          <a:xfrm>
            <a:off x="2870200" y="45720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7" name="object 14"/>
          <p:cNvSpPr txBox="1"/>
          <p:nvPr/>
        </p:nvSpPr>
        <p:spPr>
          <a:xfrm>
            <a:off x="1447800" y="50292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8" name="object 13"/>
          <p:cNvSpPr txBox="1"/>
          <p:nvPr/>
        </p:nvSpPr>
        <p:spPr>
          <a:xfrm>
            <a:off x="2159000" y="50292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9" name="object 12"/>
          <p:cNvSpPr txBox="1"/>
          <p:nvPr/>
        </p:nvSpPr>
        <p:spPr>
          <a:xfrm>
            <a:off x="2870200" y="50292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0" name="object 11"/>
          <p:cNvSpPr txBox="1"/>
          <p:nvPr/>
        </p:nvSpPr>
        <p:spPr>
          <a:xfrm>
            <a:off x="1447800" y="54864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1" name="object 10"/>
          <p:cNvSpPr txBox="1"/>
          <p:nvPr/>
        </p:nvSpPr>
        <p:spPr>
          <a:xfrm>
            <a:off x="2159000" y="54864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2" name="object 9"/>
          <p:cNvSpPr txBox="1"/>
          <p:nvPr/>
        </p:nvSpPr>
        <p:spPr>
          <a:xfrm>
            <a:off x="2870200" y="54864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3" name="object 8"/>
          <p:cNvSpPr txBox="1"/>
          <p:nvPr/>
        </p:nvSpPr>
        <p:spPr>
          <a:xfrm>
            <a:off x="1447800" y="59436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4" name="object 7"/>
          <p:cNvSpPr txBox="1"/>
          <p:nvPr/>
        </p:nvSpPr>
        <p:spPr>
          <a:xfrm>
            <a:off x="2159000" y="59436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5" name="object 6"/>
          <p:cNvSpPr txBox="1"/>
          <p:nvPr/>
        </p:nvSpPr>
        <p:spPr>
          <a:xfrm>
            <a:off x="2870200" y="59436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7610AC-DE1D-4A91-9BE9-CD6B2EFD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1066800" y="2590800"/>
            <a:ext cx="239712" cy="257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93140" y="503221"/>
            <a:ext cx="6417665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dirty="0">
                <a:latin typeface="Times New Roman"/>
                <a:cs typeface="Times New Roman"/>
              </a:rPr>
              <a:t>Natural Language Meaning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40" y="1683103"/>
            <a:ext cx="223519" cy="1208024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  <a:p>
            <a:pPr marL="12700" marR="5846">
              <a:lnSpc>
                <a:spcPts val="3460"/>
              </a:lnSpc>
              <a:spcBef>
                <a:spcPts val="210"/>
              </a:spcBef>
            </a:pPr>
            <a:r>
              <a:rPr sz="2400" i="1" dirty="0">
                <a:latin typeface="Times New Roman"/>
                <a:cs typeface="Times New Roman"/>
              </a:rPr>
              <a:t>q 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4140" y="1681384"/>
            <a:ext cx="4067559" cy="1209743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470153" marR="45977">
              <a:lnSpc>
                <a:spcPts val="2555"/>
              </a:lnSpc>
            </a:pPr>
            <a:r>
              <a:rPr sz="2400" spc="-23" dirty="0">
                <a:latin typeface="Arial"/>
                <a:cs typeface="Arial"/>
              </a:rPr>
              <a:t>It‟s Monday.</a:t>
            </a:r>
            <a:endParaRPr sz="2400">
              <a:latin typeface="Arial"/>
              <a:cs typeface="Arial"/>
            </a:endParaRPr>
          </a:p>
          <a:p>
            <a:pPr marL="470153" marR="45977">
              <a:lnSpc>
                <a:spcPct val="95825"/>
              </a:lnSpc>
              <a:spcBef>
                <a:spcPts val="568"/>
              </a:spcBef>
            </a:pPr>
            <a:r>
              <a:rPr sz="2400" spc="-21" dirty="0">
                <a:latin typeface="Arial"/>
                <a:cs typeface="Arial"/>
              </a:rPr>
              <a:t>It‟s raining.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96"/>
              </a:spcBef>
            </a:pPr>
            <a:r>
              <a:rPr sz="2400" i="1" spc="0" dirty="0">
                <a:latin typeface="Times New Roman"/>
                <a:cs typeface="Times New Roman"/>
              </a:rPr>
              <a:t>q    </a:t>
            </a:r>
            <a:r>
              <a:rPr sz="2400" spc="-66" dirty="0">
                <a:latin typeface="Arial"/>
                <a:cs typeface="Arial"/>
              </a:rPr>
              <a:t>It‟s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Mon</a:t>
            </a:r>
            <a:r>
              <a:rPr sz="2400" spc="-4" dirty="0">
                <a:latin typeface="Arial"/>
                <a:cs typeface="Arial"/>
              </a:rPr>
              <a:t>d</a:t>
            </a:r>
            <a:r>
              <a:rPr sz="2400" spc="0" dirty="0">
                <a:latin typeface="Arial"/>
                <a:cs typeface="Arial"/>
              </a:rPr>
              <a:t>ay</a:t>
            </a:r>
            <a:r>
              <a:rPr sz="2400" spc="14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or it is </a:t>
            </a:r>
            <a:r>
              <a:rPr sz="2400" spc="-4" dirty="0">
                <a:latin typeface="Arial"/>
                <a:cs typeface="Arial"/>
              </a:rPr>
              <a:t>r</a:t>
            </a:r>
            <a:r>
              <a:rPr sz="2400" spc="0" dirty="0">
                <a:latin typeface="Arial"/>
                <a:cs typeface="Arial"/>
              </a:rPr>
              <a:t>aini</a:t>
            </a:r>
            <a:r>
              <a:rPr sz="2400" spc="4" dirty="0">
                <a:latin typeface="Arial"/>
                <a:cs typeface="Arial"/>
              </a:rPr>
              <a:t>n</a:t>
            </a:r>
            <a:r>
              <a:rPr sz="2400" spc="0" dirty="0">
                <a:latin typeface="Arial"/>
                <a:cs typeface="Arial"/>
              </a:rPr>
              <a:t>g.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40" y="3438556"/>
            <a:ext cx="7135825" cy="695959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sz="2400" spc="0" dirty="0">
                <a:latin typeface="Arial"/>
                <a:cs typeface="Arial"/>
              </a:rPr>
              <a:t>The word </a:t>
            </a:r>
            <a:r>
              <a:rPr sz="2400" i="1" spc="0" dirty="0">
                <a:latin typeface="Arial"/>
                <a:cs typeface="Arial"/>
              </a:rPr>
              <a:t>either </a:t>
            </a:r>
            <a:r>
              <a:rPr sz="2400" spc="0" dirty="0">
                <a:latin typeface="Arial"/>
                <a:cs typeface="Arial"/>
              </a:rPr>
              <a:t>is often useful eg. </a:t>
            </a:r>
            <a:r>
              <a:rPr sz="2400" i="1" spc="0" dirty="0">
                <a:solidFill>
                  <a:srgbClr val="FF9933"/>
                </a:solidFill>
                <a:latin typeface="Arial"/>
                <a:cs typeface="Arial"/>
              </a:rPr>
              <a:t>either </a:t>
            </a:r>
            <a:r>
              <a:rPr sz="2400" i="1" spc="0" dirty="0">
                <a:latin typeface="Arial"/>
                <a:cs typeface="Arial"/>
              </a:rPr>
              <a:t>it’s Monday</a:t>
            </a:r>
            <a:endParaRPr sz="2400">
              <a:latin typeface="Arial"/>
              <a:cs typeface="Arial"/>
            </a:endParaRPr>
          </a:p>
          <a:p>
            <a:pPr marL="12700" marR="45720">
              <a:lnSpc>
                <a:spcPct val="95825"/>
              </a:lnSpc>
            </a:pPr>
            <a:r>
              <a:rPr sz="2400" i="1" spc="0" dirty="0">
                <a:latin typeface="Arial"/>
                <a:cs typeface="Arial"/>
              </a:rPr>
              <a:t>or it is raining</a:t>
            </a:r>
            <a:r>
              <a:rPr sz="2400" spc="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40" y="4682394"/>
            <a:ext cx="618571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sz="2400" dirty="0">
                <a:latin typeface="Arial"/>
                <a:cs typeface="Arial"/>
              </a:rPr>
              <a:t>It </a:t>
            </a:r>
            <a:r>
              <a:rPr sz="2400" i="1" dirty="0">
                <a:latin typeface="Arial"/>
                <a:cs typeface="Arial"/>
              </a:rPr>
              <a:t>also </a:t>
            </a:r>
            <a:r>
              <a:rPr sz="2400" dirty="0">
                <a:latin typeface="Arial"/>
                <a:cs typeface="Arial"/>
              </a:rPr>
              <a:t>includes the case of rain on a Monday!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91540-9694-46A1-A605-565B9F5BD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34"/>
          <p:cNvSpPr/>
          <p:nvPr/>
        </p:nvSpPr>
        <p:spPr>
          <a:xfrm>
            <a:off x="1981200" y="533463"/>
            <a:ext cx="452437" cy="3127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638800" y="2133601"/>
            <a:ext cx="203744" cy="1714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943600" y="2667005"/>
            <a:ext cx="2644062" cy="22859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67200" y="2438461"/>
            <a:ext cx="214474" cy="1730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93140" y="427021"/>
            <a:ext cx="934847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dirty="0">
                <a:latin typeface="Times New Roman"/>
                <a:cs typeface="Times New Roman"/>
              </a:rPr>
              <a:t>Not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69340" y="1750947"/>
            <a:ext cx="4587712" cy="644813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38276">
              <a:lnSpc>
                <a:spcPts val="2145"/>
              </a:lnSpc>
            </a:pPr>
            <a:r>
              <a:rPr sz="2000" spc="-4" dirty="0">
                <a:latin typeface="Arial"/>
                <a:cs typeface="Arial"/>
              </a:rPr>
              <a:t>Also known as </a:t>
            </a:r>
            <a:r>
              <a:rPr sz="2000" i="1" spc="-4" dirty="0">
                <a:solidFill>
                  <a:srgbClr val="FF9933"/>
                </a:solidFill>
                <a:latin typeface="Arial"/>
                <a:cs typeface="Arial"/>
              </a:rPr>
              <a:t>negation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460"/>
              </a:spcBef>
            </a:pPr>
            <a:r>
              <a:rPr sz="2000" spc="-16" dirty="0">
                <a:latin typeface="Arial"/>
                <a:cs typeface="Arial"/>
              </a:rPr>
              <a:t>The negation „</a:t>
            </a:r>
            <a:r>
              <a:rPr sz="1800" spc="-16" dirty="0">
                <a:latin typeface="Arial"/>
                <a:cs typeface="Arial"/>
              </a:rPr>
              <a:t>NOT </a:t>
            </a:r>
            <a:r>
              <a:rPr sz="2000" i="1" spc="-4" dirty="0">
                <a:latin typeface="Times New Roman"/>
                <a:cs typeface="Times New Roman"/>
              </a:rPr>
              <a:t>p</a:t>
            </a:r>
            <a:r>
              <a:rPr sz="2000" spc="-16" dirty="0">
                <a:latin typeface="Arial"/>
                <a:cs typeface="Arial"/>
              </a:rPr>
              <a:t>‟ of a proposition (or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74258" y="2115183"/>
            <a:ext cx="1710361" cy="280577"/>
          </a:xfrm>
          <a:prstGeom prst="rect">
            <a:avLst/>
          </a:prstGeom>
        </p:spPr>
        <p:txBody>
          <a:bodyPr wrap="square" lIns="0" tIns="13652" rIns="0" bIns="0" rtlCol="0">
            <a:noAutofit/>
          </a:bodyPr>
          <a:lstStyle/>
          <a:p>
            <a:pPr marL="12700">
              <a:lnSpc>
                <a:spcPts val="2150"/>
              </a:lnSpc>
            </a:pPr>
            <a:r>
              <a:rPr sz="2000" i="1" spc="4" dirty="0">
                <a:latin typeface="Times New Roman"/>
                <a:cs typeface="Times New Roman"/>
              </a:rPr>
              <a:t>p</a:t>
            </a:r>
            <a:r>
              <a:rPr sz="2000" spc="-6" dirty="0">
                <a:latin typeface="Arial"/>
                <a:cs typeface="Arial"/>
              </a:rPr>
              <a:t>) is true when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91484" y="2115183"/>
            <a:ext cx="204544" cy="279145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dirty="0">
                <a:latin typeface="Arial"/>
                <a:cs typeface="Arial"/>
              </a:rPr>
              <a:t>p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03108" y="2115183"/>
            <a:ext cx="246666" cy="279145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dirty="0">
                <a:latin typeface="Arial"/>
                <a:cs typeface="Arial"/>
              </a:rPr>
              <a:t>is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69340" y="2419983"/>
            <a:ext cx="599373" cy="644905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dirty="0">
                <a:latin typeface="Arial"/>
                <a:cs typeface="Arial"/>
              </a:rPr>
              <a:t>false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472"/>
              </a:spcBef>
            </a:pPr>
            <a:r>
              <a:rPr sz="2000" dirty="0">
                <a:latin typeface="Arial"/>
                <a:cs typeface="Arial"/>
              </a:rPr>
              <a:t>false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75792" y="2419983"/>
            <a:ext cx="486710" cy="644905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761">
              <a:lnSpc>
                <a:spcPts val="2145"/>
              </a:lnSpc>
            </a:pPr>
            <a:r>
              <a:rPr sz="2000" spc="-1" dirty="0">
                <a:latin typeface="Arial"/>
                <a:cs typeface="Arial"/>
              </a:rPr>
              <a:t>and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472"/>
              </a:spcBef>
            </a:pPr>
            <a:r>
              <a:rPr sz="2000" dirty="0">
                <a:latin typeface="Arial"/>
                <a:cs typeface="Arial"/>
              </a:rPr>
              <a:t>that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68821" y="2419983"/>
            <a:ext cx="853119" cy="646337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spc="-1" dirty="0">
                <a:latin typeface="Arial"/>
                <a:cs typeface="Arial"/>
              </a:rPr>
              <a:t>is false</a:t>
            </a:r>
            <a:endParaRPr sz="2000">
              <a:latin typeface="Arial"/>
              <a:cs typeface="Arial"/>
            </a:endParaRPr>
          </a:p>
          <a:p>
            <a:pPr marL="82380" marR="38061">
              <a:lnSpc>
                <a:spcPct val="95825"/>
              </a:lnSpc>
              <a:spcBef>
                <a:spcPts val="472"/>
              </a:spcBef>
            </a:pPr>
            <a:r>
              <a:rPr sz="2000" i="1" spc="4" dirty="0">
                <a:latin typeface="Times New Roman"/>
                <a:cs typeface="Times New Roman"/>
              </a:rPr>
              <a:t>p</a:t>
            </a:r>
            <a:r>
              <a:rPr sz="2000" spc="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29020" y="2419983"/>
            <a:ext cx="2177168" cy="280577"/>
          </a:xfrm>
          <a:prstGeom prst="rect">
            <a:avLst/>
          </a:prstGeom>
        </p:spPr>
        <p:txBody>
          <a:bodyPr wrap="square" lIns="0" tIns="13652" rIns="0" bIns="0" rtlCol="0">
            <a:noAutofit/>
          </a:bodyPr>
          <a:lstStyle/>
          <a:p>
            <a:pPr marL="12700">
              <a:lnSpc>
                <a:spcPts val="2150"/>
              </a:lnSpc>
            </a:pPr>
            <a:r>
              <a:rPr sz="2000" spc="0" dirty="0">
                <a:latin typeface="Arial"/>
                <a:cs typeface="Arial"/>
              </a:rPr>
              <a:t>otherwise.  </a:t>
            </a:r>
            <a:r>
              <a:rPr sz="2000" spc="462" dirty="0">
                <a:latin typeface="Arial"/>
                <a:cs typeface="Arial"/>
              </a:rPr>
              <a:t> </a:t>
            </a:r>
            <a:r>
              <a:rPr sz="2000" i="1" spc="0" dirty="0">
                <a:latin typeface="Times New Roman"/>
                <a:cs typeface="Times New Roman"/>
              </a:rPr>
              <a:t>p</a:t>
            </a:r>
            <a:r>
              <a:rPr sz="2000" i="1" spc="34" dirty="0">
                <a:latin typeface="Times New Roman"/>
                <a:cs typeface="Times New Roman"/>
              </a:rPr>
              <a:t> </a:t>
            </a:r>
            <a:r>
              <a:rPr sz="2000" spc="0" dirty="0">
                <a:latin typeface="Arial"/>
                <a:cs typeface="Arial"/>
              </a:rPr>
              <a:t>may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13053" y="2419983"/>
            <a:ext cx="345627" cy="279145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dirty="0">
                <a:latin typeface="Arial"/>
                <a:cs typeface="Arial"/>
              </a:rPr>
              <a:t>be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64745" y="2419983"/>
            <a:ext cx="571207" cy="279145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dirty="0">
                <a:latin typeface="Arial"/>
                <a:cs typeface="Arial"/>
              </a:rPr>
              <a:t>read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43032" y="2419983"/>
            <a:ext cx="486710" cy="279145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dirty="0">
                <a:latin typeface="Arial"/>
                <a:cs typeface="Arial"/>
              </a:rPr>
              <a:t>that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34538" y="2419983"/>
            <a:ext cx="190334" cy="279145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dirty="0">
                <a:latin typeface="Arial"/>
                <a:cs typeface="Arial"/>
              </a:rPr>
              <a:t>it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31953" y="2419983"/>
            <a:ext cx="246666" cy="279145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dirty="0">
                <a:latin typeface="Arial"/>
                <a:cs typeface="Arial"/>
              </a:rPr>
              <a:t>is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9340" y="4982081"/>
            <a:ext cx="1078953" cy="279146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dirty="0">
                <a:latin typeface="Arial"/>
                <a:cs typeface="Arial"/>
              </a:rPr>
              <a:t>Negation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55372" y="4982081"/>
            <a:ext cx="459051" cy="279146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spc="-2" dirty="0">
                <a:latin typeface="Arial"/>
                <a:cs typeface="Arial"/>
              </a:rPr>
              <a:t>is 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21788" y="4982081"/>
            <a:ext cx="5178924" cy="279146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i="1" spc="-5" dirty="0">
                <a:solidFill>
                  <a:srgbClr val="FF9933"/>
                </a:solidFill>
                <a:latin typeface="Arial"/>
                <a:cs typeface="Arial"/>
              </a:rPr>
              <a:t>unary </a:t>
            </a:r>
            <a:r>
              <a:rPr sz="2000" spc="-5" dirty="0">
                <a:latin typeface="Arial"/>
                <a:cs typeface="Arial"/>
              </a:rPr>
              <a:t>connective. It only takes one argument.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9340" y="5347841"/>
            <a:ext cx="6598739" cy="279146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spc="-5" dirty="0">
                <a:latin typeface="Arial"/>
                <a:cs typeface="Arial"/>
              </a:rPr>
              <a:t>Conjunction and disjunction were both </a:t>
            </a:r>
            <a:r>
              <a:rPr sz="2000" i="1" spc="-5" dirty="0">
                <a:latin typeface="Arial"/>
                <a:cs typeface="Arial"/>
              </a:rPr>
              <a:t>binary </a:t>
            </a:r>
            <a:r>
              <a:rPr sz="2000" spc="-5" dirty="0">
                <a:latin typeface="Arial"/>
                <a:cs typeface="Arial"/>
              </a:rPr>
              <a:t>connectives.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6" name="object 38"/>
          <p:cNvSpPr/>
          <p:nvPr/>
        </p:nvSpPr>
        <p:spPr>
          <a:xfrm>
            <a:off x="3302000" y="3157601"/>
            <a:ext cx="0" cy="1400048"/>
          </a:xfrm>
          <a:custGeom>
            <a:avLst/>
            <a:gdLst/>
            <a:ahLst/>
            <a:cxnLst/>
            <a:rect l="l" t="t" r="r" b="b"/>
            <a:pathLst>
              <a:path h="1400048">
                <a:moveTo>
                  <a:pt x="0" y="0"/>
                </a:moveTo>
                <a:lnTo>
                  <a:pt x="0" y="140004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39"/>
          <p:cNvSpPr/>
          <p:nvPr/>
        </p:nvSpPr>
        <p:spPr>
          <a:xfrm>
            <a:off x="2576576" y="3629025"/>
            <a:ext cx="1450848" cy="0"/>
          </a:xfrm>
          <a:custGeom>
            <a:avLst/>
            <a:gdLst/>
            <a:ahLst/>
            <a:cxnLst/>
            <a:rect l="l" t="t" r="r" b="b"/>
            <a:pathLst>
              <a:path w="1450848">
                <a:moveTo>
                  <a:pt x="0" y="0"/>
                </a:moveTo>
                <a:lnTo>
                  <a:pt x="145084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0"/>
          <p:cNvSpPr/>
          <p:nvPr/>
        </p:nvSpPr>
        <p:spPr>
          <a:xfrm>
            <a:off x="2576576" y="4086225"/>
            <a:ext cx="1450848" cy="0"/>
          </a:xfrm>
          <a:custGeom>
            <a:avLst/>
            <a:gdLst/>
            <a:ahLst/>
            <a:cxnLst/>
            <a:rect l="l" t="t" r="r" b="b"/>
            <a:pathLst>
              <a:path w="1450848">
                <a:moveTo>
                  <a:pt x="0" y="0"/>
                </a:moveTo>
                <a:lnTo>
                  <a:pt x="145084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1"/>
          <p:cNvSpPr/>
          <p:nvPr/>
        </p:nvSpPr>
        <p:spPr>
          <a:xfrm>
            <a:off x="2590800" y="3157601"/>
            <a:ext cx="0" cy="1400048"/>
          </a:xfrm>
          <a:custGeom>
            <a:avLst/>
            <a:gdLst/>
            <a:ahLst/>
            <a:cxnLst/>
            <a:rect l="l" t="t" r="r" b="b"/>
            <a:pathLst>
              <a:path h="1400048">
                <a:moveTo>
                  <a:pt x="0" y="0"/>
                </a:moveTo>
                <a:lnTo>
                  <a:pt x="0" y="140004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42"/>
          <p:cNvSpPr/>
          <p:nvPr/>
        </p:nvSpPr>
        <p:spPr>
          <a:xfrm>
            <a:off x="4013200" y="3157601"/>
            <a:ext cx="0" cy="1400048"/>
          </a:xfrm>
          <a:custGeom>
            <a:avLst/>
            <a:gdLst/>
            <a:ahLst/>
            <a:cxnLst/>
            <a:rect l="l" t="t" r="r" b="b"/>
            <a:pathLst>
              <a:path h="1400048">
                <a:moveTo>
                  <a:pt x="0" y="0"/>
                </a:moveTo>
                <a:lnTo>
                  <a:pt x="0" y="140004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43"/>
          <p:cNvSpPr/>
          <p:nvPr/>
        </p:nvSpPr>
        <p:spPr>
          <a:xfrm>
            <a:off x="2576576" y="3171825"/>
            <a:ext cx="1450848" cy="0"/>
          </a:xfrm>
          <a:custGeom>
            <a:avLst/>
            <a:gdLst/>
            <a:ahLst/>
            <a:cxnLst/>
            <a:rect l="l" t="t" r="r" b="b"/>
            <a:pathLst>
              <a:path w="1450848">
                <a:moveTo>
                  <a:pt x="0" y="0"/>
                </a:moveTo>
                <a:lnTo>
                  <a:pt x="145084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44"/>
          <p:cNvSpPr/>
          <p:nvPr/>
        </p:nvSpPr>
        <p:spPr>
          <a:xfrm>
            <a:off x="2576576" y="4543425"/>
            <a:ext cx="1450848" cy="0"/>
          </a:xfrm>
          <a:custGeom>
            <a:avLst/>
            <a:gdLst/>
            <a:ahLst/>
            <a:cxnLst/>
            <a:rect l="l" t="t" r="r" b="b"/>
            <a:pathLst>
              <a:path w="1450848">
                <a:moveTo>
                  <a:pt x="0" y="0"/>
                </a:moveTo>
                <a:lnTo>
                  <a:pt x="145084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11"/>
          <p:cNvSpPr txBox="1"/>
          <p:nvPr/>
        </p:nvSpPr>
        <p:spPr>
          <a:xfrm>
            <a:off x="2590800" y="3171825"/>
            <a:ext cx="711200" cy="457200"/>
          </a:xfrm>
          <a:prstGeom prst="rect">
            <a:avLst/>
          </a:prstGeom>
        </p:spPr>
        <p:txBody>
          <a:bodyPr wrap="square" lIns="0" tIns="56515" rIns="0" bIns="0" rtlCol="0">
            <a:noAutofit/>
          </a:bodyPr>
          <a:lstStyle/>
          <a:p>
            <a:pPr marL="91693">
              <a:lnSpc>
                <a:spcPct val="95825"/>
              </a:lnSpc>
            </a:pPr>
            <a:r>
              <a:rPr sz="2400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54" name="object 10"/>
          <p:cNvSpPr txBox="1"/>
          <p:nvPr/>
        </p:nvSpPr>
        <p:spPr>
          <a:xfrm>
            <a:off x="3302000" y="3171825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5" name="object 9"/>
          <p:cNvSpPr txBox="1"/>
          <p:nvPr/>
        </p:nvSpPr>
        <p:spPr>
          <a:xfrm>
            <a:off x="2590800" y="3629025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6" name="object 8"/>
          <p:cNvSpPr txBox="1"/>
          <p:nvPr/>
        </p:nvSpPr>
        <p:spPr>
          <a:xfrm>
            <a:off x="3302000" y="3629025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7" name="object 7"/>
          <p:cNvSpPr txBox="1"/>
          <p:nvPr/>
        </p:nvSpPr>
        <p:spPr>
          <a:xfrm>
            <a:off x="2590800" y="4086225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8" name="object 6"/>
          <p:cNvSpPr txBox="1"/>
          <p:nvPr/>
        </p:nvSpPr>
        <p:spPr>
          <a:xfrm>
            <a:off x="3302000" y="4086225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6F5029-B2E4-451E-A50A-BC425DAE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985837" y="2287652"/>
            <a:ext cx="203744" cy="1714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93140" y="602535"/>
            <a:ext cx="6417665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dirty="0">
                <a:latin typeface="Times New Roman"/>
                <a:cs typeface="Times New Roman"/>
              </a:rPr>
              <a:t>Natural Language Meaning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140" y="1683103"/>
            <a:ext cx="223519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7794" y="1681384"/>
            <a:ext cx="4704329" cy="164846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 marR="39873">
              <a:lnSpc>
                <a:spcPts val="2555"/>
              </a:lnSpc>
            </a:pPr>
            <a:r>
              <a:rPr sz="2400" spc="0" dirty="0">
                <a:latin typeface="Arial"/>
                <a:cs typeface="Arial"/>
              </a:rPr>
              <a:t>Logic is easy.</a:t>
            </a:r>
            <a:endParaRPr sz="2400">
              <a:latin typeface="Arial"/>
              <a:cs typeface="Arial"/>
            </a:endParaRPr>
          </a:p>
          <a:p>
            <a:pPr marL="12700" marR="39873">
              <a:lnSpc>
                <a:spcPct val="95825"/>
              </a:lnSpc>
              <a:spcBef>
                <a:spcPts val="568"/>
              </a:spcBef>
            </a:pPr>
            <a:r>
              <a:rPr sz="2400" spc="0" dirty="0">
                <a:latin typeface="Arial"/>
                <a:cs typeface="Arial"/>
              </a:rPr>
              <a:t>It is false that logic is easy.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3460"/>
              </a:lnSpc>
              <a:spcBef>
                <a:spcPts val="363"/>
              </a:spcBef>
            </a:pPr>
            <a:r>
              <a:rPr sz="2400" dirty="0">
                <a:latin typeface="Arial"/>
                <a:cs typeface="Arial"/>
              </a:rPr>
              <a:t>It</a:t>
            </a:r>
            <a:r>
              <a:rPr sz="2400" spc="-19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is not the case th</a:t>
            </a:r>
            <a:r>
              <a:rPr sz="2400" spc="-4" dirty="0">
                <a:latin typeface="Arial"/>
                <a:cs typeface="Arial"/>
              </a:rPr>
              <a:t>a</a:t>
            </a:r>
            <a:r>
              <a:rPr sz="2400" spc="0" dirty="0">
                <a:latin typeface="Arial"/>
                <a:cs typeface="Arial"/>
              </a:rPr>
              <a:t>t logic </a:t>
            </a:r>
            <a:r>
              <a:rPr sz="2400" spc="4" dirty="0">
                <a:latin typeface="Arial"/>
                <a:cs typeface="Arial"/>
              </a:rPr>
              <a:t>i</a:t>
            </a:r>
            <a:r>
              <a:rPr sz="2400" spc="0" dirty="0">
                <a:latin typeface="Arial"/>
                <a:cs typeface="Arial"/>
              </a:rPr>
              <a:t>s easy. Lo</a:t>
            </a:r>
            <a:r>
              <a:rPr sz="2400" spc="-4" dirty="0">
                <a:latin typeface="Arial"/>
                <a:cs typeface="Arial"/>
              </a:rPr>
              <a:t>g</a:t>
            </a:r>
            <a:r>
              <a:rPr sz="2400" spc="0" dirty="0">
                <a:latin typeface="Arial"/>
                <a:cs typeface="Arial"/>
              </a:rPr>
              <a:t>ic</a:t>
            </a:r>
            <a:r>
              <a:rPr sz="2400" spc="9" dirty="0">
                <a:latin typeface="Arial"/>
                <a:cs typeface="Arial"/>
              </a:rPr>
              <a:t> </a:t>
            </a:r>
            <a:r>
              <a:rPr sz="2400" spc="0" dirty="0">
                <a:latin typeface="Arial"/>
                <a:cs typeface="Arial"/>
              </a:rPr>
              <a:t>is not easy.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44600" y="2122015"/>
            <a:ext cx="223519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8C17A3-FEF1-4D29-A5FB-E565BDC6B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/>
          <p:nvPr/>
        </p:nvSpPr>
        <p:spPr>
          <a:xfrm>
            <a:off x="3581400" y="762002"/>
            <a:ext cx="534907" cy="3778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486400" y="2209865"/>
            <a:ext cx="280696" cy="2553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724400" y="3352864"/>
            <a:ext cx="3407908" cy="31716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93140" y="602535"/>
            <a:ext cx="2431567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dirty="0">
                <a:latin typeface="Times New Roman"/>
                <a:cs typeface="Times New Roman"/>
              </a:rPr>
              <a:t>If . . . then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5940" y="1682908"/>
            <a:ext cx="5022345" cy="769307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 marR="45977">
              <a:lnSpc>
                <a:spcPts val="2555"/>
              </a:lnSpc>
            </a:pPr>
            <a:r>
              <a:rPr sz="2400" spc="0" dirty="0">
                <a:latin typeface="Arial"/>
                <a:cs typeface="Arial"/>
              </a:rPr>
              <a:t>Also known as </a:t>
            </a:r>
            <a:r>
              <a:rPr sz="2400" b="1" spc="0" dirty="0">
                <a:latin typeface="Arial"/>
                <a:cs typeface="Arial"/>
              </a:rPr>
              <a:t>implication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556"/>
              </a:spcBef>
            </a:pPr>
            <a:r>
              <a:rPr sz="2400" spc="-6" dirty="0">
                <a:latin typeface="Arial"/>
                <a:cs typeface="Arial"/>
              </a:rPr>
              <a:t>The implication „</a:t>
            </a:r>
            <a:r>
              <a:rPr sz="2400" i="1" spc="-16" dirty="0">
                <a:latin typeface="Times New Roman"/>
                <a:cs typeface="Times New Roman"/>
              </a:rPr>
              <a:t>p </a:t>
            </a:r>
            <a:r>
              <a:rPr sz="1800" spc="-6" dirty="0">
                <a:latin typeface="Arial"/>
                <a:cs typeface="Arial"/>
              </a:rPr>
              <a:t>IMPLIES </a:t>
            </a:r>
            <a:r>
              <a:rPr sz="2400" i="1" spc="-16" dirty="0">
                <a:latin typeface="Times New Roman"/>
                <a:cs typeface="Times New Roman"/>
              </a:rPr>
              <a:t>q</a:t>
            </a:r>
            <a:r>
              <a:rPr sz="2400" spc="-6" dirty="0">
                <a:latin typeface="Arial"/>
                <a:cs typeface="Arial"/>
              </a:rPr>
              <a:t>‟, written </a:t>
            </a:r>
            <a:r>
              <a:rPr sz="2400" i="1" spc="-16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23966" y="2120296"/>
            <a:ext cx="1204624" cy="331919"/>
          </a:xfrm>
          <a:prstGeom prst="rect">
            <a:avLst/>
          </a:prstGeom>
        </p:spPr>
        <p:txBody>
          <a:bodyPr wrap="square" lIns="0" tIns="16287" rIns="0" bIns="0" rtlCol="0">
            <a:noAutofit/>
          </a:bodyPr>
          <a:lstStyle/>
          <a:p>
            <a:pPr marL="12700">
              <a:lnSpc>
                <a:spcPts val="2565"/>
              </a:lnSpc>
            </a:pPr>
            <a:r>
              <a:rPr sz="2400" i="1" dirty="0">
                <a:latin typeface="Times New Roman"/>
                <a:cs typeface="Times New Roman"/>
              </a:rPr>
              <a:t>q</a:t>
            </a:r>
            <a:r>
              <a:rPr sz="2400" spc="-1" dirty="0">
                <a:latin typeface="Arial"/>
                <a:cs typeface="Arial"/>
              </a:rPr>
              <a:t>, of two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5940" y="2486056"/>
            <a:ext cx="7746292" cy="697484"/>
          </a:xfrm>
          <a:prstGeom prst="rect">
            <a:avLst/>
          </a:prstGeom>
        </p:spPr>
        <p:txBody>
          <a:bodyPr wrap="square" lIns="0" tIns="16287" rIns="0" bIns="0" rtlCol="0">
            <a:noAutofit/>
          </a:bodyPr>
          <a:lstStyle/>
          <a:p>
            <a:pPr marL="12700">
              <a:lnSpc>
                <a:spcPts val="2565"/>
              </a:lnSpc>
            </a:pPr>
            <a:r>
              <a:rPr sz="2400" spc="0" dirty="0">
                <a:latin typeface="Arial"/>
                <a:cs typeface="Arial"/>
              </a:rPr>
              <a:t>propositions is true when either </a:t>
            </a:r>
            <a:r>
              <a:rPr sz="2400" i="1" spc="32" dirty="0">
                <a:latin typeface="Times New Roman"/>
                <a:cs typeface="Times New Roman"/>
              </a:rPr>
              <a:t>p </a:t>
            </a:r>
            <a:r>
              <a:rPr sz="2400" spc="0" dirty="0">
                <a:latin typeface="Arial"/>
                <a:cs typeface="Arial"/>
              </a:rPr>
              <a:t>is false or </a:t>
            </a:r>
            <a:r>
              <a:rPr sz="2400" i="1" spc="32" dirty="0">
                <a:latin typeface="Times New Roman"/>
                <a:cs typeface="Times New Roman"/>
              </a:rPr>
              <a:t>q </a:t>
            </a:r>
            <a:r>
              <a:rPr sz="2400" spc="0" dirty="0">
                <a:latin typeface="Arial"/>
                <a:cs typeface="Arial"/>
              </a:rPr>
              <a:t>is true, and</a:t>
            </a:r>
            <a:endParaRPr sz="2400">
              <a:latin typeface="Arial"/>
              <a:cs typeface="Arial"/>
            </a:endParaRPr>
          </a:p>
          <a:p>
            <a:pPr marL="12700" marR="45977">
              <a:lnSpc>
                <a:spcPct val="95825"/>
              </a:lnSpc>
            </a:pPr>
            <a:r>
              <a:rPr sz="2400" spc="0" dirty="0">
                <a:latin typeface="Arial"/>
                <a:cs typeface="Arial"/>
              </a:rPr>
              <a:t>false otherwise.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3" name="object 32"/>
          <p:cNvSpPr/>
          <p:nvPr/>
        </p:nvSpPr>
        <p:spPr>
          <a:xfrm>
            <a:off x="2387600" y="3643249"/>
            <a:ext cx="0" cy="2314638"/>
          </a:xfrm>
          <a:custGeom>
            <a:avLst/>
            <a:gdLst/>
            <a:ahLst/>
            <a:cxnLst/>
            <a:rect l="l" t="t" r="r" b="b"/>
            <a:pathLst>
              <a:path h="2314638">
                <a:moveTo>
                  <a:pt x="0" y="0"/>
                </a:moveTo>
                <a:lnTo>
                  <a:pt x="0" y="231463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33"/>
          <p:cNvSpPr/>
          <p:nvPr/>
        </p:nvSpPr>
        <p:spPr>
          <a:xfrm>
            <a:off x="3098800" y="3643249"/>
            <a:ext cx="0" cy="2314638"/>
          </a:xfrm>
          <a:custGeom>
            <a:avLst/>
            <a:gdLst/>
            <a:ahLst/>
            <a:cxnLst/>
            <a:rect l="l" t="t" r="r" b="b"/>
            <a:pathLst>
              <a:path h="2314638">
                <a:moveTo>
                  <a:pt x="0" y="0"/>
                </a:moveTo>
                <a:lnTo>
                  <a:pt x="0" y="231463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34"/>
          <p:cNvSpPr/>
          <p:nvPr/>
        </p:nvSpPr>
        <p:spPr>
          <a:xfrm>
            <a:off x="1662176" y="41148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35"/>
          <p:cNvSpPr/>
          <p:nvPr/>
        </p:nvSpPr>
        <p:spPr>
          <a:xfrm>
            <a:off x="1662176" y="45720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36"/>
          <p:cNvSpPr/>
          <p:nvPr/>
        </p:nvSpPr>
        <p:spPr>
          <a:xfrm>
            <a:off x="1662176" y="50292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37"/>
          <p:cNvSpPr/>
          <p:nvPr/>
        </p:nvSpPr>
        <p:spPr>
          <a:xfrm>
            <a:off x="1662176" y="54864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38"/>
          <p:cNvSpPr/>
          <p:nvPr/>
        </p:nvSpPr>
        <p:spPr>
          <a:xfrm>
            <a:off x="1676400" y="3643249"/>
            <a:ext cx="0" cy="2314638"/>
          </a:xfrm>
          <a:custGeom>
            <a:avLst/>
            <a:gdLst/>
            <a:ahLst/>
            <a:cxnLst/>
            <a:rect l="l" t="t" r="r" b="b"/>
            <a:pathLst>
              <a:path h="2314638">
                <a:moveTo>
                  <a:pt x="0" y="0"/>
                </a:moveTo>
                <a:lnTo>
                  <a:pt x="0" y="231463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39"/>
          <p:cNvSpPr/>
          <p:nvPr/>
        </p:nvSpPr>
        <p:spPr>
          <a:xfrm>
            <a:off x="3810000" y="3643249"/>
            <a:ext cx="0" cy="2314638"/>
          </a:xfrm>
          <a:custGeom>
            <a:avLst/>
            <a:gdLst/>
            <a:ahLst/>
            <a:cxnLst/>
            <a:rect l="l" t="t" r="r" b="b"/>
            <a:pathLst>
              <a:path h="2314638">
                <a:moveTo>
                  <a:pt x="0" y="0"/>
                </a:moveTo>
                <a:lnTo>
                  <a:pt x="0" y="231463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40"/>
          <p:cNvSpPr/>
          <p:nvPr/>
        </p:nvSpPr>
        <p:spPr>
          <a:xfrm>
            <a:off x="1662176" y="36576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41"/>
          <p:cNvSpPr/>
          <p:nvPr/>
        </p:nvSpPr>
        <p:spPr>
          <a:xfrm>
            <a:off x="1662176" y="5943600"/>
            <a:ext cx="2162048" cy="0"/>
          </a:xfrm>
          <a:custGeom>
            <a:avLst/>
            <a:gdLst/>
            <a:ahLst/>
            <a:cxnLst/>
            <a:rect l="l" t="t" r="r" b="b"/>
            <a:pathLst>
              <a:path w="2162048">
                <a:moveTo>
                  <a:pt x="0" y="0"/>
                </a:moveTo>
                <a:lnTo>
                  <a:pt x="216204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20"/>
          <p:cNvSpPr txBox="1"/>
          <p:nvPr/>
        </p:nvSpPr>
        <p:spPr>
          <a:xfrm>
            <a:off x="1676400" y="3657600"/>
            <a:ext cx="711200" cy="457200"/>
          </a:xfrm>
          <a:prstGeom prst="rect">
            <a:avLst/>
          </a:prstGeom>
        </p:spPr>
        <p:txBody>
          <a:bodyPr wrap="square" lIns="0" tIns="56515" rIns="0" bIns="0" rtlCol="0">
            <a:noAutofit/>
          </a:bodyPr>
          <a:lstStyle/>
          <a:p>
            <a:pPr marL="91693">
              <a:lnSpc>
                <a:spcPct val="95825"/>
              </a:lnSpc>
            </a:pPr>
            <a:r>
              <a:rPr sz="2400" dirty="0">
                <a:latin typeface="Arial"/>
                <a:cs typeface="Arial"/>
              </a:rPr>
              <a:t>p</a:t>
            </a:r>
            <a:endParaRPr sz="2400">
              <a:latin typeface="Arial"/>
              <a:cs typeface="Arial"/>
            </a:endParaRPr>
          </a:p>
        </p:txBody>
      </p:sp>
      <p:sp>
        <p:nvSpPr>
          <p:cNvPr id="54" name="object 19"/>
          <p:cNvSpPr txBox="1"/>
          <p:nvPr/>
        </p:nvSpPr>
        <p:spPr>
          <a:xfrm>
            <a:off x="2387600" y="3657600"/>
            <a:ext cx="711200" cy="457200"/>
          </a:xfrm>
          <a:prstGeom prst="rect">
            <a:avLst/>
          </a:prstGeom>
        </p:spPr>
        <p:txBody>
          <a:bodyPr wrap="square" lIns="0" tIns="56515" rIns="0" bIns="0" rtlCol="0">
            <a:noAutofit/>
          </a:bodyPr>
          <a:lstStyle/>
          <a:p>
            <a:pPr marL="91693">
              <a:lnSpc>
                <a:spcPct val="95825"/>
              </a:lnSpc>
            </a:pPr>
            <a:r>
              <a:rPr sz="2400" dirty="0">
                <a:latin typeface="Arial"/>
                <a:cs typeface="Arial"/>
              </a:rPr>
              <a:t>q</a:t>
            </a:r>
            <a:endParaRPr sz="2400">
              <a:latin typeface="Arial"/>
              <a:cs typeface="Arial"/>
            </a:endParaRPr>
          </a:p>
        </p:txBody>
      </p:sp>
      <p:sp>
        <p:nvSpPr>
          <p:cNvPr id="55" name="object 18"/>
          <p:cNvSpPr txBox="1"/>
          <p:nvPr/>
        </p:nvSpPr>
        <p:spPr>
          <a:xfrm>
            <a:off x="3098800" y="36576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6" name="object 17"/>
          <p:cNvSpPr txBox="1"/>
          <p:nvPr/>
        </p:nvSpPr>
        <p:spPr>
          <a:xfrm>
            <a:off x="1676400" y="41148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7" name="object 16"/>
          <p:cNvSpPr txBox="1"/>
          <p:nvPr/>
        </p:nvSpPr>
        <p:spPr>
          <a:xfrm>
            <a:off x="2387600" y="41148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8" name="object 15"/>
          <p:cNvSpPr txBox="1"/>
          <p:nvPr/>
        </p:nvSpPr>
        <p:spPr>
          <a:xfrm>
            <a:off x="3098800" y="41148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9" name="object 14"/>
          <p:cNvSpPr txBox="1"/>
          <p:nvPr/>
        </p:nvSpPr>
        <p:spPr>
          <a:xfrm>
            <a:off x="1676400" y="45720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0" name="object 13"/>
          <p:cNvSpPr txBox="1"/>
          <p:nvPr/>
        </p:nvSpPr>
        <p:spPr>
          <a:xfrm>
            <a:off x="2387600" y="45720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1" name="object 12"/>
          <p:cNvSpPr txBox="1"/>
          <p:nvPr/>
        </p:nvSpPr>
        <p:spPr>
          <a:xfrm>
            <a:off x="3098800" y="45720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2" name="object 11"/>
          <p:cNvSpPr txBox="1"/>
          <p:nvPr/>
        </p:nvSpPr>
        <p:spPr>
          <a:xfrm>
            <a:off x="1676400" y="50292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3" name="object 10"/>
          <p:cNvSpPr txBox="1"/>
          <p:nvPr/>
        </p:nvSpPr>
        <p:spPr>
          <a:xfrm>
            <a:off x="2387600" y="50292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4" name="object 9"/>
          <p:cNvSpPr txBox="1"/>
          <p:nvPr/>
        </p:nvSpPr>
        <p:spPr>
          <a:xfrm>
            <a:off x="3098800" y="50292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5" name="object 8"/>
          <p:cNvSpPr txBox="1"/>
          <p:nvPr/>
        </p:nvSpPr>
        <p:spPr>
          <a:xfrm>
            <a:off x="1676400" y="54864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6" name="object 7"/>
          <p:cNvSpPr txBox="1"/>
          <p:nvPr/>
        </p:nvSpPr>
        <p:spPr>
          <a:xfrm>
            <a:off x="2387600" y="54864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7" name="object 6"/>
          <p:cNvSpPr txBox="1"/>
          <p:nvPr/>
        </p:nvSpPr>
        <p:spPr>
          <a:xfrm>
            <a:off x="3098800" y="5486400"/>
            <a:ext cx="711200" cy="457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F774A0-A720-4887-B17A-DDB2F6141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1206602" y="2651200"/>
            <a:ext cx="280696" cy="255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93140" y="602535"/>
            <a:ext cx="6417665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dirty="0">
                <a:latin typeface="Times New Roman"/>
                <a:cs typeface="Times New Roman"/>
              </a:rPr>
              <a:t>Natural Language Meaning</a:t>
            </a:r>
            <a:endParaRPr sz="4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3082" y="1736629"/>
            <a:ext cx="223520" cy="1208024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 dirty="0">
              <a:latin typeface="Times New Roman"/>
              <a:cs typeface="Times New Roman"/>
            </a:endParaRPr>
          </a:p>
          <a:p>
            <a:pPr marL="12700" marR="5846">
              <a:lnSpc>
                <a:spcPts val="3460"/>
              </a:lnSpc>
              <a:spcBef>
                <a:spcPts val="210"/>
              </a:spcBef>
            </a:pPr>
            <a:r>
              <a:rPr sz="2400" i="1" dirty="0">
                <a:latin typeface="Times New Roman"/>
                <a:cs typeface="Times New Roman"/>
              </a:rPr>
              <a:t>q p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64994" y="1681384"/>
            <a:ext cx="4721398" cy="2526538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 marR="39873">
              <a:lnSpc>
                <a:spcPts val="2555"/>
              </a:lnSpc>
            </a:pPr>
            <a:r>
              <a:rPr sz="2400" spc="-1" dirty="0">
                <a:latin typeface="Arial"/>
                <a:cs typeface="Arial"/>
              </a:rPr>
              <a:t>I study hard.</a:t>
            </a:r>
            <a:endParaRPr sz="2400" dirty="0">
              <a:latin typeface="Arial"/>
              <a:cs typeface="Arial"/>
            </a:endParaRPr>
          </a:p>
          <a:p>
            <a:pPr marL="12700" marR="39873">
              <a:lnSpc>
                <a:spcPct val="95825"/>
              </a:lnSpc>
              <a:spcBef>
                <a:spcPts val="568"/>
              </a:spcBef>
            </a:pPr>
            <a:r>
              <a:rPr sz="2400" spc="0" dirty="0">
                <a:latin typeface="Arial"/>
                <a:cs typeface="Arial"/>
              </a:rPr>
              <a:t>I get rich.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ts val="2759"/>
              </a:lnSpc>
              <a:spcBef>
                <a:spcPts val="696"/>
              </a:spcBef>
            </a:pPr>
            <a:r>
              <a:rPr sz="2400" spc="0" dirty="0">
                <a:latin typeface="Arial"/>
                <a:cs typeface="Arial"/>
              </a:rPr>
              <a:t>If I study hard then I get rich. 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ts val="2759"/>
              </a:lnSpc>
              <a:spcBef>
                <a:spcPts val="700"/>
              </a:spcBef>
            </a:pPr>
            <a:r>
              <a:rPr sz="2400" spc="0" dirty="0">
                <a:latin typeface="Arial"/>
                <a:cs typeface="Arial"/>
              </a:rPr>
              <a:t>Whenever I study hard, I get rich. 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ts val="2759"/>
              </a:lnSpc>
              <a:spcBef>
                <a:spcPts val="700"/>
              </a:spcBef>
            </a:pPr>
            <a:r>
              <a:rPr sz="2400" spc="0" dirty="0">
                <a:latin typeface="Arial"/>
                <a:cs typeface="Arial"/>
              </a:rPr>
              <a:t>That I study hard implies I get rich.</a:t>
            </a:r>
            <a:endParaRPr sz="2400" dirty="0">
              <a:latin typeface="Arial"/>
              <a:cs typeface="Arial"/>
            </a:endParaRPr>
          </a:p>
          <a:p>
            <a:pPr marL="12700" marR="39873">
              <a:lnSpc>
                <a:spcPct val="95825"/>
              </a:lnSpc>
              <a:spcBef>
                <a:spcPts val="715"/>
              </a:spcBef>
            </a:pPr>
            <a:r>
              <a:rPr sz="2400" spc="-1" dirty="0">
                <a:latin typeface="Arial"/>
                <a:cs typeface="Arial"/>
              </a:rPr>
              <a:t>I get rich, if I study hard.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3985" y="2544362"/>
            <a:ext cx="223519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sz="2400" i="1" dirty="0">
                <a:latin typeface="Times New Roman"/>
                <a:cs typeface="Times New Roman"/>
              </a:rPr>
              <a:t>q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0BD5CC-621D-44FC-8B0D-82153B536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5715000" y="2057400"/>
            <a:ext cx="471678" cy="396875"/>
          </a:xfrm>
          <a:prstGeom prst="rect">
            <a:avLst/>
          </a:prstGeom>
        </p:spPr>
        <p:txBody>
          <a:bodyPr wrap="square" lIns="0" tIns="38100" rIns="0" bIns="0" rtlCol="0">
            <a:noAutofit/>
          </a:bodyPr>
          <a:lstStyle/>
          <a:p>
            <a:pPr marL="260858">
              <a:lnSpc>
                <a:spcPct val="95825"/>
              </a:lnSpc>
            </a:pPr>
            <a:r>
              <a:rPr sz="2400" i="1" dirty="0"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43400" y="533463"/>
            <a:ext cx="685800" cy="582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15000" y="2057400"/>
            <a:ext cx="431800" cy="3968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48000" y="3200400"/>
            <a:ext cx="3429000" cy="30543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93140" y="602535"/>
            <a:ext cx="3156991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spc="-1" dirty="0">
                <a:latin typeface="Times New Roman"/>
                <a:cs typeface="Times New Roman"/>
              </a:rPr>
              <a:t>Biconditional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1740" y="1559586"/>
            <a:ext cx="5450535" cy="482600"/>
          </a:xfrm>
          <a:prstGeom prst="rect">
            <a:avLst/>
          </a:prstGeom>
        </p:spPr>
        <p:txBody>
          <a:bodyPr wrap="square" lIns="0" tIns="23971" rIns="0" bIns="0" rtlCol="0">
            <a:noAutofit/>
          </a:bodyPr>
          <a:lstStyle/>
          <a:p>
            <a:pPr marL="12700">
              <a:lnSpc>
                <a:spcPts val="3775"/>
              </a:lnSpc>
            </a:pPr>
            <a:r>
              <a:rPr sz="3600" spc="9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400" spc="0" dirty="0">
                <a:latin typeface="Arial"/>
                <a:cs typeface="Arial"/>
              </a:rPr>
              <a:t>Also known as iff or the biconditional.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1740" y="1996974"/>
            <a:ext cx="4454398" cy="482600"/>
          </a:xfrm>
          <a:prstGeom prst="rect">
            <a:avLst/>
          </a:prstGeom>
        </p:spPr>
        <p:txBody>
          <a:bodyPr wrap="square" lIns="0" tIns="23971" rIns="0" bIns="0" rtlCol="0">
            <a:noAutofit/>
          </a:bodyPr>
          <a:lstStyle/>
          <a:p>
            <a:pPr marL="12700">
              <a:lnSpc>
                <a:spcPts val="3775"/>
              </a:lnSpc>
            </a:pPr>
            <a:r>
              <a:rPr sz="3600" spc="9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400" spc="1" dirty="0">
                <a:latin typeface="Arial"/>
                <a:cs typeface="Arial"/>
              </a:rPr>
              <a:t>The biconditional, written as </a:t>
            </a:r>
            <a:r>
              <a:rPr sz="2400" i="1" spc="0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15812" y="2120296"/>
            <a:ext cx="105288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sz="2400" dirty="0">
                <a:latin typeface="Arial"/>
                <a:cs typeface="Arial"/>
              </a:rPr>
              <a:t>, of two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4640" y="2486056"/>
            <a:ext cx="6680864" cy="697679"/>
          </a:xfrm>
          <a:prstGeom prst="rect">
            <a:avLst/>
          </a:prstGeom>
        </p:spPr>
        <p:txBody>
          <a:bodyPr wrap="square" lIns="0" tIns="16287" rIns="0" bIns="0" rtlCol="0">
            <a:noAutofit/>
          </a:bodyPr>
          <a:lstStyle/>
          <a:p>
            <a:pPr marL="12700">
              <a:lnSpc>
                <a:spcPts val="2565"/>
              </a:lnSpc>
            </a:pPr>
            <a:r>
              <a:rPr sz="2400" spc="0" dirty="0">
                <a:latin typeface="Arial"/>
                <a:cs typeface="Arial"/>
              </a:rPr>
              <a:t>propositions is true when both </a:t>
            </a:r>
            <a:r>
              <a:rPr sz="2400" i="1" spc="31" dirty="0">
                <a:latin typeface="Times New Roman"/>
                <a:cs typeface="Times New Roman"/>
              </a:rPr>
              <a:t>p </a:t>
            </a:r>
            <a:r>
              <a:rPr sz="2400" spc="0" dirty="0">
                <a:latin typeface="Arial"/>
                <a:cs typeface="Arial"/>
              </a:rPr>
              <a:t>and </a:t>
            </a:r>
            <a:r>
              <a:rPr sz="2400" i="1" spc="31" dirty="0">
                <a:latin typeface="Times New Roman"/>
                <a:cs typeface="Times New Roman"/>
              </a:rPr>
              <a:t>q </a:t>
            </a:r>
            <a:r>
              <a:rPr sz="2400" spc="0" dirty="0">
                <a:latin typeface="Arial"/>
                <a:cs typeface="Arial"/>
              </a:rPr>
              <a:t>are true or</a:t>
            </a:r>
            <a:endParaRPr sz="2400">
              <a:latin typeface="Arial"/>
              <a:cs typeface="Arial"/>
            </a:endParaRPr>
          </a:p>
          <a:p>
            <a:pPr marL="12700" marR="1930">
              <a:lnSpc>
                <a:spcPct val="95825"/>
              </a:lnSpc>
            </a:pPr>
            <a:r>
              <a:rPr sz="2400" spc="0" dirty="0">
                <a:latin typeface="Arial"/>
                <a:cs typeface="Arial"/>
              </a:rPr>
              <a:t>when both </a:t>
            </a:r>
            <a:r>
              <a:rPr sz="2400" i="1" spc="31" dirty="0">
                <a:latin typeface="Times New Roman"/>
                <a:cs typeface="Times New Roman"/>
              </a:rPr>
              <a:t>p </a:t>
            </a:r>
            <a:r>
              <a:rPr sz="2400" spc="0" dirty="0">
                <a:latin typeface="Arial"/>
                <a:cs typeface="Arial"/>
              </a:rPr>
              <a:t>and </a:t>
            </a:r>
            <a:r>
              <a:rPr sz="2400" i="1" spc="31" dirty="0">
                <a:latin typeface="Times New Roman"/>
                <a:cs typeface="Times New Roman"/>
              </a:rPr>
              <a:t>q </a:t>
            </a:r>
            <a:r>
              <a:rPr sz="2400" spc="0" dirty="0">
                <a:latin typeface="Arial"/>
                <a:cs typeface="Arial"/>
              </a:rPr>
              <a:t>are false, and false otherwise.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06859E-B5B0-4A2B-9E0B-27F643D9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993140" y="602534"/>
            <a:ext cx="7084060" cy="845265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lang="en-GB" sz="4200" b="1" dirty="0">
                <a:latin typeface="Times New Roman"/>
                <a:cs typeface="Times New Roman"/>
              </a:rPr>
              <a:t>Natural Language Meaning</a:t>
            </a:r>
            <a:endParaRPr lang="en-GB" sz="4200" dirty="0">
              <a:latin typeface="Times New Roman"/>
              <a:cs typeface="Times New Roman"/>
            </a:endParaRPr>
          </a:p>
          <a:p>
            <a:pPr marL="12700">
              <a:lnSpc>
                <a:spcPts val="4390"/>
              </a:lnSpc>
            </a:pPr>
            <a:endParaRPr sz="4200" dirty="0">
              <a:latin typeface="Times New Roman"/>
              <a:cs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502D1E-BF41-4EB4-8834-B376E74B8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219200" y="1828800"/>
            <a:ext cx="7086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I have a triangle, then my polygon has only three sides.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3434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polygon has only four sides, then the polygon is a quadrilateral.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quadrilateral has four congruent sides and angles, then the quadrilateral is a square.</a:t>
            </a:r>
            <a:endParaRPr lang="en-GB" sz="2400" b="0" i="0" dirty="0">
              <a:solidFill>
                <a:srgbClr val="34343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304800" y="1752484"/>
            <a:ext cx="8658865" cy="46483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3140" y="602535"/>
            <a:ext cx="4846802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dirty="0">
                <a:solidFill>
                  <a:srgbClr val="FF9933"/>
                </a:solidFill>
                <a:latin typeface="Times New Roman"/>
                <a:cs typeface="Times New Roman"/>
              </a:rPr>
              <a:t>Recap: Truth Tables</a:t>
            </a:r>
            <a:endParaRPr sz="4200" dirty="0">
              <a:latin typeface="Times New Roman"/>
              <a:cs typeface="Times New Roman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240A76-812E-4483-95DB-2FAECF77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/>
          <p:nvPr/>
        </p:nvSpPr>
        <p:spPr>
          <a:xfrm>
            <a:off x="993140" y="499879"/>
            <a:ext cx="6626305" cy="393446"/>
          </a:xfrm>
          <a:prstGeom prst="rect">
            <a:avLst/>
          </a:prstGeom>
        </p:spPr>
        <p:txBody>
          <a:bodyPr wrap="square" lIns="0" tIns="19431" rIns="0" bIns="0" rtlCol="0">
            <a:noAutofit/>
          </a:bodyPr>
          <a:lstStyle/>
          <a:p>
            <a:pPr marL="12700">
              <a:lnSpc>
                <a:spcPts val="3060"/>
              </a:lnSpc>
            </a:pPr>
            <a:r>
              <a:rPr sz="2900" b="1" spc="-3" dirty="0">
                <a:latin typeface="Times New Roman"/>
                <a:cs typeface="Times New Roman"/>
              </a:rPr>
              <a:t>Truth Tables for Compound Propositions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1740" y="1541293"/>
            <a:ext cx="367156" cy="3180334"/>
          </a:xfrm>
          <a:prstGeom prst="rect">
            <a:avLst/>
          </a:prstGeom>
        </p:spPr>
        <p:txBody>
          <a:bodyPr wrap="square" lIns="0" tIns="20097" rIns="0" bIns="0" rtlCol="0">
            <a:noAutofit/>
          </a:bodyPr>
          <a:lstStyle/>
          <a:p>
            <a:pPr marL="12700">
              <a:lnSpc>
                <a:spcPts val="3165"/>
              </a:lnSpc>
            </a:pPr>
            <a:r>
              <a:rPr sz="30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endParaRPr sz="3000">
              <a:latin typeface="Wingdings"/>
              <a:cs typeface="Wingdings"/>
            </a:endParaRPr>
          </a:p>
          <a:p>
            <a:pPr marL="12700">
              <a:lnSpc>
                <a:spcPct val="92488"/>
              </a:lnSpc>
              <a:spcBef>
                <a:spcPts val="1312"/>
              </a:spcBef>
            </a:pPr>
            <a:r>
              <a:rPr sz="30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endParaRPr sz="3000">
              <a:latin typeface="Wingdings"/>
              <a:cs typeface="Wingdings"/>
            </a:endParaRPr>
          </a:p>
          <a:p>
            <a:pPr marL="12700">
              <a:lnSpc>
                <a:spcPct val="92488"/>
              </a:lnSpc>
              <a:spcBef>
                <a:spcPts val="1470"/>
              </a:spcBef>
            </a:pPr>
            <a:r>
              <a:rPr sz="30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endParaRPr sz="3000">
              <a:latin typeface="Wingdings"/>
              <a:cs typeface="Wingdings"/>
            </a:endParaRPr>
          </a:p>
          <a:p>
            <a:pPr marL="12700">
              <a:lnSpc>
                <a:spcPts val="3120"/>
              </a:lnSpc>
              <a:spcBef>
                <a:spcPts val="1626"/>
              </a:spcBef>
            </a:pPr>
            <a:r>
              <a:rPr sz="30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endParaRPr sz="3000">
              <a:latin typeface="Wingdings"/>
              <a:cs typeface="Wingdings"/>
            </a:endParaRPr>
          </a:p>
          <a:p>
            <a:pPr marL="12700">
              <a:lnSpc>
                <a:spcPts val="2850"/>
              </a:lnSpc>
            </a:pPr>
            <a:r>
              <a:rPr sz="30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endParaRPr sz="3000">
              <a:latin typeface="Wingdings"/>
              <a:cs typeface="Wingdings"/>
            </a:endParaRPr>
          </a:p>
          <a:p>
            <a:pPr marL="12700">
              <a:lnSpc>
                <a:spcPct val="92488"/>
              </a:lnSpc>
              <a:spcBef>
                <a:spcPts val="1329"/>
              </a:spcBef>
            </a:pPr>
            <a:r>
              <a:rPr sz="30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endParaRPr sz="3000">
              <a:latin typeface="Wingdings"/>
              <a:cs typeface="Wingding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64640" y="1644267"/>
            <a:ext cx="5997452" cy="1163065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spc="-8" dirty="0">
                <a:latin typeface="Arial"/>
                <a:cs typeface="Arial"/>
              </a:rPr>
              <a:t>Truth tables may be used to show </a:t>
            </a:r>
            <a:r>
              <a:rPr sz="2000" b="1" spc="-8" dirty="0">
                <a:latin typeface="Arial"/>
                <a:cs typeface="Arial"/>
              </a:rPr>
              <a:t>interpretations </a:t>
            </a:r>
            <a:r>
              <a:rPr sz="2000" spc="-8" dirty="0">
                <a:latin typeface="Arial"/>
                <a:cs typeface="Arial"/>
              </a:rPr>
              <a:t>of</a:t>
            </a:r>
            <a:endParaRPr sz="2000">
              <a:latin typeface="Arial"/>
              <a:cs typeface="Arial"/>
            </a:endParaRPr>
          </a:p>
          <a:p>
            <a:pPr marL="12700" marR="38061">
              <a:lnSpc>
                <a:spcPts val="2160"/>
              </a:lnSpc>
              <a:spcBef>
                <a:spcPts val="0"/>
              </a:spcBef>
            </a:pPr>
            <a:r>
              <a:rPr sz="2000" spc="-4" dirty="0">
                <a:latin typeface="Arial"/>
                <a:cs typeface="Arial"/>
              </a:rPr>
              <a:t>compound propositions.</a:t>
            </a:r>
            <a:endParaRPr sz="2000">
              <a:latin typeface="Arial"/>
              <a:cs typeface="Arial"/>
            </a:endParaRPr>
          </a:p>
          <a:p>
            <a:pPr marL="12700" marR="9881">
              <a:lnSpc>
                <a:spcPts val="2160"/>
              </a:lnSpc>
              <a:spcBef>
                <a:spcPts val="484"/>
              </a:spcBef>
            </a:pPr>
            <a:r>
              <a:rPr sz="2000" dirty="0">
                <a:latin typeface="Arial"/>
                <a:cs typeface="Arial"/>
              </a:rPr>
              <a:t>To</a:t>
            </a:r>
            <a:r>
              <a:rPr sz="2000" spc="-28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draw</a:t>
            </a:r>
            <a:r>
              <a:rPr sz="2000" spc="-43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up</a:t>
            </a:r>
            <a:r>
              <a:rPr sz="2000" spc="-22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a</a:t>
            </a:r>
            <a:r>
              <a:rPr sz="2000" spc="-11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truth</a:t>
            </a:r>
            <a:r>
              <a:rPr sz="2000" spc="-5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table,</a:t>
            </a:r>
            <a:r>
              <a:rPr sz="2000" spc="-48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cons</a:t>
            </a:r>
            <a:r>
              <a:rPr sz="2000" spc="4" dirty="0">
                <a:latin typeface="Arial"/>
                <a:cs typeface="Arial"/>
              </a:rPr>
              <a:t>t</a:t>
            </a:r>
            <a:r>
              <a:rPr sz="2000" spc="0" dirty="0">
                <a:latin typeface="Arial"/>
                <a:cs typeface="Arial"/>
              </a:rPr>
              <a:t>ruct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a</a:t>
            </a:r>
            <a:r>
              <a:rPr sz="2000" spc="-11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column</a:t>
            </a:r>
            <a:r>
              <a:rPr sz="2000" spc="-64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for</a:t>
            </a:r>
            <a:r>
              <a:rPr sz="2000" spc="-33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each proposition</a:t>
            </a:r>
            <a:r>
              <a:rPr sz="2000" spc="-97" dirty="0">
                <a:latin typeface="Arial"/>
                <a:cs typeface="Arial"/>
              </a:rPr>
              <a:t> </a:t>
            </a:r>
            <a:r>
              <a:rPr sz="2000" spc="0" dirty="0">
                <a:latin typeface="Arial"/>
                <a:cs typeface="Arial"/>
              </a:rPr>
              <a:t>in</a:t>
            </a:r>
            <a:r>
              <a:rPr sz="2000" spc="4" dirty="0">
                <a:latin typeface="Arial"/>
                <a:cs typeface="Arial"/>
              </a:rPr>
              <a:t>v</a:t>
            </a:r>
            <a:r>
              <a:rPr sz="2000" spc="0" dirty="0">
                <a:latin typeface="Arial"/>
                <a:cs typeface="Arial"/>
              </a:rPr>
              <a:t>olved.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20706" y="2855805"/>
            <a:ext cx="300539" cy="286807"/>
          </a:xfrm>
          <a:prstGeom prst="rect">
            <a:avLst/>
          </a:prstGeom>
        </p:spPr>
        <p:txBody>
          <a:bodyPr wrap="square" lIns="0" tIns="14001" rIns="0" bIns="0" rtlCol="0">
            <a:noAutofit/>
          </a:bodyPr>
          <a:lstStyle/>
          <a:p>
            <a:pPr marL="12700">
              <a:lnSpc>
                <a:spcPts val="2205"/>
              </a:lnSpc>
            </a:pPr>
            <a:r>
              <a:rPr sz="2000" spc="3" dirty="0">
                <a:latin typeface="Arial"/>
                <a:cs typeface="Arial"/>
              </a:rPr>
              <a:t>2</a:t>
            </a:r>
            <a:r>
              <a:rPr sz="1950" spc="3" baseline="26758" dirty="0">
                <a:latin typeface="Arial"/>
                <a:cs typeface="Arial"/>
              </a:rPr>
              <a:t>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64640" y="2863467"/>
            <a:ext cx="1148987" cy="279145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spc="-4" dirty="0">
                <a:latin typeface="Arial"/>
                <a:cs typeface="Arial"/>
              </a:rPr>
              <a:t>You need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26410" y="2863467"/>
            <a:ext cx="4956699" cy="279145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spc="-6" dirty="0">
                <a:latin typeface="Arial"/>
                <a:cs typeface="Arial"/>
              </a:rPr>
              <a:t>rows for n propositions for all possible ways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90189" y="2863467"/>
            <a:ext cx="275086" cy="279145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dirty="0">
                <a:latin typeface="Arial"/>
                <a:cs typeface="Arial"/>
              </a:rPr>
              <a:t>of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64640" y="3137787"/>
            <a:ext cx="5161472" cy="614426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marR="38061">
              <a:lnSpc>
                <a:spcPts val="2145"/>
              </a:lnSpc>
            </a:pPr>
            <a:r>
              <a:rPr sz="2000" spc="-5" dirty="0">
                <a:latin typeface="Arial"/>
                <a:cs typeface="Arial"/>
              </a:rPr>
              <a:t>setting the propositions to T and F.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232"/>
              </a:spcBef>
            </a:pPr>
            <a:r>
              <a:rPr sz="2000" spc="-5" dirty="0">
                <a:latin typeface="Arial"/>
                <a:cs typeface="Arial"/>
              </a:rPr>
              <a:t>If we have 3 propositions, p; q; r, i.e. we need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3192" y="3465405"/>
            <a:ext cx="301000" cy="286807"/>
          </a:xfrm>
          <a:prstGeom prst="rect">
            <a:avLst/>
          </a:prstGeom>
        </p:spPr>
        <p:txBody>
          <a:bodyPr wrap="square" lIns="0" tIns="14001" rIns="0" bIns="0" rtlCol="0">
            <a:noAutofit/>
          </a:bodyPr>
          <a:lstStyle/>
          <a:p>
            <a:pPr marL="12700">
              <a:lnSpc>
                <a:spcPts val="2205"/>
              </a:lnSpc>
            </a:pPr>
            <a:r>
              <a:rPr sz="2000" spc="5" dirty="0">
                <a:latin typeface="Arial"/>
                <a:cs typeface="Arial"/>
              </a:rPr>
              <a:t>2</a:t>
            </a:r>
            <a:r>
              <a:rPr sz="1950" spc="5" baseline="26758" dirty="0"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39356" y="3473067"/>
            <a:ext cx="1098238" cy="279146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spc="-2" dirty="0">
                <a:latin typeface="Arial"/>
                <a:cs typeface="Arial"/>
              </a:rPr>
              <a:t>= 8 rows.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4640" y="3808347"/>
            <a:ext cx="7051880" cy="1163320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>
              <a:lnSpc>
                <a:spcPts val="2145"/>
              </a:lnSpc>
            </a:pPr>
            <a:r>
              <a:rPr sz="2000" spc="-8" dirty="0">
                <a:latin typeface="Arial"/>
                <a:cs typeface="Arial"/>
              </a:rPr>
              <a:t>Next, construct a column for each connective, the most deeply</a:t>
            </a:r>
            <a:endParaRPr sz="2000">
              <a:latin typeface="Arial"/>
              <a:cs typeface="Arial"/>
            </a:endParaRPr>
          </a:p>
          <a:p>
            <a:pPr marL="12700" marR="38061">
              <a:lnSpc>
                <a:spcPts val="2160"/>
              </a:lnSpc>
              <a:spcBef>
                <a:spcPts val="0"/>
              </a:spcBef>
            </a:pPr>
            <a:r>
              <a:rPr sz="2000" spc="0" dirty="0">
                <a:latin typeface="Arial"/>
                <a:cs typeface="Arial"/>
              </a:rPr>
              <a:t>nested first.</a:t>
            </a:r>
            <a:endParaRPr sz="2000">
              <a:latin typeface="Arial"/>
              <a:cs typeface="Arial"/>
            </a:endParaRPr>
          </a:p>
          <a:p>
            <a:pPr marL="12700" marR="915615">
              <a:lnSpc>
                <a:spcPts val="2160"/>
              </a:lnSpc>
              <a:spcBef>
                <a:spcPts val="484"/>
              </a:spcBef>
            </a:pPr>
            <a:r>
              <a:rPr sz="2000" spc="-6" dirty="0">
                <a:latin typeface="Arial"/>
                <a:cs typeface="Arial"/>
              </a:rPr>
              <a:t>Evaluate each column using values for propositions or previous columns.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8000" y="1417637"/>
            <a:ext cx="1828800" cy="762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0"/>
              </a:spcBef>
            </a:pPr>
            <a:endParaRPr sz="600"/>
          </a:p>
        </p:txBody>
      </p:sp>
      <p:sp>
        <p:nvSpPr>
          <p:cNvPr id="2" name="object 2"/>
          <p:cNvSpPr txBox="1"/>
          <p:nvPr/>
        </p:nvSpPr>
        <p:spPr>
          <a:xfrm>
            <a:off x="6858000" y="1493901"/>
            <a:ext cx="1828800" cy="106299"/>
          </a:xfrm>
          <a:prstGeom prst="rect">
            <a:avLst/>
          </a:prstGeom>
        </p:spPr>
        <p:txBody>
          <a:bodyPr wrap="square" lIns="0" tIns="4699" rIns="0" bIns="0" rtlCol="0">
            <a:noAutofit/>
          </a:bodyPr>
          <a:lstStyle/>
          <a:p>
            <a:pPr marL="25400">
              <a:lnSpc>
                <a:spcPts val="800"/>
              </a:lnSpc>
            </a:pPr>
            <a:endParaRPr sz="8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CCEA9F-4238-4200-B1E3-D048732C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6262751" y="2555938"/>
            <a:ext cx="1036637" cy="2746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86325" y="1600200"/>
            <a:ext cx="4181475" cy="4572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2977" y="5105546"/>
            <a:ext cx="4189051" cy="884091"/>
          </a:xfrm>
          <a:custGeom>
            <a:avLst/>
            <a:gdLst/>
            <a:ahLst/>
            <a:cxnLst/>
            <a:rect l="l" t="t" r="r" b="b"/>
            <a:pathLst>
              <a:path w="4189051" h="884091">
                <a:moveTo>
                  <a:pt x="403745" y="884091"/>
                </a:moveTo>
                <a:lnTo>
                  <a:pt x="802297" y="612704"/>
                </a:lnTo>
                <a:lnTo>
                  <a:pt x="671289" y="594466"/>
                </a:lnTo>
                <a:lnTo>
                  <a:pt x="551638" y="574871"/>
                </a:lnTo>
                <a:lnTo>
                  <a:pt x="443436" y="554042"/>
                </a:lnTo>
                <a:lnTo>
                  <a:pt x="346775" y="532105"/>
                </a:lnTo>
                <a:lnTo>
                  <a:pt x="261747" y="509181"/>
                </a:lnTo>
                <a:lnTo>
                  <a:pt x="188443" y="485396"/>
                </a:lnTo>
                <a:lnTo>
                  <a:pt x="126957" y="460873"/>
                </a:lnTo>
                <a:lnTo>
                  <a:pt x="77379" y="435737"/>
                </a:lnTo>
                <a:lnTo>
                  <a:pt x="39802" y="410110"/>
                </a:lnTo>
                <a:lnTo>
                  <a:pt x="1021" y="357882"/>
                </a:lnTo>
                <a:lnTo>
                  <a:pt x="0" y="331528"/>
                </a:lnTo>
                <a:lnTo>
                  <a:pt x="11348" y="305180"/>
                </a:lnTo>
                <a:lnTo>
                  <a:pt x="71520" y="252995"/>
                </a:lnTo>
                <a:lnTo>
                  <a:pt x="120528" y="227406"/>
                </a:lnTo>
                <a:lnTo>
                  <a:pt x="182273" y="202318"/>
                </a:lnTo>
                <a:lnTo>
                  <a:pt x="256849" y="177855"/>
                </a:lnTo>
                <a:lnTo>
                  <a:pt x="344345" y="154140"/>
                </a:lnTo>
                <a:lnTo>
                  <a:pt x="444855" y="131298"/>
                </a:lnTo>
                <a:lnTo>
                  <a:pt x="556306" y="109858"/>
                </a:lnTo>
                <a:lnTo>
                  <a:pt x="676052" y="90277"/>
                </a:lnTo>
                <a:lnTo>
                  <a:pt x="803335" y="72570"/>
                </a:lnTo>
                <a:lnTo>
                  <a:pt x="937398" y="56751"/>
                </a:lnTo>
                <a:lnTo>
                  <a:pt x="1077485" y="42837"/>
                </a:lnTo>
                <a:lnTo>
                  <a:pt x="1222838" y="30841"/>
                </a:lnTo>
                <a:lnTo>
                  <a:pt x="1372699" y="20779"/>
                </a:lnTo>
                <a:lnTo>
                  <a:pt x="1526313" y="12666"/>
                </a:lnTo>
                <a:lnTo>
                  <a:pt x="1682922" y="6516"/>
                </a:lnTo>
                <a:lnTo>
                  <a:pt x="1841768" y="2346"/>
                </a:lnTo>
                <a:lnTo>
                  <a:pt x="2002095" y="168"/>
                </a:lnTo>
                <a:lnTo>
                  <a:pt x="2163145" y="0"/>
                </a:lnTo>
                <a:lnTo>
                  <a:pt x="2324162" y="1854"/>
                </a:lnTo>
                <a:lnTo>
                  <a:pt x="2484389" y="5747"/>
                </a:lnTo>
                <a:lnTo>
                  <a:pt x="2643068" y="11694"/>
                </a:lnTo>
                <a:lnTo>
                  <a:pt x="2799441" y="19709"/>
                </a:lnTo>
                <a:lnTo>
                  <a:pt x="2952753" y="29807"/>
                </a:lnTo>
                <a:lnTo>
                  <a:pt x="3102246" y="42004"/>
                </a:lnTo>
                <a:lnTo>
                  <a:pt x="3247163" y="56313"/>
                </a:lnTo>
                <a:lnTo>
                  <a:pt x="3386747" y="72751"/>
                </a:lnTo>
                <a:lnTo>
                  <a:pt x="3517746" y="90997"/>
                </a:lnTo>
                <a:lnTo>
                  <a:pt x="3637390" y="110598"/>
                </a:lnTo>
                <a:lnTo>
                  <a:pt x="3745588" y="131433"/>
                </a:lnTo>
                <a:lnTo>
                  <a:pt x="3842247" y="153376"/>
                </a:lnTo>
                <a:lnTo>
                  <a:pt x="3927275" y="176304"/>
                </a:lnTo>
                <a:lnTo>
                  <a:pt x="4000579" y="200092"/>
                </a:lnTo>
                <a:lnTo>
                  <a:pt x="4062068" y="224619"/>
                </a:lnTo>
                <a:lnTo>
                  <a:pt x="4111649" y="249758"/>
                </a:lnTo>
                <a:lnTo>
                  <a:pt x="4149230" y="275387"/>
                </a:lnTo>
                <a:lnTo>
                  <a:pt x="4188023" y="327618"/>
                </a:lnTo>
                <a:lnTo>
                  <a:pt x="4189051" y="353972"/>
                </a:lnTo>
                <a:lnTo>
                  <a:pt x="4177710" y="380321"/>
                </a:lnTo>
                <a:lnTo>
                  <a:pt x="4117552" y="432505"/>
                </a:lnTo>
                <a:lnTo>
                  <a:pt x="4068552" y="458093"/>
                </a:lnTo>
                <a:lnTo>
                  <a:pt x="4006814" y="483180"/>
                </a:lnTo>
                <a:lnTo>
                  <a:pt x="3932246" y="507642"/>
                </a:lnTo>
                <a:lnTo>
                  <a:pt x="3844756" y="531355"/>
                </a:lnTo>
                <a:lnTo>
                  <a:pt x="3744252" y="554195"/>
                </a:lnTo>
                <a:lnTo>
                  <a:pt x="3662619" y="570225"/>
                </a:lnTo>
                <a:lnTo>
                  <a:pt x="3575969" y="585287"/>
                </a:lnTo>
                <a:lnTo>
                  <a:pt x="3484614" y="599366"/>
                </a:lnTo>
                <a:lnTo>
                  <a:pt x="3388865" y="612446"/>
                </a:lnTo>
                <a:lnTo>
                  <a:pt x="3289036" y="624509"/>
                </a:lnTo>
                <a:lnTo>
                  <a:pt x="3185439" y="635540"/>
                </a:lnTo>
                <a:lnTo>
                  <a:pt x="3078386" y="645521"/>
                </a:lnTo>
                <a:lnTo>
                  <a:pt x="2968190" y="654437"/>
                </a:lnTo>
                <a:lnTo>
                  <a:pt x="2855164" y="662270"/>
                </a:lnTo>
                <a:lnTo>
                  <a:pt x="2739618" y="669003"/>
                </a:lnTo>
                <a:lnTo>
                  <a:pt x="2621867" y="674622"/>
                </a:lnTo>
                <a:lnTo>
                  <a:pt x="2502222" y="679108"/>
                </a:lnTo>
                <a:lnTo>
                  <a:pt x="2380996" y="682446"/>
                </a:lnTo>
                <a:lnTo>
                  <a:pt x="2258502" y="684618"/>
                </a:lnTo>
                <a:lnTo>
                  <a:pt x="2135051" y="685608"/>
                </a:lnTo>
                <a:lnTo>
                  <a:pt x="2010956" y="685401"/>
                </a:lnTo>
                <a:lnTo>
                  <a:pt x="1886529" y="683978"/>
                </a:lnTo>
                <a:lnTo>
                  <a:pt x="1762084" y="681324"/>
                </a:lnTo>
                <a:lnTo>
                  <a:pt x="1637932" y="677421"/>
                </a:lnTo>
                <a:lnTo>
                  <a:pt x="1514386" y="672255"/>
                </a:lnTo>
                <a:lnTo>
                  <a:pt x="403745" y="88409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5546" y="5026518"/>
            <a:ext cx="798143" cy="794799"/>
          </a:xfrm>
          <a:custGeom>
            <a:avLst/>
            <a:gdLst/>
            <a:ahLst/>
            <a:cxnLst/>
            <a:rect l="l" t="t" r="r" b="b"/>
            <a:pathLst>
              <a:path w="798143" h="794799">
                <a:moveTo>
                  <a:pt x="398611" y="0"/>
                </a:moveTo>
                <a:lnTo>
                  <a:pt x="358200" y="1777"/>
                </a:lnTo>
                <a:lnTo>
                  <a:pt x="317788" y="8254"/>
                </a:lnTo>
                <a:lnTo>
                  <a:pt x="280132" y="18287"/>
                </a:lnTo>
                <a:lnTo>
                  <a:pt x="243391" y="31114"/>
                </a:lnTo>
                <a:lnTo>
                  <a:pt x="208491" y="48385"/>
                </a:lnTo>
                <a:lnTo>
                  <a:pt x="175420" y="67562"/>
                </a:lnTo>
                <a:lnTo>
                  <a:pt x="145118" y="90422"/>
                </a:lnTo>
                <a:lnTo>
                  <a:pt x="116644" y="116075"/>
                </a:lnTo>
                <a:lnTo>
                  <a:pt x="90927" y="144395"/>
                </a:lnTo>
                <a:lnTo>
                  <a:pt x="67965" y="175383"/>
                </a:lnTo>
                <a:lnTo>
                  <a:pt x="47759" y="208275"/>
                </a:lnTo>
                <a:lnTo>
                  <a:pt x="31227" y="243072"/>
                </a:lnTo>
                <a:lnTo>
                  <a:pt x="17450" y="279520"/>
                </a:lnTo>
                <a:lnTo>
                  <a:pt x="8266" y="316985"/>
                </a:lnTo>
                <a:lnTo>
                  <a:pt x="1836" y="357243"/>
                </a:lnTo>
                <a:lnTo>
                  <a:pt x="0" y="397412"/>
                </a:lnTo>
                <a:lnTo>
                  <a:pt x="1836" y="437607"/>
                </a:lnTo>
                <a:lnTo>
                  <a:pt x="8266" y="477801"/>
                </a:lnTo>
                <a:lnTo>
                  <a:pt x="17450" y="515253"/>
                </a:lnTo>
                <a:lnTo>
                  <a:pt x="31227" y="551803"/>
                </a:lnTo>
                <a:lnTo>
                  <a:pt x="47759" y="586511"/>
                </a:lnTo>
                <a:lnTo>
                  <a:pt x="67965" y="619403"/>
                </a:lnTo>
                <a:lnTo>
                  <a:pt x="90927" y="650467"/>
                </a:lnTo>
                <a:lnTo>
                  <a:pt x="116644" y="677873"/>
                </a:lnTo>
                <a:lnTo>
                  <a:pt x="145118" y="704364"/>
                </a:lnTo>
                <a:lnTo>
                  <a:pt x="175420" y="727198"/>
                </a:lnTo>
                <a:lnTo>
                  <a:pt x="208491" y="746388"/>
                </a:lnTo>
                <a:lnTo>
                  <a:pt x="243391" y="763748"/>
                </a:lnTo>
                <a:lnTo>
                  <a:pt x="280132" y="776537"/>
                </a:lnTo>
                <a:lnTo>
                  <a:pt x="317788" y="786582"/>
                </a:lnTo>
                <a:lnTo>
                  <a:pt x="358200" y="792983"/>
                </a:lnTo>
                <a:lnTo>
                  <a:pt x="398611" y="794799"/>
                </a:lnTo>
                <a:lnTo>
                  <a:pt x="439023" y="792983"/>
                </a:lnTo>
                <a:lnTo>
                  <a:pt x="479435" y="786582"/>
                </a:lnTo>
                <a:lnTo>
                  <a:pt x="517090" y="776537"/>
                </a:lnTo>
                <a:lnTo>
                  <a:pt x="553832" y="763748"/>
                </a:lnTo>
                <a:lnTo>
                  <a:pt x="588731" y="746388"/>
                </a:lnTo>
                <a:lnTo>
                  <a:pt x="621802" y="727198"/>
                </a:lnTo>
                <a:lnTo>
                  <a:pt x="653019" y="704364"/>
                </a:lnTo>
                <a:lnTo>
                  <a:pt x="681493" y="677873"/>
                </a:lnTo>
                <a:lnTo>
                  <a:pt x="707210" y="650467"/>
                </a:lnTo>
                <a:lnTo>
                  <a:pt x="730172" y="619403"/>
                </a:lnTo>
                <a:lnTo>
                  <a:pt x="749464" y="586511"/>
                </a:lnTo>
                <a:lnTo>
                  <a:pt x="766913" y="551803"/>
                </a:lnTo>
                <a:lnTo>
                  <a:pt x="779766" y="515253"/>
                </a:lnTo>
                <a:lnTo>
                  <a:pt x="789875" y="477801"/>
                </a:lnTo>
                <a:lnTo>
                  <a:pt x="796301" y="437607"/>
                </a:lnTo>
                <a:lnTo>
                  <a:pt x="798143" y="397412"/>
                </a:lnTo>
                <a:lnTo>
                  <a:pt x="796301" y="357243"/>
                </a:lnTo>
                <a:lnTo>
                  <a:pt x="789875" y="316985"/>
                </a:lnTo>
                <a:lnTo>
                  <a:pt x="779766" y="279520"/>
                </a:lnTo>
                <a:lnTo>
                  <a:pt x="766913" y="243072"/>
                </a:lnTo>
                <a:lnTo>
                  <a:pt x="749464" y="208275"/>
                </a:lnTo>
                <a:lnTo>
                  <a:pt x="730172" y="175383"/>
                </a:lnTo>
                <a:lnTo>
                  <a:pt x="707210" y="144395"/>
                </a:lnTo>
                <a:lnTo>
                  <a:pt x="681493" y="116075"/>
                </a:lnTo>
                <a:lnTo>
                  <a:pt x="653019" y="90422"/>
                </a:lnTo>
                <a:lnTo>
                  <a:pt x="621802" y="67562"/>
                </a:lnTo>
                <a:lnTo>
                  <a:pt x="588731" y="48385"/>
                </a:lnTo>
                <a:lnTo>
                  <a:pt x="553832" y="31114"/>
                </a:lnTo>
                <a:lnTo>
                  <a:pt x="517090" y="18287"/>
                </a:lnTo>
                <a:lnTo>
                  <a:pt x="479435" y="8254"/>
                </a:lnTo>
                <a:lnTo>
                  <a:pt x="439023" y="1777"/>
                </a:lnTo>
                <a:lnTo>
                  <a:pt x="398611" y="0"/>
                </a:lnTo>
                <a:close/>
              </a:path>
            </a:pathLst>
          </a:custGeom>
          <a:solidFill>
            <a:srgbClr val="DDDDBE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81396" y="5881615"/>
            <a:ext cx="799050" cy="792969"/>
          </a:xfrm>
          <a:custGeom>
            <a:avLst/>
            <a:gdLst/>
            <a:ahLst/>
            <a:cxnLst/>
            <a:rect l="l" t="t" r="r" b="b"/>
            <a:pathLst>
              <a:path w="799050" h="792969">
                <a:moveTo>
                  <a:pt x="399531" y="0"/>
                </a:moveTo>
                <a:lnTo>
                  <a:pt x="359119" y="1828"/>
                </a:lnTo>
                <a:lnTo>
                  <a:pt x="318695" y="8229"/>
                </a:lnTo>
                <a:lnTo>
                  <a:pt x="281039" y="17360"/>
                </a:lnTo>
                <a:lnTo>
                  <a:pt x="244311" y="31063"/>
                </a:lnTo>
                <a:lnTo>
                  <a:pt x="209398" y="47509"/>
                </a:lnTo>
                <a:lnTo>
                  <a:pt x="176340" y="67600"/>
                </a:lnTo>
                <a:lnTo>
                  <a:pt x="145111" y="90447"/>
                </a:lnTo>
                <a:lnTo>
                  <a:pt x="117564" y="116024"/>
                </a:lnTo>
                <a:lnTo>
                  <a:pt x="90919" y="144345"/>
                </a:lnTo>
                <a:lnTo>
                  <a:pt x="67958" y="174494"/>
                </a:lnTo>
                <a:lnTo>
                  <a:pt x="48679" y="207373"/>
                </a:lnTo>
                <a:lnTo>
                  <a:pt x="31229" y="242094"/>
                </a:lnTo>
                <a:lnTo>
                  <a:pt x="18364" y="277717"/>
                </a:lnTo>
                <a:lnTo>
                  <a:pt x="8267" y="316096"/>
                </a:lnTo>
                <a:lnTo>
                  <a:pt x="1828" y="355376"/>
                </a:lnTo>
                <a:lnTo>
                  <a:pt x="0" y="395571"/>
                </a:lnTo>
                <a:lnTo>
                  <a:pt x="1828" y="436680"/>
                </a:lnTo>
                <a:lnTo>
                  <a:pt x="8267" y="475960"/>
                </a:lnTo>
                <a:lnTo>
                  <a:pt x="18364" y="514338"/>
                </a:lnTo>
                <a:lnTo>
                  <a:pt x="31229" y="550875"/>
                </a:lnTo>
                <a:lnTo>
                  <a:pt x="48679" y="585596"/>
                </a:lnTo>
                <a:lnTo>
                  <a:pt x="67958" y="618476"/>
                </a:lnTo>
                <a:lnTo>
                  <a:pt x="90919" y="648625"/>
                </a:lnTo>
                <a:lnTo>
                  <a:pt x="117564" y="676948"/>
                </a:lnTo>
                <a:lnTo>
                  <a:pt x="145111" y="702527"/>
                </a:lnTo>
                <a:lnTo>
                  <a:pt x="176340" y="725366"/>
                </a:lnTo>
                <a:lnTo>
                  <a:pt x="209398" y="745464"/>
                </a:lnTo>
                <a:lnTo>
                  <a:pt x="244311" y="761908"/>
                </a:lnTo>
                <a:lnTo>
                  <a:pt x="281039" y="775611"/>
                </a:lnTo>
                <a:lnTo>
                  <a:pt x="318695" y="784747"/>
                </a:lnTo>
                <a:lnTo>
                  <a:pt x="359119" y="791142"/>
                </a:lnTo>
                <a:lnTo>
                  <a:pt x="399531" y="792969"/>
                </a:lnTo>
                <a:lnTo>
                  <a:pt x="439943" y="791142"/>
                </a:lnTo>
                <a:lnTo>
                  <a:pt x="480354" y="784747"/>
                </a:lnTo>
                <a:lnTo>
                  <a:pt x="518010" y="775611"/>
                </a:lnTo>
                <a:lnTo>
                  <a:pt x="554751" y="761908"/>
                </a:lnTo>
                <a:lnTo>
                  <a:pt x="589651" y="745464"/>
                </a:lnTo>
                <a:lnTo>
                  <a:pt x="622709" y="725366"/>
                </a:lnTo>
                <a:lnTo>
                  <a:pt x="653939" y="702527"/>
                </a:lnTo>
                <a:lnTo>
                  <a:pt x="682413" y="676948"/>
                </a:lnTo>
                <a:lnTo>
                  <a:pt x="708130" y="648625"/>
                </a:lnTo>
                <a:lnTo>
                  <a:pt x="731092" y="618476"/>
                </a:lnTo>
                <a:lnTo>
                  <a:pt x="750383" y="585596"/>
                </a:lnTo>
                <a:lnTo>
                  <a:pt x="767833" y="550875"/>
                </a:lnTo>
                <a:lnTo>
                  <a:pt x="780686" y="514338"/>
                </a:lnTo>
                <a:lnTo>
                  <a:pt x="790795" y="475960"/>
                </a:lnTo>
                <a:lnTo>
                  <a:pt x="797221" y="436680"/>
                </a:lnTo>
                <a:lnTo>
                  <a:pt x="799050" y="395571"/>
                </a:lnTo>
                <a:lnTo>
                  <a:pt x="797221" y="355376"/>
                </a:lnTo>
                <a:lnTo>
                  <a:pt x="790795" y="316096"/>
                </a:lnTo>
                <a:lnTo>
                  <a:pt x="780686" y="277717"/>
                </a:lnTo>
                <a:lnTo>
                  <a:pt x="767833" y="242094"/>
                </a:lnTo>
                <a:lnTo>
                  <a:pt x="750383" y="207373"/>
                </a:lnTo>
                <a:lnTo>
                  <a:pt x="731092" y="174494"/>
                </a:lnTo>
                <a:lnTo>
                  <a:pt x="708130" y="144345"/>
                </a:lnTo>
                <a:lnTo>
                  <a:pt x="682413" y="116024"/>
                </a:lnTo>
                <a:lnTo>
                  <a:pt x="653939" y="90447"/>
                </a:lnTo>
                <a:lnTo>
                  <a:pt x="622709" y="67600"/>
                </a:lnTo>
                <a:lnTo>
                  <a:pt x="589651" y="47509"/>
                </a:lnTo>
                <a:lnTo>
                  <a:pt x="554751" y="31063"/>
                </a:lnTo>
                <a:lnTo>
                  <a:pt x="518010" y="17360"/>
                </a:lnTo>
                <a:lnTo>
                  <a:pt x="480354" y="8229"/>
                </a:lnTo>
                <a:lnTo>
                  <a:pt x="439943" y="1828"/>
                </a:lnTo>
                <a:lnTo>
                  <a:pt x="399531" y="0"/>
                </a:lnTo>
                <a:close/>
              </a:path>
            </a:pathLst>
          </a:custGeom>
          <a:solidFill>
            <a:srgbClr val="BEDD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39143" y="5760117"/>
            <a:ext cx="595163" cy="786570"/>
          </a:xfrm>
          <a:custGeom>
            <a:avLst/>
            <a:gdLst/>
            <a:ahLst/>
            <a:cxnLst/>
            <a:rect l="l" t="t" r="r" b="b"/>
            <a:pathLst>
              <a:path w="595163" h="786570">
                <a:moveTo>
                  <a:pt x="230531" y="143430"/>
                </a:moveTo>
                <a:lnTo>
                  <a:pt x="231446" y="149818"/>
                </a:lnTo>
                <a:lnTo>
                  <a:pt x="233287" y="156219"/>
                </a:lnTo>
                <a:lnTo>
                  <a:pt x="236043" y="161692"/>
                </a:lnTo>
                <a:lnTo>
                  <a:pt x="239713" y="166264"/>
                </a:lnTo>
                <a:lnTo>
                  <a:pt x="245225" y="170836"/>
                </a:lnTo>
                <a:lnTo>
                  <a:pt x="250737" y="173567"/>
                </a:lnTo>
                <a:lnTo>
                  <a:pt x="257163" y="176310"/>
                </a:lnTo>
                <a:lnTo>
                  <a:pt x="283808" y="183625"/>
                </a:lnTo>
                <a:lnTo>
                  <a:pt x="310440" y="192756"/>
                </a:lnTo>
                <a:lnTo>
                  <a:pt x="335243" y="203716"/>
                </a:lnTo>
                <a:lnTo>
                  <a:pt x="359119" y="216504"/>
                </a:lnTo>
                <a:lnTo>
                  <a:pt x="381154" y="231122"/>
                </a:lnTo>
                <a:lnTo>
                  <a:pt x="403201" y="247568"/>
                </a:lnTo>
                <a:lnTo>
                  <a:pt x="422493" y="265843"/>
                </a:lnTo>
                <a:lnTo>
                  <a:pt x="441784" y="285032"/>
                </a:lnTo>
                <a:lnTo>
                  <a:pt x="458307" y="306037"/>
                </a:lnTo>
                <a:lnTo>
                  <a:pt x="473928" y="327970"/>
                </a:lnTo>
                <a:lnTo>
                  <a:pt x="487708" y="350804"/>
                </a:lnTo>
                <a:lnTo>
                  <a:pt x="499646" y="375467"/>
                </a:lnTo>
                <a:lnTo>
                  <a:pt x="509742" y="400130"/>
                </a:lnTo>
                <a:lnTo>
                  <a:pt x="517096" y="425720"/>
                </a:lnTo>
                <a:lnTo>
                  <a:pt x="523522" y="452211"/>
                </a:lnTo>
                <a:lnTo>
                  <a:pt x="527192" y="479617"/>
                </a:lnTo>
                <a:lnTo>
                  <a:pt x="406872" y="479617"/>
                </a:lnTo>
                <a:lnTo>
                  <a:pt x="406872" y="604773"/>
                </a:lnTo>
                <a:lnTo>
                  <a:pt x="387593" y="602030"/>
                </a:lnTo>
                <a:lnTo>
                  <a:pt x="370143" y="597458"/>
                </a:lnTo>
                <a:lnTo>
                  <a:pt x="352693" y="590156"/>
                </a:lnTo>
                <a:lnTo>
                  <a:pt x="337072" y="581025"/>
                </a:lnTo>
                <a:lnTo>
                  <a:pt x="322378" y="570052"/>
                </a:lnTo>
                <a:lnTo>
                  <a:pt x="309526" y="557263"/>
                </a:lnTo>
                <a:lnTo>
                  <a:pt x="297575" y="542646"/>
                </a:lnTo>
                <a:lnTo>
                  <a:pt x="288393" y="526200"/>
                </a:lnTo>
                <a:lnTo>
                  <a:pt x="284722" y="520726"/>
                </a:lnTo>
                <a:lnTo>
                  <a:pt x="280125" y="516154"/>
                </a:lnTo>
                <a:lnTo>
                  <a:pt x="275540" y="512497"/>
                </a:lnTo>
                <a:lnTo>
                  <a:pt x="269114" y="509766"/>
                </a:lnTo>
                <a:lnTo>
                  <a:pt x="263602" y="507938"/>
                </a:lnTo>
                <a:lnTo>
                  <a:pt x="257163" y="507938"/>
                </a:lnTo>
                <a:lnTo>
                  <a:pt x="250737" y="508852"/>
                </a:lnTo>
                <a:lnTo>
                  <a:pt x="244311" y="510681"/>
                </a:lnTo>
                <a:lnTo>
                  <a:pt x="234202" y="518898"/>
                </a:lnTo>
                <a:lnTo>
                  <a:pt x="227775" y="529857"/>
                </a:lnTo>
                <a:lnTo>
                  <a:pt x="225947" y="542646"/>
                </a:lnTo>
                <a:lnTo>
                  <a:pt x="229617" y="554520"/>
                </a:lnTo>
                <a:lnTo>
                  <a:pt x="236043" y="567322"/>
                </a:lnTo>
                <a:lnTo>
                  <a:pt x="243396" y="579196"/>
                </a:lnTo>
                <a:lnTo>
                  <a:pt x="251651" y="591070"/>
                </a:lnTo>
                <a:lnTo>
                  <a:pt x="260846" y="601116"/>
                </a:lnTo>
                <a:lnTo>
                  <a:pt x="270028" y="611161"/>
                </a:lnTo>
                <a:lnTo>
                  <a:pt x="280125" y="621219"/>
                </a:lnTo>
                <a:lnTo>
                  <a:pt x="291149" y="629436"/>
                </a:lnTo>
                <a:lnTo>
                  <a:pt x="302172" y="636751"/>
                </a:lnTo>
                <a:lnTo>
                  <a:pt x="314110" y="644053"/>
                </a:lnTo>
                <a:lnTo>
                  <a:pt x="326048" y="650454"/>
                </a:lnTo>
                <a:lnTo>
                  <a:pt x="338914" y="655928"/>
                </a:lnTo>
                <a:lnTo>
                  <a:pt x="351766" y="660499"/>
                </a:lnTo>
                <a:lnTo>
                  <a:pt x="364631" y="664157"/>
                </a:lnTo>
                <a:lnTo>
                  <a:pt x="378411" y="667802"/>
                </a:lnTo>
                <a:lnTo>
                  <a:pt x="393105" y="669631"/>
                </a:lnTo>
                <a:lnTo>
                  <a:pt x="406872" y="670545"/>
                </a:lnTo>
                <a:lnTo>
                  <a:pt x="406872" y="720798"/>
                </a:lnTo>
                <a:lnTo>
                  <a:pt x="66129" y="720798"/>
                </a:lnTo>
                <a:lnTo>
                  <a:pt x="66129" y="168093"/>
                </a:lnTo>
                <a:lnTo>
                  <a:pt x="173584" y="168093"/>
                </a:lnTo>
                <a:lnTo>
                  <a:pt x="111138" y="20090"/>
                </a:lnTo>
                <a:lnTo>
                  <a:pt x="107455" y="14617"/>
                </a:lnTo>
                <a:lnTo>
                  <a:pt x="103784" y="9131"/>
                </a:lnTo>
                <a:lnTo>
                  <a:pt x="98273" y="5473"/>
                </a:lnTo>
                <a:lnTo>
                  <a:pt x="92761" y="2743"/>
                </a:lnTo>
                <a:lnTo>
                  <a:pt x="87249" y="914"/>
                </a:lnTo>
                <a:lnTo>
                  <a:pt x="80823" y="0"/>
                </a:lnTo>
                <a:lnTo>
                  <a:pt x="74397" y="914"/>
                </a:lnTo>
                <a:lnTo>
                  <a:pt x="67970" y="2743"/>
                </a:lnTo>
                <a:lnTo>
                  <a:pt x="56947" y="10045"/>
                </a:lnTo>
                <a:lnTo>
                  <a:pt x="50520" y="21005"/>
                </a:lnTo>
                <a:lnTo>
                  <a:pt x="47764" y="32879"/>
                </a:lnTo>
                <a:lnTo>
                  <a:pt x="50520" y="45680"/>
                </a:lnTo>
                <a:lnTo>
                  <a:pt x="74397" y="102321"/>
                </a:lnTo>
                <a:lnTo>
                  <a:pt x="0" y="102321"/>
                </a:lnTo>
                <a:lnTo>
                  <a:pt x="0" y="786570"/>
                </a:lnTo>
                <a:lnTo>
                  <a:pt x="473001" y="785655"/>
                </a:lnTo>
                <a:lnTo>
                  <a:pt x="473001" y="545389"/>
                </a:lnTo>
                <a:lnTo>
                  <a:pt x="595163" y="545389"/>
                </a:lnTo>
                <a:lnTo>
                  <a:pt x="595163" y="512497"/>
                </a:lnTo>
                <a:lnTo>
                  <a:pt x="593322" y="476874"/>
                </a:lnTo>
                <a:lnTo>
                  <a:pt x="588737" y="442153"/>
                </a:lnTo>
                <a:lnTo>
                  <a:pt x="581383" y="408359"/>
                </a:lnTo>
                <a:lnTo>
                  <a:pt x="571287" y="375467"/>
                </a:lnTo>
                <a:lnTo>
                  <a:pt x="557507" y="343489"/>
                </a:lnTo>
                <a:lnTo>
                  <a:pt x="541886" y="312438"/>
                </a:lnTo>
                <a:lnTo>
                  <a:pt x="523522" y="284118"/>
                </a:lnTo>
                <a:lnTo>
                  <a:pt x="503316" y="255797"/>
                </a:lnTo>
                <a:lnTo>
                  <a:pt x="480354" y="230207"/>
                </a:lnTo>
                <a:lnTo>
                  <a:pt x="455551" y="206459"/>
                </a:lnTo>
                <a:lnTo>
                  <a:pt x="428919" y="184539"/>
                </a:lnTo>
                <a:lnTo>
                  <a:pt x="400446" y="165350"/>
                </a:lnTo>
                <a:lnTo>
                  <a:pt x="370143" y="147989"/>
                </a:lnTo>
                <a:lnTo>
                  <a:pt x="338914" y="132458"/>
                </a:lnTo>
                <a:lnTo>
                  <a:pt x="305843" y="120583"/>
                </a:lnTo>
                <a:lnTo>
                  <a:pt x="270943" y="111452"/>
                </a:lnTo>
                <a:lnTo>
                  <a:pt x="264517" y="110538"/>
                </a:lnTo>
                <a:lnTo>
                  <a:pt x="258090" y="111452"/>
                </a:lnTo>
                <a:lnTo>
                  <a:pt x="241555" y="119669"/>
                </a:lnTo>
                <a:lnTo>
                  <a:pt x="231446" y="137030"/>
                </a:lnTo>
                <a:lnTo>
                  <a:pt x="230531" y="143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15484" y="5594766"/>
            <a:ext cx="53270" cy="0"/>
          </a:xfrm>
          <a:custGeom>
            <a:avLst/>
            <a:gdLst/>
            <a:ahLst/>
            <a:cxnLst/>
            <a:rect l="l" t="t" r="r" b="b"/>
            <a:pathLst>
              <a:path w="53270">
                <a:moveTo>
                  <a:pt x="0" y="0"/>
                </a:moveTo>
                <a:lnTo>
                  <a:pt x="53270" y="0"/>
                </a:lnTo>
              </a:path>
            </a:pathLst>
          </a:custGeom>
          <a:ln w="5425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42014" y="5665111"/>
            <a:ext cx="199302" cy="161692"/>
          </a:xfrm>
          <a:custGeom>
            <a:avLst/>
            <a:gdLst/>
            <a:ahLst/>
            <a:cxnLst/>
            <a:rect l="l" t="t" r="r" b="b"/>
            <a:pathLst>
              <a:path w="199302" h="161692">
                <a:moveTo>
                  <a:pt x="73469" y="52068"/>
                </a:moveTo>
                <a:lnTo>
                  <a:pt x="0" y="52068"/>
                </a:lnTo>
                <a:lnTo>
                  <a:pt x="100114" y="161692"/>
                </a:lnTo>
                <a:lnTo>
                  <a:pt x="199302" y="52068"/>
                </a:lnTo>
                <a:lnTo>
                  <a:pt x="126746" y="52068"/>
                </a:lnTo>
                <a:lnTo>
                  <a:pt x="126746" y="0"/>
                </a:lnTo>
                <a:lnTo>
                  <a:pt x="73469" y="0"/>
                </a:lnTo>
                <a:lnTo>
                  <a:pt x="73469" y="520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35358" y="5155293"/>
            <a:ext cx="255334" cy="91438"/>
          </a:xfrm>
          <a:custGeom>
            <a:avLst/>
            <a:gdLst/>
            <a:ahLst/>
            <a:cxnLst/>
            <a:rect l="l" t="t" r="r" b="b"/>
            <a:pathLst>
              <a:path w="255334" h="91438">
                <a:moveTo>
                  <a:pt x="171755" y="60323"/>
                </a:moveTo>
                <a:lnTo>
                  <a:pt x="184608" y="65784"/>
                </a:lnTo>
                <a:lnTo>
                  <a:pt x="196546" y="71245"/>
                </a:lnTo>
                <a:lnTo>
                  <a:pt x="208484" y="76833"/>
                </a:lnTo>
                <a:lnTo>
                  <a:pt x="219508" y="83183"/>
                </a:lnTo>
                <a:lnTo>
                  <a:pt x="230531" y="89533"/>
                </a:lnTo>
                <a:lnTo>
                  <a:pt x="236043" y="91438"/>
                </a:lnTo>
                <a:lnTo>
                  <a:pt x="242469" y="91438"/>
                </a:lnTo>
                <a:lnTo>
                  <a:pt x="247981" y="89533"/>
                </a:lnTo>
                <a:lnTo>
                  <a:pt x="252579" y="84961"/>
                </a:lnTo>
                <a:lnTo>
                  <a:pt x="255334" y="78611"/>
                </a:lnTo>
                <a:lnTo>
                  <a:pt x="255334" y="72261"/>
                </a:lnTo>
                <a:lnTo>
                  <a:pt x="252579" y="66800"/>
                </a:lnTo>
                <a:lnTo>
                  <a:pt x="247981" y="62228"/>
                </a:lnTo>
                <a:lnTo>
                  <a:pt x="236043" y="54862"/>
                </a:lnTo>
                <a:lnTo>
                  <a:pt x="224105" y="47496"/>
                </a:lnTo>
                <a:lnTo>
                  <a:pt x="211240" y="41147"/>
                </a:lnTo>
                <a:lnTo>
                  <a:pt x="198387" y="35686"/>
                </a:lnTo>
                <a:lnTo>
                  <a:pt x="184608" y="30225"/>
                </a:lnTo>
                <a:lnTo>
                  <a:pt x="170828" y="24764"/>
                </a:lnTo>
                <a:lnTo>
                  <a:pt x="156134" y="20192"/>
                </a:lnTo>
                <a:lnTo>
                  <a:pt x="142355" y="15620"/>
                </a:lnTo>
                <a:lnTo>
                  <a:pt x="126746" y="11937"/>
                </a:lnTo>
                <a:lnTo>
                  <a:pt x="112052" y="9143"/>
                </a:lnTo>
                <a:lnTo>
                  <a:pt x="96431" y="6476"/>
                </a:lnTo>
                <a:lnTo>
                  <a:pt x="80823" y="3682"/>
                </a:lnTo>
                <a:lnTo>
                  <a:pt x="65214" y="2793"/>
                </a:lnTo>
                <a:lnTo>
                  <a:pt x="48679" y="1015"/>
                </a:lnTo>
                <a:lnTo>
                  <a:pt x="33058" y="0"/>
                </a:lnTo>
                <a:lnTo>
                  <a:pt x="16535" y="0"/>
                </a:lnTo>
                <a:lnTo>
                  <a:pt x="10096" y="1015"/>
                </a:lnTo>
                <a:lnTo>
                  <a:pt x="4597" y="4571"/>
                </a:lnTo>
                <a:lnTo>
                  <a:pt x="914" y="10159"/>
                </a:lnTo>
                <a:lnTo>
                  <a:pt x="0" y="16509"/>
                </a:lnTo>
                <a:lnTo>
                  <a:pt x="914" y="22859"/>
                </a:lnTo>
                <a:lnTo>
                  <a:pt x="4597" y="28320"/>
                </a:lnTo>
                <a:lnTo>
                  <a:pt x="10096" y="32003"/>
                </a:lnTo>
                <a:lnTo>
                  <a:pt x="16535" y="32892"/>
                </a:lnTo>
                <a:lnTo>
                  <a:pt x="31229" y="32892"/>
                </a:lnTo>
                <a:lnTo>
                  <a:pt x="45923" y="33908"/>
                </a:lnTo>
                <a:lnTo>
                  <a:pt x="61531" y="34797"/>
                </a:lnTo>
                <a:lnTo>
                  <a:pt x="76225" y="36575"/>
                </a:lnTo>
                <a:lnTo>
                  <a:pt x="90005" y="39369"/>
                </a:lnTo>
                <a:lnTo>
                  <a:pt x="104699" y="41147"/>
                </a:lnTo>
                <a:lnTo>
                  <a:pt x="118478" y="44830"/>
                </a:lnTo>
                <a:lnTo>
                  <a:pt x="132258" y="47496"/>
                </a:lnTo>
                <a:lnTo>
                  <a:pt x="146038" y="52068"/>
                </a:lnTo>
                <a:lnTo>
                  <a:pt x="158890" y="55751"/>
                </a:lnTo>
                <a:lnTo>
                  <a:pt x="171755" y="603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86210" y="5039344"/>
            <a:ext cx="259919" cy="94104"/>
          </a:xfrm>
          <a:custGeom>
            <a:avLst/>
            <a:gdLst/>
            <a:ahLst/>
            <a:cxnLst/>
            <a:rect l="l" t="t" r="r" b="b"/>
            <a:pathLst>
              <a:path w="259919" h="94104">
                <a:moveTo>
                  <a:pt x="2755" y="87628"/>
                </a:moveTo>
                <a:lnTo>
                  <a:pt x="7340" y="92199"/>
                </a:lnTo>
                <a:lnTo>
                  <a:pt x="12852" y="94104"/>
                </a:lnTo>
                <a:lnTo>
                  <a:pt x="19291" y="94104"/>
                </a:lnTo>
                <a:lnTo>
                  <a:pt x="25717" y="91311"/>
                </a:lnTo>
                <a:lnTo>
                  <a:pt x="36741" y="84961"/>
                </a:lnTo>
                <a:lnTo>
                  <a:pt x="47752" y="77595"/>
                </a:lnTo>
                <a:lnTo>
                  <a:pt x="58775" y="72134"/>
                </a:lnTo>
                <a:lnTo>
                  <a:pt x="71641" y="66673"/>
                </a:lnTo>
                <a:lnTo>
                  <a:pt x="83579" y="61212"/>
                </a:lnTo>
                <a:lnTo>
                  <a:pt x="97358" y="56640"/>
                </a:lnTo>
                <a:lnTo>
                  <a:pt x="110211" y="52068"/>
                </a:lnTo>
                <a:lnTo>
                  <a:pt x="123990" y="48385"/>
                </a:lnTo>
                <a:lnTo>
                  <a:pt x="138684" y="44703"/>
                </a:lnTo>
                <a:lnTo>
                  <a:pt x="152464" y="41147"/>
                </a:lnTo>
                <a:lnTo>
                  <a:pt x="167158" y="39242"/>
                </a:lnTo>
                <a:lnTo>
                  <a:pt x="181852" y="36575"/>
                </a:lnTo>
                <a:lnTo>
                  <a:pt x="197473" y="34670"/>
                </a:lnTo>
                <a:lnTo>
                  <a:pt x="212167" y="33781"/>
                </a:lnTo>
                <a:lnTo>
                  <a:pt x="227775" y="32892"/>
                </a:lnTo>
                <a:lnTo>
                  <a:pt x="243384" y="32892"/>
                </a:lnTo>
                <a:lnTo>
                  <a:pt x="249823" y="32003"/>
                </a:lnTo>
                <a:lnTo>
                  <a:pt x="255334" y="28320"/>
                </a:lnTo>
                <a:lnTo>
                  <a:pt x="259005" y="22859"/>
                </a:lnTo>
                <a:lnTo>
                  <a:pt x="259919" y="16382"/>
                </a:lnTo>
                <a:lnTo>
                  <a:pt x="259005" y="10032"/>
                </a:lnTo>
                <a:lnTo>
                  <a:pt x="255334" y="4571"/>
                </a:lnTo>
                <a:lnTo>
                  <a:pt x="249823" y="888"/>
                </a:lnTo>
                <a:lnTo>
                  <a:pt x="243384" y="0"/>
                </a:lnTo>
                <a:lnTo>
                  <a:pt x="226861" y="0"/>
                </a:lnTo>
                <a:lnTo>
                  <a:pt x="210325" y="888"/>
                </a:lnTo>
                <a:lnTo>
                  <a:pt x="193790" y="2666"/>
                </a:lnTo>
                <a:lnTo>
                  <a:pt x="177267" y="4571"/>
                </a:lnTo>
                <a:lnTo>
                  <a:pt x="161646" y="6349"/>
                </a:lnTo>
                <a:lnTo>
                  <a:pt x="145111" y="10032"/>
                </a:lnTo>
                <a:lnTo>
                  <a:pt x="129502" y="12826"/>
                </a:lnTo>
                <a:lnTo>
                  <a:pt x="114808" y="17271"/>
                </a:lnTo>
                <a:lnTo>
                  <a:pt x="99187" y="20954"/>
                </a:lnTo>
                <a:lnTo>
                  <a:pt x="85420" y="26415"/>
                </a:lnTo>
                <a:lnTo>
                  <a:pt x="70714" y="32003"/>
                </a:lnTo>
                <a:lnTo>
                  <a:pt x="56947" y="37464"/>
                </a:lnTo>
                <a:lnTo>
                  <a:pt x="43167" y="43814"/>
                </a:lnTo>
                <a:lnTo>
                  <a:pt x="30302" y="50163"/>
                </a:lnTo>
                <a:lnTo>
                  <a:pt x="18364" y="57529"/>
                </a:lnTo>
                <a:lnTo>
                  <a:pt x="6426" y="64895"/>
                </a:lnTo>
                <a:lnTo>
                  <a:pt x="1841" y="69467"/>
                </a:lnTo>
                <a:lnTo>
                  <a:pt x="0" y="74928"/>
                </a:lnTo>
                <a:lnTo>
                  <a:pt x="0" y="81278"/>
                </a:lnTo>
                <a:lnTo>
                  <a:pt x="2755" y="876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90795" y="5155293"/>
            <a:ext cx="255334" cy="91438"/>
          </a:xfrm>
          <a:custGeom>
            <a:avLst/>
            <a:gdLst/>
            <a:ahLst/>
            <a:cxnLst/>
            <a:rect l="l" t="t" r="r" b="b"/>
            <a:pathLst>
              <a:path w="255334" h="91438">
                <a:moveTo>
                  <a:pt x="1841" y="84961"/>
                </a:moveTo>
                <a:lnTo>
                  <a:pt x="6438" y="89533"/>
                </a:lnTo>
                <a:lnTo>
                  <a:pt x="12865" y="91438"/>
                </a:lnTo>
                <a:lnTo>
                  <a:pt x="19291" y="91438"/>
                </a:lnTo>
                <a:lnTo>
                  <a:pt x="24803" y="89533"/>
                </a:lnTo>
                <a:lnTo>
                  <a:pt x="35826" y="83183"/>
                </a:lnTo>
                <a:lnTo>
                  <a:pt x="46850" y="76833"/>
                </a:lnTo>
                <a:lnTo>
                  <a:pt x="58788" y="71245"/>
                </a:lnTo>
                <a:lnTo>
                  <a:pt x="70726" y="65784"/>
                </a:lnTo>
                <a:lnTo>
                  <a:pt x="83591" y="60323"/>
                </a:lnTo>
                <a:lnTo>
                  <a:pt x="96444" y="55751"/>
                </a:lnTo>
                <a:lnTo>
                  <a:pt x="109296" y="52068"/>
                </a:lnTo>
                <a:lnTo>
                  <a:pt x="123076" y="47496"/>
                </a:lnTo>
                <a:lnTo>
                  <a:pt x="136855" y="44830"/>
                </a:lnTo>
                <a:lnTo>
                  <a:pt x="150635" y="41147"/>
                </a:lnTo>
                <a:lnTo>
                  <a:pt x="165329" y="39369"/>
                </a:lnTo>
                <a:lnTo>
                  <a:pt x="179109" y="36575"/>
                </a:lnTo>
                <a:lnTo>
                  <a:pt x="193803" y="34797"/>
                </a:lnTo>
                <a:lnTo>
                  <a:pt x="209411" y="33908"/>
                </a:lnTo>
                <a:lnTo>
                  <a:pt x="224105" y="32892"/>
                </a:lnTo>
                <a:lnTo>
                  <a:pt x="238799" y="32892"/>
                </a:lnTo>
                <a:lnTo>
                  <a:pt x="245238" y="32003"/>
                </a:lnTo>
                <a:lnTo>
                  <a:pt x="250750" y="28320"/>
                </a:lnTo>
                <a:lnTo>
                  <a:pt x="254420" y="22859"/>
                </a:lnTo>
                <a:lnTo>
                  <a:pt x="255334" y="16509"/>
                </a:lnTo>
                <a:lnTo>
                  <a:pt x="254420" y="10159"/>
                </a:lnTo>
                <a:lnTo>
                  <a:pt x="250750" y="4571"/>
                </a:lnTo>
                <a:lnTo>
                  <a:pt x="245238" y="1015"/>
                </a:lnTo>
                <a:lnTo>
                  <a:pt x="238799" y="0"/>
                </a:lnTo>
                <a:lnTo>
                  <a:pt x="222276" y="0"/>
                </a:lnTo>
                <a:lnTo>
                  <a:pt x="205741" y="1015"/>
                </a:lnTo>
                <a:lnTo>
                  <a:pt x="190132" y="2793"/>
                </a:lnTo>
                <a:lnTo>
                  <a:pt x="174511" y="3682"/>
                </a:lnTo>
                <a:lnTo>
                  <a:pt x="158903" y="6476"/>
                </a:lnTo>
                <a:lnTo>
                  <a:pt x="143282" y="9143"/>
                </a:lnTo>
                <a:lnTo>
                  <a:pt x="127673" y="11937"/>
                </a:lnTo>
                <a:lnTo>
                  <a:pt x="112979" y="15620"/>
                </a:lnTo>
                <a:lnTo>
                  <a:pt x="98285" y="20192"/>
                </a:lnTo>
                <a:lnTo>
                  <a:pt x="84506" y="24764"/>
                </a:lnTo>
                <a:lnTo>
                  <a:pt x="70726" y="30225"/>
                </a:lnTo>
                <a:lnTo>
                  <a:pt x="56947" y="35686"/>
                </a:lnTo>
                <a:lnTo>
                  <a:pt x="44094" y="41147"/>
                </a:lnTo>
                <a:lnTo>
                  <a:pt x="31229" y="47496"/>
                </a:lnTo>
                <a:lnTo>
                  <a:pt x="19291" y="54862"/>
                </a:lnTo>
                <a:lnTo>
                  <a:pt x="7353" y="62228"/>
                </a:lnTo>
                <a:lnTo>
                  <a:pt x="2755" y="66800"/>
                </a:lnTo>
                <a:lnTo>
                  <a:pt x="0" y="72261"/>
                </a:lnTo>
                <a:lnTo>
                  <a:pt x="0" y="78611"/>
                </a:lnTo>
                <a:lnTo>
                  <a:pt x="1841" y="849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35358" y="5039344"/>
            <a:ext cx="259919" cy="94104"/>
          </a:xfrm>
          <a:custGeom>
            <a:avLst/>
            <a:gdLst/>
            <a:ahLst/>
            <a:cxnLst/>
            <a:rect l="l" t="t" r="r" b="b"/>
            <a:pathLst>
              <a:path w="259919" h="94104">
                <a:moveTo>
                  <a:pt x="175426" y="61212"/>
                </a:moveTo>
                <a:lnTo>
                  <a:pt x="188278" y="66673"/>
                </a:lnTo>
                <a:lnTo>
                  <a:pt x="200229" y="72134"/>
                </a:lnTo>
                <a:lnTo>
                  <a:pt x="212167" y="77595"/>
                </a:lnTo>
                <a:lnTo>
                  <a:pt x="223191" y="84961"/>
                </a:lnTo>
                <a:lnTo>
                  <a:pt x="234202" y="91311"/>
                </a:lnTo>
                <a:lnTo>
                  <a:pt x="240640" y="94104"/>
                </a:lnTo>
                <a:lnTo>
                  <a:pt x="247067" y="94104"/>
                </a:lnTo>
                <a:lnTo>
                  <a:pt x="252579" y="92199"/>
                </a:lnTo>
                <a:lnTo>
                  <a:pt x="257163" y="87628"/>
                </a:lnTo>
                <a:lnTo>
                  <a:pt x="259919" y="81278"/>
                </a:lnTo>
                <a:lnTo>
                  <a:pt x="259919" y="74928"/>
                </a:lnTo>
                <a:lnTo>
                  <a:pt x="257163" y="69467"/>
                </a:lnTo>
                <a:lnTo>
                  <a:pt x="252579" y="64895"/>
                </a:lnTo>
                <a:lnTo>
                  <a:pt x="240640" y="57529"/>
                </a:lnTo>
                <a:lnTo>
                  <a:pt x="228690" y="50163"/>
                </a:lnTo>
                <a:lnTo>
                  <a:pt x="215837" y="43814"/>
                </a:lnTo>
                <a:lnTo>
                  <a:pt x="202985" y="37464"/>
                </a:lnTo>
                <a:lnTo>
                  <a:pt x="189205" y="32003"/>
                </a:lnTo>
                <a:lnTo>
                  <a:pt x="174511" y="26415"/>
                </a:lnTo>
                <a:lnTo>
                  <a:pt x="159817" y="20954"/>
                </a:lnTo>
                <a:lnTo>
                  <a:pt x="145111" y="17271"/>
                </a:lnTo>
                <a:lnTo>
                  <a:pt x="129502" y="12826"/>
                </a:lnTo>
                <a:lnTo>
                  <a:pt x="114808" y="10032"/>
                </a:lnTo>
                <a:lnTo>
                  <a:pt x="98273" y="6349"/>
                </a:lnTo>
                <a:lnTo>
                  <a:pt x="82664" y="4571"/>
                </a:lnTo>
                <a:lnTo>
                  <a:pt x="66129" y="2666"/>
                </a:lnTo>
                <a:lnTo>
                  <a:pt x="49593" y="888"/>
                </a:lnTo>
                <a:lnTo>
                  <a:pt x="33058" y="0"/>
                </a:lnTo>
                <a:lnTo>
                  <a:pt x="16535" y="0"/>
                </a:lnTo>
                <a:lnTo>
                  <a:pt x="10096" y="888"/>
                </a:lnTo>
                <a:lnTo>
                  <a:pt x="4597" y="4571"/>
                </a:lnTo>
                <a:lnTo>
                  <a:pt x="914" y="10032"/>
                </a:lnTo>
                <a:lnTo>
                  <a:pt x="0" y="16382"/>
                </a:lnTo>
                <a:lnTo>
                  <a:pt x="914" y="22859"/>
                </a:lnTo>
                <a:lnTo>
                  <a:pt x="4597" y="28320"/>
                </a:lnTo>
                <a:lnTo>
                  <a:pt x="10096" y="32003"/>
                </a:lnTo>
                <a:lnTo>
                  <a:pt x="16535" y="32892"/>
                </a:lnTo>
                <a:lnTo>
                  <a:pt x="32143" y="32892"/>
                </a:lnTo>
                <a:lnTo>
                  <a:pt x="47764" y="33781"/>
                </a:lnTo>
                <a:lnTo>
                  <a:pt x="62458" y="34670"/>
                </a:lnTo>
                <a:lnTo>
                  <a:pt x="77152" y="36575"/>
                </a:lnTo>
                <a:lnTo>
                  <a:pt x="92761" y="39242"/>
                </a:lnTo>
                <a:lnTo>
                  <a:pt x="106540" y="41147"/>
                </a:lnTo>
                <a:lnTo>
                  <a:pt x="121234" y="44703"/>
                </a:lnTo>
                <a:lnTo>
                  <a:pt x="135014" y="48385"/>
                </a:lnTo>
                <a:lnTo>
                  <a:pt x="148794" y="52068"/>
                </a:lnTo>
                <a:lnTo>
                  <a:pt x="162560" y="56640"/>
                </a:lnTo>
                <a:lnTo>
                  <a:pt x="175426" y="612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43259" y="5289656"/>
            <a:ext cx="49606" cy="65784"/>
          </a:xfrm>
          <a:custGeom>
            <a:avLst/>
            <a:gdLst/>
            <a:ahLst/>
            <a:cxnLst/>
            <a:rect l="l" t="t" r="r" b="b"/>
            <a:pathLst>
              <a:path w="49606" h="65784">
                <a:moveTo>
                  <a:pt x="19291" y="65784"/>
                </a:moveTo>
                <a:lnTo>
                  <a:pt x="22961" y="64895"/>
                </a:lnTo>
                <a:lnTo>
                  <a:pt x="26644" y="64895"/>
                </a:lnTo>
                <a:lnTo>
                  <a:pt x="30315" y="63879"/>
                </a:lnTo>
                <a:lnTo>
                  <a:pt x="34912" y="62990"/>
                </a:lnTo>
                <a:lnTo>
                  <a:pt x="38582" y="62101"/>
                </a:lnTo>
                <a:lnTo>
                  <a:pt x="42253" y="62101"/>
                </a:lnTo>
                <a:lnTo>
                  <a:pt x="45923" y="61212"/>
                </a:lnTo>
                <a:lnTo>
                  <a:pt x="49606" y="61212"/>
                </a:lnTo>
                <a:lnTo>
                  <a:pt x="44094" y="52957"/>
                </a:lnTo>
                <a:lnTo>
                  <a:pt x="39497" y="44703"/>
                </a:lnTo>
                <a:lnTo>
                  <a:pt x="34912" y="36575"/>
                </a:lnTo>
                <a:lnTo>
                  <a:pt x="30315" y="28320"/>
                </a:lnTo>
                <a:lnTo>
                  <a:pt x="25717" y="20954"/>
                </a:lnTo>
                <a:lnTo>
                  <a:pt x="21132" y="13715"/>
                </a:lnTo>
                <a:lnTo>
                  <a:pt x="17462" y="6349"/>
                </a:lnTo>
                <a:lnTo>
                  <a:pt x="12865" y="0"/>
                </a:lnTo>
                <a:lnTo>
                  <a:pt x="10109" y="888"/>
                </a:lnTo>
                <a:lnTo>
                  <a:pt x="3683" y="888"/>
                </a:lnTo>
                <a:lnTo>
                  <a:pt x="0" y="1777"/>
                </a:lnTo>
                <a:lnTo>
                  <a:pt x="19291" y="657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50966" y="5284195"/>
            <a:ext cx="47764" cy="66673"/>
          </a:xfrm>
          <a:custGeom>
            <a:avLst/>
            <a:gdLst/>
            <a:ahLst/>
            <a:cxnLst/>
            <a:rect l="l" t="t" r="r" b="b"/>
            <a:pathLst>
              <a:path w="47764" h="66673">
                <a:moveTo>
                  <a:pt x="25717" y="0"/>
                </a:moveTo>
                <a:lnTo>
                  <a:pt x="0" y="64768"/>
                </a:lnTo>
                <a:lnTo>
                  <a:pt x="18377" y="64768"/>
                </a:lnTo>
                <a:lnTo>
                  <a:pt x="24803" y="65784"/>
                </a:lnTo>
                <a:lnTo>
                  <a:pt x="35826" y="65784"/>
                </a:lnTo>
                <a:lnTo>
                  <a:pt x="42253" y="66673"/>
                </a:lnTo>
                <a:lnTo>
                  <a:pt x="47764" y="66673"/>
                </a:lnTo>
                <a:lnTo>
                  <a:pt x="43167" y="888"/>
                </a:lnTo>
                <a:lnTo>
                  <a:pt x="38582" y="0"/>
                </a:lnTo>
                <a:lnTo>
                  <a:pt x="257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9735" y="4871200"/>
            <a:ext cx="830288" cy="587438"/>
          </a:xfrm>
          <a:custGeom>
            <a:avLst/>
            <a:gdLst/>
            <a:ahLst/>
            <a:cxnLst/>
            <a:rect l="l" t="t" r="r" b="b"/>
            <a:pathLst>
              <a:path w="830288" h="587438">
                <a:moveTo>
                  <a:pt x="98269" y="507099"/>
                </a:moveTo>
                <a:lnTo>
                  <a:pt x="87258" y="507099"/>
                </a:lnTo>
                <a:lnTo>
                  <a:pt x="81746" y="507988"/>
                </a:lnTo>
                <a:lnTo>
                  <a:pt x="76234" y="507988"/>
                </a:lnTo>
                <a:lnTo>
                  <a:pt x="71639" y="508877"/>
                </a:lnTo>
                <a:lnTo>
                  <a:pt x="66128" y="508877"/>
                </a:lnTo>
                <a:lnTo>
                  <a:pt x="66128" y="481446"/>
                </a:lnTo>
                <a:lnTo>
                  <a:pt x="72558" y="480557"/>
                </a:lnTo>
                <a:lnTo>
                  <a:pt x="78990" y="479668"/>
                </a:lnTo>
                <a:lnTo>
                  <a:pt x="86331" y="478779"/>
                </a:lnTo>
                <a:lnTo>
                  <a:pt x="92757" y="478779"/>
                </a:lnTo>
                <a:lnTo>
                  <a:pt x="100110" y="477763"/>
                </a:lnTo>
                <a:lnTo>
                  <a:pt x="121231" y="477763"/>
                </a:lnTo>
                <a:lnTo>
                  <a:pt x="146948" y="412995"/>
                </a:lnTo>
                <a:lnTo>
                  <a:pt x="136852" y="411979"/>
                </a:lnTo>
                <a:lnTo>
                  <a:pt x="105622" y="411979"/>
                </a:lnTo>
                <a:lnTo>
                  <a:pt x="95513" y="412995"/>
                </a:lnTo>
                <a:lnTo>
                  <a:pt x="85416" y="413884"/>
                </a:lnTo>
                <a:lnTo>
                  <a:pt x="76234" y="414772"/>
                </a:lnTo>
                <a:lnTo>
                  <a:pt x="66128" y="415661"/>
                </a:lnTo>
                <a:lnTo>
                  <a:pt x="66128" y="69467"/>
                </a:lnTo>
                <a:lnTo>
                  <a:pt x="72558" y="68578"/>
                </a:lnTo>
                <a:lnTo>
                  <a:pt x="79905" y="67689"/>
                </a:lnTo>
                <a:lnTo>
                  <a:pt x="86331" y="66673"/>
                </a:lnTo>
                <a:lnTo>
                  <a:pt x="93684" y="66673"/>
                </a:lnTo>
                <a:lnTo>
                  <a:pt x="100110" y="65784"/>
                </a:lnTo>
                <a:lnTo>
                  <a:pt x="122158" y="65784"/>
                </a:lnTo>
                <a:lnTo>
                  <a:pt x="144192" y="66673"/>
                </a:lnTo>
                <a:lnTo>
                  <a:pt x="166240" y="67689"/>
                </a:lnTo>
                <a:lnTo>
                  <a:pt x="187360" y="70356"/>
                </a:lnTo>
                <a:lnTo>
                  <a:pt x="208493" y="74039"/>
                </a:lnTo>
                <a:lnTo>
                  <a:pt x="228699" y="78611"/>
                </a:lnTo>
                <a:lnTo>
                  <a:pt x="247977" y="84072"/>
                </a:lnTo>
                <a:lnTo>
                  <a:pt x="266354" y="89533"/>
                </a:lnTo>
                <a:lnTo>
                  <a:pt x="284719" y="96898"/>
                </a:lnTo>
                <a:lnTo>
                  <a:pt x="301254" y="105026"/>
                </a:lnTo>
                <a:lnTo>
                  <a:pt x="317790" y="113281"/>
                </a:lnTo>
                <a:lnTo>
                  <a:pt x="332484" y="122425"/>
                </a:lnTo>
                <a:lnTo>
                  <a:pt x="345336" y="132458"/>
                </a:lnTo>
                <a:lnTo>
                  <a:pt x="358201" y="143506"/>
                </a:lnTo>
                <a:lnTo>
                  <a:pt x="368298" y="154428"/>
                </a:lnTo>
                <a:lnTo>
                  <a:pt x="378407" y="166239"/>
                </a:lnTo>
                <a:lnTo>
                  <a:pt x="385748" y="178177"/>
                </a:lnTo>
                <a:lnTo>
                  <a:pt x="414221" y="230246"/>
                </a:lnTo>
                <a:lnTo>
                  <a:pt x="443609" y="178177"/>
                </a:lnTo>
                <a:lnTo>
                  <a:pt x="450963" y="166239"/>
                </a:lnTo>
                <a:lnTo>
                  <a:pt x="461059" y="154428"/>
                </a:lnTo>
                <a:lnTo>
                  <a:pt x="471168" y="143506"/>
                </a:lnTo>
                <a:lnTo>
                  <a:pt x="484021" y="132458"/>
                </a:lnTo>
                <a:lnTo>
                  <a:pt x="496886" y="122425"/>
                </a:lnTo>
                <a:lnTo>
                  <a:pt x="511580" y="113281"/>
                </a:lnTo>
                <a:lnTo>
                  <a:pt x="528116" y="105026"/>
                </a:lnTo>
                <a:lnTo>
                  <a:pt x="544651" y="96898"/>
                </a:lnTo>
                <a:lnTo>
                  <a:pt x="562101" y="89533"/>
                </a:lnTo>
                <a:lnTo>
                  <a:pt x="581380" y="84072"/>
                </a:lnTo>
                <a:lnTo>
                  <a:pt x="600671" y="78611"/>
                </a:lnTo>
                <a:lnTo>
                  <a:pt x="620877" y="74039"/>
                </a:lnTo>
                <a:lnTo>
                  <a:pt x="641997" y="70356"/>
                </a:lnTo>
                <a:lnTo>
                  <a:pt x="663130" y="67689"/>
                </a:lnTo>
                <a:lnTo>
                  <a:pt x="684250" y="66673"/>
                </a:lnTo>
                <a:lnTo>
                  <a:pt x="706298" y="65784"/>
                </a:lnTo>
                <a:lnTo>
                  <a:pt x="728332" y="65784"/>
                </a:lnTo>
                <a:lnTo>
                  <a:pt x="735686" y="66673"/>
                </a:lnTo>
                <a:lnTo>
                  <a:pt x="743026" y="66673"/>
                </a:lnTo>
                <a:lnTo>
                  <a:pt x="750380" y="67689"/>
                </a:lnTo>
                <a:lnTo>
                  <a:pt x="756806" y="68578"/>
                </a:lnTo>
                <a:lnTo>
                  <a:pt x="764159" y="69467"/>
                </a:lnTo>
                <a:lnTo>
                  <a:pt x="764159" y="415661"/>
                </a:lnTo>
                <a:lnTo>
                  <a:pt x="756806" y="414772"/>
                </a:lnTo>
                <a:lnTo>
                  <a:pt x="750380" y="413884"/>
                </a:lnTo>
                <a:lnTo>
                  <a:pt x="743026" y="412995"/>
                </a:lnTo>
                <a:lnTo>
                  <a:pt x="735686" y="412995"/>
                </a:lnTo>
                <a:lnTo>
                  <a:pt x="728332" y="411979"/>
                </a:lnTo>
                <a:lnTo>
                  <a:pt x="686092" y="411979"/>
                </a:lnTo>
                <a:lnTo>
                  <a:pt x="675982" y="412995"/>
                </a:lnTo>
                <a:lnTo>
                  <a:pt x="665886" y="413884"/>
                </a:lnTo>
                <a:lnTo>
                  <a:pt x="655777" y="414772"/>
                </a:lnTo>
                <a:lnTo>
                  <a:pt x="645680" y="415661"/>
                </a:lnTo>
                <a:lnTo>
                  <a:pt x="636485" y="416550"/>
                </a:lnTo>
                <a:lnTo>
                  <a:pt x="626389" y="418455"/>
                </a:lnTo>
                <a:lnTo>
                  <a:pt x="630986" y="424805"/>
                </a:lnTo>
                <a:lnTo>
                  <a:pt x="634656" y="432171"/>
                </a:lnTo>
                <a:lnTo>
                  <a:pt x="639241" y="439410"/>
                </a:lnTo>
                <a:lnTo>
                  <a:pt x="643839" y="446776"/>
                </a:lnTo>
                <a:lnTo>
                  <a:pt x="648436" y="455031"/>
                </a:lnTo>
                <a:lnTo>
                  <a:pt x="653021" y="463158"/>
                </a:lnTo>
                <a:lnTo>
                  <a:pt x="657618" y="471413"/>
                </a:lnTo>
                <a:lnTo>
                  <a:pt x="663130" y="479668"/>
                </a:lnTo>
                <a:lnTo>
                  <a:pt x="675982" y="478779"/>
                </a:lnTo>
                <a:lnTo>
                  <a:pt x="687921" y="477763"/>
                </a:lnTo>
                <a:lnTo>
                  <a:pt x="726503" y="477763"/>
                </a:lnTo>
                <a:lnTo>
                  <a:pt x="739356" y="478779"/>
                </a:lnTo>
                <a:lnTo>
                  <a:pt x="751294" y="479668"/>
                </a:lnTo>
                <a:lnTo>
                  <a:pt x="764159" y="481446"/>
                </a:lnTo>
                <a:lnTo>
                  <a:pt x="764159" y="508877"/>
                </a:lnTo>
                <a:lnTo>
                  <a:pt x="756806" y="507988"/>
                </a:lnTo>
                <a:lnTo>
                  <a:pt x="750380" y="507988"/>
                </a:lnTo>
                <a:lnTo>
                  <a:pt x="743026" y="507099"/>
                </a:lnTo>
                <a:lnTo>
                  <a:pt x="735686" y="507099"/>
                </a:lnTo>
                <a:lnTo>
                  <a:pt x="728332" y="506084"/>
                </a:lnTo>
                <a:lnTo>
                  <a:pt x="686092" y="506084"/>
                </a:lnTo>
                <a:lnTo>
                  <a:pt x="679653" y="507099"/>
                </a:lnTo>
                <a:lnTo>
                  <a:pt x="684250" y="515227"/>
                </a:lnTo>
                <a:lnTo>
                  <a:pt x="689762" y="523482"/>
                </a:lnTo>
                <a:lnTo>
                  <a:pt x="694360" y="531737"/>
                </a:lnTo>
                <a:lnTo>
                  <a:pt x="698944" y="539992"/>
                </a:lnTo>
                <a:lnTo>
                  <a:pt x="703542" y="548158"/>
                </a:lnTo>
                <a:lnTo>
                  <a:pt x="709053" y="556374"/>
                </a:lnTo>
                <a:lnTo>
                  <a:pt x="713638" y="563689"/>
                </a:lnTo>
                <a:lnTo>
                  <a:pt x="718236" y="571906"/>
                </a:lnTo>
                <a:lnTo>
                  <a:pt x="727418" y="571906"/>
                </a:lnTo>
                <a:lnTo>
                  <a:pt x="736600" y="572821"/>
                </a:lnTo>
                <a:lnTo>
                  <a:pt x="745782" y="573735"/>
                </a:lnTo>
                <a:lnTo>
                  <a:pt x="754977" y="573735"/>
                </a:lnTo>
                <a:lnTo>
                  <a:pt x="764159" y="575564"/>
                </a:lnTo>
                <a:lnTo>
                  <a:pt x="773341" y="576478"/>
                </a:lnTo>
                <a:lnTo>
                  <a:pt x="782523" y="577392"/>
                </a:lnTo>
                <a:lnTo>
                  <a:pt x="790791" y="579221"/>
                </a:lnTo>
                <a:lnTo>
                  <a:pt x="830288" y="587438"/>
                </a:lnTo>
                <a:lnTo>
                  <a:pt x="830288" y="14604"/>
                </a:lnTo>
                <a:lnTo>
                  <a:pt x="803656" y="9143"/>
                </a:lnTo>
                <a:lnTo>
                  <a:pt x="791706" y="7365"/>
                </a:lnTo>
                <a:lnTo>
                  <a:pt x="779767" y="4571"/>
                </a:lnTo>
                <a:lnTo>
                  <a:pt x="767829" y="3682"/>
                </a:lnTo>
                <a:lnTo>
                  <a:pt x="755891" y="1904"/>
                </a:lnTo>
                <a:lnTo>
                  <a:pt x="743026" y="888"/>
                </a:lnTo>
                <a:lnTo>
                  <a:pt x="731088" y="888"/>
                </a:lnTo>
                <a:lnTo>
                  <a:pt x="718236" y="0"/>
                </a:lnTo>
                <a:lnTo>
                  <a:pt x="706298" y="0"/>
                </a:lnTo>
                <a:lnTo>
                  <a:pt x="684250" y="888"/>
                </a:lnTo>
                <a:lnTo>
                  <a:pt x="661289" y="1904"/>
                </a:lnTo>
                <a:lnTo>
                  <a:pt x="640168" y="4571"/>
                </a:lnTo>
                <a:lnTo>
                  <a:pt x="618121" y="7365"/>
                </a:lnTo>
                <a:lnTo>
                  <a:pt x="597915" y="11937"/>
                </a:lnTo>
                <a:lnTo>
                  <a:pt x="576795" y="16509"/>
                </a:lnTo>
                <a:lnTo>
                  <a:pt x="557504" y="22859"/>
                </a:lnTo>
                <a:lnTo>
                  <a:pt x="538212" y="29209"/>
                </a:lnTo>
                <a:lnTo>
                  <a:pt x="519848" y="36575"/>
                </a:lnTo>
                <a:lnTo>
                  <a:pt x="502398" y="44830"/>
                </a:lnTo>
                <a:lnTo>
                  <a:pt x="484948" y="53973"/>
                </a:lnTo>
                <a:lnTo>
                  <a:pt x="469327" y="63117"/>
                </a:lnTo>
                <a:lnTo>
                  <a:pt x="453719" y="73150"/>
                </a:lnTo>
                <a:lnTo>
                  <a:pt x="439939" y="84072"/>
                </a:lnTo>
                <a:lnTo>
                  <a:pt x="426159" y="96009"/>
                </a:lnTo>
                <a:lnTo>
                  <a:pt x="414221" y="107820"/>
                </a:lnTo>
                <a:lnTo>
                  <a:pt x="402283" y="96009"/>
                </a:lnTo>
                <a:lnTo>
                  <a:pt x="389431" y="84072"/>
                </a:lnTo>
                <a:lnTo>
                  <a:pt x="374724" y="73150"/>
                </a:lnTo>
                <a:lnTo>
                  <a:pt x="360030" y="63117"/>
                </a:lnTo>
                <a:lnTo>
                  <a:pt x="344422" y="53973"/>
                </a:lnTo>
                <a:lnTo>
                  <a:pt x="326972" y="44830"/>
                </a:lnTo>
                <a:lnTo>
                  <a:pt x="309522" y="36575"/>
                </a:lnTo>
                <a:lnTo>
                  <a:pt x="291145" y="29209"/>
                </a:lnTo>
                <a:lnTo>
                  <a:pt x="271866" y="22859"/>
                </a:lnTo>
                <a:lnTo>
                  <a:pt x="251660" y="16509"/>
                </a:lnTo>
                <a:lnTo>
                  <a:pt x="231455" y="11937"/>
                </a:lnTo>
                <a:lnTo>
                  <a:pt x="210322" y="7365"/>
                </a:lnTo>
                <a:lnTo>
                  <a:pt x="189201" y="4571"/>
                </a:lnTo>
                <a:lnTo>
                  <a:pt x="167154" y="1904"/>
                </a:lnTo>
                <a:lnTo>
                  <a:pt x="145119" y="888"/>
                </a:lnTo>
                <a:lnTo>
                  <a:pt x="122158" y="0"/>
                </a:lnTo>
                <a:lnTo>
                  <a:pt x="110220" y="0"/>
                </a:lnTo>
                <a:lnTo>
                  <a:pt x="97354" y="888"/>
                </a:lnTo>
                <a:lnTo>
                  <a:pt x="85416" y="888"/>
                </a:lnTo>
                <a:lnTo>
                  <a:pt x="73476" y="1904"/>
                </a:lnTo>
                <a:lnTo>
                  <a:pt x="61535" y="3682"/>
                </a:lnTo>
                <a:lnTo>
                  <a:pt x="50514" y="4571"/>
                </a:lnTo>
                <a:lnTo>
                  <a:pt x="38575" y="7365"/>
                </a:lnTo>
                <a:lnTo>
                  <a:pt x="26634" y="9143"/>
                </a:lnTo>
                <a:lnTo>
                  <a:pt x="0" y="14604"/>
                </a:lnTo>
                <a:lnTo>
                  <a:pt x="0" y="587438"/>
                </a:lnTo>
                <a:lnTo>
                  <a:pt x="39493" y="579221"/>
                </a:lnTo>
                <a:lnTo>
                  <a:pt x="45003" y="578307"/>
                </a:lnTo>
                <a:lnTo>
                  <a:pt x="50514" y="577392"/>
                </a:lnTo>
                <a:lnTo>
                  <a:pt x="56025" y="576478"/>
                </a:lnTo>
                <a:lnTo>
                  <a:pt x="61535" y="575564"/>
                </a:lnTo>
                <a:lnTo>
                  <a:pt x="67047" y="575564"/>
                </a:lnTo>
                <a:lnTo>
                  <a:pt x="72558" y="574649"/>
                </a:lnTo>
                <a:lnTo>
                  <a:pt x="78063" y="573735"/>
                </a:lnTo>
                <a:lnTo>
                  <a:pt x="83575" y="573735"/>
                </a:lnTo>
                <a:lnTo>
                  <a:pt x="110220" y="506084"/>
                </a:lnTo>
                <a:lnTo>
                  <a:pt x="104708" y="506084"/>
                </a:lnTo>
                <a:lnTo>
                  <a:pt x="98269" y="507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13311" y="5377284"/>
            <a:ext cx="90932" cy="68565"/>
          </a:xfrm>
          <a:custGeom>
            <a:avLst/>
            <a:gdLst/>
            <a:ahLst/>
            <a:cxnLst/>
            <a:rect l="l" t="t" r="r" b="b"/>
            <a:pathLst>
              <a:path w="90932" h="68565">
                <a:moveTo>
                  <a:pt x="11023" y="66737"/>
                </a:moveTo>
                <a:lnTo>
                  <a:pt x="22961" y="65822"/>
                </a:lnTo>
                <a:lnTo>
                  <a:pt x="56947" y="65822"/>
                </a:lnTo>
                <a:lnTo>
                  <a:pt x="68885" y="66737"/>
                </a:lnTo>
                <a:lnTo>
                  <a:pt x="79908" y="67651"/>
                </a:lnTo>
                <a:lnTo>
                  <a:pt x="90932" y="68565"/>
                </a:lnTo>
                <a:lnTo>
                  <a:pt x="86335" y="2793"/>
                </a:lnTo>
                <a:lnTo>
                  <a:pt x="78994" y="1904"/>
                </a:lnTo>
                <a:lnTo>
                  <a:pt x="71641" y="1904"/>
                </a:lnTo>
                <a:lnTo>
                  <a:pt x="64300" y="1015"/>
                </a:lnTo>
                <a:lnTo>
                  <a:pt x="56947" y="1015"/>
                </a:lnTo>
                <a:lnTo>
                  <a:pt x="49606" y="0"/>
                </a:lnTo>
                <a:lnTo>
                  <a:pt x="26644" y="0"/>
                </a:lnTo>
                <a:lnTo>
                  <a:pt x="0" y="67651"/>
                </a:lnTo>
                <a:lnTo>
                  <a:pt x="11023" y="667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0819" y="5378300"/>
            <a:ext cx="77152" cy="66635"/>
          </a:xfrm>
          <a:custGeom>
            <a:avLst/>
            <a:gdLst/>
            <a:ahLst/>
            <a:cxnLst/>
            <a:rect l="l" t="t" r="r" b="b"/>
            <a:pathLst>
              <a:path w="77152" h="66635">
                <a:moveTo>
                  <a:pt x="19291" y="1777"/>
                </a:moveTo>
                <a:lnTo>
                  <a:pt x="14693" y="1777"/>
                </a:lnTo>
                <a:lnTo>
                  <a:pt x="10109" y="2666"/>
                </a:lnTo>
                <a:lnTo>
                  <a:pt x="4597" y="2666"/>
                </a:lnTo>
                <a:lnTo>
                  <a:pt x="0" y="3555"/>
                </a:lnTo>
                <a:lnTo>
                  <a:pt x="19291" y="66635"/>
                </a:lnTo>
                <a:lnTo>
                  <a:pt x="26632" y="65721"/>
                </a:lnTo>
                <a:lnTo>
                  <a:pt x="33985" y="65721"/>
                </a:lnTo>
                <a:lnTo>
                  <a:pt x="41326" y="64806"/>
                </a:lnTo>
                <a:lnTo>
                  <a:pt x="77152" y="64806"/>
                </a:lnTo>
                <a:lnTo>
                  <a:pt x="72555" y="56589"/>
                </a:lnTo>
                <a:lnTo>
                  <a:pt x="67970" y="49274"/>
                </a:lnTo>
                <a:lnTo>
                  <a:pt x="62458" y="41058"/>
                </a:lnTo>
                <a:lnTo>
                  <a:pt x="57861" y="32892"/>
                </a:lnTo>
                <a:lnTo>
                  <a:pt x="53276" y="24637"/>
                </a:lnTo>
                <a:lnTo>
                  <a:pt x="48679" y="16382"/>
                </a:lnTo>
                <a:lnTo>
                  <a:pt x="43167" y="8127"/>
                </a:lnTo>
                <a:lnTo>
                  <a:pt x="38570" y="0"/>
                </a:lnTo>
                <a:lnTo>
                  <a:pt x="33985" y="0"/>
                </a:lnTo>
                <a:lnTo>
                  <a:pt x="29387" y="888"/>
                </a:lnTo>
                <a:lnTo>
                  <a:pt x="23876" y="888"/>
                </a:lnTo>
                <a:lnTo>
                  <a:pt x="19291" y="17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94134" y="5285084"/>
            <a:ext cx="495975" cy="246641"/>
          </a:xfrm>
          <a:custGeom>
            <a:avLst/>
            <a:gdLst/>
            <a:ahLst/>
            <a:cxnLst/>
            <a:rect l="l" t="t" r="r" b="b"/>
            <a:pathLst>
              <a:path w="495975" h="246641">
                <a:moveTo>
                  <a:pt x="123990" y="190914"/>
                </a:moveTo>
                <a:lnTo>
                  <a:pt x="135941" y="196401"/>
                </a:lnTo>
                <a:lnTo>
                  <a:pt x="147879" y="202789"/>
                </a:lnTo>
                <a:lnTo>
                  <a:pt x="158903" y="209189"/>
                </a:lnTo>
                <a:lnTo>
                  <a:pt x="168999" y="215577"/>
                </a:lnTo>
                <a:lnTo>
                  <a:pt x="179109" y="222892"/>
                </a:lnTo>
                <a:lnTo>
                  <a:pt x="188291" y="230195"/>
                </a:lnTo>
                <a:lnTo>
                  <a:pt x="196559" y="238424"/>
                </a:lnTo>
                <a:lnTo>
                  <a:pt x="203899" y="246641"/>
                </a:lnTo>
                <a:lnTo>
                  <a:pt x="296661" y="246641"/>
                </a:lnTo>
                <a:lnTo>
                  <a:pt x="304928" y="238424"/>
                </a:lnTo>
                <a:lnTo>
                  <a:pt x="313196" y="230195"/>
                </a:lnTo>
                <a:lnTo>
                  <a:pt x="322378" y="222892"/>
                </a:lnTo>
                <a:lnTo>
                  <a:pt x="332487" y="214663"/>
                </a:lnTo>
                <a:lnTo>
                  <a:pt x="343511" y="208275"/>
                </a:lnTo>
                <a:lnTo>
                  <a:pt x="354535" y="201874"/>
                </a:lnTo>
                <a:lnTo>
                  <a:pt x="366473" y="195486"/>
                </a:lnTo>
                <a:lnTo>
                  <a:pt x="379325" y="189086"/>
                </a:lnTo>
                <a:lnTo>
                  <a:pt x="392190" y="184514"/>
                </a:lnTo>
                <a:lnTo>
                  <a:pt x="405957" y="179040"/>
                </a:lnTo>
                <a:lnTo>
                  <a:pt x="420664" y="174468"/>
                </a:lnTo>
                <a:lnTo>
                  <a:pt x="434431" y="170811"/>
                </a:lnTo>
                <a:lnTo>
                  <a:pt x="449125" y="167166"/>
                </a:lnTo>
                <a:lnTo>
                  <a:pt x="464746" y="164423"/>
                </a:lnTo>
                <a:lnTo>
                  <a:pt x="480354" y="161680"/>
                </a:lnTo>
                <a:lnTo>
                  <a:pt x="495975" y="159851"/>
                </a:lnTo>
                <a:lnTo>
                  <a:pt x="476684" y="96771"/>
                </a:lnTo>
                <a:lnTo>
                  <a:pt x="462904" y="98676"/>
                </a:lnTo>
                <a:lnTo>
                  <a:pt x="449125" y="101343"/>
                </a:lnTo>
                <a:lnTo>
                  <a:pt x="435358" y="104137"/>
                </a:lnTo>
                <a:lnTo>
                  <a:pt x="421578" y="106804"/>
                </a:lnTo>
                <a:lnTo>
                  <a:pt x="408713" y="110487"/>
                </a:lnTo>
                <a:lnTo>
                  <a:pt x="394946" y="114170"/>
                </a:lnTo>
                <a:lnTo>
                  <a:pt x="382996" y="118742"/>
                </a:lnTo>
                <a:lnTo>
                  <a:pt x="370143" y="122425"/>
                </a:lnTo>
                <a:lnTo>
                  <a:pt x="358205" y="127873"/>
                </a:lnTo>
                <a:lnTo>
                  <a:pt x="346267" y="133359"/>
                </a:lnTo>
                <a:lnTo>
                  <a:pt x="334329" y="138846"/>
                </a:lnTo>
                <a:lnTo>
                  <a:pt x="323305" y="144319"/>
                </a:lnTo>
                <a:lnTo>
                  <a:pt x="312282" y="150720"/>
                </a:lnTo>
                <a:lnTo>
                  <a:pt x="302172" y="157108"/>
                </a:lnTo>
                <a:lnTo>
                  <a:pt x="292076" y="163508"/>
                </a:lnTo>
                <a:lnTo>
                  <a:pt x="282894" y="170811"/>
                </a:lnTo>
                <a:lnTo>
                  <a:pt x="289320" y="161680"/>
                </a:lnTo>
                <a:lnTo>
                  <a:pt x="296661" y="152549"/>
                </a:lnTo>
                <a:lnTo>
                  <a:pt x="304014" y="144319"/>
                </a:lnTo>
                <a:lnTo>
                  <a:pt x="313196" y="136102"/>
                </a:lnTo>
                <a:lnTo>
                  <a:pt x="323305" y="128787"/>
                </a:lnTo>
                <a:lnTo>
                  <a:pt x="333402" y="120520"/>
                </a:lnTo>
                <a:lnTo>
                  <a:pt x="344425" y="114170"/>
                </a:lnTo>
                <a:lnTo>
                  <a:pt x="356364" y="106804"/>
                </a:lnTo>
                <a:lnTo>
                  <a:pt x="368302" y="101343"/>
                </a:lnTo>
                <a:lnTo>
                  <a:pt x="381167" y="94993"/>
                </a:lnTo>
                <a:lnTo>
                  <a:pt x="394946" y="89533"/>
                </a:lnTo>
                <a:lnTo>
                  <a:pt x="408713" y="84961"/>
                </a:lnTo>
                <a:lnTo>
                  <a:pt x="422493" y="80389"/>
                </a:lnTo>
                <a:lnTo>
                  <a:pt x="438114" y="76706"/>
                </a:lnTo>
                <a:lnTo>
                  <a:pt x="452808" y="73023"/>
                </a:lnTo>
                <a:lnTo>
                  <a:pt x="468416" y="70356"/>
                </a:lnTo>
                <a:lnTo>
                  <a:pt x="449125" y="6349"/>
                </a:lnTo>
                <a:lnTo>
                  <a:pt x="433517" y="9143"/>
                </a:lnTo>
                <a:lnTo>
                  <a:pt x="418823" y="12826"/>
                </a:lnTo>
                <a:lnTo>
                  <a:pt x="404129" y="17398"/>
                </a:lnTo>
                <a:lnTo>
                  <a:pt x="389435" y="21843"/>
                </a:lnTo>
                <a:lnTo>
                  <a:pt x="375655" y="26415"/>
                </a:lnTo>
                <a:lnTo>
                  <a:pt x="361875" y="32003"/>
                </a:lnTo>
                <a:lnTo>
                  <a:pt x="348096" y="37464"/>
                </a:lnTo>
                <a:lnTo>
                  <a:pt x="335243" y="43814"/>
                </a:lnTo>
                <a:lnTo>
                  <a:pt x="323305" y="50163"/>
                </a:lnTo>
                <a:lnTo>
                  <a:pt x="310440" y="57529"/>
                </a:lnTo>
                <a:lnTo>
                  <a:pt x="299416" y="64895"/>
                </a:lnTo>
                <a:lnTo>
                  <a:pt x="288405" y="72134"/>
                </a:lnTo>
                <a:lnTo>
                  <a:pt x="278296" y="80389"/>
                </a:lnTo>
                <a:lnTo>
                  <a:pt x="268200" y="88644"/>
                </a:lnTo>
                <a:lnTo>
                  <a:pt x="259005" y="96771"/>
                </a:lnTo>
                <a:lnTo>
                  <a:pt x="249823" y="105915"/>
                </a:lnTo>
                <a:lnTo>
                  <a:pt x="239726" y="94993"/>
                </a:lnTo>
                <a:lnTo>
                  <a:pt x="227788" y="84961"/>
                </a:lnTo>
                <a:lnTo>
                  <a:pt x="215837" y="74928"/>
                </a:lnTo>
                <a:lnTo>
                  <a:pt x="202985" y="65784"/>
                </a:lnTo>
                <a:lnTo>
                  <a:pt x="189205" y="57529"/>
                </a:lnTo>
                <a:lnTo>
                  <a:pt x="174511" y="49274"/>
                </a:lnTo>
                <a:lnTo>
                  <a:pt x="159817" y="41147"/>
                </a:lnTo>
                <a:lnTo>
                  <a:pt x="144209" y="33781"/>
                </a:lnTo>
                <a:lnTo>
                  <a:pt x="127673" y="27431"/>
                </a:lnTo>
                <a:lnTo>
                  <a:pt x="110223" y="21843"/>
                </a:lnTo>
                <a:lnTo>
                  <a:pt x="92774" y="16382"/>
                </a:lnTo>
                <a:lnTo>
                  <a:pt x="75324" y="11810"/>
                </a:lnTo>
                <a:lnTo>
                  <a:pt x="56947" y="8254"/>
                </a:lnTo>
                <a:lnTo>
                  <a:pt x="38582" y="4571"/>
                </a:lnTo>
                <a:lnTo>
                  <a:pt x="19291" y="1777"/>
                </a:lnTo>
                <a:lnTo>
                  <a:pt x="0" y="0"/>
                </a:lnTo>
                <a:lnTo>
                  <a:pt x="4597" y="65784"/>
                </a:lnTo>
                <a:lnTo>
                  <a:pt x="22047" y="67562"/>
                </a:lnTo>
                <a:lnTo>
                  <a:pt x="39497" y="71245"/>
                </a:lnTo>
                <a:lnTo>
                  <a:pt x="56947" y="74928"/>
                </a:lnTo>
                <a:lnTo>
                  <a:pt x="73482" y="78484"/>
                </a:lnTo>
                <a:lnTo>
                  <a:pt x="89091" y="83056"/>
                </a:lnTo>
                <a:lnTo>
                  <a:pt x="104712" y="88644"/>
                </a:lnTo>
                <a:lnTo>
                  <a:pt x="119406" y="94993"/>
                </a:lnTo>
                <a:lnTo>
                  <a:pt x="134100" y="101343"/>
                </a:lnTo>
                <a:lnTo>
                  <a:pt x="146952" y="108709"/>
                </a:lnTo>
                <a:lnTo>
                  <a:pt x="159817" y="115948"/>
                </a:lnTo>
                <a:lnTo>
                  <a:pt x="171755" y="124203"/>
                </a:lnTo>
                <a:lnTo>
                  <a:pt x="182779" y="132445"/>
                </a:lnTo>
                <a:lnTo>
                  <a:pt x="192876" y="141576"/>
                </a:lnTo>
                <a:lnTo>
                  <a:pt x="202070" y="150720"/>
                </a:lnTo>
                <a:lnTo>
                  <a:pt x="210325" y="160765"/>
                </a:lnTo>
                <a:lnTo>
                  <a:pt x="217679" y="170811"/>
                </a:lnTo>
                <a:lnTo>
                  <a:pt x="207582" y="163508"/>
                </a:lnTo>
                <a:lnTo>
                  <a:pt x="196559" y="156193"/>
                </a:lnTo>
                <a:lnTo>
                  <a:pt x="185535" y="148891"/>
                </a:lnTo>
                <a:lnTo>
                  <a:pt x="173597" y="142490"/>
                </a:lnTo>
                <a:lnTo>
                  <a:pt x="161659" y="136102"/>
                </a:lnTo>
                <a:lnTo>
                  <a:pt x="148794" y="130616"/>
                </a:lnTo>
                <a:lnTo>
                  <a:pt x="135941" y="125092"/>
                </a:lnTo>
                <a:lnTo>
                  <a:pt x="123076" y="120520"/>
                </a:lnTo>
                <a:lnTo>
                  <a:pt x="109296" y="115948"/>
                </a:lnTo>
                <a:lnTo>
                  <a:pt x="95529" y="111376"/>
                </a:lnTo>
                <a:lnTo>
                  <a:pt x="80823" y="107820"/>
                </a:lnTo>
                <a:lnTo>
                  <a:pt x="66129" y="104137"/>
                </a:lnTo>
                <a:lnTo>
                  <a:pt x="51435" y="101343"/>
                </a:lnTo>
                <a:lnTo>
                  <a:pt x="36741" y="98676"/>
                </a:lnTo>
                <a:lnTo>
                  <a:pt x="21132" y="96771"/>
                </a:lnTo>
                <a:lnTo>
                  <a:pt x="5511" y="94993"/>
                </a:lnTo>
                <a:lnTo>
                  <a:pt x="10109" y="160765"/>
                </a:lnTo>
                <a:lnTo>
                  <a:pt x="25717" y="162594"/>
                </a:lnTo>
                <a:lnTo>
                  <a:pt x="40411" y="165337"/>
                </a:lnTo>
                <a:lnTo>
                  <a:pt x="55118" y="168995"/>
                </a:lnTo>
                <a:lnTo>
                  <a:pt x="69812" y="171725"/>
                </a:lnTo>
                <a:lnTo>
                  <a:pt x="83579" y="176297"/>
                </a:lnTo>
                <a:lnTo>
                  <a:pt x="97358" y="180869"/>
                </a:lnTo>
                <a:lnTo>
                  <a:pt x="111138" y="185428"/>
                </a:lnTo>
                <a:lnTo>
                  <a:pt x="123990" y="19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59795" y="5921810"/>
            <a:ext cx="288393" cy="286861"/>
          </a:xfrm>
          <a:custGeom>
            <a:avLst/>
            <a:gdLst/>
            <a:ahLst/>
            <a:cxnLst/>
            <a:rect l="l" t="t" r="r" b="b"/>
            <a:pathLst>
              <a:path w="288393" h="286861">
                <a:moveTo>
                  <a:pt x="144196" y="286861"/>
                </a:moveTo>
                <a:lnTo>
                  <a:pt x="158890" y="285946"/>
                </a:lnTo>
                <a:lnTo>
                  <a:pt x="172670" y="284118"/>
                </a:lnTo>
                <a:lnTo>
                  <a:pt x="186449" y="280460"/>
                </a:lnTo>
                <a:lnTo>
                  <a:pt x="199302" y="275901"/>
                </a:lnTo>
                <a:lnTo>
                  <a:pt x="212167" y="270415"/>
                </a:lnTo>
                <a:lnTo>
                  <a:pt x="224105" y="263112"/>
                </a:lnTo>
                <a:lnTo>
                  <a:pt x="235129" y="254883"/>
                </a:lnTo>
                <a:lnTo>
                  <a:pt x="246152" y="244837"/>
                </a:lnTo>
                <a:lnTo>
                  <a:pt x="256249" y="234792"/>
                </a:lnTo>
                <a:lnTo>
                  <a:pt x="264517" y="222918"/>
                </a:lnTo>
                <a:lnTo>
                  <a:pt x="271870" y="211031"/>
                </a:lnTo>
                <a:lnTo>
                  <a:pt x="277382" y="198242"/>
                </a:lnTo>
                <a:lnTo>
                  <a:pt x="281967" y="185454"/>
                </a:lnTo>
                <a:lnTo>
                  <a:pt x="285650" y="171751"/>
                </a:lnTo>
                <a:lnTo>
                  <a:pt x="287478" y="158048"/>
                </a:lnTo>
                <a:lnTo>
                  <a:pt x="288393" y="143430"/>
                </a:lnTo>
                <a:lnTo>
                  <a:pt x="287478" y="128813"/>
                </a:lnTo>
                <a:lnTo>
                  <a:pt x="285650" y="115110"/>
                </a:lnTo>
                <a:lnTo>
                  <a:pt x="281967" y="101407"/>
                </a:lnTo>
                <a:lnTo>
                  <a:pt x="277382" y="88618"/>
                </a:lnTo>
                <a:lnTo>
                  <a:pt x="271870" y="75830"/>
                </a:lnTo>
                <a:lnTo>
                  <a:pt x="264517" y="63955"/>
                </a:lnTo>
                <a:lnTo>
                  <a:pt x="256249" y="52995"/>
                </a:lnTo>
                <a:lnTo>
                  <a:pt x="246152" y="42023"/>
                </a:lnTo>
                <a:lnTo>
                  <a:pt x="235129" y="32892"/>
                </a:lnTo>
                <a:lnTo>
                  <a:pt x="224105" y="24675"/>
                </a:lnTo>
                <a:lnTo>
                  <a:pt x="212167" y="17360"/>
                </a:lnTo>
                <a:lnTo>
                  <a:pt x="199302" y="10972"/>
                </a:lnTo>
                <a:lnTo>
                  <a:pt x="186449" y="6400"/>
                </a:lnTo>
                <a:lnTo>
                  <a:pt x="172670" y="2743"/>
                </a:lnTo>
                <a:lnTo>
                  <a:pt x="158890" y="914"/>
                </a:lnTo>
                <a:lnTo>
                  <a:pt x="144196" y="0"/>
                </a:lnTo>
                <a:lnTo>
                  <a:pt x="114808" y="2743"/>
                </a:lnTo>
                <a:lnTo>
                  <a:pt x="88176" y="10972"/>
                </a:lnTo>
                <a:lnTo>
                  <a:pt x="63373" y="24675"/>
                </a:lnTo>
                <a:lnTo>
                  <a:pt x="42253" y="42023"/>
                </a:lnTo>
                <a:lnTo>
                  <a:pt x="24803" y="63955"/>
                </a:lnTo>
                <a:lnTo>
                  <a:pt x="11023" y="87704"/>
                </a:lnTo>
                <a:lnTo>
                  <a:pt x="2755" y="115110"/>
                </a:lnTo>
                <a:lnTo>
                  <a:pt x="0" y="143430"/>
                </a:lnTo>
                <a:lnTo>
                  <a:pt x="927" y="158048"/>
                </a:lnTo>
                <a:lnTo>
                  <a:pt x="2755" y="171751"/>
                </a:lnTo>
                <a:lnTo>
                  <a:pt x="6426" y="185454"/>
                </a:lnTo>
                <a:lnTo>
                  <a:pt x="11023" y="198242"/>
                </a:lnTo>
                <a:lnTo>
                  <a:pt x="16535" y="211031"/>
                </a:lnTo>
                <a:lnTo>
                  <a:pt x="23888" y="222918"/>
                </a:lnTo>
                <a:lnTo>
                  <a:pt x="32143" y="234792"/>
                </a:lnTo>
                <a:lnTo>
                  <a:pt x="42253" y="244837"/>
                </a:lnTo>
                <a:lnTo>
                  <a:pt x="53276" y="254883"/>
                </a:lnTo>
                <a:lnTo>
                  <a:pt x="64300" y="263112"/>
                </a:lnTo>
                <a:lnTo>
                  <a:pt x="76238" y="270415"/>
                </a:lnTo>
                <a:lnTo>
                  <a:pt x="89091" y="275901"/>
                </a:lnTo>
                <a:lnTo>
                  <a:pt x="101956" y="280460"/>
                </a:lnTo>
                <a:lnTo>
                  <a:pt x="115723" y="284118"/>
                </a:lnTo>
                <a:lnTo>
                  <a:pt x="129502" y="285946"/>
                </a:lnTo>
                <a:lnTo>
                  <a:pt x="144196" y="2868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34192" y="5995811"/>
            <a:ext cx="139611" cy="138858"/>
          </a:xfrm>
          <a:custGeom>
            <a:avLst/>
            <a:gdLst/>
            <a:ahLst/>
            <a:cxnLst/>
            <a:rect l="l" t="t" r="r" b="b"/>
            <a:pathLst>
              <a:path w="139611" h="138858">
                <a:moveTo>
                  <a:pt x="0" y="69429"/>
                </a:moveTo>
                <a:lnTo>
                  <a:pt x="914" y="83132"/>
                </a:lnTo>
                <a:lnTo>
                  <a:pt x="5511" y="96835"/>
                </a:lnTo>
                <a:lnTo>
                  <a:pt x="11938" y="108709"/>
                </a:lnTo>
                <a:lnTo>
                  <a:pt x="20205" y="118767"/>
                </a:lnTo>
                <a:lnTo>
                  <a:pt x="25717" y="123327"/>
                </a:lnTo>
                <a:lnTo>
                  <a:pt x="31229" y="127898"/>
                </a:lnTo>
                <a:lnTo>
                  <a:pt x="36741" y="131556"/>
                </a:lnTo>
                <a:lnTo>
                  <a:pt x="43167" y="134299"/>
                </a:lnTo>
                <a:lnTo>
                  <a:pt x="49593" y="136115"/>
                </a:lnTo>
                <a:lnTo>
                  <a:pt x="56032" y="137944"/>
                </a:lnTo>
                <a:lnTo>
                  <a:pt x="63373" y="138858"/>
                </a:lnTo>
                <a:lnTo>
                  <a:pt x="69799" y="138858"/>
                </a:lnTo>
                <a:lnTo>
                  <a:pt x="83579" y="137030"/>
                </a:lnTo>
                <a:lnTo>
                  <a:pt x="97358" y="133385"/>
                </a:lnTo>
                <a:lnTo>
                  <a:pt x="109296" y="126984"/>
                </a:lnTo>
                <a:lnTo>
                  <a:pt x="119406" y="118767"/>
                </a:lnTo>
                <a:lnTo>
                  <a:pt x="127661" y="108709"/>
                </a:lnTo>
                <a:lnTo>
                  <a:pt x="134100" y="96835"/>
                </a:lnTo>
                <a:lnTo>
                  <a:pt x="137770" y="83132"/>
                </a:lnTo>
                <a:lnTo>
                  <a:pt x="139611" y="69429"/>
                </a:lnTo>
                <a:lnTo>
                  <a:pt x="138684" y="55726"/>
                </a:lnTo>
                <a:lnTo>
                  <a:pt x="134100" y="42937"/>
                </a:lnTo>
                <a:lnTo>
                  <a:pt x="127661" y="31063"/>
                </a:lnTo>
                <a:lnTo>
                  <a:pt x="119406" y="21018"/>
                </a:lnTo>
                <a:lnTo>
                  <a:pt x="113894" y="16446"/>
                </a:lnTo>
                <a:lnTo>
                  <a:pt x="108382" y="11874"/>
                </a:lnTo>
                <a:lnTo>
                  <a:pt x="102870" y="8229"/>
                </a:lnTo>
                <a:lnTo>
                  <a:pt x="96444" y="5486"/>
                </a:lnTo>
                <a:lnTo>
                  <a:pt x="90005" y="2743"/>
                </a:lnTo>
                <a:lnTo>
                  <a:pt x="83579" y="914"/>
                </a:lnTo>
                <a:lnTo>
                  <a:pt x="76238" y="0"/>
                </a:lnTo>
                <a:lnTo>
                  <a:pt x="63373" y="0"/>
                </a:lnTo>
                <a:lnTo>
                  <a:pt x="56032" y="914"/>
                </a:lnTo>
                <a:lnTo>
                  <a:pt x="49593" y="2743"/>
                </a:lnTo>
                <a:lnTo>
                  <a:pt x="43167" y="5486"/>
                </a:lnTo>
                <a:lnTo>
                  <a:pt x="36741" y="8229"/>
                </a:lnTo>
                <a:lnTo>
                  <a:pt x="31229" y="11874"/>
                </a:lnTo>
                <a:lnTo>
                  <a:pt x="25717" y="16446"/>
                </a:lnTo>
                <a:lnTo>
                  <a:pt x="20205" y="21018"/>
                </a:lnTo>
                <a:lnTo>
                  <a:pt x="11938" y="31063"/>
                </a:lnTo>
                <a:lnTo>
                  <a:pt x="5511" y="42937"/>
                </a:lnTo>
                <a:lnTo>
                  <a:pt x="914" y="55726"/>
                </a:lnTo>
                <a:lnTo>
                  <a:pt x="0" y="694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31105" y="5921810"/>
            <a:ext cx="288393" cy="286861"/>
          </a:xfrm>
          <a:custGeom>
            <a:avLst/>
            <a:gdLst/>
            <a:ahLst/>
            <a:cxnLst/>
            <a:rect l="l" t="t" r="r" b="b"/>
            <a:pathLst>
              <a:path w="288393" h="286861">
                <a:moveTo>
                  <a:pt x="144196" y="286861"/>
                </a:moveTo>
                <a:lnTo>
                  <a:pt x="158890" y="285946"/>
                </a:lnTo>
                <a:lnTo>
                  <a:pt x="172670" y="284118"/>
                </a:lnTo>
                <a:lnTo>
                  <a:pt x="186449" y="280460"/>
                </a:lnTo>
                <a:lnTo>
                  <a:pt x="199302" y="275901"/>
                </a:lnTo>
                <a:lnTo>
                  <a:pt x="212154" y="270415"/>
                </a:lnTo>
                <a:lnTo>
                  <a:pt x="224105" y="263112"/>
                </a:lnTo>
                <a:lnTo>
                  <a:pt x="236043" y="254883"/>
                </a:lnTo>
                <a:lnTo>
                  <a:pt x="246140" y="244837"/>
                </a:lnTo>
                <a:lnTo>
                  <a:pt x="256249" y="234792"/>
                </a:lnTo>
                <a:lnTo>
                  <a:pt x="264517" y="222918"/>
                </a:lnTo>
                <a:lnTo>
                  <a:pt x="271857" y="211031"/>
                </a:lnTo>
                <a:lnTo>
                  <a:pt x="277369" y="198242"/>
                </a:lnTo>
                <a:lnTo>
                  <a:pt x="281967" y="185454"/>
                </a:lnTo>
                <a:lnTo>
                  <a:pt x="285637" y="171751"/>
                </a:lnTo>
                <a:lnTo>
                  <a:pt x="287478" y="158048"/>
                </a:lnTo>
                <a:lnTo>
                  <a:pt x="288393" y="143430"/>
                </a:lnTo>
                <a:lnTo>
                  <a:pt x="287478" y="128813"/>
                </a:lnTo>
                <a:lnTo>
                  <a:pt x="285637" y="115110"/>
                </a:lnTo>
                <a:lnTo>
                  <a:pt x="281967" y="101407"/>
                </a:lnTo>
                <a:lnTo>
                  <a:pt x="277369" y="88618"/>
                </a:lnTo>
                <a:lnTo>
                  <a:pt x="271857" y="75830"/>
                </a:lnTo>
                <a:lnTo>
                  <a:pt x="264517" y="63955"/>
                </a:lnTo>
                <a:lnTo>
                  <a:pt x="256249" y="52995"/>
                </a:lnTo>
                <a:lnTo>
                  <a:pt x="246140" y="42023"/>
                </a:lnTo>
                <a:lnTo>
                  <a:pt x="236043" y="32892"/>
                </a:lnTo>
                <a:lnTo>
                  <a:pt x="224105" y="24675"/>
                </a:lnTo>
                <a:lnTo>
                  <a:pt x="212154" y="17360"/>
                </a:lnTo>
                <a:lnTo>
                  <a:pt x="199302" y="10972"/>
                </a:lnTo>
                <a:lnTo>
                  <a:pt x="186449" y="6400"/>
                </a:lnTo>
                <a:lnTo>
                  <a:pt x="172670" y="2743"/>
                </a:lnTo>
                <a:lnTo>
                  <a:pt x="158890" y="914"/>
                </a:lnTo>
                <a:lnTo>
                  <a:pt x="144196" y="0"/>
                </a:lnTo>
                <a:lnTo>
                  <a:pt x="115723" y="2743"/>
                </a:lnTo>
                <a:lnTo>
                  <a:pt x="88163" y="10972"/>
                </a:lnTo>
                <a:lnTo>
                  <a:pt x="64287" y="24675"/>
                </a:lnTo>
                <a:lnTo>
                  <a:pt x="42240" y="42023"/>
                </a:lnTo>
                <a:lnTo>
                  <a:pt x="24790" y="63955"/>
                </a:lnTo>
                <a:lnTo>
                  <a:pt x="11023" y="87704"/>
                </a:lnTo>
                <a:lnTo>
                  <a:pt x="2755" y="115110"/>
                </a:lnTo>
                <a:lnTo>
                  <a:pt x="0" y="143430"/>
                </a:lnTo>
                <a:lnTo>
                  <a:pt x="914" y="158048"/>
                </a:lnTo>
                <a:lnTo>
                  <a:pt x="2755" y="171751"/>
                </a:lnTo>
                <a:lnTo>
                  <a:pt x="6426" y="185454"/>
                </a:lnTo>
                <a:lnTo>
                  <a:pt x="11023" y="198242"/>
                </a:lnTo>
                <a:lnTo>
                  <a:pt x="16522" y="211031"/>
                </a:lnTo>
                <a:lnTo>
                  <a:pt x="23876" y="222918"/>
                </a:lnTo>
                <a:lnTo>
                  <a:pt x="32143" y="234792"/>
                </a:lnTo>
                <a:lnTo>
                  <a:pt x="42240" y="244837"/>
                </a:lnTo>
                <a:lnTo>
                  <a:pt x="53264" y="254883"/>
                </a:lnTo>
                <a:lnTo>
                  <a:pt x="64287" y="263112"/>
                </a:lnTo>
                <a:lnTo>
                  <a:pt x="76225" y="270415"/>
                </a:lnTo>
                <a:lnTo>
                  <a:pt x="89091" y="275901"/>
                </a:lnTo>
                <a:lnTo>
                  <a:pt x="101943" y="280460"/>
                </a:lnTo>
                <a:lnTo>
                  <a:pt x="115723" y="284118"/>
                </a:lnTo>
                <a:lnTo>
                  <a:pt x="129502" y="285946"/>
                </a:lnTo>
                <a:lnTo>
                  <a:pt x="144196" y="2868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05502" y="5995811"/>
            <a:ext cx="139599" cy="138858"/>
          </a:xfrm>
          <a:custGeom>
            <a:avLst/>
            <a:gdLst/>
            <a:ahLst/>
            <a:cxnLst/>
            <a:rect l="l" t="t" r="r" b="b"/>
            <a:pathLst>
              <a:path w="139599" h="138858">
                <a:moveTo>
                  <a:pt x="0" y="69429"/>
                </a:moveTo>
                <a:lnTo>
                  <a:pt x="914" y="83132"/>
                </a:lnTo>
                <a:lnTo>
                  <a:pt x="5511" y="96835"/>
                </a:lnTo>
                <a:lnTo>
                  <a:pt x="11938" y="108709"/>
                </a:lnTo>
                <a:lnTo>
                  <a:pt x="20205" y="118767"/>
                </a:lnTo>
                <a:lnTo>
                  <a:pt x="25717" y="123327"/>
                </a:lnTo>
                <a:lnTo>
                  <a:pt x="31216" y="127898"/>
                </a:lnTo>
                <a:lnTo>
                  <a:pt x="36728" y="131556"/>
                </a:lnTo>
                <a:lnTo>
                  <a:pt x="43167" y="134299"/>
                </a:lnTo>
                <a:lnTo>
                  <a:pt x="49593" y="136115"/>
                </a:lnTo>
                <a:lnTo>
                  <a:pt x="56020" y="137944"/>
                </a:lnTo>
                <a:lnTo>
                  <a:pt x="63373" y="138858"/>
                </a:lnTo>
                <a:lnTo>
                  <a:pt x="69799" y="138858"/>
                </a:lnTo>
                <a:lnTo>
                  <a:pt x="83579" y="137030"/>
                </a:lnTo>
                <a:lnTo>
                  <a:pt x="97346" y="133385"/>
                </a:lnTo>
                <a:lnTo>
                  <a:pt x="109296" y="126984"/>
                </a:lnTo>
                <a:lnTo>
                  <a:pt x="119393" y="118767"/>
                </a:lnTo>
                <a:lnTo>
                  <a:pt x="127661" y="108709"/>
                </a:lnTo>
                <a:lnTo>
                  <a:pt x="134087" y="96835"/>
                </a:lnTo>
                <a:lnTo>
                  <a:pt x="137757" y="83132"/>
                </a:lnTo>
                <a:lnTo>
                  <a:pt x="139599" y="69429"/>
                </a:lnTo>
                <a:lnTo>
                  <a:pt x="138684" y="55726"/>
                </a:lnTo>
                <a:lnTo>
                  <a:pt x="134087" y="42937"/>
                </a:lnTo>
                <a:lnTo>
                  <a:pt x="127661" y="31063"/>
                </a:lnTo>
                <a:lnTo>
                  <a:pt x="119393" y="21018"/>
                </a:lnTo>
                <a:lnTo>
                  <a:pt x="113881" y="16446"/>
                </a:lnTo>
                <a:lnTo>
                  <a:pt x="108369" y="11874"/>
                </a:lnTo>
                <a:lnTo>
                  <a:pt x="102857" y="8229"/>
                </a:lnTo>
                <a:lnTo>
                  <a:pt x="96431" y="5486"/>
                </a:lnTo>
                <a:lnTo>
                  <a:pt x="90005" y="2743"/>
                </a:lnTo>
                <a:lnTo>
                  <a:pt x="83579" y="914"/>
                </a:lnTo>
                <a:lnTo>
                  <a:pt x="76225" y="0"/>
                </a:lnTo>
                <a:lnTo>
                  <a:pt x="63373" y="0"/>
                </a:lnTo>
                <a:lnTo>
                  <a:pt x="56020" y="914"/>
                </a:lnTo>
                <a:lnTo>
                  <a:pt x="49593" y="2743"/>
                </a:lnTo>
                <a:lnTo>
                  <a:pt x="43167" y="5486"/>
                </a:lnTo>
                <a:lnTo>
                  <a:pt x="36728" y="8229"/>
                </a:lnTo>
                <a:lnTo>
                  <a:pt x="31216" y="11874"/>
                </a:lnTo>
                <a:lnTo>
                  <a:pt x="25717" y="16446"/>
                </a:lnTo>
                <a:lnTo>
                  <a:pt x="20205" y="21018"/>
                </a:lnTo>
                <a:lnTo>
                  <a:pt x="11938" y="31063"/>
                </a:lnTo>
                <a:lnTo>
                  <a:pt x="5511" y="42937"/>
                </a:lnTo>
                <a:lnTo>
                  <a:pt x="914" y="55726"/>
                </a:lnTo>
                <a:lnTo>
                  <a:pt x="0" y="694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84713" y="6046966"/>
            <a:ext cx="38570" cy="37464"/>
          </a:xfrm>
          <a:custGeom>
            <a:avLst/>
            <a:gdLst/>
            <a:ahLst/>
            <a:cxnLst/>
            <a:rect l="l" t="t" r="r" b="b"/>
            <a:pathLst>
              <a:path w="38570" h="37464">
                <a:moveTo>
                  <a:pt x="19278" y="37464"/>
                </a:moveTo>
                <a:lnTo>
                  <a:pt x="26632" y="35635"/>
                </a:lnTo>
                <a:lnTo>
                  <a:pt x="33058" y="31977"/>
                </a:lnTo>
                <a:lnTo>
                  <a:pt x="36728" y="25589"/>
                </a:lnTo>
                <a:lnTo>
                  <a:pt x="38570" y="18274"/>
                </a:lnTo>
                <a:lnTo>
                  <a:pt x="36728" y="10972"/>
                </a:lnTo>
                <a:lnTo>
                  <a:pt x="33058" y="5486"/>
                </a:lnTo>
                <a:lnTo>
                  <a:pt x="26632" y="1828"/>
                </a:lnTo>
                <a:lnTo>
                  <a:pt x="19278" y="0"/>
                </a:lnTo>
                <a:lnTo>
                  <a:pt x="11938" y="1828"/>
                </a:lnTo>
                <a:lnTo>
                  <a:pt x="5511" y="5486"/>
                </a:lnTo>
                <a:lnTo>
                  <a:pt x="1828" y="10972"/>
                </a:lnTo>
                <a:lnTo>
                  <a:pt x="0" y="18274"/>
                </a:lnTo>
                <a:lnTo>
                  <a:pt x="1828" y="25589"/>
                </a:lnTo>
                <a:lnTo>
                  <a:pt x="5511" y="31977"/>
                </a:lnTo>
                <a:lnTo>
                  <a:pt x="11938" y="35635"/>
                </a:lnTo>
                <a:lnTo>
                  <a:pt x="19278" y="37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56010" y="6046966"/>
            <a:ext cx="38582" cy="37464"/>
          </a:xfrm>
          <a:custGeom>
            <a:avLst/>
            <a:gdLst/>
            <a:ahLst/>
            <a:cxnLst/>
            <a:rect l="l" t="t" r="r" b="b"/>
            <a:pathLst>
              <a:path w="38582" h="37464">
                <a:moveTo>
                  <a:pt x="19291" y="37464"/>
                </a:moveTo>
                <a:lnTo>
                  <a:pt x="26632" y="35635"/>
                </a:lnTo>
                <a:lnTo>
                  <a:pt x="33070" y="31977"/>
                </a:lnTo>
                <a:lnTo>
                  <a:pt x="36741" y="25589"/>
                </a:lnTo>
                <a:lnTo>
                  <a:pt x="38582" y="18274"/>
                </a:lnTo>
                <a:lnTo>
                  <a:pt x="36741" y="10972"/>
                </a:lnTo>
                <a:lnTo>
                  <a:pt x="33070" y="5486"/>
                </a:lnTo>
                <a:lnTo>
                  <a:pt x="26632" y="1828"/>
                </a:lnTo>
                <a:lnTo>
                  <a:pt x="19291" y="0"/>
                </a:lnTo>
                <a:lnTo>
                  <a:pt x="11938" y="1828"/>
                </a:lnTo>
                <a:lnTo>
                  <a:pt x="5511" y="5486"/>
                </a:lnTo>
                <a:lnTo>
                  <a:pt x="1841" y="10972"/>
                </a:lnTo>
                <a:lnTo>
                  <a:pt x="0" y="18274"/>
                </a:lnTo>
                <a:lnTo>
                  <a:pt x="1841" y="25589"/>
                </a:lnTo>
                <a:lnTo>
                  <a:pt x="5511" y="31977"/>
                </a:lnTo>
                <a:lnTo>
                  <a:pt x="11938" y="35635"/>
                </a:lnTo>
                <a:lnTo>
                  <a:pt x="19291" y="374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93140" y="602535"/>
            <a:ext cx="2030984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dirty="0">
                <a:latin typeface="Times New Roman"/>
                <a:cs typeface="Times New Roman"/>
              </a:rPr>
              <a:t>Exercise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140" y="1734183"/>
            <a:ext cx="3096637" cy="1012097"/>
          </a:xfrm>
          <a:prstGeom prst="rect">
            <a:avLst/>
          </a:prstGeom>
        </p:spPr>
        <p:txBody>
          <a:bodyPr wrap="square" lIns="0" tIns="13652" rIns="0" bIns="0" rtlCol="0">
            <a:noAutofit/>
          </a:bodyPr>
          <a:lstStyle/>
          <a:p>
            <a:pPr marL="12700" marR="43978">
              <a:lnSpc>
                <a:spcPts val="2150"/>
              </a:lnSpc>
            </a:pPr>
            <a:r>
              <a:rPr sz="2000" i="1" spc="6" dirty="0">
                <a:latin typeface="Times New Roman"/>
                <a:cs typeface="Times New Roman"/>
              </a:rPr>
              <a:t>p.. </a:t>
            </a:r>
            <a:r>
              <a:rPr sz="2000" spc="-6" dirty="0">
                <a:latin typeface="Arial"/>
                <a:cs typeface="Arial"/>
              </a:rPr>
              <a:t>(my breakfast is) eggs.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463"/>
              </a:spcBef>
            </a:pPr>
            <a:r>
              <a:rPr sz="2000" i="1" spc="6" dirty="0">
                <a:latin typeface="Times New Roman"/>
                <a:cs typeface="Times New Roman"/>
              </a:rPr>
              <a:t>q.. </a:t>
            </a:r>
            <a:r>
              <a:rPr sz="2000" spc="-6" dirty="0">
                <a:latin typeface="Arial"/>
                <a:cs typeface="Arial"/>
              </a:rPr>
              <a:t>(my breakfast is) cereal.</a:t>
            </a:r>
            <a:endParaRPr sz="2000">
              <a:latin typeface="Arial"/>
              <a:cs typeface="Arial"/>
            </a:endParaRPr>
          </a:p>
          <a:p>
            <a:pPr marL="12700" marR="43978">
              <a:lnSpc>
                <a:spcPct val="95825"/>
              </a:lnSpc>
              <a:spcBef>
                <a:spcPts val="571"/>
              </a:spcBef>
            </a:pPr>
            <a:r>
              <a:rPr sz="2000" i="1" spc="6" dirty="0">
                <a:latin typeface="Times New Roman"/>
                <a:cs typeface="Times New Roman"/>
              </a:rPr>
              <a:t>r.. </a:t>
            </a:r>
            <a:r>
              <a:rPr sz="2000" spc="-6" dirty="0">
                <a:latin typeface="Arial"/>
                <a:cs typeface="Arial"/>
              </a:rPr>
              <a:t>(my breakfast is) toast.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40" y="3198747"/>
            <a:ext cx="3673664" cy="1193848"/>
          </a:xfrm>
          <a:prstGeom prst="rect">
            <a:avLst/>
          </a:prstGeom>
        </p:spPr>
        <p:txBody>
          <a:bodyPr wrap="square" lIns="0" tIns="13620" rIns="0" bIns="0" rtlCol="0">
            <a:noAutofit/>
          </a:bodyPr>
          <a:lstStyle/>
          <a:p>
            <a:pPr marL="12700" algn="just">
              <a:lnSpc>
                <a:spcPts val="2145"/>
              </a:lnSpc>
            </a:pPr>
            <a:r>
              <a:rPr sz="1800" spc="4" dirty="0">
                <a:solidFill>
                  <a:srgbClr val="B1B1B1"/>
                </a:solidFill>
                <a:latin typeface="Wingdings"/>
                <a:cs typeface="Wingdings"/>
              </a:rPr>
              <a:t></a:t>
            </a:r>
            <a:r>
              <a:rPr sz="2000" spc="-15" dirty="0">
                <a:latin typeface="Arial"/>
                <a:cs typeface="Arial"/>
              </a:rPr>
              <a:t>The statement „my breakfast is</a:t>
            </a:r>
            <a:endParaRPr sz="2000">
              <a:latin typeface="Arial"/>
              <a:cs typeface="Arial"/>
            </a:endParaRPr>
          </a:p>
          <a:p>
            <a:pPr marL="12700" marR="64202" algn="just">
              <a:lnSpc>
                <a:spcPct val="100041"/>
              </a:lnSpc>
            </a:pPr>
            <a:r>
              <a:rPr sz="2000" spc="-12" dirty="0">
                <a:latin typeface="Arial"/>
                <a:cs typeface="Arial"/>
              </a:rPr>
              <a:t>either eggs or cereal, and toast‟ may be written in symbolic form as ???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1968" y="5276524"/>
            <a:ext cx="2688132" cy="528319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algn="ctr">
              <a:lnSpc>
                <a:spcPts val="1939"/>
              </a:lnSpc>
            </a:pPr>
            <a:r>
              <a:rPr sz="1800" spc="-19" dirty="0">
                <a:solidFill>
                  <a:srgbClr val="FF0000"/>
                </a:solidFill>
                <a:latin typeface="Arial"/>
                <a:cs typeface="Arial"/>
              </a:rPr>
              <a:t>WHAT DOES THE TABLE</a:t>
            </a:r>
            <a:endParaRPr sz="1800">
              <a:latin typeface="Arial"/>
              <a:cs typeface="Arial"/>
            </a:endParaRPr>
          </a:p>
          <a:p>
            <a:pPr marL="859154" marR="876833" algn="ctr">
              <a:lnSpc>
                <a:spcPct val="95825"/>
              </a:lnSpc>
            </a:pPr>
            <a:r>
              <a:rPr sz="1800" spc="-10" dirty="0">
                <a:solidFill>
                  <a:srgbClr val="FF0000"/>
                </a:solidFill>
                <a:latin typeface="Arial"/>
                <a:cs typeface="Arial"/>
              </a:rPr>
              <a:t>TELL U?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8000" y="1417637"/>
            <a:ext cx="1828800" cy="762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0"/>
              </a:spcBef>
            </a:pPr>
            <a:endParaRPr sz="600"/>
          </a:p>
        </p:txBody>
      </p:sp>
      <p:sp>
        <p:nvSpPr>
          <p:cNvPr id="2" name="object 2"/>
          <p:cNvSpPr txBox="1"/>
          <p:nvPr/>
        </p:nvSpPr>
        <p:spPr>
          <a:xfrm>
            <a:off x="6858000" y="1493901"/>
            <a:ext cx="1828800" cy="106299"/>
          </a:xfrm>
          <a:prstGeom prst="rect">
            <a:avLst/>
          </a:prstGeom>
        </p:spPr>
        <p:txBody>
          <a:bodyPr wrap="square" lIns="0" tIns="4699" rIns="0" bIns="0" rtlCol="0">
            <a:noAutofit/>
          </a:bodyPr>
          <a:lstStyle/>
          <a:p>
            <a:pPr marL="25400">
              <a:lnSpc>
                <a:spcPts val="800"/>
              </a:lnSpc>
            </a:pPr>
            <a:endParaRPr sz="8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85F1D0-FE6D-4DEC-96CE-4BFEF947B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6858000" y="1417637"/>
            <a:ext cx="1828800" cy="182562"/>
          </a:xfrm>
          <a:custGeom>
            <a:avLst/>
            <a:gdLst/>
            <a:ahLst/>
            <a:cxnLst/>
            <a:rect l="l" t="t" r="r" b="b"/>
            <a:pathLst>
              <a:path w="1828800" h="182562">
                <a:moveTo>
                  <a:pt x="0" y="182562"/>
                </a:moveTo>
                <a:lnTo>
                  <a:pt x="1828800" y="182562"/>
                </a:lnTo>
                <a:lnTo>
                  <a:pt x="1828800" y="0"/>
                </a:lnTo>
                <a:lnTo>
                  <a:pt x="0" y="0"/>
                </a:lnTo>
                <a:lnTo>
                  <a:pt x="0" y="182562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93140" y="602535"/>
            <a:ext cx="1202080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b="1" dirty="0">
                <a:latin typeface="Times New Roman"/>
                <a:cs typeface="Times New Roman"/>
              </a:rPr>
              <a:t>... So</a:t>
            </a:r>
            <a:endParaRPr sz="4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36040" y="1691068"/>
            <a:ext cx="6827549" cy="381253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sz="2800" spc="0" dirty="0">
                <a:latin typeface="Arial"/>
                <a:cs typeface="Arial"/>
              </a:rPr>
              <a:t>The truth table gives results for all possible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6040" y="2115502"/>
            <a:ext cx="5124351" cy="810260"/>
          </a:xfrm>
          <a:prstGeom prst="rect">
            <a:avLst/>
          </a:prstGeom>
        </p:spPr>
        <p:txBody>
          <a:bodyPr wrap="square" lIns="0" tIns="18891" rIns="0" bIns="0" rtlCol="0">
            <a:noAutofit/>
          </a:bodyPr>
          <a:lstStyle/>
          <a:p>
            <a:pPr marL="12700">
              <a:lnSpc>
                <a:spcPts val="2975"/>
              </a:lnSpc>
            </a:pPr>
            <a:r>
              <a:rPr sz="2800" spc="0" dirty="0">
                <a:latin typeface="Arial"/>
                <a:cs typeface="Arial"/>
              </a:rPr>
              <a:t>interpretations of </a:t>
            </a:r>
            <a:r>
              <a:rPr sz="2800" i="1" spc="21" dirty="0">
                <a:latin typeface="Times New Roman"/>
                <a:cs typeface="Times New Roman"/>
              </a:rPr>
              <a:t>p</a:t>
            </a:r>
            <a:r>
              <a:rPr sz="2800" spc="0" dirty="0">
                <a:latin typeface="Arial"/>
                <a:cs typeface="Arial"/>
              </a:rPr>
              <a:t>, </a:t>
            </a:r>
            <a:r>
              <a:rPr sz="2800" i="1" spc="21" dirty="0">
                <a:latin typeface="Times New Roman"/>
                <a:cs typeface="Times New Roman"/>
              </a:rPr>
              <a:t>q </a:t>
            </a:r>
            <a:r>
              <a:rPr sz="2800" spc="0" dirty="0">
                <a:latin typeface="Arial"/>
                <a:cs typeface="Arial"/>
              </a:rPr>
              <a:t>and </a:t>
            </a:r>
            <a:r>
              <a:rPr sz="2800" i="1" spc="21" dirty="0">
                <a:latin typeface="Times New Roman"/>
                <a:cs typeface="Times New Roman"/>
              </a:rPr>
              <a:t>r</a:t>
            </a:r>
            <a:r>
              <a:rPr sz="2800" spc="0" dirty="0">
                <a:latin typeface="Arial"/>
                <a:cs typeface="Arial"/>
              </a:rPr>
              <a:t>. The</a:t>
            </a:r>
            <a:endParaRPr sz="2800">
              <a:latin typeface="Arial"/>
              <a:cs typeface="Arial"/>
            </a:endParaRPr>
          </a:p>
          <a:p>
            <a:pPr marL="12700" marR="53679">
              <a:lnSpc>
                <a:spcPct val="95825"/>
              </a:lnSpc>
            </a:pPr>
            <a:r>
              <a:rPr sz="2800" dirty="0">
                <a:latin typeface="Arial"/>
                <a:cs typeface="Arial"/>
              </a:rPr>
              <a:t>proposition is true if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80239" y="2115502"/>
            <a:ext cx="1741327" cy="381253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sz="2800" spc="1" dirty="0">
                <a:latin typeface="Arial"/>
                <a:cs typeface="Arial"/>
              </a:rPr>
              <a:t>compound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3140" y="2912902"/>
            <a:ext cx="602863" cy="558800"/>
          </a:xfrm>
          <a:prstGeom prst="rect">
            <a:avLst/>
          </a:prstGeom>
        </p:spPr>
        <p:txBody>
          <a:bodyPr wrap="square" lIns="0" tIns="27876" rIns="0" bIns="0" rtlCol="0">
            <a:noAutofit/>
          </a:bodyPr>
          <a:lstStyle/>
          <a:p>
            <a:pPr marL="12700">
              <a:lnSpc>
                <a:spcPts val="4390"/>
              </a:lnSpc>
            </a:pPr>
            <a:r>
              <a:rPr sz="42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800" dirty="0">
                <a:latin typeface="Arial"/>
                <a:cs typeface="Arial"/>
              </a:rPr>
              <a:t>I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7385" y="3056572"/>
            <a:ext cx="581372" cy="1405684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 marR="7957">
              <a:lnSpc>
                <a:spcPts val="2965"/>
              </a:lnSpc>
            </a:pPr>
            <a:r>
              <a:rPr sz="2800" dirty="0">
                <a:latin typeface="Arial"/>
                <a:cs typeface="Arial"/>
              </a:rPr>
              <a:t>eat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64"/>
              </a:spcBef>
            </a:pPr>
            <a:r>
              <a:rPr sz="2800" dirty="0">
                <a:latin typeface="Arial"/>
                <a:cs typeface="Arial"/>
              </a:rPr>
              <a:t>eat</a:t>
            </a:r>
            <a:endParaRPr sz="2800">
              <a:latin typeface="Arial"/>
              <a:cs typeface="Arial"/>
            </a:endParaRPr>
          </a:p>
          <a:p>
            <a:pPr marL="12839" marR="7426">
              <a:lnSpc>
                <a:spcPct val="95825"/>
              </a:lnSpc>
              <a:spcBef>
                <a:spcPts val="814"/>
              </a:spcBef>
            </a:pPr>
            <a:r>
              <a:rPr sz="2800" dirty="0">
                <a:latin typeface="Arial"/>
                <a:cs typeface="Arial"/>
              </a:rPr>
              <a:t>eat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80950" y="3056572"/>
            <a:ext cx="2720411" cy="1405684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 marR="8313">
              <a:lnSpc>
                <a:spcPts val="2965"/>
              </a:lnSpc>
            </a:pPr>
            <a:r>
              <a:rPr sz="2800" spc="1" dirty="0">
                <a:latin typeface="Arial"/>
                <a:cs typeface="Arial"/>
              </a:rPr>
              <a:t>cereal, eggs and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64"/>
              </a:spcBef>
            </a:pPr>
            <a:r>
              <a:rPr sz="2800" spc="1" dirty="0">
                <a:latin typeface="Arial"/>
                <a:cs typeface="Arial"/>
              </a:rPr>
              <a:t>cereal and toast;</a:t>
            </a:r>
            <a:endParaRPr sz="2800">
              <a:latin typeface="Arial"/>
              <a:cs typeface="Arial"/>
            </a:endParaRPr>
          </a:p>
          <a:p>
            <a:pPr marL="13263" marR="61335">
              <a:lnSpc>
                <a:spcPct val="95825"/>
              </a:lnSpc>
              <a:spcBef>
                <a:spcPts val="814"/>
              </a:spcBef>
            </a:pPr>
            <a:r>
              <a:rPr sz="2800" spc="0" dirty="0">
                <a:latin typeface="Arial"/>
                <a:cs typeface="Arial"/>
              </a:rPr>
              <a:t>eggs and toast.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11773" y="3056572"/>
            <a:ext cx="1365546" cy="893317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4123">
              <a:lnSpc>
                <a:spcPts val="2965"/>
              </a:lnSpc>
            </a:pPr>
            <a:r>
              <a:rPr sz="2800" dirty="0">
                <a:latin typeface="Arial"/>
                <a:cs typeface="Arial"/>
              </a:rPr>
              <a:t>toast; or</a:t>
            </a:r>
            <a:endParaRPr sz="2800">
              <a:latin typeface="Arial"/>
              <a:cs typeface="Arial"/>
            </a:endParaRPr>
          </a:p>
          <a:p>
            <a:pPr marL="12700" marR="53378">
              <a:lnSpc>
                <a:spcPct val="95825"/>
              </a:lnSpc>
              <a:spcBef>
                <a:spcPts val="664"/>
              </a:spcBef>
            </a:pPr>
            <a:r>
              <a:rPr sz="2800" dirty="0">
                <a:latin typeface="Arial"/>
                <a:cs typeface="Arial"/>
              </a:rPr>
              <a:t>or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140" y="3424966"/>
            <a:ext cx="602972" cy="1071166"/>
          </a:xfrm>
          <a:prstGeom prst="rect">
            <a:avLst/>
          </a:prstGeom>
        </p:spPr>
        <p:txBody>
          <a:bodyPr wrap="square" lIns="0" tIns="27051" rIns="0" bIns="0" rtlCol="0">
            <a:noAutofit/>
          </a:bodyPr>
          <a:lstStyle/>
          <a:p>
            <a:pPr marL="12700" marR="108">
              <a:lnSpc>
                <a:spcPts val="4260"/>
              </a:lnSpc>
            </a:pPr>
            <a:r>
              <a:rPr sz="42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800" dirty="0">
                <a:latin typeface="Arial"/>
                <a:cs typeface="Arial"/>
              </a:rPr>
              <a:t>I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4160"/>
              </a:lnSpc>
            </a:pPr>
            <a:r>
              <a:rPr sz="4200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800" dirty="0">
                <a:latin typeface="Arial"/>
                <a:cs typeface="Arial"/>
              </a:rPr>
              <a:t>I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140" y="5105082"/>
            <a:ext cx="6134958" cy="381254"/>
          </a:xfrm>
          <a:prstGeom prst="rect">
            <a:avLst/>
          </a:prstGeom>
        </p:spPr>
        <p:txBody>
          <a:bodyPr wrap="square" lIns="0" tIns="18827" rIns="0" bIns="0" rtlCol="0">
            <a:noAutofit/>
          </a:bodyPr>
          <a:lstStyle/>
          <a:p>
            <a:pPr marL="12700">
              <a:lnSpc>
                <a:spcPts val="2965"/>
              </a:lnSpc>
            </a:pPr>
            <a:r>
              <a:rPr sz="2800" i="1" spc="0" dirty="0">
                <a:latin typeface="Arial"/>
                <a:cs typeface="Arial"/>
              </a:rPr>
              <a:t>Interpretation - A line in the truth table.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8000" y="1417637"/>
            <a:ext cx="1828800" cy="762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0"/>
              </a:spcBef>
            </a:pPr>
            <a:endParaRPr sz="6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B1D45F-0205-4A60-8FF4-BF4A0E46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17525"/>
            <a:ext cx="7989888" cy="10826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b="1" dirty="0"/>
              <a:t>Assignments and Models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581025" y="2227263"/>
            <a:ext cx="7989888" cy="3632200"/>
          </a:xfrm>
        </p:spPr>
        <p:txBody>
          <a:bodyPr rtlCol="0">
            <a:normAutofit lnSpcReduction="10000"/>
          </a:bodyPr>
          <a:lstStyle/>
          <a:p>
            <a:pPr marL="306000" indent="-306000" algn="just" eaLnBrk="1" fontAlgn="auto" hangingPunct="1">
              <a:defRPr/>
            </a:pPr>
            <a:r>
              <a:rPr lang="en-GB" altLang="en-US" sz="2800" dirty="0"/>
              <a:t>Each line of a truth table represents a different possibility called an </a:t>
            </a:r>
            <a:r>
              <a:rPr lang="en-GB" altLang="en-US" sz="2800" dirty="0">
                <a:solidFill>
                  <a:schemeClr val="accent2"/>
                </a:solidFill>
              </a:rPr>
              <a:t>assignment</a:t>
            </a:r>
            <a:r>
              <a:rPr lang="en-GB" altLang="en-US" sz="2800" dirty="0"/>
              <a:t> of the truth values to the propositions.</a:t>
            </a:r>
          </a:p>
          <a:p>
            <a:pPr marL="306000" indent="-306000" algn="just" eaLnBrk="1" fontAlgn="auto" hangingPunct="1">
              <a:defRPr/>
            </a:pPr>
            <a:endParaRPr lang="en-GB" altLang="en-US" sz="2800" dirty="0"/>
          </a:p>
          <a:p>
            <a:pPr marL="306000" indent="-306000" algn="just" eaLnBrk="1" fontAlgn="auto" hangingPunct="1">
              <a:defRPr/>
            </a:pPr>
            <a:r>
              <a:rPr lang="en-GB" altLang="en-US" sz="2800" dirty="0"/>
              <a:t>An assignment which makes the expression true is said to be a </a:t>
            </a:r>
            <a:r>
              <a:rPr lang="en-GB" altLang="en-US" sz="2800" dirty="0">
                <a:solidFill>
                  <a:schemeClr val="accent2"/>
                </a:solidFill>
              </a:rPr>
              <a:t>model</a:t>
            </a:r>
            <a:r>
              <a:rPr lang="en-GB" altLang="en-US" sz="2800" dirty="0"/>
              <a:t> for the expression.</a:t>
            </a:r>
          </a:p>
          <a:p>
            <a:pPr marL="306000" indent="-306000" algn="just" eaLnBrk="1" fontAlgn="auto" hangingPunct="1">
              <a:buFontTx/>
              <a:buNone/>
              <a:defRPr/>
            </a:pPr>
            <a:r>
              <a:rPr lang="en-GB" altLang="en-US" dirty="0">
                <a:solidFill>
                  <a:srgbClr val="0000CC"/>
                </a:solidFill>
              </a:rPr>
              <a:t>			</a:t>
            </a:r>
          </a:p>
          <a:p>
            <a:pPr marL="306000" indent="-306000" algn="just" eaLnBrk="1" fontAlgn="auto" hangingPunct="1">
              <a:defRPr/>
            </a:pPr>
            <a:r>
              <a:rPr lang="en-GB" altLang="en-US" sz="2800" dirty="0"/>
              <a:t>An assignment which makes the expression false is said to be a </a:t>
            </a:r>
            <a:r>
              <a:rPr lang="en-GB" altLang="en-US" sz="2800" dirty="0">
                <a:solidFill>
                  <a:schemeClr val="accent2"/>
                </a:solidFill>
              </a:rPr>
              <a:t>counter-example</a:t>
            </a:r>
            <a:r>
              <a:rPr lang="en-GB" alt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2896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/>
          <p:nvPr/>
        </p:nvSpPr>
        <p:spPr>
          <a:xfrm>
            <a:off x="5181600" y="1676400"/>
            <a:ext cx="3048000" cy="4984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28800" y="2209878"/>
            <a:ext cx="5715000" cy="29520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93140" y="625328"/>
            <a:ext cx="1987101" cy="507746"/>
          </a:xfrm>
          <a:prstGeom prst="rect">
            <a:avLst/>
          </a:prstGeom>
        </p:spPr>
        <p:txBody>
          <a:bodyPr wrap="square" lIns="0" tIns="25273" rIns="0" bIns="0" rtlCol="0">
            <a:noAutofit/>
          </a:bodyPr>
          <a:lstStyle/>
          <a:p>
            <a:pPr marL="12700">
              <a:lnSpc>
                <a:spcPts val="3979"/>
              </a:lnSpc>
            </a:pPr>
            <a:r>
              <a:rPr sz="3800" b="1" dirty="0">
                <a:latin typeface="Times New Roman"/>
                <a:cs typeface="Times New Roman"/>
              </a:rPr>
              <a:t>Try this..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3140" y="1635786"/>
            <a:ext cx="1741119" cy="482600"/>
          </a:xfrm>
          <a:prstGeom prst="rect">
            <a:avLst/>
          </a:prstGeom>
        </p:spPr>
        <p:txBody>
          <a:bodyPr wrap="square" lIns="0" tIns="23971" rIns="0" bIns="0" rtlCol="0">
            <a:noAutofit/>
          </a:bodyPr>
          <a:lstStyle/>
          <a:p>
            <a:pPr marL="12700">
              <a:lnSpc>
                <a:spcPts val="3775"/>
              </a:lnSpc>
            </a:pPr>
            <a:r>
              <a:rPr sz="3600" spc="9" dirty="0">
                <a:solidFill>
                  <a:srgbClr val="FF0000"/>
                </a:solidFill>
                <a:latin typeface="Wingdings"/>
                <a:cs typeface="Wingdings"/>
              </a:rPr>
              <a:t></a:t>
            </a:r>
            <a:r>
              <a:rPr sz="2400" spc="0" dirty="0">
                <a:latin typeface="Arial"/>
                <a:cs typeface="Arial"/>
              </a:rPr>
              <a:t>Complete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25623" y="1759108"/>
            <a:ext cx="494791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sz="2400" dirty="0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34029" y="1759108"/>
            <a:ext cx="680110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sz="2400" spc="0" dirty="0">
                <a:latin typeface="Arial"/>
                <a:cs typeface="Arial"/>
              </a:rPr>
              <a:t>truth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27754" y="1759108"/>
            <a:ext cx="731012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sz="2400" spc="0" dirty="0">
                <a:latin typeface="Arial"/>
                <a:cs typeface="Arial"/>
              </a:rPr>
              <a:t>table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72990" y="1759108"/>
            <a:ext cx="426821" cy="330200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sz="2400" dirty="0">
                <a:latin typeface="Arial"/>
                <a:cs typeface="Arial"/>
              </a:rPr>
              <a:t>for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140" y="4269512"/>
            <a:ext cx="6805980" cy="1770257"/>
          </a:xfrm>
          <a:prstGeom prst="rect">
            <a:avLst/>
          </a:prstGeom>
        </p:spPr>
        <p:txBody>
          <a:bodyPr wrap="square" lIns="0" tIns="23272" rIns="0" bIns="0" rtlCol="0">
            <a:noAutofit/>
          </a:bodyPr>
          <a:lstStyle/>
          <a:p>
            <a:pPr marL="12700" marR="68579">
              <a:lnSpc>
                <a:spcPts val="3665"/>
              </a:lnSpc>
            </a:pP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66766" y="4392834"/>
            <a:ext cx="2632354" cy="769112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914298">
              <a:lnSpc>
                <a:spcPts val="2555"/>
              </a:lnSpc>
            </a:pPr>
            <a:endParaRPr sz="24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62350" y="5709570"/>
            <a:ext cx="1086408" cy="330199"/>
          </a:xfrm>
          <a:prstGeom prst="rect">
            <a:avLst/>
          </a:prstGeom>
        </p:spPr>
        <p:txBody>
          <a:bodyPr wrap="square" lIns="0" tIns="16224" rIns="0" bIns="0" rtlCol="0">
            <a:noAutofit/>
          </a:bodyPr>
          <a:lstStyle/>
          <a:p>
            <a:pPr marL="12700">
              <a:lnSpc>
                <a:spcPts val="2555"/>
              </a:lnSpc>
            </a:pPr>
            <a:r>
              <a:rPr sz="2400" dirty="0">
                <a:latin typeface="Arial"/>
                <a:cs typeface="Arial"/>
              </a:rPr>
              <a:t>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58000" y="1417637"/>
            <a:ext cx="1828800" cy="762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600"/>
              </a:lnSpc>
              <a:spcBef>
                <a:spcPts val="0"/>
              </a:spcBef>
            </a:pPr>
            <a:endParaRPr sz="6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0C3F6-4B27-42F1-9632-E7373DB78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08A8BD-6AC5-4740-ACC7-196FFB56E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5" y="685801"/>
            <a:ext cx="7514035" cy="1371599"/>
          </a:xfrm>
        </p:spPr>
        <p:txBody>
          <a:bodyPr/>
          <a:lstStyle/>
          <a:p>
            <a:r>
              <a:rPr lang="en-US" dirty="0"/>
              <a:t>Satisfiable and Valid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25457-7A2B-4994-902C-6DE0215AF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234" y="2057400"/>
            <a:ext cx="7514035" cy="3733801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 formula is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valid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if it is true for all values of its terms. </a:t>
            </a:r>
            <a:r>
              <a:rPr lang="en-US" sz="2400" b="1" dirty="0">
                <a:solidFill>
                  <a:srgbClr val="222222"/>
                </a:solidFill>
                <a:latin typeface="arial" panose="020B0604020202020204" pitchFamily="34" charset="0"/>
              </a:rPr>
              <a:t>V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alid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if all values it returns in the truth table are true .</a:t>
            </a:r>
          </a:p>
          <a:p>
            <a:r>
              <a:rPr lang="en-US" sz="2400" dirty="0">
                <a:solidFill>
                  <a:srgbClr val="222222"/>
                </a:solidFill>
                <a:latin typeface="arial" panose="020B0604020202020204" pitchFamily="34" charset="0"/>
              </a:rPr>
              <a:t>A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2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proposition</a:t>
            </a:r>
            <a:r>
              <a:rPr lang="en-US" sz="2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is satisfiable if there is at least one true result in its truth table.</a:t>
            </a:r>
            <a:endParaRPr lang="en-US" sz="24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97DAB2-BFF9-4D1F-BA7B-42339384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896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28A6-16A0-4948-87C5-AE3573369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5" y="685801"/>
            <a:ext cx="7514035" cy="1371599"/>
          </a:xfrm>
        </p:spPr>
        <p:txBody>
          <a:bodyPr/>
          <a:lstStyle/>
          <a:p>
            <a:r>
              <a:rPr lang="en-US" dirty="0"/>
              <a:t>DIY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662574C-5359-468D-BD34-B494A4316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699" y="2971801"/>
            <a:ext cx="7661101" cy="255959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821B7-E951-47D5-9A3D-F4BF75B20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318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F1527C3-06F4-4F4D-B364-8E9726645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BF1C23D2-D74F-4456-AD7B-904A6E28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578577AD-563A-4936-9ACB-FDCF298412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1C9F3743-BFAB-4636-81C7-ACD99C694B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FC58029E-BC15-45E4-AA28-CC80C96A3F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1CBB721-7EDD-4FEA-9D6B-A3656D9F45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4C945CDA-4F14-4FA0-B272-B1E25B4FA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2084" y="685801"/>
            <a:ext cx="2057400" cy="510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ln w="3175" cmpd="sng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Rectangle 1"/>
          <p:cNvSpPr/>
          <p:nvPr/>
        </p:nvSpPr>
        <p:spPr>
          <a:xfrm>
            <a:off x="3415890" y="725762"/>
            <a:ext cx="5324487" cy="5751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700" b="1" dirty="0"/>
              <a:t>Example 1: Formalize in propositional logic: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sz="1700" dirty="0"/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700" dirty="0"/>
              <a:t>a = ‘It is early in the morning’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700" dirty="0"/>
              <a:t>b = ‘It is late at night’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700" dirty="0"/>
              <a:t>c = ‘I take a taxi’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700" dirty="0"/>
              <a:t>d = ‘I use the train’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700" dirty="0"/>
              <a:t>e = ‘I am abroad’ 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sz="1700" dirty="0"/>
          </a:p>
          <a:p>
            <a:pPr marL="34290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/>
              <a:t>When it is early in the morning or late at night and I am abroad I take a taxi.</a:t>
            </a:r>
          </a:p>
          <a:p>
            <a:pPr marL="34290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/>
              <a:t>If it is early in the morning and I am not abroad I always use the train. </a:t>
            </a:r>
          </a:p>
          <a:p>
            <a:pPr marL="34290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/>
              <a:t>If it is late at night and I am not abroad then I use either the train or the taxi.</a:t>
            </a:r>
          </a:p>
          <a:p>
            <a:pPr marL="34290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07BA5-AA5C-40CF-8A32-28AC54E4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2084" y="685801"/>
            <a:ext cx="2057400" cy="510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Bef>
                <a:spcPct val="0"/>
              </a:spcBef>
              <a:spcAft>
                <a:spcPts val="600"/>
              </a:spcAft>
            </a:pPr>
            <a:r>
              <a:rPr lang="en-US" sz="2800">
                <a:ln w="3175" cmpd="sng"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DIY</a:t>
            </a:r>
          </a:p>
        </p:txBody>
      </p:sp>
      <p:sp>
        <p:nvSpPr>
          <p:cNvPr id="2" name="Rectangle 1"/>
          <p:cNvSpPr/>
          <p:nvPr/>
        </p:nvSpPr>
        <p:spPr>
          <a:xfrm>
            <a:off x="1447800" y="725762"/>
            <a:ext cx="7292577" cy="51575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700" b="1" dirty="0"/>
              <a:t>Example 1: Formalize in propositional logic: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sz="1700" dirty="0"/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700" dirty="0"/>
              <a:t>a = ‘It is early in the morning’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700" dirty="0"/>
              <a:t>b = ‘It is late at night’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700" dirty="0"/>
              <a:t>c = ‘I take a taxi’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700" dirty="0"/>
              <a:t>d = ‘I use the train’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700" dirty="0"/>
              <a:t>e = ‘I am abroad’ 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sz="1700" dirty="0"/>
          </a:p>
          <a:p>
            <a:pPr marL="34290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/>
              <a:t>When it is early in the morning or late at night and I am abroad I take a taxi.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/>
              <a:t>	(a v b) ^ (e </a:t>
            </a:r>
            <a:r>
              <a:rPr lang="en-US" sz="2400" dirty="0">
                <a:sym typeface="Wingdings" panose="05000000000000000000" pitchFamily="2" charset="2"/>
              </a:rPr>
              <a:t> c</a:t>
            </a:r>
            <a:r>
              <a:rPr lang="en-US" sz="2400" dirty="0"/>
              <a:t>)</a:t>
            </a:r>
          </a:p>
          <a:p>
            <a:pPr marL="34290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/>
              <a:t>If it is early in the morning and I am not abroad I always use the train. 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/>
              <a:t>	(a   ^ ~e) </a:t>
            </a:r>
            <a:r>
              <a:rPr lang="en-US" sz="2400" dirty="0">
                <a:sym typeface="Wingdings" panose="05000000000000000000" pitchFamily="2" charset="2"/>
              </a:rPr>
              <a:t>&lt;--</a:t>
            </a:r>
            <a:r>
              <a:rPr lang="en-US" sz="2400" dirty="0"/>
              <a:t>-&gt; d</a:t>
            </a:r>
          </a:p>
          <a:p>
            <a:pPr marL="342900" indent="-342900"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400" dirty="0"/>
              <a:t>if it is late at night and I am not abroad then I use either the train or the taxi.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/>
              <a:t>	(b ^ ~e) -&gt; (d v c) 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sz="1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07BA5-AA5C-40CF-8A32-28AC54E4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533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113078" y="3274095"/>
            <a:ext cx="7192818" cy="16808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9600" y="609600"/>
            <a:ext cx="7641942" cy="4832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3845"/>
              </a:lnSpc>
              <a:spcBef>
                <a:spcPts val="192"/>
              </a:spcBef>
            </a:pPr>
            <a:r>
              <a:rPr lang="en-US" sz="4400" dirty="0">
                <a:latin typeface="Calibri" pitchFamily="34" charset="0"/>
                <a:cs typeface="Calibri" pitchFamily="34" charset="0"/>
              </a:rPr>
              <a:t>Tautology and  contradiction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752600"/>
            <a:ext cx="7546832" cy="13438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397" marR="34602">
              <a:lnSpc>
                <a:spcPts val="1997"/>
              </a:lnSpc>
              <a:spcBef>
                <a:spcPts val="100"/>
              </a:spcBef>
            </a:pPr>
            <a:r>
              <a:rPr sz="3200" baseline="1973" dirty="0">
                <a:latin typeface="Arial Unicode MS"/>
                <a:cs typeface="Arial Unicode MS"/>
              </a:rPr>
              <a:t>•</a:t>
            </a:r>
            <a:r>
              <a:rPr sz="3200" spc="234" baseline="1973" dirty="0">
                <a:latin typeface="Arial Unicode MS"/>
                <a:cs typeface="Arial Unicode MS"/>
              </a:rPr>
              <a:t> </a:t>
            </a:r>
            <a:r>
              <a:rPr sz="3200" spc="-301" baseline="2973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00" baseline="2973" dirty="0">
                <a:solidFill>
                  <a:srgbClr val="0000FF"/>
                </a:solidFill>
                <a:latin typeface="Times New Roman"/>
                <a:cs typeface="Times New Roman"/>
              </a:rPr>
              <a:t>auto</a:t>
            </a:r>
            <a:r>
              <a:rPr sz="3200" spc="13" baseline="2973" dirty="0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sz="3200" baseline="2973" dirty="0">
                <a:solidFill>
                  <a:srgbClr val="0000FF"/>
                </a:solidFill>
                <a:latin typeface="Times New Roman"/>
                <a:cs typeface="Times New Roman"/>
              </a:rPr>
              <a:t>ogy</a:t>
            </a:r>
            <a:r>
              <a:rPr sz="3200" spc="-93" baseline="297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00" baseline="2973" dirty="0">
                <a:latin typeface="Times New Roman"/>
                <a:cs typeface="Times New Roman"/>
              </a:rPr>
              <a:t>is </a:t>
            </a:r>
            <a:r>
              <a:rPr sz="3200" spc="44" baseline="2973" dirty="0">
                <a:latin typeface="Times New Roman"/>
                <a:cs typeface="Times New Roman"/>
              </a:rPr>
              <a:t> </a:t>
            </a:r>
            <a:r>
              <a:rPr sz="3200" baseline="2973" dirty="0">
                <a:latin typeface="Times New Roman"/>
                <a:cs typeface="Times New Roman"/>
              </a:rPr>
              <a:t>a</a:t>
            </a:r>
            <a:r>
              <a:rPr sz="3200" spc="246" baseline="2973" dirty="0">
                <a:latin typeface="Times New Roman"/>
                <a:cs typeface="Times New Roman"/>
              </a:rPr>
              <a:t> </a:t>
            </a:r>
            <a:r>
              <a:rPr sz="3200" spc="-74" baseline="2973" dirty="0">
                <a:latin typeface="Times New Roman"/>
                <a:cs typeface="Times New Roman"/>
              </a:rPr>
              <a:t>p</a:t>
            </a:r>
            <a:r>
              <a:rPr sz="3200" baseline="2973" dirty="0">
                <a:latin typeface="Times New Roman"/>
                <a:cs typeface="Times New Roman"/>
              </a:rPr>
              <a:t>ro</a:t>
            </a:r>
            <a:r>
              <a:rPr sz="3200" spc="79" baseline="2973" dirty="0">
                <a:latin typeface="Times New Roman"/>
                <a:cs typeface="Times New Roman"/>
              </a:rPr>
              <a:t>p</a:t>
            </a:r>
            <a:r>
              <a:rPr sz="3200" baseline="2973" dirty="0">
                <a:latin typeface="Times New Roman"/>
                <a:cs typeface="Times New Roman"/>
              </a:rPr>
              <a:t>osition</a:t>
            </a:r>
            <a:r>
              <a:rPr sz="3200" spc="92" baseline="2973" dirty="0">
                <a:latin typeface="Times New Roman"/>
                <a:cs typeface="Times New Roman"/>
              </a:rPr>
              <a:t> </a:t>
            </a:r>
            <a:r>
              <a:rPr sz="3200" baseline="2973" dirty="0">
                <a:latin typeface="Times New Roman"/>
                <a:cs typeface="Times New Roman"/>
              </a:rPr>
              <a:t>which</a:t>
            </a:r>
            <a:r>
              <a:rPr sz="3200" spc="-66" baseline="2973" dirty="0">
                <a:latin typeface="Times New Roman"/>
                <a:cs typeface="Times New Roman"/>
              </a:rPr>
              <a:t> </a:t>
            </a:r>
            <a:r>
              <a:rPr sz="3200" baseline="2973" dirty="0">
                <a:latin typeface="Times New Roman"/>
                <a:cs typeface="Times New Roman"/>
              </a:rPr>
              <a:t>is </a:t>
            </a:r>
            <a:r>
              <a:rPr sz="3200" spc="44" baseline="2973" dirty="0">
                <a:latin typeface="Times New Roman"/>
                <a:cs typeface="Times New Roman"/>
              </a:rPr>
              <a:t> </a:t>
            </a:r>
            <a:r>
              <a:rPr sz="3200" baseline="2973" dirty="0">
                <a:latin typeface="Times New Roman"/>
                <a:cs typeface="Times New Roman"/>
              </a:rPr>
              <a:t>al</a:t>
            </a:r>
            <a:r>
              <a:rPr sz="3200" spc="-70" baseline="2973" dirty="0">
                <a:latin typeface="Times New Roman"/>
                <a:cs typeface="Times New Roman"/>
              </a:rPr>
              <a:t>wa</a:t>
            </a:r>
            <a:r>
              <a:rPr sz="3200" baseline="2973" dirty="0">
                <a:latin typeface="Times New Roman"/>
                <a:cs typeface="Times New Roman"/>
              </a:rPr>
              <a:t>ys</a:t>
            </a:r>
            <a:r>
              <a:rPr sz="3200" spc="247" baseline="2973" dirty="0">
                <a:latin typeface="Times New Roman"/>
                <a:cs typeface="Times New Roman"/>
              </a:rPr>
              <a:t> </a:t>
            </a:r>
            <a:r>
              <a:rPr sz="3200" baseline="2973" dirty="0">
                <a:latin typeface="Times New Roman"/>
                <a:cs typeface="Times New Roman"/>
              </a:rPr>
              <a:t>true</a:t>
            </a:r>
            <a:r>
              <a:rPr lang="en-US" sz="3200" baseline="2973" dirty="0">
                <a:latin typeface="Times New Roman"/>
                <a:cs typeface="Times New Roman"/>
              </a:rPr>
              <a:t>. It is also valid.</a:t>
            </a:r>
            <a:endParaRPr sz="2000" dirty="0">
              <a:latin typeface="Times New Roman"/>
              <a:cs typeface="Times New Roman"/>
            </a:endParaRPr>
          </a:p>
          <a:p>
            <a:pPr marL="11397" marR="34602">
              <a:lnSpc>
                <a:spcPct val="144364"/>
              </a:lnSpc>
              <a:spcBef>
                <a:spcPts val="16"/>
              </a:spcBef>
            </a:pPr>
            <a:r>
              <a:rPr sz="2000" dirty="0">
                <a:latin typeface="Arial Unicode MS"/>
                <a:cs typeface="Arial Unicode MS"/>
              </a:rPr>
              <a:t>•</a:t>
            </a:r>
            <a:r>
              <a:rPr sz="2000" spc="245" dirty="0">
                <a:latin typeface="Arial Unicode MS"/>
                <a:cs typeface="Arial Unicode MS"/>
              </a:rPr>
              <a:t> 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Contradiction</a:t>
            </a:r>
            <a:r>
              <a:rPr sz="2000" spc="-36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4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46" dirty="0">
                <a:latin typeface="Times New Roman"/>
                <a:cs typeface="Times New Roman"/>
              </a:rPr>
              <a:t> </a:t>
            </a:r>
            <a:r>
              <a:rPr sz="2000" spc="-74" dirty="0">
                <a:latin typeface="Times New Roman"/>
                <a:cs typeface="Times New Roman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ro</a:t>
            </a:r>
            <a:r>
              <a:rPr sz="2000" spc="79" dirty="0">
                <a:latin typeface="Times New Roman"/>
                <a:cs typeface="Times New Roman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osition</a:t>
            </a:r>
            <a:r>
              <a:rPr sz="2000" spc="92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-66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</a:t>
            </a:r>
            <a:r>
              <a:rPr sz="2000" spc="-71" dirty="0">
                <a:latin typeface="Times New Roman"/>
                <a:cs typeface="Times New Roman"/>
              </a:rPr>
              <a:t>wa</a:t>
            </a:r>
            <a:r>
              <a:rPr sz="2000" dirty="0">
                <a:latin typeface="Times New Roman"/>
                <a:cs typeface="Times New Roman"/>
              </a:rPr>
              <a:t>ys</a:t>
            </a:r>
            <a:r>
              <a:rPr sz="2000" spc="143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false</a:t>
            </a:r>
            <a:r>
              <a:rPr lang="en-US" sz="2000" dirty="0">
                <a:latin typeface="Times New Roman"/>
                <a:cs typeface="Times New Roman"/>
              </a:rPr>
              <a:t>. It is unsatisfiable.</a:t>
            </a:r>
            <a:endParaRPr sz="2000" dirty="0">
              <a:latin typeface="Times New Roman"/>
              <a:cs typeface="Times New Roman"/>
            </a:endParaRPr>
          </a:p>
          <a:p>
            <a:pPr marL="245023" indent="-233626">
              <a:lnSpc>
                <a:spcPts val="2378"/>
              </a:lnSpc>
              <a:spcBef>
                <a:spcPts val="585"/>
              </a:spcBef>
            </a:pPr>
            <a:r>
              <a:rPr sz="2000" dirty="0">
                <a:latin typeface="Arial Unicode MS"/>
                <a:cs typeface="Arial Unicode MS"/>
              </a:rPr>
              <a:t>•</a:t>
            </a:r>
            <a:r>
              <a:rPr sz="2000" spc="267" dirty="0">
                <a:latin typeface="Arial Unicode MS"/>
                <a:cs typeface="Arial Unicode MS"/>
              </a:rPr>
              <a:t> </a:t>
            </a:r>
            <a:r>
              <a:rPr sz="2000" dirty="0">
                <a:solidFill>
                  <a:srgbClr val="0000FF"/>
                </a:solidFill>
                <a:latin typeface="Times New Roman"/>
                <a:cs typeface="Times New Roman"/>
              </a:rPr>
              <a:t>Contingency</a:t>
            </a:r>
            <a:r>
              <a:rPr sz="2000" spc="-33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27" dirty="0">
                <a:latin typeface="Times New Roman"/>
                <a:cs typeface="Times New Roman"/>
              </a:rPr>
              <a:t> </a:t>
            </a:r>
            <a:r>
              <a:rPr sz="2000" spc="-79" dirty="0">
                <a:latin typeface="Times New Roman"/>
                <a:cs typeface="Times New Roman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ro</a:t>
            </a:r>
            <a:r>
              <a:rPr sz="2000" spc="79" dirty="0">
                <a:latin typeface="Times New Roman"/>
                <a:cs typeface="Times New Roman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osition</a:t>
            </a:r>
            <a:r>
              <a:rPr sz="2000" spc="17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neither</a:t>
            </a:r>
            <a:r>
              <a:rPr sz="2000" spc="10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78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tautology</a:t>
            </a:r>
            <a:r>
              <a:rPr sz="2000" spc="181" dirty="0">
                <a:latin typeface="Times New Roman"/>
                <a:cs typeface="Times New Roman"/>
              </a:rPr>
              <a:t> </a:t>
            </a:r>
            <a:r>
              <a:rPr lang="en-US" sz="2000" spc="181" dirty="0">
                <a:latin typeface="Times New Roman"/>
                <a:cs typeface="Times New Roman"/>
              </a:rPr>
              <a:t>n</a:t>
            </a:r>
            <a:r>
              <a:rPr sz="2000" spc="-62" dirty="0">
                <a:latin typeface="Times New Roman"/>
                <a:cs typeface="Times New Roman"/>
              </a:rPr>
              <a:t>o</a:t>
            </a:r>
            <a:r>
              <a:rPr sz="2000" dirty="0">
                <a:latin typeface="Times New Roman"/>
                <a:cs typeface="Times New Roman"/>
              </a:rPr>
              <a:t>r a</a:t>
            </a:r>
            <a:r>
              <a:rPr sz="2000" spc="153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contradi</a:t>
            </a:r>
            <a:r>
              <a:rPr sz="2000" spc="4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Times New Roman"/>
                <a:cs typeface="Times New Roman"/>
              </a:rPr>
              <a:t>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0239" y="520524"/>
            <a:ext cx="218035" cy="134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794">
              <a:lnSpc>
                <a:spcPts val="897"/>
              </a:lnSpc>
            </a:pPr>
            <a:endParaRPr sz="900" dirty="0"/>
          </a:p>
        </p:txBody>
      </p:sp>
      <p:sp>
        <p:nvSpPr>
          <p:cNvPr id="2" name="object 2"/>
          <p:cNvSpPr txBox="1"/>
          <p:nvPr/>
        </p:nvSpPr>
        <p:spPr>
          <a:xfrm>
            <a:off x="4600280" y="520524"/>
            <a:ext cx="218415" cy="134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794">
              <a:lnSpc>
                <a:spcPts val="897"/>
              </a:lnSpc>
            </a:pPr>
            <a:endParaRPr sz="9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4CEC14-F447-47F8-8005-5F2DF449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33400"/>
            <a:ext cx="7989887" cy="10826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b="1" dirty="0"/>
              <a:t>Tautology Example</a:t>
            </a:r>
          </a:p>
        </p:txBody>
      </p:sp>
      <p:sp>
        <p:nvSpPr>
          <p:cNvPr id="21507" name="Rectangle 3"/>
          <p:cNvSpPr>
            <a:spLocks noGrp="1"/>
          </p:cNvSpPr>
          <p:nvPr>
            <p:ph idx="1"/>
          </p:nvPr>
        </p:nvSpPr>
        <p:spPr>
          <a:xfrm>
            <a:off x="581025" y="2227263"/>
            <a:ext cx="7989888" cy="3632200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en-GB" altLang="en-US" sz="2800"/>
              <a:t>The truth table for: </a:t>
            </a:r>
            <a:r>
              <a:rPr lang="en-GB" altLang="en-US" sz="2800" i="1"/>
              <a:t>p → </a:t>
            </a:r>
            <a:r>
              <a:rPr lang="en-GB" altLang="en-US" sz="2800"/>
              <a:t>(</a:t>
            </a:r>
            <a:r>
              <a:rPr lang="en-GB" altLang="en-US" sz="2800" i="1"/>
              <a:t>p </a:t>
            </a:r>
            <a:r>
              <a:rPr lang="en-GB" altLang="en-US" sz="2800"/>
              <a:t>V</a:t>
            </a:r>
            <a:r>
              <a:rPr lang="en-GB" altLang="en-US" sz="2800" i="1"/>
              <a:t> q</a:t>
            </a:r>
            <a:r>
              <a:rPr lang="en-GB" altLang="en-US" sz="2800"/>
              <a:t>)</a:t>
            </a:r>
            <a:r>
              <a:rPr lang="en-GB" altLang="en-US" sz="2800" i="1"/>
              <a:t>, </a:t>
            </a:r>
            <a:r>
              <a:rPr lang="en-GB" altLang="en-US" sz="2800"/>
              <a:t>is a tautology, as shown below.</a:t>
            </a:r>
          </a:p>
          <a:p>
            <a:pPr algn="just" eaLnBrk="1" hangingPunct="1">
              <a:buFontTx/>
              <a:buNone/>
            </a:pPr>
            <a:endParaRPr lang="en-GB" altLang="en-US" sz="2800"/>
          </a:p>
          <a:p>
            <a:pPr algn="just" eaLnBrk="1" hangingPunct="1">
              <a:buFontTx/>
              <a:buNone/>
            </a:pPr>
            <a:endParaRPr lang="en-GB" altLang="en-US" sz="2800"/>
          </a:p>
          <a:p>
            <a:pPr algn="just" eaLnBrk="1" hangingPunct="1">
              <a:buFontTx/>
              <a:buNone/>
            </a:pPr>
            <a:endParaRPr lang="en-GB" altLang="en-US" sz="2800"/>
          </a:p>
          <a:p>
            <a:pPr algn="just" eaLnBrk="1" hangingPunct="1">
              <a:buFontTx/>
              <a:buNone/>
            </a:pPr>
            <a:endParaRPr lang="en-GB" altLang="en-US" sz="2800"/>
          </a:p>
          <a:p>
            <a:pPr algn="just" eaLnBrk="1" hangingPunct="1"/>
            <a:endParaRPr lang="en-GB" altLang="en-US" sz="2800"/>
          </a:p>
        </p:txBody>
      </p:sp>
      <p:graphicFrame>
        <p:nvGraphicFramePr>
          <p:cNvPr id="326660" name="Group 4"/>
          <p:cNvGraphicFramePr>
            <a:graphicFrameLocks noGrp="1"/>
          </p:cNvGraphicFramePr>
          <p:nvPr/>
        </p:nvGraphicFramePr>
        <p:xfrm>
          <a:off x="1692275" y="3141663"/>
          <a:ext cx="6048375" cy="2701927"/>
        </p:xfrm>
        <a:graphic>
          <a:graphicData uri="http://schemas.openxmlformats.org/drawingml/2006/table">
            <a:tbl>
              <a:tblPr/>
              <a:tblGrid>
                <a:gridCol w="741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4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5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3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6677" name="Text Box 21"/>
          <p:cNvSpPr txBox="1">
            <a:spLocks noChangeArrowheads="1"/>
          </p:cNvSpPr>
          <p:nvPr/>
        </p:nvSpPr>
        <p:spPr bwMode="auto">
          <a:xfrm>
            <a:off x="3276600" y="3213100"/>
            <a:ext cx="136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(</a:t>
            </a:r>
            <a:r>
              <a:rPr lang="en-GB" altLang="en-US" sz="2800" b="0" i="1">
                <a:cs typeface="Arial" panose="020B0604020202020204" pitchFamily="34" charset="0"/>
              </a:rPr>
              <a:t>p </a:t>
            </a:r>
            <a:r>
              <a:rPr lang="en-GB" altLang="en-US" sz="2000" b="0">
                <a:cs typeface="Arial" panose="020B0604020202020204" pitchFamily="34" charset="0"/>
              </a:rPr>
              <a:t>V</a:t>
            </a:r>
            <a:r>
              <a:rPr lang="en-GB" altLang="en-US" sz="2800" b="0" i="1">
                <a:cs typeface="Arial" panose="020B0604020202020204" pitchFamily="34" charset="0"/>
              </a:rPr>
              <a:t> q</a:t>
            </a:r>
            <a:r>
              <a:rPr lang="en-GB" altLang="en-US" sz="2800" b="0">
                <a:cs typeface="Arial" panose="020B0604020202020204" pitchFamily="34" charset="0"/>
              </a:rPr>
              <a:t>)</a:t>
            </a:r>
          </a:p>
        </p:txBody>
      </p:sp>
      <p:sp>
        <p:nvSpPr>
          <p:cNvPr id="326678" name="Text Box 22"/>
          <p:cNvSpPr txBox="1">
            <a:spLocks noChangeArrowheads="1"/>
          </p:cNvSpPr>
          <p:nvPr/>
        </p:nvSpPr>
        <p:spPr bwMode="auto">
          <a:xfrm>
            <a:off x="3276600" y="3860800"/>
            <a:ext cx="136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6679" name="Text Box 23"/>
          <p:cNvSpPr txBox="1">
            <a:spLocks noChangeArrowheads="1"/>
          </p:cNvSpPr>
          <p:nvPr/>
        </p:nvSpPr>
        <p:spPr bwMode="auto">
          <a:xfrm>
            <a:off x="3276600" y="4292600"/>
            <a:ext cx="136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6680" name="Text Box 24"/>
          <p:cNvSpPr txBox="1">
            <a:spLocks noChangeArrowheads="1"/>
          </p:cNvSpPr>
          <p:nvPr/>
        </p:nvSpPr>
        <p:spPr bwMode="auto">
          <a:xfrm>
            <a:off x="3276600" y="4868863"/>
            <a:ext cx="1368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6681" name="Text Box 25"/>
          <p:cNvSpPr txBox="1">
            <a:spLocks noChangeArrowheads="1"/>
          </p:cNvSpPr>
          <p:nvPr/>
        </p:nvSpPr>
        <p:spPr bwMode="auto">
          <a:xfrm>
            <a:off x="3276600" y="5300663"/>
            <a:ext cx="1368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6682" name="Text Box 26"/>
          <p:cNvSpPr txBox="1">
            <a:spLocks noChangeArrowheads="1"/>
          </p:cNvSpPr>
          <p:nvPr/>
        </p:nvSpPr>
        <p:spPr bwMode="auto">
          <a:xfrm>
            <a:off x="5292725" y="3213100"/>
            <a:ext cx="2160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 i="1">
                <a:cs typeface="Arial" panose="020B0604020202020204" pitchFamily="34" charset="0"/>
              </a:rPr>
              <a:t>p → </a:t>
            </a:r>
            <a:r>
              <a:rPr lang="en-GB" altLang="en-US" sz="2800" b="0">
                <a:cs typeface="Arial" panose="020B0604020202020204" pitchFamily="34" charset="0"/>
              </a:rPr>
              <a:t>(</a:t>
            </a:r>
            <a:r>
              <a:rPr lang="en-GB" altLang="en-US" sz="2800" b="0" i="1">
                <a:cs typeface="Arial" panose="020B0604020202020204" pitchFamily="34" charset="0"/>
              </a:rPr>
              <a:t>p </a:t>
            </a:r>
            <a:r>
              <a:rPr lang="en-GB" altLang="en-US" sz="2000" b="0">
                <a:cs typeface="Arial" panose="020B0604020202020204" pitchFamily="34" charset="0"/>
              </a:rPr>
              <a:t>V</a:t>
            </a:r>
            <a:r>
              <a:rPr lang="en-GB" altLang="en-US" sz="2800" b="0" i="1">
                <a:cs typeface="Arial" panose="020B0604020202020204" pitchFamily="34" charset="0"/>
              </a:rPr>
              <a:t> q</a:t>
            </a:r>
            <a:r>
              <a:rPr lang="en-GB" altLang="en-US" sz="2800" b="0">
                <a:cs typeface="Arial" panose="020B0604020202020204" pitchFamily="34" charset="0"/>
              </a:rPr>
              <a:t>)</a:t>
            </a:r>
          </a:p>
        </p:txBody>
      </p:sp>
      <p:sp>
        <p:nvSpPr>
          <p:cNvPr id="326683" name="Text Box 27"/>
          <p:cNvSpPr txBox="1">
            <a:spLocks noChangeArrowheads="1"/>
          </p:cNvSpPr>
          <p:nvPr/>
        </p:nvSpPr>
        <p:spPr bwMode="auto">
          <a:xfrm>
            <a:off x="5508625" y="3789363"/>
            <a:ext cx="1368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6684" name="Text Box 28"/>
          <p:cNvSpPr txBox="1">
            <a:spLocks noChangeArrowheads="1"/>
          </p:cNvSpPr>
          <p:nvPr/>
        </p:nvSpPr>
        <p:spPr bwMode="auto">
          <a:xfrm>
            <a:off x="5508625" y="4292600"/>
            <a:ext cx="136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6685" name="Text Box 29"/>
          <p:cNvSpPr txBox="1">
            <a:spLocks noChangeArrowheads="1"/>
          </p:cNvSpPr>
          <p:nvPr/>
        </p:nvSpPr>
        <p:spPr bwMode="auto">
          <a:xfrm>
            <a:off x="5508625" y="4797425"/>
            <a:ext cx="136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6686" name="Text Box 30"/>
          <p:cNvSpPr txBox="1">
            <a:spLocks noChangeArrowheads="1"/>
          </p:cNvSpPr>
          <p:nvPr/>
        </p:nvSpPr>
        <p:spPr bwMode="auto">
          <a:xfrm>
            <a:off x="5508625" y="5300663"/>
            <a:ext cx="1368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499182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77" grpId="0"/>
      <p:bldP spid="326678" grpId="0"/>
      <p:bldP spid="326679" grpId="0"/>
      <p:bldP spid="326680" grpId="0"/>
      <p:bldP spid="326681" grpId="0"/>
      <p:bldP spid="326682" grpId="0"/>
      <p:bldP spid="326683" grpId="0"/>
      <p:bldP spid="326684" grpId="0"/>
      <p:bldP spid="326685" grpId="0"/>
      <p:bldP spid="32668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7989888" cy="10826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b="1" dirty="0"/>
              <a:t>Contradiction Example</a:t>
            </a:r>
          </a:p>
        </p:txBody>
      </p:sp>
      <p:sp>
        <p:nvSpPr>
          <p:cNvPr id="32768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2805113"/>
            <a:ext cx="7989887" cy="852487"/>
          </a:xfrm>
        </p:spPr>
        <p:txBody>
          <a:bodyPr rtlCol="0">
            <a:normAutofit fontScale="92500" lnSpcReduction="20000"/>
          </a:bodyPr>
          <a:lstStyle/>
          <a:p>
            <a:pPr marL="306000" indent="-306000" algn="just" eaLnBrk="1" fontAlgn="auto" hangingPunct="1">
              <a:buFontTx/>
              <a:buNone/>
              <a:defRPr/>
            </a:pPr>
            <a:r>
              <a:rPr lang="en-GB" altLang="en-US" sz="3600" dirty="0"/>
              <a:t>The truth table for: (</a:t>
            </a:r>
            <a:r>
              <a:rPr lang="en-GB" altLang="en-US" sz="3600" i="1" dirty="0"/>
              <a:t>p </a:t>
            </a:r>
            <a:r>
              <a:rPr lang="en-GB" altLang="en-US" sz="2800" dirty="0"/>
              <a:t>V</a:t>
            </a:r>
            <a:r>
              <a:rPr lang="en-GB" altLang="en-US" sz="3600" i="1" dirty="0"/>
              <a:t> q</a:t>
            </a:r>
            <a:r>
              <a:rPr lang="en-GB" altLang="en-US" sz="3600" dirty="0"/>
              <a:t>)</a:t>
            </a:r>
            <a:r>
              <a:rPr lang="en-GB" altLang="en-US" sz="3600" i="1" dirty="0"/>
              <a:t> </a:t>
            </a:r>
            <a:r>
              <a:rPr lang="el-GR" altLang="en-US" sz="2800" dirty="0"/>
              <a:t>Λ</a:t>
            </a:r>
            <a:r>
              <a:rPr lang="en-GB" altLang="en-US" sz="2800" i="1" dirty="0"/>
              <a:t> </a:t>
            </a:r>
            <a:r>
              <a:rPr lang="en-GB" altLang="en-US" sz="3600" dirty="0"/>
              <a:t>(</a:t>
            </a:r>
            <a:r>
              <a:rPr lang="en-GB" altLang="en-US" sz="3600" i="1" dirty="0"/>
              <a:t>¬p</a:t>
            </a:r>
            <a:r>
              <a:rPr lang="en-GB" altLang="en-US" sz="2800" i="1" dirty="0"/>
              <a:t> </a:t>
            </a:r>
            <a:r>
              <a:rPr lang="el-GR" altLang="en-US" sz="2800" dirty="0"/>
              <a:t>Λ</a:t>
            </a:r>
            <a:r>
              <a:rPr lang="en-GB" altLang="en-US" sz="2800" i="1" dirty="0"/>
              <a:t> </a:t>
            </a:r>
            <a:r>
              <a:rPr lang="en-GB" altLang="en-US" sz="3600" i="1" dirty="0"/>
              <a:t>¬q</a:t>
            </a:r>
            <a:r>
              <a:rPr lang="en-GB" altLang="en-US" sz="3600" dirty="0"/>
              <a:t>)</a:t>
            </a:r>
            <a:r>
              <a:rPr lang="en-GB" altLang="en-US" sz="3600" i="1" dirty="0"/>
              <a:t>, </a:t>
            </a:r>
            <a:r>
              <a:rPr lang="en-GB" altLang="en-US" sz="3600" dirty="0"/>
              <a:t>is a contradiction, as shown below.</a:t>
            </a:r>
          </a:p>
          <a:p>
            <a:pPr marL="306000" indent="-306000" algn="just" eaLnBrk="1" fontAlgn="auto" hangingPunct="1">
              <a:buFontTx/>
              <a:buNone/>
              <a:defRPr/>
            </a:pPr>
            <a:endParaRPr lang="en-GB" altLang="en-US" sz="3600" dirty="0"/>
          </a:p>
          <a:p>
            <a:pPr marL="306000" indent="-306000" algn="just" eaLnBrk="1" fontAlgn="auto" hangingPunct="1">
              <a:buFontTx/>
              <a:buNone/>
              <a:defRPr/>
            </a:pPr>
            <a:endParaRPr lang="en-GB" altLang="en-US" sz="3600" dirty="0"/>
          </a:p>
          <a:p>
            <a:pPr marL="306000" indent="-306000" algn="just" eaLnBrk="1" fontAlgn="auto" hangingPunct="1">
              <a:buFontTx/>
              <a:buNone/>
              <a:defRPr/>
            </a:pPr>
            <a:endParaRPr lang="en-GB" altLang="en-US" dirty="0"/>
          </a:p>
        </p:txBody>
      </p:sp>
      <p:graphicFrame>
        <p:nvGraphicFramePr>
          <p:cNvPr id="327684" name="Group 4"/>
          <p:cNvGraphicFramePr>
            <a:graphicFrameLocks noGrp="1"/>
          </p:cNvGraphicFramePr>
          <p:nvPr/>
        </p:nvGraphicFramePr>
        <p:xfrm>
          <a:off x="250825" y="3141663"/>
          <a:ext cx="8713788" cy="2760663"/>
        </p:xfrm>
        <a:graphic>
          <a:graphicData uri="http://schemas.openxmlformats.org/drawingml/2006/table">
            <a:tbl>
              <a:tblPr/>
              <a:tblGrid>
                <a:gridCol w="576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131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6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3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7710" name="Text Box 30"/>
          <p:cNvSpPr txBox="1">
            <a:spLocks noChangeArrowheads="1"/>
          </p:cNvSpPr>
          <p:nvPr/>
        </p:nvSpPr>
        <p:spPr bwMode="auto">
          <a:xfrm>
            <a:off x="1403350" y="3860800"/>
            <a:ext cx="136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7711" name="Text Box 31"/>
          <p:cNvSpPr txBox="1">
            <a:spLocks noChangeArrowheads="1"/>
          </p:cNvSpPr>
          <p:nvPr/>
        </p:nvSpPr>
        <p:spPr bwMode="auto">
          <a:xfrm>
            <a:off x="1403350" y="4437063"/>
            <a:ext cx="1368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7712" name="Text Box 32"/>
          <p:cNvSpPr txBox="1">
            <a:spLocks noChangeArrowheads="1"/>
          </p:cNvSpPr>
          <p:nvPr/>
        </p:nvSpPr>
        <p:spPr bwMode="auto">
          <a:xfrm>
            <a:off x="1403350" y="4941888"/>
            <a:ext cx="1368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7713" name="Text Box 33"/>
          <p:cNvSpPr txBox="1">
            <a:spLocks noChangeArrowheads="1"/>
          </p:cNvSpPr>
          <p:nvPr/>
        </p:nvSpPr>
        <p:spPr bwMode="auto">
          <a:xfrm>
            <a:off x="1403350" y="5373688"/>
            <a:ext cx="1368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7714" name="Text Box 34"/>
          <p:cNvSpPr txBox="1">
            <a:spLocks noChangeArrowheads="1"/>
          </p:cNvSpPr>
          <p:nvPr/>
        </p:nvSpPr>
        <p:spPr bwMode="auto">
          <a:xfrm>
            <a:off x="1403350" y="3213100"/>
            <a:ext cx="136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(</a:t>
            </a:r>
            <a:r>
              <a:rPr lang="en-GB" altLang="en-US" sz="2800" b="0" i="1">
                <a:cs typeface="Arial" panose="020B0604020202020204" pitchFamily="34" charset="0"/>
              </a:rPr>
              <a:t>p </a:t>
            </a:r>
            <a:r>
              <a:rPr lang="en-GB" altLang="en-US" sz="2000" b="0">
                <a:cs typeface="Arial" panose="020B0604020202020204" pitchFamily="34" charset="0"/>
              </a:rPr>
              <a:t>V</a:t>
            </a:r>
            <a:r>
              <a:rPr lang="en-GB" altLang="en-US" sz="2800" b="0" i="1">
                <a:cs typeface="Arial" panose="020B0604020202020204" pitchFamily="34" charset="0"/>
              </a:rPr>
              <a:t> q</a:t>
            </a:r>
            <a:r>
              <a:rPr lang="en-GB" altLang="en-US" sz="2800" b="0">
                <a:cs typeface="Arial" panose="020B0604020202020204" pitchFamily="34" charset="0"/>
              </a:rPr>
              <a:t>)</a:t>
            </a:r>
          </a:p>
        </p:txBody>
      </p:sp>
      <p:sp>
        <p:nvSpPr>
          <p:cNvPr id="327715" name="Text Box 35"/>
          <p:cNvSpPr txBox="1">
            <a:spLocks noChangeArrowheads="1"/>
          </p:cNvSpPr>
          <p:nvPr/>
        </p:nvSpPr>
        <p:spPr bwMode="auto">
          <a:xfrm>
            <a:off x="2700338" y="3213100"/>
            <a:ext cx="86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 i="1">
                <a:cs typeface="Arial" panose="020B0604020202020204" pitchFamily="34" charset="0"/>
              </a:rPr>
              <a:t>¬p</a:t>
            </a:r>
          </a:p>
        </p:txBody>
      </p:sp>
      <p:sp>
        <p:nvSpPr>
          <p:cNvPr id="327716" name="Text Box 36"/>
          <p:cNvSpPr txBox="1">
            <a:spLocks noChangeArrowheads="1"/>
          </p:cNvSpPr>
          <p:nvPr/>
        </p:nvSpPr>
        <p:spPr bwMode="auto">
          <a:xfrm>
            <a:off x="3348038" y="3213100"/>
            <a:ext cx="86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 i="1">
                <a:cs typeface="Arial" panose="020B0604020202020204" pitchFamily="34" charset="0"/>
              </a:rPr>
              <a:t>¬q</a:t>
            </a:r>
          </a:p>
        </p:txBody>
      </p:sp>
      <p:sp>
        <p:nvSpPr>
          <p:cNvPr id="327717" name="Text Box 37"/>
          <p:cNvSpPr txBox="1">
            <a:spLocks noChangeArrowheads="1"/>
          </p:cNvSpPr>
          <p:nvPr/>
        </p:nvSpPr>
        <p:spPr bwMode="auto">
          <a:xfrm>
            <a:off x="2700338" y="3860800"/>
            <a:ext cx="865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7718" name="Text Box 38"/>
          <p:cNvSpPr txBox="1">
            <a:spLocks noChangeArrowheads="1"/>
          </p:cNvSpPr>
          <p:nvPr/>
        </p:nvSpPr>
        <p:spPr bwMode="auto">
          <a:xfrm>
            <a:off x="2843213" y="4437063"/>
            <a:ext cx="647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7719" name="Text Box 39"/>
          <p:cNvSpPr txBox="1">
            <a:spLocks noChangeArrowheads="1"/>
          </p:cNvSpPr>
          <p:nvPr/>
        </p:nvSpPr>
        <p:spPr bwMode="auto">
          <a:xfrm>
            <a:off x="2700338" y="4941888"/>
            <a:ext cx="792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7720" name="Text Box 40"/>
          <p:cNvSpPr txBox="1">
            <a:spLocks noChangeArrowheads="1"/>
          </p:cNvSpPr>
          <p:nvPr/>
        </p:nvSpPr>
        <p:spPr bwMode="auto">
          <a:xfrm>
            <a:off x="2700338" y="5445125"/>
            <a:ext cx="865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7721" name="Text Box 41"/>
          <p:cNvSpPr txBox="1">
            <a:spLocks noChangeArrowheads="1"/>
          </p:cNvSpPr>
          <p:nvPr/>
        </p:nvSpPr>
        <p:spPr bwMode="auto">
          <a:xfrm>
            <a:off x="3492500" y="3860800"/>
            <a:ext cx="72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7722" name="Text Box 42"/>
          <p:cNvSpPr txBox="1">
            <a:spLocks noChangeArrowheads="1"/>
          </p:cNvSpPr>
          <p:nvPr/>
        </p:nvSpPr>
        <p:spPr bwMode="auto">
          <a:xfrm>
            <a:off x="3492500" y="4437063"/>
            <a:ext cx="720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7723" name="Text Box 43"/>
          <p:cNvSpPr txBox="1">
            <a:spLocks noChangeArrowheads="1"/>
          </p:cNvSpPr>
          <p:nvPr/>
        </p:nvSpPr>
        <p:spPr bwMode="auto">
          <a:xfrm>
            <a:off x="3492500" y="4941888"/>
            <a:ext cx="720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7724" name="Text Box 44"/>
          <p:cNvSpPr txBox="1">
            <a:spLocks noChangeArrowheads="1"/>
          </p:cNvSpPr>
          <p:nvPr/>
        </p:nvSpPr>
        <p:spPr bwMode="auto">
          <a:xfrm>
            <a:off x="3492500" y="5445125"/>
            <a:ext cx="72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7725" name="Text Box 45"/>
          <p:cNvSpPr txBox="1">
            <a:spLocks noChangeArrowheads="1"/>
          </p:cNvSpPr>
          <p:nvPr/>
        </p:nvSpPr>
        <p:spPr bwMode="auto">
          <a:xfrm>
            <a:off x="3924300" y="3213100"/>
            <a:ext cx="1871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 i="1">
                <a:cs typeface="Arial" panose="020B0604020202020204" pitchFamily="34" charset="0"/>
              </a:rPr>
              <a:t>¬p </a:t>
            </a:r>
            <a:r>
              <a:rPr lang="el-GR" altLang="en-US" sz="2400" b="0">
                <a:cs typeface="Arial" panose="020B0604020202020204" pitchFamily="34" charset="0"/>
              </a:rPr>
              <a:t>Λ</a:t>
            </a:r>
            <a:r>
              <a:rPr lang="en-GB" altLang="en-US" sz="2800" b="0" i="1">
                <a:cs typeface="Arial" panose="020B0604020202020204" pitchFamily="34" charset="0"/>
              </a:rPr>
              <a:t> ¬q</a:t>
            </a:r>
          </a:p>
        </p:txBody>
      </p:sp>
      <p:sp>
        <p:nvSpPr>
          <p:cNvPr id="327726" name="Text Box 46"/>
          <p:cNvSpPr txBox="1">
            <a:spLocks noChangeArrowheads="1"/>
          </p:cNvSpPr>
          <p:nvPr/>
        </p:nvSpPr>
        <p:spPr bwMode="auto">
          <a:xfrm>
            <a:off x="4500563" y="3860800"/>
            <a:ext cx="72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7727" name="Text Box 47"/>
          <p:cNvSpPr txBox="1">
            <a:spLocks noChangeArrowheads="1"/>
          </p:cNvSpPr>
          <p:nvPr/>
        </p:nvSpPr>
        <p:spPr bwMode="auto">
          <a:xfrm>
            <a:off x="4500563" y="4437063"/>
            <a:ext cx="720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7728" name="Text Box 48"/>
          <p:cNvSpPr txBox="1">
            <a:spLocks noChangeArrowheads="1"/>
          </p:cNvSpPr>
          <p:nvPr/>
        </p:nvSpPr>
        <p:spPr bwMode="auto">
          <a:xfrm>
            <a:off x="4500563" y="5013325"/>
            <a:ext cx="72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7729" name="Text Box 49"/>
          <p:cNvSpPr txBox="1">
            <a:spLocks noChangeArrowheads="1"/>
          </p:cNvSpPr>
          <p:nvPr/>
        </p:nvSpPr>
        <p:spPr bwMode="auto">
          <a:xfrm>
            <a:off x="4500563" y="5445125"/>
            <a:ext cx="72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7730" name="Text Box 50"/>
          <p:cNvSpPr txBox="1">
            <a:spLocks noChangeArrowheads="1"/>
          </p:cNvSpPr>
          <p:nvPr/>
        </p:nvSpPr>
        <p:spPr bwMode="auto">
          <a:xfrm>
            <a:off x="5580063" y="3213100"/>
            <a:ext cx="3419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(</a:t>
            </a:r>
            <a:r>
              <a:rPr lang="en-GB" altLang="en-US" sz="2800" b="0" i="1">
                <a:cs typeface="Arial" panose="020B0604020202020204" pitchFamily="34" charset="0"/>
              </a:rPr>
              <a:t>p </a:t>
            </a:r>
            <a:r>
              <a:rPr lang="en-GB" altLang="en-US" sz="2000" b="0">
                <a:cs typeface="Arial" panose="020B0604020202020204" pitchFamily="34" charset="0"/>
              </a:rPr>
              <a:t>V</a:t>
            </a:r>
            <a:r>
              <a:rPr lang="en-GB" altLang="en-US" sz="2800" b="0" i="1">
                <a:cs typeface="Arial" panose="020B0604020202020204" pitchFamily="34" charset="0"/>
              </a:rPr>
              <a:t> q</a:t>
            </a:r>
            <a:r>
              <a:rPr lang="en-GB" altLang="en-US" sz="2800" b="0">
                <a:cs typeface="Arial" panose="020B0604020202020204" pitchFamily="34" charset="0"/>
              </a:rPr>
              <a:t>)</a:t>
            </a:r>
            <a:r>
              <a:rPr lang="en-GB" altLang="en-US" sz="2800" b="0" i="1">
                <a:cs typeface="Arial" panose="020B0604020202020204" pitchFamily="34" charset="0"/>
              </a:rPr>
              <a:t> </a:t>
            </a:r>
            <a:r>
              <a:rPr lang="el-GR" altLang="en-US" sz="2400" b="0">
                <a:cs typeface="Arial" panose="020B0604020202020204" pitchFamily="34" charset="0"/>
              </a:rPr>
              <a:t>Λ</a:t>
            </a:r>
            <a:r>
              <a:rPr lang="en-GB" altLang="en-US" sz="2800" b="0">
                <a:cs typeface="Arial" panose="020B0604020202020204" pitchFamily="34" charset="0"/>
              </a:rPr>
              <a:t> (</a:t>
            </a:r>
            <a:r>
              <a:rPr lang="en-GB" altLang="en-US" sz="2800" b="0" i="1">
                <a:cs typeface="Arial" panose="020B0604020202020204" pitchFamily="34" charset="0"/>
              </a:rPr>
              <a:t>¬p </a:t>
            </a:r>
            <a:r>
              <a:rPr lang="el-GR" altLang="en-US" sz="2400" b="0">
                <a:cs typeface="Arial" panose="020B0604020202020204" pitchFamily="34" charset="0"/>
              </a:rPr>
              <a:t>Λ</a:t>
            </a:r>
            <a:r>
              <a:rPr lang="en-GB" altLang="en-US" sz="2800" b="0" i="1">
                <a:cs typeface="Arial" panose="020B0604020202020204" pitchFamily="34" charset="0"/>
              </a:rPr>
              <a:t> ¬q</a:t>
            </a:r>
            <a:r>
              <a:rPr lang="en-GB" altLang="en-US" sz="2800" b="0">
                <a:cs typeface="Arial" panose="020B0604020202020204" pitchFamily="34" charset="0"/>
              </a:rPr>
              <a:t>)</a:t>
            </a:r>
          </a:p>
        </p:txBody>
      </p:sp>
      <p:sp>
        <p:nvSpPr>
          <p:cNvPr id="327731" name="Text Box 51"/>
          <p:cNvSpPr txBox="1">
            <a:spLocks noChangeArrowheads="1"/>
          </p:cNvSpPr>
          <p:nvPr/>
        </p:nvSpPr>
        <p:spPr bwMode="auto">
          <a:xfrm>
            <a:off x="6948488" y="3860800"/>
            <a:ext cx="72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7732" name="Text Box 52"/>
          <p:cNvSpPr txBox="1">
            <a:spLocks noChangeArrowheads="1"/>
          </p:cNvSpPr>
          <p:nvPr/>
        </p:nvSpPr>
        <p:spPr bwMode="auto">
          <a:xfrm>
            <a:off x="6948488" y="4437063"/>
            <a:ext cx="720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7733" name="Text Box 53"/>
          <p:cNvSpPr txBox="1">
            <a:spLocks noChangeArrowheads="1"/>
          </p:cNvSpPr>
          <p:nvPr/>
        </p:nvSpPr>
        <p:spPr bwMode="auto">
          <a:xfrm>
            <a:off x="6948488" y="4941888"/>
            <a:ext cx="720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7734" name="Text Box 54"/>
          <p:cNvSpPr txBox="1">
            <a:spLocks noChangeArrowheads="1"/>
          </p:cNvSpPr>
          <p:nvPr/>
        </p:nvSpPr>
        <p:spPr bwMode="auto">
          <a:xfrm>
            <a:off x="6948488" y="5445125"/>
            <a:ext cx="72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56310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3" grpId="0" build="p"/>
      <p:bldP spid="327710" grpId="0"/>
      <p:bldP spid="327714" grpId="0"/>
      <p:bldP spid="327715" grpId="0"/>
      <p:bldP spid="327716" grpId="0"/>
      <p:bldP spid="327717" grpId="0"/>
      <p:bldP spid="327718" grpId="0"/>
      <p:bldP spid="327719" grpId="0"/>
      <p:bldP spid="327720" grpId="0"/>
      <p:bldP spid="327721" grpId="0"/>
      <p:bldP spid="327722" grpId="0"/>
      <p:bldP spid="327723" grpId="0"/>
      <p:bldP spid="327724" grpId="0"/>
      <p:bldP spid="327725" grpId="0"/>
      <p:bldP spid="327726" grpId="0"/>
      <p:bldP spid="327727" grpId="0"/>
      <p:bldP spid="327728" grpId="0"/>
      <p:bldP spid="327729" grpId="0"/>
      <p:bldP spid="327730" grpId="0"/>
      <p:bldP spid="327731" grpId="0"/>
      <p:bldP spid="327732" grpId="0"/>
      <p:bldP spid="327733" grpId="0"/>
      <p:bldP spid="32773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b="1" dirty="0"/>
              <a:t>Contingency Example</a:t>
            </a:r>
          </a:p>
        </p:txBody>
      </p:sp>
      <p:sp>
        <p:nvSpPr>
          <p:cNvPr id="328707" name="Rectangle 3"/>
          <p:cNvSpPr>
            <a:spLocks noGrp="1"/>
          </p:cNvSpPr>
          <p:nvPr>
            <p:ph idx="1"/>
          </p:nvPr>
        </p:nvSpPr>
        <p:spPr>
          <a:xfrm>
            <a:off x="392113" y="2227263"/>
            <a:ext cx="7989887" cy="2225675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en-GB" altLang="en-US" sz="2800"/>
              <a:t>The truth table for: (</a:t>
            </a:r>
            <a:r>
              <a:rPr lang="en-GB" altLang="en-US" sz="2800" i="1"/>
              <a:t>p </a:t>
            </a:r>
            <a:r>
              <a:rPr lang="el-GR" altLang="en-US" sz="2800"/>
              <a:t>Λ</a:t>
            </a:r>
            <a:r>
              <a:rPr lang="en-GB" altLang="en-US" sz="2800" i="1"/>
              <a:t> q</a:t>
            </a:r>
            <a:r>
              <a:rPr lang="en-GB" altLang="en-US" sz="2800"/>
              <a:t>)</a:t>
            </a:r>
            <a:r>
              <a:rPr lang="en-GB" altLang="en-US" sz="2800" i="1"/>
              <a:t> → ¬p , </a:t>
            </a:r>
            <a:r>
              <a:rPr lang="en-GB" altLang="en-US" sz="2800"/>
              <a:t>is a contingency, as shown below.</a:t>
            </a:r>
          </a:p>
          <a:p>
            <a:pPr algn="just" eaLnBrk="1" hangingPunct="1">
              <a:buFontTx/>
              <a:buNone/>
            </a:pPr>
            <a:endParaRPr lang="en-GB" altLang="en-US" sz="2800"/>
          </a:p>
          <a:p>
            <a:pPr algn="just" eaLnBrk="1" hangingPunct="1">
              <a:buFontTx/>
              <a:buNone/>
            </a:pPr>
            <a:endParaRPr lang="en-GB" altLang="en-US" sz="2800"/>
          </a:p>
          <a:p>
            <a:pPr algn="just" eaLnBrk="1" hangingPunct="1">
              <a:buFontTx/>
              <a:buNone/>
            </a:pPr>
            <a:endParaRPr lang="en-GB" altLang="en-US" sz="2800"/>
          </a:p>
        </p:txBody>
      </p:sp>
      <p:graphicFrame>
        <p:nvGraphicFramePr>
          <p:cNvPr id="328708" name="Group 4"/>
          <p:cNvGraphicFramePr>
            <a:graphicFrameLocks noGrp="1"/>
          </p:cNvGraphicFramePr>
          <p:nvPr/>
        </p:nvGraphicFramePr>
        <p:xfrm>
          <a:off x="1547813" y="3141663"/>
          <a:ext cx="6554787" cy="2760663"/>
        </p:xfrm>
        <a:graphic>
          <a:graphicData uri="http://schemas.openxmlformats.org/drawingml/2006/table">
            <a:tbl>
              <a:tblPr/>
              <a:tblGrid>
                <a:gridCol w="576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3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6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3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8728" name="Text Box 24"/>
          <p:cNvSpPr txBox="1">
            <a:spLocks noChangeArrowheads="1"/>
          </p:cNvSpPr>
          <p:nvPr/>
        </p:nvSpPr>
        <p:spPr bwMode="auto">
          <a:xfrm>
            <a:off x="2484438" y="3213100"/>
            <a:ext cx="1800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(</a:t>
            </a:r>
            <a:r>
              <a:rPr lang="en-GB" altLang="en-US" sz="2800" b="0" i="1">
                <a:cs typeface="Arial" panose="020B0604020202020204" pitchFamily="34" charset="0"/>
              </a:rPr>
              <a:t>p </a:t>
            </a:r>
            <a:r>
              <a:rPr lang="el-GR" altLang="en-US" sz="2400" b="0">
                <a:cs typeface="Arial" panose="020B0604020202020204" pitchFamily="34" charset="0"/>
              </a:rPr>
              <a:t>Λ</a:t>
            </a:r>
            <a:r>
              <a:rPr lang="en-GB" altLang="en-US" sz="2800" b="0" i="1">
                <a:cs typeface="Arial" panose="020B0604020202020204" pitchFamily="34" charset="0"/>
              </a:rPr>
              <a:t> q</a:t>
            </a:r>
            <a:r>
              <a:rPr lang="en-GB" altLang="en-US" sz="2800" b="0">
                <a:cs typeface="Arial" panose="020B0604020202020204" pitchFamily="34" charset="0"/>
              </a:rPr>
              <a:t>)</a:t>
            </a:r>
          </a:p>
        </p:txBody>
      </p:sp>
      <p:sp>
        <p:nvSpPr>
          <p:cNvPr id="328729" name="Text Box 25"/>
          <p:cNvSpPr txBox="1">
            <a:spLocks noChangeArrowheads="1"/>
          </p:cNvSpPr>
          <p:nvPr/>
        </p:nvSpPr>
        <p:spPr bwMode="auto">
          <a:xfrm>
            <a:off x="2987675" y="3860800"/>
            <a:ext cx="72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8730" name="Text Box 26"/>
          <p:cNvSpPr txBox="1">
            <a:spLocks noChangeArrowheads="1"/>
          </p:cNvSpPr>
          <p:nvPr/>
        </p:nvSpPr>
        <p:spPr bwMode="auto">
          <a:xfrm>
            <a:off x="2987675" y="4365625"/>
            <a:ext cx="72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8731" name="Text Box 27"/>
          <p:cNvSpPr txBox="1">
            <a:spLocks noChangeArrowheads="1"/>
          </p:cNvSpPr>
          <p:nvPr/>
        </p:nvSpPr>
        <p:spPr bwMode="auto">
          <a:xfrm>
            <a:off x="2987675" y="4868863"/>
            <a:ext cx="720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8732" name="Text Box 28"/>
          <p:cNvSpPr txBox="1">
            <a:spLocks noChangeArrowheads="1"/>
          </p:cNvSpPr>
          <p:nvPr/>
        </p:nvSpPr>
        <p:spPr bwMode="auto">
          <a:xfrm>
            <a:off x="2987675" y="5373688"/>
            <a:ext cx="720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8733" name="Text Box 29"/>
          <p:cNvSpPr txBox="1">
            <a:spLocks noChangeArrowheads="1"/>
          </p:cNvSpPr>
          <p:nvPr/>
        </p:nvSpPr>
        <p:spPr bwMode="auto">
          <a:xfrm>
            <a:off x="4067175" y="3213100"/>
            <a:ext cx="72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¬</a:t>
            </a:r>
            <a:r>
              <a:rPr lang="en-GB" altLang="en-US" sz="2800" b="0" i="1">
                <a:cs typeface="Arial" panose="020B0604020202020204" pitchFamily="34" charset="0"/>
              </a:rPr>
              <a:t>p</a:t>
            </a:r>
          </a:p>
        </p:txBody>
      </p:sp>
      <p:sp>
        <p:nvSpPr>
          <p:cNvPr id="328734" name="Text Box 30"/>
          <p:cNvSpPr txBox="1">
            <a:spLocks noChangeArrowheads="1"/>
          </p:cNvSpPr>
          <p:nvPr/>
        </p:nvSpPr>
        <p:spPr bwMode="auto">
          <a:xfrm>
            <a:off x="4067175" y="3860800"/>
            <a:ext cx="72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8735" name="Text Box 31"/>
          <p:cNvSpPr txBox="1">
            <a:spLocks noChangeArrowheads="1"/>
          </p:cNvSpPr>
          <p:nvPr/>
        </p:nvSpPr>
        <p:spPr bwMode="auto">
          <a:xfrm>
            <a:off x="4067175" y="4365625"/>
            <a:ext cx="72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8736" name="Text Box 32"/>
          <p:cNvSpPr txBox="1">
            <a:spLocks noChangeArrowheads="1"/>
          </p:cNvSpPr>
          <p:nvPr/>
        </p:nvSpPr>
        <p:spPr bwMode="auto">
          <a:xfrm>
            <a:off x="4067175" y="4941888"/>
            <a:ext cx="720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8737" name="Text Box 33"/>
          <p:cNvSpPr txBox="1">
            <a:spLocks noChangeArrowheads="1"/>
          </p:cNvSpPr>
          <p:nvPr/>
        </p:nvSpPr>
        <p:spPr bwMode="auto">
          <a:xfrm>
            <a:off x="4067175" y="5373688"/>
            <a:ext cx="720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8738" name="Text Box 34"/>
          <p:cNvSpPr txBox="1">
            <a:spLocks noChangeArrowheads="1"/>
          </p:cNvSpPr>
          <p:nvPr/>
        </p:nvSpPr>
        <p:spPr bwMode="auto">
          <a:xfrm>
            <a:off x="5003800" y="3213100"/>
            <a:ext cx="2808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(</a:t>
            </a:r>
            <a:r>
              <a:rPr lang="en-GB" altLang="en-US" sz="2800" b="0" i="1">
                <a:cs typeface="Arial" panose="020B0604020202020204" pitchFamily="34" charset="0"/>
              </a:rPr>
              <a:t>p </a:t>
            </a:r>
            <a:r>
              <a:rPr lang="el-GR" altLang="en-US" sz="2000" b="0">
                <a:cs typeface="Arial" panose="020B0604020202020204" pitchFamily="34" charset="0"/>
              </a:rPr>
              <a:t>Λ</a:t>
            </a:r>
            <a:r>
              <a:rPr lang="en-GB" altLang="en-US" sz="2800" b="0" i="1">
                <a:cs typeface="Arial" panose="020B0604020202020204" pitchFamily="34" charset="0"/>
              </a:rPr>
              <a:t> q</a:t>
            </a:r>
            <a:r>
              <a:rPr lang="en-GB" altLang="en-US" sz="2800" b="0">
                <a:cs typeface="Arial" panose="020B0604020202020204" pitchFamily="34" charset="0"/>
              </a:rPr>
              <a:t>)</a:t>
            </a:r>
            <a:r>
              <a:rPr lang="en-GB" altLang="en-US" sz="2800" b="0" i="1">
                <a:cs typeface="Arial" panose="020B0604020202020204" pitchFamily="34" charset="0"/>
              </a:rPr>
              <a:t> → ¬p</a:t>
            </a:r>
            <a:endParaRPr lang="en-GB" altLang="en-US" sz="2800" b="0">
              <a:cs typeface="Arial" panose="020B0604020202020204" pitchFamily="34" charset="0"/>
            </a:endParaRPr>
          </a:p>
        </p:txBody>
      </p:sp>
      <p:sp>
        <p:nvSpPr>
          <p:cNvPr id="328739" name="Text Box 35"/>
          <p:cNvSpPr txBox="1">
            <a:spLocks noChangeArrowheads="1"/>
          </p:cNvSpPr>
          <p:nvPr/>
        </p:nvSpPr>
        <p:spPr bwMode="auto">
          <a:xfrm>
            <a:off x="6084888" y="3860800"/>
            <a:ext cx="72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F</a:t>
            </a:r>
          </a:p>
        </p:txBody>
      </p:sp>
      <p:sp>
        <p:nvSpPr>
          <p:cNvPr id="328740" name="Text Box 36"/>
          <p:cNvSpPr txBox="1">
            <a:spLocks noChangeArrowheads="1"/>
          </p:cNvSpPr>
          <p:nvPr/>
        </p:nvSpPr>
        <p:spPr bwMode="auto">
          <a:xfrm>
            <a:off x="6084888" y="4365625"/>
            <a:ext cx="72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8741" name="Text Box 37"/>
          <p:cNvSpPr txBox="1">
            <a:spLocks noChangeArrowheads="1"/>
          </p:cNvSpPr>
          <p:nvPr/>
        </p:nvSpPr>
        <p:spPr bwMode="auto">
          <a:xfrm>
            <a:off x="6084888" y="4868863"/>
            <a:ext cx="720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  <p:sp>
        <p:nvSpPr>
          <p:cNvPr id="328742" name="Text Box 38"/>
          <p:cNvSpPr txBox="1">
            <a:spLocks noChangeArrowheads="1"/>
          </p:cNvSpPr>
          <p:nvPr/>
        </p:nvSpPr>
        <p:spPr bwMode="auto">
          <a:xfrm>
            <a:off x="6084888" y="5300663"/>
            <a:ext cx="720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800" b="0">
                <a:cs typeface="Arial" panose="020B0604020202020204" pitchFamily="34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33851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707" grpId="0" build="p"/>
      <p:bldP spid="328728" grpId="0"/>
      <p:bldP spid="328729" grpId="0"/>
      <p:bldP spid="328730" grpId="0"/>
      <p:bldP spid="328731" grpId="0"/>
      <p:bldP spid="328732" grpId="0"/>
      <p:bldP spid="328733" grpId="0"/>
      <p:bldP spid="328734" grpId="0"/>
      <p:bldP spid="328735" grpId="0"/>
      <p:bldP spid="328736" grpId="0"/>
      <p:bldP spid="328737" grpId="0"/>
      <p:bldP spid="328738" grpId="0"/>
      <p:bldP spid="328739" grpId="0"/>
      <p:bldP spid="328740" grpId="0"/>
      <p:bldP spid="328741" grpId="0"/>
      <p:bldP spid="32874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17525"/>
            <a:ext cx="7989888" cy="10826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b="1" dirty="0"/>
              <a:t>Assignments and Models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581025" y="2227263"/>
            <a:ext cx="7989888" cy="3632200"/>
          </a:xfrm>
        </p:spPr>
        <p:txBody>
          <a:bodyPr rtlCol="0">
            <a:normAutofit lnSpcReduction="10000"/>
          </a:bodyPr>
          <a:lstStyle/>
          <a:p>
            <a:pPr marL="306000" indent="-306000" algn="just" eaLnBrk="1" fontAlgn="auto" hangingPunct="1">
              <a:defRPr/>
            </a:pPr>
            <a:r>
              <a:rPr lang="en-GB" altLang="en-US" sz="2800" dirty="0"/>
              <a:t>Each line of a truth table represents a different possibility called an </a:t>
            </a:r>
            <a:r>
              <a:rPr lang="en-GB" altLang="en-US" sz="2800" dirty="0">
                <a:solidFill>
                  <a:schemeClr val="accent2"/>
                </a:solidFill>
              </a:rPr>
              <a:t>assignment</a:t>
            </a:r>
            <a:r>
              <a:rPr lang="en-GB" altLang="en-US" sz="2800" dirty="0"/>
              <a:t> of the truth values to the propositions.</a:t>
            </a:r>
          </a:p>
          <a:p>
            <a:pPr marL="306000" indent="-306000" algn="just" eaLnBrk="1" fontAlgn="auto" hangingPunct="1">
              <a:defRPr/>
            </a:pPr>
            <a:endParaRPr lang="en-GB" altLang="en-US" sz="2800" dirty="0"/>
          </a:p>
          <a:p>
            <a:pPr marL="306000" indent="-306000" algn="just" eaLnBrk="1" fontAlgn="auto" hangingPunct="1">
              <a:defRPr/>
            </a:pPr>
            <a:r>
              <a:rPr lang="en-GB" altLang="en-US" sz="2800" dirty="0"/>
              <a:t>An assignment which makes the expression true is said to be a </a:t>
            </a:r>
            <a:r>
              <a:rPr lang="en-GB" altLang="en-US" sz="2800" dirty="0">
                <a:solidFill>
                  <a:schemeClr val="accent2"/>
                </a:solidFill>
              </a:rPr>
              <a:t>model</a:t>
            </a:r>
            <a:r>
              <a:rPr lang="en-GB" altLang="en-US" sz="2800" dirty="0"/>
              <a:t> for the expression.</a:t>
            </a:r>
          </a:p>
          <a:p>
            <a:pPr marL="306000" indent="-306000" algn="just" eaLnBrk="1" fontAlgn="auto" hangingPunct="1">
              <a:buFontTx/>
              <a:buNone/>
              <a:defRPr/>
            </a:pPr>
            <a:r>
              <a:rPr lang="en-GB" altLang="en-US" dirty="0">
                <a:solidFill>
                  <a:srgbClr val="0000CC"/>
                </a:solidFill>
              </a:rPr>
              <a:t>			</a:t>
            </a:r>
          </a:p>
          <a:p>
            <a:pPr marL="306000" indent="-306000" algn="just" eaLnBrk="1" fontAlgn="auto" hangingPunct="1">
              <a:defRPr/>
            </a:pPr>
            <a:r>
              <a:rPr lang="en-GB" altLang="en-US" sz="2800" dirty="0"/>
              <a:t>An assignment which makes the expression false is said to be a </a:t>
            </a:r>
            <a:r>
              <a:rPr lang="en-GB" altLang="en-US" sz="2800" dirty="0">
                <a:solidFill>
                  <a:schemeClr val="accent2"/>
                </a:solidFill>
              </a:rPr>
              <a:t>counter-example</a:t>
            </a:r>
            <a:r>
              <a:rPr lang="en-GB" alt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51231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en-US" dirty="0"/>
              <a:t>Logical Equivalence of Conditional and </a:t>
            </a:r>
            <a:r>
              <a:rPr lang="en-US" altLang="en-US" dirty="0" err="1"/>
              <a:t>Contrapositive</a:t>
            </a:r>
            <a:endParaRPr lang="en-US" altLang="en-US" dirty="0"/>
          </a:p>
        </p:txBody>
      </p:sp>
      <p:sp>
        <p:nvSpPr>
          <p:cNvPr id="1229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1"/>
          </p:nvPr>
        </p:nvSpPr>
        <p:spPr>
          <a:xfrm>
            <a:off x="838200" y="1905000"/>
            <a:ext cx="7772400" cy="1295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800">
                <a:cs typeface="Arial" charset="0"/>
              </a:rPr>
              <a:t>The easiest way to check for logical equivalence is to see if the truth tables of both variants have </a:t>
            </a:r>
            <a:r>
              <a:rPr lang="en-US" altLang="en-US" sz="2800" i="1">
                <a:cs typeface="Arial" charset="0"/>
              </a:rPr>
              <a:t>identical last columns</a:t>
            </a:r>
            <a:r>
              <a:rPr lang="en-US" altLang="en-US" sz="2800">
                <a:cs typeface="Arial" charset="0"/>
              </a:rPr>
              <a:t>:</a:t>
            </a:r>
          </a:p>
        </p:txBody>
      </p:sp>
      <p:sp>
        <p:nvSpPr>
          <p:cNvPr id="1229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noFill/>
        </p:spPr>
        <p:txBody>
          <a:bodyPr/>
          <a:lstStyle/>
          <a:p>
            <a:fld id="{F82F9820-9060-46DB-97FA-602537D5AFB8}" type="slidenum">
              <a:rPr lang="en-US" altLang="en-US"/>
              <a:pPr/>
              <a:t>36</a:t>
            </a:fld>
            <a:endParaRPr lang="en-US" alt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62000" y="3429000"/>
            <a:ext cx="2743200" cy="2225675"/>
            <a:chOff x="576" y="2160"/>
            <a:chExt cx="1968" cy="1402"/>
          </a:xfrm>
        </p:grpSpPr>
        <p:sp>
          <p:nvSpPr>
            <p:cNvPr id="12318" name="Rectangle 5"/>
            <p:cNvSpPr>
              <a:spLocks noChangeArrowheads="1"/>
            </p:cNvSpPr>
            <p:nvPr/>
          </p:nvSpPr>
          <p:spPr bwMode="auto">
            <a:xfrm>
              <a:off x="1872" y="2447"/>
              <a:ext cx="672" cy="1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 b="1"/>
                <a:t>T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 b="1"/>
                <a:t>F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 b="1"/>
                <a:t>T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 b="1"/>
                <a:t>T</a:t>
              </a:r>
            </a:p>
          </p:txBody>
        </p:sp>
        <p:sp>
          <p:nvSpPr>
            <p:cNvPr id="12319" name="Rectangle 6"/>
            <p:cNvSpPr>
              <a:spLocks noChangeArrowheads="1"/>
            </p:cNvSpPr>
            <p:nvPr/>
          </p:nvSpPr>
          <p:spPr bwMode="auto">
            <a:xfrm>
              <a:off x="1232" y="2447"/>
              <a:ext cx="640" cy="1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T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F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T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F</a:t>
              </a:r>
            </a:p>
          </p:txBody>
        </p:sp>
        <p:sp>
          <p:nvSpPr>
            <p:cNvPr id="12320" name="Rectangle 7"/>
            <p:cNvSpPr>
              <a:spLocks noChangeArrowheads="1"/>
            </p:cNvSpPr>
            <p:nvPr/>
          </p:nvSpPr>
          <p:spPr bwMode="auto">
            <a:xfrm>
              <a:off x="576" y="2447"/>
              <a:ext cx="656" cy="1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T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T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F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F</a:t>
              </a:r>
            </a:p>
          </p:txBody>
        </p:sp>
        <p:sp>
          <p:nvSpPr>
            <p:cNvPr id="12321" name="Rectangle 8"/>
            <p:cNvSpPr>
              <a:spLocks noChangeArrowheads="1"/>
            </p:cNvSpPr>
            <p:nvPr/>
          </p:nvSpPr>
          <p:spPr bwMode="auto">
            <a:xfrm>
              <a:off x="1872" y="2160"/>
              <a:ext cx="672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 i="1"/>
                <a:t>p </a:t>
              </a:r>
              <a:r>
                <a:rPr lang="en-US" altLang="en-US">
                  <a:sym typeface="Symbol" pitchFamily="18" charset="2"/>
                </a:rPr>
                <a:t></a:t>
              </a:r>
              <a:r>
                <a:rPr lang="en-US" altLang="en-US" i="1"/>
                <a:t>q</a:t>
              </a:r>
            </a:p>
          </p:txBody>
        </p:sp>
        <p:sp>
          <p:nvSpPr>
            <p:cNvPr id="12322" name="Rectangle 9"/>
            <p:cNvSpPr>
              <a:spLocks noChangeArrowheads="1"/>
            </p:cNvSpPr>
            <p:nvPr/>
          </p:nvSpPr>
          <p:spPr bwMode="auto">
            <a:xfrm>
              <a:off x="1232" y="2160"/>
              <a:ext cx="640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 i="1"/>
                <a:t>q</a:t>
              </a:r>
              <a:endParaRPr lang="en-US" altLang="en-US"/>
            </a:p>
          </p:txBody>
        </p:sp>
        <p:sp>
          <p:nvSpPr>
            <p:cNvPr id="12323" name="Rectangle 10"/>
            <p:cNvSpPr>
              <a:spLocks noChangeArrowheads="1"/>
            </p:cNvSpPr>
            <p:nvPr/>
          </p:nvSpPr>
          <p:spPr bwMode="auto">
            <a:xfrm>
              <a:off x="576" y="2160"/>
              <a:ext cx="656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 i="1"/>
                <a:t>p</a:t>
              </a:r>
            </a:p>
          </p:txBody>
        </p:sp>
        <p:sp>
          <p:nvSpPr>
            <p:cNvPr id="12324" name="Line 11"/>
            <p:cNvSpPr>
              <a:spLocks noChangeShapeType="1"/>
            </p:cNvSpPr>
            <p:nvPr/>
          </p:nvSpPr>
          <p:spPr bwMode="auto">
            <a:xfrm>
              <a:off x="576" y="2160"/>
              <a:ext cx="19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25" name="Line 12"/>
            <p:cNvSpPr>
              <a:spLocks noChangeShapeType="1"/>
            </p:cNvSpPr>
            <p:nvPr/>
          </p:nvSpPr>
          <p:spPr bwMode="auto">
            <a:xfrm>
              <a:off x="576" y="2447"/>
              <a:ext cx="19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26" name="Line 13"/>
            <p:cNvSpPr>
              <a:spLocks noChangeShapeType="1"/>
            </p:cNvSpPr>
            <p:nvPr/>
          </p:nvSpPr>
          <p:spPr bwMode="auto">
            <a:xfrm>
              <a:off x="576" y="3562"/>
              <a:ext cx="19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27" name="Line 14"/>
            <p:cNvSpPr>
              <a:spLocks noChangeShapeType="1"/>
            </p:cNvSpPr>
            <p:nvPr/>
          </p:nvSpPr>
          <p:spPr bwMode="auto">
            <a:xfrm>
              <a:off x="576" y="2160"/>
              <a:ext cx="0" cy="140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28" name="Line 15"/>
            <p:cNvSpPr>
              <a:spLocks noChangeShapeType="1"/>
            </p:cNvSpPr>
            <p:nvPr/>
          </p:nvSpPr>
          <p:spPr bwMode="auto">
            <a:xfrm>
              <a:off x="1232" y="2160"/>
              <a:ext cx="0" cy="1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29" name="Line 16"/>
            <p:cNvSpPr>
              <a:spLocks noChangeShapeType="1"/>
            </p:cNvSpPr>
            <p:nvPr/>
          </p:nvSpPr>
          <p:spPr bwMode="auto">
            <a:xfrm>
              <a:off x="1872" y="2160"/>
              <a:ext cx="0" cy="140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30" name="Line 17"/>
            <p:cNvSpPr>
              <a:spLocks noChangeShapeType="1"/>
            </p:cNvSpPr>
            <p:nvPr/>
          </p:nvSpPr>
          <p:spPr bwMode="auto">
            <a:xfrm>
              <a:off x="2544" y="2160"/>
              <a:ext cx="0" cy="140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3657600" y="3429000"/>
            <a:ext cx="4572000" cy="2236788"/>
            <a:chOff x="2304" y="2160"/>
            <a:chExt cx="2880" cy="1409"/>
          </a:xfrm>
        </p:grpSpPr>
        <p:sp>
          <p:nvSpPr>
            <p:cNvPr id="12296" name="Rectangle 20"/>
            <p:cNvSpPr>
              <a:spLocks noChangeArrowheads="1"/>
            </p:cNvSpPr>
            <p:nvPr/>
          </p:nvSpPr>
          <p:spPr bwMode="auto">
            <a:xfrm>
              <a:off x="4494" y="2447"/>
              <a:ext cx="604" cy="1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 b="1"/>
                <a:t>T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 b="1"/>
                <a:t>F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 b="1"/>
                <a:t>T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 b="1"/>
                <a:t>T</a:t>
              </a:r>
            </a:p>
          </p:txBody>
        </p:sp>
        <p:sp>
          <p:nvSpPr>
            <p:cNvPr id="12297" name="Rectangle 21"/>
            <p:cNvSpPr>
              <a:spLocks noChangeArrowheads="1"/>
            </p:cNvSpPr>
            <p:nvPr/>
          </p:nvSpPr>
          <p:spPr bwMode="auto">
            <a:xfrm>
              <a:off x="2304" y="2447"/>
              <a:ext cx="589" cy="1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T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T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F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F</a:t>
              </a:r>
            </a:p>
          </p:txBody>
        </p:sp>
        <p:sp>
          <p:nvSpPr>
            <p:cNvPr id="12298" name="Rectangle 22"/>
            <p:cNvSpPr>
              <a:spLocks noChangeArrowheads="1"/>
            </p:cNvSpPr>
            <p:nvPr/>
          </p:nvSpPr>
          <p:spPr bwMode="auto">
            <a:xfrm>
              <a:off x="4406" y="2160"/>
              <a:ext cx="77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 b="1" i="1">
                  <a:cs typeface="Arial" charset="0"/>
                </a:rPr>
                <a:t>¬</a:t>
              </a:r>
              <a:r>
                <a:rPr lang="en-US" altLang="en-US" i="1"/>
                <a:t>q</a:t>
              </a:r>
              <a:r>
                <a:rPr lang="en-US" altLang="en-US">
                  <a:sym typeface="Symbol" pitchFamily="18" charset="2"/>
                </a:rPr>
                <a:t></a:t>
              </a:r>
              <a:r>
                <a:rPr lang="en-US" altLang="en-US" b="1" i="1">
                  <a:cs typeface="Arial" charset="0"/>
                </a:rPr>
                <a:t>¬</a:t>
              </a:r>
              <a:r>
                <a:rPr lang="en-US" altLang="en-US" i="1"/>
                <a:t>p</a:t>
              </a:r>
            </a:p>
          </p:txBody>
        </p:sp>
        <p:sp>
          <p:nvSpPr>
            <p:cNvPr id="12299" name="Rectangle 23"/>
            <p:cNvSpPr>
              <a:spLocks noChangeArrowheads="1"/>
            </p:cNvSpPr>
            <p:nvPr/>
          </p:nvSpPr>
          <p:spPr bwMode="auto">
            <a:xfrm>
              <a:off x="2304" y="2160"/>
              <a:ext cx="589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 i="1"/>
                <a:t>p</a:t>
              </a:r>
            </a:p>
          </p:txBody>
        </p:sp>
        <p:sp>
          <p:nvSpPr>
            <p:cNvPr id="12300" name="Line 24"/>
            <p:cNvSpPr>
              <a:spLocks noChangeShapeType="1"/>
            </p:cNvSpPr>
            <p:nvPr/>
          </p:nvSpPr>
          <p:spPr bwMode="auto">
            <a:xfrm>
              <a:off x="2304" y="2160"/>
              <a:ext cx="17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1" name="Line 25"/>
            <p:cNvSpPr>
              <a:spLocks noChangeShapeType="1"/>
            </p:cNvSpPr>
            <p:nvPr/>
          </p:nvSpPr>
          <p:spPr bwMode="auto">
            <a:xfrm>
              <a:off x="2304" y="2447"/>
              <a:ext cx="17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2" name="Line 26"/>
            <p:cNvSpPr>
              <a:spLocks noChangeShapeType="1"/>
            </p:cNvSpPr>
            <p:nvPr/>
          </p:nvSpPr>
          <p:spPr bwMode="auto">
            <a:xfrm>
              <a:off x="2304" y="3562"/>
              <a:ext cx="17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3" name="Line 27"/>
            <p:cNvSpPr>
              <a:spLocks noChangeShapeType="1"/>
            </p:cNvSpPr>
            <p:nvPr/>
          </p:nvSpPr>
          <p:spPr bwMode="auto">
            <a:xfrm>
              <a:off x="2304" y="2160"/>
              <a:ext cx="0" cy="140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4" name="Line 28"/>
            <p:cNvSpPr>
              <a:spLocks noChangeShapeType="1"/>
            </p:cNvSpPr>
            <p:nvPr/>
          </p:nvSpPr>
          <p:spPr bwMode="auto">
            <a:xfrm>
              <a:off x="5184" y="2160"/>
              <a:ext cx="0" cy="140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5" name="Line 29"/>
            <p:cNvSpPr>
              <a:spLocks noChangeShapeType="1"/>
            </p:cNvSpPr>
            <p:nvPr/>
          </p:nvSpPr>
          <p:spPr bwMode="auto">
            <a:xfrm>
              <a:off x="3080" y="2160"/>
              <a:ext cx="210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6" name="Line 30"/>
            <p:cNvSpPr>
              <a:spLocks noChangeShapeType="1"/>
            </p:cNvSpPr>
            <p:nvPr/>
          </p:nvSpPr>
          <p:spPr bwMode="auto">
            <a:xfrm flipV="1">
              <a:off x="3080" y="3552"/>
              <a:ext cx="2104" cy="1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7" name="Line 31"/>
            <p:cNvSpPr>
              <a:spLocks noChangeShapeType="1"/>
            </p:cNvSpPr>
            <p:nvPr/>
          </p:nvSpPr>
          <p:spPr bwMode="auto">
            <a:xfrm>
              <a:off x="3080" y="2448"/>
              <a:ext cx="21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8" name="Line 32"/>
            <p:cNvSpPr>
              <a:spLocks noChangeShapeType="1"/>
            </p:cNvSpPr>
            <p:nvPr/>
          </p:nvSpPr>
          <p:spPr bwMode="auto">
            <a:xfrm>
              <a:off x="4408" y="2160"/>
              <a:ext cx="0" cy="140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09" name="Rectangle 33"/>
            <p:cNvSpPr>
              <a:spLocks noChangeArrowheads="1"/>
            </p:cNvSpPr>
            <p:nvPr/>
          </p:nvSpPr>
          <p:spPr bwMode="auto">
            <a:xfrm>
              <a:off x="3790" y="2447"/>
              <a:ext cx="575" cy="1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F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F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T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T</a:t>
              </a:r>
            </a:p>
          </p:txBody>
        </p:sp>
        <p:sp>
          <p:nvSpPr>
            <p:cNvPr id="12310" name="Rectangle 34"/>
            <p:cNvSpPr>
              <a:spLocks noChangeArrowheads="1"/>
            </p:cNvSpPr>
            <p:nvPr/>
          </p:nvSpPr>
          <p:spPr bwMode="auto">
            <a:xfrm>
              <a:off x="3790" y="2160"/>
              <a:ext cx="575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 b="1" i="1">
                  <a:cs typeface="Arial" charset="0"/>
                </a:rPr>
                <a:t>¬</a:t>
              </a:r>
              <a:r>
                <a:rPr lang="en-US" altLang="en-US" i="1"/>
                <a:t>p</a:t>
              </a:r>
            </a:p>
          </p:txBody>
        </p:sp>
        <p:sp>
          <p:nvSpPr>
            <p:cNvPr id="12311" name="Line 35"/>
            <p:cNvSpPr>
              <a:spLocks noChangeShapeType="1"/>
            </p:cNvSpPr>
            <p:nvPr/>
          </p:nvSpPr>
          <p:spPr bwMode="auto">
            <a:xfrm>
              <a:off x="3790" y="2160"/>
              <a:ext cx="0" cy="1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12" name="Rectangle 36"/>
            <p:cNvSpPr>
              <a:spLocks noChangeArrowheads="1"/>
            </p:cNvSpPr>
            <p:nvPr/>
          </p:nvSpPr>
          <p:spPr bwMode="auto">
            <a:xfrm>
              <a:off x="2893" y="2447"/>
              <a:ext cx="575" cy="1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T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F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T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F</a:t>
              </a:r>
            </a:p>
          </p:txBody>
        </p:sp>
        <p:sp>
          <p:nvSpPr>
            <p:cNvPr id="12313" name="Rectangle 37"/>
            <p:cNvSpPr>
              <a:spLocks noChangeArrowheads="1"/>
            </p:cNvSpPr>
            <p:nvPr/>
          </p:nvSpPr>
          <p:spPr bwMode="auto">
            <a:xfrm>
              <a:off x="2893" y="2160"/>
              <a:ext cx="575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 i="1"/>
                <a:t>q</a:t>
              </a:r>
              <a:endParaRPr lang="en-US" altLang="en-US"/>
            </a:p>
          </p:txBody>
        </p:sp>
        <p:sp>
          <p:nvSpPr>
            <p:cNvPr id="12314" name="Line 38"/>
            <p:cNvSpPr>
              <a:spLocks noChangeShapeType="1"/>
            </p:cNvSpPr>
            <p:nvPr/>
          </p:nvSpPr>
          <p:spPr bwMode="auto">
            <a:xfrm>
              <a:off x="2893" y="2160"/>
              <a:ext cx="0" cy="1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315" name="Rectangle 39"/>
            <p:cNvSpPr>
              <a:spLocks noChangeArrowheads="1"/>
            </p:cNvSpPr>
            <p:nvPr/>
          </p:nvSpPr>
          <p:spPr bwMode="auto">
            <a:xfrm>
              <a:off x="3265" y="2447"/>
              <a:ext cx="575" cy="1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F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T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F</a:t>
              </a:r>
            </a:p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/>
                <a:t>T</a:t>
              </a:r>
            </a:p>
          </p:txBody>
        </p:sp>
        <p:sp>
          <p:nvSpPr>
            <p:cNvPr id="12316" name="Rectangle 40"/>
            <p:cNvSpPr>
              <a:spLocks noChangeArrowheads="1"/>
            </p:cNvSpPr>
            <p:nvPr/>
          </p:nvSpPr>
          <p:spPr bwMode="auto">
            <a:xfrm>
              <a:off x="3264" y="2160"/>
              <a:ext cx="575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en-US" b="1" i="1">
                  <a:cs typeface="Arial" charset="0"/>
                </a:rPr>
                <a:t>¬</a:t>
              </a:r>
              <a:r>
                <a:rPr lang="en-US" altLang="en-US" i="1"/>
                <a:t>q</a:t>
              </a:r>
            </a:p>
          </p:txBody>
        </p:sp>
        <p:sp>
          <p:nvSpPr>
            <p:cNvPr id="12317" name="Line 41"/>
            <p:cNvSpPr>
              <a:spLocks noChangeShapeType="1"/>
            </p:cNvSpPr>
            <p:nvPr/>
          </p:nvSpPr>
          <p:spPr bwMode="auto">
            <a:xfrm>
              <a:off x="3360" y="2160"/>
              <a:ext cx="0" cy="14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8A346-5C40-46E6-9C6D-8C65C05A1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400">
              <a:lnSpc>
                <a:spcPts val="3845"/>
              </a:lnSpc>
              <a:spcBef>
                <a:spcPts val="192"/>
              </a:spcBef>
            </a:pPr>
            <a:r>
              <a:rPr lang="en-US" sz="4400" dirty="0">
                <a:latin typeface="Calibri" pitchFamily="34" charset="0"/>
                <a:ea typeface="+mn-ea"/>
                <a:cs typeface="Calibri" pitchFamily="34" charset="0"/>
              </a:rPr>
              <a:t>Converse,  Contrapositive and Inverse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E2F48-B10E-4FD3-A9CD-373AD0491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We start with the conditional statement “If P then Q.” 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converse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of the conditional statement is “If Q then P.”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The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contrapositive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of the conditional statement is “If not Q then not P.”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The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inverse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of the conditional statement is “If not P then not Q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A9C80-B3A9-40FF-B557-522DFC016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272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609600" y="609600"/>
            <a:ext cx="8153400" cy="838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3845"/>
              </a:lnSpc>
              <a:spcBef>
                <a:spcPts val="192"/>
              </a:spcBef>
            </a:pPr>
            <a:r>
              <a:rPr lang="en-US" sz="4400" dirty="0">
                <a:latin typeface="Calibri" pitchFamily="34" charset="0"/>
                <a:cs typeface="Calibri" pitchFamily="34" charset="0"/>
              </a:rPr>
              <a:t>Converse,  Contrapositive and Inverse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236" y="1386318"/>
            <a:ext cx="6246564" cy="326188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1397" marR="45999">
              <a:lnSpc>
                <a:spcPts val="1997"/>
              </a:lnSpc>
              <a:spcBef>
                <a:spcPts val="100"/>
              </a:spcBef>
            </a:pPr>
            <a:r>
              <a:rPr lang="en-US" sz="2600" baseline="1973" dirty="0">
                <a:latin typeface="Arial Unicode MS"/>
                <a:cs typeface="Arial Unicode MS"/>
              </a:rPr>
              <a:t>	</a:t>
            </a:r>
          </a:p>
          <a:p>
            <a:pPr marL="11397" marR="45999">
              <a:lnSpc>
                <a:spcPts val="1997"/>
              </a:lnSpc>
              <a:spcBef>
                <a:spcPts val="100"/>
              </a:spcBef>
            </a:pPr>
            <a:endParaRPr lang="en-US" sz="2600" b="1" baseline="1973" dirty="0">
              <a:latin typeface="Arial Unicode MS"/>
              <a:cs typeface="Arial Unicode MS"/>
            </a:endParaRPr>
          </a:p>
          <a:p>
            <a:pPr marL="11397" marR="45999">
              <a:lnSpc>
                <a:spcPts val="1997"/>
              </a:lnSpc>
              <a:spcBef>
                <a:spcPts val="100"/>
              </a:spcBef>
            </a:pPr>
            <a:endParaRPr lang="en-US" sz="2600" b="1" baseline="1973" dirty="0">
              <a:latin typeface="Arial Unicode MS"/>
              <a:cs typeface="Arial Unicode MS"/>
            </a:endParaRPr>
          </a:p>
          <a:p>
            <a:pPr marL="11397" marR="45999">
              <a:lnSpc>
                <a:spcPts val="1997"/>
              </a:lnSpc>
              <a:spcBef>
                <a:spcPts val="100"/>
              </a:spcBef>
            </a:pPr>
            <a:endParaRPr lang="en-US" sz="2600" b="1" baseline="1973" dirty="0">
              <a:latin typeface="Arial Unicode MS"/>
              <a:cs typeface="Arial Unicode MS"/>
            </a:endParaRPr>
          </a:p>
          <a:p>
            <a:pPr marL="11397" marR="45999">
              <a:lnSpc>
                <a:spcPts val="1997"/>
              </a:lnSpc>
              <a:spcBef>
                <a:spcPts val="100"/>
              </a:spcBef>
            </a:pPr>
            <a:r>
              <a:rPr lang="en-US" sz="2600" b="1" baseline="1973" dirty="0">
                <a:latin typeface="Arial Unicode MS"/>
                <a:cs typeface="Arial Unicode MS"/>
              </a:rPr>
              <a:t>	</a:t>
            </a:r>
            <a:r>
              <a:rPr lang="en-US" sz="2800" b="1" baseline="1973" dirty="0">
                <a:latin typeface="Arial Unicode MS"/>
                <a:cs typeface="Arial Unicode MS"/>
              </a:rPr>
              <a:t>p: If it is raining</a:t>
            </a:r>
          </a:p>
          <a:p>
            <a:pPr marL="11397" marR="45999">
              <a:lnSpc>
                <a:spcPts val="1997"/>
              </a:lnSpc>
              <a:spcBef>
                <a:spcPts val="100"/>
              </a:spcBef>
            </a:pPr>
            <a:r>
              <a:rPr lang="en-US" sz="2800" b="1" baseline="1973" dirty="0">
                <a:latin typeface="Arial Unicode MS"/>
                <a:cs typeface="Arial Unicode MS"/>
              </a:rPr>
              <a:t>	q:  grass is wet</a:t>
            </a:r>
            <a:r>
              <a:rPr sz="2800" b="1" spc="421" baseline="1973" dirty="0">
                <a:latin typeface="Arial Unicode MS"/>
                <a:cs typeface="Arial Unicode MS"/>
              </a:rPr>
              <a:t> </a:t>
            </a:r>
            <a:endParaRPr lang="en-US" sz="2800" b="1" spc="421" baseline="1973" dirty="0">
              <a:latin typeface="Arial Unicode MS"/>
              <a:cs typeface="Arial Unicode MS"/>
            </a:endParaRPr>
          </a:p>
          <a:p>
            <a:pPr marL="11397" marR="45999">
              <a:lnSpc>
                <a:spcPts val="1997"/>
              </a:lnSpc>
              <a:spcBef>
                <a:spcPts val="100"/>
              </a:spcBef>
            </a:pPr>
            <a:endParaRPr lang="en-US" sz="3600" baseline="2973" dirty="0">
              <a:latin typeface="Times New Roman"/>
              <a:cs typeface="Times New Roman"/>
            </a:endParaRPr>
          </a:p>
          <a:p>
            <a:pPr marL="11397" marR="45999">
              <a:lnSpc>
                <a:spcPts val="1997"/>
              </a:lnSpc>
              <a:spcBef>
                <a:spcPts val="100"/>
              </a:spcBef>
            </a:pPr>
            <a:r>
              <a:rPr lang="en-US" sz="3600" baseline="2973" dirty="0">
                <a:latin typeface="Times New Roman"/>
                <a:cs typeface="Times New Roman"/>
              </a:rPr>
              <a:t>  </a:t>
            </a:r>
            <a:r>
              <a:rPr sz="3600" baseline="2973" dirty="0">
                <a:latin typeface="Times New Roman"/>
                <a:cs typeface="Times New Roman"/>
              </a:rPr>
              <a:t>Given</a:t>
            </a:r>
            <a:r>
              <a:rPr sz="3600" spc="-289" baseline="2973" dirty="0">
                <a:latin typeface="Times New Roman"/>
                <a:cs typeface="Times New Roman"/>
              </a:rPr>
              <a:t> </a:t>
            </a:r>
            <a:r>
              <a:rPr sz="3600" baseline="2973" dirty="0">
                <a:latin typeface="Times New Roman"/>
                <a:cs typeface="Times New Roman"/>
              </a:rPr>
              <a:t>an</a:t>
            </a:r>
            <a:r>
              <a:rPr sz="3600" spc="208" baseline="2973" dirty="0">
                <a:latin typeface="Times New Roman"/>
                <a:cs typeface="Times New Roman"/>
              </a:rPr>
              <a:t> </a:t>
            </a:r>
            <a:r>
              <a:rPr sz="3600" baseline="2973" dirty="0">
                <a:solidFill>
                  <a:srgbClr val="0000FF"/>
                </a:solidFill>
                <a:latin typeface="Times New Roman"/>
                <a:cs typeface="Times New Roman"/>
              </a:rPr>
              <a:t>implication </a:t>
            </a:r>
            <a:r>
              <a:rPr sz="3600" spc="102" baseline="2973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600" baseline="2973" dirty="0">
                <a:latin typeface="Times New Roman"/>
                <a:cs typeface="Times New Roman"/>
              </a:rPr>
              <a:t>p</a:t>
            </a:r>
            <a:r>
              <a:rPr sz="3600" spc="159" baseline="2973" dirty="0">
                <a:latin typeface="Times New Roman"/>
                <a:cs typeface="Times New Roman"/>
              </a:rPr>
              <a:t> </a:t>
            </a:r>
            <a:r>
              <a:rPr sz="3600" baseline="1973" dirty="0">
                <a:latin typeface="Arial Unicode MS"/>
                <a:cs typeface="Arial Unicode MS"/>
              </a:rPr>
              <a:t>→</a:t>
            </a:r>
            <a:r>
              <a:rPr sz="3600" spc="-206" baseline="1973" dirty="0">
                <a:latin typeface="Arial Unicode MS"/>
                <a:cs typeface="Arial Unicode MS"/>
              </a:rPr>
              <a:t> </a:t>
            </a:r>
            <a:r>
              <a:rPr sz="3600" baseline="2973" dirty="0">
                <a:latin typeface="Times New Roman"/>
                <a:cs typeface="Times New Roman"/>
              </a:rPr>
              <a:t>q</a:t>
            </a:r>
            <a:endParaRPr lang="en-US" sz="3600" baseline="2973" dirty="0">
              <a:latin typeface="Times New Roman"/>
              <a:cs typeface="Times New Roman"/>
            </a:endParaRPr>
          </a:p>
          <a:p>
            <a:pPr marL="11397" marR="45999">
              <a:lnSpc>
                <a:spcPts val="1997"/>
              </a:lnSpc>
              <a:spcBef>
                <a:spcPts val="100"/>
              </a:spcBef>
            </a:pPr>
            <a:r>
              <a:rPr lang="en-US" sz="3600" baseline="2973" dirty="0">
                <a:latin typeface="Times New Roman"/>
                <a:cs typeface="Times New Roman"/>
              </a:rPr>
              <a:t>If it is raining then grass is wet</a:t>
            </a:r>
            <a:endParaRPr sz="2400" dirty="0">
              <a:latin typeface="Times New Roman"/>
              <a:cs typeface="Times New Roman"/>
            </a:endParaRPr>
          </a:p>
          <a:p>
            <a:pPr marL="11397" marR="45999">
              <a:lnSpc>
                <a:spcPct val="144364"/>
              </a:lnSpc>
              <a:spcBef>
                <a:spcPts val="664"/>
              </a:spcBef>
            </a:pPr>
            <a:r>
              <a:rPr sz="2400" dirty="0">
                <a:latin typeface="Arial Unicode MS"/>
                <a:cs typeface="Arial Unicode MS"/>
              </a:rPr>
              <a:t>•</a:t>
            </a:r>
            <a:r>
              <a:rPr sz="2400" spc="278" dirty="0">
                <a:latin typeface="Arial Unicode MS"/>
                <a:cs typeface="Arial Unicode MS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6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converse</a:t>
            </a:r>
            <a:r>
              <a:rPr sz="2400" spc="-18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is: </a:t>
            </a:r>
            <a:r>
              <a:rPr sz="2400" spc="41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</a:t>
            </a:r>
            <a:r>
              <a:rPr sz="2400" spc="11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Unicode MS"/>
                <a:cs typeface="Arial Unicode MS"/>
              </a:rPr>
              <a:t>→</a:t>
            </a:r>
            <a:r>
              <a:rPr sz="2400" spc="173" dirty="0">
                <a:latin typeface="Arial Unicode MS"/>
                <a:cs typeface="Arial Unicode MS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</a:t>
            </a:r>
            <a:endParaRPr lang="en-US" sz="2400" dirty="0">
              <a:latin typeface="Times New Roman"/>
              <a:cs typeface="Times New Roman"/>
            </a:endParaRPr>
          </a:p>
          <a:p>
            <a:pPr marL="11397" marR="45999">
              <a:lnSpc>
                <a:spcPct val="144364"/>
              </a:lnSpc>
              <a:spcBef>
                <a:spcPts val="664"/>
              </a:spcBef>
            </a:pPr>
            <a:r>
              <a:rPr lang="en-US" sz="2400" dirty="0">
                <a:latin typeface="Times New Roman"/>
                <a:cs typeface="Times New Roman"/>
              </a:rPr>
              <a:t>If Grass is wet then it is raining</a:t>
            </a:r>
            <a:endParaRPr sz="2400" dirty="0">
              <a:latin typeface="Times New Roman"/>
              <a:cs typeface="Times New Roman"/>
            </a:endParaRPr>
          </a:p>
          <a:p>
            <a:pPr marL="11397">
              <a:lnSpc>
                <a:spcPct val="144364"/>
              </a:lnSpc>
              <a:spcBef>
                <a:spcPts val="764"/>
              </a:spcBef>
            </a:pPr>
            <a:r>
              <a:rPr sz="2400" dirty="0">
                <a:latin typeface="Arial Unicode MS"/>
                <a:cs typeface="Arial Unicode MS"/>
              </a:rPr>
              <a:t>•</a:t>
            </a:r>
            <a:r>
              <a:rPr sz="2400" spc="278" dirty="0">
                <a:latin typeface="Arial Unicode MS"/>
                <a:cs typeface="Arial Unicode MS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6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contra</a:t>
            </a:r>
            <a:r>
              <a:rPr sz="2400" spc="108" dirty="0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ositive</a:t>
            </a:r>
            <a:r>
              <a:rPr sz="2400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is: </a:t>
            </a:r>
            <a:r>
              <a:rPr sz="2400" spc="41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Unicode MS"/>
                <a:cs typeface="Arial Unicode MS"/>
              </a:rPr>
              <a:t>¬</a:t>
            </a:r>
            <a:r>
              <a:rPr sz="2400" dirty="0">
                <a:latin typeface="Times New Roman"/>
                <a:cs typeface="Times New Roman"/>
              </a:rPr>
              <a:t>q</a:t>
            </a:r>
            <a:r>
              <a:rPr sz="2400" spc="352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Unicode MS"/>
                <a:cs typeface="Arial Unicode MS"/>
              </a:rPr>
              <a:t>→</a:t>
            </a:r>
            <a:r>
              <a:rPr sz="2400" spc="-206" dirty="0">
                <a:latin typeface="Arial Unicode MS"/>
                <a:cs typeface="Arial Unicode MS"/>
              </a:rPr>
              <a:t> </a:t>
            </a:r>
            <a:r>
              <a:rPr sz="2400" dirty="0">
                <a:latin typeface="Arial Unicode MS"/>
                <a:cs typeface="Arial Unicode MS"/>
              </a:rPr>
              <a:t>¬</a:t>
            </a:r>
            <a:r>
              <a:rPr sz="2400" dirty="0">
                <a:latin typeface="Times New Roman"/>
                <a:cs typeface="Times New Roman"/>
              </a:rPr>
              <a:t>p</a:t>
            </a:r>
          </a:p>
          <a:p>
            <a:pPr marL="11397" marR="45999">
              <a:lnSpc>
                <a:spcPct val="144364"/>
              </a:lnSpc>
              <a:spcBef>
                <a:spcPts val="764"/>
              </a:spcBef>
            </a:pPr>
            <a:r>
              <a:rPr sz="2400" dirty="0">
                <a:latin typeface="Arial Unicode MS"/>
                <a:cs typeface="Arial Unicode MS"/>
              </a:rPr>
              <a:t>•</a:t>
            </a:r>
            <a:r>
              <a:rPr sz="2400" spc="289" dirty="0">
                <a:latin typeface="Arial Unicode MS"/>
                <a:cs typeface="Arial Unicode MS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4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FF"/>
                </a:solidFill>
                <a:latin typeface="Times New Roman"/>
                <a:cs typeface="Times New Roman"/>
              </a:rPr>
              <a:t>inverse</a:t>
            </a:r>
            <a:r>
              <a:rPr sz="2400" spc="-221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is: </a:t>
            </a:r>
            <a:r>
              <a:rPr sz="2400" spc="413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Unicode MS"/>
                <a:cs typeface="Arial Unicode MS"/>
              </a:rPr>
              <a:t>¬</a:t>
            </a: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spc="39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 Unicode MS"/>
                <a:cs typeface="Arial Unicode MS"/>
              </a:rPr>
              <a:t>→</a:t>
            </a:r>
            <a:r>
              <a:rPr sz="2400" spc="-206" dirty="0">
                <a:latin typeface="Arial Unicode MS"/>
                <a:cs typeface="Arial Unicode MS"/>
              </a:rPr>
              <a:t> </a:t>
            </a:r>
            <a:r>
              <a:rPr sz="2400" dirty="0">
                <a:latin typeface="Arial Unicode MS"/>
                <a:cs typeface="Arial Unicode MS"/>
              </a:rPr>
              <a:t>¬</a:t>
            </a:r>
            <a:r>
              <a:rPr sz="2400" dirty="0">
                <a:latin typeface="Times New Roman"/>
                <a:cs typeface="Times New Roman"/>
              </a:rPr>
              <a:t>q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74300" y="520524"/>
            <a:ext cx="219887" cy="134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794">
              <a:lnSpc>
                <a:spcPts val="897"/>
              </a:lnSpc>
            </a:pPr>
            <a:endParaRPr sz="900" dirty="0"/>
          </a:p>
        </p:txBody>
      </p:sp>
      <p:sp>
        <p:nvSpPr>
          <p:cNvPr id="3" name="object 3"/>
          <p:cNvSpPr txBox="1"/>
          <p:nvPr/>
        </p:nvSpPr>
        <p:spPr>
          <a:xfrm>
            <a:off x="6986516" y="520524"/>
            <a:ext cx="219697" cy="134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794">
              <a:lnSpc>
                <a:spcPts val="897"/>
              </a:lnSpc>
            </a:pPr>
            <a:endParaRPr sz="900" dirty="0"/>
          </a:p>
        </p:txBody>
      </p:sp>
      <p:sp>
        <p:nvSpPr>
          <p:cNvPr id="2" name="object 2"/>
          <p:cNvSpPr txBox="1"/>
          <p:nvPr/>
        </p:nvSpPr>
        <p:spPr>
          <a:xfrm>
            <a:off x="8209975" y="520524"/>
            <a:ext cx="300895" cy="134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794">
              <a:lnSpc>
                <a:spcPts val="897"/>
              </a:lnSpc>
            </a:pPr>
            <a:endParaRPr sz="9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47990-1C1E-41D1-86E8-7814FDCD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4CC92-B5A2-4B41-A766-5241FE79E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5" y="685801"/>
            <a:ext cx="7514035" cy="914399"/>
          </a:xfrm>
        </p:spPr>
        <p:txBody>
          <a:bodyPr>
            <a:normAutofit fontScale="90000"/>
          </a:bodyPr>
          <a:lstStyle/>
          <a:p>
            <a:pPr defTabSz="914400">
              <a:lnSpc>
                <a:spcPts val="3845"/>
              </a:lnSpc>
              <a:spcBef>
                <a:spcPts val="192"/>
              </a:spcBef>
            </a:pPr>
            <a:r>
              <a:rPr lang="en-US" sz="4400" dirty="0">
                <a:latin typeface="Calibri" pitchFamily="34" charset="0"/>
                <a:ea typeface="+mn-ea"/>
                <a:cs typeface="Calibri" pitchFamily="34" charset="0"/>
              </a:rPr>
              <a:t>Converse,  Contrapositive and Inverse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FA2EA-4C6E-44C8-93A9-CBDA1971D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234" y="1905000"/>
            <a:ext cx="7514035" cy="3886201"/>
          </a:xfrm>
        </p:spPr>
        <p:txBody>
          <a:bodyPr>
            <a:normAutofit/>
          </a:bodyPr>
          <a:lstStyle/>
          <a:p>
            <a:pPr algn="just"/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contrapositive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of a conditional statement of the form "If 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then 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q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" is "If ~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q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then ~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". Symbolically, the 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contrapositive of p q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is ~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q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~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indent="0" algn="just">
              <a:buNone/>
            </a:pPr>
            <a:endParaRPr lang="en-US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 conditional statement is logically equivalent to its 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contrapositive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A conditional statement is not logically equivalent to its inverse.</a:t>
            </a: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	For example, the 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contrapositive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of "If it is raining then the 	grass is wet" is "If the grass is not wet then it is not raining."</a:t>
            </a: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6B9614-0C44-415A-A601-DF24B9869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280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Construct a truth table for</a:t>
            </a:r>
          </a:p>
          <a:p>
            <a:pPr lvl="1"/>
            <a:r>
              <a:rPr lang="en-US" sz="2800" dirty="0"/>
              <a:t>(p</a:t>
            </a:r>
            <a:r>
              <a:rPr lang="en-US" sz="2800" dirty="0">
                <a:sym typeface="Wingdings" pitchFamily="2" charset="2"/>
              </a:rPr>
              <a:t>&lt;---</a:t>
            </a:r>
            <a:r>
              <a:rPr lang="en-US" sz="2800" dirty="0"/>
              <a:t>&gt; q) </a:t>
            </a:r>
            <a:r>
              <a:rPr lang="en-US" sz="2800" dirty="0">
                <a:sym typeface="Wingdings" pitchFamily="2" charset="2"/>
              </a:rPr>
              <a:t>&lt;---</a:t>
            </a:r>
            <a:r>
              <a:rPr lang="en-US" sz="2800" dirty="0"/>
              <a:t>&gt; (r</a:t>
            </a:r>
            <a:r>
              <a:rPr lang="en-US" sz="2800" dirty="0">
                <a:sym typeface="Wingdings" pitchFamily="2" charset="2"/>
              </a:rPr>
              <a:t>&lt;---</a:t>
            </a:r>
            <a:r>
              <a:rPr lang="en-US" sz="2800" dirty="0"/>
              <a:t>&gt; s) </a:t>
            </a:r>
          </a:p>
          <a:p>
            <a:pPr lvl="1"/>
            <a:r>
              <a:rPr lang="en-US" sz="2800" dirty="0"/>
              <a:t>((p</a:t>
            </a:r>
            <a:r>
              <a:rPr lang="en-US" sz="2800" dirty="0">
                <a:sym typeface="Wingdings" pitchFamily="2" charset="2"/>
              </a:rPr>
              <a:t>---</a:t>
            </a:r>
            <a:r>
              <a:rPr lang="en-US" sz="2800" dirty="0"/>
              <a:t>&gt; q) </a:t>
            </a:r>
            <a:r>
              <a:rPr lang="en-US" sz="2800" dirty="0">
                <a:sym typeface="Wingdings" pitchFamily="2" charset="2"/>
              </a:rPr>
              <a:t>---</a:t>
            </a:r>
            <a:r>
              <a:rPr lang="en-US" sz="2800" dirty="0"/>
              <a:t>&gt;r) </a:t>
            </a:r>
            <a:r>
              <a:rPr lang="en-US" sz="2800" dirty="0">
                <a:sym typeface="Wingdings" pitchFamily="2" charset="2"/>
              </a:rPr>
              <a:t>---</a:t>
            </a:r>
            <a:r>
              <a:rPr lang="en-US" sz="2800" dirty="0"/>
              <a:t>&gt; s</a:t>
            </a:r>
          </a:p>
          <a:p>
            <a:pPr lvl="1"/>
            <a:r>
              <a:rPr lang="en-US" sz="2800" dirty="0"/>
              <a:t>(p V q)^ ~r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79D77B-13C3-4C69-B8BC-9C25365C4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3234" y="2057400"/>
            <a:ext cx="7514035" cy="3733801"/>
          </a:xfrm>
        </p:spPr>
        <p:txBody>
          <a:bodyPr>
            <a:noAutofit/>
          </a:bodyPr>
          <a:lstStyle/>
          <a:p>
            <a:r>
              <a:rPr lang="en-US" sz="2400" dirty="0"/>
              <a:t>Let p be the “ the election is decided” and</a:t>
            </a:r>
          </a:p>
          <a:p>
            <a:r>
              <a:rPr lang="en-US" sz="2400" dirty="0"/>
              <a:t>Q= the votes have been counted.</a:t>
            </a:r>
          </a:p>
          <a:p>
            <a:pPr marL="0" indent="0">
              <a:buNone/>
            </a:pPr>
            <a:r>
              <a:rPr lang="en-US" sz="2400" dirty="0"/>
              <a:t>Translate the following proposition into Propositional logic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~p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P V q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~p ^ q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	~q </a:t>
            </a:r>
            <a:r>
              <a:rPr lang="en-US" sz="2000" dirty="0">
                <a:sym typeface="Wingdings" pitchFamily="2" charset="2"/>
              </a:rPr>
              <a:t>~p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ym typeface="Wingdings" pitchFamily="2" charset="2"/>
              </a:rPr>
              <a:t>	P&lt; ---&gt; q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253DE-87C8-4489-A298-F40CB1E43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3234" y="2057400"/>
            <a:ext cx="7514035" cy="3733801"/>
          </a:xfrm>
        </p:spPr>
        <p:txBody>
          <a:bodyPr>
            <a:noAutofit/>
          </a:bodyPr>
          <a:lstStyle/>
          <a:p>
            <a:r>
              <a:rPr lang="en-US" sz="2000" dirty="0"/>
              <a:t>Convert the following sentence into PL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sz="2400" dirty="0"/>
              <a:t>You will get an A in this class if and if you either do every exercise in this book or you  get an A in the final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sz="2400" dirty="0"/>
              <a:t>Berries are ripe along the trail, but grizzly bears have not been seen in the area.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sz="2400" dirty="0"/>
              <a:t>It is below freezing but not snowing.</a:t>
            </a:r>
          </a:p>
          <a:p>
            <a:pPr marL="800100" lvl="1" indent="-457200">
              <a:buFont typeface="+mj-lt"/>
              <a:buAutoNum type="arabicPeriod"/>
            </a:pPr>
            <a:r>
              <a:rPr lang="en-US" sz="2400" dirty="0"/>
              <a:t>Swimming at the new jersey shore is not allowed and either swimming at the new jersey shore is allowed or shark have not been spotted near the shore.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FC02B-7A3B-4D0B-9E70-0176C396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2A1D3-94CF-4BE8-B9A0-75EFE4C74F95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</TotalTime>
  <Words>2386</Words>
  <Application>Microsoft Office PowerPoint</Application>
  <PresentationFormat>On-screen Show (4:3)</PresentationFormat>
  <Paragraphs>546</Paragraphs>
  <Slides>42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Arial</vt:lpstr>
      <vt:lpstr>Arial</vt:lpstr>
      <vt:lpstr>Arial Unicode MS</vt:lpstr>
      <vt:lpstr>Calibri</vt:lpstr>
      <vt:lpstr>Calibri Light</vt:lpstr>
      <vt:lpstr>Symbol</vt:lpstr>
      <vt:lpstr>Times New Roman</vt:lpstr>
      <vt:lpstr>Wingdings</vt:lpstr>
      <vt:lpstr>Office Theme</vt:lpstr>
      <vt:lpstr>Artificial Intelligence</vt:lpstr>
      <vt:lpstr>Lecture # 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Assignments and Models</vt:lpstr>
      <vt:lpstr>PowerPoint Presentation</vt:lpstr>
      <vt:lpstr>Satisfiable and Valid</vt:lpstr>
      <vt:lpstr>DIY</vt:lpstr>
      <vt:lpstr>PowerPoint Presentation</vt:lpstr>
      <vt:lpstr>PowerPoint Presentation</vt:lpstr>
      <vt:lpstr>PowerPoint Presentation</vt:lpstr>
      <vt:lpstr>Tautology Example</vt:lpstr>
      <vt:lpstr>Contradiction Example</vt:lpstr>
      <vt:lpstr>Contingency Example</vt:lpstr>
      <vt:lpstr>Assignments and Models</vt:lpstr>
      <vt:lpstr>Logical Equivalence of Conditional and Contrapositive</vt:lpstr>
      <vt:lpstr>Converse,  Contrapositive and Inverse</vt:lpstr>
      <vt:lpstr>PowerPoint Presentation</vt:lpstr>
      <vt:lpstr>Converse,  Contrapositive and Inverse</vt:lpstr>
      <vt:lpstr>Exercise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AbdulSamad Rajput</dc:creator>
  <cp:lastModifiedBy>mehwish wahid</cp:lastModifiedBy>
  <cp:revision>17</cp:revision>
  <dcterms:created xsi:type="dcterms:W3CDTF">2020-09-23T08:26:54Z</dcterms:created>
  <dcterms:modified xsi:type="dcterms:W3CDTF">2025-04-09T16:19:39Z</dcterms:modified>
</cp:coreProperties>
</file>