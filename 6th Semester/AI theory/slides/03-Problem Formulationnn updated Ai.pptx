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31"/>
  </p:notesMasterIdLst>
  <p:sldIdLst>
    <p:sldId id="257" r:id="rId2"/>
    <p:sldId id="258" r:id="rId3"/>
    <p:sldId id="269" r:id="rId4"/>
    <p:sldId id="271" r:id="rId5"/>
    <p:sldId id="272" r:id="rId6"/>
    <p:sldId id="273" r:id="rId7"/>
    <p:sldId id="274" r:id="rId8"/>
    <p:sldId id="277" r:id="rId9"/>
    <p:sldId id="278" r:id="rId10"/>
    <p:sldId id="279" r:id="rId11"/>
    <p:sldId id="280" r:id="rId12"/>
    <p:sldId id="281" r:id="rId13"/>
    <p:sldId id="282" r:id="rId14"/>
    <p:sldId id="296" r:id="rId15"/>
    <p:sldId id="297" r:id="rId16"/>
    <p:sldId id="298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9" r:id="rId29"/>
    <p:sldId id="29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DC2CF-30E8-4544-BE91-8329C5A616C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81BC3B-2253-4D66-A201-373FA99C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2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2B723-4480-414C-A3F8-C429B02264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0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3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9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37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6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1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8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1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7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9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0DDBDFB-1EA2-4D9E-85F7-2E4F8F0E31E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20AAD88-C819-48A8-9E43-18DDB8357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3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jpeg"/><Relationship Id="rId7" Type="http://schemas.openxmlformats.org/officeDocument/2006/relationships/image" Target="../media/image46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130436"/>
            <a:ext cx="6705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373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03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Problem Solving by Searching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Rabiya</a:t>
            </a:r>
            <a:r>
              <a:rPr lang="en-US" dirty="0"/>
              <a:t> Tahir</a:t>
            </a:r>
          </a:p>
        </p:txBody>
      </p:sp>
    </p:spTree>
    <p:extLst>
      <p:ext uri="{BB962C8B-B14F-4D97-AF65-F5344CB8AC3E}">
        <p14:creationId xmlns:p14="http://schemas.microsoft.com/office/powerpoint/2010/main" val="54841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1524000" y="4688362"/>
            <a:ext cx="9144000" cy="1090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089142">
              <a:lnSpc>
                <a:spcPts val="3260"/>
              </a:lnSpc>
              <a:spcBef>
                <a:spcPts val="163"/>
              </a:spcBef>
            </a:pPr>
            <a:r>
              <a:rPr sz="4800" baseline="3413" dirty="0">
                <a:latin typeface="Calibri"/>
                <a:cs typeface="Calibri"/>
              </a:rPr>
              <a:t>and           </a:t>
            </a:r>
            <a:r>
              <a:rPr sz="4800" spc="379" baseline="3413" dirty="0">
                <a:latin typeface="Calibri"/>
                <a:cs typeface="Calibri"/>
              </a:rPr>
              <a:t> </a:t>
            </a:r>
            <a:r>
              <a:rPr sz="4800" baseline="3413" dirty="0">
                <a:latin typeface="Calibri"/>
                <a:cs typeface="Calibri"/>
              </a:rPr>
              <a:t>th</a:t>
            </a:r>
            <a:r>
              <a:rPr sz="4800" spc="-34" baseline="3413" dirty="0">
                <a:latin typeface="Calibri"/>
                <a:cs typeface="Calibri"/>
              </a:rPr>
              <a:t>a</a:t>
            </a:r>
            <a:r>
              <a:rPr sz="4800" baseline="3413" dirty="0">
                <a:latin typeface="Calibri"/>
                <a:cs typeface="Calibri"/>
              </a:rPr>
              <a:t>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02840" y="211992"/>
            <a:ext cx="7129544" cy="15820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03824" marR="60921">
              <a:lnSpc>
                <a:spcPts val="4580"/>
              </a:lnSpc>
              <a:spcBef>
                <a:spcPts val="229"/>
              </a:spcBef>
            </a:pPr>
            <a:endParaRPr lang="en-US" sz="6600" baseline="3103" dirty="0">
              <a:latin typeface="Calibri"/>
              <a:cs typeface="Calibri"/>
            </a:endParaRPr>
          </a:p>
          <a:p>
            <a:pPr marL="703824" marR="60921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64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 Solving</a:t>
            </a:r>
            <a:r>
              <a:rPr sz="6600" spc="29" baseline="3103" dirty="0">
                <a:latin typeface="Calibri"/>
                <a:cs typeface="Calibri"/>
              </a:rPr>
              <a:t> </a:t>
            </a:r>
            <a:r>
              <a:rPr sz="6600" spc="-25" baseline="3103" dirty="0">
                <a:latin typeface="Calibri"/>
                <a:cs typeface="Calibri"/>
              </a:rPr>
              <a:t>b</a:t>
            </a:r>
            <a:r>
              <a:rPr sz="6600" baseline="3103" dirty="0">
                <a:latin typeface="Calibri"/>
                <a:cs typeface="Calibri"/>
              </a:rPr>
              <a:t>y Sea</a:t>
            </a:r>
            <a:r>
              <a:rPr sz="6600" spc="-59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ch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2040"/>
              </a:spcBef>
            </a:pP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9942" y="1581789"/>
            <a:ext cx="228473" cy="424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0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8415" y="1581788"/>
            <a:ext cx="8096556" cy="4417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0921" algn="just">
              <a:lnSpc>
                <a:spcPts val="3360"/>
              </a:lnSpc>
              <a:spcBef>
                <a:spcPts val="168"/>
              </a:spcBef>
            </a:pPr>
            <a:r>
              <a:rPr lang="en-US" sz="3200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n impor</a:t>
            </a:r>
            <a:r>
              <a:rPr lang="en-US" sz="3200" spc="-34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lang="en-US" sz="3200" spc="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lang="en-US" sz="3200" spc="-25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lang="en-US" sz="3200" spc="1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lang="en-US" sz="3200" spc="-4" dirty="0">
                <a:solidFill>
                  <a:prstClr val="black"/>
                </a:solidFill>
                <a:latin typeface="Calibri"/>
                <a:cs typeface="Calibri"/>
              </a:rPr>
              <a:t>s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pect</a:t>
            </a:r>
            <a:r>
              <a:rPr lang="en-US" sz="3200" spc="-7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lang="en-US" sz="3200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lang="en-US" sz="3200" spc="-34" dirty="0">
                <a:solidFill>
                  <a:prstClr val="black"/>
                </a:solidFill>
                <a:latin typeface="Calibri"/>
                <a:cs typeface="Calibri"/>
              </a:rPr>
              <a:t>nt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elli</a:t>
            </a:r>
            <a:r>
              <a:rPr lang="en-US" sz="3200" spc="-25" dirty="0">
                <a:solidFill>
                  <a:prstClr val="black"/>
                </a:solidFill>
                <a:latin typeface="Calibri"/>
                <a:cs typeface="Calibri"/>
              </a:rPr>
              <a:t>g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ence</a:t>
            </a:r>
            <a:r>
              <a:rPr lang="en-US" sz="3200" spc="2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is </a:t>
            </a:r>
            <a:r>
              <a:rPr lang="en-US" sz="3200" spc="-25" dirty="0">
                <a:solidFill>
                  <a:srgbClr val="BF0000"/>
                </a:solidFill>
                <a:latin typeface="Calibri"/>
                <a:cs typeface="Calibri"/>
              </a:rPr>
              <a:t>g</a:t>
            </a:r>
            <a:r>
              <a:rPr lang="en-US" sz="3200" dirty="0">
                <a:solidFill>
                  <a:srgbClr val="BF0000"/>
                </a:solidFill>
                <a:latin typeface="Calibri"/>
                <a:cs typeface="Calibri"/>
              </a:rPr>
              <a:t>oal </a:t>
            </a:r>
            <a:r>
              <a:rPr sz="4800" baseline="3413" dirty="0">
                <a:solidFill>
                  <a:srgbClr val="BF0000"/>
                </a:solidFill>
                <a:latin typeface="Calibri"/>
                <a:cs typeface="Calibri"/>
              </a:rPr>
              <a:t>based</a:t>
            </a:r>
            <a:r>
              <a:rPr sz="4800" spc="-57" baseline="3413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4800" baseline="3413" dirty="0">
                <a:latin typeface="Calibri"/>
                <a:cs typeface="Calibri"/>
              </a:rPr>
              <a:t>p</a:t>
            </a:r>
            <a:r>
              <a:rPr sz="4800" spc="-54" baseline="3413" dirty="0">
                <a:latin typeface="Calibri"/>
                <a:cs typeface="Calibri"/>
              </a:rPr>
              <a:t>r</a:t>
            </a:r>
            <a:r>
              <a:rPr sz="4800" baseline="3413" dirty="0">
                <a:latin typeface="Calibri"/>
                <a:cs typeface="Calibri"/>
              </a:rPr>
              <a:t>oblem</a:t>
            </a:r>
            <a:r>
              <a:rPr sz="4800" spc="29" baseline="3413" dirty="0">
                <a:latin typeface="Calibri"/>
                <a:cs typeface="Calibri"/>
              </a:rPr>
              <a:t> </a:t>
            </a:r>
            <a:r>
              <a:rPr sz="4800" baseline="3413" dirty="0">
                <a:latin typeface="Calibri"/>
                <a:cs typeface="Calibri"/>
              </a:rPr>
              <a:t>solving</a:t>
            </a:r>
            <a:r>
              <a:rPr sz="4800" i="1" baseline="3413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12700" marR="652190" algn="just">
              <a:lnSpc>
                <a:spcPts val="3840"/>
              </a:lnSpc>
              <a:spcBef>
                <a:spcPts val="700"/>
              </a:spcBef>
            </a:pPr>
            <a:r>
              <a:rPr sz="3200" dirty="0">
                <a:latin typeface="Calibri"/>
                <a:cs typeface="Calibri"/>
              </a:rPr>
              <a:t>The solution</a:t>
            </a:r>
            <a:r>
              <a:rPr sz="3200" spc="1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</a:t>
            </a:r>
            <a:r>
              <a:rPr sz="3200" spc="-59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y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</a:t>
            </a:r>
            <a:r>
              <a:rPr sz="3200" spc="-54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oblems</a:t>
            </a:r>
            <a:r>
              <a:rPr sz="3200" spc="19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 described</a:t>
            </a:r>
            <a:r>
              <a:rPr sz="3200" spc="14" dirty="0">
                <a:latin typeface="Calibri"/>
                <a:cs typeface="Calibri"/>
              </a:rPr>
              <a:t> </a:t>
            </a:r>
            <a:r>
              <a:rPr sz="3200" spc="-19" dirty="0">
                <a:latin typeface="Calibri"/>
                <a:cs typeface="Calibri"/>
              </a:rPr>
              <a:t>b</a:t>
            </a:r>
            <a:r>
              <a:rPr sz="3200" dirty="0">
                <a:latin typeface="Calibri"/>
                <a:cs typeface="Calibri"/>
              </a:rPr>
              <a:t>y</a:t>
            </a:r>
            <a:r>
              <a:rPr sz="3200" spc="1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finding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105EB"/>
                </a:solidFill>
                <a:latin typeface="Calibri"/>
                <a:cs typeface="Calibri"/>
              </a:rPr>
              <a:t>sequence</a:t>
            </a:r>
            <a:r>
              <a:rPr sz="3200" spc="14" dirty="0">
                <a:solidFill>
                  <a:srgbClr val="3105EB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105EB"/>
                </a:solidFill>
                <a:latin typeface="Calibri"/>
                <a:cs typeface="Calibri"/>
              </a:rPr>
              <a:t>of</a:t>
            </a:r>
            <a:r>
              <a:rPr sz="3200" spc="-26" dirty="0">
                <a:solidFill>
                  <a:srgbClr val="3105EB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105EB"/>
                </a:solidFill>
                <a:latin typeface="Calibri"/>
                <a:cs typeface="Calibri"/>
              </a:rPr>
              <a:t>actions </a:t>
            </a:r>
            <a:r>
              <a:rPr sz="3200" dirty="0">
                <a:latin typeface="Calibri"/>
                <a:cs typeface="Calibri"/>
              </a:rPr>
              <a:t>th</a:t>
            </a:r>
            <a:r>
              <a:rPr sz="3200" spc="-34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1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lead</a:t>
            </a:r>
            <a:r>
              <a:rPr sz="3200" spc="19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o 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105EB"/>
                </a:solidFill>
                <a:latin typeface="Calibri"/>
                <a:cs typeface="Calibri"/>
              </a:rPr>
              <a:t>desi</a:t>
            </a:r>
            <a:r>
              <a:rPr sz="3200" spc="-64" dirty="0">
                <a:solidFill>
                  <a:srgbClr val="3105EB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3105EB"/>
                </a:solidFill>
                <a:latin typeface="Calibri"/>
                <a:cs typeface="Calibri"/>
              </a:rPr>
              <a:t>able</a:t>
            </a:r>
            <a:r>
              <a:rPr sz="3200" spc="4" dirty="0">
                <a:solidFill>
                  <a:srgbClr val="3105EB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105EB"/>
                </a:solidFill>
                <a:latin typeface="Calibri"/>
                <a:cs typeface="Calibri"/>
              </a:rPr>
              <a:t>g</a:t>
            </a:r>
            <a:r>
              <a:rPr sz="3200" dirty="0">
                <a:solidFill>
                  <a:srgbClr val="3105EB"/>
                </a:solidFill>
                <a:latin typeface="Calibri"/>
                <a:cs typeface="Calibri"/>
              </a:rPr>
              <a:t>oal</a:t>
            </a:r>
            <a:r>
              <a:rPr sz="3200" dirty="0">
                <a:latin typeface="Calibri"/>
                <a:cs typeface="Calibri"/>
              </a:rPr>
              <a:t>.</a:t>
            </a:r>
          </a:p>
          <a:p>
            <a:pPr marL="12720" marR="60921" algn="just">
              <a:lnSpc>
                <a:spcPct val="101725"/>
              </a:lnSpc>
              <a:spcBef>
                <a:spcPts val="601"/>
              </a:spcBef>
            </a:pPr>
            <a:r>
              <a:rPr sz="3200" spc="-54" dirty="0">
                <a:latin typeface="Calibri"/>
                <a:cs typeface="Calibri"/>
              </a:rPr>
              <a:t>E</a:t>
            </a:r>
            <a:r>
              <a:rPr sz="3200" spc="-4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ch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105EB"/>
                </a:solidFill>
                <a:latin typeface="Calibri"/>
                <a:cs typeface="Calibri"/>
              </a:rPr>
              <a:t>action</a:t>
            </a:r>
            <a:r>
              <a:rPr sz="3200" spc="24" dirty="0">
                <a:solidFill>
                  <a:srgbClr val="3105EB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</a:t>
            </a:r>
            <a:r>
              <a:rPr sz="3200" spc="-25" dirty="0">
                <a:latin typeface="Calibri"/>
                <a:cs typeface="Calibri"/>
              </a:rPr>
              <a:t>g</a:t>
            </a:r>
            <a:r>
              <a:rPr sz="3200" dirty="0">
                <a:latin typeface="Calibri"/>
                <a:cs typeface="Calibri"/>
              </a:rPr>
              <a:t>es</a:t>
            </a:r>
            <a:r>
              <a:rPr sz="3200" spc="12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9" dirty="0">
                <a:latin typeface="Calibri"/>
                <a:cs typeface="Calibri"/>
              </a:rPr>
              <a:t> </a:t>
            </a:r>
            <a:r>
              <a:rPr sz="3200" spc="-34" dirty="0">
                <a:solidFill>
                  <a:srgbClr val="70309F"/>
                </a:solidFill>
                <a:latin typeface="Calibri"/>
                <a:cs typeface="Calibri"/>
              </a:rPr>
              <a:t>stat</a:t>
            </a:r>
            <a:r>
              <a:rPr sz="3200" dirty="0">
                <a:solidFill>
                  <a:srgbClr val="70309F"/>
                </a:solidFill>
                <a:latin typeface="Calibri"/>
                <a:cs typeface="Calibri"/>
              </a:rPr>
              <a:t>e</a:t>
            </a:r>
            <a:r>
              <a:rPr sz="3200" spc="14" dirty="0">
                <a:solidFill>
                  <a:srgbClr val="70309F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2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aim</a:t>
            </a:r>
            <a:r>
              <a:rPr sz="3200" spc="1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</a:p>
          <a:p>
            <a:pPr marL="12700">
              <a:lnSpc>
                <a:spcPts val="3840"/>
              </a:lnSpc>
              <a:spcBef>
                <a:spcPts val="192"/>
              </a:spcBef>
            </a:pPr>
            <a:r>
              <a:rPr sz="4800" spc="-25" baseline="1706" dirty="0">
                <a:latin typeface="Calibri"/>
                <a:cs typeface="Calibri"/>
              </a:rPr>
              <a:t>t</a:t>
            </a:r>
            <a:r>
              <a:rPr sz="4800" baseline="1706" dirty="0">
                <a:latin typeface="Calibri"/>
                <a:cs typeface="Calibri"/>
              </a:rPr>
              <a:t>o find</a:t>
            </a:r>
            <a:r>
              <a:rPr sz="4800" spc="19" baseline="1706" dirty="0">
                <a:latin typeface="Calibri"/>
                <a:cs typeface="Calibri"/>
              </a:rPr>
              <a:t> </a:t>
            </a:r>
            <a:r>
              <a:rPr sz="4800" baseline="1706" dirty="0">
                <a:latin typeface="Calibri"/>
                <a:cs typeface="Calibri"/>
              </a:rPr>
              <a:t>the</a:t>
            </a:r>
            <a:r>
              <a:rPr sz="4800" spc="9" baseline="1706" dirty="0">
                <a:latin typeface="Calibri"/>
                <a:cs typeface="Calibri"/>
              </a:rPr>
              <a:t> </a:t>
            </a:r>
            <a:r>
              <a:rPr sz="4800" baseline="1706" dirty="0">
                <a:solidFill>
                  <a:srgbClr val="3105EB"/>
                </a:solidFill>
                <a:latin typeface="Calibri"/>
                <a:cs typeface="Calibri"/>
              </a:rPr>
              <a:t>sequence</a:t>
            </a:r>
            <a:r>
              <a:rPr sz="4800" spc="14" baseline="1706" dirty="0">
                <a:solidFill>
                  <a:srgbClr val="3105EB"/>
                </a:solidFill>
                <a:latin typeface="Calibri"/>
                <a:cs typeface="Calibri"/>
              </a:rPr>
              <a:t> </a:t>
            </a:r>
            <a:r>
              <a:rPr sz="4800" baseline="1706" dirty="0">
                <a:solidFill>
                  <a:srgbClr val="3105EB"/>
                </a:solidFill>
                <a:latin typeface="Calibri"/>
                <a:cs typeface="Calibri"/>
              </a:rPr>
              <a:t>of</a:t>
            </a:r>
            <a:r>
              <a:rPr sz="4800" spc="-26" baseline="1706" dirty="0">
                <a:solidFill>
                  <a:srgbClr val="3105EB"/>
                </a:solidFill>
                <a:latin typeface="Calibri"/>
                <a:cs typeface="Calibri"/>
              </a:rPr>
              <a:t> </a:t>
            </a:r>
            <a:r>
              <a:rPr sz="4800" baseline="1706" dirty="0">
                <a:solidFill>
                  <a:srgbClr val="3105EB"/>
                </a:solidFill>
                <a:latin typeface="Calibri"/>
                <a:cs typeface="Calibri"/>
              </a:rPr>
              <a:t>actions</a:t>
            </a:r>
            <a:r>
              <a:rPr sz="4800" spc="25" baseline="1706" dirty="0">
                <a:solidFill>
                  <a:srgbClr val="3105EB"/>
                </a:solidFill>
                <a:latin typeface="Calibri"/>
                <a:cs typeface="Calibri"/>
              </a:rPr>
              <a:t> </a:t>
            </a:r>
            <a:r>
              <a:rPr sz="4800" baseline="1706" dirty="0">
                <a:latin typeface="Calibri"/>
                <a:cs typeface="Calibri"/>
              </a:rPr>
              <a:t>and</a:t>
            </a:r>
            <a:r>
              <a:rPr sz="4800" spc="-29" baseline="1706" dirty="0">
                <a:latin typeface="Calibri"/>
                <a:cs typeface="Calibri"/>
              </a:rPr>
              <a:t> </a:t>
            </a:r>
            <a:r>
              <a:rPr sz="4800" spc="-34" baseline="1706" dirty="0">
                <a:solidFill>
                  <a:srgbClr val="70309F"/>
                </a:solidFill>
                <a:latin typeface="Calibri"/>
                <a:cs typeface="Calibri"/>
              </a:rPr>
              <a:t>stat</a:t>
            </a:r>
            <a:r>
              <a:rPr sz="4800" baseline="1706" dirty="0">
                <a:solidFill>
                  <a:srgbClr val="70309F"/>
                </a:solidFill>
                <a:latin typeface="Calibri"/>
                <a:cs typeface="Calibri"/>
              </a:rPr>
              <a:t>es</a:t>
            </a:r>
            <a:r>
              <a:rPr sz="4800" spc="2" baseline="1706" dirty="0">
                <a:solidFill>
                  <a:srgbClr val="70309F"/>
                </a:solidFill>
                <a:latin typeface="Calibri"/>
                <a:cs typeface="Calibri"/>
              </a:rPr>
              <a:t> </a:t>
            </a:r>
            <a:r>
              <a:rPr sz="4800" baseline="1706" dirty="0">
                <a:latin typeface="Calibri"/>
                <a:cs typeface="Calibri"/>
              </a:rPr>
              <a:t>th</a:t>
            </a:r>
            <a:r>
              <a:rPr sz="4800" spc="-34" baseline="1706" dirty="0">
                <a:latin typeface="Calibri"/>
                <a:cs typeface="Calibri"/>
              </a:rPr>
              <a:t>a</a:t>
            </a:r>
            <a:r>
              <a:rPr sz="4800" baseline="1706" dirty="0">
                <a:latin typeface="Calibri"/>
                <a:cs typeface="Calibri"/>
              </a:rPr>
              <a:t>t</a:t>
            </a:r>
            <a:endParaRPr sz="3200" dirty="0">
              <a:latin typeface="Calibri"/>
              <a:cs typeface="Calibri"/>
            </a:endParaRPr>
          </a:p>
          <a:p>
            <a:pPr marL="12710" marR="60921">
              <a:lnSpc>
                <a:spcPts val="3840"/>
              </a:lnSpc>
            </a:pPr>
            <a:r>
              <a:rPr sz="4800" baseline="1706" dirty="0">
                <a:latin typeface="Calibri"/>
                <a:cs typeface="Calibri"/>
              </a:rPr>
              <a:t>lead</a:t>
            </a:r>
            <a:r>
              <a:rPr sz="4800" spc="14" baseline="1706" dirty="0">
                <a:latin typeface="Calibri"/>
                <a:cs typeface="Calibri"/>
              </a:rPr>
              <a:t> </a:t>
            </a:r>
            <a:r>
              <a:rPr sz="4800" baseline="1706" dirty="0">
                <a:latin typeface="Calibri"/>
                <a:cs typeface="Calibri"/>
              </a:rPr>
              <a:t>f</a:t>
            </a:r>
            <a:r>
              <a:rPr sz="4800" spc="-50" baseline="1706" dirty="0">
                <a:latin typeface="Calibri"/>
                <a:cs typeface="Calibri"/>
              </a:rPr>
              <a:t>r</a:t>
            </a:r>
            <a:r>
              <a:rPr sz="4800" baseline="1706" dirty="0">
                <a:latin typeface="Calibri"/>
                <a:cs typeface="Calibri"/>
              </a:rPr>
              <a:t>om the</a:t>
            </a:r>
            <a:r>
              <a:rPr sz="4800" spc="9" baseline="1706" dirty="0">
                <a:latin typeface="Calibri"/>
                <a:cs typeface="Calibri"/>
              </a:rPr>
              <a:t> </a:t>
            </a:r>
            <a:r>
              <a:rPr sz="4800" baseline="1706" dirty="0">
                <a:solidFill>
                  <a:srgbClr val="BF0000"/>
                </a:solidFill>
                <a:latin typeface="Calibri"/>
                <a:cs typeface="Calibri"/>
              </a:rPr>
              <a:t>initial</a:t>
            </a:r>
            <a:r>
              <a:rPr sz="4800" spc="19" baseline="1706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4800" baseline="1706" dirty="0">
                <a:latin typeface="Calibri"/>
                <a:cs typeface="Calibri"/>
              </a:rPr>
              <a:t>(</a:t>
            </a:r>
            <a:r>
              <a:rPr sz="4800" spc="-39" baseline="1706" dirty="0">
                <a:latin typeface="Calibri"/>
                <a:cs typeface="Calibri"/>
              </a:rPr>
              <a:t>st</a:t>
            </a:r>
            <a:r>
              <a:rPr sz="4800" baseline="1706" dirty="0">
                <a:latin typeface="Calibri"/>
                <a:cs typeface="Calibri"/>
              </a:rPr>
              <a:t>art)</a:t>
            </a:r>
            <a:r>
              <a:rPr sz="4800" spc="-12" baseline="1706" dirty="0">
                <a:latin typeface="Calibri"/>
                <a:cs typeface="Calibri"/>
              </a:rPr>
              <a:t> </a:t>
            </a:r>
            <a:r>
              <a:rPr sz="4800" spc="-34" baseline="1706" dirty="0">
                <a:latin typeface="Calibri"/>
                <a:cs typeface="Calibri"/>
              </a:rPr>
              <a:t>stat</a:t>
            </a:r>
            <a:r>
              <a:rPr sz="4800" baseline="1706" dirty="0">
                <a:latin typeface="Calibri"/>
                <a:cs typeface="Calibri"/>
              </a:rPr>
              <a:t>e</a:t>
            </a:r>
            <a:r>
              <a:rPr sz="4800" spc="14" baseline="1706" dirty="0">
                <a:latin typeface="Calibri"/>
                <a:cs typeface="Calibri"/>
              </a:rPr>
              <a:t> </a:t>
            </a:r>
            <a:r>
              <a:rPr sz="4800" spc="-25" baseline="1706" dirty="0">
                <a:latin typeface="Calibri"/>
                <a:cs typeface="Calibri"/>
              </a:rPr>
              <a:t>t</a:t>
            </a:r>
            <a:r>
              <a:rPr sz="4800" baseline="1706" dirty="0">
                <a:latin typeface="Calibri"/>
                <a:cs typeface="Calibri"/>
              </a:rPr>
              <a:t>o a</a:t>
            </a:r>
            <a:r>
              <a:rPr sz="4800" spc="-15" baseline="1706" dirty="0">
                <a:latin typeface="Calibri"/>
                <a:cs typeface="Calibri"/>
              </a:rPr>
              <a:t> </a:t>
            </a:r>
            <a:r>
              <a:rPr sz="4800" baseline="1706" dirty="0">
                <a:solidFill>
                  <a:srgbClr val="BF0000"/>
                </a:solidFill>
                <a:latin typeface="Calibri"/>
                <a:cs typeface="Calibri"/>
              </a:rPr>
              <a:t>final</a:t>
            </a:r>
            <a:r>
              <a:rPr lang="en-US" sz="4800" baseline="1706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4800" spc="19" baseline="1706" dirty="0">
                <a:latin typeface="Calibri"/>
                <a:cs typeface="Calibri"/>
              </a:rPr>
              <a:t>(</a:t>
            </a:r>
            <a:r>
              <a:rPr sz="4800" spc="-19" baseline="1706" dirty="0">
                <a:latin typeface="Calibri"/>
                <a:cs typeface="Calibri"/>
              </a:rPr>
              <a:t>g</a:t>
            </a:r>
            <a:r>
              <a:rPr sz="4800" baseline="1706" dirty="0">
                <a:latin typeface="Calibri"/>
                <a:cs typeface="Calibri"/>
              </a:rPr>
              <a:t>oal)</a:t>
            </a:r>
            <a:r>
              <a:rPr sz="4800" spc="24" baseline="1706" dirty="0">
                <a:latin typeface="Calibri"/>
                <a:cs typeface="Calibri"/>
              </a:rPr>
              <a:t> </a:t>
            </a:r>
            <a:r>
              <a:rPr sz="4800" spc="-34" baseline="1706" dirty="0">
                <a:latin typeface="Calibri"/>
                <a:cs typeface="Calibri"/>
              </a:rPr>
              <a:t>stat</a:t>
            </a:r>
            <a:r>
              <a:rPr sz="4800" baseline="1706" dirty="0">
                <a:latin typeface="Calibri"/>
                <a:cs typeface="Calibri"/>
              </a:rPr>
              <a:t>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972" y="2637097"/>
            <a:ext cx="228473" cy="424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0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9951" y="4172089"/>
            <a:ext cx="228472" cy="4244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0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5940" y="6220418"/>
            <a:ext cx="175552" cy="24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baseline="3034" dirty="0">
                <a:latin typeface="Calibri"/>
                <a:cs typeface="Calibri"/>
              </a:rPr>
              <a:t>3</a:t>
            </a:r>
            <a:endParaRPr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028175" y="6580933"/>
            <a:ext cx="125501" cy="17488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011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7772400" cy="838200"/>
          </a:xfrm>
        </p:spPr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458200" cy="48768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A problem is defined by 5 components:</a:t>
            </a:r>
          </a:p>
          <a:p>
            <a:pPr>
              <a:lnSpc>
                <a:spcPct val="90000"/>
              </a:lnSpc>
            </a:pPr>
            <a:r>
              <a:rPr lang="en-US" b="1" u="sng" dirty="0"/>
              <a:t>Initial state : </a:t>
            </a:r>
            <a:r>
              <a:rPr lang="en-US" dirty="0"/>
              <a:t>starting point </a:t>
            </a:r>
            <a:endParaRPr lang="en-US" b="1" u="sng" dirty="0"/>
          </a:p>
          <a:p>
            <a:pPr>
              <a:lnSpc>
                <a:spcPct val="90000"/>
              </a:lnSpc>
            </a:pPr>
            <a:r>
              <a:rPr lang="en-US" b="1" u="sng" dirty="0"/>
              <a:t>Operator:</a:t>
            </a:r>
            <a:r>
              <a:rPr lang="en-US" dirty="0"/>
              <a:t> description of an action </a:t>
            </a:r>
          </a:p>
          <a:p>
            <a:pPr>
              <a:lnSpc>
                <a:spcPct val="90000"/>
              </a:lnSpc>
            </a:pPr>
            <a:r>
              <a:rPr lang="en-US" b="1" u="sng" dirty="0"/>
              <a:t>State space:</a:t>
            </a:r>
            <a:r>
              <a:rPr lang="en-US" dirty="0"/>
              <a:t> set of all states reachable from the initial state by any sequence action</a:t>
            </a:r>
          </a:p>
          <a:p>
            <a:pPr>
              <a:lnSpc>
                <a:spcPct val="90000"/>
              </a:lnSpc>
            </a:pPr>
            <a:r>
              <a:rPr lang="en-US" b="1" u="sng" dirty="0"/>
              <a:t>Goal test:</a:t>
            </a:r>
            <a:r>
              <a:rPr lang="en-US" dirty="0"/>
              <a:t> which the agent can apply to a single state description to determine if it is a goal state</a:t>
            </a:r>
          </a:p>
          <a:p>
            <a:pPr>
              <a:lnSpc>
                <a:spcPct val="90000"/>
              </a:lnSpc>
            </a:pPr>
            <a:r>
              <a:rPr lang="en-US" b="1" u="sng" dirty="0"/>
              <a:t>Path cost function</a:t>
            </a:r>
            <a:r>
              <a:rPr lang="en-US" dirty="0"/>
              <a:t>: assign a cost to a path which is the sum of the costs of the individual actions along the path.</a:t>
            </a:r>
          </a:p>
        </p:txBody>
      </p:sp>
    </p:spTree>
    <p:extLst>
      <p:ext uri="{BB962C8B-B14F-4D97-AF65-F5344CB8AC3E}">
        <p14:creationId xmlns:p14="http://schemas.microsoft.com/office/powerpoint/2010/main" val="8586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1524000" y="2750507"/>
            <a:ext cx="9144000" cy="11019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37260">
              <a:lnSpc>
                <a:spcPts val="2855"/>
              </a:lnSpc>
              <a:spcBef>
                <a:spcPts val="142"/>
              </a:spcBef>
            </a:pPr>
            <a:r>
              <a:rPr sz="4200" baseline="3900" dirty="0">
                <a:latin typeface="Calibri"/>
                <a:cs typeface="Calibri"/>
              </a:rPr>
              <a:t>desi</a:t>
            </a:r>
            <a:r>
              <a:rPr sz="4200" spc="-59" baseline="3900" dirty="0">
                <a:latin typeface="Calibri"/>
                <a:cs typeface="Calibri"/>
              </a:rPr>
              <a:t>r</a:t>
            </a:r>
            <a:r>
              <a:rPr sz="4200" baseline="3900" dirty="0">
                <a:latin typeface="Calibri"/>
                <a:cs typeface="Calibri"/>
              </a:rPr>
              <a:t>ability</a:t>
            </a:r>
            <a:r>
              <a:rPr sz="4200" spc="-25" baseline="3900" dirty="0">
                <a:latin typeface="Calibri"/>
                <a:cs typeface="Calibri"/>
              </a:rPr>
              <a:t> </a:t>
            </a:r>
            <a:r>
              <a:rPr sz="4200" baseline="3900" dirty="0">
                <a:latin typeface="Calibri"/>
                <a:cs typeface="Calibri"/>
              </a:rPr>
              <a:t>of their ou</a:t>
            </a:r>
            <a:r>
              <a:rPr sz="4200" spc="-39" baseline="3900" dirty="0">
                <a:latin typeface="Calibri"/>
                <a:cs typeface="Calibri"/>
              </a:rPr>
              <a:t>t</a:t>
            </a:r>
            <a:r>
              <a:rPr sz="4200" spc="-25" baseline="3900" dirty="0">
                <a:latin typeface="Calibri"/>
                <a:cs typeface="Calibri"/>
              </a:rPr>
              <a:t>c</a:t>
            </a:r>
            <a:r>
              <a:rPr sz="4200" baseline="3900" dirty="0">
                <a:latin typeface="Calibri"/>
                <a:cs typeface="Calibri"/>
              </a:rPr>
              <a:t>ome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448560" y="681740"/>
            <a:ext cx="6415858" cy="13399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75867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64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 Solving</a:t>
            </a:r>
            <a:r>
              <a:rPr sz="6600" spc="29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latin typeface="Calibri"/>
                <a:cs typeface="Calibri"/>
              </a:rPr>
              <a:t>A</a:t>
            </a:r>
            <a:r>
              <a:rPr sz="6600" spc="-34" baseline="3103" dirty="0">
                <a:latin typeface="Calibri"/>
                <a:cs typeface="Calibri"/>
              </a:rPr>
              <a:t>g</a:t>
            </a:r>
            <a:r>
              <a:rPr sz="6600" baseline="3103" dirty="0">
                <a:latin typeface="Calibri"/>
                <a:cs typeface="Calibri"/>
              </a:rPr>
              <a:t>e</a:t>
            </a:r>
            <a:r>
              <a:rPr sz="6600" spc="-39" baseline="3103" dirty="0">
                <a:latin typeface="Calibri"/>
                <a:cs typeface="Calibri"/>
              </a:rPr>
              <a:t>n</a:t>
            </a:r>
            <a:r>
              <a:rPr sz="6600" baseline="3103" dirty="0">
                <a:latin typeface="Calibri"/>
                <a:cs typeface="Calibri"/>
              </a:rPr>
              <a:t>ts</a:t>
            </a:r>
            <a:endParaRPr sz="4400">
              <a:latin typeface="Calibri"/>
              <a:cs typeface="Calibri"/>
            </a:endParaRPr>
          </a:p>
          <a:p>
            <a:pPr marL="12700" marR="83781">
              <a:lnSpc>
                <a:spcPct val="101725"/>
              </a:lnSpc>
              <a:spcBef>
                <a:spcPts val="2451"/>
              </a:spcBef>
            </a:pPr>
            <a:r>
              <a:rPr sz="2800" dirty="0">
                <a:latin typeface="Calibri"/>
                <a:cs typeface="Calibri"/>
              </a:rPr>
              <a:t>One kind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 a </a:t>
            </a:r>
            <a:r>
              <a:rPr sz="2800" spc="-14" dirty="0">
                <a:latin typeface="Calibri"/>
                <a:cs typeface="Calibri"/>
              </a:rPr>
              <a:t>g</a:t>
            </a:r>
            <a:r>
              <a:rPr sz="2800" dirty="0">
                <a:latin typeface="Calibri"/>
                <a:cs typeface="Calibri"/>
              </a:rPr>
              <a:t>oal‐based</a:t>
            </a:r>
            <a:r>
              <a:rPr sz="2800" spc="-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g</a:t>
            </a:r>
            <a:r>
              <a:rPr sz="2800" spc="-4" dirty="0">
                <a:latin typeface="Calibri"/>
                <a:cs typeface="Calibri"/>
              </a:rPr>
              <a:t>e</a:t>
            </a:r>
            <a:r>
              <a:rPr sz="2800" spc="-25" dirty="0">
                <a:latin typeface="Calibri"/>
                <a:cs typeface="Calibri"/>
              </a:rPr>
              <a:t>n</a:t>
            </a:r>
            <a:r>
              <a:rPr sz="2800" spc="-4" dirty="0">
                <a:latin typeface="Calibri"/>
                <a:cs typeface="Calibri"/>
              </a:rPr>
              <a:t>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5660" y="1625622"/>
            <a:ext cx="203326" cy="375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5"/>
              </a:lnSpc>
              <a:spcBef>
                <a:spcPts val="148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05660" y="2213236"/>
            <a:ext cx="203326" cy="375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5"/>
              </a:lnSpc>
              <a:spcBef>
                <a:spcPts val="148"/>
              </a:spcBef>
            </a:pPr>
            <a:r>
              <a:rPr sz="2800" dirty="0">
                <a:solidFill>
                  <a:srgbClr val="BF0000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8560" y="2234347"/>
            <a:ext cx="6889748" cy="878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="1" baseline="2925" dirty="0">
                <a:solidFill>
                  <a:srgbClr val="BF0000"/>
                </a:solidFill>
                <a:latin typeface="Calibri"/>
                <a:cs typeface="Calibri"/>
              </a:rPr>
              <a:t>Goal</a:t>
            </a:r>
            <a:r>
              <a:rPr sz="4200" b="1" spc="-9" baseline="292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4200" b="1" baseline="2925" dirty="0">
                <a:solidFill>
                  <a:srgbClr val="BF0000"/>
                </a:solidFill>
                <a:latin typeface="Calibri"/>
                <a:cs typeface="Calibri"/>
              </a:rPr>
              <a:t>based</a:t>
            </a:r>
            <a:r>
              <a:rPr sz="4200" b="1" spc="-4" baseline="292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4200" b="1" baseline="2925" dirty="0">
                <a:solidFill>
                  <a:srgbClr val="BF0000"/>
                </a:solidFill>
                <a:latin typeface="Calibri"/>
                <a:cs typeface="Calibri"/>
              </a:rPr>
              <a:t>a</a:t>
            </a:r>
            <a:r>
              <a:rPr sz="4200" b="1" spc="-29" baseline="2925" dirty="0">
                <a:solidFill>
                  <a:srgbClr val="BF0000"/>
                </a:solidFill>
                <a:latin typeface="Calibri"/>
                <a:cs typeface="Calibri"/>
              </a:rPr>
              <a:t>g</a:t>
            </a:r>
            <a:r>
              <a:rPr sz="4200" b="1" baseline="2925" dirty="0">
                <a:solidFill>
                  <a:srgbClr val="BF0000"/>
                </a:solidFill>
                <a:latin typeface="Calibri"/>
                <a:cs typeface="Calibri"/>
              </a:rPr>
              <a:t>e</a:t>
            </a:r>
            <a:r>
              <a:rPr sz="4200" b="1" spc="-19" baseline="2925" dirty="0">
                <a:solidFill>
                  <a:srgbClr val="BF0000"/>
                </a:solidFill>
                <a:latin typeface="Calibri"/>
                <a:cs typeface="Calibri"/>
              </a:rPr>
              <a:t>n</a:t>
            </a:r>
            <a:r>
              <a:rPr sz="4200" b="1" baseline="2925" dirty="0">
                <a:solidFill>
                  <a:srgbClr val="BF0000"/>
                </a:solidFill>
                <a:latin typeface="Calibri"/>
                <a:cs typeface="Calibri"/>
              </a:rPr>
              <a:t>t</a:t>
            </a:r>
            <a:r>
              <a:rPr sz="4200" baseline="2925" dirty="0">
                <a:latin typeface="Calibri"/>
                <a:cs typeface="Calibri"/>
              </a:rPr>
              <a:t>: </a:t>
            </a:r>
            <a:r>
              <a:rPr sz="4200" spc="-25" baseline="2925" dirty="0">
                <a:latin typeface="Calibri"/>
                <a:cs typeface="Calibri"/>
              </a:rPr>
              <a:t>c</a:t>
            </a:r>
            <a:r>
              <a:rPr sz="4200" baseline="2925" dirty="0">
                <a:latin typeface="Calibri"/>
                <a:cs typeface="Calibri"/>
              </a:rPr>
              <a:t>onside</a:t>
            </a:r>
            <a:r>
              <a:rPr sz="4200" spc="-50" baseline="2925" dirty="0">
                <a:latin typeface="Calibri"/>
                <a:cs typeface="Calibri"/>
              </a:rPr>
              <a:t>r</a:t>
            </a:r>
            <a:r>
              <a:rPr sz="4200" baseline="2925" dirty="0">
                <a:latin typeface="Calibri"/>
                <a:cs typeface="Calibri"/>
              </a:rPr>
              <a:t>s</a:t>
            </a:r>
            <a:r>
              <a:rPr sz="4200" spc="19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futu</a:t>
            </a:r>
            <a:r>
              <a:rPr sz="4200" spc="-34" baseline="2925" dirty="0">
                <a:latin typeface="Calibri"/>
                <a:cs typeface="Calibri"/>
              </a:rPr>
              <a:t>r</a:t>
            </a:r>
            <a:r>
              <a:rPr sz="4200" baseline="2925" dirty="0">
                <a:latin typeface="Calibri"/>
                <a:cs typeface="Calibri"/>
              </a:rPr>
              <a:t>e actions</a:t>
            </a:r>
            <a:r>
              <a:rPr sz="4200" spc="9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12700" marR="53378">
              <a:lnSpc>
                <a:spcPct val="101725"/>
              </a:lnSpc>
              <a:spcBef>
                <a:spcPts val="466"/>
              </a:spcBef>
            </a:pPr>
            <a:r>
              <a:rPr sz="2800" dirty="0">
                <a:latin typeface="Calibri"/>
                <a:cs typeface="Calibri"/>
              </a:rPr>
              <a:t>desi</a:t>
            </a:r>
            <a:r>
              <a:rPr sz="2800" spc="-59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ability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 their ou</a:t>
            </a:r>
            <a:r>
              <a:rPr sz="2800" spc="-39" dirty="0">
                <a:latin typeface="Calibri"/>
                <a:cs typeface="Calibri"/>
              </a:rPr>
              <a:t>t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ome.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40849" y="2234347"/>
            <a:ext cx="561035" cy="375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spc="-4" baseline="29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05646" y="3304519"/>
            <a:ext cx="203326" cy="375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5"/>
              </a:lnSpc>
              <a:spcBef>
                <a:spcPts val="148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8547" y="3325631"/>
            <a:ext cx="6397856" cy="8786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aseline="2925" dirty="0">
                <a:latin typeface="Calibri"/>
                <a:cs typeface="Calibri"/>
              </a:rPr>
              <a:t>Decides</a:t>
            </a:r>
            <a:r>
              <a:rPr sz="4200" spc="4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wh</a:t>
            </a:r>
            <a:r>
              <a:rPr sz="4200" spc="-25" baseline="2925" dirty="0">
                <a:latin typeface="Calibri"/>
                <a:cs typeface="Calibri"/>
              </a:rPr>
              <a:t>a</a:t>
            </a:r>
            <a:r>
              <a:rPr sz="4200" baseline="2925" dirty="0">
                <a:latin typeface="Calibri"/>
                <a:cs typeface="Calibri"/>
              </a:rPr>
              <a:t>t </a:t>
            </a:r>
            <a:r>
              <a:rPr sz="4200" spc="-34" baseline="2925" dirty="0">
                <a:latin typeface="Calibri"/>
                <a:cs typeface="Calibri"/>
              </a:rPr>
              <a:t>t</a:t>
            </a:r>
            <a:r>
              <a:rPr sz="4200" baseline="2925" dirty="0">
                <a:latin typeface="Calibri"/>
                <a:cs typeface="Calibri"/>
              </a:rPr>
              <a:t>o</a:t>
            </a:r>
            <a:r>
              <a:rPr sz="4200" spc="4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do</a:t>
            </a:r>
            <a:r>
              <a:rPr sz="4200" spc="9" baseline="2925" dirty="0">
                <a:latin typeface="Calibri"/>
                <a:cs typeface="Calibri"/>
              </a:rPr>
              <a:t> </a:t>
            </a:r>
            <a:r>
              <a:rPr sz="4200" spc="-14" baseline="2925" dirty="0">
                <a:latin typeface="Calibri"/>
                <a:cs typeface="Calibri"/>
              </a:rPr>
              <a:t>b</a:t>
            </a:r>
            <a:r>
              <a:rPr sz="4200" baseline="2925" dirty="0">
                <a:latin typeface="Calibri"/>
                <a:cs typeface="Calibri"/>
              </a:rPr>
              <a:t>y </a:t>
            </a:r>
            <a:r>
              <a:rPr sz="4200" b="1" baseline="2925" dirty="0">
                <a:latin typeface="Calibri"/>
                <a:cs typeface="Calibri"/>
              </a:rPr>
              <a:t>finding</a:t>
            </a:r>
            <a:r>
              <a:rPr sz="4200" b="1" spc="-25" baseline="2925" dirty="0">
                <a:latin typeface="Calibri"/>
                <a:cs typeface="Calibri"/>
              </a:rPr>
              <a:t> </a:t>
            </a:r>
            <a:r>
              <a:rPr sz="4200" b="1" baseline="2925" dirty="0">
                <a:latin typeface="Calibri"/>
                <a:cs typeface="Calibri"/>
              </a:rPr>
              <a:t>sequences</a:t>
            </a:r>
            <a:r>
              <a:rPr sz="4200" b="1" spc="-9" baseline="2925" dirty="0">
                <a:latin typeface="Calibri"/>
                <a:cs typeface="Calibri"/>
              </a:rPr>
              <a:t> </a:t>
            </a:r>
            <a:r>
              <a:rPr sz="4200" b="1" baseline="2925" dirty="0"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  <a:p>
            <a:pPr marL="12712" marR="53378">
              <a:lnSpc>
                <a:spcPct val="101725"/>
              </a:lnSpc>
              <a:spcBef>
                <a:spcPts val="466"/>
              </a:spcBef>
            </a:pPr>
            <a:r>
              <a:rPr sz="2800" spc="-4" dirty="0">
                <a:latin typeface="Calibri"/>
                <a:cs typeface="Calibri"/>
              </a:rPr>
              <a:t>th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t lead</a:t>
            </a:r>
            <a:r>
              <a:rPr sz="2800" spc="-4" dirty="0">
                <a:latin typeface="Calibri"/>
                <a:cs typeface="Calibri"/>
              </a:rPr>
              <a:t> </a:t>
            </a:r>
            <a:r>
              <a:rPr sz="2800" spc="-34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o desi</a:t>
            </a:r>
            <a:r>
              <a:rPr sz="2800" spc="-59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able </a:t>
            </a:r>
            <a:r>
              <a:rPr sz="2800" spc="-29" dirty="0">
                <a:latin typeface="Calibri"/>
                <a:cs typeface="Calibri"/>
              </a:rPr>
              <a:t>stat</a:t>
            </a:r>
            <a:r>
              <a:rPr sz="2800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47834" y="3325631"/>
            <a:ext cx="1139094" cy="375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="1" baseline="2925" dirty="0">
                <a:latin typeface="Calibri"/>
                <a:cs typeface="Calibri"/>
              </a:rPr>
              <a:t>actions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5625" y="4395802"/>
            <a:ext cx="203327" cy="375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5"/>
              </a:lnSpc>
              <a:spcBef>
                <a:spcPts val="148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526" y="4416914"/>
            <a:ext cx="6407947" cy="14160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aseline="2925" dirty="0">
                <a:latin typeface="Calibri"/>
                <a:cs typeface="Calibri"/>
              </a:rPr>
              <a:t>I</a:t>
            </a:r>
            <a:r>
              <a:rPr sz="4200" spc="-25" baseline="2925" dirty="0">
                <a:latin typeface="Calibri"/>
                <a:cs typeface="Calibri"/>
              </a:rPr>
              <a:t>n</a:t>
            </a:r>
            <a:r>
              <a:rPr sz="4200" spc="-29" baseline="2925" dirty="0">
                <a:latin typeface="Calibri"/>
                <a:cs typeface="Calibri"/>
              </a:rPr>
              <a:t>t</a:t>
            </a:r>
            <a:r>
              <a:rPr sz="4200" baseline="2925" dirty="0">
                <a:latin typeface="Calibri"/>
                <a:cs typeface="Calibri"/>
              </a:rPr>
              <a:t>elli</a:t>
            </a:r>
            <a:r>
              <a:rPr sz="4200" spc="-29" baseline="2925" dirty="0">
                <a:latin typeface="Calibri"/>
                <a:cs typeface="Calibri"/>
              </a:rPr>
              <a:t>g</a:t>
            </a:r>
            <a:r>
              <a:rPr sz="4200" baseline="2925" dirty="0">
                <a:latin typeface="Calibri"/>
                <a:cs typeface="Calibri"/>
              </a:rPr>
              <a:t>e</a:t>
            </a:r>
            <a:r>
              <a:rPr sz="4200" spc="-25" baseline="2925" dirty="0">
                <a:latin typeface="Calibri"/>
                <a:cs typeface="Calibri"/>
              </a:rPr>
              <a:t>n</a:t>
            </a:r>
            <a:r>
              <a:rPr sz="4200" baseline="2925" dirty="0">
                <a:latin typeface="Calibri"/>
                <a:cs typeface="Calibri"/>
              </a:rPr>
              <a:t>t</a:t>
            </a:r>
            <a:r>
              <a:rPr sz="4200" spc="-14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a</a:t>
            </a:r>
            <a:r>
              <a:rPr sz="4200" spc="-19" baseline="2925" dirty="0">
                <a:latin typeface="Calibri"/>
                <a:cs typeface="Calibri"/>
              </a:rPr>
              <a:t>g</a:t>
            </a:r>
            <a:r>
              <a:rPr sz="4200" baseline="2925" dirty="0">
                <a:latin typeface="Calibri"/>
                <a:cs typeface="Calibri"/>
              </a:rPr>
              <a:t>e</a:t>
            </a:r>
            <a:r>
              <a:rPr sz="4200" spc="-25" baseline="2925" dirty="0">
                <a:latin typeface="Calibri"/>
                <a:cs typeface="Calibri"/>
              </a:rPr>
              <a:t>n</a:t>
            </a:r>
            <a:r>
              <a:rPr sz="4200" baseline="2925" dirty="0">
                <a:latin typeface="Calibri"/>
                <a:cs typeface="Calibri"/>
              </a:rPr>
              <a:t>ts</a:t>
            </a:r>
            <a:r>
              <a:rPr sz="4200" spc="-9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a</a:t>
            </a:r>
            <a:r>
              <a:rPr sz="4200" spc="-34" baseline="2925" dirty="0">
                <a:latin typeface="Calibri"/>
                <a:cs typeface="Calibri"/>
              </a:rPr>
              <a:t>r</a:t>
            </a:r>
            <a:r>
              <a:rPr sz="4200" baseline="2925" dirty="0">
                <a:latin typeface="Calibri"/>
                <a:cs typeface="Calibri"/>
              </a:rPr>
              <a:t>e</a:t>
            </a:r>
            <a:r>
              <a:rPr sz="4200" spc="-9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supposed</a:t>
            </a:r>
            <a:r>
              <a:rPr sz="4200" spc="19" baseline="2925" dirty="0">
                <a:latin typeface="Calibri"/>
                <a:cs typeface="Calibri"/>
              </a:rPr>
              <a:t> </a:t>
            </a:r>
            <a:r>
              <a:rPr sz="4200" spc="-34" baseline="2925" dirty="0">
                <a:latin typeface="Calibri"/>
                <a:cs typeface="Calibri"/>
              </a:rPr>
              <a:t>t</a:t>
            </a:r>
            <a:r>
              <a:rPr sz="4200" baseline="2925" dirty="0">
                <a:latin typeface="Calibri"/>
                <a:cs typeface="Calibri"/>
              </a:rPr>
              <a:t>o</a:t>
            </a:r>
            <a:r>
              <a:rPr sz="4200" spc="4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m</a:t>
            </a:r>
            <a:r>
              <a:rPr sz="4200" spc="-19" baseline="2925" dirty="0">
                <a:latin typeface="Calibri"/>
                <a:cs typeface="Calibri"/>
              </a:rPr>
              <a:t>a</a:t>
            </a:r>
            <a:r>
              <a:rPr sz="4200" baseline="2925" dirty="0">
                <a:latin typeface="Calibri"/>
                <a:cs typeface="Calibri"/>
              </a:rPr>
              <a:t>ximi</a:t>
            </a:r>
            <a:r>
              <a:rPr sz="4200" spc="-69" baseline="2925" dirty="0">
                <a:latin typeface="Calibri"/>
                <a:cs typeface="Calibri"/>
              </a:rPr>
              <a:t>z</a:t>
            </a:r>
            <a:r>
              <a:rPr sz="4200" baseline="2925" dirty="0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marL="12735" marR="53378">
              <a:lnSpc>
                <a:spcPct val="101725"/>
              </a:lnSpc>
              <a:spcBef>
                <a:spcPts val="466"/>
              </a:spcBef>
            </a:pPr>
            <a:r>
              <a:rPr sz="2800" dirty="0">
                <a:latin typeface="Calibri"/>
                <a:cs typeface="Calibri"/>
              </a:rPr>
              <a:t>per</a:t>
            </a:r>
            <a:r>
              <a:rPr sz="2800" spc="-54" dirty="0">
                <a:latin typeface="Calibri"/>
                <a:cs typeface="Calibri"/>
              </a:rPr>
              <a:t>f</a:t>
            </a:r>
            <a:r>
              <a:rPr sz="2800" spc="-4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rmance</a:t>
            </a:r>
            <a:r>
              <a:rPr sz="2800" spc="-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measu</a:t>
            </a:r>
            <a:r>
              <a:rPr sz="2800" spc="-34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12771" marR="38140">
              <a:lnSpc>
                <a:spcPct val="101725"/>
              </a:lnSpc>
              <a:spcBef>
                <a:spcPts val="883"/>
              </a:spcBef>
            </a:pPr>
            <a:r>
              <a:rPr sz="2800" spc="-4" dirty="0">
                <a:latin typeface="Calibri"/>
                <a:cs typeface="Calibri"/>
              </a:rPr>
              <a:t>Achievin</a:t>
            </a:r>
            <a:r>
              <a:rPr sz="2800" dirty="0">
                <a:latin typeface="Calibri"/>
                <a:cs typeface="Calibri"/>
              </a:rPr>
              <a:t>g</a:t>
            </a:r>
            <a:r>
              <a:rPr sz="2800" spc="-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 som</a:t>
            </a:r>
            <a:r>
              <a:rPr sz="2800" spc="-19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times simplified</a:t>
            </a:r>
            <a:r>
              <a:rPr sz="2800" spc="-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 </a:t>
            </a:r>
            <a:r>
              <a:rPr sz="2800" spc="-4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55426" y="4416914"/>
            <a:ext cx="766478" cy="375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aseline="2925" dirty="0">
                <a:latin typeface="Calibri"/>
                <a:cs typeface="Calibri"/>
              </a:rPr>
              <a:t>their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5696" y="5436858"/>
            <a:ext cx="203327" cy="375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5"/>
              </a:lnSpc>
              <a:spcBef>
                <a:spcPts val="148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1182" y="5457981"/>
            <a:ext cx="893685" cy="375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aseline="2925" dirty="0">
                <a:latin typeface="Calibri"/>
                <a:cs typeface="Calibri"/>
              </a:rPr>
              <a:t>a</a:t>
            </a:r>
            <a:r>
              <a:rPr sz="4200" spc="-25" baseline="2925" dirty="0">
                <a:latin typeface="Calibri"/>
                <a:cs typeface="Calibri"/>
              </a:rPr>
              <a:t>g</a:t>
            </a:r>
            <a:r>
              <a:rPr sz="4200" baseline="2925" dirty="0">
                <a:latin typeface="Calibri"/>
                <a:cs typeface="Calibri"/>
              </a:rPr>
              <a:t>e</a:t>
            </a:r>
            <a:r>
              <a:rPr sz="4200" spc="-25" baseline="2925" dirty="0">
                <a:latin typeface="Calibri"/>
                <a:cs typeface="Calibri"/>
              </a:rPr>
              <a:t>n</a:t>
            </a:r>
            <a:r>
              <a:rPr sz="4200" baseline="2925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8562" y="5877704"/>
            <a:ext cx="5874107" cy="375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spc="-25" baseline="2925" dirty="0">
                <a:latin typeface="Calibri"/>
                <a:cs typeface="Calibri"/>
              </a:rPr>
              <a:t>c</a:t>
            </a:r>
            <a:r>
              <a:rPr sz="4200" baseline="2925" dirty="0">
                <a:latin typeface="Calibri"/>
                <a:cs typeface="Calibri"/>
              </a:rPr>
              <a:t>an ado</a:t>
            </a:r>
            <a:r>
              <a:rPr sz="4200" spc="-14" baseline="2925" dirty="0">
                <a:latin typeface="Calibri"/>
                <a:cs typeface="Calibri"/>
              </a:rPr>
              <a:t>p</a:t>
            </a:r>
            <a:r>
              <a:rPr sz="4200" baseline="2925" dirty="0">
                <a:latin typeface="Calibri"/>
                <a:cs typeface="Calibri"/>
              </a:rPr>
              <a:t>t</a:t>
            </a:r>
            <a:r>
              <a:rPr sz="4200" spc="9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a </a:t>
            </a:r>
            <a:r>
              <a:rPr sz="4200" b="1" spc="-34" baseline="2925" dirty="0">
                <a:latin typeface="Calibri"/>
                <a:cs typeface="Calibri"/>
              </a:rPr>
              <a:t>g</a:t>
            </a:r>
            <a:r>
              <a:rPr sz="4200" b="1" baseline="2925" dirty="0">
                <a:latin typeface="Calibri"/>
                <a:cs typeface="Calibri"/>
              </a:rPr>
              <a:t>o</a:t>
            </a:r>
            <a:r>
              <a:rPr sz="4200" b="1" spc="4" baseline="2925" dirty="0">
                <a:latin typeface="Calibri"/>
                <a:cs typeface="Calibri"/>
              </a:rPr>
              <a:t>a</a:t>
            </a:r>
            <a:r>
              <a:rPr sz="4200" b="1" baseline="2925" dirty="0">
                <a:latin typeface="Calibri"/>
                <a:cs typeface="Calibri"/>
              </a:rPr>
              <a:t>l </a:t>
            </a:r>
            <a:r>
              <a:rPr sz="4200" baseline="2925" dirty="0">
                <a:latin typeface="Calibri"/>
                <a:cs typeface="Calibri"/>
              </a:rPr>
              <a:t>and</a:t>
            </a:r>
            <a:r>
              <a:rPr sz="4200" spc="4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aim </a:t>
            </a:r>
            <a:r>
              <a:rPr sz="4200" spc="-19" baseline="2925" dirty="0">
                <a:latin typeface="Calibri"/>
                <a:cs typeface="Calibri"/>
              </a:rPr>
              <a:t>a</a:t>
            </a:r>
            <a:r>
              <a:rPr sz="4200" baseline="2925" dirty="0">
                <a:latin typeface="Calibri"/>
                <a:cs typeface="Calibri"/>
              </a:rPr>
              <a:t>t s</a:t>
            </a:r>
            <a:r>
              <a:rPr sz="4200" spc="-19" baseline="2925" dirty="0">
                <a:latin typeface="Calibri"/>
                <a:cs typeface="Calibri"/>
              </a:rPr>
              <a:t>a</a:t>
            </a:r>
            <a:r>
              <a:rPr sz="4200" baseline="2925" dirty="0">
                <a:latin typeface="Calibri"/>
                <a:cs typeface="Calibri"/>
              </a:rPr>
              <a:t>ti</a:t>
            </a:r>
            <a:r>
              <a:rPr sz="4200" spc="-25" baseline="2925" dirty="0">
                <a:latin typeface="Calibri"/>
                <a:cs typeface="Calibri"/>
              </a:rPr>
              <a:t>s</a:t>
            </a:r>
            <a:r>
              <a:rPr sz="4200" spc="14" baseline="2925" dirty="0">
                <a:latin typeface="Calibri"/>
                <a:cs typeface="Calibri"/>
              </a:rPr>
              <a:t>f</a:t>
            </a:r>
            <a:r>
              <a:rPr sz="4200" baseline="2925" dirty="0">
                <a:latin typeface="Calibri"/>
                <a:cs typeface="Calibri"/>
              </a:rPr>
              <a:t>ying it.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2686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are the possible states of the world relevant for solving the problem?</a:t>
            </a:r>
          </a:p>
          <a:p>
            <a:r>
              <a:rPr lang="en-US"/>
              <a:t>What information is accessible to the agent?</a:t>
            </a:r>
          </a:p>
          <a:p>
            <a:r>
              <a:rPr lang="en-US"/>
              <a:t>How can the agent progress from state to state?</a:t>
            </a:r>
          </a:p>
          <a:p>
            <a:r>
              <a:rPr lang="en-US"/>
              <a:t>Follows goal-formulation.</a:t>
            </a:r>
          </a:p>
          <a:p>
            <a:pPr algn="r"/>
            <a:r>
              <a:rPr lang="en-US"/>
              <a:t>Courtesy: Dr. Franz J. Kurfess</a:t>
            </a:r>
          </a:p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7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Goal-formulation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the goal state?</a:t>
            </a:r>
          </a:p>
          <a:p>
            <a:r>
              <a:rPr lang="en-US"/>
              <a:t>What are important characteristics of the goal state?</a:t>
            </a:r>
          </a:p>
          <a:p>
            <a:r>
              <a:rPr lang="en-US"/>
              <a:t>How does the agent know that it has reached the goal?</a:t>
            </a:r>
          </a:p>
          <a:p>
            <a:r>
              <a:rPr lang="en-US"/>
              <a:t>Are there several possible goal states?</a:t>
            </a:r>
          </a:p>
          <a:p>
            <a:pPr lvl="1"/>
            <a:r>
              <a:rPr lang="en-US"/>
              <a:t>Are they equal or are some more preferable?</a:t>
            </a:r>
          </a:p>
          <a:p>
            <a:pPr algn="r"/>
            <a:r>
              <a:rPr lang="en-US"/>
              <a:t>Courtesy: Dr. Franz J. Kurfess</a:t>
            </a:r>
          </a:p>
        </p:txBody>
      </p:sp>
    </p:spTree>
    <p:extLst>
      <p:ext uri="{BB962C8B-B14F-4D97-AF65-F5344CB8AC3E}">
        <p14:creationId xmlns:p14="http://schemas.microsoft.com/office/powerpoint/2010/main" val="364199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Search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6200" y="1676401"/>
            <a:ext cx="2971800" cy="3694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dirty="0">
                <a:solidFill>
                  <a:srgbClr val="005BD3"/>
                </a:solidFill>
              </a:rPr>
              <a:t>Formulate goal: </a:t>
            </a:r>
            <a:r>
              <a:rPr lang="en-US" dirty="0"/>
              <a:t>Be in Bucharest.</a:t>
            </a:r>
          </a:p>
          <a:p>
            <a:endParaRPr lang="en-US" dirty="0"/>
          </a:p>
          <a:p>
            <a:r>
              <a:rPr lang="en-US" dirty="0">
                <a:solidFill>
                  <a:srgbClr val="005BD3"/>
                </a:solidFill>
              </a:rPr>
              <a:t>Formulate problem: </a:t>
            </a:r>
            <a:r>
              <a:rPr lang="en-US" dirty="0"/>
              <a:t>states are cities, operators drive between pairs of cities</a:t>
            </a:r>
          </a:p>
          <a:p>
            <a:endParaRPr lang="en-US" dirty="0"/>
          </a:p>
          <a:p>
            <a:r>
              <a:rPr lang="en-US" dirty="0">
                <a:solidFill>
                  <a:srgbClr val="005BD3"/>
                </a:solidFill>
              </a:rPr>
              <a:t>Find solution:  </a:t>
            </a:r>
            <a:r>
              <a:rPr lang="en-US" dirty="0"/>
              <a:t>Find a sequence of cities (e.g., Arad, Sibiu, </a:t>
            </a:r>
            <a:r>
              <a:rPr lang="en-US" dirty="0" err="1"/>
              <a:t>Fagaras</a:t>
            </a:r>
            <a:r>
              <a:rPr lang="en-US" dirty="0"/>
              <a:t>, Bucharest) that leads from the current state to a state meeting the goal condition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712913"/>
            <a:ext cx="6161088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5410200" y="4343400"/>
            <a:ext cx="762000" cy="6096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524000" y="2438400"/>
            <a:ext cx="762000" cy="5334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38400" y="5257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3.2</a:t>
            </a:r>
          </a:p>
        </p:txBody>
      </p:sp>
    </p:spTree>
    <p:extLst>
      <p:ext uri="{BB962C8B-B14F-4D97-AF65-F5344CB8AC3E}">
        <p14:creationId xmlns:p14="http://schemas.microsoft.com/office/powerpoint/2010/main" val="3120516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1524000" y="3745948"/>
            <a:ext cx="9144000" cy="10696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94360">
              <a:lnSpc>
                <a:spcPts val="2590"/>
              </a:lnSpc>
              <a:spcBef>
                <a:spcPts val="129"/>
              </a:spcBef>
            </a:pPr>
            <a:r>
              <a:rPr sz="3600" baseline="3623" dirty="0">
                <a:latin typeface="Arial"/>
                <a:cs typeface="Arial"/>
              </a:rPr>
              <a:t>•                   </a:t>
            </a:r>
            <a:r>
              <a:rPr sz="3600" spc="419" baseline="3623" dirty="0">
                <a:latin typeface="Arial"/>
                <a:cs typeface="Arial"/>
              </a:rPr>
              <a:t> </a:t>
            </a:r>
            <a:r>
              <a:rPr sz="3600" spc="-4" baseline="3413" dirty="0">
                <a:latin typeface="Calibri"/>
                <a:cs typeface="Calibri"/>
              </a:rPr>
              <a:t>“kno</a:t>
            </a:r>
            <a:r>
              <a:rPr sz="3600" spc="-25" baseline="3413" dirty="0">
                <a:latin typeface="Calibri"/>
                <a:cs typeface="Calibri"/>
              </a:rPr>
              <a:t>w</a:t>
            </a:r>
            <a:r>
              <a:rPr sz="3600" baseline="3413" dirty="0">
                <a:latin typeface="Calibri"/>
                <a:cs typeface="Calibri"/>
              </a:rPr>
              <a:t>s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the initial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spc="-25" baseline="3413" dirty="0">
                <a:latin typeface="Calibri"/>
                <a:cs typeface="Calibri"/>
              </a:rPr>
              <a:t>stat</a:t>
            </a:r>
            <a:r>
              <a:rPr sz="3600" baseline="3413" dirty="0">
                <a:latin typeface="Calibri"/>
                <a:cs typeface="Calibri"/>
              </a:rPr>
              <a:t>e”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24000" y="5777960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48562" y="681741"/>
            <a:ext cx="7288679" cy="13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4809" marR="218951" algn="ctr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Assumptions</a:t>
            </a:r>
            <a:r>
              <a:rPr sz="6600" spc="29" baseline="3103" dirty="0">
                <a:latin typeface="Calibri"/>
                <a:cs typeface="Calibri"/>
              </a:rPr>
              <a:t> </a:t>
            </a:r>
            <a:r>
              <a:rPr sz="6600" spc="-89" baseline="3103" dirty="0">
                <a:latin typeface="Calibri"/>
                <a:cs typeface="Calibri"/>
              </a:rPr>
              <a:t>f</a:t>
            </a:r>
            <a:r>
              <a:rPr sz="6600" baseline="3103" dirty="0">
                <a:latin typeface="Calibri"/>
                <a:cs typeface="Calibri"/>
              </a:rPr>
              <a:t>or e</a:t>
            </a:r>
            <a:r>
              <a:rPr sz="6600" spc="-69" baseline="3103" dirty="0">
                <a:latin typeface="Calibri"/>
                <a:cs typeface="Calibri"/>
              </a:rPr>
              <a:t>n</a:t>
            </a:r>
            <a:r>
              <a:rPr sz="6600" baseline="3103" dirty="0">
                <a:latin typeface="Calibri"/>
                <a:cs typeface="Calibri"/>
              </a:rPr>
              <a:t>vi</a:t>
            </a:r>
            <a:r>
              <a:rPr sz="6600" spc="-69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onme</a:t>
            </a:r>
            <a:r>
              <a:rPr sz="6600" spc="-44" baseline="3103" dirty="0">
                <a:latin typeface="Calibri"/>
                <a:cs typeface="Calibri"/>
              </a:rPr>
              <a:t>n</a:t>
            </a:r>
            <a:r>
              <a:rPr sz="6600" baseline="3103" dirty="0">
                <a:latin typeface="Calibri"/>
                <a:cs typeface="Calibri"/>
              </a:rPr>
              <a:t>t</a:t>
            </a:r>
            <a:endParaRPr sz="4400">
              <a:latin typeface="Calibri"/>
              <a:cs typeface="Calibri"/>
            </a:endParaRPr>
          </a:p>
          <a:p>
            <a:pPr algn="ctr">
              <a:lnSpc>
                <a:spcPct val="101725"/>
              </a:lnSpc>
              <a:spcBef>
                <a:spcPts val="3252"/>
              </a:spcBef>
            </a:pPr>
            <a:r>
              <a:rPr sz="2400" dirty="0">
                <a:latin typeface="Calibri"/>
                <a:cs typeface="Calibri"/>
              </a:rPr>
              <a:t>Assumptions</a:t>
            </a:r>
            <a:r>
              <a:rPr sz="2400" spc="-14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or the 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34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vi</a:t>
            </a:r>
            <a:r>
              <a:rPr sz="2400" b="1" spc="-29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onme</a:t>
            </a:r>
            <a:r>
              <a:rPr sz="2400" b="1" spc="-19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a</a:t>
            </a:r>
            <a:r>
              <a:rPr sz="2400" spc="-19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 design in figu</a:t>
            </a:r>
            <a:r>
              <a:rPr sz="2400" spc="-34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05660" y="1718779"/>
            <a:ext cx="17780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8561" y="2096624"/>
            <a:ext cx="1004837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spc="-25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a</a:t>
            </a:r>
            <a:r>
              <a:rPr sz="3600" spc="-29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e: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05660" y="2941976"/>
            <a:ext cx="17780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8562" y="2960058"/>
            <a:ext cx="7321111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u="heavy" baseline="3413" dirty="0">
                <a:latin typeface="Calibri"/>
                <a:cs typeface="Calibri"/>
              </a:rPr>
              <a:t>S</a:t>
            </a:r>
            <a:r>
              <a:rPr sz="3600" b="1" u="heavy" spc="-19" baseline="3413" dirty="0">
                <a:latin typeface="Calibri"/>
                <a:cs typeface="Calibri"/>
              </a:rPr>
              <a:t>t</a:t>
            </a:r>
            <a:r>
              <a:rPr sz="3600" b="1" u="heavy" spc="-25" baseline="3413" dirty="0">
                <a:latin typeface="Calibri"/>
                <a:cs typeface="Calibri"/>
              </a:rPr>
              <a:t>a</a:t>
            </a:r>
            <a:r>
              <a:rPr sz="3600" b="1" u="heavy" spc="4" baseline="3413" dirty="0">
                <a:latin typeface="Calibri"/>
                <a:cs typeface="Calibri"/>
              </a:rPr>
              <a:t>t</a:t>
            </a:r>
            <a:r>
              <a:rPr sz="3600" b="1" u="heavy" baseline="3413" dirty="0">
                <a:latin typeface="Calibri"/>
                <a:cs typeface="Calibri"/>
              </a:rPr>
              <a:t>ic</a:t>
            </a:r>
            <a:r>
              <a:rPr sz="3600" u="heavy" spc="-59" baseline="3623" dirty="0">
                <a:latin typeface="Times New Roman"/>
                <a:cs typeface="Times New Roman"/>
              </a:rPr>
              <a:t> </a:t>
            </a:r>
            <a:r>
              <a:rPr sz="3600" u="heavy" baseline="3413" dirty="0">
                <a:latin typeface="Calibri"/>
                <a:cs typeface="Calibri"/>
              </a:rPr>
              <a:t>: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without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p</a:t>
            </a:r>
            <a:r>
              <a:rPr sz="3600" spc="-39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ying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spc="-25" baseline="3413" dirty="0">
                <a:latin typeface="Calibri"/>
                <a:cs typeface="Calibri"/>
              </a:rPr>
              <a:t>a</a:t>
            </a:r>
            <a:r>
              <a:rPr sz="3600" spc="-34" baseline="3413" dirty="0">
                <a:latin typeface="Calibri"/>
                <a:cs typeface="Calibri"/>
              </a:rPr>
              <a:t>t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e</a:t>
            </a:r>
            <a:r>
              <a:rPr sz="3600" spc="-25" baseline="3413" dirty="0">
                <a:latin typeface="Calibri"/>
                <a:cs typeface="Calibri"/>
              </a:rPr>
              <a:t>n</a:t>
            </a:r>
            <a:r>
              <a:rPr sz="3600" baseline="3413" dirty="0">
                <a:latin typeface="Calibri"/>
                <a:cs typeface="Calibri"/>
              </a:rPr>
              <a:t>tion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o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a</a:t>
            </a:r>
            <a:r>
              <a:rPr sz="3600" spc="-44" baseline="3413" dirty="0">
                <a:latin typeface="Calibri"/>
                <a:cs typeface="Calibri"/>
              </a:rPr>
              <a:t>n</a:t>
            </a:r>
            <a:r>
              <a:rPr sz="3600" baseline="3413" dirty="0">
                <a:latin typeface="Calibri"/>
                <a:cs typeface="Calibri"/>
              </a:rPr>
              <a:t>y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chan</a:t>
            </a:r>
            <a:r>
              <a:rPr sz="3600" spc="-19" baseline="3413" dirty="0">
                <a:latin typeface="Calibri"/>
                <a:cs typeface="Calibri"/>
              </a:rPr>
              <a:t>g</a:t>
            </a:r>
            <a:r>
              <a:rPr sz="3600" baseline="3413" dirty="0">
                <a:latin typeface="Calibri"/>
                <a:cs typeface="Calibri"/>
              </a:rPr>
              <a:t>es th</a:t>
            </a:r>
            <a:r>
              <a:rPr sz="3600" spc="-19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t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mig</a:t>
            </a:r>
            <a:r>
              <a:rPr sz="3600" spc="-25" baseline="3413" dirty="0">
                <a:latin typeface="Calibri"/>
                <a:cs typeface="Calibri"/>
              </a:rPr>
              <a:t>h</a:t>
            </a:r>
            <a:r>
              <a:rPr sz="3600" baseline="3413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66047" y="2960058"/>
            <a:ext cx="382671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559" y="3319821"/>
            <a:ext cx="4536792" cy="756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occuring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in the e</a:t>
            </a:r>
            <a:r>
              <a:rPr sz="3600" spc="-44" baseline="3413" dirty="0">
                <a:latin typeface="Calibri"/>
                <a:cs typeface="Calibri"/>
              </a:rPr>
              <a:t>n</a:t>
            </a:r>
            <a:r>
              <a:rPr sz="3600" baseline="3413" dirty="0">
                <a:latin typeface="Calibri"/>
                <a:cs typeface="Calibri"/>
              </a:rPr>
              <a:t>vi</a:t>
            </a:r>
            <a:r>
              <a:rPr sz="3600" spc="-39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onme</a:t>
            </a:r>
            <a:r>
              <a:rPr sz="3600" spc="-25" baseline="3413" dirty="0">
                <a:latin typeface="Calibri"/>
                <a:cs typeface="Calibri"/>
              </a:rPr>
              <a:t>n</a:t>
            </a:r>
            <a:r>
              <a:rPr sz="3600" baseline="3413" dirty="0">
                <a:latin typeface="Calibri"/>
                <a:cs typeface="Calibri"/>
              </a:rPr>
              <a:t>t.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399"/>
              </a:spcBef>
            </a:pPr>
            <a:r>
              <a:rPr sz="2400" b="1" u="heavy" dirty="0">
                <a:latin typeface="Calibri"/>
                <a:cs typeface="Calibri"/>
              </a:rPr>
              <a:t>O</a:t>
            </a:r>
            <a:r>
              <a:rPr sz="2400" b="1" u="heavy" spc="-9" dirty="0">
                <a:latin typeface="Calibri"/>
                <a:cs typeface="Calibri"/>
              </a:rPr>
              <a:t>b</a:t>
            </a:r>
            <a:r>
              <a:rPr sz="2400" b="1" u="heavy" dirty="0">
                <a:latin typeface="Calibri"/>
                <a:cs typeface="Calibri"/>
              </a:rPr>
              <a:t>se</a:t>
            </a:r>
            <a:r>
              <a:rPr sz="2400" b="1" u="heavy" spc="19" dirty="0">
                <a:latin typeface="Calibri"/>
                <a:cs typeface="Calibri"/>
              </a:rPr>
              <a:t>r</a:t>
            </a:r>
            <a:r>
              <a:rPr sz="2400" b="1" u="heavy" spc="-39" dirty="0">
                <a:latin typeface="Calibri"/>
                <a:cs typeface="Calibri"/>
              </a:rPr>
              <a:t>v</a:t>
            </a:r>
            <a:r>
              <a:rPr sz="2400" b="1" u="heavy" dirty="0">
                <a:latin typeface="Calibri"/>
                <a:cs typeface="Calibri"/>
              </a:rPr>
              <a:t>able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“kno</a:t>
            </a:r>
            <a:r>
              <a:rPr sz="2400" spc="-25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initial</a:t>
            </a:r>
            <a:r>
              <a:rPr sz="2400" spc="-1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stat</a:t>
            </a:r>
            <a:r>
              <a:rPr sz="2400" dirty="0">
                <a:latin typeface="Calibri"/>
                <a:cs typeface="Calibri"/>
              </a:rPr>
              <a:t>e”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5660" y="3733457"/>
            <a:ext cx="17780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5660" y="4165172"/>
            <a:ext cx="177800" cy="756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68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8560" y="4183254"/>
            <a:ext cx="7533644" cy="756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u="heavy" baseline="3413" dirty="0">
                <a:latin typeface="Calibri"/>
                <a:cs typeface="Calibri"/>
              </a:rPr>
              <a:t>Disc</a:t>
            </a:r>
            <a:r>
              <a:rPr sz="3600" b="1" u="heavy" spc="-34" baseline="3413" dirty="0">
                <a:latin typeface="Calibri"/>
                <a:cs typeface="Calibri"/>
              </a:rPr>
              <a:t>r</a:t>
            </a:r>
            <a:r>
              <a:rPr sz="3600" b="1" u="heavy" spc="-19" baseline="3413" dirty="0">
                <a:latin typeface="Calibri"/>
                <a:cs typeface="Calibri"/>
              </a:rPr>
              <a:t>e</a:t>
            </a:r>
            <a:r>
              <a:rPr sz="3600" b="1" u="heavy" spc="-25" baseline="3413" dirty="0">
                <a:latin typeface="Calibri"/>
                <a:cs typeface="Calibri"/>
              </a:rPr>
              <a:t>t</a:t>
            </a:r>
            <a:r>
              <a:rPr sz="3600" b="1" u="heavy" baseline="3413" dirty="0">
                <a:latin typeface="Calibri"/>
                <a:cs typeface="Calibri"/>
              </a:rPr>
              <a:t>e</a:t>
            </a:r>
            <a:r>
              <a:rPr sz="3600" b="1" spc="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: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spc="-59" baseline="3413" dirty="0">
                <a:latin typeface="Calibri"/>
                <a:cs typeface="Calibri"/>
              </a:rPr>
              <a:t>“</a:t>
            </a:r>
            <a:r>
              <a:rPr sz="3600" baseline="3413" dirty="0">
                <a:latin typeface="Calibri"/>
                <a:cs typeface="Calibri"/>
              </a:rPr>
              <a:t>al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ern</a:t>
            </a:r>
            <a:r>
              <a:rPr sz="3600" spc="-19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ti</a:t>
            </a:r>
            <a:r>
              <a:rPr sz="3600" spc="-19" baseline="3413" dirty="0">
                <a:latin typeface="Calibri"/>
                <a:cs typeface="Calibri"/>
              </a:rPr>
              <a:t>v</a:t>
            </a:r>
            <a:r>
              <a:rPr sz="3600" baseline="3413" dirty="0">
                <a:latin typeface="Calibri"/>
                <a:cs typeface="Calibri"/>
              </a:rPr>
              <a:t>e </a:t>
            </a:r>
            <a:r>
              <a:rPr sz="3600" spc="-19" baseline="3413" dirty="0">
                <a:latin typeface="Calibri"/>
                <a:cs typeface="Calibri"/>
              </a:rPr>
              <a:t>c</a:t>
            </a:r>
            <a:r>
              <a:rPr sz="3600" baseline="3413" dirty="0">
                <a:latin typeface="Calibri"/>
                <a:cs typeface="Calibri"/>
              </a:rPr>
              <a:t>ou</a:t>
            </a:r>
            <a:r>
              <a:rPr sz="3600" spc="-44" baseline="3413" dirty="0">
                <a:latin typeface="Calibri"/>
                <a:cs typeface="Calibri"/>
              </a:rPr>
              <a:t>r</a:t>
            </a:r>
            <a:r>
              <a:rPr sz="3600" spc="-4" baseline="3413" dirty="0">
                <a:latin typeface="Calibri"/>
                <a:cs typeface="Calibri"/>
              </a:rPr>
              <a:t>s</a:t>
            </a:r>
            <a:r>
              <a:rPr sz="3600" baseline="3413" dirty="0">
                <a:latin typeface="Calibri"/>
                <a:cs typeface="Calibri"/>
              </a:rPr>
              <a:t>es of action”</a:t>
            </a:r>
            <a:r>
              <a:rPr sz="3600" spc="-25" baseline="3413" dirty="0">
                <a:latin typeface="Calibri"/>
                <a:cs typeface="Calibri"/>
              </a:rPr>
              <a:t> </a:t>
            </a:r>
            <a:r>
              <a:rPr sz="3600" spc="-19" baseline="3413" dirty="0">
                <a:latin typeface="Calibri"/>
                <a:cs typeface="Calibri"/>
              </a:rPr>
              <a:t>c</a:t>
            </a:r>
            <a:r>
              <a:rPr sz="3600" spc="4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n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be enume</a:t>
            </a:r>
            <a:r>
              <a:rPr sz="3600" spc="-50" baseline="3413" dirty="0">
                <a:latin typeface="Calibri"/>
                <a:cs typeface="Calibri"/>
              </a:rPr>
              <a:t>r</a:t>
            </a:r>
            <a:r>
              <a:rPr sz="3600" spc="-19" baseline="3413" dirty="0">
                <a:latin typeface="Calibri"/>
                <a:cs typeface="Calibri"/>
              </a:rPr>
              <a:t>a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ed</a:t>
            </a:r>
            <a:endParaRPr sz="2400">
              <a:latin typeface="Calibri"/>
              <a:cs typeface="Calibri"/>
            </a:endParaRPr>
          </a:p>
          <a:p>
            <a:pPr marL="12700" marR="45720">
              <a:lnSpc>
                <a:spcPct val="101725"/>
              </a:lnSpc>
              <a:spcBef>
                <a:spcPts val="399"/>
              </a:spcBef>
            </a:pPr>
            <a:r>
              <a:rPr sz="2400" b="1" u="heavy" dirty="0">
                <a:latin typeface="Calibri"/>
                <a:cs typeface="Calibri"/>
              </a:rPr>
              <a:t>D</a:t>
            </a:r>
            <a:r>
              <a:rPr sz="2400" b="1" u="heavy" spc="-19" dirty="0">
                <a:latin typeface="Calibri"/>
                <a:cs typeface="Calibri"/>
              </a:rPr>
              <a:t>e</a:t>
            </a:r>
            <a:r>
              <a:rPr sz="2400" b="1" u="heavy" spc="-25" dirty="0">
                <a:latin typeface="Calibri"/>
                <a:cs typeface="Calibri"/>
              </a:rPr>
              <a:t>t</a:t>
            </a:r>
            <a:r>
              <a:rPr sz="2400" b="1" u="heavy" spc="-4" dirty="0">
                <a:latin typeface="Calibri"/>
                <a:cs typeface="Calibri"/>
              </a:rPr>
              <a:t>e</a:t>
            </a:r>
            <a:r>
              <a:rPr sz="2400" b="1" u="heavy" dirty="0">
                <a:latin typeface="Calibri"/>
                <a:cs typeface="Calibri"/>
              </a:rPr>
              <a:t>rmini</a:t>
            </a:r>
            <a:r>
              <a:rPr sz="2400" b="1" u="heavy" spc="-25" dirty="0">
                <a:latin typeface="Calibri"/>
                <a:cs typeface="Calibri"/>
              </a:rPr>
              <a:t>s</a:t>
            </a:r>
            <a:r>
              <a:rPr sz="2400" b="1" u="heavy" dirty="0">
                <a:latin typeface="Calibri"/>
                <a:cs typeface="Calibri"/>
              </a:rPr>
              <a:t>tic</a:t>
            </a:r>
            <a:r>
              <a:rPr sz="2400" b="1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-34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xpec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ed</a:t>
            </a:r>
            <a:r>
              <a:rPr sz="2400" spc="1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eve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5660" y="5460322"/>
            <a:ext cx="17780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8560" y="5478404"/>
            <a:ext cx="6965406" cy="6845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All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these</a:t>
            </a:r>
            <a:r>
              <a:rPr sz="3600" spc="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asumptions</a:t>
            </a:r>
            <a:r>
              <a:rPr sz="3600" spc="-1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mean th</a:t>
            </a:r>
            <a:r>
              <a:rPr sz="3600" spc="-19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t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spc="-25" baseline="3413" dirty="0">
                <a:latin typeface="Calibri"/>
                <a:cs typeface="Calibri"/>
              </a:rPr>
              <a:t>w</a:t>
            </a:r>
            <a:r>
              <a:rPr sz="3600" baseline="3413" dirty="0">
                <a:latin typeface="Calibri"/>
                <a:cs typeface="Calibri"/>
              </a:rPr>
              <a:t>e a</a:t>
            </a:r>
            <a:r>
              <a:rPr sz="3600" spc="-29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e dealing</a:t>
            </a:r>
            <a:r>
              <a:rPr sz="3600" spc="-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with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12700" marR="45720">
              <a:lnSpc>
                <a:spcPts val="2880"/>
              </a:lnSpc>
              <a:spcBef>
                <a:spcPts val="16"/>
              </a:spcBef>
            </a:pPr>
            <a:r>
              <a:rPr sz="3600" baseline="1137" dirty="0">
                <a:latin typeface="Calibri"/>
                <a:cs typeface="Calibri"/>
              </a:rPr>
              <a:t>easie</a:t>
            </a:r>
            <a:r>
              <a:rPr sz="3600" spc="-29" baseline="1137" dirty="0">
                <a:latin typeface="Calibri"/>
                <a:cs typeface="Calibri"/>
              </a:rPr>
              <a:t>s</a:t>
            </a:r>
            <a:r>
              <a:rPr sz="3600" baseline="1137" dirty="0">
                <a:latin typeface="Calibri"/>
                <a:cs typeface="Calibri"/>
              </a:rPr>
              <a:t>t kinds of e</a:t>
            </a:r>
            <a:r>
              <a:rPr sz="3600" spc="-44" baseline="1137" dirty="0">
                <a:latin typeface="Calibri"/>
                <a:cs typeface="Calibri"/>
              </a:rPr>
              <a:t>n</a:t>
            </a:r>
            <a:r>
              <a:rPr sz="3600" baseline="1137" dirty="0">
                <a:latin typeface="Calibri"/>
                <a:cs typeface="Calibri"/>
              </a:rPr>
              <a:t>vi</a:t>
            </a:r>
            <a:r>
              <a:rPr sz="3600" spc="-39" baseline="1137" dirty="0">
                <a:latin typeface="Calibri"/>
                <a:cs typeface="Calibri"/>
              </a:rPr>
              <a:t>r</a:t>
            </a:r>
            <a:r>
              <a:rPr sz="3600" baseline="1137" dirty="0">
                <a:latin typeface="Calibri"/>
                <a:cs typeface="Calibri"/>
              </a:rPr>
              <a:t>onme</a:t>
            </a:r>
            <a:r>
              <a:rPr sz="3600" spc="-25" baseline="1137" dirty="0">
                <a:latin typeface="Calibri"/>
                <a:cs typeface="Calibri"/>
              </a:rPr>
              <a:t>n</a:t>
            </a:r>
            <a:r>
              <a:rPr sz="3600" baseline="1137" dirty="0">
                <a:latin typeface="Calibri"/>
                <a:cs typeface="Calibri"/>
              </a:rPr>
              <a:t>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163599" y="3059991"/>
            <a:ext cx="68804" cy="1499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4796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0800" y="2209801"/>
            <a:ext cx="678180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2400" dirty="0"/>
              <a:t>A search problem is defined by the</a:t>
            </a:r>
          </a:p>
          <a:p>
            <a:endParaRPr lang="en-US" sz="2400" dirty="0"/>
          </a:p>
          <a:p>
            <a:pPr>
              <a:buFont typeface="Calibri" pitchFamily="34" charset="0"/>
              <a:buAutoNum type="arabicPeriod"/>
            </a:pPr>
            <a:r>
              <a:rPr lang="en-US" sz="2400" dirty="0"/>
              <a:t>Initial state (e.g., Arad)</a:t>
            </a:r>
          </a:p>
          <a:p>
            <a:pPr>
              <a:buFont typeface="Calibri" pitchFamily="34" charset="0"/>
              <a:buAutoNum type="arabicPeriod"/>
            </a:pPr>
            <a:r>
              <a:rPr lang="en-US" sz="2400" dirty="0"/>
              <a:t>Operators (e.g., Arad -&gt; </a:t>
            </a:r>
            <a:r>
              <a:rPr lang="en-US" sz="2400" dirty="0" err="1"/>
              <a:t>Zerind</a:t>
            </a:r>
            <a:r>
              <a:rPr lang="en-US" sz="2400" dirty="0"/>
              <a:t>, Arad -&gt; Sibiu, etc.)</a:t>
            </a:r>
          </a:p>
          <a:p>
            <a:pPr>
              <a:buFont typeface="Calibri" pitchFamily="34" charset="0"/>
              <a:buAutoNum type="arabicPeriod"/>
            </a:pPr>
            <a:r>
              <a:rPr lang="en-US" sz="2400" dirty="0"/>
              <a:t>Goal test (e.g., at Bucharest)</a:t>
            </a:r>
          </a:p>
          <a:p>
            <a:pPr>
              <a:buFont typeface="Calibri" pitchFamily="34" charset="0"/>
              <a:buAutoNum type="arabicPeriod"/>
            </a:pPr>
            <a:r>
              <a:rPr lang="en-US" sz="2400" dirty="0"/>
              <a:t>Solution cost (e.g., path cost)</a:t>
            </a:r>
          </a:p>
        </p:txBody>
      </p:sp>
    </p:spTree>
    <p:extLst>
      <p:ext uri="{BB962C8B-B14F-4D97-AF65-F5344CB8AC3E}">
        <p14:creationId xmlns:p14="http://schemas.microsoft.com/office/powerpoint/2010/main" val="1039290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/>
          <p:nvPr/>
        </p:nvSpPr>
        <p:spPr>
          <a:xfrm>
            <a:off x="1524000" y="2804848"/>
            <a:ext cx="9144000" cy="10476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87502">
              <a:lnSpc>
                <a:spcPts val="2035"/>
              </a:lnSpc>
              <a:spcBef>
                <a:spcPts val="101"/>
              </a:spcBef>
            </a:pPr>
            <a:r>
              <a:rPr sz="3000" b="1" baseline="4096" dirty="0">
                <a:latin typeface="Calibri"/>
                <a:cs typeface="Calibri"/>
              </a:rPr>
              <a:t>Successor</a:t>
            </a:r>
            <a:r>
              <a:rPr sz="3000" b="1" spc="19" baseline="4096" dirty="0">
                <a:latin typeface="Calibri"/>
                <a:cs typeface="Calibri"/>
              </a:rPr>
              <a:t> </a:t>
            </a:r>
            <a:r>
              <a:rPr sz="3000" b="1" baseline="4096" dirty="0">
                <a:latin typeface="Calibri"/>
                <a:cs typeface="Calibri"/>
              </a:rPr>
              <a:t>Function: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24000" y="4714594"/>
            <a:ext cx="9144000" cy="10641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87502">
              <a:lnSpc>
                <a:spcPts val="2035"/>
              </a:lnSpc>
              <a:spcBef>
                <a:spcPts val="101"/>
              </a:spcBef>
            </a:pPr>
            <a:r>
              <a:rPr sz="3000" b="1" spc="-44" baseline="4096" dirty="0">
                <a:latin typeface="Calibri"/>
                <a:cs typeface="Calibri"/>
              </a:rPr>
              <a:t>P</a:t>
            </a:r>
            <a:r>
              <a:rPr sz="3000" b="1" spc="-19" baseline="4096" dirty="0">
                <a:latin typeface="Calibri"/>
                <a:cs typeface="Calibri"/>
              </a:rPr>
              <a:t>a</a:t>
            </a:r>
            <a:r>
              <a:rPr sz="3000" b="1" baseline="4096" dirty="0">
                <a:latin typeface="Calibri"/>
                <a:cs typeface="Calibri"/>
              </a:rPr>
              <a:t>th</a:t>
            </a:r>
            <a:r>
              <a:rPr sz="3000" b="1" spc="-20" baseline="4096" dirty="0">
                <a:latin typeface="Calibri"/>
                <a:cs typeface="Calibri"/>
              </a:rPr>
              <a:t> </a:t>
            </a:r>
            <a:r>
              <a:rPr sz="3000" b="1" baseline="4096" dirty="0">
                <a:latin typeface="Calibri"/>
                <a:cs typeface="Calibri"/>
              </a:rPr>
              <a:t>Co</a:t>
            </a:r>
            <a:r>
              <a:rPr sz="3000" b="1" spc="-25" baseline="4096" dirty="0">
                <a:latin typeface="Calibri"/>
                <a:cs typeface="Calibri"/>
              </a:rPr>
              <a:t>s</a:t>
            </a:r>
            <a:r>
              <a:rPr sz="3000" b="1" baseline="4096" dirty="0">
                <a:latin typeface="Calibri"/>
                <a:cs typeface="Calibri"/>
              </a:rPr>
              <a:t>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24000" y="5712939"/>
            <a:ext cx="9144000" cy="10326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87502">
              <a:lnSpc>
                <a:spcPts val="2035"/>
              </a:lnSpc>
              <a:spcBef>
                <a:spcPts val="101"/>
              </a:spcBef>
            </a:pPr>
            <a:r>
              <a:rPr sz="3000" b="1" baseline="4096" dirty="0">
                <a:latin typeface="Calibri"/>
                <a:cs typeface="Calibri"/>
              </a:rPr>
              <a:t>S </a:t>
            </a:r>
            <a:r>
              <a:rPr sz="3000" b="1" spc="169" baseline="4096" dirty="0">
                <a:latin typeface="Calibri"/>
                <a:cs typeface="Calibri"/>
              </a:rPr>
              <a:t> </a:t>
            </a:r>
            <a:r>
              <a:rPr sz="3000" b="1" baseline="4096" dirty="0">
                <a:latin typeface="Calibri"/>
                <a:cs typeface="Calibri"/>
              </a:rPr>
              <a:t>l </a:t>
            </a:r>
            <a:r>
              <a:rPr sz="3000" b="1" spc="169" baseline="4096" dirty="0">
                <a:latin typeface="Calibri"/>
                <a:cs typeface="Calibri"/>
              </a:rPr>
              <a:t> </a:t>
            </a:r>
            <a:r>
              <a:rPr sz="3000" b="1" baseline="4096" dirty="0">
                <a:latin typeface="Calibri"/>
                <a:cs typeface="Calibri"/>
              </a:rPr>
              <a:t>ti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15658" y="5590391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98802" y="702353"/>
            <a:ext cx="8055694" cy="1325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415">
              <a:lnSpc>
                <a:spcPts val="4175"/>
              </a:lnSpc>
              <a:spcBef>
                <a:spcPts val="208"/>
              </a:spcBef>
            </a:pPr>
            <a:r>
              <a:rPr sz="6000" baseline="3413" dirty="0">
                <a:latin typeface="Calibri"/>
                <a:cs typeface="Calibri"/>
              </a:rPr>
              <a:t>Compone</a:t>
            </a:r>
            <a:r>
              <a:rPr sz="6000" spc="-44" baseline="3413" dirty="0">
                <a:latin typeface="Calibri"/>
                <a:cs typeface="Calibri"/>
              </a:rPr>
              <a:t>n</a:t>
            </a:r>
            <a:r>
              <a:rPr sz="6000" baseline="3413" dirty="0">
                <a:latin typeface="Calibri"/>
                <a:cs typeface="Calibri"/>
              </a:rPr>
              <a:t>ts of a p</a:t>
            </a:r>
            <a:r>
              <a:rPr sz="6000" spc="-64" baseline="3413" dirty="0">
                <a:latin typeface="Calibri"/>
                <a:cs typeface="Calibri"/>
              </a:rPr>
              <a:t>r</a:t>
            </a:r>
            <a:r>
              <a:rPr sz="6000" baseline="3413" dirty="0">
                <a:latin typeface="Calibri"/>
                <a:cs typeface="Calibri"/>
              </a:rPr>
              <a:t>oblem </a:t>
            </a:r>
            <a:r>
              <a:rPr sz="6000" spc="-79" baseline="3413" dirty="0">
                <a:latin typeface="Calibri"/>
                <a:cs typeface="Calibri"/>
              </a:rPr>
              <a:t>f</a:t>
            </a:r>
            <a:r>
              <a:rPr sz="6000" baseline="3413" dirty="0">
                <a:latin typeface="Calibri"/>
                <a:cs typeface="Calibri"/>
              </a:rPr>
              <a:t>o</a:t>
            </a:r>
            <a:r>
              <a:rPr sz="6000" spc="4" baseline="3413" dirty="0">
                <a:latin typeface="Calibri"/>
                <a:cs typeface="Calibri"/>
              </a:rPr>
              <a:t>r</a:t>
            </a:r>
            <a:r>
              <a:rPr sz="6000" baseline="3413" dirty="0">
                <a:latin typeface="Calibri"/>
                <a:cs typeface="Calibri"/>
              </a:rPr>
              <a:t>m</a:t>
            </a:r>
            <a:r>
              <a:rPr sz="6000" spc="-4" baseline="3413" dirty="0">
                <a:latin typeface="Calibri"/>
                <a:cs typeface="Calibri"/>
              </a:rPr>
              <a:t>u</a:t>
            </a:r>
            <a:r>
              <a:rPr sz="6000" baseline="3413" dirty="0">
                <a:latin typeface="Calibri"/>
                <a:cs typeface="Calibri"/>
              </a:rPr>
              <a:t>l</a:t>
            </a:r>
            <a:r>
              <a:rPr sz="6000" spc="-34" baseline="3413" dirty="0">
                <a:latin typeface="Calibri"/>
                <a:cs typeface="Calibri"/>
              </a:rPr>
              <a:t>a</a:t>
            </a:r>
            <a:r>
              <a:rPr sz="6000" baseline="3413" dirty="0">
                <a:latin typeface="Calibri"/>
                <a:cs typeface="Calibri"/>
              </a:rPr>
              <a:t>tion</a:t>
            </a:r>
            <a:endParaRPr sz="4000">
              <a:latin typeface="Calibri"/>
              <a:cs typeface="Calibri"/>
            </a:endParaRPr>
          </a:p>
          <a:p>
            <a:pPr marL="697737" marR="3660088" indent="-685037">
              <a:lnSpc>
                <a:spcPts val="2448"/>
              </a:lnSpc>
              <a:spcBef>
                <a:spcPts val="1084"/>
              </a:spcBef>
            </a:pPr>
            <a:r>
              <a:rPr sz="2000" b="1" dirty="0">
                <a:latin typeface="Calibri"/>
                <a:cs typeface="Calibri"/>
              </a:rPr>
              <a:t>S</a:t>
            </a:r>
            <a:r>
              <a:rPr sz="2000" b="1" spc="-19" dirty="0">
                <a:latin typeface="Calibri"/>
                <a:cs typeface="Calibri"/>
              </a:rPr>
              <a:t>ta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75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29" dirty="0">
                <a:latin typeface="Calibri"/>
                <a:cs typeface="Calibri"/>
              </a:rPr>
              <a:t>r</a:t>
            </a:r>
            <a:r>
              <a:rPr sz="2000" spc="4" dirty="0">
                <a:latin typeface="Calibri"/>
                <a:cs typeface="Calibri"/>
              </a:rPr>
              <a:t>e</a:t>
            </a:r>
            <a:r>
              <a:rPr sz="2000" spc="-29" dirty="0">
                <a:latin typeface="Calibri"/>
                <a:cs typeface="Calibri"/>
              </a:rPr>
              <a:t>g</a:t>
            </a:r>
            <a:r>
              <a:rPr sz="2000" spc="4" dirty="0">
                <a:latin typeface="Calibri"/>
                <a:cs typeface="Calibri"/>
              </a:rPr>
              <a:t>a</a:t>
            </a:r>
            <a:r>
              <a:rPr sz="2000" spc="-29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</a:t>
            </a:r>
            <a:r>
              <a:rPr sz="2000" spc="-29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oblem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</a:t>
            </a:r>
            <a:r>
              <a:rPr sz="2000" spc="-14" dirty="0">
                <a:latin typeface="Calibri"/>
                <a:cs typeface="Calibri"/>
              </a:rPr>
              <a:t>a</a:t>
            </a:r>
            <a:r>
              <a:rPr sz="2000" spc="-19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e space </a:t>
            </a:r>
            <a:endParaRPr sz="2000">
              <a:latin typeface="Calibri"/>
              <a:cs typeface="Calibri"/>
            </a:endParaRPr>
          </a:p>
          <a:p>
            <a:pPr marL="697737" marR="3660088">
              <a:lnSpc>
                <a:spcPts val="2441"/>
              </a:lnSpc>
              <a:spcBef>
                <a:spcPts val="198"/>
              </a:spcBef>
            </a:pPr>
            <a:r>
              <a:rPr sz="2000" dirty="0">
                <a:latin typeface="Calibri"/>
                <a:cs typeface="Calibri"/>
              </a:rPr>
              <a:t>he</a:t>
            </a:r>
            <a:r>
              <a:rPr sz="2000" spc="-2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</a:t>
            </a:r>
            <a:r>
              <a:rPr sz="2000" spc="-14" dirty="0">
                <a:latin typeface="Calibri"/>
                <a:cs typeface="Calibri"/>
              </a:rPr>
              <a:t>a</a:t>
            </a:r>
            <a:r>
              <a:rPr sz="2000" spc="-19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-4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8804" y="2036852"/>
            <a:ext cx="3670367" cy="5164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Initial</a:t>
            </a:r>
            <a:r>
              <a:rPr sz="3000" b="1" spc="-14" baseline="2730" dirty="0">
                <a:latin typeface="Calibri"/>
                <a:cs typeface="Calibri"/>
              </a:rPr>
              <a:t> </a:t>
            </a:r>
            <a:r>
              <a:rPr sz="3000" b="1" baseline="2730" dirty="0">
                <a:latin typeface="Calibri"/>
                <a:cs typeface="Calibri"/>
              </a:rPr>
              <a:t>S</a:t>
            </a:r>
            <a:r>
              <a:rPr sz="3000" b="1" spc="-19" baseline="2730" dirty="0">
                <a:latin typeface="Calibri"/>
                <a:cs typeface="Calibri"/>
              </a:rPr>
              <a:t>ta</a:t>
            </a:r>
            <a:r>
              <a:rPr sz="3000" b="1" spc="-25" baseline="2730" dirty="0">
                <a:latin typeface="Calibri"/>
                <a:cs typeface="Calibri"/>
              </a:rPr>
              <a:t>t</a:t>
            </a:r>
            <a:r>
              <a:rPr sz="3000" b="1" baseline="2730" dirty="0">
                <a:latin typeface="Calibri"/>
                <a:cs typeface="Calibri"/>
              </a:rPr>
              <a:t>e</a:t>
            </a:r>
            <a:r>
              <a:rPr sz="3000" baseline="2730" dirty="0">
                <a:latin typeface="Calibri"/>
                <a:cs typeface="Calibri"/>
              </a:rPr>
              <a:t>: the</a:t>
            </a:r>
            <a:r>
              <a:rPr sz="3000" spc="4" baseline="2730" dirty="0">
                <a:latin typeface="Calibri"/>
                <a:cs typeface="Calibri"/>
              </a:rPr>
              <a:t> </a:t>
            </a:r>
            <a:r>
              <a:rPr sz="3000" spc="-25" baseline="2730" dirty="0">
                <a:latin typeface="Calibri"/>
                <a:cs typeface="Calibri"/>
              </a:rPr>
              <a:t>st</a:t>
            </a:r>
            <a:r>
              <a:rPr sz="3000" spc="-14" baseline="2730" dirty="0">
                <a:latin typeface="Calibri"/>
                <a:cs typeface="Calibri"/>
              </a:rPr>
              <a:t>a</a:t>
            </a:r>
            <a:r>
              <a:rPr sz="3000" spc="-19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e </a:t>
            </a:r>
            <a:r>
              <a:rPr sz="3000" spc="-14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o</a:t>
            </a:r>
            <a:r>
              <a:rPr sz="3000" spc="-4" baseline="2730" dirty="0">
                <a:latin typeface="Calibri"/>
                <a:cs typeface="Calibri"/>
              </a:rPr>
              <a:t> </a:t>
            </a:r>
            <a:r>
              <a:rPr sz="3000" spc="-25" baseline="2730" dirty="0">
                <a:latin typeface="Calibri"/>
                <a:cs typeface="Calibri"/>
              </a:rPr>
              <a:t>st</a:t>
            </a: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rt</a:t>
            </a:r>
            <a:r>
              <a:rPr sz="3000" spc="-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f</a:t>
            </a:r>
            <a:r>
              <a:rPr sz="3000" spc="-29" baseline="2730" dirty="0">
                <a:latin typeface="Calibri"/>
                <a:cs typeface="Calibri"/>
              </a:rPr>
              <a:t>r</a:t>
            </a:r>
            <a:r>
              <a:rPr sz="3000" baseline="2730" dirty="0">
                <a:latin typeface="Calibri"/>
                <a:cs typeface="Calibri"/>
              </a:rPr>
              <a:t>om</a:t>
            </a:r>
            <a:endParaRPr sz="2000">
              <a:latin typeface="Calibri"/>
              <a:cs typeface="Calibri"/>
            </a:endParaRPr>
          </a:p>
          <a:p>
            <a:pPr marL="1059688" marR="41857">
              <a:lnSpc>
                <a:spcPts val="1930"/>
              </a:lnSpc>
            </a:pPr>
            <a:r>
              <a:rPr sz="2700" baseline="3034" dirty="0">
                <a:latin typeface="Calibri"/>
                <a:cs typeface="Calibri"/>
              </a:rPr>
              <a:t>In(A</a:t>
            </a:r>
            <a:r>
              <a:rPr sz="2700" spc="-34" baseline="3034" dirty="0">
                <a:latin typeface="Calibri"/>
                <a:cs typeface="Calibri"/>
              </a:rPr>
              <a:t>r</a:t>
            </a:r>
            <a:r>
              <a:rPr sz="2700" baseline="3034" dirty="0">
                <a:latin typeface="Calibri"/>
                <a:cs typeface="Calibri"/>
              </a:rPr>
              <a:t>ad)</a:t>
            </a:r>
            <a:endParaRPr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8802" y="2792355"/>
            <a:ext cx="7526700" cy="9691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0"/>
              </a:lnSpc>
              <a:spcBef>
                <a:spcPts val="98"/>
              </a:spcBef>
            </a:pPr>
            <a:r>
              <a:rPr sz="3000" b="1" baseline="-1365" dirty="0">
                <a:latin typeface="Calibri"/>
                <a:cs typeface="Calibri"/>
              </a:rPr>
              <a:t>Successor</a:t>
            </a:r>
            <a:r>
              <a:rPr sz="3000" b="1" spc="19" baseline="-1365" dirty="0">
                <a:latin typeface="Calibri"/>
                <a:cs typeface="Calibri"/>
              </a:rPr>
              <a:t> </a:t>
            </a:r>
            <a:r>
              <a:rPr sz="3000" b="1" baseline="-1365" dirty="0">
                <a:latin typeface="Calibri"/>
                <a:cs typeface="Calibri"/>
              </a:rPr>
              <a:t>Function:</a:t>
            </a:r>
            <a:r>
              <a:rPr sz="3000" b="1" spc="-9" baseline="-1365" dirty="0">
                <a:latin typeface="Calibri"/>
                <a:cs typeface="Calibri"/>
              </a:rPr>
              <a:t> </a:t>
            </a:r>
            <a:r>
              <a:rPr sz="3000" baseline="-1365" dirty="0">
                <a:latin typeface="Calibri"/>
                <a:cs typeface="Calibri"/>
              </a:rPr>
              <a:t>descri</a:t>
            </a:r>
            <a:r>
              <a:rPr sz="3000" spc="-14" baseline="-1365" dirty="0">
                <a:latin typeface="Calibri"/>
                <a:cs typeface="Calibri"/>
              </a:rPr>
              <a:t>p</a:t>
            </a:r>
            <a:r>
              <a:rPr sz="3000" spc="9" baseline="-1365" dirty="0">
                <a:latin typeface="Calibri"/>
                <a:cs typeface="Calibri"/>
              </a:rPr>
              <a:t>t</a:t>
            </a:r>
            <a:r>
              <a:rPr sz="3000" baseline="-1365" dirty="0">
                <a:latin typeface="Calibri"/>
                <a:cs typeface="Calibri"/>
              </a:rPr>
              <a:t>ion</a:t>
            </a:r>
            <a:r>
              <a:rPr sz="3000" spc="-10" baseline="-1365" dirty="0">
                <a:latin typeface="Calibri"/>
                <a:cs typeface="Calibri"/>
              </a:rPr>
              <a:t> </a:t>
            </a:r>
            <a:r>
              <a:rPr sz="3000" baseline="-1365" dirty="0">
                <a:latin typeface="Calibri"/>
                <a:cs typeface="Calibri"/>
              </a:rPr>
              <a:t>of</a:t>
            </a:r>
            <a:r>
              <a:rPr sz="3000" spc="-21" baseline="-1365" dirty="0">
                <a:latin typeface="Calibri"/>
                <a:cs typeface="Calibri"/>
              </a:rPr>
              <a:t> </a:t>
            </a:r>
            <a:r>
              <a:rPr sz="3000" baseline="-1365" dirty="0">
                <a:latin typeface="Calibri"/>
                <a:cs typeface="Calibri"/>
              </a:rPr>
              <a:t>the</a:t>
            </a:r>
            <a:r>
              <a:rPr sz="3000" spc="9" baseline="-1365" dirty="0">
                <a:latin typeface="Calibri"/>
                <a:cs typeface="Calibri"/>
              </a:rPr>
              <a:t> </a:t>
            </a:r>
            <a:r>
              <a:rPr sz="3000" baseline="-1365" dirty="0">
                <a:latin typeface="Calibri"/>
                <a:cs typeface="Calibri"/>
              </a:rPr>
              <a:t>possible</a:t>
            </a:r>
            <a:r>
              <a:rPr sz="3000" spc="-41" baseline="-1365" dirty="0">
                <a:latin typeface="Calibri"/>
                <a:cs typeface="Calibri"/>
              </a:rPr>
              <a:t> </a:t>
            </a:r>
            <a:r>
              <a:rPr sz="3000" baseline="-1365" dirty="0">
                <a:latin typeface="Calibri"/>
                <a:cs typeface="Calibri"/>
              </a:rPr>
              <a:t>actions,</a:t>
            </a:r>
            <a:r>
              <a:rPr sz="3000" spc="14" baseline="-1365" dirty="0">
                <a:latin typeface="Calibri"/>
                <a:cs typeface="Calibri"/>
              </a:rPr>
              <a:t> </a:t>
            </a:r>
            <a:r>
              <a:rPr sz="3000" baseline="-1365" dirty="0">
                <a:latin typeface="Calibri"/>
                <a:cs typeface="Calibri"/>
              </a:rPr>
              <a:t>gi</a:t>
            </a:r>
            <a:r>
              <a:rPr sz="3000" spc="-19" baseline="-1365" dirty="0">
                <a:latin typeface="Calibri"/>
                <a:cs typeface="Calibri"/>
              </a:rPr>
              <a:t>v</a:t>
            </a:r>
            <a:r>
              <a:rPr sz="3000" baseline="-1365" dirty="0">
                <a:latin typeface="Calibri"/>
                <a:cs typeface="Calibri"/>
              </a:rPr>
              <a:t>e</a:t>
            </a:r>
            <a:r>
              <a:rPr sz="3000" spc="4" baseline="-1365" dirty="0">
                <a:latin typeface="Calibri"/>
                <a:cs typeface="Calibri"/>
              </a:rPr>
              <a:t> </a:t>
            </a:r>
            <a:r>
              <a:rPr sz="3000" spc="-25" baseline="-1365" dirty="0">
                <a:latin typeface="Calibri"/>
                <a:cs typeface="Calibri"/>
              </a:rPr>
              <a:t>st</a:t>
            </a:r>
            <a:r>
              <a:rPr sz="3000" spc="-14" baseline="-1365" dirty="0">
                <a:latin typeface="Calibri"/>
                <a:cs typeface="Calibri"/>
              </a:rPr>
              <a:t>a</a:t>
            </a:r>
            <a:r>
              <a:rPr sz="3000" spc="-19" baseline="-1365" dirty="0">
                <a:latin typeface="Calibri"/>
                <a:cs typeface="Calibri"/>
              </a:rPr>
              <a:t>t</a:t>
            </a:r>
            <a:r>
              <a:rPr sz="3000" baseline="-1365" dirty="0">
                <a:latin typeface="Calibri"/>
                <a:cs typeface="Calibri"/>
              </a:rPr>
              <a:t>e x,</a:t>
            </a:r>
            <a:r>
              <a:rPr sz="3000" spc="-8" baseline="-1365" dirty="0">
                <a:latin typeface="Calibri"/>
                <a:cs typeface="Calibri"/>
              </a:rPr>
              <a:t> </a:t>
            </a:r>
            <a:r>
              <a:rPr sz="3000" baseline="-1365" dirty="0">
                <a:latin typeface="Calibri"/>
                <a:cs typeface="Calibri"/>
              </a:rPr>
              <a:t>S(X)</a:t>
            </a:r>
            <a:endParaRPr sz="2000" dirty="0">
              <a:latin typeface="Calibri"/>
              <a:cs typeface="Calibri"/>
            </a:endParaRPr>
          </a:p>
          <a:p>
            <a:pPr marL="393694" marR="46508">
              <a:lnSpc>
                <a:spcPts val="1860"/>
              </a:lnSpc>
            </a:pPr>
            <a:r>
              <a:rPr sz="3000" spc="-25" baseline="4096" dirty="0">
                <a:latin typeface="Calibri"/>
                <a:cs typeface="Calibri"/>
              </a:rPr>
              <a:t>r</a:t>
            </a:r>
            <a:r>
              <a:rPr sz="3000" spc="-9" baseline="4096" dirty="0">
                <a:latin typeface="Calibri"/>
                <a:cs typeface="Calibri"/>
              </a:rPr>
              <a:t>e</a:t>
            </a:r>
            <a:r>
              <a:rPr sz="3000" spc="4" baseline="4096" dirty="0">
                <a:latin typeface="Calibri"/>
                <a:cs typeface="Calibri"/>
              </a:rPr>
              <a:t>t</a:t>
            </a:r>
            <a:r>
              <a:rPr sz="3000" baseline="4096" dirty="0">
                <a:latin typeface="Calibri"/>
                <a:cs typeface="Calibri"/>
              </a:rPr>
              <a:t>urns</a:t>
            </a:r>
            <a:r>
              <a:rPr sz="3000" spc="-13" baseline="4096" dirty="0">
                <a:latin typeface="Calibri"/>
                <a:cs typeface="Calibri"/>
              </a:rPr>
              <a:t> </a:t>
            </a:r>
            <a:r>
              <a:rPr sz="3000" baseline="4096" dirty="0">
                <a:latin typeface="Calibri"/>
                <a:cs typeface="Calibri"/>
              </a:rPr>
              <a:t>a</a:t>
            </a:r>
            <a:r>
              <a:rPr sz="3000" spc="-9" baseline="4096" dirty="0">
                <a:latin typeface="Calibri"/>
                <a:cs typeface="Calibri"/>
              </a:rPr>
              <a:t> </a:t>
            </a:r>
            <a:r>
              <a:rPr sz="3000" spc="-4" baseline="4096" dirty="0">
                <a:latin typeface="Calibri"/>
                <a:cs typeface="Calibri"/>
              </a:rPr>
              <a:t>se</a:t>
            </a:r>
            <a:r>
              <a:rPr sz="3000" baseline="4096" dirty="0">
                <a:latin typeface="Calibri"/>
                <a:cs typeface="Calibri"/>
              </a:rPr>
              <a:t>t</a:t>
            </a:r>
            <a:r>
              <a:rPr sz="3000" spc="19" baseline="4096" dirty="0">
                <a:latin typeface="Calibri"/>
                <a:cs typeface="Calibri"/>
              </a:rPr>
              <a:t> </a:t>
            </a:r>
            <a:r>
              <a:rPr sz="3000" baseline="4096" dirty="0">
                <a:latin typeface="Calibri"/>
                <a:cs typeface="Calibri"/>
              </a:rPr>
              <a:t>of</a:t>
            </a:r>
            <a:r>
              <a:rPr sz="3000" spc="-21" baseline="4096" dirty="0">
                <a:latin typeface="Calibri"/>
                <a:cs typeface="Calibri"/>
              </a:rPr>
              <a:t> </a:t>
            </a:r>
            <a:r>
              <a:rPr sz="3000" baseline="4096" dirty="0">
                <a:latin typeface="Calibri"/>
                <a:cs typeface="Calibri"/>
              </a:rPr>
              <a:t>&lt;action,</a:t>
            </a:r>
            <a:r>
              <a:rPr sz="3000" spc="9" baseline="4096" dirty="0">
                <a:latin typeface="Calibri"/>
                <a:cs typeface="Calibri"/>
              </a:rPr>
              <a:t> </a:t>
            </a:r>
            <a:r>
              <a:rPr sz="3000" baseline="4096" dirty="0">
                <a:latin typeface="Calibri"/>
                <a:cs typeface="Calibri"/>
              </a:rPr>
              <a:t>successor&gt;</a:t>
            </a:r>
            <a:r>
              <a:rPr sz="3000" spc="-63" baseline="4096" dirty="0">
                <a:latin typeface="Calibri"/>
                <a:cs typeface="Calibri"/>
              </a:rPr>
              <a:t> </a:t>
            </a:r>
            <a:r>
              <a:rPr sz="3000" baseline="4096" dirty="0">
                <a:latin typeface="Calibri"/>
                <a:cs typeface="Calibri"/>
              </a:rPr>
              <a:t>o</a:t>
            </a:r>
            <a:r>
              <a:rPr sz="3000" spc="-29" baseline="4096" dirty="0">
                <a:latin typeface="Calibri"/>
                <a:cs typeface="Calibri"/>
              </a:rPr>
              <a:t>r</a:t>
            </a:r>
            <a:r>
              <a:rPr sz="3000" baseline="4096" dirty="0">
                <a:latin typeface="Calibri"/>
                <a:cs typeface="Calibri"/>
              </a:rPr>
              <a:t>de</a:t>
            </a:r>
            <a:r>
              <a:rPr sz="3000" spc="-25" baseline="4096" dirty="0">
                <a:latin typeface="Calibri"/>
                <a:cs typeface="Calibri"/>
              </a:rPr>
              <a:t>r</a:t>
            </a:r>
            <a:r>
              <a:rPr sz="3000" spc="4" baseline="4096" dirty="0">
                <a:latin typeface="Calibri"/>
                <a:cs typeface="Calibri"/>
              </a:rPr>
              <a:t>e</a:t>
            </a:r>
            <a:r>
              <a:rPr sz="3000" baseline="4096" dirty="0">
                <a:latin typeface="Calibri"/>
                <a:cs typeface="Calibri"/>
              </a:rPr>
              <a:t>d</a:t>
            </a:r>
            <a:r>
              <a:rPr sz="3000" spc="-10" baseline="4096" dirty="0">
                <a:latin typeface="Calibri"/>
                <a:cs typeface="Calibri"/>
              </a:rPr>
              <a:t> </a:t>
            </a:r>
            <a:r>
              <a:rPr sz="3000" baseline="4096" dirty="0">
                <a:latin typeface="Calibri"/>
                <a:cs typeface="Calibri"/>
              </a:rPr>
              <a:t>pai</a:t>
            </a:r>
            <a:r>
              <a:rPr sz="3000" spc="-39" baseline="4096" dirty="0">
                <a:latin typeface="Calibri"/>
                <a:cs typeface="Calibri"/>
              </a:rPr>
              <a:t>r</a:t>
            </a:r>
            <a:r>
              <a:rPr sz="3000" baseline="4096" dirty="0">
                <a:latin typeface="Calibri"/>
                <a:cs typeface="Calibri"/>
              </a:rPr>
              <a:t>s.</a:t>
            </a:r>
            <a:endParaRPr sz="2000" dirty="0">
              <a:latin typeface="Calibri"/>
              <a:cs typeface="Calibri"/>
            </a:endParaRPr>
          </a:p>
          <a:p>
            <a:pPr marL="379984" marR="46508">
              <a:lnSpc>
                <a:spcPts val="1930"/>
              </a:lnSpc>
              <a:spcBef>
                <a:spcPts val="3"/>
              </a:spcBef>
            </a:pPr>
            <a:r>
              <a:rPr sz="2700" baseline="3034" dirty="0">
                <a:latin typeface="Calibri"/>
                <a:cs typeface="Calibri"/>
              </a:rPr>
              <a:t>S(x)=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{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&lt;Go(Sibiu),</a:t>
            </a:r>
            <a:r>
              <a:rPr sz="2700" spc="1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In(Sibiu)&gt;, </a:t>
            </a:r>
            <a:r>
              <a:rPr sz="2700" spc="1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&lt;Go(Timisoa</a:t>
            </a:r>
            <a:r>
              <a:rPr sz="2700" spc="-34" baseline="3034" dirty="0">
                <a:latin typeface="Calibri"/>
                <a:cs typeface="Calibri"/>
              </a:rPr>
              <a:t>r</a:t>
            </a:r>
            <a:r>
              <a:rPr sz="2700" baseline="3034" dirty="0">
                <a:latin typeface="Calibri"/>
                <a:cs typeface="Calibri"/>
              </a:rPr>
              <a:t>a),</a:t>
            </a:r>
            <a:r>
              <a:rPr sz="2700" spc="1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In(Timisoa</a:t>
            </a:r>
            <a:r>
              <a:rPr sz="2700" spc="-34" baseline="3034" dirty="0">
                <a:latin typeface="Calibri"/>
                <a:cs typeface="Calibri"/>
              </a:rPr>
              <a:t>r</a:t>
            </a:r>
            <a:r>
              <a:rPr sz="2700" baseline="3034" dirty="0">
                <a:latin typeface="Calibri"/>
                <a:cs typeface="Calibri"/>
              </a:rPr>
              <a:t>a)&gt;,</a:t>
            </a:r>
            <a:endParaRPr dirty="0">
              <a:latin typeface="Calibri"/>
              <a:cs typeface="Calibri"/>
            </a:endParaRPr>
          </a:p>
          <a:p>
            <a:pPr marL="1007102" marR="46508">
              <a:lnSpc>
                <a:spcPts val="1945"/>
              </a:lnSpc>
            </a:pPr>
            <a:r>
              <a:rPr sz="2700" baseline="3034" dirty="0">
                <a:latin typeface="Calibri"/>
                <a:cs typeface="Calibri"/>
              </a:rPr>
              <a:t>&lt;Go(</a:t>
            </a:r>
            <a:r>
              <a:rPr sz="2700" spc="-34" baseline="3034" dirty="0">
                <a:latin typeface="Calibri"/>
                <a:cs typeface="Calibri"/>
              </a:rPr>
              <a:t>Z</a:t>
            </a:r>
            <a:r>
              <a:rPr sz="2700" baseline="3034" dirty="0">
                <a:latin typeface="Calibri"/>
                <a:cs typeface="Calibri"/>
              </a:rPr>
              <a:t>erind),In(</a:t>
            </a:r>
            <a:r>
              <a:rPr sz="2700" spc="-29" baseline="3034" dirty="0">
                <a:latin typeface="Calibri"/>
                <a:cs typeface="Calibri"/>
              </a:rPr>
              <a:t>Z</a:t>
            </a:r>
            <a:r>
              <a:rPr sz="2700" baseline="3034" dirty="0">
                <a:latin typeface="Calibri"/>
                <a:cs typeface="Calibri"/>
              </a:rPr>
              <a:t>erind)&gt;</a:t>
            </a:r>
            <a:r>
              <a:rPr sz="2700" spc="1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8804" y="3973580"/>
            <a:ext cx="6479549" cy="1003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061">
              <a:lnSpc>
                <a:spcPts val="2130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Goal </a:t>
            </a:r>
            <a:r>
              <a:rPr sz="3000" b="1" spc="-175" baseline="2730" dirty="0">
                <a:latin typeface="Calibri"/>
                <a:cs typeface="Calibri"/>
              </a:rPr>
              <a:t>T</a:t>
            </a:r>
            <a:r>
              <a:rPr sz="3000" b="1" baseline="2730" dirty="0">
                <a:latin typeface="Calibri"/>
                <a:cs typeface="Calibri"/>
              </a:rPr>
              <a:t>e</a:t>
            </a:r>
            <a:r>
              <a:rPr sz="3000" b="1" spc="-25" baseline="2730" dirty="0">
                <a:latin typeface="Calibri"/>
                <a:cs typeface="Calibri"/>
              </a:rPr>
              <a:t>s</a:t>
            </a:r>
            <a:r>
              <a:rPr sz="3000" b="1" baseline="2730" dirty="0">
                <a:latin typeface="Calibri"/>
                <a:cs typeface="Calibri"/>
              </a:rPr>
              <a:t>t:</a:t>
            </a:r>
            <a:r>
              <a:rPr sz="3000" b="1" spc="-19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d</a:t>
            </a:r>
            <a:r>
              <a:rPr sz="3000" spc="-9" baseline="2730" dirty="0">
                <a:latin typeface="Calibri"/>
                <a:cs typeface="Calibri"/>
              </a:rPr>
              <a:t>e</a:t>
            </a:r>
            <a:r>
              <a:rPr sz="3000" spc="-19" baseline="2730" dirty="0">
                <a:latin typeface="Calibri"/>
                <a:cs typeface="Calibri"/>
              </a:rPr>
              <a:t>t</a:t>
            </a:r>
            <a:r>
              <a:rPr sz="3000" spc="4" baseline="2730" dirty="0">
                <a:latin typeface="Calibri"/>
                <a:cs typeface="Calibri"/>
              </a:rPr>
              <a:t>e</a:t>
            </a:r>
            <a:r>
              <a:rPr sz="3000" baseline="2730" dirty="0">
                <a:latin typeface="Calibri"/>
                <a:cs typeface="Calibri"/>
              </a:rPr>
              <a:t>rmine</a:t>
            </a:r>
            <a:r>
              <a:rPr sz="3000" spc="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a</a:t>
            </a:r>
            <a:r>
              <a:rPr sz="3000" spc="-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gi</a:t>
            </a:r>
            <a:r>
              <a:rPr sz="3000" spc="-19" baseline="2730" dirty="0">
                <a:latin typeface="Calibri"/>
                <a:cs typeface="Calibri"/>
              </a:rPr>
              <a:t>v</a:t>
            </a:r>
            <a:r>
              <a:rPr sz="3000" spc="4" baseline="2730" dirty="0">
                <a:latin typeface="Calibri"/>
                <a:cs typeface="Calibri"/>
              </a:rPr>
              <a:t>e</a:t>
            </a:r>
            <a:r>
              <a:rPr sz="3000" baseline="2730" dirty="0">
                <a:latin typeface="Calibri"/>
                <a:cs typeface="Calibri"/>
              </a:rPr>
              <a:t>n</a:t>
            </a:r>
            <a:r>
              <a:rPr sz="3000" spc="-10" baseline="2730" dirty="0">
                <a:latin typeface="Calibri"/>
                <a:cs typeface="Calibri"/>
              </a:rPr>
              <a:t> </a:t>
            </a:r>
            <a:r>
              <a:rPr sz="3000" spc="-25" baseline="2730" dirty="0">
                <a:latin typeface="Calibri"/>
                <a:cs typeface="Calibri"/>
              </a:rPr>
              <a:t>st</a:t>
            </a:r>
            <a:r>
              <a:rPr sz="3000" spc="-14" baseline="2730" dirty="0">
                <a:latin typeface="Calibri"/>
                <a:cs typeface="Calibri"/>
              </a:rPr>
              <a:t>a</a:t>
            </a:r>
            <a:r>
              <a:rPr sz="3000" spc="-19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e</a:t>
            </a:r>
            <a:r>
              <a:rPr sz="3000" spc="-4" baseline="2730" dirty="0">
                <a:latin typeface="Calibri"/>
                <a:cs typeface="Calibri"/>
              </a:rPr>
              <a:t> i</a:t>
            </a:r>
            <a:r>
              <a:rPr sz="3000" baseline="2730" dirty="0">
                <a:latin typeface="Calibri"/>
                <a:cs typeface="Calibri"/>
              </a:rPr>
              <a:t>s</a:t>
            </a:r>
            <a:r>
              <a:rPr sz="3000" spc="2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a</a:t>
            </a:r>
            <a:r>
              <a:rPr sz="3000" spc="-9" baseline="2730" dirty="0">
                <a:latin typeface="Calibri"/>
                <a:cs typeface="Calibri"/>
              </a:rPr>
              <a:t> g</a:t>
            </a:r>
            <a:r>
              <a:rPr sz="3000" baseline="2730" dirty="0">
                <a:latin typeface="Calibri"/>
                <a:cs typeface="Calibri"/>
              </a:rPr>
              <a:t>o</a:t>
            </a: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l</a:t>
            </a:r>
            <a:r>
              <a:rPr sz="3000" spc="-14" baseline="2730" dirty="0">
                <a:latin typeface="Calibri"/>
                <a:cs typeface="Calibri"/>
              </a:rPr>
              <a:t> </a:t>
            </a:r>
            <a:r>
              <a:rPr sz="3000" spc="-25" baseline="2730" dirty="0">
                <a:latin typeface="Calibri"/>
                <a:cs typeface="Calibri"/>
              </a:rPr>
              <a:t>st</a:t>
            </a:r>
            <a:r>
              <a:rPr sz="3000" spc="-14" baseline="2730" dirty="0">
                <a:latin typeface="Calibri"/>
                <a:cs typeface="Calibri"/>
              </a:rPr>
              <a:t>a</a:t>
            </a:r>
            <a:r>
              <a:rPr sz="3000" spc="-19" baseline="2730" dirty="0">
                <a:latin typeface="Calibri"/>
                <a:cs typeface="Calibri"/>
              </a:rPr>
              <a:t>t</a:t>
            </a:r>
            <a:r>
              <a:rPr sz="3000" spc="4" baseline="2730" dirty="0">
                <a:latin typeface="Calibri"/>
                <a:cs typeface="Calibri"/>
              </a:rPr>
              <a:t>e</a:t>
            </a:r>
            <a:r>
              <a:rPr sz="3000" baseline="273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536194" marR="38061">
              <a:lnSpc>
                <a:spcPts val="1935"/>
              </a:lnSpc>
            </a:pPr>
            <a:r>
              <a:rPr sz="2700" baseline="3034" dirty="0">
                <a:latin typeface="Calibri"/>
                <a:cs typeface="Calibri"/>
              </a:rPr>
              <a:t>In(Sibiu)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No.</a:t>
            </a:r>
            <a:r>
              <a:rPr sz="2700" spc="15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In(</a:t>
            </a:r>
            <a:r>
              <a:rPr sz="2700" spc="-34" baseline="3034" dirty="0">
                <a:latin typeface="Calibri"/>
                <a:cs typeface="Calibri"/>
              </a:rPr>
              <a:t>Z</a:t>
            </a:r>
            <a:r>
              <a:rPr sz="2700" baseline="3034" dirty="0">
                <a:latin typeface="Calibri"/>
                <a:cs typeface="Calibri"/>
              </a:rPr>
              <a:t>erind)</a:t>
            </a:r>
            <a:r>
              <a:rPr sz="2700" spc="1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No.….</a:t>
            </a:r>
            <a:r>
              <a:rPr sz="2700" spc="150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In(Bucha</a:t>
            </a:r>
            <a:r>
              <a:rPr sz="2700" spc="-25" baseline="3034" dirty="0">
                <a:latin typeface="Calibri"/>
                <a:cs typeface="Calibri"/>
              </a:rPr>
              <a:t>r</a:t>
            </a:r>
            <a:r>
              <a:rPr sz="2700" baseline="3034" dirty="0">
                <a:latin typeface="Calibri"/>
                <a:cs typeface="Calibri"/>
              </a:rPr>
              <a:t>e</a:t>
            </a:r>
            <a:r>
              <a:rPr sz="2700" spc="-19" baseline="3034" dirty="0">
                <a:latin typeface="Calibri"/>
                <a:cs typeface="Calibri"/>
              </a:rPr>
              <a:t>s</a:t>
            </a:r>
            <a:r>
              <a:rPr sz="2700" spc="-4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)</a:t>
            </a:r>
            <a:r>
              <a:rPr sz="2700" spc="-134" baseline="3034" dirty="0">
                <a:latin typeface="Calibri"/>
                <a:cs typeface="Calibri"/>
              </a:rPr>
              <a:t>Y</a:t>
            </a:r>
            <a:r>
              <a:rPr sz="2700" baseline="3034" dirty="0">
                <a:latin typeface="Calibri"/>
                <a:cs typeface="Calibri"/>
              </a:rPr>
              <a:t>es!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1361"/>
              </a:spcBef>
            </a:pPr>
            <a:r>
              <a:rPr sz="2000" b="1" spc="-44" dirty="0">
                <a:latin typeface="Calibri"/>
                <a:cs typeface="Calibri"/>
              </a:rPr>
              <a:t>P</a:t>
            </a:r>
            <a:r>
              <a:rPr sz="2000" b="1" spc="-19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th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</a:t>
            </a:r>
            <a:r>
              <a:rPr sz="2000" b="1" spc="-25" dirty="0">
                <a:latin typeface="Calibri"/>
                <a:cs typeface="Calibri"/>
              </a:rPr>
              <a:t>s</a:t>
            </a:r>
            <a:r>
              <a:rPr sz="2000" b="1" dirty="0">
                <a:latin typeface="Calibri"/>
                <a:cs typeface="Calibri"/>
              </a:rPr>
              <a:t>t: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</a:t>
            </a:r>
            <a:r>
              <a:rPr sz="2000" spc="-1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assigns</a:t>
            </a:r>
            <a:r>
              <a:rPr sz="2000" spc="-3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numeric</a:t>
            </a:r>
            <a:r>
              <a:rPr sz="2000" spc="24" dirty="0">
                <a:latin typeface="Calibri"/>
                <a:cs typeface="Calibri"/>
              </a:rPr>
              <a:t> </a:t>
            </a:r>
            <a:r>
              <a:rPr sz="2000" spc="-19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9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14" dirty="0">
                <a:latin typeface="Calibri"/>
                <a:cs typeface="Calibri"/>
              </a:rPr>
              <a:t> </a:t>
            </a:r>
            <a:r>
              <a:rPr sz="2000" spc="-14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2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</a:t>
            </a:r>
            <a:r>
              <a:rPr sz="2000" spc="-1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th.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56003" y="4955179"/>
            <a:ext cx="5556465" cy="2633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9"/>
              </a:lnSpc>
              <a:spcBef>
                <a:spcPts val="102"/>
              </a:spcBef>
            </a:pPr>
            <a:r>
              <a:rPr sz="2700" baseline="3220" dirty="0">
                <a:latin typeface="Arial"/>
                <a:cs typeface="Arial"/>
              </a:rPr>
              <a:t>–  </a:t>
            </a:r>
            <a:r>
              <a:rPr sz="2700" spc="204" baseline="3220" dirty="0">
                <a:latin typeface="Arial"/>
                <a:cs typeface="Arial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e</a:t>
            </a:r>
            <a:r>
              <a:rPr sz="2700" spc="19" baseline="3034" dirty="0">
                <a:latin typeface="Calibri"/>
                <a:cs typeface="Calibri"/>
              </a:rPr>
              <a:t>.</a:t>
            </a:r>
            <a:r>
              <a:rPr sz="2700" baseline="3034" dirty="0">
                <a:latin typeface="Calibri"/>
                <a:cs typeface="Calibri"/>
              </a:rPr>
              <a:t>g., sum of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di</a:t>
            </a:r>
            <a:r>
              <a:rPr sz="2700" spc="-19" baseline="3034" dirty="0">
                <a:latin typeface="Calibri"/>
                <a:cs typeface="Calibri"/>
              </a:rPr>
              <a:t>s</a:t>
            </a:r>
            <a:r>
              <a:rPr sz="2700" spc="-25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ances,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number</a:t>
            </a:r>
            <a:r>
              <a:rPr sz="2700" spc="1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of actions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spc="-29" baseline="3034" dirty="0">
                <a:latin typeface="Calibri"/>
                <a:cs typeface="Calibri"/>
              </a:rPr>
              <a:t>e</a:t>
            </a:r>
            <a:r>
              <a:rPr sz="2700" spc="-50" baseline="3034" dirty="0">
                <a:latin typeface="Calibri"/>
                <a:cs typeface="Calibri"/>
              </a:rPr>
              <a:t>x</a:t>
            </a:r>
            <a:r>
              <a:rPr sz="2700" baseline="3034" dirty="0">
                <a:latin typeface="Calibri"/>
                <a:cs typeface="Calibri"/>
              </a:rPr>
              <a:t>ecu</a:t>
            </a:r>
            <a:r>
              <a:rPr sz="2700" spc="-19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ed,</a:t>
            </a:r>
            <a:r>
              <a:rPr sz="2700" spc="24" baseline="3034" dirty="0">
                <a:latin typeface="Calibri"/>
                <a:cs typeface="Calibri"/>
              </a:rPr>
              <a:t> </a:t>
            </a:r>
            <a:r>
              <a:rPr sz="2700" spc="-14" baseline="3034" dirty="0">
                <a:latin typeface="Calibri"/>
                <a:cs typeface="Calibri"/>
              </a:rPr>
              <a:t>e</a:t>
            </a:r>
            <a:r>
              <a:rPr sz="2700" spc="-25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c.</a:t>
            </a:r>
            <a:endParaRPr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6003" y="5198018"/>
            <a:ext cx="186791" cy="24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dirty="0">
                <a:latin typeface="Arial"/>
                <a:cs typeface="Arial"/>
              </a:rPr>
              <a:t>–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8901" y="5211580"/>
            <a:ext cx="4070142" cy="24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i="1" baseline="3034" dirty="0">
                <a:latin typeface="Calibri"/>
                <a:cs typeface="Calibri"/>
              </a:rPr>
              <a:t>c(x, a,</a:t>
            </a:r>
            <a:r>
              <a:rPr sz="2700" i="1" spc="9" baseline="3034" dirty="0">
                <a:latin typeface="Calibri"/>
                <a:cs typeface="Calibri"/>
              </a:rPr>
              <a:t> </a:t>
            </a:r>
            <a:r>
              <a:rPr sz="2700" i="1" baseline="3034" dirty="0">
                <a:latin typeface="Calibri"/>
                <a:cs typeface="Calibri"/>
              </a:rPr>
              <a:t>y) </a:t>
            </a:r>
            <a:r>
              <a:rPr sz="2700" baseline="3034" dirty="0">
                <a:latin typeface="Calibri"/>
                <a:cs typeface="Calibri"/>
              </a:rPr>
              <a:t>is the</a:t>
            </a:r>
            <a:r>
              <a:rPr sz="2700" spc="19" baseline="3034" dirty="0">
                <a:latin typeface="Calibri"/>
                <a:cs typeface="Calibri"/>
              </a:rPr>
              <a:t> </a:t>
            </a:r>
            <a:r>
              <a:rPr sz="2700" spc="-19" baseline="3034" dirty="0">
                <a:latin typeface="Calibri"/>
                <a:cs typeface="Calibri"/>
              </a:rPr>
              <a:t>st</a:t>
            </a:r>
            <a:r>
              <a:rPr sz="2700" baseline="3034" dirty="0">
                <a:latin typeface="Calibri"/>
                <a:cs typeface="Calibri"/>
              </a:rPr>
              <a:t>ep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spc="-19" baseline="3034" dirty="0">
                <a:latin typeface="Calibri"/>
                <a:cs typeface="Calibri"/>
              </a:rPr>
              <a:t>c</a:t>
            </a:r>
            <a:r>
              <a:rPr sz="2700" baseline="3034" dirty="0">
                <a:latin typeface="Calibri"/>
                <a:cs typeface="Calibri"/>
              </a:rPr>
              <a:t>o</a:t>
            </a:r>
            <a:r>
              <a:rPr sz="2700" spc="-19" baseline="3034" dirty="0">
                <a:latin typeface="Calibri"/>
                <a:cs typeface="Calibri"/>
              </a:rPr>
              <a:t>s</a:t>
            </a:r>
            <a:r>
              <a:rPr sz="2700" spc="-4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,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assumed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spc="-19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o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be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≥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0</a:t>
            </a:r>
            <a:endParaRPr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8802" y="5700447"/>
            <a:ext cx="7777712" cy="5164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0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Solu</a:t>
            </a:r>
            <a:r>
              <a:rPr sz="3000" b="1" spc="-4" baseline="2730" dirty="0">
                <a:latin typeface="Calibri"/>
                <a:cs typeface="Calibri"/>
              </a:rPr>
              <a:t>t</a:t>
            </a:r>
            <a:r>
              <a:rPr sz="3000" b="1" baseline="2730" dirty="0">
                <a:latin typeface="Calibri"/>
                <a:cs typeface="Calibri"/>
              </a:rPr>
              <a:t>ion:</a:t>
            </a:r>
            <a:r>
              <a:rPr sz="3000" b="1" spc="-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a</a:t>
            </a:r>
            <a:r>
              <a:rPr sz="3000" spc="-9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sequence</a:t>
            </a:r>
            <a:r>
              <a:rPr sz="3000" spc="-52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of</a:t>
            </a:r>
            <a:r>
              <a:rPr sz="3000" spc="-21" baseline="2730" dirty="0">
                <a:latin typeface="Calibri"/>
                <a:cs typeface="Calibri"/>
              </a:rPr>
              <a:t> </a:t>
            </a: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c</a:t>
            </a:r>
            <a:r>
              <a:rPr sz="3000" spc="4" baseline="2730" dirty="0">
                <a:latin typeface="Calibri"/>
                <a:cs typeface="Calibri"/>
              </a:rPr>
              <a:t>t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ons</a:t>
            </a:r>
            <a:r>
              <a:rPr sz="3000" spc="-31" baseline="2730" dirty="0">
                <a:latin typeface="Calibri"/>
                <a:cs typeface="Calibri"/>
              </a:rPr>
              <a:t> </a:t>
            </a:r>
            <a:r>
              <a:rPr sz="3000" spc="-4" baseline="2730" dirty="0">
                <a:latin typeface="Calibri"/>
                <a:cs typeface="Calibri"/>
              </a:rPr>
              <a:t>l</a:t>
            </a:r>
            <a:r>
              <a:rPr sz="3000" baseline="2730" dirty="0">
                <a:latin typeface="Calibri"/>
                <a:cs typeface="Calibri"/>
              </a:rPr>
              <a:t>e</a:t>
            </a: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ding f</a:t>
            </a:r>
            <a:r>
              <a:rPr sz="3000" spc="-29" baseline="2730" dirty="0">
                <a:latin typeface="Calibri"/>
                <a:cs typeface="Calibri"/>
              </a:rPr>
              <a:t>r</a:t>
            </a:r>
            <a:r>
              <a:rPr sz="3000" baseline="2730" dirty="0">
                <a:latin typeface="Calibri"/>
                <a:cs typeface="Calibri"/>
              </a:rPr>
              <a:t>om</a:t>
            </a:r>
            <a:r>
              <a:rPr sz="3000" spc="-6" baseline="2730" dirty="0">
                <a:latin typeface="Calibri"/>
                <a:cs typeface="Calibri"/>
              </a:rPr>
              <a:t> </a:t>
            </a:r>
            <a:r>
              <a:rPr sz="3000" spc="4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he</a:t>
            </a:r>
            <a:r>
              <a:rPr sz="3000" spc="4" baseline="2730" dirty="0">
                <a:latin typeface="Calibri"/>
                <a:cs typeface="Calibri"/>
              </a:rPr>
              <a:t> 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nit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spc="9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l </a:t>
            </a:r>
            <a:r>
              <a:rPr sz="3000" spc="-25" baseline="2730" dirty="0">
                <a:latin typeface="Calibri"/>
                <a:cs typeface="Calibri"/>
              </a:rPr>
              <a:t>s</a:t>
            </a:r>
            <a:r>
              <a:rPr sz="3000" spc="-19" baseline="2730" dirty="0">
                <a:latin typeface="Calibri"/>
                <a:cs typeface="Calibri"/>
              </a:rPr>
              <a:t>t</a:t>
            </a:r>
            <a:r>
              <a:rPr sz="3000" spc="-14" baseline="2730" dirty="0">
                <a:latin typeface="Calibri"/>
                <a:cs typeface="Calibri"/>
              </a:rPr>
              <a:t>a</a:t>
            </a:r>
            <a:r>
              <a:rPr sz="3000" spc="-19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e</a:t>
            </a:r>
            <a:r>
              <a:rPr sz="3000" spc="7" baseline="2730" dirty="0">
                <a:latin typeface="Calibri"/>
                <a:cs typeface="Calibri"/>
              </a:rPr>
              <a:t> </a:t>
            </a:r>
            <a:r>
              <a:rPr sz="3000" spc="-14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o</a:t>
            </a:r>
            <a:r>
              <a:rPr sz="3000" spc="-15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a</a:t>
            </a:r>
            <a:r>
              <a:rPr sz="3000" spc="-4" baseline="2730" dirty="0">
                <a:latin typeface="Calibri"/>
                <a:cs typeface="Calibri"/>
              </a:rPr>
              <a:t> </a:t>
            </a:r>
            <a:r>
              <a:rPr sz="3000" spc="-9" baseline="2730" dirty="0">
                <a:latin typeface="Calibri"/>
                <a:cs typeface="Calibri"/>
              </a:rPr>
              <a:t>g</a:t>
            </a:r>
            <a:r>
              <a:rPr sz="3000" baseline="2730" dirty="0">
                <a:latin typeface="Calibri"/>
                <a:cs typeface="Calibri"/>
              </a:rPr>
              <a:t>o</a:t>
            </a: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l</a:t>
            </a:r>
            <a:r>
              <a:rPr sz="3000" spc="-19" baseline="2730" dirty="0">
                <a:latin typeface="Calibri"/>
                <a:cs typeface="Calibri"/>
              </a:rPr>
              <a:t> </a:t>
            </a:r>
            <a:r>
              <a:rPr sz="3000" spc="-25" baseline="2730" dirty="0">
                <a:latin typeface="Calibri"/>
                <a:cs typeface="Calibri"/>
              </a:rPr>
              <a:t>s</a:t>
            </a:r>
            <a:r>
              <a:rPr sz="3000" spc="-19" baseline="2730" dirty="0">
                <a:latin typeface="Calibri"/>
                <a:cs typeface="Calibri"/>
              </a:rPr>
              <a:t>t</a:t>
            </a:r>
            <a:r>
              <a:rPr sz="3000" spc="-14" baseline="2730" dirty="0">
                <a:latin typeface="Calibri"/>
                <a:cs typeface="Calibri"/>
              </a:rPr>
              <a:t>a</a:t>
            </a:r>
            <a:r>
              <a:rPr sz="3000" spc="-19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e</a:t>
            </a:r>
            <a:endParaRPr sz="2000" dirty="0">
              <a:latin typeface="Calibri"/>
              <a:cs typeface="Calibri"/>
            </a:endParaRPr>
          </a:p>
          <a:p>
            <a:pPr marL="483616" marR="38061">
              <a:lnSpc>
                <a:spcPts val="1935"/>
              </a:lnSpc>
            </a:pPr>
            <a:r>
              <a:rPr sz="2700" baseline="3034" dirty="0">
                <a:latin typeface="Calibri"/>
                <a:cs typeface="Calibri"/>
              </a:rPr>
              <a:t>{A</a:t>
            </a:r>
            <a:r>
              <a:rPr sz="2700" spc="-34" baseline="3034" dirty="0">
                <a:latin typeface="Calibri"/>
                <a:cs typeface="Calibri"/>
              </a:rPr>
              <a:t>r</a:t>
            </a:r>
            <a:r>
              <a:rPr sz="2700" baseline="3034" dirty="0">
                <a:latin typeface="Calibri"/>
                <a:cs typeface="Calibri"/>
              </a:rPr>
              <a:t>ad</a:t>
            </a:r>
            <a:r>
              <a:rPr sz="2700" spc="-9" baseline="3034" dirty="0">
                <a:latin typeface="Calibri"/>
                <a:cs typeface="Calibri"/>
              </a:rPr>
              <a:t> </a:t>
            </a:r>
            <a:r>
              <a:rPr lang="en-US" sz="2700" baseline="3220" dirty="0">
                <a:latin typeface="Times New Roman"/>
                <a:cs typeface="Times New Roman"/>
              </a:rPr>
              <a:t>-&gt;</a:t>
            </a:r>
            <a:r>
              <a:rPr sz="2700" baseline="3034" dirty="0">
                <a:latin typeface="Calibri"/>
                <a:cs typeface="Calibri"/>
              </a:rPr>
              <a:t>Sibiu</a:t>
            </a:r>
            <a:r>
              <a:rPr sz="2700" spc="159" baseline="3034" dirty="0">
                <a:latin typeface="Calibri"/>
                <a:cs typeface="Calibri"/>
              </a:rPr>
              <a:t> </a:t>
            </a:r>
            <a:r>
              <a:rPr lang="en-US" sz="2700" spc="159" baseline="3034" dirty="0">
                <a:latin typeface="Calibri"/>
                <a:cs typeface="Calibri"/>
              </a:rPr>
              <a:t>-&gt;</a:t>
            </a:r>
            <a:r>
              <a:rPr sz="2700" baseline="3034" dirty="0" err="1">
                <a:latin typeface="Calibri"/>
                <a:cs typeface="Calibri"/>
              </a:rPr>
              <a:t>Rimnicu</a:t>
            </a:r>
            <a:r>
              <a:rPr sz="2700" baseline="3034" dirty="0">
                <a:latin typeface="Calibri"/>
                <a:cs typeface="Calibri"/>
              </a:rPr>
              <a:t> </a:t>
            </a:r>
            <a:r>
              <a:rPr sz="2700" baseline="3034" dirty="0" err="1">
                <a:latin typeface="Calibri"/>
                <a:cs typeface="Calibri"/>
              </a:rPr>
              <a:t>Vilcea</a:t>
            </a:r>
            <a:r>
              <a:rPr sz="2700" spc="14" baseline="3034" dirty="0">
                <a:latin typeface="Calibri"/>
                <a:cs typeface="Calibri"/>
              </a:rPr>
              <a:t> </a:t>
            </a:r>
            <a:r>
              <a:rPr lang="en-US" sz="2700" spc="120" baseline="3220" dirty="0">
                <a:latin typeface="Times New Roman"/>
                <a:cs typeface="Times New Roman"/>
              </a:rPr>
              <a:t>-&gt;</a:t>
            </a:r>
            <a:r>
              <a:rPr sz="2700" baseline="3034" dirty="0">
                <a:latin typeface="Calibri"/>
                <a:cs typeface="Calibri"/>
              </a:rPr>
              <a:t>Pi</a:t>
            </a:r>
            <a:r>
              <a:rPr sz="2700" spc="-19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e</a:t>
            </a:r>
            <a:r>
              <a:rPr sz="2700" spc="-19" baseline="3034" dirty="0">
                <a:latin typeface="Calibri"/>
                <a:cs typeface="Calibri"/>
              </a:rPr>
              <a:t>s</a:t>
            </a:r>
            <a:r>
              <a:rPr sz="2700" spc="-4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i </a:t>
            </a:r>
            <a:r>
              <a:rPr lang="en-US" sz="2700" baseline="3220" dirty="0">
                <a:latin typeface="Times New Roman"/>
                <a:cs typeface="Times New Roman"/>
              </a:rPr>
              <a:t>-&gt;</a:t>
            </a:r>
            <a:r>
              <a:rPr sz="2700" spc="120" baseline="3220" dirty="0">
                <a:latin typeface="Times New Roman"/>
                <a:cs typeface="Times New Roman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Bucha</a:t>
            </a:r>
            <a:r>
              <a:rPr sz="2700" spc="-19" baseline="3034" dirty="0">
                <a:latin typeface="Calibri"/>
                <a:cs typeface="Calibri"/>
              </a:rPr>
              <a:t>r</a:t>
            </a:r>
            <a:r>
              <a:rPr sz="2700" baseline="3034" dirty="0">
                <a:latin typeface="Calibri"/>
                <a:cs typeface="Calibri"/>
              </a:rPr>
              <a:t>e</a:t>
            </a:r>
            <a:r>
              <a:rPr sz="2700" spc="-19" baseline="3034" dirty="0">
                <a:latin typeface="Calibri"/>
                <a:cs typeface="Calibri"/>
              </a:rPr>
              <a:t>s</a:t>
            </a:r>
            <a:r>
              <a:rPr sz="2700" baseline="3034" dirty="0">
                <a:latin typeface="Calibri"/>
                <a:cs typeface="Calibri"/>
              </a:rPr>
              <a:t>t}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4721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/>
          <p:nvPr/>
        </p:nvSpPr>
        <p:spPr>
          <a:xfrm>
            <a:off x="1524000" y="4699415"/>
            <a:ext cx="9144000" cy="1079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91540">
              <a:lnSpc>
                <a:spcPts val="2445"/>
              </a:lnSpc>
              <a:spcBef>
                <a:spcPts val="122"/>
              </a:spcBef>
            </a:pPr>
            <a:r>
              <a:rPr sz="3600" baseline="3413" dirty="0">
                <a:latin typeface="Calibri"/>
                <a:cs typeface="Calibri"/>
              </a:rPr>
              <a:t>Whose</a:t>
            </a:r>
            <a:r>
              <a:rPr sz="3600" spc="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solutions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people</a:t>
            </a:r>
            <a:r>
              <a:rPr sz="3600" spc="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actually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spc="-19" baseline="3413" dirty="0">
                <a:latin typeface="Calibri"/>
                <a:cs typeface="Calibri"/>
              </a:rPr>
              <a:t>c</a:t>
            </a:r>
            <a:r>
              <a:rPr sz="3600" spc="4" baseline="3413" dirty="0">
                <a:latin typeface="Calibri"/>
                <a:cs typeface="Calibri"/>
              </a:rPr>
              <a:t>a</a:t>
            </a:r>
            <a:r>
              <a:rPr sz="3600" spc="-29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e about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48562" y="681741"/>
            <a:ext cx="6139379" cy="13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51712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EXAMPLE</a:t>
            </a:r>
            <a:r>
              <a:rPr sz="6600" spc="19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39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OBLEMS</a:t>
            </a:r>
            <a:endParaRPr sz="4400">
              <a:latin typeface="Calibri"/>
              <a:cs typeface="Calibri"/>
            </a:endParaRPr>
          </a:p>
          <a:p>
            <a:pPr marL="12700" marR="83781">
              <a:lnSpc>
                <a:spcPct val="101725"/>
              </a:lnSpc>
              <a:spcBef>
                <a:spcPts val="3252"/>
              </a:spcBef>
            </a:pPr>
            <a:r>
              <a:rPr sz="2400" b="1" spc="-69" dirty="0">
                <a:latin typeface="Calibri"/>
                <a:cs typeface="Calibri"/>
              </a:rPr>
              <a:t>TO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</a:t>
            </a:r>
            <a:r>
              <a:rPr sz="2400" b="1" spc="-25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OBLEM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5660" y="1718779"/>
            <a:ext cx="17780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9876" y="2168577"/>
            <a:ext cx="7192282" cy="6845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‐I</a:t>
            </a:r>
            <a:r>
              <a:rPr sz="3600" spc="-25" baseline="3413" dirty="0">
                <a:latin typeface="Calibri"/>
                <a:cs typeface="Calibri"/>
              </a:rPr>
              <a:t>nt</a:t>
            </a:r>
            <a:r>
              <a:rPr sz="3600" baseline="3413" dirty="0">
                <a:latin typeface="Calibri"/>
                <a:cs typeface="Calibri"/>
              </a:rPr>
              <a:t>ended</a:t>
            </a:r>
            <a:r>
              <a:rPr sz="3600" spc="9" baseline="3413" dirty="0">
                <a:latin typeface="Calibri"/>
                <a:cs typeface="Calibri"/>
              </a:rPr>
              <a:t> 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o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illu</a:t>
            </a:r>
            <a:r>
              <a:rPr sz="3600" spc="-34" baseline="3413" dirty="0">
                <a:latin typeface="Calibri"/>
                <a:cs typeface="Calibri"/>
              </a:rPr>
              <a:t>s</a:t>
            </a:r>
            <a:r>
              <a:rPr sz="3600" baseline="3413" dirty="0">
                <a:latin typeface="Calibri"/>
                <a:cs typeface="Calibri"/>
              </a:rPr>
              <a:t>t</a:t>
            </a:r>
            <a:r>
              <a:rPr sz="3600" spc="-50" baseline="3413" dirty="0">
                <a:latin typeface="Calibri"/>
                <a:cs typeface="Calibri"/>
              </a:rPr>
              <a:t>r</a:t>
            </a:r>
            <a:r>
              <a:rPr sz="3600" spc="-19" baseline="3413" dirty="0">
                <a:latin typeface="Calibri"/>
                <a:cs typeface="Calibri"/>
              </a:rPr>
              <a:t>a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e or </a:t>
            </a:r>
            <a:r>
              <a:rPr sz="3600" spc="-34" baseline="3413" dirty="0">
                <a:latin typeface="Calibri"/>
                <a:cs typeface="Calibri"/>
              </a:rPr>
              <a:t>e</a:t>
            </a:r>
            <a:r>
              <a:rPr sz="3600" spc="-64" baseline="3413" dirty="0">
                <a:latin typeface="Calibri"/>
                <a:cs typeface="Calibri"/>
              </a:rPr>
              <a:t>x</a:t>
            </a:r>
            <a:r>
              <a:rPr sz="3600" baseline="3413" dirty="0">
                <a:latin typeface="Calibri"/>
                <a:cs typeface="Calibri"/>
              </a:rPr>
              <a:t>e</a:t>
            </a:r>
            <a:r>
              <a:rPr sz="3600" spc="-39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ci</a:t>
            </a:r>
            <a:r>
              <a:rPr sz="3600" spc="-4" baseline="3413" dirty="0">
                <a:latin typeface="Calibri"/>
                <a:cs typeface="Calibri"/>
              </a:rPr>
              <a:t>s</a:t>
            </a:r>
            <a:r>
              <a:rPr sz="3600" baseline="3413" dirty="0">
                <a:latin typeface="Calibri"/>
                <a:cs typeface="Calibri"/>
              </a:rPr>
              <a:t>e</a:t>
            </a:r>
            <a:r>
              <a:rPr sz="3600" spc="14" baseline="3413" dirty="0">
                <a:latin typeface="Calibri"/>
                <a:cs typeface="Calibri"/>
              </a:rPr>
              <a:t> </a:t>
            </a:r>
            <a:r>
              <a:rPr sz="3600" spc="-34" baseline="3413" dirty="0">
                <a:latin typeface="Calibri"/>
                <a:cs typeface="Calibri"/>
              </a:rPr>
              <a:t>v</a:t>
            </a:r>
            <a:r>
              <a:rPr sz="3600" spc="4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rious p</a:t>
            </a:r>
            <a:r>
              <a:rPr sz="3600" spc="-39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oble</a:t>
            </a:r>
            <a:r>
              <a:rPr sz="3600" spc="4" baseline="3413" dirty="0">
                <a:latin typeface="Calibri"/>
                <a:cs typeface="Calibri"/>
              </a:rPr>
              <a:t>m</a:t>
            </a:r>
            <a:r>
              <a:rPr sz="3600" baseline="3413" dirty="0">
                <a:latin typeface="Calibri"/>
                <a:cs typeface="Calibri"/>
              </a:rPr>
              <a:t>‐solving</a:t>
            </a:r>
            <a:endParaRPr sz="2400">
              <a:latin typeface="Calibri"/>
              <a:cs typeface="Calibri"/>
            </a:endParaRPr>
          </a:p>
          <a:p>
            <a:pPr marL="151383" marR="45720">
              <a:lnSpc>
                <a:spcPts val="2880"/>
              </a:lnSpc>
              <a:spcBef>
                <a:spcPts val="16"/>
              </a:spcBef>
            </a:pPr>
            <a:r>
              <a:rPr sz="3600" baseline="1137" dirty="0">
                <a:latin typeface="Calibri"/>
                <a:cs typeface="Calibri"/>
              </a:rPr>
              <a:t>m</a:t>
            </a:r>
            <a:r>
              <a:rPr sz="3600" spc="-9" baseline="1137" dirty="0">
                <a:latin typeface="Calibri"/>
                <a:cs typeface="Calibri"/>
              </a:rPr>
              <a:t>e</a:t>
            </a:r>
            <a:r>
              <a:rPr sz="3600" baseline="1137" dirty="0">
                <a:latin typeface="Calibri"/>
                <a:cs typeface="Calibri"/>
              </a:rPr>
              <a:t>thods.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9877" y="2960057"/>
            <a:ext cx="6541907" cy="756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‐Concise, </a:t>
            </a:r>
            <a:r>
              <a:rPr sz="3600" spc="-39" baseline="3413" dirty="0">
                <a:latin typeface="Calibri"/>
                <a:cs typeface="Calibri"/>
              </a:rPr>
              <a:t>ex</a:t>
            </a:r>
            <a:r>
              <a:rPr sz="3600" spc="4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ct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description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399"/>
              </a:spcBef>
            </a:pPr>
            <a:r>
              <a:rPr sz="2400" dirty="0">
                <a:latin typeface="Calibri"/>
                <a:cs typeface="Calibri"/>
              </a:rPr>
              <a:t>‐Can be used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4" dirty="0">
                <a:latin typeface="Calibri"/>
                <a:cs typeface="Calibri"/>
              </a:rPr>
              <a:t> </a:t>
            </a:r>
            <a:r>
              <a:rPr sz="2400" spc="-19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4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pa</a:t>
            </a:r>
            <a:r>
              <a:rPr sz="2400" spc="-29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ormance of al</a:t>
            </a:r>
            <a:r>
              <a:rPr sz="2400" spc="-19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orithms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5660" y="4237126"/>
            <a:ext cx="17780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9878" y="4255208"/>
            <a:ext cx="5562881" cy="756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1384" marR="45720">
              <a:lnSpc>
                <a:spcPts val="2545"/>
              </a:lnSpc>
              <a:spcBef>
                <a:spcPts val="127"/>
              </a:spcBef>
            </a:pPr>
            <a:r>
              <a:rPr sz="3600" b="1" baseline="3413" dirty="0">
                <a:latin typeface="Calibri"/>
                <a:cs typeface="Calibri"/>
              </a:rPr>
              <a:t>R</a:t>
            </a:r>
            <a:r>
              <a:rPr sz="3600" b="1" spc="-29" baseline="3413" dirty="0">
                <a:latin typeface="Calibri"/>
                <a:cs typeface="Calibri"/>
              </a:rPr>
              <a:t>E</a:t>
            </a:r>
            <a:r>
              <a:rPr sz="3600" b="1" baseline="3413" dirty="0">
                <a:latin typeface="Calibri"/>
                <a:cs typeface="Calibri"/>
              </a:rPr>
              <a:t>AL‐</a:t>
            </a:r>
            <a:r>
              <a:rPr sz="3600" b="1" spc="-29" baseline="3413" dirty="0">
                <a:latin typeface="Calibri"/>
                <a:cs typeface="Calibri"/>
              </a:rPr>
              <a:t>W</a:t>
            </a:r>
            <a:r>
              <a:rPr sz="3600" b="1" baseline="3413" dirty="0">
                <a:latin typeface="Calibri"/>
                <a:cs typeface="Calibri"/>
              </a:rPr>
              <a:t>ORLD</a:t>
            </a:r>
            <a:r>
              <a:rPr sz="3600" b="1" spc="-9" baseline="3413" dirty="0">
                <a:latin typeface="Calibri"/>
                <a:cs typeface="Calibri"/>
              </a:rPr>
              <a:t> </a:t>
            </a:r>
            <a:r>
              <a:rPr sz="3600" b="1" baseline="3413" dirty="0">
                <a:latin typeface="Calibri"/>
                <a:cs typeface="Calibri"/>
              </a:rPr>
              <a:t>P</a:t>
            </a:r>
            <a:r>
              <a:rPr sz="3600" b="1" spc="-25" baseline="3413" dirty="0">
                <a:latin typeface="Calibri"/>
                <a:cs typeface="Calibri"/>
              </a:rPr>
              <a:t>R</a:t>
            </a:r>
            <a:r>
              <a:rPr sz="3600" b="1" baseline="3413" dirty="0">
                <a:latin typeface="Calibri"/>
                <a:cs typeface="Calibri"/>
              </a:rPr>
              <a:t>OBLEM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399"/>
              </a:spcBef>
            </a:pPr>
            <a:r>
              <a:rPr sz="2400" dirty="0">
                <a:latin typeface="Calibri"/>
                <a:cs typeface="Calibri"/>
              </a:rPr>
              <a:t>‐Whose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solutions</a:t>
            </a:r>
            <a:r>
              <a:rPr sz="2400" spc="-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actually</a:t>
            </a:r>
            <a:r>
              <a:rPr sz="2400" spc="-14" dirty="0">
                <a:latin typeface="Calibri"/>
                <a:cs typeface="Calibri"/>
              </a:rPr>
              <a:t> </a:t>
            </a:r>
            <a:r>
              <a:rPr sz="2400" spc="-19" dirty="0">
                <a:latin typeface="Calibri"/>
                <a:cs typeface="Calibri"/>
              </a:rPr>
              <a:t>c</a:t>
            </a:r>
            <a:r>
              <a:rPr sz="2400" spc="4" dirty="0">
                <a:latin typeface="Calibri"/>
                <a:cs typeface="Calibri"/>
              </a:rPr>
              <a:t>a</a:t>
            </a:r>
            <a:r>
              <a:rPr sz="2400" spc="-29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 about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9876" y="5118641"/>
            <a:ext cx="6963384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‐Th</a:t>
            </a:r>
            <a:r>
              <a:rPr sz="3600" spc="-19" baseline="3413" dirty="0">
                <a:latin typeface="Calibri"/>
                <a:cs typeface="Calibri"/>
              </a:rPr>
              <a:t>e</a:t>
            </a:r>
            <a:r>
              <a:rPr sz="3600" baseline="3413" dirty="0">
                <a:latin typeface="Calibri"/>
                <a:cs typeface="Calibri"/>
              </a:rPr>
              <a:t>y</a:t>
            </a:r>
            <a:r>
              <a:rPr sz="3600" spc="14" baseline="3413" dirty="0">
                <a:latin typeface="Calibri"/>
                <a:cs typeface="Calibri"/>
              </a:rPr>
              <a:t> 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end not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o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h</a:t>
            </a:r>
            <a:r>
              <a:rPr sz="3600" spc="-39" baseline="3413" dirty="0">
                <a:latin typeface="Calibri"/>
                <a:cs typeface="Calibri"/>
              </a:rPr>
              <a:t>a</a:t>
            </a:r>
            <a:r>
              <a:rPr sz="3600" spc="-19" baseline="3413" dirty="0">
                <a:latin typeface="Calibri"/>
                <a:cs typeface="Calibri"/>
              </a:rPr>
              <a:t>v</a:t>
            </a:r>
            <a:r>
              <a:rPr sz="3600" baseline="3413" dirty="0">
                <a:latin typeface="Calibri"/>
                <a:cs typeface="Calibri"/>
              </a:rPr>
              <a:t>e a</a:t>
            </a:r>
            <a:r>
              <a:rPr sz="3600" spc="-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single ag</a:t>
            </a:r>
            <a:r>
              <a:rPr sz="3600" spc="-29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eed upon description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2220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3325669" y="0"/>
            <a:ext cx="5778500" cy="1981200"/>
          </a:xfrm>
          <a:ln/>
        </p:spPr>
        <p:txBody>
          <a:bodyPr vert="horz" lIns="91440" tIns="45720" rIns="130174" bIns="45720" rtlCol="0" anchor="ctr">
            <a:normAutofit/>
          </a:bodyPr>
          <a:lstStyle/>
          <a:p>
            <a:r>
              <a:rPr lang="en-US" dirty="0"/>
              <a:t>Example Problems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idx="1"/>
          </p:nvPr>
        </p:nvSpPr>
        <p:spPr>
          <a:xfrm>
            <a:off x="2438400" y="1828800"/>
            <a:ext cx="3257550" cy="4530436"/>
          </a:xfrm>
          <a:ln/>
        </p:spPr>
        <p:txBody>
          <a:bodyPr vert="horz" lIns="91440" tIns="45720" rIns="130174" bIns="45720" rtlCol="0">
            <a:normAutofit/>
          </a:bodyPr>
          <a:lstStyle/>
          <a:p>
            <a:r>
              <a:rPr lang="en-US" sz="2400" b="1" dirty="0"/>
              <a:t>toy problems</a:t>
            </a:r>
          </a:p>
          <a:p>
            <a:pPr marL="723900" lvl="1"/>
            <a:r>
              <a:rPr lang="en-US" sz="2000" dirty="0"/>
              <a:t>vacuum world</a:t>
            </a:r>
          </a:p>
          <a:p>
            <a:pPr marL="723900" lvl="1"/>
            <a:r>
              <a:rPr lang="en-US" sz="2000" dirty="0"/>
              <a:t>8-puzzle</a:t>
            </a:r>
          </a:p>
          <a:p>
            <a:pPr marL="723900" lvl="1"/>
            <a:r>
              <a:rPr lang="en-US" sz="2000" dirty="0"/>
              <a:t>8-queens</a:t>
            </a:r>
          </a:p>
          <a:p>
            <a:pPr marL="723900" lvl="1"/>
            <a:r>
              <a:rPr lang="en-US" sz="2000" dirty="0"/>
              <a:t>crypt arithmetic</a:t>
            </a:r>
          </a:p>
          <a:p>
            <a:pPr marL="723900" lvl="1"/>
            <a:r>
              <a:rPr lang="en-US" sz="2000" dirty="0"/>
              <a:t>vacuum agent</a:t>
            </a:r>
          </a:p>
          <a:p>
            <a:pPr marL="723900" lvl="1"/>
            <a:r>
              <a:rPr lang="en-US" sz="2000" dirty="0"/>
              <a:t>missionaries and cannibals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5562600" y="1828800"/>
            <a:ext cx="3257550" cy="4530436"/>
          </a:xfrm>
          <a:prstGeom prst="rect">
            <a:avLst/>
          </a:prstGeom>
          <a:ln/>
        </p:spPr>
        <p:txBody>
          <a:bodyPr vert="horz" lIns="91440" tIns="45720" rIns="130174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b="1" dirty="0"/>
              <a:t>Real World problems</a:t>
            </a:r>
          </a:p>
          <a:p>
            <a:pPr marL="723900" lvl="1" indent="-285750">
              <a:spcBef>
                <a:spcPct val="20000"/>
              </a:spcBef>
              <a:spcAft>
                <a:spcPts val="600"/>
              </a:spcAft>
              <a:buSzPct val="100000"/>
              <a:buFont typeface="Arial" pitchFamily="34" charset="0"/>
              <a:buChar char="–"/>
            </a:pPr>
            <a:r>
              <a:rPr lang="en-US" sz="2000" dirty="0">
                <a:sym typeface="Arial" charset="0"/>
              </a:rPr>
              <a:t>route finding</a:t>
            </a:r>
          </a:p>
          <a:p>
            <a:pPr marL="723900" lvl="1" indent="-285750">
              <a:spcBef>
                <a:spcPct val="20000"/>
              </a:spcBef>
              <a:spcAft>
                <a:spcPts val="600"/>
              </a:spcAft>
              <a:buSzPct val="100000"/>
              <a:buFont typeface="Arial" pitchFamily="34" charset="0"/>
              <a:buChar char="–"/>
            </a:pPr>
            <a:r>
              <a:rPr lang="en-US" sz="2000" dirty="0">
                <a:sym typeface="Arial" charset="0"/>
              </a:rPr>
              <a:t>touring problems</a:t>
            </a:r>
          </a:p>
          <a:p>
            <a:pPr marL="723900" lvl="1" indent="-285750">
              <a:spcBef>
                <a:spcPct val="20000"/>
              </a:spcBef>
              <a:spcAft>
                <a:spcPts val="600"/>
              </a:spcAft>
              <a:buSzPct val="100000"/>
              <a:buFont typeface="Arial" pitchFamily="34" charset="0"/>
              <a:buChar char="–"/>
            </a:pPr>
            <a:r>
              <a:rPr lang="en-US" sz="2000" dirty="0">
                <a:sym typeface="Arial" charset="0"/>
              </a:rPr>
              <a:t>traveling salesperson</a:t>
            </a:r>
          </a:p>
          <a:p>
            <a:pPr marL="723900" lvl="1" indent="-285750">
              <a:spcBef>
                <a:spcPct val="20000"/>
              </a:spcBef>
              <a:spcAft>
                <a:spcPts val="600"/>
              </a:spcAft>
              <a:buSzPct val="100000"/>
              <a:buFont typeface="Arial" pitchFamily="34" charset="0"/>
              <a:buChar char="–"/>
            </a:pPr>
            <a:r>
              <a:rPr lang="en-US" sz="2000" dirty="0">
                <a:sym typeface="Arial" charset="0"/>
              </a:rPr>
              <a:t>VLSI layout</a:t>
            </a:r>
          </a:p>
          <a:p>
            <a:pPr marL="723900" lvl="1" indent="-285750">
              <a:spcBef>
                <a:spcPct val="20000"/>
              </a:spcBef>
              <a:spcAft>
                <a:spcPts val="600"/>
              </a:spcAft>
              <a:buSzPct val="100000"/>
              <a:buFont typeface="Arial" pitchFamily="34" charset="0"/>
              <a:buChar char="–"/>
            </a:pPr>
            <a:r>
              <a:rPr lang="en-US" sz="2000" dirty="0">
                <a:sym typeface="Arial" charset="0"/>
              </a:rPr>
              <a:t>robot navigation</a:t>
            </a:r>
          </a:p>
          <a:p>
            <a:pPr marL="723900" lvl="1" indent="-285750">
              <a:spcBef>
                <a:spcPct val="20000"/>
              </a:spcBef>
              <a:spcAft>
                <a:spcPts val="600"/>
              </a:spcAft>
              <a:buSzPct val="100000"/>
              <a:buFont typeface="Arial" pitchFamily="34" charset="0"/>
              <a:buChar char="–"/>
            </a:pPr>
            <a:r>
              <a:rPr lang="en-US" sz="2000" dirty="0">
                <a:sym typeface="Arial" charset="0"/>
              </a:rPr>
              <a:t>assembly sequencing</a:t>
            </a:r>
          </a:p>
          <a:p>
            <a:pPr marL="723900" lvl="1" indent="-285750">
              <a:spcBef>
                <a:spcPct val="20000"/>
              </a:spcBef>
              <a:spcAft>
                <a:spcPts val="600"/>
              </a:spcAft>
              <a:buSzPct val="100000"/>
              <a:buFont typeface="Arial" pitchFamily="34" charset="0"/>
              <a:buChar char="–"/>
            </a:pPr>
            <a:r>
              <a:rPr lang="en-US" sz="2000" dirty="0">
                <a:sym typeface="Arial" charset="0"/>
              </a:rPr>
              <a:t>Web search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44502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Tower of Hanoi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2615" y="2207940"/>
            <a:ext cx="8675415" cy="417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00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Tower of Hanoi(partial search tree)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9291" y="1964785"/>
            <a:ext cx="5324475" cy="3943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949" y="1953634"/>
            <a:ext cx="2951627" cy="444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04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state space search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419" y="1984917"/>
            <a:ext cx="8183944" cy="439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49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524000" y="2781987"/>
            <a:ext cx="9144000" cy="107048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57784">
              <a:lnSpc>
                <a:spcPts val="2240"/>
              </a:lnSpc>
              <a:spcBef>
                <a:spcPts val="111"/>
              </a:spcBef>
            </a:pPr>
            <a:r>
              <a:rPr sz="3300" b="1" baseline="3723" dirty="0">
                <a:latin typeface="Calibri"/>
                <a:cs typeface="Calibri"/>
              </a:rPr>
              <a:t>I                    </a:t>
            </a:r>
            <a:r>
              <a:rPr sz="3300" b="1" spc="312" baseline="3723" dirty="0">
                <a:latin typeface="Calibri"/>
                <a:cs typeface="Calibri"/>
              </a:rPr>
              <a:t> </a:t>
            </a:r>
            <a:r>
              <a:rPr sz="3300" baseline="3723" dirty="0">
                <a:latin typeface="Calibri"/>
                <a:cs typeface="Calibri"/>
              </a:rPr>
              <a:t>a</a:t>
            </a:r>
            <a:r>
              <a:rPr sz="3300" spc="-39" baseline="3723" dirty="0">
                <a:latin typeface="Calibri"/>
                <a:cs typeface="Calibri"/>
              </a:rPr>
              <a:t>n</a:t>
            </a:r>
            <a:r>
              <a:rPr sz="3300" baseline="3723" dirty="0">
                <a:latin typeface="Calibri"/>
                <a:cs typeface="Calibri"/>
              </a:rPr>
              <a:t>y</a:t>
            </a:r>
            <a:r>
              <a:rPr sz="3300" spc="-4" baseline="3723" dirty="0">
                <a:latin typeface="Calibri"/>
                <a:cs typeface="Calibri"/>
              </a:rPr>
              <a:t> </a:t>
            </a:r>
            <a:r>
              <a:rPr sz="3300" spc="-25" baseline="3723" dirty="0">
                <a:latin typeface="Calibri"/>
                <a:cs typeface="Calibri"/>
              </a:rPr>
              <a:t>state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4000" y="4694731"/>
            <a:ext cx="9144000" cy="10839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57784">
              <a:lnSpc>
                <a:spcPts val="2240"/>
              </a:lnSpc>
              <a:spcBef>
                <a:spcPts val="111"/>
              </a:spcBef>
            </a:pPr>
            <a:r>
              <a:rPr sz="3300" b="1" baseline="3723" dirty="0">
                <a:latin typeface="Calibri"/>
                <a:cs typeface="Calibri"/>
              </a:rPr>
              <a:t>G     </a:t>
            </a:r>
            <a:r>
              <a:rPr sz="3300" b="1" spc="322" baseline="3723" dirty="0">
                <a:latin typeface="Calibri"/>
                <a:cs typeface="Calibri"/>
              </a:rPr>
              <a:t> </a:t>
            </a:r>
            <a:r>
              <a:rPr sz="3300" b="1" baseline="3723" dirty="0">
                <a:latin typeface="Calibri"/>
                <a:cs typeface="Calibri"/>
              </a:rPr>
              <a:t>s        </a:t>
            </a:r>
            <a:r>
              <a:rPr sz="3300" b="1" spc="262" baseline="3723" dirty="0">
                <a:latin typeface="Calibri"/>
                <a:cs typeface="Calibri"/>
              </a:rPr>
              <a:t> </a:t>
            </a:r>
            <a:r>
              <a:rPr sz="3300" baseline="3723" dirty="0">
                <a:latin typeface="Calibri"/>
                <a:cs typeface="Calibri"/>
              </a:rPr>
              <a:t>chec</a:t>
            </a:r>
            <a:r>
              <a:rPr sz="3300" spc="-14" baseline="3723" dirty="0">
                <a:latin typeface="Calibri"/>
                <a:cs typeface="Calibri"/>
              </a:rPr>
              <a:t>k</a:t>
            </a:r>
            <a:r>
              <a:rPr sz="3300" baseline="3723" dirty="0">
                <a:latin typeface="Calibri"/>
                <a:cs typeface="Calibri"/>
              </a:rPr>
              <a:t>s</a:t>
            </a:r>
            <a:r>
              <a:rPr sz="3300" spc="-14" baseline="3723" dirty="0">
                <a:latin typeface="Calibri"/>
                <a:cs typeface="Calibri"/>
              </a:rPr>
              <a:t> </a:t>
            </a:r>
            <a:r>
              <a:rPr sz="3300" baseline="3723" dirty="0">
                <a:latin typeface="Calibri"/>
                <a:cs typeface="Calibri"/>
              </a:rPr>
              <a:t>whether</a:t>
            </a:r>
            <a:r>
              <a:rPr sz="3300" spc="-9" baseline="3723" dirty="0">
                <a:latin typeface="Calibri"/>
                <a:cs typeface="Calibri"/>
              </a:rPr>
              <a:t> </a:t>
            </a:r>
            <a:r>
              <a:rPr sz="3300" baseline="3723" dirty="0">
                <a:latin typeface="Calibri"/>
                <a:cs typeface="Calibri"/>
              </a:rPr>
              <a:t>all</a:t>
            </a:r>
            <a:r>
              <a:rPr sz="3300" spc="-14" baseline="3723" dirty="0">
                <a:latin typeface="Calibri"/>
                <a:cs typeface="Calibri"/>
              </a:rPr>
              <a:t> </a:t>
            </a:r>
            <a:r>
              <a:rPr sz="3300" baseline="3723" dirty="0">
                <a:latin typeface="Calibri"/>
                <a:cs typeface="Calibri"/>
              </a:rPr>
              <a:t>the squa</a:t>
            </a:r>
            <a:r>
              <a:rPr sz="3300" spc="-29" baseline="3723" dirty="0">
                <a:latin typeface="Calibri"/>
                <a:cs typeface="Calibri"/>
              </a:rPr>
              <a:t>r</a:t>
            </a:r>
            <a:r>
              <a:rPr sz="3300" spc="4" baseline="3723" dirty="0">
                <a:latin typeface="Calibri"/>
                <a:cs typeface="Calibri"/>
              </a:rPr>
              <a:t>e</a:t>
            </a:r>
            <a:r>
              <a:rPr sz="3300" baseline="3723" dirty="0">
                <a:latin typeface="Calibri"/>
                <a:cs typeface="Calibri"/>
              </a:rPr>
              <a:t>s</a:t>
            </a:r>
            <a:r>
              <a:rPr sz="3300" spc="-19" baseline="3723" dirty="0">
                <a:latin typeface="Calibri"/>
                <a:cs typeface="Calibri"/>
              </a:rPr>
              <a:t> </a:t>
            </a:r>
            <a:r>
              <a:rPr sz="3300" baseline="3723" dirty="0">
                <a:latin typeface="Calibri"/>
                <a:cs typeface="Calibri"/>
              </a:rPr>
              <a:t>a</a:t>
            </a:r>
            <a:r>
              <a:rPr sz="3300" spc="-29" baseline="3723" dirty="0">
                <a:latin typeface="Calibri"/>
                <a:cs typeface="Calibri"/>
              </a:rPr>
              <a:t>r</a:t>
            </a:r>
            <a:r>
              <a:rPr sz="3300" baseline="3723" dirty="0"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24000" y="191875"/>
            <a:ext cx="9144000" cy="4916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24800" y="1873772"/>
            <a:ext cx="2479548" cy="59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24800" y="1920239"/>
            <a:ext cx="2479548" cy="9758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10200" y="1948721"/>
            <a:ext cx="729234" cy="3192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24800" y="2883357"/>
            <a:ext cx="2479548" cy="9758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24800" y="3846476"/>
            <a:ext cx="2479548" cy="187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83742" y="726712"/>
            <a:ext cx="5959807" cy="1155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368042" marR="41948">
              <a:lnSpc>
                <a:spcPts val="4580"/>
              </a:lnSpc>
              <a:spcBef>
                <a:spcPts val="229"/>
              </a:spcBef>
            </a:pPr>
            <a:r>
              <a:rPr sz="6600" spc="-244" baseline="3103" dirty="0">
                <a:latin typeface="Calibri"/>
                <a:cs typeface="Calibri"/>
              </a:rPr>
              <a:t>V</a:t>
            </a:r>
            <a:r>
              <a:rPr sz="6600" baseline="3103" dirty="0">
                <a:latin typeface="Calibri"/>
                <a:cs typeface="Calibri"/>
              </a:rPr>
              <a:t>acuum</a:t>
            </a:r>
            <a:r>
              <a:rPr sz="6600" spc="-1" baseline="3103" dirty="0">
                <a:latin typeface="Calibri"/>
                <a:cs typeface="Calibri"/>
              </a:rPr>
              <a:t> </a:t>
            </a:r>
            <a:r>
              <a:rPr sz="6600" spc="-184" baseline="3103" dirty="0">
                <a:latin typeface="Calibri"/>
                <a:cs typeface="Calibri"/>
              </a:rPr>
              <a:t>W</a:t>
            </a:r>
            <a:r>
              <a:rPr sz="6600" baseline="3103" dirty="0">
                <a:latin typeface="Calibri"/>
                <a:cs typeface="Calibri"/>
              </a:rPr>
              <a:t>orld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1696"/>
              </a:spcBef>
            </a:pPr>
            <a:r>
              <a:rPr sz="2200" dirty="0">
                <a:latin typeface="Calibri"/>
                <a:cs typeface="Calibri"/>
              </a:rPr>
              <a:t>‐</a:t>
            </a:r>
            <a:r>
              <a:rPr sz="2200" b="1" dirty="0">
                <a:latin typeface="Calibri"/>
                <a:cs typeface="Calibri"/>
              </a:rPr>
              <a:t>S</a:t>
            </a:r>
            <a:r>
              <a:rPr sz="2200" b="1" spc="-25" dirty="0">
                <a:latin typeface="Calibri"/>
                <a:cs typeface="Calibri"/>
              </a:rPr>
              <a:t>t</a:t>
            </a:r>
            <a:r>
              <a:rPr sz="2200" b="1" spc="-19" dirty="0">
                <a:latin typeface="Calibri"/>
                <a:cs typeface="Calibri"/>
              </a:rPr>
              <a:t>a</a:t>
            </a:r>
            <a:r>
              <a:rPr sz="2200" b="1" spc="-29" dirty="0">
                <a:latin typeface="Calibri"/>
                <a:cs typeface="Calibri"/>
              </a:rPr>
              <a:t>t</a:t>
            </a:r>
            <a:r>
              <a:rPr sz="2200" b="1" dirty="0">
                <a:latin typeface="Calibri"/>
                <a:cs typeface="Calibri"/>
              </a:rPr>
              <a:t>es:</a:t>
            </a:r>
            <a:r>
              <a:rPr sz="2200" b="1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</a:t>
            </a:r>
            <a:r>
              <a:rPr sz="2200" spc="-19" dirty="0">
                <a:latin typeface="Calibri"/>
                <a:cs typeface="Calibri"/>
              </a:rPr>
              <a:t>c</a:t>
            </a:r>
            <a:r>
              <a:rPr sz="2200" spc="-14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tion </a:t>
            </a:r>
            <a:r>
              <a:rPr sz="2200" spc="4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f</a:t>
            </a:r>
            <a:r>
              <a:rPr sz="2200" spc="-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a</a:t>
            </a:r>
            <a:r>
              <a:rPr sz="2200" spc="-14" dirty="0">
                <a:latin typeface="Calibri"/>
                <a:cs typeface="Calibri"/>
              </a:rPr>
              <a:t>g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14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t,</a:t>
            </a:r>
            <a:r>
              <a:rPr sz="2200" spc="-14" dirty="0">
                <a:latin typeface="Calibri"/>
                <a:cs typeface="Calibri"/>
              </a:rPr>
              <a:t> </a:t>
            </a:r>
            <a:r>
              <a:rPr sz="2200" spc="-19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19" dirty="0">
                <a:latin typeface="Calibri"/>
                <a:cs typeface="Calibri"/>
              </a:rPr>
              <a:t>n</a:t>
            </a:r>
            <a:r>
              <a:rPr sz="2200" spc="-29" dirty="0">
                <a:latin typeface="Calibri"/>
                <a:cs typeface="Calibri"/>
              </a:rPr>
              <a:t>t</a:t>
            </a:r>
            <a:r>
              <a:rPr sz="2200" spc="-4" dirty="0">
                <a:latin typeface="Calibri"/>
                <a:cs typeface="Calibri"/>
              </a:rPr>
              <a:t>ainin</a:t>
            </a:r>
            <a:r>
              <a:rPr sz="2200" dirty="0">
                <a:latin typeface="Calibri"/>
                <a:cs typeface="Calibri"/>
              </a:rPr>
              <a:t>g</a:t>
            </a:r>
            <a:r>
              <a:rPr sz="2200" spc="-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dirt</a:t>
            </a:r>
            <a:r>
              <a:rPr sz="2200" spc="-14" dirty="0">
                <a:latin typeface="Calibri"/>
                <a:cs typeface="Calibri"/>
              </a:rPr>
              <a:t> </a:t>
            </a:r>
            <a:r>
              <a:rPr sz="2200" spc="4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4977" y="1978015"/>
            <a:ext cx="2423700" cy="3000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aseline="2482" dirty="0">
                <a:latin typeface="Calibri"/>
                <a:cs typeface="Calibri"/>
              </a:rPr>
              <a:t>possible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spc="-19" baseline="2482" dirty="0">
                <a:latin typeface="Calibri"/>
                <a:cs typeface="Calibri"/>
              </a:rPr>
              <a:t>w</a:t>
            </a:r>
            <a:r>
              <a:rPr sz="3300" baseline="2482" dirty="0">
                <a:latin typeface="Calibri"/>
                <a:cs typeface="Calibri"/>
              </a:rPr>
              <a:t>orld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spc="4" baseline="2482" dirty="0">
                <a:latin typeface="Calibri"/>
                <a:cs typeface="Calibri"/>
              </a:rPr>
              <a:t>s</a:t>
            </a:r>
            <a:r>
              <a:rPr sz="3300" spc="-14" baseline="2482" dirty="0">
                <a:latin typeface="Calibri"/>
                <a:cs typeface="Calibri"/>
              </a:rPr>
              <a:t>a</a:t>
            </a:r>
            <a:r>
              <a:rPr sz="3300" spc="-25" baseline="2482" dirty="0">
                <a:latin typeface="Calibri"/>
                <a:cs typeface="Calibri"/>
              </a:rPr>
              <a:t>t</a:t>
            </a:r>
            <a:r>
              <a:rPr sz="3300" spc="4" baseline="2482" dirty="0">
                <a:latin typeface="Calibri"/>
                <a:cs typeface="Calibri"/>
              </a:rPr>
              <a:t>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3740" y="2769495"/>
            <a:ext cx="2613112" cy="3000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aseline="2482" dirty="0">
                <a:latin typeface="Calibri"/>
                <a:cs typeface="Calibri"/>
              </a:rPr>
              <a:t>‐</a:t>
            </a:r>
            <a:r>
              <a:rPr sz="3300" b="1" baseline="2482" dirty="0">
                <a:latin typeface="Calibri"/>
                <a:cs typeface="Calibri"/>
              </a:rPr>
              <a:t>Initial</a:t>
            </a:r>
            <a:r>
              <a:rPr sz="3300" b="1" spc="-9" baseline="2482" dirty="0">
                <a:latin typeface="Calibri"/>
                <a:cs typeface="Calibri"/>
              </a:rPr>
              <a:t> </a:t>
            </a:r>
            <a:r>
              <a:rPr sz="3300" b="1" spc="-25" baseline="2482" dirty="0">
                <a:latin typeface="Calibri"/>
                <a:cs typeface="Calibri"/>
              </a:rPr>
              <a:t>stat</a:t>
            </a:r>
            <a:r>
              <a:rPr sz="3300" b="1" spc="4" baseline="2482" dirty="0">
                <a:latin typeface="Calibri"/>
                <a:cs typeface="Calibri"/>
              </a:rPr>
              <a:t>e</a:t>
            </a:r>
            <a:r>
              <a:rPr sz="3300" b="1" baseline="2482" dirty="0">
                <a:latin typeface="Calibri"/>
                <a:cs typeface="Calibri"/>
              </a:rPr>
              <a:t>:</a:t>
            </a:r>
            <a:r>
              <a:rPr sz="3300" b="1" spc="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a</a:t>
            </a:r>
            <a:r>
              <a:rPr sz="3300" spc="-39" baseline="2482" dirty="0">
                <a:latin typeface="Calibri"/>
                <a:cs typeface="Calibri"/>
              </a:rPr>
              <a:t>n</a:t>
            </a:r>
            <a:r>
              <a:rPr sz="3300" baseline="2482" dirty="0">
                <a:latin typeface="Calibri"/>
                <a:cs typeface="Calibri"/>
              </a:rPr>
              <a:t>y</a:t>
            </a:r>
            <a:r>
              <a:rPr sz="3300" spc="-4" baseline="2482" dirty="0">
                <a:latin typeface="Calibri"/>
                <a:cs typeface="Calibri"/>
              </a:rPr>
              <a:t> </a:t>
            </a:r>
            <a:r>
              <a:rPr sz="3300" spc="-25" baseline="2482" dirty="0">
                <a:latin typeface="Calibri"/>
                <a:cs typeface="Calibri"/>
              </a:rPr>
              <a:t>state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3740" y="3560976"/>
            <a:ext cx="5564834" cy="629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="1" baseline="2482" dirty="0">
                <a:latin typeface="Calibri"/>
                <a:cs typeface="Calibri"/>
              </a:rPr>
              <a:t>‐Successor function: </a:t>
            </a:r>
            <a:r>
              <a:rPr sz="3300" baseline="2482" dirty="0">
                <a:latin typeface="Calibri"/>
                <a:cs typeface="Calibri"/>
              </a:rPr>
              <a:t>le</a:t>
            </a:r>
            <a:r>
              <a:rPr sz="3300" spc="-39" baseline="2482" dirty="0">
                <a:latin typeface="Calibri"/>
                <a:cs typeface="Calibri"/>
              </a:rPr>
              <a:t>g</a:t>
            </a:r>
            <a:r>
              <a:rPr sz="3300" baseline="2482" dirty="0">
                <a:latin typeface="Calibri"/>
                <a:cs typeface="Calibri"/>
              </a:rPr>
              <a:t>al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spc="-25" baseline="2482" dirty="0">
                <a:latin typeface="Calibri"/>
                <a:cs typeface="Calibri"/>
              </a:rPr>
              <a:t>stat</a:t>
            </a:r>
            <a:r>
              <a:rPr sz="3300" spc="4" baseline="2482" dirty="0">
                <a:latin typeface="Calibri"/>
                <a:cs typeface="Calibri"/>
              </a:rPr>
              <a:t>e</a:t>
            </a:r>
            <a:r>
              <a:rPr sz="3300" baseline="2482" dirty="0">
                <a:latin typeface="Calibri"/>
                <a:cs typeface="Calibri"/>
              </a:rPr>
              <a:t>s th</a:t>
            </a:r>
            <a:r>
              <a:rPr sz="3300" spc="-19" baseline="2482" dirty="0">
                <a:latin typeface="Calibri"/>
                <a:cs typeface="Calibri"/>
              </a:rPr>
              <a:t>a</a:t>
            </a:r>
            <a:r>
              <a:rPr sz="3300" baseline="2482" dirty="0">
                <a:latin typeface="Calibri"/>
                <a:cs typeface="Calibri"/>
              </a:rPr>
              <a:t>t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spc="-29" baseline="2482" dirty="0">
                <a:latin typeface="Calibri"/>
                <a:cs typeface="Calibri"/>
              </a:rPr>
              <a:t>r</a:t>
            </a:r>
            <a:r>
              <a:rPr sz="3300" spc="4" baseline="2482" dirty="0">
                <a:latin typeface="Calibri"/>
                <a:cs typeface="Calibri"/>
              </a:rPr>
              <a:t>es</a:t>
            </a:r>
            <a:r>
              <a:rPr sz="3300" baseline="2482" dirty="0">
                <a:latin typeface="Calibri"/>
                <a:cs typeface="Calibri"/>
              </a:rPr>
              <a:t>ult</a:t>
            </a:r>
            <a:r>
              <a:rPr sz="3300" spc="-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f</a:t>
            </a:r>
            <a:r>
              <a:rPr sz="3300" spc="-34" baseline="2482" dirty="0">
                <a:latin typeface="Calibri"/>
                <a:cs typeface="Calibri"/>
              </a:rPr>
              <a:t>r</a:t>
            </a:r>
            <a:r>
              <a:rPr sz="3300" baseline="2482" dirty="0">
                <a:latin typeface="Calibri"/>
                <a:cs typeface="Calibri"/>
              </a:rPr>
              <a:t>om</a:t>
            </a:r>
            <a:endParaRPr sz="2200">
              <a:latin typeface="Calibri"/>
              <a:cs typeface="Calibri"/>
            </a:endParaRPr>
          </a:p>
          <a:p>
            <a:pPr marL="355600" marR="41948">
              <a:lnSpc>
                <a:spcPts val="2640"/>
              </a:lnSpc>
              <a:spcBef>
                <a:spcPts val="15"/>
              </a:spcBef>
            </a:pPr>
            <a:r>
              <a:rPr sz="3300" baseline="1241" dirty="0">
                <a:latin typeface="Calibri"/>
                <a:cs typeface="Calibri"/>
              </a:rPr>
              <a:t>th</a:t>
            </a:r>
            <a:r>
              <a:rPr sz="3300" spc="-29" baseline="1241" dirty="0">
                <a:latin typeface="Calibri"/>
                <a:cs typeface="Calibri"/>
              </a:rPr>
              <a:t>r</a:t>
            </a:r>
            <a:r>
              <a:rPr sz="3300" spc="4" baseline="1241" dirty="0">
                <a:latin typeface="Calibri"/>
                <a:cs typeface="Calibri"/>
              </a:rPr>
              <a:t>e</a:t>
            </a:r>
            <a:r>
              <a:rPr sz="3300" baseline="1241" dirty="0">
                <a:latin typeface="Calibri"/>
                <a:cs typeface="Calibri"/>
              </a:rPr>
              <a:t>e</a:t>
            </a:r>
            <a:r>
              <a:rPr sz="3300" spc="-9" baseline="1241" dirty="0">
                <a:latin typeface="Calibri"/>
                <a:cs typeface="Calibri"/>
              </a:rPr>
              <a:t> </a:t>
            </a:r>
            <a:r>
              <a:rPr sz="3300" baseline="1241" dirty="0">
                <a:latin typeface="Calibri"/>
                <a:cs typeface="Calibri"/>
              </a:rPr>
              <a:t>actions</a:t>
            </a:r>
            <a:r>
              <a:rPr sz="3300" spc="-4" baseline="1241" dirty="0">
                <a:latin typeface="Calibri"/>
                <a:cs typeface="Calibri"/>
              </a:rPr>
              <a:t> </a:t>
            </a:r>
            <a:r>
              <a:rPr sz="3300" baseline="1241" dirty="0">
                <a:latin typeface="Calibri"/>
                <a:cs typeface="Calibri"/>
              </a:rPr>
              <a:t>(L</a:t>
            </a:r>
            <a:r>
              <a:rPr sz="3300" spc="-14" baseline="1241" dirty="0">
                <a:latin typeface="Calibri"/>
                <a:cs typeface="Calibri"/>
              </a:rPr>
              <a:t>e</a:t>
            </a:r>
            <a:r>
              <a:rPr sz="3300" baseline="1241" dirty="0">
                <a:latin typeface="Calibri"/>
                <a:cs typeface="Calibri"/>
              </a:rPr>
              <a:t>ft,Rig</a:t>
            </a:r>
            <a:r>
              <a:rPr sz="3300" spc="-25" baseline="1241" dirty="0">
                <a:latin typeface="Calibri"/>
                <a:cs typeface="Calibri"/>
              </a:rPr>
              <a:t>h</a:t>
            </a:r>
            <a:r>
              <a:rPr sz="3300" baseline="1241" dirty="0">
                <a:latin typeface="Calibri"/>
                <a:cs typeface="Calibri"/>
              </a:rPr>
              <a:t>t</a:t>
            </a:r>
            <a:r>
              <a:rPr sz="3300" spc="-19" baseline="1241" dirty="0">
                <a:latin typeface="Calibri"/>
                <a:cs typeface="Calibri"/>
              </a:rPr>
              <a:t> </a:t>
            </a:r>
            <a:r>
              <a:rPr sz="3300" baseline="1241" dirty="0">
                <a:latin typeface="Calibri"/>
                <a:cs typeface="Calibri"/>
              </a:rPr>
              <a:t>and</a:t>
            </a:r>
            <a:r>
              <a:rPr sz="3300" spc="-14" baseline="1241" dirty="0">
                <a:latin typeface="Calibri"/>
                <a:cs typeface="Calibri"/>
              </a:rPr>
              <a:t> </a:t>
            </a:r>
            <a:r>
              <a:rPr sz="3300" baseline="1241" dirty="0">
                <a:latin typeface="Calibri"/>
                <a:cs typeface="Calibri"/>
              </a:rPr>
              <a:t>Suck)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740" y="4682240"/>
            <a:ext cx="5381342" cy="6298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="1" baseline="2482" dirty="0">
                <a:latin typeface="Calibri"/>
                <a:cs typeface="Calibri"/>
              </a:rPr>
              <a:t>‐Goal </a:t>
            </a:r>
            <a:r>
              <a:rPr sz="3300" b="1" spc="-25" baseline="2482" dirty="0">
                <a:latin typeface="Calibri"/>
                <a:cs typeface="Calibri"/>
              </a:rPr>
              <a:t>stat</a:t>
            </a:r>
            <a:r>
              <a:rPr sz="3300" b="1" spc="4" baseline="2482" dirty="0">
                <a:latin typeface="Calibri"/>
                <a:cs typeface="Calibri"/>
              </a:rPr>
              <a:t>e</a:t>
            </a:r>
            <a:r>
              <a:rPr sz="3300" b="1" baseline="2482" dirty="0">
                <a:latin typeface="Calibri"/>
                <a:cs typeface="Calibri"/>
              </a:rPr>
              <a:t>:</a:t>
            </a:r>
            <a:r>
              <a:rPr sz="3300" b="1" spc="14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chec</a:t>
            </a:r>
            <a:r>
              <a:rPr sz="3300" spc="-14" baseline="2482" dirty="0">
                <a:latin typeface="Calibri"/>
                <a:cs typeface="Calibri"/>
              </a:rPr>
              <a:t>k</a:t>
            </a:r>
            <a:r>
              <a:rPr sz="3300" baseline="2482" dirty="0">
                <a:latin typeface="Calibri"/>
                <a:cs typeface="Calibri"/>
              </a:rPr>
              <a:t>s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whether</a:t>
            </a:r>
            <a:r>
              <a:rPr sz="3300" spc="-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all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the squa</a:t>
            </a:r>
            <a:r>
              <a:rPr sz="3300" spc="-29" baseline="2482" dirty="0">
                <a:latin typeface="Calibri"/>
                <a:cs typeface="Calibri"/>
              </a:rPr>
              <a:t>r</a:t>
            </a:r>
            <a:r>
              <a:rPr sz="3300" spc="4" baseline="2482" dirty="0">
                <a:latin typeface="Calibri"/>
                <a:cs typeface="Calibri"/>
              </a:rPr>
              <a:t>e</a:t>
            </a:r>
            <a:r>
              <a:rPr sz="3300" baseline="2482" dirty="0">
                <a:latin typeface="Calibri"/>
                <a:cs typeface="Calibri"/>
              </a:rPr>
              <a:t>s</a:t>
            </a:r>
            <a:r>
              <a:rPr sz="3300" spc="-1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a</a:t>
            </a:r>
            <a:r>
              <a:rPr sz="3300" spc="-29" baseline="2482" dirty="0">
                <a:latin typeface="Calibri"/>
                <a:cs typeface="Calibri"/>
              </a:rPr>
              <a:t>r</a:t>
            </a:r>
            <a:r>
              <a:rPr sz="3300" baseline="2482" dirty="0"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  <a:p>
            <a:pPr marL="355590" marR="41948">
              <a:lnSpc>
                <a:spcPts val="2640"/>
              </a:lnSpc>
              <a:spcBef>
                <a:spcPts val="15"/>
              </a:spcBef>
            </a:pPr>
            <a:r>
              <a:rPr sz="3300" baseline="1241" dirty="0">
                <a:latin typeface="Calibri"/>
                <a:cs typeface="Calibri"/>
              </a:rPr>
              <a:t>clean.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3742" y="5803505"/>
            <a:ext cx="5897647" cy="3000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="1" baseline="2482" dirty="0">
                <a:latin typeface="Calibri"/>
                <a:cs typeface="Calibri"/>
              </a:rPr>
              <a:t>‐</a:t>
            </a:r>
            <a:r>
              <a:rPr sz="3300" b="1" spc="-44" baseline="2482" dirty="0">
                <a:latin typeface="Calibri"/>
                <a:cs typeface="Calibri"/>
              </a:rPr>
              <a:t>P</a:t>
            </a:r>
            <a:r>
              <a:rPr sz="3300" b="1" spc="-19" baseline="2482" dirty="0">
                <a:latin typeface="Calibri"/>
                <a:cs typeface="Calibri"/>
              </a:rPr>
              <a:t>a</a:t>
            </a:r>
            <a:r>
              <a:rPr sz="3300" b="1" baseline="2482" dirty="0">
                <a:latin typeface="Calibri"/>
                <a:cs typeface="Calibri"/>
              </a:rPr>
              <a:t>th</a:t>
            </a:r>
            <a:r>
              <a:rPr sz="3300" b="1" spc="-4" baseline="2482" dirty="0">
                <a:latin typeface="Calibri"/>
                <a:cs typeface="Calibri"/>
              </a:rPr>
              <a:t> co</a:t>
            </a:r>
            <a:r>
              <a:rPr sz="3300" b="1" spc="-25" baseline="2482" dirty="0">
                <a:latin typeface="Calibri"/>
                <a:cs typeface="Calibri"/>
              </a:rPr>
              <a:t>s</a:t>
            </a:r>
            <a:r>
              <a:rPr sz="3300" b="1" baseline="2482" dirty="0">
                <a:latin typeface="Calibri"/>
                <a:cs typeface="Calibri"/>
              </a:rPr>
              <a:t>t:</a:t>
            </a:r>
            <a:r>
              <a:rPr sz="3300" b="1" spc="14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#</a:t>
            </a:r>
            <a:r>
              <a:rPr sz="3300" spc="9" baseline="2482" dirty="0">
                <a:latin typeface="Calibri"/>
                <a:cs typeface="Calibri"/>
              </a:rPr>
              <a:t> </a:t>
            </a:r>
            <a:r>
              <a:rPr sz="3300" spc="4" baseline="2482" dirty="0">
                <a:latin typeface="Calibri"/>
                <a:cs typeface="Calibri"/>
              </a:rPr>
              <a:t>o</a:t>
            </a:r>
            <a:r>
              <a:rPr sz="3300" baseline="2482" dirty="0">
                <a:latin typeface="Calibri"/>
                <a:cs typeface="Calibri"/>
              </a:rPr>
              <a:t>f </a:t>
            </a:r>
            <a:r>
              <a:rPr sz="3300" spc="-19" baseline="2482" dirty="0">
                <a:latin typeface="Calibri"/>
                <a:cs typeface="Calibri"/>
              </a:rPr>
              <a:t>st</a:t>
            </a:r>
            <a:r>
              <a:rPr sz="3300" spc="4" baseline="2482" dirty="0">
                <a:latin typeface="Calibri"/>
                <a:cs typeface="Calibri"/>
              </a:rPr>
              <a:t>e</a:t>
            </a:r>
            <a:r>
              <a:rPr sz="3300" spc="-9" baseline="2482" dirty="0">
                <a:latin typeface="Calibri"/>
                <a:cs typeface="Calibri"/>
              </a:rPr>
              <a:t>p</a:t>
            </a:r>
            <a:r>
              <a:rPr sz="3300" baseline="2482" dirty="0">
                <a:latin typeface="Calibri"/>
                <a:cs typeface="Calibri"/>
              </a:rPr>
              <a:t>s in</a:t>
            </a:r>
            <a:r>
              <a:rPr sz="3300" spc="-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the p</a:t>
            </a:r>
            <a:r>
              <a:rPr sz="3300" spc="-19" baseline="2482" dirty="0">
                <a:latin typeface="Calibri"/>
                <a:cs typeface="Calibri"/>
              </a:rPr>
              <a:t>a</a:t>
            </a:r>
            <a:r>
              <a:rPr sz="3300" baseline="2482" dirty="0">
                <a:latin typeface="Calibri"/>
                <a:cs typeface="Calibri"/>
              </a:rPr>
              <a:t>th</a:t>
            </a:r>
            <a:r>
              <a:rPr sz="3300" spc="-1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(each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spc="-19" baseline="2482" dirty="0">
                <a:latin typeface="Calibri"/>
                <a:cs typeface="Calibri"/>
              </a:rPr>
              <a:t>st</a:t>
            </a:r>
            <a:r>
              <a:rPr sz="3300" spc="4" baseline="2482" dirty="0">
                <a:latin typeface="Calibri"/>
                <a:cs typeface="Calibri"/>
              </a:rPr>
              <a:t>e</a:t>
            </a:r>
            <a:r>
              <a:rPr sz="3300" baseline="2482" dirty="0">
                <a:latin typeface="Calibri"/>
                <a:cs typeface="Calibri"/>
              </a:rPr>
              <a:t>p</a:t>
            </a:r>
            <a:r>
              <a:rPr sz="3300" spc="-4" baseline="2482" dirty="0">
                <a:latin typeface="Calibri"/>
                <a:cs typeface="Calibri"/>
              </a:rPr>
              <a:t> </a:t>
            </a:r>
            <a:r>
              <a:rPr sz="3300" spc="-19" baseline="2482" dirty="0">
                <a:latin typeface="Calibri"/>
                <a:cs typeface="Calibri"/>
              </a:rPr>
              <a:t>c</a:t>
            </a:r>
            <a:r>
              <a:rPr sz="3300" baseline="2482" dirty="0">
                <a:latin typeface="Calibri"/>
                <a:cs typeface="Calibri"/>
              </a:rPr>
              <a:t>o</a:t>
            </a:r>
            <a:r>
              <a:rPr sz="3300" spc="-19" baseline="2482" dirty="0">
                <a:latin typeface="Calibri"/>
                <a:cs typeface="Calibri"/>
              </a:rPr>
              <a:t>s</a:t>
            </a:r>
            <a:r>
              <a:rPr sz="3300" baseline="2482" dirty="0">
                <a:latin typeface="Calibri"/>
                <a:cs typeface="Calibri"/>
              </a:rPr>
              <a:t>ts</a:t>
            </a:r>
            <a:r>
              <a:rPr sz="3300" spc="-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1)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5984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8000" y="1723869"/>
            <a:ext cx="6172200" cy="210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0" y="1918740"/>
            <a:ext cx="6172200" cy="97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0" y="2881859"/>
            <a:ext cx="6172200" cy="9788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48000" y="3844977"/>
            <a:ext cx="6172200" cy="978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48381" y="4808469"/>
            <a:ext cx="6171438" cy="212860"/>
          </a:xfrm>
          <a:custGeom>
            <a:avLst/>
            <a:gdLst/>
            <a:ahLst/>
            <a:cxnLst/>
            <a:rect l="l" t="t" r="r" b="b"/>
            <a:pathLst>
              <a:path w="6171438" h="216408">
                <a:moveTo>
                  <a:pt x="6171438" y="216408"/>
                </a:moveTo>
                <a:lnTo>
                  <a:pt x="6171438" y="7239"/>
                </a:lnTo>
                <a:lnTo>
                  <a:pt x="0" y="7239"/>
                </a:lnTo>
                <a:lnTo>
                  <a:pt x="0" y="216408"/>
                </a:lnTo>
                <a:lnTo>
                  <a:pt x="6171438" y="2164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48000" y="4808095"/>
            <a:ext cx="6172200" cy="2136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90541" y="726711"/>
            <a:ext cx="1931248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-244" baseline="3103" dirty="0">
                <a:latin typeface="Calibri"/>
                <a:cs typeface="Calibri"/>
              </a:rPr>
              <a:t>V</a:t>
            </a:r>
            <a:r>
              <a:rPr sz="6600" baseline="3103" dirty="0">
                <a:latin typeface="Calibri"/>
                <a:cs typeface="Calibri"/>
              </a:rPr>
              <a:t>acuum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1264" y="726711"/>
            <a:ext cx="1494185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-184" baseline="3103" dirty="0">
                <a:latin typeface="Calibri"/>
                <a:cs typeface="Calibri"/>
              </a:rPr>
              <a:t>W</a:t>
            </a:r>
            <a:r>
              <a:rPr sz="6600" baseline="3103" dirty="0">
                <a:latin typeface="Calibri"/>
                <a:cs typeface="Calibri"/>
              </a:rPr>
              <a:t>orld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4542" y="5395958"/>
            <a:ext cx="3217065" cy="24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baseline="3034" dirty="0">
                <a:latin typeface="Calibri"/>
                <a:cs typeface="Calibri"/>
              </a:rPr>
              <a:t>S</a:t>
            </a:r>
            <a:r>
              <a:rPr sz="2700" spc="-29" baseline="3034" dirty="0">
                <a:latin typeface="Calibri"/>
                <a:cs typeface="Calibri"/>
              </a:rPr>
              <a:t>t</a:t>
            </a:r>
            <a:r>
              <a:rPr sz="2700" spc="-14" baseline="3034" dirty="0">
                <a:latin typeface="Calibri"/>
                <a:cs typeface="Calibri"/>
              </a:rPr>
              <a:t>a</a:t>
            </a:r>
            <a:r>
              <a:rPr sz="2700" spc="-19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e space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spc="-34" baseline="3034" dirty="0">
                <a:latin typeface="Calibri"/>
                <a:cs typeface="Calibri"/>
              </a:rPr>
              <a:t>f</a:t>
            </a:r>
            <a:r>
              <a:rPr sz="2700" baseline="3034" dirty="0">
                <a:latin typeface="Calibri"/>
                <a:cs typeface="Calibri"/>
              </a:rPr>
              <a:t>or 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the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spc="-19" baseline="3034" dirty="0">
                <a:latin typeface="Calibri"/>
                <a:cs typeface="Calibri"/>
              </a:rPr>
              <a:t>v</a:t>
            </a:r>
            <a:r>
              <a:rPr sz="2700" baseline="3034" dirty="0">
                <a:latin typeface="Calibri"/>
                <a:cs typeface="Calibri"/>
              </a:rPr>
              <a:t>acuum </a:t>
            </a:r>
            <a:r>
              <a:rPr sz="2700" spc="-19" baseline="3034" dirty="0">
                <a:latin typeface="Calibri"/>
                <a:cs typeface="Calibri"/>
              </a:rPr>
              <a:t>w</a:t>
            </a:r>
            <a:r>
              <a:rPr sz="2700" baseline="3034" dirty="0">
                <a:latin typeface="Calibri"/>
                <a:cs typeface="Calibri"/>
              </a:rPr>
              <a:t>o</a:t>
            </a:r>
            <a:r>
              <a:rPr sz="2700" spc="4" baseline="3034" dirty="0">
                <a:latin typeface="Calibri"/>
                <a:cs typeface="Calibri"/>
              </a:rPr>
              <a:t>r</a:t>
            </a:r>
            <a:r>
              <a:rPr sz="2700" baseline="3034" dirty="0">
                <a:latin typeface="Calibri"/>
                <a:cs typeface="Calibri"/>
              </a:rPr>
              <a:t>ld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3621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2133600" y="1349116"/>
            <a:ext cx="8001000" cy="5868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33600" y="1917241"/>
            <a:ext cx="8001000" cy="981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33600" y="2880360"/>
            <a:ext cx="8001000" cy="9818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33600" y="3843477"/>
            <a:ext cx="8001000" cy="9818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33600" y="4806596"/>
            <a:ext cx="8001000" cy="9818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24000" y="5777960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33600" y="5769714"/>
            <a:ext cx="8001000" cy="6760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61820" y="775992"/>
            <a:ext cx="1337080" cy="474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65"/>
              </a:lnSpc>
              <a:spcBef>
                <a:spcPts val="188"/>
              </a:spcBef>
            </a:pPr>
            <a:r>
              <a:rPr sz="5400" baseline="3034" dirty="0">
                <a:latin typeface="Calibri"/>
                <a:cs typeface="Calibri"/>
              </a:rPr>
              <a:t>Sea</a:t>
            </a:r>
            <a:r>
              <a:rPr sz="5400" spc="-54" baseline="3034" dirty="0">
                <a:latin typeface="Calibri"/>
                <a:cs typeface="Calibri"/>
              </a:rPr>
              <a:t>r</a:t>
            </a:r>
            <a:r>
              <a:rPr sz="5400" baseline="3034" dirty="0">
                <a:latin typeface="Calibri"/>
                <a:cs typeface="Calibri"/>
              </a:rPr>
              <a:t>ch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5228" y="775992"/>
            <a:ext cx="1184071" cy="474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65"/>
              </a:lnSpc>
              <a:spcBef>
                <a:spcPts val="188"/>
              </a:spcBef>
            </a:pPr>
            <a:r>
              <a:rPr sz="5400" baseline="3034" dirty="0">
                <a:latin typeface="Calibri"/>
                <a:cs typeface="Calibri"/>
              </a:rPr>
              <a:t>Space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7757" y="775992"/>
            <a:ext cx="473967" cy="474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65"/>
              </a:lnSpc>
              <a:spcBef>
                <a:spcPts val="188"/>
              </a:spcBef>
            </a:pPr>
            <a:r>
              <a:rPr sz="5400" spc="-4" baseline="3034" dirty="0">
                <a:latin typeface="Calibri"/>
                <a:cs typeface="Calibri"/>
              </a:rPr>
              <a:t>of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1626" y="775992"/>
            <a:ext cx="1585028" cy="474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65"/>
              </a:lnSpc>
              <a:spcBef>
                <a:spcPts val="188"/>
              </a:spcBef>
            </a:pPr>
            <a:r>
              <a:rPr sz="5400" spc="-200" baseline="3034" dirty="0">
                <a:latin typeface="Calibri"/>
                <a:cs typeface="Calibri"/>
              </a:rPr>
              <a:t>V</a:t>
            </a:r>
            <a:r>
              <a:rPr sz="5400" spc="-4" baseline="3034" dirty="0">
                <a:latin typeface="Calibri"/>
                <a:cs typeface="Calibri"/>
              </a:rPr>
              <a:t>a</a:t>
            </a:r>
            <a:r>
              <a:rPr sz="5400" baseline="3034" dirty="0">
                <a:latin typeface="Calibri"/>
                <a:cs typeface="Calibri"/>
              </a:rPr>
              <a:t>cuum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5732" y="775992"/>
            <a:ext cx="1227191" cy="474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65"/>
              </a:lnSpc>
              <a:spcBef>
                <a:spcPts val="188"/>
              </a:spcBef>
            </a:pPr>
            <a:r>
              <a:rPr sz="5400" spc="-150" baseline="3034" dirty="0">
                <a:latin typeface="Calibri"/>
                <a:cs typeface="Calibri"/>
              </a:rPr>
              <a:t>W</a:t>
            </a:r>
            <a:r>
              <a:rPr sz="5400" baseline="3034" dirty="0">
                <a:latin typeface="Calibri"/>
                <a:cs typeface="Calibri"/>
              </a:rPr>
              <a:t>orld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10172" y="775992"/>
            <a:ext cx="1783101" cy="474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65"/>
              </a:lnSpc>
              <a:spcBef>
                <a:spcPts val="188"/>
              </a:spcBef>
            </a:pPr>
            <a:r>
              <a:rPr sz="5400" baseline="3034" dirty="0">
                <a:latin typeface="Calibri"/>
                <a:cs typeface="Calibri"/>
              </a:rPr>
              <a:t>P</a:t>
            </a:r>
            <a:r>
              <a:rPr sz="5400" spc="-59" baseline="3034" dirty="0">
                <a:latin typeface="Calibri"/>
                <a:cs typeface="Calibri"/>
              </a:rPr>
              <a:t>r</a:t>
            </a:r>
            <a:r>
              <a:rPr sz="5400" baseline="3034" dirty="0">
                <a:latin typeface="Calibri"/>
                <a:cs typeface="Calibri"/>
              </a:rPr>
              <a:t>oblem: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01632" y="775991"/>
            <a:ext cx="897032" cy="474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65"/>
              </a:lnSpc>
              <a:spcBef>
                <a:spcPts val="188"/>
              </a:spcBef>
            </a:pPr>
            <a:r>
              <a:rPr sz="5400" spc="-225" baseline="3034" dirty="0">
                <a:latin typeface="Calibri"/>
                <a:cs typeface="Calibri"/>
              </a:rPr>
              <a:t>T</a:t>
            </a:r>
            <a:r>
              <a:rPr sz="5400" spc="-50" baseline="3034" dirty="0">
                <a:latin typeface="Calibri"/>
                <a:cs typeface="Calibri"/>
              </a:rPr>
              <a:t>r</a:t>
            </a:r>
            <a:r>
              <a:rPr sz="5400" spc="4" baseline="3034" dirty="0">
                <a:latin typeface="Calibri"/>
                <a:cs typeface="Calibri"/>
              </a:rPr>
              <a:t>e</a:t>
            </a:r>
            <a:r>
              <a:rPr sz="5400" baseline="3034" dirty="0">
                <a:latin typeface="Calibri"/>
                <a:cs typeface="Calibri"/>
              </a:rPr>
              <a:t>e</a:t>
            </a:r>
            <a:endParaRPr sz="3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1929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4191000" y="1499017"/>
            <a:ext cx="4876800" cy="435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91000" y="1918740"/>
            <a:ext cx="4876800" cy="97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91000" y="2881859"/>
            <a:ext cx="4876800" cy="9788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91000" y="3844977"/>
            <a:ext cx="4876800" cy="1326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30574" y="726711"/>
            <a:ext cx="952225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The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01362" y="726711"/>
            <a:ext cx="1993369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4" baseline="3103" dirty="0">
                <a:latin typeface="Calibri"/>
                <a:cs typeface="Calibri"/>
              </a:rPr>
              <a:t>8</a:t>
            </a:r>
            <a:r>
              <a:rPr sz="6600" baseline="3103" dirty="0">
                <a:latin typeface="Calibri"/>
                <a:cs typeface="Calibri"/>
              </a:rPr>
              <a:t>‐Puzzle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4742" y="1512008"/>
            <a:ext cx="407437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68843" y="1512008"/>
            <a:ext cx="110040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in</a:t>
            </a:r>
            <a:r>
              <a:rPr sz="3600" spc="-34" baseline="3413" dirty="0">
                <a:latin typeface="Calibri"/>
                <a:cs typeface="Calibri"/>
              </a:rPr>
              <a:t>s</a:t>
            </a:r>
            <a:r>
              <a:rPr sz="3600" spc="-29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5660" y="4129197"/>
            <a:ext cx="17780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559" y="4147280"/>
            <a:ext cx="1495756" cy="6845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Consi</a:t>
            </a:r>
            <a:r>
              <a:rPr sz="3600" spc="-34" baseline="3413" dirty="0">
                <a:latin typeface="Calibri"/>
                <a:cs typeface="Calibri"/>
              </a:rPr>
              <a:t>s</a:t>
            </a:r>
            <a:r>
              <a:rPr sz="3600" baseline="3413" dirty="0">
                <a:latin typeface="Calibri"/>
                <a:cs typeface="Calibri"/>
              </a:rPr>
              <a:t>t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of a</a:t>
            </a:r>
            <a:endParaRPr sz="2400">
              <a:latin typeface="Calibri"/>
              <a:cs typeface="Calibri"/>
            </a:endParaRPr>
          </a:p>
          <a:p>
            <a:pPr marL="12700" marR="45719">
              <a:lnSpc>
                <a:spcPts val="2880"/>
              </a:lnSpc>
              <a:spcBef>
                <a:spcPts val="16"/>
              </a:spcBef>
            </a:pPr>
            <a:r>
              <a:rPr sz="3600" baseline="1137" dirty="0">
                <a:latin typeface="Calibri"/>
                <a:cs typeface="Calibri"/>
              </a:rPr>
              <a:t>spaces.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1318" y="4147279"/>
            <a:ext cx="4089486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3x3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boa</a:t>
            </a:r>
            <a:r>
              <a:rPr sz="3600" spc="-39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d with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8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numbe</a:t>
            </a:r>
            <a:r>
              <a:rPr sz="3600" spc="-34" baseline="3413" dirty="0">
                <a:latin typeface="Calibri"/>
                <a:cs typeface="Calibri"/>
              </a:rPr>
              <a:t>r</a:t>
            </a:r>
            <a:r>
              <a:rPr sz="3600" baseline="3413" dirty="0">
                <a:latin typeface="Calibri"/>
                <a:cs typeface="Calibri"/>
              </a:rPr>
              <a:t>ed</a:t>
            </a:r>
            <a:r>
              <a:rPr sz="3600" spc="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tiles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7163" y="4147279"/>
            <a:ext cx="1281135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and blank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5659" y="4920677"/>
            <a:ext cx="177800" cy="756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68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8559" y="4938758"/>
            <a:ext cx="7001406" cy="756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Tile adjace</a:t>
            </a:r>
            <a:r>
              <a:rPr sz="3600" spc="-25" baseline="3413" dirty="0">
                <a:latin typeface="Calibri"/>
                <a:cs typeface="Calibri"/>
              </a:rPr>
              <a:t>n</a:t>
            </a:r>
            <a:r>
              <a:rPr sz="3600" baseline="3413" dirty="0">
                <a:latin typeface="Calibri"/>
                <a:cs typeface="Calibri"/>
              </a:rPr>
              <a:t>t 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o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the blank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space </a:t>
            </a:r>
            <a:r>
              <a:rPr sz="3600" spc="-19" baseline="3413" dirty="0">
                <a:latin typeface="Calibri"/>
                <a:cs typeface="Calibri"/>
              </a:rPr>
              <a:t>c</a:t>
            </a:r>
            <a:r>
              <a:rPr sz="3600" spc="4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n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slide i</a:t>
            </a:r>
            <a:r>
              <a:rPr sz="3600" spc="-25" baseline="3413" dirty="0">
                <a:latin typeface="Calibri"/>
                <a:cs typeface="Calibri"/>
              </a:rPr>
              <a:t>nt</a:t>
            </a:r>
            <a:r>
              <a:rPr sz="3600" baseline="3413" dirty="0">
                <a:latin typeface="Calibri"/>
                <a:cs typeface="Calibri"/>
              </a:rPr>
              <a:t>o</a:t>
            </a:r>
            <a:r>
              <a:rPr sz="3600" spc="-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the space.</a:t>
            </a:r>
            <a:endParaRPr sz="2400" dirty="0">
              <a:latin typeface="Calibri"/>
              <a:cs typeface="Calibri"/>
            </a:endParaRPr>
          </a:p>
          <a:p>
            <a:pPr marL="12700" marR="45720">
              <a:lnSpc>
                <a:spcPct val="101725"/>
              </a:lnSpc>
              <a:spcBef>
                <a:spcPts val="399"/>
              </a:spcBef>
            </a:pPr>
            <a:r>
              <a:rPr sz="2400" dirty="0">
                <a:latin typeface="Calibri"/>
                <a:cs typeface="Calibri"/>
              </a:rPr>
              <a:t>Objecti</a:t>
            </a:r>
            <a:r>
              <a:rPr sz="2400" spc="-25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e: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34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each a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spc="-19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oal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stat</a:t>
            </a:r>
            <a:r>
              <a:rPr sz="2400" dirty="0">
                <a:latin typeface="Calibri"/>
                <a:cs typeface="Calibri"/>
              </a:rPr>
              <a:t>e.</a:t>
            </a:r>
            <a:endParaRPr lang="en-GB" sz="2400" dirty="0">
              <a:latin typeface="Calibri"/>
              <a:cs typeface="Calibri"/>
            </a:endParaRPr>
          </a:p>
          <a:p>
            <a:pPr marL="12700" marR="45720">
              <a:lnSpc>
                <a:spcPct val="101725"/>
              </a:lnSpc>
              <a:spcBef>
                <a:spcPts val="399"/>
              </a:spcBef>
            </a:pP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1038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1828801" y="4002124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31748" y="726711"/>
            <a:ext cx="8636252" cy="21618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49653" marR="45720">
              <a:lnSpc>
                <a:spcPts val="4580"/>
              </a:lnSpc>
              <a:spcBef>
                <a:spcPts val="229"/>
              </a:spcBef>
            </a:pPr>
            <a:r>
              <a:rPr sz="6600" spc="-59" baseline="3103" dirty="0">
                <a:latin typeface="Calibri"/>
                <a:cs typeface="Calibri"/>
              </a:rPr>
              <a:t>F</a:t>
            </a:r>
            <a:r>
              <a:rPr sz="6600" baseline="3103" dirty="0">
                <a:latin typeface="Calibri"/>
                <a:cs typeface="Calibri"/>
              </a:rPr>
              <a:t>ormul</a:t>
            </a:r>
            <a:r>
              <a:rPr sz="6600" spc="-44" baseline="3103" dirty="0">
                <a:latin typeface="Calibri"/>
                <a:cs typeface="Calibri"/>
              </a:rPr>
              <a:t>a</a:t>
            </a:r>
            <a:r>
              <a:rPr sz="6600" baseline="3103" dirty="0">
                <a:latin typeface="Calibri"/>
                <a:cs typeface="Calibri"/>
              </a:rPr>
              <a:t>tion</a:t>
            </a:r>
            <a:r>
              <a:rPr sz="6600" spc="29" baseline="3103" dirty="0">
                <a:latin typeface="Calibri"/>
                <a:cs typeface="Calibri"/>
              </a:rPr>
              <a:t> </a:t>
            </a:r>
            <a:r>
              <a:rPr sz="6600" spc="4" baseline="3103" dirty="0">
                <a:latin typeface="Calibri"/>
                <a:cs typeface="Calibri"/>
              </a:rPr>
              <a:t>o</a:t>
            </a:r>
            <a:r>
              <a:rPr sz="6600" baseline="3103" dirty="0">
                <a:latin typeface="Calibri"/>
                <a:cs typeface="Calibri"/>
              </a:rPr>
              <a:t>f </a:t>
            </a:r>
            <a:r>
              <a:rPr sz="6600" spc="4" baseline="3103" dirty="0">
                <a:latin typeface="Calibri"/>
                <a:cs typeface="Calibri"/>
              </a:rPr>
              <a:t>8</a:t>
            </a:r>
            <a:r>
              <a:rPr sz="6600" baseline="3103" dirty="0">
                <a:latin typeface="Calibri"/>
                <a:cs typeface="Calibri"/>
              </a:rPr>
              <a:t>‐Puzzle</a:t>
            </a:r>
            <a:endParaRPr sz="4400" dirty="0">
              <a:latin typeface="Calibri"/>
              <a:cs typeface="Calibri"/>
            </a:endParaRPr>
          </a:p>
          <a:p>
            <a:pPr marL="12700" marR="45720">
              <a:lnSpc>
                <a:spcPct val="101725"/>
              </a:lnSpc>
              <a:spcBef>
                <a:spcPts val="1092"/>
              </a:spcBef>
            </a:pP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-19" dirty="0">
                <a:latin typeface="Calibri"/>
                <a:cs typeface="Calibri"/>
              </a:rPr>
              <a:t>t</a:t>
            </a:r>
            <a:r>
              <a:rPr sz="2400" b="1" spc="-25" dirty="0">
                <a:latin typeface="Calibri"/>
                <a:cs typeface="Calibri"/>
              </a:rPr>
              <a:t>at</a:t>
            </a:r>
            <a:r>
              <a:rPr sz="2400" b="1" spc="-4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</a:t>
            </a:r>
            <a:r>
              <a:rPr sz="2000" spc="-19" dirty="0">
                <a:latin typeface="Calibri"/>
                <a:cs typeface="Calibri"/>
              </a:rPr>
              <a:t>c</a:t>
            </a:r>
            <a:r>
              <a:rPr sz="2000" spc="-1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tion of</a:t>
            </a:r>
            <a:r>
              <a:rPr sz="2000" spc="-2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eig</a:t>
            </a:r>
            <a:r>
              <a:rPr sz="2000" spc="-19" dirty="0">
                <a:latin typeface="Calibri"/>
                <a:cs typeface="Calibri"/>
              </a:rPr>
              <a:t>h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tiles,</a:t>
            </a:r>
            <a:r>
              <a:rPr sz="2000" spc="1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blank</a:t>
            </a:r>
          </a:p>
          <a:p>
            <a:pPr marL="12700" marR="45720">
              <a:lnSpc>
                <a:spcPct val="101725"/>
              </a:lnSpc>
              <a:spcBef>
                <a:spcPts val="399"/>
              </a:spcBef>
            </a:pPr>
            <a:r>
              <a:rPr sz="2400" b="1" dirty="0">
                <a:latin typeface="Calibri"/>
                <a:cs typeface="Calibri"/>
              </a:rPr>
              <a:t>Initi</a:t>
            </a:r>
            <a:r>
              <a:rPr sz="2400" b="1" spc="-4" dirty="0">
                <a:latin typeface="Calibri"/>
                <a:cs typeface="Calibri"/>
              </a:rPr>
              <a:t>a</a:t>
            </a:r>
            <a:r>
              <a:rPr sz="2400" b="1" dirty="0">
                <a:latin typeface="Calibri"/>
                <a:cs typeface="Calibri"/>
              </a:rPr>
              <a:t>l</a:t>
            </a:r>
            <a:r>
              <a:rPr sz="2400" b="1" spc="-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-25" dirty="0">
                <a:latin typeface="Calibri"/>
                <a:cs typeface="Calibri"/>
              </a:rPr>
              <a:t>tat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lang="en-GB" sz="2400" dirty="0">
                <a:latin typeface="Calibri"/>
                <a:cs typeface="Calibri"/>
              </a:rPr>
              <a:t> {(0,2),</a:t>
            </a:r>
            <a:r>
              <a:rPr lang="en-GB" sz="2400" spc="9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(1,8),</a:t>
            </a:r>
            <a:r>
              <a:rPr lang="en-GB" sz="2400" spc="9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(2,3),</a:t>
            </a:r>
            <a:r>
              <a:rPr lang="en-GB" sz="2400" spc="9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(3,1),</a:t>
            </a:r>
            <a:r>
              <a:rPr lang="en-GB" sz="2400" spc="14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(4,6),</a:t>
            </a:r>
            <a:r>
              <a:rPr lang="en-GB" sz="2400" spc="14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(5,4),</a:t>
            </a:r>
            <a:r>
              <a:rPr lang="en-GB" sz="2400" spc="9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(6,7),</a:t>
            </a:r>
            <a:r>
              <a:rPr lang="en-GB" sz="2400" spc="14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(_,7),</a:t>
            </a:r>
            <a:r>
              <a:rPr lang="en-GB" sz="2400" spc="9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(8,5)}</a:t>
            </a:r>
          </a:p>
          <a:p>
            <a:pPr marL="12700" marR="45720">
              <a:lnSpc>
                <a:spcPct val="101725"/>
              </a:lnSpc>
              <a:spcBef>
                <a:spcPts val="399"/>
              </a:spcBef>
            </a:pPr>
            <a:endParaRPr lang="en-GB" sz="2400" dirty="0">
              <a:latin typeface="Calibri"/>
              <a:cs typeface="Calibri"/>
            </a:endParaRPr>
          </a:p>
          <a:p>
            <a:pPr marL="12700" marR="3772">
              <a:lnSpc>
                <a:spcPct val="101725"/>
              </a:lnSpc>
              <a:spcBef>
                <a:spcPts val="10"/>
              </a:spcBef>
            </a:pPr>
            <a:endParaRPr lang="en-GB" sz="2400" dirty="0">
              <a:latin typeface="Calibri"/>
              <a:cs typeface="Calibri"/>
            </a:endParaRPr>
          </a:p>
          <a:p>
            <a:pPr marL="12700" marR="3772">
              <a:lnSpc>
                <a:spcPct val="101725"/>
              </a:lnSpc>
              <a:spcBef>
                <a:spcPts val="10"/>
              </a:spcBef>
            </a:pPr>
            <a:endParaRPr sz="2000" dirty="0">
              <a:latin typeface="Calibri"/>
              <a:cs typeface="Calibri"/>
            </a:endParaRPr>
          </a:p>
          <a:p>
            <a:pPr marL="69087" marR="45720">
              <a:lnSpc>
                <a:spcPts val="2880"/>
              </a:lnSpc>
              <a:spcBef>
                <a:spcPts val="144"/>
              </a:spcBef>
            </a:pPr>
            <a:r>
              <a:rPr sz="3600" b="1" baseline="1137" dirty="0">
                <a:latin typeface="Calibri"/>
                <a:cs typeface="Calibri"/>
              </a:rPr>
              <a:t>Successor Functio</a:t>
            </a:r>
            <a:r>
              <a:rPr sz="3600" b="1" spc="4" baseline="1137" dirty="0">
                <a:latin typeface="Calibri"/>
                <a:cs typeface="Calibri"/>
              </a:rPr>
              <a:t>n</a:t>
            </a:r>
            <a:r>
              <a:rPr sz="3600" baseline="1137" dirty="0">
                <a:latin typeface="Calibri"/>
                <a:cs typeface="Calibri"/>
              </a:rPr>
              <a:t>:</a:t>
            </a:r>
            <a:r>
              <a:rPr sz="3600" spc="-1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one of the </a:t>
            </a:r>
            <a:r>
              <a:rPr sz="3600" spc="-50" baseline="1137" dirty="0">
                <a:latin typeface="Calibri"/>
                <a:cs typeface="Calibri"/>
              </a:rPr>
              <a:t>f</a:t>
            </a:r>
            <a:r>
              <a:rPr sz="3600" baseline="1137" dirty="0">
                <a:latin typeface="Calibri"/>
                <a:cs typeface="Calibri"/>
              </a:rPr>
              <a:t>our actions</a:t>
            </a:r>
            <a:endParaRPr sz="2400" dirty="0">
              <a:latin typeface="Calibri"/>
              <a:cs typeface="Calibri"/>
            </a:endParaRPr>
          </a:p>
          <a:p>
            <a:pPr marL="2591307">
              <a:lnSpc>
                <a:spcPts val="2880"/>
              </a:lnSpc>
            </a:pPr>
            <a:r>
              <a:rPr sz="3600" baseline="1137" dirty="0">
                <a:latin typeface="Calibri"/>
                <a:cs typeface="Calibri"/>
              </a:rPr>
              <a:t>(blank</a:t>
            </a:r>
            <a:r>
              <a:rPr sz="3600" spc="-4" baseline="1137" dirty="0">
                <a:latin typeface="Calibri"/>
                <a:cs typeface="Calibri"/>
              </a:rPr>
              <a:t> </a:t>
            </a:r>
            <a:r>
              <a:rPr sz="3600" spc="4" baseline="1137" dirty="0">
                <a:latin typeface="Calibri"/>
                <a:cs typeface="Calibri"/>
              </a:rPr>
              <a:t>m</a:t>
            </a:r>
            <a:r>
              <a:rPr sz="3600" spc="-9" baseline="1137" dirty="0">
                <a:latin typeface="Calibri"/>
                <a:cs typeface="Calibri"/>
              </a:rPr>
              <a:t>o</a:t>
            </a:r>
            <a:r>
              <a:rPr sz="3600" spc="-19" baseline="1137" dirty="0">
                <a:latin typeface="Calibri"/>
                <a:cs typeface="Calibri"/>
              </a:rPr>
              <a:t>v</a:t>
            </a:r>
            <a:r>
              <a:rPr sz="3600" baseline="1137" dirty="0">
                <a:latin typeface="Calibri"/>
                <a:cs typeface="Calibri"/>
              </a:rPr>
              <a:t>es</a:t>
            </a:r>
            <a:r>
              <a:rPr sz="3600" spc="-4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L</a:t>
            </a:r>
            <a:r>
              <a:rPr sz="3600" spc="-25" baseline="1137" dirty="0">
                <a:latin typeface="Calibri"/>
                <a:cs typeface="Calibri"/>
              </a:rPr>
              <a:t>e</a:t>
            </a:r>
            <a:r>
              <a:rPr sz="3600" baseline="1137" dirty="0">
                <a:latin typeface="Calibri"/>
                <a:cs typeface="Calibri"/>
              </a:rPr>
              <a:t>ft,</a:t>
            </a:r>
            <a:r>
              <a:rPr sz="3600" spc="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Rig</a:t>
            </a:r>
            <a:r>
              <a:rPr sz="3600" spc="-25" baseline="1137" dirty="0">
                <a:latin typeface="Calibri"/>
                <a:cs typeface="Calibri"/>
              </a:rPr>
              <a:t>h</a:t>
            </a:r>
            <a:r>
              <a:rPr sz="3600" baseline="1137" dirty="0">
                <a:latin typeface="Calibri"/>
                <a:cs typeface="Calibri"/>
              </a:rPr>
              <a:t>t,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Up, </a:t>
            </a:r>
            <a:r>
              <a:rPr sz="3600" spc="-4" baseline="1137" dirty="0">
                <a:latin typeface="Calibri"/>
                <a:cs typeface="Calibri"/>
              </a:rPr>
              <a:t>Down).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1748" y="2379106"/>
            <a:ext cx="6567064" cy="10443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45"/>
              </a:lnSpc>
              <a:spcBef>
                <a:spcPts val="127"/>
              </a:spcBef>
            </a:pPr>
            <a:r>
              <a:rPr sz="3600" b="1" baseline="3413" dirty="0">
                <a:latin typeface="Calibri"/>
                <a:cs typeface="Calibri"/>
              </a:rPr>
              <a:t>Goal</a:t>
            </a:r>
            <a:r>
              <a:rPr sz="3600" b="1" spc="-14" baseline="3413" dirty="0">
                <a:latin typeface="Calibri"/>
                <a:cs typeface="Calibri"/>
              </a:rPr>
              <a:t> </a:t>
            </a:r>
            <a:r>
              <a:rPr sz="3600" b="1" spc="-209" baseline="3413" dirty="0">
                <a:latin typeface="Calibri"/>
                <a:cs typeface="Calibri"/>
              </a:rPr>
              <a:t>T</a:t>
            </a:r>
            <a:r>
              <a:rPr sz="3600" b="1" spc="-4" baseline="3413" dirty="0">
                <a:latin typeface="Calibri"/>
                <a:cs typeface="Calibri"/>
              </a:rPr>
              <a:t>e</a:t>
            </a:r>
            <a:r>
              <a:rPr sz="3600" b="1" spc="-25" baseline="3413" dirty="0">
                <a:latin typeface="Calibri"/>
                <a:cs typeface="Calibri"/>
              </a:rPr>
              <a:t>s</a:t>
            </a:r>
            <a:r>
              <a:rPr sz="3600" b="1" spc="4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:</a:t>
            </a:r>
            <a:r>
              <a:rPr sz="3600" spc="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de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ermine a</a:t>
            </a:r>
            <a:r>
              <a:rPr sz="3600" spc="-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gi</a:t>
            </a:r>
            <a:r>
              <a:rPr sz="3600" spc="-19" baseline="3413" dirty="0">
                <a:latin typeface="Calibri"/>
                <a:cs typeface="Calibri"/>
              </a:rPr>
              <a:t>v</a:t>
            </a:r>
            <a:r>
              <a:rPr sz="3600" baseline="3413" dirty="0">
                <a:latin typeface="Calibri"/>
                <a:cs typeface="Calibri"/>
              </a:rPr>
              <a:t>en </a:t>
            </a:r>
            <a:r>
              <a:rPr sz="3600" spc="-25" baseline="3413" dirty="0">
                <a:latin typeface="Calibri"/>
                <a:cs typeface="Calibri"/>
              </a:rPr>
              <a:t>stat</a:t>
            </a:r>
            <a:r>
              <a:rPr sz="3600" baseline="3413" dirty="0">
                <a:latin typeface="Calibri"/>
                <a:cs typeface="Calibri"/>
              </a:rPr>
              <a:t>e is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a</a:t>
            </a:r>
            <a:r>
              <a:rPr sz="3600" spc="-4" baseline="3413" dirty="0">
                <a:latin typeface="Calibri"/>
                <a:cs typeface="Calibri"/>
              </a:rPr>
              <a:t> </a:t>
            </a:r>
            <a:r>
              <a:rPr sz="3600" spc="-19" baseline="3413" dirty="0">
                <a:latin typeface="Calibri"/>
                <a:cs typeface="Calibri"/>
              </a:rPr>
              <a:t>g</a:t>
            </a:r>
            <a:r>
              <a:rPr sz="3600" baseline="3413" dirty="0">
                <a:latin typeface="Calibri"/>
                <a:cs typeface="Calibri"/>
              </a:rPr>
              <a:t>oal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spc="-25" baseline="3413" dirty="0">
                <a:latin typeface="Calibri"/>
                <a:cs typeface="Calibri"/>
              </a:rPr>
              <a:t>stat</a:t>
            </a:r>
            <a:r>
              <a:rPr sz="3600" baseline="3413" dirty="0">
                <a:latin typeface="Calibri"/>
                <a:cs typeface="Calibri"/>
              </a:rPr>
              <a:t>e.</a:t>
            </a:r>
            <a:endParaRPr sz="2400" dirty="0">
              <a:latin typeface="Calibri"/>
              <a:cs typeface="Calibri"/>
            </a:endParaRPr>
          </a:p>
          <a:p>
            <a:pPr marL="69087" marR="45720">
              <a:lnSpc>
                <a:spcPts val="2880"/>
              </a:lnSpc>
              <a:spcBef>
                <a:spcPts val="16"/>
              </a:spcBef>
            </a:pPr>
            <a:r>
              <a:rPr sz="3600" b="1" spc="-44" baseline="1137" dirty="0">
                <a:latin typeface="Calibri"/>
                <a:cs typeface="Calibri"/>
              </a:rPr>
              <a:t>P</a:t>
            </a:r>
            <a:r>
              <a:rPr sz="3600" b="1" spc="-25" baseline="1137" dirty="0">
                <a:latin typeface="Calibri"/>
                <a:cs typeface="Calibri"/>
              </a:rPr>
              <a:t>a</a:t>
            </a:r>
            <a:r>
              <a:rPr sz="3600" b="1" spc="4" baseline="1137" dirty="0">
                <a:latin typeface="Calibri"/>
                <a:cs typeface="Calibri"/>
              </a:rPr>
              <a:t>t</a:t>
            </a:r>
            <a:r>
              <a:rPr sz="3600" b="1" baseline="1137" dirty="0">
                <a:latin typeface="Calibri"/>
                <a:cs typeface="Calibri"/>
              </a:rPr>
              <a:t>h Co</a:t>
            </a:r>
            <a:r>
              <a:rPr sz="3600" b="1" spc="-25" baseline="1137" dirty="0">
                <a:latin typeface="Calibri"/>
                <a:cs typeface="Calibri"/>
              </a:rPr>
              <a:t>s</a:t>
            </a:r>
            <a:r>
              <a:rPr sz="3600" b="1" baseline="1137" dirty="0">
                <a:latin typeface="Calibri"/>
                <a:cs typeface="Calibri"/>
              </a:rPr>
              <a:t>t</a:t>
            </a:r>
            <a:r>
              <a:rPr sz="3600" baseline="1137" dirty="0">
                <a:latin typeface="Calibri"/>
                <a:cs typeface="Calibri"/>
              </a:rPr>
              <a:t>: each </a:t>
            </a:r>
            <a:r>
              <a:rPr sz="3600" spc="-29" baseline="1137" dirty="0">
                <a:latin typeface="Calibri"/>
                <a:cs typeface="Calibri"/>
              </a:rPr>
              <a:t>st</a:t>
            </a:r>
            <a:r>
              <a:rPr sz="3600" baseline="1137" dirty="0">
                <a:latin typeface="Calibri"/>
                <a:cs typeface="Calibri"/>
              </a:rPr>
              <a:t>ep </a:t>
            </a:r>
            <a:r>
              <a:rPr sz="3600" spc="-19" baseline="1137" dirty="0">
                <a:latin typeface="Calibri"/>
                <a:cs typeface="Calibri"/>
              </a:rPr>
              <a:t>c</a:t>
            </a:r>
            <a:r>
              <a:rPr sz="3600" baseline="1137" dirty="0">
                <a:latin typeface="Calibri"/>
                <a:cs typeface="Calibri"/>
              </a:rPr>
              <a:t>o</a:t>
            </a:r>
            <a:r>
              <a:rPr sz="3600" spc="-34" baseline="1137" dirty="0">
                <a:latin typeface="Calibri"/>
                <a:cs typeface="Calibri"/>
              </a:rPr>
              <a:t>s</a:t>
            </a:r>
            <a:r>
              <a:rPr sz="3600" baseline="1137" dirty="0">
                <a:latin typeface="Calibri"/>
                <a:cs typeface="Calibri"/>
              </a:rPr>
              <a:t>ts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1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</a:pPr>
            <a:r>
              <a:rPr sz="3600" b="1" baseline="1137" dirty="0">
                <a:latin typeface="Calibri"/>
                <a:cs typeface="Calibri"/>
              </a:rPr>
              <a:t>Solution</a:t>
            </a:r>
            <a:r>
              <a:rPr sz="3600" baseline="1137" dirty="0">
                <a:latin typeface="Calibri"/>
                <a:cs typeface="Calibri"/>
              </a:rPr>
              <a:t>:</a:t>
            </a:r>
            <a:r>
              <a:rPr sz="3600" spc="-19" baseline="1137" dirty="0">
                <a:latin typeface="Calibri"/>
                <a:cs typeface="Calibri"/>
              </a:rPr>
              <a:t> </a:t>
            </a:r>
            <a:r>
              <a:rPr sz="3000" baseline="1365" dirty="0">
                <a:latin typeface="Calibri"/>
                <a:cs typeface="Calibri"/>
              </a:rPr>
              <a:t>{(_,0),(1,</a:t>
            </a:r>
            <a:r>
              <a:rPr sz="3000" spc="4" baseline="1365" dirty="0">
                <a:latin typeface="Calibri"/>
                <a:cs typeface="Calibri"/>
              </a:rPr>
              <a:t>1</a:t>
            </a:r>
            <a:r>
              <a:rPr sz="3000" baseline="1365" dirty="0">
                <a:latin typeface="Calibri"/>
                <a:cs typeface="Calibri"/>
              </a:rPr>
              <a:t>)</a:t>
            </a:r>
            <a:r>
              <a:rPr sz="3000" spc="4" baseline="1365" dirty="0">
                <a:latin typeface="Calibri"/>
                <a:cs typeface="Calibri"/>
              </a:rPr>
              <a:t>,</a:t>
            </a:r>
            <a:r>
              <a:rPr sz="3000" baseline="1365" dirty="0">
                <a:latin typeface="Calibri"/>
                <a:cs typeface="Calibri"/>
              </a:rPr>
              <a:t>(2,</a:t>
            </a:r>
            <a:r>
              <a:rPr sz="3000" spc="4" baseline="1365" dirty="0">
                <a:latin typeface="Calibri"/>
                <a:cs typeface="Calibri"/>
              </a:rPr>
              <a:t>2</a:t>
            </a:r>
            <a:r>
              <a:rPr sz="3000" baseline="1365" dirty="0">
                <a:latin typeface="Calibri"/>
                <a:cs typeface="Calibri"/>
              </a:rPr>
              <a:t>)</a:t>
            </a:r>
            <a:r>
              <a:rPr sz="3000" spc="4" baseline="1365" dirty="0">
                <a:latin typeface="Calibri"/>
                <a:cs typeface="Calibri"/>
              </a:rPr>
              <a:t> </a:t>
            </a:r>
            <a:r>
              <a:rPr sz="3000" baseline="1365" dirty="0">
                <a:latin typeface="Calibri"/>
                <a:cs typeface="Calibri"/>
              </a:rPr>
              <a:t>,(3,3)</a:t>
            </a:r>
            <a:r>
              <a:rPr sz="3000" spc="9" baseline="1365" dirty="0">
                <a:latin typeface="Calibri"/>
                <a:cs typeface="Calibri"/>
              </a:rPr>
              <a:t> </a:t>
            </a:r>
            <a:r>
              <a:rPr sz="3000" baseline="1365" dirty="0">
                <a:latin typeface="Calibri"/>
                <a:cs typeface="Calibri"/>
              </a:rPr>
              <a:t>,(4,4)</a:t>
            </a:r>
            <a:r>
              <a:rPr sz="3000" spc="14" baseline="1365" dirty="0">
                <a:latin typeface="Calibri"/>
                <a:cs typeface="Calibri"/>
              </a:rPr>
              <a:t> </a:t>
            </a:r>
            <a:r>
              <a:rPr sz="3000" baseline="1365" dirty="0">
                <a:latin typeface="Calibri"/>
                <a:cs typeface="Calibri"/>
              </a:rPr>
              <a:t>,(5,5)</a:t>
            </a:r>
            <a:r>
              <a:rPr sz="3000" spc="9" baseline="1365" dirty="0">
                <a:latin typeface="Calibri"/>
                <a:cs typeface="Calibri"/>
              </a:rPr>
              <a:t> </a:t>
            </a:r>
            <a:r>
              <a:rPr sz="3000" baseline="1365" dirty="0">
                <a:latin typeface="Calibri"/>
                <a:cs typeface="Calibri"/>
              </a:rPr>
              <a:t>,(6,6)</a:t>
            </a:r>
            <a:r>
              <a:rPr sz="3000" spc="9" baseline="1365" dirty="0">
                <a:latin typeface="Calibri"/>
                <a:cs typeface="Calibri"/>
              </a:rPr>
              <a:t> </a:t>
            </a:r>
            <a:r>
              <a:rPr sz="3000" baseline="1365" dirty="0">
                <a:latin typeface="Calibri"/>
                <a:cs typeface="Calibri"/>
              </a:rPr>
              <a:t>,(7,7)</a:t>
            </a:r>
            <a:r>
              <a:rPr sz="3000" spc="14" baseline="1365" dirty="0">
                <a:latin typeface="Calibri"/>
                <a:cs typeface="Calibri"/>
              </a:rPr>
              <a:t> </a:t>
            </a:r>
            <a:r>
              <a:rPr sz="3000" baseline="1365" dirty="0">
                <a:latin typeface="Calibri"/>
                <a:cs typeface="Calibri"/>
              </a:rPr>
              <a:t>,(8,8)}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8801" y="4267201"/>
            <a:ext cx="8091689" cy="14040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8‐puzzle belongs 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o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the </a:t>
            </a:r>
            <a:r>
              <a:rPr sz="3600" spc="-50" baseline="3413" dirty="0">
                <a:latin typeface="Calibri"/>
                <a:cs typeface="Calibri"/>
              </a:rPr>
              <a:t>f</a:t>
            </a:r>
            <a:r>
              <a:rPr sz="3600" baseline="3413" dirty="0">
                <a:latin typeface="Calibri"/>
                <a:cs typeface="Calibri"/>
              </a:rPr>
              <a:t>amily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of sliding block</a:t>
            </a:r>
            <a:r>
              <a:rPr sz="3600" spc="-14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puzzles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16"/>
              </a:spcBef>
            </a:pPr>
            <a:r>
              <a:rPr sz="3600" baseline="1137" dirty="0">
                <a:latin typeface="Calibri"/>
                <a:cs typeface="Calibri"/>
              </a:rPr>
              <a:t>This</a:t>
            </a:r>
            <a:r>
              <a:rPr sz="3600" spc="527" baseline="1137" dirty="0">
                <a:latin typeface="Calibri"/>
                <a:cs typeface="Calibri"/>
              </a:rPr>
              <a:t> </a:t>
            </a:r>
            <a:r>
              <a:rPr sz="3600" spc="-19" baseline="1137" dirty="0">
                <a:latin typeface="Calibri"/>
                <a:cs typeface="Calibri"/>
              </a:rPr>
              <a:t>g</a:t>
            </a:r>
            <a:r>
              <a:rPr sz="3600" baseline="1137" dirty="0">
                <a:latin typeface="Calibri"/>
                <a:cs typeface="Calibri"/>
              </a:rPr>
              <a:t>ene</a:t>
            </a:r>
            <a:r>
              <a:rPr sz="3600" spc="-50" baseline="1137" dirty="0">
                <a:latin typeface="Calibri"/>
                <a:cs typeface="Calibri"/>
              </a:rPr>
              <a:t>r</a:t>
            </a:r>
            <a:r>
              <a:rPr sz="3600" baseline="1137" dirty="0">
                <a:latin typeface="Calibri"/>
                <a:cs typeface="Calibri"/>
              </a:rPr>
              <a:t>al class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is kn</a:t>
            </a:r>
            <a:r>
              <a:rPr sz="3600" spc="-9" baseline="1137" dirty="0">
                <a:latin typeface="Calibri"/>
                <a:cs typeface="Calibri"/>
              </a:rPr>
              <a:t>o</a:t>
            </a:r>
            <a:r>
              <a:rPr sz="3600" baseline="1137" dirty="0">
                <a:latin typeface="Calibri"/>
                <a:cs typeface="Calibri"/>
              </a:rPr>
              <a:t>wn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spc="-25" baseline="1137" dirty="0">
                <a:latin typeface="Calibri"/>
                <a:cs typeface="Calibri"/>
              </a:rPr>
              <a:t>t</a:t>
            </a:r>
            <a:r>
              <a:rPr sz="3600" baseline="1137" dirty="0">
                <a:latin typeface="Calibri"/>
                <a:cs typeface="Calibri"/>
              </a:rPr>
              <a:t>o</a:t>
            </a:r>
            <a:r>
              <a:rPr sz="3600" spc="-14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be NP‐</a:t>
            </a:r>
            <a:r>
              <a:rPr sz="3600" spc="-19" baseline="1137" dirty="0">
                <a:latin typeface="Calibri"/>
                <a:cs typeface="Calibri"/>
              </a:rPr>
              <a:t>c</a:t>
            </a:r>
            <a:r>
              <a:rPr sz="3600" baseline="1137" dirty="0">
                <a:latin typeface="Calibri"/>
                <a:cs typeface="Calibri"/>
              </a:rPr>
              <a:t>ompl</a:t>
            </a:r>
            <a:r>
              <a:rPr sz="3600" spc="-14" baseline="1137" dirty="0">
                <a:latin typeface="Calibri"/>
                <a:cs typeface="Calibri"/>
              </a:rPr>
              <a:t>e</a:t>
            </a:r>
            <a:r>
              <a:rPr sz="3600" spc="-25" baseline="1137" dirty="0">
                <a:latin typeface="Calibri"/>
                <a:cs typeface="Calibri"/>
              </a:rPr>
              <a:t>t</a:t>
            </a:r>
            <a:r>
              <a:rPr sz="3600" baseline="1137" dirty="0">
                <a:latin typeface="Calibri"/>
                <a:cs typeface="Calibri"/>
              </a:rPr>
              <a:t>e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(nond</a:t>
            </a:r>
            <a:r>
              <a:rPr sz="3600" spc="-14" baseline="1137" dirty="0">
                <a:latin typeface="Calibri"/>
                <a:cs typeface="Calibri"/>
              </a:rPr>
              <a:t>e</a:t>
            </a:r>
            <a:r>
              <a:rPr sz="3600" spc="-25" baseline="1137" dirty="0">
                <a:latin typeface="Calibri"/>
                <a:cs typeface="Calibri"/>
              </a:rPr>
              <a:t>t</a:t>
            </a:r>
            <a:r>
              <a:rPr sz="3600" baseline="1137" dirty="0">
                <a:latin typeface="Calibri"/>
                <a:cs typeface="Calibri"/>
              </a:rPr>
              <a:t>ermini</a:t>
            </a:r>
            <a:r>
              <a:rPr sz="3600" spc="-34" baseline="1137" dirty="0">
                <a:latin typeface="Calibri"/>
                <a:cs typeface="Calibri"/>
              </a:rPr>
              <a:t>s</a:t>
            </a:r>
            <a:r>
              <a:rPr sz="3600" baseline="1137" dirty="0">
                <a:latin typeface="Calibri"/>
                <a:cs typeface="Calibri"/>
              </a:rPr>
              <a:t>tic</a:t>
            </a:r>
            <a:endParaRPr sz="2400" dirty="0">
              <a:latin typeface="Calibri"/>
              <a:cs typeface="Calibri"/>
            </a:endParaRPr>
          </a:p>
          <a:p>
            <a:pPr marL="12700" marR="45720">
              <a:lnSpc>
                <a:spcPts val="2880"/>
              </a:lnSpc>
            </a:pPr>
            <a:r>
              <a:rPr sz="3600" baseline="1137" dirty="0">
                <a:latin typeface="Calibri"/>
                <a:cs typeface="Calibri"/>
              </a:rPr>
              <a:t>polynomial</a:t>
            </a:r>
            <a:r>
              <a:rPr sz="3600" spc="-2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time).</a:t>
            </a:r>
            <a:endParaRPr sz="2400" dirty="0">
              <a:latin typeface="Calibri"/>
              <a:cs typeface="Calibri"/>
            </a:endParaRPr>
          </a:p>
          <a:p>
            <a:pPr marL="12700" marR="45720">
              <a:lnSpc>
                <a:spcPts val="2880"/>
              </a:lnSpc>
            </a:pPr>
            <a:r>
              <a:rPr sz="3600" baseline="1137" dirty="0">
                <a:latin typeface="Calibri"/>
                <a:cs typeface="Calibri"/>
              </a:rPr>
              <a:t>9!/2=181,</a:t>
            </a:r>
            <a:r>
              <a:rPr sz="3600" spc="-4" baseline="1137" dirty="0">
                <a:latin typeface="Calibri"/>
                <a:cs typeface="Calibri"/>
              </a:rPr>
              <a:t>44</a:t>
            </a:r>
            <a:r>
              <a:rPr sz="3600" baseline="1137" dirty="0">
                <a:latin typeface="Calibri"/>
                <a:cs typeface="Calibri"/>
              </a:rPr>
              <a:t>0</a:t>
            </a:r>
            <a:r>
              <a:rPr sz="3600" spc="-29" baseline="1137" dirty="0">
                <a:latin typeface="Calibri"/>
                <a:cs typeface="Calibri"/>
              </a:rPr>
              <a:t> </a:t>
            </a:r>
            <a:r>
              <a:rPr sz="3600" spc="-34" baseline="1137" dirty="0">
                <a:latin typeface="Calibri"/>
                <a:cs typeface="Calibri"/>
              </a:rPr>
              <a:t>r</a:t>
            </a:r>
            <a:r>
              <a:rPr sz="3600" baseline="1137" dirty="0">
                <a:latin typeface="Calibri"/>
                <a:cs typeface="Calibri"/>
              </a:rPr>
              <a:t>ea</a:t>
            </a:r>
            <a:r>
              <a:rPr sz="3600" spc="-4" baseline="1137" dirty="0">
                <a:latin typeface="Calibri"/>
                <a:cs typeface="Calibri"/>
              </a:rPr>
              <a:t>c</a:t>
            </a:r>
            <a:r>
              <a:rPr sz="3600" baseline="1137" dirty="0">
                <a:latin typeface="Calibri"/>
                <a:cs typeface="Calibri"/>
              </a:rPr>
              <a:t>hable </a:t>
            </a:r>
            <a:r>
              <a:rPr sz="3600" spc="-34" baseline="1137" dirty="0">
                <a:latin typeface="Calibri"/>
                <a:cs typeface="Calibri"/>
              </a:rPr>
              <a:t>s</a:t>
            </a:r>
            <a:r>
              <a:rPr sz="3600" spc="-29" baseline="1137" dirty="0">
                <a:latin typeface="Calibri"/>
                <a:cs typeface="Calibri"/>
              </a:rPr>
              <a:t>t</a:t>
            </a:r>
            <a:r>
              <a:rPr sz="3600" spc="-19" baseline="1137" dirty="0">
                <a:latin typeface="Calibri"/>
                <a:cs typeface="Calibri"/>
              </a:rPr>
              <a:t>a</a:t>
            </a:r>
            <a:r>
              <a:rPr sz="3600" spc="-25" baseline="1137" dirty="0">
                <a:latin typeface="Calibri"/>
                <a:cs typeface="Calibri"/>
              </a:rPr>
              <a:t>t</a:t>
            </a:r>
            <a:r>
              <a:rPr sz="3600" baseline="1137" dirty="0">
                <a:latin typeface="Calibri"/>
                <a:cs typeface="Calibri"/>
              </a:rPr>
              <a:t>es and ea</a:t>
            </a:r>
            <a:r>
              <a:rPr sz="3600" spc="-4" baseline="1137" dirty="0">
                <a:latin typeface="Calibri"/>
                <a:cs typeface="Calibri"/>
              </a:rPr>
              <a:t>s</a:t>
            </a:r>
            <a:r>
              <a:rPr sz="3600" baseline="1137" dirty="0">
                <a:latin typeface="Calibri"/>
                <a:cs typeface="Calibri"/>
              </a:rPr>
              <a:t>ily </a:t>
            </a:r>
            <a:r>
              <a:rPr sz="3600" spc="-4" baseline="1137" dirty="0">
                <a:latin typeface="Calibri"/>
                <a:cs typeface="Calibri"/>
              </a:rPr>
              <a:t>s</a:t>
            </a:r>
            <a:r>
              <a:rPr sz="3600" baseline="1137" dirty="0">
                <a:latin typeface="Calibri"/>
                <a:cs typeface="Calibri"/>
              </a:rPr>
              <a:t>ol</a:t>
            </a:r>
            <a:r>
              <a:rPr sz="3600" spc="-19" baseline="1137" dirty="0">
                <a:latin typeface="Calibri"/>
                <a:cs typeface="Calibri"/>
              </a:rPr>
              <a:t>v</a:t>
            </a:r>
            <a:r>
              <a:rPr sz="3600" baseline="1137" dirty="0">
                <a:latin typeface="Calibri"/>
                <a:cs typeface="Calibri"/>
              </a:rPr>
              <a:t>ed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8662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1752600" y="5769713"/>
            <a:ext cx="8811006" cy="975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20040">
              <a:lnSpc>
                <a:spcPts val="1476"/>
              </a:lnSpc>
              <a:spcBef>
                <a:spcPts val="5233"/>
              </a:spcBef>
            </a:pPr>
            <a:r>
              <a:rPr sz="1500" b="1" baseline="10922" dirty="0">
                <a:latin typeface="Calibri"/>
                <a:cs typeface="Calibri"/>
              </a:rPr>
              <a:t>©</a:t>
            </a:r>
            <a:r>
              <a:rPr sz="1500" b="1" spc="-4" baseline="10922" dirty="0">
                <a:latin typeface="Calibri"/>
                <a:cs typeface="Calibri"/>
              </a:rPr>
              <a:t> </a:t>
            </a:r>
            <a:r>
              <a:rPr sz="1500" b="1" baseline="10922" dirty="0">
                <a:latin typeface="Calibri"/>
                <a:cs typeface="Calibri"/>
              </a:rPr>
              <a:t>Tariq 2017                                                      </a:t>
            </a:r>
            <a:r>
              <a:rPr sz="1500" b="1" spc="125" baseline="10922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Departme</a:t>
            </a:r>
            <a:r>
              <a:rPr sz="1200" b="1" spc="-1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 </a:t>
            </a:r>
            <a:r>
              <a:rPr sz="1200" b="1" spc="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200" b="1" spc="-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Compu</a:t>
            </a:r>
            <a:r>
              <a:rPr sz="1200" b="1" spc="-1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200" b="1" spc="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1200" b="1" spc="-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E7E7E"/>
                </a:solidFill>
                <a:latin typeface="Calibri"/>
                <a:cs typeface="Calibri"/>
              </a:rPr>
              <a:t>|</a:t>
            </a:r>
            <a:r>
              <a:rPr sz="1200" b="1" spc="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1F5F"/>
                </a:solidFill>
                <a:latin typeface="Calibri"/>
                <a:cs typeface="Calibri"/>
              </a:rPr>
              <a:t>Bahria</a:t>
            </a:r>
            <a:r>
              <a:rPr sz="1200" b="1" spc="1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1F5F"/>
                </a:solidFill>
                <a:latin typeface="Calibri"/>
                <a:cs typeface="Calibri"/>
              </a:rPr>
              <a:t>Uni</a:t>
            </a:r>
            <a:r>
              <a:rPr sz="1200" b="1" spc="-9" dirty="0">
                <a:solidFill>
                  <a:srgbClr val="001F5F"/>
                </a:solidFill>
                <a:latin typeface="Calibri"/>
                <a:cs typeface="Calibri"/>
              </a:rPr>
              <a:t>v</a:t>
            </a:r>
            <a:r>
              <a:rPr sz="1200" b="1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200" b="1" spc="-14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200" b="1" dirty="0">
                <a:solidFill>
                  <a:srgbClr val="001F5F"/>
                </a:solidFill>
                <a:latin typeface="Calibri"/>
                <a:cs typeface="Calibri"/>
              </a:rPr>
              <a:t>sity                                                                </a:t>
            </a:r>
            <a:r>
              <a:rPr sz="1200" b="1" spc="216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baseline="-4551" dirty="0">
                <a:latin typeface="Calibri"/>
                <a:cs typeface="Calibri"/>
              </a:rPr>
              <a:t>34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963117"/>
            <a:ext cx="9144000" cy="963118"/>
          </a:xfrm>
          <a:custGeom>
            <a:avLst/>
            <a:gdLst/>
            <a:ahLst/>
            <a:cxnLst/>
            <a:rect l="l" t="t" r="r" b="b"/>
            <a:pathLst>
              <a:path w="9144000" h="979170">
                <a:moveTo>
                  <a:pt x="9144000" y="979169"/>
                </a:moveTo>
                <a:lnTo>
                  <a:pt x="9144000" y="0"/>
                </a:lnTo>
                <a:lnTo>
                  <a:pt x="0" y="0"/>
                </a:lnTo>
                <a:lnTo>
                  <a:pt x="0" y="979170"/>
                </a:lnTo>
                <a:lnTo>
                  <a:pt x="9144000" y="979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52600" y="1105526"/>
            <a:ext cx="8811006" cy="830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52600" y="1917241"/>
            <a:ext cx="8811006" cy="981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52600" y="2880360"/>
            <a:ext cx="8811006" cy="9818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52600" y="3843477"/>
            <a:ext cx="8811006" cy="9818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52600" y="4806596"/>
            <a:ext cx="8811006" cy="9818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000" y="5777960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52600" y="5769713"/>
            <a:ext cx="8811006" cy="9758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13024" y="584305"/>
            <a:ext cx="6049594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The</a:t>
            </a:r>
            <a:r>
              <a:rPr sz="6600" spc="9" baseline="3103" dirty="0">
                <a:latin typeface="Calibri"/>
                <a:cs typeface="Calibri"/>
              </a:rPr>
              <a:t> </a:t>
            </a:r>
            <a:r>
              <a:rPr sz="6600" spc="4" baseline="3103" dirty="0">
                <a:latin typeface="Calibri"/>
                <a:cs typeface="Calibri"/>
              </a:rPr>
              <a:t>8</a:t>
            </a:r>
            <a:r>
              <a:rPr sz="6600" baseline="3103" dirty="0">
                <a:latin typeface="Calibri"/>
                <a:cs typeface="Calibri"/>
              </a:rPr>
              <a:t>‐Puzzle</a:t>
            </a:r>
            <a:r>
              <a:rPr sz="6600" spc="-3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latin typeface="Calibri"/>
                <a:cs typeface="Calibri"/>
              </a:rPr>
              <a:t>(S</a:t>
            </a:r>
            <a:r>
              <a:rPr sz="6600" spc="-54" baseline="3103" dirty="0">
                <a:latin typeface="Calibri"/>
                <a:cs typeface="Calibri"/>
              </a:rPr>
              <a:t>t</a:t>
            </a:r>
            <a:r>
              <a:rPr sz="6600" spc="-44" baseline="3103" dirty="0">
                <a:latin typeface="Calibri"/>
                <a:cs typeface="Calibri"/>
              </a:rPr>
              <a:t>at</a:t>
            </a:r>
            <a:r>
              <a:rPr sz="6600" baseline="3103" dirty="0">
                <a:latin typeface="Calibri"/>
                <a:cs typeface="Calibri"/>
              </a:rPr>
              <a:t>e</a:t>
            </a:r>
            <a:r>
              <a:rPr sz="6600" spc="-1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latin typeface="Calibri"/>
                <a:cs typeface="Calibri"/>
              </a:rPr>
              <a:t>Space)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1342" y="1319386"/>
            <a:ext cx="1837977" cy="7894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289">
              <a:lnSpc>
                <a:spcPts val="1935"/>
              </a:lnSpc>
              <a:spcBef>
                <a:spcPts val="96"/>
              </a:spcBef>
            </a:pPr>
            <a:r>
              <a:rPr sz="2700" baseline="3034" dirty="0">
                <a:latin typeface="Calibri"/>
                <a:cs typeface="Calibri"/>
              </a:rPr>
              <a:t>A portion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of the</a:t>
            </a:r>
            <a:endParaRPr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1"/>
              </a:spcBef>
            </a:pPr>
            <a:r>
              <a:rPr sz="2700" spc="-19" baseline="1517" dirty="0">
                <a:latin typeface="Calibri"/>
                <a:cs typeface="Calibri"/>
              </a:rPr>
              <a:t>stat</a:t>
            </a:r>
            <a:r>
              <a:rPr sz="2700" baseline="1517" dirty="0">
                <a:latin typeface="Calibri"/>
                <a:cs typeface="Calibri"/>
              </a:rPr>
              <a:t>e space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2700" spc="-19" baseline="1517" dirty="0">
                <a:latin typeface="Calibri"/>
                <a:cs typeface="Calibri"/>
              </a:rPr>
              <a:t>r</a:t>
            </a:r>
            <a:r>
              <a:rPr sz="2700" baseline="1517" dirty="0">
                <a:latin typeface="Calibri"/>
                <a:cs typeface="Calibri"/>
              </a:rPr>
              <a:t>ep</a:t>
            </a:r>
            <a:r>
              <a:rPr sz="2700" spc="-19" baseline="1517" dirty="0">
                <a:latin typeface="Calibri"/>
                <a:cs typeface="Calibri"/>
              </a:rPr>
              <a:t>r</a:t>
            </a:r>
            <a:r>
              <a:rPr sz="2700" baseline="1517" dirty="0">
                <a:latin typeface="Calibri"/>
                <a:cs typeface="Calibri"/>
              </a:rPr>
              <a:t>ese</a:t>
            </a:r>
            <a:r>
              <a:rPr sz="2700" spc="-19" baseline="1517" dirty="0">
                <a:latin typeface="Calibri"/>
                <a:cs typeface="Calibri"/>
              </a:rPr>
              <a:t>n</a:t>
            </a:r>
            <a:r>
              <a:rPr sz="2700" spc="-25" baseline="1517" dirty="0">
                <a:latin typeface="Calibri"/>
                <a:cs typeface="Calibri"/>
              </a:rPr>
              <a:t>t</a:t>
            </a:r>
            <a:r>
              <a:rPr sz="2700" spc="-14" baseline="1517" dirty="0">
                <a:latin typeface="Calibri"/>
                <a:cs typeface="Calibri"/>
              </a:rPr>
              <a:t>a</a:t>
            </a:r>
            <a:r>
              <a:rPr sz="2700" spc="-4" baseline="1517" dirty="0">
                <a:latin typeface="Calibri"/>
                <a:cs typeface="Calibri"/>
              </a:rPr>
              <a:t>t</a:t>
            </a:r>
            <a:r>
              <a:rPr sz="2700" baseline="1517" dirty="0">
                <a:latin typeface="Calibri"/>
                <a:cs typeface="Calibri"/>
              </a:rPr>
              <a:t>ion</a:t>
            </a:r>
            <a:r>
              <a:rPr sz="2700" spc="19" baseline="1517" dirty="0">
                <a:latin typeface="Calibri"/>
                <a:cs typeface="Calibri"/>
              </a:rPr>
              <a:t> </a:t>
            </a:r>
            <a:r>
              <a:rPr sz="2700" baseline="1517" dirty="0">
                <a:latin typeface="Calibri"/>
                <a:cs typeface="Calibri"/>
              </a:rPr>
              <a:t>of a</a:t>
            </a:r>
            <a:endParaRPr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831349" y="2128852"/>
            <a:ext cx="1669105" cy="24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baseline="3034" dirty="0">
                <a:latin typeface="Calibri"/>
                <a:cs typeface="Calibri"/>
              </a:rPr>
              <a:t>8‐Puzzle</a:t>
            </a:r>
            <a:r>
              <a:rPr sz="2700" spc="-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p</a:t>
            </a:r>
            <a:r>
              <a:rPr sz="2700" spc="-29" baseline="3034" dirty="0">
                <a:latin typeface="Calibri"/>
                <a:cs typeface="Calibri"/>
              </a:rPr>
              <a:t>r</a:t>
            </a:r>
            <a:r>
              <a:rPr sz="2700" baseline="3034" dirty="0">
                <a:latin typeface="Calibri"/>
                <a:cs typeface="Calibri"/>
              </a:rPr>
              <a:t>oblem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933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/>
          <p:nvPr/>
        </p:nvSpPr>
        <p:spPr>
          <a:xfrm>
            <a:off x="1524000" y="4769683"/>
            <a:ext cx="9144000" cy="1009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0944">
              <a:lnSpc>
                <a:spcPts val="2240"/>
              </a:lnSpc>
              <a:spcBef>
                <a:spcPts val="111"/>
              </a:spcBef>
            </a:pPr>
            <a:r>
              <a:rPr sz="3300" baseline="3723" dirty="0">
                <a:latin typeface="Calibri"/>
                <a:cs typeface="Calibri"/>
              </a:rPr>
              <a:t>Add               </a:t>
            </a:r>
            <a:r>
              <a:rPr sz="3300" spc="234" baseline="3723" dirty="0">
                <a:latin typeface="Calibri"/>
                <a:cs typeface="Calibri"/>
              </a:rPr>
              <a:t> </a:t>
            </a:r>
            <a:r>
              <a:rPr sz="3300" baseline="3723" dirty="0">
                <a:latin typeface="Calibri"/>
                <a:cs typeface="Calibri"/>
              </a:rPr>
              <a:t>t                 </a:t>
            </a:r>
            <a:r>
              <a:rPr sz="3300" spc="352" baseline="3723" dirty="0">
                <a:latin typeface="Calibri"/>
                <a:cs typeface="Calibri"/>
              </a:rPr>
              <a:t> </a:t>
            </a:r>
            <a:r>
              <a:rPr sz="3300" baseline="3723" dirty="0">
                <a:latin typeface="Calibri"/>
                <a:cs typeface="Calibri"/>
              </a:rPr>
              <a:t>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58200" y="1723870"/>
            <a:ext cx="2057400" cy="1170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58200" y="2884108"/>
            <a:ext cx="2057400" cy="6385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09800" y="5771207"/>
            <a:ext cx="2659380" cy="172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5777960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09800" y="5771213"/>
            <a:ext cx="2659380" cy="4129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05662" y="726711"/>
            <a:ext cx="6379405" cy="2219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48002">
              <a:lnSpc>
                <a:spcPts val="4580"/>
              </a:lnSpc>
              <a:spcBef>
                <a:spcPts val="229"/>
              </a:spcBef>
            </a:pPr>
            <a:r>
              <a:rPr sz="6600" spc="4" baseline="3103" dirty="0">
                <a:latin typeface="Calibri"/>
                <a:cs typeface="Calibri"/>
              </a:rPr>
              <a:t>8</a:t>
            </a:r>
            <a:r>
              <a:rPr sz="6600" baseline="3103" dirty="0">
                <a:latin typeface="Calibri"/>
                <a:cs typeface="Calibri"/>
              </a:rPr>
              <a:t>‐Queens</a:t>
            </a:r>
            <a:r>
              <a:rPr sz="6600" spc="-3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64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</a:t>
            </a:r>
            <a:endParaRPr sz="4400">
              <a:latin typeface="Calibri"/>
              <a:cs typeface="Calibri"/>
            </a:endParaRPr>
          </a:p>
          <a:p>
            <a:pPr marL="355600" marR="443290" indent="-342900">
              <a:lnSpc>
                <a:spcPts val="2380"/>
              </a:lnSpc>
              <a:spcBef>
                <a:spcPts val="2342"/>
              </a:spcBef>
            </a:pPr>
            <a:r>
              <a:rPr sz="2200" dirty="0">
                <a:latin typeface="Calibri"/>
                <a:cs typeface="Calibri"/>
              </a:rPr>
              <a:t>Place</a:t>
            </a:r>
            <a:r>
              <a:rPr sz="2200" spc="-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8‐queens</a:t>
            </a:r>
            <a:r>
              <a:rPr sz="2200" spc="-19" dirty="0">
                <a:latin typeface="Calibri"/>
                <a:cs typeface="Calibri"/>
              </a:rPr>
              <a:t> </a:t>
            </a:r>
            <a:r>
              <a:rPr sz="2200" spc="4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n a chessboa</a:t>
            </a:r>
            <a:r>
              <a:rPr sz="2200" spc="-34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spc="-4" dirty="0">
                <a:latin typeface="Calibri"/>
                <a:cs typeface="Calibri"/>
              </a:rPr>
              <a:t>suc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</a:t>
            </a:r>
            <a:r>
              <a:rPr sz="2200" spc="-19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queen </a:t>
            </a:r>
            <a:r>
              <a:rPr sz="2200" spc="-14" dirty="0">
                <a:latin typeface="Calibri"/>
                <a:cs typeface="Calibri"/>
              </a:rPr>
              <a:t>a</a:t>
            </a:r>
            <a:r>
              <a:rPr sz="2200" spc="-29" dirty="0">
                <a:latin typeface="Calibri"/>
                <a:cs typeface="Calibri"/>
              </a:rPr>
              <a:t>tt</a:t>
            </a:r>
            <a:r>
              <a:rPr sz="2200" dirty="0">
                <a:latin typeface="Calibri"/>
                <a:cs typeface="Calibri"/>
              </a:rPr>
              <a:t>ac</a:t>
            </a:r>
            <a:r>
              <a:rPr sz="2200" spc="-19" dirty="0">
                <a:latin typeface="Calibri"/>
                <a:cs typeface="Calibri"/>
              </a:rPr>
              <a:t>k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1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9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</a:t>
            </a:r>
            <a:r>
              <a:rPr sz="2200" spc="-219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12716" marR="83781">
              <a:lnSpc>
                <a:spcPct val="101725"/>
              </a:lnSpc>
              <a:spcBef>
                <a:spcPts val="210"/>
              </a:spcBef>
            </a:pPr>
            <a:r>
              <a:rPr sz="2200" spc="-89" dirty="0">
                <a:latin typeface="Calibri"/>
                <a:cs typeface="Calibri"/>
              </a:rPr>
              <a:t>T</a:t>
            </a:r>
            <a:r>
              <a:rPr sz="2200" spc="-19" dirty="0">
                <a:latin typeface="Calibri"/>
                <a:cs typeface="Calibri"/>
              </a:rPr>
              <a:t>w</a:t>
            </a:r>
            <a:r>
              <a:rPr sz="2200" dirty="0">
                <a:latin typeface="Calibri"/>
                <a:cs typeface="Calibri"/>
              </a:rPr>
              <a:t>o main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kinds</a:t>
            </a:r>
            <a:r>
              <a:rPr sz="2200" spc="-2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f</a:t>
            </a:r>
            <a:r>
              <a:rPr sz="2200" dirty="0">
                <a:latin typeface="Calibri"/>
                <a:cs typeface="Calibri"/>
              </a:rPr>
              <a:t>ormul</a:t>
            </a:r>
            <a:r>
              <a:rPr sz="2200" spc="-19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tion</a:t>
            </a:r>
            <a:endParaRPr sz="2200">
              <a:latin typeface="Calibri"/>
              <a:cs typeface="Calibri"/>
            </a:endParaRPr>
          </a:p>
          <a:p>
            <a:pPr marL="12716" marR="83781">
              <a:lnSpc>
                <a:spcPct val="101725"/>
              </a:lnSpc>
              <a:spcBef>
                <a:spcPts val="215"/>
              </a:spcBef>
            </a:pPr>
            <a:r>
              <a:rPr sz="2200" b="1" dirty="0">
                <a:latin typeface="Calibri"/>
                <a:cs typeface="Calibri"/>
              </a:rPr>
              <a:t>1‐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</a:t>
            </a:r>
            <a:r>
              <a:rPr sz="2200" b="1" spc="4" dirty="0">
                <a:latin typeface="Calibri"/>
                <a:cs typeface="Calibri"/>
              </a:rPr>
              <a:t>m</a:t>
            </a:r>
            <a:r>
              <a:rPr sz="2200" b="1" dirty="0">
                <a:latin typeface="Calibri"/>
                <a:cs typeface="Calibri"/>
              </a:rPr>
              <a:t>pl</a:t>
            </a:r>
            <a:r>
              <a:rPr sz="2200" b="1" spc="-14" dirty="0">
                <a:latin typeface="Calibri"/>
                <a:cs typeface="Calibri"/>
              </a:rPr>
              <a:t>e</a:t>
            </a:r>
            <a:r>
              <a:rPr sz="2200" b="1" spc="-29" dirty="0">
                <a:latin typeface="Calibri"/>
                <a:cs typeface="Calibri"/>
              </a:rPr>
              <a:t>t</a:t>
            </a:r>
            <a:r>
              <a:rPr sz="2200" b="1" dirty="0">
                <a:latin typeface="Calibri"/>
                <a:cs typeface="Calibri"/>
              </a:rPr>
              <a:t>e‐</a:t>
            </a:r>
            <a:r>
              <a:rPr sz="2200" b="1" spc="-25" dirty="0">
                <a:latin typeface="Calibri"/>
                <a:cs typeface="Calibri"/>
              </a:rPr>
              <a:t>stat</a:t>
            </a:r>
            <a:r>
              <a:rPr sz="2200" b="1" dirty="0">
                <a:latin typeface="Calibri"/>
                <a:cs typeface="Calibri"/>
              </a:rPr>
              <a:t>e</a:t>
            </a:r>
            <a:r>
              <a:rPr sz="2200" b="1" spc="14" dirty="0">
                <a:latin typeface="Calibri"/>
                <a:cs typeface="Calibri"/>
              </a:rPr>
              <a:t> </a:t>
            </a:r>
            <a:r>
              <a:rPr sz="2200" b="1" spc="-34" dirty="0">
                <a:latin typeface="Calibri"/>
                <a:cs typeface="Calibri"/>
              </a:rPr>
              <a:t>f</a:t>
            </a:r>
            <a:r>
              <a:rPr sz="2200" b="1" dirty="0">
                <a:latin typeface="Calibri"/>
                <a:cs typeface="Calibri"/>
              </a:rPr>
              <a:t>o</a:t>
            </a:r>
            <a:r>
              <a:rPr sz="2200" b="1" spc="-4" dirty="0">
                <a:latin typeface="Calibri"/>
                <a:cs typeface="Calibri"/>
              </a:rPr>
              <a:t>r</a:t>
            </a:r>
            <a:r>
              <a:rPr sz="2200" b="1" dirty="0">
                <a:latin typeface="Calibri"/>
                <a:cs typeface="Calibri"/>
              </a:rPr>
              <a:t>mul</a:t>
            </a:r>
            <a:r>
              <a:rPr sz="2200" b="1" spc="-19" dirty="0">
                <a:latin typeface="Calibri"/>
                <a:cs typeface="Calibri"/>
              </a:rPr>
              <a:t>a</a:t>
            </a:r>
            <a:r>
              <a:rPr sz="2200" b="1" dirty="0">
                <a:latin typeface="Calibri"/>
                <a:cs typeface="Calibri"/>
              </a:rPr>
              <a:t>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5662" y="3009337"/>
            <a:ext cx="6394125" cy="20479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1948">
              <a:lnSpc>
                <a:spcPts val="2340"/>
              </a:lnSpc>
              <a:spcBef>
                <a:spcPts val="117"/>
              </a:spcBef>
            </a:pPr>
            <a:r>
              <a:rPr sz="3300" baseline="2482" dirty="0">
                <a:latin typeface="Calibri"/>
                <a:cs typeface="Calibri"/>
              </a:rPr>
              <a:t>S</a:t>
            </a:r>
            <a:r>
              <a:rPr sz="3300" spc="-29" baseline="2482" dirty="0">
                <a:latin typeface="Calibri"/>
                <a:cs typeface="Calibri"/>
              </a:rPr>
              <a:t>t</a:t>
            </a:r>
            <a:r>
              <a:rPr sz="3300" baseline="2482" dirty="0">
                <a:latin typeface="Calibri"/>
                <a:cs typeface="Calibri"/>
              </a:rPr>
              <a:t>arts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with</a:t>
            </a:r>
            <a:r>
              <a:rPr sz="3300" spc="-4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all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8 queens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spc="4" baseline="2482" dirty="0">
                <a:latin typeface="Calibri"/>
                <a:cs typeface="Calibri"/>
              </a:rPr>
              <a:t>o</a:t>
            </a:r>
            <a:r>
              <a:rPr sz="3300" baseline="2482" dirty="0">
                <a:latin typeface="Calibri"/>
                <a:cs typeface="Calibri"/>
              </a:rPr>
              <a:t>n</a:t>
            </a:r>
            <a:r>
              <a:rPr sz="3300" spc="-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the boa</a:t>
            </a:r>
            <a:r>
              <a:rPr sz="3300" spc="-29" baseline="2482" dirty="0">
                <a:latin typeface="Calibri"/>
                <a:cs typeface="Calibri"/>
              </a:rPr>
              <a:t>r</a:t>
            </a:r>
            <a:r>
              <a:rPr sz="3300" baseline="2482" dirty="0">
                <a:latin typeface="Calibri"/>
                <a:cs typeface="Calibri"/>
              </a:rPr>
              <a:t>d</a:t>
            </a:r>
            <a:r>
              <a:rPr sz="3300" spc="-25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and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spc="-4" baseline="2482" dirty="0">
                <a:latin typeface="Calibri"/>
                <a:cs typeface="Calibri"/>
              </a:rPr>
              <a:t>mo</a:t>
            </a:r>
            <a:r>
              <a:rPr sz="3300" spc="-19" baseline="2482" dirty="0">
                <a:latin typeface="Calibri"/>
                <a:cs typeface="Calibri"/>
              </a:rPr>
              <a:t>v</a:t>
            </a:r>
            <a:r>
              <a:rPr sz="3300" spc="4" baseline="2482" dirty="0">
                <a:latin typeface="Calibri"/>
                <a:cs typeface="Calibri"/>
              </a:rPr>
              <a:t>e</a:t>
            </a:r>
            <a:r>
              <a:rPr sz="3300" baseline="2482" dirty="0">
                <a:latin typeface="Calibri"/>
                <a:cs typeface="Calibri"/>
              </a:rPr>
              <a:t>s them</a:t>
            </a:r>
            <a:endParaRPr sz="2200">
              <a:latin typeface="Calibri"/>
              <a:cs typeface="Calibri"/>
            </a:endParaRPr>
          </a:p>
          <a:p>
            <a:pPr marL="355611" marR="41948">
              <a:lnSpc>
                <a:spcPts val="2375"/>
              </a:lnSpc>
              <a:spcBef>
                <a:spcPts val="1"/>
              </a:spcBef>
            </a:pPr>
            <a:r>
              <a:rPr sz="3300" baseline="2482" dirty="0">
                <a:latin typeface="Calibri"/>
                <a:cs typeface="Calibri"/>
              </a:rPr>
              <a:t>a</a:t>
            </a:r>
            <a:r>
              <a:rPr sz="3300" spc="-34" baseline="2482" dirty="0">
                <a:latin typeface="Calibri"/>
                <a:cs typeface="Calibri"/>
              </a:rPr>
              <a:t>r</a:t>
            </a:r>
            <a:r>
              <a:rPr sz="3300" baseline="2482" dirty="0">
                <a:latin typeface="Calibri"/>
                <a:cs typeface="Calibri"/>
              </a:rPr>
              <a:t>ound.</a:t>
            </a:r>
            <a:endParaRPr sz="2200">
              <a:latin typeface="Calibri"/>
              <a:cs typeface="Calibri"/>
            </a:endParaRPr>
          </a:p>
          <a:p>
            <a:pPr marL="12700" marR="41948">
              <a:lnSpc>
                <a:spcPct val="101725"/>
              </a:lnSpc>
              <a:spcBef>
                <a:spcPts val="96"/>
              </a:spcBef>
            </a:pPr>
            <a:r>
              <a:rPr sz="2200" b="1" dirty="0">
                <a:latin typeface="Calibri"/>
                <a:cs typeface="Calibri"/>
              </a:rPr>
              <a:t>2‐Inc</a:t>
            </a:r>
            <a:r>
              <a:rPr sz="2200" b="1" spc="-25" dirty="0">
                <a:latin typeface="Calibri"/>
                <a:cs typeface="Calibri"/>
              </a:rPr>
              <a:t>r</a:t>
            </a:r>
            <a:r>
              <a:rPr sz="2200" b="1" dirty="0">
                <a:latin typeface="Calibri"/>
                <a:cs typeface="Calibri"/>
              </a:rPr>
              <a:t>eme</a:t>
            </a:r>
            <a:r>
              <a:rPr sz="2200" b="1" spc="-19" dirty="0">
                <a:latin typeface="Calibri"/>
                <a:cs typeface="Calibri"/>
              </a:rPr>
              <a:t>n</a:t>
            </a:r>
            <a:r>
              <a:rPr sz="2200" b="1" spc="-25" dirty="0">
                <a:latin typeface="Calibri"/>
                <a:cs typeface="Calibri"/>
              </a:rPr>
              <a:t>t</a:t>
            </a:r>
            <a:r>
              <a:rPr sz="2200" b="1" dirty="0">
                <a:latin typeface="Calibri"/>
                <a:cs typeface="Calibri"/>
              </a:rPr>
              <a:t>al</a:t>
            </a:r>
            <a:r>
              <a:rPr sz="2200" b="1" spc="-9" dirty="0">
                <a:latin typeface="Calibri"/>
                <a:cs typeface="Calibri"/>
              </a:rPr>
              <a:t> </a:t>
            </a:r>
            <a:r>
              <a:rPr sz="2200" b="1" spc="-39" dirty="0">
                <a:latin typeface="Calibri"/>
                <a:cs typeface="Calibri"/>
              </a:rPr>
              <a:t>f</a:t>
            </a:r>
            <a:r>
              <a:rPr sz="2200" b="1" dirty="0">
                <a:latin typeface="Calibri"/>
                <a:cs typeface="Calibri"/>
              </a:rPr>
              <a:t>ormul</a:t>
            </a:r>
            <a:r>
              <a:rPr sz="2200" b="1" spc="-19" dirty="0">
                <a:latin typeface="Calibri"/>
                <a:cs typeface="Calibri"/>
              </a:rPr>
              <a:t>a</a:t>
            </a:r>
            <a:r>
              <a:rPr sz="2200" b="1" dirty="0">
                <a:latin typeface="Calibri"/>
                <a:cs typeface="Calibri"/>
              </a:rPr>
              <a:t>tion: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215"/>
              </a:spcBef>
            </a:pPr>
            <a:r>
              <a:rPr sz="2200" dirty="0">
                <a:latin typeface="Calibri"/>
                <a:cs typeface="Calibri"/>
              </a:rPr>
              <a:t>‐</a:t>
            </a:r>
            <a:r>
              <a:rPr sz="2200" b="1" dirty="0">
                <a:latin typeface="Calibri"/>
                <a:cs typeface="Calibri"/>
              </a:rPr>
              <a:t>S</a:t>
            </a:r>
            <a:r>
              <a:rPr sz="2200" b="1" spc="-25" dirty="0">
                <a:latin typeface="Calibri"/>
                <a:cs typeface="Calibri"/>
              </a:rPr>
              <a:t>t</a:t>
            </a:r>
            <a:r>
              <a:rPr sz="2200" b="1" spc="-19" dirty="0">
                <a:latin typeface="Calibri"/>
                <a:cs typeface="Calibri"/>
              </a:rPr>
              <a:t>a</a:t>
            </a:r>
            <a:r>
              <a:rPr sz="2200" b="1" spc="-29" dirty="0">
                <a:latin typeface="Calibri"/>
                <a:cs typeface="Calibri"/>
              </a:rPr>
              <a:t>t</a:t>
            </a:r>
            <a:r>
              <a:rPr sz="2200" b="1" dirty="0">
                <a:latin typeface="Calibri"/>
                <a:cs typeface="Calibri"/>
              </a:rPr>
              <a:t>e</a:t>
            </a:r>
            <a:r>
              <a:rPr sz="2200" b="1" spc="-4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9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y ar</a:t>
            </a:r>
            <a:r>
              <a:rPr sz="2200" spc="-44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dirty="0">
                <a:latin typeface="Calibri"/>
                <a:cs typeface="Calibri"/>
              </a:rPr>
              <a:t>eme</a:t>
            </a:r>
            <a:r>
              <a:rPr sz="2200" spc="-14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t</a:t>
            </a:r>
            <a:r>
              <a:rPr sz="2200" spc="-24" dirty="0">
                <a:latin typeface="Calibri"/>
                <a:cs typeface="Calibri"/>
              </a:rPr>
              <a:t> </a:t>
            </a:r>
            <a:r>
              <a:rPr sz="2200" spc="4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f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 </a:t>
            </a:r>
            <a:r>
              <a:rPr sz="2200" spc="-2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o 8 queens</a:t>
            </a:r>
            <a:r>
              <a:rPr sz="2200" spc="-14" dirty="0">
                <a:latin typeface="Calibri"/>
                <a:cs typeface="Calibri"/>
              </a:rPr>
              <a:t> </a:t>
            </a:r>
            <a:r>
              <a:rPr sz="2200" spc="4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boa</a:t>
            </a:r>
            <a:r>
              <a:rPr sz="2200" spc="-29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d</a:t>
            </a:r>
            <a:endParaRPr sz="2200">
              <a:latin typeface="Calibri"/>
              <a:cs typeface="Calibri"/>
            </a:endParaRPr>
          </a:p>
          <a:p>
            <a:pPr marL="12811" marR="41948">
              <a:lnSpc>
                <a:spcPct val="101725"/>
              </a:lnSpc>
              <a:spcBef>
                <a:spcPts val="215"/>
              </a:spcBef>
            </a:pPr>
            <a:r>
              <a:rPr sz="2200" dirty="0">
                <a:latin typeface="Calibri"/>
                <a:cs typeface="Calibri"/>
              </a:rPr>
              <a:t>‐</a:t>
            </a:r>
            <a:r>
              <a:rPr sz="2200" b="1" dirty="0">
                <a:latin typeface="Calibri"/>
                <a:cs typeface="Calibri"/>
              </a:rPr>
              <a:t>Initial</a:t>
            </a:r>
            <a:r>
              <a:rPr sz="2200" b="1" spc="-9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stat</a:t>
            </a:r>
            <a:r>
              <a:rPr sz="2200" b="1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 queens</a:t>
            </a:r>
            <a:r>
              <a:rPr sz="2200" spc="-14" dirty="0">
                <a:latin typeface="Calibri"/>
                <a:cs typeface="Calibri"/>
              </a:rPr>
              <a:t> </a:t>
            </a:r>
            <a:r>
              <a:rPr sz="2200" spc="4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boa</a:t>
            </a:r>
            <a:r>
              <a:rPr sz="2200" spc="-29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d</a:t>
            </a:r>
            <a:endParaRPr sz="2200">
              <a:latin typeface="Calibri"/>
              <a:cs typeface="Calibri"/>
            </a:endParaRPr>
          </a:p>
          <a:p>
            <a:pPr marL="12700" marR="41948">
              <a:lnSpc>
                <a:spcPct val="101725"/>
              </a:lnSpc>
              <a:spcBef>
                <a:spcPts val="215"/>
              </a:spcBef>
            </a:pPr>
            <a:r>
              <a:rPr sz="2200" dirty="0">
                <a:latin typeface="Calibri"/>
                <a:cs typeface="Calibri"/>
              </a:rPr>
              <a:t>‐</a:t>
            </a:r>
            <a:r>
              <a:rPr sz="2200" b="1" spc="-4" dirty="0">
                <a:latin typeface="Calibri"/>
                <a:cs typeface="Calibri"/>
              </a:rPr>
              <a:t>S</a:t>
            </a:r>
            <a:r>
              <a:rPr sz="2200" b="1" dirty="0">
                <a:latin typeface="Calibri"/>
                <a:cs typeface="Calibri"/>
              </a:rPr>
              <a:t>uccessor function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 a queen</a:t>
            </a:r>
            <a:r>
              <a:rPr sz="2200" spc="-14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o a</a:t>
            </a:r>
            <a:r>
              <a:rPr sz="2200" spc="-39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9" dirty="0">
                <a:latin typeface="Calibri"/>
                <a:cs typeface="Calibri"/>
              </a:rPr>
              <a:t>p</a:t>
            </a:r>
            <a:r>
              <a:rPr sz="2200" dirty="0">
                <a:latin typeface="Calibri"/>
                <a:cs typeface="Calibri"/>
              </a:rPr>
              <a:t>ty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squa</a:t>
            </a:r>
            <a:r>
              <a:rPr sz="2200" spc="-29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5650" y="5119954"/>
            <a:ext cx="1264624" cy="3000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="1" baseline="2482" dirty="0">
                <a:latin typeface="Calibri"/>
                <a:cs typeface="Calibri"/>
              </a:rPr>
              <a:t>‐Goal </a:t>
            </a:r>
            <a:r>
              <a:rPr sz="3300" b="1" spc="-29" baseline="2482" dirty="0">
                <a:latin typeface="Calibri"/>
                <a:cs typeface="Calibri"/>
              </a:rPr>
              <a:t>t</a:t>
            </a:r>
            <a:r>
              <a:rPr sz="3300" b="1" baseline="2482" dirty="0">
                <a:latin typeface="Calibri"/>
                <a:cs typeface="Calibri"/>
              </a:rPr>
              <a:t>e</a:t>
            </a:r>
            <a:r>
              <a:rPr sz="3300" b="1" spc="-29" baseline="2482" dirty="0">
                <a:latin typeface="Calibri"/>
                <a:cs typeface="Calibri"/>
              </a:rPr>
              <a:t>s</a:t>
            </a:r>
            <a:r>
              <a:rPr sz="3300" b="1" baseline="2482" dirty="0">
                <a:latin typeface="Calibri"/>
                <a:cs typeface="Calibri"/>
              </a:rPr>
              <a:t>t</a:t>
            </a:r>
            <a:r>
              <a:rPr sz="3300" baseline="2482" dirty="0"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6778" y="5119954"/>
            <a:ext cx="4874080" cy="3000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aseline="2482" dirty="0">
                <a:latin typeface="Calibri"/>
                <a:cs typeface="Calibri"/>
              </a:rPr>
              <a:t>8 queens</a:t>
            </a:r>
            <a:r>
              <a:rPr sz="3300" spc="-14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a</a:t>
            </a:r>
            <a:r>
              <a:rPr sz="3300" spc="-29" baseline="2482" dirty="0">
                <a:latin typeface="Calibri"/>
                <a:cs typeface="Calibri"/>
              </a:rPr>
              <a:t>r</a:t>
            </a:r>
            <a:r>
              <a:rPr sz="3300" baseline="2482" dirty="0">
                <a:latin typeface="Calibri"/>
                <a:cs typeface="Calibri"/>
              </a:rPr>
              <a:t>e</a:t>
            </a:r>
            <a:r>
              <a:rPr sz="3300" spc="-9" baseline="2482" dirty="0">
                <a:latin typeface="Calibri"/>
                <a:cs typeface="Calibri"/>
              </a:rPr>
              <a:t> </a:t>
            </a:r>
            <a:r>
              <a:rPr sz="3300" spc="4" baseline="2482" dirty="0">
                <a:latin typeface="Calibri"/>
                <a:cs typeface="Calibri"/>
              </a:rPr>
              <a:t>o</a:t>
            </a:r>
            <a:r>
              <a:rPr sz="3300" baseline="2482" dirty="0">
                <a:latin typeface="Calibri"/>
                <a:cs typeface="Calibri"/>
              </a:rPr>
              <a:t>n the boa</a:t>
            </a:r>
            <a:r>
              <a:rPr sz="3300" spc="-29" baseline="2482" dirty="0">
                <a:latin typeface="Calibri"/>
                <a:cs typeface="Calibri"/>
              </a:rPr>
              <a:t>r</a:t>
            </a:r>
            <a:r>
              <a:rPr sz="3300" baseline="2482" dirty="0">
                <a:latin typeface="Calibri"/>
                <a:cs typeface="Calibri"/>
              </a:rPr>
              <a:t>d, </a:t>
            </a:r>
            <a:r>
              <a:rPr sz="3300" spc="-4" baseline="2482" dirty="0">
                <a:latin typeface="Calibri"/>
                <a:cs typeface="Calibri"/>
              </a:rPr>
              <a:t>non</a:t>
            </a:r>
            <a:r>
              <a:rPr sz="3300" baseline="2482" dirty="0">
                <a:latin typeface="Calibri"/>
                <a:cs typeface="Calibri"/>
              </a:rPr>
              <a:t>e</a:t>
            </a:r>
            <a:r>
              <a:rPr sz="3300" spc="-19" baseline="2482" dirty="0">
                <a:latin typeface="Calibri"/>
                <a:cs typeface="Calibri"/>
              </a:rPr>
              <a:t> </a:t>
            </a:r>
            <a:r>
              <a:rPr sz="3300" spc="-14" baseline="2482" dirty="0">
                <a:latin typeface="Calibri"/>
                <a:cs typeface="Calibri"/>
              </a:rPr>
              <a:t>a</a:t>
            </a:r>
            <a:r>
              <a:rPr sz="3300" spc="-29" baseline="2482" dirty="0">
                <a:latin typeface="Calibri"/>
                <a:cs typeface="Calibri"/>
              </a:rPr>
              <a:t>tt</a:t>
            </a:r>
            <a:r>
              <a:rPr sz="3300" baseline="2482" dirty="0">
                <a:latin typeface="Calibri"/>
                <a:cs typeface="Calibri"/>
              </a:rPr>
              <a:t>ac</a:t>
            </a:r>
            <a:r>
              <a:rPr sz="3300" spc="-69" baseline="2482" dirty="0">
                <a:latin typeface="Calibri"/>
                <a:cs typeface="Calibri"/>
              </a:rPr>
              <a:t>k</a:t>
            </a:r>
            <a:r>
              <a:rPr sz="3300" spc="4" baseline="2482" dirty="0">
                <a:latin typeface="Calibri"/>
                <a:cs typeface="Calibri"/>
              </a:rPr>
              <a:t>e</a:t>
            </a:r>
            <a:r>
              <a:rPr sz="3300" baseline="2482" dirty="0">
                <a:latin typeface="Calibri"/>
                <a:cs typeface="Calibri"/>
              </a:rPr>
              <a:t>d.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5662" y="5845477"/>
            <a:ext cx="152145" cy="3000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aseline="2482" dirty="0">
                <a:latin typeface="Calibri"/>
                <a:cs typeface="Calibri"/>
              </a:rPr>
              <a:t>(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6223" y="5845477"/>
            <a:ext cx="3465849" cy="3000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baseline="2482" dirty="0">
                <a:latin typeface="Calibri"/>
                <a:cs typeface="Calibri"/>
              </a:rPr>
              <a:t>possible</a:t>
            </a:r>
            <a:r>
              <a:rPr sz="3300" spc="-19" baseline="2482" dirty="0">
                <a:latin typeface="Calibri"/>
                <a:cs typeface="Calibri"/>
              </a:rPr>
              <a:t> </a:t>
            </a:r>
            <a:r>
              <a:rPr sz="3300" spc="-25" baseline="2482" dirty="0">
                <a:latin typeface="Calibri"/>
                <a:cs typeface="Calibri"/>
              </a:rPr>
              <a:t>stat</a:t>
            </a:r>
            <a:r>
              <a:rPr sz="3300" spc="4" baseline="2482" dirty="0">
                <a:latin typeface="Calibri"/>
                <a:cs typeface="Calibri"/>
              </a:rPr>
              <a:t>e</a:t>
            </a:r>
            <a:r>
              <a:rPr sz="3300" baseline="2482" dirty="0">
                <a:latin typeface="Calibri"/>
                <a:cs typeface="Calibri"/>
              </a:rPr>
              <a:t>s </a:t>
            </a:r>
            <a:r>
              <a:rPr sz="3300" spc="-25" baseline="2482" dirty="0">
                <a:latin typeface="Calibri"/>
                <a:cs typeface="Calibri"/>
              </a:rPr>
              <a:t>t</a:t>
            </a:r>
            <a:r>
              <a:rPr sz="3300" baseline="2482" dirty="0">
                <a:latin typeface="Calibri"/>
                <a:cs typeface="Calibri"/>
              </a:rPr>
              <a:t>o</a:t>
            </a:r>
            <a:r>
              <a:rPr sz="3300" spc="9" baseline="2482" dirty="0">
                <a:latin typeface="Calibri"/>
                <a:cs typeface="Calibri"/>
              </a:rPr>
              <a:t> </a:t>
            </a:r>
            <a:r>
              <a:rPr sz="3300" baseline="2482" dirty="0">
                <a:latin typeface="Calibri"/>
                <a:cs typeface="Calibri"/>
              </a:rPr>
              <a:t>i</a:t>
            </a:r>
            <a:r>
              <a:rPr sz="3300" spc="-34" baseline="2482" dirty="0">
                <a:latin typeface="Calibri"/>
                <a:cs typeface="Calibri"/>
              </a:rPr>
              <a:t>n</a:t>
            </a:r>
            <a:r>
              <a:rPr sz="3300" spc="-19" baseline="2482" dirty="0">
                <a:latin typeface="Calibri"/>
                <a:cs typeface="Calibri"/>
              </a:rPr>
              <a:t>v</a:t>
            </a:r>
            <a:r>
              <a:rPr sz="3300" spc="4" baseline="2482" dirty="0">
                <a:latin typeface="Calibri"/>
                <a:cs typeface="Calibri"/>
              </a:rPr>
              <a:t>e</a:t>
            </a:r>
            <a:r>
              <a:rPr sz="3300" spc="-19" baseline="2482" dirty="0">
                <a:latin typeface="Calibri"/>
                <a:cs typeface="Calibri"/>
              </a:rPr>
              <a:t>s</a:t>
            </a:r>
            <a:r>
              <a:rPr sz="3300" baseline="2482" dirty="0">
                <a:latin typeface="Calibri"/>
                <a:cs typeface="Calibri"/>
              </a:rPr>
              <a:t>ti</a:t>
            </a:r>
            <a:r>
              <a:rPr sz="3300" spc="-39" baseline="2482" dirty="0">
                <a:latin typeface="Calibri"/>
                <a:cs typeface="Calibri"/>
              </a:rPr>
              <a:t>g</a:t>
            </a:r>
            <a:r>
              <a:rPr sz="3300" spc="-25" baseline="2482" dirty="0">
                <a:latin typeface="Calibri"/>
                <a:cs typeface="Calibri"/>
              </a:rPr>
              <a:t>at</a:t>
            </a:r>
            <a:r>
              <a:rPr sz="3300" baseline="2482" dirty="0">
                <a:latin typeface="Calibri"/>
                <a:cs typeface="Calibri"/>
              </a:rPr>
              <a:t>e.)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951212" y="6580933"/>
            <a:ext cx="202194" cy="17488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1143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49294" y="681741"/>
            <a:ext cx="4777114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-79" baseline="3103" dirty="0">
                <a:latin typeface="Calibri"/>
                <a:cs typeface="Calibri"/>
              </a:rPr>
              <a:t>R</a:t>
            </a:r>
            <a:r>
              <a:rPr sz="6600" spc="4" baseline="3103" dirty="0">
                <a:latin typeface="Calibri"/>
                <a:cs typeface="Calibri"/>
              </a:rPr>
              <a:t>e</a:t>
            </a:r>
            <a:r>
              <a:rPr sz="6600" baseline="3103" dirty="0">
                <a:latin typeface="Calibri"/>
                <a:cs typeface="Calibri"/>
              </a:rPr>
              <a:t>al</a:t>
            </a:r>
            <a:r>
              <a:rPr sz="6600" spc="-20" baseline="3103" dirty="0">
                <a:latin typeface="Calibri"/>
                <a:cs typeface="Calibri"/>
              </a:rPr>
              <a:t> </a:t>
            </a:r>
            <a:r>
              <a:rPr sz="6600" spc="-39" baseline="3103" dirty="0">
                <a:latin typeface="Calibri"/>
                <a:cs typeface="Calibri"/>
              </a:rPr>
              <a:t>w</a:t>
            </a:r>
            <a:r>
              <a:rPr sz="6600" baseline="3103" dirty="0">
                <a:latin typeface="Calibri"/>
                <a:cs typeface="Calibri"/>
              </a:rPr>
              <a:t>orld</a:t>
            </a:r>
            <a:r>
              <a:rPr sz="6600" spc="24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69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5660" y="1704444"/>
            <a:ext cx="4924422" cy="375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="1" baseline="2925" dirty="0">
                <a:latin typeface="Calibri"/>
                <a:cs typeface="Calibri"/>
              </a:rPr>
              <a:t>Some</a:t>
            </a:r>
            <a:r>
              <a:rPr sz="4200" b="1" spc="-9" baseline="2925" dirty="0">
                <a:latin typeface="Calibri"/>
                <a:cs typeface="Calibri"/>
              </a:rPr>
              <a:t> </a:t>
            </a:r>
            <a:r>
              <a:rPr sz="4200" b="1" baseline="2925" dirty="0">
                <a:latin typeface="Calibri"/>
                <a:cs typeface="Calibri"/>
              </a:rPr>
              <a:t>of the </a:t>
            </a:r>
            <a:r>
              <a:rPr sz="4200" b="1" spc="-29" baseline="2925" dirty="0">
                <a:latin typeface="Calibri"/>
                <a:cs typeface="Calibri"/>
              </a:rPr>
              <a:t>r</a:t>
            </a:r>
            <a:r>
              <a:rPr sz="4200" b="1" spc="-4" baseline="2925" dirty="0">
                <a:latin typeface="Calibri"/>
                <a:cs typeface="Calibri"/>
              </a:rPr>
              <a:t>e</a:t>
            </a:r>
            <a:r>
              <a:rPr sz="4200" b="1" spc="4" baseline="2925" dirty="0">
                <a:latin typeface="Calibri"/>
                <a:cs typeface="Calibri"/>
              </a:rPr>
              <a:t>a</a:t>
            </a:r>
            <a:r>
              <a:rPr sz="4200" b="1" baseline="2925" dirty="0">
                <a:latin typeface="Calibri"/>
                <a:cs typeface="Calibri"/>
              </a:rPr>
              <a:t>l</a:t>
            </a:r>
            <a:r>
              <a:rPr sz="4200" b="1" spc="9" baseline="2925" dirty="0">
                <a:latin typeface="Calibri"/>
                <a:cs typeface="Calibri"/>
              </a:rPr>
              <a:t> </a:t>
            </a:r>
            <a:r>
              <a:rPr sz="4200" b="1" spc="-25" baseline="2925" dirty="0">
                <a:latin typeface="Calibri"/>
                <a:cs typeface="Calibri"/>
              </a:rPr>
              <a:t>w</a:t>
            </a:r>
            <a:r>
              <a:rPr sz="4200" b="1" baseline="2925" dirty="0">
                <a:latin typeface="Calibri"/>
                <a:cs typeface="Calibri"/>
              </a:rPr>
              <a:t>orld p</a:t>
            </a:r>
            <a:r>
              <a:rPr sz="4200" b="1" spc="-34" baseline="2925" dirty="0">
                <a:latin typeface="Calibri"/>
                <a:cs typeface="Calibri"/>
              </a:rPr>
              <a:t>r</a:t>
            </a:r>
            <a:r>
              <a:rPr sz="4200" b="1" baseline="2925" dirty="0">
                <a:latin typeface="Calibri"/>
                <a:cs typeface="Calibri"/>
              </a:rPr>
              <a:t>oblems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28944" y="1704445"/>
            <a:ext cx="648295" cy="375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="1" spc="4" baseline="2925" dirty="0">
                <a:latin typeface="Calibri"/>
                <a:cs typeface="Calibri"/>
              </a:rPr>
              <a:t>a</a:t>
            </a:r>
            <a:r>
              <a:rPr sz="4200" b="1" spc="-29" baseline="2925" dirty="0">
                <a:latin typeface="Calibri"/>
                <a:cs typeface="Calibri"/>
              </a:rPr>
              <a:t>r</a:t>
            </a:r>
            <a:r>
              <a:rPr sz="4200" b="1" baseline="2925" dirty="0">
                <a:latin typeface="Calibri"/>
                <a:cs typeface="Calibri"/>
              </a:rPr>
              <a:t>e,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5626" y="2145045"/>
            <a:ext cx="203373" cy="36068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46">
              <a:lnSpc>
                <a:spcPts val="2965"/>
              </a:lnSpc>
              <a:spcBef>
                <a:spcPts val="148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46">
              <a:lnSpc>
                <a:spcPct val="95825"/>
              </a:lnSpc>
              <a:spcBef>
                <a:spcPts val="326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35" marR="10">
              <a:lnSpc>
                <a:spcPct val="95825"/>
              </a:lnSpc>
              <a:spcBef>
                <a:spcPts val="475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35" marR="10">
              <a:lnSpc>
                <a:spcPct val="95825"/>
              </a:lnSpc>
              <a:spcBef>
                <a:spcPts val="475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35" marR="10">
              <a:lnSpc>
                <a:spcPct val="95825"/>
              </a:lnSpc>
              <a:spcBef>
                <a:spcPts val="475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35" marR="10">
              <a:lnSpc>
                <a:spcPct val="95825"/>
              </a:lnSpc>
              <a:spcBef>
                <a:spcPts val="475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35" marR="10">
              <a:lnSpc>
                <a:spcPct val="95825"/>
              </a:lnSpc>
              <a:spcBef>
                <a:spcPts val="475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 marR="46">
              <a:lnSpc>
                <a:spcPct val="95825"/>
              </a:lnSpc>
              <a:spcBef>
                <a:spcPts val="475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560" y="2166156"/>
            <a:ext cx="4536486" cy="22217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1" marR="65112">
              <a:lnSpc>
                <a:spcPts val="2955"/>
              </a:lnSpc>
              <a:spcBef>
                <a:spcPts val="147"/>
              </a:spcBef>
            </a:pPr>
            <a:r>
              <a:rPr sz="4200" spc="-54" baseline="2925" dirty="0">
                <a:latin typeface="Calibri"/>
                <a:cs typeface="Calibri"/>
              </a:rPr>
              <a:t>R</a:t>
            </a:r>
            <a:r>
              <a:rPr sz="4200" spc="-4" baseline="2925" dirty="0">
                <a:latin typeface="Calibri"/>
                <a:cs typeface="Calibri"/>
              </a:rPr>
              <a:t>ou</a:t>
            </a:r>
            <a:r>
              <a:rPr sz="4200" spc="-29" baseline="2925" dirty="0">
                <a:latin typeface="Calibri"/>
                <a:cs typeface="Calibri"/>
              </a:rPr>
              <a:t>t</a:t>
            </a:r>
            <a:r>
              <a:rPr sz="4200" baseline="2925" dirty="0">
                <a:latin typeface="Calibri"/>
                <a:cs typeface="Calibri"/>
              </a:rPr>
              <a:t>e finding p</a:t>
            </a:r>
            <a:r>
              <a:rPr sz="4200" spc="-44" baseline="2925" dirty="0">
                <a:latin typeface="Calibri"/>
                <a:cs typeface="Calibri"/>
              </a:rPr>
              <a:t>r</a:t>
            </a:r>
            <a:r>
              <a:rPr sz="4200" baseline="2925" dirty="0">
                <a:latin typeface="Calibri"/>
                <a:cs typeface="Calibri"/>
              </a:rPr>
              <a:t>oblem</a:t>
            </a:r>
            <a:endParaRPr sz="2800">
              <a:latin typeface="Calibri"/>
              <a:cs typeface="Calibri"/>
            </a:endParaRPr>
          </a:p>
          <a:p>
            <a:pPr marL="12700" marR="65112">
              <a:lnSpc>
                <a:spcPct val="101725"/>
              </a:lnSpc>
              <a:spcBef>
                <a:spcPts val="127"/>
              </a:spcBef>
            </a:pPr>
            <a:r>
              <a:rPr sz="2800" spc="-250" dirty="0">
                <a:latin typeface="Calibri"/>
                <a:cs typeface="Calibri"/>
              </a:rPr>
              <a:t>T</a:t>
            </a:r>
            <a:r>
              <a:rPr sz="2800" spc="-4" dirty="0">
                <a:latin typeface="Calibri"/>
                <a:cs typeface="Calibri"/>
              </a:rPr>
              <a:t>ou</a:t>
            </a:r>
            <a:r>
              <a:rPr sz="2800" dirty="0">
                <a:latin typeface="Calibri"/>
                <a:cs typeface="Calibri"/>
              </a:rPr>
              <a:t>ri</a:t>
            </a:r>
            <a:r>
              <a:rPr sz="2800" spc="-4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g p</a:t>
            </a:r>
            <a:r>
              <a:rPr sz="2800" spc="-44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oblems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275"/>
              </a:spcBef>
            </a:pPr>
            <a:r>
              <a:rPr sz="2800" spc="-169" dirty="0">
                <a:latin typeface="Calibri"/>
                <a:cs typeface="Calibri"/>
              </a:rPr>
              <a:t>T</a:t>
            </a:r>
            <a:r>
              <a:rPr sz="2800" spc="-59" dirty="0">
                <a:latin typeface="Calibri"/>
                <a:cs typeface="Calibri"/>
              </a:rPr>
              <a:t>r</a:t>
            </a:r>
            <a:r>
              <a:rPr sz="2800" spc="-44" dirty="0">
                <a:latin typeface="Calibri"/>
                <a:cs typeface="Calibri"/>
              </a:rPr>
              <a:t>a</a:t>
            </a:r>
            <a:r>
              <a:rPr sz="2800" spc="-29" dirty="0">
                <a:latin typeface="Calibri"/>
                <a:cs typeface="Calibri"/>
              </a:rPr>
              <a:t>v</a:t>
            </a:r>
            <a:r>
              <a:rPr sz="2800" spc="-4" dirty="0">
                <a:latin typeface="Calibri"/>
                <a:cs typeface="Calibri"/>
              </a:rPr>
              <a:t>ellin</a:t>
            </a:r>
            <a:r>
              <a:rPr sz="2800" dirty="0">
                <a:latin typeface="Calibri"/>
                <a:cs typeface="Calibri"/>
              </a:rPr>
              <a:t>g</a:t>
            </a:r>
            <a:r>
              <a:rPr sz="2800" spc="-1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salespe</a:t>
            </a:r>
            <a:r>
              <a:rPr sz="2800" spc="-44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son p</a:t>
            </a:r>
            <a:r>
              <a:rPr sz="2800" spc="-44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oblem</a:t>
            </a:r>
            <a:endParaRPr sz="2800">
              <a:latin typeface="Calibri"/>
              <a:cs typeface="Calibri"/>
            </a:endParaRPr>
          </a:p>
          <a:p>
            <a:pPr marL="12700" marR="65112">
              <a:lnSpc>
                <a:spcPct val="101725"/>
              </a:lnSpc>
              <a:spcBef>
                <a:spcPts val="275"/>
              </a:spcBef>
            </a:pPr>
            <a:r>
              <a:rPr sz="2800" dirty="0">
                <a:latin typeface="Calibri"/>
                <a:cs typeface="Calibri"/>
              </a:rPr>
              <a:t>VLSI</a:t>
            </a:r>
            <a:r>
              <a:rPr sz="2800" spc="-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spc="-39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out p</a:t>
            </a:r>
            <a:r>
              <a:rPr sz="2800" spc="-44" dirty="0">
                <a:latin typeface="Calibri"/>
                <a:cs typeface="Calibri"/>
              </a:rPr>
              <a:t>r</a:t>
            </a:r>
            <a:r>
              <a:rPr sz="2800" spc="-4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blem</a:t>
            </a:r>
            <a:endParaRPr sz="2800">
              <a:latin typeface="Calibri"/>
              <a:cs typeface="Calibri"/>
            </a:endParaRPr>
          </a:p>
          <a:p>
            <a:pPr marL="12700" marR="65112">
              <a:lnSpc>
                <a:spcPct val="101725"/>
              </a:lnSpc>
              <a:spcBef>
                <a:spcPts val="275"/>
              </a:spcBef>
            </a:pPr>
            <a:r>
              <a:rPr sz="2800" spc="-54" dirty="0">
                <a:latin typeface="Calibri"/>
                <a:cs typeface="Calibri"/>
              </a:rPr>
              <a:t>R</a:t>
            </a:r>
            <a:r>
              <a:rPr sz="2800" spc="-4" dirty="0">
                <a:latin typeface="Calibri"/>
                <a:cs typeface="Calibri"/>
              </a:rPr>
              <a:t>obo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44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vi</a:t>
            </a:r>
            <a:r>
              <a:rPr sz="2800" spc="-54" dirty="0">
                <a:latin typeface="Calibri"/>
                <a:cs typeface="Calibri"/>
              </a:rPr>
              <a:t>g</a:t>
            </a:r>
            <a:r>
              <a:rPr sz="2800" spc="-19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8527" y="4474641"/>
            <a:ext cx="2996473" cy="12983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35">
              <a:lnSpc>
                <a:spcPts val="2955"/>
              </a:lnSpc>
              <a:spcBef>
                <a:spcPts val="147"/>
              </a:spcBef>
            </a:pPr>
            <a:r>
              <a:rPr sz="4200" baseline="2925" dirty="0">
                <a:latin typeface="Calibri"/>
                <a:cs typeface="Calibri"/>
              </a:rPr>
              <a:t>Au</a:t>
            </a:r>
            <a:r>
              <a:rPr sz="4200" spc="-29" baseline="2925" dirty="0">
                <a:latin typeface="Calibri"/>
                <a:cs typeface="Calibri"/>
              </a:rPr>
              <a:t>t</a:t>
            </a:r>
            <a:r>
              <a:rPr sz="4200" spc="-4" baseline="2925" dirty="0">
                <a:latin typeface="Calibri"/>
                <a:cs typeface="Calibri"/>
              </a:rPr>
              <a:t>o</a:t>
            </a:r>
            <a:r>
              <a:rPr sz="4200" baseline="2925" dirty="0">
                <a:latin typeface="Calibri"/>
                <a:cs typeface="Calibri"/>
              </a:rPr>
              <a:t>m</a:t>
            </a:r>
            <a:r>
              <a:rPr sz="4200" spc="-19" baseline="2925" dirty="0">
                <a:latin typeface="Calibri"/>
                <a:cs typeface="Calibri"/>
              </a:rPr>
              <a:t>a</a:t>
            </a:r>
            <a:r>
              <a:rPr sz="4200" baseline="2925" dirty="0">
                <a:latin typeface="Calibri"/>
                <a:cs typeface="Calibri"/>
              </a:rPr>
              <a:t>tic assembly</a:t>
            </a:r>
            <a:endParaRPr sz="2800">
              <a:latin typeface="Calibri"/>
              <a:cs typeface="Calibri"/>
            </a:endParaRPr>
          </a:p>
          <a:p>
            <a:pPr marL="12735" marR="53378">
              <a:lnSpc>
                <a:spcPct val="101725"/>
              </a:lnSpc>
              <a:spcBef>
                <a:spcPts val="127"/>
              </a:spcBef>
            </a:pPr>
            <a:r>
              <a:rPr sz="2800" dirty="0">
                <a:latin typeface="Calibri"/>
                <a:cs typeface="Calibri"/>
              </a:rPr>
              <a:t>Drug Design</a:t>
            </a:r>
            <a:endParaRPr sz="2800">
              <a:latin typeface="Calibri"/>
              <a:cs typeface="Calibri"/>
            </a:endParaRPr>
          </a:p>
          <a:p>
            <a:pPr marL="12700" marR="53378">
              <a:lnSpc>
                <a:spcPct val="101725"/>
              </a:lnSpc>
              <a:spcBef>
                <a:spcPts val="275"/>
              </a:spcBef>
            </a:pPr>
            <a:r>
              <a:rPr sz="2800" dirty="0">
                <a:latin typeface="Calibri"/>
                <a:cs typeface="Calibri"/>
              </a:rPr>
              <a:t>P</a:t>
            </a:r>
            <a:r>
              <a:rPr sz="2800" spc="-44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4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ein Design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6275" y="4474641"/>
            <a:ext cx="1717428" cy="375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aseline="2925" dirty="0">
                <a:latin typeface="Calibri"/>
                <a:cs typeface="Calibri"/>
              </a:rPr>
              <a:t>sequencing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5662" y="5838606"/>
            <a:ext cx="203327" cy="375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5"/>
              </a:lnSpc>
              <a:spcBef>
                <a:spcPts val="148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8562" y="5859717"/>
            <a:ext cx="2706485" cy="375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5"/>
              </a:lnSpc>
              <a:spcBef>
                <a:spcPts val="147"/>
              </a:spcBef>
            </a:pPr>
            <a:r>
              <a:rPr sz="4200" baseline="2925" dirty="0">
                <a:latin typeface="Calibri"/>
                <a:cs typeface="Calibri"/>
              </a:rPr>
              <a:t>I</a:t>
            </a:r>
            <a:r>
              <a:rPr sz="4200" spc="-25" baseline="2925" dirty="0">
                <a:latin typeface="Calibri"/>
                <a:cs typeface="Calibri"/>
              </a:rPr>
              <a:t>n</a:t>
            </a:r>
            <a:r>
              <a:rPr sz="4200" spc="-29" baseline="2925" dirty="0">
                <a:latin typeface="Calibri"/>
                <a:cs typeface="Calibri"/>
              </a:rPr>
              <a:t>t</a:t>
            </a:r>
            <a:r>
              <a:rPr sz="4200" baseline="2925" dirty="0">
                <a:latin typeface="Calibri"/>
                <a:cs typeface="Calibri"/>
              </a:rPr>
              <a:t>ern</a:t>
            </a:r>
            <a:r>
              <a:rPr sz="4200" spc="-19" baseline="2925" dirty="0">
                <a:latin typeface="Calibri"/>
                <a:cs typeface="Calibri"/>
              </a:rPr>
              <a:t>e</a:t>
            </a:r>
            <a:r>
              <a:rPr sz="4200" baseline="2925" dirty="0">
                <a:latin typeface="Calibri"/>
                <a:cs typeface="Calibri"/>
              </a:rPr>
              <a:t>t</a:t>
            </a:r>
            <a:r>
              <a:rPr sz="4200" spc="-14" baseline="2925" dirty="0">
                <a:latin typeface="Calibri"/>
                <a:cs typeface="Calibri"/>
              </a:rPr>
              <a:t> </a:t>
            </a:r>
            <a:r>
              <a:rPr sz="4200" baseline="2925" dirty="0">
                <a:latin typeface="Calibri"/>
                <a:cs typeface="Calibri"/>
              </a:rPr>
              <a:t>sea</a:t>
            </a:r>
            <a:r>
              <a:rPr sz="4200" spc="-39" baseline="2925" dirty="0">
                <a:latin typeface="Calibri"/>
                <a:cs typeface="Calibri"/>
              </a:rPr>
              <a:t>r</a:t>
            </a:r>
            <a:r>
              <a:rPr sz="4200" baseline="2925" dirty="0">
                <a:latin typeface="Calibri"/>
                <a:cs typeface="Calibri"/>
              </a:rPr>
              <a:t>ching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2281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48"/>
          <p:cNvSpPr txBox="1"/>
          <p:nvPr/>
        </p:nvSpPr>
        <p:spPr>
          <a:xfrm>
            <a:off x="1524000" y="1875458"/>
            <a:ext cx="9144000" cy="1013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48512">
              <a:lnSpc>
                <a:spcPts val="2035"/>
              </a:lnSpc>
              <a:spcBef>
                <a:spcPts val="101"/>
              </a:spcBef>
            </a:pPr>
            <a:r>
              <a:rPr sz="3000" baseline="4096" dirty="0">
                <a:latin typeface="Calibri"/>
                <a:cs typeface="Calibri"/>
              </a:rPr>
              <a:t>l     </a:t>
            </a:r>
            <a:r>
              <a:rPr sz="3000" spc="144" baseline="4096" dirty="0">
                <a:latin typeface="Calibri"/>
                <a:cs typeface="Calibri"/>
              </a:rPr>
              <a:t> </a:t>
            </a:r>
            <a:r>
              <a:rPr sz="3000" spc="4" baseline="4096" dirty="0">
                <a:latin typeface="Calibri"/>
                <a:cs typeface="Calibri"/>
              </a:rPr>
              <a:t>t</a:t>
            </a:r>
            <a:r>
              <a:rPr sz="3000" baseline="4096" dirty="0">
                <a:latin typeface="Calibri"/>
                <a:cs typeface="Calibri"/>
              </a:rPr>
              <a:t>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24000" y="4753570"/>
            <a:ext cx="9144000" cy="10251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44574">
              <a:lnSpc>
                <a:spcPts val="2035"/>
              </a:lnSpc>
              <a:spcBef>
                <a:spcPts val="101"/>
              </a:spcBef>
            </a:pPr>
            <a:r>
              <a:rPr sz="3000" baseline="4096" dirty="0">
                <a:latin typeface="Calibri"/>
                <a:cs typeface="Calibri"/>
              </a:rPr>
              <a:t>b      </a:t>
            </a:r>
            <a:r>
              <a:rPr sz="3000" spc="376" baseline="4096" dirty="0">
                <a:latin typeface="Calibri"/>
                <a:cs typeface="Calibri"/>
              </a:rPr>
              <a:t> </a:t>
            </a:r>
            <a:r>
              <a:rPr sz="3000" spc="-4" baseline="4096" dirty="0">
                <a:latin typeface="Calibri"/>
                <a:cs typeface="Calibri"/>
              </a:rPr>
              <a:t>i</a:t>
            </a:r>
            <a:r>
              <a:rPr sz="3000" baseline="4096" dirty="0">
                <a:latin typeface="Calibri"/>
                <a:cs typeface="Calibri"/>
              </a:rPr>
              <a:t>t            </a:t>
            </a:r>
            <a:r>
              <a:rPr sz="3000" spc="134" baseline="4096" dirty="0">
                <a:latin typeface="Calibri"/>
                <a:cs typeface="Calibri"/>
              </a:rPr>
              <a:t> </a:t>
            </a:r>
            <a:r>
              <a:rPr sz="3000" baseline="4096" dirty="0">
                <a:latin typeface="Calibri"/>
                <a:cs typeface="Calibri"/>
              </a:rPr>
              <a:t>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24000" y="5725493"/>
            <a:ext cx="9144000" cy="1020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639793" algn="r">
              <a:lnSpc>
                <a:spcPts val="1835"/>
              </a:lnSpc>
              <a:spcBef>
                <a:spcPts val="91"/>
              </a:spcBef>
            </a:pPr>
            <a:r>
              <a:rPr sz="2700" baseline="3034" dirty="0">
                <a:latin typeface="Calibri"/>
                <a:cs typeface="Calibri"/>
              </a:rPr>
              <a:t>Milit                </a:t>
            </a:r>
            <a:r>
              <a:rPr sz="2700" spc="64" baseline="3034" dirty="0">
                <a:latin typeface="Calibri"/>
                <a:cs typeface="Calibri"/>
              </a:rPr>
              <a:t> </a:t>
            </a:r>
            <a:r>
              <a:rPr sz="2700" spc="-4" baseline="3034" dirty="0">
                <a:latin typeface="Calibri"/>
                <a:cs typeface="Calibri"/>
              </a:rPr>
              <a:t>ti</a:t>
            </a:r>
            <a:endParaRPr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722614" y="1723868"/>
            <a:ext cx="1568196" cy="206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86550" y="1723869"/>
            <a:ext cx="1642872" cy="206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722614" y="1922489"/>
            <a:ext cx="1568196" cy="12381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86550" y="1918953"/>
            <a:ext cx="1642872" cy="11045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558783" y="4127540"/>
            <a:ext cx="2048624" cy="6925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96002" y="4127541"/>
            <a:ext cx="2043683" cy="6925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58783" y="4811843"/>
            <a:ext cx="2045830" cy="7570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096000" y="4811843"/>
            <a:ext cx="2043684" cy="7195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24000" y="5777960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715767" y="726711"/>
            <a:ext cx="3144971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-89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</a:t>
            </a:r>
            <a:r>
              <a:rPr sz="6600" spc="-4" baseline="3103" dirty="0">
                <a:latin typeface="Calibri"/>
                <a:cs typeface="Calibri"/>
              </a:rPr>
              <a:t>u</a:t>
            </a:r>
            <a:r>
              <a:rPr sz="6600" spc="-44" baseline="3103" dirty="0">
                <a:latin typeface="Calibri"/>
                <a:cs typeface="Calibri"/>
              </a:rPr>
              <a:t>t</a:t>
            </a:r>
            <a:r>
              <a:rPr sz="6600" baseline="3103" dirty="0">
                <a:latin typeface="Calibri"/>
                <a:cs typeface="Calibri"/>
              </a:rPr>
              <a:t>e finding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80352" y="726711"/>
            <a:ext cx="2028800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69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16864" y="1503201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59776" y="1503201"/>
            <a:ext cx="705247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S</a:t>
            </a:r>
            <a:r>
              <a:rPr sz="3000" b="1" spc="-19" baseline="2730" dirty="0">
                <a:latin typeface="Calibri"/>
                <a:cs typeface="Calibri"/>
              </a:rPr>
              <a:t>ta</a:t>
            </a:r>
            <a:r>
              <a:rPr sz="3000" b="1" spc="-25" baseline="2730" dirty="0">
                <a:latin typeface="Calibri"/>
                <a:cs typeface="Calibri"/>
              </a:rPr>
              <a:t>t</a:t>
            </a:r>
            <a:r>
              <a:rPr sz="3000" b="1" baseline="2730" dirty="0">
                <a:latin typeface="Calibri"/>
                <a:cs typeface="Calibri"/>
              </a:rPr>
              <a:t>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74064" y="1862965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59814" y="1862965"/>
            <a:ext cx="995007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spc="-4" baseline="2730" dirty="0">
                <a:latin typeface="Calibri"/>
                <a:cs typeface="Calibri"/>
              </a:rPr>
              <a:t>l</a:t>
            </a:r>
            <a:r>
              <a:rPr sz="3000" baseline="2730" dirty="0">
                <a:latin typeface="Calibri"/>
                <a:cs typeface="Calibri"/>
              </a:rPr>
              <a:t>oc</a:t>
            </a:r>
            <a:r>
              <a:rPr sz="3000" spc="4" baseline="2730" dirty="0">
                <a:latin typeface="Calibri"/>
                <a:cs typeface="Calibri"/>
              </a:rPr>
              <a:t>at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16852" y="2222718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9762" y="2222718"/>
            <a:ext cx="1239182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Initial</a:t>
            </a:r>
            <a:r>
              <a:rPr sz="3000" b="1" spc="-14" baseline="2730" dirty="0">
                <a:latin typeface="Calibri"/>
                <a:cs typeface="Calibri"/>
              </a:rPr>
              <a:t> </a:t>
            </a:r>
            <a:r>
              <a:rPr sz="3000" b="1" spc="-25" baseline="273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74051" y="2582472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59795" y="2582472"/>
            <a:ext cx="1457511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s</a:t>
            </a:r>
            <a:r>
              <a:rPr sz="3000" spc="4" baseline="2730" dirty="0">
                <a:latin typeface="Calibri"/>
                <a:cs typeface="Calibri"/>
              </a:rPr>
              <a:t>ta</a:t>
            </a:r>
            <a:r>
              <a:rPr sz="3000" baseline="2730" dirty="0">
                <a:latin typeface="Calibri"/>
                <a:cs typeface="Calibri"/>
              </a:rPr>
              <a:t>r</a:t>
            </a:r>
            <a:r>
              <a:rPr sz="3000" spc="4" baseline="2730" dirty="0">
                <a:latin typeface="Calibri"/>
                <a:cs typeface="Calibri"/>
              </a:rPr>
              <a:t>t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ng</a:t>
            </a:r>
            <a:r>
              <a:rPr sz="3000" spc="-7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point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16864" y="2942256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9774" y="2942256"/>
            <a:ext cx="3264702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Successor</a:t>
            </a:r>
            <a:r>
              <a:rPr sz="3000" b="1" spc="19" baseline="2730" dirty="0">
                <a:latin typeface="Calibri"/>
                <a:cs typeface="Calibri"/>
              </a:rPr>
              <a:t> </a:t>
            </a:r>
            <a:r>
              <a:rPr sz="3000" b="1" baseline="2730" dirty="0">
                <a:latin typeface="Calibri"/>
                <a:cs typeface="Calibri"/>
              </a:rPr>
              <a:t>function</a:t>
            </a:r>
            <a:r>
              <a:rPr sz="3000" b="1" spc="4" baseline="2730" dirty="0">
                <a:latin typeface="Calibri"/>
                <a:cs typeface="Calibri"/>
              </a:rPr>
              <a:t> </a:t>
            </a:r>
            <a:r>
              <a:rPr sz="3000" b="1" baseline="2730" dirty="0">
                <a:latin typeface="Calibri"/>
                <a:cs typeface="Calibri"/>
              </a:rPr>
              <a:t>(ope</a:t>
            </a:r>
            <a:r>
              <a:rPr sz="3000" b="1" spc="-44" baseline="2730" dirty="0">
                <a:latin typeface="Calibri"/>
                <a:cs typeface="Calibri"/>
              </a:rPr>
              <a:t>r</a:t>
            </a:r>
            <a:r>
              <a:rPr sz="3000" b="1" spc="-19" baseline="2730" dirty="0">
                <a:latin typeface="Calibri"/>
                <a:cs typeface="Calibri"/>
              </a:rPr>
              <a:t>at</a:t>
            </a:r>
            <a:r>
              <a:rPr sz="3000" b="1" baseline="2730" dirty="0">
                <a:latin typeface="Calibri"/>
                <a:cs typeface="Calibri"/>
              </a:rPr>
              <a:t>o</a:t>
            </a:r>
            <a:r>
              <a:rPr sz="3000" b="1" spc="-25" baseline="2730" dirty="0">
                <a:latin typeface="Calibri"/>
                <a:cs typeface="Calibri"/>
              </a:rPr>
              <a:t>r</a:t>
            </a:r>
            <a:r>
              <a:rPr sz="3000" b="1" baseline="2730" dirty="0">
                <a:latin typeface="Calibri"/>
                <a:cs typeface="Calibri"/>
              </a:rPr>
              <a:t>s)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65290" y="3209643"/>
            <a:ext cx="1422410" cy="24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baseline="3034" dirty="0">
                <a:latin typeface="Calibri"/>
                <a:cs typeface="Calibri"/>
              </a:rPr>
              <a:t>Car Navigation</a:t>
            </a:r>
            <a:endParaRPr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60924" y="3216390"/>
            <a:ext cx="1249623" cy="5196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22">
              <a:lnSpc>
                <a:spcPts val="1935"/>
              </a:lnSpc>
              <a:spcBef>
                <a:spcPts val="96"/>
              </a:spcBef>
            </a:pPr>
            <a:r>
              <a:rPr sz="2700" baseline="3034" dirty="0">
                <a:latin typeface="Calibri"/>
                <a:cs typeface="Calibri"/>
              </a:rPr>
              <a:t>Airline</a:t>
            </a:r>
            <a:r>
              <a:rPr sz="2700" spc="-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travel</a:t>
            </a:r>
            <a:endParaRPr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1"/>
              </a:spcBef>
            </a:pPr>
            <a:r>
              <a:rPr sz="2700" baseline="1517" dirty="0">
                <a:latin typeface="Calibri"/>
                <a:cs typeface="Calibri"/>
              </a:rPr>
              <a:t>planning</a:t>
            </a:r>
            <a:endParaRPr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74062" y="3302009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59806" y="3302009"/>
            <a:ext cx="3699307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move</a:t>
            </a:r>
            <a:r>
              <a:rPr sz="3000" spc="-15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from one</a:t>
            </a:r>
            <a:r>
              <a:rPr sz="3000" spc="-35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location</a:t>
            </a:r>
            <a:r>
              <a:rPr sz="3000" spc="9" baseline="2730" dirty="0">
                <a:latin typeface="Calibri"/>
                <a:cs typeface="Calibri"/>
              </a:rPr>
              <a:t> </a:t>
            </a:r>
            <a:r>
              <a:rPr sz="3000" spc="4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o another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864" y="3661764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59762" y="3661784"/>
            <a:ext cx="1001714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Goal </a:t>
            </a:r>
            <a:r>
              <a:rPr sz="3000" b="1" spc="-25" baseline="2730" dirty="0">
                <a:latin typeface="Calibri"/>
                <a:cs typeface="Calibri"/>
              </a:rPr>
              <a:t>t</a:t>
            </a:r>
            <a:r>
              <a:rPr sz="3000" b="1" baseline="2730" dirty="0">
                <a:latin typeface="Calibri"/>
                <a:cs typeface="Calibri"/>
              </a:rPr>
              <a:t>e</a:t>
            </a:r>
            <a:r>
              <a:rPr sz="3000" b="1" spc="-25" baseline="2730" dirty="0">
                <a:latin typeface="Calibri"/>
                <a:cs typeface="Calibri"/>
              </a:rPr>
              <a:t>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74064" y="4021548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9807" y="4021548"/>
            <a:ext cx="2778031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rrive</a:t>
            </a:r>
            <a:r>
              <a:rPr sz="3000" spc="10" baseline="2730" dirty="0">
                <a:latin typeface="Calibri"/>
                <a:cs typeface="Calibri"/>
              </a:rPr>
              <a:t> </a:t>
            </a: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t a</a:t>
            </a:r>
            <a:r>
              <a:rPr sz="3000" spc="-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certain</a:t>
            </a:r>
            <a:r>
              <a:rPr sz="3000" spc="19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location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839" y="4381301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9749" y="4381301"/>
            <a:ext cx="1021532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spc="-44" baseline="2730" dirty="0">
                <a:latin typeface="Calibri"/>
                <a:cs typeface="Calibri"/>
              </a:rPr>
              <a:t>P</a:t>
            </a:r>
            <a:r>
              <a:rPr sz="3000" b="1" spc="-19" baseline="2730" dirty="0">
                <a:latin typeface="Calibri"/>
                <a:cs typeface="Calibri"/>
              </a:rPr>
              <a:t>a</a:t>
            </a:r>
            <a:r>
              <a:rPr sz="3000" b="1" baseline="2730" dirty="0">
                <a:latin typeface="Calibri"/>
                <a:cs typeface="Calibri"/>
              </a:rPr>
              <a:t>th</a:t>
            </a:r>
            <a:r>
              <a:rPr sz="3000" b="1" spc="-20" baseline="2730" dirty="0">
                <a:latin typeface="Calibri"/>
                <a:cs typeface="Calibri"/>
              </a:rPr>
              <a:t> </a:t>
            </a:r>
            <a:r>
              <a:rPr sz="3000" b="1" spc="-19" baseline="2730" dirty="0">
                <a:latin typeface="Calibri"/>
                <a:cs typeface="Calibri"/>
              </a:rPr>
              <a:t>c</a:t>
            </a:r>
            <a:r>
              <a:rPr sz="3000" b="1" baseline="2730" dirty="0">
                <a:latin typeface="Calibri"/>
                <a:cs typeface="Calibri"/>
              </a:rPr>
              <a:t>o</a:t>
            </a:r>
            <a:r>
              <a:rPr sz="3000" b="1" spc="-19" baseline="2730" dirty="0">
                <a:latin typeface="Calibri"/>
                <a:cs typeface="Calibri"/>
              </a:rPr>
              <a:t>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4064" y="4741076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9805" y="4741077"/>
            <a:ext cx="3130274" cy="8687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9157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m</a:t>
            </a: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y</a:t>
            </a:r>
            <a:r>
              <a:rPr sz="3000" spc="-1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be</a:t>
            </a:r>
            <a:r>
              <a:rPr sz="3000" spc="-5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qu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spc="4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e</a:t>
            </a:r>
            <a:r>
              <a:rPr sz="3000" spc="-11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comp</a:t>
            </a:r>
            <a:r>
              <a:rPr sz="3000" spc="-4" baseline="2730" dirty="0">
                <a:latin typeface="Calibri"/>
                <a:cs typeface="Calibri"/>
              </a:rPr>
              <a:t>l</a:t>
            </a:r>
            <a:r>
              <a:rPr sz="3000" baseline="2730" dirty="0">
                <a:latin typeface="Calibri"/>
                <a:cs typeface="Calibri"/>
              </a:rPr>
              <a:t>ex</a:t>
            </a:r>
            <a:endParaRPr sz="2000">
              <a:latin typeface="Calibri"/>
              <a:cs typeface="Calibri"/>
            </a:endParaRPr>
          </a:p>
          <a:p>
            <a:pPr marL="412733" indent="-228577">
              <a:lnSpc>
                <a:spcPts val="2160"/>
              </a:lnSpc>
              <a:spcBef>
                <a:spcPts val="381"/>
              </a:spcBef>
            </a:pPr>
            <a:r>
              <a:rPr dirty="0">
                <a:latin typeface="Calibri"/>
                <a:cs typeface="Calibri"/>
              </a:rPr>
              <a:t>• </a:t>
            </a:r>
            <a:r>
              <a:rPr spc="8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money, time,</a:t>
            </a:r>
            <a:r>
              <a:rPr spc="1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travel comfort, scenery,</a:t>
            </a:r>
            <a:endParaRPr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5484" y="5611067"/>
            <a:ext cx="1994714" cy="5196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7">
              <a:lnSpc>
                <a:spcPts val="1935"/>
              </a:lnSpc>
              <a:spcBef>
                <a:spcPts val="96"/>
              </a:spcBef>
            </a:pPr>
            <a:r>
              <a:rPr sz="2700" baseline="3034" dirty="0">
                <a:latin typeface="Calibri"/>
                <a:cs typeface="Calibri"/>
              </a:rPr>
              <a:t>Routing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in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Computer</a:t>
            </a:r>
            <a:endParaRPr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1"/>
              </a:spcBef>
            </a:pPr>
            <a:r>
              <a:rPr sz="2700" baseline="1517" dirty="0">
                <a:latin typeface="Calibri"/>
                <a:cs typeface="Calibri"/>
              </a:rPr>
              <a:t>networks</a:t>
            </a:r>
            <a:endParaRPr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70452" y="5713001"/>
            <a:ext cx="1745554" cy="5196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5">
              <a:lnSpc>
                <a:spcPts val="1935"/>
              </a:lnSpc>
              <a:spcBef>
                <a:spcPts val="96"/>
              </a:spcBef>
            </a:pPr>
            <a:r>
              <a:rPr sz="2700" baseline="3034" dirty="0">
                <a:latin typeface="Calibri"/>
                <a:cs typeface="Calibri"/>
              </a:rPr>
              <a:t>Military</a:t>
            </a:r>
            <a:r>
              <a:rPr sz="2700" spc="-14" baseline="3034" dirty="0">
                <a:latin typeface="Calibri"/>
                <a:cs typeface="Calibri"/>
              </a:rPr>
              <a:t> </a:t>
            </a:r>
            <a:r>
              <a:rPr sz="2700" baseline="3034" dirty="0">
                <a:latin typeface="Calibri"/>
                <a:cs typeface="Calibri"/>
              </a:rPr>
              <a:t>opera</a:t>
            </a:r>
            <a:r>
              <a:rPr sz="2700" spc="-4" baseline="3034" dirty="0">
                <a:latin typeface="Calibri"/>
                <a:cs typeface="Calibri"/>
              </a:rPr>
              <a:t>t</a:t>
            </a:r>
            <a:r>
              <a:rPr sz="2700" baseline="3034" dirty="0">
                <a:latin typeface="Calibri"/>
                <a:cs typeface="Calibri"/>
              </a:rPr>
              <a:t>ion</a:t>
            </a:r>
            <a:endParaRPr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1"/>
              </a:spcBef>
            </a:pPr>
            <a:r>
              <a:rPr sz="2700" baseline="1517" dirty="0">
                <a:latin typeface="Calibri"/>
                <a:cs typeface="Calibri"/>
              </a:rPr>
              <a:t>planning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4573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5556504" y="1591954"/>
            <a:ext cx="2414016" cy="359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58640" y="1906748"/>
            <a:ext cx="4663440" cy="10073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0936" y="2869118"/>
            <a:ext cx="4370832" cy="10073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31793" y="3831486"/>
            <a:ext cx="4224527" cy="9443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4000" y="5777960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92096" y="681741"/>
            <a:ext cx="1860057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-89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</a:t>
            </a:r>
            <a:r>
              <a:rPr sz="6600" spc="-4" baseline="3103" dirty="0">
                <a:latin typeface="Calibri"/>
                <a:cs typeface="Calibri"/>
              </a:rPr>
              <a:t>u</a:t>
            </a:r>
            <a:r>
              <a:rPr sz="6600" spc="4" baseline="3103" dirty="0">
                <a:latin typeface="Calibri"/>
                <a:cs typeface="Calibri"/>
              </a:rPr>
              <a:t>t</a:t>
            </a:r>
            <a:r>
              <a:rPr sz="6600" spc="-4" baseline="3103" dirty="0">
                <a:latin typeface="Calibri"/>
                <a:cs typeface="Calibri"/>
              </a:rPr>
              <a:t>in</a:t>
            </a:r>
            <a:r>
              <a:rPr sz="6600" baseline="3103" dirty="0">
                <a:latin typeface="Calibri"/>
                <a:cs typeface="Calibri"/>
              </a:rPr>
              <a:t>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1948" y="681741"/>
            <a:ext cx="1764674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Finding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8078" y="681741"/>
            <a:ext cx="2025337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64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7666" y="5184598"/>
            <a:ext cx="1008507" cy="684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48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Wh</a:t>
            </a:r>
            <a:r>
              <a:rPr sz="3600" spc="-19" baseline="3413" dirty="0">
                <a:latin typeface="Calibri"/>
                <a:cs typeface="Calibri"/>
              </a:rPr>
              <a:t>a</a:t>
            </a:r>
            <a:r>
              <a:rPr sz="3600" baseline="3413" dirty="0">
                <a:latin typeface="Calibri"/>
                <a:cs typeface="Calibri"/>
              </a:rPr>
              <a:t>t</a:t>
            </a:r>
            <a:r>
              <a:rPr sz="3600" spc="-9" baseline="3413" dirty="0">
                <a:latin typeface="Calibri"/>
                <a:cs typeface="Calibri"/>
              </a:rPr>
              <a:t> </a:t>
            </a:r>
            <a:r>
              <a:rPr sz="3600" baseline="3413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16"/>
              </a:spcBef>
            </a:pPr>
            <a:r>
              <a:rPr sz="3600" baseline="1137" dirty="0">
                <a:latin typeface="Calibri"/>
                <a:cs typeface="Calibri"/>
              </a:rPr>
              <a:t>A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spc="-4" baseline="1137" dirty="0">
                <a:latin typeface="Calibri"/>
                <a:cs typeface="Calibri"/>
              </a:rPr>
              <a:t>se</a:t>
            </a:r>
            <a:r>
              <a:rPr sz="3600" baseline="1137" dirty="0">
                <a:latin typeface="Calibri"/>
                <a:cs typeface="Calibri"/>
              </a:rPr>
              <a:t>t of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8934" y="5184598"/>
            <a:ext cx="6208299" cy="684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the </a:t>
            </a:r>
            <a:r>
              <a:rPr sz="3600" spc="-25" baseline="3413" dirty="0">
                <a:latin typeface="Calibri"/>
                <a:cs typeface="Calibri"/>
              </a:rPr>
              <a:t>stat</a:t>
            </a:r>
            <a:r>
              <a:rPr sz="3600" baseline="3413" dirty="0">
                <a:latin typeface="Calibri"/>
                <a:cs typeface="Calibri"/>
              </a:rPr>
              <a:t>e space </a:t>
            </a:r>
            <a:r>
              <a:rPr sz="3600" spc="-50" baseline="3413" dirty="0">
                <a:latin typeface="Calibri"/>
                <a:cs typeface="Calibri"/>
              </a:rPr>
              <a:t>f</a:t>
            </a:r>
            <a:r>
              <a:rPr sz="3600" baseline="3413" dirty="0">
                <a:latin typeface="Calibri"/>
                <a:cs typeface="Calibri"/>
              </a:rPr>
              <a:t>or each of them?</a:t>
            </a:r>
            <a:endParaRPr sz="2400" dirty="0">
              <a:latin typeface="Calibri"/>
              <a:cs typeface="Calibri"/>
            </a:endParaRPr>
          </a:p>
          <a:p>
            <a:pPr marL="17271">
              <a:lnSpc>
                <a:spcPts val="2880"/>
              </a:lnSpc>
              <a:spcBef>
                <a:spcPts val="16"/>
              </a:spcBef>
            </a:pPr>
            <a:r>
              <a:rPr sz="3600" baseline="1137" dirty="0">
                <a:latin typeface="Calibri"/>
                <a:cs typeface="Calibri"/>
              </a:rPr>
              <a:t>places with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lin</a:t>
            </a:r>
            <a:r>
              <a:rPr sz="3600" spc="-25" baseline="1137" dirty="0">
                <a:latin typeface="Calibri"/>
                <a:cs typeface="Calibri"/>
              </a:rPr>
              <a:t>k</a:t>
            </a:r>
            <a:r>
              <a:rPr sz="3600" baseline="1137" dirty="0">
                <a:latin typeface="Calibri"/>
                <a:cs typeface="Calibri"/>
              </a:rPr>
              <a:t>s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bet</a:t>
            </a:r>
            <a:r>
              <a:rPr sz="3600" spc="-25" baseline="1137" dirty="0">
                <a:latin typeface="Calibri"/>
                <a:cs typeface="Calibri"/>
              </a:rPr>
              <a:t>w</a:t>
            </a:r>
            <a:r>
              <a:rPr sz="3600" baseline="1137" dirty="0">
                <a:latin typeface="Calibri"/>
                <a:cs typeface="Calibri"/>
              </a:rPr>
              <a:t>een them,</a:t>
            </a:r>
            <a:r>
              <a:rPr sz="3600" spc="-4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which</a:t>
            </a:r>
            <a:r>
              <a:rPr sz="3600" spc="-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h</a:t>
            </a:r>
            <a:r>
              <a:rPr sz="3600" spc="-39" baseline="1137" dirty="0">
                <a:latin typeface="Calibri"/>
                <a:cs typeface="Calibri"/>
              </a:rPr>
              <a:t>a</a:t>
            </a:r>
            <a:r>
              <a:rPr sz="3600" spc="-19" baseline="1137" dirty="0">
                <a:latin typeface="Calibri"/>
                <a:cs typeface="Calibri"/>
              </a:rPr>
              <a:t>v</a:t>
            </a:r>
            <a:r>
              <a:rPr sz="3600" baseline="1137" dirty="0">
                <a:latin typeface="Calibri"/>
                <a:cs typeface="Calibri"/>
              </a:rPr>
              <a:t>e</a:t>
            </a:r>
            <a:r>
              <a:rPr sz="3600" spc="9" baseline="1137" dirty="0">
                <a:latin typeface="Calibri"/>
                <a:cs typeface="Calibri"/>
              </a:rPr>
              <a:t> </a:t>
            </a:r>
            <a:r>
              <a:rPr sz="3600" baseline="1137" dirty="0">
                <a:latin typeface="Calibri"/>
                <a:cs typeface="Calibri"/>
              </a:rPr>
              <a:t>been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46185" y="5544362"/>
            <a:ext cx="878867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visi</a:t>
            </a:r>
            <a:r>
              <a:rPr sz="3600" spc="-25" baseline="3413" dirty="0">
                <a:latin typeface="Calibri"/>
                <a:cs typeface="Calibri"/>
              </a:rPr>
              <a:t>t</a:t>
            </a:r>
            <a:r>
              <a:rPr sz="3600" baseline="3413" dirty="0">
                <a:latin typeface="Calibri"/>
                <a:cs typeface="Calibri"/>
              </a:rPr>
              <a:t>ed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058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6934202" y="1573966"/>
            <a:ext cx="3572255" cy="359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34202" y="1919490"/>
            <a:ext cx="3572255" cy="977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34202" y="2882609"/>
            <a:ext cx="3572255" cy="977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34202" y="3845726"/>
            <a:ext cx="3572255" cy="659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973579" y="681741"/>
            <a:ext cx="4283769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-275" baseline="3103" dirty="0">
                <a:latin typeface="Calibri"/>
                <a:cs typeface="Calibri"/>
              </a:rPr>
              <a:t>T</a:t>
            </a:r>
            <a:r>
              <a:rPr sz="6600" spc="-84" baseline="3103" dirty="0">
                <a:latin typeface="Calibri"/>
                <a:cs typeface="Calibri"/>
              </a:rPr>
              <a:t>r</a:t>
            </a:r>
            <a:r>
              <a:rPr sz="6600" spc="-75" baseline="3103" dirty="0">
                <a:latin typeface="Calibri"/>
                <a:cs typeface="Calibri"/>
              </a:rPr>
              <a:t>a</a:t>
            </a:r>
            <a:r>
              <a:rPr sz="6600" spc="-39" baseline="3103" dirty="0">
                <a:latin typeface="Calibri"/>
                <a:cs typeface="Calibri"/>
              </a:rPr>
              <a:t>v</a:t>
            </a:r>
            <a:r>
              <a:rPr sz="6600" spc="4" baseline="3103" dirty="0">
                <a:latin typeface="Calibri"/>
                <a:cs typeface="Calibri"/>
              </a:rPr>
              <a:t>e</a:t>
            </a:r>
            <a:r>
              <a:rPr sz="6600" baseline="3103" dirty="0">
                <a:latin typeface="Calibri"/>
                <a:cs typeface="Calibri"/>
              </a:rPr>
              <a:t>l</a:t>
            </a:r>
            <a:r>
              <a:rPr sz="6600" spc="-6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latin typeface="Calibri"/>
                <a:cs typeface="Calibri"/>
              </a:rPr>
              <a:t>Salespe</a:t>
            </a:r>
            <a:r>
              <a:rPr sz="6600" spc="-75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son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77356" y="681741"/>
            <a:ext cx="2025337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64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07542" y="1323319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50452" y="1323319"/>
            <a:ext cx="712800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States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64766" y="1653097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50510" y="1653097"/>
            <a:ext cx="1744825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spc="-4" baseline="2730" dirty="0">
                <a:latin typeface="Calibri"/>
                <a:cs typeface="Calibri"/>
              </a:rPr>
              <a:t>l</a:t>
            </a:r>
            <a:r>
              <a:rPr sz="3000" baseline="2730" dirty="0">
                <a:latin typeface="Calibri"/>
                <a:cs typeface="Calibri"/>
              </a:rPr>
              <a:t>oc</a:t>
            </a:r>
            <a:r>
              <a:rPr sz="3000" spc="4" baseline="2730" dirty="0">
                <a:latin typeface="Calibri"/>
                <a:cs typeface="Calibri"/>
              </a:rPr>
              <a:t>at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ons</a:t>
            </a:r>
            <a:r>
              <a:rPr sz="3000" spc="-38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/</a:t>
            </a:r>
            <a:r>
              <a:rPr sz="3000" spc="-7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cities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64742" y="1982886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50485" y="1982886"/>
            <a:ext cx="4002471" cy="1203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3808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illegal</a:t>
            </a:r>
            <a:r>
              <a:rPr sz="3000" spc="19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states</a:t>
            </a:r>
            <a:endParaRPr sz="2000">
              <a:latin typeface="Calibri"/>
              <a:cs typeface="Calibri"/>
            </a:endParaRPr>
          </a:p>
          <a:p>
            <a:pPr marL="184156" marR="20982">
              <a:lnSpc>
                <a:spcPct val="101725"/>
              </a:lnSpc>
              <a:spcBef>
                <a:spcPts val="88"/>
              </a:spcBef>
            </a:pPr>
            <a:r>
              <a:rPr sz="2000" dirty="0">
                <a:latin typeface="Calibri"/>
                <a:cs typeface="Calibri"/>
              </a:rPr>
              <a:t>•</a:t>
            </a:r>
            <a:r>
              <a:rPr sz="2000" spc="341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ea</a:t>
            </a:r>
            <a:r>
              <a:rPr sz="2000" dirty="0">
                <a:latin typeface="Calibri"/>
                <a:cs typeface="Calibri"/>
              </a:rPr>
              <a:t>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city may</a:t>
            </a:r>
            <a:r>
              <a:rPr sz="2000" spc="-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visited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once</a:t>
            </a:r>
            <a:endParaRPr sz="2000">
              <a:latin typeface="Calibri"/>
              <a:cs typeface="Calibri"/>
            </a:endParaRPr>
          </a:p>
          <a:p>
            <a:pPr marL="412756" indent="-228676">
              <a:lnSpc>
                <a:spcPts val="2160"/>
              </a:lnSpc>
              <a:spcBef>
                <a:spcPts val="483"/>
              </a:spcBef>
            </a:pPr>
            <a:r>
              <a:rPr sz="2000" dirty="0">
                <a:latin typeface="Calibri"/>
                <a:cs typeface="Calibri"/>
              </a:rPr>
              <a:t>•</a:t>
            </a:r>
            <a:r>
              <a:rPr sz="2000" spc="3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visited</a:t>
            </a:r>
            <a:r>
              <a:rPr sz="2000" spc="1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cities</a:t>
            </a:r>
            <a:r>
              <a:rPr sz="2000" spc="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kept</a:t>
            </a:r>
            <a:r>
              <a:rPr sz="2000" spc="14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 information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7543" y="3242055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0453" y="3242055"/>
            <a:ext cx="1252504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0484" y="6210107"/>
            <a:ext cx="289145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2309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6934202" y="1573966"/>
            <a:ext cx="3572255" cy="359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34202" y="1919490"/>
            <a:ext cx="3572255" cy="977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34202" y="2882609"/>
            <a:ext cx="3572255" cy="977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34202" y="3845726"/>
            <a:ext cx="3572255" cy="659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24000" y="5777960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973579" y="681741"/>
            <a:ext cx="4283769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-275" baseline="3103" dirty="0">
                <a:latin typeface="Calibri"/>
                <a:cs typeface="Calibri"/>
              </a:rPr>
              <a:t>T</a:t>
            </a:r>
            <a:r>
              <a:rPr sz="6600" spc="-84" baseline="3103" dirty="0">
                <a:latin typeface="Calibri"/>
                <a:cs typeface="Calibri"/>
              </a:rPr>
              <a:t>r</a:t>
            </a:r>
            <a:r>
              <a:rPr sz="6600" spc="-75" baseline="3103" dirty="0">
                <a:latin typeface="Calibri"/>
                <a:cs typeface="Calibri"/>
              </a:rPr>
              <a:t>a</a:t>
            </a:r>
            <a:r>
              <a:rPr sz="6600" spc="-39" baseline="3103" dirty="0">
                <a:latin typeface="Calibri"/>
                <a:cs typeface="Calibri"/>
              </a:rPr>
              <a:t>v</a:t>
            </a:r>
            <a:r>
              <a:rPr sz="6600" spc="4" baseline="3103" dirty="0">
                <a:latin typeface="Calibri"/>
                <a:cs typeface="Calibri"/>
              </a:rPr>
              <a:t>e</a:t>
            </a:r>
            <a:r>
              <a:rPr sz="6600" baseline="3103" dirty="0">
                <a:latin typeface="Calibri"/>
                <a:cs typeface="Calibri"/>
              </a:rPr>
              <a:t>l</a:t>
            </a:r>
            <a:r>
              <a:rPr sz="6600" spc="-6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latin typeface="Calibri"/>
                <a:cs typeface="Calibri"/>
              </a:rPr>
              <a:t>Salespe</a:t>
            </a:r>
            <a:r>
              <a:rPr sz="6600" spc="-75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son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77356" y="681741"/>
            <a:ext cx="2025337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baseline="3103" dirty="0">
                <a:latin typeface="Calibri"/>
                <a:cs typeface="Calibri"/>
              </a:rPr>
              <a:t>P</a:t>
            </a:r>
            <a:r>
              <a:rPr sz="6600" spc="-64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oblem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07542" y="1323319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50452" y="1323319"/>
            <a:ext cx="712800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States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64766" y="1653097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50510" y="1653097"/>
            <a:ext cx="1744825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spc="-4" baseline="2730" dirty="0">
                <a:latin typeface="Calibri"/>
                <a:cs typeface="Calibri"/>
              </a:rPr>
              <a:t>l</a:t>
            </a:r>
            <a:r>
              <a:rPr sz="3000" baseline="2730" dirty="0">
                <a:latin typeface="Calibri"/>
                <a:cs typeface="Calibri"/>
              </a:rPr>
              <a:t>oc</a:t>
            </a:r>
            <a:r>
              <a:rPr sz="3000" spc="4" baseline="2730" dirty="0">
                <a:latin typeface="Calibri"/>
                <a:cs typeface="Calibri"/>
              </a:rPr>
              <a:t>at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ons</a:t>
            </a:r>
            <a:r>
              <a:rPr sz="3000" spc="-38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/</a:t>
            </a:r>
            <a:r>
              <a:rPr sz="3000" spc="-7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cities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64742" y="1982886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50485" y="1982886"/>
            <a:ext cx="4002471" cy="1203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3808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illegal</a:t>
            </a:r>
            <a:r>
              <a:rPr sz="3000" spc="19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states</a:t>
            </a:r>
            <a:endParaRPr sz="2000">
              <a:latin typeface="Calibri"/>
              <a:cs typeface="Calibri"/>
            </a:endParaRPr>
          </a:p>
          <a:p>
            <a:pPr marL="184156" marR="20982">
              <a:lnSpc>
                <a:spcPct val="101725"/>
              </a:lnSpc>
              <a:spcBef>
                <a:spcPts val="88"/>
              </a:spcBef>
            </a:pPr>
            <a:r>
              <a:rPr sz="2000" dirty="0">
                <a:latin typeface="Calibri"/>
                <a:cs typeface="Calibri"/>
              </a:rPr>
              <a:t>•</a:t>
            </a:r>
            <a:r>
              <a:rPr sz="2000" spc="341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ea</a:t>
            </a:r>
            <a:r>
              <a:rPr sz="2000" dirty="0">
                <a:latin typeface="Calibri"/>
                <a:cs typeface="Calibri"/>
              </a:rPr>
              <a:t>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city may</a:t>
            </a:r>
            <a:r>
              <a:rPr sz="2000" spc="-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visited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once</a:t>
            </a:r>
            <a:endParaRPr sz="2000">
              <a:latin typeface="Calibri"/>
              <a:cs typeface="Calibri"/>
            </a:endParaRPr>
          </a:p>
          <a:p>
            <a:pPr marL="412756" indent="-228676">
              <a:lnSpc>
                <a:spcPts val="2160"/>
              </a:lnSpc>
              <a:spcBef>
                <a:spcPts val="483"/>
              </a:spcBef>
            </a:pPr>
            <a:r>
              <a:rPr sz="2000" dirty="0">
                <a:latin typeface="Calibri"/>
                <a:cs typeface="Calibri"/>
              </a:rPr>
              <a:t>•</a:t>
            </a:r>
            <a:r>
              <a:rPr sz="2000" spc="3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visited</a:t>
            </a:r>
            <a:r>
              <a:rPr sz="2000" spc="1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cities</a:t>
            </a:r>
            <a:r>
              <a:rPr sz="2000" spc="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kept</a:t>
            </a:r>
            <a:r>
              <a:rPr sz="2000" spc="14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 information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7543" y="3242055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0453" y="3242055"/>
            <a:ext cx="1252504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Initial</a:t>
            </a:r>
            <a:r>
              <a:rPr sz="3000" b="1" spc="-14" baseline="2730" dirty="0">
                <a:latin typeface="Calibri"/>
                <a:cs typeface="Calibri"/>
              </a:rPr>
              <a:t> </a:t>
            </a:r>
            <a:r>
              <a:rPr sz="3000" b="1" baseline="273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64742" y="3571834"/>
            <a:ext cx="189839" cy="6043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88"/>
              </a:spcBef>
            </a:pPr>
            <a:r>
              <a:rPr sz="200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0485" y="3571834"/>
            <a:ext cx="1656705" cy="6043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061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s</a:t>
            </a:r>
            <a:r>
              <a:rPr sz="3000" spc="4" baseline="2730" dirty="0">
                <a:latin typeface="Calibri"/>
                <a:cs typeface="Calibri"/>
              </a:rPr>
              <a:t>ta</a:t>
            </a:r>
            <a:r>
              <a:rPr sz="3000" baseline="2730" dirty="0">
                <a:latin typeface="Calibri"/>
                <a:cs typeface="Calibri"/>
              </a:rPr>
              <a:t>r</a:t>
            </a:r>
            <a:r>
              <a:rPr sz="3000" spc="4" baseline="2730" dirty="0">
                <a:latin typeface="Calibri"/>
                <a:cs typeface="Calibri"/>
              </a:rPr>
              <a:t>t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ng</a:t>
            </a:r>
            <a:r>
              <a:rPr sz="3000" spc="-7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point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88"/>
              </a:spcBef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cities</a:t>
            </a:r>
            <a:r>
              <a:rPr sz="2000" spc="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visi</a:t>
            </a:r>
            <a:r>
              <a:rPr sz="2000" spc="4" dirty="0">
                <a:latin typeface="Calibri"/>
                <a:cs typeface="Calibri"/>
              </a:rPr>
              <a:t>te</a:t>
            </a:r>
            <a:r>
              <a:rPr sz="200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7542" y="4231405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50454" y="4231405"/>
            <a:ext cx="327719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Successor</a:t>
            </a:r>
            <a:r>
              <a:rPr sz="3000" b="1" spc="19" baseline="2730" dirty="0">
                <a:latin typeface="Calibri"/>
                <a:cs typeface="Calibri"/>
              </a:rPr>
              <a:t> </a:t>
            </a:r>
            <a:r>
              <a:rPr sz="3000" b="1" baseline="2730" dirty="0">
                <a:latin typeface="Calibri"/>
                <a:cs typeface="Calibri"/>
              </a:rPr>
              <a:t>function</a:t>
            </a:r>
            <a:r>
              <a:rPr sz="3000" b="1" spc="4" baseline="2730" dirty="0">
                <a:latin typeface="Calibri"/>
                <a:cs typeface="Calibri"/>
              </a:rPr>
              <a:t> </a:t>
            </a:r>
            <a:r>
              <a:rPr sz="3000" b="1" baseline="2730" dirty="0">
                <a:latin typeface="Calibri"/>
                <a:cs typeface="Calibri"/>
              </a:rPr>
              <a:t>(operators)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4742" y="4561183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0485" y="4561183"/>
            <a:ext cx="4150775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move</a:t>
            </a:r>
            <a:r>
              <a:rPr sz="3000" spc="-15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from one</a:t>
            </a:r>
            <a:r>
              <a:rPr sz="3000" spc="-35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location</a:t>
            </a:r>
            <a:r>
              <a:rPr sz="3000" spc="9" baseline="2730" dirty="0">
                <a:latin typeface="Calibri"/>
                <a:cs typeface="Calibri"/>
              </a:rPr>
              <a:t> </a:t>
            </a:r>
            <a:r>
              <a:rPr sz="3000" spc="4" baseline="2730" dirty="0">
                <a:latin typeface="Calibri"/>
                <a:cs typeface="Calibri"/>
              </a:rPr>
              <a:t>t</a:t>
            </a:r>
            <a:r>
              <a:rPr sz="3000" baseline="2730" dirty="0">
                <a:latin typeface="Calibri"/>
                <a:cs typeface="Calibri"/>
              </a:rPr>
              <a:t>o another one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7542" y="4890978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0452" y="4890978"/>
            <a:ext cx="1011102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Goal test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4741" y="5220756"/>
            <a:ext cx="189839" cy="6043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88"/>
              </a:spcBef>
            </a:pPr>
            <a:r>
              <a:rPr sz="200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0484" y="5220758"/>
            <a:ext cx="2841311" cy="6043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063">
              <a:lnSpc>
                <a:spcPts val="2135"/>
              </a:lnSpc>
              <a:spcBef>
                <a:spcPts val="106"/>
              </a:spcBef>
            </a:pP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spc="-4" baseline="2730" dirty="0">
                <a:latin typeface="Calibri"/>
                <a:cs typeface="Calibri"/>
              </a:rPr>
              <a:t>l</a:t>
            </a:r>
            <a:r>
              <a:rPr sz="3000" baseline="2730" dirty="0">
                <a:latin typeface="Calibri"/>
                <a:cs typeface="Calibri"/>
              </a:rPr>
              <a:t>l locations</a:t>
            </a:r>
            <a:r>
              <a:rPr sz="3000" spc="1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visited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88"/>
              </a:spcBef>
            </a:pPr>
            <a:r>
              <a:rPr sz="2000" spc="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gent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</a:t>
            </a:r>
            <a:r>
              <a:rPr sz="2000" spc="4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7542" y="5880330"/>
            <a:ext cx="189839" cy="2745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•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0454" y="5880330"/>
            <a:ext cx="1035501" cy="2745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="1" baseline="2730" dirty="0">
                <a:latin typeface="Calibri"/>
                <a:cs typeface="Calibri"/>
              </a:rPr>
              <a:t>Path</a:t>
            </a:r>
            <a:r>
              <a:rPr sz="3000" b="1" spc="-4" baseline="2730" dirty="0">
                <a:latin typeface="Calibri"/>
                <a:cs typeface="Calibri"/>
              </a:rPr>
              <a:t> </a:t>
            </a:r>
            <a:r>
              <a:rPr sz="3000" b="1" baseline="2730" dirty="0">
                <a:latin typeface="Calibri"/>
                <a:cs typeface="Calibri"/>
              </a:rPr>
              <a:t>cost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741" y="6210107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0484" y="6210107"/>
            <a:ext cx="289145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d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s</a:t>
            </a:r>
            <a:r>
              <a:rPr sz="3000" spc="4" baseline="2730" dirty="0">
                <a:latin typeface="Calibri"/>
                <a:cs typeface="Calibri"/>
              </a:rPr>
              <a:t>ta</a:t>
            </a:r>
            <a:r>
              <a:rPr sz="3000" baseline="2730" dirty="0">
                <a:latin typeface="Calibri"/>
                <a:cs typeface="Calibri"/>
              </a:rPr>
              <a:t>nce</a:t>
            </a:r>
            <a:r>
              <a:rPr sz="3000" spc="-13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between</a:t>
            </a:r>
            <a:r>
              <a:rPr sz="3000" spc="9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locations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084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42"/>
          <p:cNvSpPr txBox="1"/>
          <p:nvPr/>
        </p:nvSpPr>
        <p:spPr>
          <a:xfrm>
            <a:off x="1524000" y="2768684"/>
            <a:ext cx="9144000" cy="1083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39140">
              <a:lnSpc>
                <a:spcPts val="2445"/>
              </a:lnSpc>
              <a:spcBef>
                <a:spcPts val="122"/>
              </a:spcBef>
            </a:pPr>
            <a:r>
              <a:rPr sz="3600" b="1" baseline="3413" dirty="0">
                <a:latin typeface="Calibri"/>
                <a:cs typeface="Calibri"/>
              </a:rPr>
              <a:t>Initial</a:t>
            </a:r>
            <a:r>
              <a:rPr sz="3600" b="1" spc="-9" baseline="3413" dirty="0">
                <a:latin typeface="Calibri"/>
                <a:cs typeface="Calibri"/>
              </a:rPr>
              <a:t> </a:t>
            </a:r>
            <a:r>
              <a:rPr sz="3600" b="1" baseline="3413" dirty="0"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4000" y="1925485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57060" y="2173575"/>
            <a:ext cx="1680972" cy="7330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24000" y="2888603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1"/>
                </a:moveTo>
                <a:lnTo>
                  <a:pt x="9144000" y="761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05602" y="3369790"/>
            <a:ext cx="3858005" cy="488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57060" y="2872864"/>
            <a:ext cx="1680972" cy="9968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24000" y="3851721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05602" y="3847226"/>
            <a:ext cx="3858005" cy="9743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57060" y="3835983"/>
            <a:ext cx="1680972" cy="1431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24000" y="4814839"/>
            <a:ext cx="9144000" cy="963868"/>
          </a:xfrm>
          <a:custGeom>
            <a:avLst/>
            <a:gdLst/>
            <a:ahLst/>
            <a:cxnLst/>
            <a:rect l="l" t="t" r="r" b="b"/>
            <a:pathLst>
              <a:path w="9144000" h="979932">
                <a:moveTo>
                  <a:pt x="9144000" y="979932"/>
                </a:moveTo>
                <a:lnTo>
                  <a:pt x="9144000" y="762"/>
                </a:lnTo>
                <a:lnTo>
                  <a:pt x="0" y="762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05602" y="4810344"/>
            <a:ext cx="3858005" cy="9743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24000" y="5777960"/>
            <a:ext cx="9144000" cy="967615"/>
          </a:xfrm>
          <a:custGeom>
            <a:avLst/>
            <a:gdLst/>
            <a:ahLst/>
            <a:cxnLst/>
            <a:rect l="l" t="t" r="r" b="b"/>
            <a:pathLst>
              <a:path w="9144000" h="983742">
                <a:moveTo>
                  <a:pt x="9144000" y="762"/>
                </a:moveTo>
                <a:lnTo>
                  <a:pt x="0" y="762"/>
                </a:lnTo>
                <a:lnTo>
                  <a:pt x="0" y="983742"/>
                </a:lnTo>
                <a:lnTo>
                  <a:pt x="9144000" y="983742"/>
                </a:lnTo>
                <a:lnTo>
                  <a:pt x="9144000" y="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05602" y="5773463"/>
            <a:ext cx="3858005" cy="1326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128772" y="681741"/>
            <a:ext cx="1470615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-89" baseline="3103" dirty="0">
                <a:latin typeface="Calibri"/>
                <a:cs typeface="Calibri"/>
              </a:rPr>
              <a:t>R</a:t>
            </a:r>
            <a:r>
              <a:rPr sz="6600" baseline="3103" dirty="0">
                <a:latin typeface="Calibri"/>
                <a:cs typeface="Calibri"/>
              </a:rPr>
              <a:t>o</a:t>
            </a:r>
            <a:r>
              <a:rPr sz="6600" spc="-4" baseline="3103" dirty="0">
                <a:latin typeface="Calibri"/>
                <a:cs typeface="Calibri"/>
              </a:rPr>
              <a:t>b</a:t>
            </a:r>
            <a:r>
              <a:rPr sz="6600" baseline="3103" dirty="0">
                <a:latin typeface="Calibri"/>
                <a:cs typeface="Calibri"/>
              </a:rPr>
              <a:t>ot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18479" y="681741"/>
            <a:ext cx="2528852" cy="5743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80"/>
              </a:lnSpc>
              <a:spcBef>
                <a:spcPts val="229"/>
              </a:spcBef>
            </a:pPr>
            <a:r>
              <a:rPr sz="6600" spc="4" baseline="3103" dirty="0">
                <a:latin typeface="Calibri"/>
                <a:cs typeface="Calibri"/>
              </a:rPr>
              <a:t>N</a:t>
            </a:r>
            <a:r>
              <a:rPr sz="6600" spc="-69" baseline="3103" dirty="0">
                <a:latin typeface="Calibri"/>
                <a:cs typeface="Calibri"/>
              </a:rPr>
              <a:t>a</a:t>
            </a:r>
            <a:r>
              <a:rPr sz="6600" spc="4" baseline="3103" dirty="0">
                <a:latin typeface="Calibri"/>
                <a:cs typeface="Calibri"/>
              </a:rPr>
              <a:t>vi</a:t>
            </a:r>
            <a:r>
              <a:rPr sz="6600" spc="-84" baseline="3103" dirty="0">
                <a:latin typeface="Calibri"/>
                <a:cs typeface="Calibri"/>
              </a:rPr>
              <a:t>g</a:t>
            </a:r>
            <a:r>
              <a:rPr sz="6600" spc="-44" baseline="3103" dirty="0">
                <a:latin typeface="Calibri"/>
                <a:cs typeface="Calibri"/>
              </a:rPr>
              <a:t>a</a:t>
            </a:r>
            <a:r>
              <a:rPr sz="6600" spc="4" baseline="3103" dirty="0">
                <a:latin typeface="Calibri"/>
                <a:cs typeface="Calibri"/>
              </a:rPr>
              <a:t>tion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07540" y="1700884"/>
            <a:ext cx="222924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50440" y="1700884"/>
            <a:ext cx="851472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baseline="3413" dirty="0">
                <a:latin typeface="Calibri"/>
                <a:cs typeface="Calibri"/>
              </a:rPr>
              <a:t>States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64742" y="2081821"/>
            <a:ext cx="189839" cy="6043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88"/>
              </a:spcBef>
            </a:pPr>
            <a:r>
              <a:rPr sz="200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50483" y="2081821"/>
            <a:ext cx="2201998" cy="6043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061">
              <a:lnSpc>
                <a:spcPts val="2135"/>
              </a:lnSpc>
              <a:spcBef>
                <a:spcPts val="106"/>
              </a:spcBef>
            </a:pPr>
            <a:r>
              <a:rPr sz="3000" spc="-4" baseline="2730" dirty="0">
                <a:latin typeface="Calibri"/>
                <a:cs typeface="Calibri"/>
              </a:rPr>
              <a:t>l</a:t>
            </a:r>
            <a:r>
              <a:rPr sz="3000" baseline="2730" dirty="0">
                <a:latin typeface="Calibri"/>
                <a:cs typeface="Calibri"/>
              </a:rPr>
              <a:t>oc</a:t>
            </a:r>
            <a:r>
              <a:rPr sz="3000" spc="4" baseline="2730" dirty="0">
                <a:latin typeface="Calibri"/>
                <a:cs typeface="Calibri"/>
              </a:rPr>
              <a:t>at</a:t>
            </a:r>
            <a:r>
              <a:rPr sz="3000" spc="-4" baseline="2730" dirty="0">
                <a:latin typeface="Calibri"/>
                <a:cs typeface="Calibri"/>
              </a:rPr>
              <a:t>i</a:t>
            </a:r>
            <a:r>
              <a:rPr sz="3000" baseline="2730" dirty="0">
                <a:latin typeface="Calibri"/>
                <a:cs typeface="Calibri"/>
              </a:rPr>
              <a:t>ons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88"/>
              </a:spcBef>
            </a:pPr>
            <a:r>
              <a:rPr sz="2000" dirty="0">
                <a:latin typeface="Calibri"/>
                <a:cs typeface="Calibri"/>
              </a:rPr>
              <a:t>position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actuators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7540" y="2756192"/>
            <a:ext cx="222924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0442" y="2756192"/>
            <a:ext cx="1501807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baseline="3413" dirty="0">
                <a:latin typeface="Calibri"/>
                <a:cs typeface="Calibri"/>
              </a:rPr>
              <a:t>Initial</a:t>
            </a:r>
            <a:r>
              <a:rPr sz="3600" b="1" spc="-9" baseline="3413" dirty="0">
                <a:latin typeface="Calibri"/>
                <a:cs typeface="Calibri"/>
              </a:rPr>
              <a:t> </a:t>
            </a:r>
            <a:r>
              <a:rPr sz="3600" b="1" baseline="3413" dirty="0"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64742" y="3137128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0485" y="3137128"/>
            <a:ext cx="3990153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s</a:t>
            </a:r>
            <a:r>
              <a:rPr sz="3000" spc="4" baseline="2730" dirty="0">
                <a:latin typeface="Calibri"/>
                <a:cs typeface="Calibri"/>
              </a:rPr>
              <a:t>ta</a:t>
            </a:r>
            <a:r>
              <a:rPr sz="3000" baseline="2730" dirty="0">
                <a:latin typeface="Calibri"/>
                <a:cs typeface="Calibri"/>
              </a:rPr>
              <a:t>rt</a:t>
            </a:r>
            <a:r>
              <a:rPr sz="3000" spc="-7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position</a:t>
            </a:r>
            <a:r>
              <a:rPr sz="3000" spc="9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(dependent</a:t>
            </a:r>
            <a:r>
              <a:rPr sz="3000" spc="25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on</a:t>
            </a:r>
            <a:r>
              <a:rPr sz="3000" spc="-30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the</a:t>
            </a:r>
            <a:r>
              <a:rPr sz="3000" spc="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task)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7540" y="3481716"/>
            <a:ext cx="222924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50440" y="3481716"/>
            <a:ext cx="3926710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baseline="3413" dirty="0">
                <a:latin typeface="Calibri"/>
                <a:cs typeface="Calibri"/>
              </a:rPr>
              <a:t>Successor</a:t>
            </a:r>
            <a:r>
              <a:rPr sz="3600" b="1" spc="-9" baseline="3413" dirty="0">
                <a:latin typeface="Calibri"/>
                <a:cs typeface="Calibri"/>
              </a:rPr>
              <a:t> </a:t>
            </a:r>
            <a:r>
              <a:rPr sz="3600" b="1" baseline="3413" dirty="0">
                <a:latin typeface="Calibri"/>
                <a:cs typeface="Calibri"/>
              </a:rPr>
              <a:t>function</a:t>
            </a:r>
            <a:r>
              <a:rPr sz="3600" b="1" spc="-9" baseline="3413" dirty="0">
                <a:latin typeface="Calibri"/>
                <a:cs typeface="Calibri"/>
              </a:rPr>
              <a:t> </a:t>
            </a:r>
            <a:r>
              <a:rPr sz="3600" b="1" baseline="3413" dirty="0">
                <a:latin typeface="Calibri"/>
                <a:cs typeface="Calibri"/>
              </a:rPr>
              <a:t>(operators)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4742" y="3862652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0485" y="3862652"/>
            <a:ext cx="3354893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movement,</a:t>
            </a:r>
            <a:r>
              <a:rPr sz="3000" spc="4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actions</a:t>
            </a:r>
            <a:r>
              <a:rPr sz="3000" spc="9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of</a:t>
            </a:r>
            <a:r>
              <a:rPr sz="3000" spc="-16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actuators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7540" y="4207240"/>
            <a:ext cx="222924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0442" y="4207240"/>
            <a:ext cx="1208085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baseline="3413" dirty="0">
                <a:latin typeface="Calibri"/>
                <a:cs typeface="Calibri"/>
              </a:rPr>
              <a:t>Goal</a:t>
            </a:r>
            <a:r>
              <a:rPr sz="3600" b="1" spc="-14" baseline="3413" dirty="0">
                <a:latin typeface="Calibri"/>
                <a:cs typeface="Calibri"/>
              </a:rPr>
              <a:t> </a:t>
            </a:r>
            <a:r>
              <a:rPr sz="3600" b="1" baseline="3413" dirty="0">
                <a:latin typeface="Calibri"/>
                <a:cs typeface="Calibri"/>
              </a:rPr>
              <a:t>test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4742" y="4588176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0485" y="4588176"/>
            <a:ext cx="1695351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spc="4" baseline="2730" dirty="0">
                <a:latin typeface="Calibri"/>
                <a:cs typeface="Calibri"/>
              </a:rPr>
              <a:t>ta</a:t>
            </a:r>
            <a:r>
              <a:rPr sz="3000" baseline="2730" dirty="0">
                <a:latin typeface="Calibri"/>
                <a:cs typeface="Calibri"/>
              </a:rPr>
              <a:t>sk‐dep</a:t>
            </a:r>
            <a:r>
              <a:rPr sz="3000" spc="4" baseline="2730" dirty="0">
                <a:latin typeface="Calibri"/>
                <a:cs typeface="Calibri"/>
              </a:rPr>
              <a:t>endent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7540" y="4932764"/>
            <a:ext cx="222924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aseline="3413" dirty="0">
                <a:latin typeface="Calibri"/>
                <a:cs typeface="Calibri"/>
              </a:rPr>
              <a:t>•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0442" y="4932764"/>
            <a:ext cx="1240137" cy="324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baseline="3413" dirty="0">
                <a:latin typeface="Calibri"/>
                <a:cs typeface="Calibri"/>
              </a:rPr>
              <a:t>Path</a:t>
            </a:r>
            <a:r>
              <a:rPr sz="3600" b="1" spc="-9" baseline="3413" dirty="0">
                <a:latin typeface="Calibri"/>
                <a:cs typeface="Calibri"/>
              </a:rPr>
              <a:t> </a:t>
            </a:r>
            <a:r>
              <a:rPr sz="3600" b="1" baseline="3413" dirty="0">
                <a:latin typeface="Calibri"/>
                <a:cs typeface="Calibri"/>
              </a:rPr>
              <a:t>cost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742" y="5313700"/>
            <a:ext cx="189839" cy="274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0485" y="5313700"/>
            <a:ext cx="3259889" cy="5719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289">
              <a:lnSpc>
                <a:spcPts val="2135"/>
              </a:lnSpc>
              <a:spcBef>
                <a:spcPts val="106"/>
              </a:spcBef>
            </a:pPr>
            <a:r>
              <a:rPr sz="3000" baseline="2730" dirty="0">
                <a:latin typeface="Calibri"/>
                <a:cs typeface="Calibri"/>
              </a:rPr>
              <a:t>m</a:t>
            </a:r>
            <a:r>
              <a:rPr sz="3000" spc="4" baseline="2730" dirty="0">
                <a:latin typeface="Calibri"/>
                <a:cs typeface="Calibri"/>
              </a:rPr>
              <a:t>a</a:t>
            </a:r>
            <a:r>
              <a:rPr sz="3000" baseline="2730" dirty="0">
                <a:latin typeface="Calibri"/>
                <a:cs typeface="Calibri"/>
              </a:rPr>
              <a:t>ybe</a:t>
            </a:r>
            <a:r>
              <a:rPr sz="3000" spc="-20" baseline="2730" dirty="0">
                <a:latin typeface="Calibri"/>
                <a:cs typeface="Calibri"/>
              </a:rPr>
              <a:t> </a:t>
            </a:r>
            <a:r>
              <a:rPr sz="3000" baseline="2730" dirty="0">
                <a:latin typeface="Calibri"/>
                <a:cs typeface="Calibri"/>
              </a:rPr>
              <a:t>very complex</a:t>
            </a:r>
            <a:endParaRPr sz="2000">
              <a:latin typeface="Calibri"/>
              <a:cs typeface="Calibri"/>
            </a:endParaRPr>
          </a:p>
          <a:p>
            <a:pPr marL="184156">
              <a:lnSpc>
                <a:spcPct val="101725"/>
              </a:lnSpc>
              <a:spcBef>
                <a:spcPts val="73"/>
              </a:spcBef>
            </a:pPr>
            <a:r>
              <a:rPr dirty="0">
                <a:latin typeface="Calibri"/>
                <a:cs typeface="Calibri"/>
              </a:rPr>
              <a:t>• </a:t>
            </a:r>
            <a:r>
              <a:rPr spc="8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distance,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energy</a:t>
            </a:r>
            <a:r>
              <a:rPr spc="1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consumption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04869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371</TotalTime>
  <Words>1575</Words>
  <Application>Microsoft Office PowerPoint</Application>
  <PresentationFormat>Widescreen</PresentationFormat>
  <Paragraphs>340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Artificial Intelligence</vt:lpstr>
      <vt:lpstr>Lecture # 03</vt:lpstr>
      <vt:lpstr>PowerPoint Presentation</vt:lpstr>
      <vt:lpstr>Problem Definition</vt:lpstr>
      <vt:lpstr>PowerPoint Presentation</vt:lpstr>
      <vt:lpstr>Problem formulation</vt:lpstr>
      <vt:lpstr>Goal-formulation</vt:lpstr>
      <vt:lpstr>Search Example</vt:lpstr>
      <vt:lpstr>PowerPoint Presentation</vt:lpstr>
      <vt:lpstr>Problem Formulation</vt:lpstr>
      <vt:lpstr>PowerPoint Presentation</vt:lpstr>
      <vt:lpstr>PowerPoint Presentation</vt:lpstr>
      <vt:lpstr>Example Problems</vt:lpstr>
      <vt:lpstr>Tower of Hanoi</vt:lpstr>
      <vt:lpstr>Tower of Hanoi(partial search tree)</vt:lpstr>
      <vt:lpstr>General state space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student</dc:creator>
  <cp:lastModifiedBy>mehwish wahid</cp:lastModifiedBy>
  <cp:revision>36</cp:revision>
  <dcterms:created xsi:type="dcterms:W3CDTF">2019-12-05T08:39:38Z</dcterms:created>
  <dcterms:modified xsi:type="dcterms:W3CDTF">2025-04-09T15:59:40Z</dcterms:modified>
</cp:coreProperties>
</file>