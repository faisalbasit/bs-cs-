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1" r:id="rId1"/>
  </p:sldMasterIdLst>
  <p:notesMasterIdLst>
    <p:notesMasterId r:id="rId31"/>
  </p:notesMasterIdLst>
  <p:sldIdLst>
    <p:sldId id="507" r:id="rId2"/>
    <p:sldId id="508" r:id="rId3"/>
    <p:sldId id="456" r:id="rId4"/>
    <p:sldId id="459" r:id="rId5"/>
    <p:sldId id="509" r:id="rId6"/>
    <p:sldId id="460" r:id="rId7"/>
    <p:sldId id="461" r:id="rId8"/>
    <p:sldId id="462" r:id="rId9"/>
    <p:sldId id="463" r:id="rId10"/>
    <p:sldId id="464" r:id="rId11"/>
    <p:sldId id="465" r:id="rId12"/>
    <p:sldId id="479" r:id="rId13"/>
    <p:sldId id="468" r:id="rId14"/>
    <p:sldId id="466" r:id="rId15"/>
    <p:sldId id="467" r:id="rId16"/>
    <p:sldId id="469" r:id="rId17"/>
    <p:sldId id="470" r:id="rId18"/>
    <p:sldId id="471" r:id="rId19"/>
    <p:sldId id="472" r:id="rId20"/>
    <p:sldId id="473" r:id="rId21"/>
    <p:sldId id="474" r:id="rId22"/>
    <p:sldId id="475" r:id="rId23"/>
    <p:sldId id="487" r:id="rId24"/>
    <p:sldId id="482" r:id="rId25"/>
    <p:sldId id="483" r:id="rId26"/>
    <p:sldId id="485" r:id="rId27"/>
    <p:sldId id="511" r:id="rId28"/>
    <p:sldId id="510" r:id="rId29"/>
    <p:sldId id="497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0" autoAdjust="0"/>
    <p:restoredTop sz="94249" autoAdjust="0"/>
  </p:normalViewPr>
  <p:slideViewPr>
    <p:cSldViewPr>
      <p:cViewPr>
        <p:scale>
          <a:sx n="82" d="100"/>
          <a:sy n="82" d="100"/>
        </p:scale>
        <p:origin x="605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A4C36-0174-4F91-AD6C-BB28D87E0BA3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3BACE-9753-4288-81BF-CA0AA97B45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57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4588" y="684213"/>
            <a:ext cx="4570412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2B723-4480-414C-A3F8-C429B022641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80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0484" name="Date Placeholder 1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59BB6B-E126-4D51-8C10-8247F122560C}" type="datetime1">
              <a:rPr lang="en-US" altLang="en-US" b="0" smtClean="0"/>
              <a:pPr/>
              <a:t>4/9/2025</a:t>
            </a:fld>
            <a:endParaRPr lang="en-US" altLang="en-US" b="0"/>
          </a:p>
        </p:txBody>
      </p:sp>
      <p:sp>
        <p:nvSpPr>
          <p:cNvPr id="20485" name="Footer Placeholder 2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  <p:sp>
        <p:nvSpPr>
          <p:cNvPr id="20486" name="Header Placeholder 3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</p:spTree>
    <p:extLst>
      <p:ext uri="{BB962C8B-B14F-4D97-AF65-F5344CB8AC3E}">
        <p14:creationId xmlns:p14="http://schemas.microsoft.com/office/powerpoint/2010/main" val="2107831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E3BACE-9753-4288-81BF-CA0AA97B45C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59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B8AE22-1823-4566-BC54-3C352A5F10E7}" type="slidenum">
              <a:rPr lang="en-US"/>
              <a:pPr/>
              <a:t>12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828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F8A07A-D095-4EFD-A0E3-D0B44D0633D9}" type="slidenum">
              <a:rPr lang="en-US"/>
              <a:pPr/>
              <a:t>16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268" y="4343137"/>
            <a:ext cx="5486635" cy="4115326"/>
          </a:xfrm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120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C520BA-8EAC-4E64-8F92-A8552CA0CFF9}" type="slidenum">
              <a:rPr lang="en-US"/>
              <a:pPr/>
              <a:t>17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268" y="4343137"/>
            <a:ext cx="5486635" cy="4115326"/>
          </a:xfrm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907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371B06-627B-42A5-9A5C-9B2C3452F0DE}" type="slidenum">
              <a:rPr lang="en-US"/>
              <a:pPr/>
              <a:t>18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268" y="4343137"/>
            <a:ext cx="5486635" cy="4115326"/>
          </a:xfrm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96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BB1C4D-35CE-4703-A044-21649CE7DFFC}" type="slidenum">
              <a:rPr lang="en-US"/>
              <a:pPr/>
              <a:t>19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268" y="4343137"/>
            <a:ext cx="5486635" cy="4115326"/>
          </a:xfrm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551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9A0683-FF1E-4AE4-B3D5-03BAF24A2073}" type="slidenum">
              <a:rPr lang="en-US"/>
              <a:pPr/>
              <a:t>20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268" y="4343137"/>
            <a:ext cx="5486635" cy="4115326"/>
          </a:xfrm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038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45CB35-646E-4CB7-BCFC-C193AE38CD5E}" type="slidenum">
              <a:rPr lang="en-US"/>
              <a:pPr/>
              <a:t>21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268" y="4343137"/>
            <a:ext cx="5486635" cy="4115326"/>
          </a:xfrm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9785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A77E9F-F198-4DBB-807D-D7783883765B}" type="slidenum">
              <a:rPr lang="en-US"/>
              <a:pPr/>
              <a:t>22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0373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120612-C06D-43FD-A597-08C8424BDFA9}" type="slidenum">
              <a:rPr lang="en-US"/>
              <a:pPr/>
              <a:t>26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967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2772" name="Date Placeholder 1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B865F0-F59B-4000-94F9-4440A1B94BF4}" type="datetime1">
              <a:rPr lang="en-US" altLang="en-US" b="0" smtClean="0"/>
              <a:pPr/>
              <a:t>4/9/2025</a:t>
            </a:fld>
            <a:endParaRPr lang="en-US" altLang="en-US" b="0"/>
          </a:p>
        </p:txBody>
      </p:sp>
      <p:sp>
        <p:nvSpPr>
          <p:cNvPr id="32773" name="Footer Placeholder 2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  <p:sp>
        <p:nvSpPr>
          <p:cNvPr id="32774" name="Header Placeholder 3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</p:spTree>
    <p:extLst>
      <p:ext uri="{BB962C8B-B14F-4D97-AF65-F5344CB8AC3E}">
        <p14:creationId xmlns:p14="http://schemas.microsoft.com/office/powerpoint/2010/main" val="2195688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3012" name="Date Placeholder 1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D251FB-756D-4025-838F-1866E1FD2FFE}" type="datetime1">
              <a:rPr lang="en-US" altLang="en-US" b="0" smtClean="0"/>
              <a:pPr/>
              <a:t>4/9/2025</a:t>
            </a:fld>
            <a:endParaRPr lang="en-US" altLang="en-US" b="0"/>
          </a:p>
        </p:txBody>
      </p:sp>
      <p:sp>
        <p:nvSpPr>
          <p:cNvPr id="43013" name="Footer Placeholder 2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  <p:sp>
        <p:nvSpPr>
          <p:cNvPr id="43014" name="Header Placeholder 3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</p:spTree>
    <p:extLst>
      <p:ext uri="{BB962C8B-B14F-4D97-AF65-F5344CB8AC3E}">
        <p14:creationId xmlns:p14="http://schemas.microsoft.com/office/powerpoint/2010/main" val="42009945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E59F64-2578-42BD-8D66-05504BCB8935}" type="slidenum">
              <a:rPr lang="en-US"/>
              <a:pPr/>
              <a:t>29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400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0E88-9BE6-4BD2-98C8-F73F805AFE8B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0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A4FC-42A4-4A92-80D9-061551AC221B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97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C6AE-9B35-41B5-9675-F70C0A4B2406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50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E23D3-C298-4B2C-A28A-CCEAFC6EE12C}" type="datetime1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76792-55C8-48D6-A29E-6868A8E3A03B}" type="datetime1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85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0D4D0-6426-4597-8C98-404A08B55CC1}" type="datetime1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9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2308-A120-4CBE-BEC5-7AD3854E40C3}" type="datetime1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8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1825-0EB5-4124-A108-4836FF793D51}" type="datetime1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00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6BDE-A495-4461-8FFB-2D2F4FED9FD4}" type="datetime1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2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D89CD-0E71-4D21-975F-DD82387B4EFF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90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D691-1FF2-42B2-BE9C-7ECE0962F000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81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596ED-CE59-4A2C-8B66-5A52DB60CA35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43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dictionary.reference.com/browse/sentence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43468"/>
            <a:ext cx="6858000" cy="3618898"/>
          </a:xfrm>
        </p:spPr>
        <p:txBody>
          <a:bodyPr anchor="b">
            <a:normAutofit/>
          </a:bodyPr>
          <a:lstStyle/>
          <a:p>
            <a:pPr algn="ctr"/>
            <a:r>
              <a:rPr lang="en-US" sz="6300"/>
              <a:t>Artificial Intelligence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# 09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Knowledge Based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knowledge-based agent</a:t>
            </a:r>
          </a:p>
          <a:p>
            <a:r>
              <a:rPr lang="en-US" sz="2400" dirty="0"/>
              <a:t>The </a:t>
            </a:r>
            <a:r>
              <a:rPr lang="en-US" sz="2400" dirty="0" err="1"/>
              <a:t>Wumpus</a:t>
            </a:r>
            <a:r>
              <a:rPr lang="en-US" sz="2400" dirty="0"/>
              <a:t> World</a:t>
            </a:r>
          </a:p>
          <a:p>
            <a:r>
              <a:rPr lang="en-US" sz="2400" dirty="0"/>
              <a:t>Syntax ,  semantics</a:t>
            </a:r>
          </a:p>
          <a:p>
            <a:r>
              <a:rPr lang="en-US" sz="2400" dirty="0"/>
              <a:t>What is logic?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CB8BF-EA3B-4F45-B887-9E3D381C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knowledge-based agent 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81200"/>
            <a:ext cx="8229600" cy="4343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 knowledge-based agent includes a knowledge base and an inference system.</a:t>
            </a:r>
          </a:p>
          <a:p>
            <a:pPr>
              <a:lnSpc>
                <a:spcPct val="90000"/>
              </a:lnSpc>
            </a:pPr>
            <a:r>
              <a:rPr lang="en-US" dirty="0"/>
              <a:t>A knowledge base is a set of representations of facts of the world. </a:t>
            </a:r>
          </a:p>
          <a:p>
            <a:pPr>
              <a:lnSpc>
                <a:spcPct val="90000"/>
              </a:lnSpc>
            </a:pPr>
            <a:r>
              <a:rPr lang="en-US" dirty="0"/>
              <a:t>Each individual representation is called a </a:t>
            </a:r>
            <a:r>
              <a:rPr lang="en-US" b="1" dirty="0"/>
              <a:t>sentence</a:t>
            </a:r>
            <a:r>
              <a:rPr lang="en-US" dirty="0"/>
              <a:t>. </a:t>
            </a:r>
          </a:p>
          <a:p>
            <a:pPr>
              <a:lnSpc>
                <a:spcPct val="90000"/>
              </a:lnSpc>
            </a:pPr>
            <a:r>
              <a:rPr lang="en-US" dirty="0"/>
              <a:t>The sentences are expressed in a  </a:t>
            </a:r>
            <a:r>
              <a:rPr lang="en-US" b="1" dirty="0"/>
              <a:t>knowledge representation language</a:t>
            </a:r>
            <a:r>
              <a:rPr lang="en-US" dirty="0"/>
              <a:t>. </a:t>
            </a:r>
          </a:p>
          <a:p>
            <a:pPr>
              <a:lnSpc>
                <a:spcPct val="90000"/>
              </a:lnSpc>
            </a:pPr>
            <a:r>
              <a:rPr lang="en-US" dirty="0"/>
              <a:t>The agent operates as follows: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/>
              <a:t>1. It TELLs the knowledge base what it perceives.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/>
              <a:t>2. It ASKs the knowledge base what action it should perform.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/>
              <a:t>3. It performs the chosen action.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BBC76-44AB-4E3C-9A95-020B0E04B86B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/>
          <p:cNvSpPr>
            <a:spLocks noGrp="1"/>
          </p:cNvSpPr>
          <p:nvPr>
            <p:ph type="title"/>
          </p:nvPr>
        </p:nvSpPr>
        <p:spPr>
          <a:xfrm>
            <a:off x="436563" y="914400"/>
            <a:ext cx="8402637" cy="685800"/>
          </a:xfr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Knowledge </a:t>
            </a:r>
            <a:r>
              <a:rPr lang="en-US" dirty="0"/>
              <a:t>- Based (KB) Agents</a:t>
            </a:r>
            <a:endParaRPr lang="en-US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8229600" cy="2286000"/>
          </a:xfrm>
          <a:prstGeom prst="rect">
            <a:avLst/>
          </a:prstGeom>
          <a:noFill/>
        </p:spPr>
        <p:txBody>
          <a:bodyPr>
            <a:normAutofit fontScale="92500" lnSpcReduction="10000"/>
          </a:bodyPr>
          <a:lstStyle/>
          <a:p>
            <a:pPr marL="457200" indent="-457200" algn="just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2800" b="0" dirty="0">
                <a:solidFill>
                  <a:prstClr val="black"/>
                </a:solidFill>
                <a:latin typeface="+mn-lt"/>
              </a:rPr>
              <a:t>The Agent must be able to do:</a:t>
            </a:r>
          </a:p>
          <a:p>
            <a:pPr marL="914400" lvl="1" indent="-45720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2800" b="0" dirty="0">
                <a:solidFill>
                  <a:prstClr val="black"/>
                </a:solidFill>
                <a:latin typeface="+mn-lt"/>
              </a:rPr>
              <a:t>Represents states and actions</a:t>
            </a:r>
          </a:p>
          <a:p>
            <a:pPr marL="914400" lvl="1" indent="-45720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2800" b="0" dirty="0">
                <a:solidFill>
                  <a:prstClr val="black"/>
                </a:solidFill>
                <a:latin typeface="+mn-lt"/>
              </a:rPr>
              <a:t>Incorporates new percepts</a:t>
            </a:r>
          </a:p>
          <a:p>
            <a:pPr marL="914400" lvl="1" indent="-45720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2800" b="0" dirty="0">
                <a:solidFill>
                  <a:prstClr val="black"/>
                </a:solidFill>
                <a:latin typeface="+mn-lt"/>
              </a:rPr>
              <a:t>Update internal representation of the world</a:t>
            </a:r>
          </a:p>
          <a:p>
            <a:pPr marL="914400" lvl="1" indent="-45720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2800" b="0" dirty="0">
                <a:solidFill>
                  <a:prstClr val="black"/>
                </a:solidFill>
                <a:latin typeface="+mn-lt"/>
              </a:rPr>
              <a:t>Deduce hidden properties of the world</a:t>
            </a:r>
          </a:p>
          <a:p>
            <a:pPr marL="914400" lvl="1" indent="-457200" algn="just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sz="2800" b="0" dirty="0">
                <a:solidFill>
                  <a:prstClr val="black"/>
                </a:solidFill>
                <a:latin typeface="+mn-lt"/>
              </a:rPr>
              <a:t>Deduce appropriates action</a:t>
            </a:r>
          </a:p>
          <a:p>
            <a:pPr marL="914400" lvl="1" indent="-457200" algn="just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endParaRPr lang="en-US" b="0" dirty="0">
              <a:solidFill>
                <a:prstClr val="black"/>
              </a:solidFill>
              <a:latin typeface="+mn-lt"/>
            </a:endParaRPr>
          </a:p>
        </p:txBody>
      </p:sp>
      <p:grpSp>
        <p:nvGrpSpPr>
          <p:cNvPr id="19460" name="Group 6"/>
          <p:cNvGrpSpPr>
            <a:grpSpLocks/>
          </p:cNvGrpSpPr>
          <p:nvPr/>
        </p:nvGrpSpPr>
        <p:grpSpPr bwMode="auto">
          <a:xfrm>
            <a:off x="2819400" y="4397375"/>
            <a:ext cx="3138488" cy="2308225"/>
            <a:chOff x="3139618" y="3535487"/>
            <a:chExt cx="3138488" cy="3310845"/>
          </a:xfrm>
        </p:grpSpPr>
        <p:sp>
          <p:nvSpPr>
            <p:cNvPr id="8" name="Rectangle 7"/>
            <p:cNvSpPr/>
            <p:nvPr/>
          </p:nvSpPr>
          <p:spPr>
            <a:xfrm>
              <a:off x="3520618" y="5222789"/>
              <a:ext cx="2743200" cy="68539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003300"/>
                  </a:solidFill>
                </a:rPr>
                <a:t>Knowledge Based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520618" y="4462251"/>
              <a:ext cx="2743200" cy="68539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003300"/>
                  </a:solidFill>
                </a:rPr>
                <a:t>Inference Engine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4206418" y="3927141"/>
              <a:ext cx="685800" cy="5351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64" name="TextBox 10"/>
            <p:cNvSpPr txBox="1">
              <a:spLocks noChangeArrowheads="1"/>
            </p:cNvSpPr>
            <p:nvPr/>
          </p:nvSpPr>
          <p:spPr bwMode="auto">
            <a:xfrm>
              <a:off x="3139618" y="3535487"/>
              <a:ext cx="31384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Domain independent algorithm</a:t>
              </a:r>
            </a:p>
          </p:txBody>
        </p:sp>
        <p:sp>
          <p:nvSpPr>
            <p:cNvPr id="19465" name="TextBox 11"/>
            <p:cNvSpPr txBox="1">
              <a:spLocks noChangeArrowheads="1"/>
            </p:cNvSpPr>
            <p:nvPr/>
          </p:nvSpPr>
          <p:spPr bwMode="auto">
            <a:xfrm>
              <a:off x="3810000" y="6477000"/>
              <a:ext cx="244746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Domain specific content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V="1">
              <a:off x="4571543" y="5908183"/>
              <a:ext cx="320675" cy="56926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0100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>
            <a:normAutofit/>
          </a:bodyPr>
          <a:lstStyle/>
          <a:p>
            <a:r>
              <a:rPr lang="en-US"/>
              <a:t>Architecture of a </a:t>
            </a:r>
            <a:br>
              <a:rPr lang="en-US"/>
            </a:br>
            <a:r>
              <a:rPr lang="en-US"/>
              <a:t>knowledge-based agent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755478" y="1600200"/>
            <a:ext cx="7924800" cy="4724400"/>
          </a:xfrm>
        </p:spPr>
        <p:txBody>
          <a:bodyPr>
            <a:normAutofit/>
          </a:bodyPr>
          <a:lstStyle/>
          <a:p>
            <a:r>
              <a:rPr lang="en-US" sz="2000" b="1" dirty="0"/>
              <a:t>Knowledge Level.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The most abstract level: describe agent by saying what it knows. </a:t>
            </a:r>
          </a:p>
          <a:p>
            <a:pPr lvl="1"/>
            <a:r>
              <a:rPr lang="en-US" sz="2000" dirty="0"/>
              <a:t>Example: A taxi agent might know that the Golden Gate Bridge connects San Francisco with the Marin County. </a:t>
            </a:r>
          </a:p>
          <a:p>
            <a:r>
              <a:rPr lang="en-US" sz="2000" b="1" dirty="0"/>
              <a:t>Logical Level.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The level at which the knowledge is encoded into sentences. </a:t>
            </a:r>
          </a:p>
          <a:p>
            <a:pPr lvl="1"/>
            <a:r>
              <a:rPr lang="en-US" sz="2000" dirty="0"/>
              <a:t>Example: Links(</a:t>
            </a:r>
            <a:r>
              <a:rPr lang="en-US" sz="2000" dirty="0" err="1"/>
              <a:t>GoldenGateBridge</a:t>
            </a:r>
            <a:r>
              <a:rPr lang="en-US" sz="2000" dirty="0"/>
              <a:t>, </a:t>
            </a:r>
            <a:r>
              <a:rPr lang="en-US" sz="2000" dirty="0" err="1"/>
              <a:t>SanFrancisco</a:t>
            </a:r>
            <a:r>
              <a:rPr lang="en-US" sz="2000" dirty="0"/>
              <a:t>, </a:t>
            </a:r>
            <a:r>
              <a:rPr lang="en-US" sz="2000" dirty="0" err="1"/>
              <a:t>MarinCounty</a:t>
            </a:r>
            <a:r>
              <a:rPr lang="en-US" sz="2000" dirty="0"/>
              <a:t>). </a:t>
            </a:r>
          </a:p>
          <a:p>
            <a:r>
              <a:rPr lang="en-US" sz="2000" b="1" dirty="0"/>
              <a:t>Implementation Level.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The physical representation of the sentences in the logical level. </a:t>
            </a:r>
          </a:p>
          <a:p>
            <a:pPr lvl="1"/>
            <a:r>
              <a:rPr lang="en-US" sz="2000" dirty="0"/>
              <a:t>Example:  </a:t>
            </a:r>
            <a:r>
              <a:rPr lang="en-US" sz="2000" dirty="0">
                <a:latin typeface="Courier New" pitchFamily="49" charset="0"/>
              </a:rPr>
              <a:t>‘(links </a:t>
            </a:r>
            <a:r>
              <a:rPr lang="en-US" sz="2000" dirty="0" err="1">
                <a:latin typeface="Courier New" pitchFamily="49" charset="0"/>
              </a:rPr>
              <a:t>goldengatebridge</a:t>
            </a: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sanfrancisco</a:t>
            </a: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marincounty</a:t>
            </a:r>
            <a:r>
              <a:rPr lang="en-US" sz="2000" dirty="0">
                <a:latin typeface="Courier New" pitchFamily="49" charset="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C84D-0F9F-44E2-9490-2E580D1D9E2E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3234" y="353806"/>
            <a:ext cx="7514035" cy="91439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Wumpus</a:t>
            </a:r>
            <a:r>
              <a:rPr lang="en-US" dirty="0"/>
              <a:t> World environment 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1113234" y="1447800"/>
            <a:ext cx="7514035" cy="4343401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The Wumpus computer game.</a:t>
            </a:r>
          </a:p>
          <a:p>
            <a:pPr algn="just"/>
            <a:r>
              <a:rPr lang="en-US" sz="2400" dirty="0"/>
              <a:t>The agent explores a cave consisting of rooms connected by passageways. </a:t>
            </a:r>
          </a:p>
          <a:p>
            <a:pPr algn="just"/>
            <a:r>
              <a:rPr lang="en-US" sz="2400" dirty="0"/>
              <a:t>Looking somewhere in the cave is the </a:t>
            </a:r>
            <a:r>
              <a:rPr lang="en-US" sz="2400" dirty="0" err="1"/>
              <a:t>Wumpus</a:t>
            </a:r>
            <a:r>
              <a:rPr lang="en-US" sz="2400" dirty="0"/>
              <a:t>, a beast that eats any agent that enters its room. </a:t>
            </a:r>
          </a:p>
          <a:p>
            <a:pPr algn="just"/>
            <a:r>
              <a:rPr lang="en-US" sz="2400" dirty="0"/>
              <a:t>Some rooms contain bottomless pits that trap any agent that wanders into the room. </a:t>
            </a:r>
          </a:p>
          <a:p>
            <a:pPr algn="just"/>
            <a:r>
              <a:rPr lang="en-US" sz="2400" dirty="0"/>
              <a:t>Occasionally, there is a heap of gold in a room.</a:t>
            </a:r>
          </a:p>
          <a:p>
            <a:pPr algn="just"/>
            <a:r>
              <a:rPr lang="en-US" sz="2400" dirty="0"/>
              <a:t>The goal is to collect the gold and exit the world without being eaten.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54391-8795-479E-8CD5-6A11044D1016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1143000"/>
          </a:xfrm>
        </p:spPr>
        <p:txBody>
          <a:bodyPr/>
          <a:lstStyle/>
          <a:p>
            <a:r>
              <a:rPr lang="en-US"/>
              <a:t>A typical Wumpus world </a:t>
            </a:r>
          </a:p>
        </p:txBody>
      </p:sp>
      <p:sp>
        <p:nvSpPr>
          <p:cNvPr id="87043" name="Rectangle 1027"/>
          <p:cNvSpPr>
            <a:spLocks noGrp="1" noChangeArrowheads="1"/>
          </p:cNvSpPr>
          <p:nvPr>
            <p:ph idx="1"/>
          </p:nvPr>
        </p:nvSpPr>
        <p:spPr>
          <a:xfrm>
            <a:off x="381000" y="2057400"/>
            <a:ext cx="2759869" cy="4419600"/>
          </a:xfrm>
        </p:spPr>
        <p:txBody>
          <a:bodyPr>
            <a:normAutofit/>
          </a:bodyPr>
          <a:lstStyle/>
          <a:p>
            <a:r>
              <a:rPr lang="en-US" sz="2400" dirty="0"/>
              <a:t>The agent always starts in the field [1,1]. </a:t>
            </a:r>
          </a:p>
          <a:p>
            <a:r>
              <a:rPr lang="en-US" sz="2400" dirty="0"/>
              <a:t> The task of the agent is to find the gold, return to the field [1,1] and climb out of the cave.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4FF6-DE76-4AFB-8E8E-A526B9D2F69D}" type="slidenum">
              <a:rPr lang="en-US"/>
              <a:pPr/>
              <a:t>8</a:t>
            </a:fld>
            <a:endParaRPr lang="en-US"/>
          </a:p>
        </p:txBody>
      </p:sp>
      <p:pic>
        <p:nvPicPr>
          <p:cNvPr id="87045" name="Picture 1029" descr="img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306514"/>
            <a:ext cx="5486400" cy="53165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1143000"/>
          </a:xfrm>
        </p:spPr>
        <p:txBody>
          <a:bodyPr/>
          <a:lstStyle/>
          <a:p>
            <a:r>
              <a:rPr lang="en-US" sz="3600"/>
              <a:t>Agent in a Wumpus world: Percepts 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525522"/>
            <a:ext cx="7772400" cy="4706734"/>
          </a:xfrm>
        </p:spPr>
        <p:txBody>
          <a:bodyPr>
            <a:normAutofit/>
          </a:bodyPr>
          <a:lstStyle/>
          <a:p>
            <a:r>
              <a:rPr lang="en-US" sz="2200" dirty="0"/>
              <a:t>The agent perceives </a:t>
            </a:r>
          </a:p>
          <a:p>
            <a:pPr lvl="1"/>
            <a:r>
              <a:rPr lang="en-US" sz="2200" dirty="0"/>
              <a:t>a stench in the square containing the </a:t>
            </a:r>
            <a:r>
              <a:rPr lang="en-US" sz="2200" dirty="0" err="1"/>
              <a:t>wumpus</a:t>
            </a:r>
            <a:r>
              <a:rPr lang="en-US" sz="2200" dirty="0"/>
              <a:t> and in the adjacent squares (not diagonally) </a:t>
            </a:r>
          </a:p>
          <a:p>
            <a:pPr lvl="1"/>
            <a:r>
              <a:rPr lang="en-US" sz="2200" dirty="0"/>
              <a:t>a breeze in the squares adjacent to a pit</a:t>
            </a:r>
          </a:p>
          <a:p>
            <a:pPr lvl="1"/>
            <a:r>
              <a:rPr lang="en-US" sz="2200" dirty="0"/>
              <a:t>a glitter in the square where the gold is</a:t>
            </a:r>
          </a:p>
          <a:p>
            <a:pPr lvl="1"/>
            <a:r>
              <a:rPr lang="en-US" sz="2200" dirty="0"/>
              <a:t>a bump, if it walks into a wall</a:t>
            </a:r>
          </a:p>
          <a:p>
            <a:pPr lvl="1"/>
            <a:r>
              <a:rPr lang="en-US" sz="2200" dirty="0"/>
              <a:t>a woeful scream everywhere in the cave, if the </a:t>
            </a:r>
            <a:r>
              <a:rPr lang="en-US" sz="2200" dirty="0" err="1"/>
              <a:t>wumpus</a:t>
            </a:r>
            <a:r>
              <a:rPr lang="en-US" sz="2200" dirty="0"/>
              <a:t> is killed</a:t>
            </a:r>
          </a:p>
          <a:p>
            <a:r>
              <a:rPr lang="en-US" sz="2200" dirty="0"/>
              <a:t>The percepts will be given as a five-symbol list: If there is a stench, and a breeze, but no glitter, no bump, and no scream, the percept is  </a:t>
            </a:r>
          </a:p>
          <a:p>
            <a:pPr lvl="1">
              <a:buFontTx/>
              <a:buNone/>
            </a:pPr>
            <a:r>
              <a:rPr lang="en-US" sz="2200" dirty="0"/>
              <a:t>[Stench, Breeze, None, None, None] </a:t>
            </a:r>
          </a:p>
          <a:p>
            <a:r>
              <a:rPr lang="en-US" sz="2200" dirty="0"/>
              <a:t>The agent can not perceive its own location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44429-2415-49D5-B0FF-A61AE1899145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96669" y="457470"/>
            <a:ext cx="7514035" cy="838199"/>
          </a:xfrm>
        </p:spPr>
        <p:txBody>
          <a:bodyPr/>
          <a:lstStyle/>
          <a:p>
            <a:r>
              <a:rPr lang="en-US" dirty="0"/>
              <a:t>Wumpus actions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524000"/>
            <a:ext cx="7772400" cy="4114800"/>
          </a:xfrm>
        </p:spPr>
        <p:txBody>
          <a:bodyPr>
            <a:normAutofit/>
          </a:bodyPr>
          <a:lstStyle/>
          <a:p>
            <a:r>
              <a:rPr lang="en-US" sz="2000" b="1" dirty="0"/>
              <a:t>go forward </a:t>
            </a:r>
          </a:p>
          <a:p>
            <a:r>
              <a:rPr lang="en-US" sz="2000" b="1" dirty="0"/>
              <a:t>turn right</a:t>
            </a:r>
            <a:r>
              <a:rPr lang="en-US" sz="2000" dirty="0"/>
              <a:t> 90 degrees</a:t>
            </a:r>
          </a:p>
          <a:p>
            <a:r>
              <a:rPr lang="en-US" sz="2000" b="1" dirty="0"/>
              <a:t>turn left</a:t>
            </a:r>
            <a:r>
              <a:rPr lang="en-US" sz="2000" dirty="0"/>
              <a:t> 90 degrees</a:t>
            </a:r>
          </a:p>
          <a:p>
            <a:r>
              <a:rPr lang="en-US" sz="2000" b="1" dirty="0"/>
              <a:t>grab</a:t>
            </a:r>
            <a:r>
              <a:rPr lang="en-US" sz="2000" dirty="0"/>
              <a:t> means pick up an object that is in the same square as the agent</a:t>
            </a:r>
          </a:p>
          <a:p>
            <a:r>
              <a:rPr lang="en-US" sz="2000" b="1" dirty="0"/>
              <a:t>shoot</a:t>
            </a:r>
            <a:r>
              <a:rPr lang="en-US" sz="2000" dirty="0"/>
              <a:t> means fire an arrow in a straight line in the direction the agent is looking. The arrow continues until it either hits and kills the </a:t>
            </a:r>
            <a:r>
              <a:rPr lang="en-US" sz="2000" dirty="0" err="1"/>
              <a:t>wumpus</a:t>
            </a:r>
            <a:r>
              <a:rPr lang="en-US" sz="2000" dirty="0"/>
              <a:t> or hits the wall. The agent has only one arrow. Only the first shot has any effect. </a:t>
            </a:r>
          </a:p>
          <a:p>
            <a:r>
              <a:rPr lang="en-US" sz="2000" b="1" dirty="0"/>
              <a:t>climb</a:t>
            </a:r>
            <a:r>
              <a:rPr lang="en-US" sz="2000" dirty="0"/>
              <a:t> is used to leave the cave. Only effective in start field. </a:t>
            </a:r>
          </a:p>
          <a:p>
            <a:r>
              <a:rPr lang="en-US" sz="2000" b="1" dirty="0"/>
              <a:t>die</a:t>
            </a:r>
            <a:r>
              <a:rPr lang="en-US" sz="2000" dirty="0"/>
              <a:t>, if the agent enters a square with a pit or a live </a:t>
            </a:r>
            <a:r>
              <a:rPr lang="en-US" sz="2000" dirty="0" err="1"/>
              <a:t>wumpus</a:t>
            </a:r>
            <a:r>
              <a:rPr lang="en-US" sz="2000" dirty="0"/>
              <a:t>. (No take-backs!)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2CCA1-0914-453E-9057-183B641BCD14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Wumpus goal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905000"/>
            <a:ext cx="7010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The agent’s goal is to find the gold and bring it back to the start as quickly as possible, without getting killed. </a:t>
            </a:r>
          </a:p>
          <a:p>
            <a:pPr lvl="1"/>
            <a:r>
              <a:rPr lang="en-US" sz="2400"/>
              <a:t>1000 points reward for climbing out of the cave with the gold</a:t>
            </a:r>
          </a:p>
          <a:p>
            <a:pPr lvl="1"/>
            <a:r>
              <a:rPr lang="en-US" sz="2400"/>
              <a:t>1 point deducted for every action taken</a:t>
            </a:r>
          </a:p>
          <a:p>
            <a:pPr lvl="1"/>
            <a:r>
              <a:rPr lang="en-US" sz="2400"/>
              <a:t>10000 points penalty for getting killed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90E83-5121-4AEC-9AD3-4395D32932A8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Wumpus world characterization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2800" b="1" dirty="0"/>
              <a:t>Fully Observable</a:t>
            </a:r>
            <a:r>
              <a:rPr lang="en-US" sz="2800" dirty="0"/>
              <a:t> No – only </a:t>
            </a:r>
            <a:r>
              <a:rPr lang="en-US" sz="2800" dirty="0">
                <a:solidFill>
                  <a:schemeClr val="accent2"/>
                </a:solidFill>
              </a:rPr>
              <a:t>local</a:t>
            </a:r>
            <a:r>
              <a:rPr lang="en-US" sz="2800" dirty="0"/>
              <a:t> perception</a:t>
            </a:r>
          </a:p>
          <a:p>
            <a:pPr marL="342900" indent="-342900"/>
            <a:r>
              <a:rPr lang="en-US" sz="2800" b="1" dirty="0"/>
              <a:t>Deterministic  </a:t>
            </a:r>
            <a:r>
              <a:rPr lang="en-US" sz="2800" dirty="0"/>
              <a:t>No – cannot plan strategy in the beginning.</a:t>
            </a:r>
          </a:p>
          <a:p>
            <a:pPr marL="342900" indent="-342900"/>
            <a:r>
              <a:rPr lang="en-US" sz="2800" b="1" dirty="0"/>
              <a:t>Episodic</a:t>
            </a:r>
            <a:r>
              <a:rPr lang="en-US" sz="2800" dirty="0"/>
              <a:t> No – sequential at the level of actions</a:t>
            </a:r>
          </a:p>
          <a:p>
            <a:pPr marL="342900" indent="-342900"/>
            <a:r>
              <a:rPr lang="en-US" sz="2800" b="1" dirty="0"/>
              <a:t>Static</a:t>
            </a:r>
            <a:r>
              <a:rPr lang="en-US" sz="2800" dirty="0"/>
              <a:t>  Yes – </a:t>
            </a:r>
            <a:r>
              <a:rPr lang="en-US" sz="2800" dirty="0" err="1"/>
              <a:t>Wumpus</a:t>
            </a:r>
            <a:r>
              <a:rPr lang="en-US" sz="2800" dirty="0"/>
              <a:t> and Pits do not move</a:t>
            </a:r>
          </a:p>
          <a:p>
            <a:pPr marL="342900" indent="-342900"/>
            <a:r>
              <a:rPr lang="en-US" sz="2800" b="1" dirty="0"/>
              <a:t>Discrete</a:t>
            </a:r>
            <a:r>
              <a:rPr lang="en-US" sz="2800" dirty="0"/>
              <a:t> Yes</a:t>
            </a:r>
          </a:p>
          <a:p>
            <a:pPr marL="342900" indent="-342900"/>
            <a:r>
              <a:rPr lang="en-US" sz="2800" b="1" dirty="0"/>
              <a:t>Single-agent?</a:t>
            </a:r>
            <a:r>
              <a:rPr lang="en-US" sz="2800" dirty="0"/>
              <a:t> Yes – </a:t>
            </a:r>
            <a:r>
              <a:rPr lang="en-US" sz="2800" dirty="0" err="1"/>
              <a:t>Wumpus</a:t>
            </a:r>
            <a:r>
              <a:rPr lang="en-US" sz="2800" dirty="0"/>
              <a:t> is essentially a natural feature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C1C00-CB30-4480-8E87-F23F463E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z="1800" smtClean="0"/>
              <a:pPr/>
              <a:t>12</a:t>
            </a:fld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1143000"/>
          </a:xfrm>
        </p:spPr>
        <p:txBody>
          <a:bodyPr/>
          <a:lstStyle/>
          <a:p>
            <a:r>
              <a:rPr lang="en-US" dirty="0"/>
              <a:t>A typical Wumpus world </a:t>
            </a:r>
          </a:p>
        </p:txBody>
      </p:sp>
      <p:sp>
        <p:nvSpPr>
          <p:cNvPr id="87043" name="Rectangle 1027"/>
          <p:cNvSpPr>
            <a:spLocks noGrp="1" noChangeArrowheads="1"/>
          </p:cNvSpPr>
          <p:nvPr>
            <p:ph idx="1"/>
          </p:nvPr>
        </p:nvSpPr>
        <p:spPr>
          <a:xfrm>
            <a:off x="381000" y="1981200"/>
            <a:ext cx="2895600" cy="4495800"/>
          </a:xfrm>
        </p:spPr>
        <p:txBody>
          <a:bodyPr>
            <a:normAutofit/>
          </a:bodyPr>
          <a:lstStyle/>
          <a:p>
            <a:r>
              <a:rPr lang="en-US" sz="2400" dirty="0"/>
              <a:t>The agent always starts in the field [1,1]. </a:t>
            </a:r>
          </a:p>
          <a:p>
            <a:r>
              <a:rPr lang="en-US" sz="2400" dirty="0"/>
              <a:t> The task of the agent is to find the gold, return to the field [1,1] and climb out of the cave.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4FF6-DE76-4AFB-8E8E-A526B9D2F69D}" type="slidenum">
              <a:rPr lang="en-US"/>
              <a:pPr/>
              <a:t>13</a:t>
            </a:fld>
            <a:endParaRPr lang="en-US"/>
          </a:p>
        </p:txBody>
      </p:sp>
      <p:pic>
        <p:nvPicPr>
          <p:cNvPr id="87045" name="Picture 1029" descr="img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306514"/>
            <a:ext cx="5486400" cy="53165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Wumpus agent’s first step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03BCE-5A9D-44B0-947F-F618262B4651}" type="slidenum">
              <a:rPr lang="en-US"/>
              <a:pPr/>
              <a:t>14</a:t>
            </a:fld>
            <a:endParaRPr lang="en-US"/>
          </a:p>
        </p:txBody>
      </p:sp>
      <p:pic>
        <p:nvPicPr>
          <p:cNvPr id="82949" name="Picture 5" descr="img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317750"/>
            <a:ext cx="8305800" cy="3670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4855B-90B4-4A7E-9F87-EF0141070D6F}" type="slidenum">
              <a:rPr lang="en-US"/>
              <a:pPr/>
              <a:t>15</a:t>
            </a:fld>
            <a:endParaRPr lang="en-US"/>
          </a:p>
        </p:txBody>
      </p:sp>
      <p:pic>
        <p:nvPicPr>
          <p:cNvPr id="83972" name="Picture 4" descr="img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438400"/>
            <a:ext cx="8610600" cy="37576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Exploring a wumpus world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91D226-C737-4E20-B897-B8118A979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1203" name="Picture 3" descr="wumpus-seq0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86125" y="2138363"/>
            <a:ext cx="257175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1796" name="Text Box 4"/>
          <p:cNvSpPr txBox="1">
            <a:spLocks noChangeArrowheads="1"/>
          </p:cNvSpPr>
          <p:nvPr/>
        </p:nvSpPr>
        <p:spPr bwMode="auto">
          <a:xfrm>
            <a:off x="7010400" y="2473326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A	agent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B	breeze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G	glitter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OK	safe cell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P	pit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S	stench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W	wumpus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Exploring a wumpus world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05E00F-35ED-426C-BB24-68BB9ADA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3251" name="Picture 3" descr="wumpus-seq1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86125" y="2138363"/>
            <a:ext cx="257175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44" name="Text Box 4"/>
          <p:cNvSpPr txBox="1">
            <a:spLocks noChangeArrowheads="1"/>
          </p:cNvSpPr>
          <p:nvPr/>
        </p:nvSpPr>
        <p:spPr bwMode="auto">
          <a:xfrm>
            <a:off x="7010400" y="2473326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A	agent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B	breeze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G	glitter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OK	safe cell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P	pit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S	stench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W	wumpus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Exploring a wumpus world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4C1F8-BC89-4578-AD9D-20ACD837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5299" name="Picture 3" descr="wumpus-seq2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86125" y="2138363"/>
            <a:ext cx="257175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5892" name="Text Box 4"/>
          <p:cNvSpPr txBox="1">
            <a:spLocks noChangeArrowheads="1"/>
          </p:cNvSpPr>
          <p:nvPr/>
        </p:nvSpPr>
        <p:spPr bwMode="auto">
          <a:xfrm>
            <a:off x="7010400" y="2473326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A	agent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B	breeze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G	glitter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OK	safe cell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P	pit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S	stench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W	wumpus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Exploring a wumpus world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CC6836-25DD-4C72-9AFE-B8A70F0E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7347" name="Picture 3" descr="wumpus-seq3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86125" y="2295525"/>
            <a:ext cx="257175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7940" name="Text Box 4"/>
          <p:cNvSpPr txBox="1">
            <a:spLocks noChangeArrowheads="1"/>
          </p:cNvSpPr>
          <p:nvPr/>
        </p:nvSpPr>
        <p:spPr bwMode="auto">
          <a:xfrm>
            <a:off x="7010400" y="2473326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A	agent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B	breeze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G	glitter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OK	safe cell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P	pit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S	stench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W	wumpus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Exploring a wumpus world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E11446-D905-411A-9E40-78142214D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9395" name="Picture 3" descr="wumpus-seq4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86125" y="2138363"/>
            <a:ext cx="257175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9988" name="Text Box 4"/>
          <p:cNvSpPr txBox="1">
            <a:spLocks noChangeArrowheads="1"/>
          </p:cNvSpPr>
          <p:nvPr/>
        </p:nvSpPr>
        <p:spPr bwMode="auto">
          <a:xfrm>
            <a:off x="7010400" y="2473326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A	agent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B	breeze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G	glitter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OK	safe cell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P	pit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S	stench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W	wumpus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Exploring a wumpus world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2C0A03-3578-419E-9E26-0F828E366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1443" name="Picture 3" descr="wumpus-seq5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86125" y="2138363"/>
            <a:ext cx="257175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2036" name="Text Box 4"/>
          <p:cNvSpPr txBox="1">
            <a:spLocks noChangeArrowheads="1"/>
          </p:cNvSpPr>
          <p:nvPr/>
        </p:nvSpPr>
        <p:spPr bwMode="auto">
          <a:xfrm>
            <a:off x="7010400" y="2473326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A	agent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B	breeze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G	glitter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OK	safe cell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P	pit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S	stench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W	wumpus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Exploring a wumpus world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1CAF2-CC00-4640-8A66-2303441D6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3491" name="Picture 3" descr="wumpus-seq6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86125" y="2138363"/>
            <a:ext cx="257175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7010400" y="2473326"/>
            <a:ext cx="1319592" cy="1600438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A	agent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B	breeze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G	glitter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OK	safe cell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P	pit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S	stench</a:t>
            </a:r>
          </a:p>
          <a:p>
            <a:pPr eaLnBrk="1" hangingPunct="1">
              <a:tabLst>
                <a:tab pos="463550" algn="l"/>
              </a:tabLst>
            </a:pPr>
            <a:r>
              <a:rPr lang="en-US" sz="1400">
                <a:latin typeface="Arial" charset="0"/>
              </a:rPr>
              <a:t>W	wumpus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rIns="132080"/>
          <a:lstStyle/>
          <a:p>
            <a:r>
              <a:rPr lang="en-US" dirty="0"/>
              <a:t>Representing Knowledge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 rIns="132080">
            <a:noAutofit/>
          </a:bodyPr>
          <a:lstStyle/>
          <a:p>
            <a:r>
              <a:rPr lang="en-US" sz="2400" dirty="0"/>
              <a:t>The agent that solves the </a:t>
            </a:r>
            <a:r>
              <a:rPr lang="en-US" sz="2400" dirty="0" err="1"/>
              <a:t>wumpus</a:t>
            </a:r>
            <a:r>
              <a:rPr lang="en-US" sz="2400" dirty="0"/>
              <a:t> world can most effectively be implemented by a knowledge-based approach.</a:t>
            </a:r>
          </a:p>
          <a:p>
            <a:r>
              <a:rPr lang="en-US" sz="2400" dirty="0"/>
              <a:t>Need to represent states and actions, update internal representations, deduce hidden properties and appropriate actions.</a:t>
            </a:r>
          </a:p>
          <a:p>
            <a:r>
              <a:rPr lang="en-US" sz="2400" dirty="0"/>
              <a:t>Need a formal representation for the KB</a:t>
            </a:r>
          </a:p>
          <a:p>
            <a:r>
              <a:rPr lang="en-US" sz="2400" dirty="0"/>
              <a:t>And a way to reason about that representation.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D934BD-DCE9-4413-9334-F30D51BF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Representation, reasoning, and logic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077200" cy="4114800"/>
          </a:xfrm>
        </p:spPr>
        <p:txBody>
          <a:bodyPr>
            <a:normAutofit/>
          </a:bodyPr>
          <a:lstStyle/>
          <a:p>
            <a:r>
              <a:rPr lang="en-US" dirty="0"/>
              <a:t>The object of knowledge representation is to express knowledge in a computer-tractable form, so that agents can perform well. </a:t>
            </a:r>
          </a:p>
          <a:p>
            <a:r>
              <a:rPr lang="en-US" dirty="0"/>
              <a:t>A knowledge representation language is defined by: </a:t>
            </a:r>
          </a:p>
          <a:p>
            <a:pPr lvl="1"/>
            <a:r>
              <a:rPr lang="en-US" sz="2400" dirty="0"/>
              <a:t> its </a:t>
            </a:r>
            <a:r>
              <a:rPr lang="en-US" sz="2400" b="1" dirty="0"/>
              <a:t>syntax,</a:t>
            </a:r>
            <a:r>
              <a:rPr lang="en-US" sz="2400" dirty="0"/>
              <a:t> which defines all possible sequences of symbols that constitute sentences of the language. </a:t>
            </a:r>
          </a:p>
          <a:p>
            <a:pPr lvl="2"/>
            <a:r>
              <a:rPr lang="en-US" sz="2000" dirty="0"/>
              <a:t>Examples: Sentences in a book, bit patterns in computer memory. </a:t>
            </a:r>
          </a:p>
          <a:p>
            <a:pPr lvl="1"/>
            <a:r>
              <a:rPr lang="en-US" sz="2400" dirty="0"/>
              <a:t> its </a:t>
            </a:r>
            <a:r>
              <a:rPr lang="en-US" sz="2400" b="1" dirty="0"/>
              <a:t>semantics</a:t>
            </a:r>
            <a:r>
              <a:rPr lang="en-US" sz="2400" dirty="0"/>
              <a:t>, which determines the facts in the world to which the sentences refer. </a:t>
            </a:r>
          </a:p>
          <a:p>
            <a:pPr lvl="2"/>
            <a:r>
              <a:rPr lang="en-US" sz="2000" dirty="0"/>
              <a:t>Each sentence makes a claim about the world. </a:t>
            </a:r>
          </a:p>
          <a:p>
            <a:pPr lvl="2"/>
            <a:r>
              <a:rPr lang="en-US" sz="2000" dirty="0"/>
              <a:t>An agent is said to believe a sentence about the world.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A428B-B216-4C78-ADBD-C7780FEA3E96}" type="slidenum">
              <a:rPr lang="en-US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connection between sentences and facts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525C0-2A53-408C-B44E-77410A12BB8D}" type="slidenum">
              <a:rPr lang="en-US"/>
              <a:pPr/>
              <a:t>25</a:t>
            </a:fld>
            <a:endParaRPr lang="en-US"/>
          </a:p>
        </p:txBody>
      </p:sp>
      <p:pic>
        <p:nvPicPr>
          <p:cNvPr id="88068" name="Picture 4" descr="img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219326"/>
            <a:ext cx="8686800" cy="2419350"/>
          </a:xfrm>
          <a:prstGeom prst="rect">
            <a:avLst/>
          </a:prstGeom>
          <a:noFill/>
        </p:spPr>
      </p:pic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873126" y="5070475"/>
            <a:ext cx="768030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just"/>
            <a:r>
              <a:rPr lang="en-US" sz="2400" dirty="0"/>
              <a:t>Semantics maps sentences in logic to facts in the world.</a:t>
            </a:r>
          </a:p>
          <a:p>
            <a:pPr algn="just"/>
            <a:r>
              <a:rPr lang="en-US" sz="2400" dirty="0"/>
              <a:t>The property of one fact following from another is mirrored</a:t>
            </a:r>
          </a:p>
          <a:p>
            <a:pPr algn="just"/>
            <a:r>
              <a:rPr lang="en-US" sz="2400" dirty="0"/>
              <a:t>by the property of one sentence being entailed by another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dirty="0"/>
              <a:t>Entailment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066800"/>
            <a:ext cx="7772400" cy="5562600"/>
          </a:xfrm>
        </p:spPr>
        <p:txBody>
          <a:bodyPr>
            <a:normAutofit/>
          </a:bodyPr>
          <a:lstStyle/>
          <a:p>
            <a:pPr marL="231775" indent="-231775">
              <a:lnSpc>
                <a:spcPct val="80000"/>
              </a:lnSpc>
            </a:pPr>
            <a:r>
              <a:rPr lang="en-US" sz="2800" dirty="0">
                <a:solidFill>
                  <a:schemeClr val="accent2"/>
                </a:solidFill>
              </a:rPr>
              <a:t>Entailment</a:t>
            </a:r>
            <a:r>
              <a:rPr lang="en-US" sz="2800" dirty="0"/>
              <a:t> means that one thing </a:t>
            </a:r>
            <a:r>
              <a:rPr lang="en-US" sz="2800" dirty="0">
                <a:solidFill>
                  <a:srgbClr val="FF0000"/>
                </a:solidFill>
              </a:rPr>
              <a:t>follows from </a:t>
            </a:r>
            <a:r>
              <a:rPr lang="en-US" sz="2800" dirty="0"/>
              <a:t>another:</a:t>
            </a:r>
          </a:p>
          <a:p>
            <a:pPr marL="231775" indent="-231775" algn="ctr">
              <a:lnSpc>
                <a:spcPct val="80000"/>
              </a:lnSpc>
              <a:buFontTx/>
              <a:buNone/>
            </a:pPr>
            <a:r>
              <a:rPr lang="en-US" sz="2800" dirty="0"/>
              <a:t>KB </a:t>
            </a:r>
            <a:r>
              <a:rPr lang="en-US" sz="2800" dirty="0">
                <a:cs typeface="Arial" charset="0"/>
              </a:rPr>
              <a:t>╞</a:t>
            </a:r>
            <a:r>
              <a:rPr lang="en-US" sz="2800" dirty="0"/>
              <a:t> </a:t>
            </a:r>
            <a:r>
              <a:rPr lang="el-GR" sz="2800" dirty="0">
                <a:cs typeface="Arial" charset="0"/>
              </a:rPr>
              <a:t>α</a:t>
            </a:r>
            <a:endParaRPr lang="en-US" sz="2800" dirty="0"/>
          </a:p>
          <a:p>
            <a:pPr marL="231775" indent="-231775" algn="ctr">
              <a:lnSpc>
                <a:spcPct val="80000"/>
              </a:lnSpc>
              <a:buFontTx/>
              <a:buNone/>
            </a:pPr>
            <a:endParaRPr lang="en-US" sz="2800" dirty="0"/>
          </a:p>
          <a:p>
            <a:pPr marL="231775" indent="-231775">
              <a:lnSpc>
                <a:spcPct val="80000"/>
              </a:lnSpc>
            </a:pPr>
            <a:r>
              <a:rPr lang="en-US" sz="2800" dirty="0"/>
              <a:t>Knowledge base </a:t>
            </a:r>
            <a:r>
              <a:rPr lang="en-US" sz="2800" i="1" dirty="0"/>
              <a:t>KB</a:t>
            </a:r>
            <a:r>
              <a:rPr lang="en-US" sz="2800" dirty="0"/>
              <a:t> entails sentence α if and only if α is true in all worlds where </a:t>
            </a:r>
            <a:r>
              <a:rPr lang="en-US" sz="2800" i="1" dirty="0"/>
              <a:t>KB</a:t>
            </a:r>
            <a:r>
              <a:rPr lang="en-US" sz="2800" dirty="0"/>
              <a:t> is true</a:t>
            </a:r>
          </a:p>
          <a:p>
            <a:pPr marL="1597025" lvl="4" indent="-220663">
              <a:lnSpc>
                <a:spcPct val="80000"/>
              </a:lnSpc>
            </a:pPr>
            <a:endParaRPr lang="en-US" sz="1800" dirty="0"/>
          </a:p>
          <a:p>
            <a:pPr marL="573088" lvl="1">
              <a:lnSpc>
                <a:spcPct val="80000"/>
              </a:lnSpc>
            </a:pPr>
            <a:r>
              <a:rPr lang="en-US" sz="2400" dirty="0"/>
              <a:t>E.g., </a:t>
            </a:r>
            <a:r>
              <a:rPr lang="en-US" sz="2400" dirty="0" err="1"/>
              <a:t>x+y</a:t>
            </a:r>
            <a:r>
              <a:rPr lang="en-US" sz="2400" dirty="0"/>
              <a:t> = 4 entails  4 = </a:t>
            </a:r>
            <a:r>
              <a:rPr lang="en-US" sz="2400" dirty="0" err="1"/>
              <a:t>x+y</a:t>
            </a:r>
            <a:endParaRPr lang="en-US" sz="2400" dirty="0"/>
          </a:p>
          <a:p>
            <a:pPr marL="573088" lvl="1">
              <a:lnSpc>
                <a:spcPct val="80000"/>
              </a:lnSpc>
            </a:pPr>
            <a:r>
              <a:rPr lang="en-US" sz="2400" dirty="0"/>
              <a:t>Entailment is a relationship between sentences (i.e., </a:t>
            </a:r>
            <a:r>
              <a:rPr lang="en-US" sz="2400" dirty="0">
                <a:solidFill>
                  <a:srgbClr val="FF0000"/>
                </a:solidFill>
              </a:rPr>
              <a:t>syntax</a:t>
            </a:r>
            <a:r>
              <a:rPr lang="en-US" sz="2400" dirty="0"/>
              <a:t>) that is based on </a:t>
            </a:r>
            <a:r>
              <a:rPr lang="en-US" sz="2400" b="1" dirty="0"/>
              <a:t>semantics</a:t>
            </a:r>
          </a:p>
          <a:p>
            <a:pPr marL="573088" lvl="1">
              <a:lnSpc>
                <a:spcPct val="80000"/>
              </a:lnSpc>
            </a:pPr>
            <a:r>
              <a:rPr lang="en-US" sz="2400" dirty="0"/>
              <a:t>A relationship between two </a:t>
            </a:r>
            <a:r>
              <a:rPr lang="en-US" sz="2400" u="sng" dirty="0">
                <a:hlinkClick r:id="rId3"/>
              </a:rPr>
              <a:t>sentences</a:t>
            </a:r>
            <a:r>
              <a:rPr lang="en-US" sz="2400" dirty="0"/>
              <a:t> such that if the </a:t>
            </a:r>
          </a:p>
          <a:p>
            <a:pPr marL="573088" lvl="1">
              <a:lnSpc>
                <a:spcPct val="80000"/>
              </a:lnSpc>
              <a:buNone/>
            </a:pPr>
            <a:r>
              <a:rPr lang="en-US" sz="2400" dirty="0"/>
              <a:t>First is true, the second must also be true, as if: </a:t>
            </a:r>
          </a:p>
          <a:p>
            <a:pPr marL="573088" lvl="1">
              <a:lnSpc>
                <a:spcPct val="80000"/>
              </a:lnSpc>
              <a:buNone/>
            </a:pPr>
            <a:r>
              <a:rPr lang="en-US" sz="2400" i="1" dirty="0"/>
              <a:t>Her son drives her to work every day</a:t>
            </a:r>
            <a:r>
              <a:rPr lang="en-US" sz="2400" dirty="0"/>
              <a:t> and </a:t>
            </a:r>
            <a:r>
              <a:rPr lang="en-US" sz="2400" i="1" dirty="0"/>
              <a:t>Her son knows </a:t>
            </a:r>
          </a:p>
          <a:p>
            <a:pPr marL="573088" lvl="1">
              <a:lnSpc>
                <a:spcPct val="80000"/>
              </a:lnSpc>
              <a:buNone/>
            </a:pPr>
            <a:r>
              <a:rPr lang="en-US" sz="2400" i="1" dirty="0"/>
              <a:t>how to drive </a:t>
            </a:r>
            <a:r>
              <a:rPr lang="en-US" sz="2400" dirty="0"/>
              <a:t> .</a:t>
            </a:r>
            <a:endParaRPr lang="en-US"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D042DC-6E16-4A55-8805-C4EDA1649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7989888" cy="10826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b="1" dirty="0"/>
              <a:t>Entailment and Proof</a:t>
            </a: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457200" y="1997075"/>
            <a:ext cx="8229600" cy="4708525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GB" altLang="en-US" sz="2400"/>
              <a:t>To clarify the difference between entailment and proof:</a:t>
            </a:r>
          </a:p>
          <a:p>
            <a:pPr algn="just" eaLnBrk="1" hangingPunct="1">
              <a:lnSpc>
                <a:spcPct val="80000"/>
              </a:lnSpc>
            </a:pPr>
            <a:endParaRPr lang="en-GB" altLang="en-US" sz="2400"/>
          </a:p>
          <a:p>
            <a:pPr algn="just" eaLnBrk="1" hangingPunct="1">
              <a:lnSpc>
                <a:spcPct val="80000"/>
              </a:lnSpc>
            </a:pPr>
            <a:r>
              <a:rPr lang="en-GB" altLang="en-US" sz="2400">
                <a:solidFill>
                  <a:schemeClr val="accent2"/>
                </a:solidFill>
              </a:rPr>
              <a:t>Entailment</a:t>
            </a:r>
            <a:r>
              <a:rPr lang="en-GB" altLang="en-US" sz="2400"/>
              <a:t>: if we have a set of formulae which are true, then as a logical consequence of this, some particular formula must also be true.</a:t>
            </a:r>
          </a:p>
          <a:p>
            <a:pPr algn="just" eaLnBrk="1" hangingPunct="1">
              <a:lnSpc>
                <a:spcPct val="80000"/>
              </a:lnSpc>
            </a:pPr>
            <a:endParaRPr lang="en-GB" altLang="en-US" sz="2400"/>
          </a:p>
          <a:p>
            <a:pPr algn="just" eaLnBrk="1" hangingPunct="1">
              <a:lnSpc>
                <a:spcPct val="80000"/>
              </a:lnSpc>
            </a:pPr>
            <a:r>
              <a:rPr lang="en-GB" altLang="en-US" sz="2400">
                <a:solidFill>
                  <a:schemeClr val="accent2"/>
                </a:solidFill>
              </a:rPr>
              <a:t>Proof</a:t>
            </a:r>
            <a:r>
              <a:rPr lang="en-GB" altLang="en-US" sz="2400"/>
              <a:t>: a formula is provable (derivable) in some logical system if there are rules of inference that allow the formula to be derived by performing some operations on the formulae.</a:t>
            </a:r>
          </a:p>
          <a:p>
            <a:pPr algn="just" eaLnBrk="1" hangingPunct="1">
              <a:lnSpc>
                <a:spcPct val="80000"/>
              </a:lnSpc>
            </a:pPr>
            <a:endParaRPr lang="en-GB" altLang="en-US" sz="2400"/>
          </a:p>
          <a:p>
            <a:pPr algn="just" eaLnBrk="1" hangingPunct="1">
              <a:lnSpc>
                <a:spcPct val="80000"/>
              </a:lnSpc>
            </a:pPr>
            <a:r>
              <a:rPr lang="en-GB" altLang="en-US" sz="2400">
                <a:solidFill>
                  <a:schemeClr val="accent2"/>
                </a:solidFill>
              </a:rPr>
              <a:t>Entailment</a:t>
            </a:r>
            <a:r>
              <a:rPr lang="en-GB" altLang="en-US" sz="2400"/>
              <a:t> is concerned with the </a:t>
            </a:r>
            <a:r>
              <a:rPr lang="en-GB" altLang="en-US" sz="2400">
                <a:solidFill>
                  <a:schemeClr val="accent2"/>
                </a:solidFill>
              </a:rPr>
              <a:t>semantics</a:t>
            </a:r>
            <a:r>
              <a:rPr lang="en-GB" altLang="en-US" sz="2400"/>
              <a:t> of formulae, </a:t>
            </a:r>
            <a:r>
              <a:rPr lang="en-GB" altLang="en-US" sz="2400">
                <a:solidFill>
                  <a:schemeClr val="hlink"/>
                </a:solidFill>
              </a:rPr>
              <a:t>proof</a:t>
            </a:r>
            <a:r>
              <a:rPr lang="en-GB" altLang="en-US" sz="2400"/>
              <a:t> is concerned with </a:t>
            </a:r>
            <a:r>
              <a:rPr lang="en-GB" altLang="en-US" sz="2400">
                <a:solidFill>
                  <a:schemeClr val="hlink"/>
                </a:solidFill>
              </a:rPr>
              <a:t>syntax</a:t>
            </a:r>
            <a:r>
              <a:rPr lang="en-GB" altLang="en-US" sz="2400"/>
              <a:t> only.</a:t>
            </a:r>
          </a:p>
        </p:txBody>
      </p:sp>
    </p:spTree>
    <p:extLst>
      <p:ext uri="{BB962C8B-B14F-4D97-AF65-F5344CB8AC3E}">
        <p14:creationId xmlns:p14="http://schemas.microsoft.com/office/powerpoint/2010/main" val="4270653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3725"/>
            <a:ext cx="7989888" cy="10826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8562975" cy="3630612"/>
          </a:xfrm>
        </p:spPr>
        <p:txBody>
          <a:bodyPr rtlCol="0">
            <a:noAutofit/>
          </a:bodyPr>
          <a:lstStyle/>
          <a:p>
            <a:pPr marL="306000" indent="-306000" eaLnBrk="1" fontAlgn="auto" hangingPunct="1">
              <a:defRPr/>
            </a:pPr>
            <a:r>
              <a:rPr lang="en-US" sz="2400" dirty="0"/>
              <a:t>Knowledge based agents apply inference to a knowledge base to derive new information and make decisions </a:t>
            </a:r>
          </a:p>
          <a:p>
            <a:pPr marL="306000" indent="-306000" eaLnBrk="1" fontAlgn="auto" hangingPunct="1">
              <a:defRPr/>
            </a:pPr>
            <a:r>
              <a:rPr lang="en-US" sz="2400" dirty="0"/>
              <a:t>Basic concepts of logic </a:t>
            </a:r>
          </a:p>
          <a:p>
            <a:pPr marL="879750" lvl="2" indent="-285750" eaLnBrk="1" fontAlgn="auto" hangingPunct="1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syntax: formal structure of sentences </a:t>
            </a:r>
          </a:p>
          <a:p>
            <a:pPr marL="879750" lvl="2" indent="-285750" eaLnBrk="1" fontAlgn="auto" hangingPunct="1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semantics: truth of sentences w.r.t. models</a:t>
            </a:r>
          </a:p>
          <a:p>
            <a:pPr marL="879750" lvl="2" indent="-285750" eaLnBrk="1" fontAlgn="auto" hangingPunct="1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Entailment: necessary truth of one sentence given another </a:t>
            </a:r>
          </a:p>
          <a:p>
            <a:pPr marL="879750" lvl="2" indent="-285750" eaLnBrk="1" fontAlgn="auto" hangingPunct="1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Inference: deriving sentences from </a:t>
            </a:r>
            <a:r>
              <a:rPr lang="en-US" sz="2400"/>
              <a:t>other sentences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94770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 as a KR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BB6EB-26B0-43A0-95CD-B550624D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87314" y="2590801"/>
            <a:ext cx="8990553" cy="2818706"/>
            <a:chOff x="174" y="2496"/>
            <a:chExt cx="4994" cy="1495"/>
          </a:xfrm>
        </p:grpSpPr>
        <p:sp>
          <p:nvSpPr>
            <p:cNvPr id="98308" name="Rectangle 14"/>
            <p:cNvSpPr>
              <a:spLocks noChangeArrowheads="1"/>
            </p:cNvSpPr>
            <p:nvPr/>
          </p:nvSpPr>
          <p:spPr bwMode="auto">
            <a:xfrm>
              <a:off x="3024" y="2496"/>
              <a:ext cx="768" cy="672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309" name="Rectangle 7"/>
            <p:cNvSpPr>
              <a:spLocks noChangeArrowheads="1"/>
            </p:cNvSpPr>
            <p:nvPr/>
          </p:nvSpPr>
          <p:spPr bwMode="auto">
            <a:xfrm>
              <a:off x="2016" y="2496"/>
              <a:ext cx="768" cy="672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310" name="Rectangle 4"/>
            <p:cNvSpPr>
              <a:spLocks noChangeArrowheads="1"/>
            </p:cNvSpPr>
            <p:nvPr/>
          </p:nvSpPr>
          <p:spPr bwMode="auto">
            <a:xfrm>
              <a:off x="1488" y="3504"/>
              <a:ext cx="2832" cy="48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Propositional Logic</a:t>
              </a:r>
            </a:p>
          </p:txBody>
        </p:sp>
        <p:sp>
          <p:nvSpPr>
            <p:cNvPr id="98311" name="Rectangle 5"/>
            <p:cNvSpPr>
              <a:spLocks noChangeArrowheads="1"/>
            </p:cNvSpPr>
            <p:nvPr/>
          </p:nvSpPr>
          <p:spPr bwMode="auto">
            <a:xfrm>
              <a:off x="1920" y="3168"/>
              <a:ext cx="1968" cy="33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First Order</a:t>
              </a:r>
            </a:p>
          </p:txBody>
        </p:sp>
        <p:sp>
          <p:nvSpPr>
            <p:cNvPr id="98312" name="Rectangle 6"/>
            <p:cNvSpPr>
              <a:spLocks noChangeArrowheads="1"/>
            </p:cNvSpPr>
            <p:nvPr/>
          </p:nvSpPr>
          <p:spPr bwMode="auto">
            <a:xfrm>
              <a:off x="2208" y="2832"/>
              <a:ext cx="1344" cy="336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Higher  Order</a:t>
              </a:r>
            </a:p>
          </p:txBody>
        </p:sp>
        <p:sp>
          <p:nvSpPr>
            <p:cNvPr id="98313" name="Text Box 9"/>
            <p:cNvSpPr txBox="1">
              <a:spLocks noChangeArrowheads="1"/>
            </p:cNvSpPr>
            <p:nvPr/>
          </p:nvSpPr>
          <p:spPr bwMode="auto">
            <a:xfrm>
              <a:off x="2160" y="2544"/>
              <a:ext cx="438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Modal</a:t>
              </a:r>
            </a:p>
          </p:txBody>
        </p:sp>
        <p:sp>
          <p:nvSpPr>
            <p:cNvPr id="98314" name="Text Box 10"/>
            <p:cNvSpPr txBox="1">
              <a:spLocks noChangeArrowheads="1"/>
            </p:cNvSpPr>
            <p:nvPr/>
          </p:nvSpPr>
          <p:spPr bwMode="auto">
            <a:xfrm>
              <a:off x="713" y="3648"/>
              <a:ext cx="387" cy="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/>
                <a:t>Fuzzy</a:t>
              </a:r>
            </a:p>
            <a:p>
              <a:pPr algn="ctr"/>
              <a:r>
                <a:rPr lang="en-US" sz="1800"/>
                <a:t>Logic</a:t>
              </a:r>
            </a:p>
          </p:txBody>
        </p:sp>
        <p:sp>
          <p:nvSpPr>
            <p:cNvPr id="98315" name="Text Box 11"/>
            <p:cNvSpPr txBox="1">
              <a:spLocks noChangeArrowheads="1"/>
            </p:cNvSpPr>
            <p:nvPr/>
          </p:nvSpPr>
          <p:spPr bwMode="auto">
            <a:xfrm>
              <a:off x="531" y="2544"/>
              <a:ext cx="766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/>
                <a:t>Multi-valued</a:t>
              </a:r>
            </a:p>
            <a:p>
              <a:pPr algn="ctr"/>
              <a:r>
                <a:rPr lang="en-US" sz="1800"/>
                <a:t>Logic</a:t>
              </a:r>
            </a:p>
          </p:txBody>
        </p:sp>
        <p:sp>
          <p:nvSpPr>
            <p:cNvPr id="98316" name="Text Box 12"/>
            <p:cNvSpPr txBox="1">
              <a:spLocks noChangeArrowheads="1"/>
            </p:cNvSpPr>
            <p:nvPr/>
          </p:nvSpPr>
          <p:spPr bwMode="auto">
            <a:xfrm>
              <a:off x="174" y="3072"/>
              <a:ext cx="744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/>
                <a:t>Probabilistic</a:t>
              </a:r>
            </a:p>
            <a:p>
              <a:pPr algn="ctr"/>
              <a:r>
                <a:rPr lang="en-US" sz="1800"/>
                <a:t>Logic</a:t>
              </a:r>
            </a:p>
          </p:txBody>
        </p:sp>
        <p:sp>
          <p:nvSpPr>
            <p:cNvPr id="98317" name="Text Box 13"/>
            <p:cNvSpPr txBox="1">
              <a:spLocks noChangeArrowheads="1"/>
            </p:cNvSpPr>
            <p:nvPr/>
          </p:nvSpPr>
          <p:spPr bwMode="auto">
            <a:xfrm>
              <a:off x="3072" y="2544"/>
              <a:ext cx="596" cy="1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Temporal</a:t>
              </a:r>
            </a:p>
          </p:txBody>
        </p:sp>
        <p:sp>
          <p:nvSpPr>
            <p:cNvPr id="98318" name="Text Box 15"/>
            <p:cNvSpPr txBox="1">
              <a:spLocks noChangeArrowheads="1"/>
            </p:cNvSpPr>
            <p:nvPr/>
          </p:nvSpPr>
          <p:spPr bwMode="auto">
            <a:xfrm>
              <a:off x="4242" y="2496"/>
              <a:ext cx="926" cy="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/>
                <a:t>Non-monotonic</a:t>
              </a:r>
            </a:p>
            <a:p>
              <a:pPr algn="ctr"/>
              <a:r>
                <a:rPr lang="en-US" sz="1800"/>
                <a:t>Logic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</TotalTime>
  <Words>1431</Words>
  <Application>Microsoft Office PowerPoint</Application>
  <PresentationFormat>On-screen Show (4:3)</PresentationFormat>
  <Paragraphs>236</Paragraphs>
  <Slides>29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Artificial Intelligence</vt:lpstr>
      <vt:lpstr>Lecture # 09</vt:lpstr>
      <vt:lpstr>Today’s Lecture</vt:lpstr>
      <vt:lpstr>A knowledge-based agent </vt:lpstr>
      <vt:lpstr>Knowledge - Based (KB) Agents</vt:lpstr>
      <vt:lpstr>Architecture of a  knowledge-based agent</vt:lpstr>
      <vt:lpstr>The Wumpus World environment </vt:lpstr>
      <vt:lpstr>A typical Wumpus world </vt:lpstr>
      <vt:lpstr>Agent in a Wumpus world: Percepts </vt:lpstr>
      <vt:lpstr>Wumpus actions</vt:lpstr>
      <vt:lpstr>Wumpus goal</vt:lpstr>
      <vt:lpstr>Wumpus world characterization</vt:lpstr>
      <vt:lpstr>A typical Wumpus world </vt:lpstr>
      <vt:lpstr>The Wumpus agent’s first step</vt:lpstr>
      <vt:lpstr>Later</vt:lpstr>
      <vt:lpstr>Exploring a wumpus world</vt:lpstr>
      <vt:lpstr>Exploring a wumpus world</vt:lpstr>
      <vt:lpstr>Exploring a wumpus world</vt:lpstr>
      <vt:lpstr>Exploring a wumpus world</vt:lpstr>
      <vt:lpstr>Exploring a wumpus world</vt:lpstr>
      <vt:lpstr>Exploring a wumpus world</vt:lpstr>
      <vt:lpstr>Exploring a wumpus world</vt:lpstr>
      <vt:lpstr>Representing Knowledge</vt:lpstr>
      <vt:lpstr>Representation, reasoning, and logic</vt:lpstr>
      <vt:lpstr>The connection between sentences and facts</vt:lpstr>
      <vt:lpstr>Entailment</vt:lpstr>
      <vt:lpstr>Entailment and Proof</vt:lpstr>
      <vt:lpstr>summary</vt:lpstr>
      <vt:lpstr>Logic as a KR language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AbdulSamad Rajput</dc:creator>
  <cp:lastModifiedBy>mehwish wahid</cp:lastModifiedBy>
  <cp:revision>10</cp:revision>
  <dcterms:created xsi:type="dcterms:W3CDTF">2020-09-22T14:39:46Z</dcterms:created>
  <dcterms:modified xsi:type="dcterms:W3CDTF">2025-04-09T16:19:09Z</dcterms:modified>
</cp:coreProperties>
</file>