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96" r:id="rId3"/>
    <p:sldId id="297" r:id="rId4"/>
    <p:sldId id="317" r:id="rId5"/>
    <p:sldId id="318" r:id="rId6"/>
    <p:sldId id="300" r:id="rId7"/>
    <p:sldId id="319" r:id="rId8"/>
    <p:sldId id="320" r:id="rId9"/>
    <p:sldId id="301" r:id="rId10"/>
    <p:sldId id="302" r:id="rId11"/>
    <p:sldId id="321" r:id="rId12"/>
    <p:sldId id="322" r:id="rId13"/>
    <p:sldId id="27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61" autoAdjust="0"/>
    <p:restoredTop sz="94660"/>
  </p:normalViewPr>
  <p:slideViewPr>
    <p:cSldViewPr snapToGrid="0">
      <p:cViewPr varScale="1">
        <p:scale>
          <a:sx n="70" d="100"/>
          <a:sy n="70"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03C723-910E-93E2-DD9E-8C009BDA9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3E314BF-6AB1-2D6D-6C4F-16D43C8512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C6A793D-BC27-00EE-2FE6-546C095B01F4}"/>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EA2F3F34-D6D5-FD76-003E-2A58F61307B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EE6AA20-775D-3D2F-5A7C-7AD3544608FC}"/>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978031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92FF1-5278-5ED2-3767-41B28EA0E5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035A888-CFAA-13F0-D840-385DDCFF11C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F5C23-31CF-484D-2328-D3266B2E04D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43675DAA-32A6-289B-9E90-1CFC1CA19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754707-4693-1023-C481-A133F5E62532}"/>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336913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4C375-50CD-EA28-6B1C-C2AB02E510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5D1A47A-1256-9120-418B-E4DBED9C50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9C8D2F-FFEC-130A-6F79-0A342E1676FE}"/>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BF18E272-A511-0A83-4DF4-B8171F42D56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95DCCA-79B9-7D08-3680-0167AFECE130}"/>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8371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4419E-66D0-C991-CF64-51DDBF42BF3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2A4064C-B38C-6CCA-DF94-1095C61972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A2C86A-B983-1DB9-540F-4315296C2C1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4106DA-F39D-FE19-519C-1E98FBE4E08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6F380453-7BEA-116C-3B43-D67AC9E25E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BF8A49C-F7C6-6B3D-0FFA-2C22806614FF}"/>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94836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148711-F69C-889B-C637-CA961B0D9D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DF4783C-F9D8-7E88-C55A-8E9F164A34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6FE16B-9ABE-0D57-76D6-D0C19AA4BDA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0941C41-607D-575F-660E-925F3B7E7B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4359849-E3AE-0BAD-2CA3-B81A42DCA9A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5921567-24A0-44CD-4387-19B08F55FCB0}"/>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8" name="Footer Placeholder 7">
            <a:extLst>
              <a:ext uri="{FF2B5EF4-FFF2-40B4-BE49-F238E27FC236}">
                <a16:creationId xmlns:a16="http://schemas.microsoft.com/office/drawing/2014/main" id="{3DFACE88-8596-3D9F-C582-64F1BA0BAB4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CA53C9B-1E73-E98E-202A-E561A5BE65D6}"/>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1463141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B774D-DE1B-A677-03B5-9FC6155B19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A2327C-DBC4-AE06-2930-2D7165E53A33}"/>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4" name="Footer Placeholder 3">
            <a:extLst>
              <a:ext uri="{FF2B5EF4-FFF2-40B4-BE49-F238E27FC236}">
                <a16:creationId xmlns:a16="http://schemas.microsoft.com/office/drawing/2014/main" id="{2100E5B1-38C5-F490-805C-81DBE4B1B4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2A58315-D355-1669-B9E2-DFC6F11AD277}"/>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29204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A1596F-7C93-C3BF-7868-17419B5FD49D}"/>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3" name="Footer Placeholder 2">
            <a:extLst>
              <a:ext uri="{FF2B5EF4-FFF2-40B4-BE49-F238E27FC236}">
                <a16:creationId xmlns:a16="http://schemas.microsoft.com/office/drawing/2014/main" id="{AB207FB4-764F-A667-3ADA-198CBA5B2BE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8D8EAA6-8BA4-825F-E526-A2FFB2D4650D}"/>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444705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E38C44-8946-6AD4-AA89-D9A63A1552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15162C0-983A-C2F0-5EA7-C60058567DA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27BED01-D740-A0F2-E3BD-840425BA35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3B23CB5-4F6E-AE43-86E7-832021D2FEA8}"/>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7393263A-156D-BFE7-4FCA-2699517788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7908A6-1715-6291-4454-CF479443FA8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1926368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876D8-2CCE-27A4-9713-D309E338C3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29E9596-F967-1C9E-6FC7-A142A52CDB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929478-63A9-3E4A-F73F-DED6E541BAF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6BB5BE0-E9F0-D9FB-3EBB-BAAC0AC7DFFF}"/>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6" name="Footer Placeholder 5">
            <a:extLst>
              <a:ext uri="{FF2B5EF4-FFF2-40B4-BE49-F238E27FC236}">
                <a16:creationId xmlns:a16="http://schemas.microsoft.com/office/drawing/2014/main" id="{FE6CB467-3CF9-5F53-87D7-5C0AF2CED3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61079C-5D0D-7F8D-8ED2-9BA257BEA763}"/>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38187738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97FA9-CAA8-4258-79B7-A50335F7634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9DF1F37-0CB8-3F51-D008-66CE2BA3F74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190C8-94FB-67B8-DD0D-56653CFCCE82}"/>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3458A5A8-F553-9046-54E4-C31DB93AB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DDA376-D484-E164-C7C0-F19F2955722E}"/>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1856698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3C6C985-2286-D8FE-519B-64932E7283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27F44F0-43A5-4577-65C4-D49E1408022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82AB77-3851-6C68-007A-CA235A5F9A56}"/>
              </a:ext>
            </a:extLst>
          </p:cNvPr>
          <p:cNvSpPr>
            <a:spLocks noGrp="1"/>
          </p:cNvSpPr>
          <p:nvPr>
            <p:ph type="dt" sz="half" idx="10"/>
          </p:nvPr>
        </p:nvSpPr>
        <p:spPr/>
        <p:txBody>
          <a:body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C988C42B-D7BE-642F-EA9C-1A0E27C08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46A69-A374-A51E-BB84-DB7FEBBBAC35}"/>
              </a:ext>
            </a:extLst>
          </p:cNvPr>
          <p:cNvSpPr>
            <a:spLocks noGrp="1"/>
          </p:cNvSpPr>
          <p:nvPr>
            <p:ph type="sldNum" sz="quarter" idx="12"/>
          </p:nvPr>
        </p:nvSpPr>
        <p:spPr/>
        <p:txBody>
          <a:bodyPr/>
          <a:lstStyle/>
          <a:p>
            <a:fld id="{E26364EF-26CE-4868-A5D4-A13D37D4C42E}" type="slidenum">
              <a:rPr lang="en-US" smtClean="0"/>
              <a:t>‹#›</a:t>
            </a:fld>
            <a:endParaRPr lang="en-US"/>
          </a:p>
        </p:txBody>
      </p:sp>
    </p:spTree>
    <p:extLst>
      <p:ext uri="{BB962C8B-B14F-4D97-AF65-F5344CB8AC3E}">
        <p14:creationId xmlns:p14="http://schemas.microsoft.com/office/powerpoint/2010/main" val="2457097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BBFCB9C-D80B-0916-0FA5-32E5FB9CE87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CE6BB38-34A0-8057-E63F-C078CA4ED4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FA0031-A66E-0EF1-B1CE-E45DDB2A6AA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07F74-9F4C-4CB8-8E9E-3A0F5CE3409F}" type="datetimeFigureOut">
              <a:rPr lang="en-US" smtClean="0"/>
              <a:t>4/28/2025</a:t>
            </a:fld>
            <a:endParaRPr lang="en-US"/>
          </a:p>
        </p:txBody>
      </p:sp>
      <p:sp>
        <p:nvSpPr>
          <p:cNvPr id="5" name="Footer Placeholder 4">
            <a:extLst>
              <a:ext uri="{FF2B5EF4-FFF2-40B4-BE49-F238E27FC236}">
                <a16:creationId xmlns:a16="http://schemas.microsoft.com/office/drawing/2014/main" id="{AC9BE475-8084-6708-B118-D30658279AC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6A07E31-1CC5-7E1B-DBCD-7168AFBF38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26364EF-26CE-4868-A5D4-A13D37D4C42E}" type="slidenum">
              <a:rPr lang="en-US" smtClean="0"/>
              <a:t>‹#›</a:t>
            </a:fld>
            <a:endParaRPr lang="en-US"/>
          </a:p>
        </p:txBody>
      </p:sp>
    </p:spTree>
    <p:extLst>
      <p:ext uri="{BB962C8B-B14F-4D97-AF65-F5344CB8AC3E}">
        <p14:creationId xmlns:p14="http://schemas.microsoft.com/office/powerpoint/2010/main" val="104454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77534-7AC6-31C1-9CBE-14B33B764C05}"/>
              </a:ext>
            </a:extLst>
          </p:cNvPr>
          <p:cNvSpPr>
            <a:spLocks noGrp="1"/>
          </p:cNvSpPr>
          <p:nvPr>
            <p:ph type="ctrTitle"/>
          </p:nvPr>
        </p:nvSpPr>
        <p:spPr/>
        <p:txBody>
          <a:bodyPr/>
          <a:lstStyle/>
          <a:p>
            <a:r>
              <a:rPr lang="en-US" dirty="0"/>
              <a:t>Lecture 14</a:t>
            </a:r>
          </a:p>
        </p:txBody>
      </p:sp>
      <p:sp>
        <p:nvSpPr>
          <p:cNvPr id="3" name="Subtitle 2">
            <a:extLst>
              <a:ext uri="{FF2B5EF4-FFF2-40B4-BE49-F238E27FC236}">
                <a16:creationId xmlns:a16="http://schemas.microsoft.com/office/drawing/2014/main" id="{8ABBDAA5-5BB9-B108-8CC4-898094664F92}"/>
              </a:ext>
            </a:extLst>
          </p:cNvPr>
          <p:cNvSpPr>
            <a:spLocks noGrp="1"/>
          </p:cNvSpPr>
          <p:nvPr>
            <p:ph type="subTitle" idx="4294967295"/>
          </p:nvPr>
        </p:nvSpPr>
        <p:spPr>
          <a:xfrm>
            <a:off x="1524000" y="3602038"/>
            <a:ext cx="9144000" cy="1655762"/>
          </a:xfrm>
        </p:spPr>
        <p:txBody>
          <a:bodyPr>
            <a:normAutofit/>
          </a:bodyPr>
          <a:lstStyle/>
          <a:p>
            <a:pPr marL="0" indent="0" algn="ctr">
              <a:buNone/>
            </a:pPr>
            <a:r>
              <a:rPr lang="en-US" sz="4000" b="1" dirty="0"/>
              <a:t>Describe Azure management infrastructure</a:t>
            </a:r>
          </a:p>
        </p:txBody>
      </p:sp>
      <p:sp>
        <p:nvSpPr>
          <p:cNvPr id="6" name="TextBox 5">
            <a:extLst>
              <a:ext uri="{FF2B5EF4-FFF2-40B4-BE49-F238E27FC236}">
                <a16:creationId xmlns:a16="http://schemas.microsoft.com/office/drawing/2014/main" id="{B32178F5-7334-EFBC-ECD7-421AF5FEF827}"/>
              </a:ext>
            </a:extLst>
          </p:cNvPr>
          <p:cNvSpPr txBox="1"/>
          <p:nvPr/>
        </p:nvSpPr>
        <p:spPr>
          <a:xfrm>
            <a:off x="9037983" y="5830957"/>
            <a:ext cx="2822713" cy="369332"/>
          </a:xfrm>
          <a:prstGeom prst="rect">
            <a:avLst/>
          </a:prstGeom>
          <a:noFill/>
        </p:spPr>
        <p:txBody>
          <a:bodyPr wrap="square" rtlCol="0">
            <a:spAutoFit/>
          </a:bodyPr>
          <a:lstStyle/>
          <a:p>
            <a:r>
              <a:rPr lang="en-US" dirty="0"/>
              <a:t>Instructor : Engr. Tehmeed</a:t>
            </a:r>
          </a:p>
        </p:txBody>
      </p:sp>
    </p:spTree>
    <p:extLst>
      <p:ext uri="{BB962C8B-B14F-4D97-AF65-F5344CB8AC3E}">
        <p14:creationId xmlns:p14="http://schemas.microsoft.com/office/powerpoint/2010/main" val="16026900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2708049"/>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pPr marL="0" marR="0">
              <a:lnSpc>
                <a:spcPct val="107000"/>
              </a:lnSpc>
              <a:spcBef>
                <a:spcPts val="0"/>
              </a:spcBef>
              <a:spcAft>
                <a:spcPts val="800"/>
              </a:spcAft>
            </a:pPr>
            <a:r>
              <a:rPr lang="en-US" sz="1800" kern="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The management infrastructure includes Azure resources and resource groups, subscriptions, and accounts. Understanding the hierarchical organization will help you plan your projects and products within Azure.</a:t>
            </a:r>
          </a:p>
          <a:p>
            <a:pPr marL="0" marR="0">
              <a:lnSpc>
                <a:spcPct val="107000"/>
              </a:lnSpc>
              <a:spcBef>
                <a:spcPts val="0"/>
              </a:spcBef>
              <a:spcAft>
                <a:spcPts val="800"/>
              </a:spcAft>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Describe Azure management infrastructure</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140345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5953425"/>
          </a:xfrm>
          <a:prstGeom prst="rect">
            <a:avLst/>
          </a:prstGeom>
        </p:spPr>
        <p:txBody>
          <a:bodyPr wrap="square"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A resource is the basic building block of Azure. Anything you create, provision, deploy, etc. is a resource. Virtual Machines (VMs), virtual networks, databases, cognitive services, etc. are all considered resources within Azure.</a:t>
            </a:r>
          </a:p>
          <a:p>
            <a:endParaRPr lang="en-US" sz="2000" dirty="0">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Resource groups are simply groupings of resources. When you create a resource, you’re required to place it into a resource group. While a resource group can contain many resources, a single resource can only be in one resource group at a time. Some resources may be moved between resource groups, but when you move a resource to a new group, it will no longer be associated with the former group. Additionally, resource groups can't be nested, meaning you can’t put resource group B inside of resource group A.</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Resource groups provide a convenient way to group resources together. When you apply an action to a resource group, that action will apply to all the resources within the resource group. If you delete a resource group, all the resources will be deleted. If you grant or deny access to a resource group, you’ve granted or denied access to all the resources within the resource group.</a:t>
            </a:r>
          </a:p>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resources and resource groups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394228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4445319"/>
          </a:xfrm>
          <a:prstGeom prst="rect">
            <a:avLst/>
          </a:prstGeom>
        </p:spPr>
        <p:txBody>
          <a:bodyPr wrap="square" lIns="0" tIns="0" rIns="0" bIns="0" rtlCol="0" anchor="t">
            <a:spAutoFit/>
          </a:bodyPr>
          <a:lstStyle/>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When you’re provisioning resources, it’s good to think about the resource group structure that best suits your needs.</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For example, if you’re setting up a temporary dev environment, grouping all the resources together means you can deprovision all of the associated resources at once by deleting the resource group. If you’re provisioning compute resources that will need three different access schemas, it may be best to group resources based on the access schema, and then assign access at the resource group level.</a:t>
            </a:r>
          </a:p>
          <a:p>
            <a:endParaRPr lang="en-US" sz="2000" dirty="0">
              <a:effectLst/>
              <a:latin typeface="Times New Roman" panose="02020603050405020304" pitchFamily="18" charset="0"/>
              <a:ea typeface="Times New Roman" panose="02020603050405020304" pitchFamily="18" charset="0"/>
            </a:endParaRPr>
          </a:p>
          <a:p>
            <a:r>
              <a:rPr lang="en-US" sz="2000" dirty="0">
                <a:effectLst/>
                <a:latin typeface="Times New Roman" panose="02020603050405020304" pitchFamily="18" charset="0"/>
                <a:ea typeface="Times New Roman" panose="02020603050405020304" pitchFamily="18" charset="0"/>
              </a:rPr>
              <a:t>There aren’t hard rules about how you use resource groups, so consider how to set up your resource groups to maximize their usefulness for you.</a:t>
            </a: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resources and resource groups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45067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43239"/>
            <a:ext cx="10982540" cy="1367554"/>
          </a:xfrm>
          <a:prstGeom prst="rect">
            <a:avLst/>
          </a:prstGeom>
        </p:spPr>
        <p:txBody>
          <a:bodyPr wrap="square" lIns="0" tIns="0" rIns="0" bIns="0" rtlCol="0" anchor="t">
            <a:spAutoFit/>
          </a:bodyPr>
          <a:lstStyle/>
          <a:p>
            <a:endParaRPr lang="en-US" sz="20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resources and resource groups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BB5F12FC-9F0A-A057-A364-E1D2B313E61B}"/>
              </a:ext>
            </a:extLst>
          </p:cNvPr>
          <p:cNvPicPr>
            <a:picLocks noChangeAspect="1"/>
          </p:cNvPicPr>
          <p:nvPr/>
        </p:nvPicPr>
        <p:blipFill>
          <a:blip r:embed="rId2"/>
          <a:stretch>
            <a:fillRect/>
          </a:stretch>
        </p:blipFill>
        <p:spPr>
          <a:xfrm>
            <a:off x="685801" y="1857709"/>
            <a:ext cx="6035039" cy="3142582"/>
          </a:xfrm>
          <a:prstGeom prst="rect">
            <a:avLst/>
          </a:prstGeom>
        </p:spPr>
      </p:pic>
    </p:spTree>
    <p:extLst>
      <p:ext uri="{BB962C8B-B14F-4D97-AF65-F5344CB8AC3E}">
        <p14:creationId xmlns:p14="http://schemas.microsoft.com/office/powerpoint/2010/main" val="1205285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subscriptions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2308324"/>
          </a:xfrm>
          <a:prstGeom prst="rect">
            <a:avLst/>
          </a:prstGeom>
          <a:noFill/>
        </p:spPr>
        <p:txBody>
          <a:bodyPr wrap="square">
            <a:spAutoFit/>
          </a:bodyPr>
          <a:lstStyle/>
          <a:p>
            <a:r>
              <a:rPr lang="en-US" dirty="0"/>
              <a:t>In Azure, subscriptions are a unit of management, billing, and scale. Similar to how resource groups are a way to logically organize resources, subscriptions allow you to logically organize your resource groups and facilitate billing.</a:t>
            </a:r>
          </a:p>
          <a:p>
            <a:endParaRPr lang="en-US" dirty="0"/>
          </a:p>
          <a:p>
            <a:r>
              <a:rPr lang="en-US" dirty="0"/>
              <a:t>Using Azure requires an Azure subscription. A subscription provides you with authenticated and authorized access to Azure products and services. It also allows you to provision resources. An Azure subscription links to an Azure account, which is an identity in Microsoft </a:t>
            </a:r>
            <a:r>
              <a:rPr lang="en-US" dirty="0" err="1"/>
              <a:t>Entra</a:t>
            </a:r>
            <a:r>
              <a:rPr lang="en-US" dirty="0"/>
              <a:t> ID or in a directory that Microsoft </a:t>
            </a:r>
            <a:r>
              <a:rPr lang="en-US" dirty="0" err="1"/>
              <a:t>Entra</a:t>
            </a:r>
            <a:r>
              <a:rPr lang="en-US" dirty="0"/>
              <a:t> ID trusts.</a:t>
            </a:r>
          </a:p>
        </p:txBody>
      </p:sp>
      <p:pic>
        <p:nvPicPr>
          <p:cNvPr id="4" name="Picture 3">
            <a:extLst>
              <a:ext uri="{FF2B5EF4-FFF2-40B4-BE49-F238E27FC236}">
                <a16:creationId xmlns:a16="http://schemas.microsoft.com/office/drawing/2014/main" id="{1EE17E0D-AEF9-515C-E752-1E59CB1EC227}"/>
              </a:ext>
            </a:extLst>
          </p:cNvPr>
          <p:cNvPicPr>
            <a:picLocks noChangeAspect="1"/>
          </p:cNvPicPr>
          <p:nvPr/>
        </p:nvPicPr>
        <p:blipFill>
          <a:blip r:embed="rId2"/>
          <a:stretch>
            <a:fillRect/>
          </a:stretch>
        </p:blipFill>
        <p:spPr>
          <a:xfrm>
            <a:off x="685801" y="4413292"/>
            <a:ext cx="5944115" cy="2444708"/>
          </a:xfrm>
          <a:prstGeom prst="rect">
            <a:avLst/>
          </a:prstGeom>
        </p:spPr>
      </p:pic>
    </p:spTree>
    <p:extLst>
      <p:ext uri="{BB962C8B-B14F-4D97-AF65-F5344CB8AC3E}">
        <p14:creationId xmlns:p14="http://schemas.microsoft.com/office/powerpoint/2010/main" val="1814060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subscriptions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4801314"/>
          </a:xfrm>
          <a:prstGeom prst="rect">
            <a:avLst/>
          </a:prstGeom>
          <a:noFill/>
        </p:spPr>
        <p:txBody>
          <a:bodyPr wrap="square">
            <a:spAutoFit/>
          </a:bodyPr>
          <a:lstStyle/>
          <a:p>
            <a:r>
              <a:rPr lang="en-US" dirty="0"/>
              <a:t>An account can have multiple subscriptions, but it’s only required to have one. In a multi-subscription account, you can use the subscriptions to configure different billing models and apply different access-management policies. You can use Azure subscriptions to define boundaries around Azure products, services, and resources. There are two types of subscription boundaries that you can use:</a:t>
            </a:r>
          </a:p>
          <a:p>
            <a:endParaRPr lang="en-US" dirty="0"/>
          </a:p>
          <a:p>
            <a:r>
              <a:rPr lang="en-US" dirty="0"/>
              <a:t>• Billing boundary: This subscription type determines how an Azure account is billed</a:t>
            </a:r>
          </a:p>
          <a:p>
            <a:r>
              <a:rPr lang="en-US" dirty="0"/>
              <a:t>   for using Azure. You can create multiple subscriptions for different types of billing</a:t>
            </a:r>
          </a:p>
          <a:p>
            <a:r>
              <a:rPr lang="en-US" dirty="0"/>
              <a:t>   requirements. Azure generates separate billing reports and invoices for each</a:t>
            </a:r>
          </a:p>
          <a:p>
            <a:r>
              <a:rPr lang="en-US" dirty="0"/>
              <a:t>   subscription so that you can organize and manage costs.</a:t>
            </a:r>
          </a:p>
          <a:p>
            <a:endParaRPr lang="en-US" dirty="0"/>
          </a:p>
          <a:p>
            <a:r>
              <a:rPr lang="en-US" dirty="0"/>
              <a:t>• Access control boundary: Azure applies access-management policies at the</a:t>
            </a:r>
          </a:p>
          <a:p>
            <a:r>
              <a:rPr lang="en-US" dirty="0"/>
              <a:t>   subscription level, and you can create separate subscriptions to reflect different</a:t>
            </a:r>
          </a:p>
          <a:p>
            <a:r>
              <a:rPr lang="en-US" dirty="0"/>
              <a:t>   organizational structures. An example is that within a business, you have different</a:t>
            </a:r>
          </a:p>
          <a:p>
            <a:r>
              <a:rPr lang="en-US" dirty="0"/>
              <a:t>   departments to which you apply distinct Azure subscription policies. This billing</a:t>
            </a:r>
          </a:p>
          <a:p>
            <a:r>
              <a:rPr lang="en-US" dirty="0"/>
              <a:t>   model allows you to manage and control access to the resources that users</a:t>
            </a:r>
          </a:p>
          <a:p>
            <a:r>
              <a:rPr lang="en-US" dirty="0"/>
              <a:t>   provision with specific subscriptions.</a:t>
            </a:r>
          </a:p>
        </p:txBody>
      </p:sp>
    </p:spTree>
    <p:extLst>
      <p:ext uri="{BB962C8B-B14F-4D97-AF65-F5344CB8AC3E}">
        <p14:creationId xmlns:p14="http://schemas.microsoft.com/office/powerpoint/2010/main" val="2377543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Create additional Azure subscriptions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978825"/>
            <a:ext cx="8452484" cy="6186309"/>
          </a:xfrm>
          <a:prstGeom prst="rect">
            <a:avLst/>
          </a:prstGeom>
          <a:noFill/>
        </p:spPr>
        <p:txBody>
          <a:bodyPr wrap="square">
            <a:spAutoFit/>
          </a:bodyPr>
          <a:lstStyle/>
          <a:p>
            <a:r>
              <a:rPr lang="en-US" dirty="0"/>
              <a:t>Similar to using resource groups to separate resources by function or access, you might want to create additional subscriptions for resource or billing management purposes. For example, you might choose to create additional subscriptions to separate:</a:t>
            </a:r>
          </a:p>
          <a:p>
            <a:endParaRPr lang="en-US" dirty="0"/>
          </a:p>
          <a:p>
            <a:r>
              <a:rPr lang="en-US" dirty="0"/>
              <a:t>• Environments: You can choose to create subscriptions to set up separate</a:t>
            </a:r>
          </a:p>
          <a:p>
            <a:r>
              <a:rPr lang="en-US" dirty="0"/>
              <a:t>   environments for development and testing, security, or to isolate data for</a:t>
            </a:r>
          </a:p>
          <a:p>
            <a:r>
              <a:rPr lang="en-US" dirty="0"/>
              <a:t>   compliance reasons. This design is particularly useful because resource access</a:t>
            </a:r>
          </a:p>
          <a:p>
            <a:r>
              <a:rPr lang="en-US" dirty="0"/>
              <a:t>   control occurs at the subscription level.</a:t>
            </a:r>
          </a:p>
          <a:p>
            <a:endParaRPr lang="en-US" dirty="0"/>
          </a:p>
          <a:p>
            <a:r>
              <a:rPr lang="en-US" dirty="0"/>
              <a:t>• Organizational structures: You can create subscriptions to reflect different</a:t>
            </a:r>
          </a:p>
          <a:p>
            <a:r>
              <a:rPr lang="en-US" dirty="0"/>
              <a:t>   organizational structures. For example, you could limit one team to lower-cost</a:t>
            </a:r>
          </a:p>
          <a:p>
            <a:r>
              <a:rPr lang="en-US" dirty="0"/>
              <a:t>   resources, while allowing the IT department a full range. This design allows you to</a:t>
            </a:r>
          </a:p>
          <a:p>
            <a:r>
              <a:rPr lang="en-US" dirty="0"/>
              <a:t>   manage and control access to the resources that users provision within each</a:t>
            </a:r>
          </a:p>
          <a:p>
            <a:r>
              <a:rPr lang="en-US" dirty="0"/>
              <a:t>   subscription.</a:t>
            </a:r>
          </a:p>
          <a:p>
            <a:endParaRPr lang="en-US" dirty="0"/>
          </a:p>
          <a:p>
            <a:r>
              <a:rPr lang="en-US" dirty="0"/>
              <a:t>• Billing: You can create additional subscriptions for billing purposes. Because costs</a:t>
            </a:r>
          </a:p>
          <a:p>
            <a:r>
              <a:rPr lang="en-US" dirty="0"/>
              <a:t>   are first aggregated at the subscription level, you might want to create</a:t>
            </a:r>
          </a:p>
          <a:p>
            <a:r>
              <a:rPr lang="en-US" dirty="0"/>
              <a:t>   subscriptions to manage and track costs based on your needs. For instance, you</a:t>
            </a:r>
          </a:p>
          <a:p>
            <a:r>
              <a:rPr lang="en-US" dirty="0"/>
              <a:t>   might want to create one subscription for your production workloads and another</a:t>
            </a:r>
          </a:p>
          <a:p>
            <a:r>
              <a:rPr lang="en-US" dirty="0"/>
              <a:t>   subscription for your development and testing workloads.</a:t>
            </a:r>
          </a:p>
          <a:p>
            <a:endParaRPr lang="en-US" dirty="0"/>
          </a:p>
        </p:txBody>
      </p:sp>
    </p:spTree>
    <p:extLst>
      <p:ext uri="{BB962C8B-B14F-4D97-AF65-F5344CB8AC3E}">
        <p14:creationId xmlns:p14="http://schemas.microsoft.com/office/powerpoint/2010/main" val="8841864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23658" y="1643239"/>
            <a:ext cx="11144683" cy="1613775"/>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441211"/>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Azure management groups</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
        <p:nvSpPr>
          <p:cNvPr id="5" name="TextBox 4">
            <a:extLst>
              <a:ext uri="{FF2B5EF4-FFF2-40B4-BE49-F238E27FC236}">
                <a16:creationId xmlns:a16="http://schemas.microsoft.com/office/drawing/2014/main" id="{4827B984-72C7-D8B9-BE97-2D7CA5679132}"/>
              </a:ext>
            </a:extLst>
          </p:cNvPr>
          <p:cNvSpPr txBox="1"/>
          <p:nvPr/>
        </p:nvSpPr>
        <p:spPr>
          <a:xfrm>
            <a:off x="685801" y="1720840"/>
            <a:ext cx="8452484" cy="4524315"/>
          </a:xfrm>
          <a:prstGeom prst="rect">
            <a:avLst/>
          </a:prstGeom>
          <a:noFill/>
        </p:spPr>
        <p:txBody>
          <a:bodyPr wrap="square">
            <a:spAutoFit/>
          </a:bodyPr>
          <a:lstStyle/>
          <a:p>
            <a:r>
              <a:rPr lang="en-US" dirty="0"/>
              <a:t>The final piece is the management group. Resources are gathered into resource groups, and resource groups are gathered into subscriptions. If you’re just starting in Azure that might seem like enough hierarchy to keep things organized. But imagine if you’re dealing with multiple applications, multiple development teams, in multiple geographies.</a:t>
            </a:r>
          </a:p>
          <a:p>
            <a:endParaRPr lang="en-US" dirty="0"/>
          </a:p>
          <a:p>
            <a:r>
              <a:rPr lang="en-US" dirty="0"/>
              <a:t>If you have many subscriptions, you might need a way to efficiently manage access, policies, and compliance for those subscriptions. Azure management groups provide a level of scope above subscriptions. You organize subscriptions into containers called management groups and apply governance conditions to the management groups. All subscriptions within a management group automatically inherit the conditions applied to the management group, the same way that resource groups inherit settings from subscriptions and resources inherit from resource groups. Management groups give you enterprise-grade management at a large scale, no matter what type of subscriptions you might have. Management groups can be nested.</a:t>
            </a:r>
          </a:p>
        </p:txBody>
      </p:sp>
    </p:spTree>
    <p:extLst>
      <p:ext uri="{BB962C8B-B14F-4D97-AF65-F5344CB8AC3E}">
        <p14:creationId xmlns:p14="http://schemas.microsoft.com/office/powerpoint/2010/main" val="35757566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20379"/>
            <a:ext cx="11144683" cy="2444772"/>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You can build a flexible structure of management groups and subscriptions to organize your resources into a hierarchy for unified policy and access management. The following diagram shows an example of creating a hierarchy for governance by using management groups.</a:t>
            </a: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902235"/>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Management group, subscriptions, and resource group hierarchy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C2239837-B7B0-1B4F-45B3-EF4851819319}"/>
              </a:ext>
            </a:extLst>
          </p:cNvPr>
          <p:cNvPicPr>
            <a:picLocks noChangeAspect="1"/>
          </p:cNvPicPr>
          <p:nvPr/>
        </p:nvPicPr>
        <p:blipFill>
          <a:blip r:embed="rId2"/>
          <a:stretch>
            <a:fillRect/>
          </a:stretch>
        </p:blipFill>
        <p:spPr>
          <a:xfrm>
            <a:off x="685800" y="2735627"/>
            <a:ext cx="7383779" cy="3584759"/>
          </a:xfrm>
          <a:prstGeom prst="rect">
            <a:avLst/>
          </a:prstGeom>
        </p:spPr>
      </p:pic>
    </p:spTree>
    <p:extLst>
      <p:ext uri="{BB962C8B-B14F-4D97-AF65-F5344CB8AC3E}">
        <p14:creationId xmlns:p14="http://schemas.microsoft.com/office/powerpoint/2010/main" val="1763386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20379"/>
            <a:ext cx="11144683" cy="5214761"/>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Some examples of how you could use management groups might be:</a:t>
            </a:r>
          </a:p>
          <a:p>
            <a:endParaRPr lang="en-US"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Create a hierarchy that applies a policy. You could limit VM locations to the US West Region in a group called</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Production. This policy will inherit onto all the subscriptions that are descendants of that management group and will</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apply to all VMs under those subscriptions. This security policy can't be altered by the resource or subscription owner,</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which allows for improved governance.</a:t>
            </a:r>
          </a:p>
          <a:p>
            <a:endParaRPr lang="en-US"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Provide user access to multiple subscriptions. By moving multiple subscriptions under a management group, you can</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create one Azure role-based access control (Azure RBAC) assignment on the management group. Assigning Azure</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RBAC at the management group level means that all sub-management groups, subscriptions, resource groups, and</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resources underneath that management group would also inherit those permissions. One assignment on the management</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group can enable users to have access to everything they need instead of scripting Azure RBAC over different</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subscriptions.</a:t>
            </a: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902235"/>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Management group, subscriptions, and resource group hierarchy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305198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685801" y="1620379"/>
            <a:ext cx="11144683" cy="3275769"/>
          </a:xfrm>
          <a:prstGeom prst="rect">
            <a:avLst/>
          </a:prstGeom>
        </p:spPr>
        <p:txBody>
          <a:bodyPr lIns="0" tIns="0" rIns="0" bIns="0" rtlCol="0" anchor="t">
            <a:spAutoFit/>
          </a:bodyPr>
          <a:lstStyle/>
          <a:p>
            <a:endParaRPr lang="en-US" dirty="0">
              <a:solidFill>
                <a:srgbClr val="161616"/>
              </a:solidFill>
              <a:latin typeface="Segoe UI" panose="020B0502040204020203" pitchFamily="34"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Important facts about management groups:</a:t>
            </a:r>
          </a:p>
          <a:p>
            <a:endParaRPr lang="en-US" sz="1800" dirty="0">
              <a:effectLst/>
              <a:latin typeface="Times New Roman" panose="02020603050405020304" pitchFamily="18" charset="0"/>
              <a:ea typeface="Times New Roman" panose="02020603050405020304" pitchFamily="18" charset="0"/>
            </a:endParaRPr>
          </a:p>
          <a:p>
            <a:r>
              <a:rPr lang="en-US" sz="1800" dirty="0">
                <a:effectLst/>
                <a:latin typeface="Times New Roman" panose="02020603050405020304" pitchFamily="18" charset="0"/>
                <a:ea typeface="Times New Roman" panose="02020603050405020304" pitchFamily="18" charset="0"/>
              </a:rPr>
              <a:t>• 10,000 management groups can be supported in a single directory.</a:t>
            </a:r>
          </a:p>
          <a:p>
            <a:r>
              <a:rPr lang="en-US" sz="1800" dirty="0">
                <a:effectLst/>
                <a:latin typeface="Times New Roman" panose="02020603050405020304" pitchFamily="18" charset="0"/>
                <a:ea typeface="Times New Roman" panose="02020603050405020304" pitchFamily="18" charset="0"/>
              </a:rPr>
              <a:t>• A management group tree can support up to six levels of depth. This limit doesn't include the root level or the</a:t>
            </a:r>
          </a:p>
          <a:p>
            <a:r>
              <a:rPr lang="en-US" dirty="0">
                <a:latin typeface="Times New Roman" panose="02020603050405020304" pitchFamily="18" charset="0"/>
                <a:ea typeface="Times New Roman" panose="02020603050405020304" pitchFamily="18" charset="0"/>
              </a:rPr>
              <a:t>  </a:t>
            </a:r>
            <a:r>
              <a:rPr lang="en-US" sz="1800" dirty="0">
                <a:effectLst/>
                <a:latin typeface="Times New Roman" panose="02020603050405020304" pitchFamily="18" charset="0"/>
                <a:ea typeface="Times New Roman" panose="02020603050405020304" pitchFamily="18" charset="0"/>
              </a:rPr>
              <a:t> subscription level.</a:t>
            </a:r>
          </a:p>
          <a:p>
            <a:r>
              <a:rPr lang="en-US" sz="1800" dirty="0">
                <a:effectLst/>
                <a:latin typeface="Times New Roman" panose="02020603050405020304" pitchFamily="18" charset="0"/>
                <a:ea typeface="Times New Roman" panose="02020603050405020304" pitchFamily="18" charset="0"/>
              </a:rPr>
              <a:t>• Each management group and subscription can support only one parent.</a:t>
            </a:r>
          </a:p>
          <a:p>
            <a:endParaRPr lang="en-US" sz="1800" dirty="0">
              <a:effectLst/>
              <a:latin typeface="Times New Roman" panose="02020603050405020304" pitchFamily="18" charset="0"/>
              <a:ea typeface="Times New Roman" panose="02020603050405020304" pitchFamily="18" charset="0"/>
            </a:endParaRPr>
          </a:p>
          <a:p>
            <a:endParaRPr lang="en-US" sz="1800" dirty="0">
              <a:effectLst/>
              <a:latin typeface="Times New Roman" panose="02020603050405020304" pitchFamily="18" charset="0"/>
              <a:ea typeface="Times New Roman" panose="02020603050405020304" pitchFamily="18" charset="0"/>
            </a:endParaRPr>
          </a:p>
          <a:p>
            <a:pPr marL="0" marR="0" algn="l"/>
            <a:endParaRPr lang="en-US" sz="1800" dirty="0">
              <a:effectLst/>
              <a:latin typeface="Times New Roman" panose="02020603050405020304" pitchFamily="18" charset="0"/>
              <a:ea typeface="Times New Roman" panose="02020603050405020304" pitchFamily="18" charset="0"/>
            </a:endParaRPr>
          </a:p>
          <a:p>
            <a:pPr marL="662129" lvl="1" indent="-331065">
              <a:lnSpc>
                <a:spcPts val="4294"/>
              </a:lnSpc>
              <a:buFont typeface="Arial"/>
              <a:buChar char="•"/>
            </a:pPr>
            <a:endParaRPr lang="en-US" sz="3067" dirty="0">
              <a:solidFill>
                <a:srgbClr val="250542"/>
              </a:solidFill>
              <a:latin typeface="Times Neue Roman"/>
            </a:endParaRPr>
          </a:p>
        </p:txBody>
      </p:sp>
      <p:sp>
        <p:nvSpPr>
          <p:cNvPr id="3" name="TextBox 3"/>
          <p:cNvSpPr txBox="1"/>
          <p:nvPr/>
        </p:nvSpPr>
        <p:spPr>
          <a:xfrm>
            <a:off x="685801" y="537614"/>
            <a:ext cx="10700183" cy="902235"/>
          </a:xfrm>
          <a:prstGeom prst="rect">
            <a:avLst/>
          </a:prstGeom>
        </p:spPr>
        <p:txBody>
          <a:bodyPr lIns="0" tIns="0" rIns="0" bIns="0" rtlCol="0" anchor="t">
            <a:spAutoFit/>
          </a:bodyPr>
          <a:lstStyle/>
          <a:p>
            <a:pPr marL="0" marR="0">
              <a:lnSpc>
                <a:spcPct val="107000"/>
              </a:lnSpc>
              <a:spcBef>
                <a:spcPts val="0"/>
              </a:spcBef>
              <a:spcAft>
                <a:spcPts val="0"/>
              </a:spcAft>
            </a:pPr>
            <a:r>
              <a:rPr lang="en-US" sz="2800" b="1" kern="1800" dirty="0">
                <a:solidFill>
                  <a:srgbClr val="161616"/>
                </a:solidFill>
                <a:effectLst/>
                <a:latin typeface="Segoe UI" panose="020B0502040204020203" pitchFamily="34" charset="0"/>
                <a:ea typeface="Times New Roman" panose="02020603050405020304" pitchFamily="18" charset="0"/>
                <a:cs typeface="Times New Roman" panose="02020603050405020304" pitchFamily="18" charset="0"/>
              </a:rPr>
              <a:t>Management group, subscriptions, and resource group hierarchy</a:t>
            </a:r>
            <a:endParaRPr lang="en-US" sz="2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8784912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A71215-6718-3C9D-A593-742866F2198A}"/>
              </a:ext>
            </a:extLst>
          </p:cNvPr>
          <p:cNvPicPr>
            <a:picLocks noChangeAspect="1"/>
          </p:cNvPicPr>
          <p:nvPr/>
        </p:nvPicPr>
        <p:blipFill>
          <a:blip r:embed="rId2"/>
          <a:stretch>
            <a:fillRect/>
          </a:stretch>
        </p:blipFill>
        <p:spPr>
          <a:xfrm>
            <a:off x="1192696" y="410818"/>
            <a:ext cx="8560904" cy="5526156"/>
          </a:xfrm>
          <a:prstGeom prst="rect">
            <a:avLst/>
          </a:prstGeom>
        </p:spPr>
      </p:pic>
      <p:sp>
        <p:nvSpPr>
          <p:cNvPr id="3" name="TextBox 2">
            <a:extLst>
              <a:ext uri="{FF2B5EF4-FFF2-40B4-BE49-F238E27FC236}">
                <a16:creationId xmlns:a16="http://schemas.microsoft.com/office/drawing/2014/main" id="{51F96513-5058-B201-43D9-E8073E37DDF3}"/>
              </a:ext>
            </a:extLst>
          </p:cNvPr>
          <p:cNvSpPr txBox="1"/>
          <p:nvPr/>
        </p:nvSpPr>
        <p:spPr>
          <a:xfrm>
            <a:off x="3644347" y="3075057"/>
            <a:ext cx="4134679" cy="707886"/>
          </a:xfrm>
          <a:prstGeom prst="rect">
            <a:avLst/>
          </a:prstGeom>
          <a:noFill/>
        </p:spPr>
        <p:txBody>
          <a:bodyPr wrap="square" rtlCol="0">
            <a:spAutoFit/>
          </a:bodyPr>
          <a:lstStyle/>
          <a:p>
            <a:r>
              <a:rPr lang="en-US" sz="4000" b="1" dirty="0"/>
              <a:t>Any Questions ?</a:t>
            </a:r>
          </a:p>
        </p:txBody>
      </p:sp>
    </p:spTree>
    <p:extLst>
      <p:ext uri="{BB962C8B-B14F-4D97-AF65-F5344CB8AC3E}">
        <p14:creationId xmlns:p14="http://schemas.microsoft.com/office/powerpoint/2010/main" val="17058461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17455</TotalTime>
  <Words>1382</Words>
  <Application>Microsoft Office PowerPoint</Application>
  <PresentationFormat>Widescreen</PresentationFormat>
  <Paragraphs>115</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Aptos</vt:lpstr>
      <vt:lpstr>Aptos Display</vt:lpstr>
      <vt:lpstr>Arial</vt:lpstr>
      <vt:lpstr>Segoe UI</vt:lpstr>
      <vt:lpstr>Times Neue Roman</vt:lpstr>
      <vt:lpstr>Times New Roman</vt:lpstr>
      <vt:lpstr>Office Theme</vt:lpstr>
      <vt:lpstr>Lecture 14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dc:title>
  <dc:creator>Muhammad Tehmeed Ebaduddin</dc:creator>
  <cp:lastModifiedBy>Muhammad Tehmeed Ebaduddin</cp:lastModifiedBy>
  <cp:revision>14</cp:revision>
  <dcterms:created xsi:type="dcterms:W3CDTF">2024-03-12T05:48:59Z</dcterms:created>
  <dcterms:modified xsi:type="dcterms:W3CDTF">2025-04-28T07:50:14Z</dcterms:modified>
</cp:coreProperties>
</file>