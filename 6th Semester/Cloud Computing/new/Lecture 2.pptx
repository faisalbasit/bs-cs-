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8" r:id="rId5"/>
    <p:sldId id="279" r:id="rId6"/>
    <p:sldId id="280" r:id="rId7"/>
    <p:sldId id="281" r:id="rId8"/>
    <p:sldId id="283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Benefits of Cloud Computing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8496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The</a:t>
            </a:r>
            <a:r>
              <a:rPr spc="50" dirty="0"/>
              <a:t> </a:t>
            </a:r>
            <a:r>
              <a:rPr spc="-200" dirty="0"/>
              <a:t>Deployment</a:t>
            </a:r>
            <a:r>
              <a:rPr spc="45" dirty="0"/>
              <a:t> </a:t>
            </a:r>
            <a:r>
              <a:rPr spc="-280" dirty="0"/>
              <a:t>Models</a:t>
            </a:r>
            <a:r>
              <a:rPr spc="50" dirty="0"/>
              <a:t> </a:t>
            </a:r>
            <a:r>
              <a:rPr spc="-114" dirty="0"/>
              <a:t>of</a:t>
            </a:r>
            <a:r>
              <a:rPr spc="60" dirty="0"/>
              <a:t> </a:t>
            </a:r>
            <a:r>
              <a:rPr spc="-175" dirty="0"/>
              <a:t>the</a:t>
            </a:r>
            <a:r>
              <a:rPr spc="50" dirty="0"/>
              <a:t> </a:t>
            </a:r>
            <a:r>
              <a:rPr spc="-190" dirty="0"/>
              <a:t>Cloud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255879"/>
            <a:ext cx="2741930" cy="33159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Private</a:t>
            </a:r>
            <a:r>
              <a:rPr sz="275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89500"/>
              </a:lnSpc>
              <a:spcBef>
                <a:spcPts val="11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13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single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organization, 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not 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exposed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public.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Complete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control</a:t>
            </a:r>
            <a:endParaRPr sz="2000">
              <a:latin typeface="Microsoft Sans Serif"/>
              <a:cs typeface="Microsoft Sans Serif"/>
            </a:endParaRPr>
          </a:p>
          <a:p>
            <a:pPr marL="241300" marR="455930" indent="-228600">
              <a:lnSpc>
                <a:spcPts val="2180"/>
              </a:lnSpc>
              <a:spcBef>
                <a:spcPts val="9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30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endParaRPr sz="2000">
              <a:latin typeface="Microsoft Sans Serif"/>
              <a:cs typeface="Microsoft Sans Serif"/>
            </a:endParaRPr>
          </a:p>
          <a:p>
            <a:pPr marL="241300" marR="311150" indent="-228600">
              <a:lnSpc>
                <a:spcPts val="2180"/>
              </a:lnSpc>
              <a:spcBef>
                <a:spcPts val="94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ss 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needs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4929" y="1255879"/>
            <a:ext cx="2695575" cy="27825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</a:t>
            </a:r>
            <a:r>
              <a:rPr sz="275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89500"/>
              </a:lnSpc>
              <a:spcBef>
                <a:spcPts val="11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at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- 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party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provider</a:t>
            </a:r>
            <a:r>
              <a:rPr sz="2000" spc="-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delivered</a:t>
            </a:r>
            <a:r>
              <a:rPr sz="200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over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Internet.</a:t>
            </a:r>
            <a:endParaRPr sz="2000">
              <a:latin typeface="Microsoft Sans Serif"/>
              <a:cs typeface="Microsoft Sans Serif"/>
            </a:endParaRPr>
          </a:p>
          <a:p>
            <a:pPr marL="241300" marR="8890" indent="-228600">
              <a:lnSpc>
                <a:spcPts val="2090"/>
              </a:lnSpc>
              <a:spcBef>
                <a:spcPts val="11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Si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x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ag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Computing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2919" y="1255879"/>
            <a:ext cx="2607945" cy="373634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Hybrid</a:t>
            </a:r>
            <a:r>
              <a:rPr sz="275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90300"/>
              </a:lnSpc>
              <a:spcBef>
                <a:spcPts val="11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13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7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n 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se</a:t>
            </a:r>
            <a:r>
              <a:rPr sz="200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ex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so</a:t>
            </a: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li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endParaRPr sz="2000">
              <a:latin typeface="Microsoft Sans Serif"/>
              <a:cs typeface="Microsoft Sans Serif"/>
            </a:endParaRPr>
          </a:p>
          <a:p>
            <a:pPr marL="241300" marR="171450" indent="-228600">
              <a:lnSpc>
                <a:spcPct val="89500"/>
              </a:lnSpc>
              <a:spcBef>
                <a:spcPts val="9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0" dirty="0">
                <a:solidFill>
                  <a:srgbClr val="444949"/>
                </a:solidFill>
                <a:latin typeface="Microsoft Sans Serif"/>
                <a:cs typeface="Microsoft Sans Serif"/>
              </a:rPr>
              <a:t>Control</a:t>
            </a:r>
            <a:r>
              <a:rPr sz="2000" spc="-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over</a:t>
            </a:r>
            <a:r>
              <a:rPr sz="2000" spc="-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sensitive </a:t>
            </a:r>
            <a:r>
              <a:rPr sz="2000" spc="-5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vate 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endParaRPr sz="2000">
              <a:latin typeface="Microsoft Sans Serif"/>
              <a:cs typeface="Microsoft Sans Serif"/>
            </a:endParaRPr>
          </a:p>
          <a:p>
            <a:pPr marL="241300" marR="454025" indent="-228600" algn="just">
              <a:lnSpc>
                <a:spcPct val="89500"/>
              </a:lnSpc>
              <a:spcBef>
                <a:spcPts val="107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Fl</a:t>
            </a:r>
            <a:r>
              <a:rPr sz="20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x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ilit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-  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ec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ess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2171" y="5066898"/>
            <a:ext cx="7038975" cy="1184910"/>
            <a:chOff x="4322171" y="5066898"/>
            <a:chExt cx="7038975" cy="11849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2171" y="5269937"/>
              <a:ext cx="963677" cy="7452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8867" y="5100369"/>
              <a:ext cx="2049819" cy="11513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8189" y="5261412"/>
              <a:ext cx="762295" cy="7622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6454" y="5129025"/>
              <a:ext cx="1027061" cy="10270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8548" y="5269938"/>
              <a:ext cx="762295" cy="7622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6727" y="5066898"/>
              <a:ext cx="1151315" cy="1151316"/>
            </a:xfrm>
            <a:prstGeom prst="rect">
              <a:avLst/>
            </a:prstGeom>
          </p:spPr>
        </p:pic>
      </p:grpSp>
      <p:pic>
        <p:nvPicPr>
          <p:cNvPr id="1026" name="Picture 2" descr="OpenStack - Wikipedia">
            <a:extLst>
              <a:ext uri="{FF2B5EF4-FFF2-40B4-BE49-F238E27FC236}">
                <a16:creationId xmlns:a16="http://schemas.microsoft.com/office/drawing/2014/main" id="{E073C719-43DA-B74F-9F7A-0ADEF83F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979" y="5129025"/>
            <a:ext cx="2268000" cy="10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99599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T</a:t>
            </a:r>
            <a:r>
              <a:rPr spc="-215" dirty="0"/>
              <a:t>h</a:t>
            </a:r>
            <a:r>
              <a:rPr spc="-340" dirty="0"/>
              <a:t>e</a:t>
            </a:r>
            <a:r>
              <a:rPr spc="55" dirty="0"/>
              <a:t> </a:t>
            </a:r>
            <a:r>
              <a:rPr spc="-770" dirty="0"/>
              <a:t>F</a:t>
            </a:r>
            <a:r>
              <a:rPr spc="-185" dirty="0"/>
              <a:t>i</a:t>
            </a:r>
            <a:r>
              <a:rPr spc="-395" dirty="0"/>
              <a:t>v</a:t>
            </a:r>
            <a:r>
              <a:rPr spc="-340" dirty="0"/>
              <a:t>e</a:t>
            </a:r>
            <a:r>
              <a:rPr spc="55" dirty="0"/>
              <a:t> </a:t>
            </a:r>
            <a:r>
              <a:rPr spc="-204" dirty="0"/>
              <a:t>C</a:t>
            </a:r>
            <a:r>
              <a:rPr spc="-285" dirty="0"/>
              <a:t>h</a:t>
            </a:r>
            <a:r>
              <a:rPr spc="-575" dirty="0"/>
              <a:t>a</a:t>
            </a:r>
            <a:r>
              <a:rPr spc="105" dirty="0"/>
              <a:t>r</a:t>
            </a:r>
            <a:r>
              <a:rPr spc="-575" dirty="0"/>
              <a:t>a</a:t>
            </a:r>
            <a:r>
              <a:rPr spc="-170" dirty="0"/>
              <a:t>c</a:t>
            </a:r>
            <a:r>
              <a:rPr spc="-100" dirty="0"/>
              <a:t>t</a:t>
            </a:r>
            <a:r>
              <a:rPr spc="-215" dirty="0"/>
              <a:t>e</a:t>
            </a:r>
            <a:r>
              <a:rPr spc="-25" dirty="0"/>
              <a:t>r</a:t>
            </a:r>
            <a:r>
              <a:rPr spc="-185" dirty="0"/>
              <a:t>i</a:t>
            </a:r>
            <a:r>
              <a:rPr spc="-350" dirty="0"/>
              <a:t>s</a:t>
            </a:r>
            <a:r>
              <a:rPr spc="-200" dirty="0"/>
              <a:t>t</a:t>
            </a:r>
            <a:r>
              <a:rPr spc="-185" dirty="0"/>
              <a:t>i</a:t>
            </a:r>
            <a:r>
              <a:rPr spc="-505" dirty="0"/>
              <a:t>cs</a:t>
            </a:r>
            <a:r>
              <a:rPr spc="55" dirty="0"/>
              <a:t> </a:t>
            </a:r>
            <a:r>
              <a:rPr spc="-114" dirty="0"/>
              <a:t>of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185" dirty="0"/>
              <a:t>l</a:t>
            </a:r>
            <a:r>
              <a:rPr spc="-180" dirty="0"/>
              <a:t>o</a:t>
            </a:r>
            <a:r>
              <a:rPr spc="-175" dirty="0"/>
              <a:t>u</a:t>
            </a:r>
            <a:r>
              <a:rPr spc="-204" dirty="0"/>
              <a:t>d</a:t>
            </a:r>
            <a:r>
              <a:rPr spc="50" dirty="0"/>
              <a:t> </a:t>
            </a:r>
            <a:r>
              <a:rPr spc="-204" dirty="0"/>
              <a:t>C</a:t>
            </a:r>
            <a:r>
              <a:rPr spc="-135" dirty="0"/>
              <a:t>o</a:t>
            </a:r>
            <a:r>
              <a:rPr spc="-210" dirty="0"/>
              <a:t>mp</a:t>
            </a:r>
            <a:r>
              <a:rPr spc="-285" dirty="0"/>
              <a:t>u</a:t>
            </a:r>
            <a:r>
              <a:rPr spc="100" dirty="0"/>
              <a:t>t</a:t>
            </a:r>
            <a:r>
              <a:rPr spc="-185" dirty="0"/>
              <a:t>i</a:t>
            </a:r>
            <a:r>
              <a:rPr spc="-285" dirty="0"/>
              <a:t>n</a:t>
            </a:r>
            <a:r>
              <a:rPr spc="-570" dirty="0"/>
              <a:t>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70972"/>
            <a:ext cx="10179685" cy="407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15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On-demand</a:t>
            </a:r>
            <a:r>
              <a:rPr sz="3525" spc="3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4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self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0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marR="643890" lvl="1" indent="-228600">
              <a:lnSpc>
                <a:spcPct val="71000"/>
              </a:lnSpc>
              <a:spcBef>
                <a:spcPts val="61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Users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provision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use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them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444949"/>
                </a:solidFill>
                <a:latin typeface="Microsoft Sans Serif"/>
                <a:cs typeface="Microsoft Sans Serif"/>
              </a:rPr>
              <a:t>without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human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interaction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from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000" spc="-5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provider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725"/>
              </a:lnSpc>
              <a:spcBef>
                <a:spcPts val="155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0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Broad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6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network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35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access: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available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over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network,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accessed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by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diverse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client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platforms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690"/>
              </a:lnSpc>
              <a:spcBef>
                <a:spcPts val="15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15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Multi-tenancy</a:t>
            </a:r>
            <a:r>
              <a:rPr sz="3525" spc="4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5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7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7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pooling: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17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customers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share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same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with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security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privacy</a:t>
            </a:r>
            <a:endParaRPr sz="20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customers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are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from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same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physical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675"/>
              </a:lnSpc>
              <a:spcBef>
                <a:spcPts val="25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6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Rapid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95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elasticity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5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3525" spc="6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4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scalability: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16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Automatically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quickly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acquire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dispose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0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Q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sc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sed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on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735"/>
              </a:lnSpc>
              <a:spcBef>
                <a:spcPts val="155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3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Measured</a:t>
            </a:r>
            <a:r>
              <a:rPr sz="3525" spc="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0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Usage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measured,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users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pay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correctly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what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they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have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used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80079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Si</a:t>
            </a:r>
            <a:r>
              <a:rPr spc="-409" dirty="0"/>
              <a:t>x</a:t>
            </a:r>
            <a:r>
              <a:rPr spc="-210" dirty="0"/>
              <a:t> </a:t>
            </a:r>
            <a:r>
              <a:rPr dirty="0"/>
              <a:t>A</a:t>
            </a:r>
            <a:r>
              <a:rPr spc="-210" dirty="0"/>
              <a:t>d</a:t>
            </a:r>
            <a:r>
              <a:rPr spc="-330" dirty="0"/>
              <a:t>v</a:t>
            </a:r>
            <a:r>
              <a:rPr spc="-575" dirty="0"/>
              <a:t>a</a:t>
            </a:r>
            <a:r>
              <a:rPr spc="-285" dirty="0"/>
              <a:t>n</a:t>
            </a:r>
            <a:r>
              <a:rPr spc="100" dirty="0"/>
              <a:t>t</a:t>
            </a:r>
            <a:r>
              <a:rPr spc="-575" dirty="0"/>
              <a:t>ag</a:t>
            </a:r>
            <a:r>
              <a:rPr spc="-340" dirty="0"/>
              <a:t>e</a:t>
            </a:r>
            <a:r>
              <a:rPr spc="-645" dirty="0"/>
              <a:t>s</a:t>
            </a:r>
            <a:r>
              <a:rPr spc="60" dirty="0"/>
              <a:t> </a:t>
            </a:r>
            <a:r>
              <a:rPr spc="-65" dirty="0"/>
              <a:t>o</a:t>
            </a:r>
            <a:r>
              <a:rPr spc="-170" dirty="0"/>
              <a:t>f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75" dirty="0"/>
              <a:t>l</a:t>
            </a:r>
            <a:r>
              <a:rPr spc="-170" dirty="0"/>
              <a:t>o</a:t>
            </a:r>
            <a:r>
              <a:rPr spc="-285" dirty="0"/>
              <a:t>u</a:t>
            </a:r>
            <a:r>
              <a:rPr spc="-204" dirty="0"/>
              <a:t>d</a:t>
            </a:r>
            <a:r>
              <a:rPr spc="50" dirty="0"/>
              <a:t> </a:t>
            </a:r>
            <a:r>
              <a:rPr spc="-204" dirty="0"/>
              <a:t>C</a:t>
            </a:r>
            <a:r>
              <a:rPr spc="-65" dirty="0"/>
              <a:t>o</a:t>
            </a:r>
            <a:r>
              <a:rPr spc="-285" dirty="0"/>
              <a:t>m</a:t>
            </a:r>
            <a:r>
              <a:rPr spc="-210" dirty="0"/>
              <a:t>p</a:t>
            </a:r>
            <a:r>
              <a:rPr spc="-285" dirty="0"/>
              <a:t>u</a:t>
            </a:r>
            <a:r>
              <a:rPr spc="100" dirty="0"/>
              <a:t>t</a:t>
            </a:r>
            <a:r>
              <a:rPr spc="-145" dirty="0"/>
              <a:t>i</a:t>
            </a:r>
            <a:r>
              <a:rPr spc="-330" dirty="0"/>
              <a:t>n</a:t>
            </a:r>
            <a:r>
              <a:rPr spc="-570" dirty="0"/>
              <a:t>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85176"/>
            <a:ext cx="9645650" cy="421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275"/>
              </a:lnSpc>
              <a:spcBef>
                <a:spcPts val="9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Trade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capital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(CAPEX)</a:t>
            </a:r>
            <a:r>
              <a:rPr sz="4125" spc="8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operational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(OPEX)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43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400" spc="-35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10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-</a:t>
            </a:r>
            <a:r>
              <a:rPr sz="24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28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: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on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’</a:t>
            </a:r>
            <a:r>
              <a:rPr sz="2400" spc="5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endParaRPr sz="24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3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Reduced</a:t>
            </a:r>
            <a:r>
              <a:rPr sz="2400" spc="-3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Total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Cost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Ownership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(TCO)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&amp;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Operational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(OPEX)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3275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4125" spc="-3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22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12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3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ss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3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5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5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Prices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reduced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444949"/>
                </a:solidFill>
                <a:latin typeface="Microsoft Sans Serif"/>
                <a:cs typeface="Microsoft Sans Serif"/>
              </a:rPr>
              <a:t>as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AWS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more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efficient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due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large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3275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8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19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15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58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ss</a:t>
            </a:r>
            <a:r>
              <a:rPr sz="4125" spc="-12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2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4125" spc="-3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5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54" dirty="0">
                <a:solidFill>
                  <a:srgbClr val="444949"/>
                </a:solidFill>
                <a:latin typeface="Microsoft Sans Serif"/>
                <a:cs typeface="Microsoft Sans Serif"/>
              </a:rPr>
              <a:t>Scal</a:t>
            </a:r>
            <a:r>
              <a:rPr sz="2400" spc="-28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actual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4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age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Increase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speed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agility</a:t>
            </a:r>
            <a:endParaRPr sz="4125" baseline="101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0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Stop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spending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money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running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5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maintaining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6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data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centers</a:t>
            </a:r>
            <a:endParaRPr sz="4125" baseline="101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11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Go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global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in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5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minutes: </a:t>
            </a:r>
            <a:r>
              <a:rPr sz="28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leverage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8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AWS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global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66541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Problems</a:t>
            </a:r>
            <a:r>
              <a:rPr spc="50" dirty="0"/>
              <a:t> </a:t>
            </a:r>
            <a:r>
              <a:rPr spc="-305" dirty="0"/>
              <a:t>solved</a:t>
            </a:r>
            <a:r>
              <a:rPr spc="40" dirty="0"/>
              <a:t> </a:t>
            </a:r>
            <a:r>
              <a:rPr spc="-325" dirty="0"/>
              <a:t>by</a:t>
            </a:r>
            <a:r>
              <a:rPr spc="45" dirty="0"/>
              <a:t> </a:t>
            </a:r>
            <a:r>
              <a:rPr spc="-175" dirty="0"/>
              <a:t>the</a:t>
            </a:r>
            <a:r>
              <a:rPr spc="50" dirty="0"/>
              <a:t> </a:t>
            </a:r>
            <a:r>
              <a:rPr spc="-190" dirty="0"/>
              <a:t>Cloud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32483"/>
            <a:ext cx="10017125" cy="34823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1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Flexibility: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change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types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Cost-Effectiveness: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pay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as</a:t>
            </a:r>
            <a:r>
              <a:rPr sz="280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you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go,</a:t>
            </a:r>
            <a:r>
              <a:rPr sz="28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what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you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use</a:t>
            </a: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3000"/>
              </a:lnSpc>
              <a:spcBef>
                <a:spcPts val="11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Scalability: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accommodate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larger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loads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by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making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hardware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stronger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or </a:t>
            </a:r>
            <a:r>
              <a:rPr sz="2800" spc="-7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adding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additional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nodes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Elasticity: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ability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out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scale-in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3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High-availability</a:t>
            </a:r>
            <a:r>
              <a:rPr sz="4125" spc="8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8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fault-tolerance: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build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across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data</a:t>
            </a:r>
            <a:r>
              <a:rPr sz="28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centers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18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Agility: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rapidly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develop,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test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launch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software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275466" y="1353258"/>
            <a:ext cx="1583055" cy="438784"/>
            <a:chOff x="1275466" y="1353258"/>
            <a:chExt cx="1583055" cy="438784"/>
          </a:xfrm>
        </p:grpSpPr>
        <p:sp>
          <p:nvSpPr>
            <p:cNvPr id="5" name="object 5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75467" y="1864080"/>
            <a:ext cx="1583055" cy="438784"/>
            <a:chOff x="1275467" y="1864080"/>
            <a:chExt cx="1583055" cy="438784"/>
          </a:xfrm>
        </p:grpSpPr>
        <p:sp>
          <p:nvSpPr>
            <p:cNvPr id="8" name="object 8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75466" y="2372831"/>
            <a:ext cx="1583055" cy="438784"/>
            <a:chOff x="1275466" y="2372831"/>
            <a:chExt cx="1583055" cy="438784"/>
          </a:xfrm>
        </p:grpSpPr>
        <p:sp>
          <p:nvSpPr>
            <p:cNvPr id="11" name="object 11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75466" y="2881580"/>
            <a:ext cx="1583055" cy="438784"/>
            <a:chOff x="1275466" y="2881580"/>
            <a:chExt cx="1583055" cy="438784"/>
          </a:xfrm>
        </p:grpSpPr>
        <p:sp>
          <p:nvSpPr>
            <p:cNvPr id="14" name="object 14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75466" y="3390331"/>
            <a:ext cx="1583055" cy="438784"/>
            <a:chOff x="1275466" y="3390331"/>
            <a:chExt cx="1583055" cy="438784"/>
          </a:xfrm>
        </p:grpSpPr>
        <p:sp>
          <p:nvSpPr>
            <p:cNvPr id="17" name="object 17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275464" y="3899080"/>
            <a:ext cx="1583055" cy="438784"/>
            <a:chOff x="1275464" y="3899080"/>
            <a:chExt cx="1583055" cy="438784"/>
          </a:xfrm>
        </p:grpSpPr>
        <p:sp>
          <p:nvSpPr>
            <p:cNvPr id="20" name="object 20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5573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75463" y="4413948"/>
            <a:ext cx="1583055" cy="438784"/>
            <a:chOff x="1275463" y="4413948"/>
            <a:chExt cx="1583055" cy="438784"/>
          </a:xfrm>
        </p:grpSpPr>
        <p:sp>
          <p:nvSpPr>
            <p:cNvPr id="24" name="object 24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275463" y="4916581"/>
            <a:ext cx="1583055" cy="438784"/>
            <a:chOff x="1275463" y="4916581"/>
            <a:chExt cx="1583055" cy="438784"/>
          </a:xfrm>
        </p:grpSpPr>
        <p:sp>
          <p:nvSpPr>
            <p:cNvPr id="27" name="object 27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1" y="404739"/>
                  </a:lnTo>
                  <a:lnTo>
                    <a:pt x="43314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702144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75462" y="5437564"/>
            <a:ext cx="1583055" cy="438784"/>
            <a:chOff x="1275462" y="5437564"/>
            <a:chExt cx="1583055" cy="438784"/>
          </a:xfrm>
        </p:grpSpPr>
        <p:sp>
          <p:nvSpPr>
            <p:cNvPr id="31" name="object 31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12849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799874" y="1353258"/>
            <a:ext cx="1583055" cy="438784"/>
            <a:chOff x="3799874" y="1353258"/>
            <a:chExt cx="1583055" cy="438784"/>
          </a:xfrm>
        </p:grpSpPr>
        <p:sp>
          <p:nvSpPr>
            <p:cNvPr id="35" name="object 35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799874" y="1864080"/>
            <a:ext cx="1583055" cy="438784"/>
            <a:chOff x="3799874" y="1864080"/>
            <a:chExt cx="1583055" cy="438784"/>
          </a:xfrm>
        </p:grpSpPr>
        <p:sp>
          <p:nvSpPr>
            <p:cNvPr id="38" name="object 38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799874" y="2372831"/>
            <a:ext cx="1583055" cy="438784"/>
            <a:chOff x="3799874" y="2372831"/>
            <a:chExt cx="1583055" cy="438784"/>
          </a:xfrm>
        </p:grpSpPr>
        <p:sp>
          <p:nvSpPr>
            <p:cNvPr id="41" name="object 41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799874" y="2881580"/>
            <a:ext cx="1583055" cy="438784"/>
            <a:chOff x="3799874" y="2881580"/>
            <a:chExt cx="1583055" cy="438784"/>
          </a:xfrm>
        </p:grpSpPr>
        <p:sp>
          <p:nvSpPr>
            <p:cNvPr id="44" name="object 44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799874" y="3390331"/>
            <a:ext cx="1583055" cy="438784"/>
            <a:chOff x="3799874" y="3390331"/>
            <a:chExt cx="1583055" cy="438784"/>
          </a:xfrm>
        </p:grpSpPr>
        <p:sp>
          <p:nvSpPr>
            <p:cNvPr id="47" name="object 47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3799873" y="3899080"/>
            <a:ext cx="1583055" cy="438784"/>
            <a:chOff x="3799873" y="3899080"/>
            <a:chExt cx="1583055" cy="438784"/>
          </a:xfrm>
        </p:grpSpPr>
        <p:sp>
          <p:nvSpPr>
            <p:cNvPr id="50" name="object 50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959981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799871" y="4413948"/>
            <a:ext cx="1583055" cy="438784"/>
            <a:chOff x="3799871" y="4413948"/>
            <a:chExt cx="1583055" cy="438784"/>
          </a:xfrm>
        </p:grpSpPr>
        <p:sp>
          <p:nvSpPr>
            <p:cNvPr id="54" name="object 54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3799870" y="4916581"/>
            <a:ext cx="1583055" cy="438784"/>
            <a:chOff x="3799870" y="4916581"/>
            <a:chExt cx="1583055" cy="438784"/>
          </a:xfrm>
        </p:grpSpPr>
        <p:sp>
          <p:nvSpPr>
            <p:cNvPr id="57" name="object 57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26552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799870" y="5437564"/>
            <a:ext cx="1583055" cy="438784"/>
            <a:chOff x="3799870" y="5437564"/>
            <a:chExt cx="1583055" cy="438784"/>
          </a:xfrm>
        </p:grpSpPr>
        <p:sp>
          <p:nvSpPr>
            <p:cNvPr id="61" name="object 61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037257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3638393" y="0"/>
            <a:ext cx="1904364" cy="12998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110" dirty="0"/>
              <a:t>I</a:t>
            </a:r>
            <a:r>
              <a:rPr sz="2750" spc="-229" dirty="0"/>
              <a:t>n</a:t>
            </a:r>
            <a:r>
              <a:rPr sz="2750" spc="-95" dirty="0"/>
              <a:t>f</a:t>
            </a:r>
            <a:r>
              <a:rPr sz="2750" spc="90" dirty="0"/>
              <a:t>r</a:t>
            </a:r>
            <a:r>
              <a:rPr sz="2750" spc="-375" dirty="0"/>
              <a:t>a</a:t>
            </a:r>
            <a:r>
              <a:rPr sz="2750" spc="-350" dirty="0"/>
              <a:t>s</a:t>
            </a:r>
            <a:r>
              <a:rPr sz="2750" spc="45" dirty="0"/>
              <a:t>t</a:t>
            </a:r>
            <a:r>
              <a:rPr sz="2750" spc="165" dirty="0"/>
              <a:t>r</a:t>
            </a:r>
            <a:r>
              <a:rPr sz="2750" spc="-160" dirty="0"/>
              <a:t>u</a:t>
            </a:r>
            <a:r>
              <a:rPr sz="2750" spc="-204" dirty="0"/>
              <a:t>c</a:t>
            </a:r>
            <a:r>
              <a:rPr sz="2750" spc="-25" dirty="0"/>
              <a:t>t</a:t>
            </a:r>
            <a:r>
              <a:rPr sz="2750" spc="-55" dirty="0"/>
              <a:t>u</a:t>
            </a:r>
            <a:r>
              <a:rPr sz="2750" spc="-65" dirty="0"/>
              <a:t>re  </a:t>
            </a:r>
            <a:r>
              <a:rPr sz="2750" spc="-375" dirty="0"/>
              <a:t>a</a:t>
            </a:r>
            <a:r>
              <a:rPr sz="2750" spc="-345" dirty="0"/>
              <a:t>s</a:t>
            </a:r>
            <a:r>
              <a:rPr sz="2750" spc="40" dirty="0"/>
              <a:t> </a:t>
            </a:r>
            <a:r>
              <a:rPr sz="2750" spc="-335" dirty="0"/>
              <a:t>a</a:t>
            </a:r>
            <a:r>
              <a:rPr sz="2750" spc="45" dirty="0"/>
              <a:t> </a:t>
            </a:r>
            <a:r>
              <a:rPr sz="2750" spc="-530" dirty="0"/>
              <a:t>S</a:t>
            </a:r>
            <a:r>
              <a:rPr sz="2750" spc="-195" dirty="0"/>
              <a:t>e</a:t>
            </a:r>
            <a:r>
              <a:rPr sz="2750" spc="215" dirty="0"/>
              <a:t>r</a:t>
            </a:r>
            <a:r>
              <a:rPr sz="2750" spc="-190" dirty="0"/>
              <a:t>v</a:t>
            </a:r>
            <a:r>
              <a:rPr sz="2750" spc="-95" dirty="0"/>
              <a:t>i</a:t>
            </a:r>
            <a:r>
              <a:rPr sz="2750" spc="-204" dirty="0"/>
              <a:t>c</a:t>
            </a:r>
            <a:r>
              <a:rPr sz="2750" spc="-125" dirty="0"/>
              <a:t>e  </a:t>
            </a:r>
            <a:r>
              <a:rPr sz="2800" spc="-245" dirty="0"/>
              <a:t>(IaaS)</a:t>
            </a:r>
            <a:endParaRPr sz="2800"/>
          </a:p>
        </p:txBody>
      </p:sp>
      <p:grpSp>
        <p:nvGrpSpPr>
          <p:cNvPr id="65" name="object 65"/>
          <p:cNvGrpSpPr/>
          <p:nvPr/>
        </p:nvGrpSpPr>
        <p:grpSpPr>
          <a:xfrm>
            <a:off x="6324281" y="1353258"/>
            <a:ext cx="1583055" cy="438784"/>
            <a:chOff x="6324281" y="1353258"/>
            <a:chExt cx="1583055" cy="438784"/>
          </a:xfrm>
        </p:grpSpPr>
        <p:sp>
          <p:nvSpPr>
            <p:cNvPr id="66" name="object 66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5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5" y="425513"/>
                  </a:lnTo>
                  <a:lnTo>
                    <a:pt x="1526710" y="419940"/>
                  </a:lnTo>
                  <a:lnTo>
                    <a:pt x="1549253" y="404741"/>
                  </a:lnTo>
                  <a:lnTo>
                    <a:pt x="1564452" y="382198"/>
                  </a:lnTo>
                  <a:lnTo>
                    <a:pt x="1570026" y="354592"/>
                  </a:lnTo>
                  <a:lnTo>
                    <a:pt x="1570026" y="70920"/>
                  </a:lnTo>
                  <a:lnTo>
                    <a:pt x="1564452" y="43315"/>
                  </a:lnTo>
                  <a:lnTo>
                    <a:pt x="1549253" y="20772"/>
                  </a:lnTo>
                  <a:lnTo>
                    <a:pt x="1526710" y="5573"/>
                  </a:lnTo>
                  <a:lnTo>
                    <a:pt x="1499105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324282" y="1864080"/>
            <a:ext cx="1583055" cy="438784"/>
            <a:chOff x="6324282" y="1864080"/>
            <a:chExt cx="1583055" cy="438784"/>
          </a:xfrm>
        </p:grpSpPr>
        <p:sp>
          <p:nvSpPr>
            <p:cNvPr id="69" name="object 69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6324281" y="2372831"/>
            <a:ext cx="1583055" cy="438784"/>
            <a:chOff x="6324281" y="2372831"/>
            <a:chExt cx="1583055" cy="438784"/>
          </a:xfrm>
        </p:grpSpPr>
        <p:sp>
          <p:nvSpPr>
            <p:cNvPr id="72" name="object 72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324281" y="2881580"/>
            <a:ext cx="1583055" cy="438784"/>
            <a:chOff x="6324281" y="2881580"/>
            <a:chExt cx="1583055" cy="438784"/>
          </a:xfrm>
        </p:grpSpPr>
        <p:sp>
          <p:nvSpPr>
            <p:cNvPr id="75" name="object 75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1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6324281" y="3390331"/>
            <a:ext cx="1583055" cy="438784"/>
            <a:chOff x="6324281" y="3390331"/>
            <a:chExt cx="1583055" cy="438784"/>
          </a:xfrm>
        </p:grpSpPr>
        <p:sp>
          <p:nvSpPr>
            <p:cNvPr id="78" name="object 78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6324281" y="3899080"/>
            <a:ext cx="1583055" cy="438784"/>
            <a:chOff x="6324281" y="3899080"/>
            <a:chExt cx="1583055" cy="438784"/>
          </a:xfrm>
        </p:grpSpPr>
        <p:sp>
          <p:nvSpPr>
            <p:cNvPr id="81" name="object 81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196191" y="0"/>
            <a:ext cx="183896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75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-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9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75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(PaaS)</a:t>
            </a:r>
            <a:endParaRPr sz="2800">
              <a:latin typeface="Microsoft Sans Serif"/>
              <a:cs typeface="Microsoft Sans Serif"/>
            </a:endParaRPr>
          </a:p>
          <a:p>
            <a:pPr marL="635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00355" marR="29337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324279" y="4413948"/>
            <a:ext cx="1583055" cy="438784"/>
            <a:chOff x="6324279" y="4413948"/>
            <a:chExt cx="1583055" cy="438784"/>
          </a:xfrm>
        </p:grpSpPr>
        <p:sp>
          <p:nvSpPr>
            <p:cNvPr id="85" name="object 85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6324278" y="4916581"/>
            <a:ext cx="1583055" cy="438784"/>
            <a:chOff x="6324278" y="4916581"/>
            <a:chExt cx="1583055" cy="438784"/>
          </a:xfrm>
        </p:grpSpPr>
        <p:sp>
          <p:nvSpPr>
            <p:cNvPr id="88" name="object 88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750960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6324278" y="5437564"/>
            <a:ext cx="1583055" cy="438784"/>
            <a:chOff x="6324278" y="5437564"/>
            <a:chExt cx="1583055" cy="438784"/>
          </a:xfrm>
        </p:grpSpPr>
        <p:sp>
          <p:nvSpPr>
            <p:cNvPr id="92" name="object 92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561666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848689" y="1353258"/>
            <a:ext cx="1583055" cy="438784"/>
            <a:chOff x="8848689" y="1353258"/>
            <a:chExt cx="1583055" cy="438784"/>
          </a:xfrm>
        </p:grpSpPr>
        <p:sp>
          <p:nvSpPr>
            <p:cNvPr id="96" name="object 96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848690" y="1864080"/>
            <a:ext cx="1583055" cy="438784"/>
            <a:chOff x="8848690" y="1864080"/>
            <a:chExt cx="1583055" cy="438784"/>
          </a:xfrm>
        </p:grpSpPr>
        <p:sp>
          <p:nvSpPr>
            <p:cNvPr id="99" name="object 99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8848689" y="2372831"/>
            <a:ext cx="1583055" cy="438784"/>
            <a:chOff x="8848689" y="2372831"/>
            <a:chExt cx="1583055" cy="438784"/>
          </a:xfrm>
        </p:grpSpPr>
        <p:sp>
          <p:nvSpPr>
            <p:cNvPr id="102" name="object 102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8848689" y="2881580"/>
            <a:ext cx="1583055" cy="438784"/>
            <a:chOff x="8848689" y="2881580"/>
            <a:chExt cx="1583055" cy="438784"/>
          </a:xfrm>
        </p:grpSpPr>
        <p:sp>
          <p:nvSpPr>
            <p:cNvPr id="105" name="object 105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8848689" y="3390331"/>
            <a:ext cx="1583055" cy="438784"/>
            <a:chOff x="8848689" y="3390331"/>
            <a:chExt cx="1583055" cy="438784"/>
          </a:xfrm>
        </p:grpSpPr>
        <p:sp>
          <p:nvSpPr>
            <p:cNvPr id="108" name="object 108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8848689" y="3899080"/>
            <a:ext cx="1583055" cy="438784"/>
            <a:chOff x="8848689" y="3899080"/>
            <a:chExt cx="1583055" cy="438784"/>
          </a:xfrm>
        </p:grpSpPr>
        <p:sp>
          <p:nvSpPr>
            <p:cNvPr id="111" name="object 111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8689929" y="0"/>
            <a:ext cx="189992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0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305" dirty="0">
                <a:solidFill>
                  <a:srgbClr val="444949"/>
                </a:solidFill>
                <a:latin typeface="Microsoft Sans Serif"/>
                <a:cs typeface="Microsoft Sans Serif"/>
              </a:rPr>
              <a:t>(SaaS)</a:t>
            </a:r>
            <a:endParaRPr sz="2800">
              <a:latin typeface="Microsoft Sans Serif"/>
              <a:cs typeface="Microsoft Sans Serif"/>
            </a:endParaRPr>
          </a:p>
          <a:p>
            <a:pPr marL="1270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31470" marR="323215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8848687" y="4413948"/>
            <a:ext cx="1583055" cy="438784"/>
            <a:chOff x="8848687" y="4413948"/>
            <a:chExt cx="1583055" cy="438784"/>
          </a:xfrm>
        </p:grpSpPr>
        <p:sp>
          <p:nvSpPr>
            <p:cNvPr id="115" name="object 115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8848687" y="4916581"/>
            <a:ext cx="1583055" cy="438784"/>
            <a:chOff x="8848687" y="4916581"/>
            <a:chExt cx="1583055" cy="438784"/>
          </a:xfrm>
        </p:grpSpPr>
        <p:sp>
          <p:nvSpPr>
            <p:cNvPr id="118" name="object 118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9275368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848685" y="5437564"/>
            <a:ext cx="1583055" cy="438784"/>
            <a:chOff x="8848685" y="5437564"/>
            <a:chExt cx="1583055" cy="438784"/>
          </a:xfrm>
        </p:grpSpPr>
        <p:sp>
          <p:nvSpPr>
            <p:cNvPr id="122" name="object 122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9086072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145429" y="417774"/>
            <a:ext cx="1837689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On-premises</a:t>
            </a:r>
            <a:endParaRPr sz="2750">
              <a:latin typeface="Microsoft Sans Serif"/>
              <a:cs typeface="Microsoft Sans Serif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894301" y="6086818"/>
            <a:ext cx="1583055" cy="438784"/>
            <a:chOff x="7894301" y="6086818"/>
            <a:chExt cx="1583055" cy="438784"/>
          </a:xfrm>
        </p:grpSpPr>
        <p:sp>
          <p:nvSpPr>
            <p:cNvPr id="127" name="object 127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8113845" y="6180328"/>
            <a:ext cx="11436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751391" y="6086818"/>
            <a:ext cx="1583055" cy="438784"/>
            <a:chOff x="9751391" y="6086818"/>
            <a:chExt cx="1583055" cy="438784"/>
          </a:xfrm>
        </p:grpSpPr>
        <p:sp>
          <p:nvSpPr>
            <p:cNvPr id="131" name="object 131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9878510" y="6180328"/>
            <a:ext cx="13284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E9661-105B-A672-5D64-5E90ADECD4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24" b="4003"/>
          <a:stretch/>
        </p:blipFill>
        <p:spPr>
          <a:xfrm>
            <a:off x="1749288" y="985367"/>
            <a:ext cx="8719930" cy="508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7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0B0F-6E42-7CFA-2B46-7FC761B5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9FE982-2E02-3EF7-F12A-B6963FCA3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39" r="1615" b="-1"/>
          <a:stretch/>
        </p:blipFill>
        <p:spPr>
          <a:xfrm>
            <a:off x="1656522" y="1192695"/>
            <a:ext cx="8905461" cy="46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3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8727</TotalTime>
  <Words>430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Microsoft Sans Serif</vt:lpstr>
      <vt:lpstr>Office Theme</vt:lpstr>
      <vt:lpstr>Lecture 2</vt:lpstr>
      <vt:lpstr>The Deployment Models of the Cloud</vt:lpstr>
      <vt:lpstr>The Five Characteristics of Cloud Computing</vt:lpstr>
      <vt:lpstr>Six Advantages of Cloud Computing</vt:lpstr>
      <vt:lpstr>Problems solved by the Cloud</vt:lpstr>
      <vt:lpstr>Infrastructure  as a Service  (IaaS)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10</cp:revision>
  <dcterms:created xsi:type="dcterms:W3CDTF">2024-03-12T05:48:59Z</dcterms:created>
  <dcterms:modified xsi:type="dcterms:W3CDTF">2025-04-10T11:39:56Z</dcterms:modified>
</cp:coreProperties>
</file>