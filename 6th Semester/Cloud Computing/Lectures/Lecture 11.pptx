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323" r:id="rId4"/>
    <p:sldId id="324" r:id="rId5"/>
    <p:sldId id="325" r:id="rId6"/>
    <p:sldId id="326" r:id="rId7"/>
    <p:sldId id="327" r:id="rId8"/>
    <p:sldId id="328" r:id="rId9"/>
    <p:sldId id="329" r:id="rId10"/>
    <p:sldId id="330" r:id="rId11"/>
    <p:sldId id="331" r:id="rId12"/>
    <p:sldId id="332" r:id="rId13"/>
    <p:sldId id="333" r:id="rId14"/>
    <p:sldId id="334" r:id="rId15"/>
    <p:sldId id="335" r:id="rId16"/>
    <p:sldId id="27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C723-910E-93E2-DD9E-8C009BDA9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E314BF-6AB1-2D6D-6C4F-16D43C851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A793D-BC27-00EE-2FE6-546C095B01F4}"/>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EA2F3F34-D6D5-FD76-003E-2A58F61307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E6AA20-775D-3D2F-5A7C-7AD3544608FC}"/>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97803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2FF1-5278-5ED2-3767-41B28EA0E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5A888-CFAA-13F0-D840-385DDCFF11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F5C23-31CF-484D-2328-D3266B2E04D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43675DAA-32A6-289B-9E90-1CFC1CA19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54707-4693-1023-C481-A133F5E62532}"/>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3369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C375-50CD-EA28-6B1C-C2AB02E51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D1A47A-1256-9120-418B-E4DBED9C5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C8D2F-FFEC-130A-6F79-0A342E1676FE}"/>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BF18E272-A511-0A83-4DF4-B8171F42D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5DCCA-79B9-7D08-3680-0167AFECE130}"/>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419E-66D0-C991-CF64-51DDBF42B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A4064C-B38C-6CCA-DF94-1095C61972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2C86A-B983-1DB9-540F-4315296C2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106DA-F39D-FE19-519C-1E98FBE4E08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6F380453-7BEA-116C-3B43-D67AC9E25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8A49C-F7C6-6B3D-0FFA-2C22806614FF}"/>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9483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8711-F69C-889B-C637-CA961B0D9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F4783C-F9D8-7E88-C55A-8E9F164A34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6FE16B-9ABE-0D57-76D6-D0C19AA4B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941C41-607D-575F-660E-925F3B7E7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59849-E3AE-0BAD-2CA3-B81A42DCA9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21567-24A0-44CD-4387-19B08F55FCB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8" name="Footer Placeholder 7">
            <a:extLst>
              <a:ext uri="{FF2B5EF4-FFF2-40B4-BE49-F238E27FC236}">
                <a16:creationId xmlns:a16="http://schemas.microsoft.com/office/drawing/2014/main" id="{3DFACE88-8596-3D9F-C582-64F1BA0BAB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A53C9B-1E73-E98E-202A-E561A5BE65D6}"/>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14631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774D-DE1B-A677-03B5-9FC6155B1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327C-DBC4-AE06-2930-2D7165E53A33}"/>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4" name="Footer Placeholder 3">
            <a:extLst>
              <a:ext uri="{FF2B5EF4-FFF2-40B4-BE49-F238E27FC236}">
                <a16:creationId xmlns:a16="http://schemas.microsoft.com/office/drawing/2014/main" id="{2100E5B1-38C5-F490-805C-81DBE4B1B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58315-D355-1669-B9E2-DFC6F11AD277}"/>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2920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1596F-7C93-C3BF-7868-17419B5FD49D}"/>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3" name="Footer Placeholder 2">
            <a:extLst>
              <a:ext uri="{FF2B5EF4-FFF2-40B4-BE49-F238E27FC236}">
                <a16:creationId xmlns:a16="http://schemas.microsoft.com/office/drawing/2014/main" id="{AB207FB4-764F-A667-3ADA-198CBA5B2B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D8EAA6-8BA4-825F-E526-A2FFB2D4650D}"/>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4470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8C44-8946-6AD4-AA89-D9A63A155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5162C0-983A-C2F0-5EA7-C60058567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7BED01-D740-A0F2-E3BD-840425BA3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B23CB5-4F6E-AE43-86E7-832021D2FEA8}"/>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7393263A-156D-BFE7-4FCA-269951778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908A6-1715-6291-4454-CF479443FA8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19263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76D8-2CCE-27A4-9713-D309E338C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9E9596-F967-1C9E-6FC7-A142A52CD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929478-63A9-3E4A-F73F-DED6E541B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B5BE0-E9F0-D9FB-3EBB-BAAC0AC7DFFF}"/>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FE6CB467-3CF9-5F53-87D7-5C0AF2CED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61079C-5D0D-7F8D-8ED2-9BA257BEA763}"/>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81877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7FA9-CAA8-4258-79B7-A50335F763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DF1F37-0CB8-3F51-D008-66CE2BA3F7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190C8-94FB-67B8-DD0D-56653CFCCE8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3458A5A8-F553-9046-54E4-C31DB93AB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DA376-D484-E164-C7C0-F19F2955722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5669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6C985-2286-D8FE-519B-64932E7283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7F44F0-43A5-4577-65C4-D49E14080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2AB77-3851-6C68-007A-CA235A5F9A56}"/>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C988C42B-D7BE-642F-EA9C-1A0E27C08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46A69-A374-A51E-BB84-DB7FEBBBAC35}"/>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570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BFCB9C-D80B-0916-0FA5-32E5FB9CE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E6BB38-34A0-8057-E63F-C078CA4ED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A0031-A66E-0EF1-B1CE-E45DDB2A6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AC9BE475-8084-6708-B118-D30658279A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A07E31-1CC5-7E1B-DBCD-7168AFBF3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364EF-26CE-4868-A5D4-A13D37D4C42E}" type="slidenum">
              <a:rPr lang="en-US" smtClean="0"/>
              <a:t>‹#›</a:t>
            </a:fld>
            <a:endParaRPr lang="en-US"/>
          </a:p>
        </p:txBody>
      </p:sp>
    </p:spTree>
    <p:extLst>
      <p:ext uri="{BB962C8B-B14F-4D97-AF65-F5344CB8AC3E}">
        <p14:creationId xmlns:p14="http://schemas.microsoft.com/office/powerpoint/2010/main" val="104454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pps.apple.com/app/microsoft-remote-desktop/id1295203466?mt=12"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534-7AC6-31C1-9CBE-14B33B764C05}"/>
              </a:ext>
            </a:extLst>
          </p:cNvPr>
          <p:cNvSpPr>
            <a:spLocks noGrp="1"/>
          </p:cNvSpPr>
          <p:nvPr>
            <p:ph type="ctrTitle"/>
          </p:nvPr>
        </p:nvSpPr>
        <p:spPr/>
        <p:txBody>
          <a:bodyPr/>
          <a:lstStyle/>
          <a:p>
            <a:r>
              <a:rPr lang="en-US" dirty="0"/>
              <a:t>Lecture 11</a:t>
            </a:r>
          </a:p>
        </p:txBody>
      </p:sp>
      <p:sp>
        <p:nvSpPr>
          <p:cNvPr id="3" name="Subtitle 2">
            <a:extLst>
              <a:ext uri="{FF2B5EF4-FFF2-40B4-BE49-F238E27FC236}">
                <a16:creationId xmlns:a16="http://schemas.microsoft.com/office/drawing/2014/main" id="{8ABBDAA5-5BB9-B108-8CC4-898094664F92}"/>
              </a:ext>
            </a:extLst>
          </p:cNvPr>
          <p:cNvSpPr>
            <a:spLocks noGrp="1"/>
          </p:cNvSpPr>
          <p:nvPr>
            <p:ph type="subTitle" idx="4294967295"/>
          </p:nvPr>
        </p:nvSpPr>
        <p:spPr>
          <a:xfrm>
            <a:off x="1524000" y="3602038"/>
            <a:ext cx="9144000" cy="1655762"/>
          </a:xfrm>
        </p:spPr>
        <p:txBody>
          <a:bodyPr>
            <a:normAutofit/>
          </a:bodyPr>
          <a:lstStyle/>
          <a:p>
            <a:pPr marL="0" indent="0" algn="ctr">
              <a:buNone/>
            </a:pPr>
            <a:r>
              <a:rPr lang="en-US" sz="4000" b="1" dirty="0"/>
              <a:t>Steps to connect to virtual machine</a:t>
            </a:r>
          </a:p>
        </p:txBody>
      </p:sp>
      <p:sp>
        <p:nvSpPr>
          <p:cNvPr id="6" name="TextBox 5">
            <a:extLst>
              <a:ext uri="{FF2B5EF4-FFF2-40B4-BE49-F238E27FC236}">
                <a16:creationId xmlns:a16="http://schemas.microsoft.com/office/drawing/2014/main" id="{B32178F5-7334-EFBC-ECD7-421AF5FEF827}"/>
              </a:ext>
            </a:extLst>
          </p:cNvPr>
          <p:cNvSpPr txBox="1"/>
          <p:nvPr/>
        </p:nvSpPr>
        <p:spPr>
          <a:xfrm>
            <a:off x="9037983" y="5830957"/>
            <a:ext cx="2822713" cy="369332"/>
          </a:xfrm>
          <a:prstGeom prst="rect">
            <a:avLst/>
          </a:prstGeom>
          <a:noFill/>
        </p:spPr>
        <p:txBody>
          <a:bodyPr wrap="square" rtlCol="0">
            <a:spAutoFit/>
          </a:bodyPr>
          <a:lstStyle/>
          <a:p>
            <a:r>
              <a:rPr lang="en-US" dirty="0"/>
              <a:t>Instructor : Engr. Tehmeed</a:t>
            </a:r>
          </a:p>
        </p:txBody>
      </p:sp>
    </p:spTree>
    <p:extLst>
      <p:ext uri="{BB962C8B-B14F-4D97-AF65-F5344CB8AC3E}">
        <p14:creationId xmlns:p14="http://schemas.microsoft.com/office/powerpoint/2010/main" val="160269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Connect to Windows Virtual Machine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1354217"/>
          </a:xfrm>
          <a:prstGeom prst="rect">
            <a:avLst/>
          </a:prstGeom>
          <a:noFill/>
        </p:spPr>
        <p:txBody>
          <a:bodyPr wrap="square">
            <a:spAutoFit/>
          </a:bodyPr>
          <a:lstStyle/>
          <a:p>
            <a:pPr algn="l">
              <a:buNone/>
            </a:pPr>
            <a:r>
              <a:rPr lang="en-US" b="0" i="0" dirty="0">
                <a:solidFill>
                  <a:srgbClr val="161616"/>
                </a:solidFill>
                <a:effectLst/>
                <a:latin typeface="Segoe UI" panose="020B0502040204020203" pitchFamily="34" charset="0"/>
              </a:rPr>
              <a:t>Create a remote desktop connection to the virtual machine. These directions tell you how to connect to your VM from a Windows computer. On a Mac, you need an RDP client such as this </a:t>
            </a:r>
            <a:r>
              <a:rPr lang="en-US" b="0" i="0" u="none" strike="noStrike" dirty="0">
                <a:solidFill>
                  <a:srgbClr val="0065B3"/>
                </a:solidFill>
                <a:effectLst/>
                <a:latin typeface="Segoe UI" panose="020B0502040204020203" pitchFamily="34" charset="0"/>
                <a:hlinkClick r:id="rId2"/>
              </a:rPr>
              <a:t>Remote Desktop Client</a:t>
            </a:r>
            <a:r>
              <a:rPr lang="en-US" b="0" i="0" dirty="0">
                <a:solidFill>
                  <a:srgbClr val="161616"/>
                </a:solidFill>
                <a:effectLst/>
                <a:latin typeface="Segoe UI" panose="020B0502040204020203" pitchFamily="34" charset="0"/>
              </a:rPr>
              <a:t> from the Mac App Store.</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On the overview page for your virtual machine, select the </a:t>
            </a:r>
            <a:r>
              <a:rPr lang="en-US" b="1" i="0" dirty="0">
                <a:solidFill>
                  <a:srgbClr val="161616"/>
                </a:solidFill>
                <a:effectLst/>
                <a:latin typeface="Segoe UI" panose="020B0502040204020203" pitchFamily="34" charset="0"/>
              </a:rPr>
              <a:t>Connect</a:t>
            </a:r>
            <a:r>
              <a:rPr lang="en-US" b="0" i="0" dirty="0">
                <a:solidFill>
                  <a:srgbClr val="161616"/>
                </a:solidFill>
                <a:effectLst/>
                <a:latin typeface="Segoe UI" panose="020B0502040204020203" pitchFamily="34" charset="0"/>
              </a:rPr>
              <a:t> &gt; </a:t>
            </a:r>
            <a:r>
              <a:rPr lang="en-US" b="1" i="0" dirty="0">
                <a:solidFill>
                  <a:srgbClr val="161616"/>
                </a:solidFill>
                <a:effectLst/>
                <a:latin typeface="Segoe UI" panose="020B0502040204020203" pitchFamily="34" charset="0"/>
              </a:rPr>
              <a:t>RDP</a:t>
            </a:r>
            <a:r>
              <a:rPr lang="en-US" b="0" i="0" dirty="0">
                <a:solidFill>
                  <a:srgbClr val="161616"/>
                </a:solidFill>
                <a:effectLst/>
                <a:latin typeface="Segoe UI" panose="020B0502040204020203" pitchFamily="34" charset="0"/>
              </a:rPr>
              <a:t>.</a:t>
            </a:r>
          </a:p>
        </p:txBody>
      </p:sp>
      <p:pic>
        <p:nvPicPr>
          <p:cNvPr id="9" name="Picture 8">
            <a:extLst>
              <a:ext uri="{FF2B5EF4-FFF2-40B4-BE49-F238E27FC236}">
                <a16:creationId xmlns:a16="http://schemas.microsoft.com/office/drawing/2014/main" id="{4E83D81B-EAF7-1090-2A85-A7B60C1650D5}"/>
              </a:ext>
            </a:extLst>
          </p:cNvPr>
          <p:cNvPicPr>
            <a:picLocks noChangeAspect="1"/>
          </p:cNvPicPr>
          <p:nvPr/>
        </p:nvPicPr>
        <p:blipFill>
          <a:blip r:embed="rId3"/>
          <a:stretch>
            <a:fillRect/>
          </a:stretch>
        </p:blipFill>
        <p:spPr>
          <a:xfrm>
            <a:off x="685801" y="3429000"/>
            <a:ext cx="8048625" cy="1895475"/>
          </a:xfrm>
          <a:prstGeom prst="rect">
            <a:avLst/>
          </a:prstGeom>
        </p:spPr>
      </p:pic>
    </p:spTree>
    <p:extLst>
      <p:ext uri="{BB962C8B-B14F-4D97-AF65-F5344CB8AC3E}">
        <p14:creationId xmlns:p14="http://schemas.microsoft.com/office/powerpoint/2010/main" val="146715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087C-5CD5-9411-6A6A-6524313DD76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0B87BAF-13AC-85C5-524A-F061C1F8F937}"/>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A903B66D-4CEB-0DFA-AC76-B91075ECD693}"/>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Connect to Virtual Machine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2731C3C-4B22-2762-626C-B4381707DE7E}"/>
              </a:ext>
            </a:extLst>
          </p:cNvPr>
          <p:cNvSpPr txBox="1"/>
          <p:nvPr/>
        </p:nvSpPr>
        <p:spPr>
          <a:xfrm>
            <a:off x="685801" y="1210865"/>
            <a:ext cx="8452484" cy="5570756"/>
          </a:xfrm>
          <a:prstGeom prst="rect">
            <a:avLst/>
          </a:prstGeom>
          <a:noFill/>
        </p:spPr>
        <p:txBody>
          <a:bodyPr wrap="square">
            <a:spAutoFit/>
          </a:bodyPr>
          <a:lstStyle/>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On the overview page for your virtual machine, select the </a:t>
            </a:r>
            <a:r>
              <a:rPr lang="en-US" b="1" i="0" dirty="0">
                <a:solidFill>
                  <a:srgbClr val="161616"/>
                </a:solidFill>
                <a:effectLst/>
                <a:latin typeface="Segoe UI" panose="020B0502040204020203" pitchFamily="34" charset="0"/>
              </a:rPr>
              <a:t>Connect</a:t>
            </a:r>
            <a:r>
              <a:rPr lang="en-US" b="0" i="0" dirty="0">
                <a:solidFill>
                  <a:srgbClr val="161616"/>
                </a:solidFill>
                <a:effectLst/>
                <a:latin typeface="Segoe UI" panose="020B0502040204020203" pitchFamily="34" charset="0"/>
              </a:rPr>
              <a:t> &gt; </a:t>
            </a:r>
            <a:r>
              <a:rPr lang="en-US" b="1" i="0" dirty="0">
                <a:solidFill>
                  <a:srgbClr val="161616"/>
                </a:solidFill>
                <a:effectLst/>
                <a:latin typeface="Segoe UI" panose="020B0502040204020203" pitchFamily="34" charset="0"/>
              </a:rPr>
              <a:t>RDP</a:t>
            </a:r>
            <a:r>
              <a:rPr lang="en-US" b="0" i="0" dirty="0">
                <a:solidFill>
                  <a:srgbClr val="161616"/>
                </a:solidFill>
                <a:effectLst/>
                <a:latin typeface="Segoe UI" panose="020B0502040204020203" pitchFamily="34" charset="0"/>
              </a:rPr>
              <a:t>.</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In the Connect with RDP tab, keep the default options to connect by IP address, over port 3389, and click Download RDP file.</a:t>
            </a:r>
          </a:p>
          <a:p>
            <a:pPr algn="l">
              <a:spcBef>
                <a:spcPts val="1200"/>
              </a:spcBef>
              <a:spcAft>
                <a:spcPts val="1200"/>
              </a:spcAft>
              <a:buFont typeface="+mj-lt"/>
              <a:buAutoNum type="arabicPeriod"/>
            </a:pPr>
            <a:endParaRPr lang="en-US" b="0" i="0" dirty="0">
              <a:solidFill>
                <a:srgbClr val="161616"/>
              </a:solidFill>
              <a:effectLst/>
              <a:latin typeface="Segoe UI" panose="020B0502040204020203" pitchFamily="34" charset="0"/>
            </a:endParaRP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Open the downloaded RDP file and click Connect when prompted.</a:t>
            </a:r>
          </a:p>
          <a:p>
            <a:pPr algn="l">
              <a:spcBef>
                <a:spcPts val="1200"/>
              </a:spcBef>
              <a:spcAft>
                <a:spcPts val="1200"/>
              </a:spcAft>
              <a:buFont typeface="+mj-lt"/>
              <a:buAutoNum type="arabicPeriod"/>
            </a:pPr>
            <a:endParaRPr lang="en-US" b="0" i="0" dirty="0">
              <a:solidFill>
                <a:srgbClr val="161616"/>
              </a:solidFill>
              <a:effectLst/>
              <a:latin typeface="Segoe UI" panose="020B0502040204020203" pitchFamily="34" charset="0"/>
            </a:endParaRP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In the Windows Security window, select More choices and then Use a different account. Type the username as localhost\username, enter the password you created for the virtual machine, and then click OK.</a:t>
            </a:r>
          </a:p>
          <a:p>
            <a:pPr algn="l">
              <a:spcBef>
                <a:spcPts val="1200"/>
              </a:spcBef>
              <a:spcAft>
                <a:spcPts val="1200"/>
              </a:spcAft>
              <a:buFont typeface="+mj-lt"/>
              <a:buAutoNum type="arabicPeriod"/>
            </a:pPr>
            <a:endParaRPr lang="en-US" b="0" i="0" dirty="0">
              <a:solidFill>
                <a:srgbClr val="161616"/>
              </a:solidFill>
              <a:effectLst/>
              <a:latin typeface="Segoe UI" panose="020B0502040204020203" pitchFamily="34" charset="0"/>
            </a:endParaRP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You may receive a certificate warning during the sign-in process. Click Yes or Continue to create the connection.</a:t>
            </a:r>
          </a:p>
        </p:txBody>
      </p:sp>
    </p:spTree>
    <p:extLst>
      <p:ext uri="{BB962C8B-B14F-4D97-AF65-F5344CB8AC3E}">
        <p14:creationId xmlns:p14="http://schemas.microsoft.com/office/powerpoint/2010/main" val="79635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DA565-DA6A-9DCA-D948-6E20B189E31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42BE173-CDD5-0D01-FAB8-72050765E1C1}"/>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8562E892-1173-61C1-91A5-79FF4DC6A269}"/>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Connect to Linux Virtual Machine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B37CFD23-E9C6-AADE-976B-792C8FA1D8E5}"/>
              </a:ext>
            </a:extLst>
          </p:cNvPr>
          <p:cNvSpPr txBox="1"/>
          <p:nvPr/>
        </p:nvSpPr>
        <p:spPr>
          <a:xfrm>
            <a:off x="685801" y="1210865"/>
            <a:ext cx="8452484" cy="1815882"/>
          </a:xfrm>
          <a:prstGeom prst="rect">
            <a:avLst/>
          </a:prstGeom>
          <a:noFill/>
        </p:spPr>
        <p:txBody>
          <a:bodyPr wrap="square">
            <a:spAutoFit/>
          </a:bodyPr>
          <a:lstStyle/>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Download the private key file (.</a:t>
            </a:r>
            <a:r>
              <a:rPr lang="en-US" b="0" i="0" dirty="0" err="1">
                <a:solidFill>
                  <a:srgbClr val="161616"/>
                </a:solidFill>
                <a:effectLst/>
                <a:latin typeface="Segoe UI" panose="020B0502040204020203" pitchFamily="34" charset="0"/>
              </a:rPr>
              <a:t>pem</a:t>
            </a:r>
            <a:r>
              <a:rPr lang="en-US" b="0" i="0" dirty="0">
                <a:solidFill>
                  <a:srgbClr val="161616"/>
                </a:solidFill>
                <a:effectLst/>
                <a:latin typeface="Segoe UI" panose="020B0502040204020203" pitchFamily="34" charset="0"/>
              </a:rPr>
              <a:t>)</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This is essential, as you will need it to connect to the VM. Azure does not store the private key, so save it securely.</a:t>
            </a:r>
          </a:p>
          <a:p>
            <a:pPr algn="l">
              <a:spcBef>
                <a:spcPts val="1200"/>
              </a:spcBef>
              <a:spcAft>
                <a:spcPts val="1200"/>
              </a:spcAft>
              <a:buFont typeface="+mj-lt"/>
              <a:buAutoNum type="arabicPeriod"/>
            </a:pPr>
            <a:endParaRPr lang="en-US" b="0" i="0" dirty="0">
              <a:solidFill>
                <a:srgbClr val="161616"/>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E9B1361A-35F1-0151-56B7-A09343D81DEC}"/>
              </a:ext>
            </a:extLst>
          </p:cNvPr>
          <p:cNvPicPr>
            <a:picLocks noChangeAspect="1"/>
          </p:cNvPicPr>
          <p:nvPr/>
        </p:nvPicPr>
        <p:blipFill>
          <a:blip r:embed="rId2"/>
          <a:stretch>
            <a:fillRect/>
          </a:stretch>
        </p:blipFill>
        <p:spPr>
          <a:xfrm>
            <a:off x="783609" y="2716117"/>
            <a:ext cx="6858000" cy="3800475"/>
          </a:xfrm>
          <a:prstGeom prst="rect">
            <a:avLst/>
          </a:prstGeom>
        </p:spPr>
      </p:pic>
    </p:spTree>
    <p:extLst>
      <p:ext uri="{BB962C8B-B14F-4D97-AF65-F5344CB8AC3E}">
        <p14:creationId xmlns:p14="http://schemas.microsoft.com/office/powerpoint/2010/main" val="1809608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D1B13-09EB-718A-51D6-927F9AC58F9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05BF0AE-D791-293D-2828-920A38E4E5EF}"/>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742A001F-54D7-0CC2-8FEC-A7DCB017E808}"/>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Step 2: Set Permissions on Your Private Key File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47B46CA-B662-937E-283F-2DBA41D4732F}"/>
              </a:ext>
            </a:extLst>
          </p:cNvPr>
          <p:cNvSpPr txBox="1"/>
          <p:nvPr/>
        </p:nvSpPr>
        <p:spPr>
          <a:xfrm>
            <a:off x="685801" y="1210865"/>
            <a:ext cx="8452484" cy="1231106"/>
          </a:xfrm>
          <a:prstGeom prst="rect">
            <a:avLst/>
          </a:prstGeom>
          <a:noFill/>
        </p:spPr>
        <p:txBody>
          <a:bodyPr wrap="square">
            <a:spAutoFit/>
          </a:bodyPr>
          <a:lstStyle/>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For secure access, SSH requires strict permissions on the private key file.</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Locate the key file: Open Finder, navigate to the directory where you saved the downloaded .</a:t>
            </a:r>
            <a:r>
              <a:rPr lang="en-US" b="0" i="0" dirty="0" err="1">
                <a:solidFill>
                  <a:srgbClr val="161616"/>
                </a:solidFill>
                <a:effectLst/>
                <a:latin typeface="Segoe UI" panose="020B0502040204020203" pitchFamily="34" charset="0"/>
              </a:rPr>
              <a:t>pem</a:t>
            </a:r>
            <a:r>
              <a:rPr lang="en-US" b="0" i="0" dirty="0">
                <a:solidFill>
                  <a:srgbClr val="161616"/>
                </a:solidFill>
                <a:effectLst/>
                <a:latin typeface="Segoe UI" panose="020B0502040204020203" pitchFamily="34" charset="0"/>
              </a:rPr>
              <a:t> file.</a:t>
            </a:r>
          </a:p>
        </p:txBody>
      </p:sp>
      <p:pic>
        <p:nvPicPr>
          <p:cNvPr id="8" name="Picture 7">
            <a:extLst>
              <a:ext uri="{FF2B5EF4-FFF2-40B4-BE49-F238E27FC236}">
                <a16:creationId xmlns:a16="http://schemas.microsoft.com/office/drawing/2014/main" id="{0C40095C-0543-F4D2-D56C-FEE808AA4D98}"/>
              </a:ext>
            </a:extLst>
          </p:cNvPr>
          <p:cNvPicPr>
            <a:picLocks noChangeAspect="1"/>
          </p:cNvPicPr>
          <p:nvPr/>
        </p:nvPicPr>
        <p:blipFill>
          <a:blip r:embed="rId2"/>
          <a:stretch>
            <a:fillRect/>
          </a:stretch>
        </p:blipFill>
        <p:spPr>
          <a:xfrm>
            <a:off x="685801" y="2450126"/>
            <a:ext cx="6858000" cy="4191000"/>
          </a:xfrm>
          <a:prstGeom prst="rect">
            <a:avLst/>
          </a:prstGeom>
        </p:spPr>
      </p:pic>
    </p:spTree>
    <p:extLst>
      <p:ext uri="{BB962C8B-B14F-4D97-AF65-F5344CB8AC3E}">
        <p14:creationId xmlns:p14="http://schemas.microsoft.com/office/powerpoint/2010/main" val="1016247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B5685-FE5F-D5B4-A9F0-9FD26F9F42B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78EBD58-5C11-AA50-D199-218CD4DF44CC}"/>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246609A0-5F97-8046-913B-0CCB9E31A8D2}"/>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Step 2: Set Permissions on Your Private Key File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8FF7A61-C09E-BB7B-E5DB-420DDD78B507}"/>
              </a:ext>
            </a:extLst>
          </p:cNvPr>
          <p:cNvSpPr txBox="1"/>
          <p:nvPr/>
        </p:nvSpPr>
        <p:spPr>
          <a:xfrm>
            <a:off x="685801" y="1210865"/>
            <a:ext cx="8452484" cy="2985433"/>
          </a:xfrm>
          <a:prstGeom prst="rect">
            <a:avLst/>
          </a:prstGeom>
          <a:noFill/>
        </p:spPr>
        <p:txBody>
          <a:bodyPr wrap="square">
            <a:spAutoFit/>
          </a:bodyPr>
          <a:lstStyle/>
          <a:p>
            <a:pPr algn="l">
              <a:spcBef>
                <a:spcPts val="1200"/>
              </a:spcBef>
              <a:spcAft>
                <a:spcPts val="1200"/>
              </a:spcAft>
            </a:pPr>
            <a:r>
              <a:rPr lang="en-US" b="0" i="0" dirty="0">
                <a:solidFill>
                  <a:srgbClr val="161616"/>
                </a:solidFill>
                <a:effectLst/>
                <a:latin typeface="Segoe UI" panose="020B0502040204020203" pitchFamily="34" charset="0"/>
              </a:rPr>
              <a:t>Set Permissions:</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Open Terminal on your MacBook.</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Use the </a:t>
            </a:r>
            <a:r>
              <a:rPr lang="en-US" b="0" i="0" dirty="0" err="1">
                <a:solidFill>
                  <a:srgbClr val="161616"/>
                </a:solidFill>
                <a:effectLst/>
                <a:latin typeface="Segoe UI" panose="020B0502040204020203" pitchFamily="34" charset="0"/>
              </a:rPr>
              <a:t>chmod</a:t>
            </a:r>
            <a:r>
              <a:rPr lang="en-US" b="0" i="0" dirty="0">
                <a:solidFill>
                  <a:srgbClr val="161616"/>
                </a:solidFill>
                <a:effectLst/>
                <a:latin typeface="Segoe UI" panose="020B0502040204020203" pitchFamily="34" charset="0"/>
              </a:rPr>
              <a:t> command to set secure permissions on the .</a:t>
            </a:r>
            <a:r>
              <a:rPr lang="en-US" b="0" i="0" dirty="0" err="1">
                <a:solidFill>
                  <a:srgbClr val="161616"/>
                </a:solidFill>
                <a:effectLst/>
                <a:latin typeface="Segoe UI" panose="020B0502040204020203" pitchFamily="34" charset="0"/>
              </a:rPr>
              <a:t>pem</a:t>
            </a:r>
            <a:r>
              <a:rPr lang="en-US" b="0" i="0" dirty="0">
                <a:solidFill>
                  <a:srgbClr val="161616"/>
                </a:solidFill>
                <a:effectLst/>
                <a:latin typeface="Segoe UI" panose="020B0502040204020203" pitchFamily="34" charset="0"/>
              </a:rPr>
              <a:t> file:</a:t>
            </a:r>
          </a:p>
          <a:p>
            <a:pPr algn="l">
              <a:spcBef>
                <a:spcPts val="1200"/>
              </a:spcBef>
              <a:spcAft>
                <a:spcPts val="1200"/>
              </a:spcAft>
            </a:pPr>
            <a:r>
              <a:rPr lang="en-US" b="0" i="0" dirty="0" err="1">
                <a:solidFill>
                  <a:srgbClr val="161616"/>
                </a:solidFill>
                <a:effectLst/>
                <a:highlight>
                  <a:srgbClr val="C0C0C0"/>
                </a:highlight>
                <a:latin typeface="Segoe UI" panose="020B0502040204020203" pitchFamily="34" charset="0"/>
              </a:rPr>
              <a:t>chmod</a:t>
            </a:r>
            <a:r>
              <a:rPr lang="en-US" b="0" i="0" dirty="0">
                <a:solidFill>
                  <a:srgbClr val="161616"/>
                </a:solidFill>
                <a:effectLst/>
                <a:highlight>
                  <a:srgbClr val="C0C0C0"/>
                </a:highlight>
                <a:latin typeface="Segoe UI" panose="020B0502040204020203" pitchFamily="34" charset="0"/>
              </a:rPr>
              <a:t> 400 /path/to/your-key-</a:t>
            </a:r>
            <a:r>
              <a:rPr lang="en-US" b="0" i="0" dirty="0" err="1">
                <a:solidFill>
                  <a:srgbClr val="161616"/>
                </a:solidFill>
                <a:effectLst/>
                <a:highlight>
                  <a:srgbClr val="C0C0C0"/>
                </a:highlight>
                <a:latin typeface="Segoe UI" panose="020B0502040204020203" pitchFamily="34" charset="0"/>
              </a:rPr>
              <a:t>name.pem</a:t>
            </a:r>
            <a:endParaRPr lang="en-US" b="0" i="0" dirty="0">
              <a:solidFill>
                <a:srgbClr val="161616"/>
              </a:solidFill>
              <a:effectLst/>
              <a:highlight>
                <a:srgbClr val="C0C0C0"/>
              </a:highlight>
              <a:latin typeface="Segoe UI" panose="020B0502040204020203" pitchFamily="34" charset="0"/>
            </a:endParaRPr>
          </a:p>
          <a:p>
            <a:pPr algn="l">
              <a:spcBef>
                <a:spcPts val="1200"/>
              </a:spcBef>
              <a:spcAft>
                <a:spcPts val="1200"/>
              </a:spcAft>
            </a:pPr>
            <a:r>
              <a:rPr lang="en-US" b="0" i="0" dirty="0">
                <a:solidFill>
                  <a:srgbClr val="161616"/>
                </a:solidFill>
                <a:effectLst/>
                <a:latin typeface="Segoe UI" panose="020B0502040204020203" pitchFamily="34" charset="0"/>
              </a:rPr>
              <a:t>Replace /path/to/your-key-</a:t>
            </a:r>
            <a:r>
              <a:rPr lang="en-US" b="0" i="0" dirty="0" err="1">
                <a:solidFill>
                  <a:srgbClr val="161616"/>
                </a:solidFill>
                <a:effectLst/>
                <a:latin typeface="Segoe UI" panose="020B0502040204020203" pitchFamily="34" charset="0"/>
              </a:rPr>
              <a:t>name.pem</a:t>
            </a:r>
            <a:r>
              <a:rPr lang="en-US" b="0" i="0" dirty="0">
                <a:solidFill>
                  <a:srgbClr val="161616"/>
                </a:solidFill>
                <a:effectLst/>
                <a:latin typeface="Segoe UI" panose="020B0502040204020203" pitchFamily="34" charset="0"/>
              </a:rPr>
              <a:t> with the full path to the downloaded key file.</a:t>
            </a:r>
          </a:p>
        </p:txBody>
      </p:sp>
    </p:spTree>
    <p:extLst>
      <p:ext uri="{BB962C8B-B14F-4D97-AF65-F5344CB8AC3E}">
        <p14:creationId xmlns:p14="http://schemas.microsoft.com/office/powerpoint/2010/main" val="809851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F5AE8-DC04-960C-3424-9390227EAE4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131C5E1-5989-B1B9-425D-4F3547BF3B08}"/>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04E11D5C-13D0-EC0D-91D8-4884C99260B5}"/>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Step 2: Set Permissions on Your Private Key File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4ED7EEA-CE0A-883F-DB39-A8988D440802}"/>
              </a:ext>
            </a:extLst>
          </p:cNvPr>
          <p:cNvSpPr txBox="1"/>
          <p:nvPr/>
        </p:nvSpPr>
        <p:spPr>
          <a:xfrm>
            <a:off x="685801" y="1210865"/>
            <a:ext cx="8452484" cy="646331"/>
          </a:xfrm>
          <a:prstGeom prst="rect">
            <a:avLst/>
          </a:prstGeom>
          <a:noFill/>
        </p:spPr>
        <p:txBody>
          <a:bodyPr wrap="square">
            <a:spAutoFit/>
          </a:bodyPr>
          <a:lstStyle/>
          <a:p>
            <a:pPr algn="l">
              <a:spcBef>
                <a:spcPts val="1200"/>
              </a:spcBef>
              <a:spcAft>
                <a:spcPts val="1200"/>
              </a:spcAft>
            </a:pPr>
            <a:r>
              <a:rPr lang="en-US" b="0" i="0" dirty="0">
                <a:solidFill>
                  <a:srgbClr val="161616"/>
                </a:solidFill>
                <a:effectLst/>
                <a:latin typeface="Segoe UI" panose="020B0502040204020203" pitchFamily="34" charset="0"/>
              </a:rPr>
              <a:t>OR Locate the key file: Open Finder, navigate to the directory where you saved the downloaded .</a:t>
            </a:r>
            <a:r>
              <a:rPr lang="en-US" b="0" i="0" dirty="0" err="1">
                <a:solidFill>
                  <a:srgbClr val="161616"/>
                </a:solidFill>
                <a:effectLst/>
                <a:latin typeface="Segoe UI" panose="020B0502040204020203" pitchFamily="34" charset="0"/>
              </a:rPr>
              <a:t>pem</a:t>
            </a:r>
            <a:r>
              <a:rPr lang="en-US" b="0" i="0" dirty="0">
                <a:solidFill>
                  <a:srgbClr val="161616"/>
                </a:solidFill>
                <a:effectLst/>
                <a:latin typeface="Segoe UI" panose="020B0502040204020203" pitchFamily="34" charset="0"/>
              </a:rPr>
              <a:t> file. Double click on the </a:t>
            </a:r>
            <a:r>
              <a:rPr lang="en-US" b="0" i="0" dirty="0" err="1">
                <a:solidFill>
                  <a:srgbClr val="161616"/>
                </a:solidFill>
                <a:effectLst/>
                <a:latin typeface="Segoe UI" panose="020B0502040204020203" pitchFamily="34" charset="0"/>
              </a:rPr>
              <a:t>fileand</a:t>
            </a:r>
            <a:r>
              <a:rPr lang="en-US" b="0" i="0" dirty="0">
                <a:solidFill>
                  <a:srgbClr val="161616"/>
                </a:solidFill>
                <a:effectLst/>
                <a:latin typeface="Segoe UI" panose="020B0502040204020203" pitchFamily="34" charset="0"/>
              </a:rPr>
              <a:t> click on “Get info”</a:t>
            </a:r>
          </a:p>
        </p:txBody>
      </p:sp>
      <p:pic>
        <p:nvPicPr>
          <p:cNvPr id="4" name="Picture 3">
            <a:extLst>
              <a:ext uri="{FF2B5EF4-FFF2-40B4-BE49-F238E27FC236}">
                <a16:creationId xmlns:a16="http://schemas.microsoft.com/office/drawing/2014/main" id="{FB028D02-E9F2-445F-A3BC-57362CAC9CB7}"/>
              </a:ext>
            </a:extLst>
          </p:cNvPr>
          <p:cNvPicPr>
            <a:picLocks noChangeAspect="1"/>
          </p:cNvPicPr>
          <p:nvPr/>
        </p:nvPicPr>
        <p:blipFill>
          <a:blip r:embed="rId2"/>
          <a:stretch>
            <a:fillRect/>
          </a:stretch>
        </p:blipFill>
        <p:spPr>
          <a:xfrm>
            <a:off x="865495" y="2089236"/>
            <a:ext cx="6858000" cy="4200525"/>
          </a:xfrm>
          <a:prstGeom prst="rect">
            <a:avLst/>
          </a:prstGeom>
        </p:spPr>
      </p:pic>
    </p:spTree>
    <p:extLst>
      <p:ext uri="{BB962C8B-B14F-4D97-AF65-F5344CB8AC3E}">
        <p14:creationId xmlns:p14="http://schemas.microsoft.com/office/powerpoint/2010/main" val="2342406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0C920-7ACE-E1BB-A989-C621F98F98D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533541D-F4A4-8A54-62D0-D7273BCD6FFA}"/>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8EE7FEB6-5D88-3F57-2668-50509A40FB95}"/>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Step 2: Set Permissions on Your Private Key File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EF917AB-C740-7140-E169-98FCCF5239E1}"/>
              </a:ext>
            </a:extLst>
          </p:cNvPr>
          <p:cNvSpPr txBox="1"/>
          <p:nvPr/>
        </p:nvSpPr>
        <p:spPr>
          <a:xfrm>
            <a:off x="685801" y="1210865"/>
            <a:ext cx="8452484" cy="923330"/>
          </a:xfrm>
          <a:prstGeom prst="rect">
            <a:avLst/>
          </a:prstGeom>
          <a:noFill/>
        </p:spPr>
        <p:txBody>
          <a:bodyPr wrap="square">
            <a:spAutoFit/>
          </a:bodyPr>
          <a:lstStyle/>
          <a:p>
            <a:pPr algn="l">
              <a:spcBef>
                <a:spcPts val="1200"/>
              </a:spcBef>
              <a:spcAft>
                <a:spcPts val="1200"/>
              </a:spcAft>
            </a:pPr>
            <a:r>
              <a:rPr lang="en-US" b="0" i="0" dirty="0">
                <a:solidFill>
                  <a:srgbClr val="161616"/>
                </a:solidFill>
                <a:effectLst/>
                <a:latin typeface="Segoe UI" panose="020B0502040204020203" pitchFamily="34" charset="0"/>
              </a:rPr>
              <a:t>Set Permissions: When the file info is open. Click on the key image to make changes to the file. Enter required password or your fingerprint so that you can change permissions to the file.</a:t>
            </a:r>
          </a:p>
        </p:txBody>
      </p:sp>
      <p:pic>
        <p:nvPicPr>
          <p:cNvPr id="6" name="Picture 5">
            <a:extLst>
              <a:ext uri="{FF2B5EF4-FFF2-40B4-BE49-F238E27FC236}">
                <a16:creationId xmlns:a16="http://schemas.microsoft.com/office/drawing/2014/main" id="{EA818F2F-139C-F87E-6C96-7FC5DFBA580C}"/>
              </a:ext>
            </a:extLst>
          </p:cNvPr>
          <p:cNvPicPr>
            <a:picLocks noChangeAspect="1"/>
          </p:cNvPicPr>
          <p:nvPr/>
        </p:nvPicPr>
        <p:blipFill>
          <a:blip r:embed="rId2"/>
          <a:stretch>
            <a:fillRect/>
          </a:stretch>
        </p:blipFill>
        <p:spPr>
          <a:xfrm>
            <a:off x="797256" y="2366235"/>
            <a:ext cx="6858000" cy="4229100"/>
          </a:xfrm>
          <a:prstGeom prst="rect">
            <a:avLst/>
          </a:prstGeom>
        </p:spPr>
      </p:pic>
    </p:spTree>
    <p:extLst>
      <p:ext uri="{BB962C8B-B14F-4D97-AF65-F5344CB8AC3E}">
        <p14:creationId xmlns:p14="http://schemas.microsoft.com/office/powerpoint/2010/main" val="3164175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C742-AD05-4047-3316-2208E32E701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52803DC-2C7B-9B05-E1DC-0BB2027EBCCE}"/>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6312CE42-0F27-7F4B-949E-D8CE339089DE}"/>
              </a:ext>
            </a:extLst>
          </p:cNvPr>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Aptos" panose="020B0004020202020204" pitchFamily="34" charset="0"/>
                <a:cs typeface="Times New Roman" panose="02020603050405020304" pitchFamily="18" charset="0"/>
              </a:rPr>
              <a:t>Step 2: Set Permissions on Your Private Key File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5A9E71F0-4A97-0B0D-7087-A6DF1E7AB8A4}"/>
              </a:ext>
            </a:extLst>
          </p:cNvPr>
          <p:cNvSpPr txBox="1"/>
          <p:nvPr/>
        </p:nvSpPr>
        <p:spPr>
          <a:xfrm>
            <a:off x="685801" y="1210865"/>
            <a:ext cx="8452484" cy="923330"/>
          </a:xfrm>
          <a:prstGeom prst="rect">
            <a:avLst/>
          </a:prstGeom>
          <a:noFill/>
        </p:spPr>
        <p:txBody>
          <a:bodyPr wrap="square">
            <a:spAutoFit/>
          </a:bodyPr>
          <a:lstStyle/>
          <a:p>
            <a:pPr algn="l">
              <a:spcBef>
                <a:spcPts val="1200"/>
              </a:spcBef>
              <a:spcAft>
                <a:spcPts val="1200"/>
              </a:spcAft>
            </a:pPr>
            <a:r>
              <a:rPr lang="en-US" b="0" i="0">
                <a:solidFill>
                  <a:srgbClr val="161616"/>
                </a:solidFill>
                <a:effectLst/>
                <a:latin typeface="Segoe UI" panose="020B0502040204020203" pitchFamily="34" charset="0"/>
              </a:rPr>
              <a:t>Once permissions is granted, remove “staff” by clicking on it and then on the — sign. Then set “everyone” privilege to “ No Access”, click on the lock key to perfect changes. Once done it should be like whats in the image below.</a:t>
            </a:r>
            <a:endParaRPr lang="en-US" b="0" i="0" dirty="0">
              <a:solidFill>
                <a:srgbClr val="161616"/>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C17DA548-A7F7-76CF-54E5-C4D8380463CD}"/>
              </a:ext>
            </a:extLst>
          </p:cNvPr>
          <p:cNvPicPr>
            <a:picLocks noChangeAspect="1"/>
          </p:cNvPicPr>
          <p:nvPr/>
        </p:nvPicPr>
        <p:blipFill>
          <a:blip r:embed="rId2"/>
          <a:stretch>
            <a:fillRect/>
          </a:stretch>
        </p:blipFill>
        <p:spPr>
          <a:xfrm>
            <a:off x="797256" y="2134195"/>
            <a:ext cx="6858000" cy="4181475"/>
          </a:xfrm>
          <a:prstGeom prst="rect">
            <a:avLst/>
          </a:prstGeom>
        </p:spPr>
      </p:pic>
    </p:spTree>
    <p:extLst>
      <p:ext uri="{BB962C8B-B14F-4D97-AF65-F5344CB8AC3E}">
        <p14:creationId xmlns:p14="http://schemas.microsoft.com/office/powerpoint/2010/main" val="510500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4035A-9300-E313-FB03-33191809230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C7AB7EF-F0CE-8C75-E4AA-3679C9FD9F4B}"/>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643CBFAC-D2B5-1054-A229-B0A8D3EB6CAA}"/>
              </a:ext>
            </a:extLst>
          </p:cNvPr>
          <p:cNvSpPr txBox="1"/>
          <p:nvPr/>
        </p:nvSpPr>
        <p:spPr>
          <a:xfrm>
            <a:off x="685801" y="537614"/>
            <a:ext cx="10700183" cy="906274"/>
          </a:xfrm>
          <a:prstGeom prst="rect">
            <a:avLst/>
          </a:prstGeom>
        </p:spPr>
        <p:txBody>
          <a:bodyPr lIns="0" tIns="0" rIns="0" bIns="0" rtlCol="0" anchor="t">
            <a:spAutoFit/>
          </a:bodyPr>
          <a:lstStyle/>
          <a:p>
            <a:pPr>
              <a:lnSpc>
                <a:spcPct val="107000"/>
              </a:lnSpc>
            </a:pPr>
            <a:r>
              <a:rPr lang="en-US" sz="2800" b="1" i="0" dirty="0">
                <a:solidFill>
                  <a:srgbClr val="242424"/>
                </a:solidFill>
                <a:effectLst/>
                <a:latin typeface="sohne"/>
              </a:rPr>
              <a:t>Step 3: </a:t>
            </a:r>
            <a:r>
              <a:rPr lang="en-US" sz="2400" b="1" i="0" dirty="0">
                <a:solidFill>
                  <a:srgbClr val="242424"/>
                </a:solidFill>
                <a:effectLst/>
                <a:latin typeface="sohne"/>
              </a:rPr>
              <a:t>Connect to Your Linux VM Using the Azure-Generated SSH Key Pair</a:t>
            </a:r>
          </a:p>
          <a:p>
            <a:pPr marL="0" marR="0">
              <a:lnSpc>
                <a:spcPct val="107000"/>
              </a:lnSpc>
              <a:spcBef>
                <a:spcPts val="0"/>
              </a:spcBef>
              <a:spcAft>
                <a:spcPts val="0"/>
              </a:spcAft>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F694011-53E9-30DE-FDAD-A3825DD56A7B}"/>
              </a:ext>
            </a:extLst>
          </p:cNvPr>
          <p:cNvSpPr txBox="1"/>
          <p:nvPr/>
        </p:nvSpPr>
        <p:spPr>
          <a:xfrm>
            <a:off x="685801" y="990751"/>
            <a:ext cx="8452484" cy="2092881"/>
          </a:xfrm>
          <a:prstGeom prst="rect">
            <a:avLst/>
          </a:prstGeom>
          <a:noFill/>
        </p:spPr>
        <p:txBody>
          <a:bodyPr wrap="square">
            <a:spAutoFit/>
          </a:bodyPr>
          <a:lstStyle/>
          <a:p>
            <a:pPr algn="l">
              <a:spcBef>
                <a:spcPts val="1200"/>
              </a:spcBef>
              <a:spcAft>
                <a:spcPts val="1200"/>
              </a:spcAft>
            </a:pPr>
            <a:r>
              <a:rPr lang="en-US" b="0" i="0" dirty="0">
                <a:solidFill>
                  <a:srgbClr val="161616"/>
                </a:solidFill>
                <a:effectLst/>
                <a:latin typeface="Segoe UI" panose="020B0502040204020203" pitchFamily="34" charset="0"/>
              </a:rPr>
              <a:t>Now that your VM is set up, connect to it using the private key file Azure provided.</a:t>
            </a:r>
          </a:p>
          <a:p>
            <a:pPr algn="l">
              <a:spcBef>
                <a:spcPts val="1200"/>
              </a:spcBef>
              <a:spcAft>
                <a:spcPts val="1200"/>
              </a:spcAft>
            </a:pPr>
            <a:r>
              <a:rPr lang="en-US" b="0" i="0" dirty="0">
                <a:solidFill>
                  <a:srgbClr val="161616"/>
                </a:solidFill>
                <a:effectLst/>
                <a:latin typeface="Segoe UI" panose="020B0502040204020203" pitchFamily="34" charset="0"/>
              </a:rPr>
              <a:t>1.Get the Public IP Address:</a:t>
            </a:r>
          </a:p>
          <a:p>
            <a:pPr algn="l">
              <a:spcBef>
                <a:spcPts val="1200"/>
              </a:spcBef>
              <a:spcAft>
                <a:spcPts val="1200"/>
              </a:spcAft>
            </a:pPr>
            <a:r>
              <a:rPr lang="en-US" b="0" i="0" dirty="0">
                <a:solidFill>
                  <a:srgbClr val="161616"/>
                </a:solidFill>
                <a:effectLst/>
                <a:latin typeface="Segoe UI" panose="020B0502040204020203" pitchFamily="34" charset="0"/>
              </a:rPr>
              <a:t>In the Azure portal, go to your VM’s overview page, and copy the public IP address.</a:t>
            </a:r>
          </a:p>
        </p:txBody>
      </p:sp>
      <p:pic>
        <p:nvPicPr>
          <p:cNvPr id="10" name="Picture 9">
            <a:extLst>
              <a:ext uri="{FF2B5EF4-FFF2-40B4-BE49-F238E27FC236}">
                <a16:creationId xmlns:a16="http://schemas.microsoft.com/office/drawing/2014/main" id="{5F9A2BE3-2915-084F-2E37-73DF33ECF006}"/>
              </a:ext>
            </a:extLst>
          </p:cNvPr>
          <p:cNvPicPr>
            <a:picLocks noChangeAspect="1"/>
          </p:cNvPicPr>
          <p:nvPr/>
        </p:nvPicPr>
        <p:blipFill>
          <a:blip r:embed="rId2"/>
          <a:stretch>
            <a:fillRect/>
          </a:stretch>
        </p:blipFill>
        <p:spPr>
          <a:xfrm>
            <a:off x="685801" y="3083632"/>
            <a:ext cx="7783642" cy="3774368"/>
          </a:xfrm>
          <a:prstGeom prst="rect">
            <a:avLst/>
          </a:prstGeom>
        </p:spPr>
      </p:pic>
    </p:spTree>
    <p:extLst>
      <p:ext uri="{BB962C8B-B14F-4D97-AF65-F5344CB8AC3E}">
        <p14:creationId xmlns:p14="http://schemas.microsoft.com/office/powerpoint/2010/main" val="1653182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BBB17-48B9-3012-362C-F02B4B5C059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243B29F-C7DA-6A7C-4465-5A1E42796630}"/>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76C38068-D332-1408-B688-866CA0E5C385}"/>
              </a:ext>
            </a:extLst>
          </p:cNvPr>
          <p:cNvSpPr txBox="1"/>
          <p:nvPr/>
        </p:nvSpPr>
        <p:spPr>
          <a:xfrm>
            <a:off x="685801" y="537614"/>
            <a:ext cx="10700183" cy="840423"/>
          </a:xfrm>
          <a:prstGeom prst="rect">
            <a:avLst/>
          </a:prstGeom>
        </p:spPr>
        <p:txBody>
          <a:bodyPr lIns="0" tIns="0" rIns="0" bIns="0" rtlCol="0" anchor="t">
            <a:spAutoFit/>
          </a:bodyPr>
          <a:lstStyle/>
          <a:p>
            <a:pPr>
              <a:lnSpc>
                <a:spcPct val="107000"/>
              </a:lnSpc>
            </a:pPr>
            <a:r>
              <a:rPr lang="en-US" sz="2400" b="1" i="0" dirty="0">
                <a:solidFill>
                  <a:srgbClr val="242424"/>
                </a:solidFill>
                <a:effectLst/>
                <a:latin typeface="source-serif-pro"/>
              </a:rPr>
              <a:t>2.Connect via SSH</a:t>
            </a:r>
            <a:r>
              <a:rPr lang="en-US" sz="2400" b="0" i="0" dirty="0">
                <a:solidFill>
                  <a:srgbClr val="242424"/>
                </a:solidFill>
                <a:effectLst/>
                <a:latin typeface="source-serif-pro"/>
              </a:rPr>
              <a:t>:</a:t>
            </a:r>
            <a:endParaRPr lang="en-US" sz="2400" b="1" i="0" dirty="0">
              <a:solidFill>
                <a:srgbClr val="242424"/>
              </a:solidFill>
              <a:effectLst/>
              <a:latin typeface="sohne"/>
            </a:endParaRPr>
          </a:p>
          <a:p>
            <a:pPr marL="0" marR="0">
              <a:lnSpc>
                <a:spcPct val="107000"/>
              </a:lnSpc>
              <a:spcBef>
                <a:spcPts val="0"/>
              </a:spcBef>
              <a:spcAft>
                <a:spcPts val="0"/>
              </a:spcAft>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F53B85C-EB5B-90D6-1569-894E76451F61}"/>
              </a:ext>
            </a:extLst>
          </p:cNvPr>
          <p:cNvSpPr txBox="1"/>
          <p:nvPr/>
        </p:nvSpPr>
        <p:spPr>
          <a:xfrm>
            <a:off x="685801" y="990751"/>
            <a:ext cx="8452484" cy="646331"/>
          </a:xfrm>
          <a:prstGeom prst="rect">
            <a:avLst/>
          </a:prstGeom>
          <a:noFill/>
        </p:spPr>
        <p:txBody>
          <a:bodyPr wrap="square">
            <a:spAutoFit/>
          </a:bodyPr>
          <a:lstStyle/>
          <a:p>
            <a:pPr algn="l">
              <a:spcBef>
                <a:spcPts val="1200"/>
              </a:spcBef>
              <a:spcAft>
                <a:spcPts val="1200"/>
              </a:spcAft>
            </a:pPr>
            <a:r>
              <a:rPr lang="en-US" b="0" i="0">
                <a:solidFill>
                  <a:srgbClr val="161616"/>
                </a:solidFill>
                <a:effectLst/>
                <a:latin typeface="Segoe UI" panose="020B0502040204020203" pitchFamily="34" charset="0"/>
              </a:rPr>
              <a:t>Open your terminal and run the SSH command with the path to your private key file:</a:t>
            </a:r>
            <a:endParaRPr lang="en-US" b="0" i="0" dirty="0">
              <a:solidFill>
                <a:srgbClr val="161616"/>
              </a:solidFill>
              <a:effectLst/>
              <a:latin typeface="Segoe UI" panose="020B0502040204020203" pitchFamily="34" charset="0"/>
            </a:endParaRPr>
          </a:p>
        </p:txBody>
      </p:sp>
      <p:pic>
        <p:nvPicPr>
          <p:cNvPr id="6" name="Picture 5">
            <a:extLst>
              <a:ext uri="{FF2B5EF4-FFF2-40B4-BE49-F238E27FC236}">
                <a16:creationId xmlns:a16="http://schemas.microsoft.com/office/drawing/2014/main" id="{27656456-7521-0300-C81F-7F8A7337D038}"/>
              </a:ext>
            </a:extLst>
          </p:cNvPr>
          <p:cNvPicPr>
            <a:picLocks noChangeAspect="1"/>
          </p:cNvPicPr>
          <p:nvPr/>
        </p:nvPicPr>
        <p:blipFill>
          <a:blip r:embed="rId2"/>
          <a:stretch>
            <a:fillRect/>
          </a:stretch>
        </p:blipFill>
        <p:spPr>
          <a:xfrm>
            <a:off x="685801" y="1997688"/>
            <a:ext cx="6591300" cy="904875"/>
          </a:xfrm>
          <a:prstGeom prst="rect">
            <a:avLst/>
          </a:prstGeom>
        </p:spPr>
      </p:pic>
      <p:pic>
        <p:nvPicPr>
          <p:cNvPr id="8" name="Picture 7">
            <a:extLst>
              <a:ext uri="{FF2B5EF4-FFF2-40B4-BE49-F238E27FC236}">
                <a16:creationId xmlns:a16="http://schemas.microsoft.com/office/drawing/2014/main" id="{3C7FC855-8728-FB64-BDE9-14CF2BFDC8FE}"/>
              </a:ext>
            </a:extLst>
          </p:cNvPr>
          <p:cNvPicPr>
            <a:picLocks noChangeAspect="1"/>
          </p:cNvPicPr>
          <p:nvPr/>
        </p:nvPicPr>
        <p:blipFill>
          <a:blip r:embed="rId3"/>
          <a:stretch>
            <a:fillRect/>
          </a:stretch>
        </p:blipFill>
        <p:spPr>
          <a:xfrm>
            <a:off x="752476" y="3137634"/>
            <a:ext cx="6457950" cy="1838325"/>
          </a:xfrm>
          <a:prstGeom prst="rect">
            <a:avLst/>
          </a:prstGeom>
        </p:spPr>
      </p:pic>
    </p:spTree>
    <p:extLst>
      <p:ext uri="{BB962C8B-B14F-4D97-AF65-F5344CB8AC3E}">
        <p14:creationId xmlns:p14="http://schemas.microsoft.com/office/powerpoint/2010/main" val="1309809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2D82C-1E48-EEFB-8166-FA9B07CB28D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28F49E0-BD42-CD92-A85F-75FA68D38AC9}"/>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8BA7FEE9-CC99-B802-9510-82C51F9106B3}"/>
              </a:ext>
            </a:extLst>
          </p:cNvPr>
          <p:cNvSpPr txBox="1"/>
          <p:nvPr/>
        </p:nvSpPr>
        <p:spPr>
          <a:xfrm>
            <a:off x="685801" y="537614"/>
            <a:ext cx="10700183" cy="840423"/>
          </a:xfrm>
          <a:prstGeom prst="rect">
            <a:avLst/>
          </a:prstGeom>
        </p:spPr>
        <p:txBody>
          <a:bodyPr lIns="0" tIns="0" rIns="0" bIns="0" rtlCol="0" anchor="t">
            <a:spAutoFit/>
          </a:bodyPr>
          <a:lstStyle/>
          <a:p>
            <a:pPr>
              <a:lnSpc>
                <a:spcPct val="107000"/>
              </a:lnSpc>
            </a:pPr>
            <a:r>
              <a:rPr lang="en-US" sz="2400" b="1" i="0" dirty="0">
                <a:solidFill>
                  <a:srgbClr val="242424"/>
                </a:solidFill>
                <a:effectLst/>
                <a:latin typeface="source-serif-pro"/>
              </a:rPr>
              <a:t>2.Connect via SSH</a:t>
            </a:r>
            <a:r>
              <a:rPr lang="en-US" sz="2400" b="0" i="0" dirty="0">
                <a:solidFill>
                  <a:srgbClr val="242424"/>
                </a:solidFill>
                <a:effectLst/>
                <a:latin typeface="source-serif-pro"/>
              </a:rPr>
              <a:t>:</a:t>
            </a:r>
            <a:endParaRPr lang="en-US" sz="2400" b="1" i="0" dirty="0">
              <a:solidFill>
                <a:srgbClr val="242424"/>
              </a:solidFill>
              <a:effectLst/>
              <a:latin typeface="sohne"/>
            </a:endParaRPr>
          </a:p>
          <a:p>
            <a:pPr marL="0" marR="0">
              <a:lnSpc>
                <a:spcPct val="107000"/>
              </a:lnSpc>
              <a:spcBef>
                <a:spcPts val="0"/>
              </a:spcBef>
              <a:spcAft>
                <a:spcPts val="0"/>
              </a:spcAft>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D20E9DBF-2BBA-7B11-A900-B83ABD575F36}"/>
              </a:ext>
            </a:extLst>
          </p:cNvPr>
          <p:cNvPicPr>
            <a:picLocks noChangeAspect="1"/>
          </p:cNvPicPr>
          <p:nvPr/>
        </p:nvPicPr>
        <p:blipFill>
          <a:blip r:embed="rId2"/>
          <a:stretch>
            <a:fillRect/>
          </a:stretch>
        </p:blipFill>
        <p:spPr>
          <a:xfrm>
            <a:off x="685801" y="1132939"/>
            <a:ext cx="6858000" cy="4248150"/>
          </a:xfrm>
          <a:prstGeom prst="rect">
            <a:avLst/>
          </a:prstGeom>
        </p:spPr>
      </p:pic>
    </p:spTree>
    <p:extLst>
      <p:ext uri="{BB962C8B-B14F-4D97-AF65-F5344CB8AC3E}">
        <p14:creationId xmlns:p14="http://schemas.microsoft.com/office/powerpoint/2010/main" val="2477162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B69D4-D3B7-8C03-5D40-5420A70269B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8D34635-F701-460D-5174-5960CE73EABF}"/>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6" name="TextBox 5">
            <a:extLst>
              <a:ext uri="{FF2B5EF4-FFF2-40B4-BE49-F238E27FC236}">
                <a16:creationId xmlns:a16="http://schemas.microsoft.com/office/drawing/2014/main" id="{A1A34C96-B9F0-3360-A0D1-882FB0B58F9F}"/>
              </a:ext>
            </a:extLst>
          </p:cNvPr>
          <p:cNvSpPr txBox="1"/>
          <p:nvPr/>
        </p:nvSpPr>
        <p:spPr>
          <a:xfrm>
            <a:off x="685801" y="489077"/>
            <a:ext cx="8454786" cy="2308324"/>
          </a:xfrm>
          <a:prstGeom prst="rect">
            <a:avLst/>
          </a:prstGeom>
          <a:noFill/>
        </p:spPr>
        <p:txBody>
          <a:bodyPr wrap="square">
            <a:spAutoFit/>
          </a:bodyPr>
          <a:lstStyle/>
          <a:p>
            <a:r>
              <a:rPr lang="en-US" dirty="0"/>
              <a:t>3.Accept the Connection:</a:t>
            </a:r>
          </a:p>
          <a:p>
            <a:endParaRPr lang="en-US" dirty="0"/>
          </a:p>
          <a:p>
            <a:r>
              <a:rPr lang="en-US" dirty="0"/>
              <a:t>The first time you connect, SSH will prompt you to confirm the authenticity of the host. Type yes and press Enter.</a:t>
            </a:r>
          </a:p>
          <a:p>
            <a:endParaRPr lang="en-US" dirty="0"/>
          </a:p>
          <a:p>
            <a:r>
              <a:rPr lang="en-US" dirty="0"/>
              <a:t>4.Passphrase (if set):</a:t>
            </a:r>
          </a:p>
          <a:p>
            <a:endParaRPr lang="en-US" dirty="0"/>
          </a:p>
          <a:p>
            <a:r>
              <a:rPr lang="en-US" dirty="0"/>
              <a:t>If you set a passphrase on the private key, enter it when prompted.</a:t>
            </a:r>
          </a:p>
        </p:txBody>
      </p:sp>
      <p:sp>
        <p:nvSpPr>
          <p:cNvPr id="8" name="TextBox 7">
            <a:extLst>
              <a:ext uri="{FF2B5EF4-FFF2-40B4-BE49-F238E27FC236}">
                <a16:creationId xmlns:a16="http://schemas.microsoft.com/office/drawing/2014/main" id="{2666493A-7F22-4238-154B-E3CAD7A9A06B}"/>
              </a:ext>
            </a:extLst>
          </p:cNvPr>
          <p:cNvSpPr txBox="1"/>
          <p:nvPr/>
        </p:nvSpPr>
        <p:spPr>
          <a:xfrm>
            <a:off x="685801" y="3105834"/>
            <a:ext cx="6093724" cy="646331"/>
          </a:xfrm>
          <a:prstGeom prst="rect">
            <a:avLst/>
          </a:prstGeom>
          <a:noFill/>
        </p:spPr>
        <p:txBody>
          <a:bodyPr wrap="square">
            <a:spAutoFit/>
          </a:bodyPr>
          <a:lstStyle/>
          <a:p>
            <a:r>
              <a:rPr lang="en-US" dirty="0"/>
              <a:t>Congratulations! You are now connected to your Linux VM using the Azure-generated SSH key pair.</a:t>
            </a:r>
          </a:p>
        </p:txBody>
      </p:sp>
      <p:pic>
        <p:nvPicPr>
          <p:cNvPr id="9" name="Picture 8">
            <a:extLst>
              <a:ext uri="{FF2B5EF4-FFF2-40B4-BE49-F238E27FC236}">
                <a16:creationId xmlns:a16="http://schemas.microsoft.com/office/drawing/2014/main" id="{001CC073-423F-2DEB-7016-074A4BE134A1}"/>
              </a:ext>
            </a:extLst>
          </p:cNvPr>
          <p:cNvPicPr>
            <a:picLocks noChangeAspect="1"/>
          </p:cNvPicPr>
          <p:nvPr/>
        </p:nvPicPr>
        <p:blipFill>
          <a:blip r:embed="rId2"/>
          <a:stretch>
            <a:fillRect/>
          </a:stretch>
        </p:blipFill>
        <p:spPr>
          <a:xfrm>
            <a:off x="781336" y="3951563"/>
            <a:ext cx="5699078" cy="2666317"/>
          </a:xfrm>
          <a:prstGeom prst="rect">
            <a:avLst/>
          </a:prstGeom>
        </p:spPr>
      </p:pic>
    </p:spTree>
    <p:extLst>
      <p:ext uri="{BB962C8B-B14F-4D97-AF65-F5344CB8AC3E}">
        <p14:creationId xmlns:p14="http://schemas.microsoft.com/office/powerpoint/2010/main" val="3959189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E0698-D76C-1438-3960-45187FD8985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643C13B-5CFB-7A79-DE63-950BD71D027B}"/>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71A3586B-AE81-31EF-1804-1CCDA201D750}"/>
              </a:ext>
            </a:extLst>
          </p:cNvPr>
          <p:cNvSpPr txBox="1"/>
          <p:nvPr/>
        </p:nvSpPr>
        <p:spPr>
          <a:xfrm>
            <a:off x="685801" y="537614"/>
            <a:ext cx="10700183" cy="1235595"/>
          </a:xfrm>
          <a:prstGeom prst="rect">
            <a:avLst/>
          </a:prstGeom>
        </p:spPr>
        <p:txBody>
          <a:bodyPr lIns="0" tIns="0" rIns="0" bIns="0" rtlCol="0" anchor="t">
            <a:spAutoFit/>
          </a:bodyPr>
          <a:lstStyle/>
          <a:p>
            <a:pPr>
              <a:lnSpc>
                <a:spcPct val="107000"/>
              </a:lnSpc>
            </a:pPr>
            <a:r>
              <a:rPr lang="en-US" sz="2400" b="1" i="0" dirty="0">
                <a:solidFill>
                  <a:srgbClr val="242424"/>
                </a:solidFill>
                <a:effectLst/>
                <a:latin typeface="sohne"/>
              </a:rPr>
              <a:t>Additional Tips</a:t>
            </a:r>
          </a:p>
          <a:p>
            <a:pPr>
              <a:lnSpc>
                <a:spcPct val="107000"/>
              </a:lnSpc>
            </a:pPr>
            <a:endParaRPr lang="en-US" sz="2400" b="1" i="0" dirty="0">
              <a:solidFill>
                <a:srgbClr val="242424"/>
              </a:solidFill>
              <a:effectLst/>
              <a:latin typeface="sohne"/>
            </a:endParaRPr>
          </a:p>
          <a:p>
            <a:pPr marL="0" marR="0">
              <a:lnSpc>
                <a:spcPct val="107000"/>
              </a:lnSpc>
              <a:spcBef>
                <a:spcPts val="0"/>
              </a:spcBef>
              <a:spcAft>
                <a:spcPts val="0"/>
              </a:spcAft>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0C17EC0A-D585-7380-AEB0-8925A7D665BB}"/>
              </a:ext>
            </a:extLst>
          </p:cNvPr>
          <p:cNvSpPr txBox="1"/>
          <p:nvPr/>
        </p:nvSpPr>
        <p:spPr>
          <a:xfrm>
            <a:off x="685800" y="1397675"/>
            <a:ext cx="9277065" cy="1754326"/>
          </a:xfrm>
          <a:prstGeom prst="rect">
            <a:avLst/>
          </a:prstGeom>
          <a:noFill/>
        </p:spPr>
        <p:txBody>
          <a:bodyPr wrap="square">
            <a:spAutoFit/>
          </a:bodyPr>
          <a:lstStyle/>
          <a:p>
            <a:r>
              <a:rPr lang="en-US" dirty="0"/>
              <a:t>Download the Key File Once: Remember that Azure only provides the private key file at creation time. If you lose it, you may need to reset the SSH configuration on the VM or generate a new key pair.</a:t>
            </a:r>
          </a:p>
          <a:p>
            <a:endParaRPr lang="en-US" dirty="0"/>
          </a:p>
          <a:p>
            <a:r>
              <a:rPr lang="en-US" dirty="0"/>
              <a:t>Manage SSH Connections: You can simplify your SSH connection using an SSH config file. Open the SSH config file in your terminal:</a:t>
            </a:r>
          </a:p>
        </p:txBody>
      </p:sp>
      <p:pic>
        <p:nvPicPr>
          <p:cNvPr id="8" name="Picture 7">
            <a:extLst>
              <a:ext uri="{FF2B5EF4-FFF2-40B4-BE49-F238E27FC236}">
                <a16:creationId xmlns:a16="http://schemas.microsoft.com/office/drawing/2014/main" id="{46A04941-2F89-CFCC-5F04-092BDFBDDC91}"/>
              </a:ext>
            </a:extLst>
          </p:cNvPr>
          <p:cNvPicPr>
            <a:picLocks noChangeAspect="1"/>
          </p:cNvPicPr>
          <p:nvPr/>
        </p:nvPicPr>
        <p:blipFill>
          <a:blip r:embed="rId2"/>
          <a:stretch>
            <a:fillRect/>
          </a:stretch>
        </p:blipFill>
        <p:spPr>
          <a:xfrm>
            <a:off x="785457" y="3429000"/>
            <a:ext cx="2407448" cy="583062"/>
          </a:xfrm>
          <a:prstGeom prst="rect">
            <a:avLst/>
          </a:prstGeom>
        </p:spPr>
      </p:pic>
      <p:sp>
        <p:nvSpPr>
          <p:cNvPr id="10" name="TextBox 9">
            <a:extLst>
              <a:ext uri="{FF2B5EF4-FFF2-40B4-BE49-F238E27FC236}">
                <a16:creationId xmlns:a16="http://schemas.microsoft.com/office/drawing/2014/main" id="{F6EEB6A7-4E7C-B372-84E7-0C79754F000A}"/>
              </a:ext>
            </a:extLst>
          </p:cNvPr>
          <p:cNvSpPr txBox="1"/>
          <p:nvPr/>
        </p:nvSpPr>
        <p:spPr>
          <a:xfrm>
            <a:off x="785457" y="4307416"/>
            <a:ext cx="6093724" cy="369332"/>
          </a:xfrm>
          <a:prstGeom prst="rect">
            <a:avLst/>
          </a:prstGeom>
          <a:noFill/>
        </p:spPr>
        <p:txBody>
          <a:bodyPr wrap="square">
            <a:spAutoFit/>
          </a:bodyPr>
          <a:lstStyle/>
          <a:p>
            <a:r>
              <a:rPr lang="en-US" dirty="0"/>
              <a:t>Add an entry to simplify your SSH command:</a:t>
            </a:r>
          </a:p>
        </p:txBody>
      </p:sp>
      <p:pic>
        <p:nvPicPr>
          <p:cNvPr id="12" name="Picture 11">
            <a:extLst>
              <a:ext uri="{FF2B5EF4-FFF2-40B4-BE49-F238E27FC236}">
                <a16:creationId xmlns:a16="http://schemas.microsoft.com/office/drawing/2014/main" id="{20CB5C80-6C19-C5A1-0B18-550F2D7E4188}"/>
              </a:ext>
            </a:extLst>
          </p:cNvPr>
          <p:cNvPicPr>
            <a:picLocks noChangeAspect="1"/>
          </p:cNvPicPr>
          <p:nvPr/>
        </p:nvPicPr>
        <p:blipFill>
          <a:blip r:embed="rId3"/>
          <a:stretch>
            <a:fillRect/>
          </a:stretch>
        </p:blipFill>
        <p:spPr>
          <a:xfrm>
            <a:off x="908927" y="4945975"/>
            <a:ext cx="4659360" cy="1168222"/>
          </a:xfrm>
          <a:prstGeom prst="rect">
            <a:avLst/>
          </a:prstGeom>
        </p:spPr>
      </p:pic>
    </p:spTree>
    <p:extLst>
      <p:ext uri="{BB962C8B-B14F-4D97-AF65-F5344CB8AC3E}">
        <p14:creationId xmlns:p14="http://schemas.microsoft.com/office/powerpoint/2010/main" val="1844411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D2946-3583-6A44-22A5-02B3C2F0A8A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8867FB7-C943-7802-9E0A-7ADBE5D6D68C}"/>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a:extLst>
              <a:ext uri="{FF2B5EF4-FFF2-40B4-BE49-F238E27FC236}">
                <a16:creationId xmlns:a16="http://schemas.microsoft.com/office/drawing/2014/main" id="{242327AF-4BD8-F7C0-7593-86CD20DC9BD5}"/>
              </a:ext>
            </a:extLst>
          </p:cNvPr>
          <p:cNvSpPr txBox="1"/>
          <p:nvPr/>
        </p:nvSpPr>
        <p:spPr>
          <a:xfrm>
            <a:off x="685801" y="537614"/>
            <a:ext cx="10700183" cy="1235595"/>
          </a:xfrm>
          <a:prstGeom prst="rect">
            <a:avLst/>
          </a:prstGeom>
        </p:spPr>
        <p:txBody>
          <a:bodyPr lIns="0" tIns="0" rIns="0" bIns="0" rtlCol="0" anchor="t">
            <a:spAutoFit/>
          </a:bodyPr>
          <a:lstStyle/>
          <a:p>
            <a:pPr>
              <a:lnSpc>
                <a:spcPct val="107000"/>
              </a:lnSpc>
            </a:pPr>
            <a:r>
              <a:rPr lang="en-US" sz="2400" b="1" i="0" dirty="0">
                <a:solidFill>
                  <a:srgbClr val="242424"/>
                </a:solidFill>
                <a:effectLst/>
                <a:latin typeface="sohne"/>
              </a:rPr>
              <a:t>Additional Tips</a:t>
            </a:r>
          </a:p>
          <a:p>
            <a:pPr>
              <a:lnSpc>
                <a:spcPct val="107000"/>
              </a:lnSpc>
            </a:pPr>
            <a:endParaRPr lang="en-US" sz="2400" b="1" i="0" dirty="0">
              <a:solidFill>
                <a:srgbClr val="242424"/>
              </a:solidFill>
              <a:effectLst/>
              <a:latin typeface="sohne"/>
            </a:endParaRPr>
          </a:p>
          <a:p>
            <a:pPr marL="0" marR="0">
              <a:lnSpc>
                <a:spcPct val="107000"/>
              </a:lnSpc>
              <a:spcBef>
                <a:spcPts val="0"/>
              </a:spcBef>
              <a:spcAft>
                <a:spcPts val="0"/>
              </a:spcAft>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596C7E4-82FC-C7D0-5A1B-E6FEB010FD24}"/>
              </a:ext>
            </a:extLst>
          </p:cNvPr>
          <p:cNvSpPr txBox="1"/>
          <p:nvPr/>
        </p:nvSpPr>
        <p:spPr>
          <a:xfrm>
            <a:off x="685800" y="1397675"/>
            <a:ext cx="9277065" cy="923330"/>
          </a:xfrm>
          <a:prstGeom prst="rect">
            <a:avLst/>
          </a:prstGeom>
          <a:noFill/>
        </p:spPr>
        <p:txBody>
          <a:bodyPr wrap="square">
            <a:spAutoFit/>
          </a:bodyPr>
          <a:lstStyle/>
          <a:p>
            <a:r>
              <a:rPr lang="en-US"/>
              <a:t>Save and exit by pressing Control + X, then Y to confirm.</a:t>
            </a:r>
          </a:p>
          <a:p>
            <a:endParaRPr lang="en-US"/>
          </a:p>
          <a:p>
            <a:r>
              <a:rPr lang="en-US"/>
              <a:t>Now, connect to your VM with:</a:t>
            </a:r>
            <a:endParaRPr lang="en-US" dirty="0"/>
          </a:p>
        </p:txBody>
      </p:sp>
      <p:pic>
        <p:nvPicPr>
          <p:cNvPr id="5" name="Picture 4">
            <a:extLst>
              <a:ext uri="{FF2B5EF4-FFF2-40B4-BE49-F238E27FC236}">
                <a16:creationId xmlns:a16="http://schemas.microsoft.com/office/drawing/2014/main" id="{92E38D79-8569-C790-5D62-3D9D68E779FB}"/>
              </a:ext>
            </a:extLst>
          </p:cNvPr>
          <p:cNvPicPr>
            <a:picLocks noChangeAspect="1"/>
          </p:cNvPicPr>
          <p:nvPr/>
        </p:nvPicPr>
        <p:blipFill>
          <a:blip r:embed="rId2"/>
          <a:stretch>
            <a:fillRect/>
          </a:stretch>
        </p:blipFill>
        <p:spPr>
          <a:xfrm>
            <a:off x="685800" y="2566569"/>
            <a:ext cx="1852684" cy="488477"/>
          </a:xfrm>
          <a:prstGeom prst="rect">
            <a:avLst/>
          </a:prstGeom>
        </p:spPr>
      </p:pic>
      <p:sp>
        <p:nvSpPr>
          <p:cNvPr id="9" name="TextBox 8">
            <a:extLst>
              <a:ext uri="{FF2B5EF4-FFF2-40B4-BE49-F238E27FC236}">
                <a16:creationId xmlns:a16="http://schemas.microsoft.com/office/drawing/2014/main" id="{9333DECE-5394-1173-3574-5765B8A0BEB8}"/>
              </a:ext>
            </a:extLst>
          </p:cNvPr>
          <p:cNvSpPr txBox="1"/>
          <p:nvPr/>
        </p:nvSpPr>
        <p:spPr>
          <a:xfrm>
            <a:off x="685800" y="3328695"/>
            <a:ext cx="8676564" cy="1569660"/>
          </a:xfrm>
          <a:prstGeom prst="rect">
            <a:avLst/>
          </a:prstGeom>
          <a:noFill/>
        </p:spPr>
        <p:txBody>
          <a:bodyPr wrap="square">
            <a:spAutoFit/>
          </a:bodyPr>
          <a:lstStyle/>
          <a:p>
            <a:r>
              <a:rPr lang="en-US" sz="2400" b="1" dirty="0"/>
              <a:t>Conclusion</a:t>
            </a:r>
          </a:p>
          <a:p>
            <a:endParaRPr lang="en-US" dirty="0"/>
          </a:p>
          <a:p>
            <a:r>
              <a:rPr lang="en-US" dirty="0"/>
              <a:t>Using an Azure-generated SSH key pair to create and connect to a Linux VM is a secure and convenient way to manage access. By following these steps, you can quickly set up and access your VM with minimal configuration, allowing you to focus on your work.</a:t>
            </a:r>
          </a:p>
        </p:txBody>
      </p:sp>
    </p:spTree>
    <p:extLst>
      <p:ext uri="{BB962C8B-B14F-4D97-AF65-F5344CB8AC3E}">
        <p14:creationId xmlns:p14="http://schemas.microsoft.com/office/powerpoint/2010/main" val="436130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A71215-6718-3C9D-A593-742866F2198A}"/>
              </a:ext>
            </a:extLst>
          </p:cNvPr>
          <p:cNvPicPr>
            <a:picLocks noChangeAspect="1"/>
          </p:cNvPicPr>
          <p:nvPr/>
        </p:nvPicPr>
        <p:blipFill>
          <a:blip r:embed="rId2"/>
          <a:stretch>
            <a:fillRect/>
          </a:stretch>
        </p:blipFill>
        <p:spPr>
          <a:xfrm>
            <a:off x="1192696" y="410818"/>
            <a:ext cx="8560904" cy="5526156"/>
          </a:xfrm>
          <a:prstGeom prst="rect">
            <a:avLst/>
          </a:prstGeom>
        </p:spPr>
      </p:pic>
      <p:sp>
        <p:nvSpPr>
          <p:cNvPr id="3" name="TextBox 2">
            <a:extLst>
              <a:ext uri="{FF2B5EF4-FFF2-40B4-BE49-F238E27FC236}">
                <a16:creationId xmlns:a16="http://schemas.microsoft.com/office/drawing/2014/main" id="{51F96513-5058-B201-43D9-E8073E37DDF3}"/>
              </a:ext>
            </a:extLst>
          </p:cNvPr>
          <p:cNvSpPr txBox="1"/>
          <p:nvPr/>
        </p:nvSpPr>
        <p:spPr>
          <a:xfrm>
            <a:off x="3644347" y="3075057"/>
            <a:ext cx="4134679" cy="707886"/>
          </a:xfrm>
          <a:prstGeom prst="rect">
            <a:avLst/>
          </a:prstGeom>
          <a:noFill/>
        </p:spPr>
        <p:txBody>
          <a:bodyPr wrap="square" rtlCol="0">
            <a:spAutoFit/>
          </a:bodyPr>
          <a:lstStyle/>
          <a:p>
            <a:r>
              <a:rPr lang="en-US" sz="4000" b="1" dirty="0"/>
              <a:t>Any Questions ?</a:t>
            </a:r>
          </a:p>
        </p:txBody>
      </p:sp>
    </p:spTree>
    <p:extLst>
      <p:ext uri="{BB962C8B-B14F-4D97-AF65-F5344CB8AC3E}">
        <p14:creationId xmlns:p14="http://schemas.microsoft.com/office/powerpoint/2010/main" val="1705846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18436</TotalTime>
  <Words>810</Words>
  <Application>Microsoft Office PowerPoint</Application>
  <PresentationFormat>Widescreen</PresentationFormat>
  <Paragraphs>103</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Aptos Display</vt:lpstr>
      <vt:lpstr>Arial</vt:lpstr>
      <vt:lpstr>Segoe UI</vt:lpstr>
      <vt:lpstr>sohne</vt:lpstr>
      <vt:lpstr>source-serif-pro</vt:lpstr>
      <vt:lpstr>Times Neue Roman</vt:lpstr>
      <vt:lpstr>Times New Roman</vt:lpstr>
      <vt:lpstr>Office Theme</vt:lpstr>
      <vt:lpstr>Lecture 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Muhammad Tehmeed Ebaduddin</dc:creator>
  <cp:lastModifiedBy>Muhammad Tehmeed Ebaduddin</cp:lastModifiedBy>
  <cp:revision>21</cp:revision>
  <dcterms:created xsi:type="dcterms:W3CDTF">2024-03-12T05:48:59Z</dcterms:created>
  <dcterms:modified xsi:type="dcterms:W3CDTF">2025-04-28T06:17:45Z</dcterms:modified>
</cp:coreProperties>
</file>