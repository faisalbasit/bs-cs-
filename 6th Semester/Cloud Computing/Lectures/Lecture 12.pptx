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notesMasterIdLst>
    <p:notesMasterId r:id="rId27"/>
  </p:notesMasterIdLst>
  <p:sldIdLst>
    <p:sldId id="256" r:id="rId2"/>
    <p:sldId id="266" r:id="rId3"/>
    <p:sldId id="267" r:id="rId4"/>
    <p:sldId id="268" r:id="rId5"/>
    <p:sldId id="269" r:id="rId6"/>
    <p:sldId id="270" r:id="rId7"/>
    <p:sldId id="271" r:id="rId8"/>
    <p:sldId id="272" r:id="rId9"/>
    <p:sldId id="273" r:id="rId10"/>
    <p:sldId id="274" r:id="rId11"/>
    <p:sldId id="275" r:id="rId12"/>
    <p:sldId id="276" r:id="rId13"/>
    <p:sldId id="277" r:id="rId14"/>
    <p:sldId id="278" r:id="rId15"/>
    <p:sldId id="279" r:id="rId16"/>
    <p:sldId id="280" r:id="rId17"/>
    <p:sldId id="281" r:id="rId18"/>
    <p:sldId id="282" r:id="rId19"/>
    <p:sldId id="283" r:id="rId20"/>
    <p:sldId id="284" r:id="rId21"/>
    <p:sldId id="285" r:id="rId22"/>
    <p:sldId id="286" r:id="rId23"/>
    <p:sldId id="287" r:id="rId24"/>
    <p:sldId id="288" r:id="rId25"/>
    <p:sldId id="303" r:id="rId26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1536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D14CF0-7C4D-4883-A791-2DF0633982BA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E7C27B-F989-4B68-9AE0-B0FC0564D7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2011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C38E4-BA4D-49E7-85A1-E636BBC71E56}" type="datetime1">
              <a:rPr lang="en-US" smtClean="0"/>
              <a:t>4/28/2025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</a:pPr>
            <a:r>
              <a:rPr lang="it-IT"/>
              <a:t>©</a:t>
            </a:r>
            <a:r>
              <a:rPr lang="it-IT" spc="-50"/>
              <a:t> </a:t>
            </a:r>
            <a:r>
              <a:rPr lang="it-IT"/>
              <a:t>Carnegie</a:t>
            </a:r>
            <a:r>
              <a:rPr lang="it-IT" spc="-35"/>
              <a:t> </a:t>
            </a:r>
            <a:r>
              <a:rPr lang="it-IT"/>
              <a:t>Mellon</a:t>
            </a:r>
            <a:r>
              <a:rPr lang="it-IT" spc="-45"/>
              <a:t> </a:t>
            </a:r>
            <a:r>
              <a:rPr lang="it-IT"/>
              <a:t>University</a:t>
            </a:r>
            <a:r>
              <a:rPr lang="it-IT" spc="-20"/>
              <a:t> </a:t>
            </a:r>
            <a:r>
              <a:rPr lang="it-IT"/>
              <a:t>in</a:t>
            </a:r>
            <a:r>
              <a:rPr lang="it-IT" spc="-40"/>
              <a:t> </a:t>
            </a:r>
            <a:r>
              <a:rPr lang="it-IT" spc="-10"/>
              <a:t>Qatar</a:t>
            </a:r>
            <a:endParaRPr lang="it-IT" spc="-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1254938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DCAA0-62EA-408C-A068-D8B56A5A8C1D}" type="datetime1">
              <a:rPr lang="en-US" smtClean="0"/>
              <a:t>4/28/2025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</a:pPr>
            <a:r>
              <a:rPr lang="it-IT"/>
              <a:t>©</a:t>
            </a:r>
            <a:r>
              <a:rPr lang="it-IT" spc="-50"/>
              <a:t> </a:t>
            </a:r>
            <a:r>
              <a:rPr lang="it-IT"/>
              <a:t>Carnegie</a:t>
            </a:r>
            <a:r>
              <a:rPr lang="it-IT" spc="-35"/>
              <a:t> </a:t>
            </a:r>
            <a:r>
              <a:rPr lang="it-IT"/>
              <a:t>Mellon</a:t>
            </a:r>
            <a:r>
              <a:rPr lang="it-IT" spc="-45"/>
              <a:t> </a:t>
            </a:r>
            <a:r>
              <a:rPr lang="it-IT"/>
              <a:t>University</a:t>
            </a:r>
            <a:r>
              <a:rPr lang="it-IT" spc="-20"/>
              <a:t> </a:t>
            </a:r>
            <a:r>
              <a:rPr lang="it-IT"/>
              <a:t>in</a:t>
            </a:r>
            <a:r>
              <a:rPr lang="it-IT" spc="-40"/>
              <a:t> </a:t>
            </a:r>
            <a:r>
              <a:rPr lang="it-IT" spc="-10"/>
              <a:t>Qatar</a:t>
            </a:r>
            <a:endParaRPr lang="it-IT" spc="-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710476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B2B37-0FC5-4890-AF01-159326AE41EE}" type="datetime1">
              <a:rPr lang="en-US" smtClean="0"/>
              <a:t>4/28/2025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</a:pPr>
            <a:r>
              <a:rPr lang="it-IT"/>
              <a:t>©</a:t>
            </a:r>
            <a:r>
              <a:rPr lang="it-IT" spc="-50"/>
              <a:t> </a:t>
            </a:r>
            <a:r>
              <a:rPr lang="it-IT"/>
              <a:t>Carnegie</a:t>
            </a:r>
            <a:r>
              <a:rPr lang="it-IT" spc="-35"/>
              <a:t> </a:t>
            </a:r>
            <a:r>
              <a:rPr lang="it-IT"/>
              <a:t>Mellon</a:t>
            </a:r>
            <a:r>
              <a:rPr lang="it-IT" spc="-45"/>
              <a:t> </a:t>
            </a:r>
            <a:r>
              <a:rPr lang="it-IT"/>
              <a:t>University</a:t>
            </a:r>
            <a:r>
              <a:rPr lang="it-IT" spc="-20"/>
              <a:t> </a:t>
            </a:r>
            <a:r>
              <a:rPr lang="it-IT"/>
              <a:t>in</a:t>
            </a:r>
            <a:r>
              <a:rPr lang="it-IT" spc="-40"/>
              <a:t> </a:t>
            </a:r>
            <a:r>
              <a:rPr lang="it-IT" spc="-10"/>
              <a:t>Qatar</a:t>
            </a:r>
            <a:endParaRPr lang="it-IT" spc="-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210196046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20773-6D38-4144-A0DC-2405500D96C3}" type="datetime1">
              <a:rPr lang="en-US" smtClean="0"/>
              <a:t>4/28/2025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</a:pPr>
            <a:r>
              <a:rPr lang="it-IT"/>
              <a:t>©</a:t>
            </a:r>
            <a:r>
              <a:rPr lang="it-IT" spc="-50"/>
              <a:t> </a:t>
            </a:r>
            <a:r>
              <a:rPr lang="it-IT"/>
              <a:t>Carnegie</a:t>
            </a:r>
            <a:r>
              <a:rPr lang="it-IT" spc="-35"/>
              <a:t> </a:t>
            </a:r>
            <a:r>
              <a:rPr lang="it-IT"/>
              <a:t>Mellon</a:t>
            </a:r>
            <a:r>
              <a:rPr lang="it-IT" spc="-45"/>
              <a:t> </a:t>
            </a:r>
            <a:r>
              <a:rPr lang="it-IT"/>
              <a:t>University</a:t>
            </a:r>
            <a:r>
              <a:rPr lang="it-IT" spc="-20"/>
              <a:t> </a:t>
            </a:r>
            <a:r>
              <a:rPr lang="it-IT"/>
              <a:t>in</a:t>
            </a:r>
            <a:r>
              <a:rPr lang="it-IT" spc="-40"/>
              <a:t> </a:t>
            </a:r>
            <a:r>
              <a:rPr lang="it-IT" spc="-10"/>
              <a:t>Qatar</a:t>
            </a:r>
            <a:endParaRPr lang="it-IT" spc="-1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7540328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B2B37-0FC5-4890-AF01-159326AE41EE}" type="datetime1">
              <a:rPr lang="en-US" smtClean="0"/>
              <a:t>4/28/2025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</a:pPr>
            <a:r>
              <a:rPr lang="it-IT"/>
              <a:t>©</a:t>
            </a:r>
            <a:r>
              <a:rPr lang="it-IT" spc="-50"/>
              <a:t> </a:t>
            </a:r>
            <a:r>
              <a:rPr lang="it-IT"/>
              <a:t>Carnegie</a:t>
            </a:r>
            <a:r>
              <a:rPr lang="it-IT" spc="-35"/>
              <a:t> </a:t>
            </a:r>
            <a:r>
              <a:rPr lang="it-IT"/>
              <a:t>Mellon</a:t>
            </a:r>
            <a:r>
              <a:rPr lang="it-IT" spc="-45"/>
              <a:t> </a:t>
            </a:r>
            <a:r>
              <a:rPr lang="it-IT"/>
              <a:t>University</a:t>
            </a:r>
            <a:r>
              <a:rPr lang="it-IT" spc="-20"/>
              <a:t> </a:t>
            </a:r>
            <a:r>
              <a:rPr lang="it-IT"/>
              <a:t>in</a:t>
            </a:r>
            <a:r>
              <a:rPr lang="it-IT" spc="-40"/>
              <a:t> </a:t>
            </a:r>
            <a:r>
              <a:rPr lang="it-IT" spc="-10"/>
              <a:t>Qatar</a:t>
            </a:r>
            <a:endParaRPr lang="it-IT" spc="-1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100509950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0E8EF-967C-4922-8EE6-71D6DC51C4B6}" type="datetime1">
              <a:rPr lang="en-US" smtClean="0"/>
              <a:t>4/28/2025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</a:pPr>
            <a:r>
              <a:rPr lang="it-IT"/>
              <a:t>©</a:t>
            </a:r>
            <a:r>
              <a:rPr lang="it-IT" spc="-50"/>
              <a:t> </a:t>
            </a:r>
            <a:r>
              <a:rPr lang="it-IT"/>
              <a:t>Carnegie</a:t>
            </a:r>
            <a:r>
              <a:rPr lang="it-IT" spc="-35"/>
              <a:t> </a:t>
            </a:r>
            <a:r>
              <a:rPr lang="it-IT"/>
              <a:t>Mellon</a:t>
            </a:r>
            <a:r>
              <a:rPr lang="it-IT" spc="-45"/>
              <a:t> </a:t>
            </a:r>
            <a:r>
              <a:rPr lang="it-IT"/>
              <a:t>University</a:t>
            </a:r>
            <a:r>
              <a:rPr lang="it-IT" spc="-20"/>
              <a:t> </a:t>
            </a:r>
            <a:r>
              <a:rPr lang="it-IT"/>
              <a:t>in</a:t>
            </a:r>
            <a:r>
              <a:rPr lang="it-IT" spc="-40"/>
              <a:t> </a:t>
            </a:r>
            <a:r>
              <a:rPr lang="it-IT" spc="-10"/>
              <a:t>Qatar</a:t>
            </a:r>
            <a:endParaRPr lang="it-IT" spc="-1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22945436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5C299-D541-47DE-8D2D-8E51F15A6F88}" type="datetime1">
              <a:rPr lang="en-US" smtClean="0"/>
              <a:t>4/28/2025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</a:pPr>
            <a:r>
              <a:rPr lang="it-IT"/>
              <a:t>©</a:t>
            </a:r>
            <a:r>
              <a:rPr lang="it-IT" spc="-50"/>
              <a:t> </a:t>
            </a:r>
            <a:r>
              <a:rPr lang="it-IT"/>
              <a:t>Carnegie</a:t>
            </a:r>
            <a:r>
              <a:rPr lang="it-IT" spc="-35"/>
              <a:t> </a:t>
            </a:r>
            <a:r>
              <a:rPr lang="it-IT"/>
              <a:t>Mellon</a:t>
            </a:r>
            <a:r>
              <a:rPr lang="it-IT" spc="-45"/>
              <a:t> </a:t>
            </a:r>
            <a:r>
              <a:rPr lang="it-IT"/>
              <a:t>University</a:t>
            </a:r>
            <a:r>
              <a:rPr lang="it-IT" spc="-20"/>
              <a:t> </a:t>
            </a:r>
            <a:r>
              <a:rPr lang="it-IT"/>
              <a:t>in</a:t>
            </a:r>
            <a:r>
              <a:rPr lang="it-IT" spc="-40"/>
              <a:t> </a:t>
            </a:r>
            <a:r>
              <a:rPr lang="it-IT" spc="-10"/>
              <a:t>Qatar</a:t>
            </a:r>
            <a:endParaRPr lang="it-IT" spc="-1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4008100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B2B37-0FC5-4890-AF01-159326AE41EE}" type="datetime1">
              <a:rPr lang="en-US" smtClean="0"/>
              <a:t>4/28/2025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</a:pPr>
            <a:r>
              <a:rPr lang="it-IT"/>
              <a:t>©</a:t>
            </a:r>
            <a:r>
              <a:rPr lang="it-IT" spc="-50"/>
              <a:t> </a:t>
            </a:r>
            <a:r>
              <a:rPr lang="it-IT"/>
              <a:t>Carnegie</a:t>
            </a:r>
            <a:r>
              <a:rPr lang="it-IT" spc="-35"/>
              <a:t> </a:t>
            </a:r>
            <a:r>
              <a:rPr lang="it-IT"/>
              <a:t>Mellon</a:t>
            </a:r>
            <a:r>
              <a:rPr lang="it-IT" spc="-45"/>
              <a:t> </a:t>
            </a:r>
            <a:r>
              <a:rPr lang="it-IT"/>
              <a:t>University</a:t>
            </a:r>
            <a:r>
              <a:rPr lang="it-IT" spc="-20"/>
              <a:t> </a:t>
            </a:r>
            <a:r>
              <a:rPr lang="it-IT"/>
              <a:t>in</a:t>
            </a:r>
            <a:r>
              <a:rPr lang="it-IT" spc="-40"/>
              <a:t> </a:t>
            </a:r>
            <a:r>
              <a:rPr lang="it-IT" spc="-10"/>
              <a:t>Qatar</a:t>
            </a:r>
            <a:endParaRPr lang="it-IT" spc="-1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99133079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B2B37-0FC5-4890-AF01-159326AE41EE}" type="datetime1">
              <a:rPr lang="en-US" smtClean="0"/>
              <a:t>4/28/2025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</a:pPr>
            <a:r>
              <a:rPr lang="it-IT"/>
              <a:t>©</a:t>
            </a:r>
            <a:r>
              <a:rPr lang="it-IT" spc="-50"/>
              <a:t> </a:t>
            </a:r>
            <a:r>
              <a:rPr lang="it-IT"/>
              <a:t>Carnegie</a:t>
            </a:r>
            <a:r>
              <a:rPr lang="it-IT" spc="-35"/>
              <a:t> </a:t>
            </a:r>
            <a:r>
              <a:rPr lang="it-IT"/>
              <a:t>Mellon</a:t>
            </a:r>
            <a:r>
              <a:rPr lang="it-IT" spc="-45"/>
              <a:t> </a:t>
            </a:r>
            <a:r>
              <a:rPr lang="it-IT"/>
              <a:t>University</a:t>
            </a:r>
            <a:r>
              <a:rPr lang="it-IT" spc="-20"/>
              <a:t> </a:t>
            </a:r>
            <a:r>
              <a:rPr lang="it-IT"/>
              <a:t>in</a:t>
            </a:r>
            <a:r>
              <a:rPr lang="it-IT" spc="-40"/>
              <a:t> </a:t>
            </a:r>
            <a:r>
              <a:rPr lang="it-IT" spc="-10"/>
              <a:t>Qatar</a:t>
            </a:r>
            <a:endParaRPr lang="it-IT" spc="-1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410879414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B2B37-0FC5-4890-AF01-159326AE41EE}" type="datetime1">
              <a:rPr lang="en-US" smtClean="0"/>
              <a:t>4/28/2025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</a:pPr>
            <a:r>
              <a:rPr lang="it-IT"/>
              <a:t>©</a:t>
            </a:r>
            <a:r>
              <a:rPr lang="it-IT" spc="-50"/>
              <a:t> </a:t>
            </a:r>
            <a:r>
              <a:rPr lang="it-IT"/>
              <a:t>Carnegie</a:t>
            </a:r>
            <a:r>
              <a:rPr lang="it-IT" spc="-35"/>
              <a:t> </a:t>
            </a:r>
            <a:r>
              <a:rPr lang="it-IT"/>
              <a:t>Mellon</a:t>
            </a:r>
            <a:r>
              <a:rPr lang="it-IT" spc="-45"/>
              <a:t> </a:t>
            </a:r>
            <a:r>
              <a:rPr lang="it-IT"/>
              <a:t>University</a:t>
            </a:r>
            <a:r>
              <a:rPr lang="it-IT" spc="-20"/>
              <a:t> </a:t>
            </a:r>
            <a:r>
              <a:rPr lang="it-IT"/>
              <a:t>in</a:t>
            </a:r>
            <a:r>
              <a:rPr lang="it-IT" spc="-40"/>
              <a:t> </a:t>
            </a:r>
            <a:r>
              <a:rPr lang="it-IT" spc="-10"/>
              <a:t>Qatar</a:t>
            </a:r>
            <a:endParaRPr lang="it-IT" spc="-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361224027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B2B37-0FC5-4890-AF01-159326AE41EE}" type="datetime1">
              <a:rPr lang="en-US" smtClean="0"/>
              <a:t>4/28/2025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</a:pPr>
            <a:r>
              <a:rPr lang="it-IT"/>
              <a:t>©</a:t>
            </a:r>
            <a:r>
              <a:rPr lang="it-IT" spc="-50"/>
              <a:t> </a:t>
            </a:r>
            <a:r>
              <a:rPr lang="it-IT"/>
              <a:t>Carnegie</a:t>
            </a:r>
            <a:r>
              <a:rPr lang="it-IT" spc="-35"/>
              <a:t> </a:t>
            </a:r>
            <a:r>
              <a:rPr lang="it-IT"/>
              <a:t>Mellon</a:t>
            </a:r>
            <a:r>
              <a:rPr lang="it-IT" spc="-45"/>
              <a:t> </a:t>
            </a:r>
            <a:r>
              <a:rPr lang="it-IT"/>
              <a:t>University</a:t>
            </a:r>
            <a:r>
              <a:rPr lang="it-IT" spc="-20"/>
              <a:t> </a:t>
            </a:r>
            <a:r>
              <a:rPr lang="it-IT"/>
              <a:t>in</a:t>
            </a:r>
            <a:r>
              <a:rPr lang="it-IT" spc="-40"/>
              <a:t> </a:t>
            </a:r>
            <a:r>
              <a:rPr lang="it-IT" spc="-10"/>
              <a:t>Qatar</a:t>
            </a:r>
            <a:endParaRPr lang="it-IT" spc="-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866793043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1B2B37-0FC5-4890-AF01-159326AE41EE}" type="datetime1">
              <a:rPr lang="en-US" smtClean="0"/>
              <a:t>4/28/2025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12700">
              <a:lnSpc>
                <a:spcPct val="100000"/>
              </a:lnSpc>
            </a:pPr>
            <a:r>
              <a:rPr lang="it-IT"/>
              <a:t>©</a:t>
            </a:r>
            <a:r>
              <a:rPr lang="it-IT" spc="-50"/>
              <a:t> </a:t>
            </a:r>
            <a:r>
              <a:rPr lang="it-IT"/>
              <a:t>Carnegie</a:t>
            </a:r>
            <a:r>
              <a:rPr lang="it-IT" spc="-35"/>
              <a:t> </a:t>
            </a:r>
            <a:r>
              <a:rPr lang="it-IT"/>
              <a:t>Mellon</a:t>
            </a:r>
            <a:r>
              <a:rPr lang="it-IT" spc="-45"/>
              <a:t> </a:t>
            </a:r>
            <a:r>
              <a:rPr lang="it-IT"/>
              <a:t>University</a:t>
            </a:r>
            <a:r>
              <a:rPr lang="it-IT" spc="-20"/>
              <a:t> </a:t>
            </a:r>
            <a:r>
              <a:rPr lang="it-IT"/>
              <a:t>in</a:t>
            </a:r>
            <a:r>
              <a:rPr lang="it-IT" spc="-40"/>
              <a:t> </a:t>
            </a:r>
            <a:r>
              <a:rPr lang="it-IT" spc="-10"/>
              <a:t>Qatar</a:t>
            </a:r>
            <a:endParaRPr lang="it-IT" spc="-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38100">
              <a:lnSpc>
                <a:spcPct val="100000"/>
              </a:lnSpc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3435918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13.png"/><Relationship Id="rId7" Type="http://schemas.openxmlformats.org/officeDocument/2006/relationships/image" Target="../media/image3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15.png"/><Relationship Id="rId4" Type="http://schemas.openxmlformats.org/officeDocument/2006/relationships/image" Target="../media/image30.png"/><Relationship Id="rId9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5" Type="http://schemas.openxmlformats.org/officeDocument/2006/relationships/image" Target="../media/image36.pn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image" Target="../media/image54.png"/><Relationship Id="rId18" Type="http://schemas.openxmlformats.org/officeDocument/2006/relationships/image" Target="../media/image5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12" Type="http://schemas.openxmlformats.org/officeDocument/2006/relationships/image" Target="../media/image53.png"/><Relationship Id="rId17" Type="http://schemas.openxmlformats.org/officeDocument/2006/relationships/image" Target="../media/image58.png"/><Relationship Id="rId2" Type="http://schemas.openxmlformats.org/officeDocument/2006/relationships/image" Target="../media/image43.png"/><Relationship Id="rId16" Type="http://schemas.openxmlformats.org/officeDocument/2006/relationships/image" Target="../media/image5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7.png"/><Relationship Id="rId11" Type="http://schemas.openxmlformats.org/officeDocument/2006/relationships/image" Target="../media/image52.png"/><Relationship Id="rId5" Type="http://schemas.openxmlformats.org/officeDocument/2006/relationships/image" Target="../media/image46.png"/><Relationship Id="rId15" Type="http://schemas.openxmlformats.org/officeDocument/2006/relationships/image" Target="../media/image56.png"/><Relationship Id="rId10" Type="http://schemas.openxmlformats.org/officeDocument/2006/relationships/image" Target="../media/image51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Relationship Id="rId14" Type="http://schemas.openxmlformats.org/officeDocument/2006/relationships/image" Target="../media/image5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13" Type="http://schemas.openxmlformats.org/officeDocument/2006/relationships/image" Target="../media/image80.png"/><Relationship Id="rId3" Type="http://schemas.openxmlformats.org/officeDocument/2006/relationships/image" Target="../media/image70.png"/><Relationship Id="rId7" Type="http://schemas.openxmlformats.org/officeDocument/2006/relationships/image" Target="../media/image74.png"/><Relationship Id="rId12" Type="http://schemas.openxmlformats.org/officeDocument/2006/relationships/image" Target="../media/image79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png"/><Relationship Id="rId11" Type="http://schemas.openxmlformats.org/officeDocument/2006/relationships/image" Target="../media/image78.png"/><Relationship Id="rId5" Type="http://schemas.openxmlformats.org/officeDocument/2006/relationships/image" Target="../media/image72.png"/><Relationship Id="rId10" Type="http://schemas.openxmlformats.org/officeDocument/2006/relationships/image" Target="../media/image77.png"/><Relationship Id="rId4" Type="http://schemas.openxmlformats.org/officeDocument/2006/relationships/image" Target="../media/image71.png"/><Relationship Id="rId9" Type="http://schemas.openxmlformats.org/officeDocument/2006/relationships/image" Target="../media/image76.png"/><Relationship Id="rId14" Type="http://schemas.openxmlformats.org/officeDocument/2006/relationships/image" Target="../media/image8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jpg"/><Relationship Id="rId2" Type="http://schemas.openxmlformats.org/officeDocument/2006/relationships/image" Target="../media/image8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5.jpg"/><Relationship Id="rId4" Type="http://schemas.openxmlformats.org/officeDocument/2006/relationships/image" Target="../media/image84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jp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jp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jp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3.jpg"/><Relationship Id="rId4" Type="http://schemas.openxmlformats.org/officeDocument/2006/relationships/image" Target="../media/image9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3386" y="2590437"/>
            <a:ext cx="7174865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dirty="0"/>
              <a:t>Cloud</a:t>
            </a:r>
            <a:r>
              <a:rPr spc="-55" dirty="0"/>
              <a:t> </a:t>
            </a:r>
            <a:r>
              <a:rPr spc="-10" dirty="0"/>
              <a:t>Computing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90852" y="3810987"/>
            <a:ext cx="6162675" cy="1139992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865"/>
              </a:spcBef>
            </a:pPr>
            <a:r>
              <a:rPr sz="3200" dirty="0">
                <a:latin typeface="Arial MT"/>
                <a:cs typeface="Arial MT"/>
              </a:rPr>
              <a:t>Lecture</a:t>
            </a:r>
            <a:r>
              <a:rPr sz="3200" spc="-75" dirty="0">
                <a:latin typeface="Arial MT"/>
                <a:cs typeface="Arial MT"/>
              </a:rPr>
              <a:t> </a:t>
            </a:r>
            <a:r>
              <a:rPr sz="3200" spc="-50" dirty="0">
                <a:latin typeface="Arial MT"/>
                <a:cs typeface="Arial MT"/>
              </a:rPr>
              <a:t>1</a:t>
            </a:r>
            <a:r>
              <a:rPr lang="en-US" sz="3200" spc="-50" dirty="0">
                <a:latin typeface="Arial MT"/>
                <a:cs typeface="Arial MT"/>
              </a:rPr>
              <a:t>2</a:t>
            </a:r>
            <a:endParaRPr sz="3200" dirty="0">
              <a:latin typeface="Arial MT"/>
              <a:cs typeface="Arial MT"/>
            </a:endParaRPr>
          </a:p>
          <a:p>
            <a:pPr marL="12065" marR="5080" algn="ctr">
              <a:lnSpc>
                <a:spcPct val="120000"/>
              </a:lnSpc>
              <a:spcBef>
                <a:spcPts val="5"/>
              </a:spcBef>
            </a:pPr>
            <a:r>
              <a:rPr lang="en-US" sz="3200" spc="-10" dirty="0">
                <a:latin typeface="Arial MT"/>
                <a:cs typeface="Arial MT"/>
              </a:rPr>
              <a:t>Transform IT to a Service</a:t>
            </a:r>
            <a:endParaRPr sz="32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861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…How</a:t>
            </a:r>
            <a:r>
              <a:rPr spc="-40" dirty="0"/>
              <a:t> </a:t>
            </a:r>
            <a:r>
              <a:rPr dirty="0"/>
              <a:t>Will</a:t>
            </a:r>
            <a:r>
              <a:rPr spc="-20" dirty="0"/>
              <a:t> </a:t>
            </a:r>
            <a:r>
              <a:rPr dirty="0"/>
              <a:t>We</a:t>
            </a:r>
            <a:r>
              <a:rPr spc="-20" dirty="0"/>
              <a:t> </a:t>
            </a:r>
            <a:r>
              <a:rPr dirty="0"/>
              <a:t>Manage</a:t>
            </a:r>
            <a:r>
              <a:rPr spc="-20" dirty="0"/>
              <a:t> </a:t>
            </a:r>
            <a:r>
              <a:rPr dirty="0"/>
              <a:t>Our</a:t>
            </a:r>
            <a:r>
              <a:rPr spc="-10" dirty="0"/>
              <a:t> Data?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407155" y="1735582"/>
            <a:ext cx="5292725" cy="1192530"/>
            <a:chOff x="3407155" y="1735582"/>
            <a:chExt cx="5292725" cy="1192530"/>
          </a:xfrm>
        </p:grpSpPr>
        <p:sp>
          <p:nvSpPr>
            <p:cNvPr id="4" name="object 4"/>
            <p:cNvSpPr/>
            <p:nvPr/>
          </p:nvSpPr>
          <p:spPr>
            <a:xfrm>
              <a:off x="3419855" y="1748282"/>
              <a:ext cx="5267325" cy="1167130"/>
            </a:xfrm>
            <a:custGeom>
              <a:avLst/>
              <a:gdLst/>
              <a:ahLst/>
              <a:cxnLst/>
              <a:rect l="l" t="t" r="r" b="b"/>
              <a:pathLst>
                <a:path w="5267325" h="1167130">
                  <a:moveTo>
                    <a:pt x="5072507" y="0"/>
                  </a:moveTo>
                  <a:lnTo>
                    <a:pt x="0" y="0"/>
                  </a:lnTo>
                  <a:lnTo>
                    <a:pt x="0" y="1166876"/>
                  </a:lnTo>
                  <a:lnTo>
                    <a:pt x="5072507" y="1166876"/>
                  </a:lnTo>
                  <a:lnTo>
                    <a:pt x="5117067" y="1161736"/>
                  </a:lnTo>
                  <a:lnTo>
                    <a:pt x="5157985" y="1147098"/>
                  </a:lnTo>
                  <a:lnTo>
                    <a:pt x="5194088" y="1124128"/>
                  </a:lnTo>
                  <a:lnTo>
                    <a:pt x="5224206" y="1093996"/>
                  </a:lnTo>
                  <a:lnTo>
                    <a:pt x="5247169" y="1057870"/>
                  </a:lnTo>
                  <a:lnTo>
                    <a:pt x="5261805" y="1016919"/>
                  </a:lnTo>
                  <a:lnTo>
                    <a:pt x="5266944" y="972312"/>
                  </a:lnTo>
                  <a:lnTo>
                    <a:pt x="5266944" y="194437"/>
                  </a:lnTo>
                  <a:lnTo>
                    <a:pt x="5261805" y="149836"/>
                  </a:lnTo>
                  <a:lnTo>
                    <a:pt x="5247169" y="108903"/>
                  </a:lnTo>
                  <a:lnTo>
                    <a:pt x="5224206" y="72802"/>
                  </a:lnTo>
                  <a:lnTo>
                    <a:pt x="5194088" y="42697"/>
                  </a:lnTo>
                  <a:lnTo>
                    <a:pt x="5157985" y="19752"/>
                  </a:lnTo>
                  <a:lnTo>
                    <a:pt x="5117067" y="5132"/>
                  </a:lnTo>
                  <a:lnTo>
                    <a:pt x="5072507" y="0"/>
                  </a:lnTo>
                  <a:close/>
                </a:path>
              </a:pathLst>
            </a:custGeom>
            <a:solidFill>
              <a:srgbClr val="D0D7E8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419855" y="1748282"/>
              <a:ext cx="5267325" cy="1167130"/>
            </a:xfrm>
            <a:custGeom>
              <a:avLst/>
              <a:gdLst/>
              <a:ahLst/>
              <a:cxnLst/>
              <a:rect l="l" t="t" r="r" b="b"/>
              <a:pathLst>
                <a:path w="5267325" h="1167130">
                  <a:moveTo>
                    <a:pt x="5266944" y="194437"/>
                  </a:moveTo>
                  <a:lnTo>
                    <a:pt x="5266944" y="972312"/>
                  </a:lnTo>
                  <a:lnTo>
                    <a:pt x="5261805" y="1016919"/>
                  </a:lnTo>
                  <a:lnTo>
                    <a:pt x="5247169" y="1057870"/>
                  </a:lnTo>
                  <a:lnTo>
                    <a:pt x="5224206" y="1093996"/>
                  </a:lnTo>
                  <a:lnTo>
                    <a:pt x="5194088" y="1124128"/>
                  </a:lnTo>
                  <a:lnTo>
                    <a:pt x="5157985" y="1147098"/>
                  </a:lnTo>
                  <a:lnTo>
                    <a:pt x="5117067" y="1161736"/>
                  </a:lnTo>
                  <a:lnTo>
                    <a:pt x="5072507" y="1166876"/>
                  </a:lnTo>
                  <a:lnTo>
                    <a:pt x="0" y="1166876"/>
                  </a:lnTo>
                  <a:lnTo>
                    <a:pt x="0" y="0"/>
                  </a:lnTo>
                  <a:lnTo>
                    <a:pt x="5072507" y="0"/>
                  </a:lnTo>
                  <a:lnTo>
                    <a:pt x="5117067" y="5132"/>
                  </a:lnTo>
                  <a:lnTo>
                    <a:pt x="5157985" y="19752"/>
                  </a:lnTo>
                  <a:lnTo>
                    <a:pt x="5194088" y="42697"/>
                  </a:lnTo>
                  <a:lnTo>
                    <a:pt x="5224206" y="72802"/>
                  </a:lnTo>
                  <a:lnTo>
                    <a:pt x="5247169" y="108903"/>
                  </a:lnTo>
                  <a:lnTo>
                    <a:pt x="5261805" y="149836"/>
                  </a:lnTo>
                  <a:lnTo>
                    <a:pt x="5266944" y="194437"/>
                  </a:lnTo>
                  <a:close/>
                </a:path>
              </a:pathLst>
            </a:custGeom>
            <a:ln w="25400">
              <a:solidFill>
                <a:srgbClr val="D0D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495294" y="2116582"/>
            <a:ext cx="4186554" cy="376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5"/>
              </a:spcBef>
              <a:buChar char="•"/>
              <a:tabLst>
                <a:tab pos="240665" algn="l"/>
              </a:tabLst>
            </a:pPr>
            <a:r>
              <a:rPr sz="2300" dirty="0">
                <a:latin typeface="Arial MT"/>
                <a:cs typeface="Arial MT"/>
              </a:rPr>
              <a:t>Personal,</a:t>
            </a:r>
            <a:r>
              <a:rPr sz="2300" spc="-6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but</a:t>
            </a:r>
            <a:r>
              <a:rPr sz="2300" spc="-1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time</a:t>
            </a:r>
            <a:r>
              <a:rPr sz="2300" spc="-25" dirty="0">
                <a:latin typeface="Arial MT"/>
                <a:cs typeface="Arial MT"/>
              </a:rPr>
              <a:t> </a:t>
            </a:r>
            <a:r>
              <a:rPr sz="2300" spc="-10" dirty="0">
                <a:latin typeface="Arial MT"/>
                <a:cs typeface="Arial MT"/>
              </a:rPr>
              <a:t>consuming.</a:t>
            </a:r>
            <a:endParaRPr sz="230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44500" y="1589658"/>
            <a:ext cx="2988310" cy="1483995"/>
            <a:chOff x="444500" y="1589658"/>
            <a:chExt cx="2988310" cy="1483995"/>
          </a:xfrm>
        </p:grpSpPr>
        <p:sp>
          <p:nvSpPr>
            <p:cNvPr id="8" name="object 8"/>
            <p:cNvSpPr/>
            <p:nvPr/>
          </p:nvSpPr>
          <p:spPr>
            <a:xfrm>
              <a:off x="457200" y="1602358"/>
              <a:ext cx="2962910" cy="1458595"/>
            </a:xfrm>
            <a:custGeom>
              <a:avLst/>
              <a:gdLst/>
              <a:ahLst/>
              <a:cxnLst/>
              <a:rect l="l" t="t" r="r" b="b"/>
              <a:pathLst>
                <a:path w="2962910" h="1458595">
                  <a:moveTo>
                    <a:pt x="2719578" y="0"/>
                  </a:moveTo>
                  <a:lnTo>
                    <a:pt x="243103" y="0"/>
                  </a:lnTo>
                  <a:lnTo>
                    <a:pt x="194108" y="4939"/>
                  </a:lnTo>
                  <a:lnTo>
                    <a:pt x="148475" y="19105"/>
                  </a:lnTo>
                  <a:lnTo>
                    <a:pt x="107181" y="41523"/>
                  </a:lnTo>
                  <a:lnTo>
                    <a:pt x="71202" y="71215"/>
                  </a:lnTo>
                  <a:lnTo>
                    <a:pt x="41517" y="107205"/>
                  </a:lnTo>
                  <a:lnTo>
                    <a:pt x="19103" y="148518"/>
                  </a:lnTo>
                  <a:lnTo>
                    <a:pt x="4938" y="194177"/>
                  </a:lnTo>
                  <a:lnTo>
                    <a:pt x="0" y="243204"/>
                  </a:lnTo>
                  <a:lnTo>
                    <a:pt x="0" y="1215516"/>
                  </a:lnTo>
                  <a:lnTo>
                    <a:pt x="4938" y="1264503"/>
                  </a:lnTo>
                  <a:lnTo>
                    <a:pt x="19103" y="1310130"/>
                  </a:lnTo>
                  <a:lnTo>
                    <a:pt x="41517" y="1351420"/>
                  </a:lnTo>
                  <a:lnTo>
                    <a:pt x="71202" y="1387395"/>
                  </a:lnTo>
                  <a:lnTo>
                    <a:pt x="107181" y="1417078"/>
                  </a:lnTo>
                  <a:lnTo>
                    <a:pt x="148475" y="1439491"/>
                  </a:lnTo>
                  <a:lnTo>
                    <a:pt x="194108" y="1453656"/>
                  </a:lnTo>
                  <a:lnTo>
                    <a:pt x="243103" y="1458594"/>
                  </a:lnTo>
                  <a:lnTo>
                    <a:pt x="2719578" y="1458594"/>
                  </a:lnTo>
                  <a:lnTo>
                    <a:pt x="2768564" y="1453656"/>
                  </a:lnTo>
                  <a:lnTo>
                    <a:pt x="2814191" y="1439491"/>
                  </a:lnTo>
                  <a:lnTo>
                    <a:pt x="2855481" y="1417078"/>
                  </a:lnTo>
                  <a:lnTo>
                    <a:pt x="2891456" y="1387395"/>
                  </a:lnTo>
                  <a:lnTo>
                    <a:pt x="2921139" y="1351420"/>
                  </a:lnTo>
                  <a:lnTo>
                    <a:pt x="2943552" y="1310130"/>
                  </a:lnTo>
                  <a:lnTo>
                    <a:pt x="2957717" y="1264503"/>
                  </a:lnTo>
                  <a:lnTo>
                    <a:pt x="2962655" y="1215516"/>
                  </a:lnTo>
                  <a:lnTo>
                    <a:pt x="2962655" y="243204"/>
                  </a:lnTo>
                  <a:lnTo>
                    <a:pt x="2957717" y="194177"/>
                  </a:lnTo>
                  <a:lnTo>
                    <a:pt x="2943552" y="148518"/>
                  </a:lnTo>
                  <a:lnTo>
                    <a:pt x="2921139" y="107205"/>
                  </a:lnTo>
                  <a:lnTo>
                    <a:pt x="2891456" y="71215"/>
                  </a:lnTo>
                  <a:lnTo>
                    <a:pt x="2855481" y="41523"/>
                  </a:lnTo>
                  <a:lnTo>
                    <a:pt x="2814191" y="19105"/>
                  </a:lnTo>
                  <a:lnTo>
                    <a:pt x="2768564" y="4939"/>
                  </a:lnTo>
                  <a:lnTo>
                    <a:pt x="2719578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7200" y="1602358"/>
              <a:ext cx="2962910" cy="1458595"/>
            </a:xfrm>
            <a:custGeom>
              <a:avLst/>
              <a:gdLst/>
              <a:ahLst/>
              <a:cxnLst/>
              <a:rect l="l" t="t" r="r" b="b"/>
              <a:pathLst>
                <a:path w="2962910" h="1458595">
                  <a:moveTo>
                    <a:pt x="0" y="243204"/>
                  </a:moveTo>
                  <a:lnTo>
                    <a:pt x="4938" y="194177"/>
                  </a:lnTo>
                  <a:lnTo>
                    <a:pt x="19103" y="148518"/>
                  </a:lnTo>
                  <a:lnTo>
                    <a:pt x="41517" y="107205"/>
                  </a:lnTo>
                  <a:lnTo>
                    <a:pt x="71202" y="71215"/>
                  </a:lnTo>
                  <a:lnTo>
                    <a:pt x="107181" y="41523"/>
                  </a:lnTo>
                  <a:lnTo>
                    <a:pt x="148475" y="19105"/>
                  </a:lnTo>
                  <a:lnTo>
                    <a:pt x="194108" y="4939"/>
                  </a:lnTo>
                  <a:lnTo>
                    <a:pt x="243103" y="0"/>
                  </a:lnTo>
                  <a:lnTo>
                    <a:pt x="2719578" y="0"/>
                  </a:lnTo>
                  <a:lnTo>
                    <a:pt x="2768564" y="4939"/>
                  </a:lnTo>
                  <a:lnTo>
                    <a:pt x="2814191" y="19105"/>
                  </a:lnTo>
                  <a:lnTo>
                    <a:pt x="2855481" y="41523"/>
                  </a:lnTo>
                  <a:lnTo>
                    <a:pt x="2891456" y="71215"/>
                  </a:lnTo>
                  <a:lnTo>
                    <a:pt x="2921139" y="107205"/>
                  </a:lnTo>
                  <a:lnTo>
                    <a:pt x="2943552" y="148518"/>
                  </a:lnTo>
                  <a:lnTo>
                    <a:pt x="2957717" y="194177"/>
                  </a:lnTo>
                  <a:lnTo>
                    <a:pt x="2962655" y="243204"/>
                  </a:lnTo>
                  <a:lnTo>
                    <a:pt x="2962655" y="1215516"/>
                  </a:lnTo>
                  <a:lnTo>
                    <a:pt x="2957717" y="1264503"/>
                  </a:lnTo>
                  <a:lnTo>
                    <a:pt x="2943552" y="1310130"/>
                  </a:lnTo>
                  <a:lnTo>
                    <a:pt x="2921139" y="1351420"/>
                  </a:lnTo>
                  <a:lnTo>
                    <a:pt x="2891456" y="1387395"/>
                  </a:lnTo>
                  <a:lnTo>
                    <a:pt x="2855481" y="1417078"/>
                  </a:lnTo>
                  <a:lnTo>
                    <a:pt x="2814191" y="1439491"/>
                  </a:lnTo>
                  <a:lnTo>
                    <a:pt x="2768564" y="1453656"/>
                  </a:lnTo>
                  <a:lnTo>
                    <a:pt x="2719578" y="1458594"/>
                  </a:lnTo>
                  <a:lnTo>
                    <a:pt x="243103" y="1458594"/>
                  </a:lnTo>
                  <a:lnTo>
                    <a:pt x="194108" y="1453656"/>
                  </a:lnTo>
                  <a:lnTo>
                    <a:pt x="148475" y="1439491"/>
                  </a:lnTo>
                  <a:lnTo>
                    <a:pt x="107181" y="1417078"/>
                  </a:lnTo>
                  <a:lnTo>
                    <a:pt x="71202" y="1387395"/>
                  </a:lnTo>
                  <a:lnTo>
                    <a:pt x="41517" y="1351420"/>
                  </a:lnTo>
                  <a:lnTo>
                    <a:pt x="19103" y="1310130"/>
                  </a:lnTo>
                  <a:lnTo>
                    <a:pt x="4938" y="1264503"/>
                  </a:lnTo>
                  <a:lnTo>
                    <a:pt x="0" y="1215516"/>
                  </a:lnTo>
                  <a:lnTo>
                    <a:pt x="0" y="243204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217777" y="1965451"/>
            <a:ext cx="1440180" cy="67881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 marR="5080" indent="65405">
              <a:lnSpc>
                <a:spcPts val="2380"/>
              </a:lnSpc>
              <a:spcBef>
                <a:spcPts val="500"/>
              </a:spcBef>
            </a:pPr>
            <a:r>
              <a:rPr sz="2300" dirty="0">
                <a:solidFill>
                  <a:srgbClr val="FFFFFF"/>
                </a:solidFill>
                <a:latin typeface="Arial MT"/>
                <a:cs typeface="Arial MT"/>
              </a:rPr>
              <a:t>Manage</a:t>
            </a:r>
            <a:r>
              <a:rPr sz="23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00" spc="-25" dirty="0">
                <a:solidFill>
                  <a:srgbClr val="FFFFFF"/>
                </a:solidFill>
                <a:latin typeface="Arial MT"/>
                <a:cs typeface="Arial MT"/>
              </a:rPr>
              <a:t>it </a:t>
            </a:r>
            <a:r>
              <a:rPr sz="2300" spc="-10" dirty="0">
                <a:solidFill>
                  <a:srgbClr val="FFFFFF"/>
                </a:solidFill>
                <a:latin typeface="Arial MT"/>
                <a:cs typeface="Arial MT"/>
              </a:rPr>
              <a:t>ourselves?</a:t>
            </a:r>
            <a:endParaRPr sz="23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407155" y="3267075"/>
            <a:ext cx="5292725" cy="1192530"/>
            <a:chOff x="3407155" y="3267075"/>
            <a:chExt cx="5292725" cy="1192530"/>
          </a:xfrm>
        </p:grpSpPr>
        <p:sp>
          <p:nvSpPr>
            <p:cNvPr id="12" name="object 12"/>
            <p:cNvSpPr/>
            <p:nvPr/>
          </p:nvSpPr>
          <p:spPr>
            <a:xfrm>
              <a:off x="3419855" y="3279775"/>
              <a:ext cx="5267325" cy="1167130"/>
            </a:xfrm>
            <a:custGeom>
              <a:avLst/>
              <a:gdLst/>
              <a:ahLst/>
              <a:cxnLst/>
              <a:rect l="l" t="t" r="r" b="b"/>
              <a:pathLst>
                <a:path w="5267325" h="1167129">
                  <a:moveTo>
                    <a:pt x="5072507" y="0"/>
                  </a:moveTo>
                  <a:lnTo>
                    <a:pt x="0" y="0"/>
                  </a:lnTo>
                  <a:lnTo>
                    <a:pt x="0" y="1166876"/>
                  </a:lnTo>
                  <a:lnTo>
                    <a:pt x="5072507" y="1166876"/>
                  </a:lnTo>
                  <a:lnTo>
                    <a:pt x="5117067" y="1161736"/>
                  </a:lnTo>
                  <a:lnTo>
                    <a:pt x="5157985" y="1147098"/>
                  </a:lnTo>
                  <a:lnTo>
                    <a:pt x="5194088" y="1124128"/>
                  </a:lnTo>
                  <a:lnTo>
                    <a:pt x="5224206" y="1093996"/>
                  </a:lnTo>
                  <a:lnTo>
                    <a:pt x="5247169" y="1057870"/>
                  </a:lnTo>
                  <a:lnTo>
                    <a:pt x="5261805" y="1016919"/>
                  </a:lnTo>
                  <a:lnTo>
                    <a:pt x="5266944" y="972312"/>
                  </a:lnTo>
                  <a:lnTo>
                    <a:pt x="5266944" y="194437"/>
                  </a:lnTo>
                  <a:lnTo>
                    <a:pt x="5261805" y="149836"/>
                  </a:lnTo>
                  <a:lnTo>
                    <a:pt x="5247169" y="108903"/>
                  </a:lnTo>
                  <a:lnTo>
                    <a:pt x="5224206" y="72802"/>
                  </a:lnTo>
                  <a:lnTo>
                    <a:pt x="5194088" y="42697"/>
                  </a:lnTo>
                  <a:lnTo>
                    <a:pt x="5157985" y="19752"/>
                  </a:lnTo>
                  <a:lnTo>
                    <a:pt x="5117067" y="5132"/>
                  </a:lnTo>
                  <a:lnTo>
                    <a:pt x="5072507" y="0"/>
                  </a:lnTo>
                  <a:close/>
                </a:path>
              </a:pathLst>
            </a:custGeom>
            <a:solidFill>
              <a:srgbClr val="D0D7E8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419855" y="3279775"/>
              <a:ext cx="5267325" cy="1167130"/>
            </a:xfrm>
            <a:custGeom>
              <a:avLst/>
              <a:gdLst/>
              <a:ahLst/>
              <a:cxnLst/>
              <a:rect l="l" t="t" r="r" b="b"/>
              <a:pathLst>
                <a:path w="5267325" h="1167129">
                  <a:moveTo>
                    <a:pt x="5266944" y="194437"/>
                  </a:moveTo>
                  <a:lnTo>
                    <a:pt x="5266944" y="972312"/>
                  </a:lnTo>
                  <a:lnTo>
                    <a:pt x="5261805" y="1016919"/>
                  </a:lnTo>
                  <a:lnTo>
                    <a:pt x="5247169" y="1057870"/>
                  </a:lnTo>
                  <a:lnTo>
                    <a:pt x="5224206" y="1093996"/>
                  </a:lnTo>
                  <a:lnTo>
                    <a:pt x="5194088" y="1124128"/>
                  </a:lnTo>
                  <a:lnTo>
                    <a:pt x="5157985" y="1147098"/>
                  </a:lnTo>
                  <a:lnTo>
                    <a:pt x="5117067" y="1161736"/>
                  </a:lnTo>
                  <a:lnTo>
                    <a:pt x="5072507" y="1166876"/>
                  </a:lnTo>
                  <a:lnTo>
                    <a:pt x="0" y="1166876"/>
                  </a:lnTo>
                  <a:lnTo>
                    <a:pt x="0" y="0"/>
                  </a:lnTo>
                  <a:lnTo>
                    <a:pt x="5072507" y="0"/>
                  </a:lnTo>
                  <a:lnTo>
                    <a:pt x="5117067" y="5132"/>
                  </a:lnTo>
                  <a:lnTo>
                    <a:pt x="5157985" y="19752"/>
                  </a:lnTo>
                  <a:lnTo>
                    <a:pt x="5194088" y="42697"/>
                  </a:lnTo>
                  <a:lnTo>
                    <a:pt x="5224206" y="72802"/>
                  </a:lnTo>
                  <a:lnTo>
                    <a:pt x="5247169" y="108903"/>
                  </a:lnTo>
                  <a:lnTo>
                    <a:pt x="5261805" y="149836"/>
                  </a:lnTo>
                  <a:lnTo>
                    <a:pt x="5266944" y="194437"/>
                  </a:lnTo>
                  <a:close/>
                </a:path>
              </a:pathLst>
            </a:custGeom>
            <a:ln w="25400">
              <a:solidFill>
                <a:srgbClr val="D0D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495294" y="3472052"/>
            <a:ext cx="4862195" cy="7289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5"/>
              </a:spcBef>
              <a:buChar char="•"/>
              <a:tabLst>
                <a:tab pos="240665" algn="l"/>
              </a:tabLst>
            </a:pPr>
            <a:r>
              <a:rPr sz="2300" dirty="0">
                <a:latin typeface="Arial MT"/>
                <a:cs typeface="Arial MT"/>
              </a:rPr>
              <a:t>Would</a:t>
            </a:r>
            <a:r>
              <a:rPr sz="2300" spc="-5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you</a:t>
            </a:r>
            <a:r>
              <a:rPr sz="2300" spc="-2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keep</a:t>
            </a:r>
            <a:r>
              <a:rPr sz="2300" spc="-2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it</a:t>
            </a:r>
            <a:r>
              <a:rPr sz="2300" spc="-1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on</a:t>
            </a:r>
            <a:r>
              <a:rPr sz="2300" spc="-1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your</a:t>
            </a:r>
            <a:r>
              <a:rPr sz="2300" spc="-25" dirty="0">
                <a:latin typeface="Arial MT"/>
                <a:cs typeface="Arial MT"/>
              </a:rPr>
              <a:t> </a:t>
            </a:r>
            <a:r>
              <a:rPr sz="2300" spc="-10" dirty="0">
                <a:latin typeface="Arial MT"/>
                <a:cs typeface="Arial MT"/>
              </a:rPr>
              <a:t>devices?</a:t>
            </a:r>
            <a:endParaRPr sz="230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0"/>
              </a:spcBef>
              <a:buChar char="•"/>
              <a:tabLst>
                <a:tab pos="240665" algn="l"/>
              </a:tabLst>
            </a:pPr>
            <a:r>
              <a:rPr sz="2300" dirty="0">
                <a:latin typeface="Arial MT"/>
                <a:cs typeface="Arial MT"/>
              </a:rPr>
              <a:t>or</a:t>
            </a:r>
            <a:r>
              <a:rPr sz="2300" spc="-1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would</a:t>
            </a:r>
            <a:r>
              <a:rPr sz="2300" spc="-3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you</a:t>
            </a:r>
            <a:r>
              <a:rPr sz="2300" spc="-2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keep</a:t>
            </a:r>
            <a:r>
              <a:rPr sz="2300" spc="-1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it</a:t>
            </a:r>
            <a:r>
              <a:rPr sz="2300" spc="-5" dirty="0">
                <a:latin typeface="Arial MT"/>
                <a:cs typeface="Arial MT"/>
              </a:rPr>
              <a:t> </a:t>
            </a:r>
            <a:r>
              <a:rPr sz="2300" spc="-10" dirty="0">
                <a:latin typeface="Arial MT"/>
                <a:cs typeface="Arial MT"/>
              </a:rPr>
              <a:t>online?</a:t>
            </a:r>
            <a:endParaRPr sz="230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44500" y="3121151"/>
            <a:ext cx="2988310" cy="1483995"/>
            <a:chOff x="444500" y="3121151"/>
            <a:chExt cx="2988310" cy="1483995"/>
          </a:xfrm>
        </p:grpSpPr>
        <p:sp>
          <p:nvSpPr>
            <p:cNvPr id="16" name="object 16"/>
            <p:cNvSpPr/>
            <p:nvPr/>
          </p:nvSpPr>
          <p:spPr>
            <a:xfrm>
              <a:off x="457200" y="3133851"/>
              <a:ext cx="2962910" cy="1458595"/>
            </a:xfrm>
            <a:custGeom>
              <a:avLst/>
              <a:gdLst/>
              <a:ahLst/>
              <a:cxnLst/>
              <a:rect l="l" t="t" r="r" b="b"/>
              <a:pathLst>
                <a:path w="2962910" h="1458595">
                  <a:moveTo>
                    <a:pt x="2719578" y="0"/>
                  </a:moveTo>
                  <a:lnTo>
                    <a:pt x="243103" y="0"/>
                  </a:lnTo>
                  <a:lnTo>
                    <a:pt x="194108" y="4939"/>
                  </a:lnTo>
                  <a:lnTo>
                    <a:pt x="148475" y="19105"/>
                  </a:lnTo>
                  <a:lnTo>
                    <a:pt x="107181" y="41523"/>
                  </a:lnTo>
                  <a:lnTo>
                    <a:pt x="71202" y="71215"/>
                  </a:lnTo>
                  <a:lnTo>
                    <a:pt x="41517" y="107205"/>
                  </a:lnTo>
                  <a:lnTo>
                    <a:pt x="19103" y="148518"/>
                  </a:lnTo>
                  <a:lnTo>
                    <a:pt x="4938" y="194177"/>
                  </a:lnTo>
                  <a:lnTo>
                    <a:pt x="0" y="243205"/>
                  </a:lnTo>
                  <a:lnTo>
                    <a:pt x="0" y="1215517"/>
                  </a:lnTo>
                  <a:lnTo>
                    <a:pt x="4938" y="1264503"/>
                  </a:lnTo>
                  <a:lnTo>
                    <a:pt x="19103" y="1310130"/>
                  </a:lnTo>
                  <a:lnTo>
                    <a:pt x="41517" y="1351420"/>
                  </a:lnTo>
                  <a:lnTo>
                    <a:pt x="71202" y="1387395"/>
                  </a:lnTo>
                  <a:lnTo>
                    <a:pt x="107181" y="1417078"/>
                  </a:lnTo>
                  <a:lnTo>
                    <a:pt x="148475" y="1439491"/>
                  </a:lnTo>
                  <a:lnTo>
                    <a:pt x="194108" y="1453656"/>
                  </a:lnTo>
                  <a:lnTo>
                    <a:pt x="243103" y="1458595"/>
                  </a:lnTo>
                  <a:lnTo>
                    <a:pt x="2719578" y="1458595"/>
                  </a:lnTo>
                  <a:lnTo>
                    <a:pt x="2768564" y="1453656"/>
                  </a:lnTo>
                  <a:lnTo>
                    <a:pt x="2814191" y="1439491"/>
                  </a:lnTo>
                  <a:lnTo>
                    <a:pt x="2855481" y="1417078"/>
                  </a:lnTo>
                  <a:lnTo>
                    <a:pt x="2891456" y="1387395"/>
                  </a:lnTo>
                  <a:lnTo>
                    <a:pt x="2921139" y="1351420"/>
                  </a:lnTo>
                  <a:lnTo>
                    <a:pt x="2943552" y="1310130"/>
                  </a:lnTo>
                  <a:lnTo>
                    <a:pt x="2957717" y="1264503"/>
                  </a:lnTo>
                  <a:lnTo>
                    <a:pt x="2962655" y="1215517"/>
                  </a:lnTo>
                  <a:lnTo>
                    <a:pt x="2962655" y="243205"/>
                  </a:lnTo>
                  <a:lnTo>
                    <a:pt x="2957717" y="194177"/>
                  </a:lnTo>
                  <a:lnTo>
                    <a:pt x="2943552" y="148518"/>
                  </a:lnTo>
                  <a:lnTo>
                    <a:pt x="2921139" y="107205"/>
                  </a:lnTo>
                  <a:lnTo>
                    <a:pt x="2891456" y="71215"/>
                  </a:lnTo>
                  <a:lnTo>
                    <a:pt x="2855481" y="41523"/>
                  </a:lnTo>
                  <a:lnTo>
                    <a:pt x="2814191" y="19105"/>
                  </a:lnTo>
                  <a:lnTo>
                    <a:pt x="2768564" y="4939"/>
                  </a:lnTo>
                  <a:lnTo>
                    <a:pt x="2719578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57200" y="3133851"/>
              <a:ext cx="2962910" cy="1458595"/>
            </a:xfrm>
            <a:custGeom>
              <a:avLst/>
              <a:gdLst/>
              <a:ahLst/>
              <a:cxnLst/>
              <a:rect l="l" t="t" r="r" b="b"/>
              <a:pathLst>
                <a:path w="2962910" h="1458595">
                  <a:moveTo>
                    <a:pt x="0" y="243205"/>
                  </a:moveTo>
                  <a:lnTo>
                    <a:pt x="4938" y="194177"/>
                  </a:lnTo>
                  <a:lnTo>
                    <a:pt x="19103" y="148518"/>
                  </a:lnTo>
                  <a:lnTo>
                    <a:pt x="41517" y="107205"/>
                  </a:lnTo>
                  <a:lnTo>
                    <a:pt x="71202" y="71215"/>
                  </a:lnTo>
                  <a:lnTo>
                    <a:pt x="107181" y="41523"/>
                  </a:lnTo>
                  <a:lnTo>
                    <a:pt x="148475" y="19105"/>
                  </a:lnTo>
                  <a:lnTo>
                    <a:pt x="194108" y="4939"/>
                  </a:lnTo>
                  <a:lnTo>
                    <a:pt x="243103" y="0"/>
                  </a:lnTo>
                  <a:lnTo>
                    <a:pt x="2719578" y="0"/>
                  </a:lnTo>
                  <a:lnTo>
                    <a:pt x="2768564" y="4939"/>
                  </a:lnTo>
                  <a:lnTo>
                    <a:pt x="2814191" y="19105"/>
                  </a:lnTo>
                  <a:lnTo>
                    <a:pt x="2855481" y="41523"/>
                  </a:lnTo>
                  <a:lnTo>
                    <a:pt x="2891456" y="71215"/>
                  </a:lnTo>
                  <a:lnTo>
                    <a:pt x="2921139" y="107205"/>
                  </a:lnTo>
                  <a:lnTo>
                    <a:pt x="2943552" y="148518"/>
                  </a:lnTo>
                  <a:lnTo>
                    <a:pt x="2957717" y="194177"/>
                  </a:lnTo>
                  <a:lnTo>
                    <a:pt x="2962655" y="243205"/>
                  </a:lnTo>
                  <a:lnTo>
                    <a:pt x="2962655" y="1215517"/>
                  </a:lnTo>
                  <a:lnTo>
                    <a:pt x="2957717" y="1264503"/>
                  </a:lnTo>
                  <a:lnTo>
                    <a:pt x="2943552" y="1310130"/>
                  </a:lnTo>
                  <a:lnTo>
                    <a:pt x="2921139" y="1351420"/>
                  </a:lnTo>
                  <a:lnTo>
                    <a:pt x="2891456" y="1387395"/>
                  </a:lnTo>
                  <a:lnTo>
                    <a:pt x="2855481" y="1417078"/>
                  </a:lnTo>
                  <a:lnTo>
                    <a:pt x="2814191" y="1439491"/>
                  </a:lnTo>
                  <a:lnTo>
                    <a:pt x="2768564" y="1453656"/>
                  </a:lnTo>
                  <a:lnTo>
                    <a:pt x="2719578" y="1458595"/>
                  </a:lnTo>
                  <a:lnTo>
                    <a:pt x="243103" y="1458595"/>
                  </a:lnTo>
                  <a:lnTo>
                    <a:pt x="194108" y="1453656"/>
                  </a:lnTo>
                  <a:lnTo>
                    <a:pt x="148475" y="1439491"/>
                  </a:lnTo>
                  <a:lnTo>
                    <a:pt x="107181" y="1417078"/>
                  </a:lnTo>
                  <a:lnTo>
                    <a:pt x="71202" y="1387395"/>
                  </a:lnTo>
                  <a:lnTo>
                    <a:pt x="41517" y="1351420"/>
                  </a:lnTo>
                  <a:lnTo>
                    <a:pt x="19103" y="1310130"/>
                  </a:lnTo>
                  <a:lnTo>
                    <a:pt x="4938" y="1264503"/>
                  </a:lnTo>
                  <a:lnTo>
                    <a:pt x="0" y="1215517"/>
                  </a:lnTo>
                  <a:lnTo>
                    <a:pt x="0" y="243205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58469" y="3346196"/>
            <a:ext cx="2559685" cy="98044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 marR="5080" indent="31750" algn="just">
              <a:lnSpc>
                <a:spcPts val="2380"/>
              </a:lnSpc>
              <a:spcBef>
                <a:spcPts val="500"/>
              </a:spcBef>
            </a:pPr>
            <a:r>
              <a:rPr sz="2300" dirty="0">
                <a:solidFill>
                  <a:srgbClr val="FFFFFF"/>
                </a:solidFill>
                <a:latin typeface="Arial MT"/>
                <a:cs typeface="Arial MT"/>
              </a:rPr>
              <a:t>How</a:t>
            </a:r>
            <a:r>
              <a:rPr sz="23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FFFFFF"/>
                </a:solidFill>
                <a:latin typeface="Arial MT"/>
                <a:cs typeface="Arial MT"/>
              </a:rPr>
              <a:t>would</a:t>
            </a:r>
            <a:r>
              <a:rPr sz="23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FFFFFF"/>
                </a:solidFill>
                <a:latin typeface="Arial MT"/>
                <a:cs typeface="Arial MT"/>
              </a:rPr>
              <a:t>you</a:t>
            </a:r>
            <a:r>
              <a:rPr sz="23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00" spc="-25" dirty="0">
                <a:solidFill>
                  <a:srgbClr val="FFFFFF"/>
                </a:solidFill>
                <a:latin typeface="Arial MT"/>
                <a:cs typeface="Arial MT"/>
              </a:rPr>
              <a:t>get </a:t>
            </a:r>
            <a:r>
              <a:rPr sz="2300" dirty="0">
                <a:solidFill>
                  <a:srgbClr val="FFFFFF"/>
                </a:solidFill>
                <a:latin typeface="Arial MT"/>
                <a:cs typeface="Arial MT"/>
              </a:rPr>
              <a:t>access</a:t>
            </a:r>
            <a:r>
              <a:rPr sz="23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FFFFFF"/>
                </a:solidFill>
                <a:latin typeface="Arial MT"/>
                <a:cs typeface="Arial MT"/>
              </a:rPr>
              <a:t>to your</a:t>
            </a:r>
            <a:r>
              <a:rPr sz="23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00" spc="-20" dirty="0">
                <a:solidFill>
                  <a:srgbClr val="FFFFFF"/>
                </a:solidFill>
                <a:latin typeface="Arial MT"/>
                <a:cs typeface="Arial MT"/>
              </a:rPr>
              <a:t>data </a:t>
            </a:r>
            <a:r>
              <a:rPr sz="2300" dirty="0">
                <a:solidFill>
                  <a:srgbClr val="FFFFFF"/>
                </a:solidFill>
                <a:latin typeface="Arial MT"/>
                <a:cs typeface="Arial MT"/>
              </a:rPr>
              <a:t>wherever</a:t>
            </a:r>
            <a:r>
              <a:rPr sz="23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FFFFFF"/>
                </a:solidFill>
                <a:latin typeface="Arial MT"/>
                <a:cs typeface="Arial MT"/>
              </a:rPr>
              <a:t>you</a:t>
            </a:r>
            <a:r>
              <a:rPr sz="23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00" spc="-20" dirty="0">
                <a:solidFill>
                  <a:srgbClr val="FFFFFF"/>
                </a:solidFill>
                <a:latin typeface="Arial MT"/>
                <a:cs typeface="Arial MT"/>
              </a:rPr>
              <a:t>are?</a:t>
            </a:r>
            <a:endParaRPr sz="230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407155" y="4798567"/>
            <a:ext cx="5292725" cy="1192530"/>
            <a:chOff x="3407155" y="4798567"/>
            <a:chExt cx="5292725" cy="1192530"/>
          </a:xfrm>
        </p:grpSpPr>
        <p:sp>
          <p:nvSpPr>
            <p:cNvPr id="20" name="object 20"/>
            <p:cNvSpPr/>
            <p:nvPr/>
          </p:nvSpPr>
          <p:spPr>
            <a:xfrm>
              <a:off x="3419855" y="4811267"/>
              <a:ext cx="5267325" cy="1167130"/>
            </a:xfrm>
            <a:custGeom>
              <a:avLst/>
              <a:gdLst/>
              <a:ahLst/>
              <a:cxnLst/>
              <a:rect l="l" t="t" r="r" b="b"/>
              <a:pathLst>
                <a:path w="5267325" h="1167129">
                  <a:moveTo>
                    <a:pt x="5072507" y="0"/>
                  </a:moveTo>
                  <a:lnTo>
                    <a:pt x="0" y="0"/>
                  </a:lnTo>
                  <a:lnTo>
                    <a:pt x="0" y="1166825"/>
                  </a:lnTo>
                  <a:lnTo>
                    <a:pt x="5072507" y="1166825"/>
                  </a:lnTo>
                  <a:lnTo>
                    <a:pt x="5117067" y="1161688"/>
                  </a:lnTo>
                  <a:lnTo>
                    <a:pt x="5157985" y="1147058"/>
                  </a:lnTo>
                  <a:lnTo>
                    <a:pt x="5194088" y="1124100"/>
                  </a:lnTo>
                  <a:lnTo>
                    <a:pt x="5224206" y="1093983"/>
                  </a:lnTo>
                  <a:lnTo>
                    <a:pt x="5247169" y="1057874"/>
                  </a:lnTo>
                  <a:lnTo>
                    <a:pt x="5261805" y="1016940"/>
                  </a:lnTo>
                  <a:lnTo>
                    <a:pt x="5266944" y="972350"/>
                  </a:lnTo>
                  <a:lnTo>
                    <a:pt x="5266944" y="194436"/>
                  </a:lnTo>
                  <a:lnTo>
                    <a:pt x="5261805" y="149836"/>
                  </a:lnTo>
                  <a:lnTo>
                    <a:pt x="5247169" y="108903"/>
                  </a:lnTo>
                  <a:lnTo>
                    <a:pt x="5224206" y="72802"/>
                  </a:lnTo>
                  <a:lnTo>
                    <a:pt x="5194088" y="42697"/>
                  </a:lnTo>
                  <a:lnTo>
                    <a:pt x="5157985" y="19752"/>
                  </a:lnTo>
                  <a:lnTo>
                    <a:pt x="5117067" y="5132"/>
                  </a:lnTo>
                  <a:lnTo>
                    <a:pt x="5072507" y="0"/>
                  </a:lnTo>
                  <a:close/>
                </a:path>
              </a:pathLst>
            </a:custGeom>
            <a:solidFill>
              <a:srgbClr val="D0D7E8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419855" y="4811267"/>
              <a:ext cx="5267325" cy="1167130"/>
            </a:xfrm>
            <a:custGeom>
              <a:avLst/>
              <a:gdLst/>
              <a:ahLst/>
              <a:cxnLst/>
              <a:rect l="l" t="t" r="r" b="b"/>
              <a:pathLst>
                <a:path w="5267325" h="1167129">
                  <a:moveTo>
                    <a:pt x="5266944" y="194436"/>
                  </a:moveTo>
                  <a:lnTo>
                    <a:pt x="5266944" y="972350"/>
                  </a:lnTo>
                  <a:lnTo>
                    <a:pt x="5261805" y="1016940"/>
                  </a:lnTo>
                  <a:lnTo>
                    <a:pt x="5247169" y="1057874"/>
                  </a:lnTo>
                  <a:lnTo>
                    <a:pt x="5224206" y="1093983"/>
                  </a:lnTo>
                  <a:lnTo>
                    <a:pt x="5194088" y="1124100"/>
                  </a:lnTo>
                  <a:lnTo>
                    <a:pt x="5157985" y="1147058"/>
                  </a:lnTo>
                  <a:lnTo>
                    <a:pt x="5117067" y="1161688"/>
                  </a:lnTo>
                  <a:lnTo>
                    <a:pt x="5072507" y="1166825"/>
                  </a:lnTo>
                  <a:lnTo>
                    <a:pt x="0" y="1166825"/>
                  </a:lnTo>
                  <a:lnTo>
                    <a:pt x="0" y="0"/>
                  </a:lnTo>
                  <a:lnTo>
                    <a:pt x="5072507" y="0"/>
                  </a:lnTo>
                  <a:lnTo>
                    <a:pt x="5117067" y="5132"/>
                  </a:lnTo>
                  <a:lnTo>
                    <a:pt x="5157985" y="19752"/>
                  </a:lnTo>
                  <a:lnTo>
                    <a:pt x="5194088" y="42697"/>
                  </a:lnTo>
                  <a:lnTo>
                    <a:pt x="5224206" y="72802"/>
                  </a:lnTo>
                  <a:lnTo>
                    <a:pt x="5247169" y="108903"/>
                  </a:lnTo>
                  <a:lnTo>
                    <a:pt x="5261805" y="149836"/>
                  </a:lnTo>
                  <a:lnTo>
                    <a:pt x="5266944" y="194436"/>
                  </a:lnTo>
                  <a:close/>
                </a:path>
              </a:pathLst>
            </a:custGeom>
            <a:ln w="25400">
              <a:solidFill>
                <a:srgbClr val="D0D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3495294" y="5028641"/>
            <a:ext cx="4672330" cy="6794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0029" indent="-227329">
              <a:lnSpc>
                <a:spcPts val="2570"/>
              </a:lnSpc>
              <a:spcBef>
                <a:spcPts val="105"/>
              </a:spcBef>
              <a:buChar char="•"/>
              <a:tabLst>
                <a:tab pos="240029" algn="l"/>
              </a:tabLst>
            </a:pPr>
            <a:r>
              <a:rPr sz="2300" dirty="0">
                <a:latin typeface="Arial MT"/>
                <a:cs typeface="Arial MT"/>
              </a:rPr>
              <a:t>and</a:t>
            </a:r>
            <a:r>
              <a:rPr sz="2300" spc="-1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you</a:t>
            </a:r>
            <a:r>
              <a:rPr sz="2300" spc="-2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can</a:t>
            </a:r>
            <a:r>
              <a:rPr sz="2300" spc="-1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get</a:t>
            </a:r>
            <a:r>
              <a:rPr sz="2300" spc="-3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this</a:t>
            </a:r>
            <a:r>
              <a:rPr sz="2300" spc="-5" dirty="0">
                <a:latin typeface="Arial MT"/>
                <a:cs typeface="Arial MT"/>
              </a:rPr>
              <a:t> </a:t>
            </a:r>
            <a:r>
              <a:rPr sz="2300" b="1" dirty="0">
                <a:latin typeface="Arial"/>
                <a:cs typeface="Arial"/>
              </a:rPr>
              <a:t>“service”</a:t>
            </a:r>
            <a:r>
              <a:rPr sz="2300" b="1" spc="-35" dirty="0">
                <a:latin typeface="Arial"/>
                <a:cs typeface="Arial"/>
              </a:rPr>
              <a:t> </a:t>
            </a:r>
            <a:r>
              <a:rPr sz="2300" spc="-25" dirty="0">
                <a:latin typeface="Arial MT"/>
                <a:cs typeface="Arial MT"/>
              </a:rPr>
              <a:t>for</a:t>
            </a:r>
            <a:endParaRPr sz="2300">
              <a:latin typeface="Arial MT"/>
              <a:cs typeface="Arial MT"/>
            </a:endParaRPr>
          </a:p>
          <a:p>
            <a:pPr marL="241300">
              <a:lnSpc>
                <a:spcPts val="2570"/>
              </a:lnSpc>
            </a:pPr>
            <a:r>
              <a:rPr sz="2300" dirty="0">
                <a:latin typeface="Arial MT"/>
                <a:cs typeface="Arial MT"/>
              </a:rPr>
              <a:t>free</a:t>
            </a:r>
            <a:r>
              <a:rPr sz="2300" spc="-2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or</a:t>
            </a:r>
            <a:r>
              <a:rPr sz="2300" spc="-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with</a:t>
            </a:r>
            <a:r>
              <a:rPr sz="2300" spc="-2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a</a:t>
            </a:r>
            <a:r>
              <a:rPr sz="2300" spc="-5" dirty="0">
                <a:latin typeface="Arial MT"/>
                <a:cs typeface="Arial MT"/>
              </a:rPr>
              <a:t> </a:t>
            </a:r>
            <a:r>
              <a:rPr sz="2300" spc="-10" dirty="0">
                <a:latin typeface="Arial MT"/>
                <a:cs typeface="Arial MT"/>
              </a:rPr>
              <a:t>subscription?</a:t>
            </a:r>
            <a:endParaRPr sz="2300">
              <a:latin typeface="Arial MT"/>
              <a:cs typeface="Arial M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444500" y="4652645"/>
            <a:ext cx="2988310" cy="1484630"/>
            <a:chOff x="444500" y="4652645"/>
            <a:chExt cx="2988310" cy="1484630"/>
          </a:xfrm>
        </p:grpSpPr>
        <p:sp>
          <p:nvSpPr>
            <p:cNvPr id="24" name="object 24"/>
            <p:cNvSpPr/>
            <p:nvPr/>
          </p:nvSpPr>
          <p:spPr>
            <a:xfrm>
              <a:off x="457200" y="4665345"/>
              <a:ext cx="2962910" cy="1459230"/>
            </a:xfrm>
            <a:custGeom>
              <a:avLst/>
              <a:gdLst/>
              <a:ahLst/>
              <a:cxnLst/>
              <a:rect l="l" t="t" r="r" b="b"/>
              <a:pathLst>
                <a:path w="2962910" h="1459229">
                  <a:moveTo>
                    <a:pt x="2719578" y="0"/>
                  </a:moveTo>
                  <a:lnTo>
                    <a:pt x="243103" y="0"/>
                  </a:lnTo>
                  <a:lnTo>
                    <a:pt x="194108" y="4939"/>
                  </a:lnTo>
                  <a:lnTo>
                    <a:pt x="148475" y="19105"/>
                  </a:lnTo>
                  <a:lnTo>
                    <a:pt x="107181" y="41523"/>
                  </a:lnTo>
                  <a:lnTo>
                    <a:pt x="71202" y="71215"/>
                  </a:lnTo>
                  <a:lnTo>
                    <a:pt x="41517" y="107205"/>
                  </a:lnTo>
                  <a:lnTo>
                    <a:pt x="19103" y="148518"/>
                  </a:lnTo>
                  <a:lnTo>
                    <a:pt x="4938" y="194177"/>
                  </a:lnTo>
                  <a:lnTo>
                    <a:pt x="0" y="243204"/>
                  </a:lnTo>
                  <a:lnTo>
                    <a:pt x="0" y="1215504"/>
                  </a:lnTo>
                  <a:lnTo>
                    <a:pt x="4938" y="1264498"/>
                  </a:lnTo>
                  <a:lnTo>
                    <a:pt x="19103" y="1310131"/>
                  </a:lnTo>
                  <a:lnTo>
                    <a:pt x="41517" y="1351426"/>
                  </a:lnTo>
                  <a:lnTo>
                    <a:pt x="71202" y="1387405"/>
                  </a:lnTo>
                  <a:lnTo>
                    <a:pt x="107181" y="1417090"/>
                  </a:lnTo>
                  <a:lnTo>
                    <a:pt x="148475" y="1439503"/>
                  </a:lnTo>
                  <a:lnTo>
                    <a:pt x="194108" y="1453668"/>
                  </a:lnTo>
                  <a:lnTo>
                    <a:pt x="243103" y="1458607"/>
                  </a:lnTo>
                  <a:lnTo>
                    <a:pt x="2719578" y="1458607"/>
                  </a:lnTo>
                  <a:lnTo>
                    <a:pt x="2768564" y="1453668"/>
                  </a:lnTo>
                  <a:lnTo>
                    <a:pt x="2814191" y="1439503"/>
                  </a:lnTo>
                  <a:lnTo>
                    <a:pt x="2855481" y="1417090"/>
                  </a:lnTo>
                  <a:lnTo>
                    <a:pt x="2891456" y="1387405"/>
                  </a:lnTo>
                  <a:lnTo>
                    <a:pt x="2921139" y="1351426"/>
                  </a:lnTo>
                  <a:lnTo>
                    <a:pt x="2943552" y="1310131"/>
                  </a:lnTo>
                  <a:lnTo>
                    <a:pt x="2957717" y="1264498"/>
                  </a:lnTo>
                  <a:lnTo>
                    <a:pt x="2962655" y="1215504"/>
                  </a:lnTo>
                  <a:lnTo>
                    <a:pt x="2962655" y="243204"/>
                  </a:lnTo>
                  <a:lnTo>
                    <a:pt x="2957717" y="194177"/>
                  </a:lnTo>
                  <a:lnTo>
                    <a:pt x="2943552" y="148518"/>
                  </a:lnTo>
                  <a:lnTo>
                    <a:pt x="2921139" y="107205"/>
                  </a:lnTo>
                  <a:lnTo>
                    <a:pt x="2891456" y="71215"/>
                  </a:lnTo>
                  <a:lnTo>
                    <a:pt x="2855481" y="41523"/>
                  </a:lnTo>
                  <a:lnTo>
                    <a:pt x="2814191" y="19105"/>
                  </a:lnTo>
                  <a:lnTo>
                    <a:pt x="2768564" y="4939"/>
                  </a:lnTo>
                  <a:lnTo>
                    <a:pt x="2719578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57200" y="4665345"/>
              <a:ext cx="2962910" cy="1459230"/>
            </a:xfrm>
            <a:custGeom>
              <a:avLst/>
              <a:gdLst/>
              <a:ahLst/>
              <a:cxnLst/>
              <a:rect l="l" t="t" r="r" b="b"/>
              <a:pathLst>
                <a:path w="2962910" h="1459229">
                  <a:moveTo>
                    <a:pt x="0" y="243204"/>
                  </a:moveTo>
                  <a:lnTo>
                    <a:pt x="4938" y="194177"/>
                  </a:lnTo>
                  <a:lnTo>
                    <a:pt x="19103" y="148518"/>
                  </a:lnTo>
                  <a:lnTo>
                    <a:pt x="41517" y="107205"/>
                  </a:lnTo>
                  <a:lnTo>
                    <a:pt x="71202" y="71215"/>
                  </a:lnTo>
                  <a:lnTo>
                    <a:pt x="107181" y="41523"/>
                  </a:lnTo>
                  <a:lnTo>
                    <a:pt x="148475" y="19105"/>
                  </a:lnTo>
                  <a:lnTo>
                    <a:pt x="194108" y="4939"/>
                  </a:lnTo>
                  <a:lnTo>
                    <a:pt x="243103" y="0"/>
                  </a:lnTo>
                  <a:lnTo>
                    <a:pt x="2719578" y="0"/>
                  </a:lnTo>
                  <a:lnTo>
                    <a:pt x="2768564" y="4939"/>
                  </a:lnTo>
                  <a:lnTo>
                    <a:pt x="2814191" y="19105"/>
                  </a:lnTo>
                  <a:lnTo>
                    <a:pt x="2855481" y="41523"/>
                  </a:lnTo>
                  <a:lnTo>
                    <a:pt x="2891456" y="71215"/>
                  </a:lnTo>
                  <a:lnTo>
                    <a:pt x="2921139" y="107205"/>
                  </a:lnTo>
                  <a:lnTo>
                    <a:pt x="2943552" y="148518"/>
                  </a:lnTo>
                  <a:lnTo>
                    <a:pt x="2957717" y="194177"/>
                  </a:lnTo>
                  <a:lnTo>
                    <a:pt x="2962655" y="243204"/>
                  </a:lnTo>
                  <a:lnTo>
                    <a:pt x="2962655" y="1215504"/>
                  </a:lnTo>
                  <a:lnTo>
                    <a:pt x="2957717" y="1264498"/>
                  </a:lnTo>
                  <a:lnTo>
                    <a:pt x="2943552" y="1310131"/>
                  </a:lnTo>
                  <a:lnTo>
                    <a:pt x="2921139" y="1351426"/>
                  </a:lnTo>
                  <a:lnTo>
                    <a:pt x="2891456" y="1387405"/>
                  </a:lnTo>
                  <a:lnTo>
                    <a:pt x="2855481" y="1417090"/>
                  </a:lnTo>
                  <a:lnTo>
                    <a:pt x="2814191" y="1439503"/>
                  </a:lnTo>
                  <a:lnTo>
                    <a:pt x="2768564" y="1453668"/>
                  </a:lnTo>
                  <a:lnTo>
                    <a:pt x="2719578" y="1458607"/>
                  </a:lnTo>
                  <a:lnTo>
                    <a:pt x="243103" y="1458607"/>
                  </a:lnTo>
                  <a:lnTo>
                    <a:pt x="194108" y="1453668"/>
                  </a:lnTo>
                  <a:lnTo>
                    <a:pt x="148475" y="1439503"/>
                  </a:lnTo>
                  <a:lnTo>
                    <a:pt x="107181" y="1417090"/>
                  </a:lnTo>
                  <a:lnTo>
                    <a:pt x="71202" y="1387405"/>
                  </a:lnTo>
                  <a:lnTo>
                    <a:pt x="41517" y="1351426"/>
                  </a:lnTo>
                  <a:lnTo>
                    <a:pt x="19103" y="1310131"/>
                  </a:lnTo>
                  <a:lnTo>
                    <a:pt x="4938" y="1264498"/>
                  </a:lnTo>
                  <a:lnTo>
                    <a:pt x="0" y="1215504"/>
                  </a:lnTo>
                  <a:lnTo>
                    <a:pt x="0" y="243204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603605" y="5028641"/>
            <a:ext cx="2670810" cy="6794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2570"/>
              </a:lnSpc>
              <a:spcBef>
                <a:spcPts val="105"/>
              </a:spcBef>
            </a:pPr>
            <a:r>
              <a:rPr sz="2300" dirty="0">
                <a:solidFill>
                  <a:srgbClr val="FFFFFF"/>
                </a:solidFill>
                <a:latin typeface="Arial MT"/>
                <a:cs typeface="Arial MT"/>
              </a:rPr>
              <a:t>What</a:t>
            </a:r>
            <a:r>
              <a:rPr sz="23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FFFFFF"/>
                </a:solidFill>
                <a:latin typeface="Arial MT"/>
                <a:cs typeface="Arial MT"/>
              </a:rPr>
              <a:t>if</a:t>
            </a:r>
            <a:r>
              <a:rPr sz="23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FFFFFF"/>
                </a:solidFill>
                <a:latin typeface="Arial MT"/>
                <a:cs typeface="Arial MT"/>
              </a:rPr>
              <a:t>it’s</a:t>
            </a:r>
            <a:r>
              <a:rPr sz="23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00" spc="-10" dirty="0">
                <a:solidFill>
                  <a:srgbClr val="FFFFFF"/>
                </a:solidFill>
                <a:latin typeface="Arial MT"/>
                <a:cs typeface="Arial MT"/>
              </a:rPr>
              <a:t>managed</a:t>
            </a:r>
            <a:endParaRPr sz="2300">
              <a:latin typeface="Arial MT"/>
              <a:cs typeface="Arial MT"/>
            </a:endParaRPr>
          </a:p>
          <a:p>
            <a:pPr marL="147955">
              <a:lnSpc>
                <a:spcPts val="2570"/>
              </a:lnSpc>
            </a:pPr>
            <a:r>
              <a:rPr sz="2300" dirty="0">
                <a:solidFill>
                  <a:srgbClr val="FFFFFF"/>
                </a:solidFill>
                <a:latin typeface="Arial MT"/>
                <a:cs typeface="Arial MT"/>
              </a:rPr>
              <a:t>by</a:t>
            </a:r>
            <a:r>
              <a:rPr sz="23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FFFFFF"/>
                </a:solidFill>
                <a:latin typeface="Arial MT"/>
                <a:cs typeface="Arial MT"/>
              </a:rPr>
              <a:t>someone</a:t>
            </a:r>
            <a:r>
              <a:rPr sz="23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00" spc="-10" dirty="0">
                <a:solidFill>
                  <a:srgbClr val="FFFFFF"/>
                </a:solidFill>
                <a:latin typeface="Arial MT"/>
                <a:cs typeface="Arial MT"/>
              </a:rPr>
              <a:t>else?</a:t>
            </a:r>
            <a:endParaRPr sz="23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5066" rIns="0" bIns="0" rtlCol="0">
            <a:spAutoFit/>
          </a:bodyPr>
          <a:lstStyle/>
          <a:p>
            <a:pPr marL="972185">
              <a:lnSpc>
                <a:spcPct val="100000"/>
              </a:lnSpc>
              <a:spcBef>
                <a:spcPts val="105"/>
              </a:spcBef>
            </a:pPr>
            <a:r>
              <a:rPr dirty="0"/>
              <a:t>Has</a:t>
            </a:r>
            <a:r>
              <a:rPr spc="-25" dirty="0"/>
              <a:t> </a:t>
            </a:r>
            <a:r>
              <a:rPr dirty="0"/>
              <a:t>this</a:t>
            </a:r>
            <a:r>
              <a:rPr spc="-10" dirty="0"/>
              <a:t> </a:t>
            </a:r>
            <a:r>
              <a:rPr dirty="0"/>
              <a:t>Happened</a:t>
            </a:r>
            <a:r>
              <a:rPr spc="-20" dirty="0"/>
              <a:t> </a:t>
            </a:r>
            <a:r>
              <a:rPr spc="-10" dirty="0"/>
              <a:t>Before?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068324" y="1808988"/>
            <a:ext cx="6537959" cy="3362325"/>
            <a:chOff x="1068324" y="1808988"/>
            <a:chExt cx="6537959" cy="336232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21536" y="1808988"/>
              <a:ext cx="5984748" cy="336194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663573" y="1828800"/>
              <a:ext cx="5899785" cy="3276600"/>
            </a:xfrm>
            <a:custGeom>
              <a:avLst/>
              <a:gdLst/>
              <a:ahLst/>
              <a:cxnLst/>
              <a:rect l="l" t="t" r="r" b="b"/>
              <a:pathLst>
                <a:path w="5899784" h="3276600">
                  <a:moveTo>
                    <a:pt x="4261104" y="0"/>
                  </a:moveTo>
                  <a:lnTo>
                    <a:pt x="4261104" y="819150"/>
                  </a:lnTo>
                  <a:lnTo>
                    <a:pt x="0" y="819150"/>
                  </a:lnTo>
                  <a:lnTo>
                    <a:pt x="0" y="2457450"/>
                  </a:lnTo>
                  <a:lnTo>
                    <a:pt x="4261104" y="2457450"/>
                  </a:lnTo>
                  <a:lnTo>
                    <a:pt x="4261104" y="3276600"/>
                  </a:lnTo>
                  <a:lnTo>
                    <a:pt x="5899404" y="1638300"/>
                  </a:lnTo>
                  <a:lnTo>
                    <a:pt x="4261104" y="0"/>
                  </a:lnTo>
                  <a:close/>
                </a:path>
              </a:pathLst>
            </a:custGeom>
            <a:solidFill>
              <a:srgbClr val="E8D0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68324" y="2790444"/>
              <a:ext cx="2459736" cy="1399031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325117" y="3182873"/>
            <a:ext cx="1837055" cy="497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100" spc="-10" dirty="0">
                <a:solidFill>
                  <a:srgbClr val="FFFFFF"/>
                </a:solidFill>
                <a:latin typeface="Arial MT"/>
                <a:cs typeface="Arial MT"/>
              </a:rPr>
              <a:t>Innovation</a:t>
            </a:r>
            <a:endParaRPr sz="3100">
              <a:latin typeface="Arial MT"/>
              <a:cs typeface="Arial MT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68623" y="2790444"/>
            <a:ext cx="2289048" cy="139903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3923791" y="3182873"/>
            <a:ext cx="1379855" cy="497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100" spc="-10" dirty="0">
                <a:solidFill>
                  <a:srgbClr val="FFFFFF"/>
                </a:solidFill>
                <a:latin typeface="Arial MT"/>
                <a:cs typeface="Arial MT"/>
              </a:rPr>
              <a:t>Product</a:t>
            </a:r>
            <a:endParaRPr sz="3100">
              <a:latin typeface="Arial MT"/>
              <a:cs typeface="Arial MT"/>
            </a:endParaRPr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838444" y="2790444"/>
            <a:ext cx="2289048" cy="1399031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6317107" y="3182873"/>
            <a:ext cx="1336675" cy="497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100" spc="-10" dirty="0">
                <a:solidFill>
                  <a:srgbClr val="FFFFFF"/>
                </a:solidFill>
                <a:latin typeface="Arial MT"/>
                <a:cs typeface="Arial MT"/>
              </a:rPr>
              <a:t>Service</a:t>
            </a:r>
            <a:endParaRPr sz="3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38783" y="389382"/>
            <a:ext cx="546544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Think</a:t>
            </a:r>
            <a:r>
              <a:rPr spc="-10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dirty="0"/>
              <a:t>it</a:t>
            </a:r>
            <a:r>
              <a:rPr spc="-10" dirty="0"/>
              <a:t> </a:t>
            </a:r>
            <a:r>
              <a:rPr dirty="0"/>
              <a:t>this</a:t>
            </a:r>
            <a:r>
              <a:rPr spc="-5" dirty="0"/>
              <a:t> </a:t>
            </a:r>
            <a:r>
              <a:rPr dirty="0"/>
              <a:t>Way</a:t>
            </a:r>
            <a:r>
              <a:rPr spc="-10" dirty="0"/>
              <a:t> </a:t>
            </a:r>
            <a:r>
              <a:rPr spc="-50" dirty="0"/>
              <a:t>…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0148" y="1568919"/>
            <a:ext cx="188252" cy="19236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18794" y="1383283"/>
            <a:ext cx="435927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Arial MT"/>
                <a:cs typeface="Arial MT"/>
              </a:rPr>
              <a:t>Evolution</a:t>
            </a:r>
            <a:r>
              <a:rPr sz="3200" spc="-5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of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water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Utility</a:t>
            </a:r>
            <a:endParaRPr sz="32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2168" y="2112264"/>
            <a:ext cx="2695956" cy="351739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73632" y="3872865"/>
            <a:ext cx="1912620" cy="5803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2185"/>
              </a:lnSpc>
              <a:spcBef>
                <a:spcPts val="95"/>
              </a:spcBef>
            </a:pP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Generate</a:t>
            </a:r>
            <a:r>
              <a:rPr sz="19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your</a:t>
            </a:r>
            <a:r>
              <a:rPr sz="19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5" dirty="0">
                <a:solidFill>
                  <a:srgbClr val="FFFFFF"/>
                </a:solidFill>
                <a:latin typeface="Calibri"/>
                <a:cs typeface="Calibri"/>
              </a:rPr>
              <a:t>own</a:t>
            </a:r>
            <a:endParaRPr sz="1900">
              <a:latin typeface="Calibri"/>
              <a:cs typeface="Calibri"/>
            </a:endParaRPr>
          </a:p>
          <a:p>
            <a:pPr algn="ctr">
              <a:lnSpc>
                <a:spcPts val="2185"/>
              </a:lnSpc>
            </a:pP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utility</a:t>
            </a:r>
            <a:endParaRPr sz="19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316736" y="2112264"/>
            <a:ext cx="4688205" cy="3517900"/>
            <a:chOff x="1316736" y="2112264"/>
            <a:chExt cx="4688205" cy="3517900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16736" y="2418588"/>
              <a:ext cx="1229868" cy="122986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91840" y="2112264"/>
              <a:ext cx="2712719" cy="3517391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3505580" y="3872865"/>
            <a:ext cx="2266315" cy="5803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2185"/>
              </a:lnSpc>
              <a:spcBef>
                <a:spcPts val="95"/>
              </a:spcBef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Buy</a:t>
            </a:r>
            <a:r>
              <a:rPr sz="19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sz="19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sz="1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9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product</a:t>
            </a:r>
            <a:r>
              <a:rPr sz="19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5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endParaRPr sz="1900">
              <a:latin typeface="Calibri"/>
              <a:cs typeface="Calibri"/>
            </a:endParaRPr>
          </a:p>
          <a:p>
            <a:pPr marL="2540" algn="ctr">
              <a:lnSpc>
                <a:spcPts val="2185"/>
              </a:lnSpc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manage</a:t>
            </a:r>
            <a:r>
              <a:rPr sz="19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5" dirty="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endParaRPr sz="19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003547" y="2112264"/>
            <a:ext cx="4651375" cy="3517900"/>
            <a:chOff x="4003547" y="2112264"/>
            <a:chExt cx="4651375" cy="3517900"/>
          </a:xfrm>
        </p:grpSpPr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003547" y="2318004"/>
              <a:ext cx="1229868" cy="1229868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958839" y="2112264"/>
              <a:ext cx="2695956" cy="3517391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6307073" y="3607689"/>
            <a:ext cx="2000250" cy="1110615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065" marR="5080" algn="ctr">
              <a:lnSpc>
                <a:spcPct val="91600"/>
              </a:lnSpc>
              <a:spcBef>
                <a:spcPts val="285"/>
              </a:spcBef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Get</a:t>
            </a:r>
            <a:r>
              <a:rPr sz="19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9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continuous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supply</a:t>
            </a:r>
            <a:r>
              <a:rPr sz="19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9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utility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through</a:t>
            </a: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9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dedicated connection</a:t>
            </a:r>
            <a:endParaRPr sz="19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175003" y="2318004"/>
            <a:ext cx="6885940" cy="3139440"/>
            <a:chOff x="1175003" y="2318004"/>
            <a:chExt cx="6885940" cy="3139440"/>
          </a:xfrm>
        </p:grpSpPr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690359" y="2318004"/>
              <a:ext cx="1228344" cy="122986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75003" y="4855464"/>
              <a:ext cx="6885432" cy="60198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45360" y="389382"/>
            <a:ext cx="562229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How</a:t>
            </a:r>
            <a:r>
              <a:rPr spc="-65" dirty="0"/>
              <a:t> </a:t>
            </a:r>
            <a:r>
              <a:rPr dirty="0"/>
              <a:t>About</a:t>
            </a:r>
            <a:r>
              <a:rPr spc="-65" dirty="0"/>
              <a:t> </a:t>
            </a:r>
            <a:r>
              <a:rPr spc="-10" dirty="0"/>
              <a:t>Electricity?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8319" y="1513903"/>
            <a:ext cx="180022" cy="18002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18794" y="1339088"/>
            <a:ext cx="730821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latin typeface="Arial MT"/>
                <a:cs typeface="Arial MT"/>
              </a:rPr>
              <a:t>Transformation</a:t>
            </a:r>
            <a:r>
              <a:rPr sz="3000" spc="-1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from a</a:t>
            </a:r>
            <a:r>
              <a:rPr sz="3000" spc="-1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Product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to</a:t>
            </a:r>
            <a:r>
              <a:rPr sz="3000" spc="-1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a</a:t>
            </a:r>
            <a:r>
              <a:rPr sz="3000" spc="-10" dirty="0">
                <a:latin typeface="Arial MT"/>
                <a:cs typeface="Arial MT"/>
              </a:rPr>
              <a:t> Service</a:t>
            </a:r>
            <a:endParaRPr sz="30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8827" y="1959864"/>
            <a:ext cx="2726436" cy="41529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090675" y="3738334"/>
            <a:ext cx="1604010" cy="1180465"/>
          </a:xfrm>
          <a:prstGeom prst="rect">
            <a:avLst/>
          </a:prstGeom>
        </p:spPr>
        <p:txBody>
          <a:bodyPr vert="horz" wrap="square" lIns="0" tIns="1301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25"/>
              </a:spcBef>
            </a:pPr>
            <a:r>
              <a:rPr sz="2300" b="1" spc="-10" dirty="0">
                <a:solidFill>
                  <a:srgbClr val="FFFFFF"/>
                </a:solidFill>
                <a:latin typeface="Calibri"/>
                <a:cs typeface="Calibri"/>
              </a:rPr>
              <a:t>Innovation</a:t>
            </a:r>
            <a:endParaRPr sz="2300">
              <a:latin typeface="Calibri"/>
              <a:cs typeface="Calibri"/>
            </a:endParaRPr>
          </a:p>
          <a:p>
            <a:pPr marL="12065" marR="5080" algn="ctr">
              <a:lnSpc>
                <a:spcPts val="2200"/>
              </a:lnSpc>
              <a:spcBef>
                <a:spcPts val="1045"/>
              </a:spcBef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New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Disruptive Technology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173480" y="1959864"/>
            <a:ext cx="4823460" cy="4152900"/>
            <a:chOff x="1173480" y="1959864"/>
            <a:chExt cx="4823460" cy="4152900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73480" y="2203704"/>
              <a:ext cx="1441704" cy="144170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70503" y="1959864"/>
              <a:ext cx="2726436" cy="4152900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3578097" y="3718407"/>
            <a:ext cx="2112645" cy="1238885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55"/>
              </a:spcBef>
            </a:pPr>
            <a:r>
              <a:rPr sz="2300" b="1" spc="-10" dirty="0">
                <a:solidFill>
                  <a:srgbClr val="FFFFFF"/>
                </a:solidFill>
                <a:latin typeface="Calibri"/>
                <a:cs typeface="Calibri"/>
              </a:rPr>
              <a:t>Product</a:t>
            </a:r>
            <a:endParaRPr sz="2300">
              <a:latin typeface="Calibri"/>
              <a:cs typeface="Calibri"/>
            </a:endParaRPr>
          </a:p>
          <a:p>
            <a:pPr marL="12700" marR="5080" algn="ctr">
              <a:lnSpc>
                <a:spcPts val="2520"/>
              </a:lnSpc>
              <a:spcBef>
                <a:spcPts val="1040"/>
              </a:spcBef>
            </a:pP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Buy</a:t>
            </a:r>
            <a:r>
              <a:rPr sz="23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3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spc="-10" dirty="0">
                <a:solidFill>
                  <a:srgbClr val="FFFFFF"/>
                </a:solidFill>
                <a:latin typeface="Calibri"/>
                <a:cs typeface="Calibri"/>
              </a:rPr>
              <a:t>Maintain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3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spc="-10" dirty="0">
                <a:solidFill>
                  <a:srgbClr val="FFFFFF"/>
                </a:solidFill>
                <a:latin typeface="Calibri"/>
                <a:cs typeface="Calibri"/>
              </a:rPr>
              <a:t>Technology</a:t>
            </a:r>
            <a:endParaRPr sz="23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892296" y="1959864"/>
            <a:ext cx="4660900" cy="4152900"/>
            <a:chOff x="3892296" y="1959864"/>
            <a:chExt cx="4660900" cy="4152900"/>
          </a:xfrm>
        </p:grpSpPr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892296" y="2188464"/>
              <a:ext cx="1440179" cy="144170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967984" y="1959864"/>
              <a:ext cx="2584704" cy="4152900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6169914" y="3610153"/>
            <a:ext cx="2149475" cy="1427480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100"/>
              </a:spcBef>
            </a:pPr>
            <a:r>
              <a:rPr sz="2300" b="1" spc="-10" dirty="0">
                <a:solidFill>
                  <a:srgbClr val="FFFFFF"/>
                </a:solidFill>
                <a:latin typeface="Calibri"/>
                <a:cs typeface="Calibri"/>
              </a:rPr>
              <a:t>Service</a:t>
            </a:r>
            <a:endParaRPr sz="2300">
              <a:latin typeface="Calibri"/>
              <a:cs typeface="Calibri"/>
            </a:endParaRPr>
          </a:p>
          <a:p>
            <a:pPr marL="12700" marR="5080" algn="ctr">
              <a:lnSpc>
                <a:spcPts val="2090"/>
              </a:lnSpc>
              <a:spcBef>
                <a:spcPts val="1050"/>
              </a:spcBef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Electric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Grid,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pay</a:t>
            </a:r>
            <a:r>
              <a:rPr sz="19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0" dirty="0">
                <a:solidFill>
                  <a:srgbClr val="FFFFFF"/>
                </a:solidFill>
                <a:latin typeface="Calibri"/>
                <a:cs typeface="Calibri"/>
              </a:rPr>
              <a:t>only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19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electricity</a:t>
            </a:r>
            <a:r>
              <a:rPr sz="1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5" dirty="0">
                <a:solidFill>
                  <a:srgbClr val="FFFFFF"/>
                </a:solidFill>
                <a:latin typeface="Calibri"/>
                <a:cs typeface="Calibri"/>
              </a:rPr>
              <a:t>you use</a:t>
            </a:r>
            <a:endParaRPr sz="19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816863" y="2203704"/>
            <a:ext cx="7364095" cy="3807460"/>
            <a:chOff x="816863" y="2203704"/>
            <a:chExt cx="7364095" cy="3807460"/>
          </a:xfrm>
        </p:grpSpPr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524243" y="2203704"/>
              <a:ext cx="1441703" cy="144170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16863" y="5312664"/>
              <a:ext cx="7363968" cy="69799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54985" y="389382"/>
            <a:ext cx="400494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…and</a:t>
            </a:r>
            <a:r>
              <a:rPr spc="-15" dirty="0"/>
              <a:t> </a:t>
            </a:r>
            <a:r>
              <a:rPr spc="-10" dirty="0"/>
              <a:t>Banking?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0148" y="1568919"/>
            <a:ext cx="188252" cy="19236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18794" y="1383283"/>
            <a:ext cx="3729354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Arial MT"/>
                <a:cs typeface="Arial MT"/>
              </a:rPr>
              <a:t>Evolution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of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Banking</a:t>
            </a:r>
            <a:endParaRPr sz="32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7700" y="1883664"/>
            <a:ext cx="2113788" cy="41529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869696" y="3794887"/>
            <a:ext cx="1668780" cy="97218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R="43180" algn="ctr">
              <a:lnSpc>
                <a:spcPct val="100000"/>
              </a:lnSpc>
              <a:spcBef>
                <a:spcPts val="675"/>
              </a:spcBef>
            </a:pP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No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-20" dirty="0">
                <a:solidFill>
                  <a:srgbClr val="FFFFFF"/>
                </a:solidFill>
                <a:latin typeface="Calibri"/>
                <a:cs typeface="Calibri"/>
              </a:rPr>
              <a:t>Banks</a:t>
            </a:r>
            <a:endParaRPr sz="1800">
              <a:latin typeface="Calibri"/>
              <a:cs typeface="Calibri"/>
            </a:endParaRPr>
          </a:p>
          <a:p>
            <a:pPr marL="12700" marR="5080" algn="ctr">
              <a:lnSpc>
                <a:spcPts val="1980"/>
              </a:lnSpc>
              <a:spcBef>
                <a:spcPts val="790"/>
              </a:spcBef>
            </a:pP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(Take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care</a:t>
            </a:r>
            <a:r>
              <a:rPr sz="18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your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own</a:t>
            </a:r>
            <a:r>
              <a:rPr sz="18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money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)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958596" y="1883664"/>
            <a:ext cx="3770629" cy="4152900"/>
            <a:chOff x="958596" y="1883664"/>
            <a:chExt cx="3770629" cy="4152900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8596" y="2127504"/>
              <a:ext cx="1441704" cy="144170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53284" y="1883664"/>
              <a:ext cx="2075688" cy="4152900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2836926" y="3742131"/>
            <a:ext cx="1672589" cy="1150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065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Traditional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ts val="2065"/>
              </a:lnSpc>
            </a:pP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Banking</a:t>
            </a:r>
            <a:endParaRPr sz="1800">
              <a:latin typeface="Calibri"/>
              <a:cs typeface="Calibri"/>
            </a:endParaRPr>
          </a:p>
          <a:p>
            <a:pPr marL="12700" marR="5080" algn="ctr">
              <a:lnSpc>
                <a:spcPts val="1980"/>
              </a:lnSpc>
              <a:spcBef>
                <a:spcPts val="805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(Give</a:t>
            </a:r>
            <a:r>
              <a:rPr sz="18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your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money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bank)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968751" y="1883664"/>
            <a:ext cx="3776979" cy="4152900"/>
            <a:chOff x="2968751" y="1883664"/>
            <a:chExt cx="3776979" cy="4152900"/>
          </a:xfrm>
        </p:grpSpPr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968751" y="2127504"/>
              <a:ext cx="1441703" cy="144170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680203" y="1883664"/>
              <a:ext cx="2065020" cy="4152900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4876291" y="3742131"/>
            <a:ext cx="1647189" cy="1150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065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Banking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ts val="2065"/>
              </a:lnSpc>
            </a:pP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Instruments</a:t>
            </a:r>
            <a:endParaRPr sz="1800">
              <a:latin typeface="Calibri"/>
              <a:cs typeface="Calibri"/>
            </a:endParaRPr>
          </a:p>
          <a:p>
            <a:pPr marL="12065" marR="5080" algn="ctr">
              <a:lnSpc>
                <a:spcPts val="1980"/>
              </a:lnSpc>
              <a:spcBef>
                <a:spcPts val="805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(Cheques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/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Credit Cards)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978908" y="1883664"/>
            <a:ext cx="3758565" cy="4152900"/>
            <a:chOff x="4978908" y="1883664"/>
            <a:chExt cx="3758565" cy="4152900"/>
          </a:xfrm>
        </p:grpSpPr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978908" y="2127504"/>
              <a:ext cx="1440180" cy="1441703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690360" y="1883664"/>
              <a:ext cx="2046731" cy="4152900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6906259" y="3920490"/>
            <a:ext cx="1609090" cy="72072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Internet</a:t>
            </a:r>
            <a:r>
              <a:rPr sz="1800" b="1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Banking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(…more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services)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976883" y="2127504"/>
            <a:ext cx="7452359" cy="3705225"/>
            <a:chOff x="976883" y="2127504"/>
            <a:chExt cx="7452359" cy="3705225"/>
          </a:xfrm>
        </p:grpSpPr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989063" y="2127504"/>
              <a:ext cx="1440179" cy="1441703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76883" y="5135880"/>
              <a:ext cx="7434072" cy="69646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73100" y="2049398"/>
            <a:ext cx="7797800" cy="2332990"/>
            <a:chOff x="673100" y="2049398"/>
            <a:chExt cx="7797800" cy="2332990"/>
          </a:xfrm>
        </p:grpSpPr>
        <p:sp>
          <p:nvSpPr>
            <p:cNvPr id="3" name="object 3"/>
            <p:cNvSpPr/>
            <p:nvPr/>
          </p:nvSpPr>
          <p:spPr>
            <a:xfrm>
              <a:off x="685800" y="2062098"/>
              <a:ext cx="7772400" cy="2307590"/>
            </a:xfrm>
            <a:custGeom>
              <a:avLst/>
              <a:gdLst/>
              <a:ahLst/>
              <a:cxnLst/>
              <a:rect l="l" t="t" r="r" b="b"/>
              <a:pathLst>
                <a:path w="7772400" h="2307590">
                  <a:moveTo>
                    <a:pt x="7387844" y="0"/>
                  </a:moveTo>
                  <a:lnTo>
                    <a:pt x="384543" y="0"/>
                  </a:lnTo>
                  <a:lnTo>
                    <a:pt x="336308" y="2996"/>
                  </a:lnTo>
                  <a:lnTo>
                    <a:pt x="289861" y="11747"/>
                  </a:lnTo>
                  <a:lnTo>
                    <a:pt x="245562" y="25889"/>
                  </a:lnTo>
                  <a:lnTo>
                    <a:pt x="203771" y="45064"/>
                  </a:lnTo>
                  <a:lnTo>
                    <a:pt x="164848" y="68910"/>
                  </a:lnTo>
                  <a:lnTo>
                    <a:pt x="129155" y="97067"/>
                  </a:lnTo>
                  <a:lnTo>
                    <a:pt x="97052" y="129173"/>
                  </a:lnTo>
                  <a:lnTo>
                    <a:pt x="68899" y="164868"/>
                  </a:lnTo>
                  <a:lnTo>
                    <a:pt x="45056" y="203792"/>
                  </a:lnTo>
                  <a:lnTo>
                    <a:pt x="25885" y="245583"/>
                  </a:lnTo>
                  <a:lnTo>
                    <a:pt x="11744" y="289881"/>
                  </a:lnTo>
                  <a:lnTo>
                    <a:pt x="2996" y="336326"/>
                  </a:lnTo>
                  <a:lnTo>
                    <a:pt x="0" y="384555"/>
                  </a:lnTo>
                  <a:lnTo>
                    <a:pt x="0" y="1922652"/>
                  </a:lnTo>
                  <a:lnTo>
                    <a:pt x="2996" y="1970907"/>
                  </a:lnTo>
                  <a:lnTo>
                    <a:pt x="11744" y="2017369"/>
                  </a:lnTo>
                  <a:lnTo>
                    <a:pt x="25885" y="2061677"/>
                  </a:lnTo>
                  <a:lnTo>
                    <a:pt x="45056" y="2103473"/>
                  </a:lnTo>
                  <a:lnTo>
                    <a:pt x="68899" y="2142395"/>
                  </a:lnTo>
                  <a:lnTo>
                    <a:pt x="97052" y="2178086"/>
                  </a:lnTo>
                  <a:lnTo>
                    <a:pt x="129155" y="2210185"/>
                  </a:lnTo>
                  <a:lnTo>
                    <a:pt x="164848" y="2238333"/>
                  </a:lnTo>
                  <a:lnTo>
                    <a:pt x="203771" y="2262169"/>
                  </a:lnTo>
                  <a:lnTo>
                    <a:pt x="245562" y="2281334"/>
                  </a:lnTo>
                  <a:lnTo>
                    <a:pt x="289861" y="2295469"/>
                  </a:lnTo>
                  <a:lnTo>
                    <a:pt x="336308" y="2304214"/>
                  </a:lnTo>
                  <a:lnTo>
                    <a:pt x="384543" y="2307209"/>
                  </a:lnTo>
                  <a:lnTo>
                    <a:pt x="7387844" y="2307209"/>
                  </a:lnTo>
                  <a:lnTo>
                    <a:pt x="7436073" y="2304214"/>
                  </a:lnTo>
                  <a:lnTo>
                    <a:pt x="7482518" y="2295469"/>
                  </a:lnTo>
                  <a:lnTo>
                    <a:pt x="7526816" y="2281334"/>
                  </a:lnTo>
                  <a:lnTo>
                    <a:pt x="7568607" y="2262169"/>
                  </a:lnTo>
                  <a:lnTo>
                    <a:pt x="7607531" y="2238333"/>
                  </a:lnTo>
                  <a:lnTo>
                    <a:pt x="7643226" y="2210185"/>
                  </a:lnTo>
                  <a:lnTo>
                    <a:pt x="7675332" y="2178086"/>
                  </a:lnTo>
                  <a:lnTo>
                    <a:pt x="7703489" y="2142395"/>
                  </a:lnTo>
                  <a:lnTo>
                    <a:pt x="7727335" y="2103473"/>
                  </a:lnTo>
                  <a:lnTo>
                    <a:pt x="7746510" y="2061677"/>
                  </a:lnTo>
                  <a:lnTo>
                    <a:pt x="7760652" y="2017369"/>
                  </a:lnTo>
                  <a:lnTo>
                    <a:pt x="7769403" y="1970907"/>
                  </a:lnTo>
                  <a:lnTo>
                    <a:pt x="7772400" y="1922652"/>
                  </a:lnTo>
                  <a:lnTo>
                    <a:pt x="7772400" y="384555"/>
                  </a:lnTo>
                  <a:lnTo>
                    <a:pt x="7769403" y="336326"/>
                  </a:lnTo>
                  <a:lnTo>
                    <a:pt x="7760652" y="289881"/>
                  </a:lnTo>
                  <a:lnTo>
                    <a:pt x="7746510" y="245583"/>
                  </a:lnTo>
                  <a:lnTo>
                    <a:pt x="7727335" y="203792"/>
                  </a:lnTo>
                  <a:lnTo>
                    <a:pt x="7703489" y="164868"/>
                  </a:lnTo>
                  <a:lnTo>
                    <a:pt x="7675332" y="129173"/>
                  </a:lnTo>
                  <a:lnTo>
                    <a:pt x="7643226" y="97067"/>
                  </a:lnTo>
                  <a:lnTo>
                    <a:pt x="7607531" y="68910"/>
                  </a:lnTo>
                  <a:lnTo>
                    <a:pt x="7568607" y="45064"/>
                  </a:lnTo>
                  <a:lnTo>
                    <a:pt x="7526816" y="25889"/>
                  </a:lnTo>
                  <a:lnTo>
                    <a:pt x="7482518" y="11747"/>
                  </a:lnTo>
                  <a:lnTo>
                    <a:pt x="7436073" y="2996"/>
                  </a:lnTo>
                  <a:lnTo>
                    <a:pt x="7387844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85800" y="2062098"/>
              <a:ext cx="7772400" cy="2307590"/>
            </a:xfrm>
            <a:custGeom>
              <a:avLst/>
              <a:gdLst/>
              <a:ahLst/>
              <a:cxnLst/>
              <a:rect l="l" t="t" r="r" b="b"/>
              <a:pathLst>
                <a:path w="7772400" h="2307590">
                  <a:moveTo>
                    <a:pt x="0" y="384555"/>
                  </a:moveTo>
                  <a:lnTo>
                    <a:pt x="2996" y="336326"/>
                  </a:lnTo>
                  <a:lnTo>
                    <a:pt x="11744" y="289881"/>
                  </a:lnTo>
                  <a:lnTo>
                    <a:pt x="25885" y="245583"/>
                  </a:lnTo>
                  <a:lnTo>
                    <a:pt x="45056" y="203792"/>
                  </a:lnTo>
                  <a:lnTo>
                    <a:pt x="68899" y="164868"/>
                  </a:lnTo>
                  <a:lnTo>
                    <a:pt x="97052" y="129173"/>
                  </a:lnTo>
                  <a:lnTo>
                    <a:pt x="129155" y="97067"/>
                  </a:lnTo>
                  <a:lnTo>
                    <a:pt x="164848" y="68910"/>
                  </a:lnTo>
                  <a:lnTo>
                    <a:pt x="203771" y="45064"/>
                  </a:lnTo>
                  <a:lnTo>
                    <a:pt x="245562" y="25889"/>
                  </a:lnTo>
                  <a:lnTo>
                    <a:pt x="289861" y="11747"/>
                  </a:lnTo>
                  <a:lnTo>
                    <a:pt x="336308" y="2996"/>
                  </a:lnTo>
                  <a:lnTo>
                    <a:pt x="384543" y="0"/>
                  </a:lnTo>
                  <a:lnTo>
                    <a:pt x="7387844" y="0"/>
                  </a:lnTo>
                  <a:lnTo>
                    <a:pt x="7436073" y="2996"/>
                  </a:lnTo>
                  <a:lnTo>
                    <a:pt x="7482518" y="11747"/>
                  </a:lnTo>
                  <a:lnTo>
                    <a:pt x="7526816" y="25889"/>
                  </a:lnTo>
                  <a:lnTo>
                    <a:pt x="7568607" y="45064"/>
                  </a:lnTo>
                  <a:lnTo>
                    <a:pt x="7607531" y="68910"/>
                  </a:lnTo>
                  <a:lnTo>
                    <a:pt x="7643226" y="97067"/>
                  </a:lnTo>
                  <a:lnTo>
                    <a:pt x="7675332" y="129173"/>
                  </a:lnTo>
                  <a:lnTo>
                    <a:pt x="7703489" y="164868"/>
                  </a:lnTo>
                  <a:lnTo>
                    <a:pt x="7727335" y="203792"/>
                  </a:lnTo>
                  <a:lnTo>
                    <a:pt x="7746510" y="245583"/>
                  </a:lnTo>
                  <a:lnTo>
                    <a:pt x="7760652" y="289881"/>
                  </a:lnTo>
                  <a:lnTo>
                    <a:pt x="7769403" y="336326"/>
                  </a:lnTo>
                  <a:lnTo>
                    <a:pt x="7772400" y="384555"/>
                  </a:lnTo>
                  <a:lnTo>
                    <a:pt x="7772400" y="1922652"/>
                  </a:lnTo>
                  <a:lnTo>
                    <a:pt x="7769403" y="1970907"/>
                  </a:lnTo>
                  <a:lnTo>
                    <a:pt x="7760652" y="2017369"/>
                  </a:lnTo>
                  <a:lnTo>
                    <a:pt x="7746510" y="2061677"/>
                  </a:lnTo>
                  <a:lnTo>
                    <a:pt x="7727335" y="2103473"/>
                  </a:lnTo>
                  <a:lnTo>
                    <a:pt x="7703489" y="2142395"/>
                  </a:lnTo>
                  <a:lnTo>
                    <a:pt x="7675332" y="2178086"/>
                  </a:lnTo>
                  <a:lnTo>
                    <a:pt x="7643226" y="2210185"/>
                  </a:lnTo>
                  <a:lnTo>
                    <a:pt x="7607531" y="2238333"/>
                  </a:lnTo>
                  <a:lnTo>
                    <a:pt x="7568607" y="2262169"/>
                  </a:lnTo>
                  <a:lnTo>
                    <a:pt x="7526816" y="2281334"/>
                  </a:lnTo>
                  <a:lnTo>
                    <a:pt x="7482518" y="2295469"/>
                  </a:lnTo>
                  <a:lnTo>
                    <a:pt x="7436073" y="2304214"/>
                  </a:lnTo>
                  <a:lnTo>
                    <a:pt x="7387844" y="2307209"/>
                  </a:lnTo>
                  <a:lnTo>
                    <a:pt x="384543" y="2307209"/>
                  </a:lnTo>
                  <a:lnTo>
                    <a:pt x="336308" y="2304214"/>
                  </a:lnTo>
                  <a:lnTo>
                    <a:pt x="289861" y="2295469"/>
                  </a:lnTo>
                  <a:lnTo>
                    <a:pt x="245562" y="2281334"/>
                  </a:lnTo>
                  <a:lnTo>
                    <a:pt x="203771" y="2262169"/>
                  </a:lnTo>
                  <a:lnTo>
                    <a:pt x="164848" y="2238333"/>
                  </a:lnTo>
                  <a:lnTo>
                    <a:pt x="129155" y="2210185"/>
                  </a:lnTo>
                  <a:lnTo>
                    <a:pt x="97052" y="2178086"/>
                  </a:lnTo>
                  <a:lnTo>
                    <a:pt x="68899" y="2142395"/>
                  </a:lnTo>
                  <a:lnTo>
                    <a:pt x="45056" y="2103473"/>
                  </a:lnTo>
                  <a:lnTo>
                    <a:pt x="25885" y="2061677"/>
                  </a:lnTo>
                  <a:lnTo>
                    <a:pt x="11744" y="2017369"/>
                  </a:lnTo>
                  <a:lnTo>
                    <a:pt x="2996" y="1970907"/>
                  </a:lnTo>
                  <a:lnTo>
                    <a:pt x="0" y="1922652"/>
                  </a:lnTo>
                  <a:lnTo>
                    <a:pt x="0" y="384555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983994" y="2269312"/>
            <a:ext cx="5179060" cy="171831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739140" marR="5080" indent="-727075">
              <a:lnSpc>
                <a:spcPts val="6370"/>
              </a:lnSpc>
              <a:spcBef>
                <a:spcPts val="790"/>
              </a:spcBef>
            </a:pPr>
            <a:r>
              <a:rPr sz="5800" b="1" dirty="0">
                <a:solidFill>
                  <a:srgbClr val="FFFFFF"/>
                </a:solidFill>
                <a:latin typeface="Calibri"/>
                <a:cs typeface="Calibri"/>
              </a:rPr>
              <a:t>So</a:t>
            </a:r>
            <a:r>
              <a:rPr sz="5800" b="1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5800" b="1" dirty="0">
                <a:solidFill>
                  <a:srgbClr val="FFFFFF"/>
                </a:solidFill>
                <a:latin typeface="Calibri"/>
                <a:cs typeface="Calibri"/>
              </a:rPr>
              <a:t>What</a:t>
            </a:r>
            <a:r>
              <a:rPr sz="5800" b="1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5800" b="1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58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5800" b="1" spc="-10" dirty="0">
                <a:solidFill>
                  <a:srgbClr val="FFFFFF"/>
                </a:solidFill>
                <a:latin typeface="Calibri"/>
                <a:cs typeface="Calibri"/>
              </a:rPr>
              <a:t>Cloud Computing?</a:t>
            </a:r>
            <a:endParaRPr sz="5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949" y="398729"/>
            <a:ext cx="860615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Can</a:t>
            </a:r>
            <a:r>
              <a:rPr spc="-20" dirty="0"/>
              <a:t> </a:t>
            </a:r>
            <a:r>
              <a:rPr dirty="0"/>
              <a:t>We</a:t>
            </a:r>
            <a:r>
              <a:rPr spc="-20" dirty="0"/>
              <a:t> </a:t>
            </a:r>
            <a:r>
              <a:rPr dirty="0"/>
              <a:t>Define</a:t>
            </a:r>
            <a:r>
              <a:rPr spc="-20" dirty="0"/>
              <a:t> </a:t>
            </a:r>
            <a:r>
              <a:rPr dirty="0"/>
              <a:t>Cloud</a:t>
            </a:r>
            <a:r>
              <a:rPr spc="-25" dirty="0"/>
              <a:t> </a:t>
            </a:r>
            <a:r>
              <a:rPr spc="-10" dirty="0"/>
              <a:t>Computing?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19352" y="1314957"/>
            <a:ext cx="7082155" cy="1002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07744" marR="5080" indent="-995680">
              <a:lnSpc>
                <a:spcPct val="100000"/>
              </a:lnSpc>
              <a:spcBef>
                <a:spcPts val="105"/>
              </a:spcBef>
            </a:pPr>
            <a:r>
              <a:rPr sz="3200" i="1" dirty="0">
                <a:latin typeface="Times New Roman"/>
                <a:cs typeface="Times New Roman"/>
              </a:rPr>
              <a:t>“Cloud</a:t>
            </a:r>
            <a:r>
              <a:rPr sz="3200" i="1" spc="-20" dirty="0">
                <a:latin typeface="Times New Roman"/>
                <a:cs typeface="Times New Roman"/>
              </a:rPr>
              <a:t> </a:t>
            </a:r>
            <a:r>
              <a:rPr sz="3200" i="1" dirty="0">
                <a:latin typeface="Times New Roman"/>
                <a:cs typeface="Times New Roman"/>
              </a:rPr>
              <a:t>Computing</a:t>
            </a:r>
            <a:r>
              <a:rPr sz="3200" i="1" spc="-35" dirty="0">
                <a:latin typeface="Times New Roman"/>
                <a:cs typeface="Times New Roman"/>
              </a:rPr>
              <a:t> </a:t>
            </a:r>
            <a:r>
              <a:rPr sz="3200" i="1" dirty="0">
                <a:latin typeface="Times New Roman"/>
                <a:cs typeface="Times New Roman"/>
              </a:rPr>
              <a:t>is the</a:t>
            </a:r>
            <a:r>
              <a:rPr sz="3200" i="1" spc="-20" dirty="0">
                <a:latin typeface="Times New Roman"/>
                <a:cs typeface="Times New Roman"/>
              </a:rPr>
              <a:t> </a:t>
            </a:r>
            <a:r>
              <a:rPr sz="3200" i="1" dirty="0">
                <a:latin typeface="Times New Roman"/>
                <a:cs typeface="Times New Roman"/>
              </a:rPr>
              <a:t>transformation</a:t>
            </a:r>
            <a:r>
              <a:rPr sz="3200" i="1" spc="-40" dirty="0">
                <a:latin typeface="Times New Roman"/>
                <a:cs typeface="Times New Roman"/>
              </a:rPr>
              <a:t> </a:t>
            </a:r>
            <a:r>
              <a:rPr sz="3200" i="1" spc="-25" dirty="0">
                <a:latin typeface="Times New Roman"/>
                <a:cs typeface="Times New Roman"/>
              </a:rPr>
              <a:t>of </a:t>
            </a:r>
            <a:r>
              <a:rPr sz="3200" i="1" dirty="0">
                <a:latin typeface="Times New Roman"/>
                <a:cs typeface="Times New Roman"/>
              </a:rPr>
              <a:t>IT</a:t>
            </a:r>
            <a:r>
              <a:rPr sz="3200" i="1" spc="-120" dirty="0">
                <a:latin typeface="Times New Roman"/>
                <a:cs typeface="Times New Roman"/>
              </a:rPr>
              <a:t> </a:t>
            </a:r>
            <a:r>
              <a:rPr sz="3200" i="1" dirty="0">
                <a:latin typeface="Times New Roman"/>
                <a:cs typeface="Times New Roman"/>
              </a:rPr>
              <a:t>from</a:t>
            </a:r>
            <a:r>
              <a:rPr sz="3200" i="1" spc="-50" dirty="0">
                <a:latin typeface="Times New Roman"/>
                <a:cs typeface="Times New Roman"/>
              </a:rPr>
              <a:t> </a:t>
            </a:r>
            <a:r>
              <a:rPr sz="3200" i="1" dirty="0">
                <a:latin typeface="Times New Roman"/>
                <a:cs typeface="Times New Roman"/>
              </a:rPr>
              <a:t>a</a:t>
            </a:r>
            <a:r>
              <a:rPr sz="3200" i="1" spc="-50" dirty="0">
                <a:latin typeface="Times New Roman"/>
                <a:cs typeface="Times New Roman"/>
              </a:rPr>
              <a:t> </a:t>
            </a:r>
            <a:r>
              <a:rPr sz="3200" i="1" dirty="0">
                <a:latin typeface="Times New Roman"/>
                <a:cs typeface="Times New Roman"/>
              </a:rPr>
              <a:t>product</a:t>
            </a:r>
            <a:r>
              <a:rPr sz="3200" i="1" spc="-80" dirty="0">
                <a:latin typeface="Times New Roman"/>
                <a:cs typeface="Times New Roman"/>
              </a:rPr>
              <a:t> </a:t>
            </a:r>
            <a:r>
              <a:rPr sz="3200" i="1" dirty="0">
                <a:latin typeface="Times New Roman"/>
                <a:cs typeface="Times New Roman"/>
              </a:rPr>
              <a:t>to</a:t>
            </a:r>
            <a:r>
              <a:rPr sz="3200" i="1" spc="-50" dirty="0">
                <a:latin typeface="Times New Roman"/>
                <a:cs typeface="Times New Roman"/>
              </a:rPr>
              <a:t> </a:t>
            </a:r>
            <a:r>
              <a:rPr sz="3200" i="1" dirty="0">
                <a:latin typeface="Times New Roman"/>
                <a:cs typeface="Times New Roman"/>
              </a:rPr>
              <a:t>a</a:t>
            </a:r>
            <a:r>
              <a:rPr sz="3200" i="1" spc="-60" dirty="0">
                <a:latin typeface="Times New Roman"/>
                <a:cs typeface="Times New Roman"/>
              </a:rPr>
              <a:t> </a:t>
            </a:r>
            <a:r>
              <a:rPr sz="3200" i="1" spc="-10" dirty="0">
                <a:latin typeface="Times New Roman"/>
                <a:cs typeface="Times New Roman"/>
              </a:rPr>
              <a:t>service”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950975" y="2647188"/>
            <a:ext cx="6537959" cy="3362325"/>
            <a:chOff x="950975" y="2647188"/>
            <a:chExt cx="6537959" cy="336232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02663" y="2647188"/>
              <a:ext cx="5986272" cy="336194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546097" y="2667000"/>
              <a:ext cx="5899785" cy="3276600"/>
            </a:xfrm>
            <a:custGeom>
              <a:avLst/>
              <a:gdLst/>
              <a:ahLst/>
              <a:cxnLst/>
              <a:rect l="l" t="t" r="r" b="b"/>
              <a:pathLst>
                <a:path w="5899784" h="3276600">
                  <a:moveTo>
                    <a:pt x="4261104" y="0"/>
                  </a:moveTo>
                  <a:lnTo>
                    <a:pt x="4261104" y="819150"/>
                  </a:lnTo>
                  <a:lnTo>
                    <a:pt x="0" y="819150"/>
                  </a:lnTo>
                  <a:lnTo>
                    <a:pt x="0" y="2457450"/>
                  </a:lnTo>
                  <a:lnTo>
                    <a:pt x="4261104" y="2457450"/>
                  </a:lnTo>
                  <a:lnTo>
                    <a:pt x="4261104" y="3276600"/>
                  </a:lnTo>
                  <a:lnTo>
                    <a:pt x="5899404" y="1638300"/>
                  </a:lnTo>
                  <a:lnTo>
                    <a:pt x="4261104" y="0"/>
                  </a:lnTo>
                  <a:close/>
                </a:path>
              </a:pathLst>
            </a:custGeom>
            <a:solidFill>
              <a:srgbClr val="E8D0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0975" y="3628644"/>
              <a:ext cx="2459736" cy="1399032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207414" y="4021328"/>
            <a:ext cx="1837055" cy="497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100" spc="-10" dirty="0">
                <a:solidFill>
                  <a:srgbClr val="FFFFFF"/>
                </a:solidFill>
                <a:latin typeface="Arial MT"/>
                <a:cs typeface="Arial MT"/>
              </a:rPr>
              <a:t>Innovation</a:t>
            </a:r>
            <a:endParaRPr sz="3100">
              <a:latin typeface="Arial MT"/>
              <a:cs typeface="Arial MT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51276" y="3628644"/>
            <a:ext cx="2289048" cy="1399032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3806444" y="4021328"/>
            <a:ext cx="1379855" cy="497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100" spc="-10" dirty="0">
                <a:solidFill>
                  <a:srgbClr val="FFFFFF"/>
                </a:solidFill>
                <a:latin typeface="Arial MT"/>
                <a:cs typeface="Arial MT"/>
              </a:rPr>
              <a:t>Product</a:t>
            </a:r>
            <a:endParaRPr sz="3100">
              <a:latin typeface="Arial MT"/>
              <a:cs typeface="Arial MT"/>
            </a:endParaRPr>
          </a:p>
        </p:txBody>
      </p: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21096" y="3628644"/>
            <a:ext cx="2289048" cy="1399032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6199378" y="4021328"/>
            <a:ext cx="1336675" cy="497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100" spc="-10" dirty="0">
                <a:solidFill>
                  <a:srgbClr val="FFFFFF"/>
                </a:solidFill>
                <a:latin typeface="Arial MT"/>
                <a:cs typeface="Arial MT"/>
              </a:rPr>
              <a:t>Service</a:t>
            </a:r>
            <a:endParaRPr sz="3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6567" y="389382"/>
            <a:ext cx="434594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Cloud</a:t>
            </a:r>
            <a:r>
              <a:rPr spc="-20" dirty="0"/>
              <a:t> </a:t>
            </a:r>
            <a:r>
              <a:rPr spc="-10" dirty="0"/>
              <a:t>Computing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2605" y="1504530"/>
            <a:ext cx="154304" cy="16150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18794" y="1345184"/>
            <a:ext cx="736282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dirty="0">
                <a:latin typeface="Arial MT"/>
                <a:cs typeface="Arial MT"/>
              </a:rPr>
              <a:t>Transformation</a:t>
            </a:r>
            <a:r>
              <a:rPr sz="2700" spc="-20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of</a:t>
            </a:r>
            <a:r>
              <a:rPr sz="2700" spc="-10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IT</a:t>
            </a:r>
            <a:r>
              <a:rPr sz="2700" spc="-10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from</a:t>
            </a:r>
            <a:r>
              <a:rPr sz="2700" spc="-10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a</a:t>
            </a:r>
            <a:r>
              <a:rPr sz="2700" spc="-5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Product</a:t>
            </a:r>
            <a:r>
              <a:rPr sz="2700" spc="-20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to</a:t>
            </a:r>
            <a:r>
              <a:rPr sz="2700" spc="-10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a</a:t>
            </a:r>
            <a:r>
              <a:rPr sz="2700" spc="-5" dirty="0">
                <a:latin typeface="Arial MT"/>
                <a:cs typeface="Arial MT"/>
              </a:rPr>
              <a:t> </a:t>
            </a:r>
            <a:r>
              <a:rPr sz="2700" spc="-10" dirty="0">
                <a:latin typeface="Arial MT"/>
                <a:cs typeface="Arial MT"/>
              </a:rPr>
              <a:t>Service</a:t>
            </a:r>
            <a:endParaRPr sz="27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8827" y="1959864"/>
            <a:ext cx="2726436" cy="41529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23036" y="3738334"/>
            <a:ext cx="1939925" cy="1180465"/>
          </a:xfrm>
          <a:prstGeom prst="rect">
            <a:avLst/>
          </a:prstGeom>
        </p:spPr>
        <p:txBody>
          <a:bodyPr vert="horz" wrap="square" lIns="0" tIns="1301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25"/>
              </a:spcBef>
            </a:pPr>
            <a:r>
              <a:rPr sz="2300" b="1" dirty="0">
                <a:solidFill>
                  <a:srgbClr val="FFFFFF"/>
                </a:solidFill>
                <a:latin typeface="Calibri"/>
                <a:cs typeface="Calibri"/>
              </a:rPr>
              <a:t>Innovation</a:t>
            </a:r>
            <a:r>
              <a:rPr sz="2300" b="1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b="1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3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b="1" spc="-25" dirty="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endParaRPr sz="2300">
              <a:latin typeface="Calibri"/>
              <a:cs typeface="Calibri"/>
            </a:endParaRPr>
          </a:p>
          <a:p>
            <a:pPr marL="179705" marR="172720" algn="ctr">
              <a:lnSpc>
                <a:spcPts val="2200"/>
              </a:lnSpc>
              <a:spcBef>
                <a:spcPts val="1045"/>
              </a:spcBef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New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Disruptive Technology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173480" y="1959864"/>
            <a:ext cx="4823460" cy="4152900"/>
            <a:chOff x="1173480" y="1959864"/>
            <a:chExt cx="4823460" cy="4152900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73480" y="2203704"/>
              <a:ext cx="1441704" cy="144170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70503" y="1959864"/>
              <a:ext cx="2726436" cy="4152900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3578097" y="3718407"/>
            <a:ext cx="2112645" cy="1238885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378460">
              <a:lnSpc>
                <a:spcPct val="100000"/>
              </a:lnSpc>
              <a:spcBef>
                <a:spcPts val="855"/>
              </a:spcBef>
            </a:pPr>
            <a:r>
              <a:rPr sz="2300" b="1" dirty="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sz="23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b="1" spc="-10" dirty="0">
                <a:solidFill>
                  <a:srgbClr val="FFFFFF"/>
                </a:solidFill>
                <a:latin typeface="Calibri"/>
                <a:cs typeface="Calibri"/>
              </a:rPr>
              <a:t>Products</a:t>
            </a:r>
            <a:endParaRPr sz="2300">
              <a:latin typeface="Calibri"/>
              <a:cs typeface="Calibri"/>
            </a:endParaRPr>
          </a:p>
          <a:p>
            <a:pPr marL="154305" marR="5080" indent="-142240">
              <a:lnSpc>
                <a:spcPts val="2520"/>
              </a:lnSpc>
              <a:spcBef>
                <a:spcPts val="1040"/>
              </a:spcBef>
            </a:pP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Buy</a:t>
            </a:r>
            <a:r>
              <a:rPr sz="23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3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spc="-10" dirty="0">
                <a:solidFill>
                  <a:srgbClr val="FFFFFF"/>
                </a:solidFill>
                <a:latin typeface="Calibri"/>
                <a:cs typeface="Calibri"/>
              </a:rPr>
              <a:t>Maintain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3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spc="-10" dirty="0">
                <a:solidFill>
                  <a:srgbClr val="FFFFFF"/>
                </a:solidFill>
                <a:latin typeface="Calibri"/>
                <a:cs typeface="Calibri"/>
              </a:rPr>
              <a:t>Technology</a:t>
            </a:r>
            <a:endParaRPr sz="23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892296" y="1959864"/>
            <a:ext cx="4689475" cy="4152900"/>
            <a:chOff x="3892296" y="1959864"/>
            <a:chExt cx="4689475" cy="4152900"/>
          </a:xfrm>
        </p:grpSpPr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892296" y="2188464"/>
              <a:ext cx="1440179" cy="144170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967984" y="1959864"/>
              <a:ext cx="2613660" cy="4152900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6183629" y="3610153"/>
            <a:ext cx="2122170" cy="1427480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00"/>
              </a:spcBef>
            </a:pPr>
            <a:r>
              <a:rPr sz="2300" b="1" dirty="0">
                <a:solidFill>
                  <a:srgbClr val="FFFFFF"/>
                </a:solidFill>
                <a:latin typeface="Calibri"/>
                <a:cs typeface="Calibri"/>
              </a:rPr>
              <a:t>Cloud</a:t>
            </a:r>
            <a:r>
              <a:rPr sz="2300" b="1" spc="-10" dirty="0">
                <a:solidFill>
                  <a:srgbClr val="FFFFFF"/>
                </a:solidFill>
                <a:latin typeface="Calibri"/>
                <a:cs typeface="Calibri"/>
              </a:rPr>
              <a:t> Computing</a:t>
            </a:r>
            <a:endParaRPr sz="2300">
              <a:latin typeface="Calibri"/>
              <a:cs typeface="Calibri"/>
            </a:endParaRPr>
          </a:p>
          <a:p>
            <a:pPr marL="91440" marR="82550" indent="-1905" algn="ctr">
              <a:lnSpc>
                <a:spcPts val="2090"/>
              </a:lnSpc>
              <a:spcBef>
                <a:spcPts val="1050"/>
              </a:spcBef>
            </a:pPr>
            <a:r>
              <a:rPr sz="1900" spc="-25" dirty="0">
                <a:solidFill>
                  <a:srgbClr val="FFFFFF"/>
                </a:solidFill>
                <a:latin typeface="Calibri"/>
                <a:cs typeface="Calibri"/>
              </a:rPr>
              <a:t>On-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Demand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5" dirty="0">
                <a:solidFill>
                  <a:srgbClr val="FFFFFF"/>
                </a:solidFill>
                <a:latin typeface="Calibri"/>
                <a:cs typeface="Calibri"/>
              </a:rPr>
              <a:t>IT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services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sz="19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9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30" dirty="0">
                <a:solidFill>
                  <a:srgbClr val="FFFFFF"/>
                </a:solidFill>
                <a:latin typeface="Calibri"/>
                <a:cs typeface="Calibri"/>
              </a:rPr>
              <a:t>Pay-</a:t>
            </a:r>
            <a:r>
              <a:rPr sz="1900" spc="-25" dirty="0">
                <a:solidFill>
                  <a:srgbClr val="FFFFFF"/>
                </a:solidFill>
                <a:latin typeface="Calibri"/>
                <a:cs typeface="Calibri"/>
              </a:rPr>
              <a:t>as </a:t>
            </a:r>
            <a:r>
              <a:rPr sz="1900" spc="-60" dirty="0">
                <a:solidFill>
                  <a:srgbClr val="FFFFFF"/>
                </a:solidFill>
                <a:latin typeface="Calibri"/>
                <a:cs typeface="Calibri"/>
              </a:rPr>
              <a:t>You-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Go</a:t>
            </a:r>
            <a:r>
              <a:rPr sz="1900" spc="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basis</a:t>
            </a:r>
            <a:endParaRPr sz="19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816863" y="2203704"/>
            <a:ext cx="7364095" cy="3807460"/>
            <a:chOff x="816863" y="2203704"/>
            <a:chExt cx="7364095" cy="3807460"/>
          </a:xfrm>
        </p:grpSpPr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524243" y="2203704"/>
              <a:ext cx="1441703" cy="144170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16863" y="5312664"/>
              <a:ext cx="7363968" cy="69799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73100" y="2048255"/>
            <a:ext cx="7797800" cy="2334895"/>
            <a:chOff x="673100" y="2048255"/>
            <a:chExt cx="7797800" cy="2334895"/>
          </a:xfrm>
        </p:grpSpPr>
        <p:sp>
          <p:nvSpPr>
            <p:cNvPr id="3" name="object 3"/>
            <p:cNvSpPr/>
            <p:nvPr/>
          </p:nvSpPr>
          <p:spPr>
            <a:xfrm>
              <a:off x="685800" y="2060955"/>
              <a:ext cx="7772400" cy="2309495"/>
            </a:xfrm>
            <a:custGeom>
              <a:avLst/>
              <a:gdLst/>
              <a:ahLst/>
              <a:cxnLst/>
              <a:rect l="l" t="t" r="r" b="b"/>
              <a:pathLst>
                <a:path w="7772400" h="2309495">
                  <a:moveTo>
                    <a:pt x="7387463" y="0"/>
                  </a:moveTo>
                  <a:lnTo>
                    <a:pt x="384937" y="0"/>
                  </a:lnTo>
                  <a:lnTo>
                    <a:pt x="336650" y="2999"/>
                  </a:lnTo>
                  <a:lnTo>
                    <a:pt x="290154" y="11756"/>
                  </a:lnTo>
                  <a:lnTo>
                    <a:pt x="245808" y="25910"/>
                  </a:lnTo>
                  <a:lnTo>
                    <a:pt x="203974" y="45100"/>
                  </a:lnTo>
                  <a:lnTo>
                    <a:pt x="165012" y="68967"/>
                  </a:lnTo>
                  <a:lnTo>
                    <a:pt x="129283" y="97148"/>
                  </a:lnTo>
                  <a:lnTo>
                    <a:pt x="97148" y="129283"/>
                  </a:lnTo>
                  <a:lnTo>
                    <a:pt x="68967" y="165012"/>
                  </a:lnTo>
                  <a:lnTo>
                    <a:pt x="45100" y="203974"/>
                  </a:lnTo>
                  <a:lnTo>
                    <a:pt x="25910" y="245808"/>
                  </a:lnTo>
                  <a:lnTo>
                    <a:pt x="11756" y="290154"/>
                  </a:lnTo>
                  <a:lnTo>
                    <a:pt x="2999" y="336650"/>
                  </a:lnTo>
                  <a:lnTo>
                    <a:pt x="0" y="384937"/>
                  </a:lnTo>
                  <a:lnTo>
                    <a:pt x="0" y="1924558"/>
                  </a:lnTo>
                  <a:lnTo>
                    <a:pt x="2999" y="1972844"/>
                  </a:lnTo>
                  <a:lnTo>
                    <a:pt x="11756" y="2019340"/>
                  </a:lnTo>
                  <a:lnTo>
                    <a:pt x="25910" y="2063686"/>
                  </a:lnTo>
                  <a:lnTo>
                    <a:pt x="45100" y="2105520"/>
                  </a:lnTo>
                  <a:lnTo>
                    <a:pt x="68967" y="2144482"/>
                  </a:lnTo>
                  <a:lnTo>
                    <a:pt x="97148" y="2180211"/>
                  </a:lnTo>
                  <a:lnTo>
                    <a:pt x="129283" y="2212346"/>
                  </a:lnTo>
                  <a:lnTo>
                    <a:pt x="165012" y="2240527"/>
                  </a:lnTo>
                  <a:lnTo>
                    <a:pt x="203974" y="2264394"/>
                  </a:lnTo>
                  <a:lnTo>
                    <a:pt x="245808" y="2283584"/>
                  </a:lnTo>
                  <a:lnTo>
                    <a:pt x="290154" y="2297738"/>
                  </a:lnTo>
                  <a:lnTo>
                    <a:pt x="336650" y="2306495"/>
                  </a:lnTo>
                  <a:lnTo>
                    <a:pt x="384937" y="2309495"/>
                  </a:lnTo>
                  <a:lnTo>
                    <a:pt x="7387463" y="2309495"/>
                  </a:lnTo>
                  <a:lnTo>
                    <a:pt x="7435749" y="2306495"/>
                  </a:lnTo>
                  <a:lnTo>
                    <a:pt x="7482245" y="2297738"/>
                  </a:lnTo>
                  <a:lnTo>
                    <a:pt x="7526591" y="2283584"/>
                  </a:lnTo>
                  <a:lnTo>
                    <a:pt x="7568425" y="2264394"/>
                  </a:lnTo>
                  <a:lnTo>
                    <a:pt x="7607387" y="2240527"/>
                  </a:lnTo>
                  <a:lnTo>
                    <a:pt x="7643116" y="2212346"/>
                  </a:lnTo>
                  <a:lnTo>
                    <a:pt x="7675251" y="2180211"/>
                  </a:lnTo>
                  <a:lnTo>
                    <a:pt x="7703432" y="2144482"/>
                  </a:lnTo>
                  <a:lnTo>
                    <a:pt x="7727299" y="2105520"/>
                  </a:lnTo>
                  <a:lnTo>
                    <a:pt x="7746489" y="2063686"/>
                  </a:lnTo>
                  <a:lnTo>
                    <a:pt x="7760643" y="2019340"/>
                  </a:lnTo>
                  <a:lnTo>
                    <a:pt x="7769400" y="1972844"/>
                  </a:lnTo>
                  <a:lnTo>
                    <a:pt x="7772400" y="1924558"/>
                  </a:lnTo>
                  <a:lnTo>
                    <a:pt x="7772400" y="384937"/>
                  </a:lnTo>
                  <a:lnTo>
                    <a:pt x="7769400" y="336650"/>
                  </a:lnTo>
                  <a:lnTo>
                    <a:pt x="7760643" y="290154"/>
                  </a:lnTo>
                  <a:lnTo>
                    <a:pt x="7746489" y="245808"/>
                  </a:lnTo>
                  <a:lnTo>
                    <a:pt x="7727299" y="203974"/>
                  </a:lnTo>
                  <a:lnTo>
                    <a:pt x="7703432" y="165012"/>
                  </a:lnTo>
                  <a:lnTo>
                    <a:pt x="7675251" y="129283"/>
                  </a:lnTo>
                  <a:lnTo>
                    <a:pt x="7643116" y="97148"/>
                  </a:lnTo>
                  <a:lnTo>
                    <a:pt x="7607387" y="68967"/>
                  </a:lnTo>
                  <a:lnTo>
                    <a:pt x="7568425" y="45100"/>
                  </a:lnTo>
                  <a:lnTo>
                    <a:pt x="7526591" y="25910"/>
                  </a:lnTo>
                  <a:lnTo>
                    <a:pt x="7482245" y="11756"/>
                  </a:lnTo>
                  <a:lnTo>
                    <a:pt x="7435749" y="2999"/>
                  </a:lnTo>
                  <a:lnTo>
                    <a:pt x="7387463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85800" y="2060955"/>
              <a:ext cx="7772400" cy="2309495"/>
            </a:xfrm>
            <a:custGeom>
              <a:avLst/>
              <a:gdLst/>
              <a:ahLst/>
              <a:cxnLst/>
              <a:rect l="l" t="t" r="r" b="b"/>
              <a:pathLst>
                <a:path w="7772400" h="2309495">
                  <a:moveTo>
                    <a:pt x="0" y="384937"/>
                  </a:moveTo>
                  <a:lnTo>
                    <a:pt x="2999" y="336650"/>
                  </a:lnTo>
                  <a:lnTo>
                    <a:pt x="11756" y="290154"/>
                  </a:lnTo>
                  <a:lnTo>
                    <a:pt x="25910" y="245808"/>
                  </a:lnTo>
                  <a:lnTo>
                    <a:pt x="45100" y="203974"/>
                  </a:lnTo>
                  <a:lnTo>
                    <a:pt x="68967" y="165012"/>
                  </a:lnTo>
                  <a:lnTo>
                    <a:pt x="97148" y="129283"/>
                  </a:lnTo>
                  <a:lnTo>
                    <a:pt x="129283" y="97148"/>
                  </a:lnTo>
                  <a:lnTo>
                    <a:pt x="165012" y="68967"/>
                  </a:lnTo>
                  <a:lnTo>
                    <a:pt x="203974" y="45100"/>
                  </a:lnTo>
                  <a:lnTo>
                    <a:pt x="245808" y="25910"/>
                  </a:lnTo>
                  <a:lnTo>
                    <a:pt x="290154" y="11756"/>
                  </a:lnTo>
                  <a:lnTo>
                    <a:pt x="336650" y="2999"/>
                  </a:lnTo>
                  <a:lnTo>
                    <a:pt x="384937" y="0"/>
                  </a:lnTo>
                  <a:lnTo>
                    <a:pt x="7387463" y="0"/>
                  </a:lnTo>
                  <a:lnTo>
                    <a:pt x="7435749" y="2999"/>
                  </a:lnTo>
                  <a:lnTo>
                    <a:pt x="7482245" y="11756"/>
                  </a:lnTo>
                  <a:lnTo>
                    <a:pt x="7526591" y="25910"/>
                  </a:lnTo>
                  <a:lnTo>
                    <a:pt x="7568425" y="45100"/>
                  </a:lnTo>
                  <a:lnTo>
                    <a:pt x="7607387" y="68967"/>
                  </a:lnTo>
                  <a:lnTo>
                    <a:pt x="7643116" y="97148"/>
                  </a:lnTo>
                  <a:lnTo>
                    <a:pt x="7675251" y="129283"/>
                  </a:lnTo>
                  <a:lnTo>
                    <a:pt x="7703432" y="165012"/>
                  </a:lnTo>
                  <a:lnTo>
                    <a:pt x="7727299" y="203974"/>
                  </a:lnTo>
                  <a:lnTo>
                    <a:pt x="7746489" y="245808"/>
                  </a:lnTo>
                  <a:lnTo>
                    <a:pt x="7760643" y="290154"/>
                  </a:lnTo>
                  <a:lnTo>
                    <a:pt x="7769400" y="336650"/>
                  </a:lnTo>
                  <a:lnTo>
                    <a:pt x="7772400" y="384937"/>
                  </a:lnTo>
                  <a:lnTo>
                    <a:pt x="7772400" y="1924558"/>
                  </a:lnTo>
                  <a:lnTo>
                    <a:pt x="7769400" y="1972844"/>
                  </a:lnTo>
                  <a:lnTo>
                    <a:pt x="7760643" y="2019340"/>
                  </a:lnTo>
                  <a:lnTo>
                    <a:pt x="7746489" y="2063686"/>
                  </a:lnTo>
                  <a:lnTo>
                    <a:pt x="7727299" y="2105520"/>
                  </a:lnTo>
                  <a:lnTo>
                    <a:pt x="7703432" y="2144482"/>
                  </a:lnTo>
                  <a:lnTo>
                    <a:pt x="7675251" y="2180211"/>
                  </a:lnTo>
                  <a:lnTo>
                    <a:pt x="7643116" y="2212346"/>
                  </a:lnTo>
                  <a:lnTo>
                    <a:pt x="7607387" y="2240527"/>
                  </a:lnTo>
                  <a:lnTo>
                    <a:pt x="7568425" y="2264394"/>
                  </a:lnTo>
                  <a:lnTo>
                    <a:pt x="7526591" y="2283584"/>
                  </a:lnTo>
                  <a:lnTo>
                    <a:pt x="7482245" y="2297738"/>
                  </a:lnTo>
                  <a:lnTo>
                    <a:pt x="7435749" y="2306495"/>
                  </a:lnTo>
                  <a:lnTo>
                    <a:pt x="7387463" y="2309495"/>
                  </a:lnTo>
                  <a:lnTo>
                    <a:pt x="384937" y="2309495"/>
                  </a:lnTo>
                  <a:lnTo>
                    <a:pt x="336650" y="2306495"/>
                  </a:lnTo>
                  <a:lnTo>
                    <a:pt x="290154" y="2297738"/>
                  </a:lnTo>
                  <a:lnTo>
                    <a:pt x="245808" y="2283584"/>
                  </a:lnTo>
                  <a:lnTo>
                    <a:pt x="203974" y="2264394"/>
                  </a:lnTo>
                  <a:lnTo>
                    <a:pt x="165012" y="2240527"/>
                  </a:lnTo>
                  <a:lnTo>
                    <a:pt x="129283" y="2212346"/>
                  </a:lnTo>
                  <a:lnTo>
                    <a:pt x="97148" y="2180211"/>
                  </a:lnTo>
                  <a:lnTo>
                    <a:pt x="68967" y="2144482"/>
                  </a:lnTo>
                  <a:lnTo>
                    <a:pt x="45100" y="2105520"/>
                  </a:lnTo>
                  <a:lnTo>
                    <a:pt x="25910" y="2063686"/>
                  </a:lnTo>
                  <a:lnTo>
                    <a:pt x="11756" y="2019340"/>
                  </a:lnTo>
                  <a:lnTo>
                    <a:pt x="2999" y="1972844"/>
                  </a:lnTo>
                  <a:lnTo>
                    <a:pt x="0" y="1924558"/>
                  </a:lnTo>
                  <a:lnTo>
                    <a:pt x="0" y="384937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176324" y="2234565"/>
            <a:ext cx="6795770" cy="1838325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12700" marR="5080" algn="ctr">
              <a:lnSpc>
                <a:spcPct val="91600"/>
              </a:lnSpc>
              <a:spcBef>
                <a:spcPts val="520"/>
              </a:spcBef>
            </a:pPr>
            <a:r>
              <a:rPr sz="4200" b="1" dirty="0">
                <a:solidFill>
                  <a:srgbClr val="FFFFFF"/>
                </a:solidFill>
                <a:latin typeface="Calibri"/>
                <a:cs typeface="Calibri"/>
              </a:rPr>
              <a:t>So…</a:t>
            </a:r>
            <a:r>
              <a:rPr sz="4200" b="1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200" b="1" dirty="0">
                <a:solidFill>
                  <a:srgbClr val="FFFFFF"/>
                </a:solidFill>
                <a:latin typeface="Calibri"/>
                <a:cs typeface="Calibri"/>
              </a:rPr>
              <a:t>how</a:t>
            </a:r>
            <a:r>
              <a:rPr sz="4200" b="1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200" b="1" dirty="0">
                <a:solidFill>
                  <a:srgbClr val="FFFFFF"/>
                </a:solidFill>
                <a:latin typeface="Calibri"/>
                <a:cs typeface="Calibri"/>
              </a:rPr>
              <a:t>would</a:t>
            </a:r>
            <a:r>
              <a:rPr sz="4200" b="1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200" b="1" dirty="0">
                <a:solidFill>
                  <a:srgbClr val="FFFFFF"/>
                </a:solidFill>
                <a:latin typeface="Calibri"/>
                <a:cs typeface="Calibri"/>
              </a:rPr>
              <a:t>you</a:t>
            </a:r>
            <a:r>
              <a:rPr sz="4200" b="1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200" b="1" spc="-10" dirty="0">
                <a:solidFill>
                  <a:srgbClr val="FFFFFF"/>
                </a:solidFill>
                <a:latin typeface="Calibri"/>
                <a:cs typeface="Calibri"/>
              </a:rPr>
              <a:t>transform </a:t>
            </a:r>
            <a:r>
              <a:rPr sz="4200" b="1" dirty="0">
                <a:solidFill>
                  <a:srgbClr val="FFFFFF"/>
                </a:solidFill>
                <a:latin typeface="Calibri"/>
                <a:cs typeface="Calibri"/>
              </a:rPr>
              <a:t>information</a:t>
            </a:r>
            <a:r>
              <a:rPr sz="4200" b="1" spc="-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200" b="1" dirty="0">
                <a:solidFill>
                  <a:srgbClr val="FFFFFF"/>
                </a:solidFill>
                <a:latin typeface="Calibri"/>
                <a:cs typeface="Calibri"/>
              </a:rPr>
              <a:t>technology</a:t>
            </a:r>
            <a:r>
              <a:rPr sz="4200" b="1" spc="-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200" b="1" dirty="0">
                <a:solidFill>
                  <a:srgbClr val="FFFFFF"/>
                </a:solidFill>
                <a:latin typeface="Calibri"/>
                <a:cs typeface="Calibri"/>
              </a:rPr>
              <a:t>into</a:t>
            </a:r>
            <a:r>
              <a:rPr sz="4200" b="1" spc="-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200" b="1" spc="-50" dirty="0">
                <a:solidFill>
                  <a:srgbClr val="FFFFFF"/>
                </a:solidFill>
                <a:latin typeface="Calibri"/>
                <a:cs typeface="Calibri"/>
              </a:rPr>
              <a:t>a </a:t>
            </a:r>
            <a:r>
              <a:rPr sz="4200" b="1" spc="-10" dirty="0">
                <a:solidFill>
                  <a:srgbClr val="FFFFFF"/>
                </a:solidFill>
                <a:latin typeface="Calibri"/>
                <a:cs typeface="Calibri"/>
              </a:rPr>
              <a:t>Service?</a:t>
            </a:r>
            <a:endParaRPr sz="4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0986" y="147650"/>
            <a:ext cx="7483475" cy="1367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261870" marR="5080" indent="-2249805">
              <a:lnSpc>
                <a:spcPct val="100000"/>
              </a:lnSpc>
              <a:spcBef>
                <a:spcPts val="105"/>
              </a:spcBef>
            </a:pPr>
            <a:r>
              <a:rPr dirty="0"/>
              <a:t>Requirements</a:t>
            </a:r>
            <a:r>
              <a:rPr spc="-35" dirty="0"/>
              <a:t> </a:t>
            </a:r>
            <a:r>
              <a:rPr dirty="0"/>
              <a:t>to Transform</a:t>
            </a:r>
            <a:r>
              <a:rPr spc="-20" dirty="0"/>
              <a:t> </a:t>
            </a:r>
            <a:r>
              <a:rPr spc="-25" dirty="0"/>
              <a:t>IT </a:t>
            </a:r>
            <a:r>
              <a:rPr dirty="0"/>
              <a:t>to</a:t>
            </a:r>
            <a:r>
              <a:rPr spc="-35" dirty="0"/>
              <a:t> </a:t>
            </a:r>
            <a:r>
              <a:rPr dirty="0"/>
              <a:t>a</a:t>
            </a:r>
            <a:r>
              <a:rPr spc="-35" dirty="0"/>
              <a:t> </a:t>
            </a:r>
            <a:r>
              <a:rPr spc="-10" dirty="0"/>
              <a:t>Service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sz="half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Connectivity</a:t>
            </a:r>
          </a:p>
          <a:p>
            <a:pPr marL="413384">
              <a:lnSpc>
                <a:spcPts val="2400"/>
              </a:lnSpc>
              <a:spcBef>
                <a:spcPts val="5"/>
              </a:spcBef>
            </a:pPr>
            <a:r>
              <a:rPr sz="2000" dirty="0"/>
              <a:t>For</a:t>
            </a:r>
            <a:r>
              <a:rPr sz="2000" spc="-30" dirty="0"/>
              <a:t> </a:t>
            </a:r>
            <a:r>
              <a:rPr sz="2000" dirty="0"/>
              <a:t>moving</a:t>
            </a:r>
            <a:r>
              <a:rPr sz="2000" spc="-30" dirty="0"/>
              <a:t> </a:t>
            </a:r>
            <a:r>
              <a:rPr sz="2000" dirty="0"/>
              <a:t>data</a:t>
            </a:r>
            <a:r>
              <a:rPr sz="2000" spc="-30" dirty="0"/>
              <a:t> </a:t>
            </a:r>
            <a:r>
              <a:rPr sz="2000" spc="-10" dirty="0"/>
              <a:t>around</a:t>
            </a:r>
            <a:endParaRPr sz="2000"/>
          </a:p>
          <a:p>
            <a:pPr marL="12700">
              <a:lnSpc>
                <a:spcPts val="2880"/>
              </a:lnSpc>
            </a:pPr>
            <a:r>
              <a:rPr spc="-10" dirty="0"/>
              <a:t>Interactivity</a:t>
            </a:r>
          </a:p>
          <a:p>
            <a:pPr marL="413384">
              <a:lnSpc>
                <a:spcPts val="2400"/>
              </a:lnSpc>
              <a:spcBef>
                <a:spcPts val="5"/>
              </a:spcBef>
            </a:pPr>
            <a:r>
              <a:rPr sz="2000" dirty="0"/>
              <a:t>Seamless</a:t>
            </a:r>
            <a:r>
              <a:rPr sz="2000" spc="-25" dirty="0"/>
              <a:t> </a:t>
            </a:r>
            <a:r>
              <a:rPr sz="2000" spc="-10" dirty="0"/>
              <a:t>interfaces</a:t>
            </a:r>
            <a:endParaRPr sz="2000"/>
          </a:p>
          <a:p>
            <a:pPr marL="12700">
              <a:lnSpc>
                <a:spcPts val="2880"/>
              </a:lnSpc>
            </a:pPr>
            <a:r>
              <a:rPr spc="-10" dirty="0"/>
              <a:t>Reliability</a:t>
            </a:r>
          </a:p>
          <a:p>
            <a:pPr marL="413384" marR="330200">
              <a:lnSpc>
                <a:spcPct val="80000"/>
              </a:lnSpc>
              <a:spcBef>
                <a:spcPts val="484"/>
              </a:spcBef>
            </a:pPr>
            <a:r>
              <a:rPr sz="2000" dirty="0"/>
              <a:t>Failure</a:t>
            </a:r>
            <a:r>
              <a:rPr sz="2000" spc="-40" dirty="0"/>
              <a:t> </a:t>
            </a:r>
            <a:r>
              <a:rPr sz="2000" dirty="0"/>
              <a:t>will</a:t>
            </a:r>
            <a:r>
              <a:rPr sz="2000" spc="-20" dirty="0"/>
              <a:t> </a:t>
            </a:r>
            <a:r>
              <a:rPr sz="2000" dirty="0"/>
              <a:t>affect</a:t>
            </a:r>
            <a:r>
              <a:rPr sz="2000" spc="-50" dirty="0"/>
              <a:t> </a:t>
            </a:r>
            <a:r>
              <a:rPr sz="2000" spc="-20" dirty="0"/>
              <a:t>many </a:t>
            </a:r>
            <a:r>
              <a:rPr sz="2000" dirty="0"/>
              <a:t>people,</a:t>
            </a:r>
            <a:r>
              <a:rPr sz="2000" spc="-35" dirty="0"/>
              <a:t> </a:t>
            </a:r>
            <a:r>
              <a:rPr sz="2000" dirty="0"/>
              <a:t>not</a:t>
            </a:r>
            <a:r>
              <a:rPr sz="2000" spc="-35" dirty="0"/>
              <a:t> </a:t>
            </a:r>
            <a:r>
              <a:rPr sz="2000" dirty="0"/>
              <a:t>just</a:t>
            </a:r>
            <a:r>
              <a:rPr sz="2000" spc="-35" dirty="0"/>
              <a:t> </a:t>
            </a:r>
            <a:r>
              <a:rPr sz="2000" spc="-25" dirty="0"/>
              <a:t>one</a:t>
            </a:r>
            <a:endParaRPr sz="2000"/>
          </a:p>
          <a:p>
            <a:pPr marL="12700">
              <a:lnSpc>
                <a:spcPts val="2875"/>
              </a:lnSpc>
            </a:pPr>
            <a:r>
              <a:rPr spc="-10" dirty="0"/>
              <a:t>Performance</a:t>
            </a:r>
          </a:p>
          <a:p>
            <a:pPr marL="413384" marR="81280">
              <a:lnSpc>
                <a:spcPct val="80100"/>
              </a:lnSpc>
              <a:spcBef>
                <a:spcPts val="480"/>
              </a:spcBef>
            </a:pPr>
            <a:r>
              <a:rPr sz="2000" dirty="0"/>
              <a:t>It</a:t>
            </a:r>
            <a:r>
              <a:rPr sz="2000" spc="-45" dirty="0"/>
              <a:t> </a:t>
            </a:r>
            <a:r>
              <a:rPr sz="2000" dirty="0"/>
              <a:t>should</a:t>
            </a:r>
            <a:r>
              <a:rPr sz="2000" spc="-30" dirty="0"/>
              <a:t> </a:t>
            </a:r>
            <a:r>
              <a:rPr sz="2000" dirty="0"/>
              <a:t>not</a:t>
            </a:r>
            <a:r>
              <a:rPr sz="2000" spc="-40" dirty="0"/>
              <a:t> </a:t>
            </a:r>
            <a:r>
              <a:rPr sz="2000" dirty="0"/>
              <a:t>be</a:t>
            </a:r>
            <a:r>
              <a:rPr sz="2000" spc="-30" dirty="0"/>
              <a:t> </a:t>
            </a:r>
            <a:r>
              <a:rPr sz="2000" dirty="0"/>
              <a:t>slower</a:t>
            </a:r>
            <a:r>
              <a:rPr sz="2000" spc="-40" dirty="0"/>
              <a:t> </a:t>
            </a:r>
            <a:r>
              <a:rPr sz="2000" spc="-25" dirty="0"/>
              <a:t>or </a:t>
            </a:r>
            <a:r>
              <a:rPr sz="2000" dirty="0"/>
              <a:t>less</a:t>
            </a:r>
            <a:r>
              <a:rPr sz="2000" spc="-50" dirty="0"/>
              <a:t> </a:t>
            </a:r>
            <a:r>
              <a:rPr sz="2000" dirty="0"/>
              <a:t>efficient</a:t>
            </a:r>
            <a:r>
              <a:rPr sz="2000" spc="-70" dirty="0"/>
              <a:t> </a:t>
            </a:r>
            <a:r>
              <a:rPr sz="2000" dirty="0"/>
              <a:t>than</a:t>
            </a:r>
            <a:r>
              <a:rPr sz="2000" spc="-50" dirty="0"/>
              <a:t> </a:t>
            </a:r>
            <a:r>
              <a:rPr sz="2000" spc="-20" dirty="0"/>
              <a:t>what </a:t>
            </a:r>
            <a:r>
              <a:rPr sz="2000" dirty="0"/>
              <a:t>people</a:t>
            </a:r>
            <a:r>
              <a:rPr sz="2000" spc="-40" dirty="0"/>
              <a:t> </a:t>
            </a:r>
            <a:r>
              <a:rPr sz="2000" dirty="0"/>
              <a:t>already</a:t>
            </a:r>
            <a:r>
              <a:rPr sz="2000" spc="-40" dirty="0"/>
              <a:t> </a:t>
            </a:r>
            <a:r>
              <a:rPr sz="2000" spc="-20" dirty="0"/>
              <a:t>have</a:t>
            </a:r>
            <a:endParaRPr sz="2000"/>
          </a:p>
          <a:p>
            <a:pPr marL="12700">
              <a:lnSpc>
                <a:spcPts val="2875"/>
              </a:lnSpc>
            </a:pPr>
            <a:r>
              <a:rPr spc="-20" dirty="0"/>
              <a:t>Pay-as-</a:t>
            </a:r>
            <a:r>
              <a:rPr spc="-25" dirty="0"/>
              <a:t>you-Go</a:t>
            </a:r>
          </a:p>
          <a:p>
            <a:pPr marL="413384">
              <a:lnSpc>
                <a:spcPts val="2160"/>
              </a:lnSpc>
              <a:spcBef>
                <a:spcPts val="5"/>
              </a:spcBef>
            </a:pPr>
            <a:r>
              <a:rPr sz="2000" dirty="0"/>
              <a:t>Should</a:t>
            </a:r>
            <a:r>
              <a:rPr sz="2000" spc="-10" dirty="0"/>
              <a:t> </a:t>
            </a:r>
            <a:r>
              <a:rPr sz="2000" dirty="0"/>
              <a:t>not</a:t>
            </a:r>
            <a:r>
              <a:rPr sz="2000" spc="-30" dirty="0"/>
              <a:t> </a:t>
            </a:r>
            <a:r>
              <a:rPr sz="2000" dirty="0"/>
              <a:t>pay</a:t>
            </a:r>
            <a:r>
              <a:rPr sz="2000" spc="-30" dirty="0"/>
              <a:t> </a:t>
            </a:r>
            <a:r>
              <a:rPr sz="2000" dirty="0"/>
              <a:t>an</a:t>
            </a:r>
            <a:r>
              <a:rPr sz="2000" spc="-5" dirty="0"/>
              <a:t> </a:t>
            </a:r>
            <a:r>
              <a:rPr sz="2000" spc="-10" dirty="0"/>
              <a:t>upfront</a:t>
            </a:r>
            <a:endParaRPr sz="2000"/>
          </a:p>
          <a:p>
            <a:pPr marL="413384">
              <a:lnSpc>
                <a:spcPts val="2160"/>
              </a:lnSpc>
            </a:pPr>
            <a:r>
              <a:rPr sz="2000" dirty="0"/>
              <a:t>fee</a:t>
            </a:r>
            <a:r>
              <a:rPr sz="2000" spc="-45" dirty="0"/>
              <a:t> </a:t>
            </a:r>
            <a:r>
              <a:rPr sz="2000" dirty="0"/>
              <a:t>for</a:t>
            </a:r>
            <a:r>
              <a:rPr sz="2000" spc="-25" dirty="0"/>
              <a:t> </a:t>
            </a:r>
            <a:r>
              <a:rPr sz="2000" dirty="0"/>
              <a:t>the</a:t>
            </a:r>
            <a:r>
              <a:rPr sz="2000" spc="-30" dirty="0"/>
              <a:t> </a:t>
            </a:r>
            <a:r>
              <a:rPr sz="2000" spc="-10" dirty="0"/>
              <a:t>service</a:t>
            </a:r>
            <a:endParaRPr sz="2000"/>
          </a:p>
        </p:txBody>
      </p:sp>
      <p:sp>
        <p:nvSpPr>
          <p:cNvPr id="23" name="object 23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413384" marR="75565" indent="-401320">
              <a:lnSpc>
                <a:spcPct val="90300"/>
              </a:lnSpc>
              <a:spcBef>
                <a:spcPts val="380"/>
              </a:spcBef>
            </a:pPr>
            <a:r>
              <a:rPr sz="2400" dirty="0"/>
              <a:t>Ease</a:t>
            </a:r>
            <a:r>
              <a:rPr sz="2400" spc="-40" dirty="0"/>
              <a:t> </a:t>
            </a:r>
            <a:r>
              <a:rPr sz="2400" dirty="0"/>
              <a:t>of</a:t>
            </a:r>
            <a:r>
              <a:rPr sz="2400" spc="-35" dirty="0"/>
              <a:t> </a:t>
            </a:r>
            <a:r>
              <a:rPr sz="2400" spc="-10" dirty="0"/>
              <a:t>Programmability </a:t>
            </a:r>
            <a:r>
              <a:rPr dirty="0"/>
              <a:t>Ease</a:t>
            </a:r>
            <a:r>
              <a:rPr spc="-35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dirty="0"/>
              <a:t>development</a:t>
            </a:r>
            <a:r>
              <a:rPr spc="-30" dirty="0"/>
              <a:t> </a:t>
            </a:r>
            <a:r>
              <a:rPr spc="-25" dirty="0"/>
              <a:t>of </a:t>
            </a:r>
            <a:r>
              <a:rPr dirty="0"/>
              <a:t>complex</a:t>
            </a:r>
            <a:r>
              <a:rPr spc="-30" dirty="0"/>
              <a:t> </a:t>
            </a:r>
            <a:r>
              <a:rPr dirty="0"/>
              <a:t>services</a:t>
            </a:r>
            <a:r>
              <a:rPr spc="-35" dirty="0"/>
              <a:t> </a:t>
            </a:r>
            <a:r>
              <a:rPr dirty="0"/>
              <a:t>to</a:t>
            </a:r>
            <a:r>
              <a:rPr spc="-20" dirty="0"/>
              <a:t> </a:t>
            </a:r>
            <a:r>
              <a:rPr spc="-10" dirty="0"/>
              <a:t>users</a:t>
            </a:r>
            <a:endParaRPr sz="2400"/>
          </a:p>
          <a:p>
            <a:pPr marL="12700" marR="142875">
              <a:lnSpc>
                <a:spcPct val="80000"/>
              </a:lnSpc>
              <a:spcBef>
                <a:spcPts val="570"/>
              </a:spcBef>
            </a:pPr>
            <a:r>
              <a:rPr sz="2400" dirty="0"/>
              <a:t>Manage</a:t>
            </a:r>
            <a:r>
              <a:rPr sz="2400" spc="-95" dirty="0"/>
              <a:t> </a:t>
            </a:r>
            <a:r>
              <a:rPr sz="2400" dirty="0"/>
              <a:t>Large</a:t>
            </a:r>
            <a:r>
              <a:rPr sz="2400" spc="-90" dirty="0"/>
              <a:t> </a:t>
            </a:r>
            <a:r>
              <a:rPr sz="2400" spc="-10" dirty="0"/>
              <a:t>Amounts </a:t>
            </a:r>
            <a:r>
              <a:rPr sz="2400" dirty="0"/>
              <a:t>of </a:t>
            </a:r>
            <a:r>
              <a:rPr sz="2400" spc="-20" dirty="0"/>
              <a:t>Data</a:t>
            </a:r>
            <a:endParaRPr sz="2400"/>
          </a:p>
          <a:p>
            <a:pPr marL="413384">
              <a:lnSpc>
                <a:spcPts val="2400"/>
              </a:lnSpc>
              <a:spcBef>
                <a:spcPts val="5"/>
              </a:spcBef>
            </a:pPr>
            <a:r>
              <a:rPr dirty="0"/>
              <a:t>Big</a:t>
            </a:r>
            <a:r>
              <a:rPr spc="-40" dirty="0"/>
              <a:t> </a:t>
            </a:r>
            <a:r>
              <a:rPr spc="-20" dirty="0"/>
              <a:t>Data</a:t>
            </a:r>
          </a:p>
          <a:p>
            <a:pPr marL="413384" indent="-401320">
              <a:lnSpc>
                <a:spcPts val="2880"/>
              </a:lnSpc>
            </a:pPr>
            <a:r>
              <a:rPr sz="2400" spc="-10" dirty="0"/>
              <a:t>Efficiency</a:t>
            </a:r>
            <a:endParaRPr sz="2400"/>
          </a:p>
          <a:p>
            <a:pPr marL="413384" marR="2275840">
              <a:lnSpc>
                <a:spcPct val="100000"/>
              </a:lnSpc>
              <a:spcBef>
                <a:spcPts val="5"/>
              </a:spcBef>
            </a:pPr>
            <a:r>
              <a:rPr spc="-20" dirty="0"/>
              <a:t>Cost </a:t>
            </a:r>
            <a:r>
              <a:rPr spc="-10" dirty="0"/>
              <a:t>Power</a:t>
            </a:r>
          </a:p>
          <a:p>
            <a:pPr marL="413384" marR="5080" indent="-401320">
              <a:lnSpc>
                <a:spcPct val="90200"/>
              </a:lnSpc>
              <a:spcBef>
                <a:spcPts val="280"/>
              </a:spcBef>
            </a:pPr>
            <a:r>
              <a:rPr sz="2400" dirty="0"/>
              <a:t>Scalability</a:t>
            </a:r>
            <a:r>
              <a:rPr sz="2400" spc="-25" dirty="0"/>
              <a:t> </a:t>
            </a:r>
            <a:r>
              <a:rPr sz="2400" dirty="0"/>
              <a:t>&amp;</a:t>
            </a:r>
            <a:r>
              <a:rPr sz="2400" spc="-55" dirty="0"/>
              <a:t> </a:t>
            </a:r>
            <a:r>
              <a:rPr sz="2400" spc="-10" dirty="0"/>
              <a:t>Elasticity </a:t>
            </a:r>
            <a:r>
              <a:rPr dirty="0"/>
              <a:t>Flexible</a:t>
            </a:r>
            <a:r>
              <a:rPr spc="-60" dirty="0"/>
              <a:t> </a:t>
            </a:r>
            <a:r>
              <a:rPr dirty="0"/>
              <a:t>and</a:t>
            </a:r>
            <a:r>
              <a:rPr spc="-70" dirty="0"/>
              <a:t> </a:t>
            </a:r>
            <a:r>
              <a:rPr spc="-20" dirty="0"/>
              <a:t>rapid </a:t>
            </a:r>
            <a:r>
              <a:rPr dirty="0"/>
              <a:t>response</a:t>
            </a:r>
            <a:r>
              <a:rPr spc="-65" dirty="0"/>
              <a:t> </a:t>
            </a:r>
            <a:r>
              <a:rPr dirty="0"/>
              <a:t>to</a:t>
            </a:r>
            <a:r>
              <a:rPr spc="-20" dirty="0"/>
              <a:t> </a:t>
            </a:r>
            <a:r>
              <a:rPr dirty="0"/>
              <a:t>changing</a:t>
            </a:r>
            <a:r>
              <a:rPr spc="-35" dirty="0"/>
              <a:t> </a:t>
            </a:r>
            <a:r>
              <a:rPr spc="-20" dirty="0"/>
              <a:t>user</a:t>
            </a:r>
            <a:endParaRPr sz="2400"/>
          </a:p>
          <a:p>
            <a:pPr marL="413384">
              <a:lnSpc>
                <a:spcPts val="1920"/>
              </a:lnSpc>
            </a:pPr>
            <a:r>
              <a:rPr spc="-10" dirty="0"/>
              <a:t>needs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9043" y="1695450"/>
            <a:ext cx="136817" cy="1440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2586" y="2039835"/>
            <a:ext cx="120357" cy="12035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9043" y="2366010"/>
            <a:ext cx="136817" cy="14401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2586" y="2710395"/>
            <a:ext cx="120357" cy="12035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9043" y="3036570"/>
            <a:ext cx="136817" cy="14401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2586" y="3380956"/>
            <a:ext cx="120357" cy="12035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9043" y="3950970"/>
            <a:ext cx="136817" cy="14401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2586" y="4295356"/>
            <a:ext cx="120357" cy="120357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8640" y="5071871"/>
            <a:ext cx="202692" cy="21336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5839" y="5422391"/>
            <a:ext cx="178308" cy="178307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70043" y="1695450"/>
            <a:ext cx="136817" cy="144018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23586" y="2039835"/>
            <a:ext cx="120357" cy="120357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70043" y="2609850"/>
            <a:ext cx="136817" cy="144018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23586" y="3246843"/>
            <a:ext cx="120357" cy="120357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70043" y="3573017"/>
            <a:ext cx="136817" cy="144018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23586" y="3917403"/>
            <a:ext cx="120357" cy="120357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23586" y="4222203"/>
            <a:ext cx="120357" cy="120357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70043" y="4548378"/>
            <a:ext cx="136817" cy="144018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96840" y="4861559"/>
            <a:ext cx="178308" cy="17830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70043" y="1695450"/>
            <a:ext cx="136817" cy="14401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23586" y="2039835"/>
            <a:ext cx="120357" cy="12035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484240" y="1955651"/>
            <a:ext cx="2921635" cy="528320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>
              <a:lnSpc>
                <a:spcPct val="80000"/>
              </a:lnSpc>
              <a:spcBef>
                <a:spcPts val="295"/>
              </a:spcBef>
            </a:pPr>
            <a:r>
              <a:rPr sz="2000" dirty="0">
                <a:latin typeface="Arial MT"/>
                <a:cs typeface="Arial MT"/>
              </a:rPr>
              <a:t>Ease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development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of </a:t>
            </a:r>
            <a:r>
              <a:rPr sz="2000" dirty="0">
                <a:latin typeface="Arial MT"/>
                <a:cs typeface="Arial MT"/>
              </a:rPr>
              <a:t>complex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services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20" dirty="0">
                <a:latin typeface="Arial MT"/>
                <a:cs typeface="Arial MT"/>
              </a:rPr>
              <a:t> users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70043" y="2609850"/>
            <a:ext cx="136817" cy="144018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4985003" y="1578863"/>
            <a:ext cx="3528060" cy="4505325"/>
            <a:chOff x="4985003" y="1578863"/>
            <a:chExt cx="3528060" cy="450532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23586" y="3246843"/>
              <a:ext cx="120357" cy="12035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23586" y="3917403"/>
              <a:ext cx="120357" cy="12035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23586" y="4222203"/>
              <a:ext cx="120357" cy="12035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96839" y="4861560"/>
              <a:ext cx="178308" cy="17830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85003" y="3480815"/>
              <a:ext cx="3517392" cy="260299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95671" y="1578863"/>
              <a:ext cx="3517391" cy="100279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985003" y="2522219"/>
              <a:ext cx="3517392" cy="1002791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5032628" y="1552702"/>
            <a:ext cx="3495040" cy="4038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ts val="2815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Ease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Programmability</a:t>
            </a:r>
            <a:endParaRPr sz="2400">
              <a:latin typeface="Arial MT"/>
              <a:cs typeface="Arial MT"/>
            </a:endParaRPr>
          </a:p>
          <a:p>
            <a:pPr marL="694055">
              <a:lnSpc>
                <a:spcPts val="2095"/>
              </a:lnSpc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Programming</a:t>
            </a:r>
            <a:r>
              <a:rPr sz="1800" spc="-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Model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15"/>
              </a:spcBef>
            </a:pPr>
            <a:endParaRPr sz="1800">
              <a:latin typeface="Arial MT"/>
              <a:cs typeface="Arial MT"/>
            </a:endParaRPr>
          </a:p>
          <a:p>
            <a:pPr marL="50800" marR="180975">
              <a:lnSpc>
                <a:spcPts val="2380"/>
              </a:lnSpc>
            </a:pPr>
            <a:r>
              <a:rPr sz="2400" dirty="0">
                <a:latin typeface="Arial MT"/>
                <a:cs typeface="Arial MT"/>
              </a:rPr>
              <a:t>Manage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Large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Amounts </a:t>
            </a:r>
            <a:r>
              <a:rPr sz="3600" baseline="1157" dirty="0">
                <a:latin typeface="Arial MT"/>
                <a:cs typeface="Arial MT"/>
              </a:rPr>
              <a:t>of</a:t>
            </a:r>
            <a:r>
              <a:rPr sz="3600" spc="30" baseline="1157" dirty="0">
                <a:latin typeface="Arial MT"/>
                <a:cs typeface="Arial MT"/>
              </a:rPr>
              <a:t> </a:t>
            </a:r>
            <a:r>
              <a:rPr sz="3600" spc="-30" baseline="1157" dirty="0">
                <a:latin typeface="Arial MT"/>
                <a:cs typeface="Arial MT"/>
              </a:rPr>
              <a:t>D</a:t>
            </a:r>
            <a:r>
              <a:rPr sz="3600" spc="-1942" baseline="1157" dirty="0">
                <a:latin typeface="Arial MT"/>
                <a:cs typeface="Arial MT"/>
              </a:rPr>
              <a:t>a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S</a:t>
            </a:r>
            <a:r>
              <a:rPr sz="1800" spc="-440" dirty="0">
                <a:solidFill>
                  <a:srgbClr val="FFFFFF"/>
                </a:solidFill>
                <a:latin typeface="Arial MT"/>
                <a:cs typeface="Arial MT"/>
              </a:rPr>
              <a:t>t</a:t>
            </a:r>
            <a:r>
              <a:rPr sz="3600" spc="-367" baseline="1157" dirty="0">
                <a:latin typeface="Arial MT"/>
                <a:cs typeface="Arial MT"/>
              </a:rPr>
              <a:t>t</a:t>
            </a:r>
            <a:r>
              <a:rPr sz="1800" spc="-770" dirty="0">
                <a:solidFill>
                  <a:srgbClr val="FFFFFF"/>
                </a:solidFill>
                <a:latin typeface="Arial MT"/>
                <a:cs typeface="Arial MT"/>
              </a:rPr>
              <a:t>o</a:t>
            </a:r>
            <a:r>
              <a:rPr sz="3600" spc="-885" baseline="1157" dirty="0">
                <a:latin typeface="Arial MT"/>
                <a:cs typeface="Arial MT"/>
              </a:rPr>
              <a:t>a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ra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g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e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Technologies</a:t>
            </a:r>
            <a:endParaRPr sz="1800">
              <a:latin typeface="Arial MT"/>
              <a:cs typeface="Arial MT"/>
            </a:endParaRPr>
          </a:p>
          <a:p>
            <a:pPr marL="451484">
              <a:lnSpc>
                <a:spcPts val="2330"/>
              </a:lnSpc>
            </a:pPr>
            <a:r>
              <a:rPr sz="2000" dirty="0">
                <a:latin typeface="Arial MT"/>
                <a:cs typeface="Arial MT"/>
              </a:rPr>
              <a:t>Big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Data</a:t>
            </a:r>
            <a:endParaRPr sz="2000">
              <a:latin typeface="Arial MT"/>
              <a:cs typeface="Arial MT"/>
            </a:endParaRPr>
          </a:p>
          <a:p>
            <a:pPr marL="451484" indent="-401320">
              <a:lnSpc>
                <a:spcPts val="2880"/>
              </a:lnSpc>
            </a:pPr>
            <a:r>
              <a:rPr sz="2400" spc="-10" dirty="0">
                <a:latin typeface="Arial MT"/>
                <a:cs typeface="Arial MT"/>
              </a:rPr>
              <a:t>Efficiency</a:t>
            </a:r>
            <a:endParaRPr sz="2400">
              <a:latin typeface="Arial MT"/>
              <a:cs typeface="Arial MT"/>
            </a:endParaRPr>
          </a:p>
          <a:p>
            <a:pPr marL="451484" marR="2313940">
              <a:lnSpc>
                <a:spcPct val="100000"/>
              </a:lnSpc>
              <a:spcBef>
                <a:spcPts val="5"/>
              </a:spcBef>
            </a:pPr>
            <a:r>
              <a:rPr sz="2000" spc="-20" dirty="0">
                <a:latin typeface="Arial MT"/>
                <a:cs typeface="Arial MT"/>
              </a:rPr>
              <a:t>Cost </a:t>
            </a:r>
            <a:r>
              <a:rPr sz="2000" spc="-10" dirty="0">
                <a:latin typeface="Arial MT"/>
                <a:cs typeface="Arial MT"/>
              </a:rPr>
              <a:t>Power</a:t>
            </a:r>
            <a:endParaRPr sz="2000">
              <a:latin typeface="Arial MT"/>
              <a:cs typeface="Arial MT"/>
            </a:endParaRPr>
          </a:p>
          <a:p>
            <a:pPr marL="451484" marR="43180" indent="-401320">
              <a:lnSpc>
                <a:spcPct val="70600"/>
              </a:lnSpc>
              <a:spcBef>
                <a:spcPts val="1805"/>
              </a:spcBef>
            </a:pPr>
            <a:r>
              <a:rPr sz="3600" spc="-7" baseline="21990" dirty="0">
                <a:latin typeface="Arial MT"/>
                <a:cs typeface="Arial MT"/>
              </a:rPr>
              <a:t>S</a:t>
            </a:r>
            <a:r>
              <a:rPr sz="3600" spc="-517" baseline="21990" dirty="0">
                <a:latin typeface="Arial MT"/>
                <a:cs typeface="Arial MT"/>
              </a:rPr>
              <a:t>c</a:t>
            </a:r>
            <a:r>
              <a:rPr sz="1800" spc="-875" dirty="0">
                <a:solidFill>
                  <a:srgbClr val="FFFFFF"/>
                </a:solidFill>
                <a:latin typeface="Arial MT"/>
                <a:cs typeface="Arial MT"/>
              </a:rPr>
              <a:t>V</a:t>
            </a:r>
            <a:r>
              <a:rPr sz="3600" spc="-780" baseline="21990" dirty="0">
                <a:latin typeface="Arial MT"/>
                <a:cs typeface="Arial MT"/>
              </a:rPr>
              <a:t>a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i</a:t>
            </a:r>
            <a:r>
              <a:rPr sz="1800" spc="-515" dirty="0">
                <a:solidFill>
                  <a:srgbClr val="FFFFFF"/>
                </a:solidFill>
                <a:latin typeface="Arial MT"/>
                <a:cs typeface="Arial MT"/>
              </a:rPr>
              <a:t>r</a:t>
            </a:r>
            <a:r>
              <a:rPr sz="3600" spc="-30" baseline="21990" dirty="0">
                <a:latin typeface="Arial MT"/>
                <a:cs typeface="Arial MT"/>
              </a:rPr>
              <a:t>l</a:t>
            </a:r>
            <a:r>
              <a:rPr sz="3600" spc="-2077" baseline="21990" dirty="0">
                <a:latin typeface="Arial MT"/>
                <a:cs typeface="Arial MT"/>
              </a:rPr>
              <a:t>a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t</a:t>
            </a:r>
            <a:r>
              <a:rPr sz="1800" spc="-145" dirty="0">
                <a:solidFill>
                  <a:srgbClr val="FFFFFF"/>
                </a:solidFill>
                <a:latin typeface="Arial MT"/>
                <a:cs typeface="Arial MT"/>
              </a:rPr>
              <a:t>u</a:t>
            </a:r>
            <a:r>
              <a:rPr sz="3600" spc="-1829" baseline="21990" dirty="0">
                <a:latin typeface="Arial MT"/>
                <a:cs typeface="Arial MT"/>
              </a:rPr>
              <a:t>b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1800" spc="-215" dirty="0">
                <a:solidFill>
                  <a:srgbClr val="FFFFFF"/>
                </a:solidFill>
                <a:latin typeface="Arial MT"/>
                <a:cs typeface="Arial MT"/>
              </a:rPr>
              <a:t>l</a:t>
            </a:r>
            <a:r>
              <a:rPr sz="3600" spc="-517" baseline="21990" dirty="0">
                <a:latin typeface="Arial MT"/>
                <a:cs typeface="Arial MT"/>
              </a:rPr>
              <a:t>i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i</a:t>
            </a:r>
            <a:r>
              <a:rPr sz="1800" spc="-965" dirty="0">
                <a:solidFill>
                  <a:srgbClr val="FFFFFF"/>
                </a:solidFill>
                <a:latin typeface="Arial MT"/>
                <a:cs typeface="Arial MT"/>
              </a:rPr>
              <a:t>z</a:t>
            </a:r>
            <a:r>
              <a:rPr sz="3600" spc="-30" baseline="21990" dirty="0">
                <a:latin typeface="Arial MT"/>
                <a:cs typeface="Arial MT"/>
              </a:rPr>
              <a:t>l</a:t>
            </a:r>
            <a:r>
              <a:rPr sz="3600" spc="-165" baseline="21990" dirty="0">
                <a:latin typeface="Arial MT"/>
                <a:cs typeface="Arial MT"/>
              </a:rPr>
              <a:t>i</a:t>
            </a:r>
            <a:r>
              <a:rPr sz="1800" spc="-91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3600" spc="-7" baseline="21990" dirty="0">
                <a:latin typeface="Arial MT"/>
                <a:cs typeface="Arial MT"/>
              </a:rPr>
              <a:t>t</a:t>
            </a:r>
            <a:r>
              <a:rPr sz="3600" spc="-1462" baseline="21990" dirty="0">
                <a:latin typeface="Arial MT"/>
                <a:cs typeface="Arial MT"/>
              </a:rPr>
              <a:t>y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t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i</a:t>
            </a:r>
            <a:r>
              <a:rPr sz="1800" spc="-240" dirty="0">
                <a:solidFill>
                  <a:srgbClr val="FFFFFF"/>
                </a:solidFill>
                <a:latin typeface="Arial MT"/>
                <a:cs typeface="Arial MT"/>
              </a:rPr>
              <a:t>o</a:t>
            </a:r>
            <a:r>
              <a:rPr sz="3600" spc="-2085" baseline="21990" dirty="0">
                <a:latin typeface="Arial MT"/>
                <a:cs typeface="Arial MT"/>
              </a:rPr>
              <a:t>&amp;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n</a:t>
            </a:r>
            <a:r>
              <a:rPr sz="1800" spc="1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75" dirty="0">
                <a:solidFill>
                  <a:srgbClr val="FFFFFF"/>
                </a:solidFill>
                <a:latin typeface="Arial MT"/>
                <a:cs typeface="Arial MT"/>
              </a:rPr>
              <a:t>T</a:t>
            </a:r>
            <a:r>
              <a:rPr sz="3600" spc="-1875" baseline="21990" dirty="0">
                <a:latin typeface="Arial MT"/>
                <a:cs typeface="Arial MT"/>
              </a:rPr>
              <a:t>E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e</a:t>
            </a:r>
            <a:r>
              <a:rPr sz="1800" spc="-685" dirty="0">
                <a:solidFill>
                  <a:srgbClr val="FFFFFF"/>
                </a:solidFill>
                <a:latin typeface="Arial MT"/>
                <a:cs typeface="Arial MT"/>
              </a:rPr>
              <a:t>c</a:t>
            </a:r>
            <a:r>
              <a:rPr sz="3600" spc="-30" baseline="21990" dirty="0">
                <a:latin typeface="Arial MT"/>
                <a:cs typeface="Arial MT"/>
              </a:rPr>
              <a:t>l</a:t>
            </a:r>
            <a:r>
              <a:rPr sz="3600" spc="-1837" baseline="21990" dirty="0">
                <a:latin typeface="Arial MT"/>
                <a:cs typeface="Arial MT"/>
              </a:rPr>
              <a:t>a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h</a:t>
            </a:r>
            <a:r>
              <a:rPr sz="1800" spc="-815" dirty="0">
                <a:solidFill>
                  <a:srgbClr val="FFFFFF"/>
                </a:solidFill>
                <a:latin typeface="Arial MT"/>
                <a:cs typeface="Arial MT"/>
              </a:rPr>
              <a:t>n</a:t>
            </a:r>
            <a:r>
              <a:rPr sz="3600" spc="-615" baseline="21990" dirty="0">
                <a:latin typeface="Arial MT"/>
                <a:cs typeface="Arial MT"/>
              </a:rPr>
              <a:t>s</a:t>
            </a:r>
            <a:r>
              <a:rPr sz="1800" spc="-615" dirty="0">
                <a:solidFill>
                  <a:srgbClr val="FFFFFF"/>
                </a:solidFill>
                <a:latin typeface="Arial MT"/>
                <a:cs typeface="Arial MT"/>
              </a:rPr>
              <a:t>o</a:t>
            </a:r>
            <a:r>
              <a:rPr sz="3600" spc="-127" baseline="21990" dirty="0">
                <a:latin typeface="Arial MT"/>
                <a:cs typeface="Arial MT"/>
              </a:rPr>
              <a:t>t</a:t>
            </a:r>
            <a:r>
              <a:rPr sz="1800" spc="-345" dirty="0">
                <a:solidFill>
                  <a:srgbClr val="FFFFFF"/>
                </a:solidFill>
                <a:latin typeface="Arial MT"/>
                <a:cs typeface="Arial MT"/>
              </a:rPr>
              <a:t>l</a:t>
            </a:r>
            <a:r>
              <a:rPr sz="3600" spc="-337" baseline="21990" dirty="0">
                <a:latin typeface="Arial MT"/>
                <a:cs typeface="Arial MT"/>
              </a:rPr>
              <a:t>i</a:t>
            </a:r>
            <a:r>
              <a:rPr sz="1800" spc="-805" dirty="0">
                <a:solidFill>
                  <a:srgbClr val="FFFFFF"/>
                </a:solidFill>
                <a:latin typeface="Arial MT"/>
                <a:cs typeface="Arial MT"/>
              </a:rPr>
              <a:t>o</a:t>
            </a:r>
            <a:r>
              <a:rPr sz="3600" spc="-644" baseline="21990" dirty="0">
                <a:latin typeface="Arial MT"/>
                <a:cs typeface="Arial MT"/>
              </a:rPr>
              <a:t>c</a:t>
            </a:r>
            <a:r>
              <a:rPr sz="1800" spc="-600" dirty="0">
                <a:solidFill>
                  <a:srgbClr val="FFFFFF"/>
                </a:solidFill>
                <a:latin typeface="Arial MT"/>
                <a:cs typeface="Arial MT"/>
              </a:rPr>
              <a:t>g</a:t>
            </a:r>
            <a:r>
              <a:rPr sz="3600" spc="-37" baseline="21990" dirty="0">
                <a:latin typeface="Arial MT"/>
                <a:cs typeface="Arial MT"/>
              </a:rPr>
              <a:t>i</a:t>
            </a:r>
            <a:r>
              <a:rPr sz="3600" spc="-930" baseline="21990" dirty="0">
                <a:latin typeface="Arial MT"/>
                <a:cs typeface="Arial MT"/>
              </a:rPr>
              <a:t>t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i</a:t>
            </a:r>
            <a:r>
              <a:rPr sz="1800" spc="-800" dirty="0">
                <a:solidFill>
                  <a:srgbClr val="FFFFFF"/>
                </a:solidFill>
                <a:latin typeface="Arial MT"/>
                <a:cs typeface="Arial MT"/>
              </a:rPr>
              <a:t>e</a:t>
            </a:r>
            <a:r>
              <a:rPr sz="3600" spc="-637" baseline="21990" dirty="0">
                <a:latin typeface="Arial MT"/>
                <a:cs typeface="Arial MT"/>
              </a:rPr>
              <a:t>y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s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Flexible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rapid </a:t>
            </a:r>
            <a:r>
              <a:rPr sz="2000" dirty="0">
                <a:latin typeface="Arial MT"/>
                <a:cs typeface="Arial MT"/>
              </a:rPr>
              <a:t>response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changing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user</a:t>
            </a:r>
            <a:endParaRPr sz="2000">
              <a:latin typeface="Arial MT"/>
              <a:cs typeface="Arial MT"/>
            </a:endParaRPr>
          </a:p>
          <a:p>
            <a:pPr marL="451484">
              <a:lnSpc>
                <a:spcPts val="1920"/>
              </a:lnSpc>
            </a:pPr>
            <a:r>
              <a:rPr sz="2000" spc="-10" dirty="0">
                <a:latin typeface="Arial MT"/>
                <a:cs typeface="Arial MT"/>
              </a:rPr>
              <a:t>needs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70043" y="3573017"/>
            <a:ext cx="136817" cy="144018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70043" y="4548378"/>
            <a:ext cx="136817" cy="144018"/>
          </a:xfrm>
          <a:prstGeom prst="rect">
            <a:avLst/>
          </a:prstGeom>
        </p:spPr>
      </p:pic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830986" y="147650"/>
            <a:ext cx="7483475" cy="1367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261870" marR="5080" indent="-2249805">
              <a:lnSpc>
                <a:spcPct val="100000"/>
              </a:lnSpc>
              <a:spcBef>
                <a:spcPts val="105"/>
              </a:spcBef>
            </a:pPr>
            <a:r>
              <a:rPr dirty="0"/>
              <a:t>Requirements</a:t>
            </a:r>
            <a:r>
              <a:rPr spc="-35" dirty="0"/>
              <a:t> </a:t>
            </a:r>
            <a:r>
              <a:rPr dirty="0"/>
              <a:t>to Transform</a:t>
            </a:r>
            <a:r>
              <a:rPr spc="-20" dirty="0"/>
              <a:t> </a:t>
            </a:r>
            <a:r>
              <a:rPr spc="-25" dirty="0"/>
              <a:t>IT </a:t>
            </a:r>
            <a:r>
              <a:rPr dirty="0"/>
              <a:t>to</a:t>
            </a:r>
            <a:r>
              <a:rPr spc="-35" dirty="0"/>
              <a:t> </a:t>
            </a:r>
            <a:r>
              <a:rPr dirty="0"/>
              <a:t>a</a:t>
            </a:r>
            <a:r>
              <a:rPr spc="-35" dirty="0"/>
              <a:t> </a:t>
            </a:r>
            <a:r>
              <a:rPr spc="-10" dirty="0"/>
              <a:t>Service</a:t>
            </a:r>
          </a:p>
        </p:txBody>
      </p:sp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9043" y="1695450"/>
            <a:ext cx="136817" cy="144018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9043" y="2366010"/>
            <a:ext cx="136817" cy="144018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9043" y="3036570"/>
            <a:ext cx="136817" cy="144018"/>
          </a:xfrm>
          <a:prstGeom prst="rect">
            <a:avLst/>
          </a:prstGeom>
        </p:spPr>
      </p:pic>
      <p:grpSp>
        <p:nvGrpSpPr>
          <p:cNvPr id="21" name="object 21"/>
          <p:cNvGrpSpPr/>
          <p:nvPr/>
        </p:nvGrpSpPr>
        <p:grpSpPr>
          <a:xfrm>
            <a:off x="1032586" y="2039835"/>
            <a:ext cx="120650" cy="1461770"/>
            <a:chOff x="1032586" y="2039835"/>
            <a:chExt cx="120650" cy="1461770"/>
          </a:xfrm>
        </p:grpSpPr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32586" y="2039835"/>
              <a:ext cx="120357" cy="120357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32586" y="2710395"/>
              <a:ext cx="120357" cy="120357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32586" y="3380955"/>
              <a:ext cx="120357" cy="120357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1292605" y="3297025"/>
            <a:ext cx="2585085" cy="528320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>
              <a:lnSpc>
                <a:spcPct val="80000"/>
              </a:lnSpc>
              <a:spcBef>
                <a:spcPts val="295"/>
              </a:spcBef>
            </a:pPr>
            <a:r>
              <a:rPr sz="2000" dirty="0">
                <a:latin typeface="Arial MT"/>
                <a:cs typeface="Arial MT"/>
              </a:rPr>
              <a:t>Failure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will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affect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many </a:t>
            </a:r>
            <a:r>
              <a:rPr sz="2000" dirty="0">
                <a:latin typeface="Arial MT"/>
                <a:cs typeface="Arial MT"/>
              </a:rPr>
              <a:t>people,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not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just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one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26" name="object 2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9043" y="3950970"/>
            <a:ext cx="136817" cy="144018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2586" y="4295356"/>
            <a:ext cx="120357" cy="120357"/>
          </a:xfrm>
          <a:prstGeom prst="rect">
            <a:avLst/>
          </a:prstGeom>
        </p:spPr>
      </p:pic>
      <p:sp>
        <p:nvSpPr>
          <p:cNvPr id="28" name="object 28"/>
          <p:cNvSpPr txBox="1"/>
          <p:nvPr/>
        </p:nvSpPr>
        <p:spPr>
          <a:xfrm>
            <a:off x="1292605" y="4211425"/>
            <a:ext cx="2833370" cy="772795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>
              <a:lnSpc>
                <a:spcPct val="80100"/>
              </a:lnSpc>
              <a:spcBef>
                <a:spcPts val="290"/>
              </a:spcBef>
            </a:pPr>
            <a:r>
              <a:rPr sz="2000" dirty="0">
                <a:latin typeface="Arial MT"/>
                <a:cs typeface="Arial MT"/>
              </a:rPr>
              <a:t>It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should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not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slower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or </a:t>
            </a:r>
            <a:r>
              <a:rPr sz="2000" dirty="0">
                <a:latin typeface="Arial MT"/>
                <a:cs typeface="Arial MT"/>
              </a:rPr>
              <a:t>less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efficient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than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what </a:t>
            </a:r>
            <a:r>
              <a:rPr sz="2000" dirty="0">
                <a:latin typeface="Arial MT"/>
                <a:cs typeface="Arial MT"/>
              </a:rPr>
              <a:t>people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already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have.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548640" y="1559052"/>
            <a:ext cx="3686810" cy="4604385"/>
            <a:chOff x="548640" y="1559052"/>
            <a:chExt cx="3686810" cy="4604385"/>
          </a:xfrm>
        </p:grpSpPr>
        <p:pic>
          <p:nvPicPr>
            <p:cNvPr id="30" name="object 3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8640" y="5071872"/>
              <a:ext cx="202692" cy="21336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05840" y="5422392"/>
              <a:ext cx="178308" cy="178307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94004" y="1559052"/>
              <a:ext cx="3441191" cy="757427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94004" y="2264664"/>
              <a:ext cx="3441191" cy="697991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94004" y="2950463"/>
              <a:ext cx="3441191" cy="926592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94004" y="3870959"/>
              <a:ext cx="3441191" cy="1153668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94004" y="5007863"/>
              <a:ext cx="3441191" cy="1155192"/>
            </a:xfrm>
            <a:prstGeom prst="rect">
              <a:avLst/>
            </a:prstGeom>
          </p:spPr>
        </p:pic>
      </p:grpSp>
      <p:sp>
        <p:nvSpPr>
          <p:cNvPr id="37" name="object 37"/>
          <p:cNvSpPr txBox="1"/>
          <p:nvPr/>
        </p:nvSpPr>
        <p:spPr>
          <a:xfrm>
            <a:off x="777240" y="1552702"/>
            <a:ext cx="3476625" cy="4356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100"/>
              </a:spcBef>
            </a:pPr>
            <a:r>
              <a:rPr sz="2400" spc="30" dirty="0">
                <a:latin typeface="Arial MT"/>
                <a:cs typeface="Arial MT"/>
              </a:rPr>
              <a:t>C</a:t>
            </a:r>
            <a:r>
              <a:rPr sz="2400" spc="25" dirty="0">
                <a:latin typeface="Arial MT"/>
                <a:cs typeface="Arial MT"/>
              </a:rPr>
              <a:t>o</a:t>
            </a:r>
            <a:r>
              <a:rPr sz="2400" spc="30" dirty="0">
                <a:latin typeface="Arial MT"/>
                <a:cs typeface="Arial MT"/>
              </a:rPr>
              <a:t>nn</a:t>
            </a:r>
            <a:r>
              <a:rPr sz="2400" spc="25" dirty="0">
                <a:latin typeface="Arial MT"/>
                <a:cs typeface="Arial MT"/>
              </a:rPr>
              <a:t>e</a:t>
            </a:r>
            <a:r>
              <a:rPr sz="2400" spc="40" dirty="0">
                <a:latin typeface="Arial MT"/>
                <a:cs typeface="Arial MT"/>
              </a:rPr>
              <a:t>cti</a:t>
            </a:r>
            <a:r>
              <a:rPr sz="2400" spc="-890" dirty="0">
                <a:latin typeface="Arial MT"/>
                <a:cs typeface="Arial MT"/>
              </a:rPr>
              <a:t>v</a:t>
            </a:r>
            <a:r>
              <a:rPr sz="2700" spc="52" baseline="-32407" dirty="0">
                <a:solidFill>
                  <a:srgbClr val="FFFFFF"/>
                </a:solidFill>
                <a:latin typeface="Arial MT"/>
                <a:cs typeface="Arial MT"/>
              </a:rPr>
              <a:t>I</a:t>
            </a:r>
            <a:r>
              <a:rPr sz="2700" spc="-802" baseline="-32407" dirty="0">
                <a:solidFill>
                  <a:srgbClr val="FFFFFF"/>
                </a:solidFill>
                <a:latin typeface="Arial MT"/>
                <a:cs typeface="Arial MT"/>
              </a:rPr>
              <a:t>n</a:t>
            </a:r>
            <a:r>
              <a:rPr sz="2400" spc="40" dirty="0">
                <a:latin typeface="Arial MT"/>
                <a:cs typeface="Arial MT"/>
              </a:rPr>
              <a:t>i</a:t>
            </a:r>
            <a:r>
              <a:rPr sz="2400" spc="-590" dirty="0">
                <a:latin typeface="Arial MT"/>
                <a:cs typeface="Arial MT"/>
              </a:rPr>
              <a:t>t</a:t>
            </a:r>
            <a:r>
              <a:rPr sz="2700" spc="52" baseline="-32407" dirty="0">
                <a:solidFill>
                  <a:srgbClr val="FFFFFF"/>
                </a:solidFill>
                <a:latin typeface="Arial MT"/>
                <a:cs typeface="Arial MT"/>
              </a:rPr>
              <a:t>t</a:t>
            </a:r>
            <a:r>
              <a:rPr sz="2700" spc="-1252" baseline="-32407" dirty="0">
                <a:solidFill>
                  <a:srgbClr val="FFFFFF"/>
                </a:solidFill>
                <a:latin typeface="Arial MT"/>
                <a:cs typeface="Arial MT"/>
              </a:rPr>
              <a:t>e</a:t>
            </a:r>
            <a:r>
              <a:rPr sz="2400" spc="-290" dirty="0">
                <a:latin typeface="Arial MT"/>
                <a:cs typeface="Arial MT"/>
              </a:rPr>
              <a:t>y</a:t>
            </a:r>
            <a:r>
              <a:rPr sz="2700" spc="44" baseline="-32407" dirty="0">
                <a:solidFill>
                  <a:srgbClr val="FFFFFF"/>
                </a:solidFill>
                <a:latin typeface="Arial MT"/>
                <a:cs typeface="Arial MT"/>
              </a:rPr>
              <a:t>rn</a:t>
            </a:r>
            <a:r>
              <a:rPr sz="2700" spc="60" baseline="-32407" dirty="0">
                <a:solidFill>
                  <a:srgbClr val="FFFFFF"/>
                </a:solidFill>
                <a:latin typeface="Arial MT"/>
                <a:cs typeface="Arial MT"/>
              </a:rPr>
              <a:t>et</a:t>
            </a:r>
            <a:endParaRPr sz="2700" baseline="-32407">
              <a:latin typeface="Arial MT"/>
              <a:cs typeface="Arial MT"/>
            </a:endParaRPr>
          </a:p>
          <a:p>
            <a:pPr marL="514984">
              <a:lnSpc>
                <a:spcPts val="2400"/>
              </a:lnSpc>
              <a:spcBef>
                <a:spcPts val="5"/>
              </a:spcBef>
            </a:pP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moving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data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around</a:t>
            </a:r>
            <a:endParaRPr sz="2000">
              <a:latin typeface="Arial MT"/>
              <a:cs typeface="Arial MT"/>
            </a:endParaRPr>
          </a:p>
          <a:p>
            <a:pPr marL="114300">
              <a:lnSpc>
                <a:spcPts val="2880"/>
              </a:lnSpc>
            </a:pPr>
            <a:r>
              <a:rPr sz="2400" spc="-5" dirty="0">
                <a:latin typeface="Arial MT"/>
                <a:cs typeface="Arial MT"/>
              </a:rPr>
              <a:t>In</a:t>
            </a:r>
            <a:r>
              <a:rPr sz="2400" dirty="0">
                <a:latin typeface="Arial MT"/>
                <a:cs typeface="Arial MT"/>
              </a:rPr>
              <a:t>t</a:t>
            </a:r>
            <a:r>
              <a:rPr sz="2400" spc="-5" dirty="0">
                <a:latin typeface="Arial MT"/>
                <a:cs typeface="Arial MT"/>
              </a:rPr>
              <a:t>eracti</a:t>
            </a:r>
            <a:r>
              <a:rPr sz="2400" spc="-300" dirty="0">
                <a:latin typeface="Arial MT"/>
                <a:cs typeface="Arial MT"/>
              </a:rPr>
              <a:t>v</a:t>
            </a:r>
            <a:r>
              <a:rPr sz="2700" spc="-2145" baseline="-32407" dirty="0">
                <a:solidFill>
                  <a:srgbClr val="FFFFFF"/>
                </a:solidFill>
                <a:latin typeface="Arial MT"/>
                <a:cs typeface="Arial MT"/>
              </a:rPr>
              <a:t>W</a:t>
            </a:r>
            <a:r>
              <a:rPr sz="2400" spc="-5" dirty="0">
                <a:latin typeface="Arial MT"/>
                <a:cs typeface="Arial MT"/>
              </a:rPr>
              <a:t>it</a:t>
            </a:r>
            <a:r>
              <a:rPr sz="2400" spc="-1030" dirty="0">
                <a:latin typeface="Arial MT"/>
                <a:cs typeface="Arial MT"/>
              </a:rPr>
              <a:t>y</a:t>
            </a:r>
            <a:r>
              <a:rPr sz="2700" spc="-15" baseline="-32407" dirty="0">
                <a:solidFill>
                  <a:srgbClr val="FFFFFF"/>
                </a:solidFill>
                <a:latin typeface="Arial MT"/>
                <a:cs typeface="Arial MT"/>
              </a:rPr>
              <a:t>e</a:t>
            </a:r>
            <a:r>
              <a:rPr sz="2700" spc="-7" baseline="-32407" dirty="0">
                <a:solidFill>
                  <a:srgbClr val="FFFFFF"/>
                </a:solidFill>
                <a:latin typeface="Arial MT"/>
                <a:cs typeface="Arial MT"/>
              </a:rPr>
              <a:t>b</a:t>
            </a:r>
            <a:r>
              <a:rPr sz="2700" baseline="-32407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700" spc="-37" baseline="-32407" dirty="0">
                <a:solidFill>
                  <a:srgbClr val="FFFFFF"/>
                </a:solidFill>
                <a:latin typeface="Arial MT"/>
                <a:cs typeface="Arial MT"/>
              </a:rPr>
              <a:t>2.0</a:t>
            </a:r>
            <a:endParaRPr sz="2700" baseline="-32407">
              <a:latin typeface="Arial MT"/>
              <a:cs typeface="Arial MT"/>
            </a:endParaRPr>
          </a:p>
          <a:p>
            <a:pPr marL="514984">
              <a:lnSpc>
                <a:spcPts val="2400"/>
              </a:lnSpc>
              <a:spcBef>
                <a:spcPts val="5"/>
              </a:spcBef>
            </a:pPr>
            <a:r>
              <a:rPr sz="2000" dirty="0">
                <a:latin typeface="Arial MT"/>
                <a:cs typeface="Arial MT"/>
              </a:rPr>
              <a:t>Seamless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interfaces</a:t>
            </a:r>
            <a:endParaRPr sz="2000">
              <a:latin typeface="Arial MT"/>
              <a:cs typeface="Arial MT"/>
            </a:endParaRPr>
          </a:p>
          <a:p>
            <a:pPr marL="114300">
              <a:lnSpc>
                <a:spcPts val="2785"/>
              </a:lnSpc>
            </a:pPr>
            <a:r>
              <a:rPr sz="2400" spc="-10" dirty="0">
                <a:latin typeface="Arial MT"/>
                <a:cs typeface="Arial MT"/>
              </a:rPr>
              <a:t>Reliability</a:t>
            </a:r>
            <a:endParaRPr sz="2400">
              <a:latin typeface="Arial MT"/>
              <a:cs typeface="Arial MT"/>
            </a:endParaRPr>
          </a:p>
          <a:p>
            <a:pPr algn="ctr">
              <a:lnSpc>
                <a:spcPts val="2065"/>
              </a:lnSpc>
            </a:pP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Fault-Tolerance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80"/>
              </a:spcBef>
            </a:pPr>
            <a:endParaRPr sz="1800">
              <a:latin typeface="Arial MT"/>
              <a:cs typeface="Arial MT"/>
            </a:endParaRPr>
          </a:p>
          <a:p>
            <a:pPr marL="114300">
              <a:lnSpc>
                <a:spcPts val="2715"/>
              </a:lnSpc>
            </a:pPr>
            <a:r>
              <a:rPr sz="2400" spc="-10" dirty="0">
                <a:latin typeface="Arial MT"/>
                <a:cs typeface="Arial MT"/>
              </a:rPr>
              <a:t>Performance</a:t>
            </a:r>
            <a:endParaRPr sz="2400">
              <a:latin typeface="Arial MT"/>
              <a:cs typeface="Arial MT"/>
            </a:endParaRPr>
          </a:p>
          <a:p>
            <a:pPr algn="ctr">
              <a:lnSpc>
                <a:spcPts val="1995"/>
              </a:lnSpc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Parallel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/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Distributed</a:t>
            </a:r>
            <a:endParaRPr sz="18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Programming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9"/>
              </a:spcBef>
            </a:pPr>
            <a:endParaRPr sz="1800">
              <a:latin typeface="Arial MT"/>
              <a:cs typeface="Arial MT"/>
            </a:endParaRPr>
          </a:p>
          <a:p>
            <a:pPr marL="514984" marR="43180" indent="-401320">
              <a:lnSpc>
                <a:spcPct val="90300"/>
              </a:lnSpc>
            </a:pPr>
            <a:r>
              <a:rPr sz="2400" spc="-20" dirty="0">
                <a:latin typeface="Arial MT"/>
                <a:cs typeface="Arial MT"/>
              </a:rPr>
              <a:t>Pay-as-</a:t>
            </a:r>
            <a:r>
              <a:rPr sz="2400" spc="-25" dirty="0">
                <a:latin typeface="Arial MT"/>
                <a:cs typeface="Arial MT"/>
              </a:rPr>
              <a:t>you-Go </a:t>
            </a:r>
            <a:r>
              <a:rPr sz="2000" spc="-15" dirty="0">
                <a:latin typeface="Arial MT"/>
                <a:cs typeface="Arial MT"/>
              </a:rPr>
              <a:t>Sh</a:t>
            </a:r>
            <a:r>
              <a:rPr sz="2000" spc="-740" dirty="0">
                <a:latin typeface="Arial MT"/>
                <a:cs typeface="Arial MT"/>
              </a:rPr>
              <a:t>o</a:t>
            </a:r>
            <a:r>
              <a:rPr sz="2700" spc="-892" baseline="-12345" dirty="0">
                <a:solidFill>
                  <a:srgbClr val="FFFFFF"/>
                </a:solidFill>
                <a:latin typeface="Arial MT"/>
                <a:cs typeface="Arial MT"/>
              </a:rPr>
              <a:t>U</a:t>
            </a:r>
            <a:r>
              <a:rPr sz="2000" spc="-555" dirty="0">
                <a:latin typeface="Arial MT"/>
                <a:cs typeface="Arial MT"/>
              </a:rPr>
              <a:t>u</a:t>
            </a:r>
            <a:r>
              <a:rPr sz="2700" spc="-22" baseline="-12345" dirty="0">
                <a:solidFill>
                  <a:srgbClr val="FFFFFF"/>
                </a:solidFill>
                <a:latin typeface="Arial MT"/>
                <a:cs typeface="Arial MT"/>
              </a:rPr>
              <a:t>t</a:t>
            </a:r>
            <a:r>
              <a:rPr sz="2700" spc="-562" baseline="-12345" dirty="0">
                <a:solidFill>
                  <a:srgbClr val="FFFFFF"/>
                </a:solidFill>
                <a:latin typeface="Arial MT"/>
                <a:cs typeface="Arial MT"/>
              </a:rPr>
              <a:t>i</a:t>
            </a:r>
            <a:r>
              <a:rPr sz="2000" spc="-105" dirty="0">
                <a:latin typeface="Arial MT"/>
                <a:cs typeface="Arial MT"/>
              </a:rPr>
              <a:t>l</a:t>
            </a:r>
            <a:r>
              <a:rPr sz="2700" spc="-494" baseline="-12345" dirty="0">
                <a:solidFill>
                  <a:srgbClr val="FFFFFF"/>
                </a:solidFill>
                <a:latin typeface="Arial MT"/>
                <a:cs typeface="Arial MT"/>
              </a:rPr>
              <a:t>l</a:t>
            </a:r>
            <a:r>
              <a:rPr sz="2000" spc="-825" dirty="0">
                <a:latin typeface="Arial MT"/>
                <a:cs typeface="Arial MT"/>
              </a:rPr>
              <a:t>d</a:t>
            </a:r>
            <a:r>
              <a:rPr sz="2700" spc="-15" baseline="-12345" dirty="0">
                <a:solidFill>
                  <a:srgbClr val="FFFFFF"/>
                </a:solidFill>
                <a:latin typeface="Arial MT"/>
                <a:cs typeface="Arial MT"/>
              </a:rPr>
              <a:t>it</a:t>
            </a:r>
            <a:r>
              <a:rPr sz="2700" spc="-667" baseline="-12345" dirty="0">
                <a:solidFill>
                  <a:srgbClr val="FFFFFF"/>
                </a:solidFill>
                <a:latin typeface="Arial MT"/>
                <a:cs typeface="Arial MT"/>
              </a:rPr>
              <a:t>y</a:t>
            </a:r>
            <a:r>
              <a:rPr sz="2000" spc="-190" dirty="0">
                <a:latin typeface="Arial MT"/>
                <a:cs typeface="Arial MT"/>
              </a:rPr>
              <a:t>n</a:t>
            </a:r>
            <a:r>
              <a:rPr sz="2700" spc="-1717" baseline="-12345" dirty="0">
                <a:solidFill>
                  <a:srgbClr val="FFFFFF"/>
                </a:solidFill>
                <a:latin typeface="Arial MT"/>
                <a:cs typeface="Arial MT"/>
              </a:rPr>
              <a:t>C</a:t>
            </a:r>
            <a:r>
              <a:rPr sz="2000" spc="-10" dirty="0">
                <a:latin typeface="Arial MT"/>
                <a:cs typeface="Arial MT"/>
              </a:rPr>
              <a:t>o</a:t>
            </a:r>
            <a:r>
              <a:rPr sz="2000" spc="-560" dirty="0">
                <a:latin typeface="Arial MT"/>
                <a:cs typeface="Arial MT"/>
              </a:rPr>
              <a:t>t</a:t>
            </a:r>
            <a:r>
              <a:rPr sz="2700" spc="-30" baseline="-12345" dirty="0">
                <a:solidFill>
                  <a:srgbClr val="FFFFFF"/>
                </a:solidFill>
                <a:latin typeface="Arial MT"/>
                <a:cs typeface="Arial MT"/>
              </a:rPr>
              <a:t>o</a:t>
            </a:r>
            <a:r>
              <a:rPr sz="2700" spc="-2145" baseline="-12345" dirty="0">
                <a:solidFill>
                  <a:srgbClr val="FFFFFF"/>
                </a:solidFill>
                <a:latin typeface="Arial MT"/>
                <a:cs typeface="Arial MT"/>
              </a:rPr>
              <a:t>m</a:t>
            </a:r>
            <a:r>
              <a:rPr sz="2000" spc="-10" dirty="0">
                <a:latin typeface="Arial MT"/>
                <a:cs typeface="Arial MT"/>
              </a:rPr>
              <a:t>p</a:t>
            </a:r>
            <a:r>
              <a:rPr sz="2000" spc="-840" dirty="0">
                <a:latin typeface="Arial MT"/>
                <a:cs typeface="Arial MT"/>
              </a:rPr>
              <a:t>a</a:t>
            </a:r>
            <a:r>
              <a:rPr sz="2700" spc="-284" baseline="-12345" dirty="0">
                <a:solidFill>
                  <a:srgbClr val="FFFFFF"/>
                </a:solidFill>
                <a:latin typeface="Arial MT"/>
                <a:cs typeface="Arial MT"/>
              </a:rPr>
              <a:t>p</a:t>
            </a:r>
            <a:r>
              <a:rPr sz="2000" spc="-840" dirty="0">
                <a:latin typeface="Arial MT"/>
                <a:cs typeface="Arial MT"/>
              </a:rPr>
              <a:t>y</a:t>
            </a:r>
            <a:r>
              <a:rPr sz="2700" spc="-30" baseline="-12345" dirty="0">
                <a:solidFill>
                  <a:srgbClr val="FFFFFF"/>
                </a:solidFill>
                <a:latin typeface="Arial MT"/>
                <a:cs typeface="Arial MT"/>
              </a:rPr>
              <a:t>u</a:t>
            </a:r>
            <a:r>
              <a:rPr sz="2700" spc="-209" baseline="-12345" dirty="0">
                <a:solidFill>
                  <a:srgbClr val="FFFFFF"/>
                </a:solidFill>
                <a:latin typeface="Arial MT"/>
                <a:cs typeface="Arial MT"/>
              </a:rPr>
              <a:t>t</a:t>
            </a:r>
            <a:r>
              <a:rPr sz="2000" spc="-1000" dirty="0">
                <a:latin typeface="Arial MT"/>
                <a:cs typeface="Arial MT"/>
              </a:rPr>
              <a:t>a</a:t>
            </a:r>
            <a:r>
              <a:rPr sz="2700" spc="-30" baseline="-12345" dirty="0">
                <a:solidFill>
                  <a:srgbClr val="FFFFFF"/>
                </a:solidFill>
                <a:latin typeface="Arial MT"/>
                <a:cs typeface="Arial MT"/>
              </a:rPr>
              <a:t>i</a:t>
            </a:r>
            <a:r>
              <a:rPr sz="2700" spc="-637" baseline="-12345" dirty="0">
                <a:solidFill>
                  <a:srgbClr val="FFFFFF"/>
                </a:solidFill>
                <a:latin typeface="Arial MT"/>
                <a:cs typeface="Arial MT"/>
              </a:rPr>
              <a:t>n</a:t>
            </a:r>
            <a:r>
              <a:rPr sz="2000" spc="-715" dirty="0">
                <a:latin typeface="Arial MT"/>
                <a:cs typeface="Arial MT"/>
              </a:rPr>
              <a:t>n</a:t>
            </a:r>
            <a:r>
              <a:rPr sz="2700" spc="-15" baseline="-12345" dirty="0">
                <a:solidFill>
                  <a:srgbClr val="FFFFFF"/>
                </a:solidFill>
                <a:latin typeface="Arial MT"/>
                <a:cs typeface="Arial MT"/>
              </a:rPr>
              <a:t>g</a:t>
            </a:r>
            <a:r>
              <a:rPr sz="2700" spc="52" baseline="-123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upfront </a:t>
            </a:r>
            <a:r>
              <a:rPr sz="2000" dirty="0">
                <a:latin typeface="Arial MT"/>
                <a:cs typeface="Arial MT"/>
              </a:rPr>
              <a:t>fee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service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63165" marR="5080" indent="-807720">
              <a:lnSpc>
                <a:spcPct val="100000"/>
              </a:lnSpc>
              <a:spcBef>
                <a:spcPts val="105"/>
              </a:spcBef>
            </a:pPr>
            <a:r>
              <a:rPr dirty="0"/>
              <a:t>Combine</a:t>
            </a:r>
            <a:r>
              <a:rPr spc="-20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spc="-10" dirty="0"/>
              <a:t>Enabling Technologies…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87323" y="1836420"/>
            <a:ext cx="7783195" cy="4044950"/>
            <a:chOff x="687323" y="1836420"/>
            <a:chExt cx="7783195" cy="40449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64279" y="4796027"/>
              <a:ext cx="1615439" cy="104851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28927" y="5109972"/>
              <a:ext cx="2284476" cy="48615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7323" y="5021580"/>
              <a:ext cx="1232915" cy="85953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10868" y="3765804"/>
              <a:ext cx="2217420" cy="136550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10411" y="3604260"/>
              <a:ext cx="1232915" cy="85953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453640" y="2731008"/>
              <a:ext cx="1778508" cy="207111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917191" y="2467356"/>
              <a:ext cx="1234440" cy="85801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691128" y="2220468"/>
              <a:ext cx="957072" cy="241858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227831" y="1836420"/>
              <a:ext cx="1232916" cy="85801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585715" y="2238756"/>
              <a:ext cx="958596" cy="241706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683252" y="1836420"/>
              <a:ext cx="1232915" cy="85801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994147" y="2802636"/>
              <a:ext cx="1775459" cy="2069592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960364" y="2467356"/>
              <a:ext cx="1342643" cy="858012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375147" y="3855720"/>
              <a:ext cx="2196083" cy="1362456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876288" y="3604260"/>
              <a:ext cx="1321307" cy="859536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530595" y="5210555"/>
              <a:ext cx="2284476" cy="501396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223759" y="5021580"/>
              <a:ext cx="1246631" cy="85953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8388" rIns="0" bIns="0" rtlCol="0">
            <a:spAutoFit/>
          </a:bodyPr>
          <a:lstStyle/>
          <a:p>
            <a:pPr marL="1826895">
              <a:lnSpc>
                <a:spcPct val="100000"/>
              </a:lnSpc>
              <a:spcBef>
                <a:spcPts val="105"/>
              </a:spcBef>
            </a:pPr>
            <a:r>
              <a:rPr dirty="0"/>
              <a:t>Cloud</a:t>
            </a:r>
            <a:r>
              <a:rPr spc="-20" dirty="0"/>
              <a:t> </a:t>
            </a:r>
            <a:r>
              <a:rPr spc="-10" dirty="0"/>
              <a:t>Computing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0473" y="1807044"/>
            <a:ext cx="188252" cy="19236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1958" y="2361476"/>
            <a:ext cx="162534" cy="16767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78839" y="1520761"/>
            <a:ext cx="6026785" cy="1129030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4"/>
              </a:spcBef>
            </a:pPr>
            <a:r>
              <a:rPr sz="3200" dirty="0">
                <a:latin typeface="Arial MT"/>
                <a:cs typeface="Arial MT"/>
              </a:rPr>
              <a:t>Think</a:t>
            </a:r>
            <a:r>
              <a:rPr sz="3200" spc="-4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of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it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as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Internet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Computing</a:t>
            </a:r>
            <a:endParaRPr sz="3200">
              <a:latin typeface="Arial MT"/>
              <a:cs typeface="Arial MT"/>
            </a:endParaRPr>
          </a:p>
          <a:p>
            <a:pPr marL="413384">
              <a:lnSpc>
                <a:spcPct val="100000"/>
              </a:lnSpc>
              <a:spcBef>
                <a:spcPts val="690"/>
              </a:spcBef>
            </a:pPr>
            <a:r>
              <a:rPr sz="2800" dirty="0">
                <a:latin typeface="Arial MT"/>
                <a:cs typeface="Arial MT"/>
              </a:rPr>
              <a:t>Computation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done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over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Internet</a:t>
            </a:r>
            <a:endParaRPr sz="2800"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444495" y="2788920"/>
            <a:ext cx="3700779" cy="2318385"/>
            <a:chOff x="2444495" y="2788920"/>
            <a:chExt cx="3700779" cy="231838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83179" y="2788920"/>
              <a:ext cx="3561588" cy="231800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44495" y="3003804"/>
              <a:ext cx="2740152" cy="193243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630677" y="2819400"/>
              <a:ext cx="3465829" cy="2209800"/>
            </a:xfrm>
            <a:custGeom>
              <a:avLst/>
              <a:gdLst/>
              <a:ahLst/>
              <a:cxnLst/>
              <a:rect l="l" t="t" r="r" b="b"/>
              <a:pathLst>
                <a:path w="3465829" h="2209800">
                  <a:moveTo>
                    <a:pt x="2360422" y="0"/>
                  </a:moveTo>
                  <a:lnTo>
                    <a:pt x="2360422" y="276225"/>
                  </a:lnTo>
                  <a:lnTo>
                    <a:pt x="0" y="276225"/>
                  </a:lnTo>
                  <a:lnTo>
                    <a:pt x="0" y="1933575"/>
                  </a:lnTo>
                  <a:lnTo>
                    <a:pt x="2360422" y="1933575"/>
                  </a:lnTo>
                  <a:lnTo>
                    <a:pt x="2360422" y="2209800"/>
                  </a:lnTo>
                  <a:lnTo>
                    <a:pt x="3465322" y="1104900"/>
                  </a:lnTo>
                  <a:lnTo>
                    <a:pt x="2360422" y="0"/>
                  </a:lnTo>
                  <a:close/>
                </a:path>
              </a:pathLst>
            </a:custGeom>
            <a:solidFill>
              <a:srgbClr val="E8D0D0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630677" y="2819400"/>
              <a:ext cx="3465829" cy="2209800"/>
            </a:xfrm>
            <a:custGeom>
              <a:avLst/>
              <a:gdLst/>
              <a:ahLst/>
              <a:cxnLst/>
              <a:rect l="l" t="t" r="r" b="b"/>
              <a:pathLst>
                <a:path w="3465829" h="2209800">
                  <a:moveTo>
                    <a:pt x="0" y="276225"/>
                  </a:moveTo>
                  <a:lnTo>
                    <a:pt x="2360422" y="276225"/>
                  </a:lnTo>
                  <a:lnTo>
                    <a:pt x="2360422" y="0"/>
                  </a:lnTo>
                  <a:lnTo>
                    <a:pt x="3465322" y="1104900"/>
                  </a:lnTo>
                  <a:lnTo>
                    <a:pt x="2360422" y="2209800"/>
                  </a:lnTo>
                  <a:lnTo>
                    <a:pt x="2360422" y="1933575"/>
                  </a:lnTo>
                  <a:lnTo>
                    <a:pt x="0" y="1933575"/>
                  </a:lnTo>
                  <a:lnTo>
                    <a:pt x="0" y="276225"/>
                  </a:lnTo>
                  <a:close/>
                </a:path>
              </a:pathLst>
            </a:custGeom>
            <a:ln w="9525">
              <a:solidFill>
                <a:srgbClr val="E8D0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631185" y="3056723"/>
            <a:ext cx="2310765" cy="1655445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270"/>
              </a:spcBef>
              <a:buChar char="•"/>
              <a:tabLst>
                <a:tab pos="240029" algn="l"/>
              </a:tabLst>
            </a:pPr>
            <a:r>
              <a:rPr sz="2000" dirty="0">
                <a:latin typeface="Calibri"/>
                <a:cs typeface="Calibri"/>
              </a:rPr>
              <a:t>High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Bandwidth</a:t>
            </a:r>
            <a:endParaRPr sz="20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165"/>
              </a:spcBef>
              <a:buChar char="•"/>
              <a:tabLst>
                <a:tab pos="240029" algn="l"/>
              </a:tabLst>
            </a:pPr>
            <a:r>
              <a:rPr sz="2000" dirty="0">
                <a:latin typeface="Calibri"/>
                <a:cs typeface="Calibri"/>
              </a:rPr>
              <a:t>High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Speed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Internet</a:t>
            </a:r>
            <a:endParaRPr sz="20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170"/>
              </a:spcBef>
              <a:buChar char="•"/>
              <a:tabLst>
                <a:tab pos="240029" algn="l"/>
              </a:tabLst>
            </a:pPr>
            <a:r>
              <a:rPr sz="2000" spc="-10" dirty="0">
                <a:latin typeface="Calibri"/>
                <a:cs typeface="Calibri"/>
              </a:rPr>
              <a:t>Virtualization</a:t>
            </a:r>
            <a:endParaRPr sz="20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155"/>
              </a:spcBef>
              <a:buChar char="•"/>
              <a:tabLst>
                <a:tab pos="240029" algn="l"/>
              </a:tabLst>
            </a:pPr>
            <a:r>
              <a:rPr sz="2000" dirty="0">
                <a:latin typeface="Calibri"/>
                <a:cs typeface="Calibri"/>
              </a:rPr>
              <a:t>Utility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Computing</a:t>
            </a:r>
            <a:endParaRPr sz="20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170"/>
              </a:spcBef>
              <a:buChar char="•"/>
              <a:tabLst>
                <a:tab pos="240029" algn="l"/>
              </a:tabLst>
            </a:pPr>
            <a:r>
              <a:rPr sz="2000" spc="-50" dirty="0">
                <a:latin typeface="Calibri"/>
                <a:cs typeface="Calibri"/>
              </a:rPr>
              <a:t>…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75843" y="2798064"/>
            <a:ext cx="2446020" cy="2298192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545998" y="3477895"/>
            <a:ext cx="1859280" cy="81343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 marR="5080" indent="306070">
              <a:lnSpc>
                <a:spcPts val="2960"/>
              </a:lnSpc>
              <a:spcBef>
                <a:spcPts val="430"/>
              </a:spcBef>
            </a:pPr>
            <a:r>
              <a:rPr sz="2700" b="1" spc="-10" dirty="0">
                <a:solidFill>
                  <a:srgbClr val="FFFFFF"/>
                </a:solidFill>
                <a:latin typeface="Calibri"/>
                <a:cs typeface="Calibri"/>
              </a:rPr>
              <a:t>Enabling </a:t>
            </a:r>
            <a:r>
              <a:rPr sz="2700" b="1" spc="-30" dirty="0">
                <a:solidFill>
                  <a:srgbClr val="FFFFFF"/>
                </a:solidFill>
                <a:latin typeface="Calibri"/>
                <a:cs typeface="Calibri"/>
              </a:rPr>
              <a:t>Technologies</a:t>
            </a:r>
            <a:endParaRPr sz="27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157567" y="2877420"/>
            <a:ext cx="2771775" cy="2249170"/>
            <a:chOff x="6157567" y="2877420"/>
            <a:chExt cx="2771775" cy="2249170"/>
          </a:xfrm>
        </p:grpSpPr>
        <p:sp>
          <p:nvSpPr>
            <p:cNvPr id="15" name="object 15"/>
            <p:cNvSpPr/>
            <p:nvPr/>
          </p:nvSpPr>
          <p:spPr>
            <a:xfrm>
              <a:off x="6170267" y="2890120"/>
              <a:ext cx="2746375" cy="2223770"/>
            </a:xfrm>
            <a:custGeom>
              <a:avLst/>
              <a:gdLst/>
              <a:ahLst/>
              <a:cxnLst/>
              <a:rect l="l" t="t" r="r" b="b"/>
              <a:pathLst>
                <a:path w="2746375" h="2223770">
                  <a:moveTo>
                    <a:pt x="1671862" y="0"/>
                  </a:moveTo>
                  <a:lnTo>
                    <a:pt x="1629303" y="4369"/>
                  </a:lnTo>
                  <a:lnTo>
                    <a:pt x="1588035" y="15813"/>
                  </a:lnTo>
                  <a:lnTo>
                    <a:pt x="1548825" y="34051"/>
                  </a:lnTo>
                  <a:lnTo>
                    <a:pt x="1512438" y="58800"/>
                  </a:lnTo>
                  <a:lnTo>
                    <a:pt x="1479642" y="89780"/>
                  </a:lnTo>
                  <a:lnTo>
                    <a:pt x="1451203" y="126710"/>
                  </a:lnTo>
                  <a:lnTo>
                    <a:pt x="1427888" y="169309"/>
                  </a:lnTo>
                  <a:lnTo>
                    <a:pt x="1409799" y="151078"/>
                  </a:lnTo>
                  <a:lnTo>
                    <a:pt x="1370381" y="119142"/>
                  </a:lnTo>
                  <a:lnTo>
                    <a:pt x="1307131" y="84789"/>
                  </a:lnTo>
                  <a:lnTo>
                    <a:pt x="1263994" y="70755"/>
                  </a:lnTo>
                  <a:lnTo>
                    <a:pt x="1220283" y="63272"/>
                  </a:lnTo>
                  <a:lnTo>
                    <a:pt x="1176546" y="62154"/>
                  </a:lnTo>
                  <a:lnTo>
                    <a:pt x="1133329" y="67218"/>
                  </a:lnTo>
                  <a:lnTo>
                    <a:pt x="1091179" y="78281"/>
                  </a:lnTo>
                  <a:lnTo>
                    <a:pt x="1050644" y="95160"/>
                  </a:lnTo>
                  <a:lnTo>
                    <a:pt x="1012269" y="117671"/>
                  </a:lnTo>
                  <a:lnTo>
                    <a:pt x="976602" y="145631"/>
                  </a:lnTo>
                  <a:lnTo>
                    <a:pt x="944189" y="178856"/>
                  </a:lnTo>
                  <a:lnTo>
                    <a:pt x="915577" y="217163"/>
                  </a:lnTo>
                  <a:lnTo>
                    <a:pt x="891313" y="260368"/>
                  </a:lnTo>
                  <a:lnTo>
                    <a:pt x="848820" y="236328"/>
                  </a:lnTo>
                  <a:lnTo>
                    <a:pt x="804436" y="217743"/>
                  </a:lnTo>
                  <a:lnTo>
                    <a:pt x="758598" y="204710"/>
                  </a:lnTo>
                  <a:lnTo>
                    <a:pt x="711745" y="197329"/>
                  </a:lnTo>
                  <a:lnTo>
                    <a:pt x="664312" y="195698"/>
                  </a:lnTo>
                  <a:lnTo>
                    <a:pt x="616739" y="199916"/>
                  </a:lnTo>
                  <a:lnTo>
                    <a:pt x="573589" y="208847"/>
                  </a:lnTo>
                  <a:lnTo>
                    <a:pt x="532272" y="222270"/>
                  </a:lnTo>
                  <a:lnTo>
                    <a:pt x="492973" y="239918"/>
                  </a:lnTo>
                  <a:lnTo>
                    <a:pt x="455876" y="261523"/>
                  </a:lnTo>
                  <a:lnTo>
                    <a:pt x="421165" y="286817"/>
                  </a:lnTo>
                  <a:lnTo>
                    <a:pt x="389025" y="315533"/>
                  </a:lnTo>
                  <a:lnTo>
                    <a:pt x="359641" y="347403"/>
                  </a:lnTo>
                  <a:lnTo>
                    <a:pt x="333196" y="382161"/>
                  </a:lnTo>
                  <a:lnTo>
                    <a:pt x="309875" y="419537"/>
                  </a:lnTo>
                  <a:lnTo>
                    <a:pt x="289862" y="459266"/>
                  </a:lnTo>
                  <a:lnTo>
                    <a:pt x="273342" y="501079"/>
                  </a:lnTo>
                  <a:lnTo>
                    <a:pt x="260498" y="544709"/>
                  </a:lnTo>
                  <a:lnTo>
                    <a:pt x="251516" y="589888"/>
                  </a:lnTo>
                  <a:lnTo>
                    <a:pt x="246580" y="636349"/>
                  </a:lnTo>
                  <a:lnTo>
                    <a:pt x="245874" y="683824"/>
                  </a:lnTo>
                  <a:lnTo>
                    <a:pt x="249582" y="732046"/>
                  </a:lnTo>
                  <a:lnTo>
                    <a:pt x="247296" y="739031"/>
                  </a:lnTo>
                  <a:lnTo>
                    <a:pt x="196143" y="750322"/>
                  </a:lnTo>
                  <a:lnTo>
                    <a:pt x="148445" y="771758"/>
                  </a:lnTo>
                  <a:lnTo>
                    <a:pt x="105345" y="802508"/>
                  </a:lnTo>
                  <a:lnTo>
                    <a:pt x="67980" y="841744"/>
                  </a:lnTo>
                  <a:lnTo>
                    <a:pt x="37492" y="888637"/>
                  </a:lnTo>
                  <a:lnTo>
                    <a:pt x="18001" y="933478"/>
                  </a:lnTo>
                  <a:lnTo>
                    <a:pt x="5570" y="979950"/>
                  </a:lnTo>
                  <a:lnTo>
                    <a:pt x="0" y="1027191"/>
                  </a:lnTo>
                  <a:lnTo>
                    <a:pt x="1087" y="1074341"/>
                  </a:lnTo>
                  <a:lnTo>
                    <a:pt x="8631" y="1120539"/>
                  </a:lnTo>
                  <a:lnTo>
                    <a:pt x="22432" y="1164923"/>
                  </a:lnTo>
                  <a:lnTo>
                    <a:pt x="42287" y="1206632"/>
                  </a:lnTo>
                  <a:lnTo>
                    <a:pt x="67997" y="1244806"/>
                  </a:lnTo>
                  <a:lnTo>
                    <a:pt x="99358" y="1278583"/>
                  </a:lnTo>
                  <a:lnTo>
                    <a:pt x="136171" y="1307102"/>
                  </a:lnTo>
                  <a:lnTo>
                    <a:pt x="106266" y="1349052"/>
                  </a:lnTo>
                  <a:lnTo>
                    <a:pt x="83683" y="1395514"/>
                  </a:lnTo>
                  <a:lnTo>
                    <a:pt x="68762" y="1445359"/>
                  </a:lnTo>
                  <a:lnTo>
                    <a:pt x="61845" y="1497459"/>
                  </a:lnTo>
                  <a:lnTo>
                    <a:pt x="63273" y="1550688"/>
                  </a:lnTo>
                  <a:lnTo>
                    <a:pt x="72129" y="1599273"/>
                  </a:lnTo>
                  <a:lnTo>
                    <a:pt x="87530" y="1644458"/>
                  </a:lnTo>
                  <a:lnTo>
                    <a:pt x="108845" y="1685695"/>
                  </a:lnTo>
                  <a:lnTo>
                    <a:pt x="135440" y="1722434"/>
                  </a:lnTo>
                  <a:lnTo>
                    <a:pt x="166683" y="1754126"/>
                  </a:lnTo>
                  <a:lnTo>
                    <a:pt x="201942" y="1780220"/>
                  </a:lnTo>
                  <a:lnTo>
                    <a:pt x="240584" y="1800169"/>
                  </a:lnTo>
                  <a:lnTo>
                    <a:pt x="281977" y="1813421"/>
                  </a:lnTo>
                  <a:lnTo>
                    <a:pt x="325489" y="1819429"/>
                  </a:lnTo>
                  <a:lnTo>
                    <a:pt x="370486" y="1817642"/>
                  </a:lnTo>
                  <a:lnTo>
                    <a:pt x="375693" y="1827421"/>
                  </a:lnTo>
                  <a:lnTo>
                    <a:pt x="401954" y="1870900"/>
                  </a:lnTo>
                  <a:lnTo>
                    <a:pt x="431286" y="1910697"/>
                  </a:lnTo>
                  <a:lnTo>
                    <a:pt x="463410" y="1946733"/>
                  </a:lnTo>
                  <a:lnTo>
                    <a:pt x="498042" y="1978932"/>
                  </a:lnTo>
                  <a:lnTo>
                    <a:pt x="534901" y="2007215"/>
                  </a:lnTo>
                  <a:lnTo>
                    <a:pt x="573706" y="2031505"/>
                  </a:lnTo>
                  <a:lnTo>
                    <a:pt x="614175" y="2051723"/>
                  </a:lnTo>
                  <a:lnTo>
                    <a:pt x="656026" y="2067791"/>
                  </a:lnTo>
                  <a:lnTo>
                    <a:pt x="698977" y="2079633"/>
                  </a:lnTo>
                  <a:lnTo>
                    <a:pt x="742748" y="2087169"/>
                  </a:lnTo>
                  <a:lnTo>
                    <a:pt x="787056" y="2090322"/>
                  </a:lnTo>
                  <a:lnTo>
                    <a:pt x="831619" y="2089015"/>
                  </a:lnTo>
                  <a:lnTo>
                    <a:pt x="876157" y="2083169"/>
                  </a:lnTo>
                  <a:lnTo>
                    <a:pt x="920386" y="2072706"/>
                  </a:lnTo>
                  <a:lnTo>
                    <a:pt x="964026" y="2057549"/>
                  </a:lnTo>
                  <a:lnTo>
                    <a:pt x="1006796" y="2037620"/>
                  </a:lnTo>
                  <a:lnTo>
                    <a:pt x="1048412" y="2012841"/>
                  </a:lnTo>
                  <a:lnTo>
                    <a:pt x="1078204" y="2056381"/>
                  </a:lnTo>
                  <a:lnTo>
                    <a:pt x="1112077" y="2095607"/>
                  </a:lnTo>
                  <a:lnTo>
                    <a:pt x="1149647" y="2130205"/>
                  </a:lnTo>
                  <a:lnTo>
                    <a:pt x="1190530" y="2159860"/>
                  </a:lnTo>
                  <a:lnTo>
                    <a:pt x="1234341" y="2184258"/>
                  </a:lnTo>
                  <a:lnTo>
                    <a:pt x="1280695" y="2203087"/>
                  </a:lnTo>
                  <a:lnTo>
                    <a:pt x="1326125" y="2215384"/>
                  </a:lnTo>
                  <a:lnTo>
                    <a:pt x="1371571" y="2222075"/>
                  </a:lnTo>
                  <a:lnTo>
                    <a:pt x="1416706" y="2223355"/>
                  </a:lnTo>
                  <a:lnTo>
                    <a:pt x="1461204" y="2219415"/>
                  </a:lnTo>
                  <a:lnTo>
                    <a:pt x="1504737" y="2210448"/>
                  </a:lnTo>
                  <a:lnTo>
                    <a:pt x="1546981" y="2196647"/>
                  </a:lnTo>
                  <a:lnTo>
                    <a:pt x="1587607" y="2178205"/>
                  </a:lnTo>
                  <a:lnTo>
                    <a:pt x="1626291" y="2155315"/>
                  </a:lnTo>
                  <a:lnTo>
                    <a:pt x="1662704" y="2128170"/>
                  </a:lnTo>
                  <a:lnTo>
                    <a:pt x="1696521" y="2096962"/>
                  </a:lnTo>
                  <a:lnTo>
                    <a:pt x="1727416" y="2061884"/>
                  </a:lnTo>
                  <a:lnTo>
                    <a:pt x="1755062" y="2023129"/>
                  </a:lnTo>
                  <a:lnTo>
                    <a:pt x="1779131" y="1980889"/>
                  </a:lnTo>
                  <a:lnTo>
                    <a:pt x="1799299" y="1935359"/>
                  </a:lnTo>
                  <a:lnTo>
                    <a:pt x="1815238" y="1886730"/>
                  </a:lnTo>
                  <a:lnTo>
                    <a:pt x="1859916" y="1912906"/>
                  </a:lnTo>
                  <a:lnTo>
                    <a:pt x="1907202" y="1932021"/>
                  </a:lnTo>
                  <a:lnTo>
                    <a:pt x="1956417" y="1943826"/>
                  </a:lnTo>
                  <a:lnTo>
                    <a:pt x="2006881" y="1948071"/>
                  </a:lnTo>
                  <a:lnTo>
                    <a:pt x="2052969" y="1945322"/>
                  </a:lnTo>
                  <a:lnTo>
                    <a:pt x="2097394" y="1936506"/>
                  </a:lnTo>
                  <a:lnTo>
                    <a:pt x="2139809" y="1921999"/>
                  </a:lnTo>
                  <a:lnTo>
                    <a:pt x="2179866" y="1902177"/>
                  </a:lnTo>
                  <a:lnTo>
                    <a:pt x="2217220" y="1877415"/>
                  </a:lnTo>
                  <a:lnTo>
                    <a:pt x="2251523" y="1848090"/>
                  </a:lnTo>
                  <a:lnTo>
                    <a:pt x="2282428" y="1814578"/>
                  </a:lnTo>
                  <a:lnTo>
                    <a:pt x="2309589" y="1777254"/>
                  </a:lnTo>
                  <a:lnTo>
                    <a:pt x="2332658" y="1736495"/>
                  </a:lnTo>
                  <a:lnTo>
                    <a:pt x="2351289" y="1692676"/>
                  </a:lnTo>
                  <a:lnTo>
                    <a:pt x="2365136" y="1646174"/>
                  </a:lnTo>
                  <a:lnTo>
                    <a:pt x="2373850" y="1597365"/>
                  </a:lnTo>
                  <a:lnTo>
                    <a:pt x="2377086" y="1546624"/>
                  </a:lnTo>
                  <a:lnTo>
                    <a:pt x="2431182" y="1534146"/>
                  </a:lnTo>
                  <a:lnTo>
                    <a:pt x="2483147" y="1514239"/>
                  </a:lnTo>
                  <a:lnTo>
                    <a:pt x="2532373" y="1487188"/>
                  </a:lnTo>
                  <a:lnTo>
                    <a:pt x="2578254" y="1453279"/>
                  </a:lnTo>
                  <a:lnTo>
                    <a:pt x="2611792" y="1421784"/>
                  </a:lnTo>
                  <a:lnTo>
                    <a:pt x="2641703" y="1387388"/>
                  </a:lnTo>
                  <a:lnTo>
                    <a:pt x="2667948" y="1350425"/>
                  </a:lnTo>
                  <a:lnTo>
                    <a:pt x="2690486" y="1311227"/>
                  </a:lnTo>
                  <a:lnTo>
                    <a:pt x="2709279" y="1270130"/>
                  </a:lnTo>
                  <a:lnTo>
                    <a:pt x="2724286" y="1227467"/>
                  </a:lnTo>
                  <a:lnTo>
                    <a:pt x="2735467" y="1183572"/>
                  </a:lnTo>
                  <a:lnTo>
                    <a:pt x="2742783" y="1138779"/>
                  </a:lnTo>
                  <a:lnTo>
                    <a:pt x="2746193" y="1093422"/>
                  </a:lnTo>
                  <a:lnTo>
                    <a:pt x="2745659" y="1047835"/>
                  </a:lnTo>
                  <a:lnTo>
                    <a:pt x="2741139" y="1002352"/>
                  </a:lnTo>
                  <a:lnTo>
                    <a:pt x="2732595" y="957306"/>
                  </a:lnTo>
                  <a:lnTo>
                    <a:pt x="2719986" y="913032"/>
                  </a:lnTo>
                  <a:lnTo>
                    <a:pt x="2703273" y="869864"/>
                  </a:lnTo>
                  <a:lnTo>
                    <a:pt x="2682416" y="828135"/>
                  </a:lnTo>
                  <a:lnTo>
                    <a:pt x="2657375" y="788180"/>
                  </a:lnTo>
                  <a:lnTo>
                    <a:pt x="2661850" y="776107"/>
                  </a:lnTo>
                  <a:lnTo>
                    <a:pt x="2672869" y="739031"/>
                  </a:lnTo>
                  <a:lnTo>
                    <a:pt x="2681962" y="689142"/>
                  </a:lnTo>
                  <a:lnTo>
                    <a:pt x="2684857" y="639537"/>
                  </a:lnTo>
                  <a:lnTo>
                    <a:pt x="2681835" y="590764"/>
                  </a:lnTo>
                  <a:lnTo>
                    <a:pt x="2673180" y="543371"/>
                  </a:lnTo>
                  <a:lnTo>
                    <a:pt x="2659175" y="497905"/>
                  </a:lnTo>
                  <a:lnTo>
                    <a:pt x="2640103" y="454916"/>
                  </a:lnTo>
                  <a:lnTo>
                    <a:pt x="2616248" y="414951"/>
                  </a:lnTo>
                  <a:lnTo>
                    <a:pt x="2587892" y="378558"/>
                  </a:lnTo>
                  <a:lnTo>
                    <a:pt x="2555319" y="346285"/>
                  </a:lnTo>
                  <a:lnTo>
                    <a:pt x="2518811" y="318681"/>
                  </a:lnTo>
                  <a:lnTo>
                    <a:pt x="2478652" y="296294"/>
                  </a:lnTo>
                  <a:lnTo>
                    <a:pt x="2435125" y="279672"/>
                  </a:lnTo>
                  <a:lnTo>
                    <a:pt x="2424660" y="234093"/>
                  </a:lnTo>
                  <a:lnTo>
                    <a:pt x="2408709" y="190855"/>
                  </a:lnTo>
                  <a:lnTo>
                    <a:pt x="2387576" y="150531"/>
                  </a:lnTo>
                  <a:lnTo>
                    <a:pt x="2361567" y="113694"/>
                  </a:lnTo>
                  <a:lnTo>
                    <a:pt x="2330985" y="80917"/>
                  </a:lnTo>
                  <a:lnTo>
                    <a:pt x="2294061" y="51305"/>
                  </a:lnTo>
                  <a:lnTo>
                    <a:pt x="2254604" y="28516"/>
                  </a:lnTo>
                  <a:lnTo>
                    <a:pt x="2213284" y="12489"/>
                  </a:lnTo>
                  <a:lnTo>
                    <a:pt x="2170773" y="3163"/>
                  </a:lnTo>
                  <a:lnTo>
                    <a:pt x="2127743" y="477"/>
                  </a:lnTo>
                  <a:lnTo>
                    <a:pt x="2084865" y="4371"/>
                  </a:lnTo>
                  <a:lnTo>
                    <a:pt x="2042811" y="14784"/>
                  </a:lnTo>
                  <a:lnTo>
                    <a:pt x="2002252" y="31656"/>
                  </a:lnTo>
                  <a:lnTo>
                    <a:pt x="1963861" y="54925"/>
                  </a:lnTo>
                  <a:lnTo>
                    <a:pt x="1928307" y="84531"/>
                  </a:lnTo>
                  <a:lnTo>
                    <a:pt x="1896264" y="120414"/>
                  </a:lnTo>
                  <a:lnTo>
                    <a:pt x="1875680" y="93871"/>
                  </a:lnTo>
                  <a:lnTo>
                    <a:pt x="1827131" y="49548"/>
                  </a:lnTo>
                  <a:lnTo>
                    <a:pt x="1757785" y="13608"/>
                  </a:lnTo>
                  <a:lnTo>
                    <a:pt x="1714945" y="2985"/>
                  </a:lnTo>
                  <a:lnTo>
                    <a:pt x="167186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170267" y="2890120"/>
              <a:ext cx="2746375" cy="2223770"/>
            </a:xfrm>
            <a:custGeom>
              <a:avLst/>
              <a:gdLst/>
              <a:ahLst/>
              <a:cxnLst/>
              <a:rect l="l" t="t" r="r" b="b"/>
              <a:pathLst>
                <a:path w="2746375" h="2223770">
                  <a:moveTo>
                    <a:pt x="249582" y="732046"/>
                  </a:moveTo>
                  <a:lnTo>
                    <a:pt x="245874" y="683824"/>
                  </a:lnTo>
                  <a:lnTo>
                    <a:pt x="246580" y="636349"/>
                  </a:lnTo>
                  <a:lnTo>
                    <a:pt x="251516" y="589888"/>
                  </a:lnTo>
                  <a:lnTo>
                    <a:pt x="260498" y="544709"/>
                  </a:lnTo>
                  <a:lnTo>
                    <a:pt x="273342" y="501079"/>
                  </a:lnTo>
                  <a:lnTo>
                    <a:pt x="289862" y="459266"/>
                  </a:lnTo>
                  <a:lnTo>
                    <a:pt x="309875" y="419537"/>
                  </a:lnTo>
                  <a:lnTo>
                    <a:pt x="333196" y="382161"/>
                  </a:lnTo>
                  <a:lnTo>
                    <a:pt x="359641" y="347403"/>
                  </a:lnTo>
                  <a:lnTo>
                    <a:pt x="389025" y="315533"/>
                  </a:lnTo>
                  <a:lnTo>
                    <a:pt x="421165" y="286817"/>
                  </a:lnTo>
                  <a:lnTo>
                    <a:pt x="455876" y="261523"/>
                  </a:lnTo>
                  <a:lnTo>
                    <a:pt x="492973" y="239918"/>
                  </a:lnTo>
                  <a:lnTo>
                    <a:pt x="532272" y="222270"/>
                  </a:lnTo>
                  <a:lnTo>
                    <a:pt x="573589" y="208847"/>
                  </a:lnTo>
                  <a:lnTo>
                    <a:pt x="616739" y="199916"/>
                  </a:lnTo>
                  <a:lnTo>
                    <a:pt x="664312" y="195698"/>
                  </a:lnTo>
                  <a:lnTo>
                    <a:pt x="711745" y="197329"/>
                  </a:lnTo>
                  <a:lnTo>
                    <a:pt x="758598" y="204710"/>
                  </a:lnTo>
                  <a:lnTo>
                    <a:pt x="804436" y="217743"/>
                  </a:lnTo>
                  <a:lnTo>
                    <a:pt x="848820" y="236328"/>
                  </a:lnTo>
                  <a:lnTo>
                    <a:pt x="891313" y="260368"/>
                  </a:lnTo>
                  <a:lnTo>
                    <a:pt x="915577" y="217163"/>
                  </a:lnTo>
                  <a:lnTo>
                    <a:pt x="944189" y="178856"/>
                  </a:lnTo>
                  <a:lnTo>
                    <a:pt x="976602" y="145631"/>
                  </a:lnTo>
                  <a:lnTo>
                    <a:pt x="1012269" y="117671"/>
                  </a:lnTo>
                  <a:lnTo>
                    <a:pt x="1050644" y="95160"/>
                  </a:lnTo>
                  <a:lnTo>
                    <a:pt x="1091179" y="78281"/>
                  </a:lnTo>
                  <a:lnTo>
                    <a:pt x="1133329" y="67218"/>
                  </a:lnTo>
                  <a:lnTo>
                    <a:pt x="1176546" y="62154"/>
                  </a:lnTo>
                  <a:lnTo>
                    <a:pt x="1220283" y="63272"/>
                  </a:lnTo>
                  <a:lnTo>
                    <a:pt x="1263994" y="70755"/>
                  </a:lnTo>
                  <a:lnTo>
                    <a:pt x="1307131" y="84789"/>
                  </a:lnTo>
                  <a:lnTo>
                    <a:pt x="1349148" y="105555"/>
                  </a:lnTo>
                  <a:lnTo>
                    <a:pt x="1390614" y="134336"/>
                  </a:lnTo>
                  <a:lnTo>
                    <a:pt x="1427888" y="169309"/>
                  </a:lnTo>
                  <a:lnTo>
                    <a:pt x="1451203" y="126710"/>
                  </a:lnTo>
                  <a:lnTo>
                    <a:pt x="1479642" y="89780"/>
                  </a:lnTo>
                  <a:lnTo>
                    <a:pt x="1512438" y="58800"/>
                  </a:lnTo>
                  <a:lnTo>
                    <a:pt x="1548825" y="34051"/>
                  </a:lnTo>
                  <a:lnTo>
                    <a:pt x="1588035" y="15813"/>
                  </a:lnTo>
                  <a:lnTo>
                    <a:pt x="1629303" y="4369"/>
                  </a:lnTo>
                  <a:lnTo>
                    <a:pt x="1671862" y="0"/>
                  </a:lnTo>
                  <a:lnTo>
                    <a:pt x="1714945" y="2985"/>
                  </a:lnTo>
                  <a:lnTo>
                    <a:pt x="1757785" y="13608"/>
                  </a:lnTo>
                  <a:lnTo>
                    <a:pt x="1799617" y="32149"/>
                  </a:lnTo>
                  <a:lnTo>
                    <a:pt x="1852560" y="70185"/>
                  </a:lnTo>
                  <a:lnTo>
                    <a:pt x="1896264" y="120414"/>
                  </a:lnTo>
                  <a:lnTo>
                    <a:pt x="1928307" y="84531"/>
                  </a:lnTo>
                  <a:lnTo>
                    <a:pt x="1963861" y="54925"/>
                  </a:lnTo>
                  <a:lnTo>
                    <a:pt x="2002252" y="31656"/>
                  </a:lnTo>
                  <a:lnTo>
                    <a:pt x="2042811" y="14784"/>
                  </a:lnTo>
                  <a:lnTo>
                    <a:pt x="2084865" y="4371"/>
                  </a:lnTo>
                  <a:lnTo>
                    <a:pt x="2127743" y="477"/>
                  </a:lnTo>
                  <a:lnTo>
                    <a:pt x="2170773" y="3163"/>
                  </a:lnTo>
                  <a:lnTo>
                    <a:pt x="2213284" y="12489"/>
                  </a:lnTo>
                  <a:lnTo>
                    <a:pt x="2254604" y="28516"/>
                  </a:lnTo>
                  <a:lnTo>
                    <a:pt x="2294061" y="51305"/>
                  </a:lnTo>
                  <a:lnTo>
                    <a:pt x="2330985" y="80917"/>
                  </a:lnTo>
                  <a:lnTo>
                    <a:pt x="2361567" y="113694"/>
                  </a:lnTo>
                  <a:lnTo>
                    <a:pt x="2387576" y="150531"/>
                  </a:lnTo>
                  <a:lnTo>
                    <a:pt x="2408709" y="190855"/>
                  </a:lnTo>
                  <a:lnTo>
                    <a:pt x="2424660" y="234093"/>
                  </a:lnTo>
                  <a:lnTo>
                    <a:pt x="2435125" y="279672"/>
                  </a:lnTo>
                  <a:lnTo>
                    <a:pt x="2478652" y="296294"/>
                  </a:lnTo>
                  <a:lnTo>
                    <a:pt x="2518811" y="318681"/>
                  </a:lnTo>
                  <a:lnTo>
                    <a:pt x="2555319" y="346285"/>
                  </a:lnTo>
                  <a:lnTo>
                    <a:pt x="2587892" y="378558"/>
                  </a:lnTo>
                  <a:lnTo>
                    <a:pt x="2616248" y="414951"/>
                  </a:lnTo>
                  <a:lnTo>
                    <a:pt x="2640103" y="454916"/>
                  </a:lnTo>
                  <a:lnTo>
                    <a:pt x="2659175" y="497905"/>
                  </a:lnTo>
                  <a:lnTo>
                    <a:pt x="2673180" y="543371"/>
                  </a:lnTo>
                  <a:lnTo>
                    <a:pt x="2681835" y="590764"/>
                  </a:lnTo>
                  <a:lnTo>
                    <a:pt x="2684857" y="639537"/>
                  </a:lnTo>
                  <a:lnTo>
                    <a:pt x="2681962" y="689142"/>
                  </a:lnTo>
                  <a:lnTo>
                    <a:pt x="2672869" y="739031"/>
                  </a:lnTo>
                  <a:lnTo>
                    <a:pt x="2661850" y="776107"/>
                  </a:lnTo>
                  <a:lnTo>
                    <a:pt x="2657375" y="788180"/>
                  </a:lnTo>
                  <a:lnTo>
                    <a:pt x="2682416" y="828135"/>
                  </a:lnTo>
                  <a:lnTo>
                    <a:pt x="2703273" y="869864"/>
                  </a:lnTo>
                  <a:lnTo>
                    <a:pt x="2719986" y="913032"/>
                  </a:lnTo>
                  <a:lnTo>
                    <a:pt x="2732595" y="957306"/>
                  </a:lnTo>
                  <a:lnTo>
                    <a:pt x="2741139" y="1002352"/>
                  </a:lnTo>
                  <a:lnTo>
                    <a:pt x="2745659" y="1047835"/>
                  </a:lnTo>
                  <a:lnTo>
                    <a:pt x="2746193" y="1093422"/>
                  </a:lnTo>
                  <a:lnTo>
                    <a:pt x="2742783" y="1138779"/>
                  </a:lnTo>
                  <a:lnTo>
                    <a:pt x="2735467" y="1183572"/>
                  </a:lnTo>
                  <a:lnTo>
                    <a:pt x="2724286" y="1227467"/>
                  </a:lnTo>
                  <a:lnTo>
                    <a:pt x="2709279" y="1270130"/>
                  </a:lnTo>
                  <a:lnTo>
                    <a:pt x="2690486" y="1311227"/>
                  </a:lnTo>
                  <a:lnTo>
                    <a:pt x="2667948" y="1350425"/>
                  </a:lnTo>
                  <a:lnTo>
                    <a:pt x="2641703" y="1387388"/>
                  </a:lnTo>
                  <a:lnTo>
                    <a:pt x="2611792" y="1421784"/>
                  </a:lnTo>
                  <a:lnTo>
                    <a:pt x="2578254" y="1453279"/>
                  </a:lnTo>
                  <a:lnTo>
                    <a:pt x="2532373" y="1487188"/>
                  </a:lnTo>
                  <a:lnTo>
                    <a:pt x="2483147" y="1514239"/>
                  </a:lnTo>
                  <a:lnTo>
                    <a:pt x="2431182" y="1534146"/>
                  </a:lnTo>
                  <a:lnTo>
                    <a:pt x="2377086" y="1546624"/>
                  </a:lnTo>
                  <a:lnTo>
                    <a:pt x="2373850" y="1597365"/>
                  </a:lnTo>
                  <a:lnTo>
                    <a:pt x="2365136" y="1646174"/>
                  </a:lnTo>
                  <a:lnTo>
                    <a:pt x="2351289" y="1692676"/>
                  </a:lnTo>
                  <a:lnTo>
                    <a:pt x="2332658" y="1736495"/>
                  </a:lnTo>
                  <a:lnTo>
                    <a:pt x="2309589" y="1777254"/>
                  </a:lnTo>
                  <a:lnTo>
                    <a:pt x="2282428" y="1814578"/>
                  </a:lnTo>
                  <a:lnTo>
                    <a:pt x="2251523" y="1848090"/>
                  </a:lnTo>
                  <a:lnTo>
                    <a:pt x="2217220" y="1877415"/>
                  </a:lnTo>
                  <a:lnTo>
                    <a:pt x="2179866" y="1902177"/>
                  </a:lnTo>
                  <a:lnTo>
                    <a:pt x="2139809" y="1921999"/>
                  </a:lnTo>
                  <a:lnTo>
                    <a:pt x="2097394" y="1936506"/>
                  </a:lnTo>
                  <a:lnTo>
                    <a:pt x="2052969" y="1945322"/>
                  </a:lnTo>
                  <a:lnTo>
                    <a:pt x="2006881" y="1948071"/>
                  </a:lnTo>
                  <a:lnTo>
                    <a:pt x="1956417" y="1943826"/>
                  </a:lnTo>
                  <a:lnTo>
                    <a:pt x="1907202" y="1932021"/>
                  </a:lnTo>
                  <a:lnTo>
                    <a:pt x="1859916" y="1912906"/>
                  </a:lnTo>
                  <a:lnTo>
                    <a:pt x="1815238" y="1886730"/>
                  </a:lnTo>
                  <a:lnTo>
                    <a:pt x="1799299" y="1935359"/>
                  </a:lnTo>
                  <a:lnTo>
                    <a:pt x="1779131" y="1980889"/>
                  </a:lnTo>
                  <a:lnTo>
                    <a:pt x="1755062" y="2023129"/>
                  </a:lnTo>
                  <a:lnTo>
                    <a:pt x="1727416" y="2061884"/>
                  </a:lnTo>
                  <a:lnTo>
                    <a:pt x="1696521" y="2096962"/>
                  </a:lnTo>
                  <a:lnTo>
                    <a:pt x="1662704" y="2128170"/>
                  </a:lnTo>
                  <a:lnTo>
                    <a:pt x="1626291" y="2155315"/>
                  </a:lnTo>
                  <a:lnTo>
                    <a:pt x="1587607" y="2178205"/>
                  </a:lnTo>
                  <a:lnTo>
                    <a:pt x="1546981" y="2196647"/>
                  </a:lnTo>
                  <a:lnTo>
                    <a:pt x="1504737" y="2210448"/>
                  </a:lnTo>
                  <a:lnTo>
                    <a:pt x="1461204" y="2219415"/>
                  </a:lnTo>
                  <a:lnTo>
                    <a:pt x="1416706" y="2223355"/>
                  </a:lnTo>
                  <a:lnTo>
                    <a:pt x="1371571" y="2222075"/>
                  </a:lnTo>
                  <a:lnTo>
                    <a:pt x="1326125" y="2215384"/>
                  </a:lnTo>
                  <a:lnTo>
                    <a:pt x="1280695" y="2203087"/>
                  </a:lnTo>
                  <a:lnTo>
                    <a:pt x="1234341" y="2184258"/>
                  </a:lnTo>
                  <a:lnTo>
                    <a:pt x="1190530" y="2159860"/>
                  </a:lnTo>
                  <a:lnTo>
                    <a:pt x="1149647" y="2130205"/>
                  </a:lnTo>
                  <a:lnTo>
                    <a:pt x="1112077" y="2095607"/>
                  </a:lnTo>
                  <a:lnTo>
                    <a:pt x="1078204" y="2056381"/>
                  </a:lnTo>
                  <a:lnTo>
                    <a:pt x="1048412" y="2012841"/>
                  </a:lnTo>
                  <a:lnTo>
                    <a:pt x="1006796" y="2037620"/>
                  </a:lnTo>
                  <a:lnTo>
                    <a:pt x="964026" y="2057549"/>
                  </a:lnTo>
                  <a:lnTo>
                    <a:pt x="920386" y="2072706"/>
                  </a:lnTo>
                  <a:lnTo>
                    <a:pt x="876157" y="2083169"/>
                  </a:lnTo>
                  <a:lnTo>
                    <a:pt x="831619" y="2089015"/>
                  </a:lnTo>
                  <a:lnTo>
                    <a:pt x="787056" y="2090322"/>
                  </a:lnTo>
                  <a:lnTo>
                    <a:pt x="742748" y="2087169"/>
                  </a:lnTo>
                  <a:lnTo>
                    <a:pt x="698977" y="2079633"/>
                  </a:lnTo>
                  <a:lnTo>
                    <a:pt x="656026" y="2067791"/>
                  </a:lnTo>
                  <a:lnTo>
                    <a:pt x="614175" y="2051723"/>
                  </a:lnTo>
                  <a:lnTo>
                    <a:pt x="573706" y="2031505"/>
                  </a:lnTo>
                  <a:lnTo>
                    <a:pt x="534901" y="2007215"/>
                  </a:lnTo>
                  <a:lnTo>
                    <a:pt x="498042" y="1978932"/>
                  </a:lnTo>
                  <a:lnTo>
                    <a:pt x="463410" y="1946733"/>
                  </a:lnTo>
                  <a:lnTo>
                    <a:pt x="431286" y="1910697"/>
                  </a:lnTo>
                  <a:lnTo>
                    <a:pt x="401954" y="1870900"/>
                  </a:lnTo>
                  <a:lnTo>
                    <a:pt x="375693" y="1827421"/>
                  </a:lnTo>
                  <a:lnTo>
                    <a:pt x="372264" y="1820817"/>
                  </a:lnTo>
                  <a:lnTo>
                    <a:pt x="370486" y="1817642"/>
                  </a:lnTo>
                  <a:lnTo>
                    <a:pt x="325489" y="1819429"/>
                  </a:lnTo>
                  <a:lnTo>
                    <a:pt x="281977" y="1813421"/>
                  </a:lnTo>
                  <a:lnTo>
                    <a:pt x="240584" y="1800169"/>
                  </a:lnTo>
                  <a:lnTo>
                    <a:pt x="201942" y="1780220"/>
                  </a:lnTo>
                  <a:lnTo>
                    <a:pt x="166683" y="1754126"/>
                  </a:lnTo>
                  <a:lnTo>
                    <a:pt x="135440" y="1722434"/>
                  </a:lnTo>
                  <a:lnTo>
                    <a:pt x="108845" y="1685695"/>
                  </a:lnTo>
                  <a:lnTo>
                    <a:pt x="87530" y="1644458"/>
                  </a:lnTo>
                  <a:lnTo>
                    <a:pt x="72129" y="1599273"/>
                  </a:lnTo>
                  <a:lnTo>
                    <a:pt x="63273" y="1550688"/>
                  </a:lnTo>
                  <a:lnTo>
                    <a:pt x="61845" y="1497459"/>
                  </a:lnTo>
                  <a:lnTo>
                    <a:pt x="68762" y="1445359"/>
                  </a:lnTo>
                  <a:lnTo>
                    <a:pt x="83683" y="1395514"/>
                  </a:lnTo>
                  <a:lnTo>
                    <a:pt x="106266" y="1349052"/>
                  </a:lnTo>
                  <a:lnTo>
                    <a:pt x="136171" y="1307102"/>
                  </a:lnTo>
                  <a:lnTo>
                    <a:pt x="99358" y="1278583"/>
                  </a:lnTo>
                  <a:lnTo>
                    <a:pt x="67997" y="1244806"/>
                  </a:lnTo>
                  <a:lnTo>
                    <a:pt x="42287" y="1206632"/>
                  </a:lnTo>
                  <a:lnTo>
                    <a:pt x="22432" y="1164923"/>
                  </a:lnTo>
                  <a:lnTo>
                    <a:pt x="8631" y="1120539"/>
                  </a:lnTo>
                  <a:lnTo>
                    <a:pt x="1087" y="1074341"/>
                  </a:lnTo>
                  <a:lnTo>
                    <a:pt x="0" y="1027191"/>
                  </a:lnTo>
                  <a:lnTo>
                    <a:pt x="5570" y="979950"/>
                  </a:lnTo>
                  <a:lnTo>
                    <a:pt x="18001" y="933478"/>
                  </a:lnTo>
                  <a:lnTo>
                    <a:pt x="37492" y="888637"/>
                  </a:lnTo>
                  <a:lnTo>
                    <a:pt x="67980" y="841744"/>
                  </a:lnTo>
                  <a:lnTo>
                    <a:pt x="105345" y="802508"/>
                  </a:lnTo>
                  <a:lnTo>
                    <a:pt x="148445" y="771758"/>
                  </a:lnTo>
                  <a:lnTo>
                    <a:pt x="196143" y="750322"/>
                  </a:lnTo>
                  <a:lnTo>
                    <a:pt x="247296" y="739031"/>
                  </a:lnTo>
                  <a:lnTo>
                    <a:pt x="249582" y="732046"/>
                  </a:lnTo>
                  <a:close/>
                </a:path>
                <a:path w="2746375" h="2223770">
                  <a:moveTo>
                    <a:pt x="299874" y="1339487"/>
                  </a:moveTo>
                  <a:lnTo>
                    <a:pt x="257911" y="1339560"/>
                  </a:lnTo>
                  <a:lnTo>
                    <a:pt x="216673" y="1332645"/>
                  </a:lnTo>
                  <a:lnTo>
                    <a:pt x="176841" y="1318895"/>
                  </a:lnTo>
                  <a:lnTo>
                    <a:pt x="139092" y="1298466"/>
                  </a:lnTo>
                </a:path>
                <a:path w="2746375" h="2223770">
                  <a:moveTo>
                    <a:pt x="441860" y="1788178"/>
                  </a:moveTo>
                  <a:lnTo>
                    <a:pt x="424723" y="1794986"/>
                  </a:lnTo>
                  <a:lnTo>
                    <a:pt x="407253" y="1800544"/>
                  </a:lnTo>
                  <a:lnTo>
                    <a:pt x="389496" y="1804840"/>
                  </a:lnTo>
                  <a:lnTo>
                    <a:pt x="371502" y="1807863"/>
                  </a:lnTo>
                </a:path>
                <a:path w="2746375" h="2223770">
                  <a:moveTo>
                    <a:pt x="1048285" y="2003824"/>
                  </a:moveTo>
                  <a:lnTo>
                    <a:pt x="1036050" y="1982422"/>
                  </a:lnTo>
                  <a:lnTo>
                    <a:pt x="1024885" y="1960342"/>
                  </a:lnTo>
                  <a:lnTo>
                    <a:pt x="1014817" y="1937619"/>
                  </a:lnTo>
                  <a:lnTo>
                    <a:pt x="1005867" y="1914289"/>
                  </a:lnTo>
                </a:path>
                <a:path w="2746375" h="2223770">
                  <a:moveTo>
                    <a:pt x="1832383" y="1780558"/>
                  </a:moveTo>
                  <a:lnTo>
                    <a:pt x="1829958" y="1805507"/>
                  </a:lnTo>
                  <a:lnTo>
                    <a:pt x="1826319" y="1830231"/>
                  </a:lnTo>
                  <a:lnTo>
                    <a:pt x="1821489" y="1854692"/>
                  </a:lnTo>
                  <a:lnTo>
                    <a:pt x="1815492" y="1878856"/>
                  </a:lnTo>
                </a:path>
                <a:path w="2746375" h="2223770">
                  <a:moveTo>
                    <a:pt x="2169060" y="1173625"/>
                  </a:moveTo>
                  <a:lnTo>
                    <a:pt x="2209728" y="1199077"/>
                  </a:lnTo>
                  <a:lnTo>
                    <a:pt x="2246624" y="1229545"/>
                  </a:lnTo>
                  <a:lnTo>
                    <a:pt x="2279466" y="1264524"/>
                  </a:lnTo>
                  <a:lnTo>
                    <a:pt x="2307970" y="1303507"/>
                  </a:lnTo>
                  <a:lnTo>
                    <a:pt x="2331855" y="1345988"/>
                  </a:lnTo>
                  <a:lnTo>
                    <a:pt x="2350840" y="1391463"/>
                  </a:lnTo>
                  <a:lnTo>
                    <a:pt x="2364640" y="1439423"/>
                  </a:lnTo>
                  <a:lnTo>
                    <a:pt x="2372975" y="1489365"/>
                  </a:lnTo>
                  <a:lnTo>
                    <a:pt x="2375562" y="1540782"/>
                  </a:lnTo>
                </a:path>
                <a:path w="2746375" h="2223770">
                  <a:moveTo>
                    <a:pt x="2656105" y="782719"/>
                  </a:moveTo>
                  <a:lnTo>
                    <a:pt x="2638666" y="821356"/>
                  </a:lnTo>
                  <a:lnTo>
                    <a:pt x="2617370" y="857411"/>
                  </a:lnTo>
                  <a:lnTo>
                    <a:pt x="2592454" y="890536"/>
                  </a:lnTo>
                  <a:lnTo>
                    <a:pt x="2564157" y="920387"/>
                  </a:lnTo>
                </a:path>
                <a:path w="2746375" h="2223770">
                  <a:moveTo>
                    <a:pt x="2435506" y="271925"/>
                  </a:moveTo>
                  <a:lnTo>
                    <a:pt x="2437796" y="288068"/>
                  </a:lnTo>
                  <a:lnTo>
                    <a:pt x="2439348" y="304294"/>
                  </a:lnTo>
                  <a:lnTo>
                    <a:pt x="2440185" y="320591"/>
                  </a:lnTo>
                  <a:lnTo>
                    <a:pt x="2440332" y="336949"/>
                  </a:lnTo>
                </a:path>
                <a:path w="2746375" h="2223770">
                  <a:moveTo>
                    <a:pt x="1848385" y="196106"/>
                  </a:moveTo>
                  <a:lnTo>
                    <a:pt x="1858069" y="174022"/>
                  </a:lnTo>
                  <a:lnTo>
                    <a:pt x="1869181" y="152783"/>
                  </a:lnTo>
                  <a:lnTo>
                    <a:pt x="1881675" y="132473"/>
                  </a:lnTo>
                  <a:lnTo>
                    <a:pt x="1895502" y="113175"/>
                  </a:lnTo>
                </a:path>
                <a:path w="2746375" h="2223770">
                  <a:moveTo>
                    <a:pt x="1407822" y="235603"/>
                  </a:moveTo>
                  <a:lnTo>
                    <a:pt x="1412037" y="217180"/>
                  </a:lnTo>
                  <a:lnTo>
                    <a:pt x="1417252" y="199090"/>
                  </a:lnTo>
                  <a:lnTo>
                    <a:pt x="1423467" y="181382"/>
                  </a:lnTo>
                  <a:lnTo>
                    <a:pt x="1430682" y="164102"/>
                  </a:lnTo>
                </a:path>
                <a:path w="2746375" h="2223770">
                  <a:moveTo>
                    <a:pt x="890932" y="259860"/>
                  </a:moveTo>
                  <a:lnTo>
                    <a:pt x="912975" y="275141"/>
                  </a:lnTo>
                  <a:lnTo>
                    <a:pt x="934112" y="291816"/>
                  </a:lnTo>
                  <a:lnTo>
                    <a:pt x="954297" y="309848"/>
                  </a:lnTo>
                  <a:lnTo>
                    <a:pt x="973482" y="329202"/>
                  </a:lnTo>
                </a:path>
                <a:path w="2746375" h="2223770">
                  <a:moveTo>
                    <a:pt x="263933" y="805071"/>
                  </a:moveTo>
                  <a:lnTo>
                    <a:pt x="259387" y="787070"/>
                  </a:lnTo>
                  <a:lnTo>
                    <a:pt x="255472" y="768892"/>
                  </a:lnTo>
                  <a:lnTo>
                    <a:pt x="252200" y="750546"/>
                  </a:lnTo>
                  <a:lnTo>
                    <a:pt x="249582" y="732046"/>
                  </a:lnTo>
                </a:path>
              </a:pathLst>
            </a:custGeom>
            <a:ln w="25400">
              <a:solidFill>
                <a:srgbClr val="9BBA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6912356" y="3641217"/>
            <a:ext cx="10680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48285">
              <a:lnSpc>
                <a:spcPct val="100000"/>
              </a:lnSpc>
              <a:spcBef>
                <a:spcPts val="100"/>
              </a:spcBef>
            </a:pPr>
            <a:r>
              <a:rPr sz="1800" b="1" spc="-20" dirty="0">
                <a:solidFill>
                  <a:srgbClr val="9BBA58"/>
                </a:solidFill>
                <a:latin typeface="Calibri"/>
                <a:cs typeface="Calibri"/>
              </a:rPr>
              <a:t>Cloud </a:t>
            </a:r>
            <a:r>
              <a:rPr sz="1800" b="1" spc="-10" dirty="0">
                <a:solidFill>
                  <a:srgbClr val="9BBA58"/>
                </a:solidFill>
                <a:latin typeface="Calibri"/>
                <a:cs typeface="Calibri"/>
              </a:rPr>
              <a:t>Computing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208655" marR="5080" indent="-1646555">
              <a:lnSpc>
                <a:spcPct val="100000"/>
              </a:lnSpc>
              <a:spcBef>
                <a:spcPts val="105"/>
              </a:spcBef>
            </a:pPr>
            <a:r>
              <a:rPr dirty="0"/>
              <a:t>…</a:t>
            </a:r>
            <a:r>
              <a:rPr spc="-5" dirty="0"/>
              <a:t> </a:t>
            </a:r>
            <a:r>
              <a:rPr dirty="0"/>
              <a:t>for</a:t>
            </a:r>
            <a:r>
              <a:rPr spc="-5" dirty="0"/>
              <a:t> </a:t>
            </a:r>
            <a:r>
              <a:rPr dirty="0"/>
              <a:t>a</a:t>
            </a:r>
            <a:r>
              <a:rPr spc="-5" dirty="0"/>
              <a:t> </a:t>
            </a:r>
            <a:r>
              <a:rPr dirty="0"/>
              <a:t>more </a:t>
            </a:r>
            <a:r>
              <a:rPr spc="-10" dirty="0"/>
              <a:t>complete definition!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79520" y="1594075"/>
            <a:ext cx="3072384" cy="142802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99686" y="1594075"/>
            <a:ext cx="1414310" cy="142802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02764" y="3176016"/>
            <a:ext cx="3067812" cy="142646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396744" y="1753361"/>
            <a:ext cx="4257040" cy="271208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588135" marR="5080" indent="-2540" algn="ctr">
              <a:lnSpc>
                <a:spcPct val="86300"/>
              </a:lnSpc>
              <a:spcBef>
                <a:spcPts val="395"/>
              </a:spcBef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Cloud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Computing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is</a:t>
            </a:r>
            <a:r>
              <a:rPr sz="18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the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delivery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18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computing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as</a:t>
            </a:r>
            <a:r>
              <a:rPr sz="18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Arial MT"/>
                <a:cs typeface="Arial MT"/>
              </a:rPr>
              <a:t>a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service</a:t>
            </a:r>
            <a:r>
              <a:rPr sz="1800" b="1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rather</a:t>
            </a:r>
            <a:r>
              <a:rPr sz="18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than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Arial MT"/>
                <a:cs typeface="Arial MT"/>
              </a:rPr>
              <a:t>a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product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,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10"/>
              </a:spcBef>
            </a:pPr>
            <a:endParaRPr sz="1800">
              <a:latin typeface="Arial MT"/>
              <a:cs typeface="Arial MT"/>
            </a:endParaRPr>
          </a:p>
          <a:p>
            <a:pPr marL="12700" marR="1391285" indent="1270" algn="ctr">
              <a:lnSpc>
                <a:spcPct val="86200"/>
              </a:lnSpc>
              <a:spcBef>
                <a:spcPts val="5"/>
              </a:spcBef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whereby</a:t>
            </a:r>
            <a:r>
              <a:rPr sz="18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shared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resources,</a:t>
            </a:r>
            <a:r>
              <a:rPr sz="18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software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,</a:t>
            </a:r>
            <a:r>
              <a:rPr sz="18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and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information</a:t>
            </a:r>
            <a:r>
              <a:rPr sz="18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are</a:t>
            </a:r>
            <a:r>
              <a:rPr sz="18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provided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to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computers</a:t>
            </a:r>
            <a:r>
              <a:rPr sz="18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18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other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devices,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439126" y="3185136"/>
            <a:ext cx="1414310" cy="1420396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765803" y="4745735"/>
            <a:ext cx="3159252" cy="1446276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3928617" y="5157038"/>
            <a:ext cx="2769235" cy="5378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014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as</a:t>
            </a:r>
            <a:r>
              <a:rPr sz="18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18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metered</a:t>
            </a:r>
            <a:r>
              <a:rPr sz="18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service</a:t>
            </a:r>
            <a:r>
              <a:rPr sz="1800" b="1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over</a:t>
            </a:r>
            <a:endParaRPr sz="1800">
              <a:latin typeface="Arial MT"/>
              <a:cs typeface="Arial MT"/>
            </a:endParaRPr>
          </a:p>
          <a:p>
            <a:pPr algn="ctr">
              <a:lnSpc>
                <a:spcPts val="2014"/>
              </a:lnSpc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network.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286000" y="4745735"/>
            <a:ext cx="1432560" cy="144627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8614" rIns="0" bIns="0" rtlCol="0">
            <a:spAutoFit/>
          </a:bodyPr>
          <a:lstStyle/>
          <a:p>
            <a:pPr marL="1454150">
              <a:lnSpc>
                <a:spcPct val="100000"/>
              </a:lnSpc>
              <a:spcBef>
                <a:spcPts val="105"/>
              </a:spcBef>
            </a:pPr>
            <a:r>
              <a:rPr dirty="0"/>
              <a:t>Why</a:t>
            </a:r>
            <a:r>
              <a:rPr spc="-30" dirty="0"/>
              <a:t> </a:t>
            </a:r>
            <a:r>
              <a:rPr dirty="0"/>
              <a:t>Cloud</a:t>
            </a:r>
            <a:r>
              <a:rPr spc="-10" dirty="0"/>
              <a:t> Computing?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9204" y="1778507"/>
            <a:ext cx="1456944" cy="385114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35000" y="3350133"/>
            <a:ext cx="1137285" cy="1059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345"/>
              </a:lnSpc>
              <a:spcBef>
                <a:spcPts val="100"/>
              </a:spcBef>
            </a:pP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Pay-as-</a:t>
            </a: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You-</a:t>
            </a: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Go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ts val="1345"/>
              </a:lnSpc>
            </a:pP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economic</a:t>
            </a:r>
            <a:r>
              <a:rPr sz="12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model</a:t>
            </a:r>
            <a:endParaRPr sz="1200">
              <a:latin typeface="Arial MT"/>
              <a:cs typeface="Arial MT"/>
            </a:endParaRPr>
          </a:p>
          <a:p>
            <a:pPr marL="70485" marR="300990" indent="-58419">
              <a:lnSpc>
                <a:spcPts val="940"/>
              </a:lnSpc>
              <a:spcBef>
                <a:spcPts val="484"/>
              </a:spcBef>
              <a:buChar char="•"/>
              <a:tabLst>
                <a:tab pos="70485" algn="l"/>
              </a:tabLst>
            </a:pP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Reduce</a:t>
            </a:r>
            <a:r>
              <a:rPr sz="9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Arial MT"/>
                <a:cs typeface="Arial MT"/>
              </a:rPr>
              <a:t>capital expenditure</a:t>
            </a:r>
            <a:endParaRPr sz="900">
              <a:latin typeface="Arial MT"/>
              <a:cs typeface="Arial MT"/>
            </a:endParaRPr>
          </a:p>
          <a:p>
            <a:pPr marL="70485" indent="-57785">
              <a:lnSpc>
                <a:spcPts val="1070"/>
              </a:lnSpc>
              <a:buChar char="•"/>
              <a:tabLst>
                <a:tab pos="70485" algn="l"/>
              </a:tabLst>
            </a:pP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No</a:t>
            </a:r>
            <a:r>
              <a:rPr sz="9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upfront</a:t>
            </a:r>
            <a:r>
              <a:rPr sz="9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20" dirty="0">
                <a:solidFill>
                  <a:srgbClr val="FFFFFF"/>
                </a:solidFill>
                <a:latin typeface="Arial MT"/>
                <a:cs typeface="Arial MT"/>
              </a:rPr>
              <a:t>cost</a:t>
            </a:r>
            <a:endParaRPr sz="900">
              <a:latin typeface="Arial MT"/>
              <a:cs typeface="Arial MT"/>
            </a:endParaRPr>
          </a:p>
          <a:p>
            <a:pPr marL="70485" marR="187960" indent="-58419">
              <a:lnSpc>
                <a:spcPts val="919"/>
              </a:lnSpc>
              <a:spcBef>
                <a:spcPts val="175"/>
              </a:spcBef>
              <a:buChar char="•"/>
              <a:tabLst>
                <a:tab pos="70485" algn="l"/>
              </a:tabLst>
            </a:pP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Reduced</a:t>
            </a:r>
            <a:r>
              <a:rPr sz="9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Time</a:t>
            </a:r>
            <a:r>
              <a:rPr sz="9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25" dirty="0">
                <a:solidFill>
                  <a:srgbClr val="FFFFFF"/>
                </a:solidFill>
                <a:latin typeface="Arial MT"/>
                <a:cs typeface="Arial MT"/>
              </a:rPr>
              <a:t>to </a:t>
            </a:r>
            <a:r>
              <a:rPr sz="900" spc="-10" dirty="0">
                <a:solidFill>
                  <a:srgbClr val="FFFFFF"/>
                </a:solidFill>
                <a:latin typeface="Arial MT"/>
                <a:cs typeface="Arial MT"/>
              </a:rPr>
              <a:t>Market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31876" y="1778507"/>
            <a:ext cx="2761615" cy="3851275"/>
            <a:chOff x="531876" y="1778507"/>
            <a:chExt cx="2761615" cy="385127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1876" y="2004059"/>
              <a:ext cx="1341120" cy="134112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68423" y="1778507"/>
              <a:ext cx="1424939" cy="3851148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041017" y="3350133"/>
            <a:ext cx="1083310" cy="1158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345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Simplified</a:t>
            </a: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IT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ts val="1345"/>
              </a:lnSpc>
            </a:pP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management</a:t>
            </a:r>
            <a:endParaRPr sz="1200">
              <a:latin typeface="Arial MT"/>
              <a:cs typeface="Arial MT"/>
            </a:endParaRPr>
          </a:p>
          <a:p>
            <a:pPr marL="70485" marR="260985" indent="-58419">
              <a:lnSpc>
                <a:spcPct val="86100"/>
              </a:lnSpc>
              <a:spcBef>
                <a:spcPts val="489"/>
              </a:spcBef>
              <a:buChar char="•"/>
              <a:tabLst>
                <a:tab pos="70485" algn="l"/>
              </a:tabLst>
            </a:pP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All</a:t>
            </a:r>
            <a:r>
              <a:rPr sz="9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you</a:t>
            </a:r>
            <a:r>
              <a:rPr sz="9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need</a:t>
            </a:r>
            <a:r>
              <a:rPr sz="9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25" dirty="0">
                <a:solidFill>
                  <a:srgbClr val="FFFFFF"/>
                </a:solidFill>
                <a:latin typeface="Arial MT"/>
                <a:cs typeface="Arial MT"/>
              </a:rPr>
              <a:t>is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access</a:t>
            </a:r>
            <a:r>
              <a:rPr sz="9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9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25" dirty="0">
                <a:solidFill>
                  <a:srgbClr val="FFFFFF"/>
                </a:solidFill>
                <a:latin typeface="Arial MT"/>
                <a:cs typeface="Arial MT"/>
              </a:rPr>
              <a:t>the </a:t>
            </a:r>
            <a:r>
              <a:rPr sz="900" spc="-10" dirty="0">
                <a:solidFill>
                  <a:srgbClr val="FFFFFF"/>
                </a:solidFill>
                <a:latin typeface="Arial MT"/>
                <a:cs typeface="Arial MT"/>
              </a:rPr>
              <a:t>internet.</a:t>
            </a:r>
            <a:endParaRPr sz="900">
              <a:latin typeface="Arial MT"/>
              <a:cs typeface="Arial MT"/>
            </a:endParaRPr>
          </a:p>
          <a:p>
            <a:pPr marL="70485" marR="5080" indent="-58419">
              <a:lnSpc>
                <a:spcPct val="86100"/>
              </a:lnSpc>
              <a:spcBef>
                <a:spcPts val="160"/>
              </a:spcBef>
              <a:buChar char="•"/>
              <a:tabLst>
                <a:tab pos="70485" algn="l"/>
              </a:tabLst>
            </a:pP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It’s</a:t>
            </a:r>
            <a:r>
              <a:rPr sz="9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9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Arial MT"/>
                <a:cs typeface="Arial MT"/>
              </a:rPr>
              <a:t>providers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responsibility</a:t>
            </a:r>
            <a:r>
              <a:rPr sz="9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25" dirty="0">
                <a:solidFill>
                  <a:srgbClr val="FFFFFF"/>
                </a:solidFill>
                <a:latin typeface="Arial MT"/>
                <a:cs typeface="Arial MT"/>
              </a:rPr>
              <a:t>to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manage</a:t>
            </a:r>
            <a:r>
              <a:rPr sz="9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9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Arial MT"/>
                <a:cs typeface="Arial MT"/>
              </a:rPr>
              <a:t>details.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909572" y="1778507"/>
            <a:ext cx="2763520" cy="3851275"/>
            <a:chOff x="1909572" y="1778507"/>
            <a:chExt cx="2763520" cy="3851275"/>
          </a:xfrm>
        </p:grpSpPr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09572" y="2004059"/>
              <a:ext cx="1341120" cy="134112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246119" y="1778507"/>
              <a:ext cx="1426463" cy="3851148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3409950" y="3350133"/>
            <a:ext cx="1101090" cy="105918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53975">
              <a:lnSpc>
                <a:spcPts val="1250"/>
              </a:lnSpc>
              <a:spcBef>
                <a:spcPts val="300"/>
              </a:spcBef>
            </a:pP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Scale</a:t>
            </a:r>
            <a:r>
              <a:rPr sz="12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quickly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 effortlessly</a:t>
            </a:r>
            <a:endParaRPr sz="1200">
              <a:latin typeface="Arial MT"/>
              <a:cs typeface="Arial MT"/>
            </a:endParaRPr>
          </a:p>
          <a:p>
            <a:pPr marL="70485" marR="5080" indent="-58419">
              <a:lnSpc>
                <a:spcPct val="86100"/>
              </a:lnSpc>
              <a:spcBef>
                <a:spcPts val="475"/>
              </a:spcBef>
              <a:buChar char="•"/>
              <a:tabLst>
                <a:tab pos="70485" algn="l"/>
              </a:tabLst>
            </a:pP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Resources</a:t>
            </a:r>
            <a:r>
              <a:rPr sz="9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can</a:t>
            </a:r>
            <a:r>
              <a:rPr sz="9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25" dirty="0">
                <a:solidFill>
                  <a:srgbClr val="FFFFFF"/>
                </a:solidFill>
                <a:latin typeface="Arial MT"/>
                <a:cs typeface="Arial MT"/>
              </a:rPr>
              <a:t>be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rented</a:t>
            </a:r>
            <a:r>
              <a:rPr sz="9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9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Arial MT"/>
                <a:cs typeface="Arial MT"/>
              </a:rPr>
              <a:t>released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as</a:t>
            </a:r>
            <a:r>
              <a:rPr sz="9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Arial MT"/>
                <a:cs typeface="Arial MT"/>
              </a:rPr>
              <a:t>required</a:t>
            </a:r>
            <a:endParaRPr sz="900">
              <a:latin typeface="Arial MT"/>
              <a:cs typeface="Arial MT"/>
            </a:endParaRPr>
          </a:p>
          <a:p>
            <a:pPr marL="70485" indent="-57785">
              <a:lnSpc>
                <a:spcPct val="100000"/>
              </a:lnSpc>
              <a:spcBef>
                <a:spcPts val="15"/>
              </a:spcBef>
              <a:buChar char="•"/>
              <a:tabLst>
                <a:tab pos="70485" algn="l"/>
              </a:tabLst>
            </a:pP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Software</a:t>
            </a:r>
            <a:r>
              <a:rPr sz="9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Arial MT"/>
                <a:cs typeface="Arial MT"/>
              </a:rPr>
              <a:t>Controlled</a:t>
            </a:r>
            <a:endParaRPr sz="900">
              <a:latin typeface="Arial MT"/>
              <a:cs typeface="Arial MT"/>
            </a:endParaRPr>
          </a:p>
          <a:p>
            <a:pPr marL="70485" indent="-57785">
              <a:lnSpc>
                <a:spcPct val="100000"/>
              </a:lnSpc>
              <a:buChar char="•"/>
              <a:tabLst>
                <a:tab pos="70485" algn="l"/>
              </a:tabLst>
            </a:pP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Instant</a:t>
            </a:r>
            <a:r>
              <a:rPr sz="9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Arial MT"/>
                <a:cs typeface="Arial MT"/>
              </a:rPr>
              <a:t>scalablility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288791" y="1778507"/>
            <a:ext cx="2775585" cy="3851275"/>
            <a:chOff x="3288791" y="1778507"/>
            <a:chExt cx="2775585" cy="3851275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288791" y="2004059"/>
              <a:ext cx="1341119" cy="134112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623815" y="1778507"/>
              <a:ext cx="1440180" cy="3851148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4744339" y="3291260"/>
            <a:ext cx="1189355" cy="1315085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60"/>
              </a:spcBef>
            </a:pP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Flexible</a:t>
            </a:r>
            <a:r>
              <a:rPr sz="12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ptions</a:t>
            </a:r>
            <a:endParaRPr sz="1200">
              <a:latin typeface="Arial MT"/>
              <a:cs typeface="Arial MT"/>
            </a:endParaRPr>
          </a:p>
          <a:p>
            <a:pPr marL="70485" marR="129539" indent="-58419">
              <a:lnSpc>
                <a:spcPct val="85900"/>
              </a:lnSpc>
              <a:spcBef>
                <a:spcPts val="505"/>
              </a:spcBef>
              <a:buChar char="•"/>
              <a:tabLst>
                <a:tab pos="70485" algn="l"/>
              </a:tabLst>
            </a:pP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Configure</a:t>
            </a:r>
            <a:r>
              <a:rPr sz="9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Arial MT"/>
                <a:cs typeface="Arial MT"/>
              </a:rPr>
              <a:t>software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packages,</a:t>
            </a:r>
            <a:r>
              <a:rPr sz="9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Arial MT"/>
                <a:cs typeface="Arial MT"/>
              </a:rPr>
              <a:t>instance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types</a:t>
            </a:r>
            <a:r>
              <a:rPr sz="900" spc="-10" dirty="0">
                <a:solidFill>
                  <a:srgbClr val="FFFFFF"/>
                </a:solidFill>
                <a:latin typeface="Arial MT"/>
                <a:cs typeface="Arial MT"/>
              </a:rPr>
              <a:t> operating systems.</a:t>
            </a:r>
            <a:endParaRPr sz="900">
              <a:latin typeface="Arial MT"/>
              <a:cs typeface="Arial MT"/>
            </a:endParaRPr>
          </a:p>
          <a:p>
            <a:pPr marL="70485" indent="-57785">
              <a:lnSpc>
                <a:spcPct val="100000"/>
              </a:lnSpc>
              <a:spcBef>
                <a:spcPts val="10"/>
              </a:spcBef>
              <a:buChar char="•"/>
              <a:tabLst>
                <a:tab pos="70485" algn="l"/>
              </a:tabLst>
            </a:pP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Any</a:t>
            </a:r>
            <a:r>
              <a:rPr sz="9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software</a:t>
            </a:r>
            <a:r>
              <a:rPr sz="9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Arial MT"/>
                <a:cs typeface="Arial MT"/>
              </a:rPr>
              <a:t>platform</a:t>
            </a:r>
            <a:endParaRPr sz="900">
              <a:latin typeface="Arial MT"/>
              <a:cs typeface="Arial MT"/>
            </a:endParaRPr>
          </a:p>
          <a:p>
            <a:pPr marL="70485" marR="117475" indent="-58419">
              <a:lnSpc>
                <a:spcPct val="86100"/>
              </a:lnSpc>
              <a:spcBef>
                <a:spcPts val="150"/>
              </a:spcBef>
              <a:buChar char="•"/>
              <a:tabLst>
                <a:tab pos="70485" algn="l"/>
              </a:tabLst>
            </a:pP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Access</a:t>
            </a:r>
            <a:r>
              <a:rPr sz="9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from</a:t>
            </a:r>
            <a:r>
              <a:rPr sz="900" spc="-25" dirty="0">
                <a:solidFill>
                  <a:srgbClr val="FFFFFF"/>
                </a:solidFill>
                <a:latin typeface="Arial MT"/>
                <a:cs typeface="Arial MT"/>
              </a:rPr>
              <a:t> any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machine</a:t>
            </a:r>
            <a:r>
              <a:rPr sz="9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Arial MT"/>
                <a:cs typeface="Arial MT"/>
              </a:rPr>
              <a:t>connected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9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9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Arial MT"/>
                <a:cs typeface="Arial MT"/>
              </a:rPr>
              <a:t>Internet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666488" y="1778507"/>
            <a:ext cx="2761615" cy="3851275"/>
            <a:chOff x="4666488" y="1778507"/>
            <a:chExt cx="2761615" cy="3851275"/>
          </a:xfrm>
        </p:grpSpPr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666488" y="2004059"/>
              <a:ext cx="1341119" cy="134112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003036" y="1778507"/>
              <a:ext cx="1424939" cy="3851148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6144895" y="3350133"/>
            <a:ext cx="1145540" cy="1315085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2700" marR="243204">
              <a:lnSpc>
                <a:spcPct val="86400"/>
              </a:lnSpc>
              <a:spcBef>
                <a:spcPts val="295"/>
              </a:spcBef>
            </a:pP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Resource 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Utilization</a:t>
            </a:r>
            <a:r>
              <a:rPr sz="12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Arial MT"/>
                <a:cs typeface="Arial MT"/>
              </a:rPr>
              <a:t>is 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improved</a:t>
            </a:r>
            <a:endParaRPr sz="1200">
              <a:latin typeface="Arial MT"/>
              <a:cs typeface="Arial MT"/>
            </a:endParaRPr>
          </a:p>
          <a:p>
            <a:pPr marL="70485" marR="5080" indent="-58419">
              <a:lnSpc>
                <a:spcPct val="86100"/>
              </a:lnSpc>
              <a:spcBef>
                <a:spcPts val="495"/>
              </a:spcBef>
              <a:buChar char="•"/>
              <a:tabLst>
                <a:tab pos="70485" algn="l"/>
              </a:tabLst>
            </a:pP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Reduce</a:t>
            </a:r>
            <a:r>
              <a:rPr sz="9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20" dirty="0">
                <a:solidFill>
                  <a:srgbClr val="FFFFFF"/>
                </a:solidFill>
                <a:latin typeface="Arial MT"/>
                <a:cs typeface="Arial MT"/>
              </a:rPr>
              <a:t>Idle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resources</a:t>
            </a:r>
            <a:r>
              <a:rPr sz="9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by</a:t>
            </a:r>
            <a:r>
              <a:rPr sz="900" spc="-10" dirty="0">
                <a:solidFill>
                  <a:srgbClr val="FFFFFF"/>
                </a:solidFill>
                <a:latin typeface="Arial MT"/>
                <a:cs typeface="Arial MT"/>
              </a:rPr>
              <a:t> sharing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900" spc="-10" dirty="0">
                <a:solidFill>
                  <a:srgbClr val="FFFFFF"/>
                </a:solidFill>
                <a:latin typeface="Arial MT"/>
                <a:cs typeface="Arial MT"/>
              </a:rPr>
              <a:t> conolidation</a:t>
            </a:r>
            <a:endParaRPr sz="900">
              <a:latin typeface="Arial MT"/>
              <a:cs typeface="Arial MT"/>
            </a:endParaRPr>
          </a:p>
          <a:p>
            <a:pPr marL="70485" marR="107950" indent="-58419" algn="just">
              <a:lnSpc>
                <a:spcPct val="86100"/>
              </a:lnSpc>
              <a:spcBef>
                <a:spcPts val="155"/>
              </a:spcBef>
              <a:buChar char="•"/>
              <a:tabLst>
                <a:tab pos="70485" algn="l"/>
              </a:tabLst>
            </a:pP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Better</a:t>
            </a:r>
            <a:r>
              <a:rPr sz="9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utilization</a:t>
            </a:r>
            <a:r>
              <a:rPr sz="9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25" dirty="0">
                <a:solidFill>
                  <a:srgbClr val="FFFFFF"/>
                </a:solidFill>
                <a:latin typeface="Arial MT"/>
                <a:cs typeface="Arial MT"/>
              </a:rPr>
              <a:t>of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CPU</a:t>
            </a:r>
            <a:r>
              <a:rPr sz="9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/</a:t>
            </a:r>
            <a:r>
              <a:rPr sz="9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Storage</a:t>
            </a:r>
            <a:r>
              <a:rPr sz="9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25" dirty="0">
                <a:solidFill>
                  <a:srgbClr val="FFFFFF"/>
                </a:solidFill>
                <a:latin typeface="Arial MT"/>
                <a:cs typeface="Arial MT"/>
              </a:rPr>
              <a:t>and </a:t>
            </a:r>
            <a:r>
              <a:rPr sz="900" spc="-10" dirty="0">
                <a:solidFill>
                  <a:srgbClr val="FFFFFF"/>
                </a:solidFill>
                <a:latin typeface="Arial MT"/>
                <a:cs typeface="Arial MT"/>
              </a:rPr>
              <a:t>Bandwidth.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045708" y="1778507"/>
            <a:ext cx="2761615" cy="3851275"/>
            <a:chOff x="6045708" y="1778507"/>
            <a:chExt cx="2761615" cy="3851275"/>
          </a:xfrm>
        </p:grpSpPr>
        <p:pic>
          <p:nvPicPr>
            <p:cNvPr id="22" name="object 2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045708" y="2004059"/>
              <a:ext cx="1341119" cy="134112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380732" y="1778507"/>
              <a:ext cx="1426464" cy="3851148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7526528" y="3350133"/>
            <a:ext cx="1140460" cy="1059180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2700" marR="406400">
              <a:lnSpc>
                <a:spcPct val="86400"/>
              </a:lnSpc>
              <a:spcBef>
                <a:spcPts val="295"/>
              </a:spcBef>
            </a:pP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Carbon Footprint 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decreased</a:t>
            </a:r>
            <a:endParaRPr sz="1200">
              <a:latin typeface="Arial MT"/>
              <a:cs typeface="Arial MT"/>
            </a:endParaRPr>
          </a:p>
          <a:p>
            <a:pPr marL="70485" marR="5080" indent="-58419">
              <a:lnSpc>
                <a:spcPct val="85900"/>
              </a:lnSpc>
              <a:spcBef>
                <a:spcPts val="500"/>
              </a:spcBef>
              <a:buChar char="•"/>
              <a:tabLst>
                <a:tab pos="70485" algn="l"/>
              </a:tabLst>
            </a:pP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Sharing</a:t>
            </a:r>
            <a:r>
              <a:rPr sz="9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9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Arial MT"/>
                <a:cs typeface="Arial MT"/>
              </a:rPr>
              <a:t>resources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means</a:t>
            </a:r>
            <a:r>
              <a:rPr sz="9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less</a:t>
            </a:r>
            <a:r>
              <a:rPr sz="9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Arial MT"/>
                <a:cs typeface="Arial MT"/>
              </a:rPr>
              <a:t>servers,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less</a:t>
            </a:r>
            <a:r>
              <a:rPr sz="9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power</a:t>
            </a:r>
            <a:r>
              <a:rPr sz="9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Arial MT"/>
                <a:cs typeface="Arial MT"/>
              </a:rPr>
              <a:t> less </a:t>
            </a:r>
            <a:r>
              <a:rPr sz="900" spc="-10" dirty="0">
                <a:solidFill>
                  <a:srgbClr val="FFFFFF"/>
                </a:solidFill>
                <a:latin typeface="Arial MT"/>
                <a:cs typeface="Arial MT"/>
              </a:rPr>
              <a:t>emissions.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818388" y="2004060"/>
            <a:ext cx="7946390" cy="3436620"/>
            <a:chOff x="818388" y="2004060"/>
            <a:chExt cx="7946390" cy="3436620"/>
          </a:xfrm>
        </p:grpSpPr>
        <p:pic>
          <p:nvPicPr>
            <p:cNvPr id="26" name="object 2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423404" y="2004060"/>
              <a:ext cx="1341120" cy="134112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18388" y="4788408"/>
              <a:ext cx="7659623" cy="65227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054350" marR="5080" indent="-2442210">
              <a:lnSpc>
                <a:spcPct val="100000"/>
              </a:lnSpc>
              <a:spcBef>
                <a:spcPts val="105"/>
              </a:spcBef>
            </a:pPr>
            <a:r>
              <a:rPr dirty="0"/>
              <a:t>Applications</a:t>
            </a:r>
            <a:r>
              <a:rPr spc="-60" dirty="0"/>
              <a:t> </a:t>
            </a:r>
            <a:r>
              <a:rPr dirty="0"/>
              <a:t>Enabled</a:t>
            </a:r>
            <a:r>
              <a:rPr spc="-20" dirty="0"/>
              <a:t> </a:t>
            </a:r>
            <a:r>
              <a:rPr dirty="0"/>
              <a:t>by</a:t>
            </a:r>
            <a:r>
              <a:rPr spc="-5" dirty="0"/>
              <a:t> </a:t>
            </a:r>
            <a:r>
              <a:rPr spc="-10" dirty="0"/>
              <a:t>Cloud Computing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616328" y="1973198"/>
            <a:ext cx="2778760" cy="1765300"/>
            <a:chOff x="1616328" y="1973198"/>
            <a:chExt cx="2778760" cy="17653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29028" y="1985898"/>
              <a:ext cx="2053082" cy="173964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629028" y="1985898"/>
              <a:ext cx="2053589" cy="1739900"/>
            </a:xfrm>
            <a:custGeom>
              <a:avLst/>
              <a:gdLst/>
              <a:ahLst/>
              <a:cxnLst/>
              <a:rect l="l" t="t" r="r" b="b"/>
              <a:pathLst>
                <a:path w="2053589" h="1739900">
                  <a:moveTo>
                    <a:pt x="0" y="1739645"/>
                  </a:moveTo>
                  <a:lnTo>
                    <a:pt x="2053082" y="1739645"/>
                  </a:lnTo>
                  <a:lnTo>
                    <a:pt x="2053082" y="0"/>
                  </a:lnTo>
                  <a:lnTo>
                    <a:pt x="0" y="0"/>
                  </a:lnTo>
                  <a:lnTo>
                    <a:pt x="0" y="1739645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408806" y="2229357"/>
              <a:ext cx="974090" cy="1013460"/>
            </a:xfrm>
            <a:custGeom>
              <a:avLst/>
              <a:gdLst/>
              <a:ahLst/>
              <a:cxnLst/>
              <a:rect l="l" t="t" r="r" b="b"/>
              <a:pathLst>
                <a:path w="974089" h="1013460">
                  <a:moveTo>
                    <a:pt x="876172" y="0"/>
                  </a:moveTo>
                  <a:lnTo>
                    <a:pt x="97281" y="0"/>
                  </a:lnTo>
                  <a:lnTo>
                    <a:pt x="59418" y="7647"/>
                  </a:lnTo>
                  <a:lnTo>
                    <a:pt x="28495" y="28511"/>
                  </a:lnTo>
                  <a:lnTo>
                    <a:pt x="7645" y="59471"/>
                  </a:lnTo>
                  <a:lnTo>
                    <a:pt x="0" y="97408"/>
                  </a:lnTo>
                  <a:lnTo>
                    <a:pt x="0" y="915924"/>
                  </a:lnTo>
                  <a:lnTo>
                    <a:pt x="7645" y="953807"/>
                  </a:lnTo>
                  <a:lnTo>
                    <a:pt x="28495" y="984773"/>
                  </a:lnTo>
                  <a:lnTo>
                    <a:pt x="59418" y="1005667"/>
                  </a:lnTo>
                  <a:lnTo>
                    <a:pt x="97281" y="1013332"/>
                  </a:lnTo>
                  <a:lnTo>
                    <a:pt x="876172" y="1013332"/>
                  </a:lnTo>
                  <a:lnTo>
                    <a:pt x="914056" y="1005667"/>
                  </a:lnTo>
                  <a:lnTo>
                    <a:pt x="945022" y="984773"/>
                  </a:lnTo>
                  <a:lnTo>
                    <a:pt x="965916" y="953807"/>
                  </a:lnTo>
                  <a:lnTo>
                    <a:pt x="973581" y="915924"/>
                  </a:lnTo>
                  <a:lnTo>
                    <a:pt x="973581" y="97408"/>
                  </a:lnTo>
                  <a:lnTo>
                    <a:pt x="965916" y="59471"/>
                  </a:lnTo>
                  <a:lnTo>
                    <a:pt x="945022" y="28511"/>
                  </a:lnTo>
                  <a:lnTo>
                    <a:pt x="914056" y="7647"/>
                  </a:lnTo>
                  <a:lnTo>
                    <a:pt x="876172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408806" y="2229357"/>
              <a:ext cx="974090" cy="1013460"/>
            </a:xfrm>
            <a:custGeom>
              <a:avLst/>
              <a:gdLst/>
              <a:ahLst/>
              <a:cxnLst/>
              <a:rect l="l" t="t" r="r" b="b"/>
              <a:pathLst>
                <a:path w="974089" h="1013460">
                  <a:moveTo>
                    <a:pt x="0" y="97408"/>
                  </a:moveTo>
                  <a:lnTo>
                    <a:pt x="7645" y="59471"/>
                  </a:lnTo>
                  <a:lnTo>
                    <a:pt x="28495" y="28511"/>
                  </a:lnTo>
                  <a:lnTo>
                    <a:pt x="59418" y="7647"/>
                  </a:lnTo>
                  <a:lnTo>
                    <a:pt x="97281" y="0"/>
                  </a:lnTo>
                  <a:lnTo>
                    <a:pt x="876172" y="0"/>
                  </a:lnTo>
                  <a:lnTo>
                    <a:pt x="914056" y="7647"/>
                  </a:lnTo>
                  <a:lnTo>
                    <a:pt x="945022" y="28511"/>
                  </a:lnTo>
                  <a:lnTo>
                    <a:pt x="965916" y="59471"/>
                  </a:lnTo>
                  <a:lnTo>
                    <a:pt x="973581" y="97408"/>
                  </a:lnTo>
                  <a:lnTo>
                    <a:pt x="973581" y="915924"/>
                  </a:lnTo>
                  <a:lnTo>
                    <a:pt x="965916" y="953807"/>
                  </a:lnTo>
                  <a:lnTo>
                    <a:pt x="945022" y="984773"/>
                  </a:lnTo>
                  <a:lnTo>
                    <a:pt x="914056" y="1005667"/>
                  </a:lnTo>
                  <a:lnTo>
                    <a:pt x="876172" y="1013332"/>
                  </a:lnTo>
                  <a:lnTo>
                    <a:pt x="97281" y="1013332"/>
                  </a:lnTo>
                  <a:lnTo>
                    <a:pt x="59418" y="1005667"/>
                  </a:lnTo>
                  <a:lnTo>
                    <a:pt x="28495" y="984773"/>
                  </a:lnTo>
                  <a:lnTo>
                    <a:pt x="7645" y="953807"/>
                  </a:lnTo>
                  <a:lnTo>
                    <a:pt x="0" y="915924"/>
                  </a:lnTo>
                  <a:lnTo>
                    <a:pt x="0" y="97408"/>
                  </a:lnTo>
                  <a:close/>
                </a:path>
              </a:pathLst>
            </a:custGeom>
            <a:ln w="254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463290" y="2571114"/>
            <a:ext cx="672465" cy="308610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700" marR="5080">
              <a:lnSpc>
                <a:spcPts val="1030"/>
              </a:lnSpc>
              <a:spcBef>
                <a:spcPts val="270"/>
              </a:spcBef>
            </a:pPr>
            <a:r>
              <a:rPr sz="1000" spc="-10" dirty="0">
                <a:latin typeface="Arial MT"/>
                <a:cs typeface="Arial MT"/>
              </a:rPr>
              <a:t>Startup Businesses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629029" y="1654213"/>
            <a:ext cx="2053589" cy="299720"/>
          </a:xfrm>
          <a:custGeom>
            <a:avLst/>
            <a:gdLst/>
            <a:ahLst/>
            <a:cxnLst/>
            <a:rect l="l" t="t" r="r" b="b"/>
            <a:pathLst>
              <a:path w="2053589" h="299719">
                <a:moveTo>
                  <a:pt x="0" y="299554"/>
                </a:moveTo>
                <a:lnTo>
                  <a:pt x="2053082" y="299554"/>
                </a:lnTo>
                <a:lnTo>
                  <a:pt x="2053082" y="0"/>
                </a:lnTo>
                <a:lnTo>
                  <a:pt x="0" y="0"/>
                </a:lnTo>
                <a:lnTo>
                  <a:pt x="0" y="299554"/>
                </a:lnTo>
                <a:close/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629029" y="1654213"/>
            <a:ext cx="2053589" cy="299720"/>
          </a:xfrm>
          <a:prstGeom prst="rect">
            <a:avLst/>
          </a:prstGeom>
          <a:solidFill>
            <a:srgbClr val="4F81BC"/>
          </a:solidFill>
        </p:spPr>
        <p:txBody>
          <a:bodyPr vert="horz" wrap="square" lIns="0" tIns="52069" rIns="0" bIns="0" rtlCol="0">
            <a:spAutoFit/>
          </a:bodyPr>
          <a:lstStyle/>
          <a:p>
            <a:pPr marL="241935">
              <a:lnSpc>
                <a:spcPct val="100000"/>
              </a:lnSpc>
              <a:spcBef>
                <a:spcPts val="409"/>
              </a:spcBef>
            </a:pPr>
            <a:r>
              <a:rPr sz="1100" dirty="0">
                <a:solidFill>
                  <a:srgbClr val="FFFFFF"/>
                </a:solidFill>
                <a:latin typeface="Arial MT"/>
                <a:cs typeface="Arial MT"/>
              </a:rPr>
              <a:t>High</a:t>
            </a:r>
            <a:r>
              <a:rPr sz="11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FFFFF"/>
                </a:solidFill>
                <a:latin typeface="Arial MT"/>
                <a:cs typeface="Arial MT"/>
              </a:rPr>
              <a:t>Growth</a:t>
            </a:r>
            <a:r>
              <a:rPr sz="11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Arial MT"/>
                <a:cs typeface="Arial MT"/>
              </a:rPr>
              <a:t>Applications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748910" y="1973198"/>
            <a:ext cx="2778760" cy="1765300"/>
            <a:chOff x="4748910" y="1973198"/>
            <a:chExt cx="2778760" cy="1765300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61610" y="1985898"/>
              <a:ext cx="2053082" cy="173964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761610" y="1985898"/>
              <a:ext cx="2053589" cy="1739900"/>
            </a:xfrm>
            <a:custGeom>
              <a:avLst/>
              <a:gdLst/>
              <a:ahLst/>
              <a:cxnLst/>
              <a:rect l="l" t="t" r="r" b="b"/>
              <a:pathLst>
                <a:path w="2053590" h="1739900">
                  <a:moveTo>
                    <a:pt x="0" y="1739645"/>
                  </a:moveTo>
                  <a:lnTo>
                    <a:pt x="2053082" y="1739645"/>
                  </a:lnTo>
                  <a:lnTo>
                    <a:pt x="2053082" y="0"/>
                  </a:lnTo>
                  <a:lnTo>
                    <a:pt x="0" y="0"/>
                  </a:lnTo>
                  <a:lnTo>
                    <a:pt x="0" y="1739645"/>
                  </a:lnTo>
                  <a:close/>
                </a:path>
              </a:pathLst>
            </a:custGeom>
            <a:ln w="253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541388" y="2229357"/>
              <a:ext cx="974090" cy="1013460"/>
            </a:xfrm>
            <a:custGeom>
              <a:avLst/>
              <a:gdLst/>
              <a:ahLst/>
              <a:cxnLst/>
              <a:rect l="l" t="t" r="r" b="b"/>
              <a:pathLst>
                <a:path w="974090" h="1013460">
                  <a:moveTo>
                    <a:pt x="876172" y="0"/>
                  </a:moveTo>
                  <a:lnTo>
                    <a:pt x="97281" y="0"/>
                  </a:lnTo>
                  <a:lnTo>
                    <a:pt x="59418" y="7647"/>
                  </a:lnTo>
                  <a:lnTo>
                    <a:pt x="28495" y="28511"/>
                  </a:lnTo>
                  <a:lnTo>
                    <a:pt x="7645" y="59471"/>
                  </a:lnTo>
                  <a:lnTo>
                    <a:pt x="0" y="97408"/>
                  </a:lnTo>
                  <a:lnTo>
                    <a:pt x="0" y="915924"/>
                  </a:lnTo>
                  <a:lnTo>
                    <a:pt x="7645" y="953807"/>
                  </a:lnTo>
                  <a:lnTo>
                    <a:pt x="28495" y="984773"/>
                  </a:lnTo>
                  <a:lnTo>
                    <a:pt x="59418" y="1005667"/>
                  </a:lnTo>
                  <a:lnTo>
                    <a:pt x="97281" y="1013332"/>
                  </a:lnTo>
                  <a:lnTo>
                    <a:pt x="876172" y="1013332"/>
                  </a:lnTo>
                  <a:lnTo>
                    <a:pt x="914056" y="1005667"/>
                  </a:lnTo>
                  <a:lnTo>
                    <a:pt x="945022" y="984773"/>
                  </a:lnTo>
                  <a:lnTo>
                    <a:pt x="965916" y="953807"/>
                  </a:lnTo>
                  <a:lnTo>
                    <a:pt x="973581" y="915924"/>
                  </a:lnTo>
                  <a:lnTo>
                    <a:pt x="973581" y="97408"/>
                  </a:lnTo>
                  <a:lnTo>
                    <a:pt x="965916" y="59471"/>
                  </a:lnTo>
                  <a:lnTo>
                    <a:pt x="945022" y="28511"/>
                  </a:lnTo>
                  <a:lnTo>
                    <a:pt x="914056" y="7647"/>
                  </a:lnTo>
                  <a:lnTo>
                    <a:pt x="876172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541388" y="2229357"/>
              <a:ext cx="974090" cy="1013460"/>
            </a:xfrm>
            <a:custGeom>
              <a:avLst/>
              <a:gdLst/>
              <a:ahLst/>
              <a:cxnLst/>
              <a:rect l="l" t="t" r="r" b="b"/>
              <a:pathLst>
                <a:path w="974090" h="1013460">
                  <a:moveTo>
                    <a:pt x="0" y="97408"/>
                  </a:moveTo>
                  <a:lnTo>
                    <a:pt x="7645" y="59471"/>
                  </a:lnTo>
                  <a:lnTo>
                    <a:pt x="28495" y="28511"/>
                  </a:lnTo>
                  <a:lnTo>
                    <a:pt x="59418" y="7647"/>
                  </a:lnTo>
                  <a:lnTo>
                    <a:pt x="97281" y="0"/>
                  </a:lnTo>
                  <a:lnTo>
                    <a:pt x="876172" y="0"/>
                  </a:lnTo>
                  <a:lnTo>
                    <a:pt x="914056" y="7647"/>
                  </a:lnTo>
                  <a:lnTo>
                    <a:pt x="945022" y="28511"/>
                  </a:lnTo>
                  <a:lnTo>
                    <a:pt x="965916" y="59471"/>
                  </a:lnTo>
                  <a:lnTo>
                    <a:pt x="973581" y="97408"/>
                  </a:lnTo>
                  <a:lnTo>
                    <a:pt x="973581" y="915924"/>
                  </a:lnTo>
                  <a:lnTo>
                    <a:pt x="965916" y="953807"/>
                  </a:lnTo>
                  <a:lnTo>
                    <a:pt x="945022" y="984773"/>
                  </a:lnTo>
                  <a:lnTo>
                    <a:pt x="914056" y="1005667"/>
                  </a:lnTo>
                  <a:lnTo>
                    <a:pt x="876172" y="1013332"/>
                  </a:lnTo>
                  <a:lnTo>
                    <a:pt x="97281" y="1013332"/>
                  </a:lnTo>
                  <a:lnTo>
                    <a:pt x="59418" y="1005667"/>
                  </a:lnTo>
                  <a:lnTo>
                    <a:pt x="28495" y="984773"/>
                  </a:lnTo>
                  <a:lnTo>
                    <a:pt x="7645" y="953807"/>
                  </a:lnTo>
                  <a:lnTo>
                    <a:pt x="0" y="915924"/>
                  </a:lnTo>
                  <a:lnTo>
                    <a:pt x="0" y="97408"/>
                  </a:lnTo>
                  <a:close/>
                </a:path>
              </a:pathLst>
            </a:custGeom>
            <a:ln w="254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6608953" y="2571114"/>
            <a:ext cx="539750" cy="308610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R="5080">
              <a:lnSpc>
                <a:spcPts val="1030"/>
              </a:lnSpc>
              <a:spcBef>
                <a:spcPts val="270"/>
              </a:spcBef>
            </a:pPr>
            <a:r>
              <a:rPr sz="1000" spc="-10" dirty="0">
                <a:latin typeface="Arial MT"/>
                <a:cs typeface="Arial MT"/>
              </a:rPr>
              <a:t>Seasonal </a:t>
            </a:r>
            <a:r>
              <a:rPr sz="1000" spc="-25" dirty="0">
                <a:latin typeface="Arial MT"/>
                <a:cs typeface="Arial MT"/>
              </a:rPr>
              <a:t>Bus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814091" y="2702179"/>
            <a:ext cx="454659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Arial MT"/>
                <a:cs typeface="Arial MT"/>
              </a:rPr>
              <a:t>inesses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761610" y="1654213"/>
            <a:ext cx="2053589" cy="299720"/>
          </a:xfrm>
          <a:custGeom>
            <a:avLst/>
            <a:gdLst/>
            <a:ahLst/>
            <a:cxnLst/>
            <a:rect l="l" t="t" r="r" b="b"/>
            <a:pathLst>
              <a:path w="2053590" h="299719">
                <a:moveTo>
                  <a:pt x="0" y="299554"/>
                </a:moveTo>
                <a:lnTo>
                  <a:pt x="2053082" y="299554"/>
                </a:lnTo>
                <a:lnTo>
                  <a:pt x="2053082" y="0"/>
                </a:lnTo>
                <a:lnTo>
                  <a:pt x="0" y="0"/>
                </a:lnTo>
                <a:lnTo>
                  <a:pt x="0" y="299554"/>
                </a:lnTo>
                <a:close/>
              </a:path>
            </a:pathLst>
          </a:custGeom>
          <a:ln w="2539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761610" y="1654213"/>
            <a:ext cx="2053589" cy="299720"/>
          </a:xfrm>
          <a:prstGeom prst="rect">
            <a:avLst/>
          </a:prstGeom>
          <a:solidFill>
            <a:srgbClr val="4F81BC"/>
          </a:solidFill>
        </p:spPr>
        <p:txBody>
          <a:bodyPr vert="horz" wrap="square" lIns="0" tIns="52069" rIns="0" bIns="0" rtlCol="0">
            <a:spAutoFit/>
          </a:bodyPr>
          <a:lstStyle/>
          <a:p>
            <a:pPr marL="64135">
              <a:lnSpc>
                <a:spcPct val="100000"/>
              </a:lnSpc>
              <a:spcBef>
                <a:spcPts val="409"/>
              </a:spcBef>
            </a:pPr>
            <a:r>
              <a:rPr sz="1100" dirty="0">
                <a:solidFill>
                  <a:srgbClr val="FFFFFF"/>
                </a:solidFill>
                <a:latin typeface="Arial MT"/>
                <a:cs typeface="Arial MT"/>
              </a:rPr>
              <a:t>Aperiodic</a:t>
            </a:r>
            <a:r>
              <a:rPr sz="11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FFFFF"/>
                </a:solidFill>
                <a:latin typeface="Arial MT"/>
                <a:cs typeface="Arial MT"/>
              </a:rPr>
              <a:t>Bursting</a:t>
            </a:r>
            <a:r>
              <a:rPr sz="11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Arial MT"/>
                <a:cs typeface="Arial MT"/>
              </a:rPr>
              <a:t>Applications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616328" y="4319778"/>
            <a:ext cx="2778760" cy="1765300"/>
            <a:chOff x="1616328" y="4319778"/>
            <a:chExt cx="2778760" cy="1765300"/>
          </a:xfrm>
        </p:grpSpPr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29028" y="4332478"/>
              <a:ext cx="2053082" cy="1739645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1629028" y="4332478"/>
              <a:ext cx="2053589" cy="1739900"/>
            </a:xfrm>
            <a:custGeom>
              <a:avLst/>
              <a:gdLst/>
              <a:ahLst/>
              <a:cxnLst/>
              <a:rect l="l" t="t" r="r" b="b"/>
              <a:pathLst>
                <a:path w="2053589" h="1739900">
                  <a:moveTo>
                    <a:pt x="0" y="1739646"/>
                  </a:moveTo>
                  <a:lnTo>
                    <a:pt x="2053082" y="1739646"/>
                  </a:lnTo>
                  <a:lnTo>
                    <a:pt x="2053082" y="0"/>
                  </a:lnTo>
                  <a:lnTo>
                    <a:pt x="0" y="0"/>
                  </a:lnTo>
                  <a:lnTo>
                    <a:pt x="0" y="1739646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408806" y="4575937"/>
              <a:ext cx="974090" cy="1013460"/>
            </a:xfrm>
            <a:custGeom>
              <a:avLst/>
              <a:gdLst/>
              <a:ahLst/>
              <a:cxnLst/>
              <a:rect l="l" t="t" r="r" b="b"/>
              <a:pathLst>
                <a:path w="974089" h="1013460">
                  <a:moveTo>
                    <a:pt x="876172" y="0"/>
                  </a:moveTo>
                  <a:lnTo>
                    <a:pt x="97281" y="0"/>
                  </a:lnTo>
                  <a:lnTo>
                    <a:pt x="59418" y="7665"/>
                  </a:lnTo>
                  <a:lnTo>
                    <a:pt x="28495" y="28559"/>
                  </a:lnTo>
                  <a:lnTo>
                    <a:pt x="7645" y="59525"/>
                  </a:lnTo>
                  <a:lnTo>
                    <a:pt x="0" y="97408"/>
                  </a:lnTo>
                  <a:lnTo>
                    <a:pt x="0" y="915924"/>
                  </a:lnTo>
                  <a:lnTo>
                    <a:pt x="7645" y="953859"/>
                  </a:lnTo>
                  <a:lnTo>
                    <a:pt x="28495" y="984815"/>
                  </a:lnTo>
                  <a:lnTo>
                    <a:pt x="59418" y="1005674"/>
                  </a:lnTo>
                  <a:lnTo>
                    <a:pt x="97281" y="1013320"/>
                  </a:lnTo>
                  <a:lnTo>
                    <a:pt x="876172" y="1013320"/>
                  </a:lnTo>
                  <a:lnTo>
                    <a:pt x="914056" y="1005674"/>
                  </a:lnTo>
                  <a:lnTo>
                    <a:pt x="945022" y="984815"/>
                  </a:lnTo>
                  <a:lnTo>
                    <a:pt x="965916" y="953859"/>
                  </a:lnTo>
                  <a:lnTo>
                    <a:pt x="973581" y="915924"/>
                  </a:lnTo>
                  <a:lnTo>
                    <a:pt x="973581" y="97408"/>
                  </a:lnTo>
                  <a:lnTo>
                    <a:pt x="965916" y="59525"/>
                  </a:lnTo>
                  <a:lnTo>
                    <a:pt x="945022" y="28559"/>
                  </a:lnTo>
                  <a:lnTo>
                    <a:pt x="914056" y="7665"/>
                  </a:lnTo>
                  <a:lnTo>
                    <a:pt x="876172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408806" y="4575937"/>
              <a:ext cx="974090" cy="1013460"/>
            </a:xfrm>
            <a:custGeom>
              <a:avLst/>
              <a:gdLst/>
              <a:ahLst/>
              <a:cxnLst/>
              <a:rect l="l" t="t" r="r" b="b"/>
              <a:pathLst>
                <a:path w="974089" h="1013460">
                  <a:moveTo>
                    <a:pt x="0" y="97408"/>
                  </a:moveTo>
                  <a:lnTo>
                    <a:pt x="7645" y="59525"/>
                  </a:lnTo>
                  <a:lnTo>
                    <a:pt x="28495" y="28559"/>
                  </a:lnTo>
                  <a:lnTo>
                    <a:pt x="59418" y="7665"/>
                  </a:lnTo>
                  <a:lnTo>
                    <a:pt x="97281" y="0"/>
                  </a:lnTo>
                  <a:lnTo>
                    <a:pt x="876172" y="0"/>
                  </a:lnTo>
                  <a:lnTo>
                    <a:pt x="914056" y="7665"/>
                  </a:lnTo>
                  <a:lnTo>
                    <a:pt x="945022" y="28559"/>
                  </a:lnTo>
                  <a:lnTo>
                    <a:pt x="965916" y="59525"/>
                  </a:lnTo>
                  <a:lnTo>
                    <a:pt x="973581" y="97408"/>
                  </a:lnTo>
                  <a:lnTo>
                    <a:pt x="973581" y="915924"/>
                  </a:lnTo>
                  <a:lnTo>
                    <a:pt x="965916" y="953859"/>
                  </a:lnTo>
                  <a:lnTo>
                    <a:pt x="945022" y="984815"/>
                  </a:lnTo>
                  <a:lnTo>
                    <a:pt x="914056" y="1005674"/>
                  </a:lnTo>
                  <a:lnTo>
                    <a:pt x="876172" y="1013320"/>
                  </a:lnTo>
                  <a:lnTo>
                    <a:pt x="97281" y="1013320"/>
                  </a:lnTo>
                  <a:lnTo>
                    <a:pt x="59418" y="1005674"/>
                  </a:lnTo>
                  <a:lnTo>
                    <a:pt x="28495" y="984815"/>
                  </a:lnTo>
                  <a:lnTo>
                    <a:pt x="7645" y="953859"/>
                  </a:lnTo>
                  <a:lnTo>
                    <a:pt x="0" y="915924"/>
                  </a:lnTo>
                  <a:lnTo>
                    <a:pt x="0" y="97408"/>
                  </a:lnTo>
                  <a:close/>
                </a:path>
              </a:pathLst>
            </a:custGeom>
            <a:ln w="254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3463290" y="4918328"/>
            <a:ext cx="638810" cy="308610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700" marR="5080">
              <a:lnSpc>
                <a:spcPts val="1030"/>
              </a:lnSpc>
              <a:spcBef>
                <a:spcPts val="270"/>
              </a:spcBef>
            </a:pPr>
            <a:r>
              <a:rPr sz="1000" spc="-10" dirty="0">
                <a:latin typeface="Arial MT"/>
                <a:cs typeface="Arial MT"/>
              </a:rPr>
              <a:t>Research Computing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629029" y="4000792"/>
            <a:ext cx="2053589" cy="299720"/>
          </a:xfrm>
          <a:custGeom>
            <a:avLst/>
            <a:gdLst/>
            <a:ahLst/>
            <a:cxnLst/>
            <a:rect l="l" t="t" r="r" b="b"/>
            <a:pathLst>
              <a:path w="2053589" h="299720">
                <a:moveTo>
                  <a:pt x="0" y="299554"/>
                </a:moveTo>
                <a:lnTo>
                  <a:pt x="2053082" y="299554"/>
                </a:lnTo>
                <a:lnTo>
                  <a:pt x="2053082" y="0"/>
                </a:lnTo>
                <a:lnTo>
                  <a:pt x="0" y="0"/>
                </a:lnTo>
                <a:lnTo>
                  <a:pt x="0" y="299554"/>
                </a:lnTo>
                <a:close/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1629029" y="4000792"/>
            <a:ext cx="2053589" cy="299720"/>
          </a:xfrm>
          <a:prstGeom prst="rect">
            <a:avLst/>
          </a:prstGeom>
          <a:solidFill>
            <a:srgbClr val="4F81BC"/>
          </a:solidFill>
        </p:spPr>
        <p:txBody>
          <a:bodyPr vert="horz" wrap="square" lIns="0" tIns="53340" rIns="0" bIns="0" rtlCol="0">
            <a:spAutoFit/>
          </a:bodyPr>
          <a:lstStyle/>
          <a:p>
            <a:pPr marL="421640">
              <a:lnSpc>
                <a:spcPct val="100000"/>
              </a:lnSpc>
              <a:spcBef>
                <a:spcPts val="420"/>
              </a:spcBef>
            </a:pPr>
            <a:r>
              <a:rPr sz="1100" spc="-10" dirty="0">
                <a:solidFill>
                  <a:srgbClr val="FFFFFF"/>
                </a:solidFill>
                <a:latin typeface="Arial MT"/>
                <a:cs typeface="Arial MT"/>
              </a:rPr>
              <a:t>On-</a:t>
            </a:r>
            <a:r>
              <a:rPr sz="1100" dirty="0">
                <a:solidFill>
                  <a:srgbClr val="FFFFFF"/>
                </a:solidFill>
                <a:latin typeface="Arial MT"/>
                <a:cs typeface="Arial MT"/>
              </a:rPr>
              <a:t>Off</a:t>
            </a:r>
            <a:r>
              <a:rPr sz="11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Arial MT"/>
                <a:cs typeface="Arial MT"/>
              </a:rPr>
              <a:t>Applications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4748910" y="4319778"/>
            <a:ext cx="2778760" cy="1765300"/>
            <a:chOff x="4748910" y="4319778"/>
            <a:chExt cx="2778760" cy="1765300"/>
          </a:xfrm>
        </p:grpSpPr>
        <p:pic>
          <p:nvPicPr>
            <p:cNvPr id="29" name="object 2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61610" y="4332478"/>
              <a:ext cx="2053082" cy="1739645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4761610" y="4332478"/>
              <a:ext cx="2053589" cy="1739900"/>
            </a:xfrm>
            <a:custGeom>
              <a:avLst/>
              <a:gdLst/>
              <a:ahLst/>
              <a:cxnLst/>
              <a:rect l="l" t="t" r="r" b="b"/>
              <a:pathLst>
                <a:path w="2053590" h="1739900">
                  <a:moveTo>
                    <a:pt x="0" y="1739646"/>
                  </a:moveTo>
                  <a:lnTo>
                    <a:pt x="2053082" y="1739646"/>
                  </a:lnTo>
                  <a:lnTo>
                    <a:pt x="2053082" y="0"/>
                  </a:lnTo>
                  <a:lnTo>
                    <a:pt x="0" y="0"/>
                  </a:lnTo>
                  <a:lnTo>
                    <a:pt x="0" y="1739646"/>
                  </a:lnTo>
                  <a:close/>
                </a:path>
              </a:pathLst>
            </a:custGeom>
            <a:ln w="253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541388" y="4575937"/>
              <a:ext cx="974090" cy="1013460"/>
            </a:xfrm>
            <a:custGeom>
              <a:avLst/>
              <a:gdLst/>
              <a:ahLst/>
              <a:cxnLst/>
              <a:rect l="l" t="t" r="r" b="b"/>
              <a:pathLst>
                <a:path w="974090" h="1013460">
                  <a:moveTo>
                    <a:pt x="876172" y="0"/>
                  </a:moveTo>
                  <a:lnTo>
                    <a:pt x="97281" y="0"/>
                  </a:lnTo>
                  <a:lnTo>
                    <a:pt x="59418" y="7665"/>
                  </a:lnTo>
                  <a:lnTo>
                    <a:pt x="28495" y="28559"/>
                  </a:lnTo>
                  <a:lnTo>
                    <a:pt x="7645" y="59525"/>
                  </a:lnTo>
                  <a:lnTo>
                    <a:pt x="0" y="97408"/>
                  </a:lnTo>
                  <a:lnTo>
                    <a:pt x="0" y="915924"/>
                  </a:lnTo>
                  <a:lnTo>
                    <a:pt x="7645" y="953859"/>
                  </a:lnTo>
                  <a:lnTo>
                    <a:pt x="28495" y="984815"/>
                  </a:lnTo>
                  <a:lnTo>
                    <a:pt x="59418" y="1005674"/>
                  </a:lnTo>
                  <a:lnTo>
                    <a:pt x="97281" y="1013320"/>
                  </a:lnTo>
                  <a:lnTo>
                    <a:pt x="876172" y="1013320"/>
                  </a:lnTo>
                  <a:lnTo>
                    <a:pt x="914056" y="1005674"/>
                  </a:lnTo>
                  <a:lnTo>
                    <a:pt x="945022" y="984815"/>
                  </a:lnTo>
                  <a:lnTo>
                    <a:pt x="965916" y="953859"/>
                  </a:lnTo>
                  <a:lnTo>
                    <a:pt x="973581" y="915924"/>
                  </a:lnTo>
                  <a:lnTo>
                    <a:pt x="973581" y="97408"/>
                  </a:lnTo>
                  <a:lnTo>
                    <a:pt x="965916" y="59525"/>
                  </a:lnTo>
                  <a:lnTo>
                    <a:pt x="945022" y="28559"/>
                  </a:lnTo>
                  <a:lnTo>
                    <a:pt x="914056" y="7665"/>
                  </a:lnTo>
                  <a:lnTo>
                    <a:pt x="876172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541388" y="4575937"/>
              <a:ext cx="974090" cy="1013460"/>
            </a:xfrm>
            <a:custGeom>
              <a:avLst/>
              <a:gdLst/>
              <a:ahLst/>
              <a:cxnLst/>
              <a:rect l="l" t="t" r="r" b="b"/>
              <a:pathLst>
                <a:path w="974090" h="1013460">
                  <a:moveTo>
                    <a:pt x="0" y="97408"/>
                  </a:moveTo>
                  <a:lnTo>
                    <a:pt x="7645" y="59525"/>
                  </a:lnTo>
                  <a:lnTo>
                    <a:pt x="28495" y="28559"/>
                  </a:lnTo>
                  <a:lnTo>
                    <a:pt x="59418" y="7665"/>
                  </a:lnTo>
                  <a:lnTo>
                    <a:pt x="97281" y="0"/>
                  </a:lnTo>
                  <a:lnTo>
                    <a:pt x="876172" y="0"/>
                  </a:lnTo>
                  <a:lnTo>
                    <a:pt x="914056" y="7665"/>
                  </a:lnTo>
                  <a:lnTo>
                    <a:pt x="945022" y="28559"/>
                  </a:lnTo>
                  <a:lnTo>
                    <a:pt x="965916" y="59525"/>
                  </a:lnTo>
                  <a:lnTo>
                    <a:pt x="973581" y="97408"/>
                  </a:lnTo>
                  <a:lnTo>
                    <a:pt x="973581" y="915924"/>
                  </a:lnTo>
                  <a:lnTo>
                    <a:pt x="965916" y="953859"/>
                  </a:lnTo>
                  <a:lnTo>
                    <a:pt x="945022" y="984815"/>
                  </a:lnTo>
                  <a:lnTo>
                    <a:pt x="914056" y="1005674"/>
                  </a:lnTo>
                  <a:lnTo>
                    <a:pt x="876172" y="1013320"/>
                  </a:lnTo>
                  <a:lnTo>
                    <a:pt x="97281" y="1013320"/>
                  </a:lnTo>
                  <a:lnTo>
                    <a:pt x="59418" y="1005674"/>
                  </a:lnTo>
                  <a:lnTo>
                    <a:pt x="28495" y="984815"/>
                  </a:lnTo>
                  <a:lnTo>
                    <a:pt x="7645" y="953859"/>
                  </a:lnTo>
                  <a:lnTo>
                    <a:pt x="0" y="915924"/>
                  </a:lnTo>
                  <a:lnTo>
                    <a:pt x="0" y="97408"/>
                  </a:lnTo>
                  <a:close/>
                </a:path>
              </a:pathLst>
            </a:custGeom>
            <a:ln w="254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6596253" y="4787010"/>
            <a:ext cx="814069" cy="570865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700" marR="5080">
              <a:lnSpc>
                <a:spcPts val="1030"/>
              </a:lnSpc>
              <a:spcBef>
                <a:spcPts val="270"/>
              </a:spcBef>
            </a:pPr>
            <a:r>
              <a:rPr sz="1000" spc="-10" dirty="0">
                <a:latin typeface="Arial MT"/>
                <a:cs typeface="Arial MT"/>
              </a:rPr>
              <a:t>Changing computational </a:t>
            </a:r>
            <a:r>
              <a:rPr sz="1000" dirty="0">
                <a:latin typeface="Arial MT"/>
                <a:cs typeface="Arial MT"/>
              </a:rPr>
              <a:t>patterns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over time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4761610" y="4000792"/>
            <a:ext cx="2053589" cy="299720"/>
          </a:xfrm>
          <a:custGeom>
            <a:avLst/>
            <a:gdLst/>
            <a:ahLst/>
            <a:cxnLst/>
            <a:rect l="l" t="t" r="r" b="b"/>
            <a:pathLst>
              <a:path w="2053590" h="299720">
                <a:moveTo>
                  <a:pt x="0" y="299554"/>
                </a:moveTo>
                <a:lnTo>
                  <a:pt x="2053082" y="299554"/>
                </a:lnTo>
                <a:lnTo>
                  <a:pt x="2053082" y="0"/>
                </a:lnTo>
                <a:lnTo>
                  <a:pt x="0" y="0"/>
                </a:lnTo>
                <a:lnTo>
                  <a:pt x="0" y="299554"/>
                </a:lnTo>
                <a:close/>
              </a:path>
            </a:pathLst>
          </a:custGeom>
          <a:ln w="2539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4761610" y="4000792"/>
            <a:ext cx="2053589" cy="299720"/>
          </a:xfrm>
          <a:prstGeom prst="rect">
            <a:avLst/>
          </a:prstGeom>
          <a:solidFill>
            <a:srgbClr val="4F81BC"/>
          </a:solidFill>
        </p:spPr>
        <p:txBody>
          <a:bodyPr vert="horz" wrap="square" lIns="0" tIns="53340" rIns="0" bIns="0" rtlCol="0">
            <a:spAutoFit/>
          </a:bodyPr>
          <a:lstStyle/>
          <a:p>
            <a:pPr marL="377825">
              <a:lnSpc>
                <a:spcPct val="100000"/>
              </a:lnSpc>
              <a:spcBef>
                <a:spcPts val="420"/>
              </a:spcBef>
            </a:pPr>
            <a:r>
              <a:rPr sz="1100" dirty="0">
                <a:solidFill>
                  <a:srgbClr val="FFFFFF"/>
                </a:solidFill>
                <a:latin typeface="Arial MT"/>
                <a:cs typeface="Arial MT"/>
              </a:rPr>
              <a:t>Periodic</a:t>
            </a:r>
            <a:r>
              <a:rPr sz="11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Arial MT"/>
                <a:cs typeface="Arial MT"/>
              </a:rPr>
              <a:t>Applications</a:t>
            </a:r>
            <a:endParaRPr sz="1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8614" rIns="0" bIns="0" rtlCol="0">
            <a:spAutoFit/>
          </a:bodyPr>
          <a:lstStyle/>
          <a:p>
            <a:pPr marL="1265555">
              <a:lnSpc>
                <a:spcPct val="100000"/>
              </a:lnSpc>
              <a:spcBef>
                <a:spcPts val="105"/>
              </a:spcBef>
            </a:pPr>
            <a:r>
              <a:rPr dirty="0"/>
              <a:t>High</a:t>
            </a:r>
            <a:r>
              <a:rPr spc="-35" dirty="0"/>
              <a:t> </a:t>
            </a:r>
            <a:r>
              <a:rPr dirty="0"/>
              <a:t>Growth</a:t>
            </a:r>
            <a:r>
              <a:rPr spc="-20" dirty="0"/>
              <a:t> </a:t>
            </a:r>
            <a:r>
              <a:rPr spc="-10" dirty="0"/>
              <a:t>Applications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172967" y="3340100"/>
            <a:ext cx="3850640" cy="2064385"/>
            <a:chOff x="3172967" y="3340100"/>
            <a:chExt cx="3850640" cy="206438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72967" y="3445763"/>
              <a:ext cx="2663952" cy="195833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657599" y="3352800"/>
              <a:ext cx="3352800" cy="533400"/>
            </a:xfrm>
            <a:custGeom>
              <a:avLst/>
              <a:gdLst/>
              <a:ahLst/>
              <a:cxnLst/>
              <a:rect l="l" t="t" r="r" b="b"/>
              <a:pathLst>
                <a:path w="3352800" h="533400">
                  <a:moveTo>
                    <a:pt x="3263900" y="0"/>
                  </a:moveTo>
                  <a:lnTo>
                    <a:pt x="88900" y="0"/>
                  </a:lnTo>
                  <a:lnTo>
                    <a:pt x="54274" y="6979"/>
                  </a:lnTo>
                  <a:lnTo>
                    <a:pt x="26019" y="26019"/>
                  </a:lnTo>
                  <a:lnTo>
                    <a:pt x="6979" y="54274"/>
                  </a:lnTo>
                  <a:lnTo>
                    <a:pt x="0" y="88900"/>
                  </a:lnTo>
                  <a:lnTo>
                    <a:pt x="0" y="444500"/>
                  </a:lnTo>
                  <a:lnTo>
                    <a:pt x="6979" y="479125"/>
                  </a:lnTo>
                  <a:lnTo>
                    <a:pt x="26019" y="507380"/>
                  </a:lnTo>
                  <a:lnTo>
                    <a:pt x="54274" y="526420"/>
                  </a:lnTo>
                  <a:lnTo>
                    <a:pt x="88900" y="533400"/>
                  </a:lnTo>
                  <a:lnTo>
                    <a:pt x="3263900" y="533400"/>
                  </a:lnTo>
                  <a:lnTo>
                    <a:pt x="3298525" y="526420"/>
                  </a:lnTo>
                  <a:lnTo>
                    <a:pt x="3326780" y="507380"/>
                  </a:lnTo>
                  <a:lnTo>
                    <a:pt x="3345820" y="479125"/>
                  </a:lnTo>
                  <a:lnTo>
                    <a:pt x="3352800" y="444500"/>
                  </a:lnTo>
                  <a:lnTo>
                    <a:pt x="3352800" y="88900"/>
                  </a:lnTo>
                  <a:lnTo>
                    <a:pt x="3345820" y="54274"/>
                  </a:lnTo>
                  <a:lnTo>
                    <a:pt x="3326780" y="26019"/>
                  </a:lnTo>
                  <a:lnTo>
                    <a:pt x="3298525" y="6979"/>
                  </a:lnTo>
                  <a:lnTo>
                    <a:pt x="32639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657599" y="3352800"/>
              <a:ext cx="3352800" cy="533400"/>
            </a:xfrm>
            <a:custGeom>
              <a:avLst/>
              <a:gdLst/>
              <a:ahLst/>
              <a:cxnLst/>
              <a:rect l="l" t="t" r="r" b="b"/>
              <a:pathLst>
                <a:path w="3352800" h="533400">
                  <a:moveTo>
                    <a:pt x="0" y="88900"/>
                  </a:moveTo>
                  <a:lnTo>
                    <a:pt x="6979" y="54274"/>
                  </a:lnTo>
                  <a:lnTo>
                    <a:pt x="26019" y="26019"/>
                  </a:lnTo>
                  <a:lnTo>
                    <a:pt x="54274" y="6979"/>
                  </a:lnTo>
                  <a:lnTo>
                    <a:pt x="88900" y="0"/>
                  </a:lnTo>
                  <a:lnTo>
                    <a:pt x="3263900" y="0"/>
                  </a:lnTo>
                  <a:lnTo>
                    <a:pt x="3298525" y="6979"/>
                  </a:lnTo>
                  <a:lnTo>
                    <a:pt x="3326780" y="26019"/>
                  </a:lnTo>
                  <a:lnTo>
                    <a:pt x="3345820" y="54274"/>
                  </a:lnTo>
                  <a:lnTo>
                    <a:pt x="3352800" y="88900"/>
                  </a:lnTo>
                  <a:lnTo>
                    <a:pt x="3352800" y="444500"/>
                  </a:lnTo>
                  <a:lnTo>
                    <a:pt x="3345820" y="479125"/>
                  </a:lnTo>
                  <a:lnTo>
                    <a:pt x="3326780" y="507380"/>
                  </a:lnTo>
                  <a:lnTo>
                    <a:pt x="3298525" y="526420"/>
                  </a:lnTo>
                  <a:lnTo>
                    <a:pt x="3263900" y="533400"/>
                  </a:lnTo>
                  <a:lnTo>
                    <a:pt x="88900" y="533400"/>
                  </a:lnTo>
                  <a:lnTo>
                    <a:pt x="54274" y="526420"/>
                  </a:lnTo>
                  <a:lnTo>
                    <a:pt x="26019" y="507380"/>
                  </a:lnTo>
                  <a:lnTo>
                    <a:pt x="6979" y="479125"/>
                  </a:lnTo>
                  <a:lnTo>
                    <a:pt x="0" y="444500"/>
                  </a:lnTo>
                  <a:lnTo>
                    <a:pt x="0" y="88900"/>
                  </a:lnTo>
                  <a:close/>
                </a:path>
              </a:pathLst>
            </a:custGeom>
            <a:ln w="25400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969511" y="3388232"/>
            <a:ext cx="2728595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86765" marR="5080" indent="-774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What</a:t>
            </a:r>
            <a:r>
              <a:rPr sz="14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do</a:t>
            </a:r>
            <a:r>
              <a:rPr sz="14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you</a:t>
            </a:r>
            <a:r>
              <a:rPr sz="14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do</a:t>
            </a:r>
            <a:r>
              <a:rPr sz="14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when</a:t>
            </a:r>
            <a:r>
              <a:rPr sz="14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your</a:t>
            </a:r>
            <a:r>
              <a:rPr sz="1400" spc="-10" dirty="0">
                <a:solidFill>
                  <a:srgbClr val="FFFFFF"/>
                </a:solidFill>
                <a:latin typeface="Arial MT"/>
                <a:cs typeface="Arial MT"/>
              </a:rPr>
              <a:t> startup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gains</a:t>
            </a:r>
            <a:r>
              <a:rPr sz="14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 MT"/>
                <a:cs typeface="Arial MT"/>
              </a:rPr>
              <a:t>traction?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492500" y="5118100"/>
            <a:ext cx="2006600" cy="558800"/>
            <a:chOff x="3492500" y="5118100"/>
            <a:chExt cx="2006600" cy="558800"/>
          </a:xfrm>
        </p:grpSpPr>
        <p:sp>
          <p:nvSpPr>
            <p:cNvPr id="9" name="object 9"/>
            <p:cNvSpPr/>
            <p:nvPr/>
          </p:nvSpPr>
          <p:spPr>
            <a:xfrm>
              <a:off x="3505200" y="5130800"/>
              <a:ext cx="1981200" cy="533400"/>
            </a:xfrm>
            <a:custGeom>
              <a:avLst/>
              <a:gdLst/>
              <a:ahLst/>
              <a:cxnLst/>
              <a:rect l="l" t="t" r="r" b="b"/>
              <a:pathLst>
                <a:path w="1981200" h="533400">
                  <a:moveTo>
                    <a:pt x="1892300" y="0"/>
                  </a:moveTo>
                  <a:lnTo>
                    <a:pt x="88900" y="0"/>
                  </a:lnTo>
                  <a:lnTo>
                    <a:pt x="54274" y="6979"/>
                  </a:lnTo>
                  <a:lnTo>
                    <a:pt x="26019" y="26019"/>
                  </a:lnTo>
                  <a:lnTo>
                    <a:pt x="6979" y="54274"/>
                  </a:lnTo>
                  <a:lnTo>
                    <a:pt x="0" y="88900"/>
                  </a:lnTo>
                  <a:lnTo>
                    <a:pt x="0" y="444500"/>
                  </a:lnTo>
                  <a:lnTo>
                    <a:pt x="6979" y="479103"/>
                  </a:lnTo>
                  <a:lnTo>
                    <a:pt x="26019" y="507361"/>
                  </a:lnTo>
                  <a:lnTo>
                    <a:pt x="54274" y="526413"/>
                  </a:lnTo>
                  <a:lnTo>
                    <a:pt x="88900" y="533400"/>
                  </a:lnTo>
                  <a:lnTo>
                    <a:pt x="1892300" y="533400"/>
                  </a:lnTo>
                  <a:lnTo>
                    <a:pt x="1926925" y="526413"/>
                  </a:lnTo>
                  <a:lnTo>
                    <a:pt x="1955180" y="507361"/>
                  </a:lnTo>
                  <a:lnTo>
                    <a:pt x="1974220" y="479103"/>
                  </a:lnTo>
                  <a:lnTo>
                    <a:pt x="1981200" y="444500"/>
                  </a:lnTo>
                  <a:lnTo>
                    <a:pt x="1981200" y="88900"/>
                  </a:lnTo>
                  <a:lnTo>
                    <a:pt x="1974220" y="54274"/>
                  </a:lnTo>
                  <a:lnTo>
                    <a:pt x="1955180" y="26019"/>
                  </a:lnTo>
                  <a:lnTo>
                    <a:pt x="1926925" y="6979"/>
                  </a:lnTo>
                  <a:lnTo>
                    <a:pt x="18923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505200" y="5130800"/>
              <a:ext cx="1981200" cy="533400"/>
            </a:xfrm>
            <a:custGeom>
              <a:avLst/>
              <a:gdLst/>
              <a:ahLst/>
              <a:cxnLst/>
              <a:rect l="l" t="t" r="r" b="b"/>
              <a:pathLst>
                <a:path w="1981200" h="533400">
                  <a:moveTo>
                    <a:pt x="0" y="88900"/>
                  </a:moveTo>
                  <a:lnTo>
                    <a:pt x="6979" y="54274"/>
                  </a:lnTo>
                  <a:lnTo>
                    <a:pt x="26019" y="26019"/>
                  </a:lnTo>
                  <a:lnTo>
                    <a:pt x="54274" y="6979"/>
                  </a:lnTo>
                  <a:lnTo>
                    <a:pt x="88900" y="0"/>
                  </a:lnTo>
                  <a:lnTo>
                    <a:pt x="1892300" y="0"/>
                  </a:lnTo>
                  <a:lnTo>
                    <a:pt x="1926925" y="6979"/>
                  </a:lnTo>
                  <a:lnTo>
                    <a:pt x="1955180" y="26019"/>
                  </a:lnTo>
                  <a:lnTo>
                    <a:pt x="1974220" y="54274"/>
                  </a:lnTo>
                  <a:lnTo>
                    <a:pt x="1981200" y="88900"/>
                  </a:lnTo>
                  <a:lnTo>
                    <a:pt x="1981200" y="444500"/>
                  </a:lnTo>
                  <a:lnTo>
                    <a:pt x="1974220" y="479103"/>
                  </a:lnTo>
                  <a:lnTo>
                    <a:pt x="1955180" y="507361"/>
                  </a:lnTo>
                  <a:lnTo>
                    <a:pt x="1926925" y="526413"/>
                  </a:lnTo>
                  <a:lnTo>
                    <a:pt x="1892300" y="533400"/>
                  </a:lnTo>
                  <a:lnTo>
                    <a:pt x="88900" y="533400"/>
                  </a:lnTo>
                  <a:lnTo>
                    <a:pt x="54274" y="526413"/>
                  </a:lnTo>
                  <a:lnTo>
                    <a:pt x="26019" y="507361"/>
                  </a:lnTo>
                  <a:lnTo>
                    <a:pt x="6979" y="479103"/>
                  </a:lnTo>
                  <a:lnTo>
                    <a:pt x="0" y="444500"/>
                  </a:lnTo>
                  <a:lnTo>
                    <a:pt x="0" y="88900"/>
                  </a:lnTo>
                  <a:close/>
                </a:path>
              </a:pathLst>
            </a:custGeom>
            <a:ln w="25400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1435100" y="1893189"/>
            <a:ext cx="2567305" cy="712470"/>
            <a:chOff x="1435100" y="1893189"/>
            <a:chExt cx="2567305" cy="712470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71493" y="2226454"/>
              <a:ext cx="2530638" cy="378591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447800" y="1905889"/>
              <a:ext cx="782955" cy="266700"/>
            </a:xfrm>
            <a:custGeom>
              <a:avLst/>
              <a:gdLst/>
              <a:ahLst/>
              <a:cxnLst/>
              <a:rect l="l" t="t" r="r" b="b"/>
              <a:pathLst>
                <a:path w="782955" h="266700">
                  <a:moveTo>
                    <a:pt x="738505" y="0"/>
                  </a:moveTo>
                  <a:lnTo>
                    <a:pt x="44450" y="0"/>
                  </a:lnTo>
                  <a:lnTo>
                    <a:pt x="27164" y="3498"/>
                  </a:lnTo>
                  <a:lnTo>
                    <a:pt x="13033" y="13033"/>
                  </a:lnTo>
                  <a:lnTo>
                    <a:pt x="3498" y="27164"/>
                  </a:lnTo>
                  <a:lnTo>
                    <a:pt x="0" y="44450"/>
                  </a:lnTo>
                  <a:lnTo>
                    <a:pt x="0" y="222250"/>
                  </a:lnTo>
                  <a:lnTo>
                    <a:pt x="3498" y="239535"/>
                  </a:lnTo>
                  <a:lnTo>
                    <a:pt x="13033" y="253666"/>
                  </a:lnTo>
                  <a:lnTo>
                    <a:pt x="27164" y="263201"/>
                  </a:lnTo>
                  <a:lnTo>
                    <a:pt x="44450" y="266700"/>
                  </a:lnTo>
                  <a:lnTo>
                    <a:pt x="738505" y="266700"/>
                  </a:lnTo>
                  <a:lnTo>
                    <a:pt x="755790" y="263201"/>
                  </a:lnTo>
                  <a:lnTo>
                    <a:pt x="769921" y="253666"/>
                  </a:lnTo>
                  <a:lnTo>
                    <a:pt x="779456" y="239535"/>
                  </a:lnTo>
                  <a:lnTo>
                    <a:pt x="782955" y="222250"/>
                  </a:lnTo>
                  <a:lnTo>
                    <a:pt x="782955" y="44450"/>
                  </a:lnTo>
                  <a:lnTo>
                    <a:pt x="779456" y="27164"/>
                  </a:lnTo>
                  <a:lnTo>
                    <a:pt x="769921" y="13033"/>
                  </a:lnTo>
                  <a:lnTo>
                    <a:pt x="755790" y="3498"/>
                  </a:lnTo>
                  <a:lnTo>
                    <a:pt x="738505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447800" y="1905889"/>
              <a:ext cx="782955" cy="266700"/>
            </a:xfrm>
            <a:custGeom>
              <a:avLst/>
              <a:gdLst/>
              <a:ahLst/>
              <a:cxnLst/>
              <a:rect l="l" t="t" r="r" b="b"/>
              <a:pathLst>
                <a:path w="782955" h="266700">
                  <a:moveTo>
                    <a:pt x="0" y="44450"/>
                  </a:moveTo>
                  <a:lnTo>
                    <a:pt x="3498" y="27164"/>
                  </a:lnTo>
                  <a:lnTo>
                    <a:pt x="13033" y="13033"/>
                  </a:lnTo>
                  <a:lnTo>
                    <a:pt x="27164" y="3498"/>
                  </a:lnTo>
                  <a:lnTo>
                    <a:pt x="44450" y="0"/>
                  </a:lnTo>
                  <a:lnTo>
                    <a:pt x="738505" y="0"/>
                  </a:lnTo>
                  <a:lnTo>
                    <a:pt x="755790" y="3498"/>
                  </a:lnTo>
                  <a:lnTo>
                    <a:pt x="769921" y="13033"/>
                  </a:lnTo>
                  <a:lnTo>
                    <a:pt x="779456" y="27164"/>
                  </a:lnTo>
                  <a:lnTo>
                    <a:pt x="782955" y="44450"/>
                  </a:lnTo>
                  <a:lnTo>
                    <a:pt x="782955" y="222250"/>
                  </a:lnTo>
                  <a:lnTo>
                    <a:pt x="779456" y="239535"/>
                  </a:lnTo>
                  <a:lnTo>
                    <a:pt x="769921" y="253666"/>
                  </a:lnTo>
                  <a:lnTo>
                    <a:pt x="755790" y="263201"/>
                  </a:lnTo>
                  <a:lnTo>
                    <a:pt x="738505" y="266700"/>
                  </a:lnTo>
                  <a:lnTo>
                    <a:pt x="44450" y="266700"/>
                  </a:lnTo>
                  <a:lnTo>
                    <a:pt x="27164" y="263201"/>
                  </a:lnTo>
                  <a:lnTo>
                    <a:pt x="13033" y="253666"/>
                  </a:lnTo>
                  <a:lnTo>
                    <a:pt x="3498" y="239535"/>
                  </a:lnTo>
                  <a:lnTo>
                    <a:pt x="0" y="222250"/>
                  </a:lnTo>
                  <a:lnTo>
                    <a:pt x="0" y="44450"/>
                  </a:lnTo>
                  <a:close/>
                </a:path>
              </a:pathLst>
            </a:custGeom>
            <a:ln w="25400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401439" y="2198623"/>
            <a:ext cx="448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5" dirty="0">
                <a:latin typeface="Arial"/>
                <a:cs typeface="Arial"/>
              </a:rPr>
              <a:t>vs</a:t>
            </a:r>
            <a:r>
              <a:rPr sz="2400" spc="-25" dirty="0"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224364" y="1893189"/>
            <a:ext cx="1977389" cy="711835"/>
            <a:chOff x="5224364" y="1893189"/>
            <a:chExt cx="1977389" cy="711835"/>
          </a:xfrm>
        </p:grpSpPr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24364" y="2203130"/>
              <a:ext cx="1977347" cy="401805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5257800" y="1905889"/>
              <a:ext cx="782955" cy="266700"/>
            </a:xfrm>
            <a:custGeom>
              <a:avLst/>
              <a:gdLst/>
              <a:ahLst/>
              <a:cxnLst/>
              <a:rect l="l" t="t" r="r" b="b"/>
              <a:pathLst>
                <a:path w="782954" h="266700">
                  <a:moveTo>
                    <a:pt x="738504" y="0"/>
                  </a:moveTo>
                  <a:lnTo>
                    <a:pt x="44450" y="0"/>
                  </a:lnTo>
                  <a:lnTo>
                    <a:pt x="27164" y="3498"/>
                  </a:lnTo>
                  <a:lnTo>
                    <a:pt x="13033" y="13033"/>
                  </a:lnTo>
                  <a:lnTo>
                    <a:pt x="3498" y="27164"/>
                  </a:lnTo>
                  <a:lnTo>
                    <a:pt x="0" y="44450"/>
                  </a:lnTo>
                  <a:lnTo>
                    <a:pt x="0" y="222250"/>
                  </a:lnTo>
                  <a:lnTo>
                    <a:pt x="3498" y="239535"/>
                  </a:lnTo>
                  <a:lnTo>
                    <a:pt x="13033" y="253666"/>
                  </a:lnTo>
                  <a:lnTo>
                    <a:pt x="27164" y="263201"/>
                  </a:lnTo>
                  <a:lnTo>
                    <a:pt x="44450" y="266700"/>
                  </a:lnTo>
                  <a:lnTo>
                    <a:pt x="738504" y="266700"/>
                  </a:lnTo>
                  <a:lnTo>
                    <a:pt x="755790" y="263201"/>
                  </a:lnTo>
                  <a:lnTo>
                    <a:pt x="769921" y="253666"/>
                  </a:lnTo>
                  <a:lnTo>
                    <a:pt x="779456" y="239535"/>
                  </a:lnTo>
                  <a:lnTo>
                    <a:pt x="782954" y="222250"/>
                  </a:lnTo>
                  <a:lnTo>
                    <a:pt x="782954" y="44450"/>
                  </a:lnTo>
                  <a:lnTo>
                    <a:pt x="779456" y="27164"/>
                  </a:lnTo>
                  <a:lnTo>
                    <a:pt x="769921" y="13033"/>
                  </a:lnTo>
                  <a:lnTo>
                    <a:pt x="755790" y="3498"/>
                  </a:lnTo>
                  <a:lnTo>
                    <a:pt x="738504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257800" y="1905889"/>
              <a:ext cx="782955" cy="266700"/>
            </a:xfrm>
            <a:custGeom>
              <a:avLst/>
              <a:gdLst/>
              <a:ahLst/>
              <a:cxnLst/>
              <a:rect l="l" t="t" r="r" b="b"/>
              <a:pathLst>
                <a:path w="782954" h="266700">
                  <a:moveTo>
                    <a:pt x="0" y="44450"/>
                  </a:moveTo>
                  <a:lnTo>
                    <a:pt x="3498" y="27164"/>
                  </a:lnTo>
                  <a:lnTo>
                    <a:pt x="13033" y="13033"/>
                  </a:lnTo>
                  <a:lnTo>
                    <a:pt x="27164" y="3498"/>
                  </a:lnTo>
                  <a:lnTo>
                    <a:pt x="44450" y="0"/>
                  </a:lnTo>
                  <a:lnTo>
                    <a:pt x="738504" y="0"/>
                  </a:lnTo>
                  <a:lnTo>
                    <a:pt x="755790" y="3498"/>
                  </a:lnTo>
                  <a:lnTo>
                    <a:pt x="769921" y="13033"/>
                  </a:lnTo>
                  <a:lnTo>
                    <a:pt x="779456" y="27164"/>
                  </a:lnTo>
                  <a:lnTo>
                    <a:pt x="782954" y="44450"/>
                  </a:lnTo>
                  <a:lnTo>
                    <a:pt x="782954" y="222250"/>
                  </a:lnTo>
                  <a:lnTo>
                    <a:pt x="779456" y="239535"/>
                  </a:lnTo>
                  <a:lnTo>
                    <a:pt x="769921" y="253666"/>
                  </a:lnTo>
                  <a:lnTo>
                    <a:pt x="755790" y="263201"/>
                  </a:lnTo>
                  <a:lnTo>
                    <a:pt x="738504" y="266700"/>
                  </a:lnTo>
                  <a:lnTo>
                    <a:pt x="44450" y="266700"/>
                  </a:lnTo>
                  <a:lnTo>
                    <a:pt x="27164" y="263201"/>
                  </a:lnTo>
                  <a:lnTo>
                    <a:pt x="13033" y="253666"/>
                  </a:lnTo>
                  <a:lnTo>
                    <a:pt x="3498" y="239535"/>
                  </a:lnTo>
                  <a:lnTo>
                    <a:pt x="0" y="222250"/>
                  </a:lnTo>
                  <a:lnTo>
                    <a:pt x="0" y="44450"/>
                  </a:lnTo>
                  <a:close/>
                </a:path>
              </a:pathLst>
            </a:custGeom>
            <a:ln w="25400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628648" y="1914270"/>
            <a:ext cx="42164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20" dirty="0">
                <a:solidFill>
                  <a:srgbClr val="FFFFFF"/>
                </a:solidFill>
                <a:latin typeface="Arial MT"/>
                <a:cs typeface="Arial MT"/>
              </a:rPr>
              <a:t>2001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439283" y="1914270"/>
            <a:ext cx="42164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20" dirty="0">
                <a:solidFill>
                  <a:srgbClr val="FFFFFF"/>
                </a:solidFill>
                <a:latin typeface="Arial MT"/>
                <a:cs typeface="Arial MT"/>
              </a:rPr>
              <a:t>2006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206500" y="2466213"/>
            <a:ext cx="482600" cy="594360"/>
            <a:chOff x="1206500" y="2466213"/>
            <a:chExt cx="482600" cy="594360"/>
          </a:xfrm>
        </p:grpSpPr>
        <p:sp>
          <p:nvSpPr>
            <p:cNvPr id="23" name="object 23"/>
            <p:cNvSpPr/>
            <p:nvPr/>
          </p:nvSpPr>
          <p:spPr>
            <a:xfrm>
              <a:off x="1219200" y="2478913"/>
              <a:ext cx="457200" cy="568960"/>
            </a:xfrm>
            <a:custGeom>
              <a:avLst/>
              <a:gdLst/>
              <a:ahLst/>
              <a:cxnLst/>
              <a:rect l="l" t="t" r="r" b="b"/>
              <a:pathLst>
                <a:path w="457200" h="568960">
                  <a:moveTo>
                    <a:pt x="342900" y="0"/>
                  </a:moveTo>
                  <a:lnTo>
                    <a:pt x="114300" y="0"/>
                  </a:lnTo>
                  <a:lnTo>
                    <a:pt x="114300" y="339851"/>
                  </a:lnTo>
                  <a:lnTo>
                    <a:pt x="0" y="339851"/>
                  </a:lnTo>
                  <a:lnTo>
                    <a:pt x="228600" y="568451"/>
                  </a:lnTo>
                  <a:lnTo>
                    <a:pt x="457200" y="339851"/>
                  </a:lnTo>
                  <a:lnTo>
                    <a:pt x="342900" y="339851"/>
                  </a:lnTo>
                  <a:lnTo>
                    <a:pt x="342900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219200" y="2478913"/>
              <a:ext cx="457200" cy="568960"/>
            </a:xfrm>
            <a:custGeom>
              <a:avLst/>
              <a:gdLst/>
              <a:ahLst/>
              <a:cxnLst/>
              <a:rect l="l" t="t" r="r" b="b"/>
              <a:pathLst>
                <a:path w="457200" h="568960">
                  <a:moveTo>
                    <a:pt x="0" y="339851"/>
                  </a:moveTo>
                  <a:lnTo>
                    <a:pt x="114300" y="339851"/>
                  </a:lnTo>
                  <a:lnTo>
                    <a:pt x="114300" y="0"/>
                  </a:lnTo>
                  <a:lnTo>
                    <a:pt x="342900" y="0"/>
                  </a:lnTo>
                  <a:lnTo>
                    <a:pt x="342900" y="339851"/>
                  </a:lnTo>
                  <a:lnTo>
                    <a:pt x="457200" y="339851"/>
                  </a:lnTo>
                  <a:lnTo>
                    <a:pt x="228600" y="568451"/>
                  </a:lnTo>
                  <a:lnTo>
                    <a:pt x="0" y="339851"/>
                  </a:lnTo>
                  <a:close/>
                </a:path>
              </a:pathLst>
            </a:custGeom>
            <a:ln w="25400">
              <a:solidFill>
                <a:srgbClr val="8B383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5" name="object 25"/>
          <p:cNvGrpSpPr/>
          <p:nvPr/>
        </p:nvGrpSpPr>
        <p:grpSpPr>
          <a:xfrm>
            <a:off x="7073900" y="2390648"/>
            <a:ext cx="482600" cy="594360"/>
            <a:chOff x="7073900" y="2390648"/>
            <a:chExt cx="482600" cy="594360"/>
          </a:xfrm>
        </p:grpSpPr>
        <p:sp>
          <p:nvSpPr>
            <p:cNvPr id="26" name="object 26"/>
            <p:cNvSpPr/>
            <p:nvPr/>
          </p:nvSpPr>
          <p:spPr>
            <a:xfrm>
              <a:off x="7086600" y="2403348"/>
              <a:ext cx="457200" cy="568960"/>
            </a:xfrm>
            <a:custGeom>
              <a:avLst/>
              <a:gdLst/>
              <a:ahLst/>
              <a:cxnLst/>
              <a:rect l="l" t="t" r="r" b="b"/>
              <a:pathLst>
                <a:path w="457200" h="568960">
                  <a:moveTo>
                    <a:pt x="228600" y="0"/>
                  </a:moveTo>
                  <a:lnTo>
                    <a:pt x="0" y="228600"/>
                  </a:lnTo>
                  <a:lnTo>
                    <a:pt x="114300" y="228600"/>
                  </a:lnTo>
                  <a:lnTo>
                    <a:pt x="114300" y="568451"/>
                  </a:lnTo>
                  <a:lnTo>
                    <a:pt x="342900" y="568451"/>
                  </a:lnTo>
                  <a:lnTo>
                    <a:pt x="342900" y="228600"/>
                  </a:lnTo>
                  <a:lnTo>
                    <a:pt x="457200" y="2286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9BBA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086600" y="2403348"/>
              <a:ext cx="457200" cy="568960"/>
            </a:xfrm>
            <a:custGeom>
              <a:avLst/>
              <a:gdLst/>
              <a:ahLst/>
              <a:cxnLst/>
              <a:rect l="l" t="t" r="r" b="b"/>
              <a:pathLst>
                <a:path w="457200" h="568960">
                  <a:moveTo>
                    <a:pt x="457200" y="228600"/>
                  </a:moveTo>
                  <a:lnTo>
                    <a:pt x="342900" y="228600"/>
                  </a:lnTo>
                  <a:lnTo>
                    <a:pt x="342900" y="568451"/>
                  </a:lnTo>
                  <a:lnTo>
                    <a:pt x="114300" y="568451"/>
                  </a:lnTo>
                  <a:lnTo>
                    <a:pt x="114300" y="228600"/>
                  </a:lnTo>
                  <a:lnTo>
                    <a:pt x="0" y="228600"/>
                  </a:lnTo>
                  <a:lnTo>
                    <a:pt x="228600" y="0"/>
                  </a:lnTo>
                  <a:lnTo>
                    <a:pt x="457200" y="228600"/>
                  </a:lnTo>
                  <a:close/>
                </a:path>
              </a:pathLst>
            </a:custGeom>
            <a:ln w="25400">
              <a:solidFill>
                <a:srgbClr val="70883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1685925" y="2619883"/>
            <a:ext cx="24904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6095" marR="5080" indent="-49403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 MT"/>
                <a:cs typeface="Arial MT"/>
              </a:rPr>
              <a:t>Could</a:t>
            </a:r>
            <a:r>
              <a:rPr sz="1200" spc="-5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not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keep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up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with the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growth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spc="-25" dirty="0">
                <a:latin typeface="Arial MT"/>
                <a:cs typeface="Arial MT"/>
              </a:rPr>
              <a:t>of </a:t>
            </a:r>
            <a:r>
              <a:rPr sz="1200" dirty="0">
                <a:latin typeface="Arial MT"/>
                <a:cs typeface="Arial MT"/>
              </a:rPr>
              <a:t>their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number</a:t>
            </a:r>
            <a:r>
              <a:rPr sz="1200" spc="-5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of</a:t>
            </a:r>
            <a:r>
              <a:rPr sz="1200" spc="-10" dirty="0">
                <a:latin typeface="Arial MT"/>
                <a:cs typeface="Arial MT"/>
              </a:rPr>
              <a:t> users.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702811" y="5183377"/>
            <a:ext cx="1585595" cy="438784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446405" marR="5080" indent="-434340">
              <a:lnSpc>
                <a:spcPts val="1680"/>
              </a:lnSpc>
              <a:spcBef>
                <a:spcPts val="25"/>
              </a:spcBef>
            </a:pP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Can</a:t>
            </a:r>
            <a:r>
              <a:rPr sz="14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you</a:t>
            </a:r>
            <a:r>
              <a:rPr sz="14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grow</a:t>
            </a:r>
            <a:r>
              <a:rPr sz="14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 MT"/>
                <a:cs typeface="Arial MT"/>
              </a:rPr>
              <a:t>quick enough?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450840" y="2647569"/>
            <a:ext cx="15214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 MT"/>
                <a:cs typeface="Arial MT"/>
              </a:rPr>
              <a:t>Growing</a:t>
            </a:r>
            <a:r>
              <a:rPr sz="1200" spc="-4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exponentially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8614" rIns="0" bIns="0" rtlCol="0">
            <a:spAutoFit/>
          </a:bodyPr>
          <a:lstStyle/>
          <a:p>
            <a:pPr marL="1265555">
              <a:lnSpc>
                <a:spcPct val="100000"/>
              </a:lnSpc>
              <a:spcBef>
                <a:spcPts val="105"/>
              </a:spcBef>
            </a:pPr>
            <a:r>
              <a:rPr dirty="0"/>
              <a:t>High</a:t>
            </a:r>
            <a:r>
              <a:rPr spc="-35" dirty="0"/>
              <a:t> </a:t>
            </a:r>
            <a:r>
              <a:rPr dirty="0"/>
              <a:t>Growth</a:t>
            </a:r>
            <a:r>
              <a:rPr spc="-20" dirty="0"/>
              <a:t> </a:t>
            </a:r>
            <a:r>
              <a:rPr spc="-10" dirty="0"/>
              <a:t>Applications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172967" y="3340100"/>
            <a:ext cx="3850640" cy="2064385"/>
            <a:chOff x="3172967" y="3340100"/>
            <a:chExt cx="3850640" cy="206438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72967" y="3445763"/>
              <a:ext cx="2663952" cy="195833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657599" y="3352800"/>
              <a:ext cx="3352800" cy="533400"/>
            </a:xfrm>
            <a:custGeom>
              <a:avLst/>
              <a:gdLst/>
              <a:ahLst/>
              <a:cxnLst/>
              <a:rect l="l" t="t" r="r" b="b"/>
              <a:pathLst>
                <a:path w="3352800" h="533400">
                  <a:moveTo>
                    <a:pt x="3263900" y="0"/>
                  </a:moveTo>
                  <a:lnTo>
                    <a:pt x="88900" y="0"/>
                  </a:lnTo>
                  <a:lnTo>
                    <a:pt x="54274" y="6979"/>
                  </a:lnTo>
                  <a:lnTo>
                    <a:pt x="26019" y="26019"/>
                  </a:lnTo>
                  <a:lnTo>
                    <a:pt x="6979" y="54274"/>
                  </a:lnTo>
                  <a:lnTo>
                    <a:pt x="0" y="88900"/>
                  </a:lnTo>
                  <a:lnTo>
                    <a:pt x="0" y="444500"/>
                  </a:lnTo>
                  <a:lnTo>
                    <a:pt x="6979" y="479125"/>
                  </a:lnTo>
                  <a:lnTo>
                    <a:pt x="26019" y="507380"/>
                  </a:lnTo>
                  <a:lnTo>
                    <a:pt x="54274" y="526420"/>
                  </a:lnTo>
                  <a:lnTo>
                    <a:pt x="88900" y="533400"/>
                  </a:lnTo>
                  <a:lnTo>
                    <a:pt x="3263900" y="533400"/>
                  </a:lnTo>
                  <a:lnTo>
                    <a:pt x="3298525" y="526420"/>
                  </a:lnTo>
                  <a:lnTo>
                    <a:pt x="3326780" y="507380"/>
                  </a:lnTo>
                  <a:lnTo>
                    <a:pt x="3345820" y="479125"/>
                  </a:lnTo>
                  <a:lnTo>
                    <a:pt x="3352800" y="444500"/>
                  </a:lnTo>
                  <a:lnTo>
                    <a:pt x="3352800" y="88900"/>
                  </a:lnTo>
                  <a:lnTo>
                    <a:pt x="3345820" y="54274"/>
                  </a:lnTo>
                  <a:lnTo>
                    <a:pt x="3326780" y="26019"/>
                  </a:lnTo>
                  <a:lnTo>
                    <a:pt x="3298525" y="6979"/>
                  </a:lnTo>
                  <a:lnTo>
                    <a:pt x="32639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657599" y="3352800"/>
              <a:ext cx="3352800" cy="533400"/>
            </a:xfrm>
            <a:custGeom>
              <a:avLst/>
              <a:gdLst/>
              <a:ahLst/>
              <a:cxnLst/>
              <a:rect l="l" t="t" r="r" b="b"/>
              <a:pathLst>
                <a:path w="3352800" h="533400">
                  <a:moveTo>
                    <a:pt x="0" y="88900"/>
                  </a:moveTo>
                  <a:lnTo>
                    <a:pt x="6979" y="54274"/>
                  </a:lnTo>
                  <a:lnTo>
                    <a:pt x="26019" y="26019"/>
                  </a:lnTo>
                  <a:lnTo>
                    <a:pt x="54274" y="6979"/>
                  </a:lnTo>
                  <a:lnTo>
                    <a:pt x="88900" y="0"/>
                  </a:lnTo>
                  <a:lnTo>
                    <a:pt x="3263900" y="0"/>
                  </a:lnTo>
                  <a:lnTo>
                    <a:pt x="3298525" y="6979"/>
                  </a:lnTo>
                  <a:lnTo>
                    <a:pt x="3326780" y="26019"/>
                  </a:lnTo>
                  <a:lnTo>
                    <a:pt x="3345820" y="54274"/>
                  </a:lnTo>
                  <a:lnTo>
                    <a:pt x="3352800" y="88900"/>
                  </a:lnTo>
                  <a:lnTo>
                    <a:pt x="3352800" y="444500"/>
                  </a:lnTo>
                  <a:lnTo>
                    <a:pt x="3345820" y="479125"/>
                  </a:lnTo>
                  <a:lnTo>
                    <a:pt x="3326780" y="507380"/>
                  </a:lnTo>
                  <a:lnTo>
                    <a:pt x="3298525" y="526420"/>
                  </a:lnTo>
                  <a:lnTo>
                    <a:pt x="3263900" y="533400"/>
                  </a:lnTo>
                  <a:lnTo>
                    <a:pt x="88900" y="533400"/>
                  </a:lnTo>
                  <a:lnTo>
                    <a:pt x="54274" y="526420"/>
                  </a:lnTo>
                  <a:lnTo>
                    <a:pt x="26019" y="507380"/>
                  </a:lnTo>
                  <a:lnTo>
                    <a:pt x="6979" y="479125"/>
                  </a:lnTo>
                  <a:lnTo>
                    <a:pt x="0" y="444500"/>
                  </a:lnTo>
                  <a:lnTo>
                    <a:pt x="0" y="88900"/>
                  </a:lnTo>
                  <a:close/>
                </a:path>
              </a:pathLst>
            </a:custGeom>
            <a:ln w="25400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969511" y="3388232"/>
            <a:ext cx="2728595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86765" marR="5080" indent="-774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What</a:t>
            </a:r>
            <a:r>
              <a:rPr sz="14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do</a:t>
            </a:r>
            <a:r>
              <a:rPr sz="14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you</a:t>
            </a:r>
            <a:r>
              <a:rPr sz="14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do</a:t>
            </a:r>
            <a:r>
              <a:rPr sz="14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when</a:t>
            </a:r>
            <a:r>
              <a:rPr sz="14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your</a:t>
            </a:r>
            <a:r>
              <a:rPr sz="1400" spc="-10" dirty="0">
                <a:solidFill>
                  <a:srgbClr val="FFFFFF"/>
                </a:solidFill>
                <a:latin typeface="Arial MT"/>
                <a:cs typeface="Arial MT"/>
              </a:rPr>
              <a:t> startup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gains</a:t>
            </a:r>
            <a:r>
              <a:rPr sz="14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 MT"/>
                <a:cs typeface="Arial MT"/>
              </a:rPr>
              <a:t>traction?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492500" y="5118100"/>
            <a:ext cx="2006600" cy="558800"/>
            <a:chOff x="3492500" y="5118100"/>
            <a:chExt cx="2006600" cy="558800"/>
          </a:xfrm>
        </p:grpSpPr>
        <p:sp>
          <p:nvSpPr>
            <p:cNvPr id="9" name="object 9"/>
            <p:cNvSpPr/>
            <p:nvPr/>
          </p:nvSpPr>
          <p:spPr>
            <a:xfrm>
              <a:off x="3505200" y="5130800"/>
              <a:ext cx="1981200" cy="533400"/>
            </a:xfrm>
            <a:custGeom>
              <a:avLst/>
              <a:gdLst/>
              <a:ahLst/>
              <a:cxnLst/>
              <a:rect l="l" t="t" r="r" b="b"/>
              <a:pathLst>
                <a:path w="1981200" h="533400">
                  <a:moveTo>
                    <a:pt x="1892300" y="0"/>
                  </a:moveTo>
                  <a:lnTo>
                    <a:pt x="88900" y="0"/>
                  </a:lnTo>
                  <a:lnTo>
                    <a:pt x="54274" y="6979"/>
                  </a:lnTo>
                  <a:lnTo>
                    <a:pt x="26019" y="26019"/>
                  </a:lnTo>
                  <a:lnTo>
                    <a:pt x="6979" y="54274"/>
                  </a:lnTo>
                  <a:lnTo>
                    <a:pt x="0" y="88900"/>
                  </a:lnTo>
                  <a:lnTo>
                    <a:pt x="0" y="444500"/>
                  </a:lnTo>
                  <a:lnTo>
                    <a:pt x="6979" y="479103"/>
                  </a:lnTo>
                  <a:lnTo>
                    <a:pt x="26019" y="507361"/>
                  </a:lnTo>
                  <a:lnTo>
                    <a:pt x="54274" y="526413"/>
                  </a:lnTo>
                  <a:lnTo>
                    <a:pt x="88900" y="533400"/>
                  </a:lnTo>
                  <a:lnTo>
                    <a:pt x="1892300" y="533400"/>
                  </a:lnTo>
                  <a:lnTo>
                    <a:pt x="1926925" y="526413"/>
                  </a:lnTo>
                  <a:lnTo>
                    <a:pt x="1955180" y="507361"/>
                  </a:lnTo>
                  <a:lnTo>
                    <a:pt x="1974220" y="479103"/>
                  </a:lnTo>
                  <a:lnTo>
                    <a:pt x="1981200" y="444500"/>
                  </a:lnTo>
                  <a:lnTo>
                    <a:pt x="1981200" y="88900"/>
                  </a:lnTo>
                  <a:lnTo>
                    <a:pt x="1974220" y="54274"/>
                  </a:lnTo>
                  <a:lnTo>
                    <a:pt x="1955180" y="26019"/>
                  </a:lnTo>
                  <a:lnTo>
                    <a:pt x="1926925" y="6979"/>
                  </a:lnTo>
                  <a:lnTo>
                    <a:pt x="18923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505200" y="5130800"/>
              <a:ext cx="1981200" cy="533400"/>
            </a:xfrm>
            <a:custGeom>
              <a:avLst/>
              <a:gdLst/>
              <a:ahLst/>
              <a:cxnLst/>
              <a:rect l="l" t="t" r="r" b="b"/>
              <a:pathLst>
                <a:path w="1981200" h="533400">
                  <a:moveTo>
                    <a:pt x="0" y="88900"/>
                  </a:moveTo>
                  <a:lnTo>
                    <a:pt x="6979" y="54274"/>
                  </a:lnTo>
                  <a:lnTo>
                    <a:pt x="26019" y="26019"/>
                  </a:lnTo>
                  <a:lnTo>
                    <a:pt x="54274" y="6979"/>
                  </a:lnTo>
                  <a:lnTo>
                    <a:pt x="88900" y="0"/>
                  </a:lnTo>
                  <a:lnTo>
                    <a:pt x="1892300" y="0"/>
                  </a:lnTo>
                  <a:lnTo>
                    <a:pt x="1926925" y="6979"/>
                  </a:lnTo>
                  <a:lnTo>
                    <a:pt x="1955180" y="26019"/>
                  </a:lnTo>
                  <a:lnTo>
                    <a:pt x="1974220" y="54274"/>
                  </a:lnTo>
                  <a:lnTo>
                    <a:pt x="1981200" y="88900"/>
                  </a:lnTo>
                  <a:lnTo>
                    <a:pt x="1981200" y="444500"/>
                  </a:lnTo>
                  <a:lnTo>
                    <a:pt x="1974220" y="479103"/>
                  </a:lnTo>
                  <a:lnTo>
                    <a:pt x="1955180" y="507361"/>
                  </a:lnTo>
                  <a:lnTo>
                    <a:pt x="1926925" y="526413"/>
                  </a:lnTo>
                  <a:lnTo>
                    <a:pt x="1892300" y="533400"/>
                  </a:lnTo>
                  <a:lnTo>
                    <a:pt x="88900" y="533400"/>
                  </a:lnTo>
                  <a:lnTo>
                    <a:pt x="54274" y="526413"/>
                  </a:lnTo>
                  <a:lnTo>
                    <a:pt x="26019" y="507361"/>
                  </a:lnTo>
                  <a:lnTo>
                    <a:pt x="6979" y="479103"/>
                  </a:lnTo>
                  <a:lnTo>
                    <a:pt x="0" y="444500"/>
                  </a:lnTo>
                  <a:lnTo>
                    <a:pt x="0" y="88900"/>
                  </a:lnTo>
                  <a:close/>
                </a:path>
              </a:pathLst>
            </a:custGeom>
            <a:ln w="25400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676275" y="1743011"/>
            <a:ext cx="1292225" cy="1314450"/>
            <a:chOff x="676275" y="1743011"/>
            <a:chExt cx="1292225" cy="1314450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5800" y="1752599"/>
              <a:ext cx="1273175" cy="129540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681037" y="1747773"/>
              <a:ext cx="1282700" cy="1304925"/>
            </a:xfrm>
            <a:custGeom>
              <a:avLst/>
              <a:gdLst/>
              <a:ahLst/>
              <a:cxnLst/>
              <a:rect l="l" t="t" r="r" b="b"/>
              <a:pathLst>
                <a:path w="1282700" h="1304925">
                  <a:moveTo>
                    <a:pt x="0" y="1304925"/>
                  </a:moveTo>
                  <a:lnTo>
                    <a:pt x="1282700" y="1304925"/>
                  </a:lnTo>
                  <a:lnTo>
                    <a:pt x="1282700" y="0"/>
                  </a:lnTo>
                  <a:lnTo>
                    <a:pt x="0" y="0"/>
                  </a:lnTo>
                  <a:lnTo>
                    <a:pt x="0" y="1304925"/>
                  </a:lnTo>
                  <a:close/>
                </a:path>
              </a:pathLst>
            </a:custGeom>
            <a:ln w="9525">
              <a:solidFill>
                <a:srgbClr val="D1041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766673" y="3151758"/>
            <a:ext cx="1062355" cy="787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marR="5080" indent="-635" algn="ctr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Arial MT"/>
                <a:cs typeface="Arial MT"/>
              </a:rPr>
              <a:t>Users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use</a:t>
            </a:r>
            <a:r>
              <a:rPr sz="1000" spc="-3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it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spc="-35" dirty="0">
                <a:latin typeface="Arial MT"/>
                <a:cs typeface="Arial MT"/>
              </a:rPr>
              <a:t>to </a:t>
            </a:r>
            <a:r>
              <a:rPr sz="1000" dirty="0">
                <a:latin typeface="Arial MT"/>
                <a:cs typeface="Arial MT"/>
              </a:rPr>
              <a:t>produce</a:t>
            </a:r>
            <a:r>
              <a:rPr sz="1000" spc="-3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video </a:t>
            </a:r>
            <a:r>
              <a:rPr sz="1000" dirty="0">
                <a:latin typeface="Arial MT"/>
                <a:cs typeface="Arial MT"/>
              </a:rPr>
              <a:t>pieces</a:t>
            </a:r>
            <a:r>
              <a:rPr sz="1000" spc="-3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from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their </a:t>
            </a:r>
            <a:r>
              <a:rPr sz="1000" dirty="0">
                <a:latin typeface="Arial MT"/>
                <a:cs typeface="Arial MT"/>
              </a:rPr>
              <a:t>photos,</a:t>
            </a:r>
            <a:r>
              <a:rPr sz="1000" spc="-5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video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clips </a:t>
            </a:r>
            <a:r>
              <a:rPr sz="1000" dirty="0">
                <a:latin typeface="Arial MT"/>
                <a:cs typeface="Arial MT"/>
              </a:rPr>
              <a:t>and</a:t>
            </a:r>
            <a:r>
              <a:rPr sz="1000" spc="-3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music.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702811" y="5183377"/>
            <a:ext cx="1585595" cy="438784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446405" marR="5080" indent="-434340">
              <a:lnSpc>
                <a:spcPts val="1680"/>
              </a:lnSpc>
              <a:spcBef>
                <a:spcPts val="25"/>
              </a:spcBef>
            </a:pP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Can</a:t>
            </a:r>
            <a:r>
              <a:rPr sz="14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you</a:t>
            </a:r>
            <a:r>
              <a:rPr sz="14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grow</a:t>
            </a:r>
            <a:r>
              <a:rPr sz="14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 MT"/>
                <a:cs typeface="Arial MT"/>
              </a:rPr>
              <a:t>quick enough?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531745" y="1856054"/>
            <a:ext cx="5039360" cy="1184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06045"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Animoto’s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Facebook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Plugin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doubled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traffic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the</a:t>
            </a:r>
            <a:endParaRPr sz="1800">
              <a:latin typeface="Arial MT"/>
              <a:cs typeface="Arial MT"/>
            </a:endParaRPr>
          </a:p>
          <a:p>
            <a:pPr marR="110489" algn="ctr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site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every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12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hours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3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days.</a:t>
            </a:r>
            <a:endParaRPr sz="1800">
              <a:latin typeface="Arial MT"/>
              <a:cs typeface="Arial MT"/>
            </a:endParaRPr>
          </a:p>
          <a:p>
            <a:pPr marL="33020" algn="ctr">
              <a:lnSpc>
                <a:spcPct val="100000"/>
              </a:lnSpc>
              <a:spcBef>
                <a:spcPts val="484"/>
              </a:spcBef>
            </a:pPr>
            <a:r>
              <a:rPr sz="1800" dirty="0">
                <a:latin typeface="Arial MT"/>
                <a:cs typeface="Arial MT"/>
              </a:rPr>
              <a:t>They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could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scale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from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50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servers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3500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b="1" spc="-25" dirty="0">
                <a:latin typeface="Arial"/>
                <a:cs typeface="Arial"/>
              </a:rPr>
              <a:t>go</a:t>
            </a:r>
            <a:endParaRPr sz="1800">
              <a:latin typeface="Arial"/>
              <a:cs typeface="Arial"/>
            </a:endParaRPr>
          </a:p>
          <a:p>
            <a:pPr marL="38100" algn="ctr">
              <a:lnSpc>
                <a:spcPct val="100000"/>
              </a:lnSpc>
            </a:pPr>
            <a:r>
              <a:rPr sz="1800" b="1" dirty="0">
                <a:latin typeface="Arial"/>
                <a:cs typeface="Arial"/>
              </a:rPr>
              <a:t>back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down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using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cloud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computing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services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8614" rIns="0" bIns="0" rtlCol="0">
            <a:spAutoFit/>
          </a:bodyPr>
          <a:lstStyle/>
          <a:p>
            <a:pPr marL="550545">
              <a:lnSpc>
                <a:spcPct val="100000"/>
              </a:lnSpc>
              <a:spcBef>
                <a:spcPts val="105"/>
              </a:spcBef>
            </a:pPr>
            <a:r>
              <a:rPr dirty="0"/>
              <a:t>Aperiodic</a:t>
            </a:r>
            <a:r>
              <a:rPr spc="-40" dirty="0"/>
              <a:t> </a:t>
            </a:r>
            <a:r>
              <a:rPr dirty="0"/>
              <a:t>Bursting</a:t>
            </a:r>
            <a:r>
              <a:rPr spc="-15" dirty="0"/>
              <a:t> </a:t>
            </a:r>
            <a:r>
              <a:rPr spc="-10" dirty="0"/>
              <a:t>Applications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257" y="1758553"/>
            <a:ext cx="1642793" cy="750093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2905379" y="1816100"/>
            <a:ext cx="5664200" cy="558800"/>
            <a:chOff x="2905379" y="1816100"/>
            <a:chExt cx="5664200" cy="558800"/>
          </a:xfrm>
        </p:grpSpPr>
        <p:sp>
          <p:nvSpPr>
            <p:cNvPr id="5" name="object 5"/>
            <p:cNvSpPr/>
            <p:nvPr/>
          </p:nvSpPr>
          <p:spPr>
            <a:xfrm>
              <a:off x="2918079" y="1828800"/>
              <a:ext cx="5638800" cy="533400"/>
            </a:xfrm>
            <a:custGeom>
              <a:avLst/>
              <a:gdLst/>
              <a:ahLst/>
              <a:cxnLst/>
              <a:rect l="l" t="t" r="r" b="b"/>
              <a:pathLst>
                <a:path w="5638800" h="533400">
                  <a:moveTo>
                    <a:pt x="5549900" y="0"/>
                  </a:moveTo>
                  <a:lnTo>
                    <a:pt x="88900" y="0"/>
                  </a:lnTo>
                  <a:lnTo>
                    <a:pt x="54274" y="6979"/>
                  </a:lnTo>
                  <a:lnTo>
                    <a:pt x="26019" y="26019"/>
                  </a:lnTo>
                  <a:lnTo>
                    <a:pt x="6979" y="54274"/>
                  </a:lnTo>
                  <a:lnTo>
                    <a:pt x="0" y="88900"/>
                  </a:lnTo>
                  <a:lnTo>
                    <a:pt x="0" y="444500"/>
                  </a:lnTo>
                  <a:lnTo>
                    <a:pt x="6979" y="479125"/>
                  </a:lnTo>
                  <a:lnTo>
                    <a:pt x="26019" y="507380"/>
                  </a:lnTo>
                  <a:lnTo>
                    <a:pt x="54274" y="526420"/>
                  </a:lnTo>
                  <a:lnTo>
                    <a:pt x="88900" y="533400"/>
                  </a:lnTo>
                  <a:lnTo>
                    <a:pt x="5549900" y="533400"/>
                  </a:lnTo>
                  <a:lnTo>
                    <a:pt x="5584471" y="526420"/>
                  </a:lnTo>
                  <a:lnTo>
                    <a:pt x="5612733" y="507380"/>
                  </a:lnTo>
                  <a:lnTo>
                    <a:pt x="5631803" y="479125"/>
                  </a:lnTo>
                  <a:lnTo>
                    <a:pt x="5638800" y="444500"/>
                  </a:lnTo>
                  <a:lnTo>
                    <a:pt x="5638800" y="88900"/>
                  </a:lnTo>
                  <a:lnTo>
                    <a:pt x="5631803" y="54274"/>
                  </a:lnTo>
                  <a:lnTo>
                    <a:pt x="5612733" y="26019"/>
                  </a:lnTo>
                  <a:lnTo>
                    <a:pt x="5584471" y="6979"/>
                  </a:lnTo>
                  <a:lnTo>
                    <a:pt x="55499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918079" y="1828800"/>
              <a:ext cx="5638800" cy="533400"/>
            </a:xfrm>
            <a:custGeom>
              <a:avLst/>
              <a:gdLst/>
              <a:ahLst/>
              <a:cxnLst/>
              <a:rect l="l" t="t" r="r" b="b"/>
              <a:pathLst>
                <a:path w="5638800" h="533400">
                  <a:moveTo>
                    <a:pt x="0" y="88900"/>
                  </a:moveTo>
                  <a:lnTo>
                    <a:pt x="6979" y="54274"/>
                  </a:lnTo>
                  <a:lnTo>
                    <a:pt x="26019" y="26019"/>
                  </a:lnTo>
                  <a:lnTo>
                    <a:pt x="54274" y="6979"/>
                  </a:lnTo>
                  <a:lnTo>
                    <a:pt x="88900" y="0"/>
                  </a:lnTo>
                  <a:lnTo>
                    <a:pt x="5549900" y="0"/>
                  </a:lnTo>
                  <a:lnTo>
                    <a:pt x="5584471" y="6979"/>
                  </a:lnTo>
                  <a:lnTo>
                    <a:pt x="5612733" y="26019"/>
                  </a:lnTo>
                  <a:lnTo>
                    <a:pt x="5631803" y="54274"/>
                  </a:lnTo>
                  <a:lnTo>
                    <a:pt x="5638800" y="88900"/>
                  </a:lnTo>
                  <a:lnTo>
                    <a:pt x="5638800" y="444500"/>
                  </a:lnTo>
                  <a:lnTo>
                    <a:pt x="5631803" y="479125"/>
                  </a:lnTo>
                  <a:lnTo>
                    <a:pt x="5612733" y="507380"/>
                  </a:lnTo>
                  <a:lnTo>
                    <a:pt x="5584471" y="526420"/>
                  </a:lnTo>
                  <a:lnTo>
                    <a:pt x="5549900" y="533400"/>
                  </a:lnTo>
                  <a:lnTo>
                    <a:pt x="88900" y="533400"/>
                  </a:lnTo>
                  <a:lnTo>
                    <a:pt x="54274" y="526420"/>
                  </a:lnTo>
                  <a:lnTo>
                    <a:pt x="26019" y="507380"/>
                  </a:lnTo>
                  <a:lnTo>
                    <a:pt x="6979" y="479125"/>
                  </a:lnTo>
                  <a:lnTo>
                    <a:pt x="0" y="444500"/>
                  </a:lnTo>
                  <a:lnTo>
                    <a:pt x="0" y="88900"/>
                  </a:lnTo>
                  <a:close/>
                </a:path>
              </a:pathLst>
            </a:custGeom>
            <a:ln w="25400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457200" y="3429000"/>
            <a:ext cx="8112759" cy="2590800"/>
            <a:chOff x="457200" y="3429000"/>
            <a:chExt cx="8112759" cy="2590800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1421" y="3646203"/>
              <a:ext cx="2021227" cy="42892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7200" y="3429000"/>
              <a:ext cx="2590800" cy="25908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918079" y="3505200"/>
              <a:ext cx="5638800" cy="533400"/>
            </a:xfrm>
            <a:custGeom>
              <a:avLst/>
              <a:gdLst/>
              <a:ahLst/>
              <a:cxnLst/>
              <a:rect l="l" t="t" r="r" b="b"/>
              <a:pathLst>
                <a:path w="5638800" h="533400">
                  <a:moveTo>
                    <a:pt x="5549900" y="0"/>
                  </a:moveTo>
                  <a:lnTo>
                    <a:pt x="88900" y="0"/>
                  </a:lnTo>
                  <a:lnTo>
                    <a:pt x="54274" y="6979"/>
                  </a:lnTo>
                  <a:lnTo>
                    <a:pt x="26019" y="26019"/>
                  </a:lnTo>
                  <a:lnTo>
                    <a:pt x="6979" y="54274"/>
                  </a:lnTo>
                  <a:lnTo>
                    <a:pt x="0" y="88900"/>
                  </a:lnTo>
                  <a:lnTo>
                    <a:pt x="0" y="444500"/>
                  </a:lnTo>
                  <a:lnTo>
                    <a:pt x="6979" y="479125"/>
                  </a:lnTo>
                  <a:lnTo>
                    <a:pt x="26019" y="507380"/>
                  </a:lnTo>
                  <a:lnTo>
                    <a:pt x="54274" y="526420"/>
                  </a:lnTo>
                  <a:lnTo>
                    <a:pt x="88900" y="533400"/>
                  </a:lnTo>
                  <a:lnTo>
                    <a:pt x="5549900" y="533400"/>
                  </a:lnTo>
                  <a:lnTo>
                    <a:pt x="5584471" y="526420"/>
                  </a:lnTo>
                  <a:lnTo>
                    <a:pt x="5612733" y="507380"/>
                  </a:lnTo>
                  <a:lnTo>
                    <a:pt x="5631803" y="479125"/>
                  </a:lnTo>
                  <a:lnTo>
                    <a:pt x="5638800" y="444500"/>
                  </a:lnTo>
                  <a:lnTo>
                    <a:pt x="5638800" y="88900"/>
                  </a:lnTo>
                  <a:lnTo>
                    <a:pt x="5631803" y="54274"/>
                  </a:lnTo>
                  <a:lnTo>
                    <a:pt x="5612733" y="26019"/>
                  </a:lnTo>
                  <a:lnTo>
                    <a:pt x="5584471" y="6979"/>
                  </a:lnTo>
                  <a:lnTo>
                    <a:pt x="55499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918079" y="3505200"/>
              <a:ext cx="5638800" cy="533400"/>
            </a:xfrm>
            <a:custGeom>
              <a:avLst/>
              <a:gdLst/>
              <a:ahLst/>
              <a:cxnLst/>
              <a:rect l="l" t="t" r="r" b="b"/>
              <a:pathLst>
                <a:path w="5638800" h="533400">
                  <a:moveTo>
                    <a:pt x="0" y="88900"/>
                  </a:moveTo>
                  <a:lnTo>
                    <a:pt x="6979" y="54274"/>
                  </a:lnTo>
                  <a:lnTo>
                    <a:pt x="26019" y="26019"/>
                  </a:lnTo>
                  <a:lnTo>
                    <a:pt x="54274" y="6979"/>
                  </a:lnTo>
                  <a:lnTo>
                    <a:pt x="88900" y="0"/>
                  </a:lnTo>
                  <a:lnTo>
                    <a:pt x="5549900" y="0"/>
                  </a:lnTo>
                  <a:lnTo>
                    <a:pt x="5584471" y="6979"/>
                  </a:lnTo>
                  <a:lnTo>
                    <a:pt x="5612733" y="26019"/>
                  </a:lnTo>
                  <a:lnTo>
                    <a:pt x="5631803" y="54274"/>
                  </a:lnTo>
                  <a:lnTo>
                    <a:pt x="5638800" y="88900"/>
                  </a:lnTo>
                  <a:lnTo>
                    <a:pt x="5638800" y="444500"/>
                  </a:lnTo>
                  <a:lnTo>
                    <a:pt x="5631803" y="479125"/>
                  </a:lnTo>
                  <a:lnTo>
                    <a:pt x="5612733" y="507380"/>
                  </a:lnTo>
                  <a:lnTo>
                    <a:pt x="5584471" y="526420"/>
                  </a:lnTo>
                  <a:lnTo>
                    <a:pt x="5549900" y="533400"/>
                  </a:lnTo>
                  <a:lnTo>
                    <a:pt x="88900" y="533400"/>
                  </a:lnTo>
                  <a:lnTo>
                    <a:pt x="54274" y="526420"/>
                  </a:lnTo>
                  <a:lnTo>
                    <a:pt x="26019" y="507380"/>
                  </a:lnTo>
                  <a:lnTo>
                    <a:pt x="6979" y="479125"/>
                  </a:lnTo>
                  <a:lnTo>
                    <a:pt x="0" y="444500"/>
                  </a:lnTo>
                  <a:lnTo>
                    <a:pt x="0" y="88900"/>
                  </a:lnTo>
                  <a:close/>
                </a:path>
              </a:pathLst>
            </a:custGeom>
            <a:ln w="25400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918079" y="4381500"/>
              <a:ext cx="5638800" cy="533400"/>
            </a:xfrm>
            <a:custGeom>
              <a:avLst/>
              <a:gdLst/>
              <a:ahLst/>
              <a:cxnLst/>
              <a:rect l="l" t="t" r="r" b="b"/>
              <a:pathLst>
                <a:path w="5638800" h="533400">
                  <a:moveTo>
                    <a:pt x="5549900" y="0"/>
                  </a:moveTo>
                  <a:lnTo>
                    <a:pt x="88900" y="0"/>
                  </a:lnTo>
                  <a:lnTo>
                    <a:pt x="54274" y="6979"/>
                  </a:lnTo>
                  <a:lnTo>
                    <a:pt x="26019" y="26019"/>
                  </a:lnTo>
                  <a:lnTo>
                    <a:pt x="6979" y="54274"/>
                  </a:lnTo>
                  <a:lnTo>
                    <a:pt x="0" y="88900"/>
                  </a:lnTo>
                  <a:lnTo>
                    <a:pt x="0" y="444500"/>
                  </a:lnTo>
                  <a:lnTo>
                    <a:pt x="6979" y="479125"/>
                  </a:lnTo>
                  <a:lnTo>
                    <a:pt x="26019" y="507380"/>
                  </a:lnTo>
                  <a:lnTo>
                    <a:pt x="54274" y="526420"/>
                  </a:lnTo>
                  <a:lnTo>
                    <a:pt x="88900" y="533400"/>
                  </a:lnTo>
                  <a:lnTo>
                    <a:pt x="5549900" y="533400"/>
                  </a:lnTo>
                  <a:lnTo>
                    <a:pt x="5584471" y="526420"/>
                  </a:lnTo>
                  <a:lnTo>
                    <a:pt x="5612733" y="507380"/>
                  </a:lnTo>
                  <a:lnTo>
                    <a:pt x="5631803" y="479125"/>
                  </a:lnTo>
                  <a:lnTo>
                    <a:pt x="5638800" y="444500"/>
                  </a:lnTo>
                  <a:lnTo>
                    <a:pt x="5638800" y="88900"/>
                  </a:lnTo>
                  <a:lnTo>
                    <a:pt x="5631803" y="54274"/>
                  </a:lnTo>
                  <a:lnTo>
                    <a:pt x="5612733" y="26019"/>
                  </a:lnTo>
                  <a:lnTo>
                    <a:pt x="5584471" y="6979"/>
                  </a:lnTo>
                  <a:lnTo>
                    <a:pt x="55499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918079" y="4381500"/>
              <a:ext cx="5638800" cy="533400"/>
            </a:xfrm>
            <a:custGeom>
              <a:avLst/>
              <a:gdLst/>
              <a:ahLst/>
              <a:cxnLst/>
              <a:rect l="l" t="t" r="r" b="b"/>
              <a:pathLst>
                <a:path w="5638800" h="533400">
                  <a:moveTo>
                    <a:pt x="0" y="88900"/>
                  </a:moveTo>
                  <a:lnTo>
                    <a:pt x="6979" y="54274"/>
                  </a:lnTo>
                  <a:lnTo>
                    <a:pt x="26019" y="26019"/>
                  </a:lnTo>
                  <a:lnTo>
                    <a:pt x="54274" y="6979"/>
                  </a:lnTo>
                  <a:lnTo>
                    <a:pt x="88900" y="0"/>
                  </a:lnTo>
                  <a:lnTo>
                    <a:pt x="5549900" y="0"/>
                  </a:lnTo>
                  <a:lnTo>
                    <a:pt x="5584471" y="6979"/>
                  </a:lnTo>
                  <a:lnTo>
                    <a:pt x="5612733" y="26019"/>
                  </a:lnTo>
                  <a:lnTo>
                    <a:pt x="5631803" y="54274"/>
                  </a:lnTo>
                  <a:lnTo>
                    <a:pt x="5638800" y="88900"/>
                  </a:lnTo>
                  <a:lnTo>
                    <a:pt x="5638800" y="444500"/>
                  </a:lnTo>
                  <a:lnTo>
                    <a:pt x="5631803" y="479125"/>
                  </a:lnTo>
                  <a:lnTo>
                    <a:pt x="5612733" y="507380"/>
                  </a:lnTo>
                  <a:lnTo>
                    <a:pt x="5584471" y="526420"/>
                  </a:lnTo>
                  <a:lnTo>
                    <a:pt x="5549900" y="533400"/>
                  </a:lnTo>
                  <a:lnTo>
                    <a:pt x="88900" y="533400"/>
                  </a:lnTo>
                  <a:lnTo>
                    <a:pt x="54274" y="526420"/>
                  </a:lnTo>
                  <a:lnTo>
                    <a:pt x="26019" y="507380"/>
                  </a:lnTo>
                  <a:lnTo>
                    <a:pt x="6979" y="479125"/>
                  </a:lnTo>
                  <a:lnTo>
                    <a:pt x="0" y="444500"/>
                  </a:lnTo>
                  <a:lnTo>
                    <a:pt x="0" y="88900"/>
                  </a:lnTo>
                  <a:close/>
                </a:path>
              </a:pathLst>
            </a:custGeom>
            <a:ln w="25400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21283" y="2694685"/>
            <a:ext cx="1662683" cy="676148"/>
          </a:xfrm>
          <a:prstGeom prst="rect">
            <a:avLst/>
          </a:prstGeom>
        </p:spPr>
      </p:pic>
      <p:grpSp>
        <p:nvGrpSpPr>
          <p:cNvPr id="15" name="object 15"/>
          <p:cNvGrpSpPr/>
          <p:nvPr/>
        </p:nvGrpSpPr>
        <p:grpSpPr>
          <a:xfrm>
            <a:off x="2905379" y="2730500"/>
            <a:ext cx="5664200" cy="558800"/>
            <a:chOff x="2905379" y="2730500"/>
            <a:chExt cx="5664200" cy="558800"/>
          </a:xfrm>
        </p:grpSpPr>
        <p:sp>
          <p:nvSpPr>
            <p:cNvPr id="16" name="object 16"/>
            <p:cNvSpPr/>
            <p:nvPr/>
          </p:nvSpPr>
          <p:spPr>
            <a:xfrm>
              <a:off x="2918079" y="2743200"/>
              <a:ext cx="5638800" cy="533400"/>
            </a:xfrm>
            <a:custGeom>
              <a:avLst/>
              <a:gdLst/>
              <a:ahLst/>
              <a:cxnLst/>
              <a:rect l="l" t="t" r="r" b="b"/>
              <a:pathLst>
                <a:path w="5638800" h="533400">
                  <a:moveTo>
                    <a:pt x="5549900" y="0"/>
                  </a:moveTo>
                  <a:lnTo>
                    <a:pt x="88900" y="0"/>
                  </a:lnTo>
                  <a:lnTo>
                    <a:pt x="54274" y="6979"/>
                  </a:lnTo>
                  <a:lnTo>
                    <a:pt x="26019" y="26019"/>
                  </a:lnTo>
                  <a:lnTo>
                    <a:pt x="6979" y="54274"/>
                  </a:lnTo>
                  <a:lnTo>
                    <a:pt x="0" y="88900"/>
                  </a:lnTo>
                  <a:lnTo>
                    <a:pt x="0" y="444500"/>
                  </a:lnTo>
                  <a:lnTo>
                    <a:pt x="6979" y="479125"/>
                  </a:lnTo>
                  <a:lnTo>
                    <a:pt x="26019" y="507380"/>
                  </a:lnTo>
                  <a:lnTo>
                    <a:pt x="54274" y="526420"/>
                  </a:lnTo>
                  <a:lnTo>
                    <a:pt x="88900" y="533400"/>
                  </a:lnTo>
                  <a:lnTo>
                    <a:pt x="5549900" y="533400"/>
                  </a:lnTo>
                  <a:lnTo>
                    <a:pt x="5584471" y="526420"/>
                  </a:lnTo>
                  <a:lnTo>
                    <a:pt x="5612733" y="507380"/>
                  </a:lnTo>
                  <a:lnTo>
                    <a:pt x="5631803" y="479125"/>
                  </a:lnTo>
                  <a:lnTo>
                    <a:pt x="5638800" y="444500"/>
                  </a:lnTo>
                  <a:lnTo>
                    <a:pt x="5638800" y="88900"/>
                  </a:lnTo>
                  <a:lnTo>
                    <a:pt x="5631803" y="54274"/>
                  </a:lnTo>
                  <a:lnTo>
                    <a:pt x="5612733" y="26019"/>
                  </a:lnTo>
                  <a:lnTo>
                    <a:pt x="5584471" y="6979"/>
                  </a:lnTo>
                  <a:lnTo>
                    <a:pt x="55499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918079" y="2743200"/>
              <a:ext cx="5638800" cy="533400"/>
            </a:xfrm>
            <a:custGeom>
              <a:avLst/>
              <a:gdLst/>
              <a:ahLst/>
              <a:cxnLst/>
              <a:rect l="l" t="t" r="r" b="b"/>
              <a:pathLst>
                <a:path w="5638800" h="533400">
                  <a:moveTo>
                    <a:pt x="0" y="88900"/>
                  </a:moveTo>
                  <a:lnTo>
                    <a:pt x="6979" y="54274"/>
                  </a:lnTo>
                  <a:lnTo>
                    <a:pt x="26019" y="26019"/>
                  </a:lnTo>
                  <a:lnTo>
                    <a:pt x="54274" y="6979"/>
                  </a:lnTo>
                  <a:lnTo>
                    <a:pt x="88900" y="0"/>
                  </a:lnTo>
                  <a:lnTo>
                    <a:pt x="5549900" y="0"/>
                  </a:lnTo>
                  <a:lnTo>
                    <a:pt x="5584471" y="6979"/>
                  </a:lnTo>
                  <a:lnTo>
                    <a:pt x="5612733" y="26019"/>
                  </a:lnTo>
                  <a:lnTo>
                    <a:pt x="5631803" y="54274"/>
                  </a:lnTo>
                  <a:lnTo>
                    <a:pt x="5638800" y="88900"/>
                  </a:lnTo>
                  <a:lnTo>
                    <a:pt x="5638800" y="444500"/>
                  </a:lnTo>
                  <a:lnTo>
                    <a:pt x="5631803" y="479125"/>
                  </a:lnTo>
                  <a:lnTo>
                    <a:pt x="5612733" y="507380"/>
                  </a:lnTo>
                  <a:lnTo>
                    <a:pt x="5584471" y="526420"/>
                  </a:lnTo>
                  <a:lnTo>
                    <a:pt x="5549900" y="533400"/>
                  </a:lnTo>
                  <a:lnTo>
                    <a:pt x="88900" y="533400"/>
                  </a:lnTo>
                  <a:lnTo>
                    <a:pt x="54274" y="526420"/>
                  </a:lnTo>
                  <a:lnTo>
                    <a:pt x="26019" y="507380"/>
                  </a:lnTo>
                  <a:lnTo>
                    <a:pt x="6979" y="479125"/>
                  </a:lnTo>
                  <a:lnTo>
                    <a:pt x="0" y="444500"/>
                  </a:lnTo>
                  <a:lnTo>
                    <a:pt x="0" y="88900"/>
                  </a:lnTo>
                  <a:close/>
                </a:path>
              </a:pathLst>
            </a:custGeom>
            <a:ln w="25400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3015869" y="1940178"/>
            <a:ext cx="5441315" cy="2990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Website</a:t>
            </a:r>
            <a:r>
              <a:rPr sz="18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went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down on</a:t>
            </a:r>
            <a:r>
              <a:rPr sz="18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9/11/2001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due</a:t>
            </a:r>
            <a:r>
              <a:rPr sz="18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8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traffic</a:t>
            </a:r>
            <a:endParaRPr sz="1800">
              <a:latin typeface="Arial MT"/>
              <a:cs typeface="Arial MT"/>
            </a:endParaRPr>
          </a:p>
          <a:p>
            <a:pPr marL="727710" marR="718820" algn="ctr">
              <a:lnSpc>
                <a:spcPct val="277900"/>
              </a:lnSpc>
              <a:spcBef>
                <a:spcPts val="1195"/>
              </a:spcBef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February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14</a:t>
            </a:r>
            <a:r>
              <a:rPr sz="1800" baseline="25462" dirty="0">
                <a:solidFill>
                  <a:srgbClr val="FFFFFF"/>
                </a:solidFill>
                <a:latin typeface="Arial MT"/>
                <a:cs typeface="Arial MT"/>
              </a:rPr>
              <a:t>th</a:t>
            </a:r>
            <a:r>
              <a:rPr sz="1800" spc="217" baseline="25462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–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Busiest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Day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8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35" dirty="0">
                <a:solidFill>
                  <a:srgbClr val="FFFFFF"/>
                </a:solidFill>
                <a:latin typeface="Arial MT"/>
                <a:cs typeface="Arial MT"/>
              </a:rPr>
              <a:t>Year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US</a:t>
            </a:r>
            <a:r>
              <a:rPr sz="18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Holiday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Season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95"/>
              </a:spcBef>
            </a:pPr>
            <a:endParaRPr sz="18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Website</a:t>
            </a:r>
            <a:r>
              <a:rPr sz="18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crashed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within 10</a:t>
            </a:r>
            <a:r>
              <a:rPr sz="18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minutes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18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8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free</a:t>
            </a:r>
            <a:r>
              <a:rPr sz="18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trouser</a:t>
            </a:r>
            <a:endParaRPr sz="1800">
              <a:latin typeface="Arial MT"/>
              <a:cs typeface="Arial MT"/>
            </a:endParaRPr>
          </a:p>
          <a:p>
            <a:pPr marL="3175" algn="ctr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promotion</a:t>
            </a:r>
            <a:r>
              <a:rPr sz="18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during</a:t>
            </a:r>
            <a:r>
              <a:rPr sz="18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Superbowl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2010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61937" y="5549900"/>
            <a:ext cx="6151880" cy="863600"/>
            <a:chOff x="261937" y="5549900"/>
            <a:chExt cx="6151880" cy="863600"/>
          </a:xfrm>
        </p:grpSpPr>
        <p:sp>
          <p:nvSpPr>
            <p:cNvPr id="20" name="object 20"/>
            <p:cNvSpPr/>
            <p:nvPr/>
          </p:nvSpPr>
          <p:spPr>
            <a:xfrm>
              <a:off x="274637" y="5562600"/>
              <a:ext cx="6126480" cy="838200"/>
            </a:xfrm>
            <a:custGeom>
              <a:avLst/>
              <a:gdLst/>
              <a:ahLst/>
              <a:cxnLst/>
              <a:rect l="l" t="t" r="r" b="b"/>
              <a:pathLst>
                <a:path w="6126480" h="838200">
                  <a:moveTo>
                    <a:pt x="5986462" y="0"/>
                  </a:moveTo>
                  <a:lnTo>
                    <a:pt x="139700" y="0"/>
                  </a:lnTo>
                  <a:lnTo>
                    <a:pt x="95544" y="7122"/>
                  </a:lnTo>
                  <a:lnTo>
                    <a:pt x="57195" y="26954"/>
                  </a:lnTo>
                  <a:lnTo>
                    <a:pt x="26954" y="57195"/>
                  </a:lnTo>
                  <a:lnTo>
                    <a:pt x="7122" y="95544"/>
                  </a:lnTo>
                  <a:lnTo>
                    <a:pt x="0" y="139700"/>
                  </a:lnTo>
                  <a:lnTo>
                    <a:pt x="0" y="698500"/>
                  </a:lnTo>
                  <a:lnTo>
                    <a:pt x="7122" y="742655"/>
                  </a:lnTo>
                  <a:lnTo>
                    <a:pt x="26954" y="781004"/>
                  </a:lnTo>
                  <a:lnTo>
                    <a:pt x="57195" y="811245"/>
                  </a:lnTo>
                  <a:lnTo>
                    <a:pt x="95544" y="831077"/>
                  </a:lnTo>
                  <a:lnTo>
                    <a:pt x="139700" y="838200"/>
                  </a:lnTo>
                  <a:lnTo>
                    <a:pt x="5986462" y="838200"/>
                  </a:lnTo>
                  <a:lnTo>
                    <a:pt x="6030642" y="831077"/>
                  </a:lnTo>
                  <a:lnTo>
                    <a:pt x="6068994" y="811245"/>
                  </a:lnTo>
                  <a:lnTo>
                    <a:pt x="6099226" y="781004"/>
                  </a:lnTo>
                  <a:lnTo>
                    <a:pt x="6119046" y="742655"/>
                  </a:lnTo>
                  <a:lnTo>
                    <a:pt x="6126162" y="698500"/>
                  </a:lnTo>
                  <a:lnTo>
                    <a:pt x="6126162" y="139700"/>
                  </a:lnTo>
                  <a:lnTo>
                    <a:pt x="6119046" y="95544"/>
                  </a:lnTo>
                  <a:lnTo>
                    <a:pt x="6099226" y="57195"/>
                  </a:lnTo>
                  <a:lnTo>
                    <a:pt x="6068994" y="26954"/>
                  </a:lnTo>
                  <a:lnTo>
                    <a:pt x="6030642" y="7122"/>
                  </a:lnTo>
                  <a:lnTo>
                    <a:pt x="5986462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74637" y="5562600"/>
              <a:ext cx="6126480" cy="838200"/>
            </a:xfrm>
            <a:custGeom>
              <a:avLst/>
              <a:gdLst/>
              <a:ahLst/>
              <a:cxnLst/>
              <a:rect l="l" t="t" r="r" b="b"/>
              <a:pathLst>
                <a:path w="6126480" h="838200">
                  <a:moveTo>
                    <a:pt x="0" y="139700"/>
                  </a:moveTo>
                  <a:lnTo>
                    <a:pt x="7122" y="95544"/>
                  </a:lnTo>
                  <a:lnTo>
                    <a:pt x="26954" y="57195"/>
                  </a:lnTo>
                  <a:lnTo>
                    <a:pt x="57195" y="26954"/>
                  </a:lnTo>
                  <a:lnTo>
                    <a:pt x="95544" y="7122"/>
                  </a:lnTo>
                  <a:lnTo>
                    <a:pt x="139700" y="0"/>
                  </a:lnTo>
                  <a:lnTo>
                    <a:pt x="5986462" y="0"/>
                  </a:lnTo>
                  <a:lnTo>
                    <a:pt x="6030642" y="7122"/>
                  </a:lnTo>
                  <a:lnTo>
                    <a:pt x="6068994" y="26954"/>
                  </a:lnTo>
                  <a:lnTo>
                    <a:pt x="6099226" y="57195"/>
                  </a:lnTo>
                  <a:lnTo>
                    <a:pt x="6119046" y="95544"/>
                  </a:lnTo>
                  <a:lnTo>
                    <a:pt x="6126162" y="139700"/>
                  </a:lnTo>
                  <a:lnTo>
                    <a:pt x="6126162" y="698500"/>
                  </a:lnTo>
                  <a:lnTo>
                    <a:pt x="6119046" y="742655"/>
                  </a:lnTo>
                  <a:lnTo>
                    <a:pt x="6099226" y="781004"/>
                  </a:lnTo>
                  <a:lnTo>
                    <a:pt x="6068994" y="811245"/>
                  </a:lnTo>
                  <a:lnTo>
                    <a:pt x="6030642" y="831077"/>
                  </a:lnTo>
                  <a:lnTo>
                    <a:pt x="5986462" y="838200"/>
                  </a:lnTo>
                  <a:lnTo>
                    <a:pt x="139700" y="838200"/>
                  </a:lnTo>
                  <a:lnTo>
                    <a:pt x="95544" y="831077"/>
                  </a:lnTo>
                  <a:lnTo>
                    <a:pt x="57195" y="811245"/>
                  </a:lnTo>
                  <a:lnTo>
                    <a:pt x="26954" y="781004"/>
                  </a:lnTo>
                  <a:lnTo>
                    <a:pt x="7122" y="742655"/>
                  </a:lnTo>
                  <a:lnTo>
                    <a:pt x="0" y="698500"/>
                  </a:lnTo>
                  <a:lnTo>
                    <a:pt x="0" y="139700"/>
                  </a:lnTo>
                  <a:close/>
                </a:path>
              </a:pathLst>
            </a:custGeom>
            <a:ln w="25400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519480" y="5689803"/>
            <a:ext cx="563626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Even</a:t>
            </a:r>
            <a:r>
              <a:rPr sz="18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if</a:t>
            </a:r>
            <a:r>
              <a:rPr sz="18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you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design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your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website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infrastructure</a:t>
            </a:r>
            <a:r>
              <a:rPr sz="18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8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handle</a:t>
            </a:r>
            <a:endParaRPr sz="18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peak</a:t>
            </a:r>
            <a:r>
              <a:rPr sz="18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loads,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wont</a:t>
            </a:r>
            <a:r>
              <a:rPr sz="180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it</a:t>
            </a:r>
            <a:r>
              <a:rPr sz="18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be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idle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during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other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times?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32457" y="482930"/>
            <a:ext cx="487870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On-</a:t>
            </a:r>
            <a:r>
              <a:rPr dirty="0"/>
              <a:t>Off</a:t>
            </a:r>
            <a:r>
              <a:rPr spc="10" dirty="0"/>
              <a:t> </a:t>
            </a:r>
            <a:r>
              <a:rPr spc="-10" dirty="0"/>
              <a:t>Applications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0473" y="1654644"/>
            <a:ext cx="188252" cy="19236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78839" y="1468882"/>
            <a:ext cx="7560309" cy="1002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Arial MT"/>
                <a:cs typeface="Arial MT"/>
              </a:rPr>
              <a:t>Researchers</a:t>
            </a:r>
            <a:r>
              <a:rPr sz="3200" spc="-8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running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large-</a:t>
            </a:r>
            <a:r>
              <a:rPr sz="3200" dirty="0">
                <a:latin typeface="Arial MT"/>
                <a:cs typeface="Arial MT"/>
              </a:rPr>
              <a:t>scale</a:t>
            </a:r>
            <a:r>
              <a:rPr sz="3200" spc="-7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scientific </a:t>
            </a:r>
            <a:r>
              <a:rPr sz="3200" dirty="0">
                <a:latin typeface="Arial MT"/>
                <a:cs typeface="Arial MT"/>
              </a:rPr>
              <a:t>simulation</a:t>
            </a:r>
            <a:r>
              <a:rPr sz="3200" spc="-5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using</a:t>
            </a:r>
            <a:r>
              <a:rPr sz="3200" spc="-5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1000s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of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computers.</a:t>
            </a:r>
            <a:endParaRPr sz="320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901700" y="2692400"/>
            <a:ext cx="7645400" cy="2578100"/>
            <a:chOff x="901700" y="2692400"/>
            <a:chExt cx="7645400" cy="257810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66800" y="3048000"/>
              <a:ext cx="3315970" cy="22098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914400" y="2705100"/>
              <a:ext cx="2819400" cy="685800"/>
            </a:xfrm>
            <a:custGeom>
              <a:avLst/>
              <a:gdLst/>
              <a:ahLst/>
              <a:cxnLst/>
              <a:rect l="l" t="t" r="r" b="b"/>
              <a:pathLst>
                <a:path w="2819400" h="685800">
                  <a:moveTo>
                    <a:pt x="2705100" y="0"/>
                  </a:moveTo>
                  <a:lnTo>
                    <a:pt x="114300" y="0"/>
                  </a:lnTo>
                  <a:lnTo>
                    <a:pt x="69812" y="8983"/>
                  </a:lnTo>
                  <a:lnTo>
                    <a:pt x="33480" y="33480"/>
                  </a:lnTo>
                  <a:lnTo>
                    <a:pt x="8983" y="69812"/>
                  </a:lnTo>
                  <a:lnTo>
                    <a:pt x="0" y="114300"/>
                  </a:lnTo>
                  <a:lnTo>
                    <a:pt x="0" y="571500"/>
                  </a:lnTo>
                  <a:lnTo>
                    <a:pt x="8983" y="615987"/>
                  </a:lnTo>
                  <a:lnTo>
                    <a:pt x="33480" y="652319"/>
                  </a:lnTo>
                  <a:lnTo>
                    <a:pt x="69812" y="676816"/>
                  </a:lnTo>
                  <a:lnTo>
                    <a:pt x="114300" y="685800"/>
                  </a:lnTo>
                  <a:lnTo>
                    <a:pt x="2705100" y="685800"/>
                  </a:lnTo>
                  <a:lnTo>
                    <a:pt x="2749587" y="676816"/>
                  </a:lnTo>
                  <a:lnTo>
                    <a:pt x="2785919" y="652319"/>
                  </a:lnTo>
                  <a:lnTo>
                    <a:pt x="2810416" y="615987"/>
                  </a:lnTo>
                  <a:lnTo>
                    <a:pt x="2819400" y="571500"/>
                  </a:lnTo>
                  <a:lnTo>
                    <a:pt x="2819400" y="114300"/>
                  </a:lnTo>
                  <a:lnTo>
                    <a:pt x="2810416" y="69812"/>
                  </a:lnTo>
                  <a:lnTo>
                    <a:pt x="2785919" y="33480"/>
                  </a:lnTo>
                  <a:lnTo>
                    <a:pt x="2749587" y="8983"/>
                  </a:lnTo>
                  <a:lnTo>
                    <a:pt x="27051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14400" y="2705100"/>
              <a:ext cx="2819400" cy="685800"/>
            </a:xfrm>
            <a:custGeom>
              <a:avLst/>
              <a:gdLst/>
              <a:ahLst/>
              <a:cxnLst/>
              <a:rect l="l" t="t" r="r" b="b"/>
              <a:pathLst>
                <a:path w="2819400" h="685800">
                  <a:moveTo>
                    <a:pt x="0" y="114300"/>
                  </a:moveTo>
                  <a:lnTo>
                    <a:pt x="8983" y="69812"/>
                  </a:lnTo>
                  <a:lnTo>
                    <a:pt x="33480" y="33480"/>
                  </a:lnTo>
                  <a:lnTo>
                    <a:pt x="69812" y="8983"/>
                  </a:lnTo>
                  <a:lnTo>
                    <a:pt x="114300" y="0"/>
                  </a:lnTo>
                  <a:lnTo>
                    <a:pt x="2705100" y="0"/>
                  </a:lnTo>
                  <a:lnTo>
                    <a:pt x="2749587" y="8983"/>
                  </a:lnTo>
                  <a:lnTo>
                    <a:pt x="2785919" y="33480"/>
                  </a:lnTo>
                  <a:lnTo>
                    <a:pt x="2810416" y="69812"/>
                  </a:lnTo>
                  <a:lnTo>
                    <a:pt x="2819400" y="114300"/>
                  </a:lnTo>
                  <a:lnTo>
                    <a:pt x="2819400" y="571500"/>
                  </a:lnTo>
                  <a:lnTo>
                    <a:pt x="2810416" y="615987"/>
                  </a:lnTo>
                  <a:lnTo>
                    <a:pt x="2785919" y="652319"/>
                  </a:lnTo>
                  <a:lnTo>
                    <a:pt x="2749587" y="676816"/>
                  </a:lnTo>
                  <a:lnTo>
                    <a:pt x="2705100" y="685800"/>
                  </a:lnTo>
                  <a:lnTo>
                    <a:pt x="114300" y="685800"/>
                  </a:lnTo>
                  <a:lnTo>
                    <a:pt x="69812" y="676816"/>
                  </a:lnTo>
                  <a:lnTo>
                    <a:pt x="33480" y="652319"/>
                  </a:lnTo>
                  <a:lnTo>
                    <a:pt x="8983" y="615987"/>
                  </a:lnTo>
                  <a:lnTo>
                    <a:pt x="0" y="571500"/>
                  </a:lnTo>
                  <a:lnTo>
                    <a:pt x="0" y="114300"/>
                  </a:lnTo>
                  <a:close/>
                </a:path>
              </a:pathLst>
            </a:custGeom>
            <a:ln w="25400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886200" y="3539871"/>
              <a:ext cx="4648200" cy="1718310"/>
            </a:xfrm>
            <a:custGeom>
              <a:avLst/>
              <a:gdLst/>
              <a:ahLst/>
              <a:cxnLst/>
              <a:rect l="l" t="t" r="r" b="b"/>
              <a:pathLst>
                <a:path w="4648200" h="1718310">
                  <a:moveTo>
                    <a:pt x="4361815" y="0"/>
                  </a:moveTo>
                  <a:lnTo>
                    <a:pt x="286385" y="0"/>
                  </a:lnTo>
                  <a:lnTo>
                    <a:pt x="239913" y="3746"/>
                  </a:lnTo>
                  <a:lnTo>
                    <a:pt x="195836" y="14591"/>
                  </a:lnTo>
                  <a:lnTo>
                    <a:pt x="154741" y="31947"/>
                  </a:lnTo>
                  <a:lnTo>
                    <a:pt x="117216" y="55225"/>
                  </a:lnTo>
                  <a:lnTo>
                    <a:pt x="83851" y="83835"/>
                  </a:lnTo>
                  <a:lnTo>
                    <a:pt x="55233" y="117189"/>
                  </a:lnTo>
                  <a:lnTo>
                    <a:pt x="31951" y="154697"/>
                  </a:lnTo>
                  <a:lnTo>
                    <a:pt x="14592" y="195771"/>
                  </a:lnTo>
                  <a:lnTo>
                    <a:pt x="3746" y="239820"/>
                  </a:lnTo>
                  <a:lnTo>
                    <a:pt x="0" y="286257"/>
                  </a:lnTo>
                  <a:lnTo>
                    <a:pt x="0" y="1431543"/>
                  </a:lnTo>
                  <a:lnTo>
                    <a:pt x="3746" y="1478015"/>
                  </a:lnTo>
                  <a:lnTo>
                    <a:pt x="14592" y="1522092"/>
                  </a:lnTo>
                  <a:lnTo>
                    <a:pt x="31951" y="1563187"/>
                  </a:lnTo>
                  <a:lnTo>
                    <a:pt x="55233" y="1600712"/>
                  </a:lnTo>
                  <a:lnTo>
                    <a:pt x="83851" y="1634077"/>
                  </a:lnTo>
                  <a:lnTo>
                    <a:pt x="117216" y="1662695"/>
                  </a:lnTo>
                  <a:lnTo>
                    <a:pt x="154741" y="1685977"/>
                  </a:lnTo>
                  <a:lnTo>
                    <a:pt x="195836" y="1703336"/>
                  </a:lnTo>
                  <a:lnTo>
                    <a:pt x="239913" y="1714182"/>
                  </a:lnTo>
                  <a:lnTo>
                    <a:pt x="286385" y="1717928"/>
                  </a:lnTo>
                  <a:lnTo>
                    <a:pt x="4361815" y="1717928"/>
                  </a:lnTo>
                  <a:lnTo>
                    <a:pt x="4408286" y="1714182"/>
                  </a:lnTo>
                  <a:lnTo>
                    <a:pt x="4452363" y="1703336"/>
                  </a:lnTo>
                  <a:lnTo>
                    <a:pt x="4493458" y="1685977"/>
                  </a:lnTo>
                  <a:lnTo>
                    <a:pt x="4530983" y="1662695"/>
                  </a:lnTo>
                  <a:lnTo>
                    <a:pt x="4564348" y="1634077"/>
                  </a:lnTo>
                  <a:lnTo>
                    <a:pt x="4592966" y="1600712"/>
                  </a:lnTo>
                  <a:lnTo>
                    <a:pt x="4616248" y="1563187"/>
                  </a:lnTo>
                  <a:lnTo>
                    <a:pt x="4633607" y="1522092"/>
                  </a:lnTo>
                  <a:lnTo>
                    <a:pt x="4644453" y="1478015"/>
                  </a:lnTo>
                  <a:lnTo>
                    <a:pt x="4648200" y="1431543"/>
                  </a:lnTo>
                  <a:lnTo>
                    <a:pt x="4648200" y="286257"/>
                  </a:lnTo>
                  <a:lnTo>
                    <a:pt x="4644453" y="239820"/>
                  </a:lnTo>
                  <a:lnTo>
                    <a:pt x="4633607" y="195771"/>
                  </a:lnTo>
                  <a:lnTo>
                    <a:pt x="4616248" y="154697"/>
                  </a:lnTo>
                  <a:lnTo>
                    <a:pt x="4592966" y="117189"/>
                  </a:lnTo>
                  <a:lnTo>
                    <a:pt x="4564348" y="83835"/>
                  </a:lnTo>
                  <a:lnTo>
                    <a:pt x="4530983" y="55225"/>
                  </a:lnTo>
                  <a:lnTo>
                    <a:pt x="4493458" y="31947"/>
                  </a:lnTo>
                  <a:lnTo>
                    <a:pt x="4452363" y="14591"/>
                  </a:lnTo>
                  <a:lnTo>
                    <a:pt x="4408286" y="3746"/>
                  </a:lnTo>
                  <a:lnTo>
                    <a:pt x="4361815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886200" y="3539871"/>
              <a:ext cx="4648200" cy="1718310"/>
            </a:xfrm>
            <a:custGeom>
              <a:avLst/>
              <a:gdLst/>
              <a:ahLst/>
              <a:cxnLst/>
              <a:rect l="l" t="t" r="r" b="b"/>
              <a:pathLst>
                <a:path w="4648200" h="1718310">
                  <a:moveTo>
                    <a:pt x="0" y="286257"/>
                  </a:moveTo>
                  <a:lnTo>
                    <a:pt x="3746" y="239820"/>
                  </a:lnTo>
                  <a:lnTo>
                    <a:pt x="14592" y="195771"/>
                  </a:lnTo>
                  <a:lnTo>
                    <a:pt x="31951" y="154697"/>
                  </a:lnTo>
                  <a:lnTo>
                    <a:pt x="55233" y="117189"/>
                  </a:lnTo>
                  <a:lnTo>
                    <a:pt x="83851" y="83835"/>
                  </a:lnTo>
                  <a:lnTo>
                    <a:pt x="117216" y="55225"/>
                  </a:lnTo>
                  <a:lnTo>
                    <a:pt x="154741" y="31947"/>
                  </a:lnTo>
                  <a:lnTo>
                    <a:pt x="195836" y="14591"/>
                  </a:lnTo>
                  <a:lnTo>
                    <a:pt x="239913" y="3746"/>
                  </a:lnTo>
                  <a:lnTo>
                    <a:pt x="286385" y="0"/>
                  </a:lnTo>
                  <a:lnTo>
                    <a:pt x="4361815" y="0"/>
                  </a:lnTo>
                  <a:lnTo>
                    <a:pt x="4408286" y="3746"/>
                  </a:lnTo>
                  <a:lnTo>
                    <a:pt x="4452363" y="14591"/>
                  </a:lnTo>
                  <a:lnTo>
                    <a:pt x="4493458" y="31947"/>
                  </a:lnTo>
                  <a:lnTo>
                    <a:pt x="4530983" y="55225"/>
                  </a:lnTo>
                  <a:lnTo>
                    <a:pt x="4564348" y="83835"/>
                  </a:lnTo>
                  <a:lnTo>
                    <a:pt x="4592966" y="117189"/>
                  </a:lnTo>
                  <a:lnTo>
                    <a:pt x="4616248" y="154697"/>
                  </a:lnTo>
                  <a:lnTo>
                    <a:pt x="4633607" y="195771"/>
                  </a:lnTo>
                  <a:lnTo>
                    <a:pt x="4644453" y="239820"/>
                  </a:lnTo>
                  <a:lnTo>
                    <a:pt x="4648200" y="286257"/>
                  </a:lnTo>
                  <a:lnTo>
                    <a:pt x="4648200" y="1431543"/>
                  </a:lnTo>
                  <a:lnTo>
                    <a:pt x="4644453" y="1478015"/>
                  </a:lnTo>
                  <a:lnTo>
                    <a:pt x="4633607" y="1522092"/>
                  </a:lnTo>
                  <a:lnTo>
                    <a:pt x="4616248" y="1563187"/>
                  </a:lnTo>
                  <a:lnTo>
                    <a:pt x="4592966" y="1600712"/>
                  </a:lnTo>
                  <a:lnTo>
                    <a:pt x="4564348" y="1634077"/>
                  </a:lnTo>
                  <a:lnTo>
                    <a:pt x="4530983" y="1662695"/>
                  </a:lnTo>
                  <a:lnTo>
                    <a:pt x="4493458" y="1685977"/>
                  </a:lnTo>
                  <a:lnTo>
                    <a:pt x="4452363" y="1703336"/>
                  </a:lnTo>
                  <a:lnTo>
                    <a:pt x="4408286" y="1714182"/>
                  </a:lnTo>
                  <a:lnTo>
                    <a:pt x="4361815" y="1717928"/>
                  </a:lnTo>
                  <a:lnTo>
                    <a:pt x="286385" y="1717928"/>
                  </a:lnTo>
                  <a:lnTo>
                    <a:pt x="239913" y="1714182"/>
                  </a:lnTo>
                  <a:lnTo>
                    <a:pt x="195836" y="1703336"/>
                  </a:lnTo>
                  <a:lnTo>
                    <a:pt x="154741" y="1685977"/>
                  </a:lnTo>
                  <a:lnTo>
                    <a:pt x="117216" y="1662695"/>
                  </a:lnTo>
                  <a:lnTo>
                    <a:pt x="83851" y="1634077"/>
                  </a:lnTo>
                  <a:lnTo>
                    <a:pt x="55233" y="1600712"/>
                  </a:lnTo>
                  <a:lnTo>
                    <a:pt x="31951" y="1563187"/>
                  </a:lnTo>
                  <a:lnTo>
                    <a:pt x="14592" y="1522092"/>
                  </a:lnTo>
                  <a:lnTo>
                    <a:pt x="3746" y="1478015"/>
                  </a:lnTo>
                  <a:lnTo>
                    <a:pt x="0" y="1431543"/>
                  </a:lnTo>
                  <a:lnTo>
                    <a:pt x="0" y="286257"/>
                  </a:lnTo>
                  <a:close/>
                </a:path>
              </a:pathLst>
            </a:custGeom>
            <a:ln w="25400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977900" y="5626100"/>
            <a:ext cx="5321300" cy="863600"/>
            <a:chOff x="977900" y="5626100"/>
            <a:chExt cx="5321300" cy="863600"/>
          </a:xfrm>
        </p:grpSpPr>
        <p:sp>
          <p:nvSpPr>
            <p:cNvPr id="12" name="object 12"/>
            <p:cNvSpPr/>
            <p:nvPr/>
          </p:nvSpPr>
          <p:spPr>
            <a:xfrm>
              <a:off x="990600" y="5638800"/>
              <a:ext cx="5295900" cy="838200"/>
            </a:xfrm>
            <a:custGeom>
              <a:avLst/>
              <a:gdLst/>
              <a:ahLst/>
              <a:cxnLst/>
              <a:rect l="l" t="t" r="r" b="b"/>
              <a:pathLst>
                <a:path w="5295900" h="838200">
                  <a:moveTo>
                    <a:pt x="5156200" y="0"/>
                  </a:moveTo>
                  <a:lnTo>
                    <a:pt x="139700" y="0"/>
                  </a:lnTo>
                  <a:lnTo>
                    <a:pt x="95544" y="7122"/>
                  </a:lnTo>
                  <a:lnTo>
                    <a:pt x="57195" y="26954"/>
                  </a:lnTo>
                  <a:lnTo>
                    <a:pt x="26954" y="57195"/>
                  </a:lnTo>
                  <a:lnTo>
                    <a:pt x="7122" y="95544"/>
                  </a:lnTo>
                  <a:lnTo>
                    <a:pt x="0" y="139700"/>
                  </a:lnTo>
                  <a:lnTo>
                    <a:pt x="0" y="698500"/>
                  </a:lnTo>
                  <a:lnTo>
                    <a:pt x="7122" y="742655"/>
                  </a:lnTo>
                  <a:lnTo>
                    <a:pt x="26954" y="781004"/>
                  </a:lnTo>
                  <a:lnTo>
                    <a:pt x="57195" y="811245"/>
                  </a:lnTo>
                  <a:lnTo>
                    <a:pt x="95544" y="831077"/>
                  </a:lnTo>
                  <a:lnTo>
                    <a:pt x="139700" y="838200"/>
                  </a:lnTo>
                  <a:lnTo>
                    <a:pt x="5156200" y="838200"/>
                  </a:lnTo>
                  <a:lnTo>
                    <a:pt x="5200379" y="831077"/>
                  </a:lnTo>
                  <a:lnTo>
                    <a:pt x="5238731" y="811245"/>
                  </a:lnTo>
                  <a:lnTo>
                    <a:pt x="5268963" y="781004"/>
                  </a:lnTo>
                  <a:lnTo>
                    <a:pt x="5288783" y="742655"/>
                  </a:lnTo>
                  <a:lnTo>
                    <a:pt x="5295900" y="698500"/>
                  </a:lnTo>
                  <a:lnTo>
                    <a:pt x="5295900" y="139700"/>
                  </a:lnTo>
                  <a:lnTo>
                    <a:pt x="5288783" y="95544"/>
                  </a:lnTo>
                  <a:lnTo>
                    <a:pt x="5268963" y="57195"/>
                  </a:lnTo>
                  <a:lnTo>
                    <a:pt x="5238731" y="26954"/>
                  </a:lnTo>
                  <a:lnTo>
                    <a:pt x="5200379" y="7122"/>
                  </a:lnTo>
                  <a:lnTo>
                    <a:pt x="51562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90600" y="5638800"/>
              <a:ext cx="5295900" cy="838200"/>
            </a:xfrm>
            <a:custGeom>
              <a:avLst/>
              <a:gdLst/>
              <a:ahLst/>
              <a:cxnLst/>
              <a:rect l="l" t="t" r="r" b="b"/>
              <a:pathLst>
                <a:path w="5295900" h="838200">
                  <a:moveTo>
                    <a:pt x="0" y="139700"/>
                  </a:moveTo>
                  <a:lnTo>
                    <a:pt x="7122" y="95544"/>
                  </a:lnTo>
                  <a:lnTo>
                    <a:pt x="26954" y="57195"/>
                  </a:lnTo>
                  <a:lnTo>
                    <a:pt x="57195" y="26954"/>
                  </a:lnTo>
                  <a:lnTo>
                    <a:pt x="95544" y="7122"/>
                  </a:lnTo>
                  <a:lnTo>
                    <a:pt x="139700" y="0"/>
                  </a:lnTo>
                  <a:lnTo>
                    <a:pt x="5156200" y="0"/>
                  </a:lnTo>
                  <a:lnTo>
                    <a:pt x="5200379" y="7122"/>
                  </a:lnTo>
                  <a:lnTo>
                    <a:pt x="5238731" y="26954"/>
                  </a:lnTo>
                  <a:lnTo>
                    <a:pt x="5268963" y="57195"/>
                  </a:lnTo>
                  <a:lnTo>
                    <a:pt x="5288783" y="95544"/>
                  </a:lnTo>
                  <a:lnTo>
                    <a:pt x="5295900" y="139700"/>
                  </a:lnTo>
                  <a:lnTo>
                    <a:pt x="5295900" y="698500"/>
                  </a:lnTo>
                  <a:lnTo>
                    <a:pt x="5288783" y="742655"/>
                  </a:lnTo>
                  <a:lnTo>
                    <a:pt x="5268963" y="781004"/>
                  </a:lnTo>
                  <a:lnTo>
                    <a:pt x="5238731" y="811245"/>
                  </a:lnTo>
                  <a:lnTo>
                    <a:pt x="5200379" y="831077"/>
                  </a:lnTo>
                  <a:lnTo>
                    <a:pt x="5156200" y="838200"/>
                  </a:lnTo>
                  <a:lnTo>
                    <a:pt x="139700" y="838200"/>
                  </a:lnTo>
                  <a:lnTo>
                    <a:pt x="95544" y="831077"/>
                  </a:lnTo>
                  <a:lnTo>
                    <a:pt x="57195" y="811245"/>
                  </a:lnTo>
                  <a:lnTo>
                    <a:pt x="26954" y="781004"/>
                  </a:lnTo>
                  <a:lnTo>
                    <a:pt x="7122" y="742655"/>
                  </a:lnTo>
                  <a:lnTo>
                    <a:pt x="0" y="698500"/>
                  </a:lnTo>
                  <a:lnTo>
                    <a:pt x="0" y="139700"/>
                  </a:lnTo>
                  <a:close/>
                </a:path>
              </a:pathLst>
            </a:custGeom>
            <a:ln w="25400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112621" y="2892678"/>
            <a:ext cx="7046595" cy="35375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Modern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Drug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Discovery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745"/>
              </a:spcBef>
            </a:pPr>
            <a:endParaRPr sz="1800">
              <a:latin typeface="Arial MT"/>
              <a:cs typeface="Arial MT"/>
            </a:endParaRPr>
          </a:p>
          <a:p>
            <a:pPr marL="3235960" marR="5080" indent="-287020">
              <a:lnSpc>
                <a:spcPct val="100000"/>
              </a:lnSpc>
              <a:buChar char="•"/>
              <a:tabLst>
                <a:tab pos="3235960" algn="l"/>
              </a:tabLst>
            </a:pP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Data-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intensive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simulation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tests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to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discover</a:t>
            </a:r>
            <a:r>
              <a:rPr sz="18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new</a:t>
            </a:r>
            <a:r>
              <a:rPr sz="18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compounds</a:t>
            </a:r>
            <a:endParaRPr sz="1800">
              <a:latin typeface="Arial MT"/>
              <a:cs typeface="Arial MT"/>
            </a:endParaRPr>
          </a:p>
          <a:p>
            <a:pPr marL="3235960" marR="361950" indent="-287020">
              <a:lnSpc>
                <a:spcPct val="100000"/>
              </a:lnSpc>
              <a:buChar char="•"/>
              <a:tabLst>
                <a:tab pos="3235960" algn="l"/>
              </a:tabLst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Large</a:t>
            </a:r>
            <a:r>
              <a:rPr sz="18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compute</a:t>
            </a:r>
            <a:r>
              <a:rPr sz="18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power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required</a:t>
            </a:r>
            <a:r>
              <a:rPr sz="18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for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simulation</a:t>
            </a:r>
            <a:r>
              <a:rPr sz="18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jobs</a:t>
            </a:r>
            <a:endParaRPr sz="1800">
              <a:latin typeface="Arial MT"/>
              <a:cs typeface="Arial MT"/>
            </a:endParaRPr>
          </a:p>
          <a:p>
            <a:pPr marL="3235325" indent="-286385">
              <a:lnSpc>
                <a:spcPct val="100000"/>
              </a:lnSpc>
              <a:buChar char="•"/>
              <a:tabLst>
                <a:tab pos="3235325" algn="l"/>
              </a:tabLst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Time</a:t>
            </a:r>
            <a:r>
              <a:rPr sz="18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market</a:t>
            </a:r>
            <a:r>
              <a:rPr sz="18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is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crucial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80"/>
              </a:spcBef>
            </a:pPr>
            <a:endParaRPr sz="1800">
              <a:latin typeface="Arial MT"/>
              <a:cs typeface="Arial MT"/>
            </a:endParaRPr>
          </a:p>
          <a:p>
            <a:pPr marR="1987550" algn="ctr">
              <a:lnSpc>
                <a:spcPct val="100000"/>
              </a:lnSpc>
            </a:pP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Why</a:t>
            </a:r>
            <a:r>
              <a:rPr sz="24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not</a:t>
            </a:r>
            <a:r>
              <a:rPr sz="24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rent</a:t>
            </a:r>
            <a:r>
              <a:rPr sz="24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computer</a:t>
            </a:r>
            <a:r>
              <a:rPr sz="24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time</a:t>
            </a:r>
            <a:r>
              <a:rPr sz="24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24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Arial MT"/>
                <a:cs typeface="Arial MT"/>
              </a:rPr>
              <a:t>run</a:t>
            </a:r>
            <a:endParaRPr sz="2400">
              <a:latin typeface="Arial MT"/>
              <a:cs typeface="Arial MT"/>
            </a:endParaRPr>
          </a:p>
          <a:p>
            <a:pPr marR="1985010" algn="ctr">
              <a:lnSpc>
                <a:spcPct val="100000"/>
              </a:lnSpc>
            </a:pP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these</a:t>
            </a:r>
            <a:r>
              <a:rPr sz="2400" spc="-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simulations?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8614" rIns="0" bIns="0" rtlCol="0">
            <a:spAutoFit/>
          </a:bodyPr>
          <a:lstStyle/>
          <a:p>
            <a:pPr marL="1809750">
              <a:lnSpc>
                <a:spcPct val="100000"/>
              </a:lnSpc>
              <a:spcBef>
                <a:spcPts val="105"/>
              </a:spcBef>
            </a:pPr>
            <a:r>
              <a:rPr dirty="0"/>
              <a:t>Periodic</a:t>
            </a:r>
            <a:r>
              <a:rPr spc="-30" dirty="0"/>
              <a:t> </a:t>
            </a:r>
            <a:r>
              <a:rPr spc="-10" dirty="0"/>
              <a:t>Applications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130300" y="1722120"/>
            <a:ext cx="4897755" cy="3307079"/>
            <a:chOff x="1130300" y="1722120"/>
            <a:chExt cx="4897755" cy="330707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26614" y="1908048"/>
              <a:ext cx="3901440" cy="312115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143000" y="1734820"/>
              <a:ext cx="2819400" cy="685800"/>
            </a:xfrm>
            <a:custGeom>
              <a:avLst/>
              <a:gdLst/>
              <a:ahLst/>
              <a:cxnLst/>
              <a:rect l="l" t="t" r="r" b="b"/>
              <a:pathLst>
                <a:path w="2819400" h="685800">
                  <a:moveTo>
                    <a:pt x="2705100" y="0"/>
                  </a:moveTo>
                  <a:lnTo>
                    <a:pt x="114300" y="0"/>
                  </a:lnTo>
                  <a:lnTo>
                    <a:pt x="69812" y="8983"/>
                  </a:lnTo>
                  <a:lnTo>
                    <a:pt x="33480" y="33480"/>
                  </a:lnTo>
                  <a:lnTo>
                    <a:pt x="8983" y="69812"/>
                  </a:lnTo>
                  <a:lnTo>
                    <a:pt x="0" y="114300"/>
                  </a:lnTo>
                  <a:lnTo>
                    <a:pt x="0" y="571500"/>
                  </a:lnTo>
                  <a:lnTo>
                    <a:pt x="8983" y="615987"/>
                  </a:lnTo>
                  <a:lnTo>
                    <a:pt x="33480" y="652319"/>
                  </a:lnTo>
                  <a:lnTo>
                    <a:pt x="69812" y="676816"/>
                  </a:lnTo>
                  <a:lnTo>
                    <a:pt x="114300" y="685800"/>
                  </a:lnTo>
                  <a:lnTo>
                    <a:pt x="2705100" y="685800"/>
                  </a:lnTo>
                  <a:lnTo>
                    <a:pt x="2749587" y="676816"/>
                  </a:lnTo>
                  <a:lnTo>
                    <a:pt x="2785919" y="652319"/>
                  </a:lnTo>
                  <a:lnTo>
                    <a:pt x="2810416" y="615987"/>
                  </a:lnTo>
                  <a:lnTo>
                    <a:pt x="2819400" y="571500"/>
                  </a:lnTo>
                  <a:lnTo>
                    <a:pt x="2819400" y="114300"/>
                  </a:lnTo>
                  <a:lnTo>
                    <a:pt x="2810416" y="69812"/>
                  </a:lnTo>
                  <a:lnTo>
                    <a:pt x="2785919" y="33480"/>
                  </a:lnTo>
                  <a:lnTo>
                    <a:pt x="2749587" y="8983"/>
                  </a:lnTo>
                  <a:lnTo>
                    <a:pt x="27051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43000" y="1734820"/>
              <a:ext cx="2819400" cy="685800"/>
            </a:xfrm>
            <a:custGeom>
              <a:avLst/>
              <a:gdLst/>
              <a:ahLst/>
              <a:cxnLst/>
              <a:rect l="l" t="t" r="r" b="b"/>
              <a:pathLst>
                <a:path w="2819400" h="685800">
                  <a:moveTo>
                    <a:pt x="0" y="114300"/>
                  </a:moveTo>
                  <a:lnTo>
                    <a:pt x="8983" y="69812"/>
                  </a:lnTo>
                  <a:lnTo>
                    <a:pt x="33480" y="33480"/>
                  </a:lnTo>
                  <a:lnTo>
                    <a:pt x="69812" y="8983"/>
                  </a:lnTo>
                  <a:lnTo>
                    <a:pt x="114300" y="0"/>
                  </a:lnTo>
                  <a:lnTo>
                    <a:pt x="2705100" y="0"/>
                  </a:lnTo>
                  <a:lnTo>
                    <a:pt x="2749587" y="8983"/>
                  </a:lnTo>
                  <a:lnTo>
                    <a:pt x="2785919" y="33480"/>
                  </a:lnTo>
                  <a:lnTo>
                    <a:pt x="2810416" y="69812"/>
                  </a:lnTo>
                  <a:lnTo>
                    <a:pt x="2819400" y="114300"/>
                  </a:lnTo>
                  <a:lnTo>
                    <a:pt x="2819400" y="571500"/>
                  </a:lnTo>
                  <a:lnTo>
                    <a:pt x="2810416" y="615987"/>
                  </a:lnTo>
                  <a:lnTo>
                    <a:pt x="2785919" y="652319"/>
                  </a:lnTo>
                  <a:lnTo>
                    <a:pt x="2749587" y="676816"/>
                  </a:lnTo>
                  <a:lnTo>
                    <a:pt x="2705100" y="685800"/>
                  </a:lnTo>
                  <a:lnTo>
                    <a:pt x="114300" y="685800"/>
                  </a:lnTo>
                  <a:lnTo>
                    <a:pt x="69812" y="676816"/>
                  </a:lnTo>
                  <a:lnTo>
                    <a:pt x="33480" y="652319"/>
                  </a:lnTo>
                  <a:lnTo>
                    <a:pt x="8983" y="615987"/>
                  </a:lnTo>
                  <a:lnTo>
                    <a:pt x="0" y="571500"/>
                  </a:lnTo>
                  <a:lnTo>
                    <a:pt x="0" y="114300"/>
                  </a:lnTo>
                  <a:close/>
                </a:path>
              </a:pathLst>
            </a:custGeom>
            <a:ln w="25400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455547" y="1922145"/>
            <a:ext cx="2193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Sock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Market</a:t>
            </a:r>
            <a:r>
              <a:rPr sz="1800" spc="-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Analysis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691254" y="3310254"/>
            <a:ext cx="4673600" cy="1351915"/>
            <a:chOff x="3691254" y="3310254"/>
            <a:chExt cx="4673600" cy="1351915"/>
          </a:xfrm>
        </p:grpSpPr>
        <p:sp>
          <p:nvSpPr>
            <p:cNvPr id="9" name="object 9"/>
            <p:cNvSpPr/>
            <p:nvPr/>
          </p:nvSpPr>
          <p:spPr>
            <a:xfrm>
              <a:off x="3703954" y="3322954"/>
              <a:ext cx="4648200" cy="1326515"/>
            </a:xfrm>
            <a:custGeom>
              <a:avLst/>
              <a:gdLst/>
              <a:ahLst/>
              <a:cxnLst/>
              <a:rect l="l" t="t" r="r" b="b"/>
              <a:pathLst>
                <a:path w="4648200" h="1326514">
                  <a:moveTo>
                    <a:pt x="4427220" y="0"/>
                  </a:moveTo>
                  <a:lnTo>
                    <a:pt x="221107" y="0"/>
                  </a:lnTo>
                  <a:lnTo>
                    <a:pt x="176565" y="4489"/>
                  </a:lnTo>
                  <a:lnTo>
                    <a:pt x="135070" y="17367"/>
                  </a:lnTo>
                  <a:lnTo>
                    <a:pt x="97513" y="37745"/>
                  </a:lnTo>
                  <a:lnTo>
                    <a:pt x="64785" y="64738"/>
                  </a:lnTo>
                  <a:lnTo>
                    <a:pt x="37779" y="97457"/>
                  </a:lnTo>
                  <a:lnTo>
                    <a:pt x="17385" y="135016"/>
                  </a:lnTo>
                  <a:lnTo>
                    <a:pt x="4494" y="176529"/>
                  </a:lnTo>
                  <a:lnTo>
                    <a:pt x="0" y="221107"/>
                  </a:lnTo>
                  <a:lnTo>
                    <a:pt x="0" y="1105408"/>
                  </a:lnTo>
                  <a:lnTo>
                    <a:pt x="4494" y="1149985"/>
                  </a:lnTo>
                  <a:lnTo>
                    <a:pt x="17385" y="1191498"/>
                  </a:lnTo>
                  <a:lnTo>
                    <a:pt x="37779" y="1229057"/>
                  </a:lnTo>
                  <a:lnTo>
                    <a:pt x="64785" y="1261776"/>
                  </a:lnTo>
                  <a:lnTo>
                    <a:pt x="97513" y="1288769"/>
                  </a:lnTo>
                  <a:lnTo>
                    <a:pt x="135070" y="1309147"/>
                  </a:lnTo>
                  <a:lnTo>
                    <a:pt x="176565" y="1322025"/>
                  </a:lnTo>
                  <a:lnTo>
                    <a:pt x="221107" y="1326515"/>
                  </a:lnTo>
                  <a:lnTo>
                    <a:pt x="4427220" y="1326515"/>
                  </a:lnTo>
                  <a:lnTo>
                    <a:pt x="4471756" y="1322025"/>
                  </a:lnTo>
                  <a:lnTo>
                    <a:pt x="4513236" y="1309147"/>
                  </a:lnTo>
                  <a:lnTo>
                    <a:pt x="4550773" y="1288769"/>
                  </a:lnTo>
                  <a:lnTo>
                    <a:pt x="4583477" y="1261776"/>
                  </a:lnTo>
                  <a:lnTo>
                    <a:pt x="4610460" y="1229057"/>
                  </a:lnTo>
                  <a:lnTo>
                    <a:pt x="4630834" y="1191498"/>
                  </a:lnTo>
                  <a:lnTo>
                    <a:pt x="4643710" y="1149985"/>
                  </a:lnTo>
                  <a:lnTo>
                    <a:pt x="4648200" y="1105408"/>
                  </a:lnTo>
                  <a:lnTo>
                    <a:pt x="4648200" y="221107"/>
                  </a:lnTo>
                  <a:lnTo>
                    <a:pt x="4643710" y="176529"/>
                  </a:lnTo>
                  <a:lnTo>
                    <a:pt x="4630834" y="135016"/>
                  </a:lnTo>
                  <a:lnTo>
                    <a:pt x="4610460" y="97457"/>
                  </a:lnTo>
                  <a:lnTo>
                    <a:pt x="4583477" y="64738"/>
                  </a:lnTo>
                  <a:lnTo>
                    <a:pt x="4550773" y="37745"/>
                  </a:lnTo>
                  <a:lnTo>
                    <a:pt x="4513236" y="17367"/>
                  </a:lnTo>
                  <a:lnTo>
                    <a:pt x="4471756" y="4489"/>
                  </a:lnTo>
                  <a:lnTo>
                    <a:pt x="442722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703954" y="3322954"/>
              <a:ext cx="4648200" cy="1326515"/>
            </a:xfrm>
            <a:custGeom>
              <a:avLst/>
              <a:gdLst/>
              <a:ahLst/>
              <a:cxnLst/>
              <a:rect l="l" t="t" r="r" b="b"/>
              <a:pathLst>
                <a:path w="4648200" h="1326514">
                  <a:moveTo>
                    <a:pt x="0" y="221107"/>
                  </a:moveTo>
                  <a:lnTo>
                    <a:pt x="4494" y="176529"/>
                  </a:lnTo>
                  <a:lnTo>
                    <a:pt x="17385" y="135016"/>
                  </a:lnTo>
                  <a:lnTo>
                    <a:pt x="37779" y="97457"/>
                  </a:lnTo>
                  <a:lnTo>
                    <a:pt x="64785" y="64738"/>
                  </a:lnTo>
                  <a:lnTo>
                    <a:pt x="97513" y="37745"/>
                  </a:lnTo>
                  <a:lnTo>
                    <a:pt x="135070" y="17367"/>
                  </a:lnTo>
                  <a:lnTo>
                    <a:pt x="176565" y="4489"/>
                  </a:lnTo>
                  <a:lnTo>
                    <a:pt x="221107" y="0"/>
                  </a:lnTo>
                  <a:lnTo>
                    <a:pt x="4427220" y="0"/>
                  </a:lnTo>
                  <a:lnTo>
                    <a:pt x="4471756" y="4489"/>
                  </a:lnTo>
                  <a:lnTo>
                    <a:pt x="4513236" y="17367"/>
                  </a:lnTo>
                  <a:lnTo>
                    <a:pt x="4550773" y="37745"/>
                  </a:lnTo>
                  <a:lnTo>
                    <a:pt x="4583477" y="64738"/>
                  </a:lnTo>
                  <a:lnTo>
                    <a:pt x="4610460" y="97457"/>
                  </a:lnTo>
                  <a:lnTo>
                    <a:pt x="4630834" y="135016"/>
                  </a:lnTo>
                  <a:lnTo>
                    <a:pt x="4643710" y="176529"/>
                  </a:lnTo>
                  <a:lnTo>
                    <a:pt x="4648200" y="221107"/>
                  </a:lnTo>
                  <a:lnTo>
                    <a:pt x="4648200" y="1105408"/>
                  </a:lnTo>
                  <a:lnTo>
                    <a:pt x="4643710" y="1149985"/>
                  </a:lnTo>
                  <a:lnTo>
                    <a:pt x="4630834" y="1191498"/>
                  </a:lnTo>
                  <a:lnTo>
                    <a:pt x="4610460" y="1229057"/>
                  </a:lnTo>
                  <a:lnTo>
                    <a:pt x="4583477" y="1261776"/>
                  </a:lnTo>
                  <a:lnTo>
                    <a:pt x="4550773" y="1288769"/>
                  </a:lnTo>
                  <a:lnTo>
                    <a:pt x="4513236" y="1309147"/>
                  </a:lnTo>
                  <a:lnTo>
                    <a:pt x="4471756" y="1322025"/>
                  </a:lnTo>
                  <a:lnTo>
                    <a:pt x="4427220" y="1326515"/>
                  </a:lnTo>
                  <a:lnTo>
                    <a:pt x="221107" y="1326515"/>
                  </a:lnTo>
                  <a:lnTo>
                    <a:pt x="176565" y="1322025"/>
                  </a:lnTo>
                  <a:lnTo>
                    <a:pt x="135070" y="1309147"/>
                  </a:lnTo>
                  <a:lnTo>
                    <a:pt x="97513" y="1288769"/>
                  </a:lnTo>
                  <a:lnTo>
                    <a:pt x="64785" y="1261776"/>
                  </a:lnTo>
                  <a:lnTo>
                    <a:pt x="37779" y="1229057"/>
                  </a:lnTo>
                  <a:lnTo>
                    <a:pt x="17385" y="1191498"/>
                  </a:lnTo>
                  <a:lnTo>
                    <a:pt x="4494" y="1149985"/>
                  </a:lnTo>
                  <a:lnTo>
                    <a:pt x="0" y="1105408"/>
                  </a:lnTo>
                  <a:lnTo>
                    <a:pt x="0" y="221107"/>
                  </a:lnTo>
                  <a:close/>
                </a:path>
              </a:pathLst>
            </a:custGeom>
            <a:ln w="25400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848227" y="3415410"/>
            <a:ext cx="398843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Char char="•"/>
              <a:tabLst>
                <a:tab pos="299085" algn="l"/>
              </a:tabLst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Different</a:t>
            </a:r>
            <a:r>
              <a:rPr sz="180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compuational</a:t>
            </a:r>
            <a:r>
              <a:rPr sz="18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requirements</a:t>
            </a:r>
            <a:endParaRPr sz="1800">
              <a:latin typeface="Arial MT"/>
              <a:cs typeface="Arial MT"/>
            </a:endParaRPr>
          </a:p>
          <a:p>
            <a:pPr marL="299085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over</a:t>
            </a:r>
            <a:r>
              <a:rPr sz="18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time</a:t>
            </a:r>
            <a:endParaRPr sz="18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Mine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market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data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during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8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day.</a:t>
            </a:r>
            <a:endParaRPr sz="18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Process</a:t>
            </a:r>
            <a:r>
              <a:rPr sz="18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1800" spc="-10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Analyze at</a:t>
            </a:r>
            <a:r>
              <a:rPr sz="18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night.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30200" y="5549900"/>
            <a:ext cx="6464300" cy="863600"/>
            <a:chOff x="330200" y="5549900"/>
            <a:chExt cx="6464300" cy="863600"/>
          </a:xfrm>
        </p:grpSpPr>
        <p:sp>
          <p:nvSpPr>
            <p:cNvPr id="13" name="object 13"/>
            <p:cNvSpPr/>
            <p:nvPr/>
          </p:nvSpPr>
          <p:spPr>
            <a:xfrm>
              <a:off x="342900" y="5562600"/>
              <a:ext cx="6438900" cy="838200"/>
            </a:xfrm>
            <a:custGeom>
              <a:avLst/>
              <a:gdLst/>
              <a:ahLst/>
              <a:cxnLst/>
              <a:rect l="l" t="t" r="r" b="b"/>
              <a:pathLst>
                <a:path w="6438900" h="838200">
                  <a:moveTo>
                    <a:pt x="6299200" y="0"/>
                  </a:moveTo>
                  <a:lnTo>
                    <a:pt x="139700" y="0"/>
                  </a:lnTo>
                  <a:lnTo>
                    <a:pt x="95544" y="7122"/>
                  </a:lnTo>
                  <a:lnTo>
                    <a:pt x="57195" y="26954"/>
                  </a:lnTo>
                  <a:lnTo>
                    <a:pt x="26954" y="57195"/>
                  </a:lnTo>
                  <a:lnTo>
                    <a:pt x="7122" y="95544"/>
                  </a:lnTo>
                  <a:lnTo>
                    <a:pt x="0" y="139700"/>
                  </a:lnTo>
                  <a:lnTo>
                    <a:pt x="0" y="698500"/>
                  </a:lnTo>
                  <a:lnTo>
                    <a:pt x="7122" y="742655"/>
                  </a:lnTo>
                  <a:lnTo>
                    <a:pt x="26954" y="781004"/>
                  </a:lnTo>
                  <a:lnTo>
                    <a:pt x="57195" y="811245"/>
                  </a:lnTo>
                  <a:lnTo>
                    <a:pt x="95544" y="831077"/>
                  </a:lnTo>
                  <a:lnTo>
                    <a:pt x="139700" y="838200"/>
                  </a:lnTo>
                  <a:lnTo>
                    <a:pt x="6299200" y="838200"/>
                  </a:lnTo>
                  <a:lnTo>
                    <a:pt x="6343379" y="831077"/>
                  </a:lnTo>
                  <a:lnTo>
                    <a:pt x="6381731" y="811245"/>
                  </a:lnTo>
                  <a:lnTo>
                    <a:pt x="6411963" y="781004"/>
                  </a:lnTo>
                  <a:lnTo>
                    <a:pt x="6431783" y="742655"/>
                  </a:lnTo>
                  <a:lnTo>
                    <a:pt x="6438900" y="698500"/>
                  </a:lnTo>
                  <a:lnTo>
                    <a:pt x="6438900" y="139700"/>
                  </a:lnTo>
                  <a:lnTo>
                    <a:pt x="6431783" y="95544"/>
                  </a:lnTo>
                  <a:lnTo>
                    <a:pt x="6411963" y="57195"/>
                  </a:lnTo>
                  <a:lnTo>
                    <a:pt x="6381731" y="26954"/>
                  </a:lnTo>
                  <a:lnTo>
                    <a:pt x="6343379" y="7122"/>
                  </a:lnTo>
                  <a:lnTo>
                    <a:pt x="62992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42900" y="5562600"/>
              <a:ext cx="6438900" cy="838200"/>
            </a:xfrm>
            <a:custGeom>
              <a:avLst/>
              <a:gdLst/>
              <a:ahLst/>
              <a:cxnLst/>
              <a:rect l="l" t="t" r="r" b="b"/>
              <a:pathLst>
                <a:path w="6438900" h="838200">
                  <a:moveTo>
                    <a:pt x="0" y="139700"/>
                  </a:moveTo>
                  <a:lnTo>
                    <a:pt x="7122" y="95544"/>
                  </a:lnTo>
                  <a:lnTo>
                    <a:pt x="26954" y="57195"/>
                  </a:lnTo>
                  <a:lnTo>
                    <a:pt x="57195" y="26954"/>
                  </a:lnTo>
                  <a:lnTo>
                    <a:pt x="95544" y="7122"/>
                  </a:lnTo>
                  <a:lnTo>
                    <a:pt x="139700" y="0"/>
                  </a:lnTo>
                  <a:lnTo>
                    <a:pt x="6299200" y="0"/>
                  </a:lnTo>
                  <a:lnTo>
                    <a:pt x="6343379" y="7122"/>
                  </a:lnTo>
                  <a:lnTo>
                    <a:pt x="6381731" y="26954"/>
                  </a:lnTo>
                  <a:lnTo>
                    <a:pt x="6411963" y="57195"/>
                  </a:lnTo>
                  <a:lnTo>
                    <a:pt x="6431783" y="95544"/>
                  </a:lnTo>
                  <a:lnTo>
                    <a:pt x="6438900" y="139700"/>
                  </a:lnTo>
                  <a:lnTo>
                    <a:pt x="6438900" y="698500"/>
                  </a:lnTo>
                  <a:lnTo>
                    <a:pt x="6431783" y="742655"/>
                  </a:lnTo>
                  <a:lnTo>
                    <a:pt x="6411963" y="781004"/>
                  </a:lnTo>
                  <a:lnTo>
                    <a:pt x="6381731" y="811245"/>
                  </a:lnTo>
                  <a:lnTo>
                    <a:pt x="6343379" y="831077"/>
                  </a:lnTo>
                  <a:lnTo>
                    <a:pt x="6299200" y="838200"/>
                  </a:lnTo>
                  <a:lnTo>
                    <a:pt x="139700" y="838200"/>
                  </a:lnTo>
                  <a:lnTo>
                    <a:pt x="95544" y="831077"/>
                  </a:lnTo>
                  <a:lnTo>
                    <a:pt x="57195" y="811245"/>
                  </a:lnTo>
                  <a:lnTo>
                    <a:pt x="26954" y="781004"/>
                  </a:lnTo>
                  <a:lnTo>
                    <a:pt x="7122" y="742655"/>
                  </a:lnTo>
                  <a:lnTo>
                    <a:pt x="0" y="698500"/>
                  </a:lnTo>
                  <a:lnTo>
                    <a:pt x="0" y="139700"/>
                  </a:lnTo>
                  <a:close/>
                </a:path>
              </a:pathLst>
            </a:custGeom>
            <a:ln w="25400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862075" y="5596839"/>
            <a:ext cx="539813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59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Dynamic</a:t>
            </a:r>
            <a:r>
              <a:rPr sz="2400" spc="-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2400" spc="-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Flexible</a:t>
            </a:r>
            <a:r>
              <a:rPr sz="24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infrastructure</a:t>
            </a:r>
            <a:r>
              <a:rPr sz="2400" spc="-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Arial MT"/>
                <a:cs typeface="Arial MT"/>
              </a:rPr>
              <a:t>can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reduce</a:t>
            </a:r>
            <a:r>
              <a:rPr sz="24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costs</a:t>
            </a:r>
            <a:r>
              <a:rPr sz="24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240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improve</a:t>
            </a:r>
            <a:r>
              <a:rPr sz="24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performance.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8614" rIns="0" bIns="0" rtlCol="0">
            <a:spAutoFit/>
          </a:bodyPr>
          <a:lstStyle/>
          <a:p>
            <a:pPr marL="1733550">
              <a:lnSpc>
                <a:spcPct val="100000"/>
              </a:lnSpc>
              <a:spcBef>
                <a:spcPts val="105"/>
              </a:spcBef>
            </a:pPr>
            <a:r>
              <a:rPr dirty="0"/>
              <a:t>Technical</a:t>
            </a:r>
            <a:r>
              <a:rPr spc="-70" dirty="0"/>
              <a:t> </a:t>
            </a:r>
            <a:r>
              <a:rPr spc="-10" dirty="0"/>
              <a:t>Challenges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sz="3200" dirty="0"/>
              <a:t>Programming</a:t>
            </a:r>
            <a:r>
              <a:rPr sz="3200" spc="-65" dirty="0"/>
              <a:t> </a:t>
            </a:r>
            <a:r>
              <a:rPr sz="3200" dirty="0"/>
              <a:t>is</a:t>
            </a:r>
            <a:r>
              <a:rPr sz="3200" spc="-25" dirty="0"/>
              <a:t> </a:t>
            </a:r>
            <a:r>
              <a:rPr sz="3200" dirty="0"/>
              <a:t>tricky</a:t>
            </a:r>
            <a:r>
              <a:rPr sz="3200" spc="-60" dirty="0"/>
              <a:t> </a:t>
            </a:r>
            <a:r>
              <a:rPr sz="3200" dirty="0"/>
              <a:t>but</a:t>
            </a:r>
            <a:r>
              <a:rPr sz="3200" spc="-20" dirty="0"/>
              <a:t> </a:t>
            </a:r>
            <a:r>
              <a:rPr sz="3200" spc="-10" dirty="0"/>
              <a:t>improving </a:t>
            </a:r>
            <a:r>
              <a:rPr sz="3200" dirty="0"/>
              <a:t>Tools</a:t>
            </a:r>
            <a:r>
              <a:rPr sz="3200" spc="-65" dirty="0"/>
              <a:t> </a:t>
            </a:r>
            <a:r>
              <a:rPr sz="3200" dirty="0"/>
              <a:t>are</a:t>
            </a:r>
            <a:r>
              <a:rPr sz="3200" spc="-60" dirty="0"/>
              <a:t> </a:t>
            </a:r>
            <a:r>
              <a:rPr sz="3200" dirty="0"/>
              <a:t>continuously</a:t>
            </a:r>
            <a:r>
              <a:rPr sz="3200" spc="-35" dirty="0"/>
              <a:t> </a:t>
            </a:r>
            <a:r>
              <a:rPr sz="3200" spc="-10" dirty="0"/>
              <a:t>evolving </a:t>
            </a:r>
            <a:r>
              <a:rPr sz="3200" dirty="0"/>
              <a:t>Moving</a:t>
            </a:r>
            <a:r>
              <a:rPr sz="3200" spc="-60" dirty="0"/>
              <a:t> </a:t>
            </a:r>
            <a:r>
              <a:rPr sz="3200" dirty="0"/>
              <a:t>large</a:t>
            </a:r>
            <a:r>
              <a:rPr sz="3200" spc="-20" dirty="0"/>
              <a:t> </a:t>
            </a:r>
            <a:r>
              <a:rPr sz="3200" dirty="0"/>
              <a:t>data</a:t>
            </a:r>
            <a:r>
              <a:rPr sz="3200" spc="-40" dirty="0"/>
              <a:t> </a:t>
            </a:r>
            <a:r>
              <a:rPr sz="3200" dirty="0"/>
              <a:t>is</a:t>
            </a:r>
            <a:r>
              <a:rPr sz="3200" spc="-35" dirty="0"/>
              <a:t> </a:t>
            </a:r>
            <a:r>
              <a:rPr sz="3200" dirty="0"/>
              <a:t>still</a:t>
            </a:r>
            <a:r>
              <a:rPr sz="3200" spc="-20" dirty="0"/>
              <a:t> </a:t>
            </a:r>
            <a:r>
              <a:rPr sz="3200" spc="-10" dirty="0"/>
              <a:t>expensive Security</a:t>
            </a:r>
            <a:endParaRPr sz="3200"/>
          </a:p>
          <a:p>
            <a:pPr marL="12700" marR="2665730">
              <a:lnSpc>
                <a:spcPct val="120000"/>
              </a:lnSpc>
            </a:pPr>
            <a:r>
              <a:rPr sz="3200" dirty="0"/>
              <a:t>Quality</a:t>
            </a:r>
            <a:r>
              <a:rPr sz="3200" spc="-30" dirty="0"/>
              <a:t> </a:t>
            </a:r>
            <a:r>
              <a:rPr sz="3200" dirty="0"/>
              <a:t>of</a:t>
            </a:r>
            <a:r>
              <a:rPr sz="3200" spc="-25" dirty="0"/>
              <a:t> </a:t>
            </a:r>
            <a:r>
              <a:rPr sz="3200" spc="-10" dirty="0"/>
              <a:t>Service </a:t>
            </a:r>
            <a:r>
              <a:rPr sz="3200" dirty="0"/>
              <a:t>Green</a:t>
            </a:r>
            <a:r>
              <a:rPr sz="3200" spc="-55" dirty="0"/>
              <a:t> </a:t>
            </a:r>
            <a:r>
              <a:rPr sz="3200" spc="-10" dirty="0"/>
              <a:t>computing </a:t>
            </a:r>
            <a:r>
              <a:rPr sz="3200" dirty="0"/>
              <a:t>Internet</a:t>
            </a:r>
            <a:r>
              <a:rPr sz="3200" spc="-60" dirty="0"/>
              <a:t> </a:t>
            </a:r>
            <a:r>
              <a:rPr sz="3200" spc="-10" dirty="0"/>
              <a:t>Dependence</a:t>
            </a:r>
            <a:endParaRPr sz="32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0473" y="1807044"/>
            <a:ext cx="188252" cy="19236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0473" y="2392260"/>
            <a:ext cx="188252" cy="19236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0473" y="2977476"/>
            <a:ext cx="188252" cy="19236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0473" y="3562693"/>
            <a:ext cx="188252" cy="19236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0473" y="4147908"/>
            <a:ext cx="188252" cy="192366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8640" y="4683252"/>
            <a:ext cx="278891" cy="28498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8640" y="5268467"/>
            <a:ext cx="278891" cy="28498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8614" rIns="0" bIns="0" rtlCol="0">
            <a:spAutoFit/>
          </a:bodyPr>
          <a:lstStyle/>
          <a:p>
            <a:pPr marL="112649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Non-</a:t>
            </a:r>
            <a:r>
              <a:rPr dirty="0"/>
              <a:t>Technical</a:t>
            </a:r>
            <a:r>
              <a:rPr spc="10" dirty="0"/>
              <a:t> </a:t>
            </a:r>
            <a:r>
              <a:rPr spc="-10" dirty="0"/>
              <a:t>Challenges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0473" y="1807044"/>
            <a:ext cx="188252" cy="19236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0473" y="2392260"/>
            <a:ext cx="188252" cy="19236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0473" y="2977476"/>
            <a:ext cx="188252" cy="19236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0473" y="3562693"/>
            <a:ext cx="188252" cy="19236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0473" y="4147908"/>
            <a:ext cx="188252" cy="192366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8640" y="4683252"/>
            <a:ext cx="278891" cy="284988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878839" y="1524420"/>
            <a:ext cx="4765040" cy="3538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536065">
              <a:lnSpc>
                <a:spcPct val="120000"/>
              </a:lnSpc>
              <a:spcBef>
                <a:spcPts val="100"/>
              </a:spcBef>
            </a:pPr>
            <a:r>
              <a:rPr sz="3200" dirty="0">
                <a:latin typeface="Arial MT"/>
                <a:cs typeface="Arial MT"/>
              </a:rPr>
              <a:t>Vendor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Lock-</a:t>
            </a:r>
            <a:r>
              <a:rPr sz="3200" spc="-25" dirty="0">
                <a:latin typeface="Arial MT"/>
                <a:cs typeface="Arial MT"/>
              </a:rPr>
              <a:t>In </a:t>
            </a:r>
            <a:r>
              <a:rPr sz="3200" spc="-10" dirty="0">
                <a:latin typeface="Arial MT"/>
                <a:cs typeface="Arial MT"/>
              </a:rPr>
              <a:t>Non-standardized </a:t>
            </a:r>
            <a:r>
              <a:rPr sz="3200" dirty="0">
                <a:latin typeface="Arial MT"/>
                <a:cs typeface="Arial MT"/>
              </a:rPr>
              <a:t>Security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Risks Privacy</a:t>
            </a:r>
            <a:endParaRPr sz="3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3200" spc="-10" dirty="0">
                <a:latin typeface="Arial MT"/>
                <a:cs typeface="Arial MT"/>
              </a:rPr>
              <a:t>Legal</a:t>
            </a:r>
            <a:endParaRPr sz="3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3200" dirty="0">
                <a:latin typeface="Arial MT"/>
                <a:cs typeface="Arial MT"/>
              </a:rPr>
              <a:t>Service</a:t>
            </a:r>
            <a:r>
              <a:rPr sz="3200" spc="-8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Level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Agreements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8614" rIns="0" bIns="0" rtlCol="0">
            <a:spAutoFit/>
          </a:bodyPr>
          <a:lstStyle/>
          <a:p>
            <a:pPr marL="2992755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Questions?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2247" y="1755648"/>
            <a:ext cx="6699504" cy="374294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</TotalTime>
  <Words>931</Words>
  <Application>Microsoft Office PowerPoint</Application>
  <PresentationFormat>On-screen Show (4:3)</PresentationFormat>
  <Paragraphs>204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Arial MT</vt:lpstr>
      <vt:lpstr>Calibri</vt:lpstr>
      <vt:lpstr>Calibri Light</vt:lpstr>
      <vt:lpstr>Times New Roman</vt:lpstr>
      <vt:lpstr>Office Theme</vt:lpstr>
      <vt:lpstr>Cloud Computing</vt:lpstr>
      <vt:lpstr>…How Will We Manage Our Data?</vt:lpstr>
      <vt:lpstr>Has this Happened Before?</vt:lpstr>
      <vt:lpstr>Think of it this Way …</vt:lpstr>
      <vt:lpstr>How About Electricity?</vt:lpstr>
      <vt:lpstr>…and Banking?</vt:lpstr>
      <vt:lpstr>So What is Cloud Computing?</vt:lpstr>
      <vt:lpstr>Can We Define Cloud Computing?</vt:lpstr>
      <vt:lpstr>Cloud Computing</vt:lpstr>
      <vt:lpstr>So… how would you transform information technology into a Service?</vt:lpstr>
      <vt:lpstr>Requirements to Transform IT to a Service</vt:lpstr>
      <vt:lpstr>Requirements to Transform IT to a Service</vt:lpstr>
      <vt:lpstr>Combine the Enabling Technologies…</vt:lpstr>
      <vt:lpstr>Cloud Computing</vt:lpstr>
      <vt:lpstr>… for a more complete definition!</vt:lpstr>
      <vt:lpstr>Why Cloud Computing?</vt:lpstr>
      <vt:lpstr>Applications Enabled by Cloud Computing</vt:lpstr>
      <vt:lpstr>High Growth Applications</vt:lpstr>
      <vt:lpstr>High Growth Applications</vt:lpstr>
      <vt:lpstr>Aperiodic Bursting Applications</vt:lpstr>
      <vt:lpstr>On-Off Applications</vt:lpstr>
      <vt:lpstr>Periodic Applications</vt:lpstr>
      <vt:lpstr>Technical Challenges</vt:lpstr>
      <vt:lpstr>Non-Technical Challenges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CS15-319: Cloud Computing</dc:title>
  <dc:creator>Suhail Rehman</dc:creator>
  <cp:lastModifiedBy>Muhammad Tehmeed Ebaduddin</cp:lastModifiedBy>
  <cp:revision>5</cp:revision>
  <dcterms:created xsi:type="dcterms:W3CDTF">2025-03-17T06:17:02Z</dcterms:created>
  <dcterms:modified xsi:type="dcterms:W3CDTF">2025-04-28T06:26:39Z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2012-05-14T00:00:00Z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2025-03-17T00:00:00Z</vt:filetime>
  </property>
  <property fmtid="{D5CDD505-2E9C-101B-9397-08002B2CF9AE}" pid="5" name="Producer">
    <vt:lpwstr>Microsoft® PowerPoint® 2010</vt:lpwstr>
  </property>
</Properties>
</file>