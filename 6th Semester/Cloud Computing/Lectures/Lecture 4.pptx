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8" r:id="rId4"/>
    <p:sldId id="280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C723-910E-93E2-DD9E-8C009BDA9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14BF-6AB1-2D6D-6C4F-16D43C851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793D-BC27-00EE-2FE6-546C095B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3F34-D6D5-FD76-003E-2A58F613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AA20-775D-3D2F-5A7C-7AD3544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2FF1-5278-5ED2-3767-41B28EA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A888-CFAA-13F0-D840-385DDCFF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5C23-31CF-484D-2328-D3266B2E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5DAA-32A6-289B-9E90-1CFC1CA1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4707-4693-1023-C481-A133F5E6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9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C375-50CD-EA28-6B1C-C2AB02E5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1A47A-1256-9120-418B-E4DBED9C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8D2F-FFEC-130A-6F79-0A342E16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E272-A511-0A83-4DF4-B8171F42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DCCA-79B9-7D08-3680-0167AFEC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19E-66D0-C991-CF64-51DDBF42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064C-B38C-6CCA-DF94-1095C619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C86A-B983-1DB9-540F-4315296C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106DA-F39D-FE19-519C-1E98FB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0453-7BEA-116C-3B43-D67AC9E2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A49C-F7C6-6B3D-0FFA-2C228066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8711-F69C-889B-C637-CA961B0D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4783C-F9D8-7E88-C55A-8E9F164A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FE16B-9ABE-0D57-76D6-D0C19AA4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41C41-607D-575F-660E-925F3B7E7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59849-E3AE-0BAD-2CA3-B81A42DCA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21567-24A0-44CD-4387-19B08F55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ACE88-8596-3D9F-C582-64F1BA0B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3C9B-1E73-E98E-202A-E561A5BE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774D-DE1B-A677-03B5-9FC6155B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327C-DBC4-AE06-2930-2D7165E5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0E5B1-38C5-F490-805C-81DBE4B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58315-D355-1669-B9E2-DFC6F11A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0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1596F-7C93-C3BF-7868-17419B5F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07FB4-764F-A667-3ADA-198CBA5B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EAA6-8BA4-825F-E526-A2FFB2D4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0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8C44-8946-6AD4-AA89-D9A63A15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62C0-983A-C2F0-5EA7-C6005856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BED01-D740-A0F2-E3BD-840425BA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23CB5-4F6E-AE43-86E7-832021D2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3263A-156D-BFE7-4FCA-26995177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08A6-1715-6291-4454-CF47944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76D8-2CCE-27A4-9713-D309E338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E9596-F967-1C9E-6FC7-A142A52CD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9478-63A9-3E4A-F73F-DED6E541B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B5BE0-E9F0-D9FB-3EBB-BAAC0AC7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CB467-3CF9-5F53-87D7-5C0AF2CE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1079C-5D0D-7F8D-8ED2-9BA257BE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7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7FA9-CAA8-4258-79B7-A50335F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1F37-0CB8-3F51-D008-66CE2BA3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190C8-94FB-67B8-DD0D-56653CFC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A8-F553-9046-54E4-C31DB93A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DA376-D484-E164-C7C0-F19F2955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9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6C985-2286-D8FE-519B-64932E728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F44F0-43A5-4577-65C4-D49E14080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77-3851-6C68-007A-CA235A5F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8C42B-D7BE-642F-EA9C-1A0E27C0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6A69-A374-A51E-BB84-DB7FEBBB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FCB9C-D80B-0916-0FA5-32E5FB9C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6BB38-34A0-8057-E63F-C078CA4E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A0031-A66E-0EF1-B1CE-E45DDB2A6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E475-8084-6708-B118-D30658279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7E31-1CC5-7E1B-DBCD-7168AFBF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4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7534-7AC6-31C1-9CBE-14B33B764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BDAA5-5BB9-B108-8CC4-898094664F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Benefits of Cloud Computing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178F5-7334-EFBC-ECD7-421AF5FEF827}"/>
              </a:ext>
            </a:extLst>
          </p:cNvPr>
          <p:cNvSpPr txBox="1"/>
          <p:nvPr/>
        </p:nvSpPr>
        <p:spPr>
          <a:xfrm>
            <a:off x="9037983" y="5830957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: Engr. Tehmeed</a:t>
            </a:r>
          </a:p>
        </p:txBody>
      </p:sp>
    </p:spTree>
    <p:extLst>
      <p:ext uri="{BB962C8B-B14F-4D97-AF65-F5344CB8AC3E}">
        <p14:creationId xmlns:p14="http://schemas.microsoft.com/office/powerpoint/2010/main" val="160269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99599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T</a:t>
            </a:r>
            <a:r>
              <a:rPr spc="-215" dirty="0"/>
              <a:t>h</a:t>
            </a:r>
            <a:r>
              <a:rPr spc="-340" dirty="0"/>
              <a:t>e</a:t>
            </a:r>
            <a:r>
              <a:rPr spc="55" dirty="0"/>
              <a:t> </a:t>
            </a:r>
            <a:r>
              <a:rPr spc="-770" dirty="0"/>
              <a:t>F</a:t>
            </a:r>
            <a:r>
              <a:rPr spc="-185" dirty="0"/>
              <a:t>i</a:t>
            </a:r>
            <a:r>
              <a:rPr spc="-395" dirty="0"/>
              <a:t>v</a:t>
            </a:r>
            <a:r>
              <a:rPr spc="-340" dirty="0"/>
              <a:t>e</a:t>
            </a:r>
            <a:r>
              <a:rPr spc="55" dirty="0"/>
              <a:t> </a:t>
            </a:r>
            <a:r>
              <a:rPr spc="-204" dirty="0"/>
              <a:t>C</a:t>
            </a:r>
            <a:r>
              <a:rPr spc="-285" dirty="0"/>
              <a:t>h</a:t>
            </a:r>
            <a:r>
              <a:rPr spc="-575" dirty="0"/>
              <a:t>a</a:t>
            </a:r>
            <a:r>
              <a:rPr spc="105" dirty="0"/>
              <a:t>r</a:t>
            </a:r>
            <a:r>
              <a:rPr spc="-575" dirty="0"/>
              <a:t>a</a:t>
            </a:r>
            <a:r>
              <a:rPr spc="-170" dirty="0"/>
              <a:t>c</a:t>
            </a:r>
            <a:r>
              <a:rPr spc="-100" dirty="0"/>
              <a:t>t</a:t>
            </a:r>
            <a:r>
              <a:rPr spc="-215" dirty="0"/>
              <a:t>e</a:t>
            </a:r>
            <a:r>
              <a:rPr spc="-25" dirty="0"/>
              <a:t>r</a:t>
            </a:r>
            <a:r>
              <a:rPr spc="-185" dirty="0"/>
              <a:t>i</a:t>
            </a:r>
            <a:r>
              <a:rPr spc="-350" dirty="0"/>
              <a:t>s</a:t>
            </a:r>
            <a:r>
              <a:rPr spc="-200" dirty="0"/>
              <a:t>t</a:t>
            </a:r>
            <a:r>
              <a:rPr spc="-185" dirty="0"/>
              <a:t>i</a:t>
            </a:r>
            <a:r>
              <a:rPr spc="-505" dirty="0"/>
              <a:t>cs</a:t>
            </a:r>
            <a:r>
              <a:rPr spc="55" dirty="0"/>
              <a:t> </a:t>
            </a:r>
            <a:r>
              <a:rPr spc="-114" dirty="0"/>
              <a:t>of</a:t>
            </a:r>
            <a:r>
              <a:rPr spc="60" dirty="0"/>
              <a:t> </a:t>
            </a:r>
            <a:r>
              <a:rPr spc="-204" dirty="0"/>
              <a:t>C</a:t>
            </a:r>
            <a:r>
              <a:rPr spc="-185" dirty="0"/>
              <a:t>l</a:t>
            </a:r>
            <a:r>
              <a:rPr spc="-180" dirty="0"/>
              <a:t>o</a:t>
            </a:r>
            <a:r>
              <a:rPr spc="-175" dirty="0"/>
              <a:t>u</a:t>
            </a:r>
            <a:r>
              <a:rPr spc="-204" dirty="0"/>
              <a:t>d</a:t>
            </a:r>
            <a:r>
              <a:rPr spc="50" dirty="0"/>
              <a:t> </a:t>
            </a:r>
            <a:r>
              <a:rPr spc="-204" dirty="0"/>
              <a:t>C</a:t>
            </a:r>
            <a:r>
              <a:rPr spc="-135" dirty="0"/>
              <a:t>o</a:t>
            </a:r>
            <a:r>
              <a:rPr spc="-210" dirty="0"/>
              <a:t>mp</a:t>
            </a:r>
            <a:r>
              <a:rPr spc="-285" dirty="0"/>
              <a:t>u</a:t>
            </a:r>
            <a:r>
              <a:rPr spc="100" dirty="0"/>
              <a:t>t</a:t>
            </a:r>
            <a:r>
              <a:rPr spc="-185" dirty="0"/>
              <a:t>i</a:t>
            </a:r>
            <a:r>
              <a:rPr spc="-285" dirty="0"/>
              <a:t>n</a:t>
            </a:r>
            <a:r>
              <a:rPr spc="-570" dirty="0"/>
              <a:t>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70972"/>
            <a:ext cx="10179685" cy="4072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150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On-demand</a:t>
            </a:r>
            <a:r>
              <a:rPr sz="3525" spc="30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47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self</a:t>
            </a:r>
            <a:r>
              <a:rPr sz="3525" spc="2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0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marR="643890" lvl="1" indent="-228600">
              <a:lnSpc>
                <a:spcPct val="71000"/>
              </a:lnSpc>
              <a:spcBef>
                <a:spcPts val="61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Users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can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provision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use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them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444949"/>
                </a:solidFill>
                <a:latin typeface="Microsoft Sans Serif"/>
                <a:cs typeface="Microsoft Sans Serif"/>
              </a:rPr>
              <a:t>without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human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interaction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from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000" spc="-5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provider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725"/>
              </a:lnSpc>
              <a:spcBef>
                <a:spcPts val="155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20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Broad</a:t>
            </a:r>
            <a:r>
              <a:rPr sz="3525" spc="2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67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network</a:t>
            </a:r>
            <a:r>
              <a:rPr sz="3525" spc="2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35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access: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30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Resources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available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over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network,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can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be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accessed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by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diverse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client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platforms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690"/>
              </a:lnSpc>
              <a:spcBef>
                <a:spcPts val="150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157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Multi-tenancy</a:t>
            </a:r>
            <a:r>
              <a:rPr sz="3525" spc="44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54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3525" spc="5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17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</a:t>
            </a:r>
            <a:r>
              <a:rPr sz="3525" spc="5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17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pooling: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17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customers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can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share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same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infrastructure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applications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with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security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privacy</a:t>
            </a:r>
            <a:endParaRPr sz="20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30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customers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are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serviced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from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same</a:t>
            </a:r>
            <a:r>
              <a:rPr sz="20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physical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resources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675"/>
              </a:lnSpc>
              <a:spcBef>
                <a:spcPts val="250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26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Rapid</a:t>
            </a:r>
            <a:r>
              <a:rPr sz="3525" spc="5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195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elasticity</a:t>
            </a:r>
            <a:r>
              <a:rPr sz="3525" spc="5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54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3525" spc="60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40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scalability: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16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Automatically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quickly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acquire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dispose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when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needed</a:t>
            </a:r>
            <a:endParaRPr sz="20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30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Q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k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26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sc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sed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on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735"/>
              </a:lnSpc>
              <a:spcBef>
                <a:spcPts val="155"/>
              </a:spcBef>
              <a:buSzPct val="102127"/>
              <a:buFont typeface="Arial"/>
              <a:buChar char="•"/>
              <a:tabLst>
                <a:tab pos="241300" algn="l"/>
              </a:tabLst>
            </a:pPr>
            <a:r>
              <a:rPr sz="3525" spc="-232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Measured</a:t>
            </a:r>
            <a:r>
              <a:rPr sz="3525" spc="7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3525" spc="-209" baseline="1182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service:</a:t>
            </a:r>
            <a:endParaRPr sz="3525" baseline="1182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31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Usage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measured,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users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pay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correctly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Microsoft Sans Serif"/>
                <a:cs typeface="Microsoft Sans Serif"/>
              </a:rPr>
              <a:t>for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what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they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have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used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800798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5" dirty="0"/>
              <a:t>Si</a:t>
            </a:r>
            <a:r>
              <a:rPr spc="-409" dirty="0"/>
              <a:t>x</a:t>
            </a:r>
            <a:r>
              <a:rPr spc="-210" dirty="0"/>
              <a:t> </a:t>
            </a:r>
            <a:r>
              <a:rPr dirty="0"/>
              <a:t>A</a:t>
            </a:r>
            <a:r>
              <a:rPr spc="-210" dirty="0"/>
              <a:t>d</a:t>
            </a:r>
            <a:r>
              <a:rPr spc="-330" dirty="0"/>
              <a:t>v</a:t>
            </a:r>
            <a:r>
              <a:rPr spc="-575" dirty="0"/>
              <a:t>a</a:t>
            </a:r>
            <a:r>
              <a:rPr spc="-285" dirty="0"/>
              <a:t>n</a:t>
            </a:r>
            <a:r>
              <a:rPr spc="100" dirty="0"/>
              <a:t>t</a:t>
            </a:r>
            <a:r>
              <a:rPr spc="-575" dirty="0"/>
              <a:t>ag</a:t>
            </a:r>
            <a:r>
              <a:rPr spc="-340" dirty="0"/>
              <a:t>e</a:t>
            </a:r>
            <a:r>
              <a:rPr spc="-645" dirty="0"/>
              <a:t>s</a:t>
            </a:r>
            <a:r>
              <a:rPr spc="60" dirty="0"/>
              <a:t> </a:t>
            </a:r>
            <a:r>
              <a:rPr spc="-65" dirty="0"/>
              <a:t>o</a:t>
            </a:r>
            <a:r>
              <a:rPr spc="-170" dirty="0"/>
              <a:t>f</a:t>
            </a:r>
            <a:r>
              <a:rPr spc="60" dirty="0"/>
              <a:t> </a:t>
            </a:r>
            <a:r>
              <a:rPr spc="-204" dirty="0"/>
              <a:t>C</a:t>
            </a:r>
            <a:r>
              <a:rPr spc="-75" dirty="0"/>
              <a:t>l</a:t>
            </a:r>
            <a:r>
              <a:rPr spc="-170" dirty="0"/>
              <a:t>o</a:t>
            </a:r>
            <a:r>
              <a:rPr spc="-285" dirty="0"/>
              <a:t>u</a:t>
            </a:r>
            <a:r>
              <a:rPr spc="-204" dirty="0"/>
              <a:t>d</a:t>
            </a:r>
            <a:r>
              <a:rPr spc="50" dirty="0"/>
              <a:t> </a:t>
            </a:r>
            <a:r>
              <a:rPr spc="-204" dirty="0"/>
              <a:t>C</a:t>
            </a:r>
            <a:r>
              <a:rPr spc="-65" dirty="0"/>
              <a:t>o</a:t>
            </a:r>
            <a:r>
              <a:rPr spc="-285" dirty="0"/>
              <a:t>m</a:t>
            </a:r>
            <a:r>
              <a:rPr spc="-210" dirty="0"/>
              <a:t>p</a:t>
            </a:r>
            <a:r>
              <a:rPr spc="-285" dirty="0"/>
              <a:t>u</a:t>
            </a:r>
            <a:r>
              <a:rPr spc="100" dirty="0"/>
              <a:t>t</a:t>
            </a:r>
            <a:r>
              <a:rPr spc="-145" dirty="0"/>
              <a:t>i</a:t>
            </a:r>
            <a:r>
              <a:rPr spc="-330" dirty="0"/>
              <a:t>n</a:t>
            </a:r>
            <a:r>
              <a:rPr spc="-570" dirty="0"/>
              <a:t>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85176"/>
            <a:ext cx="9645650" cy="421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275"/>
              </a:lnSpc>
              <a:spcBef>
                <a:spcPts val="9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7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Trade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capital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expense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5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(CAPEX)</a:t>
            </a:r>
            <a:r>
              <a:rPr sz="4125" spc="8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for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operational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expense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5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(OPEX)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81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43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400" spc="-35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105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-</a:t>
            </a:r>
            <a:r>
              <a:rPr sz="24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28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4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: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on</a:t>
            </a:r>
            <a:r>
              <a:rPr sz="24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’</a:t>
            </a:r>
            <a:r>
              <a:rPr sz="2400" spc="5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75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4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4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endParaRPr sz="24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83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95" dirty="0">
                <a:solidFill>
                  <a:srgbClr val="444949"/>
                </a:solidFill>
                <a:latin typeface="Microsoft Sans Serif"/>
                <a:cs typeface="Microsoft Sans Serif"/>
              </a:rPr>
              <a:t>Reduced</a:t>
            </a:r>
            <a:r>
              <a:rPr sz="2400" spc="-3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Total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Cost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Ownership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(TCO)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&amp;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Operational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Expense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(OPEX)</a:t>
            </a:r>
            <a:endParaRPr sz="24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3275"/>
              </a:lnSpc>
              <a:spcBef>
                <a:spcPts val="37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44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4125" spc="-3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22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12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4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3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5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ss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33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4125" spc="-28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5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14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5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4125" spc="-28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85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95" dirty="0">
                <a:solidFill>
                  <a:srgbClr val="444949"/>
                </a:solidFill>
                <a:latin typeface="Microsoft Sans Serif"/>
                <a:cs typeface="Microsoft Sans Serif"/>
              </a:rPr>
              <a:t>Prices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are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reduced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335" dirty="0">
                <a:solidFill>
                  <a:srgbClr val="444949"/>
                </a:solidFill>
                <a:latin typeface="Microsoft Sans Serif"/>
                <a:cs typeface="Microsoft Sans Serif"/>
              </a:rPr>
              <a:t>as</a:t>
            </a:r>
            <a:r>
              <a:rPr sz="24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AWS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444949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more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efficient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due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to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large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scale</a:t>
            </a:r>
            <a:endParaRPr sz="240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3275"/>
              </a:lnSpc>
              <a:spcBef>
                <a:spcPts val="37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48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-19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15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g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58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ss</a:t>
            </a:r>
            <a:r>
              <a:rPr sz="4125" spc="-12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2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g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2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it</a:t>
            </a:r>
            <a:r>
              <a:rPr sz="4125" spc="-3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ts val="285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254" dirty="0">
                <a:solidFill>
                  <a:srgbClr val="444949"/>
                </a:solidFill>
                <a:latin typeface="Microsoft Sans Serif"/>
                <a:cs typeface="Microsoft Sans Serif"/>
              </a:rPr>
              <a:t>Scal</a:t>
            </a:r>
            <a:r>
              <a:rPr sz="2400" spc="-28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400" spc="-35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actual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35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4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7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-275" dirty="0">
                <a:solidFill>
                  <a:srgbClr val="444949"/>
                </a:solidFill>
                <a:latin typeface="Microsoft Sans Serif"/>
                <a:cs typeface="Microsoft Sans Serif"/>
              </a:rPr>
              <a:t>age</a:t>
            </a:r>
            <a:endParaRPr sz="24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Increase</a:t>
            </a:r>
            <a:r>
              <a:rPr sz="4125" spc="5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speed</a:t>
            </a:r>
            <a:r>
              <a:rPr sz="4125" spc="5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4125" spc="5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agility</a:t>
            </a:r>
            <a:endParaRPr sz="4125" baseline="101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0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Stop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spending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money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running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5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maintaining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6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data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centers</a:t>
            </a:r>
            <a:endParaRPr sz="4125" baseline="101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11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Go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4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global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in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25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minutes: </a:t>
            </a:r>
            <a:r>
              <a:rPr sz="28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leverage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8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AWS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global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infrastructure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275466" y="1353258"/>
            <a:ext cx="1583055" cy="438784"/>
            <a:chOff x="1275466" y="1353258"/>
            <a:chExt cx="1583055" cy="438784"/>
          </a:xfrm>
        </p:grpSpPr>
        <p:sp>
          <p:nvSpPr>
            <p:cNvPr id="5" name="object 5"/>
            <p:cNvSpPr/>
            <p:nvPr/>
          </p:nvSpPr>
          <p:spPr>
            <a:xfrm>
              <a:off x="1281816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1816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75467" y="1864080"/>
            <a:ext cx="1583055" cy="438784"/>
            <a:chOff x="1275467" y="1864080"/>
            <a:chExt cx="1583055" cy="438784"/>
          </a:xfrm>
        </p:grpSpPr>
        <p:sp>
          <p:nvSpPr>
            <p:cNvPr id="8" name="object 8"/>
            <p:cNvSpPr/>
            <p:nvPr/>
          </p:nvSpPr>
          <p:spPr>
            <a:xfrm>
              <a:off x="1281817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81817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275466" y="2372831"/>
            <a:ext cx="1583055" cy="438784"/>
            <a:chOff x="1275466" y="2372831"/>
            <a:chExt cx="1583055" cy="438784"/>
          </a:xfrm>
        </p:grpSpPr>
        <p:sp>
          <p:nvSpPr>
            <p:cNvPr id="11" name="object 11"/>
            <p:cNvSpPr/>
            <p:nvPr/>
          </p:nvSpPr>
          <p:spPr>
            <a:xfrm>
              <a:off x="1281816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1816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275466" y="2881580"/>
            <a:ext cx="1583055" cy="438784"/>
            <a:chOff x="1275466" y="2881580"/>
            <a:chExt cx="1583055" cy="438784"/>
          </a:xfrm>
        </p:grpSpPr>
        <p:sp>
          <p:nvSpPr>
            <p:cNvPr id="14" name="object 14"/>
            <p:cNvSpPr/>
            <p:nvPr/>
          </p:nvSpPr>
          <p:spPr>
            <a:xfrm>
              <a:off x="1281816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81816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275466" y="3390331"/>
            <a:ext cx="1583055" cy="438784"/>
            <a:chOff x="1275466" y="3390331"/>
            <a:chExt cx="1583055" cy="438784"/>
          </a:xfrm>
        </p:grpSpPr>
        <p:sp>
          <p:nvSpPr>
            <p:cNvPr id="17" name="object 17"/>
            <p:cNvSpPr/>
            <p:nvPr/>
          </p:nvSpPr>
          <p:spPr>
            <a:xfrm>
              <a:off x="1281816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81816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275464" y="3899080"/>
            <a:ext cx="1583055" cy="438784"/>
            <a:chOff x="1275464" y="3899080"/>
            <a:chExt cx="1583055" cy="438784"/>
          </a:xfrm>
        </p:grpSpPr>
        <p:sp>
          <p:nvSpPr>
            <p:cNvPr id="20" name="object 20"/>
            <p:cNvSpPr/>
            <p:nvPr/>
          </p:nvSpPr>
          <p:spPr>
            <a:xfrm>
              <a:off x="1281814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81814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35573" y="1410715"/>
            <a:ext cx="126238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75463" y="4413948"/>
            <a:ext cx="1583055" cy="438784"/>
            <a:chOff x="1275463" y="4413948"/>
            <a:chExt cx="1583055" cy="438784"/>
          </a:xfrm>
        </p:grpSpPr>
        <p:sp>
          <p:nvSpPr>
            <p:cNvPr id="24" name="object 24"/>
            <p:cNvSpPr/>
            <p:nvPr/>
          </p:nvSpPr>
          <p:spPr>
            <a:xfrm>
              <a:off x="1281813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4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81813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275463" y="4916581"/>
            <a:ext cx="1583055" cy="438784"/>
            <a:chOff x="1275463" y="4916581"/>
            <a:chExt cx="1583055" cy="438784"/>
          </a:xfrm>
        </p:grpSpPr>
        <p:sp>
          <p:nvSpPr>
            <p:cNvPr id="27" name="object 27"/>
            <p:cNvSpPr/>
            <p:nvPr/>
          </p:nvSpPr>
          <p:spPr>
            <a:xfrm>
              <a:off x="1281813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1" y="404739"/>
                  </a:lnTo>
                  <a:lnTo>
                    <a:pt x="43314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81813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702144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75462" y="5437564"/>
            <a:ext cx="1583055" cy="438784"/>
            <a:chOff x="1275462" y="5437564"/>
            <a:chExt cx="1583055" cy="438784"/>
          </a:xfrm>
        </p:grpSpPr>
        <p:sp>
          <p:nvSpPr>
            <p:cNvPr id="31" name="object 31"/>
            <p:cNvSpPr/>
            <p:nvPr/>
          </p:nvSpPr>
          <p:spPr>
            <a:xfrm>
              <a:off x="1281812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81812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12849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799874" y="1353258"/>
            <a:ext cx="1583055" cy="438784"/>
            <a:chOff x="3799874" y="1353258"/>
            <a:chExt cx="1583055" cy="438784"/>
          </a:xfrm>
        </p:grpSpPr>
        <p:sp>
          <p:nvSpPr>
            <p:cNvPr id="35" name="object 35"/>
            <p:cNvSpPr/>
            <p:nvPr/>
          </p:nvSpPr>
          <p:spPr>
            <a:xfrm>
              <a:off x="3806224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06224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799874" y="1864080"/>
            <a:ext cx="1583055" cy="438784"/>
            <a:chOff x="3799874" y="1864080"/>
            <a:chExt cx="1583055" cy="438784"/>
          </a:xfrm>
        </p:grpSpPr>
        <p:sp>
          <p:nvSpPr>
            <p:cNvPr id="38" name="object 38"/>
            <p:cNvSpPr/>
            <p:nvPr/>
          </p:nvSpPr>
          <p:spPr>
            <a:xfrm>
              <a:off x="3806224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06224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799874" y="2372831"/>
            <a:ext cx="1583055" cy="438784"/>
            <a:chOff x="3799874" y="2372831"/>
            <a:chExt cx="1583055" cy="438784"/>
          </a:xfrm>
        </p:grpSpPr>
        <p:sp>
          <p:nvSpPr>
            <p:cNvPr id="41" name="object 41"/>
            <p:cNvSpPr/>
            <p:nvPr/>
          </p:nvSpPr>
          <p:spPr>
            <a:xfrm>
              <a:off x="3806224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06224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3799874" y="2881580"/>
            <a:ext cx="1583055" cy="438784"/>
            <a:chOff x="3799874" y="2881580"/>
            <a:chExt cx="1583055" cy="438784"/>
          </a:xfrm>
        </p:grpSpPr>
        <p:sp>
          <p:nvSpPr>
            <p:cNvPr id="44" name="object 44"/>
            <p:cNvSpPr/>
            <p:nvPr/>
          </p:nvSpPr>
          <p:spPr>
            <a:xfrm>
              <a:off x="3806224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06224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3799874" y="3390331"/>
            <a:ext cx="1583055" cy="438784"/>
            <a:chOff x="3799874" y="3390331"/>
            <a:chExt cx="1583055" cy="438784"/>
          </a:xfrm>
        </p:grpSpPr>
        <p:sp>
          <p:nvSpPr>
            <p:cNvPr id="47" name="object 47"/>
            <p:cNvSpPr/>
            <p:nvPr/>
          </p:nvSpPr>
          <p:spPr>
            <a:xfrm>
              <a:off x="3806224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06224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3799873" y="3899080"/>
            <a:ext cx="1583055" cy="438784"/>
            <a:chOff x="3799873" y="3899080"/>
            <a:chExt cx="1583055" cy="438784"/>
          </a:xfrm>
        </p:grpSpPr>
        <p:sp>
          <p:nvSpPr>
            <p:cNvPr id="50" name="object 50"/>
            <p:cNvSpPr/>
            <p:nvPr/>
          </p:nvSpPr>
          <p:spPr>
            <a:xfrm>
              <a:off x="3806223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806223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959981" y="1410715"/>
            <a:ext cx="126238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799871" y="4413948"/>
            <a:ext cx="1583055" cy="438784"/>
            <a:chOff x="3799871" y="4413948"/>
            <a:chExt cx="1583055" cy="438784"/>
          </a:xfrm>
        </p:grpSpPr>
        <p:sp>
          <p:nvSpPr>
            <p:cNvPr id="54" name="object 54"/>
            <p:cNvSpPr/>
            <p:nvPr/>
          </p:nvSpPr>
          <p:spPr>
            <a:xfrm>
              <a:off x="3806221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06221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3799870" y="4916581"/>
            <a:ext cx="1583055" cy="438784"/>
            <a:chOff x="3799870" y="4916581"/>
            <a:chExt cx="1583055" cy="438784"/>
          </a:xfrm>
        </p:grpSpPr>
        <p:sp>
          <p:nvSpPr>
            <p:cNvPr id="57" name="object 57"/>
            <p:cNvSpPr/>
            <p:nvPr/>
          </p:nvSpPr>
          <p:spPr>
            <a:xfrm>
              <a:off x="3806220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4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06220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226552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799870" y="5437564"/>
            <a:ext cx="1583055" cy="438784"/>
            <a:chOff x="3799870" y="5437564"/>
            <a:chExt cx="1583055" cy="438784"/>
          </a:xfrm>
        </p:grpSpPr>
        <p:sp>
          <p:nvSpPr>
            <p:cNvPr id="61" name="object 61"/>
            <p:cNvSpPr/>
            <p:nvPr/>
          </p:nvSpPr>
          <p:spPr>
            <a:xfrm>
              <a:off x="3806220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06220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037257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xfrm>
            <a:off x="3638393" y="0"/>
            <a:ext cx="1904364" cy="12998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110" dirty="0"/>
              <a:t>I</a:t>
            </a:r>
            <a:r>
              <a:rPr sz="2750" spc="-229" dirty="0"/>
              <a:t>n</a:t>
            </a:r>
            <a:r>
              <a:rPr sz="2750" spc="-95" dirty="0"/>
              <a:t>f</a:t>
            </a:r>
            <a:r>
              <a:rPr sz="2750" spc="90" dirty="0"/>
              <a:t>r</a:t>
            </a:r>
            <a:r>
              <a:rPr sz="2750" spc="-375" dirty="0"/>
              <a:t>a</a:t>
            </a:r>
            <a:r>
              <a:rPr sz="2750" spc="-350" dirty="0"/>
              <a:t>s</a:t>
            </a:r>
            <a:r>
              <a:rPr sz="2750" spc="45" dirty="0"/>
              <a:t>t</a:t>
            </a:r>
            <a:r>
              <a:rPr sz="2750" spc="165" dirty="0"/>
              <a:t>r</a:t>
            </a:r>
            <a:r>
              <a:rPr sz="2750" spc="-160" dirty="0"/>
              <a:t>u</a:t>
            </a:r>
            <a:r>
              <a:rPr sz="2750" spc="-204" dirty="0"/>
              <a:t>c</a:t>
            </a:r>
            <a:r>
              <a:rPr sz="2750" spc="-25" dirty="0"/>
              <a:t>t</a:t>
            </a:r>
            <a:r>
              <a:rPr sz="2750" spc="-55" dirty="0"/>
              <a:t>u</a:t>
            </a:r>
            <a:r>
              <a:rPr sz="2750" spc="-65" dirty="0"/>
              <a:t>re  </a:t>
            </a:r>
            <a:r>
              <a:rPr sz="2750" spc="-375" dirty="0"/>
              <a:t>a</a:t>
            </a:r>
            <a:r>
              <a:rPr sz="2750" spc="-345" dirty="0"/>
              <a:t>s</a:t>
            </a:r>
            <a:r>
              <a:rPr sz="2750" spc="40" dirty="0"/>
              <a:t> </a:t>
            </a:r>
            <a:r>
              <a:rPr sz="2750" spc="-335" dirty="0"/>
              <a:t>a</a:t>
            </a:r>
            <a:r>
              <a:rPr sz="2750" spc="45" dirty="0"/>
              <a:t> </a:t>
            </a:r>
            <a:r>
              <a:rPr sz="2750" spc="-530" dirty="0"/>
              <a:t>S</a:t>
            </a:r>
            <a:r>
              <a:rPr sz="2750" spc="-195" dirty="0"/>
              <a:t>e</a:t>
            </a:r>
            <a:r>
              <a:rPr sz="2750" spc="215" dirty="0"/>
              <a:t>r</a:t>
            </a:r>
            <a:r>
              <a:rPr sz="2750" spc="-190" dirty="0"/>
              <a:t>v</a:t>
            </a:r>
            <a:r>
              <a:rPr sz="2750" spc="-95" dirty="0"/>
              <a:t>i</a:t>
            </a:r>
            <a:r>
              <a:rPr sz="2750" spc="-204" dirty="0"/>
              <a:t>c</a:t>
            </a:r>
            <a:r>
              <a:rPr sz="2750" spc="-125" dirty="0"/>
              <a:t>e  </a:t>
            </a:r>
            <a:r>
              <a:rPr sz="2800" spc="-245" dirty="0"/>
              <a:t>(IaaS)</a:t>
            </a:r>
            <a:endParaRPr sz="2800"/>
          </a:p>
        </p:txBody>
      </p:sp>
      <p:grpSp>
        <p:nvGrpSpPr>
          <p:cNvPr id="65" name="object 65"/>
          <p:cNvGrpSpPr/>
          <p:nvPr/>
        </p:nvGrpSpPr>
        <p:grpSpPr>
          <a:xfrm>
            <a:off x="6324281" y="1353258"/>
            <a:ext cx="1583055" cy="438784"/>
            <a:chOff x="6324281" y="1353258"/>
            <a:chExt cx="1583055" cy="438784"/>
          </a:xfrm>
        </p:grpSpPr>
        <p:sp>
          <p:nvSpPr>
            <p:cNvPr id="66" name="object 66"/>
            <p:cNvSpPr/>
            <p:nvPr/>
          </p:nvSpPr>
          <p:spPr>
            <a:xfrm>
              <a:off x="6330631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5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5" y="425513"/>
                  </a:lnTo>
                  <a:lnTo>
                    <a:pt x="1526710" y="419940"/>
                  </a:lnTo>
                  <a:lnTo>
                    <a:pt x="1549253" y="404741"/>
                  </a:lnTo>
                  <a:lnTo>
                    <a:pt x="1564452" y="382198"/>
                  </a:lnTo>
                  <a:lnTo>
                    <a:pt x="1570026" y="354592"/>
                  </a:lnTo>
                  <a:lnTo>
                    <a:pt x="1570026" y="70920"/>
                  </a:lnTo>
                  <a:lnTo>
                    <a:pt x="1564452" y="43315"/>
                  </a:lnTo>
                  <a:lnTo>
                    <a:pt x="1549253" y="20772"/>
                  </a:lnTo>
                  <a:lnTo>
                    <a:pt x="1526710" y="5573"/>
                  </a:lnTo>
                  <a:lnTo>
                    <a:pt x="1499105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30631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6324282" y="1864080"/>
            <a:ext cx="1583055" cy="438784"/>
            <a:chOff x="6324282" y="1864080"/>
            <a:chExt cx="1583055" cy="438784"/>
          </a:xfrm>
        </p:grpSpPr>
        <p:sp>
          <p:nvSpPr>
            <p:cNvPr id="69" name="object 69"/>
            <p:cNvSpPr/>
            <p:nvPr/>
          </p:nvSpPr>
          <p:spPr>
            <a:xfrm>
              <a:off x="6330632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30632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6324281" y="2372831"/>
            <a:ext cx="1583055" cy="438784"/>
            <a:chOff x="6324281" y="2372831"/>
            <a:chExt cx="1583055" cy="438784"/>
          </a:xfrm>
        </p:grpSpPr>
        <p:sp>
          <p:nvSpPr>
            <p:cNvPr id="72" name="object 72"/>
            <p:cNvSpPr/>
            <p:nvPr/>
          </p:nvSpPr>
          <p:spPr>
            <a:xfrm>
              <a:off x="6330631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1" y="425512"/>
                  </a:lnTo>
                  <a:lnTo>
                    <a:pt x="1499104" y="425512"/>
                  </a:lnTo>
                  <a:lnTo>
                    <a:pt x="1526709" y="419939"/>
                  </a:lnTo>
                  <a:lnTo>
                    <a:pt x="1549252" y="404740"/>
                  </a:lnTo>
                  <a:lnTo>
                    <a:pt x="1564451" y="382197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30631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6324281" y="2881580"/>
            <a:ext cx="1583055" cy="438784"/>
            <a:chOff x="6324281" y="2881580"/>
            <a:chExt cx="1583055" cy="438784"/>
          </a:xfrm>
        </p:grpSpPr>
        <p:sp>
          <p:nvSpPr>
            <p:cNvPr id="75" name="object 75"/>
            <p:cNvSpPr/>
            <p:nvPr/>
          </p:nvSpPr>
          <p:spPr>
            <a:xfrm>
              <a:off x="6330631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1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330631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6324281" y="3390331"/>
            <a:ext cx="1583055" cy="438784"/>
            <a:chOff x="6324281" y="3390331"/>
            <a:chExt cx="1583055" cy="438784"/>
          </a:xfrm>
        </p:grpSpPr>
        <p:sp>
          <p:nvSpPr>
            <p:cNvPr id="78" name="object 78"/>
            <p:cNvSpPr/>
            <p:nvPr/>
          </p:nvSpPr>
          <p:spPr>
            <a:xfrm>
              <a:off x="6330631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1" y="425512"/>
                  </a:lnTo>
                  <a:lnTo>
                    <a:pt x="1499104" y="425512"/>
                  </a:lnTo>
                  <a:lnTo>
                    <a:pt x="1526709" y="419939"/>
                  </a:lnTo>
                  <a:lnTo>
                    <a:pt x="1549252" y="404740"/>
                  </a:lnTo>
                  <a:lnTo>
                    <a:pt x="1564451" y="382197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330631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6324281" y="3899080"/>
            <a:ext cx="1583055" cy="438784"/>
            <a:chOff x="6324281" y="3899080"/>
            <a:chExt cx="1583055" cy="438784"/>
          </a:xfrm>
        </p:grpSpPr>
        <p:sp>
          <p:nvSpPr>
            <p:cNvPr id="81" name="object 81"/>
            <p:cNvSpPr/>
            <p:nvPr/>
          </p:nvSpPr>
          <p:spPr>
            <a:xfrm>
              <a:off x="6330631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330631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196191" y="0"/>
            <a:ext cx="1838960" cy="42589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75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8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750" spc="-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750" spc="9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75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75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220" dirty="0">
                <a:solidFill>
                  <a:srgbClr val="444949"/>
                </a:solidFill>
                <a:latin typeface="Microsoft Sans Serif"/>
                <a:cs typeface="Microsoft Sans Serif"/>
              </a:rPr>
              <a:t>a  </a:t>
            </a:r>
            <a:r>
              <a:rPr sz="275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75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(PaaS)</a:t>
            </a:r>
            <a:endParaRPr sz="2800">
              <a:latin typeface="Microsoft Sans Serif"/>
              <a:cs typeface="Microsoft Sans Serif"/>
            </a:endParaRPr>
          </a:p>
          <a:p>
            <a:pPr marL="635" algn="ctr">
              <a:lnSpc>
                <a:spcPct val="100000"/>
              </a:lnSpc>
              <a:spcBef>
                <a:spcPts val="109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300355" marR="29337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324279" y="4413948"/>
            <a:ext cx="1583055" cy="438784"/>
            <a:chOff x="6324279" y="4413948"/>
            <a:chExt cx="1583055" cy="438784"/>
          </a:xfrm>
        </p:grpSpPr>
        <p:sp>
          <p:nvSpPr>
            <p:cNvPr id="85" name="object 85"/>
            <p:cNvSpPr/>
            <p:nvPr/>
          </p:nvSpPr>
          <p:spPr>
            <a:xfrm>
              <a:off x="6330629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330629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6324278" y="4916581"/>
            <a:ext cx="1583055" cy="438784"/>
            <a:chOff x="6324278" y="4916581"/>
            <a:chExt cx="1583055" cy="438784"/>
          </a:xfrm>
        </p:grpSpPr>
        <p:sp>
          <p:nvSpPr>
            <p:cNvPr id="88" name="object 88"/>
            <p:cNvSpPr/>
            <p:nvPr/>
          </p:nvSpPr>
          <p:spPr>
            <a:xfrm>
              <a:off x="6330628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330628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6750960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6324278" y="5437564"/>
            <a:ext cx="1583055" cy="438784"/>
            <a:chOff x="6324278" y="5437564"/>
            <a:chExt cx="1583055" cy="438784"/>
          </a:xfrm>
        </p:grpSpPr>
        <p:sp>
          <p:nvSpPr>
            <p:cNvPr id="92" name="object 92"/>
            <p:cNvSpPr/>
            <p:nvPr/>
          </p:nvSpPr>
          <p:spPr>
            <a:xfrm>
              <a:off x="6330628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30628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6561666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8848689" y="1353258"/>
            <a:ext cx="1583055" cy="438784"/>
            <a:chOff x="8848689" y="1353258"/>
            <a:chExt cx="1583055" cy="438784"/>
          </a:xfrm>
        </p:grpSpPr>
        <p:sp>
          <p:nvSpPr>
            <p:cNvPr id="96" name="object 96"/>
            <p:cNvSpPr/>
            <p:nvPr/>
          </p:nvSpPr>
          <p:spPr>
            <a:xfrm>
              <a:off x="8855039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855039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8848690" y="1864080"/>
            <a:ext cx="1583055" cy="438784"/>
            <a:chOff x="8848690" y="1864080"/>
            <a:chExt cx="1583055" cy="438784"/>
          </a:xfrm>
        </p:grpSpPr>
        <p:sp>
          <p:nvSpPr>
            <p:cNvPr id="99" name="object 99"/>
            <p:cNvSpPr/>
            <p:nvPr/>
          </p:nvSpPr>
          <p:spPr>
            <a:xfrm>
              <a:off x="8855040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855040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8848689" y="2372831"/>
            <a:ext cx="1583055" cy="438784"/>
            <a:chOff x="8848689" y="2372831"/>
            <a:chExt cx="1583055" cy="438784"/>
          </a:xfrm>
        </p:grpSpPr>
        <p:sp>
          <p:nvSpPr>
            <p:cNvPr id="102" name="object 102"/>
            <p:cNvSpPr/>
            <p:nvPr/>
          </p:nvSpPr>
          <p:spPr>
            <a:xfrm>
              <a:off x="8855039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855039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8848689" y="2881580"/>
            <a:ext cx="1583055" cy="438784"/>
            <a:chOff x="8848689" y="2881580"/>
            <a:chExt cx="1583055" cy="438784"/>
          </a:xfrm>
        </p:grpSpPr>
        <p:sp>
          <p:nvSpPr>
            <p:cNvPr id="105" name="object 105"/>
            <p:cNvSpPr/>
            <p:nvPr/>
          </p:nvSpPr>
          <p:spPr>
            <a:xfrm>
              <a:off x="8855039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55039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8848689" y="3390331"/>
            <a:ext cx="1583055" cy="438784"/>
            <a:chOff x="8848689" y="3390331"/>
            <a:chExt cx="1583055" cy="438784"/>
          </a:xfrm>
        </p:grpSpPr>
        <p:sp>
          <p:nvSpPr>
            <p:cNvPr id="108" name="object 108"/>
            <p:cNvSpPr/>
            <p:nvPr/>
          </p:nvSpPr>
          <p:spPr>
            <a:xfrm>
              <a:off x="8855039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855039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8848689" y="3899080"/>
            <a:ext cx="1583055" cy="438784"/>
            <a:chOff x="8848689" y="3899080"/>
            <a:chExt cx="1583055" cy="438784"/>
          </a:xfrm>
        </p:grpSpPr>
        <p:sp>
          <p:nvSpPr>
            <p:cNvPr id="111" name="object 111"/>
            <p:cNvSpPr/>
            <p:nvPr/>
          </p:nvSpPr>
          <p:spPr>
            <a:xfrm>
              <a:off x="8855039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855039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8689929" y="0"/>
            <a:ext cx="1899920" cy="42589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65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30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-24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75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750" spc="8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750" spc="-5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75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220" dirty="0">
                <a:solidFill>
                  <a:srgbClr val="444949"/>
                </a:solidFill>
                <a:latin typeface="Microsoft Sans Serif"/>
                <a:cs typeface="Microsoft Sans Serif"/>
              </a:rPr>
              <a:t>a  </a:t>
            </a:r>
            <a:r>
              <a:rPr sz="275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75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305" dirty="0">
                <a:solidFill>
                  <a:srgbClr val="444949"/>
                </a:solidFill>
                <a:latin typeface="Microsoft Sans Serif"/>
                <a:cs typeface="Microsoft Sans Serif"/>
              </a:rPr>
              <a:t>(SaaS)</a:t>
            </a:r>
            <a:endParaRPr sz="2800">
              <a:latin typeface="Microsoft Sans Serif"/>
              <a:cs typeface="Microsoft Sans Serif"/>
            </a:endParaRPr>
          </a:p>
          <a:p>
            <a:pPr marL="1270" algn="ctr">
              <a:lnSpc>
                <a:spcPct val="100000"/>
              </a:lnSpc>
              <a:spcBef>
                <a:spcPts val="109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331470" marR="323215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8848687" y="4413948"/>
            <a:ext cx="1583055" cy="438784"/>
            <a:chOff x="8848687" y="4413948"/>
            <a:chExt cx="1583055" cy="438784"/>
          </a:xfrm>
        </p:grpSpPr>
        <p:sp>
          <p:nvSpPr>
            <p:cNvPr id="115" name="object 115"/>
            <p:cNvSpPr/>
            <p:nvPr/>
          </p:nvSpPr>
          <p:spPr>
            <a:xfrm>
              <a:off x="8855037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855037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" name="object 117"/>
          <p:cNvGrpSpPr/>
          <p:nvPr/>
        </p:nvGrpSpPr>
        <p:grpSpPr>
          <a:xfrm>
            <a:off x="8848687" y="4916581"/>
            <a:ext cx="1583055" cy="438784"/>
            <a:chOff x="8848687" y="4916581"/>
            <a:chExt cx="1583055" cy="438784"/>
          </a:xfrm>
        </p:grpSpPr>
        <p:sp>
          <p:nvSpPr>
            <p:cNvPr id="118" name="object 118"/>
            <p:cNvSpPr/>
            <p:nvPr/>
          </p:nvSpPr>
          <p:spPr>
            <a:xfrm>
              <a:off x="8855037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855037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9275368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848685" y="5437564"/>
            <a:ext cx="1583055" cy="438784"/>
            <a:chOff x="8848685" y="5437564"/>
            <a:chExt cx="1583055" cy="438784"/>
          </a:xfrm>
        </p:grpSpPr>
        <p:sp>
          <p:nvSpPr>
            <p:cNvPr id="122" name="object 122"/>
            <p:cNvSpPr/>
            <p:nvPr/>
          </p:nvSpPr>
          <p:spPr>
            <a:xfrm>
              <a:off x="8855035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855035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9086072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145429" y="417774"/>
            <a:ext cx="1837689" cy="44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On-premises</a:t>
            </a:r>
            <a:endParaRPr sz="2750">
              <a:latin typeface="Microsoft Sans Serif"/>
              <a:cs typeface="Microsoft Sans Serif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7894301" y="6086818"/>
            <a:ext cx="1583055" cy="438784"/>
            <a:chOff x="7894301" y="6086818"/>
            <a:chExt cx="1583055" cy="438784"/>
          </a:xfrm>
        </p:grpSpPr>
        <p:sp>
          <p:nvSpPr>
            <p:cNvPr id="127" name="object 127"/>
            <p:cNvSpPr/>
            <p:nvPr/>
          </p:nvSpPr>
          <p:spPr>
            <a:xfrm>
              <a:off x="790065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90065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8113845" y="6180328"/>
            <a:ext cx="11436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9751391" y="6086818"/>
            <a:ext cx="1583055" cy="438784"/>
            <a:chOff x="9751391" y="6086818"/>
            <a:chExt cx="1583055" cy="438784"/>
          </a:xfrm>
        </p:grpSpPr>
        <p:sp>
          <p:nvSpPr>
            <p:cNvPr id="131" name="object 131"/>
            <p:cNvSpPr/>
            <p:nvPr/>
          </p:nvSpPr>
          <p:spPr>
            <a:xfrm>
              <a:off x="975774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75774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9878510" y="6180328"/>
            <a:ext cx="13284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others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1215-6718-3C9D-A593-742866F2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410818"/>
            <a:ext cx="8560904" cy="5526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96513-5058-B201-43D9-E8073E37DDF3}"/>
              </a:ext>
            </a:extLst>
          </p:cNvPr>
          <p:cNvSpPr txBox="1"/>
          <p:nvPr/>
        </p:nvSpPr>
        <p:spPr>
          <a:xfrm>
            <a:off x="3644347" y="3075057"/>
            <a:ext cx="4134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170584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10018</TotalTime>
  <Words>277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Microsoft Sans Serif</vt:lpstr>
      <vt:lpstr>Office Theme</vt:lpstr>
      <vt:lpstr>Lecture 4</vt:lpstr>
      <vt:lpstr>The Five Characteristics of Cloud Computing</vt:lpstr>
      <vt:lpstr>Six Advantages of Cloud Computing</vt:lpstr>
      <vt:lpstr>Infrastructure  as a Service  (IaaS)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Tehmeed Ebaduddin</dc:creator>
  <cp:lastModifiedBy>Muhammad Tehmeed Ebaduddin</cp:lastModifiedBy>
  <cp:revision>13</cp:revision>
  <dcterms:created xsi:type="dcterms:W3CDTF">2024-03-12T05:48:59Z</dcterms:created>
  <dcterms:modified xsi:type="dcterms:W3CDTF">2025-04-13T15:21:47Z</dcterms:modified>
</cp:coreProperties>
</file>