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58" r:id="rId5"/>
    <p:sldId id="259" r:id="rId6"/>
    <p:sldId id="260" r:id="rId7"/>
    <p:sldId id="275" r:id="rId8"/>
    <p:sldId id="270" r:id="rId9"/>
    <p:sldId id="271" r:id="rId10"/>
    <p:sldId id="272" r:id="rId11"/>
    <p:sldId id="273" r:id="rId12"/>
    <p:sldId id="274" r:id="rId13"/>
    <p:sldId id="281" r:id="rId14"/>
    <p:sldId id="276" r:id="rId15"/>
    <p:sldId id="27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61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3C723-910E-93E2-DD9E-8C009BDA9B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E314BF-6AB1-2D6D-6C4F-16D43C851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A793D-BC27-00EE-2FE6-546C095B0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F3F34-D6D5-FD76-003E-2A58F6130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6AA20-775D-3D2F-5A7C-7AD354460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031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92FF1-5278-5ED2-3767-41B28EA0E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5A888-CFAA-13F0-D840-385DDCFF1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3F5C23-31CF-484D-2328-D3266B2E0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75DAA-32A6-289B-9E90-1CFC1CA19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54707-4693-1023-C481-A133F5E62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691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4C375-50CD-EA28-6B1C-C2AB02E51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D1A47A-1256-9120-418B-E4DBED9C5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C8D2F-FFEC-130A-6F79-0A342E167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8E272-A511-0A83-4DF4-B8171F42D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5DCCA-79B9-7D08-3680-0167AFECE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7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4419E-66D0-C991-CF64-51DDBF42B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4064C-B38C-6CCA-DF94-1095C61972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A2C86A-B983-1DB9-540F-4315296C2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4106DA-F39D-FE19-519C-1E98FBE4E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80453-7BEA-116C-3B43-D67AC9E25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8A49C-F7C6-6B3D-0FFA-2C2280661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836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48711-F69C-889B-C637-CA961B0D9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F4783C-F9D8-7E88-C55A-8E9F164A3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6FE16B-9ABE-0D57-76D6-D0C19AA4B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941C41-607D-575F-660E-925F3B7E7B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359849-E3AE-0BAD-2CA3-B81A42DCA9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921567-24A0-44CD-4387-19B08F55F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FACE88-8596-3D9F-C582-64F1BA0BA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A53C9B-1E73-E98E-202A-E561A5BE6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314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B774D-DE1B-A677-03B5-9FC6155B1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A2327C-DBC4-AE06-2930-2D7165E53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00E5B1-38C5-F490-805C-81DBE4B1B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A58315-D355-1669-B9E2-DFC6F11AD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204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A1596F-7C93-C3BF-7868-17419B5FD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207FB4-764F-A667-3ADA-198CBA5B2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8EAA6-8BA4-825F-E526-A2FFB2D46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70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38C44-8946-6AD4-AA89-D9A63A155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162C0-983A-C2F0-5EA7-C60058567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7BED01-D740-A0F2-E3BD-840425BA3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23CB5-4F6E-AE43-86E7-832021D2F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3263A-156D-BFE7-4FCA-269951778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908A6-1715-6291-4454-CF479443F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636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876D8-2CCE-27A4-9713-D309E338C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9E9596-F967-1C9E-6FC7-A142A52CDB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929478-63A9-3E4A-F73F-DED6E541BA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BB5BE0-E9F0-D9FB-3EBB-BAAC0AC7D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CB467-3CF9-5F53-87D7-5C0AF2CED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1079C-5D0D-7F8D-8ED2-9BA257BEA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773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97FA9-CAA8-4258-79B7-A50335F76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DF1F37-0CB8-3F51-D008-66CE2BA3F7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190C8-94FB-67B8-DD0D-56653CFCC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8A5A8-F553-9046-54E4-C31DB93AB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DA376-D484-E164-C7C0-F19F29557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698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C6C985-2286-D8FE-519B-64932E7283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7F44F0-43A5-4577-65C4-D49E14080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2AB77-3851-6C68-007A-CA235A5F9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07F74-9F4C-4CB8-8E9E-3A0F5CE3409F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8C42B-D7BE-642F-EA9C-1A0E27C08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46A69-A374-A51E-BB84-DB7FEBBBA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09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BFCB9C-D80B-0916-0FA5-32E5FB9CE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E6BB38-34A0-8057-E63F-C078CA4ED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A0031-A66E-0EF1-B1CE-E45DDB2A6A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B07F74-9F4C-4CB8-8E9E-3A0F5CE3409F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BE475-8084-6708-B118-D30658279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07E31-1CC5-7E1B-DBCD-7168AFBF3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6364EF-26CE-4868-A5D4-A13D37D4C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543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77534-7AC6-31C1-9CBE-14B33B764C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BBDAA5-5BB9-B108-8CC4-898094664F9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Cloud Computing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2178F5-7334-EFBC-ECD7-421AF5FEF827}"/>
              </a:ext>
            </a:extLst>
          </p:cNvPr>
          <p:cNvSpPr txBox="1"/>
          <p:nvPr/>
        </p:nvSpPr>
        <p:spPr>
          <a:xfrm>
            <a:off x="9037983" y="5830957"/>
            <a:ext cx="2822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Instructor : Engr. Tehmeed</a:t>
            </a:r>
          </a:p>
        </p:txBody>
      </p:sp>
    </p:spTree>
    <p:extLst>
      <p:ext uri="{BB962C8B-B14F-4D97-AF65-F5344CB8AC3E}">
        <p14:creationId xmlns:p14="http://schemas.microsoft.com/office/powerpoint/2010/main" val="1602690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A9092D-CC3A-7661-51B7-076E57BCDE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829994"/>
            <a:ext cx="10142806" cy="4400025"/>
          </a:xfrm>
        </p:spPr>
      </p:pic>
    </p:spTree>
    <p:extLst>
      <p:ext uri="{BB962C8B-B14F-4D97-AF65-F5344CB8AC3E}">
        <p14:creationId xmlns:p14="http://schemas.microsoft.com/office/powerpoint/2010/main" val="1965947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800" y="730250"/>
            <a:ext cx="1082040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232"/>
              </a:lnSpc>
              <a:spcBef>
                <a:spcPct val="0"/>
              </a:spcBef>
            </a:pPr>
            <a:r>
              <a:rPr lang="en-US" sz="6400">
                <a:solidFill>
                  <a:srgbClr val="250542"/>
                </a:solidFill>
                <a:latin typeface="Vesper Libre Regular"/>
              </a:rPr>
              <a:t>What is Cloud Computing?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51476" y="2062226"/>
            <a:ext cx="11154724" cy="2769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911" lvl="1" indent="-345455">
              <a:lnSpc>
                <a:spcPts val="3616"/>
              </a:lnSpc>
              <a:buFont typeface="Arial"/>
              <a:buChar char="•"/>
            </a:pPr>
            <a:r>
              <a:rPr lang="en-US" sz="3199">
                <a:solidFill>
                  <a:srgbClr val="250542"/>
                </a:solidFill>
                <a:latin typeface="Vesper Libre Regular"/>
              </a:rPr>
              <a:t>On-demand availability of computer system resources, especially computing power and storage</a:t>
            </a:r>
          </a:p>
          <a:p>
            <a:pPr>
              <a:lnSpc>
                <a:spcPts val="3616"/>
              </a:lnSpc>
            </a:pPr>
            <a:endParaRPr lang="en-US" sz="3199">
              <a:solidFill>
                <a:srgbClr val="250542"/>
              </a:solidFill>
              <a:latin typeface="Vesper Libre Regular"/>
            </a:endParaRPr>
          </a:p>
          <a:p>
            <a:pPr marL="690911" lvl="1" indent="-345455">
              <a:lnSpc>
                <a:spcPts val="3616"/>
              </a:lnSpc>
              <a:buFont typeface="Arial"/>
              <a:buChar char="•"/>
            </a:pPr>
            <a:r>
              <a:rPr lang="en-US" sz="3199">
                <a:solidFill>
                  <a:srgbClr val="250542"/>
                </a:solidFill>
                <a:latin typeface="Vesper Libre Regular"/>
              </a:rPr>
              <a:t>automation of virtualization</a:t>
            </a:r>
          </a:p>
          <a:p>
            <a:pPr>
              <a:lnSpc>
                <a:spcPts val="3616"/>
              </a:lnSpc>
            </a:pPr>
            <a:endParaRPr lang="en-US" sz="3199">
              <a:solidFill>
                <a:srgbClr val="250542"/>
              </a:solidFill>
              <a:latin typeface="Vesper Libre Regular"/>
            </a:endParaRPr>
          </a:p>
          <a:p>
            <a:pPr marL="690911" lvl="1" indent="-345455">
              <a:lnSpc>
                <a:spcPts val="3616"/>
              </a:lnSpc>
              <a:buFont typeface="Arial"/>
              <a:buChar char="•"/>
            </a:pPr>
            <a:r>
              <a:rPr lang="en-US" sz="3199">
                <a:solidFill>
                  <a:srgbClr val="250542"/>
                </a:solidFill>
                <a:latin typeface="Vesper Libre Regular"/>
              </a:rPr>
              <a:t>Storing and accessing data and programs over the internet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5C830-F8AD-A590-462E-9E1679E68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C93E46-4A4D-9B7C-B6DA-FE9407A36A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829994"/>
            <a:ext cx="10142806" cy="4400025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48DECB-3866-3EC4-8484-2AB4A3598F5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039" t="4901" r="13923" b="7673"/>
          <a:stretch/>
        </p:blipFill>
        <p:spPr>
          <a:xfrm>
            <a:off x="1237958" y="337625"/>
            <a:ext cx="9819248" cy="599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531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65EE58-07C6-967C-0506-ADE8967A7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74C3F0-4EEC-79E6-D2C1-4F632A4494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750" r="13692" b="12392"/>
          <a:stretch/>
        </p:blipFill>
        <p:spPr>
          <a:xfrm>
            <a:off x="1994645" y="643467"/>
            <a:ext cx="8202710" cy="5571065"/>
          </a:xfrm>
          <a:prstGeom prst="rect">
            <a:avLst/>
          </a:prstGeom>
          <a:ln>
            <a:noFill/>
          </a:ln>
        </p:spPr>
      </p:pic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402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97F09-15F2-38F3-730D-D88DC37F8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F2346BC-DE22-DFA0-0990-C77CDE7D76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846" t="3670" r="14500" b="9929"/>
          <a:stretch/>
        </p:blipFill>
        <p:spPr>
          <a:xfrm>
            <a:off x="1688123" y="253218"/>
            <a:ext cx="8736038" cy="592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725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367283"/>
            <a:ext cx="84963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5" dirty="0"/>
              <a:t>The</a:t>
            </a:r>
            <a:r>
              <a:rPr spc="50" dirty="0"/>
              <a:t> </a:t>
            </a:r>
            <a:r>
              <a:rPr spc="-200" dirty="0"/>
              <a:t>Deployment</a:t>
            </a:r>
            <a:r>
              <a:rPr spc="45" dirty="0"/>
              <a:t> </a:t>
            </a:r>
            <a:r>
              <a:rPr spc="-280" dirty="0"/>
              <a:t>Models</a:t>
            </a:r>
            <a:r>
              <a:rPr spc="50" dirty="0"/>
              <a:t> </a:t>
            </a:r>
            <a:r>
              <a:rPr spc="-114" dirty="0"/>
              <a:t>of</a:t>
            </a:r>
            <a:r>
              <a:rPr spc="60" dirty="0"/>
              <a:t> </a:t>
            </a:r>
            <a:r>
              <a:rPr spc="-175" dirty="0"/>
              <a:t>the</a:t>
            </a:r>
            <a:r>
              <a:rPr spc="50" dirty="0"/>
              <a:t> </a:t>
            </a:r>
            <a:r>
              <a:rPr spc="-190" dirty="0"/>
              <a:t>Cloud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6939" y="1255879"/>
            <a:ext cx="2741930" cy="3315970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750" spc="-150" dirty="0">
                <a:solidFill>
                  <a:srgbClr val="444949"/>
                </a:solidFill>
                <a:latin typeface="Microsoft Sans Serif"/>
                <a:cs typeface="Microsoft Sans Serif"/>
              </a:rPr>
              <a:t>Private</a:t>
            </a:r>
            <a:r>
              <a:rPr sz="2750" spc="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75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Cloud:</a:t>
            </a:r>
            <a:endParaRPr sz="2750">
              <a:latin typeface="Microsoft Sans Serif"/>
              <a:cs typeface="Microsoft Sans Serif"/>
            </a:endParaRPr>
          </a:p>
          <a:p>
            <a:pPr marL="241300" marR="5080" indent="-228600">
              <a:lnSpc>
                <a:spcPct val="89500"/>
              </a:lnSpc>
              <a:spcBef>
                <a:spcPts val="114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135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2000" spc="-45" dirty="0">
                <a:solidFill>
                  <a:srgbClr val="444949"/>
                </a:solidFill>
                <a:latin typeface="Microsoft Sans Serif"/>
                <a:cs typeface="Microsoft Sans Serif"/>
              </a:rPr>
              <a:t>l</a:t>
            </a:r>
            <a:r>
              <a:rPr sz="2000" spc="-3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u</a:t>
            </a:r>
            <a:r>
              <a:rPr sz="20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9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135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000" spc="-165" dirty="0">
                <a:solidFill>
                  <a:srgbClr val="444949"/>
                </a:solidFill>
                <a:latin typeface="Microsoft Sans Serif"/>
                <a:cs typeface="Microsoft Sans Serif"/>
              </a:rPr>
              <a:t>v</a:t>
            </a:r>
            <a:r>
              <a:rPr sz="2000" spc="-75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29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u</a:t>
            </a:r>
            <a:r>
              <a:rPr sz="2000" spc="-29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b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y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a  </a:t>
            </a:r>
            <a:r>
              <a:rPr sz="2000" spc="-175" dirty="0">
                <a:solidFill>
                  <a:srgbClr val="444949"/>
                </a:solidFill>
                <a:latin typeface="Microsoft Sans Serif"/>
                <a:cs typeface="Microsoft Sans Serif"/>
              </a:rPr>
              <a:t>single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30" dirty="0">
                <a:solidFill>
                  <a:srgbClr val="444949"/>
                </a:solidFill>
                <a:latin typeface="Microsoft Sans Serif"/>
                <a:cs typeface="Microsoft Sans Serif"/>
              </a:rPr>
              <a:t>organization, </a:t>
            </a:r>
            <a:r>
              <a:rPr sz="2000" spc="-45" dirty="0">
                <a:solidFill>
                  <a:srgbClr val="444949"/>
                </a:solidFill>
                <a:latin typeface="Microsoft Sans Serif"/>
                <a:cs typeface="Microsoft Sans Serif"/>
              </a:rPr>
              <a:t>not </a:t>
            </a:r>
            <a:r>
              <a:rPr sz="2000" spc="-4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exposed</a:t>
            </a:r>
            <a:r>
              <a:rPr sz="2000" spc="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5" dirty="0">
                <a:solidFill>
                  <a:srgbClr val="444949"/>
                </a:solidFill>
                <a:latin typeface="Microsoft Sans Serif"/>
                <a:cs typeface="Microsoft Sans Serif"/>
              </a:rPr>
              <a:t>to</a:t>
            </a:r>
            <a:r>
              <a:rPr sz="2000" spc="1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444949"/>
                </a:solidFill>
                <a:latin typeface="Microsoft Sans Serif"/>
                <a:cs typeface="Microsoft Sans Serif"/>
              </a:rPr>
              <a:t>the</a:t>
            </a:r>
            <a:r>
              <a:rPr sz="2000" spc="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public.</a:t>
            </a:r>
            <a:endParaRPr sz="20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82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Complete</a:t>
            </a:r>
            <a:r>
              <a:rPr sz="2000" spc="-3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60" dirty="0">
                <a:solidFill>
                  <a:srgbClr val="444949"/>
                </a:solidFill>
                <a:latin typeface="Microsoft Sans Serif"/>
                <a:cs typeface="Microsoft Sans Serif"/>
              </a:rPr>
              <a:t>control</a:t>
            </a:r>
            <a:endParaRPr sz="2000">
              <a:latin typeface="Microsoft Sans Serif"/>
              <a:cs typeface="Microsoft Sans Serif"/>
            </a:endParaRPr>
          </a:p>
          <a:p>
            <a:pPr marL="241300" marR="455930" indent="-228600">
              <a:lnSpc>
                <a:spcPts val="2180"/>
              </a:lnSpc>
              <a:spcBef>
                <a:spcPts val="95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30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-25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2000" spc="-140" dirty="0">
                <a:solidFill>
                  <a:srgbClr val="444949"/>
                </a:solidFill>
                <a:latin typeface="Microsoft Sans Serif"/>
                <a:cs typeface="Microsoft Sans Serif"/>
              </a:rPr>
              <a:t>u</a:t>
            </a:r>
            <a:r>
              <a:rPr sz="2000" spc="45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000" spc="-25" dirty="0">
                <a:solidFill>
                  <a:srgbClr val="444949"/>
                </a:solidFill>
                <a:latin typeface="Microsoft Sans Serif"/>
                <a:cs typeface="Microsoft Sans Serif"/>
              </a:rPr>
              <a:t>it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y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f</a:t>
            </a:r>
            <a:r>
              <a:rPr sz="2000" spc="-3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000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000" spc="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90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140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000" spc="-290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-25" dirty="0">
                <a:solidFill>
                  <a:srgbClr val="444949"/>
                </a:solidFill>
                <a:latin typeface="Microsoft Sans Serif"/>
                <a:cs typeface="Microsoft Sans Serif"/>
              </a:rPr>
              <a:t>it</a:t>
            </a:r>
            <a:r>
              <a:rPr sz="2000" spc="-80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2000" spc="-195" dirty="0">
                <a:solidFill>
                  <a:srgbClr val="444949"/>
                </a:solidFill>
                <a:latin typeface="Microsoft Sans Serif"/>
                <a:cs typeface="Microsoft Sans Serif"/>
              </a:rPr>
              <a:t>v</a:t>
            </a:r>
            <a:r>
              <a:rPr sz="20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e  </a:t>
            </a:r>
            <a:r>
              <a:rPr sz="2000" spc="-130" dirty="0">
                <a:solidFill>
                  <a:srgbClr val="444949"/>
                </a:solidFill>
                <a:latin typeface="Microsoft Sans Serif"/>
                <a:cs typeface="Microsoft Sans Serif"/>
              </a:rPr>
              <a:t>applications</a:t>
            </a:r>
            <a:endParaRPr sz="2000">
              <a:latin typeface="Microsoft Sans Serif"/>
              <a:cs typeface="Microsoft Sans Serif"/>
            </a:endParaRPr>
          </a:p>
          <a:p>
            <a:pPr marL="241300" marR="311150" indent="-228600">
              <a:lnSpc>
                <a:spcPts val="2180"/>
              </a:lnSpc>
              <a:spcBef>
                <a:spcPts val="944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160" dirty="0">
                <a:solidFill>
                  <a:srgbClr val="444949"/>
                </a:solidFill>
                <a:latin typeface="Microsoft Sans Serif"/>
                <a:cs typeface="Microsoft Sans Serif"/>
              </a:rPr>
              <a:t>M</a:t>
            </a:r>
            <a:r>
              <a:rPr sz="2000" spc="-10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45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2000" spc="1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9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p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2000" spc="-130" dirty="0">
                <a:solidFill>
                  <a:srgbClr val="444949"/>
                </a:solidFill>
                <a:latin typeface="Microsoft Sans Serif"/>
                <a:cs typeface="Microsoft Sans Serif"/>
              </a:rPr>
              <a:t>f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444949"/>
                </a:solidFill>
                <a:latin typeface="Microsoft Sans Serif"/>
                <a:cs typeface="Microsoft Sans Serif"/>
              </a:rPr>
              <a:t>b</a:t>
            </a: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u</a:t>
            </a:r>
            <a:r>
              <a:rPr sz="2000" spc="-29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225" dirty="0">
                <a:solidFill>
                  <a:srgbClr val="444949"/>
                </a:solidFill>
                <a:latin typeface="Microsoft Sans Serif"/>
                <a:cs typeface="Microsoft Sans Serif"/>
              </a:rPr>
              <a:t>ss  </a:t>
            </a:r>
            <a:r>
              <a:rPr sz="2000" spc="-165" dirty="0">
                <a:solidFill>
                  <a:srgbClr val="444949"/>
                </a:solidFill>
                <a:latin typeface="Microsoft Sans Serif"/>
                <a:cs typeface="Microsoft Sans Serif"/>
              </a:rPr>
              <a:t>needs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24929" y="1255879"/>
            <a:ext cx="2695575" cy="2782570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75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Public</a:t>
            </a:r>
            <a:r>
              <a:rPr sz="2750" spc="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75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Cloud:</a:t>
            </a:r>
            <a:endParaRPr sz="2750">
              <a:latin typeface="Microsoft Sans Serif"/>
              <a:cs typeface="Microsoft Sans Serif"/>
            </a:endParaRPr>
          </a:p>
          <a:p>
            <a:pPr marL="241300" marR="5080" indent="-228600">
              <a:lnSpc>
                <a:spcPct val="89500"/>
              </a:lnSpc>
              <a:spcBef>
                <a:spcPts val="114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135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2000" spc="-45" dirty="0">
                <a:solidFill>
                  <a:srgbClr val="444949"/>
                </a:solidFill>
                <a:latin typeface="Microsoft Sans Serif"/>
                <a:cs typeface="Microsoft Sans Serif"/>
              </a:rPr>
              <a:t>l</a:t>
            </a:r>
            <a:r>
              <a:rPr sz="2000" spc="-3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u</a:t>
            </a:r>
            <a:r>
              <a:rPr sz="20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65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000" spc="-10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29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-3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u</a:t>
            </a:r>
            <a:r>
              <a:rPr sz="2000" spc="-75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000" spc="-100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29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6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000" spc="-100" dirty="0">
                <a:solidFill>
                  <a:srgbClr val="444949"/>
                </a:solidFill>
                <a:latin typeface="Microsoft Sans Serif"/>
                <a:cs typeface="Microsoft Sans Serif"/>
              </a:rPr>
              <a:t>w</a:t>
            </a:r>
            <a:r>
              <a:rPr sz="2000" spc="-80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65" dirty="0">
                <a:solidFill>
                  <a:srgbClr val="444949"/>
                </a:solidFill>
                <a:latin typeface="Microsoft Sans Serif"/>
                <a:cs typeface="Microsoft Sans Serif"/>
              </a:rPr>
              <a:t>d  </a:t>
            </a:r>
            <a:r>
              <a:rPr sz="2000" spc="-204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000" spc="-210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0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p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45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000" spc="-114" dirty="0">
                <a:solidFill>
                  <a:srgbClr val="444949"/>
                </a:solidFill>
                <a:latin typeface="Microsoft Sans Serif"/>
                <a:cs typeface="Microsoft Sans Serif"/>
              </a:rPr>
              <a:t>at</a:t>
            </a:r>
            <a:r>
              <a:rPr sz="2000" spc="-15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r>
              <a:rPr sz="20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b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y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6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000" spc="1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35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2000" spc="-70" dirty="0">
                <a:solidFill>
                  <a:srgbClr val="444949"/>
                </a:solidFill>
                <a:latin typeface="Microsoft Sans Serif"/>
                <a:cs typeface="Microsoft Sans Serif"/>
              </a:rPr>
              <a:t>h</a:t>
            </a:r>
            <a:r>
              <a:rPr sz="2000" spc="-85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2000" spc="-40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000" spc="-60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r>
              <a:rPr sz="2000" spc="-35" dirty="0">
                <a:solidFill>
                  <a:srgbClr val="444949"/>
                </a:solidFill>
                <a:latin typeface="Microsoft Sans Serif"/>
                <a:cs typeface="Microsoft Sans Serif"/>
              </a:rPr>
              <a:t>-  </a:t>
            </a:r>
            <a:r>
              <a:rPr sz="2000" spc="-65" dirty="0">
                <a:solidFill>
                  <a:srgbClr val="444949"/>
                </a:solidFill>
                <a:latin typeface="Microsoft Sans Serif"/>
                <a:cs typeface="Microsoft Sans Serif"/>
              </a:rPr>
              <a:t>party</a:t>
            </a:r>
            <a:r>
              <a:rPr sz="2000" spc="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cloud</a:t>
            </a:r>
            <a:r>
              <a:rPr sz="2000" spc="1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service </a:t>
            </a:r>
            <a:r>
              <a:rPr sz="2000" spc="-1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80" dirty="0">
                <a:solidFill>
                  <a:srgbClr val="444949"/>
                </a:solidFill>
                <a:latin typeface="Microsoft Sans Serif"/>
                <a:cs typeface="Microsoft Sans Serif"/>
              </a:rPr>
              <a:t>provider</a:t>
            </a:r>
            <a:r>
              <a:rPr sz="2000" spc="-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10" dirty="0">
                <a:solidFill>
                  <a:srgbClr val="444949"/>
                </a:solidFill>
                <a:latin typeface="Microsoft Sans Serif"/>
                <a:cs typeface="Microsoft Sans Serif"/>
              </a:rPr>
              <a:t>delivered</a:t>
            </a:r>
            <a:r>
              <a:rPr sz="2000" spc="-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00" dirty="0">
                <a:solidFill>
                  <a:srgbClr val="444949"/>
                </a:solidFill>
                <a:latin typeface="Microsoft Sans Serif"/>
                <a:cs typeface="Microsoft Sans Serif"/>
              </a:rPr>
              <a:t>over </a:t>
            </a:r>
            <a:r>
              <a:rPr sz="20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444949"/>
                </a:solidFill>
                <a:latin typeface="Microsoft Sans Serif"/>
                <a:cs typeface="Microsoft Sans Serif"/>
              </a:rPr>
              <a:t>the</a:t>
            </a:r>
            <a:r>
              <a:rPr sz="2000" spc="1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Internet.</a:t>
            </a:r>
            <a:endParaRPr sz="2000">
              <a:latin typeface="Microsoft Sans Serif"/>
              <a:cs typeface="Microsoft Sans Serif"/>
            </a:endParaRPr>
          </a:p>
          <a:p>
            <a:pPr marL="241300" marR="8890" indent="-228600">
              <a:lnSpc>
                <a:spcPts val="2090"/>
              </a:lnSpc>
              <a:spcBef>
                <a:spcPts val="1145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175" dirty="0">
                <a:solidFill>
                  <a:srgbClr val="444949"/>
                </a:solidFill>
                <a:latin typeface="Microsoft Sans Serif"/>
                <a:cs typeface="Microsoft Sans Serif"/>
              </a:rPr>
              <a:t>Si</a:t>
            </a:r>
            <a:r>
              <a:rPr sz="200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x</a:t>
            </a:r>
            <a:r>
              <a:rPr sz="2000" spc="-10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v</a:t>
            </a:r>
            <a:r>
              <a:rPr sz="2000" spc="-26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000" spc="-140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000" spc="40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2000" spc="-265" dirty="0">
                <a:solidFill>
                  <a:srgbClr val="444949"/>
                </a:solidFill>
                <a:latin typeface="Microsoft Sans Serif"/>
                <a:cs typeface="Microsoft Sans Serif"/>
              </a:rPr>
              <a:t>ag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29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000" spc="-80" dirty="0">
                <a:solidFill>
                  <a:srgbClr val="444949"/>
                </a:solidFill>
                <a:latin typeface="Microsoft Sans Serif"/>
                <a:cs typeface="Microsoft Sans Serif"/>
              </a:rPr>
              <a:t>f</a:t>
            </a:r>
            <a:r>
              <a:rPr sz="2000" spc="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00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2000" spc="-40" dirty="0">
                <a:solidFill>
                  <a:srgbClr val="444949"/>
                </a:solidFill>
                <a:latin typeface="Microsoft Sans Serif"/>
                <a:cs typeface="Microsoft Sans Serif"/>
              </a:rPr>
              <a:t>l</a:t>
            </a:r>
            <a:r>
              <a:rPr sz="2000" spc="-8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000" spc="-140" dirty="0">
                <a:solidFill>
                  <a:srgbClr val="444949"/>
                </a:solidFill>
                <a:latin typeface="Microsoft Sans Serif"/>
                <a:cs typeface="Microsoft Sans Serif"/>
              </a:rPr>
              <a:t>u</a:t>
            </a:r>
            <a:r>
              <a:rPr sz="2000" spc="-65" dirty="0">
                <a:solidFill>
                  <a:srgbClr val="444949"/>
                </a:solidFill>
                <a:latin typeface="Microsoft Sans Serif"/>
                <a:cs typeface="Microsoft Sans Serif"/>
              </a:rPr>
              <a:t>d  </a:t>
            </a:r>
            <a:r>
              <a:rPr sz="20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Computing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32919" y="1255879"/>
            <a:ext cx="2607945" cy="3736340"/>
          </a:xfrm>
          <a:prstGeom prst="rect">
            <a:avLst/>
          </a:prstGeom>
        </p:spPr>
        <p:txBody>
          <a:bodyPr vert="horz" wrap="square" lIns="0" tIns="167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2750" spc="-70" dirty="0">
                <a:solidFill>
                  <a:srgbClr val="444949"/>
                </a:solidFill>
                <a:latin typeface="Microsoft Sans Serif"/>
                <a:cs typeface="Microsoft Sans Serif"/>
              </a:rPr>
              <a:t>Hybrid</a:t>
            </a:r>
            <a:r>
              <a:rPr sz="2750" spc="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75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Cloud:</a:t>
            </a:r>
            <a:endParaRPr sz="2750">
              <a:latin typeface="Microsoft Sans Serif"/>
              <a:cs typeface="Microsoft Sans Serif"/>
            </a:endParaRPr>
          </a:p>
          <a:p>
            <a:pPr marL="241300" marR="5080" indent="-228600">
              <a:lnSpc>
                <a:spcPct val="90300"/>
              </a:lnSpc>
              <a:spcBef>
                <a:spcPts val="112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235" dirty="0">
                <a:solidFill>
                  <a:srgbClr val="444949"/>
                </a:solidFill>
                <a:latin typeface="Microsoft Sans Serif"/>
                <a:cs typeface="Microsoft Sans Serif"/>
              </a:rPr>
              <a:t>K</a:t>
            </a:r>
            <a:r>
              <a:rPr sz="200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p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9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-3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000" spc="-135" dirty="0">
                <a:solidFill>
                  <a:srgbClr val="444949"/>
                </a:solidFill>
                <a:latin typeface="Microsoft Sans Serif"/>
                <a:cs typeface="Microsoft Sans Serif"/>
              </a:rPr>
              <a:t>m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9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135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000" spc="-185" dirty="0">
                <a:solidFill>
                  <a:srgbClr val="444949"/>
                </a:solidFill>
                <a:latin typeface="Microsoft Sans Serif"/>
                <a:cs typeface="Microsoft Sans Serif"/>
              </a:rPr>
              <a:t>v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75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000" spc="-29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3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n  </a:t>
            </a:r>
            <a:r>
              <a:rPr sz="2000" spc="-55" dirty="0">
                <a:solidFill>
                  <a:srgbClr val="444949"/>
                </a:solidFill>
                <a:latin typeface="Microsoft Sans Serif"/>
                <a:cs typeface="Microsoft Sans Serif"/>
              </a:rPr>
              <a:t>p</a:t>
            </a:r>
            <a:r>
              <a:rPr sz="2000" spc="-40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000" spc="-11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175" dirty="0">
                <a:solidFill>
                  <a:srgbClr val="444949"/>
                </a:solidFill>
                <a:latin typeface="Microsoft Sans Serif"/>
                <a:cs typeface="Microsoft Sans Serif"/>
              </a:rPr>
              <a:t>m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2000" spc="-250" dirty="0">
                <a:solidFill>
                  <a:srgbClr val="444949"/>
                </a:solidFill>
                <a:latin typeface="Microsoft Sans Serif"/>
                <a:cs typeface="Microsoft Sans Serif"/>
              </a:rPr>
              <a:t>se</a:t>
            </a:r>
            <a:r>
              <a:rPr sz="2000" spc="-240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6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0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55" dirty="0">
                <a:solidFill>
                  <a:srgbClr val="444949"/>
                </a:solidFill>
                <a:latin typeface="Microsoft Sans Serif"/>
                <a:cs typeface="Microsoft Sans Serif"/>
              </a:rPr>
              <a:t>ex</a:t>
            </a:r>
            <a:r>
              <a:rPr sz="2000" spc="-40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2000" spc="-14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150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000" spc="-65" dirty="0">
                <a:solidFill>
                  <a:srgbClr val="444949"/>
                </a:solidFill>
                <a:latin typeface="Microsoft Sans Serif"/>
                <a:cs typeface="Microsoft Sans Serif"/>
              </a:rPr>
              <a:t>d  </a:t>
            </a:r>
            <a:r>
              <a:rPr sz="20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so</a:t>
            </a:r>
            <a:r>
              <a:rPr sz="2000" spc="-204" dirty="0">
                <a:solidFill>
                  <a:srgbClr val="444949"/>
                </a:solidFill>
                <a:latin typeface="Microsoft Sans Serif"/>
                <a:cs typeface="Microsoft Sans Serif"/>
              </a:rPr>
              <a:t>m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2000" spc="-26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000" spc="-180" dirty="0">
                <a:solidFill>
                  <a:srgbClr val="444949"/>
                </a:solidFill>
                <a:latin typeface="Microsoft Sans Serif"/>
                <a:cs typeface="Microsoft Sans Serif"/>
              </a:rPr>
              <a:t>p</a:t>
            </a:r>
            <a:r>
              <a:rPr sz="2000" spc="-18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0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b</a:t>
            </a:r>
            <a:r>
              <a:rPr sz="2000" spc="-60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li</a:t>
            </a:r>
            <a:r>
              <a:rPr sz="2000" spc="40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2000" spc="-225" dirty="0">
                <a:solidFill>
                  <a:srgbClr val="444949"/>
                </a:solidFill>
                <a:latin typeface="Microsoft Sans Serif"/>
                <a:cs typeface="Microsoft Sans Serif"/>
              </a:rPr>
              <a:t>es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40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2000" spc="-3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40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h</a:t>
            </a:r>
            <a:r>
              <a:rPr sz="20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e  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Cloud</a:t>
            </a:r>
            <a:endParaRPr sz="2000">
              <a:latin typeface="Microsoft Sans Serif"/>
              <a:cs typeface="Microsoft Sans Serif"/>
            </a:endParaRPr>
          </a:p>
          <a:p>
            <a:pPr marL="241300" marR="171450" indent="-228600">
              <a:lnSpc>
                <a:spcPct val="89500"/>
              </a:lnSpc>
              <a:spcBef>
                <a:spcPts val="950"/>
              </a:spcBef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2000" spc="-50" dirty="0">
                <a:solidFill>
                  <a:srgbClr val="444949"/>
                </a:solidFill>
                <a:latin typeface="Microsoft Sans Serif"/>
                <a:cs typeface="Microsoft Sans Serif"/>
              </a:rPr>
              <a:t>Control</a:t>
            </a:r>
            <a:r>
              <a:rPr sz="2000" spc="-1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over</a:t>
            </a:r>
            <a:r>
              <a:rPr sz="2000" spc="-1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50" dirty="0">
                <a:solidFill>
                  <a:srgbClr val="444949"/>
                </a:solidFill>
                <a:latin typeface="Microsoft Sans Serif"/>
                <a:cs typeface="Microsoft Sans Serif"/>
              </a:rPr>
              <a:t>sensitive </a:t>
            </a:r>
            <a:r>
              <a:rPr sz="2000" spc="-51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9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000" spc="-26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-29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2000" spc="-160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85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2000" spc="-135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000" spc="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10" dirty="0">
                <a:solidFill>
                  <a:srgbClr val="444949"/>
                </a:solidFill>
                <a:latin typeface="Microsoft Sans Serif"/>
                <a:cs typeface="Microsoft Sans Serif"/>
              </a:rPr>
              <a:t>y</a:t>
            </a:r>
            <a:r>
              <a:rPr sz="2000" spc="-3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u</a:t>
            </a:r>
            <a:r>
              <a:rPr sz="2000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000" spc="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p</a:t>
            </a:r>
            <a:r>
              <a:rPr sz="2000" spc="45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000" spc="-85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2000" spc="-114" dirty="0">
                <a:solidFill>
                  <a:srgbClr val="444949"/>
                </a:solidFill>
                <a:latin typeface="Microsoft Sans Serif"/>
                <a:cs typeface="Microsoft Sans Serif"/>
              </a:rPr>
              <a:t>vate  </a:t>
            </a:r>
            <a:r>
              <a:rPr sz="20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infrastructure</a:t>
            </a:r>
            <a:endParaRPr sz="2000">
              <a:latin typeface="Microsoft Sans Serif"/>
              <a:cs typeface="Microsoft Sans Serif"/>
            </a:endParaRPr>
          </a:p>
          <a:p>
            <a:pPr marL="241300" marR="454025" indent="-228600" algn="just">
              <a:lnSpc>
                <a:spcPct val="89500"/>
              </a:lnSpc>
              <a:spcBef>
                <a:spcPts val="1070"/>
              </a:spcBef>
              <a:buFont typeface="Arial"/>
              <a:buChar char="•"/>
              <a:tabLst>
                <a:tab pos="241300" algn="l"/>
              </a:tabLst>
            </a:pPr>
            <a:r>
              <a:rPr sz="2000" spc="-180" dirty="0">
                <a:solidFill>
                  <a:srgbClr val="444949"/>
                </a:solidFill>
                <a:latin typeface="Microsoft Sans Serif"/>
                <a:cs typeface="Microsoft Sans Serif"/>
              </a:rPr>
              <a:t>Fl</a:t>
            </a:r>
            <a:r>
              <a:rPr sz="2000" spc="-229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40" dirty="0">
                <a:solidFill>
                  <a:srgbClr val="444949"/>
                </a:solidFill>
                <a:latin typeface="Microsoft Sans Serif"/>
                <a:cs typeface="Microsoft Sans Serif"/>
              </a:rPr>
              <a:t>x</a:t>
            </a:r>
            <a:r>
              <a:rPr sz="2000" spc="-60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2000" spc="-120" dirty="0">
                <a:solidFill>
                  <a:srgbClr val="444949"/>
                </a:solidFill>
                <a:latin typeface="Microsoft Sans Serif"/>
                <a:cs typeface="Microsoft Sans Serif"/>
              </a:rPr>
              <a:t>b</a:t>
            </a:r>
            <a:r>
              <a:rPr sz="2000" spc="-55" dirty="0">
                <a:solidFill>
                  <a:srgbClr val="444949"/>
                </a:solidFill>
                <a:latin typeface="Microsoft Sans Serif"/>
                <a:cs typeface="Microsoft Sans Serif"/>
              </a:rPr>
              <a:t>ilit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y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26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0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2000" spc="-3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000" spc="-290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000" spc="45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2000" spc="-35" dirty="0">
                <a:solidFill>
                  <a:srgbClr val="444949"/>
                </a:solidFill>
                <a:latin typeface="Microsoft Sans Serif"/>
                <a:cs typeface="Microsoft Sans Serif"/>
              </a:rPr>
              <a:t>-  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f</a:t>
            </a:r>
            <a:r>
              <a:rPr sz="2000" spc="-120" dirty="0">
                <a:solidFill>
                  <a:srgbClr val="444949"/>
                </a:solidFill>
                <a:latin typeface="Microsoft Sans Serif"/>
                <a:cs typeface="Microsoft Sans Serif"/>
              </a:rPr>
              <a:t>f</a:t>
            </a:r>
            <a:r>
              <a:rPr sz="2000" spc="-110" dirty="0">
                <a:solidFill>
                  <a:srgbClr val="444949"/>
                </a:solidFill>
                <a:latin typeface="Microsoft Sans Serif"/>
                <a:cs typeface="Microsoft Sans Serif"/>
              </a:rPr>
              <a:t>ec</a:t>
            </a:r>
            <a:r>
              <a:rPr sz="2000" spc="-65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20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200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v</a:t>
            </a: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0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000" spc="-250" dirty="0">
                <a:solidFill>
                  <a:srgbClr val="444949"/>
                </a:solidFill>
                <a:latin typeface="Microsoft Sans Serif"/>
                <a:cs typeface="Microsoft Sans Serif"/>
              </a:rPr>
              <a:t>ess</a:t>
            </a:r>
            <a:r>
              <a:rPr sz="20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55" dirty="0">
                <a:solidFill>
                  <a:srgbClr val="444949"/>
                </a:solidFill>
                <a:latin typeface="Microsoft Sans Serif"/>
                <a:cs typeface="Microsoft Sans Serif"/>
              </a:rPr>
              <a:t>of</a:t>
            </a:r>
            <a:r>
              <a:rPr sz="2000" spc="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40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2000" spc="-145" dirty="0">
                <a:solidFill>
                  <a:srgbClr val="444949"/>
                </a:solidFill>
                <a:latin typeface="Microsoft Sans Serif"/>
                <a:cs typeface="Microsoft Sans Serif"/>
              </a:rPr>
              <a:t>h</a:t>
            </a:r>
            <a:r>
              <a:rPr sz="20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e  </a:t>
            </a:r>
            <a:r>
              <a:rPr sz="2000" spc="-114" dirty="0">
                <a:solidFill>
                  <a:srgbClr val="444949"/>
                </a:solidFill>
                <a:latin typeface="Microsoft Sans Serif"/>
                <a:cs typeface="Microsoft Sans Serif"/>
              </a:rPr>
              <a:t>public</a:t>
            </a:r>
            <a:r>
              <a:rPr sz="2000" spc="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0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cloud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322171" y="5066898"/>
            <a:ext cx="7038975" cy="1184910"/>
            <a:chOff x="4322171" y="5066898"/>
            <a:chExt cx="7038975" cy="118491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22171" y="5269937"/>
              <a:ext cx="963677" cy="7452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88867" y="5100369"/>
              <a:ext cx="2049819" cy="11513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58189" y="5261412"/>
              <a:ext cx="762295" cy="76229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96454" y="5129025"/>
              <a:ext cx="1027061" cy="102706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598548" y="5269938"/>
              <a:ext cx="762295" cy="76229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26727" y="5066898"/>
              <a:ext cx="1151315" cy="1151316"/>
            </a:xfrm>
            <a:prstGeom prst="rect">
              <a:avLst/>
            </a:prstGeom>
          </p:spPr>
        </p:pic>
      </p:grpSp>
      <p:pic>
        <p:nvPicPr>
          <p:cNvPr id="1026" name="Picture 2" descr="OpenStack - Wikipedia">
            <a:extLst>
              <a:ext uri="{FF2B5EF4-FFF2-40B4-BE49-F238E27FC236}">
                <a16:creationId xmlns:a16="http://schemas.microsoft.com/office/drawing/2014/main" id="{E073C719-43DA-B74F-9F7A-0ADEF83F2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979" y="5129025"/>
            <a:ext cx="2268000" cy="109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23502" r="23613"/>
          <a:stretch>
            <a:fillRect/>
          </a:stretch>
        </p:blipFill>
        <p:spPr>
          <a:xfrm>
            <a:off x="1904179" y="1363469"/>
            <a:ext cx="8383642" cy="4808731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685800" y="711200"/>
            <a:ext cx="9819183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19"/>
              </a:lnSpc>
              <a:spcBef>
                <a:spcPct val="0"/>
              </a:spcBef>
            </a:pPr>
            <a:r>
              <a:rPr lang="en-US" sz="3734">
                <a:solidFill>
                  <a:srgbClr val="250542"/>
                </a:solidFill>
                <a:latin typeface="Vesper Libre Regular"/>
              </a:rPr>
              <a:t>Service Models of Cloud Computing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456641" y="4069851"/>
            <a:ext cx="3153525" cy="2102349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924402" y="4895351"/>
            <a:ext cx="3170442" cy="922172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85800" y="2181787"/>
            <a:ext cx="3347603" cy="1883585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449847" y="2211124"/>
            <a:ext cx="3543027" cy="1858727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400588" y="2429322"/>
            <a:ext cx="1388513" cy="1388513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685800" y="750274"/>
            <a:ext cx="9090140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72"/>
              </a:lnSpc>
              <a:spcBef>
                <a:spcPct val="0"/>
              </a:spcBef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Infrastructure as a Service (IaaS)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5800" y="1762010"/>
            <a:ext cx="5731939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15"/>
              </a:lnSpc>
              <a:spcBef>
                <a:spcPct val="0"/>
              </a:spcBef>
            </a:pPr>
            <a:r>
              <a:rPr lang="en-US" sz="2933">
                <a:solidFill>
                  <a:srgbClr val="250542"/>
                </a:solidFill>
                <a:latin typeface="Vesper Libre Regular"/>
              </a:rPr>
              <a:t>Computing Resources over internet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5800" y="3564686"/>
            <a:ext cx="3356655" cy="931965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230870" y="2665672"/>
            <a:ext cx="6103265" cy="3661959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685800" y="750274"/>
            <a:ext cx="9090140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72"/>
              </a:lnSpc>
              <a:spcBef>
                <a:spcPct val="0"/>
              </a:spcBef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Platform as a Service (PaaS)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5800" y="1660769"/>
            <a:ext cx="9409044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15"/>
              </a:lnSpc>
              <a:spcBef>
                <a:spcPct val="0"/>
              </a:spcBef>
            </a:pPr>
            <a:r>
              <a:rPr lang="en-US" sz="2933">
                <a:solidFill>
                  <a:srgbClr val="250542"/>
                </a:solidFill>
                <a:latin typeface="Vesper Libre Regular"/>
              </a:rPr>
              <a:t>Tools over internet, usually for application development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5801" y="2328197"/>
            <a:ext cx="6301755" cy="2677015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771411" y="532507"/>
            <a:ext cx="2646867" cy="2205723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110745" y="2985880"/>
            <a:ext cx="3072641" cy="1176576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795908" y="4829932"/>
            <a:ext cx="4387477" cy="152104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685800" y="750274"/>
            <a:ext cx="9090140" cy="641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72"/>
              </a:lnSpc>
              <a:spcBef>
                <a:spcPct val="0"/>
              </a:spcBef>
            </a:pPr>
            <a:r>
              <a:rPr lang="en-US" sz="4400">
                <a:solidFill>
                  <a:srgbClr val="250542"/>
                </a:solidFill>
                <a:latin typeface="Vesper Libre Regular"/>
              </a:rPr>
              <a:t>Software as a Service (SaaS)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1660769"/>
            <a:ext cx="9409044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15"/>
              </a:lnSpc>
              <a:spcBef>
                <a:spcPct val="0"/>
              </a:spcBef>
            </a:pPr>
            <a:r>
              <a:rPr lang="en-US" sz="2933">
                <a:solidFill>
                  <a:srgbClr val="250542"/>
                </a:solidFill>
                <a:latin typeface="Vesper Libre Regular"/>
              </a:rPr>
              <a:t>Software Distribution Model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367283"/>
            <a:ext cx="86893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60" dirty="0"/>
              <a:t>Y</a:t>
            </a:r>
            <a:r>
              <a:rPr spc="-200" dirty="0"/>
              <a:t>o</a:t>
            </a:r>
            <a:r>
              <a:rPr spc="-290" dirty="0"/>
              <a:t>u</a:t>
            </a:r>
            <a:r>
              <a:rPr spc="-204" dirty="0"/>
              <a:t>’</a:t>
            </a:r>
            <a:r>
              <a:rPr spc="-395" dirty="0"/>
              <a:t>v</a:t>
            </a:r>
            <a:r>
              <a:rPr spc="-340" dirty="0"/>
              <a:t>e</a:t>
            </a:r>
            <a:r>
              <a:rPr spc="60" dirty="0"/>
              <a:t> </a:t>
            </a:r>
            <a:r>
              <a:rPr spc="-215" dirty="0"/>
              <a:t>b</a:t>
            </a:r>
            <a:r>
              <a:rPr spc="-335" dirty="0"/>
              <a:t>ee</a:t>
            </a:r>
            <a:r>
              <a:rPr spc="-290" dirty="0"/>
              <a:t>n</a:t>
            </a:r>
            <a:r>
              <a:rPr spc="60" dirty="0"/>
              <a:t> </a:t>
            </a:r>
            <a:r>
              <a:rPr spc="-290" dirty="0"/>
              <a:t>u</a:t>
            </a:r>
            <a:r>
              <a:rPr spc="-640" dirty="0"/>
              <a:t>s</a:t>
            </a:r>
            <a:r>
              <a:rPr spc="-185" dirty="0"/>
              <a:t>i</a:t>
            </a:r>
            <a:r>
              <a:rPr spc="-290" dirty="0"/>
              <a:t>n</a:t>
            </a:r>
            <a:r>
              <a:rPr spc="-570" dirty="0"/>
              <a:t>g</a:t>
            </a:r>
            <a:r>
              <a:rPr spc="50" dirty="0"/>
              <a:t> </a:t>
            </a:r>
            <a:r>
              <a:rPr spc="-640" dirty="0"/>
              <a:t>s</a:t>
            </a:r>
            <a:r>
              <a:rPr spc="-65" dirty="0"/>
              <a:t>o</a:t>
            </a:r>
            <a:r>
              <a:rPr spc="-280" dirty="0"/>
              <a:t>m</a:t>
            </a:r>
            <a:r>
              <a:rPr spc="-340" dirty="0"/>
              <a:t>e</a:t>
            </a:r>
            <a:r>
              <a:rPr spc="60" dirty="0"/>
              <a:t> </a:t>
            </a:r>
            <a:r>
              <a:rPr spc="-204" dirty="0"/>
              <a:t>C</a:t>
            </a:r>
            <a:r>
              <a:rPr spc="-185" dirty="0"/>
              <a:t>l</a:t>
            </a:r>
            <a:r>
              <a:rPr spc="-65" dirty="0"/>
              <a:t>o</a:t>
            </a:r>
            <a:r>
              <a:rPr spc="-290" dirty="0"/>
              <a:t>u</a:t>
            </a:r>
            <a:r>
              <a:rPr spc="-204" dirty="0"/>
              <a:t>d</a:t>
            </a:r>
            <a:r>
              <a:rPr spc="45" dirty="0"/>
              <a:t> </a:t>
            </a:r>
            <a:r>
              <a:rPr spc="-640" dirty="0"/>
              <a:t>s</a:t>
            </a:r>
            <a:r>
              <a:rPr spc="-335" dirty="0"/>
              <a:t>e</a:t>
            </a:r>
            <a:r>
              <a:rPr spc="300" dirty="0"/>
              <a:t>r</a:t>
            </a:r>
            <a:r>
              <a:rPr spc="-330" dirty="0"/>
              <a:t>v</a:t>
            </a:r>
            <a:r>
              <a:rPr spc="-185" dirty="0"/>
              <a:t>i</a:t>
            </a:r>
            <a:r>
              <a:rPr spc="-370" dirty="0"/>
              <a:t>c</a:t>
            </a:r>
            <a:r>
              <a:rPr spc="-335" dirty="0"/>
              <a:t>e</a:t>
            </a:r>
            <a:r>
              <a:rPr spc="-645" dirty="0"/>
              <a:t>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2380" y="2409590"/>
            <a:ext cx="1422400" cy="11176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16939" y="3992371"/>
            <a:ext cx="3112135" cy="1125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22705">
              <a:lnSpc>
                <a:spcPts val="2135"/>
              </a:lnSpc>
              <a:spcBef>
                <a:spcPts val="100"/>
              </a:spcBef>
            </a:pPr>
            <a:r>
              <a:rPr sz="1800" b="1" spc="-5" dirty="0">
                <a:solidFill>
                  <a:srgbClr val="444949"/>
                </a:solidFill>
                <a:latin typeface="Calibri"/>
                <a:cs typeface="Calibri"/>
              </a:rPr>
              <a:t>Gmail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ts val="2135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spc="-10" dirty="0">
                <a:solidFill>
                  <a:srgbClr val="444949"/>
                </a:solidFill>
                <a:latin typeface="Calibri"/>
                <a:cs typeface="Calibri"/>
              </a:rPr>
              <a:t>E-mail</a:t>
            </a:r>
            <a:r>
              <a:rPr sz="1800" spc="-20" dirty="0">
                <a:solidFill>
                  <a:srgbClr val="44494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44949"/>
                </a:solidFill>
                <a:latin typeface="Calibri"/>
                <a:cs typeface="Calibri"/>
              </a:rPr>
              <a:t>cloud</a:t>
            </a:r>
            <a:r>
              <a:rPr sz="1800" spc="-15" dirty="0">
                <a:solidFill>
                  <a:srgbClr val="44494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44949"/>
                </a:solidFill>
                <a:latin typeface="Calibri"/>
                <a:cs typeface="Calibri"/>
              </a:rPr>
              <a:t>service</a:t>
            </a:r>
            <a:endParaRPr sz="1800">
              <a:latin typeface="Calibri"/>
              <a:cs typeface="Calibri"/>
            </a:endParaRPr>
          </a:p>
          <a:p>
            <a:pPr marL="298450" marR="5080" indent="-285750">
              <a:lnSpc>
                <a:spcPct val="101099"/>
              </a:lnSpc>
              <a:spcBef>
                <a:spcPts val="25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spc="-30" dirty="0">
                <a:solidFill>
                  <a:srgbClr val="444949"/>
                </a:solidFill>
                <a:latin typeface="Calibri"/>
                <a:cs typeface="Calibri"/>
              </a:rPr>
              <a:t>Pay</a:t>
            </a:r>
            <a:r>
              <a:rPr sz="1800" spc="-5" dirty="0">
                <a:solidFill>
                  <a:srgbClr val="444949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444949"/>
                </a:solidFill>
                <a:latin typeface="Calibri"/>
                <a:cs typeface="Calibri"/>
              </a:rPr>
              <a:t>for</a:t>
            </a:r>
            <a:r>
              <a:rPr sz="1800" spc="-5" dirty="0">
                <a:solidFill>
                  <a:srgbClr val="444949"/>
                </a:solidFill>
                <a:latin typeface="Calibri"/>
                <a:cs typeface="Calibri"/>
              </a:rPr>
              <a:t> </a:t>
            </a:r>
            <a:r>
              <a:rPr sz="1800" spc="-40" dirty="0">
                <a:solidFill>
                  <a:srgbClr val="444949"/>
                </a:solidFill>
                <a:latin typeface="Calibri"/>
                <a:cs typeface="Calibri"/>
              </a:rPr>
              <a:t>ONLY</a:t>
            </a:r>
            <a:r>
              <a:rPr sz="1800" spc="-5" dirty="0">
                <a:solidFill>
                  <a:srgbClr val="44494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44949"/>
                </a:solidFill>
                <a:latin typeface="Calibri"/>
                <a:cs typeface="Calibri"/>
              </a:rPr>
              <a:t>your</a:t>
            </a:r>
            <a:r>
              <a:rPr sz="1800" spc="-5" dirty="0">
                <a:solidFill>
                  <a:srgbClr val="44494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44949"/>
                </a:solidFill>
                <a:latin typeface="Calibri"/>
                <a:cs typeface="Calibri"/>
              </a:rPr>
              <a:t>emails </a:t>
            </a:r>
            <a:r>
              <a:rPr sz="1800" spc="5" dirty="0">
                <a:solidFill>
                  <a:srgbClr val="444949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444949"/>
                </a:solidFill>
                <a:latin typeface="Calibri"/>
                <a:cs typeface="Calibri"/>
              </a:rPr>
              <a:t>stored</a:t>
            </a:r>
            <a:r>
              <a:rPr sz="1800" spc="-10" dirty="0">
                <a:solidFill>
                  <a:srgbClr val="44494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44949"/>
                </a:solidFill>
                <a:latin typeface="Calibri"/>
                <a:cs typeface="Calibri"/>
              </a:rPr>
              <a:t>(no</a:t>
            </a:r>
            <a:r>
              <a:rPr sz="1800" spc="-10" dirty="0">
                <a:solidFill>
                  <a:srgbClr val="444949"/>
                </a:solidFill>
                <a:latin typeface="Calibri"/>
                <a:cs typeface="Calibri"/>
              </a:rPr>
              <a:t> infrastructure,</a:t>
            </a:r>
            <a:r>
              <a:rPr sz="1800" spc="-15" dirty="0">
                <a:solidFill>
                  <a:srgbClr val="444949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444949"/>
                </a:solidFill>
                <a:latin typeface="Calibri"/>
                <a:cs typeface="Calibri"/>
              </a:rPr>
              <a:t>etc.)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49900" y="2274139"/>
            <a:ext cx="1498600" cy="141607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507736" y="3992371"/>
            <a:ext cx="244411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94435">
              <a:lnSpc>
                <a:spcPts val="2135"/>
              </a:lnSpc>
              <a:spcBef>
                <a:spcPts val="100"/>
              </a:spcBef>
            </a:pPr>
            <a:r>
              <a:rPr sz="1800" b="1" spc="-15" dirty="0">
                <a:solidFill>
                  <a:srgbClr val="444949"/>
                </a:solidFill>
                <a:latin typeface="Calibri"/>
                <a:cs typeface="Calibri"/>
              </a:rPr>
              <a:t>Dropbox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ts val="2135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spc="-5" dirty="0">
                <a:solidFill>
                  <a:srgbClr val="444949"/>
                </a:solidFill>
                <a:latin typeface="Calibri"/>
                <a:cs typeface="Calibri"/>
              </a:rPr>
              <a:t>Cloud</a:t>
            </a:r>
            <a:r>
              <a:rPr sz="1800" spc="-10" dirty="0">
                <a:solidFill>
                  <a:srgbClr val="444949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444949"/>
                </a:solidFill>
                <a:latin typeface="Calibri"/>
                <a:cs typeface="Calibri"/>
              </a:rPr>
              <a:t>Storage</a:t>
            </a:r>
            <a:r>
              <a:rPr sz="1800" spc="-10" dirty="0">
                <a:solidFill>
                  <a:srgbClr val="44494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44949"/>
                </a:solidFill>
                <a:latin typeface="Calibri"/>
                <a:cs typeface="Calibri"/>
              </a:rPr>
              <a:t>Service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45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spc="-5" dirty="0">
                <a:solidFill>
                  <a:srgbClr val="444949"/>
                </a:solidFill>
                <a:latin typeface="Calibri"/>
                <a:cs typeface="Calibri"/>
              </a:rPr>
              <a:t>Originally</a:t>
            </a:r>
            <a:r>
              <a:rPr sz="1800" spc="-15" dirty="0">
                <a:solidFill>
                  <a:srgbClr val="44494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44949"/>
                </a:solidFill>
                <a:latin typeface="Calibri"/>
                <a:cs typeface="Calibri"/>
              </a:rPr>
              <a:t>built</a:t>
            </a:r>
            <a:r>
              <a:rPr sz="1800" spc="-15" dirty="0">
                <a:solidFill>
                  <a:srgbClr val="44494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44949"/>
                </a:solidFill>
                <a:latin typeface="Calibri"/>
                <a:cs typeface="Calibri"/>
              </a:rPr>
              <a:t>on</a:t>
            </a:r>
            <a:r>
              <a:rPr sz="1800" spc="-5" dirty="0">
                <a:solidFill>
                  <a:srgbClr val="444949"/>
                </a:solidFill>
                <a:latin typeface="Calibri"/>
                <a:cs typeface="Calibri"/>
              </a:rPr>
              <a:t> </a:t>
            </a:r>
            <a:r>
              <a:rPr sz="1800" spc="-35" dirty="0">
                <a:solidFill>
                  <a:srgbClr val="444949"/>
                </a:solidFill>
                <a:latin typeface="Calibri"/>
                <a:cs typeface="Calibri"/>
              </a:rPr>
              <a:t>AWS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33129" y="2274139"/>
            <a:ext cx="1533290" cy="153329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098533" y="3992371"/>
            <a:ext cx="198437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4605">
              <a:lnSpc>
                <a:spcPts val="2135"/>
              </a:lnSpc>
              <a:spcBef>
                <a:spcPts val="100"/>
              </a:spcBef>
            </a:pPr>
            <a:r>
              <a:rPr sz="1800" b="1" spc="-5" dirty="0">
                <a:solidFill>
                  <a:srgbClr val="444949"/>
                </a:solidFill>
                <a:latin typeface="Calibri"/>
                <a:cs typeface="Calibri"/>
              </a:rPr>
              <a:t>Netflix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ts val="2135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dirty="0">
                <a:solidFill>
                  <a:srgbClr val="444949"/>
                </a:solidFill>
                <a:latin typeface="Calibri"/>
                <a:cs typeface="Calibri"/>
              </a:rPr>
              <a:t>Built</a:t>
            </a:r>
            <a:r>
              <a:rPr sz="1800" spc="-30" dirty="0">
                <a:solidFill>
                  <a:srgbClr val="44494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44949"/>
                </a:solidFill>
                <a:latin typeface="Calibri"/>
                <a:cs typeface="Calibri"/>
              </a:rPr>
              <a:t>on</a:t>
            </a:r>
            <a:r>
              <a:rPr sz="1800" spc="-15" dirty="0">
                <a:solidFill>
                  <a:srgbClr val="444949"/>
                </a:solidFill>
                <a:latin typeface="Calibri"/>
                <a:cs typeface="Calibri"/>
              </a:rPr>
              <a:t> </a:t>
            </a:r>
            <a:r>
              <a:rPr sz="1800" spc="-35" dirty="0">
                <a:solidFill>
                  <a:srgbClr val="444949"/>
                </a:solidFill>
                <a:latin typeface="Calibri"/>
                <a:cs typeface="Calibri"/>
              </a:rPr>
              <a:t>AWS</a:t>
            </a:r>
            <a:endParaRPr sz="18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45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sz="1800" dirty="0">
                <a:solidFill>
                  <a:srgbClr val="444949"/>
                </a:solidFill>
                <a:latin typeface="Calibri"/>
                <a:cs typeface="Calibri"/>
              </a:rPr>
              <a:t>Video</a:t>
            </a:r>
            <a:r>
              <a:rPr sz="1800" spc="-40" dirty="0">
                <a:solidFill>
                  <a:srgbClr val="44494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44949"/>
                </a:solidFill>
                <a:latin typeface="Calibri"/>
                <a:cs typeface="Calibri"/>
              </a:rPr>
              <a:t>on</a:t>
            </a:r>
            <a:r>
              <a:rPr sz="1800" spc="-35" dirty="0">
                <a:solidFill>
                  <a:srgbClr val="444949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444949"/>
                </a:solidFill>
                <a:latin typeface="Calibri"/>
                <a:cs typeface="Calibri"/>
              </a:rPr>
              <a:t>Demand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367283"/>
            <a:ext cx="791464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84" dirty="0"/>
              <a:t>Ex</a:t>
            </a:r>
            <a:r>
              <a:rPr spc="-470" dirty="0"/>
              <a:t>a</a:t>
            </a:r>
            <a:r>
              <a:rPr spc="-285" dirty="0"/>
              <a:t>m</a:t>
            </a:r>
            <a:r>
              <a:rPr spc="-215" dirty="0"/>
              <a:t>p</a:t>
            </a:r>
            <a:r>
              <a:rPr spc="-185" dirty="0"/>
              <a:t>l</a:t>
            </a:r>
            <a:r>
              <a:rPr spc="-340" dirty="0"/>
              <a:t>e</a:t>
            </a:r>
            <a:r>
              <a:rPr spc="60" dirty="0"/>
              <a:t> </a:t>
            </a:r>
            <a:r>
              <a:rPr spc="-65" dirty="0"/>
              <a:t>o</a:t>
            </a:r>
            <a:r>
              <a:rPr spc="-170" dirty="0"/>
              <a:t>f</a:t>
            </a:r>
            <a:r>
              <a:rPr spc="60" dirty="0"/>
              <a:t> </a:t>
            </a:r>
            <a:r>
              <a:rPr spc="-204" dirty="0"/>
              <a:t>C</a:t>
            </a:r>
            <a:r>
              <a:rPr spc="-185" dirty="0"/>
              <a:t>l</a:t>
            </a:r>
            <a:r>
              <a:rPr spc="-65" dirty="0"/>
              <a:t>o</a:t>
            </a:r>
            <a:r>
              <a:rPr spc="-245" dirty="0"/>
              <a:t>u</a:t>
            </a:r>
            <a:r>
              <a:rPr spc="-250" dirty="0"/>
              <a:t>d</a:t>
            </a:r>
            <a:r>
              <a:rPr spc="45" dirty="0"/>
              <a:t> </a:t>
            </a:r>
            <a:r>
              <a:rPr spc="-204" dirty="0"/>
              <a:t>C</a:t>
            </a:r>
            <a:r>
              <a:rPr spc="-65" dirty="0"/>
              <a:t>o</a:t>
            </a:r>
            <a:r>
              <a:rPr spc="-285" dirty="0"/>
              <a:t>m</a:t>
            </a:r>
            <a:r>
              <a:rPr spc="-215" dirty="0"/>
              <a:t>p</a:t>
            </a:r>
            <a:r>
              <a:rPr spc="-120" dirty="0"/>
              <a:t>u</a:t>
            </a:r>
            <a:r>
              <a:rPr spc="-70" dirty="0"/>
              <a:t>t</a:t>
            </a:r>
            <a:r>
              <a:rPr spc="-185" dirty="0"/>
              <a:t>i</a:t>
            </a:r>
            <a:r>
              <a:rPr spc="-425" dirty="0"/>
              <a:t>n</a:t>
            </a:r>
            <a:r>
              <a:rPr spc="-430" dirty="0"/>
              <a:t>g</a:t>
            </a:r>
            <a:r>
              <a:rPr spc="-565" dirty="0"/>
              <a:t> </a:t>
            </a:r>
            <a:r>
              <a:rPr spc="-700" dirty="0"/>
              <a:t>T</a:t>
            </a:r>
            <a:r>
              <a:rPr spc="-370" dirty="0"/>
              <a:t>y</a:t>
            </a:r>
            <a:r>
              <a:rPr spc="-215" dirty="0"/>
              <a:t>p</a:t>
            </a:r>
            <a:r>
              <a:rPr spc="-490" dirty="0"/>
              <a:t>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16939" y="1382970"/>
            <a:ext cx="8377555" cy="386651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00"/>
              </a:spcBef>
              <a:buSzPct val="101818"/>
              <a:buFont typeface="Arial"/>
              <a:buChar char="•"/>
              <a:tabLst>
                <a:tab pos="241300" algn="l"/>
              </a:tabLst>
            </a:pPr>
            <a:r>
              <a:rPr sz="4125" spc="-16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4125" spc="-34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4125" spc="-14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f</a:t>
            </a:r>
            <a:r>
              <a:rPr sz="4125" spc="13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4125" spc="-56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4125" spc="-52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4125" spc="6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4125" spc="24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4125" spc="-24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u</a:t>
            </a:r>
            <a:r>
              <a:rPr sz="4125" spc="-30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4125" spc="-3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4125" spc="-8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u</a:t>
            </a:r>
            <a:r>
              <a:rPr sz="4125" spc="-89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4125" spc="-16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4125" spc="6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56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4125" spc="-51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4125" spc="6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50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4125" spc="7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794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4125" spc="-29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4125" spc="32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4125" spc="-284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v</a:t>
            </a:r>
            <a:r>
              <a:rPr sz="4125" spc="-13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4125" spc="-30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4125" spc="-29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4125" spc="-40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:</a:t>
            </a:r>
            <a:endParaRPr sz="4125" baseline="101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400" spc="-155" dirty="0">
                <a:solidFill>
                  <a:srgbClr val="444949"/>
                </a:solidFill>
                <a:latin typeface="Microsoft Sans Serif"/>
                <a:cs typeface="Microsoft Sans Serif"/>
              </a:rPr>
              <a:t>m</a:t>
            </a:r>
            <a:r>
              <a:rPr sz="2400" spc="-31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400" spc="-290" dirty="0">
                <a:solidFill>
                  <a:srgbClr val="444949"/>
                </a:solidFill>
                <a:latin typeface="Microsoft Sans Serif"/>
                <a:cs typeface="Microsoft Sans Serif"/>
              </a:rPr>
              <a:t>z</a:t>
            </a:r>
            <a:r>
              <a:rPr sz="2400" spc="-4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400" spc="-160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4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43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400" spc="-110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2400" spc="-135" dirty="0">
                <a:solidFill>
                  <a:srgbClr val="444949"/>
                </a:solidFill>
                <a:latin typeface="Microsoft Sans Serif"/>
                <a:cs typeface="Microsoft Sans Serif"/>
              </a:rPr>
              <a:t>2</a:t>
            </a:r>
            <a:r>
              <a:rPr sz="24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444949"/>
                </a:solidFill>
                <a:latin typeface="Microsoft Sans Serif"/>
                <a:cs typeface="Microsoft Sans Serif"/>
              </a:rPr>
              <a:t>(</a:t>
            </a:r>
            <a:r>
              <a:rPr sz="2400" spc="-4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400" spc="-160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4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 A</a:t>
            </a:r>
            <a:r>
              <a:rPr sz="2400" spc="204" dirty="0">
                <a:solidFill>
                  <a:srgbClr val="444949"/>
                </a:solidFill>
                <a:latin typeface="Microsoft Sans Serif"/>
                <a:cs typeface="Microsoft Sans Serif"/>
              </a:rPr>
              <a:t>W</a:t>
            </a:r>
            <a:r>
              <a:rPr sz="2400" spc="-480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400" dirty="0">
                <a:solidFill>
                  <a:srgbClr val="444949"/>
                </a:solidFill>
                <a:latin typeface="Microsoft Sans Serif"/>
                <a:cs typeface="Microsoft Sans Serif"/>
              </a:rPr>
              <a:t>)</a:t>
            </a:r>
            <a:endParaRPr sz="240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330" dirty="0">
                <a:solidFill>
                  <a:srgbClr val="444949"/>
                </a:solidFill>
                <a:latin typeface="Microsoft Sans Serif"/>
                <a:cs typeface="Microsoft Sans Serif"/>
              </a:rPr>
              <a:t>GCP,</a:t>
            </a:r>
            <a:r>
              <a:rPr sz="2400" spc="-31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35" dirty="0">
                <a:solidFill>
                  <a:srgbClr val="444949"/>
                </a:solidFill>
                <a:latin typeface="Microsoft Sans Serif"/>
                <a:cs typeface="Microsoft Sans Serif"/>
              </a:rPr>
              <a:t>Azure,</a:t>
            </a:r>
            <a:r>
              <a:rPr sz="2400" spc="-16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245" dirty="0">
                <a:solidFill>
                  <a:srgbClr val="444949"/>
                </a:solidFill>
                <a:latin typeface="Microsoft Sans Serif"/>
                <a:cs typeface="Microsoft Sans Serif"/>
              </a:rPr>
              <a:t>Rackspace,</a:t>
            </a:r>
            <a:r>
              <a:rPr sz="24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20" dirty="0">
                <a:solidFill>
                  <a:srgbClr val="444949"/>
                </a:solidFill>
                <a:latin typeface="Microsoft Sans Serif"/>
                <a:cs typeface="Microsoft Sans Serif"/>
              </a:rPr>
              <a:t>Digital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Ocean,</a:t>
            </a:r>
            <a:r>
              <a:rPr sz="2400" spc="-140" dirty="0">
                <a:solidFill>
                  <a:srgbClr val="444949"/>
                </a:solidFill>
                <a:latin typeface="Microsoft Sans Serif"/>
                <a:cs typeface="Microsoft Sans Serif"/>
              </a:rPr>
              <a:t> Linode</a:t>
            </a:r>
            <a:endParaRPr sz="24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SzPct val="101818"/>
              <a:buFont typeface="Arial"/>
              <a:buChar char="•"/>
              <a:tabLst>
                <a:tab pos="241300" algn="l"/>
              </a:tabLst>
            </a:pPr>
            <a:r>
              <a:rPr sz="4125" spc="-57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P</a:t>
            </a:r>
            <a:r>
              <a:rPr sz="4125" spc="-19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l</a:t>
            </a:r>
            <a:r>
              <a:rPr sz="4125" spc="-494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4125" spc="12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4125" spc="-18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f</a:t>
            </a:r>
            <a:r>
              <a:rPr sz="4125" spc="-1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4125" spc="13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4125" spc="-20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m</a:t>
            </a:r>
            <a:r>
              <a:rPr sz="4125" spc="6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494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4125" spc="-57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4125" spc="6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50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4125" spc="7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794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4125" spc="-17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4125" spc="20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4125" spc="-27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v</a:t>
            </a:r>
            <a:r>
              <a:rPr sz="4125" spc="-16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4125" spc="-30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4125" spc="-35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e:</a:t>
            </a:r>
            <a:endParaRPr sz="4125" baseline="101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265" dirty="0">
                <a:solidFill>
                  <a:srgbClr val="444949"/>
                </a:solidFill>
                <a:latin typeface="Microsoft Sans Serif"/>
                <a:cs typeface="Microsoft Sans Serif"/>
              </a:rPr>
              <a:t>El</a:t>
            </a:r>
            <a:r>
              <a:rPr sz="2400" spc="-32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400" spc="-35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400" spc="55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2400" spc="-100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2400" spc="-204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24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330" dirty="0">
                <a:solidFill>
                  <a:srgbClr val="444949"/>
                </a:solidFill>
                <a:latin typeface="Microsoft Sans Serif"/>
                <a:cs typeface="Microsoft Sans Serif"/>
              </a:rPr>
              <a:t>B</a:t>
            </a:r>
            <a:r>
              <a:rPr sz="240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400" spc="-31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400" spc="-275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400" spc="-24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400" spc="55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2400" spc="-31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4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l</a:t>
            </a:r>
            <a:r>
              <a:rPr sz="240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k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444949"/>
                </a:solidFill>
                <a:latin typeface="Microsoft Sans Serif"/>
                <a:cs typeface="Microsoft Sans Serif"/>
              </a:rPr>
              <a:t>(</a:t>
            </a:r>
            <a:r>
              <a:rPr sz="24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400" spc="-100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4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 A</a:t>
            </a:r>
            <a:r>
              <a:rPr sz="2400" spc="204" dirty="0">
                <a:solidFill>
                  <a:srgbClr val="444949"/>
                </a:solidFill>
                <a:latin typeface="Microsoft Sans Serif"/>
                <a:cs typeface="Microsoft Sans Serif"/>
              </a:rPr>
              <a:t>W</a:t>
            </a:r>
            <a:r>
              <a:rPr sz="2400" spc="-245" dirty="0">
                <a:solidFill>
                  <a:srgbClr val="444949"/>
                </a:solidFill>
                <a:latin typeface="Microsoft Sans Serif"/>
                <a:cs typeface="Microsoft Sans Serif"/>
              </a:rPr>
              <a:t>S)</a:t>
            </a:r>
            <a:endParaRPr sz="240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20" dirty="0">
                <a:solidFill>
                  <a:srgbClr val="444949"/>
                </a:solidFill>
                <a:latin typeface="Microsoft Sans Serif"/>
                <a:cs typeface="Microsoft Sans Serif"/>
              </a:rPr>
              <a:t>Heroku,</a:t>
            </a:r>
            <a:r>
              <a:rPr sz="24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40" dirty="0">
                <a:solidFill>
                  <a:srgbClr val="444949"/>
                </a:solidFill>
                <a:latin typeface="Microsoft Sans Serif"/>
                <a:cs typeface="Microsoft Sans Serif"/>
              </a:rPr>
              <a:t>Google</a:t>
            </a:r>
            <a:r>
              <a:rPr sz="2400" spc="-114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80" dirty="0">
                <a:solidFill>
                  <a:srgbClr val="444949"/>
                </a:solidFill>
                <a:latin typeface="Microsoft Sans Serif"/>
                <a:cs typeface="Microsoft Sans Serif"/>
              </a:rPr>
              <a:t>App</a:t>
            </a:r>
            <a:r>
              <a:rPr sz="2400" spc="3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229" dirty="0">
                <a:solidFill>
                  <a:srgbClr val="444949"/>
                </a:solidFill>
                <a:latin typeface="Microsoft Sans Serif"/>
                <a:cs typeface="Microsoft Sans Serif"/>
              </a:rPr>
              <a:t>Engine</a:t>
            </a:r>
            <a:r>
              <a:rPr sz="24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50" dirty="0">
                <a:solidFill>
                  <a:srgbClr val="444949"/>
                </a:solidFill>
                <a:latin typeface="Microsoft Sans Serif"/>
                <a:cs typeface="Microsoft Sans Serif"/>
              </a:rPr>
              <a:t>(GCP),</a:t>
            </a:r>
            <a:r>
              <a:rPr sz="2400" spc="-409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Windows</a:t>
            </a:r>
            <a:r>
              <a:rPr sz="2400" spc="-114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25" dirty="0">
                <a:solidFill>
                  <a:srgbClr val="444949"/>
                </a:solidFill>
                <a:latin typeface="Microsoft Sans Serif"/>
                <a:cs typeface="Microsoft Sans Serif"/>
              </a:rPr>
              <a:t>Azure</a:t>
            </a:r>
            <a:r>
              <a:rPr sz="2400" spc="3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85" dirty="0">
                <a:solidFill>
                  <a:srgbClr val="444949"/>
                </a:solidFill>
                <a:latin typeface="Microsoft Sans Serif"/>
                <a:cs typeface="Microsoft Sans Serif"/>
              </a:rPr>
              <a:t>(Microsoft)</a:t>
            </a:r>
            <a:endParaRPr sz="2400">
              <a:latin typeface="Microsoft Sans Serif"/>
              <a:cs typeface="Microsoft Sans Serif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SzPct val="101818"/>
              <a:buFont typeface="Arial"/>
              <a:buChar char="•"/>
              <a:tabLst>
                <a:tab pos="241300" algn="l"/>
              </a:tabLst>
            </a:pPr>
            <a:r>
              <a:rPr sz="4125" spc="-45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4125" spc="-359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4125" spc="-14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f</a:t>
            </a:r>
            <a:r>
              <a:rPr sz="4125" spc="12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t</a:t>
            </a:r>
            <a:r>
              <a:rPr sz="4125" spc="-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w</a:t>
            </a:r>
            <a:r>
              <a:rPr sz="4125" spc="-494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4125" spc="2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4125" spc="-284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4125" spc="6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494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4125" spc="-57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4125" spc="6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50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4125" spc="6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4125" spc="-54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Se</a:t>
            </a:r>
            <a:r>
              <a:rPr sz="4125" spc="32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4125" spc="-270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v</a:t>
            </a:r>
            <a:r>
              <a:rPr sz="4125" spc="-157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4125" spc="-31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4125" spc="-292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4125" spc="-405" baseline="1010" dirty="0">
                <a:solidFill>
                  <a:srgbClr val="444949"/>
                </a:solidFill>
                <a:latin typeface="Microsoft Sans Serif"/>
                <a:cs typeface="Microsoft Sans Serif"/>
              </a:rPr>
              <a:t>:</a:t>
            </a:r>
            <a:endParaRPr sz="4125" baseline="101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ct val="100000"/>
              </a:lnSpc>
              <a:spcBef>
                <a:spcPts val="26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215" dirty="0">
                <a:solidFill>
                  <a:srgbClr val="444949"/>
                </a:solidFill>
                <a:latin typeface="Microsoft Sans Serif"/>
                <a:cs typeface="Microsoft Sans Serif"/>
              </a:rPr>
              <a:t>Ma</a:t>
            </a:r>
            <a:r>
              <a:rPr sz="2400" spc="-210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400" spc="-200" dirty="0">
                <a:solidFill>
                  <a:srgbClr val="444949"/>
                </a:solidFill>
                <a:latin typeface="Microsoft Sans Serif"/>
                <a:cs typeface="Microsoft Sans Serif"/>
              </a:rPr>
              <a:t>y</a:t>
            </a:r>
            <a:r>
              <a:rPr sz="2400" spc="-120" dirty="0">
                <a:solidFill>
                  <a:srgbClr val="444949"/>
                </a:solidFill>
                <a:latin typeface="Microsoft Sans Serif"/>
                <a:cs typeface="Microsoft Sans Serif"/>
              </a:rPr>
              <a:t> A</a:t>
            </a:r>
            <a:r>
              <a:rPr sz="2400" spc="-135" dirty="0">
                <a:solidFill>
                  <a:srgbClr val="444949"/>
                </a:solidFill>
                <a:latin typeface="Microsoft Sans Serif"/>
                <a:cs typeface="Microsoft Sans Serif"/>
              </a:rPr>
              <a:t>WS</a:t>
            </a:r>
            <a:r>
              <a:rPr sz="24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204" dirty="0">
                <a:solidFill>
                  <a:srgbClr val="444949"/>
                </a:solidFill>
                <a:latin typeface="Microsoft Sans Serif"/>
                <a:cs typeface="Microsoft Sans Serif"/>
              </a:rPr>
              <a:t>se</a:t>
            </a:r>
            <a:r>
              <a:rPr sz="2400" spc="35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40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v</a:t>
            </a:r>
            <a:r>
              <a:rPr sz="2400" spc="-95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2400" spc="-204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2400" spc="-270" dirty="0">
                <a:solidFill>
                  <a:srgbClr val="444949"/>
                </a:solidFill>
                <a:latin typeface="Microsoft Sans Serif"/>
                <a:cs typeface="Microsoft Sans Serif"/>
              </a:rPr>
              <a:t>es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20" dirty="0">
                <a:solidFill>
                  <a:srgbClr val="444949"/>
                </a:solidFill>
                <a:latin typeface="Microsoft Sans Serif"/>
                <a:cs typeface="Microsoft Sans Serif"/>
              </a:rPr>
              <a:t>(ex:</a:t>
            </a:r>
            <a:r>
              <a:rPr sz="2400" spc="-17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265" dirty="0">
                <a:solidFill>
                  <a:srgbClr val="444949"/>
                </a:solidFill>
                <a:latin typeface="Microsoft Sans Serif"/>
                <a:cs typeface="Microsoft Sans Serif"/>
              </a:rPr>
              <a:t>Re</a:t>
            </a:r>
            <a:r>
              <a:rPr sz="2400" spc="-229" dirty="0">
                <a:solidFill>
                  <a:srgbClr val="444949"/>
                </a:solidFill>
                <a:latin typeface="Microsoft Sans Serif"/>
                <a:cs typeface="Microsoft Sans Serif"/>
              </a:rPr>
              <a:t>k</a:t>
            </a:r>
            <a:r>
              <a:rPr sz="24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ognitio</a:t>
            </a:r>
            <a:r>
              <a:rPr sz="2400" spc="-135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4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70" dirty="0">
                <a:solidFill>
                  <a:srgbClr val="444949"/>
                </a:solidFill>
                <a:latin typeface="Microsoft Sans Serif"/>
                <a:cs typeface="Microsoft Sans Serif"/>
              </a:rPr>
              <a:t>f</a:t>
            </a:r>
            <a:r>
              <a:rPr sz="24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400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130" dirty="0">
                <a:solidFill>
                  <a:srgbClr val="444949"/>
                </a:solidFill>
                <a:latin typeface="Microsoft Sans Serif"/>
                <a:cs typeface="Microsoft Sans Serif"/>
              </a:rPr>
              <a:t>M</a:t>
            </a:r>
            <a:r>
              <a:rPr sz="2400" spc="-31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400" spc="-204" dirty="0">
                <a:solidFill>
                  <a:srgbClr val="444949"/>
                </a:solidFill>
                <a:latin typeface="Microsoft Sans Serif"/>
                <a:cs typeface="Microsoft Sans Serif"/>
              </a:rPr>
              <a:t>c</a:t>
            </a:r>
            <a:r>
              <a:rPr sz="2400" spc="-165" dirty="0">
                <a:solidFill>
                  <a:srgbClr val="444949"/>
                </a:solidFill>
                <a:latin typeface="Microsoft Sans Serif"/>
                <a:cs typeface="Microsoft Sans Serif"/>
              </a:rPr>
              <a:t>h</a:t>
            </a:r>
            <a:r>
              <a:rPr sz="24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2400" spc="-165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400" spc="-190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4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215" dirty="0">
                <a:solidFill>
                  <a:srgbClr val="444949"/>
                </a:solidFill>
                <a:latin typeface="Microsoft Sans Serif"/>
                <a:cs typeface="Microsoft Sans Serif"/>
              </a:rPr>
              <a:t>L</a:t>
            </a:r>
            <a:r>
              <a:rPr sz="2400" spc="-195" dirty="0">
                <a:solidFill>
                  <a:srgbClr val="444949"/>
                </a:solidFill>
                <a:latin typeface="Microsoft Sans Serif"/>
                <a:cs typeface="Microsoft Sans Serif"/>
              </a:rPr>
              <a:t>e</a:t>
            </a:r>
            <a:r>
              <a:rPr sz="2400" spc="-315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400" spc="60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400" spc="-165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400" spc="-105" dirty="0">
                <a:solidFill>
                  <a:srgbClr val="444949"/>
                </a:solidFill>
                <a:latin typeface="Microsoft Sans Serif"/>
                <a:cs typeface="Microsoft Sans Serif"/>
              </a:rPr>
              <a:t>i</a:t>
            </a:r>
            <a:r>
              <a:rPr sz="2400" spc="-165" dirty="0">
                <a:solidFill>
                  <a:srgbClr val="444949"/>
                </a:solidFill>
                <a:latin typeface="Microsoft Sans Serif"/>
                <a:cs typeface="Microsoft Sans Serif"/>
              </a:rPr>
              <a:t>n</a:t>
            </a:r>
            <a:r>
              <a:rPr sz="2400" spc="-315" dirty="0">
                <a:solidFill>
                  <a:srgbClr val="444949"/>
                </a:solidFill>
                <a:latin typeface="Microsoft Sans Serif"/>
                <a:cs typeface="Microsoft Sans Serif"/>
              </a:rPr>
              <a:t>g</a:t>
            </a:r>
            <a:r>
              <a:rPr sz="2400" dirty="0">
                <a:solidFill>
                  <a:srgbClr val="444949"/>
                </a:solidFill>
                <a:latin typeface="Microsoft Sans Serif"/>
                <a:cs typeface="Microsoft Sans Serif"/>
              </a:rPr>
              <a:t>)</a:t>
            </a:r>
            <a:endParaRPr sz="2400">
              <a:latin typeface="Microsoft Sans Serif"/>
              <a:cs typeface="Microsoft Sans Serif"/>
            </a:endParaRPr>
          </a:p>
          <a:p>
            <a:pPr marL="698500" lvl="1" indent="-228600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8500" algn="l"/>
              </a:tabLst>
            </a:pPr>
            <a:r>
              <a:rPr sz="2400" spc="-140" dirty="0">
                <a:solidFill>
                  <a:srgbClr val="444949"/>
                </a:solidFill>
                <a:latin typeface="Microsoft Sans Serif"/>
                <a:cs typeface="Microsoft Sans Serif"/>
              </a:rPr>
              <a:t>Google</a:t>
            </a:r>
            <a:r>
              <a:rPr sz="2400" spc="-12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-70" dirty="0">
                <a:solidFill>
                  <a:srgbClr val="444949"/>
                </a:solidFill>
                <a:latin typeface="Microsoft Sans Serif"/>
                <a:cs typeface="Microsoft Sans Serif"/>
              </a:rPr>
              <a:t>A</a:t>
            </a:r>
            <a:r>
              <a:rPr sz="2400" spc="-55" dirty="0">
                <a:solidFill>
                  <a:srgbClr val="444949"/>
                </a:solidFill>
                <a:latin typeface="Microsoft Sans Serif"/>
                <a:cs typeface="Microsoft Sans Serif"/>
              </a:rPr>
              <a:t>p</a:t>
            </a:r>
            <a:r>
              <a:rPr sz="2400" spc="-114" dirty="0">
                <a:solidFill>
                  <a:srgbClr val="444949"/>
                </a:solidFill>
                <a:latin typeface="Microsoft Sans Serif"/>
                <a:cs typeface="Microsoft Sans Serif"/>
              </a:rPr>
              <a:t>p</a:t>
            </a:r>
            <a:r>
              <a:rPr sz="2400" spc="-355" dirty="0">
                <a:solidFill>
                  <a:srgbClr val="444949"/>
                </a:solidFill>
                <a:latin typeface="Microsoft Sans Serif"/>
                <a:cs typeface="Microsoft Sans Serif"/>
              </a:rPr>
              <a:t>s</a:t>
            </a:r>
            <a:r>
              <a:rPr sz="2400" spc="25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444949"/>
                </a:solidFill>
                <a:latin typeface="Microsoft Sans Serif"/>
                <a:cs typeface="Microsoft Sans Serif"/>
              </a:rPr>
              <a:t>(</a:t>
            </a:r>
            <a:r>
              <a:rPr sz="2400" spc="-150" dirty="0">
                <a:solidFill>
                  <a:srgbClr val="444949"/>
                </a:solidFill>
                <a:latin typeface="Microsoft Sans Serif"/>
                <a:cs typeface="Microsoft Sans Serif"/>
              </a:rPr>
              <a:t>Gmail</a:t>
            </a:r>
            <a:r>
              <a:rPr sz="2400" spc="-90" dirty="0">
                <a:solidFill>
                  <a:srgbClr val="444949"/>
                </a:solidFill>
                <a:latin typeface="Microsoft Sans Serif"/>
                <a:cs typeface="Microsoft Sans Serif"/>
              </a:rPr>
              <a:t>)</a:t>
            </a:r>
            <a:r>
              <a:rPr sz="2400" spc="-245" dirty="0">
                <a:solidFill>
                  <a:srgbClr val="444949"/>
                </a:solidFill>
                <a:latin typeface="Microsoft Sans Serif"/>
                <a:cs typeface="Microsoft Sans Serif"/>
              </a:rPr>
              <a:t>,</a:t>
            </a:r>
            <a:r>
              <a:rPr sz="24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20" dirty="0">
                <a:solidFill>
                  <a:srgbClr val="444949"/>
                </a:solidFill>
                <a:latin typeface="Microsoft Sans Serif"/>
                <a:cs typeface="Microsoft Sans Serif"/>
              </a:rPr>
              <a:t>D</a:t>
            </a:r>
            <a:r>
              <a:rPr sz="2400" spc="10" dirty="0">
                <a:solidFill>
                  <a:srgbClr val="444949"/>
                </a:solidFill>
                <a:latin typeface="Microsoft Sans Serif"/>
                <a:cs typeface="Microsoft Sans Serif"/>
              </a:rPr>
              <a:t>r</a:t>
            </a:r>
            <a:r>
              <a:rPr sz="2400" spc="-80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400" spc="-75" dirty="0">
                <a:solidFill>
                  <a:srgbClr val="444949"/>
                </a:solidFill>
                <a:latin typeface="Microsoft Sans Serif"/>
                <a:cs typeface="Microsoft Sans Serif"/>
              </a:rPr>
              <a:t>p</a:t>
            </a:r>
            <a:r>
              <a:rPr sz="2400" spc="-114" dirty="0">
                <a:solidFill>
                  <a:srgbClr val="444949"/>
                </a:solidFill>
                <a:latin typeface="Microsoft Sans Serif"/>
                <a:cs typeface="Microsoft Sans Serif"/>
              </a:rPr>
              <a:t>b</a:t>
            </a:r>
            <a:r>
              <a:rPr sz="2400" spc="-85" dirty="0">
                <a:solidFill>
                  <a:srgbClr val="444949"/>
                </a:solidFill>
                <a:latin typeface="Microsoft Sans Serif"/>
                <a:cs typeface="Microsoft Sans Serif"/>
              </a:rPr>
              <a:t>o</a:t>
            </a:r>
            <a:r>
              <a:rPr sz="2400" spc="-55" dirty="0">
                <a:solidFill>
                  <a:srgbClr val="444949"/>
                </a:solidFill>
                <a:latin typeface="Microsoft Sans Serif"/>
                <a:cs typeface="Microsoft Sans Serif"/>
              </a:rPr>
              <a:t>x</a:t>
            </a:r>
            <a:r>
              <a:rPr sz="2400" spc="-245" dirty="0">
                <a:solidFill>
                  <a:srgbClr val="444949"/>
                </a:solidFill>
                <a:latin typeface="Microsoft Sans Serif"/>
                <a:cs typeface="Microsoft Sans Serif"/>
              </a:rPr>
              <a:t>,</a:t>
            </a:r>
            <a:r>
              <a:rPr sz="2400" spc="-170" dirty="0">
                <a:solidFill>
                  <a:srgbClr val="444949"/>
                </a:solidFill>
                <a:latin typeface="Microsoft Sans Serif"/>
                <a:cs typeface="Microsoft Sans Serif"/>
              </a:rPr>
              <a:t> </a:t>
            </a:r>
            <a:r>
              <a:rPr sz="2400" spc="55" dirty="0">
                <a:solidFill>
                  <a:srgbClr val="444949"/>
                </a:solidFill>
                <a:latin typeface="Microsoft Sans Serif"/>
                <a:cs typeface="Microsoft Sans Serif"/>
              </a:rPr>
              <a:t>Z</a:t>
            </a:r>
            <a:r>
              <a:rPr sz="2400" spc="-80" dirty="0">
                <a:solidFill>
                  <a:srgbClr val="444949"/>
                </a:solidFill>
                <a:latin typeface="Microsoft Sans Serif"/>
                <a:cs typeface="Microsoft Sans Serif"/>
              </a:rPr>
              <a:t>oom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91928" y="1709927"/>
            <a:ext cx="920496" cy="92049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91928" y="2968751"/>
            <a:ext cx="920496" cy="920496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091928" y="4328159"/>
            <a:ext cx="920496" cy="9204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851090" y="283908"/>
            <a:ext cx="8489821" cy="629018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A71215-6718-3C9D-A593-742866F21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696" y="410818"/>
            <a:ext cx="8560904" cy="55261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F96513-5058-B201-43D9-E8073E37DDF3}"/>
              </a:ext>
            </a:extLst>
          </p:cNvPr>
          <p:cNvSpPr txBox="1"/>
          <p:nvPr/>
        </p:nvSpPr>
        <p:spPr>
          <a:xfrm>
            <a:off x="3644347" y="3075057"/>
            <a:ext cx="41346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Any Questions ?</a:t>
            </a:r>
          </a:p>
        </p:txBody>
      </p:sp>
    </p:spTree>
    <p:extLst>
      <p:ext uri="{BB962C8B-B14F-4D97-AF65-F5344CB8AC3E}">
        <p14:creationId xmlns:p14="http://schemas.microsoft.com/office/powerpoint/2010/main" val="1705846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8697</TotalTime>
  <Words>282</Words>
  <Application>Microsoft Office PowerPoint</Application>
  <PresentationFormat>Widescreen</PresentationFormat>
  <Paragraphs>50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Microsoft Sans Serif</vt:lpstr>
      <vt:lpstr>Vesper Libre Regular</vt:lpstr>
      <vt:lpstr>Office Theme</vt:lpstr>
      <vt:lpstr>Lecture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Deployment Models of the Cloud</vt:lpstr>
      <vt:lpstr>PowerPoint Presentation</vt:lpstr>
      <vt:lpstr>PowerPoint Presentation</vt:lpstr>
      <vt:lpstr>PowerPoint Presentation</vt:lpstr>
      <vt:lpstr>PowerPoint Presentation</vt:lpstr>
      <vt:lpstr>You’ve been using some Cloud services</vt:lpstr>
      <vt:lpstr>Example of Cloud Computing Types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</dc:title>
  <dc:creator>Muhammad Tehmeed Ebaduddin</dc:creator>
  <cp:lastModifiedBy>Muhammad Tehmeed Ebaduddin</cp:lastModifiedBy>
  <cp:revision>6</cp:revision>
  <dcterms:created xsi:type="dcterms:W3CDTF">2024-03-12T05:48:59Z</dcterms:created>
  <dcterms:modified xsi:type="dcterms:W3CDTF">2024-03-18T08:01:04Z</dcterms:modified>
</cp:coreProperties>
</file>