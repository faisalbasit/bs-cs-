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 u="sng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F3F3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>
            <a:pPr marL="6286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 u="sng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F3F3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>
            <a:pPr marL="6286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 u="sng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>
            <a:pPr marL="6286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 u="sng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>
            <a:pPr marL="6286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>
            <a:pPr marL="6286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5840" cy="5659120"/>
          </a:xfrm>
          <a:custGeom>
            <a:avLst/>
            <a:gdLst/>
            <a:ahLst/>
            <a:cxnLst/>
            <a:rect l="l" t="t" r="r" b="b"/>
            <a:pathLst>
              <a:path w="1005840" h="5659120">
                <a:moveTo>
                  <a:pt x="0" y="0"/>
                </a:moveTo>
                <a:lnTo>
                  <a:pt x="1005840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6766" y="1194255"/>
            <a:ext cx="7481570" cy="1031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 u="sng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2947" y="1988032"/>
            <a:ext cx="7831455" cy="443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F3F3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2778" y="6127091"/>
            <a:ext cx="2750820" cy="1352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89898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463935" y="6127091"/>
            <a:ext cx="163953" cy="1352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>
            <a:pPr marL="6286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122670" y="1053846"/>
            <a:ext cx="3938270" cy="5666740"/>
            <a:chOff x="6122670" y="1053846"/>
            <a:chExt cx="3938270" cy="5666740"/>
          </a:xfrm>
        </p:grpSpPr>
        <p:sp>
          <p:nvSpPr>
            <p:cNvPr id="3" name="object 3" descr=""/>
            <p:cNvSpPr/>
            <p:nvPr/>
          </p:nvSpPr>
          <p:spPr>
            <a:xfrm>
              <a:off x="7731251" y="1057656"/>
              <a:ext cx="1005840" cy="5659120"/>
            </a:xfrm>
            <a:custGeom>
              <a:avLst/>
              <a:gdLst/>
              <a:ahLst/>
              <a:cxnLst/>
              <a:rect l="l" t="t" r="r" b="b"/>
              <a:pathLst>
                <a:path w="1005840" h="5659120">
                  <a:moveTo>
                    <a:pt x="0" y="0"/>
                  </a:moveTo>
                  <a:lnTo>
                    <a:pt x="1005840" y="5658611"/>
                  </a:lnTo>
                </a:path>
              </a:pathLst>
            </a:custGeom>
            <a:ln w="762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26480" y="4094988"/>
              <a:ext cx="3930650" cy="2621280"/>
            </a:xfrm>
            <a:custGeom>
              <a:avLst/>
              <a:gdLst/>
              <a:ahLst/>
              <a:cxnLst/>
              <a:rect l="l" t="t" r="r" b="b"/>
              <a:pathLst>
                <a:path w="3930650" h="2621279">
                  <a:moveTo>
                    <a:pt x="3930395" y="0"/>
                  </a:moveTo>
                  <a:lnTo>
                    <a:pt x="0" y="2621279"/>
                  </a:lnTo>
                </a:path>
              </a:pathLst>
            </a:custGeom>
            <a:ln w="762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5492" y="1057656"/>
              <a:ext cx="2692907" cy="5658611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0" y="1057655"/>
            <a:ext cx="1588135" cy="5659120"/>
            <a:chOff x="0" y="1057655"/>
            <a:chExt cx="1588135" cy="565912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57655"/>
              <a:ext cx="702564" cy="468020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64" y="5148071"/>
              <a:ext cx="1571244" cy="156819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49353" y="1307220"/>
            <a:ext cx="4398010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243330" algn="l"/>
              </a:tabLst>
            </a:pPr>
            <a:r>
              <a:rPr dirty="0" u="none" sz="6600" spc="-25"/>
              <a:t>1</a:t>
            </a:r>
            <a:r>
              <a:rPr dirty="0" u="none" baseline="25252" sz="6600" spc="-37"/>
              <a:t>st</a:t>
            </a:r>
            <a:r>
              <a:rPr dirty="0" u="none" baseline="25252" sz="6600"/>
              <a:t>	</a:t>
            </a:r>
            <a:r>
              <a:rPr dirty="0" u="none" sz="6600" spc="-10"/>
              <a:t>Chapter</a:t>
            </a:r>
            <a:endParaRPr sz="6600"/>
          </a:p>
        </p:txBody>
      </p:sp>
      <p:sp>
        <p:nvSpPr>
          <p:cNvPr id="10" name="object 10" descr=""/>
          <p:cNvSpPr/>
          <p:nvPr/>
        </p:nvSpPr>
        <p:spPr>
          <a:xfrm>
            <a:off x="2287524" y="2263139"/>
            <a:ext cx="4320540" cy="82550"/>
          </a:xfrm>
          <a:custGeom>
            <a:avLst/>
            <a:gdLst/>
            <a:ahLst/>
            <a:cxnLst/>
            <a:rect l="l" t="t" r="r" b="b"/>
            <a:pathLst>
              <a:path w="4320540" h="82550">
                <a:moveTo>
                  <a:pt x="4320540" y="82296"/>
                </a:moveTo>
                <a:lnTo>
                  <a:pt x="0" y="82296"/>
                </a:lnTo>
                <a:lnTo>
                  <a:pt x="0" y="0"/>
                </a:lnTo>
                <a:lnTo>
                  <a:pt x="4320540" y="0"/>
                </a:lnTo>
                <a:lnTo>
                  <a:pt x="4320540" y="82296"/>
                </a:lnTo>
                <a:close/>
              </a:path>
            </a:pathLst>
          </a:custGeom>
          <a:solidFill>
            <a:srgbClr val="90C1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337585" y="2320415"/>
            <a:ext cx="6222365" cy="309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u="sng" sz="445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Articles</a:t>
            </a:r>
            <a:r>
              <a:rPr dirty="0" u="sng" sz="4450" spc="-1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45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4450" spc="-3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45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Faith</a:t>
            </a:r>
            <a:r>
              <a:rPr dirty="0" u="sng" sz="4450" spc="-6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45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4450" spc="-15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450" spc="-1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Islam</a:t>
            </a:r>
            <a:endParaRPr sz="4450">
              <a:latin typeface="Trebuchet MS"/>
              <a:cs typeface="Trebuchet MS"/>
            </a:endParaRPr>
          </a:p>
          <a:p>
            <a:pPr algn="ctr" marL="635">
              <a:lnSpc>
                <a:spcPct val="100000"/>
              </a:lnSpc>
              <a:spcBef>
                <a:spcPts val="2080"/>
              </a:spcBef>
            </a:pPr>
            <a:r>
              <a:rPr dirty="0" sz="1450" b="1">
                <a:latin typeface="Times New Roman"/>
                <a:cs typeface="Times New Roman"/>
              </a:rPr>
              <a:t>Iman</a:t>
            </a:r>
            <a:r>
              <a:rPr dirty="0" sz="1450" spc="50" b="1">
                <a:latin typeface="Times New Roman"/>
                <a:cs typeface="Times New Roman"/>
              </a:rPr>
              <a:t> </a:t>
            </a:r>
            <a:r>
              <a:rPr dirty="0" sz="1450" b="1">
                <a:latin typeface="Times New Roman"/>
                <a:cs typeface="Times New Roman"/>
              </a:rPr>
              <a:t>e</a:t>
            </a:r>
            <a:r>
              <a:rPr dirty="0" sz="1450" spc="25" b="1">
                <a:latin typeface="Times New Roman"/>
                <a:cs typeface="Times New Roman"/>
              </a:rPr>
              <a:t> </a:t>
            </a:r>
            <a:r>
              <a:rPr dirty="0" sz="1450" b="1">
                <a:latin typeface="Times New Roman"/>
                <a:cs typeface="Times New Roman"/>
              </a:rPr>
              <a:t>Mujmal</a:t>
            </a:r>
            <a:r>
              <a:rPr dirty="0" sz="1450" spc="45" b="1">
                <a:latin typeface="Times New Roman"/>
                <a:cs typeface="Times New Roman"/>
              </a:rPr>
              <a:t> </a:t>
            </a:r>
            <a:r>
              <a:rPr dirty="0" sz="1450" b="1">
                <a:latin typeface="Times New Roman"/>
                <a:cs typeface="Times New Roman"/>
              </a:rPr>
              <a:t>and</a:t>
            </a:r>
            <a:r>
              <a:rPr dirty="0" sz="1450" spc="5" b="1">
                <a:latin typeface="Times New Roman"/>
                <a:cs typeface="Times New Roman"/>
              </a:rPr>
              <a:t> </a:t>
            </a:r>
            <a:r>
              <a:rPr dirty="0" sz="1450" b="1">
                <a:latin typeface="Times New Roman"/>
                <a:cs typeface="Times New Roman"/>
              </a:rPr>
              <a:t>Iman</a:t>
            </a:r>
            <a:r>
              <a:rPr dirty="0" sz="1450" spc="75" b="1">
                <a:latin typeface="Times New Roman"/>
                <a:cs typeface="Times New Roman"/>
              </a:rPr>
              <a:t> </a:t>
            </a:r>
            <a:r>
              <a:rPr dirty="0" sz="1450" b="1">
                <a:latin typeface="Times New Roman"/>
                <a:cs typeface="Times New Roman"/>
              </a:rPr>
              <a:t>e </a:t>
            </a:r>
            <a:r>
              <a:rPr dirty="0" sz="1450" spc="-10" b="1">
                <a:latin typeface="Times New Roman"/>
                <a:cs typeface="Times New Roman"/>
              </a:rPr>
              <a:t>Mufassal</a:t>
            </a:r>
            <a:endParaRPr sz="1450">
              <a:latin typeface="Times New Roman"/>
              <a:cs typeface="Times New Roman"/>
            </a:endParaRPr>
          </a:p>
          <a:p>
            <a:pPr algn="ctr" marL="2380615" marR="2375535">
              <a:lnSpc>
                <a:spcPts val="2620"/>
              </a:lnSpc>
              <a:spcBef>
                <a:spcPts val="225"/>
              </a:spcBef>
            </a:pPr>
            <a:r>
              <a:rPr dirty="0" sz="1450" b="1">
                <a:latin typeface="Trebuchet MS"/>
                <a:cs typeface="Trebuchet MS"/>
              </a:rPr>
              <a:t>Oneness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of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Allah </a:t>
            </a:r>
            <a:r>
              <a:rPr dirty="0" sz="1450" spc="-10" b="1">
                <a:latin typeface="Trebuchet MS"/>
                <a:cs typeface="Trebuchet MS"/>
              </a:rPr>
              <a:t>Angels</a:t>
            </a:r>
            <a:endParaRPr sz="1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dirty="0" sz="1450" b="1">
                <a:latin typeface="Trebuchet MS"/>
                <a:cs typeface="Trebuchet MS"/>
              </a:rPr>
              <a:t>Revealed</a:t>
            </a:r>
            <a:r>
              <a:rPr dirty="0" sz="1450" spc="10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Books</a:t>
            </a:r>
            <a:endParaRPr sz="1450">
              <a:latin typeface="Trebuchet MS"/>
              <a:cs typeface="Trebuchet MS"/>
            </a:endParaRPr>
          </a:p>
          <a:p>
            <a:pPr algn="ctr" marL="248285">
              <a:lnSpc>
                <a:spcPct val="100000"/>
              </a:lnSpc>
              <a:spcBef>
                <a:spcPts val="1260"/>
              </a:spcBef>
            </a:pPr>
            <a:r>
              <a:rPr dirty="0" sz="1950" b="1">
                <a:solidFill>
                  <a:srgbClr val="0070BF"/>
                </a:solidFill>
                <a:latin typeface="Times New Roman"/>
                <a:cs typeface="Times New Roman"/>
              </a:rPr>
              <a:t>Ms.</a:t>
            </a:r>
            <a:r>
              <a:rPr dirty="0" sz="1950" spc="65" b="1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dirty="0" sz="1950" b="1">
                <a:solidFill>
                  <a:srgbClr val="0070BF"/>
                </a:solidFill>
                <a:latin typeface="Times New Roman"/>
                <a:cs typeface="Times New Roman"/>
              </a:rPr>
              <a:t>SAFIA</a:t>
            </a:r>
            <a:r>
              <a:rPr dirty="0" sz="1950" spc="-110" b="1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dirty="0" sz="1950" spc="-20" b="1">
                <a:solidFill>
                  <a:srgbClr val="0070BF"/>
                </a:solidFill>
                <a:latin typeface="Times New Roman"/>
                <a:cs typeface="Times New Roman"/>
              </a:rPr>
              <a:t>WAQAS</a:t>
            </a:r>
            <a:endParaRPr sz="1950">
              <a:latin typeface="Times New Roman"/>
              <a:cs typeface="Times New Roman"/>
            </a:endParaRPr>
          </a:p>
          <a:p>
            <a:pPr algn="ctr" marL="247015">
              <a:lnSpc>
                <a:spcPct val="100000"/>
              </a:lnSpc>
              <a:spcBef>
                <a:spcPts val="60"/>
              </a:spcBef>
            </a:pPr>
            <a:r>
              <a:rPr dirty="0" sz="1450" b="1">
                <a:solidFill>
                  <a:srgbClr val="0070BF"/>
                </a:solidFill>
                <a:latin typeface="Times New Roman"/>
                <a:cs typeface="Times New Roman"/>
              </a:rPr>
              <a:t>Session:</a:t>
            </a:r>
            <a:r>
              <a:rPr dirty="0" sz="1450" spc="45" b="1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imes New Roman"/>
                <a:cs typeface="Times New Roman"/>
              </a:rPr>
              <a:t>Spring:</a:t>
            </a:r>
            <a:r>
              <a:rPr dirty="0" sz="1450" spc="5" b="1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dirty="0" sz="1450" spc="-20" b="1">
                <a:solidFill>
                  <a:srgbClr val="0070BF"/>
                </a:solidFill>
                <a:latin typeface="Times New Roman"/>
                <a:cs typeface="Times New Roman"/>
              </a:rPr>
              <a:t>2025</a:t>
            </a:r>
            <a:endParaRPr sz="1450">
              <a:latin typeface="Times New Roman"/>
              <a:cs typeface="Times New Roman"/>
            </a:endParaRPr>
          </a:p>
          <a:p>
            <a:pPr algn="ctr" marL="24892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solidFill>
                  <a:srgbClr val="0070BF"/>
                </a:solidFill>
                <a:latin typeface="Times New Roman"/>
                <a:cs typeface="Times New Roman"/>
              </a:rPr>
              <a:t>Course:</a:t>
            </a:r>
            <a:r>
              <a:rPr dirty="0" sz="1450" spc="50" b="1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imes New Roman"/>
                <a:cs typeface="Times New Roman"/>
              </a:rPr>
              <a:t>Islamic</a:t>
            </a:r>
            <a:r>
              <a:rPr dirty="0" sz="1450" spc="80" b="1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imes New Roman"/>
                <a:cs typeface="Times New Roman"/>
              </a:rPr>
              <a:t>Studies</a:t>
            </a:r>
            <a:r>
              <a:rPr dirty="0" sz="1450" spc="40" b="1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imes New Roman"/>
                <a:cs typeface="Times New Roman"/>
              </a:rPr>
              <a:t>/</a:t>
            </a:r>
            <a:r>
              <a:rPr dirty="0" sz="1450" spc="40" b="1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imes New Roman"/>
                <a:cs typeface="Times New Roman"/>
              </a:rPr>
              <a:t>Ethical</a:t>
            </a:r>
            <a:r>
              <a:rPr dirty="0" sz="1450" spc="25" b="1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imes New Roman"/>
                <a:cs typeface="Times New Roman"/>
              </a:rPr>
              <a:t>Behavior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4108" y="1421416"/>
            <a:ext cx="598043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Iman-</a:t>
            </a:r>
            <a:r>
              <a:rPr dirty="0" spc="-10"/>
              <a:t>e-</a:t>
            </a:r>
            <a:r>
              <a:rPr dirty="0"/>
              <a:t>Mujmal &amp;</a:t>
            </a:r>
            <a:r>
              <a:rPr dirty="0" spc="65"/>
              <a:t> </a:t>
            </a:r>
            <a:r>
              <a:rPr dirty="0" spc="-10"/>
              <a:t>Iman-</a:t>
            </a:r>
            <a:r>
              <a:rPr dirty="0"/>
              <a:t>e-</a:t>
            </a:r>
            <a:r>
              <a:rPr dirty="0" spc="-10"/>
              <a:t>Mufassal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62207" y="1867869"/>
            <a:ext cx="6944359" cy="171767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75"/>
              </a:spcBef>
              <a:buClr>
                <a:srgbClr val="90C126"/>
              </a:buClr>
              <a:buSzPct val="79310"/>
              <a:buFont typeface="Arial MT"/>
              <a:buChar char="•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Iman-e-Mujmal</a:t>
            </a:r>
            <a:r>
              <a:rPr dirty="0" sz="1450" spc="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(Brief</a:t>
            </a:r>
            <a:r>
              <a:rPr dirty="0" sz="1450" spc="1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Faith):</a:t>
            </a:r>
            <a:endParaRPr sz="1450">
              <a:latin typeface="Trebuchet MS"/>
              <a:cs typeface="Trebuchet MS"/>
            </a:endParaRPr>
          </a:p>
          <a:p>
            <a:pPr lvl="1" marL="624840" marR="5080" indent="-234950">
              <a:lnSpc>
                <a:spcPct val="101499"/>
              </a:lnSpc>
              <a:spcBef>
                <a:spcPts val="830"/>
              </a:spcBef>
              <a:buClr>
                <a:srgbClr val="90C126"/>
              </a:buClr>
              <a:buSzPct val="80769"/>
              <a:buFont typeface="Arial MT"/>
              <a:buChar char="•"/>
              <a:tabLst>
                <a:tab pos="624840" algn="l"/>
              </a:tabLst>
            </a:pP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“I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have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faith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3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Names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Attributes,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accept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3F3F3F"/>
                </a:solidFill>
                <a:latin typeface="Trebuchet MS"/>
                <a:cs typeface="Trebuchet MS"/>
              </a:rPr>
              <a:t>His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commands.”</a:t>
            </a:r>
            <a:endParaRPr sz="13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0"/>
              </a:spcBef>
              <a:buClr>
                <a:srgbClr val="90C126"/>
              </a:buClr>
              <a:buSzPct val="79310"/>
              <a:buFont typeface="Arial MT"/>
              <a:buChar char="•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Iman-e-Mufassal</a:t>
            </a:r>
            <a:r>
              <a:rPr dirty="0" sz="1450" spc="1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(Detailed</a:t>
            </a:r>
            <a:r>
              <a:rPr dirty="0" sz="1450" spc="1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Faith):</a:t>
            </a:r>
            <a:endParaRPr sz="1450">
              <a:latin typeface="Trebuchet MS"/>
              <a:cs typeface="Trebuchet MS"/>
            </a:endParaRPr>
          </a:p>
          <a:p>
            <a:pPr lvl="1" marL="624840" marR="158750" indent="-234950">
              <a:lnSpc>
                <a:spcPct val="101499"/>
              </a:lnSpc>
              <a:spcBef>
                <a:spcPts val="835"/>
              </a:spcBef>
              <a:buClr>
                <a:srgbClr val="90C126"/>
              </a:buClr>
              <a:buSzPct val="80769"/>
              <a:buFont typeface="Arial MT"/>
              <a:buChar char="•"/>
              <a:tabLst>
                <a:tab pos="624840" algn="l"/>
              </a:tabLst>
            </a:pP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“I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believe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3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Allah,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3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Angels,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Books,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Messengers, the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Last</a:t>
            </a:r>
            <a:r>
              <a:rPr dirty="0" sz="1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Day,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3F3F3F"/>
                </a:solidFill>
                <a:latin typeface="Trebuchet MS"/>
                <a:cs typeface="Trebuchet MS"/>
              </a:rPr>
              <a:t>in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Destiny,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good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bad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30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Allah,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resurrection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after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death.”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7839" y="3680459"/>
            <a:ext cx="4812791" cy="288035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423" y="1412189"/>
            <a:ext cx="720598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Seven</a:t>
            </a:r>
            <a:r>
              <a:rPr dirty="0" spc="-180"/>
              <a:t> </a:t>
            </a:r>
            <a:r>
              <a:rPr dirty="0"/>
              <a:t>Articles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Faith</a:t>
            </a:r>
            <a:r>
              <a:rPr dirty="0" spc="-5"/>
              <a:t> </a:t>
            </a:r>
            <a:r>
              <a:rPr dirty="0" spc="-10"/>
              <a:t>(Iman-</a:t>
            </a:r>
            <a:r>
              <a:rPr dirty="0"/>
              <a:t>e-</a:t>
            </a:r>
            <a:r>
              <a:rPr dirty="0" spc="-10"/>
              <a:t>Mufassal)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5803" y="1735836"/>
            <a:ext cx="3953256" cy="498043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80477" y="2463783"/>
            <a:ext cx="3314065" cy="359600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3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Belief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-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(Tawheed)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Clr>
                <a:srgbClr val="90C126"/>
              </a:buClr>
              <a:buFont typeface="Trebuchet MS"/>
              <a:buAutoNum type="arabicPeriod"/>
            </a:pP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Belief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-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Angels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Clr>
                <a:srgbClr val="90C126"/>
              </a:buClr>
              <a:buFont typeface="Trebuchet MS"/>
              <a:buAutoNum type="arabicPeriod"/>
            </a:pP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Belief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Divine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Books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Clr>
                <a:srgbClr val="90C126"/>
              </a:buClr>
              <a:buFont typeface="Trebuchet MS"/>
              <a:buAutoNum type="arabicPeriod"/>
            </a:pP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Belief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Prophets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Messengers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Clr>
                <a:srgbClr val="90C126"/>
              </a:buClr>
              <a:buFont typeface="Trebuchet MS"/>
              <a:buAutoNum type="arabicPeriod"/>
            </a:pP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Belief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Judgment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Clr>
                <a:srgbClr val="90C126"/>
              </a:buClr>
              <a:buFont typeface="Trebuchet MS"/>
              <a:buAutoNum type="arabicPeriod"/>
            </a:pP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Belief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Destiny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(Qadar)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Clr>
                <a:srgbClr val="90C126"/>
              </a:buClr>
              <a:buFont typeface="Trebuchet MS"/>
              <a:buAutoNum type="arabicPeriod"/>
            </a:pP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Belief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Resurrection</a:t>
            </a:r>
            <a:r>
              <a:rPr dirty="0" sz="1450" spc="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after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3F3F3F"/>
                </a:solidFill>
                <a:latin typeface="Trebuchet MS"/>
                <a:cs typeface="Trebuchet MS"/>
              </a:rPr>
              <a:t>Death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3810" y="1055369"/>
            <a:ext cx="10066020" cy="20320"/>
            <a:chOff x="-3810" y="1055369"/>
            <a:chExt cx="10066020" cy="20320"/>
          </a:xfrm>
        </p:grpSpPr>
        <p:sp>
          <p:nvSpPr>
            <p:cNvPr id="6" name="object 6" descr=""/>
            <p:cNvSpPr/>
            <p:nvPr/>
          </p:nvSpPr>
          <p:spPr>
            <a:xfrm>
              <a:off x="0" y="1059179"/>
              <a:ext cx="10058400" cy="12700"/>
            </a:xfrm>
            <a:custGeom>
              <a:avLst/>
              <a:gdLst/>
              <a:ahLst/>
              <a:cxnLst/>
              <a:rect l="l" t="t" r="r" b="b"/>
              <a:pathLst>
                <a:path w="10058400" h="12700">
                  <a:moveTo>
                    <a:pt x="10058400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10058400" y="0"/>
                  </a:lnTo>
                  <a:lnTo>
                    <a:pt x="10058400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1059179"/>
              <a:ext cx="10058400" cy="12700"/>
            </a:xfrm>
            <a:custGeom>
              <a:avLst/>
              <a:gdLst/>
              <a:ahLst/>
              <a:cxnLst/>
              <a:rect l="l" t="t" r="r" b="b"/>
              <a:pathLst>
                <a:path w="10058400" h="12700">
                  <a:moveTo>
                    <a:pt x="0" y="0"/>
                  </a:moveTo>
                  <a:lnTo>
                    <a:pt x="10058400" y="0"/>
                  </a:lnTo>
                  <a:lnTo>
                    <a:pt x="10058400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549" y="1200329"/>
            <a:ext cx="710755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Seven</a:t>
            </a:r>
            <a:r>
              <a:rPr dirty="0" spc="-185"/>
              <a:t> </a:t>
            </a:r>
            <a:r>
              <a:rPr dirty="0"/>
              <a:t>Articles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Faith</a:t>
            </a:r>
            <a:r>
              <a:rPr dirty="0" spc="-10"/>
              <a:t> </a:t>
            </a:r>
            <a:r>
              <a:rPr dirty="0"/>
              <a:t>(Quarn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 spc="-10"/>
              <a:t>Hadith)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74948" y="1639030"/>
            <a:ext cx="8708390" cy="450977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236854" indent="-224154">
              <a:lnSpc>
                <a:spcPct val="100000"/>
              </a:lnSpc>
              <a:spcBef>
                <a:spcPts val="825"/>
              </a:spcBef>
              <a:buAutoNum type="arabicPlain"/>
              <a:tabLst>
                <a:tab pos="236854" algn="l"/>
              </a:tabLst>
            </a:pP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Belief</a:t>
            </a:r>
            <a:r>
              <a:rPr dirty="0" u="sng" sz="1400" spc="-2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400" spc="-9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Allah</a:t>
            </a:r>
            <a:r>
              <a:rPr dirty="0" u="sng" sz="140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(Tawhid)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300" b="1">
                <a:solidFill>
                  <a:srgbClr val="3F3F3F"/>
                </a:solidFill>
                <a:latin typeface="Trebuchet MS"/>
                <a:cs typeface="Trebuchet MS"/>
              </a:rPr>
              <a:t>Definition: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Believing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one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true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God,</a:t>
            </a:r>
            <a:r>
              <a:rPr dirty="0" sz="1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Allah,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sole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creator,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sustainer,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ruler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universe.</a:t>
            </a:r>
            <a:endParaRPr sz="1300">
              <a:latin typeface="Trebuchet MS"/>
              <a:cs typeface="Trebuchet MS"/>
            </a:endParaRPr>
          </a:p>
          <a:p>
            <a:pPr lvl="1" marL="100330" indent="-92075">
              <a:lnSpc>
                <a:spcPct val="100000"/>
              </a:lnSpc>
              <a:spcBef>
                <a:spcPts val="685"/>
              </a:spcBef>
              <a:buSzPct val="92307"/>
              <a:buFont typeface="Trebuchet MS"/>
              <a:buChar char="•"/>
              <a:tabLst>
                <a:tab pos="100330" algn="l"/>
              </a:tabLst>
            </a:pPr>
            <a:r>
              <a:rPr dirty="0" sz="1300" b="1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“There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no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god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but</a:t>
            </a:r>
            <a:r>
              <a:rPr dirty="0" sz="13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Allah”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47:19).</a:t>
            </a:r>
            <a:endParaRPr sz="1300">
              <a:latin typeface="Trebuchet MS"/>
              <a:cs typeface="Trebuchet MS"/>
            </a:endParaRPr>
          </a:p>
          <a:p>
            <a:pPr lvl="1" marL="100330" indent="-92075">
              <a:lnSpc>
                <a:spcPct val="100000"/>
              </a:lnSpc>
              <a:spcBef>
                <a:spcPts val="695"/>
              </a:spcBef>
              <a:buSzPct val="92307"/>
              <a:buFont typeface="Trebuchet MS"/>
              <a:buChar char="•"/>
              <a:tabLst>
                <a:tab pos="100330" algn="l"/>
              </a:tabLst>
            </a:pPr>
            <a:r>
              <a:rPr dirty="0" sz="1300" b="1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30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3F3F3F"/>
                </a:solidFill>
                <a:latin typeface="Trebuchet MS"/>
                <a:cs typeface="Trebuchet MS"/>
              </a:rPr>
              <a:t>says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Muhammad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(pbuh)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consistently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taught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worship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must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directed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solely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3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2-</a:t>
            </a:r>
            <a:r>
              <a:rPr dirty="0" u="sng" sz="1400" spc="-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Belief</a:t>
            </a:r>
            <a:r>
              <a:rPr dirty="0" u="sng" sz="140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400" spc="-9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Angels</a:t>
            </a:r>
            <a:endParaRPr sz="1400">
              <a:latin typeface="Trebuchet MS"/>
              <a:cs typeface="Trebuchet MS"/>
            </a:endParaRPr>
          </a:p>
          <a:p>
            <a:pPr marL="12700" marR="390525">
              <a:lnSpc>
                <a:spcPts val="1430"/>
              </a:lnSpc>
              <a:spcBef>
                <a:spcPts val="844"/>
              </a:spcBef>
            </a:pPr>
            <a:r>
              <a:rPr dirty="0" sz="1300" b="1">
                <a:solidFill>
                  <a:srgbClr val="3F3F3F"/>
                </a:solidFill>
                <a:latin typeface="Trebuchet MS"/>
                <a:cs typeface="Trebuchet MS"/>
              </a:rPr>
              <a:t>Definition:</a:t>
            </a:r>
            <a:r>
              <a:rPr dirty="0" sz="1300" spc="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Believing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angels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spiritual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beings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created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light</a:t>
            </a:r>
            <a:r>
              <a:rPr dirty="0" sz="13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obey</a:t>
            </a:r>
            <a:r>
              <a:rPr dirty="0" sz="1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perform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tasks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20">
                <a:solidFill>
                  <a:srgbClr val="3F3F3F"/>
                </a:solidFill>
                <a:latin typeface="Trebuchet MS"/>
                <a:cs typeface="Trebuchet MS"/>
              </a:rPr>
              <a:t>like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delivering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revelations</a:t>
            </a:r>
            <a:r>
              <a:rPr dirty="0" sz="13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recording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deeds.</a:t>
            </a:r>
            <a:endParaRPr sz="1300">
              <a:latin typeface="Trebuchet MS"/>
              <a:cs typeface="Trebuchet MS"/>
            </a:endParaRPr>
          </a:p>
          <a:p>
            <a:pPr marL="12700" marR="168275" indent="-3810">
              <a:lnSpc>
                <a:spcPts val="1430"/>
              </a:lnSpc>
              <a:spcBef>
                <a:spcPts val="810"/>
              </a:spcBef>
              <a:buSzPct val="92307"/>
              <a:buChar char="•"/>
              <a:tabLst>
                <a:tab pos="100965" algn="l"/>
              </a:tabLst>
            </a:pPr>
            <a:r>
              <a:rPr dirty="0" sz="1300" b="1">
                <a:solidFill>
                  <a:srgbClr val="3F3F3F"/>
                </a:solidFill>
                <a:latin typeface="Trebuchet MS"/>
                <a:cs typeface="Trebuchet MS"/>
              </a:rPr>
              <a:t>	</a:t>
            </a:r>
            <a:r>
              <a:rPr dirty="0" sz="1300" b="1">
                <a:solidFill>
                  <a:srgbClr val="3F3F3F"/>
                </a:solidFill>
                <a:latin typeface="Trebuchet MS"/>
                <a:cs typeface="Trebuchet MS"/>
              </a:rPr>
              <a:t>Quran:</a:t>
            </a:r>
            <a:r>
              <a:rPr dirty="0" sz="130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“And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whoever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disbelieves</a:t>
            </a:r>
            <a:r>
              <a:rPr dirty="0" sz="13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Allah,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angels,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Books,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Messengers,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Last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has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certainly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gone</a:t>
            </a:r>
            <a:r>
              <a:rPr dirty="0" sz="13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far</a:t>
            </a:r>
            <a:r>
              <a:rPr dirty="0" sz="13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astray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(</a:t>
            </a:r>
            <a:r>
              <a:rPr dirty="0" sz="1200" i="1">
                <a:solidFill>
                  <a:srgbClr val="3F3F3F"/>
                </a:solidFill>
                <a:latin typeface="Trebuchet MS"/>
                <a:cs typeface="Trebuchet MS"/>
              </a:rPr>
              <a:t>losing</a:t>
            </a:r>
            <a:r>
              <a:rPr dirty="0" sz="1200" spc="45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i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6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i="1">
                <a:solidFill>
                  <a:srgbClr val="3F3F3F"/>
                </a:solidFill>
                <a:latin typeface="Trebuchet MS"/>
                <a:cs typeface="Trebuchet MS"/>
              </a:rPr>
              <a:t>right</a:t>
            </a:r>
            <a:r>
              <a:rPr dirty="0" sz="1200" spc="6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i="1">
                <a:solidFill>
                  <a:srgbClr val="3F3F3F"/>
                </a:solidFill>
                <a:latin typeface="Trebuchet MS"/>
                <a:cs typeface="Trebuchet MS"/>
              </a:rPr>
              <a:t>path</a:t>
            </a:r>
            <a:r>
              <a:rPr dirty="0" sz="1200" spc="65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i="1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200" spc="5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i="1">
                <a:solidFill>
                  <a:srgbClr val="3F3F3F"/>
                </a:solidFill>
                <a:latin typeface="Trebuchet MS"/>
                <a:cs typeface="Trebuchet MS"/>
              </a:rPr>
              <a:t>making</a:t>
            </a:r>
            <a:r>
              <a:rPr dirty="0" sz="1200" spc="85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i="1">
                <a:solidFill>
                  <a:srgbClr val="3F3F3F"/>
                </a:solidFill>
                <a:latin typeface="Trebuchet MS"/>
                <a:cs typeface="Trebuchet MS"/>
              </a:rPr>
              <a:t>big</a:t>
            </a:r>
            <a:r>
              <a:rPr dirty="0" sz="1200" spc="7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i="1">
                <a:solidFill>
                  <a:srgbClr val="3F3F3F"/>
                </a:solidFill>
                <a:latin typeface="Trebuchet MS"/>
                <a:cs typeface="Trebuchet MS"/>
              </a:rPr>
              <a:t>mistakes)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”</a:t>
            </a:r>
            <a:r>
              <a:rPr dirty="0" sz="13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3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4:136).</a:t>
            </a:r>
            <a:endParaRPr sz="1300">
              <a:latin typeface="Trebuchet MS"/>
              <a:cs typeface="Trebuchet MS"/>
            </a:endParaRPr>
          </a:p>
          <a:p>
            <a:pPr marL="100965" indent="-92075">
              <a:lnSpc>
                <a:spcPct val="100000"/>
              </a:lnSpc>
              <a:spcBef>
                <a:spcPts val="670"/>
              </a:spcBef>
              <a:buSzPct val="92307"/>
              <a:buChar char="•"/>
              <a:tabLst>
                <a:tab pos="100965" algn="l"/>
              </a:tabLst>
            </a:pPr>
            <a:r>
              <a:rPr dirty="0" sz="1300" b="1">
                <a:solidFill>
                  <a:srgbClr val="3F3F3F"/>
                </a:solidFill>
                <a:latin typeface="Trebuchet MS"/>
                <a:cs typeface="Trebuchet MS"/>
              </a:rPr>
              <a:t>Prophet:</a:t>
            </a:r>
            <a:r>
              <a:rPr dirty="0" sz="1300" spc="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(pbuh)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received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through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angel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Jibril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(Gabriel).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3-</a:t>
            </a:r>
            <a:r>
              <a:rPr dirty="0" u="sng" sz="1400" spc="-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Belief</a:t>
            </a:r>
            <a:r>
              <a:rPr dirty="0" u="sng" sz="1400" spc="-2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400" spc="-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Divine</a:t>
            </a:r>
            <a:r>
              <a:rPr dirty="0" u="sng" sz="1400" spc="-4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Books</a:t>
            </a:r>
            <a:r>
              <a:rPr dirty="0" sz="1400" spc="-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3F3F3F"/>
                </a:solidFill>
                <a:latin typeface="Trebuchet MS"/>
                <a:cs typeface="Trebuchet MS"/>
              </a:rPr>
              <a:t>(holy</a:t>
            </a:r>
            <a:r>
              <a:rPr dirty="0" sz="1150" spc="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3F3F3F"/>
                </a:solidFill>
                <a:latin typeface="Trebuchet MS"/>
                <a:cs typeface="Trebuchet MS"/>
              </a:rPr>
              <a:t>books</a:t>
            </a:r>
            <a:r>
              <a:rPr dirty="0" sz="1150" spc="-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3F3F3F"/>
                </a:solidFill>
                <a:latin typeface="Trebuchet MS"/>
                <a:cs typeface="Trebuchet MS"/>
              </a:rPr>
              <a:t>sent</a:t>
            </a:r>
            <a:r>
              <a:rPr dirty="0" sz="1150" spc="-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150" spc="-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150" spc="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3F3F3F"/>
                </a:solidFill>
                <a:latin typeface="Trebuchet MS"/>
                <a:cs typeface="Trebuchet MS"/>
              </a:rPr>
              <a:t>(God)</a:t>
            </a:r>
            <a:r>
              <a:rPr dirty="0" sz="1150" spc="-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150" spc="-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3F3F3F"/>
                </a:solidFill>
                <a:latin typeface="Trebuchet MS"/>
                <a:cs typeface="Trebuchet MS"/>
              </a:rPr>
              <a:t>guide</a:t>
            </a:r>
            <a:r>
              <a:rPr dirty="0" sz="1150" spc="-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 b="1">
                <a:solidFill>
                  <a:srgbClr val="3F3F3F"/>
                </a:solidFill>
                <a:latin typeface="Trebuchet MS"/>
                <a:cs typeface="Trebuchet MS"/>
              </a:rPr>
              <a:t>people)</a:t>
            </a:r>
            <a:endParaRPr sz="1150">
              <a:latin typeface="Trebuchet MS"/>
              <a:cs typeface="Trebuchet MS"/>
            </a:endParaRPr>
          </a:p>
          <a:p>
            <a:pPr marL="12700" marR="238125">
              <a:lnSpc>
                <a:spcPts val="1430"/>
              </a:lnSpc>
              <a:spcBef>
                <a:spcPts val="844"/>
              </a:spcBef>
            </a:pP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Definition:</a:t>
            </a:r>
            <a:r>
              <a:rPr dirty="0" sz="13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Believing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30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revealed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holy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books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guide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humanity,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including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Quran(Hazrat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Muhammad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PBUH),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20">
                <a:solidFill>
                  <a:srgbClr val="3F3F3F"/>
                </a:solidFill>
                <a:latin typeface="Trebuchet MS"/>
                <a:cs typeface="Trebuchet MS"/>
              </a:rPr>
              <a:t>Torah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(revealed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Musa</a:t>
            </a:r>
            <a:r>
              <a:rPr dirty="0" sz="12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,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Gospel</a:t>
            </a:r>
            <a:r>
              <a:rPr dirty="0" sz="13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(Injil,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revealed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Isa</a:t>
            </a:r>
            <a:r>
              <a:rPr dirty="0" sz="12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AS)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,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Psalms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(Zabur,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revealed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3F3F3F"/>
                </a:solidFill>
                <a:latin typeface="Trebuchet MS"/>
                <a:cs typeface="Trebuchet MS"/>
              </a:rPr>
              <a:t>to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Dawud</a:t>
            </a:r>
            <a:r>
              <a:rPr dirty="0" sz="12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3F3F3F"/>
                </a:solidFill>
                <a:latin typeface="Trebuchet MS"/>
                <a:cs typeface="Trebuchet MS"/>
              </a:rPr>
              <a:t>AS)</a:t>
            </a:r>
            <a:r>
              <a:rPr dirty="0" sz="1300" spc="-20">
                <a:solidFill>
                  <a:srgbClr val="3F3F3F"/>
                </a:solidFill>
                <a:latin typeface="Trebuchet MS"/>
                <a:cs typeface="Trebuchet MS"/>
              </a:rPr>
              <a:t>.</a:t>
            </a:r>
            <a:endParaRPr sz="1300">
              <a:latin typeface="Trebuchet MS"/>
              <a:cs typeface="Trebuchet MS"/>
            </a:endParaRPr>
          </a:p>
          <a:p>
            <a:pPr marL="100965" indent="-92075">
              <a:lnSpc>
                <a:spcPct val="100000"/>
              </a:lnSpc>
              <a:spcBef>
                <a:spcPts val="665"/>
              </a:spcBef>
              <a:buSzPct val="92307"/>
              <a:buChar char="•"/>
              <a:tabLst>
                <a:tab pos="100965" algn="l"/>
              </a:tabLst>
            </a:pPr>
            <a:r>
              <a:rPr dirty="0" sz="1300" b="1">
                <a:solidFill>
                  <a:srgbClr val="3F3F3F"/>
                </a:solidFill>
                <a:latin typeface="Trebuchet MS"/>
                <a:cs typeface="Trebuchet MS"/>
              </a:rPr>
              <a:t>Quran:</a:t>
            </a:r>
            <a:r>
              <a:rPr dirty="0" sz="130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“We have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sent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down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thee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Book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truth,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confirming</a:t>
            </a:r>
            <a:r>
              <a:rPr dirty="0" sz="13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scripture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came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before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it”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3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3:3).</a:t>
            </a:r>
            <a:endParaRPr sz="1300">
              <a:latin typeface="Trebuchet MS"/>
              <a:cs typeface="Trebuchet MS"/>
            </a:endParaRPr>
          </a:p>
          <a:p>
            <a:pPr marL="100965" indent="-92075">
              <a:lnSpc>
                <a:spcPct val="100000"/>
              </a:lnSpc>
              <a:spcBef>
                <a:spcPts val="685"/>
              </a:spcBef>
              <a:buSzPct val="92307"/>
              <a:buChar char="•"/>
              <a:tabLst>
                <a:tab pos="100965" algn="l"/>
              </a:tabLst>
            </a:pPr>
            <a:r>
              <a:rPr dirty="0" sz="1300" b="1">
                <a:solidFill>
                  <a:srgbClr val="3F3F3F"/>
                </a:solidFill>
                <a:latin typeface="Trebuchet MS"/>
                <a:cs typeface="Trebuchet MS"/>
              </a:rPr>
              <a:t>Prophet:</a:t>
            </a:r>
            <a:r>
              <a:rPr dirty="0" sz="130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Muhammad</a:t>
            </a:r>
            <a:r>
              <a:rPr dirty="0" sz="1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(pbuh)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conveyed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final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perfect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revelation.</a:t>
            </a:r>
            <a:endParaRPr sz="1300">
              <a:latin typeface="Trebuchet MS"/>
              <a:cs typeface="Trebuchet MS"/>
            </a:endParaRPr>
          </a:p>
          <a:p>
            <a:pPr marL="100965" indent="-92075">
              <a:lnSpc>
                <a:spcPct val="100000"/>
              </a:lnSpc>
              <a:spcBef>
                <a:spcPts val="695"/>
              </a:spcBef>
              <a:buSzPct val="92307"/>
              <a:buChar char="•"/>
              <a:tabLst>
                <a:tab pos="100965" algn="l"/>
              </a:tabLst>
            </a:pPr>
            <a:r>
              <a:rPr dirty="0" sz="1300" b="1">
                <a:solidFill>
                  <a:srgbClr val="3F3F3F"/>
                </a:solidFill>
                <a:latin typeface="Trebuchet MS"/>
                <a:cs typeface="Trebuchet MS"/>
              </a:rPr>
              <a:t>Sahaba:</a:t>
            </a:r>
            <a:r>
              <a:rPr dirty="0" sz="1300" spc="-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Sahaba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memorized</a:t>
            </a:r>
            <a:r>
              <a:rPr dirty="0" sz="13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recited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Quran,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preserving</a:t>
            </a:r>
            <a:r>
              <a:rPr dirty="0" sz="13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its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guidance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future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generations.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0705" y="1289186"/>
            <a:ext cx="8369300" cy="521779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222250" indent="-184150">
              <a:lnSpc>
                <a:spcPct val="100000"/>
              </a:lnSpc>
              <a:spcBef>
                <a:spcPts val="925"/>
              </a:spcBef>
              <a:buAutoNum type="arabicPlain" startAt="4"/>
              <a:tabLst>
                <a:tab pos="222250" algn="l"/>
              </a:tabLst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Belief</a:t>
            </a:r>
            <a:r>
              <a:rPr dirty="0" u="sng" sz="1400" spc="-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dirty="0" u="sng" sz="1400" spc="-1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Prophets</a:t>
            </a:r>
            <a:r>
              <a:rPr dirty="0" u="sng" sz="1400" spc="-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Messengers</a:t>
            </a:r>
            <a:endParaRPr sz="1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dirty="0" sz="1300" b="1">
                <a:latin typeface="Calibri"/>
                <a:cs typeface="Calibri"/>
              </a:rPr>
              <a:t>Definition:</a:t>
            </a:r>
            <a:r>
              <a:rPr dirty="0" sz="1300" spc="5" b="1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Believing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that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Allah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sent prophets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and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messengers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to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guide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humanity.</a:t>
            </a:r>
            <a:endParaRPr sz="1300">
              <a:latin typeface="Calibri"/>
              <a:cs typeface="Calibri"/>
            </a:endParaRPr>
          </a:p>
          <a:p>
            <a:pPr lvl="1" marL="650240" indent="-234315">
              <a:lnSpc>
                <a:spcPct val="100000"/>
              </a:lnSpc>
              <a:spcBef>
                <a:spcPts val="790"/>
              </a:spcBef>
              <a:buSzPct val="61538"/>
              <a:buFont typeface="Courier New"/>
              <a:buChar char="o"/>
              <a:tabLst>
                <a:tab pos="650240" algn="l"/>
              </a:tabLst>
            </a:pPr>
            <a:r>
              <a:rPr dirty="0" sz="1300" b="1">
                <a:latin typeface="Calibri"/>
                <a:cs typeface="Calibri"/>
              </a:rPr>
              <a:t>Quran:</a:t>
            </a:r>
            <a:r>
              <a:rPr dirty="0" sz="1300" spc="10" b="1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“We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have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sent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thee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inspiration,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as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we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inspired Noah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and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prophets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after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him”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(Quran </a:t>
            </a:r>
            <a:r>
              <a:rPr dirty="0" sz="1300" spc="-10">
                <a:latin typeface="Calibri"/>
                <a:cs typeface="Calibri"/>
              </a:rPr>
              <a:t>4:163).</a:t>
            </a:r>
            <a:endParaRPr sz="1300">
              <a:latin typeface="Calibri"/>
              <a:cs typeface="Calibri"/>
            </a:endParaRPr>
          </a:p>
          <a:p>
            <a:pPr lvl="1" marL="650240" marR="30480" indent="-234950">
              <a:lnSpc>
                <a:spcPct val="108500"/>
              </a:lnSpc>
              <a:spcBef>
                <a:spcPts val="670"/>
              </a:spcBef>
              <a:buSzPct val="61538"/>
              <a:buFont typeface="Courier New"/>
              <a:buChar char="o"/>
              <a:tabLst>
                <a:tab pos="650240" algn="l"/>
              </a:tabLst>
            </a:pPr>
            <a:r>
              <a:rPr dirty="0" sz="1300" b="1">
                <a:latin typeface="Calibri"/>
                <a:cs typeface="Calibri"/>
              </a:rPr>
              <a:t>Prophet</a:t>
            </a:r>
            <a:r>
              <a:rPr dirty="0" sz="1300" spc="5" b="1">
                <a:latin typeface="Calibri"/>
                <a:cs typeface="Calibri"/>
              </a:rPr>
              <a:t> </a:t>
            </a:r>
            <a:r>
              <a:rPr dirty="0" sz="1300" b="1">
                <a:latin typeface="Calibri"/>
                <a:cs typeface="Calibri"/>
              </a:rPr>
              <a:t>Example:</a:t>
            </a:r>
            <a:r>
              <a:rPr dirty="0" sz="1300" spc="10" b="1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Prophet</a:t>
            </a:r>
            <a:r>
              <a:rPr dirty="0" sz="1300" spc="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Muhammad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(pbuh) stressed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that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all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prophets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taught the same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message of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worshiping </a:t>
            </a:r>
            <a:r>
              <a:rPr dirty="0" sz="1300">
                <a:latin typeface="Calibri"/>
                <a:cs typeface="Calibri"/>
              </a:rPr>
              <a:t>one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 spc="-20">
                <a:latin typeface="Calibri"/>
                <a:cs typeface="Calibri"/>
              </a:rPr>
              <a:t>God.</a:t>
            </a:r>
            <a:endParaRPr sz="1300">
              <a:latin typeface="Calibri"/>
              <a:cs typeface="Calibri"/>
            </a:endParaRPr>
          </a:p>
          <a:p>
            <a:pPr marL="222250" indent="-184150">
              <a:lnSpc>
                <a:spcPct val="100000"/>
              </a:lnSpc>
              <a:spcBef>
                <a:spcPts val="780"/>
              </a:spcBef>
              <a:buAutoNum type="arabicPlain" startAt="5"/>
              <a:tabLst>
                <a:tab pos="222250" algn="l"/>
              </a:tabLst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Belief</a:t>
            </a:r>
            <a:r>
              <a:rPr dirty="0" u="sng" sz="1400" spc="-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dirty="0" u="sng" sz="14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Day</a:t>
            </a:r>
            <a:r>
              <a:rPr dirty="0" u="sng" sz="14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1400" spc="-1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Judgment</a:t>
            </a:r>
            <a:endParaRPr sz="1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95"/>
              </a:spcBef>
            </a:pPr>
            <a:r>
              <a:rPr dirty="0" sz="1300" b="1">
                <a:latin typeface="Calibri"/>
                <a:cs typeface="Calibri"/>
              </a:rPr>
              <a:t>Definition:</a:t>
            </a:r>
            <a:r>
              <a:rPr dirty="0" sz="1300" spc="15" b="1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Believing that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 final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day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will come when</a:t>
            </a:r>
            <a:r>
              <a:rPr dirty="0" sz="1300" spc="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every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soul is resurrected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and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judged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by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Allah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based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on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its </a:t>
            </a:r>
            <a:r>
              <a:rPr dirty="0" sz="1300" spc="-10">
                <a:latin typeface="Calibri"/>
                <a:cs typeface="Calibri"/>
              </a:rPr>
              <a:t>deeds.</a:t>
            </a:r>
            <a:endParaRPr sz="1300">
              <a:latin typeface="Calibri"/>
              <a:cs typeface="Calibri"/>
            </a:endParaRPr>
          </a:p>
          <a:p>
            <a:pPr lvl="1" marL="650240" indent="-234315">
              <a:lnSpc>
                <a:spcPct val="100000"/>
              </a:lnSpc>
              <a:spcBef>
                <a:spcPts val="790"/>
              </a:spcBef>
              <a:buSzPct val="61538"/>
              <a:buFont typeface="Courier New"/>
              <a:buChar char="o"/>
              <a:tabLst>
                <a:tab pos="650240" algn="l"/>
              </a:tabLst>
            </a:pPr>
            <a:r>
              <a:rPr dirty="0" sz="1300" b="1">
                <a:latin typeface="Calibri"/>
                <a:cs typeface="Calibri"/>
              </a:rPr>
              <a:t>Quran:</a:t>
            </a:r>
            <a:r>
              <a:rPr dirty="0" sz="1300" spc="15" b="1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“Every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soul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shall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taste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death;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then to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Us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you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shall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return”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(Quran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29:57).</a:t>
            </a:r>
            <a:endParaRPr sz="1300">
              <a:latin typeface="Calibri"/>
              <a:cs typeface="Calibri"/>
            </a:endParaRPr>
          </a:p>
          <a:p>
            <a:pPr lvl="1" marL="650240" indent="-234315">
              <a:lnSpc>
                <a:spcPct val="100000"/>
              </a:lnSpc>
              <a:spcBef>
                <a:spcPts val="805"/>
              </a:spcBef>
              <a:buSzPct val="61538"/>
              <a:buFont typeface="Courier New"/>
              <a:buChar char="o"/>
              <a:tabLst>
                <a:tab pos="650240" algn="l"/>
              </a:tabLst>
            </a:pPr>
            <a:r>
              <a:rPr dirty="0" sz="1300" b="1">
                <a:latin typeface="Calibri"/>
                <a:cs typeface="Calibri"/>
              </a:rPr>
              <a:t>Prophet:</a:t>
            </a:r>
            <a:r>
              <a:rPr dirty="0" sz="1300" spc="5" b="1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Prophet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(pbuh)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warned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his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followers</a:t>
            </a:r>
            <a:r>
              <a:rPr dirty="0" sz="1300" spc="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to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prepare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for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this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day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by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living</a:t>
            </a:r>
            <a:r>
              <a:rPr dirty="0" sz="1300" spc="-10">
                <a:latin typeface="Calibri"/>
                <a:cs typeface="Calibri"/>
              </a:rPr>
              <a:t> righteously.</a:t>
            </a:r>
            <a:endParaRPr sz="1300">
              <a:latin typeface="Calibri"/>
              <a:cs typeface="Calibri"/>
            </a:endParaRPr>
          </a:p>
          <a:p>
            <a:pPr marL="222250" indent="-184150">
              <a:lnSpc>
                <a:spcPct val="100000"/>
              </a:lnSpc>
              <a:spcBef>
                <a:spcPts val="765"/>
              </a:spcBef>
              <a:buAutoNum type="arabicPlain" startAt="6"/>
              <a:tabLst>
                <a:tab pos="222250" algn="l"/>
              </a:tabLst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Belief</a:t>
            </a:r>
            <a:r>
              <a:rPr dirty="0" u="sng" sz="1400" spc="-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Destiny</a:t>
            </a:r>
            <a:r>
              <a:rPr dirty="0" u="sng" sz="1400" spc="-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(Qadar)</a:t>
            </a:r>
            <a:endParaRPr sz="1400">
              <a:latin typeface="Calibri"/>
              <a:cs typeface="Calibri"/>
            </a:endParaRPr>
          </a:p>
          <a:p>
            <a:pPr marL="38100" marR="763270">
              <a:lnSpc>
                <a:spcPct val="108500"/>
              </a:lnSpc>
              <a:spcBef>
                <a:spcPts val="675"/>
              </a:spcBef>
            </a:pPr>
            <a:r>
              <a:rPr dirty="0" sz="1300" b="1">
                <a:latin typeface="Calibri"/>
                <a:cs typeface="Calibri"/>
              </a:rPr>
              <a:t>Definition:</a:t>
            </a:r>
            <a:r>
              <a:rPr dirty="0" sz="1300" spc="15" b="1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Believing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that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everything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happens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by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Allah’s</a:t>
            </a:r>
            <a:r>
              <a:rPr dirty="0" sz="1300">
                <a:latin typeface="Calibri"/>
                <a:cs typeface="Calibri"/>
              </a:rPr>
              <a:t> will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and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is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part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of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His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divine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plan,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while humans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are</a:t>
            </a:r>
            <a:r>
              <a:rPr dirty="0" sz="1300" spc="-10">
                <a:latin typeface="Calibri"/>
                <a:cs typeface="Calibri"/>
              </a:rPr>
              <a:t> still </a:t>
            </a:r>
            <a:r>
              <a:rPr dirty="0" sz="1300">
                <a:latin typeface="Calibri"/>
                <a:cs typeface="Calibri"/>
              </a:rPr>
              <a:t>responsible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for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their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choices.</a:t>
            </a:r>
            <a:endParaRPr sz="1300">
              <a:latin typeface="Calibri"/>
              <a:cs typeface="Calibri"/>
            </a:endParaRPr>
          </a:p>
          <a:p>
            <a:pPr lvl="1" marL="650240" indent="-234315">
              <a:lnSpc>
                <a:spcPct val="100000"/>
              </a:lnSpc>
              <a:spcBef>
                <a:spcPts val="790"/>
              </a:spcBef>
              <a:buSzPct val="61538"/>
              <a:buFont typeface="Courier New"/>
              <a:buChar char="o"/>
              <a:tabLst>
                <a:tab pos="650240" algn="l"/>
              </a:tabLst>
            </a:pPr>
            <a:r>
              <a:rPr dirty="0" sz="1300" b="1">
                <a:latin typeface="Calibri"/>
                <a:cs typeface="Calibri"/>
              </a:rPr>
              <a:t>Quran:</a:t>
            </a:r>
            <a:r>
              <a:rPr dirty="0" sz="1300" spc="10" b="1">
                <a:latin typeface="Calibri"/>
                <a:cs typeface="Calibri"/>
              </a:rPr>
              <a:t> </a:t>
            </a:r>
            <a:r>
              <a:rPr dirty="0" sz="1300" spc="-20">
                <a:latin typeface="Calibri"/>
                <a:cs typeface="Calibri"/>
              </a:rPr>
              <a:t>“And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you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do not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will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except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that Allah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wills”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(Quran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76:30).</a:t>
            </a:r>
            <a:endParaRPr sz="1300">
              <a:latin typeface="Calibri"/>
              <a:cs typeface="Calibri"/>
            </a:endParaRPr>
          </a:p>
          <a:p>
            <a:pPr lvl="1" marL="650240" indent="-234315">
              <a:lnSpc>
                <a:spcPct val="100000"/>
              </a:lnSpc>
              <a:spcBef>
                <a:spcPts val="805"/>
              </a:spcBef>
              <a:buSzPct val="61538"/>
              <a:buFont typeface="Courier New"/>
              <a:buChar char="o"/>
              <a:tabLst>
                <a:tab pos="650240" algn="l"/>
              </a:tabLst>
            </a:pPr>
            <a:r>
              <a:rPr dirty="0" sz="1300" b="1">
                <a:latin typeface="Calibri"/>
                <a:cs typeface="Calibri"/>
              </a:rPr>
              <a:t>Prophet:</a:t>
            </a:r>
            <a:r>
              <a:rPr dirty="0" sz="1300" spc="5" b="1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Prophet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(pbuh)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encouraged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striving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for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good</a:t>
            </a:r>
            <a:r>
              <a:rPr dirty="0" sz="1300" spc="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while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trusting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Allah’s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decree.</a:t>
            </a:r>
            <a:endParaRPr sz="1300">
              <a:latin typeface="Calibri"/>
              <a:cs typeface="Calibri"/>
            </a:endParaRPr>
          </a:p>
          <a:p>
            <a:pPr marL="222250" indent="-184150">
              <a:lnSpc>
                <a:spcPct val="100000"/>
              </a:lnSpc>
              <a:spcBef>
                <a:spcPts val="775"/>
              </a:spcBef>
              <a:buAutoNum type="arabicPlain" startAt="7"/>
              <a:tabLst>
                <a:tab pos="222250" algn="l"/>
              </a:tabLst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Belief</a:t>
            </a:r>
            <a:r>
              <a:rPr dirty="0" u="sng" sz="1400" spc="-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Resurrection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(coming</a:t>
            </a:r>
            <a:r>
              <a:rPr dirty="0" u="sng" sz="1400" spc="-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back</a:t>
            </a:r>
            <a:r>
              <a:rPr dirty="0" u="sng" sz="1400" spc="-1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life</a:t>
            </a:r>
            <a:r>
              <a:rPr dirty="0" u="sng" sz="1400" spc="-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after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death)”</a:t>
            </a:r>
            <a:endParaRPr sz="1400">
              <a:latin typeface="Calibri"/>
              <a:cs typeface="Calibri"/>
            </a:endParaRPr>
          </a:p>
          <a:p>
            <a:pPr lvl="1" marL="650240" indent="-234315">
              <a:lnSpc>
                <a:spcPct val="100000"/>
              </a:lnSpc>
              <a:spcBef>
                <a:spcPts val="795"/>
              </a:spcBef>
              <a:buSzPct val="61538"/>
              <a:buFont typeface="Courier New"/>
              <a:buChar char="o"/>
              <a:tabLst>
                <a:tab pos="650240" algn="l"/>
              </a:tabLst>
            </a:pPr>
            <a:r>
              <a:rPr dirty="0" sz="1300" b="1">
                <a:latin typeface="Calibri"/>
                <a:cs typeface="Calibri"/>
              </a:rPr>
              <a:t>Definition:</a:t>
            </a:r>
            <a:r>
              <a:rPr dirty="0" sz="1300" spc="15" b="1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Believing that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after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death,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all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souls and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bodies will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 revived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for final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judgment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by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Allah.</a:t>
            </a:r>
            <a:endParaRPr sz="1300">
              <a:latin typeface="Calibri"/>
              <a:cs typeface="Calibri"/>
            </a:endParaRPr>
          </a:p>
          <a:p>
            <a:pPr marL="650240" marR="76835" indent="-346075">
              <a:lnSpc>
                <a:spcPct val="108500"/>
              </a:lnSpc>
              <a:spcBef>
                <a:spcPts val="660"/>
              </a:spcBef>
            </a:pPr>
            <a:r>
              <a:rPr dirty="0" baseline="11111" sz="1125" spc="-15">
                <a:solidFill>
                  <a:srgbClr val="898989"/>
                </a:solidFill>
                <a:latin typeface="Trebuchet MS"/>
                <a:cs typeface="Trebuchet MS"/>
              </a:rPr>
              <a:t>M</a:t>
            </a:r>
            <a:r>
              <a:rPr dirty="0" baseline="11111" sz="1125" spc="52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sz="800" spc="-320">
                <a:latin typeface="Courier New"/>
                <a:cs typeface="Courier New"/>
              </a:rPr>
              <a:t>o</a:t>
            </a:r>
            <a:r>
              <a:rPr dirty="0" baseline="11111" sz="1125" spc="-30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baseline="11111" sz="1125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baseline="11111" sz="1125" spc="-15">
                <a:solidFill>
                  <a:srgbClr val="898989"/>
                </a:solidFill>
                <a:latin typeface="Trebuchet MS"/>
                <a:cs typeface="Trebuchet MS"/>
              </a:rPr>
              <a:t>fi</a:t>
            </a:r>
            <a:r>
              <a:rPr dirty="0" baseline="11111" sz="1125" spc="22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sz="1300" spc="-715" b="1">
                <a:latin typeface="Calibri"/>
                <a:cs typeface="Calibri"/>
              </a:rPr>
              <a:t>Q</a:t>
            </a:r>
            <a:r>
              <a:rPr dirty="0" baseline="11111" sz="1125" spc="-30">
                <a:solidFill>
                  <a:srgbClr val="898989"/>
                </a:solidFill>
                <a:latin typeface="Trebuchet MS"/>
                <a:cs typeface="Trebuchet MS"/>
              </a:rPr>
              <a:t>W</a:t>
            </a:r>
            <a:r>
              <a:rPr dirty="0" baseline="11111" sz="1125" spc="-509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sz="1300" spc="-390" b="1">
                <a:latin typeface="Calibri"/>
                <a:cs typeface="Calibri"/>
              </a:rPr>
              <a:t>u</a:t>
            </a:r>
            <a:r>
              <a:rPr dirty="0" baseline="11111" sz="1125" spc="-67">
                <a:solidFill>
                  <a:srgbClr val="898989"/>
                </a:solidFill>
                <a:latin typeface="Trebuchet MS"/>
                <a:cs typeface="Trebuchet MS"/>
              </a:rPr>
              <a:t>q</a:t>
            </a:r>
            <a:r>
              <a:rPr dirty="0" sz="1300" spc="-450" b="1">
                <a:latin typeface="Calibri"/>
                <a:cs typeface="Calibri"/>
              </a:rPr>
              <a:t>r</a:t>
            </a:r>
            <a:r>
              <a:rPr dirty="0" baseline="11111" sz="1125" spc="-15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baseline="11111" sz="1125" spc="-457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sz="1300" spc="-165" b="1">
                <a:latin typeface="Calibri"/>
                <a:cs typeface="Calibri"/>
              </a:rPr>
              <a:t>a</a:t>
            </a:r>
            <a:r>
              <a:rPr dirty="0" baseline="11111" sz="1125" spc="-195">
                <a:solidFill>
                  <a:srgbClr val="898989"/>
                </a:solidFill>
                <a:latin typeface="Trebuchet MS"/>
                <a:cs typeface="Trebuchet MS"/>
              </a:rPr>
              <a:t>-</a:t>
            </a:r>
            <a:r>
              <a:rPr dirty="0" sz="1300" spc="-385" b="1">
                <a:latin typeface="Calibri"/>
                <a:cs typeface="Calibri"/>
              </a:rPr>
              <a:t>n</a:t>
            </a:r>
            <a:r>
              <a:rPr dirty="0" baseline="11111" sz="1125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baseline="11111" sz="1125" spc="-150">
                <a:solidFill>
                  <a:srgbClr val="898989"/>
                </a:solidFill>
                <a:latin typeface="Trebuchet MS"/>
                <a:cs typeface="Trebuchet MS"/>
              </a:rPr>
              <a:t>p</a:t>
            </a:r>
            <a:r>
              <a:rPr dirty="0" sz="1300" spc="-555" b="1">
                <a:latin typeface="Calibri"/>
                <a:cs typeface="Calibri"/>
              </a:rPr>
              <a:t>E</a:t>
            </a:r>
            <a:r>
              <a:rPr dirty="0" baseline="11111" sz="1125" spc="-7">
                <a:solidFill>
                  <a:srgbClr val="898989"/>
                </a:solidFill>
                <a:latin typeface="Trebuchet MS"/>
                <a:cs typeface="Trebuchet MS"/>
              </a:rPr>
              <a:t>ri</a:t>
            </a:r>
            <a:r>
              <a:rPr dirty="0" baseline="11111" sz="1125" spc="-562">
                <a:solidFill>
                  <a:srgbClr val="898989"/>
                </a:solidFill>
                <a:latin typeface="Trebuchet MS"/>
                <a:cs typeface="Trebuchet MS"/>
              </a:rPr>
              <a:t>n</a:t>
            </a:r>
            <a:r>
              <a:rPr dirty="0" sz="1300" spc="-254" b="1">
                <a:latin typeface="Calibri"/>
                <a:cs typeface="Calibri"/>
              </a:rPr>
              <a:t>x</a:t>
            </a:r>
            <a:r>
              <a:rPr dirty="0" baseline="11111" sz="1125" spc="-247">
                <a:solidFill>
                  <a:srgbClr val="898989"/>
                </a:solidFill>
                <a:latin typeface="Trebuchet MS"/>
                <a:cs typeface="Trebuchet MS"/>
              </a:rPr>
              <a:t>g</a:t>
            </a:r>
            <a:r>
              <a:rPr dirty="0" sz="1300" spc="-285" b="1">
                <a:latin typeface="Calibri"/>
                <a:cs typeface="Calibri"/>
              </a:rPr>
              <a:t>a</a:t>
            </a:r>
            <a:r>
              <a:rPr dirty="0" baseline="11111" sz="1125" spc="-157">
                <a:solidFill>
                  <a:srgbClr val="898989"/>
                </a:solidFill>
                <a:latin typeface="Trebuchet MS"/>
                <a:cs typeface="Trebuchet MS"/>
              </a:rPr>
              <a:t>2</a:t>
            </a:r>
            <a:r>
              <a:rPr dirty="0" sz="1300" spc="-975" b="1">
                <a:latin typeface="Calibri"/>
                <a:cs typeface="Calibri"/>
              </a:rPr>
              <a:t>m</a:t>
            </a:r>
            <a:r>
              <a:rPr dirty="0" baseline="11111" sz="1125" spc="-7">
                <a:solidFill>
                  <a:srgbClr val="898989"/>
                </a:solidFill>
                <a:latin typeface="Trebuchet MS"/>
                <a:cs typeface="Trebuchet MS"/>
              </a:rPr>
              <a:t>02</a:t>
            </a:r>
            <a:r>
              <a:rPr dirty="0" baseline="11111" sz="1125" spc="-352">
                <a:solidFill>
                  <a:srgbClr val="898989"/>
                </a:solidFill>
                <a:latin typeface="Trebuchet MS"/>
                <a:cs typeface="Trebuchet MS"/>
              </a:rPr>
              <a:t>5</a:t>
            </a:r>
            <a:r>
              <a:rPr dirty="0" sz="1300" spc="-265" b="1">
                <a:latin typeface="Calibri"/>
                <a:cs typeface="Calibri"/>
              </a:rPr>
              <a:t>p</a:t>
            </a:r>
            <a:r>
              <a:rPr dirty="0" baseline="11111" sz="1125" spc="-30">
                <a:solidFill>
                  <a:srgbClr val="898989"/>
                </a:solidFill>
                <a:latin typeface="Trebuchet MS"/>
                <a:cs typeface="Trebuchet MS"/>
              </a:rPr>
              <a:t>I</a:t>
            </a:r>
            <a:r>
              <a:rPr dirty="0" baseline="11111" sz="1125" spc="-375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sz="1300" spc="-100" b="1">
                <a:latin typeface="Calibri"/>
                <a:cs typeface="Calibri"/>
              </a:rPr>
              <a:t>l</a:t>
            </a:r>
            <a:r>
              <a:rPr dirty="0" baseline="11111" sz="1125" spc="-209">
                <a:solidFill>
                  <a:srgbClr val="898989"/>
                </a:solidFill>
                <a:latin typeface="Trebuchet MS"/>
                <a:cs typeface="Trebuchet MS"/>
              </a:rPr>
              <a:t>l</a:t>
            </a:r>
            <a:r>
              <a:rPr dirty="0" sz="1300" spc="-540" b="1">
                <a:latin typeface="Calibri"/>
                <a:cs typeface="Calibri"/>
              </a:rPr>
              <a:t>e</a:t>
            </a:r>
            <a:r>
              <a:rPr dirty="0" baseline="11111" sz="1125" spc="7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baseline="11111" sz="1125" spc="-750">
                <a:solidFill>
                  <a:srgbClr val="898989"/>
                </a:solidFill>
                <a:latin typeface="Trebuchet MS"/>
                <a:cs typeface="Trebuchet MS"/>
              </a:rPr>
              <a:t>m</a:t>
            </a:r>
            <a:r>
              <a:rPr dirty="0" sz="1300" spc="-5" b="1">
                <a:latin typeface="Calibri"/>
                <a:cs typeface="Calibri"/>
              </a:rPr>
              <a:t>:</a:t>
            </a:r>
            <a:r>
              <a:rPr dirty="0" sz="1300" spc="-170" b="1">
                <a:latin typeface="Calibri"/>
                <a:cs typeface="Calibri"/>
              </a:rPr>
              <a:t> </a:t>
            </a:r>
            <a:r>
              <a:rPr dirty="0" baseline="11111" sz="1125" spc="-75">
                <a:solidFill>
                  <a:srgbClr val="898989"/>
                </a:solidFill>
                <a:latin typeface="Trebuchet MS"/>
                <a:cs typeface="Trebuchet MS"/>
              </a:rPr>
              <a:t>i</a:t>
            </a:r>
            <a:r>
              <a:rPr dirty="0" sz="1300" spc="-530">
                <a:latin typeface="Calibri"/>
                <a:cs typeface="Calibri"/>
              </a:rPr>
              <a:t>“</a:t>
            </a:r>
            <a:r>
              <a:rPr dirty="0" baseline="11111" sz="1125" spc="44">
                <a:solidFill>
                  <a:srgbClr val="898989"/>
                </a:solidFill>
                <a:latin typeface="Trebuchet MS"/>
                <a:cs typeface="Trebuchet MS"/>
              </a:rPr>
              <a:t>c</a:t>
            </a:r>
            <a:r>
              <a:rPr dirty="0" sz="1300" spc="-580">
                <a:latin typeface="Calibri"/>
                <a:cs typeface="Calibri"/>
              </a:rPr>
              <a:t>A</a:t>
            </a:r>
            <a:r>
              <a:rPr dirty="0" baseline="11111" sz="1125" spc="-30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baseline="11111" sz="1125" spc="-142">
                <a:solidFill>
                  <a:srgbClr val="898989"/>
                </a:solidFill>
                <a:latin typeface="Trebuchet MS"/>
                <a:cs typeface="Trebuchet MS"/>
              </a:rPr>
              <a:t>t</a:t>
            </a:r>
            <a:r>
              <a:rPr dirty="0" sz="1300" spc="-625">
                <a:latin typeface="Calibri"/>
                <a:cs typeface="Calibri"/>
              </a:rPr>
              <a:t>n</a:t>
            </a:r>
            <a:r>
              <a:rPr dirty="0" baseline="11111" sz="1125" spc="-15">
                <a:solidFill>
                  <a:srgbClr val="898989"/>
                </a:solidFill>
                <a:latin typeface="Trebuchet MS"/>
                <a:cs typeface="Trebuchet MS"/>
              </a:rPr>
              <a:t>u</a:t>
            </a:r>
            <a:r>
              <a:rPr dirty="0" baseline="11111" sz="1125" spc="-322">
                <a:solidFill>
                  <a:srgbClr val="898989"/>
                </a:solidFill>
                <a:latin typeface="Trebuchet MS"/>
                <a:cs typeface="Trebuchet MS"/>
              </a:rPr>
              <a:t>d</a:t>
            </a:r>
            <a:r>
              <a:rPr dirty="0" sz="1300" spc="-495">
                <a:latin typeface="Calibri"/>
                <a:cs typeface="Calibri"/>
              </a:rPr>
              <a:t>d</a:t>
            </a:r>
            <a:r>
              <a:rPr dirty="0" baseline="11111" sz="1125" spc="-15">
                <a:solidFill>
                  <a:srgbClr val="898989"/>
                </a:solidFill>
                <a:latin typeface="Trebuchet MS"/>
                <a:cs typeface="Trebuchet MS"/>
              </a:rPr>
              <a:t>i</a:t>
            </a:r>
            <a:r>
              <a:rPr dirty="0" baseline="11111" sz="1125" spc="-30">
                <a:solidFill>
                  <a:srgbClr val="898989"/>
                </a:solidFill>
                <a:latin typeface="Trebuchet MS"/>
                <a:cs typeface="Trebuchet MS"/>
              </a:rPr>
              <a:t>e</a:t>
            </a:r>
            <a:r>
              <a:rPr dirty="0" baseline="11111" sz="1125" spc="-247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sz="1300" spc="-95">
                <a:latin typeface="Calibri"/>
                <a:cs typeface="Calibri"/>
              </a:rPr>
              <a:t>t</a:t>
            </a:r>
            <a:r>
              <a:rPr dirty="0" baseline="11111" sz="1125" spc="-472">
                <a:solidFill>
                  <a:srgbClr val="898989"/>
                </a:solidFill>
                <a:latin typeface="Trebuchet MS"/>
                <a:cs typeface="Trebuchet MS"/>
              </a:rPr>
              <a:t>/</a:t>
            </a:r>
            <a:r>
              <a:rPr dirty="0" sz="1300" spc="-170">
                <a:latin typeface="Calibri"/>
                <a:cs typeface="Calibri"/>
              </a:rPr>
              <a:t>h</a:t>
            </a:r>
            <a:r>
              <a:rPr dirty="0" baseline="11111" sz="1125" spc="-397">
                <a:solidFill>
                  <a:srgbClr val="898989"/>
                </a:solidFill>
                <a:latin typeface="Trebuchet MS"/>
                <a:cs typeface="Trebuchet MS"/>
              </a:rPr>
              <a:t>E</a:t>
            </a:r>
            <a:r>
              <a:rPr dirty="0" sz="1300" spc="-425">
                <a:latin typeface="Calibri"/>
                <a:cs typeface="Calibri"/>
              </a:rPr>
              <a:t>e</a:t>
            </a:r>
            <a:r>
              <a:rPr dirty="0" baseline="11111" sz="1125">
                <a:solidFill>
                  <a:srgbClr val="898989"/>
                </a:solidFill>
                <a:latin typeface="Trebuchet MS"/>
                <a:cs typeface="Trebuchet MS"/>
              </a:rPr>
              <a:t>t</a:t>
            </a:r>
            <a:r>
              <a:rPr dirty="0" baseline="11111" sz="1125" spc="-37">
                <a:solidFill>
                  <a:srgbClr val="898989"/>
                </a:solidFill>
                <a:latin typeface="Trebuchet MS"/>
                <a:cs typeface="Trebuchet MS"/>
              </a:rPr>
              <a:t>h</a:t>
            </a:r>
            <a:r>
              <a:rPr dirty="0" baseline="11111" sz="1125" spc="-345">
                <a:solidFill>
                  <a:srgbClr val="898989"/>
                </a:solidFill>
                <a:latin typeface="Trebuchet MS"/>
                <a:cs typeface="Trebuchet MS"/>
              </a:rPr>
              <a:t>i</a:t>
            </a:r>
            <a:r>
              <a:rPr dirty="0" sz="1300" spc="-440">
                <a:latin typeface="Calibri"/>
                <a:cs typeface="Calibri"/>
              </a:rPr>
              <a:t>T</a:t>
            </a:r>
            <a:r>
              <a:rPr dirty="0" baseline="11111" sz="1125" spc="-52">
                <a:solidFill>
                  <a:srgbClr val="898989"/>
                </a:solidFill>
                <a:latin typeface="Trebuchet MS"/>
                <a:cs typeface="Trebuchet MS"/>
              </a:rPr>
              <a:t>c</a:t>
            </a:r>
            <a:r>
              <a:rPr dirty="0" sz="1300" spc="-445">
                <a:latin typeface="Calibri"/>
                <a:cs typeface="Calibri"/>
              </a:rPr>
              <a:t>r</a:t>
            </a:r>
            <a:r>
              <a:rPr dirty="0" baseline="11111" sz="1125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baseline="11111" sz="1125" spc="-300">
                <a:solidFill>
                  <a:srgbClr val="898989"/>
                </a:solidFill>
                <a:latin typeface="Trebuchet MS"/>
                <a:cs typeface="Trebuchet MS"/>
              </a:rPr>
              <a:t>l</a:t>
            </a:r>
            <a:r>
              <a:rPr dirty="0" sz="1300" spc="-305">
                <a:latin typeface="Calibri"/>
                <a:cs typeface="Calibri"/>
              </a:rPr>
              <a:t>u</a:t>
            </a:r>
            <a:r>
              <a:rPr dirty="0" baseline="11111" sz="1125" spc="-225">
                <a:solidFill>
                  <a:srgbClr val="898989"/>
                </a:solidFill>
                <a:latin typeface="Trebuchet MS"/>
                <a:cs typeface="Trebuchet MS"/>
              </a:rPr>
              <a:t>B</a:t>
            </a:r>
            <a:r>
              <a:rPr dirty="0" sz="1300" spc="-925">
                <a:latin typeface="Calibri"/>
                <a:cs typeface="Calibri"/>
              </a:rPr>
              <a:t>m</a:t>
            </a:r>
            <a:r>
              <a:rPr dirty="0" baseline="11111" sz="1125" spc="-15">
                <a:solidFill>
                  <a:srgbClr val="898989"/>
                </a:solidFill>
                <a:latin typeface="Trebuchet MS"/>
                <a:cs typeface="Trebuchet MS"/>
              </a:rPr>
              <a:t>e</a:t>
            </a:r>
            <a:r>
              <a:rPr dirty="0" baseline="11111" sz="1125" spc="-30">
                <a:solidFill>
                  <a:srgbClr val="898989"/>
                </a:solidFill>
                <a:latin typeface="Trebuchet MS"/>
                <a:cs typeface="Trebuchet MS"/>
              </a:rPr>
              <a:t>h</a:t>
            </a:r>
            <a:r>
              <a:rPr dirty="0" baseline="11111" sz="1125" spc="-457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sz="1300" spc="-415">
                <a:latin typeface="Calibri"/>
                <a:cs typeface="Calibri"/>
              </a:rPr>
              <a:t>p</a:t>
            </a:r>
            <a:r>
              <a:rPr dirty="0" baseline="11111" sz="1125" spc="-30">
                <a:solidFill>
                  <a:srgbClr val="898989"/>
                </a:solidFill>
                <a:latin typeface="Trebuchet MS"/>
                <a:cs typeface="Trebuchet MS"/>
              </a:rPr>
              <a:t>v</a:t>
            </a:r>
            <a:r>
              <a:rPr dirty="0" baseline="11111" sz="1125" spc="-270">
                <a:solidFill>
                  <a:srgbClr val="898989"/>
                </a:solidFill>
                <a:latin typeface="Trebuchet MS"/>
                <a:cs typeface="Trebuchet MS"/>
              </a:rPr>
              <a:t>i</a:t>
            </a:r>
            <a:r>
              <a:rPr dirty="0" sz="1300" spc="-505">
                <a:latin typeface="Calibri"/>
                <a:cs typeface="Calibri"/>
              </a:rPr>
              <a:t>e</a:t>
            </a:r>
            <a:r>
              <a:rPr dirty="0" baseline="11111" sz="1125" spc="-30">
                <a:solidFill>
                  <a:srgbClr val="898989"/>
                </a:solidFill>
                <a:latin typeface="Trebuchet MS"/>
                <a:cs typeface="Trebuchet MS"/>
              </a:rPr>
              <a:t>o</a:t>
            </a:r>
            <a:r>
              <a:rPr dirty="0" baseline="11111" sz="1125" spc="-517">
                <a:solidFill>
                  <a:srgbClr val="898989"/>
                </a:solidFill>
                <a:latin typeface="Trebuchet MS"/>
                <a:cs typeface="Trebuchet MS"/>
              </a:rPr>
              <a:t>u</a:t>
            </a:r>
            <a:r>
              <a:rPr dirty="0" sz="1300" spc="-130">
                <a:latin typeface="Calibri"/>
                <a:cs typeface="Calibri"/>
              </a:rPr>
              <a:t>t</a:t>
            </a:r>
            <a:r>
              <a:rPr dirty="0" baseline="11111" sz="1125" spc="-15">
                <a:solidFill>
                  <a:srgbClr val="898989"/>
                </a:solidFill>
                <a:latin typeface="Trebuchet MS"/>
                <a:cs typeface="Trebuchet MS"/>
              </a:rPr>
              <a:t>r</a:t>
            </a:r>
            <a:r>
              <a:rPr dirty="0" baseline="11111" sz="1125" spc="-12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latin typeface="Calibri"/>
                <a:cs typeface="Calibri"/>
              </a:rPr>
              <a:t>will</a:t>
            </a:r>
            <a:r>
              <a:rPr dirty="0" sz="1300" spc="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</a:t>
            </a:r>
            <a:r>
              <a:rPr dirty="0" sz="1300" spc="5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blown,</a:t>
            </a:r>
            <a:r>
              <a:rPr dirty="0" sz="1300" spc="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and</a:t>
            </a:r>
            <a:r>
              <a:rPr dirty="0" sz="1300" spc="3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all</a:t>
            </a:r>
            <a:r>
              <a:rPr dirty="0" sz="1300" spc="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who</a:t>
            </a:r>
            <a:r>
              <a:rPr dirty="0" sz="1300" spc="6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are</a:t>
            </a:r>
            <a:r>
              <a:rPr dirty="0" sz="1300" spc="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</a:t>
            </a:r>
            <a:r>
              <a:rPr dirty="0" sz="1300" spc="5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5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heavens</a:t>
            </a:r>
            <a:r>
              <a:rPr dirty="0" sz="1300" spc="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and</a:t>
            </a:r>
            <a:r>
              <a:rPr dirty="0" sz="1300" spc="3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all</a:t>
            </a:r>
            <a:r>
              <a:rPr dirty="0" sz="1300" spc="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who</a:t>
            </a:r>
            <a:r>
              <a:rPr dirty="0" sz="1300" spc="5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are</a:t>
            </a:r>
            <a:r>
              <a:rPr dirty="0" sz="1300" spc="-170">
                <a:latin typeface="Calibri"/>
                <a:cs typeface="Calibri"/>
              </a:rPr>
              <a:t> </a:t>
            </a:r>
            <a:r>
              <a:rPr dirty="0" baseline="11111" sz="1125" spc="-89">
                <a:solidFill>
                  <a:srgbClr val="90C126"/>
                </a:solidFill>
                <a:latin typeface="Trebuchet MS"/>
                <a:cs typeface="Trebuchet MS"/>
              </a:rPr>
              <a:t>5</a:t>
            </a:r>
            <a:r>
              <a:rPr dirty="0" sz="1300" spc="-60">
                <a:latin typeface="Calibri"/>
                <a:cs typeface="Calibri"/>
              </a:rPr>
              <a:t>on</a:t>
            </a:r>
            <a:r>
              <a:rPr dirty="0" sz="1300" spc="6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earth</a:t>
            </a:r>
            <a:r>
              <a:rPr dirty="0" sz="1300" spc="6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will</a:t>
            </a:r>
            <a:r>
              <a:rPr dirty="0" sz="1300" spc="45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be </a:t>
            </a:r>
            <a:r>
              <a:rPr dirty="0" sz="1300">
                <a:latin typeface="Calibri"/>
                <a:cs typeface="Calibri"/>
              </a:rPr>
              <a:t>terrified”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(Quran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39:68).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948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25"/>
              </a:spcBef>
            </a:pPr>
            <a:r>
              <a:rPr dirty="0"/>
              <a:t>Introduction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155"/>
              <a:t> </a:t>
            </a:r>
            <a:r>
              <a:rPr dirty="0"/>
              <a:t>Articles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Faith</a:t>
            </a:r>
            <a:r>
              <a:rPr dirty="0" spc="-30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 spc="-10"/>
              <a:t>Islam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50"/>
              <a:t>6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322572" y="2245568"/>
            <a:ext cx="5887085" cy="3335654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Definition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Iman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(Faith):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Iman</a:t>
            </a:r>
            <a:r>
              <a:rPr dirty="0" u="sng" sz="1450" spc="7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Means:</a:t>
            </a:r>
            <a:endParaRPr sz="1450">
              <a:latin typeface="Trebuchet MS"/>
              <a:cs typeface="Trebuchet MS"/>
            </a:endParaRPr>
          </a:p>
          <a:p>
            <a:pPr marL="12700" marR="2446655">
              <a:lnSpc>
                <a:spcPct val="149700"/>
              </a:lnSpc>
              <a:spcBef>
                <a:spcPts val="1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Acceptance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(Tasdiq)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truth.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Conviction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(Yaqin)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message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Commitment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(Iltizam)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follow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laws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Surrender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(Taslim)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will.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Which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things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450" spc="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involves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Iman?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Heart: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Believing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message.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Tonge: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Declaring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faith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through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Shahada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(declaration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faith).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Actions: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Practicing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Islam's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teachings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obligations.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340584"/>
            <a:ext cx="620014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Impact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Iman</a:t>
            </a:r>
            <a:r>
              <a:rPr dirty="0" spc="-5"/>
              <a:t> </a:t>
            </a:r>
            <a:r>
              <a:rPr dirty="0"/>
              <a:t>on</a:t>
            </a:r>
            <a:r>
              <a:rPr dirty="0" spc="5"/>
              <a:t> </a:t>
            </a:r>
            <a:r>
              <a:rPr dirty="0"/>
              <a:t>Ethical</a:t>
            </a:r>
            <a:r>
              <a:rPr dirty="0" spc="-20"/>
              <a:t> </a:t>
            </a:r>
            <a:r>
              <a:rPr dirty="0" spc="-10"/>
              <a:t>Behavior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50"/>
              <a:t>6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2913" y="1925562"/>
            <a:ext cx="7462520" cy="4099560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025"/>
              </a:spcBef>
              <a:buFont typeface="Wingdings"/>
              <a:buChar char=""/>
              <a:tabLst>
                <a:tab pos="248285" algn="l"/>
              </a:tabLst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Guides</a:t>
            </a:r>
            <a:r>
              <a:rPr dirty="0" u="sng" sz="1450" spc="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Our</a:t>
            </a:r>
            <a:r>
              <a:rPr dirty="0" u="sng" sz="1450" spc="-4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Actions: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50">
                <a:latin typeface="Trebuchet MS"/>
                <a:cs typeface="Trebuchet MS"/>
              </a:rPr>
              <a:t>Iman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shapes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behave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home,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work,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society.</a:t>
            </a:r>
            <a:endParaRPr sz="1450">
              <a:latin typeface="Trebuchet MS"/>
              <a:cs typeface="Trebuchet MS"/>
            </a:endParaRPr>
          </a:p>
          <a:p>
            <a:pPr marL="12700" marR="695325" indent="154940">
              <a:lnSpc>
                <a:spcPct val="153100"/>
              </a:lnSpc>
              <a:spcBef>
                <a:spcPts val="10"/>
              </a:spcBef>
              <a:buFont typeface="Trebuchet MS"/>
              <a:buChar char="•"/>
              <a:tabLst>
                <a:tab pos="167640" algn="l"/>
              </a:tabLst>
            </a:pPr>
            <a:r>
              <a:rPr dirty="0" sz="1450" b="1" i="1">
                <a:latin typeface="Trebuchet MS"/>
                <a:cs typeface="Trebuchet MS"/>
              </a:rPr>
              <a:t>Prophet</a:t>
            </a:r>
            <a:r>
              <a:rPr dirty="0" sz="1450" spc="75" b="1" i="1">
                <a:latin typeface="Trebuchet MS"/>
                <a:cs typeface="Trebuchet MS"/>
              </a:rPr>
              <a:t> </a:t>
            </a:r>
            <a:r>
              <a:rPr dirty="0" sz="1450" b="1" i="1">
                <a:latin typeface="Trebuchet MS"/>
                <a:cs typeface="Trebuchet MS"/>
              </a:rPr>
              <a:t>Example:</a:t>
            </a:r>
            <a:r>
              <a:rPr dirty="0" sz="1450" spc="75" b="1" i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(pbuh)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always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acted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honesty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fairness,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difficult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situations,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guiding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community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example.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935"/>
              </a:spcBef>
              <a:buFont typeface="Wingdings"/>
              <a:buChar char=""/>
              <a:tabLst>
                <a:tab pos="248285" algn="l"/>
              </a:tabLst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Builds</a:t>
            </a:r>
            <a:r>
              <a:rPr dirty="0" u="sng" sz="1450" spc="2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Moral</a:t>
            </a:r>
            <a:r>
              <a:rPr dirty="0" u="sng" sz="1450" spc="5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Character:</a:t>
            </a:r>
            <a:endParaRPr sz="1450">
              <a:latin typeface="Trebuchet MS"/>
              <a:cs typeface="Trebuchet MS"/>
            </a:endParaRPr>
          </a:p>
          <a:p>
            <a:pPr lvl="1" marL="403225" indent="-154305">
              <a:lnSpc>
                <a:spcPct val="100000"/>
              </a:lnSpc>
              <a:spcBef>
                <a:spcPts val="935"/>
              </a:spcBef>
              <a:buChar char="•"/>
              <a:tabLst>
                <a:tab pos="403225" algn="l"/>
              </a:tabLst>
            </a:pPr>
            <a:r>
              <a:rPr dirty="0" sz="1450">
                <a:latin typeface="Trebuchet MS"/>
                <a:cs typeface="Trebuchet MS"/>
              </a:rPr>
              <a:t>Iman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encourages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traits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honesty,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compassion,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fairness.</a:t>
            </a:r>
            <a:endParaRPr sz="1450">
              <a:latin typeface="Trebuchet MS"/>
              <a:cs typeface="Trebuchet MS"/>
            </a:endParaRPr>
          </a:p>
          <a:p>
            <a:pPr lvl="1" marL="248920" marR="215900" indent="154940">
              <a:lnSpc>
                <a:spcPct val="153100"/>
              </a:lnSpc>
              <a:spcBef>
                <a:spcPts val="15"/>
              </a:spcBef>
              <a:buFont typeface="Trebuchet MS"/>
              <a:buChar char="•"/>
              <a:tabLst>
                <a:tab pos="403860" algn="l"/>
              </a:tabLst>
            </a:pPr>
            <a:r>
              <a:rPr dirty="0" sz="1450" b="1" i="1">
                <a:latin typeface="Trebuchet MS"/>
                <a:cs typeface="Trebuchet MS"/>
              </a:rPr>
              <a:t>Sahaba</a:t>
            </a:r>
            <a:r>
              <a:rPr dirty="0" sz="1450" spc="60" b="1" i="1">
                <a:latin typeface="Trebuchet MS"/>
                <a:cs typeface="Trebuchet MS"/>
              </a:rPr>
              <a:t> </a:t>
            </a:r>
            <a:r>
              <a:rPr dirty="0" sz="1450" b="1" i="1">
                <a:latin typeface="Trebuchet MS"/>
                <a:cs typeface="Trebuchet MS"/>
              </a:rPr>
              <a:t>Example:</a:t>
            </a:r>
            <a:r>
              <a:rPr dirty="0" sz="1450" spc="70" b="1" i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Abu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Bakr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(RA)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known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selflessness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kindness—</a:t>
            </a:r>
            <a:r>
              <a:rPr dirty="0" sz="1450" spc="-25">
                <a:latin typeface="Trebuchet MS"/>
                <a:cs typeface="Trebuchet MS"/>
              </a:rPr>
              <a:t>he </a:t>
            </a:r>
            <a:r>
              <a:rPr dirty="0" sz="1450">
                <a:latin typeface="Trebuchet MS"/>
                <a:cs typeface="Trebuchet MS"/>
              </a:rPr>
              <a:t>shared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wealth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need,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reflecting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true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moral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character.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935"/>
              </a:spcBef>
              <a:buFont typeface="Wingdings"/>
              <a:buChar char=""/>
              <a:tabLst>
                <a:tab pos="248285" algn="l"/>
              </a:tabLst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Provides</a:t>
            </a:r>
            <a:r>
              <a:rPr dirty="0" u="sng" sz="1450" spc="6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Accountability:</a:t>
            </a:r>
            <a:endParaRPr sz="1450">
              <a:latin typeface="Trebuchet MS"/>
              <a:cs typeface="Trebuchet MS"/>
            </a:endParaRPr>
          </a:p>
          <a:p>
            <a:pPr lvl="1" marL="403225" indent="-154305">
              <a:lnSpc>
                <a:spcPct val="100000"/>
              </a:lnSpc>
              <a:spcBef>
                <a:spcPts val="935"/>
              </a:spcBef>
              <a:buChar char="•"/>
              <a:tabLst>
                <a:tab pos="403225" algn="l"/>
              </a:tabLst>
            </a:pPr>
            <a:r>
              <a:rPr dirty="0" sz="1450">
                <a:latin typeface="Trebuchet MS"/>
                <a:cs typeface="Trebuchet MS"/>
              </a:rPr>
              <a:t>Iman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reminds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action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recorded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will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judged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  <a:p>
            <a:pPr lvl="1" marL="248920" marR="5080" indent="154940">
              <a:lnSpc>
                <a:spcPct val="153100"/>
              </a:lnSpc>
              <a:spcBef>
                <a:spcPts val="15"/>
              </a:spcBef>
              <a:buFont typeface="Trebuchet MS"/>
              <a:buChar char="•"/>
              <a:tabLst>
                <a:tab pos="403860" algn="l"/>
              </a:tabLst>
            </a:pPr>
            <a:r>
              <a:rPr dirty="0" sz="1450" i="1">
                <a:latin typeface="Trebuchet MS"/>
                <a:cs typeface="Trebuchet MS"/>
              </a:rPr>
              <a:t>Prophet</a:t>
            </a:r>
            <a:r>
              <a:rPr dirty="0" sz="1450" spc="5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Reminder:</a:t>
            </a:r>
            <a:r>
              <a:rPr dirty="0" sz="1450" spc="30" i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(pbuh)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taught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angels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record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deeds,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urging </a:t>
            </a:r>
            <a:r>
              <a:rPr dirty="0" sz="1450">
                <a:latin typeface="Trebuchet MS"/>
                <a:cs typeface="Trebuchet MS"/>
              </a:rPr>
              <a:t>us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justly,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much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school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rules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hold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accountable.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5132" y="1416803"/>
            <a:ext cx="6814820" cy="932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86025" marR="5080" indent="-2473960">
              <a:lnSpc>
                <a:spcPct val="100699"/>
              </a:lnSpc>
              <a:spcBef>
                <a:spcPts val="100"/>
              </a:spcBef>
            </a:pPr>
            <a:r>
              <a:rPr dirty="0"/>
              <a:t>Believe</a:t>
            </a:r>
            <a:r>
              <a:rPr dirty="0" spc="5"/>
              <a:t> </a:t>
            </a:r>
            <a:r>
              <a:rPr dirty="0"/>
              <a:t>in</a:t>
            </a:r>
            <a:r>
              <a:rPr dirty="0" spc="-170"/>
              <a:t> </a:t>
            </a:r>
            <a:r>
              <a:rPr dirty="0"/>
              <a:t>Allah</a:t>
            </a:r>
            <a:r>
              <a:rPr dirty="0" spc="10"/>
              <a:t> </a:t>
            </a:r>
            <a:r>
              <a:rPr dirty="0"/>
              <a:t>–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/>
              <a:t>Oneness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-135"/>
              <a:t> </a:t>
            </a:r>
            <a:r>
              <a:rPr dirty="0" spc="-10"/>
              <a:t>Allah</a:t>
            </a:r>
            <a:r>
              <a:rPr dirty="0" u="none" spc="-10"/>
              <a:t> </a:t>
            </a:r>
            <a:r>
              <a:rPr dirty="0" spc="-10"/>
              <a:t>(Tawheed)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50"/>
              <a:t>6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06998" y="2646338"/>
            <a:ext cx="4768215" cy="253619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1850" spc="-35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-5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Topics: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65"/>
              </a:spcBef>
            </a:pPr>
            <a:r>
              <a:rPr dirty="0" sz="1550" spc="-2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6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Concept</a:t>
            </a:r>
            <a:r>
              <a:rPr dirty="0" sz="19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95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Tawheed</a:t>
            </a:r>
            <a:endParaRPr sz="19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65"/>
              </a:spcBef>
            </a:pPr>
            <a:r>
              <a:rPr dirty="0" sz="1550" spc="-2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7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spc="-25">
                <a:solidFill>
                  <a:srgbClr val="3F3F3F"/>
                </a:solidFill>
                <a:latin typeface="Trebuchet MS"/>
                <a:cs typeface="Trebuchet MS"/>
              </a:rPr>
              <a:t>Tawheed</a:t>
            </a:r>
            <a:r>
              <a:rPr dirty="0" sz="1950" spc="-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According</a:t>
            </a:r>
            <a:r>
              <a:rPr dirty="0" sz="19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9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Surah-e-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Ikhlas</a:t>
            </a:r>
            <a:endParaRPr sz="19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0"/>
              </a:spcBef>
            </a:pPr>
            <a:r>
              <a:rPr dirty="0" sz="1550" spc="-2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6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Categories</a:t>
            </a:r>
            <a:r>
              <a:rPr dirty="0" sz="19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95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Tawheed</a:t>
            </a:r>
            <a:endParaRPr sz="19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65"/>
              </a:spcBef>
            </a:pPr>
            <a:r>
              <a:rPr dirty="0" sz="1550" spc="-2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Types</a:t>
            </a:r>
            <a:r>
              <a:rPr dirty="0" sz="1950" spc="-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950" spc="-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20">
                <a:solidFill>
                  <a:srgbClr val="3F3F3F"/>
                </a:solidFill>
                <a:latin typeface="Trebuchet MS"/>
                <a:cs typeface="Trebuchet MS"/>
              </a:rPr>
              <a:t>Shirk</a:t>
            </a:r>
            <a:endParaRPr sz="19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65"/>
              </a:spcBef>
            </a:pPr>
            <a:r>
              <a:rPr dirty="0" sz="1550" spc="-2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6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Importance</a:t>
            </a:r>
            <a:r>
              <a:rPr dirty="0" sz="19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95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Tawheed: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025" y="1357378"/>
            <a:ext cx="670242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689090" algn="l"/>
              </a:tabLst>
            </a:pPr>
            <a:r>
              <a:rPr dirty="0"/>
              <a:t>Concept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30"/>
              <a:t>Tawhid</a:t>
            </a:r>
            <a:r>
              <a:rPr dirty="0" spc="-50"/>
              <a:t> </a:t>
            </a:r>
            <a:r>
              <a:rPr dirty="0"/>
              <a:t>–</a:t>
            </a:r>
            <a:r>
              <a:rPr dirty="0" spc="-15"/>
              <a:t> </a:t>
            </a:r>
            <a:r>
              <a:rPr dirty="0"/>
              <a:t>(Quran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 spc="-25"/>
              <a:t>Had</a:t>
            </a:r>
            <a:r>
              <a:rPr dirty="0"/>
              <a:t>	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97164" y="1393147"/>
            <a:ext cx="810260" cy="3614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034">
              <a:lnSpc>
                <a:spcPts val="3385"/>
              </a:lnSpc>
            </a:pPr>
            <a:r>
              <a:rPr dirty="0" sz="2950" spc="-20" b="1">
                <a:solidFill>
                  <a:srgbClr val="90C126"/>
                </a:solidFill>
                <a:latin typeface="Trebuchet MS"/>
                <a:cs typeface="Trebuchet MS"/>
              </a:rPr>
              <a:t>ith)</a:t>
            </a:r>
            <a:endParaRPr sz="2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315"/>
              </a:spcBef>
            </a:pPr>
            <a:endParaRPr sz="2950">
              <a:latin typeface="Trebuchet MS"/>
              <a:cs typeface="Trebuchet MS"/>
            </a:endParaRPr>
          </a:p>
          <a:p>
            <a:pPr marL="5080">
              <a:lnSpc>
                <a:spcPct val="100000"/>
              </a:lnSpc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Islam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”</a:t>
            </a:r>
            <a:r>
              <a:rPr dirty="0" sz="14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which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56117" y="2202937"/>
            <a:ext cx="6051550" cy="30384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595755">
              <a:lnSpc>
                <a:spcPct val="149700"/>
              </a:lnSpc>
              <a:spcBef>
                <a:spcPts val="90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What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Tawheed?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(Concept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Oneness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Allah)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Tawheed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means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believing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one,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unique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God,</a:t>
            </a:r>
            <a:r>
              <a:rPr dirty="0" sz="14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  <a:p>
            <a:pPr marL="12700" marR="51435">
              <a:lnSpc>
                <a:spcPct val="102099"/>
              </a:lnSpc>
              <a:spcBef>
                <a:spcPts val="84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sole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Creator,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Sustainer,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Ruler.</a:t>
            </a:r>
            <a:r>
              <a:rPr dirty="0" sz="14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belief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core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of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basis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worship.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Quran:</a:t>
            </a:r>
            <a:endParaRPr sz="1450">
              <a:latin typeface="Trebuchet MS"/>
              <a:cs typeface="Trebuchet MS"/>
            </a:endParaRPr>
          </a:p>
          <a:p>
            <a:pPr marL="167005" indent="-154305">
              <a:lnSpc>
                <a:spcPct val="100000"/>
              </a:lnSpc>
              <a:spcBef>
                <a:spcPts val="45"/>
              </a:spcBef>
              <a:buChar char="•"/>
              <a:tabLst>
                <a:tab pos="16700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“There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god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but</a:t>
            </a:r>
            <a:r>
              <a:rPr dirty="0" sz="14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Allah”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47:19).</a:t>
            </a:r>
            <a:endParaRPr sz="1450">
              <a:latin typeface="Trebuchet MS"/>
              <a:cs typeface="Trebuchet MS"/>
            </a:endParaRPr>
          </a:p>
          <a:p>
            <a:pPr marL="167005" indent="-154305">
              <a:lnSpc>
                <a:spcPct val="100000"/>
              </a:lnSpc>
              <a:spcBef>
                <a:spcPts val="40"/>
              </a:spcBef>
              <a:buChar char="•"/>
              <a:tabLst>
                <a:tab pos="16700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“Say,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'He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Allah,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One'”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(Surah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Ikhlas,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112:1).</a:t>
            </a:r>
            <a:endParaRPr sz="1450">
              <a:latin typeface="Trebuchet MS"/>
              <a:cs typeface="Trebuchet MS"/>
            </a:endParaRPr>
          </a:p>
          <a:p>
            <a:pPr marL="167005" indent="-154305">
              <a:lnSpc>
                <a:spcPct val="100000"/>
              </a:lnSpc>
              <a:spcBef>
                <a:spcPts val="45"/>
              </a:spcBef>
              <a:buChar char="•"/>
              <a:tabLst>
                <a:tab pos="16700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“And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your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god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God...”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2:163)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Hadith:</a:t>
            </a:r>
            <a:endParaRPr sz="1450">
              <a:latin typeface="Trebuchet MS"/>
              <a:cs typeface="Trebuchet MS"/>
            </a:endParaRPr>
          </a:p>
          <a:p>
            <a:pPr marL="12700" marR="5080" indent="152400">
              <a:lnSpc>
                <a:spcPct val="102099"/>
              </a:lnSpc>
              <a:spcBef>
                <a:spcPts val="10"/>
              </a:spcBef>
              <a:buChar char="•"/>
              <a:tabLst>
                <a:tab pos="16510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(pbuh)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taught,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“I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testify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there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god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but</a:t>
            </a:r>
            <a:r>
              <a:rPr dirty="0" sz="145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Allah...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forms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basis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Shahada.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3179" y="1569719"/>
            <a:ext cx="2851403" cy="5146547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dirty="0" spc="-50"/>
              <a:t>6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3736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3300" spc="-75"/>
              <a:t>Tawheed</a:t>
            </a:r>
            <a:r>
              <a:rPr dirty="0" sz="3300" spc="-175"/>
              <a:t> </a:t>
            </a:r>
            <a:r>
              <a:rPr dirty="0" sz="3300"/>
              <a:t>According</a:t>
            </a:r>
            <a:r>
              <a:rPr dirty="0" sz="3300" spc="-125"/>
              <a:t> </a:t>
            </a:r>
            <a:r>
              <a:rPr dirty="0" sz="3300"/>
              <a:t>to</a:t>
            </a:r>
            <a:r>
              <a:rPr dirty="0" sz="3300" spc="-80"/>
              <a:t> </a:t>
            </a:r>
            <a:r>
              <a:rPr dirty="0" sz="3300"/>
              <a:t>Surah</a:t>
            </a:r>
            <a:r>
              <a:rPr dirty="0" sz="3300" spc="-45"/>
              <a:t> </a:t>
            </a:r>
            <a:r>
              <a:rPr dirty="0" sz="3300" spc="-10"/>
              <a:t>Ikhlas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622788" y="2340090"/>
            <a:ext cx="6922770" cy="173863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Surah</a:t>
            </a:r>
            <a:r>
              <a:rPr dirty="0" u="sng" sz="1650" spc="-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Ikhlas</a:t>
            </a:r>
            <a:r>
              <a:rPr dirty="0" u="sng" sz="1650" spc="-4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(112)</a:t>
            </a:r>
            <a:r>
              <a:rPr dirty="0" u="sng" sz="165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Explained:</a:t>
            </a:r>
            <a:endParaRPr sz="1650">
              <a:latin typeface="Trebuchet MS"/>
              <a:cs typeface="Trebuchet MS"/>
            </a:endParaRPr>
          </a:p>
          <a:p>
            <a:pPr marL="167005" indent="-154305">
              <a:lnSpc>
                <a:spcPct val="100000"/>
              </a:lnSpc>
              <a:spcBef>
                <a:spcPts val="875"/>
              </a:spcBef>
              <a:buChar char="•"/>
              <a:tabLst>
                <a:tab pos="16700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1: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“Say,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‘He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Allah,</a:t>
            </a:r>
            <a:r>
              <a:rPr dirty="0" sz="14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One’”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Affirms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oneness.</a:t>
            </a:r>
            <a:endParaRPr sz="1450">
              <a:latin typeface="Trebuchet MS"/>
              <a:cs typeface="Trebuchet MS"/>
            </a:endParaRPr>
          </a:p>
          <a:p>
            <a:pPr marL="167005" indent="-154305">
              <a:lnSpc>
                <a:spcPct val="100000"/>
              </a:lnSpc>
              <a:spcBef>
                <a:spcPts val="35"/>
              </a:spcBef>
              <a:buChar char="•"/>
              <a:tabLst>
                <a:tab pos="16700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2: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“Allah,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Self-Sufficient…”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Only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worthy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worship.</a:t>
            </a:r>
            <a:endParaRPr sz="1450">
              <a:latin typeface="Trebuchet MS"/>
              <a:cs typeface="Trebuchet MS"/>
            </a:endParaRPr>
          </a:p>
          <a:p>
            <a:pPr marL="167005" indent="-154305">
              <a:lnSpc>
                <a:spcPct val="100000"/>
              </a:lnSpc>
              <a:spcBef>
                <a:spcPts val="45"/>
              </a:spcBef>
              <a:buChar char="•"/>
              <a:tabLst>
                <a:tab pos="16700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3: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“He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neither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begets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nor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begotten”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Rejects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any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idea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offspring.</a:t>
            </a:r>
            <a:endParaRPr sz="1450">
              <a:latin typeface="Trebuchet MS"/>
              <a:cs typeface="Trebuchet MS"/>
            </a:endParaRPr>
          </a:p>
          <a:p>
            <a:pPr marL="167005" indent="-154305">
              <a:lnSpc>
                <a:spcPct val="100000"/>
              </a:lnSpc>
              <a:spcBef>
                <a:spcPts val="40"/>
              </a:spcBef>
              <a:buChar char="•"/>
              <a:tabLst>
                <a:tab pos="16700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4: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“And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none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equal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Him”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one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shares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perfection.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short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Surah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sums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up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essence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Tawheed.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908803" y="3851147"/>
            <a:ext cx="4634865" cy="2702560"/>
            <a:chOff x="4908803" y="3851147"/>
            <a:chExt cx="4634865" cy="270256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8803" y="3851147"/>
              <a:ext cx="4634483" cy="270205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9200" y="3971543"/>
              <a:ext cx="4392167" cy="245973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7463935" y="6127091"/>
            <a:ext cx="125095" cy="13525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50" spc="-25">
                <a:solidFill>
                  <a:srgbClr val="90C126"/>
                </a:solidFill>
                <a:latin typeface="Trebuchet MS"/>
                <a:cs typeface="Trebuchet MS"/>
              </a:rPr>
              <a:t>10</a:t>
            </a:r>
            <a:endParaRPr sz="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3665" y="1275070"/>
            <a:ext cx="369570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Categories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 spc="-20"/>
              <a:t>Tawhid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1</a:t>
            </a:r>
            <a:r>
              <a:rPr dirty="0" spc="-25"/>
              <a:t>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70149" y="2038566"/>
            <a:ext cx="8432800" cy="2928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There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are</a:t>
            </a:r>
            <a:r>
              <a:rPr dirty="0" u="sng" sz="1650" spc="-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3</a:t>
            </a:r>
            <a:r>
              <a:rPr dirty="0" u="sng" sz="1650" spc="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types</a:t>
            </a:r>
            <a:r>
              <a:rPr dirty="0" u="sng" sz="1650" spc="-3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650" spc="-3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Tawhid:</a:t>
            </a:r>
            <a:endParaRPr sz="1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6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Tawhid</a:t>
            </a:r>
            <a:r>
              <a:rPr dirty="0" sz="1450" spc="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al-Rububiyyah</a:t>
            </a:r>
            <a:r>
              <a:rPr dirty="0" sz="1450" spc="7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(Lordship)</a:t>
            </a:r>
            <a:r>
              <a:rPr dirty="0" sz="1450" spc="-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Allah</a:t>
            </a:r>
            <a:r>
              <a:rPr dirty="0" sz="1450" spc="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is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only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Creator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and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Controller.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87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Tawhid</a:t>
            </a:r>
            <a:r>
              <a:rPr dirty="0" sz="1450" spc="1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al-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Uluhiyyah</a:t>
            </a:r>
            <a:r>
              <a:rPr dirty="0" sz="1450" spc="9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(Worship)</a:t>
            </a:r>
            <a:r>
              <a:rPr dirty="0" sz="1450" spc="-1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-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Only</a:t>
            </a:r>
            <a:r>
              <a:rPr dirty="0" sz="1450" spc="-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Allah</a:t>
            </a:r>
            <a:r>
              <a:rPr dirty="0" sz="1450" spc="1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deserves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our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worship.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Tawhid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al-Asma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wa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as-Sifat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(Names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&amp;</a:t>
            </a:r>
            <a:r>
              <a:rPr dirty="0" sz="1450" spc="-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Attributes)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-</a:t>
            </a:r>
            <a:r>
              <a:rPr dirty="0" sz="1450" spc="-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Allah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has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unique,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perfect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names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and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qualities.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There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is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nothing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like</a:t>
            </a:r>
            <a:r>
              <a:rPr dirty="0" sz="1450" spc="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unto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Him”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(Quran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Arial"/>
                <a:cs typeface="Arial"/>
              </a:rPr>
              <a:t>42:11).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completely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unique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different</a:t>
            </a:r>
            <a:r>
              <a:rPr dirty="0" sz="1450" spc="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everything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else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These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categories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help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us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understand</a:t>
            </a:r>
            <a:r>
              <a:rPr dirty="0" sz="1450" spc="-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Allah’s</a:t>
            </a:r>
            <a:r>
              <a:rPr dirty="0" sz="1450" spc="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complete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uniqueness.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7502" y="1159262"/>
            <a:ext cx="534289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25"/>
              <a:t>Types</a:t>
            </a:r>
            <a:r>
              <a:rPr dirty="0" sz="3300" spc="-105"/>
              <a:t> </a:t>
            </a:r>
            <a:r>
              <a:rPr dirty="0" sz="3300"/>
              <a:t>of</a:t>
            </a:r>
            <a:r>
              <a:rPr dirty="0" sz="3300" spc="-130"/>
              <a:t> </a:t>
            </a:r>
            <a:r>
              <a:rPr dirty="0" sz="3300"/>
              <a:t>Shirk</a:t>
            </a:r>
            <a:r>
              <a:rPr dirty="0" sz="3300" spc="-95"/>
              <a:t> </a:t>
            </a:r>
            <a:r>
              <a:rPr dirty="0" sz="3300" spc="-10"/>
              <a:t>(Polytheism)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1</a:t>
            </a:r>
            <a:r>
              <a:rPr dirty="0" spc="-25"/>
              <a:t>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4677" y="1750306"/>
            <a:ext cx="7768590" cy="434784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Shirk</a:t>
            </a:r>
            <a:r>
              <a:rPr dirty="0" sz="1450" spc="5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means</a:t>
            </a:r>
            <a:r>
              <a:rPr dirty="0" sz="1450" spc="5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directing</a:t>
            </a:r>
            <a:r>
              <a:rPr dirty="0" sz="1450" spc="3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worship to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others</a:t>
            </a:r>
            <a:r>
              <a:rPr dirty="0" sz="1450" spc="5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besides</a:t>
            </a:r>
            <a:r>
              <a:rPr dirty="0" sz="1450" spc="-4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Arial"/>
                <a:cs typeface="Arial"/>
              </a:rPr>
              <a:t>Allah.</a:t>
            </a:r>
            <a:endParaRPr sz="14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880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Major</a:t>
            </a:r>
            <a:r>
              <a:rPr dirty="0" u="sng" sz="1450" spc="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Shirk</a:t>
            </a:r>
            <a:r>
              <a:rPr dirty="0" u="sng" sz="1450" spc="3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(worshiping</a:t>
            </a:r>
            <a:r>
              <a:rPr dirty="0" u="sng" sz="1450" spc="-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other</a:t>
            </a:r>
            <a:r>
              <a:rPr dirty="0" u="sng" sz="1450" spc="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gods)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50" b="1" i="1">
                <a:solidFill>
                  <a:srgbClr val="3F3F3F"/>
                </a:solidFill>
                <a:latin typeface="Arial"/>
                <a:cs typeface="Arial"/>
              </a:rPr>
              <a:t>Quran</a:t>
            </a:r>
            <a:r>
              <a:rPr dirty="0" sz="1450" i="1">
                <a:solidFill>
                  <a:srgbClr val="3F3F3F"/>
                </a:solidFill>
                <a:latin typeface="Arial"/>
                <a:cs typeface="Arial"/>
              </a:rPr>
              <a:t>:</a:t>
            </a:r>
            <a:r>
              <a:rPr dirty="0" sz="1450" spc="50" i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“Indeed,</a:t>
            </a:r>
            <a:r>
              <a:rPr dirty="0" sz="1450" spc="-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Allah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does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not</a:t>
            </a:r>
            <a:r>
              <a:rPr dirty="0" sz="1450" spc="6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forgive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association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with</a:t>
            </a:r>
            <a:r>
              <a:rPr dirty="0" sz="1450" spc="7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Him...”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(Quran</a:t>
            </a:r>
            <a:r>
              <a:rPr dirty="0" sz="1450" spc="7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4:48).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Minor</a:t>
            </a:r>
            <a:r>
              <a:rPr dirty="0" u="sng" sz="1450" spc="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Shirk</a:t>
            </a:r>
            <a:r>
              <a:rPr dirty="0" u="sng" sz="1450" spc="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(showing</a:t>
            </a:r>
            <a:r>
              <a:rPr dirty="0" u="sng" sz="145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off</a:t>
            </a:r>
            <a:r>
              <a:rPr dirty="0" u="sng" sz="1450" spc="2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in</a:t>
            </a:r>
            <a:r>
              <a:rPr dirty="0" u="sng" sz="1450" spc="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worship)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Showing</a:t>
            </a:r>
            <a:r>
              <a:rPr dirty="0" sz="1450" spc="-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off in</a:t>
            </a:r>
            <a:r>
              <a:rPr dirty="0" sz="1450" spc="-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acts</a:t>
            </a:r>
            <a:r>
              <a:rPr dirty="0" sz="1450" spc="-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of</a:t>
            </a:r>
            <a:r>
              <a:rPr dirty="0" sz="1450" spc="-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worship to</a:t>
            </a:r>
            <a:r>
              <a:rPr dirty="0" sz="1450" spc="-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gain</a:t>
            </a:r>
            <a:r>
              <a:rPr dirty="0" sz="1450" spc="-1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praise</a:t>
            </a:r>
            <a:r>
              <a:rPr dirty="0" sz="1450" spc="-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from</a:t>
            </a:r>
            <a:r>
              <a:rPr dirty="0" sz="1450" spc="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people</a:t>
            </a:r>
            <a:r>
              <a:rPr dirty="0" sz="1450" spc="-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instead</a:t>
            </a:r>
            <a:r>
              <a:rPr dirty="0" sz="1450" spc="1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of</a:t>
            </a:r>
            <a:r>
              <a:rPr dirty="0" sz="1450" spc="-1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pleasing</a:t>
            </a:r>
            <a:r>
              <a:rPr dirty="0" sz="1450" spc="-9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Allah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Hidden</a:t>
            </a:r>
            <a:r>
              <a:rPr dirty="0" u="sng" sz="1450" spc="-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Shirk (relying</a:t>
            </a:r>
            <a:r>
              <a:rPr dirty="0" u="sng" sz="1450" spc="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on</a:t>
            </a:r>
            <a:r>
              <a:rPr dirty="0" u="sng" sz="145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others instead</a:t>
            </a:r>
            <a:r>
              <a:rPr dirty="0" u="sng" sz="1450" spc="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1450" spc="-7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Allah)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02800"/>
              </a:lnSpc>
              <a:spcBef>
                <a:spcPts val="81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Relying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created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things—like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wealth,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status,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personal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ability—instead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trusting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solely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Shirk</a:t>
            </a:r>
            <a:r>
              <a:rPr dirty="0" sz="1450" spc="2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is</a:t>
            </a:r>
            <a:r>
              <a:rPr dirty="0" sz="1450" spc="1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</a:t>
            </a:r>
            <a:r>
              <a:rPr dirty="0" sz="1450" spc="2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severe</a:t>
            </a:r>
            <a:r>
              <a:rPr dirty="0" sz="1450" spc="2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sin</a:t>
            </a:r>
            <a:r>
              <a:rPr dirty="0" sz="1450" spc="2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in</a:t>
            </a:r>
            <a:r>
              <a:rPr dirty="0" sz="1450" spc="2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Arial"/>
                <a:cs typeface="Arial"/>
              </a:rPr>
              <a:t>Islam.</a:t>
            </a:r>
            <a:endParaRPr sz="1450">
              <a:latin typeface="Arial"/>
              <a:cs typeface="Arial"/>
            </a:endParaRPr>
          </a:p>
          <a:p>
            <a:pPr marL="12700" marR="77470">
              <a:lnSpc>
                <a:spcPct val="102099"/>
              </a:lnSpc>
              <a:spcBef>
                <a:spcPts val="83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Avoiding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forms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shirk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essential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maintaining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pure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faith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sincere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relationship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306997"/>
            <a:ext cx="521525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The</a:t>
            </a:r>
            <a:r>
              <a:rPr dirty="0" spc="-35"/>
              <a:t> </a:t>
            </a:r>
            <a:r>
              <a:rPr dirty="0"/>
              <a:t>Moral</a:t>
            </a:r>
            <a:r>
              <a:rPr dirty="0" spc="-40"/>
              <a:t> </a:t>
            </a:r>
            <a:r>
              <a:rPr dirty="0"/>
              <a:t>Impact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10"/>
              <a:t>Tawheed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1</a:t>
            </a:r>
            <a:r>
              <a:rPr dirty="0" spc="-25"/>
              <a:t>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4838" y="2181843"/>
            <a:ext cx="7225665" cy="20631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">
                <a:latin typeface="Arial MT"/>
                <a:cs typeface="Arial MT"/>
              </a:rPr>
              <a:t>Tawheed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teaches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kind,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honest,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fair,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caring.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reminds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that</a:t>
            </a:r>
            <a:r>
              <a:rPr dirty="0" sz="1450" spc="-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Allah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knows</a:t>
            </a:r>
            <a:endParaRPr sz="1450">
              <a:latin typeface="Arial MT"/>
              <a:cs typeface="Arial MT"/>
            </a:endParaRPr>
          </a:p>
          <a:p>
            <a:pPr marL="12700" marR="39370">
              <a:lnSpc>
                <a:spcPct val="204800"/>
              </a:lnSpc>
              <a:spcBef>
                <a:spcPts val="5"/>
              </a:spcBef>
            </a:pPr>
            <a:r>
              <a:rPr dirty="0" sz="1450">
                <a:latin typeface="Arial MT"/>
                <a:cs typeface="Arial MT"/>
              </a:rPr>
              <a:t>everything</a:t>
            </a:r>
            <a:r>
              <a:rPr dirty="0" sz="1450" spc="8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do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think. This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belief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encourages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always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do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good,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treat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people </a:t>
            </a:r>
            <a:r>
              <a:rPr dirty="0" sz="1450">
                <a:latin typeface="Arial MT"/>
                <a:cs typeface="Arial MT"/>
              </a:rPr>
              <a:t>nicely,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 stay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strong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faith.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By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following</a:t>
            </a:r>
            <a:r>
              <a:rPr dirty="0" sz="1450" spc="-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Tawheed,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try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follow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great </a:t>
            </a:r>
            <a:r>
              <a:rPr dirty="0" sz="1450">
                <a:latin typeface="Arial MT"/>
                <a:cs typeface="Arial MT"/>
              </a:rPr>
              <a:t>example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Muhammad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(PBUH)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companions,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who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showed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kindness, </a:t>
            </a:r>
            <a:r>
              <a:rPr dirty="0" sz="1450">
                <a:latin typeface="Arial MT"/>
                <a:cs typeface="Arial MT"/>
              </a:rPr>
              <a:t>honesty,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 goodness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parts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their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lives.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575329"/>
            <a:ext cx="417195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Importance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 spc="-10"/>
              <a:t>Tawheed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1</a:t>
            </a:r>
            <a:r>
              <a:rPr dirty="0" spc="-25"/>
              <a:t>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2549167"/>
            <a:ext cx="6830059" cy="24822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Foundation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Islam: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50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core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faith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identity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Muslims.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Key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Salvation: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35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Belief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God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essential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salvation.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Protection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Against</a:t>
            </a:r>
            <a:r>
              <a:rPr dirty="0" sz="1450" spc="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Shirk: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35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Prevents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associating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partners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Unity: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50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Unites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Muslims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worldwide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common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belief.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(pbuh)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always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stressed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worship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must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directed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only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 Allah.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719" rIns="0" bIns="0" rtlCol="0" vert="horz">
            <a:spAutoFit/>
          </a:bodyPr>
          <a:lstStyle/>
          <a:p>
            <a:pPr marL="1649095">
              <a:lnSpc>
                <a:spcPct val="100000"/>
              </a:lnSpc>
              <a:spcBef>
                <a:spcPts val="95"/>
              </a:spcBef>
            </a:pPr>
            <a:r>
              <a:rPr dirty="0" sz="4050"/>
              <a:t>Belief</a:t>
            </a:r>
            <a:r>
              <a:rPr dirty="0" sz="4050" spc="-114"/>
              <a:t> </a:t>
            </a:r>
            <a:r>
              <a:rPr dirty="0" sz="4050"/>
              <a:t>in</a:t>
            </a:r>
            <a:r>
              <a:rPr dirty="0" sz="4050" spc="-305"/>
              <a:t> </a:t>
            </a:r>
            <a:r>
              <a:rPr dirty="0" sz="4050" spc="-10"/>
              <a:t>Angels</a:t>
            </a:r>
            <a:endParaRPr sz="405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1</a:t>
            </a:r>
            <a:r>
              <a:rPr dirty="0" spc="-25"/>
              <a:t>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4148" y="2510617"/>
            <a:ext cx="3660140" cy="293370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1850" spc="-35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-5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Topics: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65"/>
              </a:spcBef>
            </a:pPr>
            <a:r>
              <a:rPr dirty="0" sz="1550" spc="-2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5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Concept</a:t>
            </a:r>
            <a:r>
              <a:rPr dirty="0" sz="19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950" spc="-1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Angels</a:t>
            </a:r>
            <a:endParaRPr sz="19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65"/>
              </a:spcBef>
            </a:pPr>
            <a:r>
              <a:rPr dirty="0" sz="1550" spc="-2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7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Angels</a:t>
            </a:r>
            <a:r>
              <a:rPr dirty="0" sz="19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9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9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19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Hadith)</a:t>
            </a:r>
            <a:endParaRPr sz="19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1610"/>
              </a:spcBef>
            </a:pPr>
            <a:r>
              <a:rPr dirty="0" sz="1550" spc="-2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6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Categories</a:t>
            </a:r>
            <a:r>
              <a:rPr dirty="0" sz="19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9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angels</a:t>
            </a:r>
            <a:endParaRPr sz="19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2050"/>
              </a:spcBef>
            </a:pPr>
            <a:r>
              <a:rPr dirty="0" sz="1550" spc="-2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6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Characteristics</a:t>
            </a:r>
            <a:r>
              <a:rPr dirty="0" sz="19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950" spc="-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Angels</a:t>
            </a:r>
            <a:endParaRPr sz="19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2050"/>
              </a:spcBef>
            </a:pPr>
            <a:r>
              <a:rPr dirty="0" sz="1550" spc="-2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Roles</a:t>
            </a:r>
            <a:r>
              <a:rPr dirty="0" sz="195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950" spc="-1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Angels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948" rIns="0" bIns="0" rtlCol="0" vert="horz">
            <a:spAutoFit/>
          </a:bodyPr>
          <a:lstStyle/>
          <a:p>
            <a:pPr marL="1978025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dirty="0" spc="-165"/>
              <a:t> </a:t>
            </a:r>
            <a:r>
              <a:rPr dirty="0"/>
              <a:t>Are</a:t>
            </a:r>
            <a:r>
              <a:rPr dirty="0" spc="-155"/>
              <a:t> </a:t>
            </a:r>
            <a:r>
              <a:rPr dirty="0" spc="-10"/>
              <a:t>Angels?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1</a:t>
            </a:r>
            <a:r>
              <a:rPr dirty="0" spc="-25"/>
              <a:t>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35707" y="2410406"/>
            <a:ext cx="8209280" cy="2326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4640" marR="781685" indent="-282575">
              <a:lnSpc>
                <a:spcPct val="101499"/>
              </a:lnSpc>
              <a:spcBef>
                <a:spcPts val="95"/>
              </a:spcBef>
              <a:buSzPct val="41025"/>
              <a:buFont typeface="Wingdings"/>
              <a:buChar char=""/>
              <a:tabLst>
                <a:tab pos="295910" algn="l"/>
              </a:tabLst>
            </a:pPr>
            <a:r>
              <a:rPr dirty="0" sz="1950">
                <a:latin typeface="Trebuchet MS"/>
                <a:cs typeface="Trebuchet MS"/>
              </a:rPr>
              <a:t>Angels</a:t>
            </a:r>
            <a:r>
              <a:rPr dirty="0" sz="1950" spc="6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are</a:t>
            </a:r>
            <a:r>
              <a:rPr dirty="0" sz="1950" spc="6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special,</a:t>
            </a:r>
            <a:r>
              <a:rPr dirty="0" sz="1950" spc="6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invisible</a:t>
            </a:r>
            <a:r>
              <a:rPr dirty="0" sz="1950" spc="8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beings</a:t>
            </a:r>
            <a:r>
              <a:rPr dirty="0" sz="1950" spc="6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created</a:t>
            </a:r>
            <a:r>
              <a:rPr dirty="0" sz="1950" spc="5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by</a:t>
            </a:r>
            <a:r>
              <a:rPr dirty="0" sz="1950" spc="-6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Allah</a:t>
            </a:r>
            <a:r>
              <a:rPr dirty="0" sz="1950" spc="5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from</a:t>
            </a:r>
            <a:r>
              <a:rPr dirty="0" sz="1950" spc="30">
                <a:latin typeface="Trebuchet MS"/>
                <a:cs typeface="Trebuchet MS"/>
              </a:rPr>
              <a:t> </a:t>
            </a:r>
            <a:r>
              <a:rPr dirty="0" sz="1950" spc="-10">
                <a:latin typeface="Trebuchet MS"/>
                <a:cs typeface="Trebuchet MS"/>
              </a:rPr>
              <a:t>light. </a:t>
            </a:r>
            <a:r>
              <a:rPr dirty="0" sz="1950" spc="-10">
                <a:latin typeface="Trebuchet MS"/>
                <a:cs typeface="Trebuchet MS"/>
              </a:rPr>
              <a:t>	</a:t>
            </a:r>
            <a:r>
              <a:rPr dirty="0" sz="1950">
                <a:latin typeface="Trebuchet MS"/>
                <a:cs typeface="Trebuchet MS"/>
              </a:rPr>
              <a:t>They</a:t>
            </a:r>
            <a:r>
              <a:rPr dirty="0" sz="1950" spc="5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do</a:t>
            </a:r>
            <a:r>
              <a:rPr dirty="0" sz="1950" spc="6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not</a:t>
            </a:r>
            <a:r>
              <a:rPr dirty="0" sz="1950" spc="4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have</a:t>
            </a:r>
            <a:r>
              <a:rPr dirty="0" sz="1950" spc="2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free</a:t>
            </a:r>
            <a:r>
              <a:rPr dirty="0" sz="1950" spc="5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will</a:t>
            </a:r>
            <a:r>
              <a:rPr dirty="0" sz="1950" spc="5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like</a:t>
            </a:r>
            <a:r>
              <a:rPr dirty="0" sz="1950" spc="6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humans</a:t>
            </a:r>
            <a:r>
              <a:rPr dirty="0" sz="1950" spc="5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they</a:t>
            </a:r>
            <a:r>
              <a:rPr dirty="0" sz="1950" spc="5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only</a:t>
            </a:r>
            <a:r>
              <a:rPr dirty="0" sz="1950" spc="3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follow</a:t>
            </a:r>
            <a:r>
              <a:rPr dirty="0" sz="1950" spc="-80">
                <a:latin typeface="Trebuchet MS"/>
                <a:cs typeface="Trebuchet MS"/>
              </a:rPr>
              <a:t> </a:t>
            </a:r>
            <a:r>
              <a:rPr dirty="0" sz="1950" spc="-10">
                <a:latin typeface="Trebuchet MS"/>
                <a:cs typeface="Trebuchet MS"/>
              </a:rPr>
              <a:t>Allah’s </a:t>
            </a:r>
            <a:r>
              <a:rPr dirty="0" sz="1950" spc="-10">
                <a:latin typeface="Trebuchet MS"/>
                <a:cs typeface="Trebuchet MS"/>
              </a:rPr>
              <a:t>	</a:t>
            </a:r>
            <a:r>
              <a:rPr dirty="0" sz="1950">
                <a:latin typeface="Trebuchet MS"/>
                <a:cs typeface="Trebuchet MS"/>
              </a:rPr>
              <a:t>commands</a:t>
            </a:r>
            <a:r>
              <a:rPr dirty="0" sz="1950" spc="5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without</a:t>
            </a:r>
            <a:r>
              <a:rPr dirty="0" sz="1950" spc="85">
                <a:latin typeface="Trebuchet MS"/>
                <a:cs typeface="Trebuchet MS"/>
              </a:rPr>
              <a:t> </a:t>
            </a:r>
            <a:r>
              <a:rPr dirty="0" sz="1950" spc="-10">
                <a:latin typeface="Trebuchet MS"/>
                <a:cs typeface="Trebuchet MS"/>
              </a:rPr>
              <a:t>question.</a:t>
            </a:r>
            <a:endParaRPr sz="1950">
              <a:latin typeface="Trebuchet MS"/>
              <a:cs typeface="Trebuchet MS"/>
            </a:endParaRPr>
          </a:p>
          <a:p>
            <a:pPr marL="295910" marR="819785" indent="-283845">
              <a:lnSpc>
                <a:spcPct val="101499"/>
              </a:lnSpc>
              <a:spcBef>
                <a:spcPts val="745"/>
              </a:spcBef>
              <a:buSzPct val="41025"/>
              <a:buFont typeface="Wingdings"/>
              <a:buChar char=""/>
              <a:tabLst>
                <a:tab pos="295910" algn="l"/>
              </a:tabLst>
            </a:pPr>
            <a:r>
              <a:rPr dirty="0" sz="1950">
                <a:latin typeface="Trebuchet MS"/>
                <a:cs typeface="Trebuchet MS"/>
              </a:rPr>
              <a:t>Their</a:t>
            </a:r>
            <a:r>
              <a:rPr dirty="0" sz="1950" spc="4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purpose</a:t>
            </a:r>
            <a:r>
              <a:rPr dirty="0" sz="1950" spc="7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is</a:t>
            </a:r>
            <a:r>
              <a:rPr dirty="0" sz="1950" spc="5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to</a:t>
            </a:r>
            <a:r>
              <a:rPr dirty="0" sz="1950" spc="4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serve</a:t>
            </a:r>
            <a:r>
              <a:rPr dirty="0" sz="1950" spc="-5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Allah</a:t>
            </a:r>
            <a:r>
              <a:rPr dirty="0" sz="1950" spc="4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by</a:t>
            </a:r>
            <a:r>
              <a:rPr dirty="0" sz="1950" spc="3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performing</a:t>
            </a:r>
            <a:r>
              <a:rPr dirty="0" sz="1950" spc="5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various</a:t>
            </a:r>
            <a:r>
              <a:rPr dirty="0" sz="1950" spc="5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tasks</a:t>
            </a:r>
            <a:r>
              <a:rPr dirty="0" sz="1950" spc="70">
                <a:latin typeface="Trebuchet MS"/>
                <a:cs typeface="Trebuchet MS"/>
              </a:rPr>
              <a:t> </a:t>
            </a:r>
            <a:r>
              <a:rPr dirty="0" sz="1950" spc="-20">
                <a:latin typeface="Trebuchet MS"/>
                <a:cs typeface="Trebuchet MS"/>
              </a:rPr>
              <a:t>like </a:t>
            </a:r>
            <a:r>
              <a:rPr dirty="0" sz="1950">
                <a:latin typeface="Trebuchet MS"/>
                <a:cs typeface="Trebuchet MS"/>
              </a:rPr>
              <a:t>delivering</a:t>
            </a:r>
            <a:r>
              <a:rPr dirty="0" sz="1950" spc="8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messages,</a:t>
            </a:r>
            <a:r>
              <a:rPr dirty="0" sz="1950" spc="7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protecting</a:t>
            </a:r>
            <a:r>
              <a:rPr dirty="0" sz="1950" spc="9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people,</a:t>
            </a:r>
            <a:r>
              <a:rPr dirty="0" sz="1950" spc="7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recording</a:t>
            </a:r>
            <a:r>
              <a:rPr dirty="0" sz="1950" spc="9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deeds,</a:t>
            </a:r>
            <a:r>
              <a:rPr dirty="0" sz="1950" spc="75">
                <a:latin typeface="Trebuchet MS"/>
                <a:cs typeface="Trebuchet MS"/>
              </a:rPr>
              <a:t> </a:t>
            </a:r>
            <a:r>
              <a:rPr dirty="0" sz="1950" spc="-25">
                <a:latin typeface="Trebuchet MS"/>
                <a:cs typeface="Trebuchet MS"/>
              </a:rPr>
              <a:t>and </a:t>
            </a:r>
            <a:r>
              <a:rPr dirty="0" sz="1950">
                <a:latin typeface="Trebuchet MS"/>
                <a:cs typeface="Trebuchet MS"/>
              </a:rPr>
              <a:t>worshiping</a:t>
            </a:r>
            <a:r>
              <a:rPr dirty="0" sz="1950" spc="-4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Allah</a:t>
            </a:r>
            <a:r>
              <a:rPr dirty="0" sz="1950" spc="85">
                <a:latin typeface="Trebuchet MS"/>
                <a:cs typeface="Trebuchet MS"/>
              </a:rPr>
              <a:t> </a:t>
            </a:r>
            <a:r>
              <a:rPr dirty="0" sz="1950" spc="-10">
                <a:latin typeface="Trebuchet MS"/>
                <a:cs typeface="Trebuchet MS"/>
              </a:rPr>
              <a:t>continuously.</a:t>
            </a:r>
            <a:endParaRPr sz="19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780"/>
              </a:spcBef>
              <a:buSzPct val="41025"/>
              <a:buFont typeface="Wingdings"/>
              <a:buChar char=""/>
              <a:tabLst>
                <a:tab pos="295910" algn="l"/>
              </a:tabLst>
            </a:pPr>
            <a:r>
              <a:rPr dirty="0" sz="1950">
                <a:latin typeface="Trebuchet MS"/>
                <a:cs typeface="Trebuchet MS"/>
              </a:rPr>
              <a:t>Angels</a:t>
            </a:r>
            <a:r>
              <a:rPr dirty="0" sz="1950" spc="5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are</a:t>
            </a:r>
            <a:r>
              <a:rPr dirty="0" sz="1950" spc="5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pure,</a:t>
            </a:r>
            <a:r>
              <a:rPr dirty="0" sz="1950" spc="7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obedient,</a:t>
            </a:r>
            <a:r>
              <a:rPr dirty="0" sz="1950" spc="5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and</a:t>
            </a:r>
            <a:r>
              <a:rPr dirty="0" sz="1950" spc="3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always</a:t>
            </a:r>
            <a:r>
              <a:rPr dirty="0" sz="1950" spc="5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do</a:t>
            </a:r>
            <a:r>
              <a:rPr dirty="0" sz="1950" spc="5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what</a:t>
            </a:r>
            <a:r>
              <a:rPr dirty="0" sz="1950" spc="-7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Allah</a:t>
            </a:r>
            <a:r>
              <a:rPr dirty="0" sz="1950" spc="5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asks</a:t>
            </a:r>
            <a:r>
              <a:rPr dirty="0" sz="1950" spc="5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them</a:t>
            </a:r>
            <a:r>
              <a:rPr dirty="0" sz="1950" spc="45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to</a:t>
            </a:r>
            <a:r>
              <a:rPr dirty="0" sz="1950" spc="50">
                <a:latin typeface="Trebuchet MS"/>
                <a:cs typeface="Trebuchet MS"/>
              </a:rPr>
              <a:t> </a:t>
            </a:r>
            <a:r>
              <a:rPr dirty="0" sz="1950" spc="-25">
                <a:latin typeface="Trebuchet MS"/>
                <a:cs typeface="Trebuchet MS"/>
              </a:rPr>
              <a:t>do.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948" rIns="0" bIns="0" rtlCol="0" vert="horz">
            <a:spAutoFit/>
          </a:bodyPr>
          <a:lstStyle/>
          <a:p>
            <a:pPr marL="1137285">
              <a:lnSpc>
                <a:spcPct val="100000"/>
              </a:lnSpc>
              <a:spcBef>
                <a:spcPts val="125"/>
              </a:spcBef>
            </a:pPr>
            <a:r>
              <a:rPr dirty="0"/>
              <a:t>Angels</a:t>
            </a:r>
            <a:r>
              <a:rPr dirty="0" spc="-5"/>
              <a:t> </a:t>
            </a:r>
            <a:r>
              <a:rPr dirty="0"/>
              <a:t>in (Quran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25"/>
              <a:t> </a:t>
            </a:r>
            <a:r>
              <a:rPr dirty="0" spc="-10"/>
              <a:t>Hadith)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1</a:t>
            </a:r>
            <a:r>
              <a:rPr dirty="0" spc="-25"/>
              <a:t>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2326291"/>
            <a:ext cx="6939280" cy="324485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r>
              <a:rPr dirty="0" sz="1450" spc="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Verse:</a:t>
            </a:r>
            <a:endParaRPr sz="1450">
              <a:latin typeface="Trebuchet MS"/>
              <a:cs typeface="Trebuchet MS"/>
            </a:endParaRPr>
          </a:p>
          <a:p>
            <a:pPr marL="295910" marR="81915" indent="-283845">
              <a:lnSpc>
                <a:spcPct val="102800"/>
              </a:lnSpc>
              <a:spcBef>
                <a:spcPts val="815"/>
              </a:spcBef>
              <a:buClr>
                <a:srgbClr val="90C126"/>
              </a:buClr>
              <a:buSzPct val="79310"/>
              <a:buFont typeface="Arial MT"/>
              <a:buChar char="•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“And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whoever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disbelieves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 Allah,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 Angels,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Books,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Messengers,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and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Last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certainly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gone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far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astray.”</a:t>
            </a:r>
            <a:endParaRPr sz="1450">
              <a:latin typeface="Trebuchet MS"/>
              <a:cs typeface="Trebuchet MS"/>
            </a:endParaRPr>
          </a:p>
          <a:p>
            <a:pPr marL="295910">
              <a:lnSpc>
                <a:spcPct val="100000"/>
              </a:lnSpc>
              <a:spcBef>
                <a:spcPts val="35"/>
              </a:spcBef>
            </a:pPr>
            <a:r>
              <a:rPr dirty="0" sz="1450" i="1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450" spc="75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i="1">
                <a:solidFill>
                  <a:srgbClr val="3F3F3F"/>
                </a:solidFill>
                <a:latin typeface="Trebuchet MS"/>
                <a:cs typeface="Trebuchet MS"/>
              </a:rPr>
              <a:t>4:136)</a:t>
            </a:r>
            <a:endParaRPr sz="1450">
              <a:latin typeface="Trebuchet MS"/>
              <a:cs typeface="Trebuchet MS"/>
            </a:endParaRPr>
          </a:p>
          <a:p>
            <a:pPr lvl="1" marL="624840" marR="326390" indent="-234950">
              <a:lnSpc>
                <a:spcPct val="101499"/>
              </a:lnSpc>
              <a:spcBef>
                <a:spcPts val="835"/>
              </a:spcBef>
              <a:buClr>
                <a:srgbClr val="90C126"/>
              </a:buClr>
              <a:buSzPct val="80769"/>
              <a:buFont typeface="Arial MT"/>
              <a:buChar char="•"/>
              <a:tabLst>
                <a:tab pos="624840" algn="l"/>
              </a:tabLst>
            </a:pPr>
            <a:r>
              <a:rPr dirty="0" sz="1300" b="1">
                <a:solidFill>
                  <a:srgbClr val="3F3F3F"/>
                </a:solidFill>
                <a:latin typeface="Trebuchet MS"/>
                <a:cs typeface="Trebuchet MS"/>
              </a:rPr>
              <a:t>Explanation:</a:t>
            </a:r>
            <a:r>
              <a:rPr dirty="0" sz="1300" spc="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shows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belief</a:t>
            </a:r>
            <a:r>
              <a:rPr dirty="0" sz="13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angels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core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part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Islamic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faith.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reminds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us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angels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play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essential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role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plan.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Hadith: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75"/>
              </a:spcBef>
              <a:buClr>
                <a:srgbClr val="90C126"/>
              </a:buClr>
              <a:buSzPct val="79310"/>
              <a:buFont typeface="Arial MT"/>
              <a:buChar char="•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Muhammad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(PBUH)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said,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“Angels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450" spc="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created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light.”</a:t>
            </a:r>
            <a:endParaRPr sz="1450">
              <a:latin typeface="Trebuchet MS"/>
              <a:cs typeface="Trebuchet MS"/>
            </a:endParaRPr>
          </a:p>
          <a:p>
            <a:pPr marL="295910">
              <a:lnSpc>
                <a:spcPct val="100000"/>
              </a:lnSpc>
              <a:spcBef>
                <a:spcPts val="35"/>
              </a:spcBef>
            </a:pPr>
            <a:r>
              <a:rPr dirty="0" sz="1450" i="1">
                <a:solidFill>
                  <a:srgbClr val="3F3F3F"/>
                </a:solidFill>
                <a:latin typeface="Trebuchet MS"/>
                <a:cs typeface="Trebuchet MS"/>
              </a:rPr>
              <a:t>(Sahih</a:t>
            </a:r>
            <a:r>
              <a:rPr dirty="0" sz="1450" spc="4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i="1">
                <a:solidFill>
                  <a:srgbClr val="3F3F3F"/>
                </a:solidFill>
                <a:latin typeface="Trebuchet MS"/>
                <a:cs typeface="Trebuchet MS"/>
              </a:rPr>
              <a:t>Muslim)</a:t>
            </a:r>
            <a:endParaRPr sz="1450">
              <a:latin typeface="Trebuchet MS"/>
              <a:cs typeface="Trebuchet MS"/>
            </a:endParaRPr>
          </a:p>
          <a:p>
            <a:pPr lvl="1" marL="624840" marR="5080" indent="-234950">
              <a:lnSpc>
                <a:spcPct val="101499"/>
              </a:lnSpc>
              <a:spcBef>
                <a:spcPts val="835"/>
              </a:spcBef>
              <a:buClr>
                <a:srgbClr val="90C126"/>
              </a:buClr>
              <a:buSzPct val="80769"/>
              <a:buFont typeface="Arial MT"/>
              <a:buChar char="•"/>
              <a:tabLst>
                <a:tab pos="624840" algn="l"/>
              </a:tabLst>
            </a:pPr>
            <a:r>
              <a:rPr dirty="0" sz="1300" b="1">
                <a:solidFill>
                  <a:srgbClr val="3F3F3F"/>
                </a:solidFill>
                <a:latin typeface="Trebuchet MS"/>
                <a:cs typeface="Trebuchet MS"/>
              </a:rPr>
              <a:t>Explanation:</a:t>
            </a:r>
            <a:r>
              <a:rPr dirty="0" sz="1300" spc="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hadith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highlights</a:t>
            </a:r>
            <a:r>
              <a:rPr dirty="0" sz="13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unique,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pure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nature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angels.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teaches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3F3F3F"/>
                </a:solidFill>
                <a:latin typeface="Trebuchet MS"/>
                <a:cs typeface="Trebuchet MS"/>
              </a:rPr>
              <a:t>us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angels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special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beings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whose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sole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purpose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obey</a:t>
            </a:r>
            <a:r>
              <a:rPr dirty="0" sz="13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Allah,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deliver</a:t>
            </a:r>
            <a:r>
              <a:rPr dirty="0" sz="13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3F3F3F"/>
                </a:solidFill>
                <a:latin typeface="Trebuchet MS"/>
                <a:cs typeface="Trebuchet MS"/>
              </a:rPr>
              <a:t>His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messages,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record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deeds.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26" y="1576771"/>
            <a:ext cx="6483350" cy="830580"/>
          </a:xfrm>
          <a:prstGeom prst="rect"/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195"/>
              </a:spcBef>
            </a:pPr>
            <a:r>
              <a:rPr dirty="0" u="none" sz="2650"/>
              <a:t>Categories</a:t>
            </a:r>
            <a:r>
              <a:rPr dirty="0" u="none" sz="2650" spc="-75"/>
              <a:t> </a:t>
            </a:r>
            <a:r>
              <a:rPr dirty="0" u="none" sz="2650"/>
              <a:t>of</a:t>
            </a:r>
            <a:r>
              <a:rPr dirty="0" u="none" sz="2650" spc="-70"/>
              <a:t> </a:t>
            </a:r>
            <a:r>
              <a:rPr dirty="0" u="none" sz="2650"/>
              <a:t>angels</a:t>
            </a:r>
            <a:r>
              <a:rPr dirty="0" u="none" sz="2650" spc="-70"/>
              <a:t> </a:t>
            </a:r>
            <a:r>
              <a:rPr dirty="0" u="none" sz="2650"/>
              <a:t>in</a:t>
            </a:r>
            <a:r>
              <a:rPr dirty="0" u="none" sz="2650" spc="-70"/>
              <a:t> </a:t>
            </a:r>
            <a:r>
              <a:rPr dirty="0" u="none" sz="2650"/>
              <a:t>Islam</a:t>
            </a:r>
            <a:r>
              <a:rPr dirty="0" u="none" sz="2650" spc="-65"/>
              <a:t> </a:t>
            </a:r>
            <a:r>
              <a:rPr dirty="0" u="none" sz="2650"/>
              <a:t>–</a:t>
            </a:r>
            <a:r>
              <a:rPr dirty="0" u="none" sz="2650" spc="-185"/>
              <a:t> </a:t>
            </a:r>
            <a:r>
              <a:rPr dirty="0" u="none" sz="2650" spc="-10"/>
              <a:t>Archangels (Malaika</a:t>
            </a:r>
            <a:r>
              <a:rPr dirty="0" u="none" sz="2650" spc="-110"/>
              <a:t> </a:t>
            </a:r>
            <a:r>
              <a:rPr dirty="0" u="none" sz="2650" spc="-20"/>
              <a:t>il-</a:t>
            </a:r>
            <a:r>
              <a:rPr dirty="0" u="none" sz="2650" spc="-10"/>
              <a:t>Ikram)</a:t>
            </a:r>
            <a:endParaRPr sz="265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1</a:t>
            </a:r>
            <a:r>
              <a:rPr dirty="0" spc="-25"/>
              <a:t>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98" y="2772814"/>
            <a:ext cx="5439410" cy="291211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295910" algn="l"/>
              </a:tabLst>
            </a:pPr>
            <a:r>
              <a:rPr dirty="0" sz="8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8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Jibril</a:t>
            </a:r>
            <a:r>
              <a:rPr dirty="0" u="sng" sz="1450" spc="3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(Gabriel):</a:t>
            </a:r>
            <a:endParaRPr sz="14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780"/>
              </a:spcBef>
              <a:buClr>
                <a:srgbClr val="90C126"/>
              </a:buClr>
              <a:buSzPct val="55172"/>
              <a:buFont typeface="Courier New"/>
              <a:buChar char="o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Delivers</a:t>
            </a:r>
            <a:r>
              <a:rPr dirty="0" sz="1450" spc="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Allah’s</a:t>
            </a:r>
            <a:r>
              <a:rPr dirty="0" sz="1450" spc="2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messages</a:t>
            </a:r>
            <a:r>
              <a:rPr dirty="0" sz="1450" spc="-1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dirty="0" sz="1450" spc="1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dirty="0" sz="1450" spc="1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Calibri"/>
                <a:cs typeface="Calibri"/>
              </a:rPr>
              <a:t>prophets.</a:t>
            </a:r>
            <a:endParaRPr sz="14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795"/>
              </a:spcBef>
              <a:buClr>
                <a:srgbClr val="90C126"/>
              </a:buClr>
              <a:buSzPct val="55172"/>
              <a:buFont typeface="Courier New"/>
              <a:buChar char="o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Brought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Muhammad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(PBUH).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95910" algn="l"/>
              </a:tabLst>
            </a:pPr>
            <a:r>
              <a:rPr dirty="0" sz="8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8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Mikail</a:t>
            </a:r>
            <a:r>
              <a:rPr dirty="0" u="sng" sz="1450" spc="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(Michael):</a:t>
            </a:r>
            <a:endParaRPr sz="14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790"/>
              </a:spcBef>
              <a:buClr>
                <a:srgbClr val="90C126"/>
              </a:buClr>
              <a:buSzPct val="55172"/>
              <a:buFont typeface="Courier New"/>
              <a:buChar char="o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Provides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sustenance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controls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natural</a:t>
            </a:r>
            <a:r>
              <a:rPr dirty="0" sz="1450" spc="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forces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(rain,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wind)</a:t>
            </a:r>
            <a:r>
              <a:rPr dirty="0" sz="1450" spc="-10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95910" algn="l"/>
              </a:tabLst>
            </a:pPr>
            <a:r>
              <a:rPr dirty="0" sz="8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8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Izrail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(Azrael):</a:t>
            </a:r>
            <a:endParaRPr sz="14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830"/>
              </a:spcBef>
              <a:buClr>
                <a:srgbClr val="90C126"/>
              </a:buClr>
              <a:buSzPct val="55172"/>
              <a:buFont typeface="Courier New"/>
              <a:buChar char="o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Angel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death;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takes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souls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time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death,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295910" algn="l"/>
              </a:tabLst>
            </a:pPr>
            <a:r>
              <a:rPr dirty="0" sz="8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8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heavy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Israfil(</a:t>
            </a:r>
            <a:r>
              <a:rPr dirty="0" u="heavy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Raphael)</a:t>
            </a:r>
            <a:r>
              <a:rPr dirty="0" u="heavy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:</a:t>
            </a:r>
            <a:endParaRPr sz="14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795"/>
              </a:spcBef>
              <a:buClr>
                <a:srgbClr val="90C126"/>
              </a:buClr>
              <a:buSzPct val="55172"/>
              <a:buFont typeface="Courier New"/>
              <a:buChar char="o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Will</a:t>
            </a:r>
            <a:r>
              <a:rPr dirty="0" sz="1450" spc="3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blow</a:t>
            </a:r>
            <a:r>
              <a:rPr dirty="0" sz="1450" spc="3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dirty="0" sz="1450" spc="1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trumpet</a:t>
            </a:r>
            <a:r>
              <a:rPr dirty="0" sz="1450" spc="2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dirty="0" sz="145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dirty="0" sz="1450" spc="1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Day</a:t>
            </a:r>
            <a:r>
              <a:rPr dirty="0" sz="145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dirty="0" sz="145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Calibri"/>
                <a:cs typeface="Calibri"/>
              </a:rPr>
              <a:t>Judgment.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214170"/>
            <a:ext cx="631507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Categories</a:t>
            </a:r>
            <a:r>
              <a:rPr dirty="0" spc="5"/>
              <a:t> </a:t>
            </a:r>
            <a:r>
              <a:rPr dirty="0"/>
              <a:t>of</a:t>
            </a:r>
            <a:r>
              <a:rPr dirty="0" spc="-140"/>
              <a:t> </a:t>
            </a:r>
            <a:r>
              <a:rPr dirty="0"/>
              <a:t>Angels</a:t>
            </a:r>
            <a:r>
              <a:rPr dirty="0" spc="5"/>
              <a:t> </a:t>
            </a:r>
            <a:r>
              <a:rPr dirty="0"/>
              <a:t>-</a:t>
            </a:r>
            <a:r>
              <a:rPr dirty="0" spc="15"/>
              <a:t> </a:t>
            </a:r>
            <a:r>
              <a:rPr dirty="0"/>
              <a:t>Other</a:t>
            </a:r>
            <a:r>
              <a:rPr dirty="0" spc="-15"/>
              <a:t> </a:t>
            </a:r>
            <a:r>
              <a:rPr dirty="0" spc="-10"/>
              <a:t>Groups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1</a:t>
            </a:r>
            <a:r>
              <a:rPr dirty="0" spc="-25"/>
              <a:t>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9812" y="2208977"/>
            <a:ext cx="6531609" cy="336613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  <a:tabLst>
                <a:tab pos="295910" algn="l"/>
              </a:tabLst>
            </a:pPr>
            <a:r>
              <a:rPr dirty="0" sz="8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8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Recording</a:t>
            </a:r>
            <a:r>
              <a:rPr dirty="0" u="sng" sz="1450" spc="2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Angels</a:t>
            </a:r>
            <a:r>
              <a:rPr dirty="0" sz="1450" spc="-10" b="1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Write down</a:t>
            </a:r>
            <a:r>
              <a:rPr dirty="0" sz="1450" spc="2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each</a:t>
            </a:r>
            <a:r>
              <a:rPr dirty="0" sz="1450" spc="2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person’s</a:t>
            </a:r>
            <a:r>
              <a:rPr dirty="0" sz="1450" spc="3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good</a:t>
            </a:r>
            <a:r>
              <a:rPr dirty="0" sz="145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dirty="0" sz="1450" spc="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bad</a:t>
            </a:r>
            <a:r>
              <a:rPr dirty="0" sz="1450" spc="1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deeds.</a:t>
            </a:r>
            <a:r>
              <a:rPr dirty="0" sz="1450" spc="3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82:10-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12)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95910" algn="l"/>
              </a:tabLst>
            </a:pPr>
            <a:r>
              <a:rPr dirty="0" sz="8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8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Guardian</a:t>
            </a:r>
            <a:r>
              <a:rPr dirty="0" u="sng" sz="1450" spc="8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Angels: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Protect</a:t>
            </a:r>
            <a:r>
              <a:rPr dirty="0" sz="1450" spc="-1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dirty="0" sz="1450" spc="4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watch</a:t>
            </a:r>
            <a:r>
              <a:rPr dirty="0" sz="1450" spc="3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over</a:t>
            </a:r>
            <a:r>
              <a:rPr dirty="0" sz="1450" spc="2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individuals.</a:t>
            </a:r>
            <a:r>
              <a:rPr dirty="0" sz="1450" spc="9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They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help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maintain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safety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order.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295910" algn="l"/>
              </a:tabLst>
            </a:pPr>
            <a:r>
              <a:rPr dirty="0" sz="8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8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Munkar</a:t>
            </a:r>
            <a:r>
              <a:rPr dirty="0" u="sng" sz="1450" spc="6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1450" spc="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Nakeer: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Question</a:t>
            </a:r>
            <a:r>
              <a:rPr dirty="0" sz="1450" spc="2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dirty="0" sz="1450" spc="2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dead</a:t>
            </a:r>
            <a:r>
              <a:rPr dirty="0" sz="1450" spc="3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dirty="0" sz="145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dirty="0" sz="1450" spc="2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grave</a:t>
            </a:r>
            <a:r>
              <a:rPr dirty="0" sz="1450" spc="3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about</a:t>
            </a:r>
            <a:r>
              <a:rPr dirty="0" sz="1450" spc="5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their </a:t>
            </a:r>
            <a:r>
              <a:rPr dirty="0" sz="1450" spc="-10">
                <a:solidFill>
                  <a:srgbClr val="3F3F3F"/>
                </a:solidFill>
                <a:latin typeface="Calibri"/>
                <a:cs typeface="Calibri"/>
              </a:rPr>
              <a:t>faith.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95910" algn="l"/>
              </a:tabLst>
            </a:pPr>
            <a:r>
              <a:rPr dirty="0" sz="8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8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Punishment</a:t>
            </a:r>
            <a:r>
              <a:rPr dirty="0" u="sng" sz="1450" spc="1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Calibri"/>
                <a:cs typeface="Calibri"/>
              </a:rPr>
              <a:t>Angels</a:t>
            </a:r>
            <a:r>
              <a:rPr dirty="0" sz="1450" spc="-10" b="1">
                <a:solidFill>
                  <a:srgbClr val="3F3F3F"/>
                </a:solidFill>
                <a:latin typeface="Calibri"/>
                <a:cs typeface="Calibri"/>
              </a:rPr>
              <a:t>: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Execute</a:t>
            </a:r>
            <a:r>
              <a:rPr dirty="0" sz="1450" spc="-2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Allah’s</a:t>
            </a:r>
            <a:r>
              <a:rPr dirty="0" sz="145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punishment</a:t>
            </a:r>
            <a:r>
              <a:rPr dirty="0" sz="145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when</a:t>
            </a:r>
            <a:r>
              <a:rPr dirty="0" sz="1450" spc="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needed.</a:t>
            </a:r>
            <a:r>
              <a:rPr dirty="0" sz="1450" spc="6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96:18)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  <a:tabLst>
                <a:tab pos="295910" algn="l"/>
              </a:tabLst>
            </a:pPr>
            <a:r>
              <a:rPr dirty="0" sz="8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8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Angels</a:t>
            </a:r>
            <a:r>
              <a:rPr dirty="0" u="sng" sz="1450" spc="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450" spc="6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Mercy/Resurrection/Paradise: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50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Bring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blessings,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assist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Judgment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Day,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welcome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believers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Paradise.</a:t>
            </a:r>
            <a:endParaRPr sz="1450">
              <a:latin typeface="Trebuchet MS"/>
              <a:cs typeface="Trebuchet MS"/>
            </a:endParaRPr>
          </a:p>
          <a:p>
            <a:pPr marL="450850" indent="-154940">
              <a:lnSpc>
                <a:spcPct val="100000"/>
              </a:lnSpc>
              <a:buFont typeface="Trebuchet MS"/>
              <a:buChar char="•"/>
              <a:tabLst>
                <a:tab pos="450850" algn="l"/>
              </a:tabLst>
            </a:pPr>
            <a:r>
              <a:rPr dirty="0" sz="1450" i="1">
                <a:solidFill>
                  <a:srgbClr val="3F3F3F"/>
                </a:solidFill>
                <a:latin typeface="Trebuchet MS"/>
                <a:cs typeface="Trebuchet MS"/>
              </a:rPr>
              <a:t>Example:</a:t>
            </a:r>
            <a:r>
              <a:rPr dirty="0" sz="1450" spc="65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Hadrat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Ridwan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(guard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Paradise).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948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25"/>
              </a:spcBef>
            </a:pPr>
            <a:r>
              <a:rPr dirty="0"/>
              <a:t>Characteristics</a:t>
            </a:r>
            <a:r>
              <a:rPr dirty="0" spc="-95"/>
              <a:t> </a:t>
            </a:r>
            <a:r>
              <a:rPr dirty="0"/>
              <a:t>of</a:t>
            </a:r>
            <a:r>
              <a:rPr dirty="0" spc="-220"/>
              <a:t> </a:t>
            </a:r>
            <a:r>
              <a:rPr dirty="0" spc="-10"/>
              <a:t>Angels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7463935" y="6127091"/>
            <a:ext cx="125095" cy="13525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50" spc="-25">
                <a:solidFill>
                  <a:srgbClr val="90C126"/>
                </a:solidFill>
                <a:latin typeface="Trebuchet MS"/>
                <a:cs typeface="Trebuchet MS"/>
              </a:rPr>
              <a:t>20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2305318"/>
            <a:ext cx="2920365" cy="270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Created</a:t>
            </a:r>
            <a:r>
              <a:rPr dirty="0" sz="1450" spc="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Light: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50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81:1)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Invisible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Humans: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35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6:50)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Always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Obey</a:t>
            </a:r>
            <a:r>
              <a:rPr dirty="0" sz="1450" spc="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Allah: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35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66:6)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No</a:t>
            </a:r>
            <a:r>
              <a:rPr dirty="0" sz="1450" spc="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Free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3F3F3F"/>
                </a:solidFill>
                <a:latin typeface="Trebuchet MS"/>
                <a:cs typeface="Trebuchet MS"/>
              </a:rPr>
              <a:t>Will: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50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16:50)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No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Gender</a:t>
            </a:r>
            <a:r>
              <a:rPr dirty="0" sz="1450" spc="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Human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Desires: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45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53:27)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9128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25"/>
              </a:spcBef>
            </a:pPr>
            <a:r>
              <a:rPr dirty="0"/>
              <a:t>Roles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145"/>
              <a:t> </a:t>
            </a:r>
            <a:r>
              <a:rPr dirty="0" spc="-10"/>
              <a:t>Angels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</a:t>
            </a:r>
            <a:r>
              <a:rPr dirty="0" spc="-25"/>
              <a:t>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2305318"/>
            <a:ext cx="5131435" cy="270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Convey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Revelations: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50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Example: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Jibril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delivers</a:t>
            </a:r>
            <a:r>
              <a:rPr dirty="0" sz="145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messages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prophets.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Protect</a:t>
            </a:r>
            <a:r>
              <a:rPr dirty="0" sz="1450" spc="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Believers: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35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Guard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assist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during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difficult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times.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Record</a:t>
            </a:r>
            <a:r>
              <a:rPr dirty="0" sz="1450" spc="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Deeds: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35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Remind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every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action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noted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82:10-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12).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Execute</a:t>
            </a:r>
            <a:r>
              <a:rPr dirty="0" sz="1450" spc="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Punishment: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50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Carry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out</a:t>
            </a:r>
            <a:r>
              <a:rPr dirty="0" sz="14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commands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when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needed.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Assist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Judgment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3F3F3F"/>
                </a:solidFill>
                <a:latin typeface="Trebuchet MS"/>
                <a:cs typeface="Trebuchet MS"/>
              </a:rPr>
              <a:t>Day: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45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Help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final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reckoning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(Quran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25:25).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575329"/>
            <a:ext cx="5967095" cy="932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/>
              <a:t>Number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160"/>
              <a:t> </a:t>
            </a:r>
            <a:r>
              <a:rPr dirty="0"/>
              <a:t>Angels</a:t>
            </a:r>
            <a:r>
              <a:rPr dirty="0" spc="25"/>
              <a:t> </a:t>
            </a:r>
            <a:r>
              <a:rPr dirty="0"/>
              <a:t>and</a:t>
            </a:r>
            <a:r>
              <a:rPr dirty="0" spc="25"/>
              <a:t> </a:t>
            </a:r>
            <a:r>
              <a:rPr dirty="0" spc="-10"/>
              <a:t>Continuous</a:t>
            </a:r>
            <a:r>
              <a:rPr dirty="0" u="none" spc="-10"/>
              <a:t> </a:t>
            </a:r>
            <a:r>
              <a:rPr dirty="0" spc="-10"/>
              <a:t>Creation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</a:t>
            </a:r>
            <a:r>
              <a:rPr dirty="0" spc="-25"/>
              <a:t>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2860055"/>
            <a:ext cx="7110095" cy="18205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Daily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Creation: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50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Hadith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(Sunan-e-Tirmidhi)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mentions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70,000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80,000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angels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450" spc="1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created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daily.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Vast</a:t>
            </a:r>
            <a:r>
              <a:rPr dirty="0" sz="1450" spc="-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Numbers:</a:t>
            </a:r>
            <a:endParaRPr sz="1450">
              <a:latin typeface="Trebuchet MS"/>
              <a:cs typeface="Trebuchet MS"/>
            </a:endParaRPr>
          </a:p>
          <a:p>
            <a:pPr marL="295910" marR="271145" indent="154305">
              <a:lnSpc>
                <a:spcPts val="1789"/>
              </a:lnSpc>
              <a:spcBef>
                <a:spcPts val="50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600</a:t>
            </a:r>
            <a:r>
              <a:rPr dirty="0" sz="1450" spc="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wings</a:t>
            </a:r>
            <a:r>
              <a:rPr dirty="0" sz="1450" spc="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around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Throne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(Bukhari);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millions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guarding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Hellfire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(Sahih Muslim).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Continuous</a:t>
            </a:r>
            <a:r>
              <a:rPr dirty="0" sz="1450" spc="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Creation:</a:t>
            </a:r>
            <a:endParaRPr sz="1450">
              <a:latin typeface="Trebuchet MS"/>
              <a:cs typeface="Trebuchet MS"/>
            </a:endParaRPr>
          </a:p>
          <a:p>
            <a:pPr marL="440690" indent="-144780">
              <a:lnSpc>
                <a:spcPct val="100000"/>
              </a:lnSpc>
              <a:spcBef>
                <a:spcPts val="50"/>
              </a:spcBef>
              <a:buChar char="•"/>
              <a:tabLst>
                <a:tab pos="44069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creative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power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endless,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showing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boundless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majesty.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948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25"/>
              </a:spcBef>
            </a:pPr>
            <a:r>
              <a:rPr dirty="0"/>
              <a:t>Bayt</a:t>
            </a:r>
            <a:r>
              <a:rPr dirty="0" spc="-5"/>
              <a:t> </a:t>
            </a:r>
            <a:r>
              <a:rPr dirty="0"/>
              <a:t>al-Ma'mur and</a:t>
            </a:r>
            <a:r>
              <a:rPr dirty="0" spc="-165"/>
              <a:t> </a:t>
            </a:r>
            <a:r>
              <a:rPr dirty="0"/>
              <a:t>Angelic</a:t>
            </a:r>
            <a:r>
              <a:rPr dirty="0" spc="-50"/>
              <a:t> </a:t>
            </a:r>
            <a:r>
              <a:rPr dirty="0" spc="-10"/>
              <a:t>Tawaf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</a:t>
            </a:r>
            <a:r>
              <a:rPr dirty="0" spc="-25"/>
              <a:t>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2860055"/>
            <a:ext cx="6593840" cy="23768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Bayt</a:t>
            </a:r>
            <a:r>
              <a:rPr dirty="0" sz="1450" spc="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al-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Ma'mur:</a:t>
            </a:r>
            <a:endParaRPr sz="1450">
              <a:latin typeface="Trebuchet MS"/>
              <a:cs typeface="Trebuchet MS"/>
            </a:endParaRPr>
          </a:p>
          <a:p>
            <a:pPr marL="295910" marR="5080" indent="154305">
              <a:lnSpc>
                <a:spcPct val="102099"/>
              </a:lnSpc>
              <a:spcBef>
                <a:spcPts val="15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Known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"Heavenly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Kaaba,"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located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above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Kaaba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seventh heaven.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Angelic</a:t>
            </a:r>
            <a:r>
              <a:rPr dirty="0" sz="1450" spc="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Tawaf:</a:t>
            </a:r>
            <a:endParaRPr sz="1450">
              <a:latin typeface="Trebuchet MS"/>
              <a:cs typeface="Trebuchet MS"/>
            </a:endParaRPr>
          </a:p>
          <a:p>
            <a:pPr marL="295910" marR="12065" indent="144780">
              <a:lnSpc>
                <a:spcPct val="102099"/>
              </a:lnSpc>
              <a:spcBef>
                <a:spcPts val="15"/>
              </a:spcBef>
              <a:buChar char="•"/>
              <a:tabLst>
                <a:tab pos="44069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Hadith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Sahih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Bukhari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states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70,000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angels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enter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Bayt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Ma'mur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daily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perform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tawaf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(circumambulation).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Impact:</a:t>
            </a:r>
            <a:endParaRPr sz="1450">
              <a:latin typeface="Trebuchet MS"/>
              <a:cs typeface="Trebuchet MS"/>
            </a:endParaRPr>
          </a:p>
          <a:p>
            <a:pPr marL="450215" indent="-154305">
              <a:lnSpc>
                <a:spcPct val="100000"/>
              </a:lnSpc>
              <a:spcBef>
                <a:spcPts val="35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Demonstrates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continuous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organized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worship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heavens.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endless,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divine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ritual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worship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never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stops.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1877" y="1287159"/>
            <a:ext cx="5050155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/>
              <a:t>Believe</a:t>
            </a:r>
            <a:r>
              <a:rPr dirty="0" sz="3600" spc="65"/>
              <a:t> </a:t>
            </a:r>
            <a:r>
              <a:rPr dirty="0" sz="3600"/>
              <a:t>in</a:t>
            </a:r>
            <a:r>
              <a:rPr dirty="0" sz="3600" spc="45"/>
              <a:t> </a:t>
            </a:r>
            <a:r>
              <a:rPr dirty="0" sz="3600"/>
              <a:t>Divine</a:t>
            </a:r>
            <a:r>
              <a:rPr dirty="0" sz="3600" spc="25"/>
              <a:t> </a:t>
            </a:r>
            <a:r>
              <a:rPr dirty="0" sz="3600" spc="-10"/>
              <a:t>Books</a:t>
            </a:r>
            <a:endParaRPr sz="36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</a:t>
            </a:r>
            <a:r>
              <a:rPr dirty="0" spc="-25"/>
              <a:t>4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8430" rIns="0" bIns="0" rtlCol="0" vert="horz">
            <a:spAutoFit/>
          </a:bodyPr>
          <a:lstStyle/>
          <a:p>
            <a:pPr marL="431165">
              <a:lnSpc>
                <a:spcPct val="100000"/>
              </a:lnSpc>
              <a:spcBef>
                <a:spcPts val="1090"/>
              </a:spcBef>
            </a:pPr>
            <a:r>
              <a:rPr dirty="0" sz="1850" spc="-35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-50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pc="-10"/>
              <a:t>Topics:</a:t>
            </a:r>
            <a:endParaRPr sz="1850">
              <a:latin typeface="Georgia"/>
              <a:cs typeface="Georgia"/>
            </a:endParaRPr>
          </a:p>
          <a:p>
            <a:pPr marL="808990">
              <a:lnSpc>
                <a:spcPct val="100000"/>
              </a:lnSpc>
              <a:spcBef>
                <a:spcPts val="865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75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What</a:t>
            </a:r>
            <a:r>
              <a:rPr dirty="0" sz="1950" spc="-1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is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Divine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spc="-10" b="0">
                <a:latin typeface="Trebuchet MS"/>
                <a:cs typeface="Trebuchet MS"/>
              </a:rPr>
              <a:t>Revelation</a:t>
            </a:r>
            <a:endParaRPr sz="1950">
              <a:latin typeface="Trebuchet MS"/>
              <a:cs typeface="Trebuchet MS"/>
            </a:endParaRPr>
          </a:p>
          <a:p>
            <a:pPr marL="808990">
              <a:lnSpc>
                <a:spcPct val="100000"/>
              </a:lnSpc>
              <a:spcBef>
                <a:spcPts val="865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75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Requirements</a:t>
            </a:r>
            <a:r>
              <a:rPr dirty="0" sz="1950" spc="3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for</a:t>
            </a:r>
            <a:r>
              <a:rPr dirty="0" sz="1950" spc="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Believing</a:t>
            </a:r>
            <a:r>
              <a:rPr dirty="0" sz="1950" spc="2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in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Divine</a:t>
            </a:r>
            <a:r>
              <a:rPr dirty="0" sz="1950" spc="35" b="0">
                <a:latin typeface="Trebuchet MS"/>
                <a:cs typeface="Trebuchet MS"/>
              </a:rPr>
              <a:t> </a:t>
            </a:r>
            <a:r>
              <a:rPr dirty="0" sz="1950" spc="-10" b="0">
                <a:latin typeface="Trebuchet MS"/>
                <a:cs typeface="Trebuchet MS"/>
              </a:rPr>
              <a:t>Books</a:t>
            </a:r>
            <a:endParaRPr sz="1950">
              <a:latin typeface="Trebuchet MS"/>
              <a:cs typeface="Trebuchet MS"/>
            </a:endParaRPr>
          </a:p>
          <a:p>
            <a:pPr marL="808990">
              <a:lnSpc>
                <a:spcPct val="100000"/>
              </a:lnSpc>
              <a:spcBef>
                <a:spcPts val="850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90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Impact of</a:t>
            </a:r>
            <a:r>
              <a:rPr dirty="0" sz="1950" spc="2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Belief</a:t>
            </a:r>
            <a:r>
              <a:rPr dirty="0" sz="1950" spc="4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in</a:t>
            </a:r>
            <a:r>
              <a:rPr dirty="0" sz="1950" spc="2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Holy</a:t>
            </a:r>
            <a:r>
              <a:rPr dirty="0" sz="1950" spc="3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Books</a:t>
            </a:r>
            <a:r>
              <a:rPr dirty="0" sz="1950" spc="3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(Quran</a:t>
            </a:r>
            <a:r>
              <a:rPr dirty="0" sz="1950" spc="2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&amp;</a:t>
            </a:r>
            <a:r>
              <a:rPr dirty="0" sz="1950" spc="25" b="0">
                <a:latin typeface="Trebuchet MS"/>
                <a:cs typeface="Trebuchet MS"/>
              </a:rPr>
              <a:t> </a:t>
            </a:r>
            <a:r>
              <a:rPr dirty="0" sz="1950" spc="-10" b="0">
                <a:latin typeface="Trebuchet MS"/>
                <a:cs typeface="Trebuchet MS"/>
              </a:rPr>
              <a:t>Hadith)</a:t>
            </a:r>
            <a:endParaRPr sz="1950">
              <a:latin typeface="Trebuchet MS"/>
              <a:cs typeface="Trebuchet MS"/>
            </a:endParaRPr>
          </a:p>
          <a:p>
            <a:pPr marL="808990">
              <a:lnSpc>
                <a:spcPct val="100000"/>
              </a:lnSpc>
              <a:spcBef>
                <a:spcPts val="865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75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The</a:t>
            </a:r>
            <a:r>
              <a:rPr dirty="0" sz="1950" spc="1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Four</a:t>
            </a:r>
            <a:r>
              <a:rPr dirty="0" sz="1950" spc="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Major</a:t>
            </a:r>
            <a:r>
              <a:rPr dirty="0" sz="1950" spc="-1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Holy</a:t>
            </a:r>
            <a:r>
              <a:rPr dirty="0" sz="1950" spc="15" b="0">
                <a:latin typeface="Trebuchet MS"/>
                <a:cs typeface="Trebuchet MS"/>
              </a:rPr>
              <a:t> </a:t>
            </a:r>
            <a:r>
              <a:rPr dirty="0" sz="1950" spc="-20" b="0">
                <a:latin typeface="Trebuchet MS"/>
                <a:cs typeface="Trebuchet MS"/>
              </a:rPr>
              <a:t>Books</a:t>
            </a:r>
            <a:endParaRPr sz="1950">
              <a:latin typeface="Trebuchet MS"/>
              <a:cs typeface="Trebuchet MS"/>
            </a:endParaRPr>
          </a:p>
          <a:p>
            <a:pPr marL="808990">
              <a:lnSpc>
                <a:spcPct val="100000"/>
              </a:lnSpc>
              <a:spcBef>
                <a:spcPts val="1620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75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Additional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Scriptures</a:t>
            </a:r>
            <a:r>
              <a:rPr dirty="0" sz="1950" spc="3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–</a:t>
            </a:r>
            <a:r>
              <a:rPr dirty="0" sz="1950" spc="5" b="0">
                <a:latin typeface="Trebuchet MS"/>
                <a:cs typeface="Trebuchet MS"/>
              </a:rPr>
              <a:t> </a:t>
            </a:r>
            <a:r>
              <a:rPr dirty="0" sz="1950" spc="-10" b="0">
                <a:latin typeface="Trebuchet MS"/>
                <a:cs typeface="Trebuchet MS"/>
              </a:rPr>
              <a:t>Suhuf/Scrolls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948" rIns="0" bIns="0" rtlCol="0" vert="horz">
            <a:spAutoFit/>
          </a:bodyPr>
          <a:lstStyle/>
          <a:p>
            <a:pPr marL="1229995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dirty="0" spc="15"/>
              <a:t> </a:t>
            </a:r>
            <a:r>
              <a:rPr dirty="0"/>
              <a:t>is</a:t>
            </a:r>
            <a:r>
              <a:rPr dirty="0" spc="50"/>
              <a:t> </a:t>
            </a:r>
            <a:r>
              <a:rPr dirty="0"/>
              <a:t>Divine</a:t>
            </a:r>
            <a:r>
              <a:rPr dirty="0" spc="35"/>
              <a:t> </a:t>
            </a:r>
            <a:r>
              <a:rPr dirty="0" spc="-10"/>
              <a:t>Revelation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</a:t>
            </a:r>
            <a:r>
              <a:rPr dirty="0" spc="-25"/>
              <a:t>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88" y="2442424"/>
            <a:ext cx="7357745" cy="20631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Font typeface="Wingdings"/>
              <a:buChar char="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Divine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guidance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given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by</a:t>
            </a:r>
            <a:r>
              <a:rPr dirty="0" sz="1450" spc="-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Allah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through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revelations.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Wingdings"/>
              <a:buChar char=""/>
            </a:pPr>
            <a:endParaRPr sz="14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buFont typeface="Wingdings"/>
              <a:buChar char="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These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messages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come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form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holy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books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smaller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scriptures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called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Suhuf.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Wingdings"/>
              <a:buChar char=""/>
            </a:pPr>
            <a:endParaRPr sz="14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buFont typeface="Wingdings"/>
              <a:buChar char="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They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serve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foundation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morals,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social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behavior,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ethics.</a:t>
            </a:r>
            <a:endParaRPr sz="1450">
              <a:latin typeface="Arial MT"/>
              <a:cs typeface="Arial MT"/>
            </a:endParaRPr>
          </a:p>
          <a:p>
            <a:pPr marL="12700" marR="382270">
              <a:lnSpc>
                <a:spcPts val="3560"/>
              </a:lnSpc>
              <a:spcBef>
                <a:spcPts val="225"/>
              </a:spcBef>
            </a:pPr>
            <a:r>
              <a:rPr dirty="0" sz="1450" b="1">
                <a:latin typeface="Arial"/>
                <a:cs typeface="Arial"/>
              </a:rPr>
              <a:t>Example: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teaches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honest,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fair,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kind,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guiding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millions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live </a:t>
            </a:r>
            <a:r>
              <a:rPr dirty="0" sz="1450">
                <a:latin typeface="Arial MT"/>
                <a:cs typeface="Arial MT"/>
              </a:rPr>
              <a:t>good,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righteous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lives.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26" y="1422882"/>
            <a:ext cx="6805295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/>
              <a:t>Requirements</a:t>
            </a:r>
            <a:r>
              <a:rPr dirty="0" sz="2650" spc="-40"/>
              <a:t> </a:t>
            </a:r>
            <a:r>
              <a:rPr dirty="0" sz="2650"/>
              <a:t>for</a:t>
            </a:r>
            <a:r>
              <a:rPr dirty="0" sz="2650" spc="-80"/>
              <a:t> </a:t>
            </a:r>
            <a:r>
              <a:rPr dirty="0" sz="2650"/>
              <a:t>Believing</a:t>
            </a:r>
            <a:r>
              <a:rPr dirty="0" sz="2650" spc="-70"/>
              <a:t> </a:t>
            </a:r>
            <a:r>
              <a:rPr dirty="0" sz="2650"/>
              <a:t>in</a:t>
            </a:r>
            <a:r>
              <a:rPr dirty="0" sz="2650" spc="-60"/>
              <a:t> </a:t>
            </a:r>
            <a:r>
              <a:rPr dirty="0" sz="2650"/>
              <a:t>Divine</a:t>
            </a:r>
            <a:r>
              <a:rPr dirty="0" sz="2650" spc="-70"/>
              <a:t> </a:t>
            </a:r>
            <a:r>
              <a:rPr dirty="0" sz="2650" spc="-10"/>
              <a:t>Books</a:t>
            </a:r>
            <a:endParaRPr sz="265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</a:t>
            </a:r>
            <a:r>
              <a:rPr dirty="0" spc="-25"/>
              <a:t>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8924" y="2087345"/>
            <a:ext cx="7624445" cy="3044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650" spc="-10" b="1">
                <a:latin typeface="Arial"/>
                <a:cs typeface="Arial"/>
              </a:rPr>
              <a:t>Acceptance:</a:t>
            </a:r>
            <a:endParaRPr sz="1650">
              <a:latin typeface="Arial"/>
              <a:cs typeface="Arial"/>
            </a:endParaRPr>
          </a:p>
          <a:p>
            <a:pPr lvl="1" marL="426084" indent="-130175">
              <a:lnSpc>
                <a:spcPct val="100000"/>
              </a:lnSpc>
              <a:buChar char="•"/>
              <a:tabLst>
                <a:tab pos="426084" algn="l"/>
              </a:tabLst>
            </a:pPr>
            <a:r>
              <a:rPr dirty="0" sz="1650">
                <a:latin typeface="Arial MT"/>
                <a:cs typeface="Arial MT"/>
              </a:rPr>
              <a:t>Believe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that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all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holy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scriptures</a:t>
            </a:r>
            <a:r>
              <a:rPr dirty="0" sz="1650" spc="-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are true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come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from</a:t>
            </a:r>
            <a:r>
              <a:rPr dirty="0" sz="1650" spc="-13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Allah.</a:t>
            </a:r>
            <a:endParaRPr sz="1650">
              <a:latin typeface="Arial MT"/>
              <a:cs typeface="Arial MT"/>
            </a:endParaRPr>
          </a:p>
          <a:p>
            <a:pPr lvl="1" marL="426720" indent="-130810">
              <a:lnSpc>
                <a:spcPct val="100000"/>
              </a:lnSpc>
              <a:buFont typeface="Arial MT"/>
              <a:buChar char="•"/>
              <a:tabLst>
                <a:tab pos="426720" algn="l"/>
              </a:tabLst>
            </a:pPr>
            <a:r>
              <a:rPr dirty="0" sz="1650" i="1">
                <a:latin typeface="Arial"/>
                <a:cs typeface="Arial"/>
              </a:rPr>
              <a:t>Quran</a:t>
            </a:r>
            <a:r>
              <a:rPr dirty="0" sz="1650" spc="-30" i="1">
                <a:latin typeface="Arial"/>
                <a:cs typeface="Arial"/>
              </a:rPr>
              <a:t> </a:t>
            </a:r>
            <a:r>
              <a:rPr dirty="0" sz="1650" i="1">
                <a:latin typeface="Arial"/>
                <a:cs typeface="Arial"/>
              </a:rPr>
              <a:t>Example:</a:t>
            </a:r>
            <a:r>
              <a:rPr dirty="0" sz="1650" spc="-20" i="1">
                <a:latin typeface="Arial"/>
                <a:cs typeface="Arial"/>
              </a:rPr>
              <a:t> </a:t>
            </a:r>
            <a:r>
              <a:rPr dirty="0" sz="1650">
                <a:latin typeface="Arial MT"/>
                <a:cs typeface="Arial MT"/>
              </a:rPr>
              <a:t>“Believe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what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has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been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revealed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you…”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(Quran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2:136).</a:t>
            </a:r>
            <a:endParaRPr sz="165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dirty="0" sz="1650" spc="-10" b="1">
                <a:latin typeface="Arial"/>
                <a:cs typeface="Arial"/>
              </a:rPr>
              <a:t>Respect:</a:t>
            </a:r>
            <a:endParaRPr sz="1650">
              <a:latin typeface="Arial"/>
              <a:cs typeface="Arial"/>
            </a:endParaRPr>
          </a:p>
          <a:p>
            <a:pPr lvl="1" marL="422275" indent="-126364">
              <a:lnSpc>
                <a:spcPct val="100000"/>
              </a:lnSpc>
              <a:spcBef>
                <a:spcPts val="5"/>
              </a:spcBef>
              <a:buChar char="•"/>
              <a:tabLst>
                <a:tab pos="422275" algn="l"/>
              </a:tabLst>
            </a:pPr>
            <a:r>
              <a:rPr dirty="0" sz="1650">
                <a:latin typeface="Arial MT"/>
                <a:cs typeface="Arial MT"/>
              </a:rPr>
              <a:t>Treat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words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-114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Allah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with great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honor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care.</a:t>
            </a:r>
            <a:endParaRPr sz="1650">
              <a:latin typeface="Arial MT"/>
              <a:cs typeface="Arial MT"/>
            </a:endParaRPr>
          </a:p>
          <a:p>
            <a:pPr lvl="1" marL="295910" marR="502920" indent="130810">
              <a:lnSpc>
                <a:spcPct val="100000"/>
              </a:lnSpc>
              <a:buFont typeface="Arial MT"/>
              <a:buChar char="•"/>
              <a:tabLst>
                <a:tab pos="426720" algn="l"/>
              </a:tabLst>
            </a:pPr>
            <a:r>
              <a:rPr dirty="0" sz="1650" i="1">
                <a:latin typeface="Arial"/>
                <a:cs typeface="Arial"/>
              </a:rPr>
              <a:t>Hadith</a:t>
            </a:r>
            <a:r>
              <a:rPr dirty="0" sz="1650" spc="-30" i="1">
                <a:latin typeface="Arial"/>
                <a:cs typeface="Arial"/>
              </a:rPr>
              <a:t> </a:t>
            </a:r>
            <a:r>
              <a:rPr dirty="0" sz="1650" i="1">
                <a:latin typeface="Arial"/>
                <a:cs typeface="Arial"/>
              </a:rPr>
              <a:t>Example:</a:t>
            </a:r>
            <a:r>
              <a:rPr dirty="0" sz="1650" spc="-55" i="1">
                <a:latin typeface="Arial"/>
                <a:cs typeface="Arial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Prophet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(PBUH)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taught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us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hold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Quran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the </a:t>
            </a:r>
            <a:r>
              <a:rPr dirty="0" sz="1650">
                <a:latin typeface="Arial MT"/>
                <a:cs typeface="Arial MT"/>
              </a:rPr>
              <a:t>highest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regard.</a:t>
            </a:r>
            <a:endParaRPr sz="165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dirty="0" sz="1650" spc="-10" b="1">
                <a:latin typeface="Arial"/>
                <a:cs typeface="Arial"/>
              </a:rPr>
              <a:t>Implementation:</a:t>
            </a:r>
            <a:endParaRPr sz="1650">
              <a:latin typeface="Arial"/>
              <a:cs typeface="Arial"/>
            </a:endParaRPr>
          </a:p>
          <a:p>
            <a:pPr lvl="1" marL="426084" indent="-130175">
              <a:lnSpc>
                <a:spcPct val="100000"/>
              </a:lnSpc>
              <a:buChar char="•"/>
              <a:tabLst>
                <a:tab pos="426084" algn="l"/>
              </a:tabLst>
            </a:pPr>
            <a:r>
              <a:rPr dirty="0" sz="1650">
                <a:latin typeface="Arial MT"/>
                <a:cs typeface="Arial MT"/>
              </a:rPr>
              <a:t>Follow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practice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guidance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teachings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found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these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books.</a:t>
            </a:r>
            <a:endParaRPr sz="1650">
              <a:latin typeface="Arial MT"/>
              <a:cs typeface="Arial MT"/>
            </a:endParaRPr>
          </a:p>
          <a:p>
            <a:pPr lvl="1" marL="426720" indent="-130810">
              <a:lnSpc>
                <a:spcPct val="100000"/>
              </a:lnSpc>
              <a:buFont typeface="Arial MT"/>
              <a:buChar char="•"/>
              <a:tabLst>
                <a:tab pos="426720" algn="l"/>
              </a:tabLst>
            </a:pPr>
            <a:r>
              <a:rPr dirty="0" sz="1650" i="1">
                <a:latin typeface="Arial"/>
                <a:cs typeface="Arial"/>
              </a:rPr>
              <a:t>Sahaba</a:t>
            </a:r>
            <a:r>
              <a:rPr dirty="0" sz="1650" spc="-45" i="1">
                <a:latin typeface="Arial"/>
                <a:cs typeface="Arial"/>
              </a:rPr>
              <a:t> </a:t>
            </a:r>
            <a:r>
              <a:rPr dirty="0" sz="1650" i="1">
                <a:latin typeface="Arial"/>
                <a:cs typeface="Arial"/>
              </a:rPr>
              <a:t>Example:</a:t>
            </a:r>
            <a:r>
              <a:rPr dirty="0" sz="1650" spc="-40" i="1">
                <a:latin typeface="Arial"/>
                <a:cs typeface="Arial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companions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learned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lived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by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Quran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every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day.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828" y="1201872"/>
            <a:ext cx="7474584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/>
              <a:t>Impact</a:t>
            </a:r>
            <a:r>
              <a:rPr dirty="0" sz="2650" spc="-60"/>
              <a:t> </a:t>
            </a:r>
            <a:r>
              <a:rPr dirty="0" sz="2650"/>
              <a:t>of</a:t>
            </a:r>
            <a:r>
              <a:rPr dirty="0" sz="2650" spc="-65"/>
              <a:t> </a:t>
            </a:r>
            <a:r>
              <a:rPr dirty="0" sz="2650"/>
              <a:t>Belief</a:t>
            </a:r>
            <a:r>
              <a:rPr dirty="0" sz="2650" spc="-65"/>
              <a:t> </a:t>
            </a:r>
            <a:r>
              <a:rPr dirty="0" sz="2650"/>
              <a:t>in</a:t>
            </a:r>
            <a:r>
              <a:rPr dirty="0" sz="2650" spc="-65"/>
              <a:t> </a:t>
            </a:r>
            <a:r>
              <a:rPr dirty="0" sz="2650"/>
              <a:t>Holy</a:t>
            </a:r>
            <a:r>
              <a:rPr dirty="0" sz="2650" spc="-45"/>
              <a:t> </a:t>
            </a:r>
            <a:r>
              <a:rPr dirty="0" sz="2650"/>
              <a:t>Books</a:t>
            </a:r>
            <a:r>
              <a:rPr dirty="0" sz="2650" spc="-90"/>
              <a:t> </a:t>
            </a:r>
            <a:r>
              <a:rPr dirty="0" sz="2650" spc="-10"/>
              <a:t>(Quran</a:t>
            </a:r>
            <a:r>
              <a:rPr dirty="0" sz="2650" spc="-90"/>
              <a:t> </a:t>
            </a:r>
            <a:r>
              <a:rPr dirty="0" sz="2650"/>
              <a:t>&amp;</a:t>
            </a:r>
            <a:r>
              <a:rPr dirty="0" sz="2650" spc="-55"/>
              <a:t> </a:t>
            </a:r>
            <a:r>
              <a:rPr dirty="0" sz="2650" spc="-10"/>
              <a:t>Hadith)</a:t>
            </a:r>
            <a:endParaRPr sz="265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</a:t>
            </a:r>
            <a:r>
              <a:rPr dirty="0" spc="-25"/>
              <a:t>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8873" y="1811549"/>
            <a:ext cx="7441565" cy="41008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Font typeface="Wingdings"/>
              <a:buChar char="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Guidance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for</a:t>
            </a:r>
            <a:r>
              <a:rPr dirty="0" sz="1450" spc="85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Life:</a:t>
            </a:r>
            <a:endParaRPr sz="1450">
              <a:latin typeface="Arial"/>
              <a:cs typeface="Arial"/>
            </a:endParaRPr>
          </a:p>
          <a:p>
            <a:pPr lvl="1" marL="365125" indent="-116205">
              <a:lnSpc>
                <a:spcPct val="100000"/>
              </a:lnSpc>
              <a:spcBef>
                <a:spcPts val="50"/>
              </a:spcBef>
              <a:buChar char="•"/>
              <a:tabLst>
                <a:tab pos="365125" algn="l"/>
              </a:tabLst>
            </a:pPr>
            <a:r>
              <a:rPr dirty="0" sz="1450">
                <a:latin typeface="Arial MT"/>
                <a:cs typeface="Arial MT"/>
              </a:rPr>
              <a:t>Holy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books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give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clear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rules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justice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kindness.</a:t>
            </a:r>
            <a:endParaRPr sz="1450">
              <a:latin typeface="Arial MT"/>
              <a:cs typeface="Arial MT"/>
            </a:endParaRPr>
          </a:p>
          <a:p>
            <a:pPr lvl="1" marL="248920" marR="5080" indent="116839">
              <a:lnSpc>
                <a:spcPts val="1789"/>
              </a:lnSpc>
              <a:spcBef>
                <a:spcPts val="55"/>
              </a:spcBef>
              <a:buFont typeface="Arial MT"/>
              <a:buChar char="•"/>
              <a:tabLst>
                <a:tab pos="365760" algn="l"/>
              </a:tabLst>
            </a:pPr>
            <a:r>
              <a:rPr dirty="0" sz="1450" i="1">
                <a:latin typeface="Arial"/>
                <a:cs typeface="Arial"/>
              </a:rPr>
              <a:t>Quran</a:t>
            </a:r>
            <a:r>
              <a:rPr dirty="0" sz="1450" spc="45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Example:</a:t>
            </a:r>
            <a:r>
              <a:rPr dirty="0" sz="1450" spc="35" i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“And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establish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prayer</a:t>
            </a:r>
            <a:r>
              <a:rPr dirty="0" sz="1450" spc="8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give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zakah…”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(Quran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2:43)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teaches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to </a:t>
            </a:r>
            <a:r>
              <a:rPr dirty="0" sz="1450">
                <a:latin typeface="Arial MT"/>
                <a:cs typeface="Arial MT"/>
              </a:rPr>
              <a:t>support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community.</a:t>
            </a:r>
            <a:endParaRPr sz="1450">
              <a:latin typeface="Arial MT"/>
              <a:cs typeface="Arial MT"/>
            </a:endParaRPr>
          </a:p>
          <a:p>
            <a:pPr lvl="1" marL="365760" indent="-116839">
              <a:lnSpc>
                <a:spcPts val="1705"/>
              </a:lnSpc>
              <a:buFont typeface="Arial MT"/>
              <a:buChar char="•"/>
              <a:tabLst>
                <a:tab pos="365760" algn="l"/>
              </a:tabLst>
            </a:pPr>
            <a:r>
              <a:rPr dirty="0" sz="1450" i="1">
                <a:latin typeface="Arial"/>
                <a:cs typeface="Arial"/>
              </a:rPr>
              <a:t>Hadith</a:t>
            </a:r>
            <a:r>
              <a:rPr dirty="0" sz="1450" spc="45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Example:</a:t>
            </a:r>
            <a:r>
              <a:rPr dirty="0" sz="1450" spc="30" i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(PBUH)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said,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“Actions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are</a:t>
            </a:r>
            <a:r>
              <a:rPr dirty="0" sz="1450" spc="8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judged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by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intentions,”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which</a:t>
            </a:r>
            <a:endParaRPr sz="145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  <a:spcBef>
                <a:spcPts val="45"/>
              </a:spcBef>
            </a:pPr>
            <a:r>
              <a:rPr dirty="0" sz="1450">
                <a:latin typeface="Arial MT"/>
                <a:cs typeface="Arial MT"/>
              </a:rPr>
              <a:t>guides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act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sincerely.</a:t>
            </a:r>
            <a:endParaRPr sz="14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spcBef>
                <a:spcPts val="40"/>
              </a:spcBef>
              <a:buFont typeface="Wingdings"/>
              <a:buChar char="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Unity</a:t>
            </a:r>
            <a:r>
              <a:rPr dirty="0" sz="1450" spc="-2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Among</a:t>
            </a:r>
            <a:r>
              <a:rPr dirty="0" sz="1450" spc="10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Muslims:</a:t>
            </a:r>
            <a:endParaRPr sz="1450">
              <a:latin typeface="Arial"/>
              <a:cs typeface="Arial"/>
            </a:endParaRPr>
          </a:p>
          <a:p>
            <a:pPr lvl="1" marL="355600" indent="-106680">
              <a:lnSpc>
                <a:spcPct val="100000"/>
              </a:lnSpc>
              <a:spcBef>
                <a:spcPts val="45"/>
              </a:spcBef>
              <a:buChar char="•"/>
              <a:tabLst>
                <a:tab pos="355600" algn="l"/>
              </a:tabLst>
            </a:pP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shared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belief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divine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revelations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brings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Muslims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together.</a:t>
            </a:r>
            <a:endParaRPr sz="1450">
              <a:latin typeface="Arial MT"/>
              <a:cs typeface="Arial MT"/>
            </a:endParaRPr>
          </a:p>
          <a:p>
            <a:pPr lvl="1" marL="248920" marR="15240" indent="116839">
              <a:lnSpc>
                <a:spcPts val="1789"/>
              </a:lnSpc>
              <a:spcBef>
                <a:spcPts val="55"/>
              </a:spcBef>
              <a:buFont typeface="Arial MT"/>
              <a:buChar char="•"/>
              <a:tabLst>
                <a:tab pos="365760" algn="l"/>
              </a:tabLst>
            </a:pPr>
            <a:r>
              <a:rPr dirty="0" sz="1450" i="1">
                <a:latin typeface="Arial"/>
                <a:cs typeface="Arial"/>
              </a:rPr>
              <a:t>Quran</a:t>
            </a:r>
            <a:r>
              <a:rPr dirty="0" sz="1450" spc="40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Example:</a:t>
            </a:r>
            <a:r>
              <a:rPr dirty="0" sz="1450" spc="35" i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“Hold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firmly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rope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Allah…”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(Quran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3:103)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reminds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stay </a:t>
            </a:r>
            <a:r>
              <a:rPr dirty="0" sz="1450" spc="-10">
                <a:latin typeface="Arial MT"/>
                <a:cs typeface="Arial MT"/>
              </a:rPr>
              <a:t>united.</a:t>
            </a:r>
            <a:endParaRPr sz="1450">
              <a:latin typeface="Arial MT"/>
              <a:cs typeface="Arial MT"/>
            </a:endParaRPr>
          </a:p>
          <a:p>
            <a:pPr lvl="1" marL="365760" indent="-116839">
              <a:lnSpc>
                <a:spcPts val="1705"/>
              </a:lnSpc>
              <a:buFont typeface="Arial MT"/>
              <a:buChar char="•"/>
              <a:tabLst>
                <a:tab pos="365760" algn="l"/>
              </a:tabLst>
            </a:pPr>
            <a:r>
              <a:rPr dirty="0" sz="1450" i="1">
                <a:latin typeface="Arial"/>
                <a:cs typeface="Arial"/>
              </a:rPr>
              <a:t>Sahaba</a:t>
            </a:r>
            <a:r>
              <a:rPr dirty="0" sz="1450" spc="45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Example:</a:t>
            </a:r>
            <a:r>
              <a:rPr dirty="0" sz="1450" spc="45" i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companions,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like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Hazrat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Umar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(RA),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worked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together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and</a:t>
            </a:r>
            <a:endParaRPr sz="145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Arial MT"/>
                <a:cs typeface="Arial MT"/>
              </a:rPr>
              <a:t>supported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one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another.</a:t>
            </a:r>
            <a:endParaRPr sz="14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Font typeface="Wingdings"/>
              <a:buChar char=""/>
              <a:tabLst>
                <a:tab pos="248285" algn="l"/>
              </a:tabLst>
            </a:pPr>
            <a:r>
              <a:rPr dirty="0" sz="1450" b="1">
                <a:latin typeface="Arial"/>
                <a:cs typeface="Arial"/>
              </a:rPr>
              <a:t>Moral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Foundation:</a:t>
            </a:r>
            <a:endParaRPr sz="1450">
              <a:latin typeface="Arial"/>
              <a:cs typeface="Arial"/>
            </a:endParaRPr>
          </a:p>
          <a:p>
            <a:pPr lvl="1" marL="365125" indent="-116205">
              <a:lnSpc>
                <a:spcPct val="100000"/>
              </a:lnSpc>
              <a:spcBef>
                <a:spcPts val="45"/>
              </a:spcBef>
              <a:buChar char="•"/>
              <a:tabLst>
                <a:tab pos="365125" algn="l"/>
              </a:tabLst>
            </a:pPr>
            <a:r>
              <a:rPr dirty="0" sz="1450">
                <a:latin typeface="Arial MT"/>
                <a:cs typeface="Arial MT"/>
              </a:rPr>
              <a:t>Holy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books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encourage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honest,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just,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kind.</a:t>
            </a:r>
            <a:endParaRPr sz="1450">
              <a:latin typeface="Arial MT"/>
              <a:cs typeface="Arial MT"/>
            </a:endParaRPr>
          </a:p>
          <a:p>
            <a:pPr lvl="1" marL="248920" marR="23495" indent="116839">
              <a:lnSpc>
                <a:spcPts val="1789"/>
              </a:lnSpc>
              <a:spcBef>
                <a:spcPts val="55"/>
              </a:spcBef>
              <a:buFont typeface="Arial MT"/>
              <a:buChar char="•"/>
              <a:tabLst>
                <a:tab pos="365760" algn="l"/>
              </a:tabLst>
            </a:pPr>
            <a:r>
              <a:rPr dirty="0" sz="1450" i="1">
                <a:latin typeface="Arial"/>
                <a:cs typeface="Arial"/>
              </a:rPr>
              <a:t>Quran</a:t>
            </a:r>
            <a:r>
              <a:rPr dirty="0" sz="1450" spc="45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Example:</a:t>
            </a:r>
            <a:r>
              <a:rPr dirty="0" sz="1450" spc="40" i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“Indeed,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Allah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commands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justice…”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(Quran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16:90)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teaches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be </a:t>
            </a:r>
            <a:r>
              <a:rPr dirty="0" sz="1450">
                <a:latin typeface="Arial MT"/>
                <a:cs typeface="Arial MT"/>
              </a:rPr>
              <a:t>fair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compassionate.</a:t>
            </a:r>
            <a:endParaRPr sz="1450">
              <a:latin typeface="Arial MT"/>
              <a:cs typeface="Arial MT"/>
            </a:endParaRPr>
          </a:p>
          <a:p>
            <a:pPr lvl="1" marL="365760" indent="-116839">
              <a:lnSpc>
                <a:spcPts val="1705"/>
              </a:lnSpc>
              <a:buFont typeface="Arial MT"/>
              <a:buChar char="•"/>
              <a:tabLst>
                <a:tab pos="365760" algn="l"/>
              </a:tabLst>
            </a:pPr>
            <a:r>
              <a:rPr dirty="0" sz="1450" i="1">
                <a:latin typeface="Arial"/>
                <a:cs typeface="Arial"/>
              </a:rPr>
              <a:t>Hadith</a:t>
            </a:r>
            <a:r>
              <a:rPr dirty="0" sz="1450" spc="25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Example:</a:t>
            </a:r>
            <a:r>
              <a:rPr dirty="0" sz="1450" spc="15" i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(PBUH)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said,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“The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best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you</a:t>
            </a:r>
            <a:r>
              <a:rPr dirty="0" sz="1450" spc="8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are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those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who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are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best</a:t>
            </a:r>
            <a:endParaRPr sz="145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their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neighbors,”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inspiring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ethical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behavior.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0057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90"/>
              </a:spcBef>
            </a:pPr>
            <a:r>
              <a:rPr dirty="0" sz="2650"/>
              <a:t>The</a:t>
            </a:r>
            <a:r>
              <a:rPr dirty="0" sz="2650" spc="-95"/>
              <a:t> </a:t>
            </a:r>
            <a:r>
              <a:rPr dirty="0" sz="2650"/>
              <a:t>Four</a:t>
            </a:r>
            <a:r>
              <a:rPr dirty="0" sz="2650" spc="-125"/>
              <a:t> </a:t>
            </a:r>
            <a:r>
              <a:rPr dirty="0" sz="2650"/>
              <a:t>Major</a:t>
            </a:r>
            <a:r>
              <a:rPr dirty="0" sz="2650" spc="-100"/>
              <a:t> </a:t>
            </a:r>
            <a:r>
              <a:rPr dirty="0" sz="2650"/>
              <a:t>Holy</a:t>
            </a:r>
            <a:r>
              <a:rPr dirty="0" sz="2650" spc="-90"/>
              <a:t> </a:t>
            </a:r>
            <a:r>
              <a:rPr dirty="0" sz="2650" spc="-10"/>
              <a:t>Books</a:t>
            </a:r>
            <a:endParaRPr sz="265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</a:t>
            </a:r>
            <a:r>
              <a:rPr dirty="0" spc="-25"/>
              <a:t>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1266" y="2258009"/>
            <a:ext cx="6863080" cy="15538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5910" algn="l"/>
              </a:tabLst>
            </a:pPr>
            <a:r>
              <a:rPr dirty="0" sz="8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8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dirty="0" sz="1450" spc="15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3F3F3F"/>
                </a:solidFill>
                <a:latin typeface="Calibri"/>
                <a:cs typeface="Calibri"/>
              </a:rPr>
              <a:t>Quran:</a:t>
            </a:r>
            <a:r>
              <a:rPr dirty="0" sz="1450" spc="-15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Final</a:t>
            </a:r>
            <a:r>
              <a:rPr dirty="0" sz="1450" spc="3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dirty="0" sz="1450" spc="3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unaltered</a:t>
            </a:r>
            <a:r>
              <a:rPr dirty="0" sz="1450" spc="1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word</a:t>
            </a:r>
            <a:r>
              <a:rPr dirty="0" sz="1450" spc="2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dirty="0" sz="1450" spc="3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Allah</a:t>
            </a:r>
            <a:r>
              <a:rPr dirty="0" sz="1450" spc="1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revealed</a:t>
            </a:r>
            <a:r>
              <a:rPr dirty="0" sz="1450" spc="3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dirty="0" sz="1450" spc="-10">
                <a:solidFill>
                  <a:srgbClr val="3F3F3F"/>
                </a:solidFill>
                <a:latin typeface="Calibri"/>
                <a:cs typeface="Calibri"/>
              </a:rPr>
              <a:t> Hazrat</a:t>
            </a:r>
            <a:r>
              <a:rPr dirty="0" sz="1450" spc="3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Muhammad</a:t>
            </a:r>
            <a:r>
              <a:rPr dirty="0" sz="1450" spc="6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(PBUH).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295910" algn="l"/>
              </a:tabLst>
            </a:pPr>
            <a:r>
              <a:rPr dirty="0" sz="8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8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spc="-20" b="1">
                <a:solidFill>
                  <a:srgbClr val="3F3F3F"/>
                </a:solidFill>
                <a:latin typeface="Calibri"/>
                <a:cs typeface="Calibri"/>
              </a:rPr>
              <a:t>Torah</a:t>
            </a:r>
            <a:r>
              <a:rPr dirty="0" sz="1450" spc="-35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Calibri"/>
                <a:cs typeface="Calibri"/>
              </a:rPr>
              <a:t>(Tawrat):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Given</a:t>
            </a:r>
            <a:r>
              <a:rPr dirty="0" sz="1450" spc="-1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dirty="0" sz="1450" spc="-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Prophet </a:t>
            </a:r>
            <a:r>
              <a:rPr dirty="0" sz="1450" spc="-10">
                <a:solidFill>
                  <a:srgbClr val="3F3F3F"/>
                </a:solidFill>
                <a:latin typeface="Calibri"/>
                <a:cs typeface="Calibri"/>
              </a:rPr>
              <a:t>Moses.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  <a:tabLst>
                <a:tab pos="295910" algn="l"/>
              </a:tabLst>
            </a:pPr>
            <a:r>
              <a:rPr dirty="0" sz="8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8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Calibri"/>
                <a:cs typeface="Calibri"/>
              </a:rPr>
              <a:t>Gospel</a:t>
            </a:r>
            <a:r>
              <a:rPr dirty="0" sz="1450" spc="15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3F3F3F"/>
                </a:solidFill>
                <a:latin typeface="Calibri"/>
                <a:cs typeface="Calibri"/>
              </a:rPr>
              <a:t>(Injil):</a:t>
            </a:r>
            <a:r>
              <a:rPr dirty="0" sz="1450" spc="30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Given</a:t>
            </a:r>
            <a:r>
              <a:rPr dirty="0" sz="1450" spc="5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dirty="0" sz="1450" spc="2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Prophet</a:t>
            </a:r>
            <a:r>
              <a:rPr dirty="0" sz="1450" spc="5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Calibri"/>
                <a:cs typeface="Calibri"/>
              </a:rPr>
              <a:t>Jesus.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295910" algn="l"/>
              </a:tabLst>
            </a:pPr>
            <a:r>
              <a:rPr dirty="0" sz="8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8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Calibri"/>
                <a:cs typeface="Calibri"/>
              </a:rPr>
              <a:t>Psalms</a:t>
            </a:r>
            <a:r>
              <a:rPr dirty="0" sz="1450" spc="30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3F3F3F"/>
                </a:solidFill>
                <a:latin typeface="Calibri"/>
                <a:cs typeface="Calibri"/>
              </a:rPr>
              <a:t>(Zabur):</a:t>
            </a:r>
            <a:r>
              <a:rPr dirty="0" sz="1450" spc="20" b="1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Given</a:t>
            </a:r>
            <a:r>
              <a:rPr dirty="0" sz="145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dirty="0" sz="145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F3F3F"/>
                </a:solidFill>
                <a:latin typeface="Calibri"/>
                <a:cs typeface="Calibri"/>
              </a:rPr>
              <a:t>Prophet</a:t>
            </a:r>
            <a:r>
              <a:rPr dirty="0" sz="1450" spc="6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Calibri"/>
                <a:cs typeface="Calibri"/>
              </a:rPr>
              <a:t>David.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26" y="1422882"/>
            <a:ext cx="5681980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/>
              <a:t>Additional</a:t>
            </a:r>
            <a:r>
              <a:rPr dirty="0" sz="2650" spc="-110"/>
              <a:t> </a:t>
            </a:r>
            <a:r>
              <a:rPr dirty="0" sz="2650"/>
              <a:t>Scriptures</a:t>
            </a:r>
            <a:r>
              <a:rPr dirty="0" sz="2650" spc="-95"/>
              <a:t> </a:t>
            </a:r>
            <a:r>
              <a:rPr dirty="0" sz="2650"/>
              <a:t>–</a:t>
            </a:r>
            <a:r>
              <a:rPr dirty="0" sz="2650" spc="-90"/>
              <a:t> </a:t>
            </a:r>
            <a:r>
              <a:rPr dirty="0" sz="2650" spc="-10"/>
              <a:t>Suhuf/Scrolls</a:t>
            </a:r>
            <a:endParaRPr sz="265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2</a:t>
            </a:r>
            <a:r>
              <a:rPr dirty="0" spc="-25"/>
              <a:t>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1222" y="2134488"/>
            <a:ext cx="5328285" cy="3506470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Suhuf</a:t>
            </a:r>
            <a:r>
              <a:rPr dirty="0" u="sng" sz="1650" spc="-6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(Scrolls/Booklets):</a:t>
            </a:r>
            <a:endParaRPr sz="1650">
              <a:latin typeface="Arial"/>
              <a:cs typeface="Arial"/>
            </a:endParaRPr>
          </a:p>
          <a:p>
            <a:pPr marL="128905" indent="-116205">
              <a:lnSpc>
                <a:spcPct val="100000"/>
              </a:lnSpc>
              <a:spcBef>
                <a:spcPts val="965"/>
              </a:spcBef>
              <a:buChar char="•"/>
              <a:tabLst>
                <a:tab pos="128905" algn="l"/>
              </a:tabLst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Smaller</a:t>
            </a:r>
            <a:r>
              <a:rPr dirty="0" sz="1450" spc="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revelations</a:t>
            </a:r>
            <a:r>
              <a:rPr dirty="0" sz="1450" spc="6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given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to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earlier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prophets.</a:t>
            </a:r>
            <a:endParaRPr sz="1450">
              <a:latin typeface="Arial MT"/>
              <a:cs typeface="Arial MT"/>
            </a:endParaRPr>
          </a:p>
          <a:p>
            <a:pPr marL="12700" marR="944244">
              <a:lnSpc>
                <a:spcPts val="3420"/>
              </a:lnSpc>
              <a:spcBef>
                <a:spcPts val="384"/>
              </a:spcBef>
            </a:pP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Additional</a:t>
            </a:r>
            <a:r>
              <a:rPr dirty="0" sz="1450" spc="-6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scriptures</a:t>
            </a:r>
            <a:r>
              <a:rPr dirty="0" sz="1450" spc="-8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revealed</a:t>
            </a:r>
            <a:r>
              <a:rPr dirty="0" sz="1450" spc="-8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to</a:t>
            </a:r>
            <a:r>
              <a:rPr dirty="0" sz="1450" spc="-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earlier</a:t>
            </a:r>
            <a:r>
              <a:rPr dirty="0" sz="1450" spc="-9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Arial"/>
                <a:cs typeface="Arial"/>
              </a:rPr>
              <a:t>prophets.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Examples</a:t>
            </a:r>
            <a:r>
              <a:rPr dirty="0" sz="1450" spc="-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Arial"/>
                <a:cs typeface="Arial"/>
              </a:rPr>
              <a:t>include:</a:t>
            </a:r>
            <a:endParaRPr sz="1450">
              <a:latin typeface="Arial"/>
              <a:cs typeface="Arial"/>
            </a:endParaRPr>
          </a:p>
          <a:p>
            <a:pPr marL="128905" indent="-116205">
              <a:lnSpc>
                <a:spcPct val="100000"/>
              </a:lnSpc>
              <a:spcBef>
                <a:spcPts val="1270"/>
              </a:spcBef>
              <a:buChar char="•"/>
              <a:tabLst>
                <a:tab pos="128905" algn="l"/>
              </a:tabLst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Scrolls</a:t>
            </a:r>
            <a:r>
              <a:rPr dirty="0" sz="1450" spc="6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of</a:t>
            </a:r>
            <a:r>
              <a:rPr dirty="0" sz="1450" spc="-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Abraham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(Suhuf</a:t>
            </a:r>
            <a:r>
              <a:rPr dirty="0" sz="1450" spc="6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Ibrahim)</a:t>
            </a:r>
            <a:endParaRPr sz="1450">
              <a:latin typeface="Arial MT"/>
              <a:cs typeface="Arial MT"/>
            </a:endParaRPr>
          </a:p>
          <a:p>
            <a:pPr marL="128905" indent="-116205">
              <a:lnSpc>
                <a:spcPct val="100000"/>
              </a:lnSpc>
              <a:spcBef>
                <a:spcPts val="935"/>
              </a:spcBef>
              <a:buChar char="•"/>
              <a:tabLst>
                <a:tab pos="128905" algn="l"/>
              </a:tabLst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Scrolls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of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Moses</a:t>
            </a:r>
            <a:r>
              <a:rPr dirty="0" sz="1450" spc="6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(Suhuf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Arial MT"/>
                <a:cs typeface="Arial MT"/>
              </a:rPr>
              <a:t>Musa)</a:t>
            </a:r>
            <a:endParaRPr sz="1450">
              <a:latin typeface="Arial MT"/>
              <a:cs typeface="Arial MT"/>
            </a:endParaRPr>
          </a:p>
          <a:p>
            <a:pPr marL="128905" indent="-116205">
              <a:lnSpc>
                <a:spcPct val="100000"/>
              </a:lnSpc>
              <a:spcBef>
                <a:spcPts val="940"/>
              </a:spcBef>
              <a:buChar char="•"/>
              <a:tabLst>
                <a:tab pos="128905" algn="l"/>
              </a:tabLst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Scrolls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of</a:t>
            </a:r>
            <a:r>
              <a:rPr dirty="0" sz="1450" spc="-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Adam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(Suhuf</a:t>
            </a:r>
            <a:r>
              <a:rPr dirty="0" sz="1450" spc="-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Arial MT"/>
                <a:cs typeface="Arial MT"/>
              </a:rPr>
              <a:t>Adam)</a:t>
            </a:r>
            <a:endParaRPr sz="1450">
              <a:latin typeface="Arial MT"/>
              <a:cs typeface="Arial MT"/>
            </a:endParaRPr>
          </a:p>
          <a:p>
            <a:pPr marL="128905" indent="-116205">
              <a:lnSpc>
                <a:spcPct val="100000"/>
              </a:lnSpc>
              <a:spcBef>
                <a:spcPts val="935"/>
              </a:spcBef>
              <a:buChar char="•"/>
              <a:tabLst>
                <a:tab pos="128905" algn="l"/>
              </a:tabLst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Sahifa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of</a:t>
            </a:r>
            <a:r>
              <a:rPr dirty="0" sz="1450" spc="7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Prophet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Noah,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Hud,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Salih,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Shuaib,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and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Idris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These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scriptures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add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to</a:t>
            </a:r>
            <a:r>
              <a:rPr dirty="0" sz="1450" spc="6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divine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guidance</a:t>
            </a:r>
            <a:r>
              <a:rPr dirty="0" sz="1450" spc="1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provided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over</a:t>
            </a:r>
            <a:r>
              <a:rPr dirty="0" sz="1450" spc="6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time.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575329"/>
            <a:ext cx="6189980" cy="932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u="none"/>
              <a:t>Articles</a:t>
            </a:r>
            <a:r>
              <a:rPr dirty="0" u="none" spc="-70"/>
              <a:t> </a:t>
            </a:r>
            <a:r>
              <a:rPr dirty="0" u="none"/>
              <a:t>of</a:t>
            </a:r>
            <a:r>
              <a:rPr dirty="0" u="none" spc="-35"/>
              <a:t> </a:t>
            </a:r>
            <a:r>
              <a:rPr dirty="0" u="none"/>
              <a:t>Faith,</a:t>
            </a:r>
            <a:r>
              <a:rPr dirty="0" u="none" spc="-55"/>
              <a:t> </a:t>
            </a:r>
            <a:r>
              <a:rPr dirty="0" u="none" spc="-10"/>
              <a:t>Prophethood, </a:t>
            </a:r>
            <a:r>
              <a:rPr dirty="0" u="none"/>
              <a:t>Judgment,</a:t>
            </a:r>
            <a:r>
              <a:rPr dirty="0" u="none" spc="-70"/>
              <a:t> </a:t>
            </a:r>
            <a:r>
              <a:rPr dirty="0" u="none" spc="-20"/>
              <a:t>Destiny,</a:t>
            </a:r>
            <a:r>
              <a:rPr dirty="0" u="none" spc="-35"/>
              <a:t> </a:t>
            </a:r>
            <a:r>
              <a:rPr dirty="0" u="none"/>
              <a:t>&amp;</a:t>
            </a:r>
            <a:r>
              <a:rPr dirty="0" u="none" spc="-60"/>
              <a:t> </a:t>
            </a:r>
            <a:r>
              <a:rPr dirty="0" u="none" spc="-10"/>
              <a:t>Resurrection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7463935" y="6127091"/>
            <a:ext cx="125095" cy="13525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50" spc="-25">
                <a:solidFill>
                  <a:srgbClr val="90C126"/>
                </a:solidFill>
                <a:latin typeface="Trebuchet MS"/>
                <a:cs typeface="Trebuchet MS"/>
              </a:rPr>
              <a:t>30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2741134"/>
            <a:ext cx="5648960" cy="253873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Course</a:t>
            </a:r>
            <a:r>
              <a:rPr dirty="0" u="sng" sz="1450" spc="6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Outline</a:t>
            </a:r>
            <a:r>
              <a:rPr dirty="0" u="sng" sz="1450" spc="6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Includes:</a:t>
            </a:r>
            <a:endParaRPr sz="14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15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Pillars</a:t>
            </a:r>
            <a:r>
              <a:rPr dirty="0" sz="1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20">
                <a:solidFill>
                  <a:srgbClr val="3F3F3F"/>
                </a:solidFill>
                <a:latin typeface="Trebuchet MS"/>
                <a:cs typeface="Trebuchet MS"/>
              </a:rPr>
              <a:t>Islam</a:t>
            </a:r>
            <a:endParaRPr sz="1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16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Holy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20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endParaRPr sz="1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175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Islam</a:t>
            </a:r>
            <a:r>
              <a:rPr dirty="0" sz="1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Science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Learning</a:t>
            </a:r>
            <a:r>
              <a:rPr dirty="0" u="sng" sz="1450" spc="10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Outcomes:</a:t>
            </a:r>
            <a:endParaRPr sz="14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4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204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Understand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explain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fundamental beliefs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systems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Islam.</a:t>
            </a:r>
            <a:endParaRPr sz="1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0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195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Value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Islam</a:t>
            </a:r>
            <a:r>
              <a:rPr dirty="0" sz="1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based</a:t>
            </a:r>
            <a:r>
              <a:rPr dirty="0" sz="1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efforts</a:t>
            </a:r>
            <a:r>
              <a:rPr dirty="0" sz="1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early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Muslims.</a:t>
            </a:r>
            <a:endParaRPr sz="1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21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Adapt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ethical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 moral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values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Quranic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verses and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Hadith.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528" y="1287159"/>
            <a:ext cx="7377430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/>
              <a:t>Belief</a:t>
            </a:r>
            <a:r>
              <a:rPr dirty="0" sz="3600" spc="45"/>
              <a:t> </a:t>
            </a:r>
            <a:r>
              <a:rPr dirty="0" sz="3600"/>
              <a:t>in</a:t>
            </a:r>
            <a:r>
              <a:rPr dirty="0" sz="3600" spc="50"/>
              <a:t> </a:t>
            </a:r>
            <a:r>
              <a:rPr dirty="0" sz="3600"/>
              <a:t>Prophets</a:t>
            </a:r>
            <a:r>
              <a:rPr dirty="0" sz="3600" spc="5"/>
              <a:t> </a:t>
            </a:r>
            <a:r>
              <a:rPr dirty="0" sz="3600"/>
              <a:t>and</a:t>
            </a:r>
            <a:r>
              <a:rPr dirty="0" sz="3600" spc="40"/>
              <a:t> </a:t>
            </a:r>
            <a:r>
              <a:rPr dirty="0" sz="3600" spc="-10"/>
              <a:t>Messengers</a:t>
            </a:r>
            <a:endParaRPr sz="36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3</a:t>
            </a:r>
            <a:r>
              <a:rPr dirty="0" spc="-25"/>
              <a:t>1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8430" rIns="0" bIns="0" rtlCol="0" vert="horz">
            <a:spAutoFit/>
          </a:bodyPr>
          <a:lstStyle/>
          <a:p>
            <a:pPr marL="466725">
              <a:lnSpc>
                <a:spcPct val="100000"/>
              </a:lnSpc>
              <a:spcBef>
                <a:spcPts val="1090"/>
              </a:spcBef>
            </a:pPr>
            <a:r>
              <a:rPr dirty="0" sz="1850" spc="-35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-50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pc="-10"/>
              <a:t>Topics:</a:t>
            </a:r>
            <a:endParaRPr sz="1850">
              <a:latin typeface="Georgia"/>
              <a:cs typeface="Georgia"/>
            </a:endParaRPr>
          </a:p>
          <a:p>
            <a:pPr marL="844550">
              <a:lnSpc>
                <a:spcPct val="100000"/>
              </a:lnSpc>
              <a:spcBef>
                <a:spcPts val="865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70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Nabi</a:t>
            </a:r>
            <a:r>
              <a:rPr dirty="0" sz="1950" spc="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(Prophet)</a:t>
            </a:r>
            <a:r>
              <a:rPr dirty="0" sz="1950" spc="1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and Rasool</a:t>
            </a:r>
            <a:r>
              <a:rPr dirty="0" sz="1950" spc="5" b="0">
                <a:latin typeface="Trebuchet MS"/>
                <a:cs typeface="Trebuchet MS"/>
              </a:rPr>
              <a:t> </a:t>
            </a:r>
            <a:r>
              <a:rPr dirty="0" sz="1950" spc="-10" b="0">
                <a:latin typeface="Trebuchet MS"/>
                <a:cs typeface="Trebuchet MS"/>
              </a:rPr>
              <a:t>(Messenger)</a:t>
            </a:r>
            <a:endParaRPr sz="195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  <a:spcBef>
                <a:spcPts val="865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50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The</a:t>
            </a:r>
            <a:r>
              <a:rPr dirty="0" sz="1950" spc="-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Ulul</a:t>
            </a:r>
            <a:r>
              <a:rPr dirty="0" sz="1950" spc="-12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Azm Prophets</a:t>
            </a:r>
            <a:r>
              <a:rPr dirty="0" sz="1950" spc="5" b="0">
                <a:latin typeface="Trebuchet MS"/>
                <a:cs typeface="Trebuchet MS"/>
              </a:rPr>
              <a:t> </a:t>
            </a:r>
            <a:r>
              <a:rPr dirty="0" sz="1650" b="0">
                <a:latin typeface="Trebuchet MS"/>
                <a:cs typeface="Trebuchet MS"/>
              </a:rPr>
              <a:t>(The</a:t>
            </a:r>
            <a:r>
              <a:rPr dirty="0" sz="1650" spc="-30" b="0">
                <a:latin typeface="Trebuchet MS"/>
                <a:cs typeface="Trebuchet MS"/>
              </a:rPr>
              <a:t> </a:t>
            </a:r>
            <a:r>
              <a:rPr dirty="0" sz="1650" b="0">
                <a:latin typeface="Trebuchet MS"/>
                <a:cs typeface="Trebuchet MS"/>
              </a:rPr>
              <a:t>Five</a:t>
            </a:r>
            <a:r>
              <a:rPr dirty="0" sz="1650" spc="-30" b="0">
                <a:latin typeface="Trebuchet MS"/>
                <a:cs typeface="Trebuchet MS"/>
              </a:rPr>
              <a:t> </a:t>
            </a:r>
            <a:r>
              <a:rPr dirty="0" sz="1650" spc="-10" b="0">
                <a:latin typeface="Trebuchet MS"/>
                <a:cs typeface="Trebuchet MS"/>
              </a:rPr>
              <a:t>Ulul</a:t>
            </a:r>
            <a:r>
              <a:rPr dirty="0" sz="1650" spc="-114" b="0">
                <a:latin typeface="Trebuchet MS"/>
                <a:cs typeface="Trebuchet MS"/>
              </a:rPr>
              <a:t> </a:t>
            </a:r>
            <a:r>
              <a:rPr dirty="0" sz="1650" b="0">
                <a:latin typeface="Trebuchet MS"/>
                <a:cs typeface="Trebuchet MS"/>
              </a:rPr>
              <a:t>Azm</a:t>
            </a:r>
            <a:r>
              <a:rPr dirty="0" sz="1650" spc="-25" b="0">
                <a:latin typeface="Trebuchet MS"/>
                <a:cs typeface="Trebuchet MS"/>
              </a:rPr>
              <a:t> </a:t>
            </a:r>
            <a:r>
              <a:rPr dirty="0" sz="1650" spc="-10" b="0">
                <a:latin typeface="Trebuchet MS"/>
                <a:cs typeface="Trebuchet MS"/>
              </a:rPr>
              <a:t>Prophets)</a:t>
            </a:r>
            <a:endParaRPr sz="165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  <a:spcBef>
                <a:spcPts val="850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75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Attributes</a:t>
            </a:r>
            <a:r>
              <a:rPr dirty="0" sz="1950" spc="3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&amp;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Qualities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of</a:t>
            </a:r>
            <a:r>
              <a:rPr dirty="0" sz="1950" spc="5" b="0">
                <a:latin typeface="Trebuchet MS"/>
                <a:cs typeface="Trebuchet MS"/>
              </a:rPr>
              <a:t> </a:t>
            </a:r>
            <a:r>
              <a:rPr dirty="0" sz="1950" spc="-10" b="0">
                <a:latin typeface="Trebuchet MS"/>
                <a:cs typeface="Trebuchet MS"/>
              </a:rPr>
              <a:t>Prophets</a:t>
            </a:r>
            <a:endParaRPr sz="195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  <a:spcBef>
                <a:spcPts val="865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70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Inspiration</a:t>
            </a:r>
            <a:r>
              <a:rPr dirty="0" sz="1950" spc="-2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from</a:t>
            </a:r>
            <a:r>
              <a:rPr dirty="0" sz="1950" spc="-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the</a:t>
            </a:r>
            <a:r>
              <a:rPr dirty="0" sz="1950" spc="2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Prophets</a:t>
            </a:r>
            <a:r>
              <a:rPr dirty="0" sz="1950" spc="5" b="0">
                <a:latin typeface="Trebuchet MS"/>
                <a:cs typeface="Trebuchet MS"/>
              </a:rPr>
              <a:t> </a:t>
            </a:r>
            <a:r>
              <a:rPr dirty="0" sz="1950" spc="-10" b="0">
                <a:latin typeface="Trebuchet MS"/>
                <a:cs typeface="Trebuchet MS"/>
              </a:rPr>
              <a:t>Character</a:t>
            </a:r>
            <a:endParaRPr sz="195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  <a:spcBef>
                <a:spcPts val="865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75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Outstanding</a:t>
            </a:r>
            <a:r>
              <a:rPr dirty="0" sz="1950" spc="2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Characteristics</a:t>
            </a:r>
            <a:r>
              <a:rPr dirty="0" sz="1950" spc="3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of</a:t>
            </a:r>
            <a:r>
              <a:rPr dirty="0" sz="1950" spc="-1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the</a:t>
            </a:r>
            <a:r>
              <a:rPr dirty="0" sz="1950" spc="3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Prophet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spc="-10" b="0">
                <a:latin typeface="Trebuchet MS"/>
                <a:cs typeface="Trebuchet MS"/>
              </a:rPr>
              <a:t>(PBUH)</a:t>
            </a:r>
            <a:endParaRPr sz="1950">
              <a:latin typeface="Trebuchet MS"/>
              <a:cs typeface="Trebuchet MS"/>
            </a:endParaRPr>
          </a:p>
          <a:p>
            <a:pPr marL="844550">
              <a:lnSpc>
                <a:spcPct val="100000"/>
              </a:lnSpc>
              <a:spcBef>
                <a:spcPts val="860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80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Finality</a:t>
            </a:r>
            <a:r>
              <a:rPr dirty="0" sz="1950" spc="2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of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Prophethood</a:t>
            </a:r>
            <a:r>
              <a:rPr dirty="0" sz="1950" spc="1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(Khatm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an-</a:t>
            </a:r>
            <a:r>
              <a:rPr dirty="0" sz="1950" spc="-10" b="0">
                <a:latin typeface="Trebuchet MS"/>
                <a:cs typeface="Trebuchet MS"/>
              </a:rPr>
              <a:t>Nubuwwah)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948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25"/>
              </a:spcBef>
            </a:pPr>
            <a:r>
              <a:rPr dirty="0"/>
              <a:t>Nabi</a:t>
            </a:r>
            <a:r>
              <a:rPr dirty="0" spc="-5"/>
              <a:t> </a:t>
            </a:r>
            <a:r>
              <a:rPr dirty="0"/>
              <a:t>(Prophet)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Rasool</a:t>
            </a:r>
            <a:r>
              <a:rPr dirty="0" spc="10"/>
              <a:t> </a:t>
            </a:r>
            <a:r>
              <a:rPr dirty="0" spc="-10"/>
              <a:t>(Messenger)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3</a:t>
            </a:r>
            <a:r>
              <a:rPr dirty="0" spc="-25"/>
              <a:t>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2349520"/>
            <a:ext cx="5955030" cy="2604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35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Nabi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(Prophet):</a:t>
            </a:r>
            <a:endParaRPr sz="1450">
              <a:latin typeface="Trebuchet MS"/>
              <a:cs typeface="Trebuchet MS"/>
            </a:endParaRPr>
          </a:p>
          <a:p>
            <a:pPr lvl="1" marL="450215" indent="-154305">
              <a:lnSpc>
                <a:spcPct val="100000"/>
              </a:lnSpc>
              <a:spcBef>
                <a:spcPts val="50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Receives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revelations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via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angel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(usually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Jibril).</a:t>
            </a:r>
            <a:endParaRPr sz="1450">
              <a:latin typeface="Trebuchet MS"/>
              <a:cs typeface="Trebuchet MS"/>
            </a:endParaRPr>
          </a:p>
          <a:p>
            <a:pPr lvl="1" marL="450215" indent="-154305">
              <a:lnSpc>
                <a:spcPct val="100000"/>
              </a:lnSpc>
              <a:spcBef>
                <a:spcPts val="35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Guides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community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using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message.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Rasool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(Messenger):</a:t>
            </a:r>
            <a:endParaRPr sz="1450">
              <a:latin typeface="Trebuchet MS"/>
              <a:cs typeface="Trebuchet MS"/>
            </a:endParaRPr>
          </a:p>
          <a:p>
            <a:pPr lvl="1" marL="450215" indent="-154305">
              <a:lnSpc>
                <a:spcPct val="100000"/>
              </a:lnSpc>
              <a:spcBef>
                <a:spcPts val="45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Brings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new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(Shariah)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scripture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law.</a:t>
            </a:r>
            <a:endParaRPr sz="1450">
              <a:latin typeface="Trebuchet MS"/>
              <a:cs typeface="Trebuchet MS"/>
            </a:endParaRPr>
          </a:p>
          <a:p>
            <a:pPr lvl="1" marL="450215" indent="-154305">
              <a:lnSpc>
                <a:spcPct val="100000"/>
              </a:lnSpc>
              <a:spcBef>
                <a:spcPts val="40"/>
              </a:spcBef>
              <a:buChar char="•"/>
              <a:tabLst>
                <a:tab pos="450215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Establishes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new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religious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community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based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message.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75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Key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Differences:</a:t>
            </a:r>
            <a:endParaRPr sz="1450">
              <a:latin typeface="Arial"/>
              <a:cs typeface="Arial"/>
            </a:endParaRPr>
          </a:p>
          <a:p>
            <a:pPr lvl="1" marL="412115" indent="-116205">
              <a:lnSpc>
                <a:spcPct val="100000"/>
              </a:lnSpc>
              <a:spcBef>
                <a:spcPts val="35"/>
              </a:spcBef>
              <a:buChar char="•"/>
              <a:tabLst>
                <a:tab pos="412115" algn="l"/>
              </a:tabLst>
            </a:pPr>
            <a:r>
              <a:rPr dirty="0" sz="1450">
                <a:latin typeface="Arial MT"/>
                <a:cs typeface="Arial MT"/>
              </a:rPr>
              <a:t>Nabi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follows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existing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law;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Rasool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establishes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new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law.</a:t>
            </a:r>
            <a:endParaRPr sz="1450">
              <a:latin typeface="Arial MT"/>
              <a:cs typeface="Arial MT"/>
            </a:endParaRPr>
          </a:p>
          <a:p>
            <a:pPr lvl="1" marL="412115" indent="-116205">
              <a:lnSpc>
                <a:spcPct val="100000"/>
              </a:lnSpc>
              <a:spcBef>
                <a:spcPts val="50"/>
              </a:spcBef>
              <a:buChar char="•"/>
              <a:tabLst>
                <a:tab pos="412115" algn="l"/>
              </a:tabLst>
            </a:pPr>
            <a:r>
              <a:rPr dirty="0" sz="1450">
                <a:latin typeface="Arial MT"/>
                <a:cs typeface="Arial MT"/>
              </a:rPr>
              <a:t>Rasool’s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message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broader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8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community-</a:t>
            </a:r>
            <a:r>
              <a:rPr dirty="0" sz="1450" spc="-10">
                <a:latin typeface="Arial MT"/>
                <a:cs typeface="Arial MT"/>
              </a:rPr>
              <a:t>changing.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Key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Point: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Every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Rasool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Nabi,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but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not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every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Nabi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Rasool.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447" y="1124273"/>
            <a:ext cx="8383270" cy="6064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/>
              <a:t>The</a:t>
            </a:r>
            <a:r>
              <a:rPr dirty="0" sz="2650" spc="-55"/>
              <a:t> </a:t>
            </a:r>
            <a:r>
              <a:rPr dirty="0" sz="2650" spc="-10"/>
              <a:t>Ulul</a:t>
            </a:r>
            <a:r>
              <a:rPr dirty="0" sz="2650" spc="-190"/>
              <a:t> </a:t>
            </a:r>
            <a:r>
              <a:rPr dirty="0" sz="2650"/>
              <a:t>Azm</a:t>
            </a:r>
            <a:r>
              <a:rPr dirty="0" sz="2650" spc="-55"/>
              <a:t> </a:t>
            </a:r>
            <a:r>
              <a:rPr dirty="0" sz="2650" spc="-10"/>
              <a:t>Prophets</a:t>
            </a:r>
            <a:endParaRPr sz="2650"/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295910" algn="l"/>
              </a:tabLst>
            </a:pPr>
            <a:r>
              <a:rPr dirty="0" u="none" sz="1150" spc="-50" b="0">
                <a:solidFill>
                  <a:srgbClr val="3F3F3F"/>
                </a:solidFill>
                <a:latin typeface="Georgia"/>
                <a:cs typeface="Georgia"/>
              </a:rPr>
              <a:t></a:t>
            </a:r>
            <a:r>
              <a:rPr dirty="0" u="none" sz="1150" b="0">
                <a:solidFill>
                  <a:srgbClr val="3F3F3F"/>
                </a:solidFill>
                <a:latin typeface="Georgia"/>
                <a:cs typeface="Georgia"/>
              </a:rPr>
              <a:t>	</a:t>
            </a:r>
            <a:r>
              <a:rPr dirty="0" u="none" sz="1150">
                <a:solidFill>
                  <a:srgbClr val="3F3F3F"/>
                </a:solidFill>
              </a:rPr>
              <a:t>Who</a:t>
            </a:r>
            <a:r>
              <a:rPr dirty="0" u="none" sz="1150" spc="-90">
                <a:solidFill>
                  <a:srgbClr val="3F3F3F"/>
                </a:solidFill>
              </a:rPr>
              <a:t> </a:t>
            </a:r>
            <a:r>
              <a:rPr dirty="0" u="none" sz="1150">
                <a:solidFill>
                  <a:srgbClr val="3F3F3F"/>
                </a:solidFill>
              </a:rPr>
              <a:t>Are</a:t>
            </a:r>
            <a:r>
              <a:rPr dirty="0" u="none" sz="1150" spc="-40">
                <a:solidFill>
                  <a:srgbClr val="3F3F3F"/>
                </a:solidFill>
              </a:rPr>
              <a:t> </a:t>
            </a:r>
            <a:r>
              <a:rPr dirty="0" u="none" sz="1150">
                <a:solidFill>
                  <a:srgbClr val="3F3F3F"/>
                </a:solidFill>
              </a:rPr>
              <a:t>They?</a:t>
            </a:r>
            <a:r>
              <a:rPr dirty="0" u="none" sz="1150" spc="-20">
                <a:solidFill>
                  <a:srgbClr val="3F3F3F"/>
                </a:solidFill>
              </a:rPr>
              <a:t> </a:t>
            </a:r>
            <a:r>
              <a:rPr dirty="0" u="none" sz="1150" b="0">
                <a:solidFill>
                  <a:srgbClr val="3F3F3F"/>
                </a:solidFill>
                <a:latin typeface="Trebuchet MS"/>
                <a:cs typeface="Trebuchet MS"/>
              </a:rPr>
              <a:t>These</a:t>
            </a:r>
            <a:r>
              <a:rPr dirty="0" u="none" sz="115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none" sz="1150" b="0">
                <a:solidFill>
                  <a:srgbClr val="3F3F3F"/>
                </a:solidFill>
                <a:latin typeface="Trebuchet MS"/>
                <a:cs typeface="Trebuchet MS"/>
              </a:rPr>
              <a:t>prophets</a:t>
            </a:r>
            <a:r>
              <a:rPr dirty="0" u="none" sz="115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none" sz="1150" b="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u="none" sz="1150" spc="-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none" sz="1150" b="0">
                <a:solidFill>
                  <a:srgbClr val="3F3F3F"/>
                </a:solidFill>
                <a:latin typeface="Trebuchet MS"/>
                <a:cs typeface="Trebuchet MS"/>
              </a:rPr>
              <a:t>very determined</a:t>
            </a:r>
            <a:r>
              <a:rPr dirty="0" u="none" sz="1150" spc="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none" sz="1150" b="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u="none" sz="1150" spc="-3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none" sz="1150" b="0">
                <a:solidFill>
                  <a:srgbClr val="3F3F3F"/>
                </a:solidFill>
                <a:latin typeface="Trebuchet MS"/>
                <a:cs typeface="Trebuchet MS"/>
              </a:rPr>
              <a:t>patient.</a:t>
            </a:r>
            <a:r>
              <a:rPr dirty="0" u="none" sz="1150" spc="-2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none" sz="1150" b="0">
                <a:solidFill>
                  <a:srgbClr val="3F3F3F"/>
                </a:solidFill>
                <a:latin typeface="Trebuchet MS"/>
                <a:cs typeface="Trebuchet MS"/>
              </a:rPr>
              <a:t>They</a:t>
            </a:r>
            <a:r>
              <a:rPr dirty="0" u="none" sz="1150" spc="-2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none" sz="1150" b="0">
                <a:solidFill>
                  <a:srgbClr val="3F3F3F"/>
                </a:solidFill>
                <a:latin typeface="Trebuchet MS"/>
                <a:cs typeface="Trebuchet MS"/>
              </a:rPr>
              <a:t>faced</a:t>
            </a:r>
            <a:r>
              <a:rPr dirty="0" u="none" sz="1150" spc="-3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none" sz="1150" b="0">
                <a:solidFill>
                  <a:srgbClr val="3F3F3F"/>
                </a:solidFill>
                <a:latin typeface="Trebuchet MS"/>
                <a:cs typeface="Trebuchet MS"/>
              </a:rPr>
              <a:t>big</a:t>
            </a:r>
            <a:r>
              <a:rPr dirty="0" u="none" sz="115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none" sz="1150" b="0">
                <a:solidFill>
                  <a:srgbClr val="3F3F3F"/>
                </a:solidFill>
                <a:latin typeface="Trebuchet MS"/>
                <a:cs typeface="Trebuchet MS"/>
              </a:rPr>
              <a:t>challenges</a:t>
            </a:r>
            <a:r>
              <a:rPr dirty="0" u="none" sz="1150" spc="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none" sz="1150" b="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u="none" sz="1150" spc="-2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none" sz="1150" b="0">
                <a:solidFill>
                  <a:srgbClr val="3F3F3F"/>
                </a:solidFill>
                <a:latin typeface="Trebuchet MS"/>
                <a:cs typeface="Trebuchet MS"/>
              </a:rPr>
              <a:t>strong,</a:t>
            </a:r>
            <a:r>
              <a:rPr dirty="0" u="none" sz="1150" spc="-2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none" sz="1150" b="0">
                <a:solidFill>
                  <a:srgbClr val="3F3F3F"/>
                </a:solidFill>
                <a:latin typeface="Trebuchet MS"/>
                <a:cs typeface="Trebuchet MS"/>
              </a:rPr>
              <a:t>unshakable</a:t>
            </a:r>
            <a:r>
              <a:rPr dirty="0" u="none" sz="1150" spc="2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none" sz="1150" spc="-10" b="0">
                <a:solidFill>
                  <a:srgbClr val="3F3F3F"/>
                </a:solidFill>
                <a:latin typeface="Trebuchet MS"/>
                <a:cs typeface="Trebuchet MS"/>
              </a:rPr>
              <a:t>faith.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463935" y="6121324"/>
            <a:ext cx="125095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25">
                <a:solidFill>
                  <a:srgbClr val="90C126"/>
                </a:solidFill>
                <a:latin typeface="Trebuchet MS"/>
                <a:cs typeface="Trebuchet MS"/>
              </a:rPr>
              <a:t>33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1539" y="1805432"/>
            <a:ext cx="9672320" cy="429768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  <a:tabLst>
                <a:tab pos="295910" algn="l"/>
              </a:tabLst>
            </a:pPr>
            <a:r>
              <a:rPr dirty="0" sz="10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300" spc="2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Five</a:t>
            </a:r>
            <a:r>
              <a:rPr dirty="0" u="sng" sz="1300" spc="4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Ulul</a:t>
            </a:r>
            <a:r>
              <a:rPr dirty="0" u="sng" sz="1300" spc="-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Azm</a:t>
            </a:r>
            <a:r>
              <a:rPr dirty="0" u="sng" sz="1300" spc="3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Prophets:</a:t>
            </a:r>
            <a:endParaRPr sz="1300">
              <a:latin typeface="Trebuchet MS"/>
              <a:cs typeface="Trebuchet MS"/>
            </a:endParaRPr>
          </a:p>
          <a:p>
            <a:pPr marL="196215" indent="-183515">
              <a:lnSpc>
                <a:spcPct val="100000"/>
              </a:lnSpc>
              <a:spcBef>
                <a:spcPts val="815"/>
              </a:spcBef>
              <a:buSzPct val="88461"/>
              <a:buAutoNum type="arabicPeriod"/>
              <a:tabLst>
                <a:tab pos="196215" algn="l"/>
              </a:tabLst>
            </a:pP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Prophet</a:t>
            </a:r>
            <a:r>
              <a:rPr dirty="0" u="sng" sz="1300" spc="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Noah</a:t>
            </a:r>
            <a:r>
              <a:rPr dirty="0" u="sng" sz="1300" spc="3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(AS):</a:t>
            </a:r>
            <a:endParaRPr sz="1300">
              <a:latin typeface="Trebuchet MS"/>
              <a:cs typeface="Trebuchet MS"/>
            </a:endParaRPr>
          </a:p>
          <a:p>
            <a:pPr lvl="1" marL="12700" marR="5080" indent="121285">
              <a:lnSpc>
                <a:spcPct val="100400"/>
              </a:lnSpc>
              <a:spcBef>
                <a:spcPts val="290"/>
              </a:spcBef>
              <a:buChar char="•"/>
              <a:tabLst>
                <a:tab pos="1339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preached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people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very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long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time,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telling</a:t>
            </a:r>
            <a:r>
              <a:rPr dirty="0" sz="11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them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worship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only</a:t>
            </a:r>
            <a:r>
              <a:rPr dirty="0" sz="1150" spc="-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people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mostly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refused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built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huge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ark because</a:t>
            </a:r>
            <a:r>
              <a:rPr dirty="0" sz="115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Allah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commanded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him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save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believers.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Even though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people laughed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him,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trusted</a:t>
            </a:r>
            <a:r>
              <a:rPr dirty="0" sz="115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Allah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completely.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When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great flood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came,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ark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saved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him and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those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believed.</a:t>
            </a:r>
            <a:endParaRPr sz="11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SzPct val="88461"/>
              <a:buAutoNum type="arabicPeriod" startAt="2"/>
              <a:tabLst>
                <a:tab pos="241300" algn="l"/>
              </a:tabLst>
            </a:pP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Prophet</a:t>
            </a:r>
            <a:r>
              <a:rPr dirty="0" u="sng" sz="1300" spc="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Ibrahim</a:t>
            </a:r>
            <a:r>
              <a:rPr dirty="0" u="sng" sz="1300" spc="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(AS):</a:t>
            </a:r>
            <a:endParaRPr sz="1300">
              <a:latin typeface="Trebuchet MS"/>
              <a:cs typeface="Trebuchet MS"/>
            </a:endParaRPr>
          </a:p>
          <a:p>
            <a:pPr lvl="1" marL="12700" marR="18415" indent="121285">
              <a:lnSpc>
                <a:spcPct val="100400"/>
              </a:lnSpc>
              <a:spcBef>
                <a:spcPts val="10"/>
              </a:spcBef>
              <a:buChar char="•"/>
              <a:tabLst>
                <a:tab pos="1339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Hazrat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Ibrahim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(AS)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also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preached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against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idol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worship.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faced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many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challenges,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including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being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thrown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into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fire,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but</a:t>
            </a:r>
            <a:r>
              <a:rPr dirty="0" sz="115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saved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him.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is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known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strong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faith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willingness</a:t>
            </a:r>
            <a:r>
              <a:rPr dirty="0" sz="11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obey</a:t>
            </a:r>
            <a:r>
              <a:rPr dirty="0" sz="115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commands,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even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when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they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seemed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very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difficult,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such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command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sacrifice 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his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son.</a:t>
            </a:r>
            <a:r>
              <a:rPr dirty="0" sz="1150" spc="-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Abraham</a:t>
            </a:r>
            <a:r>
              <a:rPr dirty="0" sz="11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considered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father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many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prophets.</a:t>
            </a:r>
            <a:endParaRPr sz="1150">
              <a:latin typeface="Trebuchet MS"/>
              <a:cs typeface="Trebuchet MS"/>
            </a:endParaRPr>
          </a:p>
          <a:p>
            <a:pPr marL="196215" indent="-183515">
              <a:lnSpc>
                <a:spcPct val="100000"/>
              </a:lnSpc>
              <a:spcBef>
                <a:spcPts val="835"/>
              </a:spcBef>
              <a:buSzPct val="88461"/>
              <a:buAutoNum type="arabicPeriod" startAt="3"/>
              <a:tabLst>
                <a:tab pos="196215" algn="l"/>
              </a:tabLst>
            </a:pP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Prophet</a:t>
            </a:r>
            <a:r>
              <a:rPr dirty="0" u="sng" sz="1300" spc="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Musa</a:t>
            </a:r>
            <a:r>
              <a:rPr dirty="0" u="sng" sz="1300" spc="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(AS):</a:t>
            </a:r>
            <a:endParaRPr sz="1300">
              <a:latin typeface="Trebuchet MS"/>
              <a:cs typeface="Trebuchet MS"/>
            </a:endParaRPr>
          </a:p>
          <a:p>
            <a:pPr lvl="1" marL="133985" indent="-121285">
              <a:lnSpc>
                <a:spcPct val="100000"/>
              </a:lnSpc>
              <a:spcBef>
                <a:spcPts val="20"/>
              </a:spcBef>
              <a:buChar char="•"/>
              <a:tabLst>
                <a:tab pos="1339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Led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his people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out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Egypt,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overcoming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oppression.</a:t>
            </a:r>
            <a:endParaRPr sz="1150">
              <a:latin typeface="Trebuchet MS"/>
              <a:cs typeface="Trebuchet MS"/>
            </a:endParaRPr>
          </a:p>
          <a:p>
            <a:pPr lvl="1" marL="133985" indent="-121285">
              <a:lnSpc>
                <a:spcPct val="100000"/>
              </a:lnSpc>
              <a:spcBef>
                <a:spcPts val="10"/>
              </a:spcBef>
              <a:buChar char="•"/>
              <a:tabLst>
                <a:tab pos="1339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Despite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facing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powerful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Pharaoh,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guided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Israelites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freedom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following</a:t>
            </a:r>
            <a:r>
              <a:rPr dirty="0" sz="115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Allah's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command.</a:t>
            </a:r>
            <a:endParaRPr sz="1150">
              <a:latin typeface="Trebuchet MS"/>
              <a:cs typeface="Trebuchet MS"/>
            </a:endParaRPr>
          </a:p>
          <a:p>
            <a:pPr marL="196215" indent="-183515">
              <a:lnSpc>
                <a:spcPct val="100000"/>
              </a:lnSpc>
              <a:spcBef>
                <a:spcPts val="835"/>
              </a:spcBef>
              <a:buSzPct val="88461"/>
              <a:buAutoNum type="arabicPeriod" startAt="4"/>
              <a:tabLst>
                <a:tab pos="196215" algn="l"/>
              </a:tabLst>
            </a:pP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Prophet</a:t>
            </a:r>
            <a:r>
              <a:rPr dirty="0" u="sng" sz="1300" spc="4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Isa</a:t>
            </a:r>
            <a:r>
              <a:rPr dirty="0" u="sng" sz="1300" spc="3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(AS):</a:t>
            </a:r>
            <a:endParaRPr sz="1300">
              <a:latin typeface="Trebuchet MS"/>
              <a:cs typeface="Trebuchet MS"/>
            </a:endParaRPr>
          </a:p>
          <a:p>
            <a:pPr lvl="1" marL="133985" indent="-121285">
              <a:lnSpc>
                <a:spcPct val="100000"/>
              </a:lnSpc>
              <a:spcBef>
                <a:spcPts val="15"/>
              </a:spcBef>
              <a:buChar char="•"/>
              <a:tabLst>
                <a:tab pos="1339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Performed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miracles and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spread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message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compassion.</a:t>
            </a:r>
            <a:endParaRPr sz="1150">
              <a:latin typeface="Trebuchet MS"/>
              <a:cs typeface="Trebuchet MS"/>
            </a:endParaRPr>
          </a:p>
          <a:p>
            <a:pPr lvl="1" marL="133985" indent="-121285">
              <a:lnSpc>
                <a:spcPct val="100000"/>
              </a:lnSpc>
              <a:buChar char="•"/>
              <a:tabLst>
                <a:tab pos="1339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healed</a:t>
            </a:r>
            <a:r>
              <a:rPr dirty="0" sz="11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sick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showed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kindness,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reminding</a:t>
            </a:r>
            <a:r>
              <a:rPr dirty="0" sz="11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people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care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one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another.</a:t>
            </a:r>
            <a:endParaRPr sz="1150">
              <a:latin typeface="Trebuchet MS"/>
              <a:cs typeface="Trebuchet MS"/>
            </a:endParaRPr>
          </a:p>
          <a:p>
            <a:pPr marL="196215" indent="-183515">
              <a:lnSpc>
                <a:spcPct val="100000"/>
              </a:lnSpc>
              <a:spcBef>
                <a:spcPts val="844"/>
              </a:spcBef>
              <a:buSzPct val="88461"/>
              <a:buAutoNum type="arabicPeriod" startAt="5"/>
              <a:tabLst>
                <a:tab pos="196215" algn="l"/>
              </a:tabLst>
            </a:pP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Prophet</a:t>
            </a:r>
            <a:r>
              <a:rPr dirty="0" u="sng" sz="1300" spc="8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Muhammad</a:t>
            </a:r>
            <a:r>
              <a:rPr dirty="0" u="sng" sz="1300" spc="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(SAW):</a:t>
            </a:r>
            <a:endParaRPr sz="1300">
              <a:latin typeface="Trebuchet MS"/>
              <a:cs typeface="Trebuchet MS"/>
            </a:endParaRPr>
          </a:p>
          <a:p>
            <a:pPr lvl="1" marL="12700" marR="414020" indent="121285">
              <a:lnSpc>
                <a:spcPct val="100000"/>
              </a:lnSpc>
              <a:spcBef>
                <a:spcPts val="20"/>
              </a:spcBef>
              <a:buChar char="•"/>
              <a:tabLst>
                <a:tab pos="1339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Muhammad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(SAW)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final prophet in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Islam.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received the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God.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faced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many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hardships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while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spreading</a:t>
            </a:r>
            <a:r>
              <a:rPr dirty="0" sz="11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message 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of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Islam.</a:t>
            </a:r>
            <a:endParaRPr sz="1150">
              <a:latin typeface="Trebuchet MS"/>
              <a:cs typeface="Trebuchet MS"/>
            </a:endParaRPr>
          </a:p>
          <a:p>
            <a:pPr lvl="1" marL="133985" indent="-121285">
              <a:lnSpc>
                <a:spcPct val="100000"/>
              </a:lnSpc>
              <a:spcBef>
                <a:spcPts val="15"/>
              </a:spcBef>
              <a:buChar char="•"/>
              <a:tabLst>
                <a:tab pos="1339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Hazrat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Muhammad</a:t>
            </a:r>
            <a:r>
              <a:rPr dirty="0" sz="11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(SAW)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known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exemplary</a:t>
            </a:r>
            <a:r>
              <a:rPr dirty="0" sz="11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character,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completion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150" spc="-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Allah message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mankind.</a:t>
            </a:r>
            <a:endParaRPr sz="1150">
              <a:latin typeface="Trebuchet MS"/>
              <a:cs typeface="Trebuchet MS"/>
            </a:endParaRPr>
          </a:p>
          <a:p>
            <a:pPr lvl="2" marL="409575" indent="-118110">
              <a:lnSpc>
                <a:spcPct val="100000"/>
              </a:lnSpc>
              <a:spcBef>
                <a:spcPts val="380"/>
              </a:spcBef>
              <a:buChar char="•"/>
              <a:tabLst>
                <a:tab pos="40957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Their strength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shows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us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value</a:t>
            </a:r>
            <a:r>
              <a:rPr dirty="0" sz="11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persistence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patience.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5031" y="6077496"/>
            <a:ext cx="6305550" cy="55308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56210" indent="-118110">
              <a:lnSpc>
                <a:spcPct val="100000"/>
              </a:lnSpc>
              <a:spcBef>
                <a:spcPts val="795"/>
              </a:spcBef>
              <a:buChar char="•"/>
              <a:tabLst>
                <a:tab pos="156210" algn="l"/>
              </a:tabLst>
            </a:pPr>
            <a:r>
              <a:rPr dirty="0" sz="1150" spc="-409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dirty="0" baseline="55555" sz="1125" spc="-187">
                <a:solidFill>
                  <a:srgbClr val="898989"/>
                </a:solidFill>
                <a:latin typeface="Trebuchet MS"/>
                <a:cs typeface="Trebuchet MS"/>
              </a:rPr>
              <a:t>M</a:t>
            </a:r>
            <a:r>
              <a:rPr dirty="0" sz="1150" spc="-520">
                <a:solidFill>
                  <a:srgbClr val="3F3F3F"/>
                </a:solidFill>
                <a:latin typeface="Trebuchet MS"/>
                <a:cs typeface="Trebuchet MS"/>
              </a:rPr>
              <a:t>h</a:t>
            </a:r>
            <a:r>
              <a:rPr dirty="0" baseline="55555" sz="1125" spc="-7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baseline="55555" sz="1125" spc="7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1150" spc="-62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dirty="0" baseline="55555" sz="1125" spc="-30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baseline="55555" sz="1125" spc="-247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sz="1150" spc="-425">
                <a:solidFill>
                  <a:srgbClr val="3F3F3F"/>
                </a:solidFill>
                <a:latin typeface="Trebuchet MS"/>
                <a:cs typeface="Trebuchet MS"/>
              </a:rPr>
              <a:t>y</a:t>
            </a:r>
            <a:r>
              <a:rPr dirty="0" baseline="55555" sz="1125" spc="-15">
                <a:solidFill>
                  <a:srgbClr val="898989"/>
                </a:solidFill>
                <a:latin typeface="Trebuchet MS"/>
                <a:cs typeface="Trebuchet MS"/>
              </a:rPr>
              <a:t>fi</a:t>
            </a:r>
            <a:r>
              <a:rPr dirty="0" baseline="55555" sz="1125" spc="-202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dirty="0" sz="1150" spc="-625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dirty="0" baseline="55555" sz="1125" spc="-67">
                <a:solidFill>
                  <a:srgbClr val="898989"/>
                </a:solidFill>
                <a:latin typeface="Trebuchet MS"/>
                <a:cs typeface="Trebuchet MS"/>
              </a:rPr>
              <a:t>W</a:t>
            </a:r>
            <a:r>
              <a:rPr dirty="0" sz="1150" spc="-455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dirty="0" baseline="55555" sz="1125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baseline="55555" sz="1125" spc="-569">
                <a:solidFill>
                  <a:srgbClr val="898989"/>
                </a:solidFill>
                <a:latin typeface="Trebuchet MS"/>
                <a:cs typeface="Trebuchet MS"/>
              </a:rPr>
              <a:t>q</a:t>
            </a:r>
            <a:r>
              <a:rPr dirty="0" sz="1150" spc="-285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dirty="0" baseline="55555" sz="1125" spc="-217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sz="1150" spc="-21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dirty="0" baseline="55555" sz="1125" spc="-187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sz="1150" spc="-15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dirty="0" baseline="55555" sz="1125" spc="-232">
                <a:solidFill>
                  <a:srgbClr val="898989"/>
                </a:solidFill>
                <a:latin typeface="Trebuchet MS"/>
                <a:cs typeface="Trebuchet MS"/>
              </a:rPr>
              <a:t>-</a:t>
            </a:r>
            <a:r>
              <a:rPr dirty="0" sz="1150" spc="-28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dirty="0" baseline="55555" sz="1125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baseline="55555" sz="1125" spc="-209">
                <a:solidFill>
                  <a:srgbClr val="898989"/>
                </a:solidFill>
                <a:latin typeface="Trebuchet MS"/>
                <a:cs typeface="Trebuchet MS"/>
              </a:rPr>
              <a:t>p</a:t>
            </a:r>
            <a:r>
              <a:rPr dirty="0" sz="1150" spc="-500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dirty="0" baseline="55555" sz="1125" spc="-7">
                <a:solidFill>
                  <a:srgbClr val="898989"/>
                </a:solidFill>
                <a:latin typeface="Trebuchet MS"/>
                <a:cs typeface="Trebuchet MS"/>
              </a:rPr>
              <a:t>r</a:t>
            </a:r>
            <a:r>
              <a:rPr dirty="0" baseline="55555" sz="1125" spc="-22">
                <a:solidFill>
                  <a:srgbClr val="898989"/>
                </a:solidFill>
                <a:latin typeface="Trebuchet MS"/>
                <a:cs typeface="Trebuchet MS"/>
              </a:rPr>
              <a:t>i</a:t>
            </a:r>
            <a:r>
              <a:rPr dirty="0" sz="1150" spc="-465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dirty="0" baseline="55555" sz="1125" spc="-7">
                <a:solidFill>
                  <a:srgbClr val="898989"/>
                </a:solidFill>
                <a:latin typeface="Trebuchet MS"/>
                <a:cs typeface="Trebuchet MS"/>
              </a:rPr>
              <a:t>n</a:t>
            </a:r>
            <a:r>
              <a:rPr dirty="0" baseline="55555" sz="1125" spc="30">
                <a:solidFill>
                  <a:srgbClr val="898989"/>
                </a:solidFill>
                <a:latin typeface="Trebuchet MS"/>
                <a:cs typeface="Trebuchet MS"/>
              </a:rPr>
              <a:t>g</a:t>
            </a:r>
            <a:r>
              <a:rPr dirty="0" sz="1150" spc="-275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dirty="0" baseline="55555" sz="1125" spc="-187">
                <a:solidFill>
                  <a:srgbClr val="898989"/>
                </a:solidFill>
                <a:latin typeface="Trebuchet MS"/>
                <a:cs typeface="Trebuchet MS"/>
              </a:rPr>
              <a:t>2</a:t>
            </a:r>
            <a:r>
              <a:rPr dirty="0" sz="1150" spc="-505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dirty="0" baseline="55555" sz="1125" spc="-7">
                <a:solidFill>
                  <a:srgbClr val="898989"/>
                </a:solidFill>
                <a:latin typeface="Trebuchet MS"/>
                <a:cs typeface="Trebuchet MS"/>
              </a:rPr>
              <a:t>02</a:t>
            </a:r>
            <a:r>
              <a:rPr dirty="0" baseline="55555" sz="1125" spc="-525">
                <a:solidFill>
                  <a:srgbClr val="898989"/>
                </a:solidFill>
                <a:latin typeface="Trebuchet MS"/>
                <a:cs typeface="Trebuchet MS"/>
              </a:rPr>
              <a:t>5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dirty="0" sz="1150" spc="-365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dirty="0" baseline="55555" sz="1125" spc="-30">
                <a:solidFill>
                  <a:srgbClr val="898989"/>
                </a:solidFill>
                <a:latin typeface="Trebuchet MS"/>
                <a:cs typeface="Trebuchet MS"/>
              </a:rPr>
              <a:t>I</a:t>
            </a:r>
            <a:r>
              <a:rPr dirty="0" baseline="55555" sz="1125" spc="-217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sz="1150" spc="-475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baseline="55555" sz="1125" spc="-22">
                <a:solidFill>
                  <a:srgbClr val="898989"/>
                </a:solidFill>
                <a:latin typeface="Trebuchet MS"/>
                <a:cs typeface="Trebuchet MS"/>
              </a:rPr>
              <a:t>l</a:t>
            </a:r>
            <a:r>
              <a:rPr dirty="0" baseline="55555" sz="1125" spc="-232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sz="1150" spc="-48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dirty="0" baseline="55555" sz="1125" spc="-247">
                <a:solidFill>
                  <a:srgbClr val="898989"/>
                </a:solidFill>
                <a:latin typeface="Trebuchet MS"/>
                <a:cs typeface="Trebuchet MS"/>
              </a:rPr>
              <a:t>m</a:t>
            </a:r>
            <a:r>
              <a:rPr dirty="0" sz="1150" spc="-505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dirty="0" baseline="55555" sz="1125" spc="-7">
                <a:solidFill>
                  <a:srgbClr val="898989"/>
                </a:solidFill>
                <a:latin typeface="Trebuchet MS"/>
                <a:cs typeface="Trebuchet MS"/>
              </a:rPr>
              <a:t>ic</a:t>
            </a:r>
            <a:r>
              <a:rPr dirty="0" baseline="55555" sz="1125" spc="52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baseline="55555" sz="1125" spc="-517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sz="1150" spc="-145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dirty="0" baseline="55555" sz="1125" spc="-247">
                <a:solidFill>
                  <a:srgbClr val="898989"/>
                </a:solidFill>
                <a:latin typeface="Trebuchet MS"/>
                <a:cs typeface="Trebuchet MS"/>
              </a:rPr>
              <a:t>t</a:t>
            </a:r>
            <a:r>
              <a:rPr dirty="0" sz="1150" spc="-31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dirty="0" baseline="55555" sz="1125" spc="-165">
                <a:solidFill>
                  <a:srgbClr val="898989"/>
                </a:solidFill>
                <a:latin typeface="Trebuchet MS"/>
                <a:cs typeface="Trebuchet MS"/>
              </a:rPr>
              <a:t>u</a:t>
            </a:r>
            <a:r>
              <a:rPr dirty="0" sz="1150" spc="-36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dirty="0" baseline="55555" sz="1125" spc="-127">
                <a:solidFill>
                  <a:srgbClr val="898989"/>
                </a:solidFill>
                <a:latin typeface="Trebuchet MS"/>
                <a:cs typeface="Trebuchet MS"/>
              </a:rPr>
              <a:t>d</a:t>
            </a:r>
            <a:r>
              <a:rPr dirty="0" sz="1150" spc="-54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dirty="0" baseline="55555" sz="1125" spc="-7">
                <a:solidFill>
                  <a:srgbClr val="898989"/>
                </a:solidFill>
                <a:latin typeface="Trebuchet MS"/>
                <a:cs typeface="Trebuchet MS"/>
              </a:rPr>
              <a:t>i</a:t>
            </a:r>
            <a:r>
              <a:rPr dirty="0" baseline="55555" sz="1125" spc="-150">
                <a:solidFill>
                  <a:srgbClr val="898989"/>
                </a:solidFill>
                <a:latin typeface="Trebuchet MS"/>
                <a:cs typeface="Trebuchet MS"/>
              </a:rPr>
              <a:t>e</a:t>
            </a:r>
            <a:r>
              <a:rPr dirty="0" sz="1150" spc="-555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dirty="0" baseline="55555" sz="1125" spc="-7">
                <a:solidFill>
                  <a:srgbClr val="898989"/>
                </a:solidFill>
                <a:latin typeface="Trebuchet MS"/>
                <a:cs typeface="Trebuchet MS"/>
              </a:rPr>
              <a:t>s</a:t>
            </a:r>
            <a:r>
              <a:rPr dirty="0" baseline="55555" sz="1125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baseline="55555" sz="1125" spc="-547">
                <a:solidFill>
                  <a:srgbClr val="898989"/>
                </a:solidFill>
                <a:latin typeface="Trebuchet MS"/>
                <a:cs typeface="Trebuchet MS"/>
              </a:rPr>
              <a:t>/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g</a:t>
            </a:r>
            <a:r>
              <a:rPr dirty="0" baseline="55555" sz="1125" spc="-89">
                <a:solidFill>
                  <a:srgbClr val="898989"/>
                </a:solidFill>
                <a:latin typeface="Trebuchet MS"/>
                <a:cs typeface="Trebuchet MS"/>
              </a:rPr>
              <a:t>E</a:t>
            </a:r>
            <a:r>
              <a:rPr dirty="0" sz="1150" spc="-295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dirty="0" baseline="55555" sz="1125" spc="-37">
                <a:solidFill>
                  <a:srgbClr val="898989"/>
                </a:solidFill>
                <a:latin typeface="Trebuchet MS"/>
                <a:cs typeface="Trebuchet MS"/>
              </a:rPr>
              <a:t>t</a:t>
            </a:r>
            <a:r>
              <a:rPr dirty="0" sz="1150" spc="-615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dirty="0" baseline="55555" sz="1125" spc="-22">
                <a:solidFill>
                  <a:srgbClr val="898989"/>
                </a:solidFill>
                <a:latin typeface="Trebuchet MS"/>
                <a:cs typeface="Trebuchet MS"/>
              </a:rPr>
              <a:t>h</a:t>
            </a:r>
            <a:r>
              <a:rPr dirty="0" baseline="55555" sz="1125" spc="-7">
                <a:solidFill>
                  <a:srgbClr val="898989"/>
                </a:solidFill>
                <a:latin typeface="Trebuchet MS"/>
                <a:cs typeface="Trebuchet MS"/>
              </a:rPr>
              <a:t>i</a:t>
            </a:r>
            <a:r>
              <a:rPr dirty="0" baseline="55555" sz="1125" spc="-67">
                <a:solidFill>
                  <a:srgbClr val="898989"/>
                </a:solidFill>
                <a:latin typeface="Trebuchet MS"/>
                <a:cs typeface="Trebuchet MS"/>
              </a:rPr>
              <a:t>c</a:t>
            </a:r>
            <a:r>
              <a:rPr dirty="0" sz="1150" spc="-59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dirty="0" baseline="55555" sz="1125" spc="7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baseline="55555" sz="1125" spc="-67">
                <a:solidFill>
                  <a:srgbClr val="898989"/>
                </a:solidFill>
                <a:latin typeface="Trebuchet MS"/>
                <a:cs typeface="Trebuchet MS"/>
              </a:rPr>
              <a:t>l</a:t>
            </a:r>
            <a:r>
              <a:rPr dirty="0" sz="1150" spc="-385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dirty="0" baseline="55555" sz="1125" spc="-82">
                <a:solidFill>
                  <a:srgbClr val="898989"/>
                </a:solidFill>
                <a:latin typeface="Trebuchet MS"/>
                <a:cs typeface="Trebuchet MS"/>
              </a:rPr>
              <a:t>B</a:t>
            </a:r>
            <a:r>
              <a:rPr dirty="0" sz="1150" spc="-415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dirty="0" baseline="55555" sz="1125" spc="-7">
                <a:solidFill>
                  <a:srgbClr val="898989"/>
                </a:solidFill>
                <a:latin typeface="Trebuchet MS"/>
                <a:cs typeface="Trebuchet MS"/>
              </a:rPr>
              <a:t>e</a:t>
            </a:r>
            <a:r>
              <a:rPr dirty="0" baseline="55555" sz="1125" spc="-112">
                <a:solidFill>
                  <a:srgbClr val="898989"/>
                </a:solidFill>
                <a:latin typeface="Trebuchet MS"/>
                <a:cs typeface="Trebuchet MS"/>
              </a:rPr>
              <a:t>h</a:t>
            </a:r>
            <a:r>
              <a:rPr dirty="0" sz="1150" spc="-590">
                <a:solidFill>
                  <a:srgbClr val="3F3F3F"/>
                </a:solidFill>
                <a:latin typeface="Trebuchet MS"/>
                <a:cs typeface="Trebuchet MS"/>
              </a:rPr>
              <a:t>b</a:t>
            </a:r>
            <a:r>
              <a:rPr dirty="0" baseline="55555" sz="1125" spc="7">
                <a:solidFill>
                  <a:srgbClr val="898989"/>
                </a:solidFill>
                <a:latin typeface="Trebuchet MS"/>
                <a:cs typeface="Trebuchet MS"/>
              </a:rPr>
              <a:t>a</a:t>
            </a:r>
            <a:r>
              <a:rPr dirty="0" baseline="55555" sz="1125" spc="-284">
                <a:solidFill>
                  <a:srgbClr val="898989"/>
                </a:solidFill>
                <a:latin typeface="Trebuchet MS"/>
                <a:cs typeface="Trebuchet MS"/>
              </a:rPr>
              <a:t>v</a:t>
            </a:r>
            <a:r>
              <a:rPr dirty="0" sz="1150" spc="-465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dirty="0" baseline="55555" sz="1125" spc="-7">
                <a:solidFill>
                  <a:srgbClr val="898989"/>
                </a:solidFill>
                <a:latin typeface="Trebuchet MS"/>
                <a:cs typeface="Trebuchet MS"/>
              </a:rPr>
              <a:t>i</a:t>
            </a:r>
            <a:r>
              <a:rPr dirty="0" baseline="55555" sz="1125" spc="-270">
                <a:solidFill>
                  <a:srgbClr val="898989"/>
                </a:solidFill>
                <a:latin typeface="Trebuchet MS"/>
                <a:cs typeface="Trebuchet MS"/>
              </a:rPr>
              <a:t>o</a:t>
            </a:r>
            <a:r>
              <a:rPr dirty="0" sz="1150" spc="-185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dirty="0" baseline="55555" sz="1125" spc="-367">
                <a:solidFill>
                  <a:srgbClr val="898989"/>
                </a:solidFill>
                <a:latin typeface="Trebuchet MS"/>
                <a:cs typeface="Trebuchet MS"/>
              </a:rPr>
              <a:t>u</a:t>
            </a:r>
            <a:r>
              <a:rPr dirty="0" sz="1150" spc="-10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dirty="0" baseline="55555" sz="1125" spc="-315">
                <a:solidFill>
                  <a:srgbClr val="898989"/>
                </a:solidFill>
                <a:latin typeface="Trebuchet MS"/>
                <a:cs typeface="Trebuchet MS"/>
              </a:rPr>
              <a:t>r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fs</a:t>
            </a:r>
            <a:r>
              <a:rPr dirty="0" sz="11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1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act</a:t>
            </a:r>
            <a:r>
              <a:rPr dirty="0" sz="11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1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courage</a:t>
            </a:r>
            <a:r>
              <a:rPr dirty="0" sz="11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1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integrity.</a:t>
            </a:r>
            <a:endParaRPr sz="1150">
              <a:latin typeface="Trebuchet MS"/>
              <a:cs typeface="Trebuchet MS"/>
            </a:endParaRPr>
          </a:p>
          <a:p>
            <a:pPr marL="156210" indent="-118110">
              <a:lnSpc>
                <a:spcPct val="100000"/>
              </a:lnSpc>
              <a:spcBef>
                <a:spcPts val="695"/>
              </a:spcBef>
              <a:buChar char="•"/>
              <a:tabLst>
                <a:tab pos="156210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Their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lives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serve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simple examples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how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overcome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challenges</a:t>
            </a:r>
            <a:r>
              <a:rPr dirty="0" sz="11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ethically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faith.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948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25"/>
              </a:spcBef>
            </a:pPr>
            <a:r>
              <a:rPr dirty="0" u="none"/>
              <a:t>Attributes</a:t>
            </a:r>
            <a:r>
              <a:rPr dirty="0" u="none" spc="10"/>
              <a:t> </a:t>
            </a:r>
            <a:r>
              <a:rPr dirty="0" u="none"/>
              <a:t>&amp; Qualities</a:t>
            </a:r>
            <a:r>
              <a:rPr dirty="0" u="none" spc="-15"/>
              <a:t> </a:t>
            </a:r>
            <a:r>
              <a:rPr dirty="0" u="none"/>
              <a:t>of</a:t>
            </a:r>
            <a:r>
              <a:rPr dirty="0" u="none" spc="30"/>
              <a:t> </a:t>
            </a:r>
            <a:r>
              <a:rPr dirty="0" u="none" spc="-10"/>
              <a:t>Prophets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2262253"/>
            <a:ext cx="6602095" cy="3081655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Core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Qualities:</a:t>
            </a:r>
            <a:endParaRPr sz="1450">
              <a:latin typeface="Trebuchet MS"/>
              <a:cs typeface="Trebuchet MS"/>
            </a:endParaRPr>
          </a:p>
          <a:p>
            <a:pPr marL="450850" indent="-154940">
              <a:lnSpc>
                <a:spcPct val="100000"/>
              </a:lnSpc>
              <a:spcBef>
                <a:spcPts val="940"/>
              </a:spcBef>
              <a:buFont typeface="Trebuchet MS"/>
              <a:buChar char="•"/>
              <a:tabLst>
                <a:tab pos="45085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Truthfulness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(Sidq):</a:t>
            </a:r>
            <a:r>
              <a:rPr dirty="0" sz="1450" spc="-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Always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honest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trustworthy.</a:t>
            </a:r>
            <a:endParaRPr sz="1450">
              <a:latin typeface="Trebuchet MS"/>
              <a:cs typeface="Trebuchet MS"/>
            </a:endParaRPr>
          </a:p>
          <a:p>
            <a:pPr marL="450850" indent="-154940">
              <a:lnSpc>
                <a:spcPct val="100000"/>
              </a:lnSpc>
              <a:spcBef>
                <a:spcPts val="935"/>
              </a:spcBef>
              <a:buFont typeface="Trebuchet MS"/>
              <a:buChar char="•"/>
              <a:tabLst>
                <a:tab pos="45085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Trustworthiness</a:t>
            </a:r>
            <a:r>
              <a:rPr dirty="0" sz="1450" spc="10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(Amanah):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Safeguard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divine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messages.</a:t>
            </a:r>
            <a:endParaRPr sz="1450">
              <a:latin typeface="Trebuchet MS"/>
              <a:cs typeface="Trebuchet MS"/>
            </a:endParaRPr>
          </a:p>
          <a:p>
            <a:pPr marL="450850" indent="-154940">
              <a:lnSpc>
                <a:spcPct val="100000"/>
              </a:lnSpc>
              <a:spcBef>
                <a:spcPts val="925"/>
              </a:spcBef>
              <a:buFont typeface="Trebuchet MS"/>
              <a:buChar char="•"/>
              <a:tabLst>
                <a:tab pos="45085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Wisdom</a:t>
            </a:r>
            <a:r>
              <a:rPr dirty="0" sz="1450" spc="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(Fatanah):</a:t>
            </a:r>
            <a:r>
              <a:rPr dirty="0" sz="1450" spc="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Shows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deep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understanding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insight.</a:t>
            </a:r>
            <a:endParaRPr sz="1450">
              <a:latin typeface="Trebuchet MS"/>
              <a:cs typeface="Trebuchet MS"/>
            </a:endParaRPr>
          </a:p>
          <a:p>
            <a:pPr marL="450850" indent="-154940">
              <a:lnSpc>
                <a:spcPct val="100000"/>
              </a:lnSpc>
              <a:spcBef>
                <a:spcPts val="935"/>
              </a:spcBef>
              <a:buFont typeface="Trebuchet MS"/>
              <a:buChar char="•"/>
              <a:tabLst>
                <a:tab pos="45085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Infallibility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(Ismah):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Free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major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sins;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ideal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role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models.</a:t>
            </a:r>
            <a:endParaRPr sz="1450">
              <a:latin typeface="Trebuchet MS"/>
              <a:cs typeface="Trebuchet MS"/>
            </a:endParaRPr>
          </a:p>
          <a:p>
            <a:pPr marL="450850" indent="-154940">
              <a:lnSpc>
                <a:spcPct val="100000"/>
              </a:lnSpc>
              <a:spcBef>
                <a:spcPts val="935"/>
              </a:spcBef>
              <a:buFont typeface="Trebuchet MS"/>
              <a:buChar char="•"/>
              <a:tabLst>
                <a:tab pos="45085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Patience</a:t>
            </a:r>
            <a:r>
              <a:rPr dirty="0" sz="1450" spc="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(Sabr):</a:t>
            </a:r>
            <a:r>
              <a:rPr dirty="0" sz="1450" spc="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Steadfast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under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trials.</a:t>
            </a:r>
            <a:endParaRPr sz="1450">
              <a:latin typeface="Trebuchet MS"/>
              <a:cs typeface="Trebuchet MS"/>
            </a:endParaRPr>
          </a:p>
          <a:p>
            <a:pPr marL="450850" indent="-154940">
              <a:lnSpc>
                <a:spcPct val="100000"/>
              </a:lnSpc>
              <a:spcBef>
                <a:spcPts val="935"/>
              </a:spcBef>
              <a:buFont typeface="Trebuchet MS"/>
              <a:buChar char="•"/>
              <a:tabLst>
                <a:tab pos="45085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Justice</a:t>
            </a:r>
            <a:r>
              <a:rPr dirty="0" sz="1450" spc="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(‘Adl):</a:t>
            </a:r>
            <a:r>
              <a:rPr dirty="0" sz="1450" spc="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Fair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equitable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dealings.</a:t>
            </a:r>
            <a:endParaRPr sz="1450">
              <a:latin typeface="Trebuchet MS"/>
              <a:cs typeface="Trebuchet MS"/>
            </a:endParaRPr>
          </a:p>
          <a:p>
            <a:pPr marL="450850" indent="-154940">
              <a:lnSpc>
                <a:spcPct val="100000"/>
              </a:lnSpc>
              <a:spcBef>
                <a:spcPts val="925"/>
              </a:spcBef>
              <a:buFont typeface="Trebuchet MS"/>
              <a:buChar char="•"/>
              <a:tabLst>
                <a:tab pos="45085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Humility</a:t>
            </a:r>
            <a:r>
              <a:rPr dirty="0" sz="1450" spc="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(Tawadu’):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Modest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despite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high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status.</a:t>
            </a:r>
            <a:endParaRPr sz="1450">
              <a:latin typeface="Trebuchet MS"/>
              <a:cs typeface="Trebuchet MS"/>
            </a:endParaRPr>
          </a:p>
          <a:p>
            <a:pPr marL="450850" indent="-154940">
              <a:lnSpc>
                <a:spcPct val="100000"/>
              </a:lnSpc>
              <a:spcBef>
                <a:spcPts val="935"/>
              </a:spcBef>
              <a:buFont typeface="Trebuchet MS"/>
              <a:buChar char="•"/>
              <a:tabLst>
                <a:tab pos="45085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Courage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(Shaja’ah):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Bold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confronting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injustice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facing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challenges.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63935" y="6121324"/>
            <a:ext cx="125095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25">
                <a:solidFill>
                  <a:srgbClr val="90C126"/>
                </a:solidFill>
                <a:latin typeface="Trebuchet MS"/>
                <a:cs typeface="Trebuchet MS"/>
              </a:rPr>
              <a:t>34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2778" y="6121324"/>
            <a:ext cx="2750820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Ms</a:t>
            </a:r>
            <a:r>
              <a:rPr dirty="0" sz="750" spc="-1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Safia</a:t>
            </a:r>
            <a:r>
              <a:rPr dirty="0" sz="750" spc="-2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Waqas</a:t>
            </a:r>
            <a:r>
              <a:rPr dirty="0" sz="750" spc="-3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-</a:t>
            </a:r>
            <a:r>
              <a:rPr dirty="0" sz="750" spc="-2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Spring</a:t>
            </a:r>
            <a:r>
              <a:rPr dirty="0" sz="750" spc="-25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2025</a:t>
            </a:r>
            <a:r>
              <a:rPr dirty="0" sz="750" spc="-10">
                <a:solidFill>
                  <a:srgbClr val="898989"/>
                </a:solidFill>
                <a:latin typeface="Trebuchet MS"/>
                <a:cs typeface="Trebuchet MS"/>
              </a:rPr>
              <a:t> Islamic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898989"/>
                </a:solidFill>
                <a:latin typeface="Trebuchet MS"/>
                <a:cs typeface="Trebuchet MS"/>
              </a:rPr>
              <a:t>Studies</a:t>
            </a:r>
            <a:r>
              <a:rPr dirty="0" sz="750" spc="-35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/</a:t>
            </a:r>
            <a:r>
              <a:rPr dirty="0" sz="750" spc="-5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Ethical</a:t>
            </a:r>
            <a:r>
              <a:rPr dirty="0" sz="750" spc="-15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898989"/>
                </a:solidFill>
                <a:latin typeface="Trebuchet MS"/>
                <a:cs typeface="Trebuchet MS"/>
              </a:rPr>
              <a:t>Behaviour</a:t>
            </a:r>
            <a:endParaRPr sz="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947" y="1310134"/>
            <a:ext cx="707707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none"/>
              <a:t>Inspiration</a:t>
            </a:r>
            <a:r>
              <a:rPr dirty="0" u="none" spc="-20"/>
              <a:t> </a:t>
            </a:r>
            <a:r>
              <a:rPr dirty="0" u="none"/>
              <a:t>from</a:t>
            </a:r>
            <a:r>
              <a:rPr dirty="0" u="none" spc="-15"/>
              <a:t> </a:t>
            </a:r>
            <a:r>
              <a:rPr dirty="0" u="none"/>
              <a:t>the</a:t>
            </a:r>
            <a:r>
              <a:rPr dirty="0" u="none" spc="-25"/>
              <a:t> </a:t>
            </a:r>
            <a:r>
              <a:rPr dirty="0" u="none"/>
              <a:t>Prophets</a:t>
            </a:r>
            <a:r>
              <a:rPr dirty="0" u="none" spc="-50"/>
              <a:t> </a:t>
            </a:r>
            <a:r>
              <a:rPr dirty="0" u="none" spc="-10"/>
              <a:t>Character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017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2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Role</a:t>
            </a:r>
            <a:r>
              <a:rPr dirty="0" sz="1450" spc="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Models</a:t>
            </a:r>
            <a:r>
              <a:rPr dirty="0" sz="145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dirty="0" sz="1450" spc="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Good</a:t>
            </a:r>
            <a:r>
              <a:rPr dirty="0" sz="1450" spc="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000000"/>
                </a:solidFill>
                <a:latin typeface="Arial"/>
                <a:cs typeface="Arial"/>
              </a:rPr>
              <a:t>Behavior:</a:t>
            </a:r>
            <a:endParaRPr sz="1450">
              <a:latin typeface="Arial"/>
              <a:cs typeface="Arial"/>
            </a:endParaRPr>
          </a:p>
          <a:p>
            <a:pPr lvl="1" marL="412115" indent="-116205">
              <a:lnSpc>
                <a:spcPct val="100000"/>
              </a:lnSpc>
              <a:spcBef>
                <a:spcPts val="940"/>
              </a:spcBef>
              <a:buChar char="•"/>
              <a:tabLst>
                <a:tab pos="412115" algn="l"/>
              </a:tabLst>
            </a:pPr>
            <a:r>
              <a:rPr dirty="0" sz="1450">
                <a:latin typeface="Arial MT"/>
                <a:cs typeface="Arial MT"/>
              </a:rPr>
              <a:t>Prophets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show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how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act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kindness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fairness.</a:t>
            </a:r>
            <a:endParaRPr sz="1450">
              <a:latin typeface="Arial MT"/>
              <a:cs typeface="Arial MT"/>
            </a:endParaRPr>
          </a:p>
          <a:p>
            <a:pPr marL="295910" marR="5080">
              <a:lnSpc>
                <a:spcPct val="153100"/>
              </a:lnSpc>
              <a:spcBef>
                <a:spcPts val="10"/>
              </a:spcBef>
            </a:pPr>
            <a:r>
              <a:rPr dirty="0" sz="1450" b="0">
                <a:solidFill>
                  <a:srgbClr val="000000"/>
                </a:solidFill>
                <a:latin typeface="Arial MT"/>
                <a:cs typeface="Arial MT"/>
              </a:rPr>
              <a:t>Prophet</a:t>
            </a:r>
            <a:r>
              <a:rPr dirty="0" sz="1450" spc="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450" b="0">
                <a:solidFill>
                  <a:srgbClr val="000000"/>
                </a:solidFill>
                <a:latin typeface="Arial MT"/>
                <a:cs typeface="Arial MT"/>
              </a:rPr>
              <a:t>Muhammad</a:t>
            </a:r>
            <a:r>
              <a:rPr dirty="0" sz="1450" spc="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450" b="0">
                <a:solidFill>
                  <a:srgbClr val="000000"/>
                </a:solidFill>
                <a:latin typeface="Arial MT"/>
                <a:cs typeface="Arial MT"/>
              </a:rPr>
              <a:t>(pbuh)</a:t>
            </a:r>
            <a:r>
              <a:rPr dirty="0" sz="1450" spc="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450" b="0">
                <a:solidFill>
                  <a:srgbClr val="000000"/>
                </a:solidFill>
                <a:latin typeface="Arial MT"/>
                <a:cs typeface="Arial MT"/>
              </a:rPr>
              <a:t>treated</a:t>
            </a:r>
            <a:r>
              <a:rPr dirty="0" sz="1450" spc="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450" b="0">
                <a:solidFill>
                  <a:srgbClr val="000000"/>
                </a:solidFill>
                <a:latin typeface="Arial MT"/>
                <a:cs typeface="Arial MT"/>
              </a:rPr>
              <a:t>everyone</a:t>
            </a:r>
            <a:r>
              <a:rPr dirty="0" sz="1450" spc="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450" b="0">
                <a:solidFill>
                  <a:srgbClr val="000000"/>
                </a:solidFill>
                <a:latin typeface="Arial MT"/>
                <a:cs typeface="Arial MT"/>
              </a:rPr>
              <a:t>with</a:t>
            </a:r>
            <a:r>
              <a:rPr dirty="0" sz="1450" spc="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450" b="0">
                <a:solidFill>
                  <a:srgbClr val="000000"/>
                </a:solidFill>
                <a:latin typeface="Arial MT"/>
                <a:cs typeface="Arial MT"/>
              </a:rPr>
              <a:t>respect,</a:t>
            </a:r>
            <a:r>
              <a:rPr dirty="0" sz="1450" spc="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450" b="0">
                <a:solidFill>
                  <a:srgbClr val="000000"/>
                </a:solidFill>
                <a:latin typeface="Arial MT"/>
                <a:cs typeface="Arial MT"/>
              </a:rPr>
              <a:t>even</a:t>
            </a:r>
            <a:r>
              <a:rPr dirty="0" sz="1450" spc="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450" b="0">
                <a:solidFill>
                  <a:srgbClr val="000000"/>
                </a:solidFill>
                <a:latin typeface="Arial MT"/>
                <a:cs typeface="Arial MT"/>
              </a:rPr>
              <a:t>those</a:t>
            </a:r>
            <a:r>
              <a:rPr dirty="0" sz="1450" spc="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450" b="0">
                <a:solidFill>
                  <a:srgbClr val="000000"/>
                </a:solidFill>
                <a:latin typeface="Arial MT"/>
                <a:cs typeface="Arial MT"/>
              </a:rPr>
              <a:t>who</a:t>
            </a:r>
            <a:r>
              <a:rPr dirty="0" sz="1450" spc="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450" b="0">
                <a:solidFill>
                  <a:srgbClr val="000000"/>
                </a:solidFill>
                <a:latin typeface="Arial MT"/>
                <a:cs typeface="Arial MT"/>
              </a:rPr>
              <a:t>disagreed</a:t>
            </a:r>
            <a:r>
              <a:rPr dirty="0" sz="1450" spc="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450" spc="-20" b="0">
                <a:solidFill>
                  <a:srgbClr val="000000"/>
                </a:solidFill>
                <a:latin typeface="Arial MT"/>
                <a:cs typeface="Arial MT"/>
              </a:rPr>
              <a:t>with him.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93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Promote</a:t>
            </a:r>
            <a:r>
              <a:rPr dirty="0" sz="1450" spc="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Honesty</a:t>
            </a:r>
            <a:r>
              <a:rPr dirty="0" sz="1450" spc="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450" spc="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000000"/>
                </a:solidFill>
                <a:latin typeface="Arial"/>
                <a:cs typeface="Arial"/>
              </a:rPr>
              <a:t>Trust:</a:t>
            </a:r>
            <a:endParaRPr sz="1450">
              <a:latin typeface="Arial"/>
              <a:cs typeface="Arial"/>
            </a:endParaRPr>
          </a:p>
          <a:p>
            <a:pPr lvl="1" marL="408305" indent="-112395">
              <a:lnSpc>
                <a:spcPct val="100000"/>
              </a:lnSpc>
              <a:spcBef>
                <a:spcPts val="935"/>
              </a:spcBef>
              <a:buChar char="•"/>
              <a:tabLst>
                <a:tab pos="408305" algn="l"/>
              </a:tabLst>
            </a:pPr>
            <a:r>
              <a:rPr dirty="0" sz="1450">
                <a:latin typeface="Arial MT"/>
                <a:cs typeface="Arial MT"/>
              </a:rPr>
              <a:t>Their words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actions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teach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always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truthful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keep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promises.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940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Encourage</a:t>
            </a:r>
            <a:r>
              <a:rPr dirty="0" sz="1450" spc="1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000000"/>
                </a:solidFill>
                <a:latin typeface="Arial"/>
                <a:cs typeface="Arial"/>
              </a:rPr>
              <a:t>Justice:</a:t>
            </a:r>
            <a:endParaRPr sz="1450">
              <a:latin typeface="Arial"/>
              <a:cs typeface="Arial"/>
            </a:endParaRPr>
          </a:p>
          <a:p>
            <a:pPr lvl="1" marL="408305" indent="-112395">
              <a:lnSpc>
                <a:spcPct val="100000"/>
              </a:lnSpc>
              <a:spcBef>
                <a:spcPts val="919"/>
              </a:spcBef>
              <a:buChar char="•"/>
              <a:tabLst>
                <a:tab pos="408305" algn="l"/>
              </a:tabLst>
            </a:pPr>
            <a:r>
              <a:rPr dirty="0" sz="1450">
                <a:latin typeface="Arial MT"/>
                <a:cs typeface="Arial MT"/>
              </a:rPr>
              <a:t>They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stand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up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what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right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ensure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everyone</a:t>
            </a:r>
            <a:r>
              <a:rPr dirty="0" sz="1450" spc="9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treated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fairly.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940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Inspire</a:t>
            </a:r>
            <a:r>
              <a:rPr dirty="0" sz="1450" spc="8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Compassion</a:t>
            </a:r>
            <a:r>
              <a:rPr dirty="0" sz="1450" spc="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450" spc="7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000000"/>
                </a:solidFill>
                <a:latin typeface="Arial"/>
                <a:cs typeface="Arial"/>
              </a:rPr>
              <a:t>Patience:</a:t>
            </a:r>
            <a:endParaRPr sz="1450">
              <a:latin typeface="Arial"/>
              <a:cs typeface="Arial"/>
            </a:endParaRPr>
          </a:p>
          <a:p>
            <a:pPr lvl="1" marL="412115" indent="-116205">
              <a:lnSpc>
                <a:spcPct val="100000"/>
              </a:lnSpc>
              <a:spcBef>
                <a:spcPts val="935"/>
              </a:spcBef>
              <a:buChar char="•"/>
              <a:tabLst>
                <a:tab pos="412115" algn="l"/>
              </a:tabLst>
            </a:pPr>
            <a:r>
              <a:rPr dirty="0" sz="1450">
                <a:latin typeface="Arial MT"/>
                <a:cs typeface="Arial MT"/>
              </a:rPr>
              <a:t>Prophets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show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how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care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others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remain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calm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hard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times.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93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Guide</a:t>
            </a:r>
            <a:r>
              <a:rPr dirty="0" sz="1450" spc="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145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dirty="0" sz="1450" spc="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00"/>
                </a:solidFill>
                <a:latin typeface="Arial"/>
                <a:cs typeface="Arial"/>
              </a:rPr>
              <a:t>Balanced</a:t>
            </a:r>
            <a:r>
              <a:rPr dirty="0" sz="1450" spc="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000000"/>
                </a:solidFill>
                <a:latin typeface="Arial"/>
                <a:cs typeface="Arial"/>
              </a:rPr>
              <a:t>Life:</a:t>
            </a:r>
            <a:endParaRPr sz="1450">
              <a:latin typeface="Arial"/>
              <a:cs typeface="Arial"/>
            </a:endParaRPr>
          </a:p>
          <a:p>
            <a:pPr lvl="1" marL="408305" indent="-112395">
              <a:lnSpc>
                <a:spcPct val="100000"/>
              </a:lnSpc>
              <a:spcBef>
                <a:spcPts val="925"/>
              </a:spcBef>
              <a:buChar char="•"/>
              <a:tabLst>
                <a:tab pos="408305" algn="l"/>
              </a:tabLst>
            </a:pPr>
            <a:r>
              <a:rPr dirty="0" sz="1450">
                <a:latin typeface="Arial MT"/>
                <a:cs typeface="Arial MT"/>
              </a:rPr>
              <a:t>Their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example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helps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balance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work,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worship,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family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responsibilities.</a:t>
            </a:r>
            <a:endParaRPr sz="1450">
              <a:latin typeface="Arial MT"/>
              <a:cs typeface="Arial MT"/>
            </a:endParaRPr>
          </a:p>
          <a:p>
            <a:pPr marL="192405">
              <a:lnSpc>
                <a:spcPts val="680"/>
              </a:lnSpc>
              <a:spcBef>
                <a:spcPts val="470"/>
              </a:spcBef>
              <a:tabLst>
                <a:tab pos="7033259" algn="l"/>
              </a:tabLst>
            </a:pPr>
            <a:r>
              <a:rPr dirty="0" sz="750" b="0">
                <a:solidFill>
                  <a:srgbClr val="898989"/>
                </a:solidFill>
                <a:latin typeface="Trebuchet MS"/>
                <a:cs typeface="Trebuchet MS"/>
              </a:rPr>
              <a:t>Ms</a:t>
            </a:r>
            <a:r>
              <a:rPr dirty="0" sz="750" spc="-10" b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 b="0">
                <a:solidFill>
                  <a:srgbClr val="898989"/>
                </a:solidFill>
                <a:latin typeface="Trebuchet MS"/>
                <a:cs typeface="Trebuchet MS"/>
              </a:rPr>
              <a:t>Safia</a:t>
            </a:r>
            <a:r>
              <a:rPr dirty="0" sz="750" spc="-20" b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 b="0">
                <a:solidFill>
                  <a:srgbClr val="898989"/>
                </a:solidFill>
                <a:latin typeface="Trebuchet MS"/>
                <a:cs typeface="Trebuchet MS"/>
              </a:rPr>
              <a:t>Waqas</a:t>
            </a:r>
            <a:r>
              <a:rPr dirty="0" sz="750" spc="-30" b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 b="0">
                <a:solidFill>
                  <a:srgbClr val="898989"/>
                </a:solidFill>
                <a:latin typeface="Trebuchet MS"/>
                <a:cs typeface="Trebuchet MS"/>
              </a:rPr>
              <a:t>-</a:t>
            </a:r>
            <a:r>
              <a:rPr dirty="0" sz="750" spc="-20" b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 b="0">
                <a:solidFill>
                  <a:srgbClr val="898989"/>
                </a:solidFill>
                <a:latin typeface="Trebuchet MS"/>
                <a:cs typeface="Trebuchet MS"/>
              </a:rPr>
              <a:t>Spring</a:t>
            </a:r>
            <a:r>
              <a:rPr dirty="0" sz="750" spc="-25" b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 b="0">
                <a:solidFill>
                  <a:srgbClr val="898989"/>
                </a:solidFill>
                <a:latin typeface="Trebuchet MS"/>
                <a:cs typeface="Trebuchet MS"/>
              </a:rPr>
              <a:t>2025</a:t>
            </a:r>
            <a:r>
              <a:rPr dirty="0" sz="750" spc="-10" b="0">
                <a:solidFill>
                  <a:srgbClr val="898989"/>
                </a:solidFill>
                <a:latin typeface="Trebuchet MS"/>
                <a:cs typeface="Trebuchet MS"/>
              </a:rPr>
              <a:t> Islamic</a:t>
            </a:r>
            <a:r>
              <a:rPr dirty="0" sz="750" b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 spc="-10" b="0">
                <a:solidFill>
                  <a:srgbClr val="898989"/>
                </a:solidFill>
                <a:latin typeface="Trebuchet MS"/>
                <a:cs typeface="Trebuchet MS"/>
              </a:rPr>
              <a:t>Studies</a:t>
            </a:r>
            <a:r>
              <a:rPr dirty="0" sz="750" spc="-35" b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 b="0">
                <a:solidFill>
                  <a:srgbClr val="898989"/>
                </a:solidFill>
                <a:latin typeface="Trebuchet MS"/>
                <a:cs typeface="Trebuchet MS"/>
              </a:rPr>
              <a:t>/</a:t>
            </a:r>
            <a:r>
              <a:rPr dirty="0" sz="750" spc="-5" b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 b="0">
                <a:solidFill>
                  <a:srgbClr val="898989"/>
                </a:solidFill>
                <a:latin typeface="Trebuchet MS"/>
                <a:cs typeface="Trebuchet MS"/>
              </a:rPr>
              <a:t>Ethical</a:t>
            </a:r>
            <a:r>
              <a:rPr dirty="0" sz="750" spc="-15" b="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 spc="-10" b="0">
                <a:solidFill>
                  <a:srgbClr val="898989"/>
                </a:solidFill>
                <a:latin typeface="Trebuchet MS"/>
                <a:cs typeface="Trebuchet MS"/>
              </a:rPr>
              <a:t>Behaviour</a:t>
            </a:r>
            <a:r>
              <a:rPr dirty="0" sz="750" b="0">
                <a:solidFill>
                  <a:srgbClr val="898989"/>
                </a:solidFill>
                <a:latin typeface="Trebuchet MS"/>
                <a:cs typeface="Trebuchet MS"/>
              </a:rPr>
              <a:t>	</a:t>
            </a:r>
            <a:r>
              <a:rPr dirty="0" sz="750" spc="-25" b="0">
                <a:solidFill>
                  <a:srgbClr val="90C126"/>
                </a:solidFill>
                <a:latin typeface="Trebuchet MS"/>
                <a:cs typeface="Trebuchet MS"/>
              </a:rPr>
              <a:t>35</a:t>
            </a:r>
            <a:endParaRPr sz="750">
              <a:latin typeface="Trebuchet MS"/>
              <a:cs typeface="Trebuchet MS"/>
            </a:endParaRPr>
          </a:p>
          <a:p>
            <a:pPr lvl="1" marL="412750" indent="-116839">
              <a:lnSpc>
                <a:spcPts val="1520"/>
              </a:lnSpc>
              <a:buFont typeface="Arial MT"/>
              <a:buChar char="•"/>
              <a:tabLst>
                <a:tab pos="412750" algn="l"/>
              </a:tabLst>
            </a:pPr>
            <a:r>
              <a:rPr dirty="0" sz="1450" i="1">
                <a:latin typeface="Arial"/>
                <a:cs typeface="Arial"/>
              </a:rPr>
              <a:t>Example:</a:t>
            </a:r>
            <a:r>
              <a:rPr dirty="0" sz="1450" spc="25" i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managing,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prayer,</a:t>
            </a:r>
            <a:r>
              <a:rPr dirty="0" sz="1450" spc="8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family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time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so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that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no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part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life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neglected.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192" rIns="0" bIns="0" rtlCol="0" vert="horz">
            <a:spAutoFit/>
          </a:bodyPr>
          <a:lstStyle/>
          <a:p>
            <a:pPr marL="2107565" marR="5080" indent="-1628139">
              <a:lnSpc>
                <a:spcPct val="100699"/>
              </a:lnSpc>
              <a:spcBef>
                <a:spcPts val="100"/>
              </a:spcBef>
            </a:pPr>
            <a:r>
              <a:rPr dirty="0" u="none"/>
              <a:t>Outstanding</a:t>
            </a:r>
            <a:r>
              <a:rPr dirty="0" u="none" spc="-35"/>
              <a:t> </a:t>
            </a:r>
            <a:r>
              <a:rPr dirty="0" u="none"/>
              <a:t>Characteristics</a:t>
            </a:r>
            <a:r>
              <a:rPr dirty="0" u="none" spc="-60"/>
              <a:t> </a:t>
            </a:r>
            <a:r>
              <a:rPr dirty="0" u="none"/>
              <a:t>of</a:t>
            </a:r>
            <a:r>
              <a:rPr dirty="0" u="none" spc="-25"/>
              <a:t> the </a:t>
            </a:r>
            <a:r>
              <a:rPr dirty="0" u="none"/>
              <a:t>Prophet</a:t>
            </a:r>
            <a:r>
              <a:rPr dirty="0" u="none" spc="-20"/>
              <a:t> </a:t>
            </a:r>
            <a:r>
              <a:rPr dirty="0" u="none" spc="-10"/>
              <a:t>(PBUH</a:t>
            </a:r>
            <a:r>
              <a:rPr dirty="0" u="none" spc="-10" b="0">
                <a:latin typeface="Trebuchet MS"/>
                <a:cs typeface="Trebuchet MS"/>
              </a:rPr>
              <a:t>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88" y="2365984"/>
            <a:ext cx="4101465" cy="3761104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2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Seal</a:t>
            </a:r>
            <a:r>
              <a:rPr dirty="0" sz="1450" spc="12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of</a:t>
            </a:r>
            <a:r>
              <a:rPr dirty="0" sz="1450" spc="1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Prophethood</a:t>
            </a:r>
            <a:r>
              <a:rPr dirty="0" sz="1450" spc="80" b="1">
                <a:latin typeface="Arial"/>
                <a:cs typeface="Arial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(Khatam-un-Nabiyyin)</a:t>
            </a:r>
            <a:r>
              <a:rPr dirty="0" sz="1450" spc="130" i="1">
                <a:latin typeface="Times New Roman"/>
                <a:cs typeface="Times New Roman"/>
              </a:rPr>
              <a:t> </a:t>
            </a:r>
            <a:r>
              <a:rPr dirty="0" sz="1450" spc="-50" i="1">
                <a:latin typeface="Times New Roman"/>
                <a:cs typeface="Times New Roman"/>
              </a:rPr>
              <a:t>:</a:t>
            </a:r>
            <a:endParaRPr sz="1450">
              <a:latin typeface="Times New Roman"/>
              <a:cs typeface="Times New Roman"/>
            </a:endParaRPr>
          </a:p>
          <a:p>
            <a:pPr lvl="1" marL="412115" indent="-116205">
              <a:lnSpc>
                <a:spcPct val="100000"/>
              </a:lnSpc>
              <a:spcBef>
                <a:spcPts val="940"/>
              </a:spcBef>
              <a:buChar char="•"/>
              <a:tabLst>
                <a:tab pos="412115" algn="l"/>
              </a:tabLst>
            </a:pPr>
            <a:r>
              <a:rPr dirty="0" sz="1450">
                <a:latin typeface="Arial MT"/>
                <a:cs typeface="Arial MT"/>
              </a:rPr>
              <a:t>Final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prophet;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message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complete.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93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Mercy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to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All</a:t>
            </a:r>
            <a:r>
              <a:rPr dirty="0" sz="1450" spc="13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Worlds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(Rahmat-ul-lil-Alameen)</a:t>
            </a:r>
            <a:r>
              <a:rPr dirty="0" sz="1450" spc="80" i="1">
                <a:latin typeface="Times New Roman"/>
                <a:cs typeface="Times New Roman"/>
              </a:rPr>
              <a:t> </a:t>
            </a:r>
            <a:r>
              <a:rPr dirty="0" sz="1450" spc="-50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lvl="1" marL="412115" indent="-116205">
              <a:lnSpc>
                <a:spcPct val="100000"/>
              </a:lnSpc>
              <a:spcBef>
                <a:spcPts val="925"/>
              </a:spcBef>
              <a:buChar char="•"/>
              <a:tabLst>
                <a:tab pos="412115" algn="l"/>
              </a:tabLst>
            </a:pPr>
            <a:r>
              <a:rPr dirty="0" sz="1450">
                <a:latin typeface="Arial MT"/>
                <a:cs typeface="Arial MT"/>
              </a:rPr>
              <a:t>Sent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mercy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creation.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93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Exemplary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Character</a:t>
            </a:r>
            <a:r>
              <a:rPr dirty="0" sz="1450" spc="90" b="1">
                <a:latin typeface="Arial"/>
                <a:cs typeface="Arial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(Uswah</a:t>
            </a:r>
            <a:r>
              <a:rPr dirty="0" sz="1450" spc="90" i="1">
                <a:latin typeface="Times New Roman"/>
                <a:cs typeface="Times New Roman"/>
              </a:rPr>
              <a:t> </a:t>
            </a:r>
            <a:r>
              <a:rPr dirty="0" sz="1450" spc="-10" i="1">
                <a:latin typeface="Times New Roman"/>
                <a:cs typeface="Times New Roman"/>
              </a:rPr>
              <a:t>Hasanah):</a:t>
            </a:r>
            <a:endParaRPr sz="1450">
              <a:latin typeface="Times New Roman"/>
              <a:cs typeface="Times New Roman"/>
            </a:endParaRPr>
          </a:p>
          <a:p>
            <a:pPr lvl="1" marL="412115" indent="-116205">
              <a:lnSpc>
                <a:spcPct val="100000"/>
              </a:lnSpc>
              <a:spcBef>
                <a:spcPts val="935"/>
              </a:spcBef>
              <a:buChar char="•"/>
              <a:tabLst>
                <a:tab pos="412115" algn="l"/>
              </a:tabLst>
            </a:pPr>
            <a:r>
              <a:rPr dirty="0" sz="1450">
                <a:latin typeface="Arial MT"/>
                <a:cs typeface="Arial MT"/>
              </a:rPr>
              <a:t>Perfect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social,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spiritual,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moral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conduct.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93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Balanced</a:t>
            </a:r>
            <a:r>
              <a:rPr dirty="0" sz="1450" spc="7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Leadership:</a:t>
            </a:r>
            <a:endParaRPr sz="1450">
              <a:latin typeface="Arial"/>
              <a:cs typeface="Arial"/>
            </a:endParaRPr>
          </a:p>
          <a:p>
            <a:pPr lvl="1" marL="412115" indent="-116205">
              <a:lnSpc>
                <a:spcPct val="100000"/>
              </a:lnSpc>
              <a:spcBef>
                <a:spcPts val="925"/>
              </a:spcBef>
              <a:buChar char="•"/>
              <a:tabLst>
                <a:tab pos="412115" algn="l"/>
              </a:tabLst>
            </a:pPr>
            <a:r>
              <a:rPr dirty="0" sz="1450">
                <a:latin typeface="Arial MT"/>
                <a:cs typeface="Arial MT"/>
              </a:rPr>
              <a:t>Combines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justice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compassion.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93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Direct</a:t>
            </a:r>
            <a:r>
              <a:rPr dirty="0" sz="1450" spc="10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Communication</a:t>
            </a:r>
            <a:r>
              <a:rPr dirty="0" sz="1450" spc="9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with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Allah:</a:t>
            </a:r>
            <a:endParaRPr sz="1450">
              <a:latin typeface="Arial"/>
              <a:cs typeface="Arial"/>
            </a:endParaRPr>
          </a:p>
          <a:p>
            <a:pPr lvl="1" marL="412115" indent="-116205">
              <a:lnSpc>
                <a:spcPct val="100000"/>
              </a:lnSpc>
              <a:spcBef>
                <a:spcPts val="935"/>
              </a:spcBef>
              <a:buChar char="•"/>
              <a:tabLst>
                <a:tab pos="412115" algn="l"/>
              </a:tabLst>
            </a:pPr>
            <a:r>
              <a:rPr dirty="0" sz="1450">
                <a:latin typeface="Arial MT"/>
                <a:cs typeface="Arial MT"/>
              </a:rPr>
              <a:t>Experienced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Isra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Mi’raj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(Night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Journey).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940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 spc="-10" b="1">
                <a:latin typeface="Arial"/>
                <a:cs typeface="Arial"/>
              </a:rPr>
              <a:t>Universality: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22778" y="6121324"/>
            <a:ext cx="3237865" cy="3441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830"/>
              </a:lnSpc>
              <a:spcBef>
                <a:spcPts val="90"/>
              </a:spcBef>
            </a:pP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Ms</a:t>
            </a:r>
            <a:r>
              <a:rPr dirty="0" sz="750" spc="-1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Safia</a:t>
            </a:r>
            <a:r>
              <a:rPr dirty="0" sz="750" spc="-2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Waqas</a:t>
            </a:r>
            <a:r>
              <a:rPr dirty="0" sz="750" spc="-3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-</a:t>
            </a:r>
            <a:r>
              <a:rPr dirty="0" sz="750" spc="-2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Spring</a:t>
            </a:r>
            <a:r>
              <a:rPr dirty="0" sz="750" spc="-25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2025</a:t>
            </a:r>
            <a:r>
              <a:rPr dirty="0" sz="750" spc="-10">
                <a:solidFill>
                  <a:srgbClr val="898989"/>
                </a:solidFill>
                <a:latin typeface="Trebuchet MS"/>
                <a:cs typeface="Trebuchet MS"/>
              </a:rPr>
              <a:t> Islamic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898989"/>
                </a:solidFill>
                <a:latin typeface="Trebuchet MS"/>
                <a:cs typeface="Trebuchet MS"/>
              </a:rPr>
              <a:t>Studies</a:t>
            </a:r>
            <a:r>
              <a:rPr dirty="0" sz="750" spc="-35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/</a:t>
            </a:r>
            <a:r>
              <a:rPr dirty="0" sz="750" spc="-5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898989"/>
                </a:solidFill>
                <a:latin typeface="Trebuchet MS"/>
                <a:cs typeface="Trebuchet MS"/>
              </a:rPr>
              <a:t>Ethical</a:t>
            </a:r>
            <a:r>
              <a:rPr dirty="0" sz="750" spc="-15">
                <a:solidFill>
                  <a:srgbClr val="898989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898989"/>
                </a:solidFill>
                <a:latin typeface="Trebuchet MS"/>
                <a:cs typeface="Trebuchet MS"/>
              </a:rPr>
              <a:t>Behaviour</a:t>
            </a:r>
            <a:endParaRPr sz="750">
              <a:latin typeface="Trebuchet MS"/>
              <a:cs typeface="Trebuchet MS"/>
            </a:endParaRPr>
          </a:p>
          <a:p>
            <a:pPr marL="412115" indent="-116205">
              <a:lnSpc>
                <a:spcPts val="1670"/>
              </a:lnSpc>
              <a:buChar char="•"/>
              <a:tabLst>
                <a:tab pos="412115" algn="l"/>
              </a:tabLst>
            </a:pPr>
            <a:r>
              <a:rPr dirty="0" sz="1450">
                <a:latin typeface="Arial MT"/>
                <a:cs typeface="Arial MT"/>
              </a:rPr>
              <a:t>Message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mankind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jinn.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463935" y="6121324"/>
            <a:ext cx="125095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25">
                <a:solidFill>
                  <a:srgbClr val="90C126"/>
                </a:solidFill>
                <a:latin typeface="Trebuchet MS"/>
                <a:cs typeface="Trebuchet MS"/>
              </a:rPr>
              <a:t>36</a:t>
            </a:r>
            <a:endParaRPr sz="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9049" y="1575329"/>
            <a:ext cx="4213860" cy="932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5885" marR="5080" indent="-83820">
              <a:lnSpc>
                <a:spcPct val="100699"/>
              </a:lnSpc>
              <a:spcBef>
                <a:spcPts val="100"/>
              </a:spcBef>
            </a:pPr>
            <a:r>
              <a:rPr dirty="0" u="none"/>
              <a:t>Finality of</a:t>
            </a:r>
            <a:r>
              <a:rPr dirty="0" u="none" spc="15"/>
              <a:t> </a:t>
            </a:r>
            <a:r>
              <a:rPr dirty="0" u="none" spc="-10"/>
              <a:t>Prophethood </a:t>
            </a:r>
            <a:r>
              <a:rPr dirty="0" u="none"/>
              <a:t>(Khatm</a:t>
            </a:r>
            <a:r>
              <a:rPr dirty="0" u="none" spc="-20"/>
              <a:t> </a:t>
            </a:r>
            <a:r>
              <a:rPr dirty="0" u="none"/>
              <a:t>an-</a:t>
            </a:r>
            <a:r>
              <a:rPr dirty="0" u="none" spc="-10"/>
              <a:t>Nubuwwah)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3</a:t>
            </a:r>
            <a:r>
              <a:rPr dirty="0" spc="-25"/>
              <a:t>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3778" y="2928613"/>
            <a:ext cx="7865109" cy="20631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solidFill>
                  <a:srgbClr val="3F3F3F"/>
                </a:solidFill>
                <a:latin typeface="Georgia"/>
                <a:cs typeface="Georgia"/>
              </a:rPr>
              <a:t></a:t>
            </a:r>
            <a:r>
              <a:rPr dirty="0" sz="1450" spc="145">
                <a:solidFill>
                  <a:srgbClr val="3F3F3F"/>
                </a:solidFill>
                <a:latin typeface="Georgia"/>
                <a:cs typeface="Georgia"/>
              </a:rPr>
              <a:t> 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Belief: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Muhammad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(pbuh)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last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prophet.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>
                <a:solidFill>
                  <a:srgbClr val="3F3F3F"/>
                </a:solidFill>
                <a:latin typeface="Georgia"/>
                <a:cs typeface="Georgia"/>
              </a:rPr>
              <a:t></a:t>
            </a:r>
            <a:r>
              <a:rPr dirty="0" sz="1450" spc="145">
                <a:solidFill>
                  <a:srgbClr val="3F3F3F"/>
                </a:solidFill>
                <a:latin typeface="Georgia"/>
                <a:cs typeface="Georgia"/>
              </a:rPr>
              <a:t> 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Quranic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evidence: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“..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.</a:t>
            </a:r>
            <a:r>
              <a:rPr dirty="0" sz="1450">
                <a:latin typeface="Arial MT"/>
                <a:cs typeface="Arial MT"/>
              </a:rPr>
              <a:t>he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Messenger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-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Allah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Seal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Prophets.”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(33:40)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50">
                <a:solidFill>
                  <a:srgbClr val="3F3F3F"/>
                </a:solidFill>
                <a:latin typeface="Georgia"/>
                <a:cs typeface="Georgia"/>
              </a:rPr>
              <a:t></a:t>
            </a:r>
            <a:r>
              <a:rPr dirty="0" sz="1450" spc="170">
                <a:solidFill>
                  <a:srgbClr val="3F3F3F"/>
                </a:solidFill>
                <a:latin typeface="Georgia"/>
                <a:cs typeface="Georgia"/>
              </a:rPr>
              <a:t> 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Hadith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Evidence: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“There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after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me.”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(Sahih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Muslim)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>
                <a:solidFill>
                  <a:srgbClr val="3F3F3F"/>
                </a:solidFill>
                <a:latin typeface="Georgia"/>
                <a:cs typeface="Georgia"/>
              </a:rPr>
              <a:t></a:t>
            </a:r>
            <a:r>
              <a:rPr dirty="0" sz="1450" spc="170">
                <a:solidFill>
                  <a:srgbClr val="3F3F3F"/>
                </a:solidFill>
                <a:latin typeface="Georgia"/>
                <a:cs typeface="Georgia"/>
              </a:rPr>
              <a:t> 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Consensus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(Ijma’):</a:t>
            </a:r>
            <a:r>
              <a:rPr dirty="0" sz="1450" spc="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Muslim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community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agrees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finality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prophethood.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>
                <a:solidFill>
                  <a:srgbClr val="3F3F3F"/>
                </a:solidFill>
                <a:latin typeface="Georgia"/>
                <a:cs typeface="Georgia"/>
              </a:rPr>
              <a:t></a:t>
            </a:r>
            <a:r>
              <a:rPr dirty="0" sz="1450" spc="180">
                <a:solidFill>
                  <a:srgbClr val="3F3F3F"/>
                </a:solidFill>
                <a:latin typeface="Georgia"/>
                <a:cs typeface="Georgia"/>
              </a:rPr>
              <a:t> 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Ethical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Implication: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Provides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complete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unchanging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guidance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life.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300" y="1287159"/>
            <a:ext cx="6452235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none" sz="3600"/>
              <a:t>Belief</a:t>
            </a:r>
            <a:r>
              <a:rPr dirty="0" u="none" sz="3600" spc="20"/>
              <a:t> </a:t>
            </a:r>
            <a:r>
              <a:rPr dirty="0" u="none" sz="3600"/>
              <a:t>in</a:t>
            </a:r>
            <a:r>
              <a:rPr dirty="0" u="none" sz="3600" spc="20"/>
              <a:t> </a:t>
            </a:r>
            <a:r>
              <a:rPr dirty="0" u="none" sz="3600"/>
              <a:t>the</a:t>
            </a:r>
            <a:r>
              <a:rPr dirty="0" u="none" sz="3600" spc="40"/>
              <a:t> </a:t>
            </a:r>
            <a:r>
              <a:rPr dirty="0" u="none" sz="3600"/>
              <a:t>Day</a:t>
            </a:r>
            <a:r>
              <a:rPr dirty="0" u="none" sz="3600" spc="5"/>
              <a:t> </a:t>
            </a:r>
            <a:r>
              <a:rPr dirty="0" u="none" sz="3600"/>
              <a:t>of</a:t>
            </a:r>
            <a:r>
              <a:rPr dirty="0" u="none" sz="3600" spc="20"/>
              <a:t> </a:t>
            </a:r>
            <a:r>
              <a:rPr dirty="0" u="none" sz="3600" spc="-10"/>
              <a:t>Judgment</a:t>
            </a:r>
            <a:endParaRPr sz="36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3</a:t>
            </a:r>
            <a:r>
              <a:rPr dirty="0" spc="-25"/>
              <a:t>8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55743" rIns="0" bIns="0" rtlCol="0" vert="horz">
            <a:spAutoFit/>
          </a:bodyPr>
          <a:lstStyle/>
          <a:p>
            <a:pPr marL="132715">
              <a:lnSpc>
                <a:spcPct val="100000"/>
              </a:lnSpc>
              <a:spcBef>
                <a:spcPts val="1090"/>
              </a:spcBef>
            </a:pPr>
            <a:r>
              <a:rPr dirty="0" sz="1850" spc="-35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-50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pc="-10"/>
              <a:t>Topics:</a:t>
            </a:r>
            <a:endParaRPr sz="1850">
              <a:latin typeface="Georgia"/>
              <a:cs typeface="Georgia"/>
            </a:endParaRPr>
          </a:p>
          <a:p>
            <a:pPr marL="744855" marR="827405" indent="-234950">
              <a:lnSpc>
                <a:spcPct val="101499"/>
              </a:lnSpc>
              <a:spcBef>
                <a:spcPts val="830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100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Judgment</a:t>
            </a:r>
            <a:r>
              <a:rPr dirty="0" sz="1950" spc="1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Day:</a:t>
            </a:r>
            <a:r>
              <a:rPr dirty="0" sz="1950" spc="6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When</a:t>
            </a:r>
            <a:r>
              <a:rPr dirty="0" sz="1950" spc="4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Everyone</a:t>
            </a:r>
            <a:r>
              <a:rPr dirty="0" sz="1950" spc="6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is</a:t>
            </a:r>
            <a:r>
              <a:rPr dirty="0" sz="1950" spc="4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held</a:t>
            </a:r>
            <a:r>
              <a:rPr dirty="0" sz="1950" spc="-6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Accountable</a:t>
            </a:r>
            <a:r>
              <a:rPr dirty="0" sz="1950" spc="25" b="0">
                <a:latin typeface="Trebuchet MS"/>
                <a:cs typeface="Trebuchet MS"/>
              </a:rPr>
              <a:t> </a:t>
            </a:r>
            <a:r>
              <a:rPr dirty="0" sz="1950" spc="-50" b="0">
                <a:latin typeface="Trebuchet MS"/>
                <a:cs typeface="Trebuchet MS"/>
              </a:rPr>
              <a:t>&amp; </a:t>
            </a:r>
            <a:r>
              <a:rPr dirty="0" sz="1950" b="0">
                <a:latin typeface="Trebuchet MS"/>
                <a:cs typeface="Trebuchet MS"/>
              </a:rPr>
              <a:t>Concept</a:t>
            </a:r>
            <a:r>
              <a:rPr dirty="0" sz="1950" spc="1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of</a:t>
            </a:r>
            <a:r>
              <a:rPr dirty="0" sz="1950" spc="3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the</a:t>
            </a:r>
            <a:r>
              <a:rPr dirty="0" sz="1950" spc="4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Day</a:t>
            </a:r>
            <a:r>
              <a:rPr dirty="0" sz="1950" spc="5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of</a:t>
            </a:r>
            <a:r>
              <a:rPr dirty="0" sz="1950" spc="50" b="0">
                <a:latin typeface="Trebuchet MS"/>
                <a:cs typeface="Trebuchet MS"/>
              </a:rPr>
              <a:t> </a:t>
            </a:r>
            <a:r>
              <a:rPr dirty="0" sz="1950" spc="-10" b="0">
                <a:latin typeface="Trebuchet MS"/>
                <a:cs typeface="Trebuchet MS"/>
              </a:rPr>
              <a:t>Judgment</a:t>
            </a:r>
            <a:endParaRPr sz="1950">
              <a:latin typeface="Trebuchet MS"/>
              <a:cs typeface="Trebuchet MS"/>
            </a:endParaRPr>
          </a:p>
          <a:p>
            <a:pPr marL="510540">
              <a:lnSpc>
                <a:spcPct val="100000"/>
              </a:lnSpc>
              <a:spcBef>
                <a:spcPts val="865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75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Stages</a:t>
            </a:r>
            <a:r>
              <a:rPr dirty="0" sz="1950" spc="1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and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Signs</a:t>
            </a:r>
            <a:r>
              <a:rPr dirty="0" sz="1950" spc="1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of</a:t>
            </a:r>
            <a:r>
              <a:rPr dirty="0" sz="1950" spc="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the</a:t>
            </a:r>
            <a:r>
              <a:rPr dirty="0" sz="1950" spc="1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Day</a:t>
            </a:r>
            <a:r>
              <a:rPr dirty="0" sz="1950" spc="2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of</a:t>
            </a:r>
            <a:r>
              <a:rPr dirty="0" sz="1950" spc="25" b="0">
                <a:latin typeface="Trebuchet MS"/>
                <a:cs typeface="Trebuchet MS"/>
              </a:rPr>
              <a:t> </a:t>
            </a:r>
            <a:r>
              <a:rPr dirty="0" sz="1950" spc="-10" b="0">
                <a:latin typeface="Trebuchet MS"/>
                <a:cs typeface="Trebuchet MS"/>
              </a:rPr>
              <a:t>Judgment</a:t>
            </a:r>
            <a:endParaRPr sz="1950">
              <a:latin typeface="Trebuchet MS"/>
              <a:cs typeface="Trebuchet MS"/>
            </a:endParaRPr>
          </a:p>
          <a:p>
            <a:pPr marL="510540">
              <a:lnSpc>
                <a:spcPct val="100000"/>
              </a:lnSpc>
              <a:spcBef>
                <a:spcPts val="850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85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The</a:t>
            </a:r>
            <a:r>
              <a:rPr dirty="0" sz="1950" spc="-10" b="0">
                <a:latin typeface="Trebuchet MS"/>
                <a:cs typeface="Trebuchet MS"/>
              </a:rPr>
              <a:t> Trumpet</a:t>
            </a:r>
            <a:r>
              <a:rPr dirty="0" sz="1950" b="0">
                <a:latin typeface="Trebuchet MS"/>
                <a:cs typeface="Trebuchet MS"/>
              </a:rPr>
              <a:t> (Sur)</a:t>
            </a:r>
            <a:r>
              <a:rPr dirty="0" sz="1950" spc="2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(First</a:t>
            </a:r>
            <a:r>
              <a:rPr dirty="0" sz="1950" spc="4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Blowing)</a:t>
            </a:r>
            <a:r>
              <a:rPr dirty="0" sz="1950" spc="2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and</a:t>
            </a:r>
            <a:r>
              <a:rPr dirty="0" sz="1950" spc="2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(Second First</a:t>
            </a:r>
            <a:r>
              <a:rPr dirty="0" sz="1950" spc="25" b="0">
                <a:latin typeface="Trebuchet MS"/>
                <a:cs typeface="Trebuchet MS"/>
              </a:rPr>
              <a:t> </a:t>
            </a:r>
            <a:r>
              <a:rPr dirty="0" sz="1950" spc="-10" b="0">
                <a:latin typeface="Trebuchet MS"/>
                <a:cs typeface="Trebuchet MS"/>
              </a:rPr>
              <a:t>Blowing)</a:t>
            </a:r>
            <a:endParaRPr sz="1950">
              <a:latin typeface="Trebuchet MS"/>
              <a:cs typeface="Trebuchet MS"/>
            </a:endParaRPr>
          </a:p>
          <a:p>
            <a:pPr marL="510540">
              <a:lnSpc>
                <a:spcPct val="100000"/>
              </a:lnSpc>
              <a:spcBef>
                <a:spcPts val="865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75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Stages</a:t>
            </a:r>
            <a:r>
              <a:rPr dirty="0" sz="1950" spc="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of</a:t>
            </a:r>
            <a:r>
              <a:rPr dirty="0" sz="1950" spc="-2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the</a:t>
            </a:r>
            <a:r>
              <a:rPr dirty="0" sz="1950" spc="3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Day</a:t>
            </a:r>
            <a:r>
              <a:rPr dirty="0" sz="1950" spc="-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of </a:t>
            </a:r>
            <a:r>
              <a:rPr dirty="0" sz="1950" spc="-10" b="0">
                <a:latin typeface="Trebuchet MS"/>
                <a:cs typeface="Trebuchet MS"/>
              </a:rPr>
              <a:t>Judgment</a:t>
            </a:r>
            <a:endParaRPr sz="1950">
              <a:latin typeface="Trebuchet MS"/>
              <a:cs typeface="Trebuchet MS"/>
            </a:endParaRPr>
          </a:p>
          <a:p>
            <a:pPr marL="510540">
              <a:lnSpc>
                <a:spcPct val="100000"/>
              </a:lnSpc>
              <a:spcBef>
                <a:spcPts val="865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70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Signs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of</a:t>
            </a:r>
            <a:r>
              <a:rPr dirty="0" sz="1950" spc="-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the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Day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of </a:t>
            </a:r>
            <a:r>
              <a:rPr dirty="0" sz="1950" spc="-10" b="0">
                <a:latin typeface="Trebuchet MS"/>
                <a:cs typeface="Trebuchet MS"/>
              </a:rPr>
              <a:t>Judgment</a:t>
            </a:r>
            <a:endParaRPr sz="1950">
              <a:latin typeface="Trebuchet MS"/>
              <a:cs typeface="Trebuchet MS"/>
            </a:endParaRPr>
          </a:p>
          <a:p>
            <a:pPr marL="510540">
              <a:lnSpc>
                <a:spcPct val="100000"/>
              </a:lnSpc>
              <a:spcBef>
                <a:spcPts val="865"/>
              </a:spcBef>
            </a:pPr>
            <a:r>
              <a:rPr dirty="0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85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Names</a:t>
            </a:r>
            <a:r>
              <a:rPr dirty="0" sz="1950" spc="2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of</a:t>
            </a:r>
            <a:r>
              <a:rPr dirty="0" sz="1950" spc="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the</a:t>
            </a:r>
            <a:r>
              <a:rPr dirty="0" sz="1950" spc="25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Day</a:t>
            </a:r>
            <a:r>
              <a:rPr dirty="0" sz="1950" spc="3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of</a:t>
            </a:r>
            <a:r>
              <a:rPr dirty="0" sz="1950" spc="-10" b="0">
                <a:latin typeface="Trebuchet MS"/>
                <a:cs typeface="Trebuchet MS"/>
              </a:rPr>
              <a:t> </a:t>
            </a:r>
            <a:r>
              <a:rPr dirty="0" sz="1950" b="0">
                <a:latin typeface="Trebuchet MS"/>
                <a:cs typeface="Trebuchet MS"/>
              </a:rPr>
              <a:t>Judgment</a:t>
            </a:r>
            <a:r>
              <a:rPr dirty="0" sz="1950" spc="20" b="0">
                <a:latin typeface="Trebuchet MS"/>
                <a:cs typeface="Trebuchet MS"/>
              </a:rPr>
              <a:t> </a:t>
            </a:r>
            <a:r>
              <a:rPr dirty="0" sz="1950" spc="-10" b="0">
                <a:latin typeface="Trebuchet MS"/>
                <a:cs typeface="Trebuchet MS"/>
              </a:rPr>
              <a:t>(Qiyamah)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368082"/>
            <a:ext cx="6851650" cy="9315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u="none"/>
              <a:t>Judgment</a:t>
            </a:r>
            <a:r>
              <a:rPr dirty="0" u="none" spc="-15"/>
              <a:t> </a:t>
            </a:r>
            <a:r>
              <a:rPr dirty="0" u="none"/>
              <a:t>Day:</a:t>
            </a:r>
            <a:r>
              <a:rPr dirty="0" u="none" spc="-10"/>
              <a:t> </a:t>
            </a:r>
            <a:r>
              <a:rPr dirty="0" u="none"/>
              <a:t>When</a:t>
            </a:r>
            <a:r>
              <a:rPr dirty="0" u="none" spc="15"/>
              <a:t> </a:t>
            </a:r>
            <a:r>
              <a:rPr dirty="0" u="none"/>
              <a:t>Everyone</a:t>
            </a:r>
            <a:r>
              <a:rPr dirty="0" u="none" spc="25"/>
              <a:t> </a:t>
            </a:r>
            <a:r>
              <a:rPr dirty="0" u="none"/>
              <a:t>is</a:t>
            </a:r>
            <a:r>
              <a:rPr dirty="0" u="none" spc="40"/>
              <a:t> </a:t>
            </a:r>
            <a:r>
              <a:rPr dirty="0" u="none" spc="-20"/>
              <a:t>Held </a:t>
            </a:r>
            <a:r>
              <a:rPr dirty="0" u="none" spc="-10"/>
              <a:t>Accountable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3</a:t>
            </a:r>
            <a:r>
              <a:rPr dirty="0" spc="-25"/>
              <a:t>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5378" y="2622044"/>
            <a:ext cx="7659370" cy="342137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95910" marR="219710" indent="-283845">
              <a:lnSpc>
                <a:spcPct val="153800"/>
              </a:lnSpc>
              <a:spcBef>
                <a:spcPts val="90"/>
              </a:spcBef>
            </a:pPr>
            <a:r>
              <a:rPr dirty="0" sz="1450">
                <a:latin typeface="Georgia"/>
                <a:cs typeface="Georgia"/>
              </a:rPr>
              <a:t></a:t>
            </a:r>
            <a:r>
              <a:rPr dirty="0" sz="1450" spc="130">
                <a:latin typeface="Georgia"/>
                <a:cs typeface="Georgia"/>
              </a:rPr>
              <a:t>  </a:t>
            </a:r>
            <a:r>
              <a:rPr dirty="0" sz="1450" b="1">
                <a:latin typeface="Arial"/>
                <a:cs typeface="Arial"/>
              </a:rPr>
              <a:t>Day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of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Judgment:</a:t>
            </a:r>
            <a:r>
              <a:rPr dirty="0" sz="1450" spc="-25" b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Day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Judgment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(Qiyamah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or</a:t>
            </a:r>
            <a:r>
              <a:rPr dirty="0" sz="1450" spc="-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Yawm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al-Din)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fundamental </a:t>
            </a:r>
            <a:r>
              <a:rPr dirty="0" sz="1450">
                <a:latin typeface="Arial MT"/>
                <a:cs typeface="Arial MT"/>
              </a:rPr>
              <a:t>concept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Islam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450">
                <a:latin typeface="Georgia"/>
                <a:cs typeface="Georgia"/>
              </a:rPr>
              <a:t></a:t>
            </a:r>
            <a:r>
              <a:rPr dirty="0" sz="1450" spc="120">
                <a:latin typeface="Georgia"/>
                <a:cs typeface="Georgia"/>
              </a:rPr>
              <a:t>  </a:t>
            </a:r>
            <a:r>
              <a:rPr dirty="0" sz="1450" b="1">
                <a:latin typeface="Arial"/>
                <a:cs typeface="Arial"/>
              </a:rPr>
              <a:t>Concept</a:t>
            </a:r>
            <a:r>
              <a:rPr dirty="0" sz="1450" spc="-2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of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the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Day</a:t>
            </a:r>
            <a:r>
              <a:rPr dirty="0" sz="1450" spc="-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of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Judgment:</a:t>
            </a:r>
            <a:endParaRPr sz="1450">
              <a:latin typeface="Arial"/>
              <a:cs typeface="Arial"/>
            </a:endParaRPr>
          </a:p>
          <a:p>
            <a:pPr marL="12700" marR="596265">
              <a:lnSpc>
                <a:spcPts val="2680"/>
              </a:lnSpc>
              <a:spcBef>
                <a:spcPts val="229"/>
              </a:spcBef>
            </a:pP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Resurrection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: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Bodies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and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souls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are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revived.</a:t>
            </a:r>
            <a:r>
              <a:rPr dirty="0" sz="1450" spc="-1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Allah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will</a:t>
            </a:r>
            <a:r>
              <a:rPr dirty="0" sz="1450" spc="6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resurrect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all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humans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and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jinn,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restoring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their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physical</a:t>
            </a:r>
            <a:r>
              <a:rPr dirty="0" sz="1450" spc="6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bodies.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Gathering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:</a:t>
            </a:r>
            <a:r>
              <a:rPr dirty="0" sz="1450" spc="-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All</a:t>
            </a:r>
            <a:r>
              <a:rPr dirty="0" sz="1450" spc="6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creatures</a:t>
            </a:r>
            <a:r>
              <a:rPr dirty="0" sz="1450" spc="6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meet</a:t>
            </a:r>
            <a:r>
              <a:rPr dirty="0" sz="1450" spc="7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before</a:t>
            </a:r>
            <a:r>
              <a:rPr dirty="0" sz="1450" spc="-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Allah.</a:t>
            </a:r>
            <a:endParaRPr sz="1450">
              <a:latin typeface="Arial MT"/>
              <a:cs typeface="Arial MT"/>
            </a:endParaRPr>
          </a:p>
          <a:p>
            <a:pPr marL="12700" marR="5080">
              <a:lnSpc>
                <a:spcPct val="153400"/>
              </a:lnSpc>
              <a:spcBef>
                <a:spcPts val="5"/>
              </a:spcBef>
            </a:pP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Accountability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:</a:t>
            </a:r>
            <a:r>
              <a:rPr dirty="0" sz="1450" spc="1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Individuals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judged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based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deeds,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intentions,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faith.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.</a:t>
            </a:r>
            <a:r>
              <a:rPr dirty="0" sz="1450" spc="500">
                <a:solidFill>
                  <a:srgbClr val="3F3F3F"/>
                </a:solidFill>
                <a:latin typeface="Arial MT"/>
                <a:cs typeface="Arial MT"/>
              </a:rPr>
              <a:t> 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Reward</a:t>
            </a:r>
            <a:r>
              <a:rPr dirty="0" sz="1450" spc="3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&amp;</a:t>
            </a:r>
            <a:r>
              <a:rPr dirty="0" sz="1450" spc="9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Punishment:</a:t>
            </a:r>
            <a:r>
              <a:rPr dirty="0" sz="1450" spc="7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righteous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enter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Paradise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(Jannah),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while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wicked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will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consigned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Hell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(Jahannam)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.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450">
                <a:latin typeface="Georgia"/>
                <a:cs typeface="Georgia"/>
              </a:rPr>
              <a:t></a:t>
            </a:r>
            <a:r>
              <a:rPr dirty="0" sz="1450" spc="140">
                <a:latin typeface="Georgia"/>
                <a:cs typeface="Georgia"/>
              </a:rPr>
              <a:t>  </a:t>
            </a:r>
            <a:r>
              <a:rPr dirty="0" sz="1450" b="1">
                <a:latin typeface="Arial"/>
                <a:cs typeface="Arial"/>
              </a:rPr>
              <a:t>Quranic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Reminder: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“Every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soul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shall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taste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death…”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(29:57)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575329"/>
            <a:ext cx="326390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The</a:t>
            </a:r>
            <a:r>
              <a:rPr dirty="0" spc="-145"/>
              <a:t> </a:t>
            </a:r>
            <a:r>
              <a:rPr dirty="0" spc="-10"/>
              <a:t>Trumpet</a:t>
            </a:r>
            <a:r>
              <a:rPr dirty="0" spc="-95"/>
              <a:t> </a:t>
            </a:r>
            <a:r>
              <a:rPr dirty="0" spc="-20"/>
              <a:t>(Sur)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7463935" y="6127091"/>
            <a:ext cx="125095" cy="13525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50" spc="-25">
                <a:solidFill>
                  <a:srgbClr val="90C126"/>
                </a:solidFill>
                <a:latin typeface="Trebuchet MS"/>
                <a:cs typeface="Trebuchet MS"/>
              </a:rPr>
              <a:t>40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01815" y="2116872"/>
            <a:ext cx="8143875" cy="66294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925"/>
              </a:spcBef>
              <a:buClr>
                <a:srgbClr val="90C126"/>
              </a:buClr>
              <a:buSzPct val="78571"/>
              <a:buFont typeface="Wingdings"/>
              <a:buChar char="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00" spc="-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00" spc="-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00" spc="-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Judgment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00" spc="-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400" spc="-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initiated</a:t>
            </a:r>
            <a:r>
              <a:rPr dirty="0" sz="1400" spc="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400" spc="-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00" spc="-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blowing</a:t>
            </a:r>
            <a:r>
              <a:rPr dirty="0" sz="1400" spc="-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00" spc="-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00" spc="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trumpet</a:t>
            </a:r>
            <a:r>
              <a:rPr dirty="0" sz="1400" spc="-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(Sur)</a:t>
            </a:r>
            <a:r>
              <a:rPr dirty="0" sz="1400" spc="-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40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00" spc="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angel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Israfil.</a:t>
            </a:r>
            <a:endParaRPr sz="14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30"/>
              </a:spcBef>
              <a:buClr>
                <a:srgbClr val="90C126"/>
              </a:buClr>
              <a:buSzPct val="78571"/>
              <a:buFont typeface="Wingdings"/>
              <a:buChar char=""/>
              <a:tabLst>
                <a:tab pos="295910" algn="l"/>
              </a:tabLst>
            </a:pPr>
            <a:r>
              <a:rPr dirty="0" sz="1400" spc="-20" b="1">
                <a:solidFill>
                  <a:srgbClr val="3F3F3F"/>
                </a:solidFill>
                <a:latin typeface="Trebuchet MS"/>
                <a:cs typeface="Trebuchet MS"/>
              </a:rPr>
              <a:t>Two</a:t>
            </a:r>
            <a:r>
              <a:rPr dirty="0" sz="1400" spc="-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blowing's</a:t>
            </a:r>
            <a:r>
              <a:rPr dirty="0" sz="140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mentioned</a:t>
            </a:r>
            <a:r>
              <a:rPr dirty="0" sz="140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according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00" spc="-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r>
              <a:rPr dirty="0" sz="1400" spc="-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Hadith.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1793" y="3178542"/>
            <a:ext cx="3400425" cy="191388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248285" algn="l"/>
              </a:tabLst>
            </a:pPr>
            <a:r>
              <a:rPr dirty="0" u="sng" sz="19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First</a:t>
            </a:r>
            <a:r>
              <a:rPr dirty="0" u="sng" sz="1950" spc="3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Blowing</a:t>
            </a:r>
            <a:endParaRPr sz="1950">
              <a:latin typeface="Trebuchet MS"/>
              <a:cs typeface="Trebuchet MS"/>
            </a:endParaRPr>
          </a:p>
          <a:p>
            <a:pPr marL="248920" marR="17780" indent="-236220">
              <a:lnSpc>
                <a:spcPct val="102800"/>
              </a:lnSpc>
              <a:spcBef>
                <a:spcPts val="5"/>
              </a:spcBef>
              <a:buFont typeface="Wingdings"/>
              <a:buChar char="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Nafkhatu’l-Faza’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20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Nafkhatu’l-</a:t>
            </a:r>
            <a:r>
              <a:rPr dirty="0" sz="1450" spc="-20">
                <a:latin typeface="Trebuchet MS"/>
                <a:cs typeface="Trebuchet MS"/>
              </a:rPr>
              <a:t>Sa’aq </a:t>
            </a:r>
            <a:r>
              <a:rPr dirty="0" sz="1450">
                <a:latin typeface="Trebuchet MS"/>
                <a:cs typeface="Trebuchet MS"/>
              </a:rPr>
              <a:t>(The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Blowing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Destruction)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Font typeface="Wingdings"/>
              <a:buChar char="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Initiates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destruction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</a:t>
            </a:r>
            <a:endParaRPr sz="1450">
              <a:latin typeface="Trebuchet MS"/>
              <a:cs typeface="Trebuchet MS"/>
            </a:endParaRPr>
          </a:p>
          <a:p>
            <a:pPr marL="248920" marR="5080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heavens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earth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death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living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creatures.</a:t>
            </a:r>
            <a:endParaRPr sz="1450">
              <a:latin typeface="Trebuchet MS"/>
              <a:cs typeface="Trebuchet MS"/>
            </a:endParaRPr>
          </a:p>
          <a:p>
            <a:pPr marL="248920" marR="85725" indent="-236220">
              <a:lnSpc>
                <a:spcPct val="102099"/>
              </a:lnSpc>
              <a:spcBef>
                <a:spcPts val="10"/>
              </a:spcBef>
              <a:buFont typeface="Wingdings"/>
              <a:buChar char="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Quranic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Reference: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Surah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Az-</a:t>
            </a:r>
            <a:r>
              <a:rPr dirty="0" sz="1450" spc="-10">
                <a:latin typeface="Trebuchet MS"/>
                <a:cs typeface="Trebuchet MS"/>
              </a:rPr>
              <a:t>Zumar, 39:68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98129" y="3181611"/>
            <a:ext cx="2085339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248285" algn="l"/>
              </a:tabLst>
            </a:pPr>
            <a:r>
              <a:rPr dirty="0" u="sng" sz="19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Second</a:t>
            </a:r>
            <a:r>
              <a:rPr dirty="0" u="sng" sz="1950" spc="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Blowing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98114" y="3484931"/>
            <a:ext cx="3319145" cy="20631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8920" marR="399415" indent="-236220">
              <a:lnSpc>
                <a:spcPct val="102400"/>
              </a:lnSpc>
              <a:spcBef>
                <a:spcPts val="95"/>
              </a:spcBef>
              <a:buFont typeface="Wingdings"/>
              <a:buChar char="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Nafkhatu’l-Ba’th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Nafkhatu’l- </a:t>
            </a:r>
            <a:r>
              <a:rPr dirty="0" sz="1450">
                <a:latin typeface="Trebuchet MS"/>
                <a:cs typeface="Trebuchet MS"/>
              </a:rPr>
              <a:t>Qiyama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(The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Blowing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 spc="-10">
                <a:latin typeface="Trebuchet MS"/>
                <a:cs typeface="Trebuchet MS"/>
              </a:rPr>
              <a:t>Resurrection)</a:t>
            </a:r>
            <a:endParaRPr sz="1450">
              <a:latin typeface="Trebuchet MS"/>
              <a:cs typeface="Trebuchet MS"/>
            </a:endParaRPr>
          </a:p>
          <a:p>
            <a:pPr marL="248920" marR="568325" indent="-236220">
              <a:lnSpc>
                <a:spcPct val="102099"/>
              </a:lnSpc>
              <a:spcBef>
                <a:spcPts val="10"/>
              </a:spcBef>
              <a:buFont typeface="Wingdings"/>
              <a:buChar char="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Signals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resurrection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all </a:t>
            </a:r>
            <a:r>
              <a:rPr dirty="0" sz="1450">
                <a:latin typeface="Trebuchet MS"/>
                <a:cs typeface="Trebuchet MS"/>
              </a:rPr>
              <a:t>creatures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graves.</a:t>
            </a:r>
            <a:endParaRPr sz="1450">
              <a:latin typeface="Trebuchet MS"/>
              <a:cs typeface="Trebuchet MS"/>
            </a:endParaRPr>
          </a:p>
          <a:p>
            <a:pPr marL="248920" marR="5080" indent="-236220">
              <a:lnSpc>
                <a:spcPct val="102099"/>
              </a:lnSpc>
              <a:spcBef>
                <a:spcPts val="15"/>
              </a:spcBef>
              <a:buFont typeface="Wingdings"/>
              <a:buChar char="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Quranic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Reference: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Surah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Az-</a:t>
            </a:r>
            <a:r>
              <a:rPr dirty="0" sz="1450" spc="-10">
                <a:latin typeface="Trebuchet MS"/>
                <a:cs typeface="Trebuchet MS"/>
              </a:rPr>
              <a:t>Zumar, 39:68</a:t>
            </a:r>
            <a:endParaRPr sz="1450">
              <a:latin typeface="Trebuchet MS"/>
              <a:cs typeface="Trebuchet MS"/>
            </a:endParaRPr>
          </a:p>
          <a:p>
            <a:pPr marL="248920" marR="484505" indent="-236220">
              <a:lnSpc>
                <a:spcPct val="102099"/>
              </a:lnSpc>
              <a:spcBef>
                <a:spcPts val="10"/>
              </a:spcBef>
              <a:buFont typeface="Wingdings"/>
              <a:buChar char="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Hadith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Confirmation: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Sahih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al- </a:t>
            </a:r>
            <a:r>
              <a:rPr dirty="0" sz="1450">
                <a:latin typeface="Trebuchet MS"/>
                <a:cs typeface="Trebuchet MS"/>
              </a:rPr>
              <a:t>Bukhari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&amp;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Sahih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Muslim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948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25"/>
              </a:spcBef>
            </a:pPr>
            <a:r>
              <a:rPr dirty="0"/>
              <a:t>Stages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/>
              <a:t>Day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 spc="-10"/>
              <a:t>Judgment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4</a:t>
            </a:r>
            <a:r>
              <a:rPr dirty="0" spc="-25"/>
              <a:t>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2462310"/>
            <a:ext cx="7601584" cy="3039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3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Al-Qiyamah</a:t>
            </a:r>
            <a:r>
              <a:rPr dirty="0" sz="1450" spc="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(Resurrection).</a:t>
            </a:r>
            <a:r>
              <a:rPr dirty="0" sz="1450" spc="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Everyone</a:t>
            </a:r>
            <a:r>
              <a:rPr dirty="0" sz="145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comes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back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life.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Clr>
                <a:srgbClr val="90C126"/>
              </a:buClr>
              <a:buFont typeface="Trebuchet MS"/>
              <a:buAutoNum type="arabicPeriod"/>
            </a:pP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Al-Hashr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(Gathering).</a:t>
            </a:r>
            <a:r>
              <a:rPr dirty="0" sz="1450" spc="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people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45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brought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together.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Clr>
                <a:srgbClr val="90C126"/>
              </a:buClr>
              <a:buFont typeface="Trebuchet MS"/>
              <a:buAutoNum type="arabicPeriod"/>
            </a:pP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Al-Hisab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(Accountability).</a:t>
            </a:r>
            <a:r>
              <a:rPr dirty="0" sz="1450" spc="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Everyone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judged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their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actions.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Clr>
                <a:srgbClr val="90C126"/>
              </a:buClr>
              <a:buFont typeface="Trebuchet MS"/>
              <a:buAutoNum type="arabicPeriod"/>
            </a:pP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Al-Mizan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(Weighing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Deeds).</a:t>
            </a:r>
            <a:r>
              <a:rPr dirty="0" sz="1450" spc="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Good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deeds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measured.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Clr>
                <a:srgbClr val="90C126"/>
              </a:buClr>
              <a:buFont typeface="Trebuchet MS"/>
              <a:buAutoNum type="arabicPeriod"/>
            </a:pP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Al-Pul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Sirat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(Crossing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Bridge).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Cross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bridge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final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place.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Clr>
                <a:srgbClr val="90C126"/>
              </a:buClr>
              <a:buFont typeface="Trebuchet MS"/>
              <a:buAutoNum type="arabicPeriod"/>
            </a:pP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Al-Jannah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(Paradise)</a:t>
            </a:r>
            <a:r>
              <a:rPr dirty="0" sz="1450" spc="10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450" spc="-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Al-Jahannam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(Hell).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final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home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decided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deeds.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59" y="1444300"/>
            <a:ext cx="516445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Signs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/>
              <a:t>Day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10"/>
              <a:t>Judgment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4</a:t>
            </a:r>
            <a:r>
              <a:rPr dirty="0" spc="-25"/>
              <a:t>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21" y="2112981"/>
            <a:ext cx="7255509" cy="314388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95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Appearance</a:t>
            </a:r>
            <a:r>
              <a:rPr dirty="0" sz="1450" spc="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Mahdi: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good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leader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bring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justice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help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people</a:t>
            </a:r>
            <a:endParaRPr sz="1450">
              <a:latin typeface="Trebuchet MS"/>
              <a:cs typeface="Trebuchet MS"/>
            </a:endParaRPr>
          </a:p>
          <a:p>
            <a:pPr marL="295910" marR="5080" indent="-283845">
              <a:lnSpc>
                <a:spcPct val="102800"/>
              </a:lnSpc>
              <a:spcBef>
                <a:spcPts val="81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Return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Jesus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(Hazrat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Isa):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Jesus(Hazrat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Isa)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come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back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help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defeat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evil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bring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peace.</a:t>
            </a:r>
            <a:endParaRPr sz="1450">
              <a:latin typeface="Trebuchet MS"/>
              <a:cs typeface="Trebuchet MS"/>
            </a:endParaRPr>
          </a:p>
          <a:p>
            <a:pPr marL="295910" marR="25400" indent="-283845">
              <a:lnSpc>
                <a:spcPct val="102699"/>
              </a:lnSpc>
              <a:spcBef>
                <a:spcPts val="81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Arrival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Dajjal</a:t>
            </a:r>
            <a:r>
              <a:rPr dirty="0" sz="1450" spc="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(Anti-Christ):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false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messiah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spread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lies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cause problems.</a:t>
            </a:r>
            <a:endParaRPr sz="1450">
              <a:latin typeface="Trebuchet MS"/>
              <a:cs typeface="Trebuchet MS"/>
            </a:endParaRPr>
          </a:p>
          <a:p>
            <a:pPr marL="295910" marR="97790" indent="-283845">
              <a:lnSpc>
                <a:spcPct val="102099"/>
              </a:lnSpc>
              <a:spcBef>
                <a:spcPts val="830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Rise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sun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west: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surprising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sign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where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sun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rise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the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opposite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direction.</a:t>
            </a:r>
            <a:endParaRPr sz="1450">
              <a:latin typeface="Trebuchet MS"/>
              <a:cs typeface="Trebuchet MS"/>
            </a:endParaRPr>
          </a:p>
          <a:p>
            <a:pPr marL="295910" marR="92710" indent="-283845">
              <a:lnSpc>
                <a:spcPct val="102099"/>
              </a:lnSpc>
              <a:spcBef>
                <a:spcPts val="840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Collapse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Kaaba: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holy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building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Mecca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may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fall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apart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sign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the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end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times.</a:t>
            </a:r>
            <a:endParaRPr sz="1450">
              <a:latin typeface="Trebuchet MS"/>
              <a:cs typeface="Trebuchet MS"/>
            </a:endParaRPr>
          </a:p>
          <a:p>
            <a:pPr marL="295910" marR="564515" indent="-283845">
              <a:lnSpc>
                <a:spcPct val="102800"/>
              </a:lnSpc>
              <a:spcBef>
                <a:spcPts val="81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More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Hardships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Life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become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very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difficult,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people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face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many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challenges.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2624" y="1319362"/>
            <a:ext cx="736092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Names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/>
              <a:t>Day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Judgment</a:t>
            </a:r>
            <a:r>
              <a:rPr dirty="0" spc="-15"/>
              <a:t> </a:t>
            </a:r>
            <a:r>
              <a:rPr dirty="0" spc="-10"/>
              <a:t>(Qiyamah)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4</a:t>
            </a:r>
            <a:r>
              <a:rPr dirty="0" spc="-25"/>
              <a:t>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79004" y="3031942"/>
            <a:ext cx="3589020" cy="267462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95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al-Qiyamah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Resurrection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al-Din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Judgment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7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al-Hisab</a:t>
            </a:r>
            <a:r>
              <a:rPr dirty="0" sz="14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Reckoning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al-Mizan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Weighing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 al-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Talaq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Gathering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0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al-Hashr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Assembly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80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al-Nushur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Expulsion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0"/>
              </a:spcBef>
              <a:buClr>
                <a:srgbClr val="90C126"/>
              </a:buClr>
              <a:buSzPct val="79310"/>
              <a:buAutoNum type="arabicPeriod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al-Khulud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Eternity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2624" y="2037066"/>
            <a:ext cx="7292975" cy="932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dirty="0" sz="1450">
                <a:latin typeface="Trebuchet MS"/>
                <a:cs typeface="Trebuchet MS"/>
              </a:rPr>
              <a:t>Names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Judgment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(Qiyamah)"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different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words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Quran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describe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final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everyone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will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brought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back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life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judged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God. </a:t>
            </a:r>
            <a:r>
              <a:rPr dirty="0" sz="1450">
                <a:latin typeface="Trebuchet MS"/>
                <a:cs typeface="Trebuchet MS"/>
              </a:rPr>
              <a:t>Each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name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tells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something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special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day,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being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raised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dead, </a:t>
            </a:r>
            <a:r>
              <a:rPr dirty="0" sz="1450">
                <a:latin typeface="Trebuchet MS"/>
                <a:cs typeface="Trebuchet MS"/>
              </a:rPr>
              <a:t>being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gathered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together,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having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deeds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weighed.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77408" y="3022807"/>
            <a:ext cx="3630929" cy="279654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9.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al-Azifah</a:t>
            </a:r>
            <a:r>
              <a:rPr dirty="0" sz="14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Catastrophe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10.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al-Ghayb</a:t>
            </a:r>
            <a:r>
              <a:rPr dirty="0" sz="14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Unseen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11. Yawn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al-Waqi’ah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Event</a:t>
            </a:r>
            <a:endParaRPr sz="1450">
              <a:latin typeface="Trebuchet MS"/>
              <a:cs typeface="Trebuchet MS"/>
            </a:endParaRPr>
          </a:p>
          <a:p>
            <a:pPr marL="29591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12.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 al-Tanad –</a:t>
            </a:r>
            <a:r>
              <a:rPr dirty="0" sz="14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Calling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13.</a:t>
            </a:r>
            <a:r>
              <a:rPr dirty="0" sz="14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al-Jam’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Gathering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14. Yawn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al-Fasl</a:t>
            </a:r>
            <a:r>
              <a:rPr dirty="0" sz="14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Separation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15.</a:t>
            </a:r>
            <a:r>
              <a:rPr dirty="0" sz="14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al-Ba’th</a:t>
            </a:r>
            <a:r>
              <a:rPr dirty="0" sz="14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Resurrection</a:t>
            </a:r>
            <a:endParaRPr sz="1450">
              <a:latin typeface="Trebuchet MS"/>
              <a:cs typeface="Trebuchet MS"/>
            </a:endParaRPr>
          </a:p>
          <a:p>
            <a:pPr marL="29591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16.</a:t>
            </a:r>
            <a:r>
              <a:rPr dirty="0" sz="14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al-Rujz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Wrath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17.</a:t>
            </a:r>
            <a:r>
              <a:rPr dirty="0" sz="14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Yawn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al-Zulm</a:t>
            </a:r>
            <a:r>
              <a:rPr dirty="0" sz="14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Darkness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4</a:t>
            </a:r>
            <a:r>
              <a:rPr dirty="0" spc="-25"/>
              <a:t>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30425" marR="5080" indent="-211836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Believe</a:t>
            </a:r>
            <a:r>
              <a:rPr dirty="0" sz="3300" spc="-95"/>
              <a:t> </a:t>
            </a:r>
            <a:r>
              <a:rPr dirty="0" sz="3300"/>
              <a:t>in</a:t>
            </a:r>
            <a:r>
              <a:rPr dirty="0" sz="3300" spc="-114"/>
              <a:t> </a:t>
            </a:r>
            <a:r>
              <a:rPr dirty="0" sz="3300"/>
              <a:t>the</a:t>
            </a:r>
            <a:r>
              <a:rPr dirty="0" sz="3300" spc="-65"/>
              <a:t> </a:t>
            </a:r>
            <a:r>
              <a:rPr dirty="0" sz="3300"/>
              <a:t>Destiny/</a:t>
            </a:r>
            <a:r>
              <a:rPr dirty="0" sz="3300" spc="-65"/>
              <a:t> </a:t>
            </a:r>
            <a:r>
              <a:rPr dirty="0" sz="3300" spc="-10"/>
              <a:t>Predestination</a:t>
            </a:r>
            <a:r>
              <a:rPr dirty="0" u="none" sz="3300" spc="-10"/>
              <a:t> </a:t>
            </a:r>
            <a:r>
              <a:rPr dirty="0" sz="3300" spc="-10"/>
              <a:t>(Taqdeer/Qadar)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4</a:t>
            </a:r>
            <a:r>
              <a:rPr dirty="0" spc="-25"/>
              <a:t>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025" y="2304819"/>
            <a:ext cx="6951345" cy="231013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Topics: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50" spc="-35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10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What</a:t>
            </a:r>
            <a:r>
              <a:rPr dirty="0" sz="2300" spc="-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23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Destiny</a:t>
            </a:r>
            <a:r>
              <a:rPr dirty="0" sz="23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(Qadr)?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850" spc="-35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6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Four</a:t>
            </a:r>
            <a:r>
              <a:rPr dirty="0" sz="23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Key</a:t>
            </a:r>
            <a:r>
              <a:rPr dirty="0" sz="2300" spc="-1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Aspects</a:t>
            </a:r>
            <a:r>
              <a:rPr dirty="0" sz="23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Destiny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50" spc="-35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114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Types</a:t>
            </a:r>
            <a:r>
              <a:rPr dirty="0" sz="2300" spc="-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Destiny</a:t>
            </a:r>
            <a:r>
              <a:rPr dirty="0" sz="23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2300" spc="-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Fixed</a:t>
            </a:r>
            <a:r>
              <a:rPr dirty="0" sz="2300" spc="-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vs.</a:t>
            </a:r>
            <a:r>
              <a:rPr dirty="0" sz="2300" spc="-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Changeable</a:t>
            </a:r>
            <a:r>
              <a:rPr dirty="0" sz="23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Destiny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50" spc="-35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10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Quranic</a:t>
            </a:r>
            <a:r>
              <a:rPr dirty="0" sz="23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23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Hadith</a:t>
            </a:r>
            <a:r>
              <a:rPr dirty="0" sz="23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References</a:t>
            </a:r>
            <a:r>
              <a:rPr dirty="0" sz="23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2300" spc="-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Destiny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575329"/>
            <a:ext cx="6402070" cy="932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u="none"/>
              <a:t>Belief</a:t>
            </a:r>
            <a:r>
              <a:rPr dirty="0" u="none" spc="-10"/>
              <a:t> </a:t>
            </a:r>
            <a:r>
              <a:rPr dirty="0" u="none"/>
              <a:t>in</a:t>
            </a:r>
            <a:r>
              <a:rPr dirty="0" u="none" spc="15"/>
              <a:t> </a:t>
            </a:r>
            <a:r>
              <a:rPr dirty="0" u="none"/>
              <a:t>Destiny/Predestination</a:t>
            </a:r>
            <a:r>
              <a:rPr dirty="0" u="none" spc="-15"/>
              <a:t> </a:t>
            </a:r>
            <a:r>
              <a:rPr dirty="0" u="none" spc="-25"/>
              <a:t>and </a:t>
            </a:r>
            <a:r>
              <a:rPr dirty="0" u="none"/>
              <a:t>Resurrection</a:t>
            </a:r>
            <a:r>
              <a:rPr dirty="0" u="none" spc="-15"/>
              <a:t> </a:t>
            </a:r>
            <a:r>
              <a:rPr dirty="0" u="none" spc="-10"/>
              <a:t>(Qadr)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4</a:t>
            </a:r>
            <a:r>
              <a:rPr dirty="0" spc="-25"/>
              <a:t>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4065" y="2506148"/>
            <a:ext cx="5439410" cy="223837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What</a:t>
            </a:r>
            <a:r>
              <a:rPr dirty="0" sz="1450" spc="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Destiny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(Qadr)?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Destiny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(Qadr)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means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plan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everything.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450">
              <a:latin typeface="Trebuchet MS"/>
              <a:cs typeface="Trebuchet MS"/>
            </a:endParaRPr>
          </a:p>
          <a:p>
            <a:pPr marL="167640" indent="-154940">
              <a:lnSpc>
                <a:spcPct val="100000"/>
              </a:lnSpc>
              <a:buFont typeface="Trebuchet MS"/>
              <a:buChar char="•"/>
              <a:tabLst>
                <a:tab pos="167640" algn="l"/>
              </a:tabLst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Concept: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2620"/>
              </a:lnSpc>
              <a:spcBef>
                <a:spcPts val="22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Everything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happens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4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part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divine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plan.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basic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belief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one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six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pillars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faith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Islam.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Trust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wisdom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justice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heart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belief.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444300"/>
            <a:ext cx="491807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none"/>
              <a:t>Four</a:t>
            </a:r>
            <a:r>
              <a:rPr dirty="0" u="none" spc="-20"/>
              <a:t> </a:t>
            </a:r>
            <a:r>
              <a:rPr dirty="0" u="none"/>
              <a:t>Key</a:t>
            </a:r>
            <a:r>
              <a:rPr dirty="0" u="none" spc="-180"/>
              <a:t> </a:t>
            </a:r>
            <a:r>
              <a:rPr dirty="0" u="none"/>
              <a:t>Aspects</a:t>
            </a:r>
            <a:r>
              <a:rPr dirty="0" u="none" spc="-55"/>
              <a:t> </a:t>
            </a:r>
            <a:r>
              <a:rPr dirty="0" u="none"/>
              <a:t>of</a:t>
            </a:r>
            <a:r>
              <a:rPr dirty="0" u="none" spc="-25"/>
              <a:t> </a:t>
            </a:r>
            <a:r>
              <a:rPr dirty="0" u="none" spc="-10"/>
              <a:t>Destiny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u="sng">
                <a:uFill>
                  <a:solidFill>
                    <a:srgbClr val="898989"/>
                  </a:solidFill>
                </a:uFill>
              </a:rPr>
              <a:t>Spring</a:t>
            </a:r>
            <a:r>
              <a:rPr dirty="0" u="sng" spc="-25">
                <a:uFill>
                  <a:solidFill>
                    <a:srgbClr val="898989"/>
                  </a:solidFill>
                </a:uFill>
              </a:rPr>
              <a:t> </a:t>
            </a:r>
            <a:r>
              <a:rPr dirty="0" u="sng">
                <a:uFill>
                  <a:solidFill>
                    <a:srgbClr val="898989"/>
                  </a:solidFill>
                </a:uFill>
              </a:rPr>
              <a:t>2025</a:t>
            </a:r>
            <a:r>
              <a:rPr dirty="0" u="sng" spc="-15">
                <a:uFill>
                  <a:solidFill>
                    <a:srgbClr val="898989"/>
                  </a:solidFill>
                </a:uFill>
              </a:rPr>
              <a:t> </a:t>
            </a:r>
            <a:r>
              <a:rPr dirty="0" spc="-10"/>
              <a:t>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4</a:t>
            </a:r>
            <a:r>
              <a:rPr dirty="0" spc="-25"/>
              <a:t>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88" y="2111715"/>
            <a:ext cx="7476490" cy="3195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7470" indent="-73025">
              <a:lnSpc>
                <a:spcPct val="100000"/>
              </a:lnSpc>
              <a:spcBef>
                <a:spcPts val="135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Knowledge</a:t>
            </a:r>
            <a:r>
              <a:rPr dirty="0" sz="1450" spc="13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(Ilm):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Allah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knows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everything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happened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past,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happening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now,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will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happen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future.</a:t>
            </a:r>
            <a:endParaRPr sz="145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624840" algn="l"/>
              </a:tabLst>
            </a:pPr>
            <a:r>
              <a:rPr dirty="0" sz="1450" i="1">
                <a:latin typeface="Trebuchet MS"/>
                <a:cs typeface="Trebuchet MS"/>
              </a:rPr>
              <a:t>“Indeed,</a:t>
            </a:r>
            <a:r>
              <a:rPr dirty="0" sz="1450" spc="-2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Allah</a:t>
            </a:r>
            <a:r>
              <a:rPr dirty="0" sz="1450" spc="7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is</a:t>
            </a:r>
            <a:r>
              <a:rPr dirty="0" sz="1450" spc="3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All-Knowing</a:t>
            </a:r>
            <a:r>
              <a:rPr dirty="0" sz="1450" spc="5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of</a:t>
            </a:r>
            <a:r>
              <a:rPr dirty="0" sz="1450" spc="10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all</a:t>
            </a:r>
            <a:r>
              <a:rPr dirty="0" sz="1450" spc="9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things.”</a:t>
            </a:r>
            <a:r>
              <a:rPr dirty="0" sz="1450" spc="85" i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(Surah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Al-Anfal,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8:75)</a:t>
            </a:r>
            <a:endParaRPr sz="1450">
              <a:latin typeface="Trebuchet MS"/>
              <a:cs typeface="Trebuchet MS"/>
            </a:endParaRPr>
          </a:p>
          <a:p>
            <a:pPr marL="77470" indent="-73025">
              <a:lnSpc>
                <a:spcPct val="100000"/>
              </a:lnSpc>
              <a:spcBef>
                <a:spcPts val="35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Preserved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Tablet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(Al-Lawh</a:t>
            </a:r>
            <a:r>
              <a:rPr dirty="0" sz="1450" spc="1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al-</a:t>
            </a:r>
            <a:r>
              <a:rPr dirty="0" sz="1450" spc="-10" b="1">
                <a:latin typeface="Trebuchet MS"/>
                <a:cs typeface="Trebuchet MS"/>
              </a:rPr>
              <a:t>Mahfuz):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Every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event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recorded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special,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unchangeable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record.</a:t>
            </a:r>
            <a:endParaRPr sz="1450">
              <a:latin typeface="Trebuchet MS"/>
              <a:cs typeface="Trebuchet MS"/>
            </a:endParaRPr>
          </a:p>
          <a:p>
            <a:pPr lvl="1" marL="624840" marR="321945" indent="-234950">
              <a:lnSpc>
                <a:spcPts val="1789"/>
              </a:lnSpc>
              <a:spcBef>
                <a:spcPts val="55"/>
              </a:spcBef>
              <a:buFont typeface="Arial MT"/>
              <a:buChar char="•"/>
              <a:tabLst>
                <a:tab pos="624840" algn="l"/>
              </a:tabLst>
            </a:pPr>
            <a:r>
              <a:rPr dirty="0" sz="1450" i="1">
                <a:latin typeface="Trebuchet MS"/>
                <a:cs typeface="Trebuchet MS"/>
              </a:rPr>
              <a:t>“Do</a:t>
            </a:r>
            <a:r>
              <a:rPr dirty="0" sz="1450" spc="5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you</a:t>
            </a:r>
            <a:r>
              <a:rPr dirty="0" sz="1450" spc="6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not</a:t>
            </a:r>
            <a:r>
              <a:rPr dirty="0" sz="1450" spc="5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know</a:t>
            </a:r>
            <a:r>
              <a:rPr dirty="0" sz="1450" spc="4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that</a:t>
            </a:r>
            <a:r>
              <a:rPr dirty="0" sz="1450" spc="-1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Allah</a:t>
            </a:r>
            <a:r>
              <a:rPr dirty="0" sz="1450" spc="2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knows</a:t>
            </a:r>
            <a:r>
              <a:rPr dirty="0" sz="1450" spc="6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what</a:t>
            </a:r>
            <a:r>
              <a:rPr dirty="0" sz="1450" spc="7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is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in</a:t>
            </a:r>
            <a:r>
              <a:rPr dirty="0" sz="1450" spc="7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the</a:t>
            </a:r>
            <a:r>
              <a:rPr dirty="0" sz="1450" spc="4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heaven</a:t>
            </a:r>
            <a:r>
              <a:rPr dirty="0" sz="1450" spc="6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and</a:t>
            </a:r>
            <a:r>
              <a:rPr dirty="0" sz="1450" spc="6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earth?</a:t>
            </a:r>
            <a:r>
              <a:rPr dirty="0" sz="1450" spc="40" i="1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Trebuchet MS"/>
                <a:cs typeface="Trebuchet MS"/>
              </a:rPr>
              <a:t>Indeed, </a:t>
            </a:r>
            <a:r>
              <a:rPr dirty="0" sz="1450" i="1">
                <a:latin typeface="Trebuchet MS"/>
                <a:cs typeface="Trebuchet MS"/>
              </a:rPr>
              <a:t>this</a:t>
            </a:r>
            <a:r>
              <a:rPr dirty="0" sz="1450" spc="6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is</a:t>
            </a:r>
            <a:r>
              <a:rPr dirty="0" sz="1450" spc="6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in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a</a:t>
            </a:r>
            <a:r>
              <a:rPr dirty="0" sz="1450" spc="6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Record...”</a:t>
            </a:r>
            <a:r>
              <a:rPr dirty="0" sz="1450" spc="30" i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(Surah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Al-Hadid,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57:22)</a:t>
            </a:r>
            <a:endParaRPr sz="1450">
              <a:latin typeface="Trebuchet MS"/>
              <a:cs typeface="Trebuchet MS"/>
            </a:endParaRPr>
          </a:p>
          <a:p>
            <a:pPr marL="77470" indent="-73025">
              <a:lnSpc>
                <a:spcPts val="1705"/>
              </a:lnSpc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Allah’s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Will </a:t>
            </a:r>
            <a:r>
              <a:rPr dirty="0" sz="1450" spc="-10" b="1">
                <a:latin typeface="Trebuchet MS"/>
                <a:cs typeface="Trebuchet MS"/>
              </a:rPr>
              <a:t>(Mashiah):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>
                <a:latin typeface="Trebuchet MS"/>
                <a:cs typeface="Trebuchet MS"/>
              </a:rPr>
              <a:t>Nothing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occurs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unless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wills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it.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event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happens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only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because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allows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it.</a:t>
            </a:r>
            <a:endParaRPr sz="145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624840" algn="l"/>
              </a:tabLst>
            </a:pPr>
            <a:r>
              <a:rPr dirty="0" sz="1450" i="1">
                <a:latin typeface="Trebuchet MS"/>
                <a:cs typeface="Trebuchet MS"/>
              </a:rPr>
              <a:t>“And</a:t>
            </a:r>
            <a:r>
              <a:rPr dirty="0" sz="1450" spc="7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you</a:t>
            </a:r>
            <a:r>
              <a:rPr dirty="0" sz="1450" spc="5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do</a:t>
            </a:r>
            <a:r>
              <a:rPr dirty="0" sz="1450" spc="7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not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will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except</a:t>
            </a:r>
            <a:r>
              <a:rPr dirty="0" sz="1450" spc="3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that Allah</a:t>
            </a:r>
            <a:r>
              <a:rPr dirty="0" sz="1450" spc="7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wills.”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(Surah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Al-Insan,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76:30)</a:t>
            </a:r>
            <a:endParaRPr sz="1450">
              <a:latin typeface="Trebuchet MS"/>
              <a:cs typeface="Trebuchet MS"/>
            </a:endParaRPr>
          </a:p>
          <a:p>
            <a:pPr marL="77470" indent="-73025">
              <a:lnSpc>
                <a:spcPct val="100000"/>
              </a:lnSpc>
              <a:spcBef>
                <a:spcPts val="50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Creation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(Khalq):</a:t>
            </a:r>
            <a:endParaRPr sz="145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624840" algn="l"/>
              </a:tabLst>
            </a:pPr>
            <a:r>
              <a:rPr dirty="0" sz="1450">
                <a:latin typeface="Trebuchet MS"/>
                <a:cs typeface="Trebuchet MS"/>
              </a:rPr>
              <a:t>Allah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Creator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everything,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including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our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actions.</a:t>
            </a:r>
            <a:endParaRPr sz="145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624840" algn="l"/>
              </a:tabLst>
            </a:pPr>
            <a:r>
              <a:rPr dirty="0" sz="1450" i="1">
                <a:latin typeface="Trebuchet MS"/>
                <a:cs typeface="Trebuchet MS"/>
              </a:rPr>
              <a:t>“Allah</a:t>
            </a:r>
            <a:r>
              <a:rPr dirty="0" sz="1450" spc="3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is</a:t>
            </a:r>
            <a:r>
              <a:rPr dirty="0" sz="1450" spc="5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the</a:t>
            </a:r>
            <a:r>
              <a:rPr dirty="0" sz="1450" spc="4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Creator</a:t>
            </a:r>
            <a:r>
              <a:rPr dirty="0" sz="1450" spc="2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of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all</a:t>
            </a:r>
            <a:r>
              <a:rPr dirty="0" sz="1450" spc="8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things...”</a:t>
            </a:r>
            <a:r>
              <a:rPr dirty="0" sz="1450" spc="20" i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(Surah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Az-</a:t>
            </a:r>
            <a:r>
              <a:rPr dirty="0" sz="1450" spc="-10">
                <a:latin typeface="Trebuchet MS"/>
                <a:cs typeface="Trebuchet MS"/>
              </a:rPr>
              <a:t>Zumar,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39:62)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0769" y="1444300"/>
            <a:ext cx="276733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none" spc="-30" b="0">
                <a:latin typeface="Trebuchet MS"/>
                <a:cs typeface="Trebuchet MS"/>
              </a:rPr>
              <a:t>Types</a:t>
            </a:r>
            <a:r>
              <a:rPr dirty="0" u="none" spc="-95" b="0">
                <a:latin typeface="Trebuchet MS"/>
                <a:cs typeface="Trebuchet MS"/>
              </a:rPr>
              <a:t> </a:t>
            </a:r>
            <a:r>
              <a:rPr dirty="0" u="none" b="0">
                <a:latin typeface="Trebuchet MS"/>
                <a:cs typeface="Trebuchet MS"/>
              </a:rPr>
              <a:t>of</a:t>
            </a:r>
            <a:r>
              <a:rPr dirty="0" u="none" spc="-70" b="0">
                <a:latin typeface="Trebuchet MS"/>
                <a:cs typeface="Trebuchet MS"/>
              </a:rPr>
              <a:t> </a:t>
            </a:r>
            <a:r>
              <a:rPr dirty="0" u="none" spc="-10" b="0">
                <a:latin typeface="Trebuchet MS"/>
                <a:cs typeface="Trebuchet MS"/>
              </a:rPr>
              <a:t>Destiny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u="sng">
                <a:uFill>
                  <a:solidFill>
                    <a:srgbClr val="898989"/>
                  </a:solidFill>
                </a:uFill>
              </a:rPr>
              <a:t>Spring</a:t>
            </a:r>
            <a:r>
              <a:rPr dirty="0" u="sng" spc="-25">
                <a:uFill>
                  <a:solidFill>
                    <a:srgbClr val="898989"/>
                  </a:solidFill>
                </a:uFill>
              </a:rPr>
              <a:t> </a:t>
            </a:r>
            <a:r>
              <a:rPr dirty="0" u="sng">
                <a:uFill>
                  <a:solidFill>
                    <a:srgbClr val="898989"/>
                  </a:solidFill>
                </a:uFill>
              </a:rPr>
              <a:t>2025</a:t>
            </a:r>
            <a:r>
              <a:rPr dirty="0" u="sng" spc="-15">
                <a:uFill>
                  <a:solidFill>
                    <a:srgbClr val="898989"/>
                  </a:solidFill>
                </a:uFill>
              </a:rPr>
              <a:t> </a:t>
            </a:r>
            <a:r>
              <a:rPr dirty="0" spc="-10"/>
              <a:t>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4</a:t>
            </a:r>
            <a:r>
              <a:rPr dirty="0" spc="-25"/>
              <a:t>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518" y="2041680"/>
            <a:ext cx="3709670" cy="70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83210">
              <a:lnSpc>
                <a:spcPct val="102400"/>
              </a:lnSpc>
              <a:spcBef>
                <a:spcPts val="9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Unrevocable</a:t>
            </a:r>
            <a:r>
              <a:rPr dirty="0" u="sng" sz="1450" spc="8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Destiny</a:t>
            </a:r>
            <a:r>
              <a:rPr dirty="0" u="sng" sz="1450" spc="8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(Mubram)</a:t>
            </a:r>
            <a:r>
              <a:rPr dirty="0" sz="1450" spc="-10" b="1">
                <a:latin typeface="Arial"/>
                <a:cs typeface="Arial"/>
              </a:rPr>
              <a:t>: </a:t>
            </a:r>
            <a:r>
              <a:rPr dirty="0" sz="1450" b="1">
                <a:latin typeface="Arial"/>
                <a:cs typeface="Arial"/>
              </a:rPr>
              <a:t>Definition: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plan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never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changes</a:t>
            </a:r>
            <a:r>
              <a:rPr dirty="0" sz="1450" spc="-10">
                <a:latin typeface="Arial MT"/>
                <a:cs typeface="Arial MT"/>
              </a:rPr>
              <a:t>.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Key</a:t>
            </a:r>
            <a:r>
              <a:rPr dirty="0" u="sng" sz="14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Points</a:t>
            </a:r>
            <a:r>
              <a:rPr dirty="0" sz="1450" spc="-10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0735" y="2719823"/>
            <a:ext cx="4133850" cy="1032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Only</a:t>
            </a:r>
            <a:r>
              <a:rPr dirty="0" sz="1650" spc="-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65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knows</a:t>
            </a:r>
            <a:r>
              <a:rPr dirty="0" sz="16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these</a:t>
            </a:r>
            <a:r>
              <a:rPr dirty="0" sz="165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details</a:t>
            </a:r>
            <a:r>
              <a:rPr dirty="0" sz="1650" spc="-10">
                <a:latin typeface="Arial MT"/>
                <a:cs typeface="Arial MT"/>
              </a:rPr>
              <a:t>.</a:t>
            </a:r>
            <a:endParaRPr sz="16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"/>
              <a:tabLst>
                <a:tab pos="295910" algn="l"/>
              </a:tabLst>
            </a:pPr>
            <a:r>
              <a:rPr dirty="0" sz="1650">
                <a:latin typeface="Arial MT"/>
                <a:cs typeface="Arial MT"/>
              </a:rPr>
              <a:t>It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cannot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changed.</a:t>
            </a:r>
            <a:endParaRPr sz="1650">
              <a:latin typeface="Arial MT"/>
              <a:cs typeface="Arial MT"/>
            </a:endParaRPr>
          </a:p>
          <a:p>
            <a:pPr marL="295910" marR="5080" indent="-283845">
              <a:lnSpc>
                <a:spcPct val="100000"/>
              </a:lnSpc>
              <a:buFont typeface="Wingdings"/>
              <a:buChar char=""/>
              <a:tabLst>
                <a:tab pos="295910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Examples:</a:t>
            </a:r>
            <a:r>
              <a:rPr dirty="0" sz="1650" spc="-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Time</a:t>
            </a:r>
            <a:r>
              <a:rPr dirty="0" sz="165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65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death,</a:t>
            </a:r>
            <a:r>
              <a:rPr dirty="0" sz="165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place</a:t>
            </a:r>
            <a:r>
              <a:rPr dirty="0" sz="165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6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birth,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6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your</a:t>
            </a:r>
            <a:r>
              <a:rPr dirty="0" sz="16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parents</a:t>
            </a:r>
            <a:r>
              <a:rPr dirty="0" sz="165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2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650" spc="-20">
                <a:latin typeface="Arial MT"/>
                <a:cs typeface="Arial MT"/>
              </a:rPr>
              <a:t>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518" y="3978688"/>
            <a:ext cx="292735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3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Revocable</a:t>
            </a:r>
            <a:r>
              <a:rPr dirty="0" u="sng" sz="1450" spc="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Destiny</a:t>
            </a:r>
            <a:r>
              <a:rPr dirty="0" u="sng" sz="1450" spc="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(Muallaq)</a:t>
            </a:r>
            <a:r>
              <a:rPr dirty="0" sz="1450" spc="-10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518" y="4431290"/>
            <a:ext cx="106362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Key</a:t>
            </a:r>
            <a:r>
              <a:rPr dirty="0" u="sng" sz="14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Points</a:t>
            </a:r>
            <a:r>
              <a:rPr dirty="0" sz="1450" spc="-10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0735" y="4655356"/>
            <a:ext cx="3829050" cy="781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6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depends</a:t>
            </a:r>
            <a:r>
              <a:rPr dirty="0" sz="165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6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6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choices.</a:t>
            </a:r>
            <a:endParaRPr sz="16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"/>
              <a:tabLst>
                <a:tab pos="295910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6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actions</a:t>
            </a:r>
            <a:r>
              <a:rPr dirty="0" sz="16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can</a:t>
            </a:r>
            <a:r>
              <a:rPr dirty="0" sz="165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change</a:t>
            </a:r>
            <a:r>
              <a:rPr dirty="0" sz="165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25">
                <a:solidFill>
                  <a:srgbClr val="3F3F3F"/>
                </a:solidFill>
                <a:latin typeface="Trebuchet MS"/>
                <a:cs typeface="Trebuchet MS"/>
              </a:rPr>
              <a:t>it.</a:t>
            </a:r>
            <a:endParaRPr sz="16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"/>
              <a:tabLst>
                <a:tab pos="295910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Example:</a:t>
            </a:r>
            <a:r>
              <a:rPr dirty="0" sz="165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(marriage,</a:t>
            </a:r>
            <a:r>
              <a:rPr dirty="0" sz="165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wealth,</a:t>
            </a:r>
            <a:r>
              <a:rPr dirty="0" sz="165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health).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518" y="4208818"/>
            <a:ext cx="824357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1915" sz="2175" b="1">
                <a:latin typeface="Arial"/>
                <a:cs typeface="Arial"/>
              </a:rPr>
              <a:t>Definition:</a:t>
            </a:r>
            <a:r>
              <a:rPr dirty="0" baseline="1915" sz="2175" spc="89" b="1">
                <a:latin typeface="Arial"/>
                <a:cs typeface="Arial"/>
              </a:rPr>
              <a:t> </a:t>
            </a:r>
            <a:r>
              <a:rPr dirty="0" baseline="1915" sz="2175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baseline="1915" sz="2175" spc="-4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baseline="1915" sz="2175">
                <a:solidFill>
                  <a:srgbClr val="3F3F3F"/>
                </a:solidFill>
                <a:latin typeface="Trebuchet MS"/>
                <a:cs typeface="Trebuchet MS"/>
              </a:rPr>
              <a:t>plan</a:t>
            </a:r>
            <a:r>
              <a:rPr dirty="0" baseline="1915" sz="2175" spc="97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baseline="1915" sz="2175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baseline="1915" sz="2175" spc="112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baseline="1915" sz="2175">
                <a:solidFill>
                  <a:srgbClr val="3F3F3F"/>
                </a:solidFill>
                <a:latin typeface="Trebuchet MS"/>
                <a:cs typeface="Trebuchet MS"/>
              </a:rPr>
              <a:t>can</a:t>
            </a:r>
            <a:r>
              <a:rPr dirty="0" baseline="1915" sz="2175" spc="112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baseline="1915" sz="2175">
                <a:solidFill>
                  <a:srgbClr val="3F3F3F"/>
                </a:solidFill>
                <a:latin typeface="Trebuchet MS"/>
                <a:cs typeface="Trebuchet MS"/>
              </a:rPr>
              <a:t>change</a:t>
            </a:r>
            <a:r>
              <a:rPr dirty="0" baseline="1915" sz="2175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baseline="1915" sz="2175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baseline="1915" sz="2175" spc="10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baseline="1915" sz="2175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baseline="1915" sz="2175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baseline="1915" sz="2175">
                <a:solidFill>
                  <a:srgbClr val="3F3F3F"/>
                </a:solidFill>
                <a:latin typeface="Trebuchet MS"/>
                <a:cs typeface="Trebuchet MS"/>
              </a:rPr>
              <a:t>actions.</a:t>
            </a:r>
            <a:r>
              <a:rPr dirty="0" baseline="1915" sz="2175" spc="457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Arial MT"/>
                <a:cs typeface="Arial MT"/>
              </a:rPr>
              <a:t>•</a:t>
            </a:r>
            <a:r>
              <a:rPr dirty="0" sz="1450" i="1">
                <a:latin typeface="Arial"/>
                <a:cs typeface="Arial"/>
              </a:rPr>
              <a:t>Muallaq:</a:t>
            </a:r>
            <a:r>
              <a:rPr dirty="0" sz="1450" spc="50" i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Partly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known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humans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-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Allah.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556228" y="4435904"/>
            <a:ext cx="3906520" cy="1157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example,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study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hard,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expect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get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grades,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unexpected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events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may </a:t>
            </a:r>
            <a:r>
              <a:rPr dirty="0" sz="1450">
                <a:latin typeface="Trebuchet MS"/>
                <a:cs typeface="Trebuchet MS"/>
              </a:rPr>
              <a:t>also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affect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results—this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while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outcomes,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only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fully </a:t>
            </a:r>
            <a:r>
              <a:rPr dirty="0" sz="1450">
                <a:latin typeface="Trebuchet MS"/>
                <a:cs typeface="Trebuchet MS"/>
              </a:rPr>
              <a:t>knows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final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result.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260676" y="1444300"/>
            <a:ext cx="3879215" cy="2791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77925" marR="284480" indent="-1165860">
              <a:lnSpc>
                <a:spcPct val="100699"/>
              </a:lnSpc>
              <a:spcBef>
                <a:spcPts val="100"/>
              </a:spcBef>
            </a:pPr>
            <a:r>
              <a:rPr dirty="0" sz="2950">
                <a:solidFill>
                  <a:srgbClr val="90C126"/>
                </a:solidFill>
                <a:latin typeface="Trebuchet MS"/>
                <a:cs typeface="Trebuchet MS"/>
              </a:rPr>
              <a:t>Fixed</a:t>
            </a:r>
            <a:r>
              <a:rPr dirty="0" sz="2950" spc="-5">
                <a:solidFill>
                  <a:srgbClr val="90C126"/>
                </a:solidFill>
                <a:latin typeface="Trebuchet MS"/>
                <a:cs typeface="Trebuchet MS"/>
              </a:rPr>
              <a:t> </a:t>
            </a:r>
            <a:r>
              <a:rPr dirty="0" sz="2950">
                <a:solidFill>
                  <a:srgbClr val="90C126"/>
                </a:solidFill>
                <a:latin typeface="Trebuchet MS"/>
                <a:cs typeface="Trebuchet MS"/>
              </a:rPr>
              <a:t>vs.</a:t>
            </a:r>
            <a:r>
              <a:rPr dirty="0" sz="2950" spc="10">
                <a:solidFill>
                  <a:srgbClr val="90C126"/>
                </a:solidFill>
                <a:latin typeface="Trebuchet MS"/>
                <a:cs typeface="Trebuchet MS"/>
              </a:rPr>
              <a:t> </a:t>
            </a:r>
            <a:r>
              <a:rPr dirty="0" sz="2950" spc="-10">
                <a:solidFill>
                  <a:srgbClr val="90C126"/>
                </a:solidFill>
                <a:latin typeface="Trebuchet MS"/>
                <a:cs typeface="Trebuchet MS"/>
              </a:rPr>
              <a:t>Changeable Destiny</a:t>
            </a:r>
            <a:endParaRPr sz="2950">
              <a:latin typeface="Trebuchet MS"/>
              <a:cs typeface="Trebuchet MS"/>
            </a:endParaRPr>
          </a:p>
          <a:p>
            <a:pPr marL="373380" indent="-73025">
              <a:lnSpc>
                <a:spcPct val="100000"/>
              </a:lnSpc>
              <a:spcBef>
                <a:spcPts val="420"/>
              </a:spcBef>
              <a:buSzPct val="93103"/>
              <a:buFont typeface="Arial MT"/>
              <a:buChar char="•"/>
              <a:tabLst>
                <a:tab pos="373380" algn="l"/>
              </a:tabLst>
            </a:pPr>
            <a:r>
              <a:rPr dirty="0" sz="1450" spc="-10" b="1">
                <a:latin typeface="Arial"/>
                <a:cs typeface="Arial"/>
              </a:rPr>
              <a:t>Immutability:</a:t>
            </a:r>
            <a:endParaRPr sz="1450">
              <a:latin typeface="Arial"/>
              <a:cs typeface="Arial"/>
            </a:endParaRPr>
          </a:p>
          <a:p>
            <a:pPr marL="373380" indent="-73025">
              <a:lnSpc>
                <a:spcPct val="100000"/>
              </a:lnSpc>
              <a:spcBef>
                <a:spcPts val="50"/>
              </a:spcBef>
              <a:buSzPct val="93103"/>
              <a:buFont typeface="Arial MT"/>
              <a:buChar char="•"/>
              <a:tabLst>
                <a:tab pos="373380" algn="l"/>
              </a:tabLst>
            </a:pPr>
            <a:r>
              <a:rPr dirty="0" sz="1450" i="1">
                <a:latin typeface="Arial"/>
                <a:cs typeface="Arial"/>
              </a:rPr>
              <a:t>Mubram:</a:t>
            </a:r>
            <a:r>
              <a:rPr dirty="0" sz="1450" spc="60" i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Fixed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cannot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changed.</a:t>
            </a:r>
            <a:endParaRPr sz="1450">
              <a:latin typeface="Arial MT"/>
              <a:cs typeface="Arial MT"/>
            </a:endParaRPr>
          </a:p>
          <a:p>
            <a:pPr marL="373380" indent="-73025">
              <a:lnSpc>
                <a:spcPct val="100000"/>
              </a:lnSpc>
              <a:spcBef>
                <a:spcPts val="35"/>
              </a:spcBef>
              <a:buSzPct val="93103"/>
              <a:buFont typeface="Arial MT"/>
              <a:buChar char="•"/>
              <a:tabLst>
                <a:tab pos="373380" algn="l"/>
              </a:tabLst>
            </a:pPr>
            <a:r>
              <a:rPr dirty="0" sz="1450" i="1">
                <a:latin typeface="Arial"/>
                <a:cs typeface="Arial"/>
              </a:rPr>
              <a:t>Muallaq:</a:t>
            </a:r>
            <a:r>
              <a:rPr dirty="0" sz="1450" spc="25" i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Can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changed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by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actions.</a:t>
            </a:r>
            <a:endParaRPr sz="1450">
              <a:latin typeface="Arial MT"/>
              <a:cs typeface="Arial MT"/>
            </a:endParaRPr>
          </a:p>
          <a:p>
            <a:pPr marL="373380" indent="-73025">
              <a:lnSpc>
                <a:spcPct val="100000"/>
              </a:lnSpc>
              <a:spcBef>
                <a:spcPts val="45"/>
              </a:spcBef>
              <a:buSzPct val="93103"/>
              <a:buFont typeface="Arial MT"/>
              <a:buChar char="•"/>
              <a:tabLst>
                <a:tab pos="373380" algn="l"/>
              </a:tabLst>
            </a:pPr>
            <a:r>
              <a:rPr dirty="0" sz="1450" b="1">
                <a:latin typeface="Arial"/>
                <a:cs typeface="Arial"/>
              </a:rPr>
              <a:t>Human</a:t>
            </a:r>
            <a:r>
              <a:rPr dirty="0" sz="1450" spc="8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Influence:</a:t>
            </a:r>
            <a:endParaRPr sz="1450">
              <a:latin typeface="Arial"/>
              <a:cs typeface="Arial"/>
            </a:endParaRPr>
          </a:p>
          <a:p>
            <a:pPr marL="307975" marR="5080" indent="-7620">
              <a:lnSpc>
                <a:spcPts val="1789"/>
              </a:lnSpc>
              <a:spcBef>
                <a:spcPts val="55"/>
              </a:spcBef>
              <a:buSzPct val="93103"/>
              <a:buFont typeface="Arial MT"/>
              <a:buChar char="•"/>
              <a:tabLst>
                <a:tab pos="373380" algn="l"/>
              </a:tabLst>
            </a:pPr>
            <a:r>
              <a:rPr dirty="0" sz="1450" i="1">
                <a:latin typeface="Arial"/>
                <a:cs typeface="Arial"/>
              </a:rPr>
              <a:t>	</a:t>
            </a:r>
            <a:r>
              <a:rPr dirty="0" sz="1450" i="1">
                <a:latin typeface="Arial"/>
                <a:cs typeface="Arial"/>
              </a:rPr>
              <a:t>Muallaq:</a:t>
            </a:r>
            <a:r>
              <a:rPr dirty="0" sz="1450" spc="-50" i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Affected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by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choices,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prayers, </a:t>
            </a:r>
            <a:r>
              <a:rPr dirty="0" sz="1450">
                <a:latin typeface="Arial MT"/>
                <a:cs typeface="Arial MT"/>
              </a:rPr>
              <a:t>charity,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good</a:t>
            </a:r>
            <a:r>
              <a:rPr dirty="0" sz="1450" spc="-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deeds.</a:t>
            </a:r>
            <a:endParaRPr sz="1450">
              <a:latin typeface="Arial MT"/>
              <a:cs typeface="Arial MT"/>
            </a:endParaRPr>
          </a:p>
          <a:p>
            <a:pPr marL="373380" indent="-73025">
              <a:lnSpc>
                <a:spcPts val="1705"/>
              </a:lnSpc>
              <a:buSzPct val="93103"/>
              <a:buFont typeface="Arial MT"/>
              <a:buChar char="•"/>
              <a:tabLst>
                <a:tab pos="373380" algn="l"/>
              </a:tabLst>
            </a:pPr>
            <a:r>
              <a:rPr dirty="0" sz="1450" spc="-10" b="1">
                <a:latin typeface="Arial"/>
                <a:cs typeface="Arial"/>
              </a:rPr>
              <a:t>Knowledge:</a:t>
            </a:r>
            <a:endParaRPr sz="1450">
              <a:latin typeface="Arial"/>
              <a:cs typeface="Arial"/>
            </a:endParaRPr>
          </a:p>
          <a:p>
            <a:pPr marL="373380" indent="-73025">
              <a:lnSpc>
                <a:spcPct val="100000"/>
              </a:lnSpc>
              <a:spcBef>
                <a:spcPts val="50"/>
              </a:spcBef>
              <a:buSzPct val="93103"/>
              <a:buFont typeface="Arial MT"/>
              <a:buChar char="•"/>
              <a:tabLst>
                <a:tab pos="373380" algn="l"/>
              </a:tabLst>
            </a:pPr>
            <a:r>
              <a:rPr dirty="0" sz="1450" i="1">
                <a:latin typeface="Arial"/>
                <a:cs typeface="Arial"/>
              </a:rPr>
              <a:t>Mubram:</a:t>
            </a:r>
            <a:r>
              <a:rPr dirty="0" sz="1450" spc="70" i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Known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only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Allah.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826" y="1305521"/>
            <a:ext cx="749173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none"/>
              <a:t>Quranic</a:t>
            </a:r>
            <a:r>
              <a:rPr dirty="0" u="none" spc="-35"/>
              <a:t> </a:t>
            </a:r>
            <a:r>
              <a:rPr dirty="0" u="none"/>
              <a:t>and</a:t>
            </a:r>
            <a:r>
              <a:rPr dirty="0" u="none" spc="5"/>
              <a:t> </a:t>
            </a:r>
            <a:r>
              <a:rPr dirty="0" u="none"/>
              <a:t>Hadith</a:t>
            </a:r>
            <a:r>
              <a:rPr dirty="0" u="none" spc="-5"/>
              <a:t> </a:t>
            </a:r>
            <a:r>
              <a:rPr dirty="0" u="none"/>
              <a:t>References</a:t>
            </a:r>
            <a:r>
              <a:rPr dirty="0" u="none" spc="-30"/>
              <a:t> </a:t>
            </a:r>
            <a:r>
              <a:rPr dirty="0" u="none"/>
              <a:t>on</a:t>
            </a:r>
            <a:r>
              <a:rPr dirty="0" u="none" spc="5"/>
              <a:t> </a:t>
            </a:r>
            <a:r>
              <a:rPr dirty="0" u="none" spc="-10"/>
              <a:t>Destiny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4</a:t>
            </a:r>
            <a:r>
              <a:rPr dirty="0" spc="-25"/>
              <a:t>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14385" y="2100790"/>
            <a:ext cx="7602855" cy="3730625"/>
          </a:xfrm>
          <a:prstGeom prst="rect">
            <a:avLst/>
          </a:prstGeom>
        </p:spPr>
        <p:txBody>
          <a:bodyPr wrap="square" lIns="0" tIns="59054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464"/>
              </a:spcBef>
              <a:buFont typeface="Wingdings"/>
              <a:buChar char=""/>
              <a:tabLst>
                <a:tab pos="248285" algn="l"/>
              </a:tabLst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Quran</a:t>
            </a:r>
            <a:r>
              <a:rPr dirty="0" u="sng" sz="1450" spc="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Verses:</a:t>
            </a:r>
            <a:endParaRPr sz="1450">
              <a:latin typeface="Arial"/>
              <a:cs typeface="Arial"/>
            </a:endParaRPr>
          </a:p>
          <a:p>
            <a:pPr marL="248920" marR="177165" indent="-236220">
              <a:lnSpc>
                <a:spcPct val="102800"/>
              </a:lnSpc>
              <a:spcBef>
                <a:spcPts val="320"/>
              </a:spcBef>
              <a:buFont typeface="Wingdings"/>
              <a:buChar char=""/>
              <a:tabLst>
                <a:tab pos="248920" algn="l"/>
              </a:tabLst>
            </a:pPr>
            <a:r>
              <a:rPr dirty="0" sz="1450">
                <a:latin typeface="Arial MT"/>
                <a:cs typeface="Arial MT"/>
              </a:rPr>
              <a:t>“And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Him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are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keys</a:t>
            </a:r>
            <a:r>
              <a:rPr dirty="0" sz="1450" spc="8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unseen;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none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knows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them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except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Him…”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(Surah</a:t>
            </a:r>
            <a:r>
              <a:rPr dirty="0" sz="1450" spc="-7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Al- </a:t>
            </a:r>
            <a:r>
              <a:rPr dirty="0" sz="1450">
                <a:latin typeface="Arial MT"/>
                <a:cs typeface="Arial MT"/>
              </a:rPr>
              <a:t>An’am,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6:59)</a:t>
            </a:r>
            <a:endParaRPr sz="1450">
              <a:latin typeface="Arial MT"/>
              <a:cs typeface="Arial MT"/>
            </a:endParaRPr>
          </a:p>
          <a:p>
            <a:pPr marL="248920" marR="65405" indent="-236220">
              <a:lnSpc>
                <a:spcPts val="1789"/>
              </a:lnSpc>
              <a:spcBef>
                <a:spcPts val="55"/>
              </a:spcBef>
              <a:buFont typeface="Wingdings"/>
              <a:buChar char=""/>
              <a:tabLst>
                <a:tab pos="248920" algn="l"/>
              </a:tabLst>
            </a:pPr>
            <a:r>
              <a:rPr dirty="0" sz="1450">
                <a:latin typeface="Arial MT"/>
                <a:cs typeface="Arial MT"/>
              </a:rPr>
              <a:t>“No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disaster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strikes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upon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earth...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except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that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register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before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bring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into </a:t>
            </a:r>
            <a:r>
              <a:rPr dirty="0" sz="1450">
                <a:latin typeface="Arial MT"/>
                <a:cs typeface="Arial MT"/>
              </a:rPr>
              <a:t>being...”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(Surah</a:t>
            </a:r>
            <a:r>
              <a:rPr dirty="0" sz="1450" spc="-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Al-Hadid,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57:22)</a:t>
            </a:r>
            <a:endParaRPr sz="14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248285" algn="l"/>
              </a:tabLst>
            </a:pPr>
            <a:r>
              <a:rPr dirty="0" sz="1450">
                <a:latin typeface="Arial MT"/>
                <a:cs typeface="Arial MT"/>
              </a:rPr>
              <a:t>“And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test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you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evil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good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trial...”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(Surah</a:t>
            </a:r>
            <a:r>
              <a:rPr dirty="0" sz="1450" spc="-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Al-Anbiya,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21:35)</a:t>
            </a:r>
            <a:endParaRPr sz="1450">
              <a:latin typeface="Arial MT"/>
              <a:cs typeface="Arial MT"/>
            </a:endParaRPr>
          </a:p>
          <a:p>
            <a:pPr marL="248285" indent="-235585">
              <a:lnSpc>
                <a:spcPct val="100000"/>
              </a:lnSpc>
              <a:spcBef>
                <a:spcPts val="935"/>
              </a:spcBef>
              <a:buFont typeface="Wingdings"/>
              <a:buChar char=""/>
              <a:tabLst>
                <a:tab pos="248285" algn="l"/>
              </a:tabLst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Hadith</a:t>
            </a:r>
            <a:r>
              <a:rPr dirty="0" u="sng" sz="1450" spc="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Highlights:</a:t>
            </a:r>
            <a:endParaRPr sz="1450">
              <a:latin typeface="Arial"/>
              <a:cs typeface="Arial"/>
            </a:endParaRPr>
          </a:p>
          <a:p>
            <a:pPr marL="248920" marR="5080" indent="-236220">
              <a:lnSpc>
                <a:spcPct val="102099"/>
              </a:lnSpc>
              <a:spcBef>
                <a:spcPts val="335"/>
              </a:spcBef>
              <a:buFont typeface="Wingdings"/>
              <a:buChar char=""/>
              <a:tabLst>
                <a:tab pos="248920" algn="l"/>
              </a:tabLst>
            </a:pPr>
            <a:r>
              <a:rPr dirty="0" sz="1450">
                <a:latin typeface="Arial MT"/>
                <a:cs typeface="Arial MT"/>
              </a:rPr>
              <a:t>“Faith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believe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-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Allah,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angels,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books,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messengers,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Last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Day,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to </a:t>
            </a:r>
            <a:r>
              <a:rPr dirty="0" sz="1450">
                <a:latin typeface="Arial MT"/>
                <a:cs typeface="Arial MT"/>
              </a:rPr>
              <a:t>believe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Qadr,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both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good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evil.”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(Sahih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Muslim)</a:t>
            </a:r>
            <a:endParaRPr sz="1450">
              <a:latin typeface="Arial MT"/>
              <a:cs typeface="Arial MT"/>
            </a:endParaRPr>
          </a:p>
          <a:p>
            <a:pPr marL="248920" marR="314960" indent="-236220">
              <a:lnSpc>
                <a:spcPct val="102099"/>
              </a:lnSpc>
              <a:spcBef>
                <a:spcPts val="15"/>
              </a:spcBef>
              <a:buFont typeface="Wingdings"/>
              <a:buChar char=""/>
              <a:tabLst>
                <a:tab pos="248920" algn="l"/>
              </a:tabLst>
            </a:pPr>
            <a:r>
              <a:rPr dirty="0" sz="1450">
                <a:latin typeface="Arial MT"/>
                <a:cs typeface="Arial MT"/>
              </a:rPr>
              <a:t>“Allah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wrote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down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decrees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creation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fifty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thousand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years</a:t>
            </a:r>
            <a:r>
              <a:rPr dirty="0" sz="1450" spc="8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before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created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the </a:t>
            </a:r>
            <a:r>
              <a:rPr dirty="0" sz="1450">
                <a:latin typeface="Arial MT"/>
                <a:cs typeface="Arial MT"/>
              </a:rPr>
              <a:t>heavens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earth.”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(Sahih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Muslim)</a:t>
            </a:r>
            <a:endParaRPr sz="1450">
              <a:latin typeface="Arial MT"/>
              <a:cs typeface="Arial MT"/>
            </a:endParaRPr>
          </a:p>
          <a:p>
            <a:pPr marL="248920" marR="379730" indent="-236220">
              <a:lnSpc>
                <a:spcPct val="102099"/>
              </a:lnSpc>
              <a:spcBef>
                <a:spcPts val="10"/>
              </a:spcBef>
              <a:buFont typeface="Wingdings"/>
              <a:buChar char=""/>
              <a:tabLst>
                <a:tab pos="248920" algn="l"/>
              </a:tabLst>
            </a:pPr>
            <a:r>
              <a:rPr dirty="0" sz="1450">
                <a:latin typeface="Arial MT"/>
                <a:cs typeface="Arial MT"/>
              </a:rPr>
              <a:t>“Strive,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everyone</a:t>
            </a:r>
            <a:r>
              <a:rPr dirty="0" sz="1450" spc="8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will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facilitated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what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created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for.”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(Sahih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al-Bukhari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 spc="-50">
                <a:latin typeface="Arial MT"/>
                <a:cs typeface="Arial MT"/>
              </a:rPr>
              <a:t>&amp; </a:t>
            </a:r>
            <a:r>
              <a:rPr dirty="0" sz="1450">
                <a:latin typeface="Arial MT"/>
                <a:cs typeface="Arial MT"/>
              </a:rPr>
              <a:t>Sahih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Muslim)</a:t>
            </a:r>
            <a:endParaRPr sz="1450">
              <a:latin typeface="Arial MT"/>
              <a:cs typeface="Arial MT"/>
            </a:endParaRPr>
          </a:p>
          <a:p>
            <a:pPr marL="248920" marR="97155" indent="-236220">
              <a:lnSpc>
                <a:spcPct val="102099"/>
              </a:lnSpc>
              <a:spcBef>
                <a:spcPts val="10"/>
              </a:spcBef>
              <a:buFont typeface="Wingdings"/>
              <a:buChar char=""/>
              <a:tabLst>
                <a:tab pos="248920" algn="l"/>
              </a:tabLst>
            </a:pPr>
            <a:r>
              <a:rPr dirty="0" sz="1450">
                <a:latin typeface="Arial MT"/>
                <a:cs typeface="Arial MT"/>
              </a:rPr>
              <a:t>“Nothing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increases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one’s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lifespan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except</a:t>
            </a:r>
            <a:r>
              <a:rPr dirty="0" sz="1450" spc="8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good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deeds,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nothing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repels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divine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decree </a:t>
            </a:r>
            <a:r>
              <a:rPr dirty="0" sz="1450">
                <a:latin typeface="Arial MT"/>
                <a:cs typeface="Arial MT"/>
              </a:rPr>
              <a:t>except</a:t>
            </a:r>
            <a:r>
              <a:rPr dirty="0" sz="1450" spc="9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supplication.”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(Jami`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at-</a:t>
            </a:r>
            <a:r>
              <a:rPr dirty="0" sz="1450" spc="-10">
                <a:latin typeface="Arial MT"/>
                <a:cs typeface="Arial MT"/>
              </a:rPr>
              <a:t>Tirmidhi)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54480" marR="5080" indent="-1274445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Believe</a:t>
            </a:r>
            <a:r>
              <a:rPr dirty="0" sz="3300" spc="-114"/>
              <a:t> </a:t>
            </a:r>
            <a:r>
              <a:rPr dirty="0" sz="3300"/>
              <a:t>in</a:t>
            </a:r>
            <a:r>
              <a:rPr dirty="0" sz="3300" spc="-125"/>
              <a:t> </a:t>
            </a:r>
            <a:r>
              <a:rPr dirty="0" sz="3300"/>
              <a:t>Resurrection</a:t>
            </a:r>
            <a:r>
              <a:rPr dirty="0" sz="3300" spc="-70"/>
              <a:t> </a:t>
            </a:r>
            <a:r>
              <a:rPr dirty="0" sz="3300"/>
              <a:t>after</a:t>
            </a:r>
            <a:r>
              <a:rPr dirty="0" sz="3300" spc="-90"/>
              <a:t> </a:t>
            </a:r>
            <a:r>
              <a:rPr dirty="0" sz="3300" spc="-10"/>
              <a:t>death</a:t>
            </a:r>
            <a:r>
              <a:rPr dirty="0" u="none" sz="3300" spc="-10"/>
              <a:t> </a:t>
            </a:r>
            <a:r>
              <a:rPr dirty="0" sz="3300"/>
              <a:t>(Rising</a:t>
            </a:r>
            <a:r>
              <a:rPr dirty="0" sz="3300" spc="-55"/>
              <a:t> </a:t>
            </a:r>
            <a:r>
              <a:rPr dirty="0" sz="3300"/>
              <a:t>from</a:t>
            </a:r>
            <a:r>
              <a:rPr dirty="0" sz="3300" spc="-80"/>
              <a:t> </a:t>
            </a:r>
            <a:r>
              <a:rPr dirty="0" sz="3300"/>
              <a:t>the</a:t>
            </a:r>
            <a:r>
              <a:rPr dirty="0" sz="3300" spc="-60"/>
              <a:t> </a:t>
            </a:r>
            <a:r>
              <a:rPr dirty="0" sz="3300" spc="-10"/>
              <a:t>dead)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7463935" y="6127091"/>
            <a:ext cx="125095" cy="13525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50" spc="-25">
                <a:solidFill>
                  <a:srgbClr val="90C126"/>
                </a:solidFill>
                <a:latin typeface="Trebuchet MS"/>
                <a:cs typeface="Trebuchet MS"/>
              </a:rPr>
              <a:t>50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75025" y="2304819"/>
            <a:ext cx="7517130" cy="367982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Topics: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50" spc="-35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8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Introduction</a:t>
            </a:r>
            <a:r>
              <a:rPr dirty="0" sz="2300" spc="-1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23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Resurrection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850" spc="-35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2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Quranic</a:t>
            </a:r>
            <a:r>
              <a:rPr dirty="0" sz="2300" spc="-1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References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50" spc="-35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4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Types</a:t>
            </a:r>
            <a:r>
              <a:rPr dirty="0" sz="2300" spc="-1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1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Resurrection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50" spc="-35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9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Categories</a:t>
            </a:r>
            <a:r>
              <a:rPr dirty="0" sz="2300" spc="-1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Resurrection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50" spc="-35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9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r>
              <a:rPr dirty="0" sz="2300" spc="-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23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Hadith</a:t>
            </a:r>
            <a:r>
              <a:rPr dirty="0" sz="23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References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850" spc="-35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9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Stages</a:t>
            </a:r>
            <a:r>
              <a:rPr dirty="0" sz="23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3F3F3F"/>
                </a:solidFill>
                <a:latin typeface="Trebuchet MS"/>
                <a:cs typeface="Trebuchet MS"/>
              </a:rPr>
              <a:t>Resurrection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50" spc="-35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7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Resurrection</a:t>
            </a:r>
            <a:r>
              <a:rPr dirty="0" sz="23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23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20" b="1">
                <a:solidFill>
                  <a:srgbClr val="3F3F3F"/>
                </a:solidFill>
                <a:latin typeface="Trebuchet MS"/>
                <a:cs typeface="Trebuchet MS"/>
              </a:rPr>
              <a:t>Surah</a:t>
            </a:r>
            <a:r>
              <a:rPr dirty="0" sz="2300" spc="-1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Al-Baqarah</a:t>
            </a:r>
            <a:r>
              <a:rPr dirty="0" sz="23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(Verses</a:t>
            </a:r>
            <a:r>
              <a:rPr dirty="0" sz="23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259</a:t>
            </a:r>
            <a:r>
              <a:rPr dirty="0" sz="2300" spc="-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2300" spc="-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20" b="1">
                <a:solidFill>
                  <a:srgbClr val="3F3F3F"/>
                </a:solidFill>
                <a:latin typeface="Trebuchet MS"/>
                <a:cs typeface="Trebuchet MS"/>
              </a:rPr>
              <a:t>260)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584" y="1581467"/>
            <a:ext cx="3949700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/>
              <a:t>Introduction</a:t>
            </a:r>
            <a:r>
              <a:rPr dirty="0" sz="2300" spc="-55"/>
              <a:t> </a:t>
            </a:r>
            <a:r>
              <a:rPr dirty="0" sz="2300"/>
              <a:t>to</a:t>
            </a:r>
            <a:r>
              <a:rPr dirty="0" sz="2300" spc="-20"/>
              <a:t> </a:t>
            </a:r>
            <a:r>
              <a:rPr dirty="0" sz="2300" spc="-10"/>
              <a:t>Resurrection</a:t>
            </a:r>
            <a:endParaRPr sz="2300"/>
          </a:p>
        </p:txBody>
      </p:sp>
      <p:sp>
        <p:nvSpPr>
          <p:cNvPr id="4" name="object 4" descr=""/>
          <p:cNvSpPr txBox="1"/>
          <p:nvPr/>
        </p:nvSpPr>
        <p:spPr>
          <a:xfrm>
            <a:off x="7463935" y="6127091"/>
            <a:ext cx="125095" cy="13525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50" spc="-25">
                <a:solidFill>
                  <a:srgbClr val="90C126"/>
                </a:solidFill>
                <a:latin typeface="Trebuchet MS"/>
                <a:cs typeface="Trebuchet MS"/>
              </a:rPr>
              <a:t>51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29610" y="2282421"/>
            <a:ext cx="6752590" cy="7054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3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Definition:</a:t>
            </a:r>
            <a:r>
              <a:rPr dirty="0" sz="1450" spc="50" b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Resurrection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(Ba‘th)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revival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souls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bodies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after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death.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50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Purpose: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For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judgment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accountability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on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Day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Judgment.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3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Key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Idea:</a:t>
            </a:r>
            <a:r>
              <a:rPr dirty="0" sz="1450" spc="40" b="1">
                <a:latin typeface="Arial"/>
                <a:cs typeface="Arial"/>
              </a:rPr>
              <a:t> </a:t>
            </a:r>
            <a:r>
              <a:rPr dirty="0" sz="1450">
                <a:latin typeface="Arial MT"/>
                <a:cs typeface="Arial MT"/>
              </a:rPr>
              <a:t>Death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not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end;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life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continues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final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judgment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948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25"/>
              </a:spcBef>
            </a:pPr>
            <a:r>
              <a:rPr dirty="0"/>
              <a:t>Quran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5"/>
              <a:t> </a:t>
            </a:r>
            <a:r>
              <a:rPr dirty="0"/>
              <a:t>Hadith</a:t>
            </a:r>
            <a:r>
              <a:rPr dirty="0" spc="-20"/>
              <a:t> </a:t>
            </a:r>
            <a:r>
              <a:rPr dirty="0" spc="-10"/>
              <a:t>References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5</a:t>
            </a:r>
            <a:r>
              <a:rPr dirty="0" spc="-25"/>
              <a:t>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3030" y="2370770"/>
            <a:ext cx="1123315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26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Quran: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53030" y="2810928"/>
            <a:ext cx="7141845" cy="2663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95910" marR="5080" indent="-283845">
              <a:lnSpc>
                <a:spcPct val="153100"/>
              </a:lnSpc>
              <a:spcBef>
                <a:spcPts val="90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latin typeface="Arial MT"/>
                <a:cs typeface="Arial MT"/>
              </a:rPr>
              <a:t>“And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 Trumpet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will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blown,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who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are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heavens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who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are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on </a:t>
            </a:r>
            <a:r>
              <a:rPr dirty="0" sz="1450">
                <a:latin typeface="Arial MT"/>
                <a:cs typeface="Arial MT"/>
              </a:rPr>
              <a:t>earth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will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terrified.”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(Quran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17:71)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93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latin typeface="Arial MT"/>
                <a:cs typeface="Arial MT"/>
              </a:rPr>
              <a:t>“And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have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recorded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everything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clear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register.”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(Quran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36:12)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940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latin typeface="Arial MT"/>
                <a:cs typeface="Arial MT"/>
              </a:rPr>
              <a:t>“And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have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created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everything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Qadr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(measure).”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(Quran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54:49)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u="sng" sz="26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Hadith:</a:t>
            </a:r>
            <a:endParaRPr sz="26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1210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latin typeface="Arial MT"/>
                <a:cs typeface="Arial MT"/>
              </a:rPr>
              <a:t>“You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will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resurrected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your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bodies and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wealth.”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(Sahih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Bukhari)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92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latin typeface="Arial MT"/>
                <a:cs typeface="Arial MT"/>
              </a:rPr>
              <a:t>“The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resurrection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will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on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Day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Judgment.”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(Sahih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Muslim)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575329"/>
            <a:ext cx="364871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none" spc="-30" b="0">
                <a:latin typeface="Trebuchet MS"/>
                <a:cs typeface="Trebuchet MS"/>
              </a:rPr>
              <a:t>Types</a:t>
            </a:r>
            <a:r>
              <a:rPr dirty="0" u="none" spc="-95" b="0">
                <a:latin typeface="Trebuchet MS"/>
                <a:cs typeface="Trebuchet MS"/>
              </a:rPr>
              <a:t> </a:t>
            </a:r>
            <a:r>
              <a:rPr dirty="0" u="none" b="0">
                <a:latin typeface="Trebuchet MS"/>
                <a:cs typeface="Trebuchet MS"/>
              </a:rPr>
              <a:t>of</a:t>
            </a:r>
            <a:r>
              <a:rPr dirty="0" u="none" spc="-70" b="0">
                <a:latin typeface="Trebuchet MS"/>
                <a:cs typeface="Trebuchet MS"/>
              </a:rPr>
              <a:t> </a:t>
            </a:r>
            <a:r>
              <a:rPr dirty="0" u="none" spc="-10" b="0">
                <a:latin typeface="Trebuchet MS"/>
                <a:cs typeface="Trebuchet MS"/>
              </a:rPr>
              <a:t>Resurrection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5</a:t>
            </a:r>
            <a:r>
              <a:rPr dirty="0" spc="-25"/>
              <a:t>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9615" y="2201395"/>
            <a:ext cx="6677025" cy="157543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Minor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Resurrection</a:t>
            </a:r>
            <a:r>
              <a:rPr dirty="0" sz="145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(Al-Ba'th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Saghir):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800"/>
              </a:lnSpc>
              <a:spcBef>
                <a:spcPts val="81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Resurrection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soul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after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death,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returning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Barzakh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(the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intermediate state).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Major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Resurrection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(Al-Ba'th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Kabir):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physical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revival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bodies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Judgment.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575329"/>
            <a:ext cx="449961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none" b="0">
                <a:latin typeface="Trebuchet MS"/>
                <a:cs typeface="Trebuchet MS"/>
              </a:rPr>
              <a:t>Categories</a:t>
            </a:r>
            <a:r>
              <a:rPr dirty="0" u="none" spc="5" b="0">
                <a:latin typeface="Trebuchet MS"/>
                <a:cs typeface="Trebuchet MS"/>
              </a:rPr>
              <a:t> </a:t>
            </a:r>
            <a:r>
              <a:rPr dirty="0" u="none" b="0">
                <a:latin typeface="Trebuchet MS"/>
                <a:cs typeface="Trebuchet MS"/>
              </a:rPr>
              <a:t>of</a:t>
            </a:r>
            <a:r>
              <a:rPr dirty="0" u="none" spc="-10" b="0">
                <a:latin typeface="Trebuchet MS"/>
                <a:cs typeface="Trebuchet MS"/>
              </a:rPr>
              <a:t> Resurrection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5</a:t>
            </a:r>
            <a:r>
              <a:rPr dirty="0" spc="-25"/>
              <a:t>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2201395"/>
            <a:ext cx="4399915" cy="201168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Al-Hashr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(Gathering):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creatures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450" spc="1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gathered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before</a:t>
            </a:r>
            <a:r>
              <a:rPr dirty="0" sz="14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Al-Mahshar</a:t>
            </a:r>
            <a:r>
              <a:rPr dirty="0" sz="1450" spc="1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(Gathering</a:t>
            </a:r>
            <a:r>
              <a:rPr dirty="0" sz="1450" spc="1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Place):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place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where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everyone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assembled.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Al-Hisab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(Accountability):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process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where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each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person’s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deeds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judged.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444300"/>
            <a:ext cx="3986529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Stages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 spc="-10"/>
              <a:t>Resurrection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5</a:t>
            </a:r>
            <a:r>
              <a:rPr dirty="0" spc="-25"/>
              <a:t>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88" y="2032200"/>
            <a:ext cx="3549650" cy="3477895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30"/>
              </a:spcBef>
              <a:buClr>
                <a:srgbClr val="90C126"/>
              </a:buClr>
              <a:buSzPct val="78787"/>
              <a:buFont typeface="Wingdings"/>
              <a:buChar char=""/>
              <a:tabLst>
                <a:tab pos="295910" algn="l"/>
              </a:tabLst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Death</a:t>
            </a:r>
            <a:r>
              <a:rPr dirty="0" u="sng" sz="165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(Mawt)</a:t>
            </a:r>
            <a:r>
              <a:rPr dirty="0" sz="1650" spc="-10" b="1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soul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leaves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body.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20"/>
              </a:spcBef>
              <a:buClr>
                <a:srgbClr val="90C126"/>
              </a:buClr>
              <a:buSzPct val="78787"/>
              <a:buFont typeface="Wingdings"/>
              <a:buChar char=""/>
              <a:tabLst>
                <a:tab pos="295910" algn="l"/>
              </a:tabLst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Intermediate</a:t>
            </a:r>
            <a:r>
              <a:rPr dirty="0" u="sng" sz="1650" spc="-7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Realm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(Barzakh)</a:t>
            </a:r>
            <a:r>
              <a:rPr dirty="0" sz="1650" spc="-10" b="1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soul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stays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temporary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place.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19"/>
              </a:spcBef>
              <a:buClr>
                <a:srgbClr val="90C126"/>
              </a:buClr>
              <a:buSzPct val="78787"/>
              <a:buFont typeface="Wingdings"/>
              <a:buChar char=""/>
              <a:tabLst>
                <a:tab pos="295910" algn="l"/>
              </a:tabLst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Resurrection</a:t>
            </a:r>
            <a:r>
              <a:rPr dirty="0" u="sng" sz="1650" spc="-7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(Ba‘th)</a:t>
            </a:r>
            <a:r>
              <a:rPr dirty="0" sz="1650" spc="-10" b="1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Souls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bodies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brought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back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life.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19"/>
              </a:spcBef>
              <a:buClr>
                <a:srgbClr val="90C126"/>
              </a:buClr>
              <a:buSzPct val="78787"/>
              <a:buFont typeface="Wingdings"/>
              <a:buChar char=""/>
              <a:tabLst>
                <a:tab pos="295910" algn="l"/>
              </a:tabLst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Gathering</a:t>
            </a:r>
            <a:r>
              <a:rPr dirty="0" u="sng" sz="1650" spc="-7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(Hashr)</a:t>
            </a:r>
            <a:r>
              <a:rPr dirty="0" sz="1650" spc="-10" b="1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assembled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before</a:t>
            </a:r>
            <a:r>
              <a:rPr dirty="0" sz="14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Allah.Judgment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19"/>
              </a:spcBef>
              <a:buClr>
                <a:srgbClr val="90C126"/>
              </a:buClr>
              <a:buSzPct val="78787"/>
              <a:buFont typeface="Wingdings"/>
              <a:buChar char=""/>
              <a:tabLst>
                <a:tab pos="295910" algn="l"/>
              </a:tabLst>
            </a:pP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(Hisab)</a:t>
            </a:r>
            <a:r>
              <a:rPr dirty="0" sz="1650" spc="-10" b="1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Every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deed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weighed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judged.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3719" y="1200329"/>
            <a:ext cx="5847080" cy="932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48410" marR="5080" indent="-1236345">
              <a:lnSpc>
                <a:spcPct val="100699"/>
              </a:lnSpc>
              <a:spcBef>
                <a:spcPts val="100"/>
              </a:spcBef>
            </a:pPr>
            <a:r>
              <a:rPr dirty="0"/>
              <a:t>Resurrection in</a:t>
            </a:r>
            <a:r>
              <a:rPr dirty="0" spc="30"/>
              <a:t> </a:t>
            </a:r>
            <a:r>
              <a:rPr dirty="0" spc="-20"/>
              <a:t>Surah</a:t>
            </a:r>
            <a:r>
              <a:rPr dirty="0" spc="-160"/>
              <a:t> </a:t>
            </a:r>
            <a:r>
              <a:rPr dirty="0" spc="-10"/>
              <a:t>Al-Baqarah</a:t>
            </a:r>
            <a:r>
              <a:rPr dirty="0" u="none" spc="-10"/>
              <a:t> </a:t>
            </a:r>
            <a:r>
              <a:rPr dirty="0"/>
              <a:t>(Verses</a:t>
            </a:r>
            <a:r>
              <a:rPr dirty="0" spc="-50"/>
              <a:t> </a:t>
            </a:r>
            <a:r>
              <a:rPr dirty="0"/>
              <a:t>259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 spc="-20"/>
              <a:t>260)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Ms</a:t>
            </a:r>
            <a:r>
              <a:rPr dirty="0" spc="-10"/>
              <a:t> </a:t>
            </a:r>
            <a:r>
              <a:rPr dirty="0"/>
              <a:t>Safia</a:t>
            </a:r>
            <a:r>
              <a:rPr dirty="0" spc="-20"/>
              <a:t> </a:t>
            </a:r>
            <a:r>
              <a:rPr dirty="0"/>
              <a:t>Waqas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Spring</a:t>
            </a:r>
            <a:r>
              <a:rPr dirty="0" spc="-25"/>
              <a:t> </a:t>
            </a:r>
            <a:r>
              <a:rPr dirty="0"/>
              <a:t>2025</a:t>
            </a:r>
            <a:r>
              <a:rPr dirty="0" spc="-10"/>
              <a:t> Islamic</a:t>
            </a:r>
            <a:r>
              <a:rPr dirty="0"/>
              <a:t> </a:t>
            </a:r>
            <a:r>
              <a:rPr dirty="0" spc="-10"/>
              <a:t>Studies</a:t>
            </a:r>
            <a:r>
              <a:rPr dirty="0" spc="-3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/>
              <a:t>Ethical</a:t>
            </a:r>
            <a:r>
              <a:rPr dirty="0" spc="-15"/>
              <a:t> </a:t>
            </a:r>
            <a:r>
              <a:rPr dirty="0" spc="-10"/>
              <a:t>Behaviour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25"/>
              <a:t>5</a:t>
            </a:r>
            <a:r>
              <a:rPr dirty="0" spc="-25"/>
              <a:t>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2869" y="2176267"/>
            <a:ext cx="6983730" cy="364871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295910" algn="l"/>
              </a:tabLst>
            </a:pPr>
            <a:r>
              <a:rPr dirty="0" sz="11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0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Verse</a:t>
            </a:r>
            <a:r>
              <a:rPr dirty="0" u="sng" sz="1400" spc="-6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259:</a:t>
            </a:r>
            <a:endParaRPr sz="14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575"/>
              </a:spcBef>
              <a:buClr>
                <a:srgbClr val="90C126"/>
              </a:buClr>
              <a:buSzPct val="83333"/>
              <a:buFont typeface="Wingdings"/>
              <a:buChar char=""/>
              <a:tabLst>
                <a:tab pos="295910" algn="l"/>
              </a:tabLst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2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man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passed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ruined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town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wondered,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“How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2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bring</a:t>
            </a:r>
            <a:r>
              <a:rPr dirty="0" sz="120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life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after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its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death?”</a:t>
            </a:r>
            <a:endParaRPr sz="1200">
              <a:latin typeface="Trebuchet MS"/>
              <a:cs typeface="Trebuchet MS"/>
            </a:endParaRPr>
          </a:p>
          <a:p>
            <a:pPr marL="295910" marR="96520" indent="-283845">
              <a:lnSpc>
                <a:spcPts val="1190"/>
              </a:lnSpc>
              <a:spcBef>
                <a:spcPts val="819"/>
              </a:spcBef>
              <a:buClr>
                <a:srgbClr val="90C126"/>
              </a:buClr>
              <a:buSzPct val="83333"/>
              <a:buFont typeface="Wingdings"/>
              <a:buChar char=""/>
              <a:tabLst>
                <a:tab pos="295910" algn="l"/>
              </a:tabLst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caused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him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die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100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years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then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brought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him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back,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showing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even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decayed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bones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can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reassembled.</a:t>
            </a:r>
            <a:endParaRPr sz="1200">
              <a:latin typeface="Trebuchet MS"/>
              <a:cs typeface="Trebuchet MS"/>
            </a:endParaRPr>
          </a:p>
          <a:p>
            <a:pPr marL="12700" marR="149225">
              <a:lnSpc>
                <a:spcPts val="1190"/>
              </a:lnSpc>
              <a:spcBef>
                <a:spcPts val="825"/>
              </a:spcBef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shows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that Allah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can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make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dead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things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come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life,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did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bringing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man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3F3F3F"/>
                </a:solidFill>
                <a:latin typeface="Trebuchet MS"/>
                <a:cs typeface="Trebuchet MS"/>
              </a:rPr>
              <a:t>back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after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100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years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ruined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3F3F3F"/>
                </a:solidFill>
                <a:latin typeface="Trebuchet MS"/>
                <a:cs typeface="Trebuchet MS"/>
              </a:rPr>
              <a:t>town.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295910" algn="l"/>
              </a:tabLst>
            </a:pPr>
            <a:r>
              <a:rPr dirty="0" sz="11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0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Verse</a:t>
            </a:r>
            <a:r>
              <a:rPr dirty="0" u="sng" sz="1400" spc="-6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260:</a:t>
            </a:r>
            <a:endParaRPr sz="14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560"/>
              </a:spcBef>
              <a:buClr>
                <a:srgbClr val="90C126"/>
              </a:buClr>
              <a:buSzPct val="83333"/>
              <a:buFont typeface="Wingdings"/>
              <a:buChar char=""/>
              <a:tabLst>
                <a:tab pos="295910" algn="l"/>
              </a:tabLst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Ibrahim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asked</a:t>
            </a:r>
            <a:r>
              <a:rPr dirty="0" sz="12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show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how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gives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life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dead.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575"/>
              </a:spcBef>
              <a:buClr>
                <a:srgbClr val="90C126"/>
              </a:buClr>
              <a:buSzPct val="83333"/>
              <a:buFont typeface="Wingdings"/>
              <a:buChar char=""/>
              <a:tabLst>
                <a:tab pos="295910" algn="l"/>
              </a:tabLst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demonstrated</a:t>
            </a:r>
            <a:r>
              <a:rPr dirty="0" sz="1200" spc="1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reviving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four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birds,</a:t>
            </a:r>
            <a:r>
              <a:rPr dirty="0" sz="120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proving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power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wisdom.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ts val="1190"/>
              </a:lnSpc>
              <a:spcBef>
                <a:spcPts val="825"/>
              </a:spcBef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verse,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Ibrahim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asked</a:t>
            </a:r>
            <a:r>
              <a:rPr dirty="0" sz="12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show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how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can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make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dead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live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again,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Allah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proved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reviving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four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birds.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u="sng" sz="12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Tafsir</a:t>
            </a:r>
            <a:r>
              <a:rPr dirty="0" u="sng" sz="1200" spc="2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2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Commentary</a:t>
            </a:r>
            <a:r>
              <a:rPr dirty="0" u="sng" sz="1200" spc="6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2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(Ibn</a:t>
            </a:r>
            <a:r>
              <a:rPr dirty="0" u="sng" sz="1200" spc="4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2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Kathir’s</a:t>
            </a:r>
            <a:r>
              <a:rPr dirty="0" u="sng" sz="1200" spc="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20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Insights):</a:t>
            </a:r>
            <a:endParaRPr sz="1200">
              <a:latin typeface="Trebuchet MS"/>
              <a:cs typeface="Trebuchet MS"/>
            </a:endParaRPr>
          </a:p>
          <a:p>
            <a:pPr marL="295910" marR="88265" indent="-283845">
              <a:lnSpc>
                <a:spcPts val="1190"/>
              </a:lnSpc>
              <a:spcBef>
                <a:spcPts val="815"/>
              </a:spcBef>
              <a:buClr>
                <a:srgbClr val="90C126"/>
              </a:buClr>
              <a:buSzPct val="83333"/>
              <a:buFont typeface="Wingdings"/>
              <a:buChar char=""/>
              <a:tabLst>
                <a:tab pos="295910" algn="l"/>
              </a:tabLst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According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Ibn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Kathir,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these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verses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show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has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power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bring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dead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back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3F3F3F"/>
                </a:solidFill>
                <a:latin typeface="Trebuchet MS"/>
                <a:cs typeface="Trebuchet MS"/>
              </a:rPr>
              <a:t>to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life.</a:t>
            </a:r>
            <a:endParaRPr sz="1200">
              <a:latin typeface="Trebuchet MS"/>
              <a:cs typeface="Trebuchet MS"/>
            </a:endParaRPr>
          </a:p>
          <a:p>
            <a:pPr marL="295910" marR="304165" indent="-283845">
              <a:lnSpc>
                <a:spcPts val="1190"/>
              </a:lnSpc>
              <a:spcBef>
                <a:spcPts val="825"/>
              </a:spcBef>
              <a:buClr>
                <a:srgbClr val="90C126"/>
              </a:buClr>
              <a:buSzPct val="83333"/>
              <a:buFont typeface="Wingdings"/>
              <a:buChar char=""/>
              <a:tabLst>
                <a:tab pos="295910" algn="l"/>
              </a:tabLst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story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Ibrahim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highlights</a:t>
            </a:r>
            <a:r>
              <a:rPr dirty="0" sz="120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asking</a:t>
            </a:r>
            <a:r>
              <a:rPr dirty="0" sz="120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questions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strengthen</a:t>
            </a:r>
            <a:r>
              <a:rPr dirty="0" sz="120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one’s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heart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faith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3F3F3F"/>
                </a:solidFill>
                <a:latin typeface="Trebuchet MS"/>
                <a:cs typeface="Trebuchet MS"/>
              </a:rPr>
              <a:t>is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important.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Waqas Naseem</dc:creator>
  <dc:title>Microsoft PowerPoint - Chapter-1 Articles of Faith in Islam - For Student - 17 Mar 2025.pptx</dc:title>
  <dcterms:created xsi:type="dcterms:W3CDTF">2025-05-02T09:45:30Z</dcterms:created>
  <dcterms:modified xsi:type="dcterms:W3CDTF">2025-05-02T09:45:30Z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2025-03-18T00:00:00Z</vt:filetime>
  </property>
  <property fmtid="{D5CDD505-2E9C-101B-9397-08002B2CF9AE}" pid="3" name="LastSaved">
    <vt:filetime>2025-05-02T00:00:00Z</vt:filetime>
  </property>
  <property fmtid="{D5CDD505-2E9C-101B-9397-08002B2CF9AE}" pid="4" name="Producer">
    <vt:lpwstr>Microsoft: Print To PDF</vt:lpwstr>
  </property>
</Properties>
</file>