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67719" y="1947167"/>
            <a:ext cx="3557270" cy="4072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31251" y="1057656"/>
            <a:ext cx="1007744" cy="5659120"/>
          </a:xfrm>
          <a:custGeom>
            <a:avLst/>
            <a:gdLst/>
            <a:ahLst/>
            <a:cxnLst/>
            <a:rect l="l" t="t" r="r" b="b"/>
            <a:pathLst>
              <a:path w="1007745" h="5659120">
                <a:moveTo>
                  <a:pt x="0" y="0"/>
                </a:moveTo>
                <a:lnTo>
                  <a:pt x="1007364" y="5658611"/>
                </a:lnTo>
              </a:path>
            </a:pathLst>
          </a:custGeom>
          <a:ln w="762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126480" y="4094988"/>
            <a:ext cx="3930650" cy="2621280"/>
          </a:xfrm>
          <a:custGeom>
            <a:avLst/>
            <a:gdLst/>
            <a:ahLst/>
            <a:cxnLst/>
            <a:rect l="l" t="t" r="r" b="b"/>
            <a:pathLst>
              <a:path w="3930650" h="2621279">
                <a:moveTo>
                  <a:pt x="3930395" y="0"/>
                </a:moveTo>
                <a:lnTo>
                  <a:pt x="0" y="2621279"/>
                </a:lnTo>
              </a:path>
            </a:pathLst>
          </a:custGeom>
          <a:ln w="7620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5492" y="1057656"/>
            <a:ext cx="2692907" cy="565861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363211"/>
            <a:ext cx="374904" cy="2353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643" y="1261341"/>
            <a:ext cx="6906895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0452" y="1749078"/>
            <a:ext cx="7888605" cy="3690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 u="sng">
                <a:solidFill>
                  <a:srgbClr val="0070BF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122670" y="1053846"/>
            <a:ext cx="3938270" cy="5666740"/>
            <a:chOff x="6122670" y="1053846"/>
            <a:chExt cx="3938270" cy="5666740"/>
          </a:xfrm>
        </p:grpSpPr>
        <p:sp>
          <p:nvSpPr>
            <p:cNvPr id="3" name="object 3" descr=""/>
            <p:cNvSpPr/>
            <p:nvPr/>
          </p:nvSpPr>
          <p:spPr>
            <a:xfrm>
              <a:off x="7731251" y="1057656"/>
              <a:ext cx="1007744" cy="5659120"/>
            </a:xfrm>
            <a:custGeom>
              <a:avLst/>
              <a:gdLst/>
              <a:ahLst/>
              <a:cxnLst/>
              <a:rect l="l" t="t" r="r" b="b"/>
              <a:pathLst>
                <a:path w="1007745" h="5659120">
                  <a:moveTo>
                    <a:pt x="0" y="0"/>
                  </a:moveTo>
                  <a:lnTo>
                    <a:pt x="1007364" y="5658611"/>
                  </a:lnTo>
                </a:path>
              </a:pathLst>
            </a:custGeom>
            <a:ln w="762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6480" y="4094988"/>
              <a:ext cx="3930650" cy="2621280"/>
            </a:xfrm>
            <a:custGeom>
              <a:avLst/>
              <a:gdLst/>
              <a:ahLst/>
              <a:cxnLst/>
              <a:rect l="l" t="t" r="r" b="b"/>
              <a:pathLst>
                <a:path w="3930650" h="2621279">
                  <a:moveTo>
                    <a:pt x="3930395" y="0"/>
                  </a:moveTo>
                  <a:lnTo>
                    <a:pt x="0" y="2621279"/>
                  </a:lnTo>
                </a:path>
              </a:pathLst>
            </a:custGeom>
            <a:ln w="7620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5492" y="1057656"/>
              <a:ext cx="2692907" cy="565861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1057655"/>
            <a:ext cx="1588135" cy="5659120"/>
            <a:chOff x="0" y="1057655"/>
            <a:chExt cx="1588135" cy="56591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57655"/>
              <a:ext cx="702564" cy="468020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4" y="5148071"/>
              <a:ext cx="1571244" cy="156819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2742682" y="5269406"/>
            <a:ext cx="3413125" cy="7816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Ms.</a:t>
            </a:r>
            <a:r>
              <a:rPr dirty="0" sz="19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b="1">
                <a:solidFill>
                  <a:srgbClr val="3F7718"/>
                </a:solidFill>
                <a:latin typeface="Times New Roman"/>
                <a:cs typeface="Times New Roman"/>
              </a:rPr>
              <a:t>SAFIA</a:t>
            </a:r>
            <a:r>
              <a:rPr dirty="0" sz="1950" spc="-11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950" spc="-20" b="1">
                <a:solidFill>
                  <a:srgbClr val="3F7718"/>
                </a:solidFill>
                <a:latin typeface="Times New Roman"/>
                <a:cs typeface="Times New Roman"/>
              </a:rPr>
              <a:t>WAQAS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Session:</a:t>
            </a:r>
            <a:r>
              <a:rPr dirty="0" sz="1450" spc="3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Spring:</a:t>
            </a:r>
            <a:r>
              <a:rPr dirty="0" sz="1450" spc="2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20" b="1">
                <a:solidFill>
                  <a:srgbClr val="3F7718"/>
                </a:solidFill>
                <a:latin typeface="Times New Roman"/>
                <a:cs typeface="Times New Roman"/>
              </a:rPr>
              <a:t>2025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Course:</a:t>
            </a:r>
            <a:r>
              <a:rPr dirty="0" sz="1450" spc="5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Islamic</a:t>
            </a:r>
            <a:r>
              <a:rPr dirty="0" sz="1450" spc="4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Studies</a:t>
            </a:r>
            <a:r>
              <a:rPr dirty="0" sz="1450" spc="4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/</a:t>
            </a:r>
            <a:r>
              <a:rPr dirty="0" sz="1450" spc="60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3F7718"/>
                </a:solidFill>
                <a:latin typeface="Times New Roman"/>
                <a:cs typeface="Times New Roman"/>
              </a:rPr>
              <a:t>Ethical</a:t>
            </a:r>
            <a:r>
              <a:rPr dirty="0" sz="1450" spc="25" b="1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3F7718"/>
                </a:solidFill>
                <a:latin typeface="Times New Roman"/>
                <a:cs typeface="Times New Roman"/>
              </a:rPr>
              <a:t>Behavior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06851" y="1372783"/>
            <a:ext cx="3718560" cy="855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none" sz="5450">
                <a:solidFill>
                  <a:srgbClr val="90C126"/>
                </a:solidFill>
              </a:rPr>
              <a:t>6</a:t>
            </a:r>
            <a:r>
              <a:rPr dirty="0" u="none" baseline="25462" sz="5400">
                <a:solidFill>
                  <a:srgbClr val="90C126"/>
                </a:solidFill>
              </a:rPr>
              <a:t>th</a:t>
            </a:r>
            <a:r>
              <a:rPr dirty="0" u="none" baseline="25462" sz="5400" spc="832">
                <a:solidFill>
                  <a:srgbClr val="90C126"/>
                </a:solidFill>
              </a:rPr>
              <a:t> </a:t>
            </a:r>
            <a:r>
              <a:rPr dirty="0" u="none" sz="5450" spc="-10">
                <a:solidFill>
                  <a:srgbClr val="90C126"/>
                </a:solidFill>
              </a:rPr>
              <a:t>Chapter</a:t>
            </a:r>
            <a:endParaRPr sz="5450"/>
          </a:p>
        </p:txBody>
      </p:sp>
      <p:sp>
        <p:nvSpPr>
          <p:cNvPr id="11" name="object 11" descr=""/>
          <p:cNvSpPr/>
          <p:nvPr/>
        </p:nvSpPr>
        <p:spPr>
          <a:xfrm>
            <a:off x="2545080" y="2164079"/>
            <a:ext cx="3642360" cy="67310"/>
          </a:xfrm>
          <a:custGeom>
            <a:avLst/>
            <a:gdLst/>
            <a:ahLst/>
            <a:cxnLst/>
            <a:rect l="l" t="t" r="r" b="b"/>
            <a:pathLst>
              <a:path w="3642360" h="67310">
                <a:moveTo>
                  <a:pt x="3642359" y="67056"/>
                </a:moveTo>
                <a:lnTo>
                  <a:pt x="0" y="67056"/>
                </a:lnTo>
                <a:lnTo>
                  <a:pt x="0" y="0"/>
                </a:lnTo>
                <a:lnTo>
                  <a:pt x="3642359" y="0"/>
                </a:lnTo>
                <a:lnTo>
                  <a:pt x="3642359" y="67056"/>
                </a:lnTo>
                <a:close/>
              </a:path>
            </a:pathLst>
          </a:custGeom>
          <a:solidFill>
            <a:srgbClr val="90C1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822456" y="2209349"/>
            <a:ext cx="7089140" cy="2462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Life of</a:t>
            </a:r>
            <a:r>
              <a:rPr dirty="0" u="sng" sz="3600" spc="2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the Beloved</a:t>
            </a:r>
            <a:r>
              <a:rPr dirty="0" u="sng" sz="3600" spc="-1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Holy</a:t>
            </a:r>
            <a:r>
              <a:rPr dirty="0" u="sng" sz="3600" spc="5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spc="-10" b="1">
                <a:solidFill>
                  <a:srgbClr val="90C126"/>
                </a:solidFill>
                <a:uFill>
                  <a:solidFill>
                    <a:srgbClr val="90C126"/>
                  </a:solidFill>
                </a:uFill>
                <a:latin typeface="Trebuchet MS"/>
                <a:cs typeface="Trebuchet MS"/>
              </a:rPr>
              <a:t>Prophet</a:t>
            </a:r>
            <a:endParaRPr sz="3600">
              <a:latin typeface="Trebuchet MS"/>
              <a:cs typeface="Trebuchet MS"/>
            </a:endParaRPr>
          </a:p>
          <a:p>
            <a:pPr algn="ctr" marL="2098675" marR="1760220">
              <a:lnSpc>
                <a:spcPct val="125200"/>
              </a:lnSpc>
              <a:spcBef>
                <a:spcPts val="860"/>
              </a:spcBef>
            </a:pP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Reasons</a:t>
            </a:r>
            <a:r>
              <a:rPr dirty="0" sz="1550" spc="1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Migration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to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Madina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Importance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Pact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Madina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Treaty</a:t>
            </a:r>
            <a:r>
              <a:rPr dirty="0" sz="1550" spc="-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Hudaybiyyah</a:t>
            </a:r>
            <a:endParaRPr sz="1550">
              <a:latin typeface="Arial"/>
              <a:cs typeface="Arial"/>
            </a:endParaRPr>
          </a:p>
          <a:p>
            <a:pPr algn="ctr" marL="1897380" marR="1560195">
              <a:lnSpc>
                <a:spcPct val="125099"/>
              </a:lnSpc>
            </a:pP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Advantages</a:t>
            </a:r>
            <a:r>
              <a:rPr dirty="0" sz="1550" spc="7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-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550" spc="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Treaty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Hudaibiya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Conquest</a:t>
            </a:r>
            <a:r>
              <a:rPr dirty="0" sz="1550" spc="3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0070BF"/>
                </a:solidFill>
                <a:latin typeface="Arial"/>
                <a:cs typeface="Arial"/>
              </a:rPr>
              <a:t>Makkah</a:t>
            </a:r>
            <a:endParaRPr sz="1550">
              <a:latin typeface="Arial"/>
              <a:cs typeface="Arial"/>
            </a:endParaRPr>
          </a:p>
          <a:p>
            <a:pPr algn="ctr" marL="327025">
              <a:lnSpc>
                <a:spcPct val="100000"/>
              </a:lnSpc>
              <a:spcBef>
                <a:spcPts val="470"/>
              </a:spcBef>
            </a:pP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Last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Sermon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of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the</a:t>
            </a:r>
            <a:r>
              <a:rPr dirty="0" sz="155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Holy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Prophet</a:t>
            </a:r>
            <a:r>
              <a:rPr dirty="0" sz="1550" spc="1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204" b="1">
                <a:solidFill>
                  <a:srgbClr val="0070BF"/>
                </a:solidFill>
                <a:latin typeface="Arial"/>
                <a:cs typeface="Arial"/>
              </a:rPr>
              <a:t>ملسو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210" b="1">
                <a:solidFill>
                  <a:srgbClr val="0070BF"/>
                </a:solidFill>
                <a:latin typeface="Arial"/>
                <a:cs typeface="Arial"/>
              </a:rPr>
              <a:t>هيلع</a:t>
            </a:r>
            <a:r>
              <a:rPr dirty="0" sz="1550" spc="2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ﷲ</a:t>
            </a:r>
            <a:r>
              <a:rPr dirty="0" sz="155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1550" spc="-330" b="1">
                <a:solidFill>
                  <a:srgbClr val="0070BF"/>
                </a:solidFill>
                <a:latin typeface="Arial"/>
                <a:cs typeface="Arial"/>
              </a:rPr>
              <a:t>ىلص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4" y="1328405"/>
            <a:ext cx="7091680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>
                <a:latin typeface="Arial"/>
                <a:cs typeface="Arial"/>
              </a:rPr>
              <a:t>Surah</a:t>
            </a:r>
            <a:r>
              <a:rPr dirty="0" sz="2950" spc="-14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Al</a:t>
            </a:r>
            <a:r>
              <a:rPr dirty="0" sz="2950" spc="-2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Hujurat:</a:t>
            </a:r>
            <a:r>
              <a:rPr dirty="0" sz="2950" spc="-3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Verses</a:t>
            </a:r>
            <a:r>
              <a:rPr dirty="0" sz="2950" spc="-4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01,</a:t>
            </a:r>
            <a:r>
              <a:rPr dirty="0" sz="2950" spc="-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02,</a:t>
            </a:r>
            <a:r>
              <a:rPr dirty="0" sz="2950" spc="-1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11</a:t>
            </a:r>
            <a:r>
              <a:rPr dirty="0" sz="2950" spc="-1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&amp;</a:t>
            </a:r>
            <a:r>
              <a:rPr dirty="0" sz="2950" spc="-35">
                <a:latin typeface="Arial"/>
                <a:cs typeface="Arial"/>
              </a:rPr>
              <a:t> </a:t>
            </a:r>
            <a:r>
              <a:rPr dirty="0" sz="2950" spc="-25">
                <a:latin typeface="Arial"/>
                <a:cs typeface="Arial"/>
              </a:rPr>
              <a:t>12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4693" y="1830153"/>
            <a:ext cx="8087995" cy="415607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2100" spc="-254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100" spc="-135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u="sng" sz="2650" spc="-10" b="1">
                <a:solidFill>
                  <a:srgbClr val="3F3F3F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Topics:</a:t>
            </a:r>
            <a:endParaRPr sz="265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55"/>
              </a:spcBef>
            </a:pPr>
            <a:r>
              <a:rPr dirty="0" sz="1850" spc="-1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Introduction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0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Al-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Hujurat: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Verses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1,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2,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11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&amp;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3F3F3F"/>
                </a:solidFill>
                <a:latin typeface="Trebuchet MS"/>
                <a:cs typeface="Trebuchet MS"/>
              </a:rPr>
              <a:t>12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35"/>
              </a:spcBef>
            </a:pPr>
            <a:r>
              <a:rPr dirty="0" sz="185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Respect</a:t>
            </a:r>
            <a:r>
              <a:rPr dirty="0" sz="2300" spc="-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for</a:t>
            </a:r>
            <a:r>
              <a:rPr dirty="0" sz="2300" spc="-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Allah</a:t>
            </a:r>
            <a:r>
              <a:rPr dirty="0" sz="2300" spc="-1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2300" spc="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His</a:t>
            </a:r>
            <a:r>
              <a:rPr dirty="0" sz="2300" spc="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Messenger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5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Al-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Hujurat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Ayat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1 (49:1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Al-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Hujurat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Ayat</a:t>
            </a:r>
            <a:r>
              <a:rPr dirty="0" sz="2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2 (49:2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390525">
              <a:lnSpc>
                <a:spcPct val="100000"/>
              </a:lnSpc>
              <a:spcBef>
                <a:spcPts val="865"/>
              </a:spcBef>
            </a:pPr>
            <a:r>
              <a:rPr dirty="0" sz="1550" spc="-20">
                <a:solidFill>
                  <a:srgbClr val="90C126"/>
                </a:solidFill>
                <a:latin typeface="Georgia"/>
                <a:cs typeface="Georgia"/>
              </a:rPr>
              <a:t></a:t>
            </a:r>
            <a:r>
              <a:rPr dirty="0" sz="1550" spc="100">
                <a:solidFill>
                  <a:srgbClr val="90C126"/>
                </a:solidFill>
                <a:latin typeface="Georgia"/>
                <a:cs typeface="Georgia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Promoting</a:t>
            </a:r>
            <a:r>
              <a:rPr dirty="0" sz="19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Mutual</a:t>
            </a:r>
            <a:r>
              <a:rPr dirty="0" sz="195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Respect</a:t>
            </a:r>
            <a:r>
              <a:rPr dirty="0" sz="1950" spc="2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and</a:t>
            </a:r>
            <a:r>
              <a:rPr dirty="0" sz="1950" spc="3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Avoiding</a:t>
            </a:r>
            <a:r>
              <a:rPr dirty="0" sz="195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Harmful</a:t>
            </a:r>
            <a:r>
              <a:rPr dirty="0" sz="1950" spc="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Behavior</a:t>
            </a:r>
            <a:r>
              <a:rPr dirty="0" sz="195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>
                <a:solidFill>
                  <a:srgbClr val="3F3F3F"/>
                </a:solidFill>
                <a:latin typeface="Trebuchet MS"/>
                <a:cs typeface="Trebuchet MS"/>
              </a:rPr>
              <a:t>-</a:t>
            </a:r>
            <a:r>
              <a:rPr dirty="0" sz="1950" spc="4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3F3F3F"/>
                </a:solidFill>
                <a:latin typeface="Trebuchet MS"/>
                <a:cs typeface="Trebuchet MS"/>
              </a:rPr>
              <a:t>11&amp;12</a:t>
            </a:r>
            <a:endParaRPr sz="195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25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Al-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Hujurat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Ayat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11 (49:11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  <a:p>
            <a:pPr marL="814069" indent="-423545">
              <a:lnSpc>
                <a:spcPct val="100000"/>
              </a:lnSpc>
              <a:spcBef>
                <a:spcPts val="840"/>
              </a:spcBef>
              <a:buClr>
                <a:srgbClr val="90C126"/>
              </a:buClr>
              <a:buSzPct val="80434"/>
              <a:buAutoNum type="alphaUcPeriod"/>
              <a:tabLst>
                <a:tab pos="814069" algn="l"/>
              </a:tabLst>
            </a:pP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Surah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Al-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Hujurat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Ayat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3F3F3F"/>
                </a:solidFill>
                <a:latin typeface="Trebuchet MS"/>
                <a:cs typeface="Trebuchet MS"/>
              </a:rPr>
              <a:t>12 (49:12</a:t>
            </a:r>
            <a:r>
              <a:rPr dirty="0" sz="2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3F3F3F"/>
                </a:solidFill>
                <a:latin typeface="Trebuchet MS"/>
                <a:cs typeface="Trebuchet MS"/>
              </a:rPr>
              <a:t>Quran)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185" y="1241524"/>
            <a:ext cx="7157720" cy="3276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/>
              <a:t>Implementing</a:t>
            </a:r>
            <a:r>
              <a:rPr dirty="0" sz="1950" spc="35"/>
              <a:t> </a:t>
            </a:r>
            <a:r>
              <a:rPr dirty="0" sz="1950"/>
              <a:t>Divine</a:t>
            </a:r>
            <a:r>
              <a:rPr dirty="0" sz="1950" spc="50"/>
              <a:t> </a:t>
            </a:r>
            <a:r>
              <a:rPr dirty="0" sz="1950"/>
              <a:t>Guidance</a:t>
            </a:r>
            <a:r>
              <a:rPr dirty="0" sz="1950" spc="50"/>
              <a:t> </a:t>
            </a:r>
            <a:r>
              <a:rPr dirty="0" sz="1950"/>
              <a:t>and</a:t>
            </a:r>
            <a:r>
              <a:rPr dirty="0" sz="1950" spc="65"/>
              <a:t> </a:t>
            </a:r>
            <a:r>
              <a:rPr dirty="0" sz="1950"/>
              <a:t>Understanding</a:t>
            </a:r>
            <a:r>
              <a:rPr dirty="0" sz="1950" spc="15"/>
              <a:t> </a:t>
            </a:r>
            <a:r>
              <a:rPr dirty="0" sz="1950"/>
              <a:t>the</a:t>
            </a:r>
            <a:r>
              <a:rPr dirty="0" sz="1950" spc="75"/>
              <a:t> </a:t>
            </a:r>
            <a:r>
              <a:rPr dirty="0" sz="1950" spc="-10"/>
              <a:t>Hijrah</a:t>
            </a:r>
            <a:endParaRPr sz="1950"/>
          </a:p>
        </p:txBody>
      </p:sp>
      <p:sp>
        <p:nvSpPr>
          <p:cNvPr id="3" name="object 3" descr=""/>
          <p:cNvSpPr txBox="1"/>
          <p:nvPr/>
        </p:nvSpPr>
        <p:spPr>
          <a:xfrm>
            <a:off x="298169" y="1567590"/>
            <a:ext cx="7903209" cy="468503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Introduction: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300">
                <a:latin typeface="Microsoft Sans Serif"/>
                <a:cs typeface="Microsoft Sans Serif"/>
              </a:rPr>
              <a:t>In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this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lecture,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will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explore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two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important</a:t>
            </a:r>
            <a:r>
              <a:rPr dirty="0" sz="1300" spc="4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aspects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of</a:t>
            </a:r>
            <a:r>
              <a:rPr dirty="0" sz="1300" spc="2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Islamic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history</a:t>
            </a:r>
            <a:r>
              <a:rPr dirty="0" sz="1300" spc="15">
                <a:latin typeface="Microsoft Sans Serif"/>
                <a:cs typeface="Microsoft Sans Serif"/>
              </a:rPr>
              <a:t> </a:t>
            </a:r>
            <a:r>
              <a:rPr dirty="0" sz="1300">
                <a:latin typeface="Microsoft Sans Serif"/>
                <a:cs typeface="Microsoft Sans Serif"/>
              </a:rPr>
              <a:t>and</a:t>
            </a:r>
            <a:r>
              <a:rPr dirty="0" sz="1300" spc="30">
                <a:latin typeface="Microsoft Sans Serif"/>
                <a:cs typeface="Microsoft Sans Serif"/>
              </a:rPr>
              <a:t> </a:t>
            </a:r>
            <a:r>
              <a:rPr dirty="0" sz="1300" spc="-10">
                <a:latin typeface="Microsoft Sans Serif"/>
                <a:cs typeface="Microsoft Sans Serif"/>
              </a:rPr>
              <a:t>practice:</a:t>
            </a:r>
            <a:endParaRPr sz="1300">
              <a:latin typeface="Microsoft Sans Serif"/>
              <a:cs typeface="Microsoft Sans Serif"/>
            </a:endParaRPr>
          </a:p>
          <a:p>
            <a:pPr marL="248285" indent="-235585">
              <a:lnSpc>
                <a:spcPct val="100000"/>
              </a:lnSpc>
              <a:spcBef>
                <a:spcPts val="860"/>
              </a:spcBef>
              <a:buSzPct val="111538"/>
              <a:buAutoNum type="arabicPeriod"/>
              <a:tabLst>
                <a:tab pos="248285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How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Prophet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Muhammad</a:t>
            </a:r>
            <a:r>
              <a:rPr dirty="0" u="sng" sz="130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(peace</a:t>
            </a:r>
            <a:r>
              <a:rPr dirty="0" u="sng" sz="1300" spc="7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be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upon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him)</a:t>
            </a:r>
            <a:r>
              <a:rPr dirty="0" u="sng" sz="1300" spc="-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Applied</a:t>
            </a:r>
            <a:r>
              <a:rPr dirty="0" u="sng" sz="130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Divine</a:t>
            </a:r>
            <a:r>
              <a:rPr dirty="0" u="sng" sz="130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Guidance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Daily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Life:</a:t>
            </a:r>
            <a:endParaRPr sz="1300">
              <a:latin typeface="Trebuchet MS"/>
              <a:cs typeface="Trebuchet MS"/>
            </a:endParaRPr>
          </a:p>
          <a:p>
            <a:pPr lvl="1" marL="248285" indent="-235585">
              <a:lnSpc>
                <a:spcPct val="100000"/>
              </a:lnSpc>
              <a:spcBef>
                <a:spcPts val="865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Role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Model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for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Humanity:</a:t>
            </a:r>
            <a:endParaRPr sz="1450">
              <a:latin typeface="Trebuchet MS"/>
              <a:cs typeface="Trebuchet MS"/>
            </a:endParaRPr>
          </a:p>
          <a:p>
            <a:pPr marL="12700" marR="50165">
              <a:lnSpc>
                <a:spcPct val="103299"/>
              </a:lnSpc>
              <a:spcBef>
                <a:spcPts val="835"/>
              </a:spcBef>
            </a:pPr>
            <a:r>
              <a:rPr dirty="0" sz="1200">
                <a:latin typeface="Microsoft Sans Serif"/>
                <a:cs typeface="Microsoft Sans Serif"/>
              </a:rPr>
              <a:t>Prophet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Muhammad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(PBUH)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demonstrated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8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teachings</a:t>
            </a:r>
            <a:r>
              <a:rPr dirty="0" sz="1200" spc="1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of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Quran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through</a:t>
            </a:r>
            <a:r>
              <a:rPr dirty="0" sz="1200" spc="11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his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actions,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serving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as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practical </a:t>
            </a:r>
            <a:r>
              <a:rPr dirty="0" sz="1200">
                <a:latin typeface="Microsoft Sans Serif"/>
                <a:cs typeface="Microsoft Sans Serif"/>
              </a:rPr>
              <a:t>example</a:t>
            </a:r>
            <a:r>
              <a:rPr dirty="0" sz="1200" spc="8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for</a:t>
            </a:r>
            <a:r>
              <a:rPr dirty="0" sz="1200" spc="5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all</a:t>
            </a:r>
            <a:r>
              <a:rPr dirty="0" sz="1200" spc="8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Muslims.</a:t>
            </a:r>
            <a:endParaRPr sz="1200">
              <a:latin typeface="Microsoft Sans Serif"/>
              <a:cs typeface="Microsoft Sans Serif"/>
            </a:endParaRPr>
          </a:p>
          <a:p>
            <a:pPr lvl="1" marL="248920" marR="5080" indent="-236220">
              <a:lnSpc>
                <a:spcPct val="103299"/>
              </a:lnSpc>
              <a:spcBef>
                <a:spcPts val="800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48920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Establishing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Balanced</a:t>
            </a:r>
            <a:r>
              <a:rPr dirty="0" sz="1450" spc="1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Society:</a:t>
            </a:r>
            <a:r>
              <a:rPr dirty="0" sz="1450" spc="1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He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promoted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community</a:t>
            </a:r>
            <a:r>
              <a:rPr dirty="0" sz="1200" spc="6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based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on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worship,</a:t>
            </a:r>
            <a:r>
              <a:rPr dirty="0" sz="1200" spc="14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justice,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education,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and </a:t>
            </a:r>
            <a:r>
              <a:rPr dirty="0" sz="1200">
                <a:latin typeface="Microsoft Sans Serif"/>
                <a:cs typeface="Microsoft Sans Serif"/>
              </a:rPr>
              <a:t>mutual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respect,</a:t>
            </a:r>
            <a:r>
              <a:rPr dirty="0" sz="1200" spc="1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demonstrating</a:t>
            </a:r>
            <a:r>
              <a:rPr dirty="0" sz="1200" spc="1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12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comprehensive</a:t>
            </a:r>
            <a:r>
              <a:rPr dirty="0" sz="1200" spc="13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application</a:t>
            </a:r>
            <a:r>
              <a:rPr dirty="0" sz="1200" spc="14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of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Islamic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principles.</a:t>
            </a:r>
            <a:endParaRPr sz="1200">
              <a:latin typeface="Microsoft Sans Serif"/>
              <a:cs typeface="Microsoft Sans Serif"/>
            </a:endParaRPr>
          </a:p>
          <a:p>
            <a:pPr marL="220979" indent="-208279">
              <a:lnSpc>
                <a:spcPct val="100000"/>
              </a:lnSpc>
              <a:spcBef>
                <a:spcPts val="835"/>
              </a:spcBef>
              <a:buAutoNum type="arabicPeriod" startAt="2"/>
              <a:tabLst>
                <a:tab pos="220979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Reasons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Behind</a:t>
            </a:r>
            <a:r>
              <a:rPr dirty="0" u="sng" sz="130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Migration</a:t>
            </a:r>
            <a:r>
              <a:rPr dirty="0" u="sng" sz="130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(Hijrah)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from</a:t>
            </a:r>
            <a:r>
              <a:rPr dirty="0" u="sng" sz="130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Makkah</a:t>
            </a:r>
            <a:r>
              <a:rPr dirty="0" u="sng" sz="1300" spc="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Madinah:</a:t>
            </a:r>
            <a:endParaRPr sz="1300">
              <a:latin typeface="Trebuchet MS"/>
              <a:cs typeface="Trebuchet MS"/>
            </a:endParaRPr>
          </a:p>
          <a:p>
            <a:pPr lvl="1" marL="248285" indent="-235585">
              <a:lnSpc>
                <a:spcPct val="100000"/>
              </a:lnSpc>
              <a:spcBef>
                <a:spcPts val="869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Escaping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Persecution:</a:t>
            </a:r>
            <a:endParaRPr sz="1450">
              <a:latin typeface="Trebuchet MS"/>
              <a:cs typeface="Trebuchet MS"/>
            </a:endParaRPr>
          </a:p>
          <a:p>
            <a:pPr marL="12700" marR="257175">
              <a:lnSpc>
                <a:spcPct val="103299"/>
              </a:lnSpc>
              <a:spcBef>
                <a:spcPts val="825"/>
              </a:spcBef>
            </a:pPr>
            <a:r>
              <a:rPr dirty="0" sz="1200">
                <a:latin typeface="Microsoft Sans Serif"/>
                <a:cs typeface="Microsoft Sans Serif"/>
              </a:rPr>
              <a:t>Facing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increasing</a:t>
            </a:r>
            <a:r>
              <a:rPr dirty="0" sz="1200" spc="12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hostility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and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threats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in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Makkah,</a:t>
            </a:r>
            <a:r>
              <a:rPr dirty="0" sz="1200" spc="10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</a:t>
            </a:r>
            <a:r>
              <a:rPr dirty="0" sz="1200" spc="7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Prophet</a:t>
            </a:r>
            <a:r>
              <a:rPr dirty="0" sz="1200" spc="10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and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his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followers</a:t>
            </a:r>
            <a:r>
              <a:rPr dirty="0" sz="1200" spc="1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sought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a</a:t>
            </a:r>
            <a:r>
              <a:rPr dirty="0" sz="1200" spc="95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safer</a:t>
            </a:r>
            <a:r>
              <a:rPr dirty="0" sz="1200" spc="7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environment</a:t>
            </a:r>
            <a:r>
              <a:rPr dirty="0" sz="1200" spc="114">
                <a:latin typeface="Microsoft Sans Serif"/>
                <a:cs typeface="Microsoft Sans Serif"/>
              </a:rPr>
              <a:t> </a:t>
            </a:r>
            <a:r>
              <a:rPr dirty="0" sz="1200" spc="-25">
                <a:latin typeface="Microsoft Sans Serif"/>
                <a:cs typeface="Microsoft Sans Serif"/>
              </a:rPr>
              <a:t>to </a:t>
            </a:r>
            <a:r>
              <a:rPr dirty="0" sz="1200">
                <a:latin typeface="Microsoft Sans Serif"/>
                <a:cs typeface="Microsoft Sans Serif"/>
              </a:rPr>
              <a:t>practice</a:t>
            </a:r>
            <a:r>
              <a:rPr dirty="0" sz="1200" spc="9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their</a:t>
            </a:r>
            <a:r>
              <a:rPr dirty="0" sz="1200" spc="8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faith.</a:t>
            </a:r>
            <a:endParaRPr sz="120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Establishing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Muslim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Community: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150">
                <a:latin typeface="Microsoft Sans Serif"/>
                <a:cs typeface="Microsoft Sans Serif"/>
              </a:rPr>
              <a:t>Madinah</a:t>
            </a:r>
            <a:r>
              <a:rPr dirty="0" sz="1150" spc="-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offered</a:t>
            </a:r>
            <a:r>
              <a:rPr dirty="0" sz="1150" spc="-5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opportunity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to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form</a:t>
            </a:r>
            <a:r>
              <a:rPr dirty="0" sz="1150" spc="-3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society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where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Islamic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values</a:t>
            </a:r>
            <a:r>
              <a:rPr dirty="0" sz="1150" spc="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could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be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freely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implemented</a:t>
            </a:r>
            <a:r>
              <a:rPr dirty="0" sz="1150" spc="-5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and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flourish.</a:t>
            </a:r>
            <a:endParaRPr sz="1150">
              <a:latin typeface="Microsoft Sans Serif"/>
              <a:cs typeface="Microsoft Sans Serif"/>
            </a:endParaRPr>
          </a:p>
          <a:p>
            <a:pPr lvl="1" marL="248285" indent="-235585">
              <a:lnSpc>
                <a:spcPct val="100000"/>
              </a:lnSpc>
              <a:spcBef>
                <a:spcPts val="855"/>
              </a:spcBef>
              <a:buClr>
                <a:srgbClr val="90C126"/>
              </a:buClr>
              <a:buSzPct val="79310"/>
              <a:buFont typeface="Microsoft Sans Serif"/>
              <a:buChar char="•"/>
              <a:tabLst>
                <a:tab pos="248285" algn="l"/>
              </a:tabLst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Divine</a:t>
            </a:r>
            <a:r>
              <a:rPr dirty="0" sz="1450" spc="11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Instruction: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150">
                <a:latin typeface="Microsoft Sans Serif"/>
                <a:cs typeface="Microsoft Sans Serif"/>
              </a:rPr>
              <a:t>The</a:t>
            </a:r>
            <a:r>
              <a:rPr dirty="0" sz="1150" spc="-4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migration</a:t>
            </a:r>
            <a:r>
              <a:rPr dirty="0" sz="1150" spc="-2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was undertaken </a:t>
            </a:r>
            <a:r>
              <a:rPr dirty="0" sz="1150" spc="-10">
                <a:latin typeface="Microsoft Sans Serif"/>
                <a:cs typeface="Microsoft Sans Serif"/>
              </a:rPr>
              <a:t>following</a:t>
            </a:r>
            <a:r>
              <a:rPr dirty="0" sz="1150" spc="-5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Allah's</a:t>
            </a:r>
            <a:r>
              <a:rPr dirty="0" sz="1150" spc="-10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command,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marking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a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pivotal moment</a:t>
            </a:r>
            <a:r>
              <a:rPr dirty="0" sz="1150" spc="-4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in</a:t>
            </a:r>
            <a:r>
              <a:rPr dirty="0" sz="1150" spc="-15">
                <a:latin typeface="Microsoft Sans Serif"/>
                <a:cs typeface="Microsoft Sans Serif"/>
              </a:rPr>
              <a:t> </a:t>
            </a:r>
            <a:r>
              <a:rPr dirty="0" sz="1150">
                <a:latin typeface="Microsoft Sans Serif"/>
                <a:cs typeface="Microsoft Sans Serif"/>
              </a:rPr>
              <a:t>Islamic</a:t>
            </a:r>
            <a:r>
              <a:rPr dirty="0" sz="1150" spc="-25">
                <a:latin typeface="Microsoft Sans Serif"/>
                <a:cs typeface="Microsoft Sans Serif"/>
              </a:rPr>
              <a:t> </a:t>
            </a:r>
            <a:r>
              <a:rPr dirty="0" sz="1150" spc="-10">
                <a:latin typeface="Microsoft Sans Serif"/>
                <a:cs typeface="Microsoft Sans Serif"/>
              </a:rPr>
              <a:t>history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Building</a:t>
            </a:r>
            <a:r>
              <a:rPr dirty="0" sz="2300" spc="-45"/>
              <a:t> </a:t>
            </a:r>
            <a:r>
              <a:rPr dirty="0" sz="2300"/>
              <a:t>Community</a:t>
            </a:r>
            <a:r>
              <a:rPr dirty="0" sz="2300" spc="-45"/>
              <a:t> </a:t>
            </a:r>
            <a:r>
              <a:rPr dirty="0" sz="2300"/>
              <a:t>through</a:t>
            </a:r>
            <a:r>
              <a:rPr dirty="0" sz="2300" spc="-40"/>
              <a:t> </a:t>
            </a:r>
            <a:r>
              <a:rPr dirty="0" sz="2300"/>
              <a:t>Worship</a:t>
            </a:r>
            <a:r>
              <a:rPr dirty="0" sz="2300" spc="-45"/>
              <a:t> </a:t>
            </a:r>
            <a:r>
              <a:rPr dirty="0" sz="2300"/>
              <a:t>and</a:t>
            </a:r>
            <a:r>
              <a:rPr dirty="0" sz="2300" spc="-40"/>
              <a:t> </a:t>
            </a:r>
            <a:r>
              <a:rPr dirty="0" sz="2300" spc="-10"/>
              <a:t>Defense</a:t>
            </a:r>
            <a:endParaRPr sz="2300"/>
          </a:p>
        </p:txBody>
      </p:sp>
      <p:sp>
        <p:nvSpPr>
          <p:cNvPr id="3" name="object 3" descr=""/>
          <p:cNvSpPr txBox="1"/>
          <p:nvPr/>
        </p:nvSpPr>
        <p:spPr>
          <a:xfrm>
            <a:off x="7208519" y="1295400"/>
            <a:ext cx="1351280" cy="34163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270">
              <a:lnSpc>
                <a:spcPct val="100000"/>
              </a:lnSpc>
            </a:pPr>
            <a:r>
              <a:rPr dirty="0" sz="650" b="1">
                <a:latin typeface="Trebuchet MS"/>
                <a:cs typeface="Trebuchet MS"/>
              </a:rPr>
              <a:t>-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(The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Madani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Life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of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the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spc="-10" b="1">
                <a:latin typeface="Trebuchet MS"/>
                <a:cs typeface="Trebuchet MS"/>
              </a:rPr>
              <a:t>Prophet)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u="none"/>
              <a:t>A.</a:t>
            </a:r>
            <a:r>
              <a:rPr dirty="0" u="none" spc="80"/>
              <a:t>  </a:t>
            </a:r>
            <a:r>
              <a:rPr dirty="0"/>
              <a:t>Acts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Worship</a:t>
            </a:r>
            <a:r>
              <a:rPr dirty="0" spc="30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/>
              <a:t>Community</a:t>
            </a:r>
            <a:r>
              <a:rPr dirty="0" spc="20"/>
              <a:t> </a:t>
            </a:r>
            <a:r>
              <a:rPr dirty="0" spc="-10"/>
              <a:t>Building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u="none" sz="1450"/>
              <a:t>Salah</a:t>
            </a:r>
            <a:r>
              <a:rPr dirty="0" u="none" sz="1450" spc="75"/>
              <a:t> </a:t>
            </a:r>
            <a:r>
              <a:rPr dirty="0" u="none" sz="1450" spc="-10"/>
              <a:t>(Prayer):</a:t>
            </a:r>
            <a:endParaRPr sz="1450"/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Emphasis</a:t>
            </a:r>
            <a:r>
              <a:rPr dirty="0" u="none" sz="1450" spc="10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dirty="0" u="none" sz="1450" spc="10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performing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prayers</a:t>
            </a:r>
            <a:r>
              <a:rPr dirty="0" u="none" sz="1450" spc="10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together.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Mosques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became</a:t>
            </a:r>
            <a:r>
              <a:rPr dirty="0" u="none" sz="1450" spc="1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centers</a:t>
            </a:r>
            <a:r>
              <a:rPr dirty="0" u="none" sz="1450" spc="10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community life.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u="none" sz="1450"/>
              <a:t>Zakat</a:t>
            </a:r>
            <a:r>
              <a:rPr dirty="0" u="none" sz="1450" spc="15"/>
              <a:t> </a:t>
            </a:r>
            <a:r>
              <a:rPr dirty="0" u="none" sz="1450" spc="-10"/>
              <a:t>(Charity):</a:t>
            </a:r>
            <a:endParaRPr sz="1450"/>
          </a:p>
          <a:p>
            <a:pPr marL="12700" marR="255904">
              <a:lnSpc>
                <a:spcPct val="102099"/>
              </a:lnSpc>
              <a:spcBef>
                <a:spcPts val="1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Wealth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was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shared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u="none" sz="145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support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20" b="0">
                <a:solidFill>
                  <a:srgbClr val="000000"/>
                </a:solidFill>
                <a:latin typeface="Trebuchet MS"/>
                <a:cs typeface="Trebuchet MS"/>
              </a:rPr>
              <a:t>poor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needy.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u="none" sz="1450" spc="-10"/>
              <a:t>Fasting:</a:t>
            </a:r>
            <a:endParaRPr sz="1450"/>
          </a:p>
          <a:p>
            <a:pPr marL="12700" marR="168910">
              <a:lnSpc>
                <a:spcPts val="1789"/>
              </a:lnSpc>
              <a:spcBef>
                <a:spcPts val="55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Fasting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during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Ramadan</a:t>
            </a:r>
            <a:r>
              <a:rPr dirty="0" u="none" sz="1450" spc="9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was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introduced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build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piety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self-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discipline.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u="none" sz="1450"/>
              <a:t>Hajj</a:t>
            </a:r>
            <a:r>
              <a:rPr dirty="0" u="none" sz="1450" spc="40"/>
              <a:t> </a:t>
            </a:r>
            <a:r>
              <a:rPr dirty="0" u="none" sz="1450" spc="-10"/>
              <a:t>(Pilgrimage):</a:t>
            </a:r>
            <a:endParaRPr sz="1450"/>
          </a:p>
          <a:p>
            <a:pPr algn="just" marL="12700" marR="87630">
              <a:lnSpc>
                <a:spcPct val="102400"/>
              </a:lnSpc>
              <a:spcBef>
                <a:spcPts val="5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importance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Hajj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was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highlighted,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especially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after</a:t>
            </a:r>
            <a:r>
              <a:rPr dirty="0" u="none" sz="1450" spc="10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1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conquest</a:t>
            </a:r>
            <a:r>
              <a:rPr dirty="0" u="none" sz="145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Makkah. </a:t>
            </a:r>
            <a:r>
              <a:rPr dirty="0" u="none" sz="1450" spc="-10"/>
              <a:t>Lesson:</a:t>
            </a:r>
            <a:endParaRPr sz="145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35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Worship</a:t>
            </a:r>
            <a:r>
              <a:rPr dirty="0" u="none" sz="145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u="none" sz="145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Islam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u="none" sz="145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not</a:t>
            </a:r>
            <a:r>
              <a:rPr dirty="0" u="none" sz="145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only</a:t>
            </a:r>
            <a:r>
              <a:rPr dirty="0" u="none" sz="145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20" b="0">
                <a:solidFill>
                  <a:srgbClr val="000000"/>
                </a:solidFill>
                <a:latin typeface="Trebuchet MS"/>
                <a:cs typeface="Trebuchet MS"/>
              </a:rPr>
              <a:t>about</a:t>
            </a:r>
            <a:endParaRPr sz="1450">
              <a:latin typeface="Trebuchet MS"/>
              <a:cs typeface="Trebuchet MS"/>
            </a:endParaRPr>
          </a:p>
          <a:p>
            <a:pPr algn="just" marL="12700" marR="271145">
              <a:lnSpc>
                <a:spcPct val="102099"/>
              </a:lnSpc>
              <a:spcBef>
                <a:spcPts val="15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personal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spirituality;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also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unites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25" b="0">
                <a:solidFill>
                  <a:srgbClr val="000000"/>
                </a:solidFill>
                <a:latin typeface="Trebuchet MS"/>
                <a:cs typeface="Trebuchet MS"/>
              </a:rPr>
              <a:t>and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purifies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9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community.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11265" y="1937999"/>
            <a:ext cx="3763010" cy="27152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B.</a:t>
            </a:r>
            <a:r>
              <a:rPr dirty="0" sz="130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Preparation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30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Jihad</a:t>
            </a:r>
            <a:r>
              <a:rPr dirty="0" u="sng" sz="1300" spc="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Participation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Defense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Protection: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850" spc="-155" b="1">
                <a:solidFill>
                  <a:srgbClr val="0070BF"/>
                </a:solidFill>
                <a:latin typeface="Arial"/>
                <a:cs typeface="Arial"/>
              </a:rPr>
              <a:t>(</a:t>
            </a:r>
            <a:r>
              <a:rPr dirty="0" sz="850" spc="-155" b="1">
                <a:solidFill>
                  <a:srgbClr val="0070BF"/>
                </a:solidFill>
                <a:latin typeface="Arial"/>
                <a:cs typeface="Arial"/>
              </a:rPr>
              <a:t>ظفحت</a:t>
            </a:r>
            <a:r>
              <a:rPr dirty="0" sz="850" spc="3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70BF"/>
                </a:solidFill>
                <a:latin typeface="Arial"/>
                <a:cs typeface="Arial"/>
              </a:rPr>
              <a:t>روا</a:t>
            </a:r>
            <a:r>
              <a:rPr dirty="0" sz="850" spc="40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0070BF"/>
                </a:solidFill>
                <a:latin typeface="Arial"/>
                <a:cs typeface="Arial"/>
              </a:rPr>
              <a:t>عافد</a:t>
            </a:r>
            <a:r>
              <a:rPr dirty="0" sz="850" spc="-10" b="1">
                <a:solidFill>
                  <a:srgbClr val="0070BF"/>
                </a:solidFill>
                <a:latin typeface="Trebuchet MS"/>
                <a:cs typeface="Trebuchet MS"/>
              </a:rPr>
              <a:t>)</a:t>
            </a:r>
            <a:endParaRPr sz="850">
              <a:latin typeface="Trebuchet MS"/>
              <a:cs typeface="Trebuchet MS"/>
            </a:endParaRPr>
          </a:p>
          <a:p>
            <a:pPr marL="12700" marR="20320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Battles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such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Badar,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Uhud,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Khandaq </a:t>
            </a:r>
            <a:r>
              <a:rPr dirty="0" sz="1450">
                <a:latin typeface="Trebuchet MS"/>
                <a:cs typeface="Trebuchet MS"/>
              </a:rPr>
              <a:t>were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fought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protect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Muslim community.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Ethical</a:t>
            </a:r>
            <a:r>
              <a:rPr dirty="0" sz="145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Warfare: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900" spc="-45" b="1">
                <a:solidFill>
                  <a:srgbClr val="0070BF"/>
                </a:solidFill>
                <a:latin typeface="Arial"/>
                <a:cs typeface="Arial"/>
              </a:rPr>
              <a:t>(</a:t>
            </a:r>
            <a:r>
              <a:rPr dirty="0" sz="900" spc="-45" b="1">
                <a:solidFill>
                  <a:srgbClr val="0070BF"/>
                </a:solidFill>
                <a:latin typeface="Arial"/>
                <a:cs typeface="Arial"/>
              </a:rPr>
              <a:t>گنج</a:t>
            </a:r>
            <a:r>
              <a:rPr dirty="0" sz="900" spc="25" b="1">
                <a:solidFill>
                  <a:srgbClr val="0070B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70BF"/>
                </a:solidFill>
                <a:latin typeface="Arial"/>
                <a:cs typeface="Arial"/>
              </a:rPr>
              <a:t>یقﻼخا</a:t>
            </a:r>
            <a:r>
              <a:rPr dirty="0" sz="900" spc="-10" b="1">
                <a:solidFill>
                  <a:srgbClr val="0070BF"/>
                </a:solidFill>
                <a:latin typeface="Trebuchet MS"/>
                <a:cs typeface="Trebuchet MS"/>
              </a:rPr>
              <a:t>)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taught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discipline,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morality,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strict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rules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avoid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harming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civilians, </a:t>
            </a:r>
            <a:r>
              <a:rPr dirty="0" sz="1450">
                <a:latin typeface="Trebuchet MS"/>
                <a:cs typeface="Trebuchet MS"/>
              </a:rPr>
              <a:t>women,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children.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 marR="4826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Jihad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carried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out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clear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ethical </a:t>
            </a:r>
            <a:r>
              <a:rPr dirty="0" sz="1450">
                <a:latin typeface="Trebuchet MS"/>
                <a:cs typeface="Trebuchet MS"/>
              </a:rPr>
              <a:t>guidelines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aimed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justice,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aggression.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7719" y="1937999"/>
            <a:ext cx="3543935" cy="294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C.</a:t>
            </a:r>
            <a:r>
              <a:rPr dirty="0" sz="1300" spc="-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Advice</a:t>
            </a:r>
            <a:r>
              <a:rPr dirty="0" u="sng" sz="130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Guidance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Personal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Community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Guidance: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upon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regularly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guided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companions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on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lives.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taught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them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kind,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others.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Balanced</a:t>
            </a:r>
            <a:r>
              <a:rPr dirty="0" sz="1450" spc="1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Leadership: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led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kindness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firmness,</a:t>
            </a:r>
            <a:endParaRPr sz="1450">
              <a:latin typeface="Trebuchet MS"/>
              <a:cs typeface="Trebuchet MS"/>
            </a:endParaRPr>
          </a:p>
          <a:p>
            <a:pPr marL="12700" marR="2032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showing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decisions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while </a:t>
            </a:r>
            <a:r>
              <a:rPr dirty="0" sz="1450">
                <a:latin typeface="Trebuchet MS"/>
                <a:cs typeface="Trebuchet MS"/>
              </a:rPr>
              <a:t>being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compassionate(</a:t>
            </a:r>
            <a:r>
              <a:rPr dirty="0" sz="1000" spc="-10" b="1">
                <a:latin typeface="Arial"/>
                <a:cs typeface="Arial"/>
              </a:rPr>
              <a:t>دردمہ</a:t>
            </a:r>
            <a:r>
              <a:rPr dirty="0" sz="1450" spc="-10">
                <a:latin typeface="Trebuchet MS"/>
                <a:cs typeface="Trebuchet MS"/>
              </a:rPr>
              <a:t>).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 marR="33528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leader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helps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grow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both </a:t>
            </a:r>
            <a:r>
              <a:rPr dirty="0" sz="1450">
                <a:latin typeface="Trebuchet MS"/>
                <a:cs typeface="Trebuchet MS"/>
              </a:rPr>
              <a:t>morally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spiritually.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11265" y="1937999"/>
            <a:ext cx="3829050" cy="2262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D.</a:t>
            </a:r>
            <a:r>
              <a:rPr dirty="0" sz="1300" spc="3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Education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Learning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Learning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Spaces:</a:t>
            </a:r>
            <a:endParaRPr sz="1450">
              <a:latin typeface="Trebuchet MS"/>
              <a:cs typeface="Trebuchet MS"/>
            </a:endParaRPr>
          </a:p>
          <a:p>
            <a:pPr marL="12700" marR="95250">
              <a:lnSpc>
                <a:spcPct val="102299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established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special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mosque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called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Suffah,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could </a:t>
            </a:r>
            <a:r>
              <a:rPr dirty="0" sz="1450">
                <a:latin typeface="Trebuchet MS"/>
                <a:cs typeface="Trebuchet MS"/>
              </a:rPr>
              <a:t>learn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about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useful knowledge.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latin typeface="Trebuchet MS"/>
                <a:cs typeface="Trebuchet MS"/>
              </a:rPr>
              <a:t>Education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very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important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Islam.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helps</a:t>
            </a:r>
            <a:endParaRPr sz="1450">
              <a:latin typeface="Trebuchet MS"/>
              <a:cs typeface="Trebuchet MS"/>
            </a:endParaRPr>
          </a:p>
          <a:p>
            <a:pPr marL="12700" marR="4826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individuals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become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better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builds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strong,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knowledgeable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community.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855" y="1212654"/>
            <a:ext cx="776478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The</a:t>
            </a:r>
            <a:r>
              <a:rPr dirty="0" sz="2300" spc="-25"/>
              <a:t> </a:t>
            </a:r>
            <a:r>
              <a:rPr dirty="0" sz="2300"/>
              <a:t>Prophet's</a:t>
            </a:r>
            <a:r>
              <a:rPr dirty="0" sz="2300" spc="-65"/>
              <a:t> </a:t>
            </a:r>
            <a:r>
              <a:rPr dirty="0" sz="2300" spc="-25"/>
              <a:t>Teachings</a:t>
            </a:r>
            <a:r>
              <a:rPr dirty="0" sz="2300" spc="-65"/>
              <a:t> </a:t>
            </a:r>
            <a:r>
              <a:rPr dirty="0" sz="2300"/>
              <a:t>and</a:t>
            </a:r>
            <a:r>
              <a:rPr dirty="0" sz="2300" spc="-35"/>
              <a:t> </a:t>
            </a:r>
            <a:r>
              <a:rPr dirty="0" sz="2300"/>
              <a:t>the</a:t>
            </a:r>
            <a:r>
              <a:rPr dirty="0" sz="2300" spc="-25"/>
              <a:t> </a:t>
            </a:r>
            <a:r>
              <a:rPr dirty="0" sz="2300"/>
              <a:t>Importance</a:t>
            </a:r>
            <a:r>
              <a:rPr dirty="0" sz="2300" spc="-50"/>
              <a:t> </a:t>
            </a:r>
            <a:r>
              <a:rPr dirty="0" sz="2300"/>
              <a:t>of</a:t>
            </a:r>
            <a:r>
              <a:rPr dirty="0" sz="2300" spc="-15"/>
              <a:t> </a:t>
            </a:r>
            <a:r>
              <a:rPr dirty="0" sz="2300" spc="-10"/>
              <a:t>Learning</a:t>
            </a:r>
            <a:endParaRPr sz="2300"/>
          </a:p>
        </p:txBody>
      </p:sp>
      <p:sp>
        <p:nvSpPr>
          <p:cNvPr id="5" name="object 5" descr=""/>
          <p:cNvSpPr txBox="1"/>
          <p:nvPr/>
        </p:nvSpPr>
        <p:spPr>
          <a:xfrm>
            <a:off x="7943088" y="1246632"/>
            <a:ext cx="1351280" cy="34163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270">
              <a:lnSpc>
                <a:spcPct val="100000"/>
              </a:lnSpc>
            </a:pPr>
            <a:r>
              <a:rPr dirty="0" sz="650" b="1">
                <a:latin typeface="Trebuchet MS"/>
                <a:cs typeface="Trebuchet MS"/>
              </a:rPr>
              <a:t>-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(The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Madani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Life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of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the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spc="-10" b="1">
                <a:latin typeface="Trebuchet MS"/>
                <a:cs typeface="Trebuchet MS"/>
              </a:rPr>
              <a:t>Prophet)</a:t>
            </a:r>
            <a:endParaRPr sz="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7719" y="1937999"/>
            <a:ext cx="3377565" cy="3394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E.</a:t>
            </a:r>
            <a:r>
              <a:rPr dirty="0" sz="130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Relations</a:t>
            </a:r>
            <a:r>
              <a:rPr dirty="0" u="sng" sz="1300" spc="4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with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Non-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Muslims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Peaceful</a:t>
            </a:r>
            <a:r>
              <a:rPr dirty="0" sz="1450" spc="-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Agreements: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upon </a:t>
            </a:r>
            <a:r>
              <a:rPr dirty="0" sz="1450">
                <a:latin typeface="Trebuchet MS"/>
                <a:cs typeface="Trebuchet MS"/>
              </a:rPr>
              <a:t>him)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created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Charter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Medina,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 </a:t>
            </a:r>
            <a:r>
              <a:rPr dirty="0" sz="1450">
                <a:latin typeface="Trebuchet MS"/>
                <a:cs typeface="Trebuchet MS"/>
              </a:rPr>
              <a:t>agreement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Jews,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35">
                <a:latin typeface="Trebuchet MS"/>
                <a:cs typeface="Trebuchet MS"/>
              </a:rPr>
              <a:t>tribes(</a:t>
            </a:r>
            <a:r>
              <a:rPr dirty="0" sz="1450" spc="-135">
                <a:latin typeface="Microsoft Sans Serif"/>
                <a:cs typeface="Microsoft Sans Serif"/>
              </a:rPr>
              <a:t>لئابق</a:t>
            </a:r>
            <a:r>
              <a:rPr dirty="0" sz="1450" spc="-135">
                <a:latin typeface="Trebuchet MS"/>
                <a:cs typeface="Trebuchet MS"/>
              </a:rPr>
              <a:t>)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together </a:t>
            </a:r>
            <a:r>
              <a:rPr dirty="0" sz="1450">
                <a:latin typeface="Trebuchet MS"/>
                <a:cs typeface="Trebuchet MS"/>
              </a:rPr>
              <a:t>peacefully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fairly.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Respect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Justice:</a:t>
            </a:r>
            <a:endParaRPr sz="1450">
              <a:latin typeface="Trebuchet MS"/>
              <a:cs typeface="Trebuchet MS"/>
            </a:endParaRPr>
          </a:p>
          <a:p>
            <a:pPr marL="12700" marR="214629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Non-Muslims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were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treated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kindly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fairly,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long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agreed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rules.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 marR="76835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teaches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peacefully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justly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everyone,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matter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their </a:t>
            </a:r>
            <a:r>
              <a:rPr dirty="0" sz="1450" spc="-10">
                <a:latin typeface="Trebuchet MS"/>
                <a:cs typeface="Trebuchet MS"/>
              </a:rPr>
              <a:t>religion.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11265" y="1937999"/>
            <a:ext cx="3663950" cy="2262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20" b="1">
                <a:solidFill>
                  <a:srgbClr val="0070BF"/>
                </a:solidFill>
                <a:latin typeface="Trebuchet MS"/>
                <a:cs typeface="Trebuchet MS"/>
              </a:rPr>
              <a:t>F.</a:t>
            </a:r>
            <a:r>
              <a:rPr dirty="0" sz="1300" spc="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Keeping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Promises</a:t>
            </a:r>
            <a:r>
              <a:rPr dirty="0" u="sng" sz="1300" spc="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Trustworthiness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Honesty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Integrity: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known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keeping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promises,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hard.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Example:</a:t>
            </a:r>
            <a:endParaRPr sz="1450">
              <a:latin typeface="Trebuchet MS"/>
              <a:cs typeface="Trebuchet MS"/>
            </a:endParaRPr>
          </a:p>
          <a:p>
            <a:pPr marL="12700" marR="411480">
              <a:lnSpc>
                <a:spcPts val="1789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Treaty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Hudaybiyyah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his </a:t>
            </a:r>
            <a:r>
              <a:rPr dirty="0" sz="1450">
                <a:latin typeface="Trebuchet MS"/>
                <a:cs typeface="Trebuchet MS"/>
              </a:rPr>
              <a:t>commitment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peace.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05"/>
              </a:lnSpc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 marR="127000">
              <a:lnSpc>
                <a:spcPct val="102099"/>
              </a:lnSpc>
              <a:spcBef>
                <a:spcPts val="15"/>
              </a:spcBef>
            </a:pPr>
            <a:r>
              <a:rPr dirty="0" sz="1450">
                <a:latin typeface="Trebuchet MS"/>
                <a:cs typeface="Trebuchet MS"/>
              </a:rPr>
              <a:t>Being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honest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keeping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promises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builds </a:t>
            </a:r>
            <a:r>
              <a:rPr dirty="0" sz="1450">
                <a:latin typeface="Trebuchet MS"/>
                <a:cs typeface="Trebuchet MS"/>
              </a:rPr>
              <a:t>trust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shows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good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character.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3561" y="1220266"/>
            <a:ext cx="788035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Building</a:t>
            </a:r>
            <a:r>
              <a:rPr dirty="0" sz="2300" spc="-100"/>
              <a:t> </a:t>
            </a:r>
            <a:r>
              <a:rPr dirty="0" sz="2300" spc="-25"/>
              <a:t>Trust</a:t>
            </a:r>
            <a:r>
              <a:rPr dirty="0" sz="2300" spc="-35"/>
              <a:t> </a:t>
            </a:r>
            <a:r>
              <a:rPr dirty="0" sz="2300"/>
              <a:t>and</a:t>
            </a:r>
            <a:r>
              <a:rPr dirty="0" sz="2300" spc="-50"/>
              <a:t> </a:t>
            </a:r>
            <a:r>
              <a:rPr dirty="0" sz="2300"/>
              <a:t>Harmony</a:t>
            </a:r>
            <a:r>
              <a:rPr dirty="0" sz="2300" spc="-50"/>
              <a:t> </a:t>
            </a:r>
            <a:r>
              <a:rPr dirty="0" sz="2300"/>
              <a:t>in</a:t>
            </a:r>
            <a:r>
              <a:rPr dirty="0" sz="2300" spc="-25"/>
              <a:t> </a:t>
            </a:r>
            <a:r>
              <a:rPr dirty="0" sz="2300"/>
              <a:t>the</a:t>
            </a:r>
            <a:r>
              <a:rPr dirty="0" sz="2300" spc="-30"/>
              <a:t> </a:t>
            </a:r>
            <a:r>
              <a:rPr dirty="0" sz="2300"/>
              <a:t>Prophet's</a:t>
            </a:r>
            <a:r>
              <a:rPr dirty="0" sz="2300" spc="-50"/>
              <a:t> </a:t>
            </a:r>
            <a:r>
              <a:rPr dirty="0" sz="2300"/>
              <a:t>(PBUH)</a:t>
            </a:r>
            <a:r>
              <a:rPr dirty="0" sz="2300" spc="-105"/>
              <a:t> </a:t>
            </a:r>
            <a:r>
              <a:rPr dirty="0" sz="2300" spc="-20"/>
              <a:t>Time</a:t>
            </a:r>
            <a:endParaRPr sz="2300"/>
          </a:p>
        </p:txBody>
      </p:sp>
      <p:sp>
        <p:nvSpPr>
          <p:cNvPr id="5" name="object 5" descr=""/>
          <p:cNvSpPr txBox="1"/>
          <p:nvPr/>
        </p:nvSpPr>
        <p:spPr>
          <a:xfrm>
            <a:off x="7956803" y="1254251"/>
            <a:ext cx="1352550" cy="34163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650" b="1">
                <a:latin typeface="Trebuchet MS"/>
                <a:cs typeface="Trebuchet MS"/>
              </a:rPr>
              <a:t>-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(The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Madani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Life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of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the</a:t>
            </a:r>
            <a:r>
              <a:rPr dirty="0" sz="650" spc="-10" b="1">
                <a:latin typeface="Trebuchet MS"/>
                <a:cs typeface="Trebuchet MS"/>
              </a:rPr>
              <a:t> Prophet)</a:t>
            </a:r>
            <a:endParaRPr sz="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9323" y="1937999"/>
            <a:ext cx="3500754" cy="294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G.</a:t>
            </a:r>
            <a:r>
              <a:rPr dirty="0" sz="1300" spc="3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Forgiveness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Compassion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Forgiving</a:t>
            </a:r>
            <a:r>
              <a:rPr dirty="0" sz="1450" spc="6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Enemies: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During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85">
                <a:latin typeface="Trebuchet MS"/>
                <a:cs typeface="Trebuchet MS"/>
              </a:rPr>
              <a:t>conquest(</a:t>
            </a:r>
            <a:r>
              <a:rPr dirty="0" sz="1450" spc="-85">
                <a:latin typeface="Microsoft Sans Serif"/>
                <a:cs typeface="Microsoft Sans Serif"/>
              </a:rPr>
              <a:t>حتف</a:t>
            </a:r>
            <a:r>
              <a:rPr dirty="0" sz="1450" spc="-85">
                <a:latin typeface="Trebuchet MS"/>
                <a:cs typeface="Trebuchet MS"/>
              </a:rPr>
              <a:t>)of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Makkah,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him) </a:t>
            </a:r>
            <a:r>
              <a:rPr dirty="0" sz="1450">
                <a:latin typeface="Trebuchet MS"/>
                <a:cs typeface="Trebuchet MS"/>
              </a:rPr>
              <a:t>forgave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those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who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opposed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him, </a:t>
            </a:r>
            <a:r>
              <a:rPr dirty="0" sz="1450">
                <a:latin typeface="Trebuchet MS"/>
                <a:cs typeface="Trebuchet MS"/>
              </a:rPr>
              <a:t>demonstrating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immense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mercy.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act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forgiveness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embrace </a:t>
            </a:r>
            <a:r>
              <a:rPr dirty="0" sz="1450">
                <a:latin typeface="Trebuchet MS"/>
                <a:cs typeface="Trebuchet MS"/>
              </a:rPr>
              <a:t>Islam,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recognizing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Prophet's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noble </a:t>
            </a:r>
            <a:r>
              <a:rPr dirty="0" sz="1450" spc="-10">
                <a:latin typeface="Trebuchet MS"/>
                <a:cs typeface="Trebuchet MS"/>
              </a:rPr>
              <a:t>character.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 marR="16383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Forgiveness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compassion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have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power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turn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enemies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friends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promote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peace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within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society.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11265" y="1937999"/>
            <a:ext cx="3785235" cy="29425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H.</a:t>
            </a:r>
            <a:r>
              <a:rPr dirty="0" sz="130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Human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Rights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Equality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Protection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Rights:</a:t>
            </a:r>
            <a:endParaRPr sz="1450">
              <a:latin typeface="Trebuchet MS"/>
              <a:cs typeface="Trebuchet MS"/>
            </a:endParaRPr>
          </a:p>
          <a:p>
            <a:pPr marL="12700" marR="4826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emphasized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all </a:t>
            </a:r>
            <a:r>
              <a:rPr dirty="0" sz="1450">
                <a:latin typeface="Trebuchet MS"/>
                <a:cs typeface="Trebuchet MS"/>
              </a:rPr>
              <a:t>individuals,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including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women,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orphans,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slaves.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final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sermon,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declared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that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equal,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regardless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race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or </a:t>
            </a:r>
            <a:r>
              <a:rPr dirty="0" sz="1450">
                <a:latin typeface="Trebuchet MS"/>
                <a:cs typeface="Trebuchet MS"/>
              </a:rPr>
              <a:t>background,</a:t>
            </a:r>
            <a:r>
              <a:rPr dirty="0" sz="1450" spc="1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stating,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"All</a:t>
            </a:r>
            <a:r>
              <a:rPr dirty="0" sz="1450" spc="60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mankind</a:t>
            </a:r>
            <a:r>
              <a:rPr dirty="0" sz="1450" spc="55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is</a:t>
            </a:r>
            <a:r>
              <a:rPr dirty="0" sz="1450" spc="80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from</a:t>
            </a:r>
            <a:r>
              <a:rPr dirty="0" sz="1450" spc="-45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Adam</a:t>
            </a:r>
            <a:r>
              <a:rPr dirty="0" sz="1450" spc="70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70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20">
                <a:solidFill>
                  <a:srgbClr val="0070BF"/>
                </a:solidFill>
                <a:latin typeface="Trebuchet MS"/>
                <a:cs typeface="Trebuchet MS"/>
              </a:rPr>
              <a:t>Eve."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Lesson: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upholds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dignity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equality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every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person,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advocating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protection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human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rights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all.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293864" y="1254251"/>
            <a:ext cx="1339850" cy="341630"/>
          </a:xfrm>
          <a:custGeom>
            <a:avLst/>
            <a:gdLst/>
            <a:ahLst/>
            <a:cxnLst/>
            <a:rect l="l" t="t" r="r" b="b"/>
            <a:pathLst>
              <a:path w="1339850" h="341630">
                <a:moveTo>
                  <a:pt x="1339596" y="0"/>
                </a:moveTo>
                <a:lnTo>
                  <a:pt x="56375" y="0"/>
                </a:lnTo>
                <a:lnTo>
                  <a:pt x="0" y="0"/>
                </a:lnTo>
                <a:lnTo>
                  <a:pt x="0" y="341388"/>
                </a:lnTo>
                <a:lnTo>
                  <a:pt x="56375" y="341388"/>
                </a:lnTo>
                <a:lnTo>
                  <a:pt x="1339596" y="341388"/>
                </a:lnTo>
                <a:lnTo>
                  <a:pt x="133959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561" y="1220266"/>
            <a:ext cx="8583295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Forgiveness,</a:t>
            </a:r>
            <a:r>
              <a:rPr dirty="0" sz="2300" spc="-30"/>
              <a:t> </a:t>
            </a:r>
            <a:r>
              <a:rPr dirty="0" sz="2300"/>
              <a:t>Compassion,</a:t>
            </a:r>
            <a:r>
              <a:rPr dirty="0" sz="2300" spc="-30"/>
              <a:t> </a:t>
            </a:r>
            <a:r>
              <a:rPr dirty="0" sz="2300"/>
              <a:t>and</a:t>
            </a:r>
            <a:r>
              <a:rPr dirty="0" sz="2300" spc="-15"/>
              <a:t> </a:t>
            </a:r>
            <a:r>
              <a:rPr dirty="0" sz="2300"/>
              <a:t>Human</a:t>
            </a:r>
            <a:r>
              <a:rPr dirty="0" sz="2300" spc="-40"/>
              <a:t> </a:t>
            </a:r>
            <a:r>
              <a:rPr dirty="0" sz="2300"/>
              <a:t>Rights</a:t>
            </a:r>
            <a:r>
              <a:rPr dirty="0" sz="2300" spc="-40"/>
              <a:t> </a:t>
            </a:r>
            <a:r>
              <a:rPr dirty="0" sz="2300"/>
              <a:t>in</a:t>
            </a:r>
            <a:r>
              <a:rPr dirty="0" sz="2300" spc="15"/>
              <a:t> </a:t>
            </a:r>
            <a:r>
              <a:rPr dirty="0" sz="2300"/>
              <a:t>Islam</a:t>
            </a:r>
            <a:r>
              <a:rPr dirty="0" u="none" sz="650">
                <a:solidFill>
                  <a:srgbClr val="000000"/>
                </a:solidFill>
              </a:rPr>
              <a:t>- (The</a:t>
            </a:r>
            <a:r>
              <a:rPr dirty="0" u="none" sz="650" spc="-5">
                <a:solidFill>
                  <a:srgbClr val="000000"/>
                </a:solidFill>
              </a:rPr>
              <a:t> </a:t>
            </a:r>
            <a:r>
              <a:rPr dirty="0" u="none" sz="650">
                <a:solidFill>
                  <a:srgbClr val="000000"/>
                </a:solidFill>
              </a:rPr>
              <a:t>Madani</a:t>
            </a:r>
            <a:r>
              <a:rPr dirty="0" u="none" sz="650" spc="20">
                <a:solidFill>
                  <a:srgbClr val="000000"/>
                </a:solidFill>
              </a:rPr>
              <a:t> </a:t>
            </a:r>
            <a:r>
              <a:rPr dirty="0" u="none" sz="650">
                <a:solidFill>
                  <a:srgbClr val="000000"/>
                </a:solidFill>
              </a:rPr>
              <a:t>Life</a:t>
            </a:r>
            <a:r>
              <a:rPr dirty="0" u="none" sz="650" spc="10">
                <a:solidFill>
                  <a:srgbClr val="000000"/>
                </a:solidFill>
              </a:rPr>
              <a:t> </a:t>
            </a:r>
            <a:r>
              <a:rPr dirty="0" u="none" sz="650">
                <a:solidFill>
                  <a:srgbClr val="000000"/>
                </a:solidFill>
              </a:rPr>
              <a:t>of</a:t>
            </a:r>
            <a:r>
              <a:rPr dirty="0" u="none" sz="650" spc="5">
                <a:solidFill>
                  <a:srgbClr val="000000"/>
                </a:solidFill>
              </a:rPr>
              <a:t> </a:t>
            </a:r>
            <a:r>
              <a:rPr dirty="0" u="none" sz="650">
                <a:solidFill>
                  <a:srgbClr val="000000"/>
                </a:solidFill>
              </a:rPr>
              <a:t>the </a:t>
            </a:r>
            <a:r>
              <a:rPr dirty="0" u="none" sz="650" spc="-10">
                <a:solidFill>
                  <a:srgbClr val="000000"/>
                </a:solidFill>
              </a:rPr>
              <a:t>Prophet)</a:t>
            </a:r>
            <a:endParaRPr sz="6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66887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10"/>
              </a:spcBef>
            </a:pPr>
            <a:r>
              <a:rPr dirty="0" u="none" sz="1800"/>
              <a:t>Leadership</a:t>
            </a:r>
            <a:r>
              <a:rPr dirty="0" u="none" sz="1800" spc="-5"/>
              <a:t> </a:t>
            </a:r>
            <a:r>
              <a:rPr dirty="0" u="none" sz="1800"/>
              <a:t>with </a:t>
            </a:r>
            <a:r>
              <a:rPr dirty="0" u="none" sz="1800" spc="-10"/>
              <a:t>Wisdom:</a:t>
            </a:r>
            <a:endParaRPr sz="1800"/>
          </a:p>
          <a:p>
            <a:pPr marL="4445">
              <a:lnSpc>
                <a:spcPct val="100000"/>
              </a:lnSpc>
              <a:spcBef>
                <a:spcPts val="5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Prophet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led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with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kindness,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fairness,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strong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  <a:p>
            <a:pPr marL="4445">
              <a:lnSpc>
                <a:spcPct val="100000"/>
              </a:lnSpc>
              <a:spcBef>
                <a:spcPts val="10"/>
              </a:spcBef>
            </a:pPr>
            <a:r>
              <a:rPr dirty="0" u="none" sz="1800"/>
              <a:t>Worship</a:t>
            </a:r>
            <a:r>
              <a:rPr dirty="0" u="none" sz="1800" spc="10"/>
              <a:t> </a:t>
            </a:r>
            <a:r>
              <a:rPr dirty="0" u="none" sz="1800"/>
              <a:t>&amp;</a:t>
            </a:r>
            <a:r>
              <a:rPr dirty="0" u="none" sz="1800" spc="-10"/>
              <a:t> Unity:</a:t>
            </a:r>
            <a:endParaRPr sz="1800"/>
          </a:p>
          <a:p>
            <a:pPr marL="4445">
              <a:lnSpc>
                <a:spcPct val="100000"/>
              </a:lnSpc>
              <a:spcBef>
                <a:spcPts val="5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Promoted</a:t>
            </a:r>
            <a:r>
              <a:rPr dirty="0" u="none" sz="145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prayer,</a:t>
            </a:r>
            <a:r>
              <a:rPr dirty="0" u="none" sz="145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charity,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fasting,</a:t>
            </a:r>
            <a:r>
              <a:rPr dirty="0" u="none" sz="145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Hajj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u="none" sz="145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strengthen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community.</a:t>
            </a:r>
            <a:endParaRPr sz="1450">
              <a:latin typeface="Trebuchet MS"/>
              <a:cs typeface="Trebuchet MS"/>
            </a:endParaRPr>
          </a:p>
          <a:p>
            <a:pPr marL="4445">
              <a:lnSpc>
                <a:spcPct val="100000"/>
              </a:lnSpc>
              <a:spcBef>
                <a:spcPts val="10"/>
              </a:spcBef>
            </a:pPr>
            <a:r>
              <a:rPr dirty="0" u="none" sz="1800"/>
              <a:t>Learning</a:t>
            </a:r>
            <a:r>
              <a:rPr dirty="0" u="none" sz="1800" spc="10"/>
              <a:t> </a:t>
            </a:r>
            <a:r>
              <a:rPr dirty="0" u="none" sz="1800"/>
              <a:t>for</a:t>
            </a:r>
            <a:r>
              <a:rPr dirty="0" u="none" sz="1800" spc="-100"/>
              <a:t> </a:t>
            </a:r>
            <a:r>
              <a:rPr dirty="0" u="none" sz="1800" spc="-20"/>
              <a:t>All:</a:t>
            </a:r>
            <a:endParaRPr sz="1800"/>
          </a:p>
          <a:p>
            <a:pPr marL="4445">
              <a:lnSpc>
                <a:spcPct val="100000"/>
              </a:lnSpc>
              <a:spcBef>
                <a:spcPts val="5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Established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learning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spaces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like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Suffah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educate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people.</a:t>
            </a:r>
            <a:endParaRPr sz="1450">
              <a:latin typeface="Trebuchet MS"/>
              <a:cs typeface="Trebuchet MS"/>
            </a:endParaRPr>
          </a:p>
          <a:p>
            <a:pPr marL="4445">
              <a:lnSpc>
                <a:spcPct val="100000"/>
              </a:lnSpc>
              <a:spcBef>
                <a:spcPts val="10"/>
              </a:spcBef>
            </a:pPr>
            <a:r>
              <a:rPr dirty="0" u="none" sz="1800"/>
              <a:t>Justice</a:t>
            </a:r>
            <a:r>
              <a:rPr dirty="0" u="none" sz="1800" spc="15"/>
              <a:t> </a:t>
            </a:r>
            <a:r>
              <a:rPr dirty="0" u="none" sz="1800"/>
              <a:t>&amp; </a:t>
            </a:r>
            <a:r>
              <a:rPr dirty="0" u="none" sz="1800" spc="-10"/>
              <a:t>Rights:</a:t>
            </a:r>
            <a:endParaRPr sz="1800"/>
          </a:p>
          <a:p>
            <a:pPr marL="4445">
              <a:lnSpc>
                <a:spcPct val="100000"/>
              </a:lnSpc>
              <a:spcBef>
                <a:spcPts val="5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Protected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rights</a:t>
            </a:r>
            <a:r>
              <a:rPr dirty="0" u="none" sz="145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women,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orphans,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dirty="0" u="none" sz="145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members</a:t>
            </a:r>
            <a:r>
              <a:rPr dirty="0" u="none" sz="1450" spc="9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society.</a:t>
            </a:r>
            <a:endParaRPr sz="1450">
              <a:latin typeface="Trebuchet MS"/>
              <a:cs typeface="Trebuchet MS"/>
            </a:endParaRPr>
          </a:p>
          <a:p>
            <a:pPr marL="4445">
              <a:lnSpc>
                <a:spcPct val="100000"/>
              </a:lnSpc>
              <a:spcBef>
                <a:spcPts val="10"/>
              </a:spcBef>
            </a:pPr>
            <a:r>
              <a:rPr dirty="0" u="none" sz="1800"/>
              <a:t>Peace</a:t>
            </a:r>
            <a:r>
              <a:rPr dirty="0" u="none" sz="1800" spc="-40"/>
              <a:t> </a:t>
            </a:r>
            <a:r>
              <a:rPr dirty="0" u="none" sz="1800"/>
              <a:t>&amp;</a:t>
            </a:r>
            <a:r>
              <a:rPr dirty="0" u="none" sz="1800" spc="-35"/>
              <a:t> </a:t>
            </a:r>
            <a:r>
              <a:rPr dirty="0" u="none" sz="1800" spc="-10"/>
              <a:t>Forgiveness:</a:t>
            </a:r>
            <a:endParaRPr sz="1800"/>
          </a:p>
          <a:p>
            <a:pPr marL="4445">
              <a:lnSpc>
                <a:spcPct val="100000"/>
              </a:lnSpc>
              <a:spcBef>
                <a:spcPts val="5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Encouraged</a:t>
            </a:r>
            <a:r>
              <a:rPr dirty="0" u="none" sz="1450" spc="9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peace,</a:t>
            </a:r>
            <a:r>
              <a:rPr dirty="0" u="none" sz="1450" spc="9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kept</a:t>
            </a:r>
            <a:r>
              <a:rPr dirty="0" u="none" sz="1450" spc="10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promises,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forgave</a:t>
            </a:r>
            <a:r>
              <a:rPr dirty="0" u="none" sz="1450" spc="10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enemies.</a:t>
            </a:r>
            <a:endParaRPr sz="1450">
              <a:latin typeface="Trebuchet MS"/>
              <a:cs typeface="Trebuchet MS"/>
            </a:endParaRPr>
          </a:p>
          <a:p>
            <a:pPr marL="4445">
              <a:lnSpc>
                <a:spcPct val="100000"/>
              </a:lnSpc>
              <a:spcBef>
                <a:spcPts val="10"/>
              </a:spcBef>
            </a:pPr>
            <a:r>
              <a:rPr dirty="0" u="none" sz="1800" spc="-10"/>
              <a:t>Equality:</a:t>
            </a:r>
            <a:endParaRPr sz="1800"/>
          </a:p>
          <a:p>
            <a:pPr marL="4445">
              <a:lnSpc>
                <a:spcPct val="100000"/>
              </a:lnSpc>
              <a:spcBef>
                <a:spcPts val="50"/>
              </a:spcBef>
            </a:pP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Taught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that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people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dirty="0" u="none" sz="145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equal,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regardless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u="none" sz="1450" spc="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race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or</a:t>
            </a:r>
            <a:r>
              <a:rPr dirty="0" u="none" sz="145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tribe.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126" y="1236926"/>
            <a:ext cx="6168390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846829" algn="l"/>
              </a:tabLst>
            </a:pPr>
            <a:r>
              <a:rPr dirty="0" sz="2300"/>
              <a:t>Madani</a:t>
            </a:r>
            <a:r>
              <a:rPr dirty="0" sz="2300" spc="-65"/>
              <a:t> </a:t>
            </a:r>
            <a:r>
              <a:rPr dirty="0" sz="2300"/>
              <a:t>Life</a:t>
            </a:r>
            <a:r>
              <a:rPr dirty="0" sz="2300" spc="-15"/>
              <a:t> </a:t>
            </a:r>
            <a:r>
              <a:rPr dirty="0" sz="2300"/>
              <a:t>of</a:t>
            </a:r>
            <a:r>
              <a:rPr dirty="0" sz="2300" spc="-5"/>
              <a:t> </a:t>
            </a:r>
            <a:r>
              <a:rPr dirty="0" sz="2300"/>
              <a:t>the</a:t>
            </a:r>
            <a:r>
              <a:rPr dirty="0" sz="2300" spc="5"/>
              <a:t> </a:t>
            </a:r>
            <a:r>
              <a:rPr dirty="0" sz="2300" spc="-10"/>
              <a:t>Prophet</a:t>
            </a:r>
            <a:r>
              <a:rPr dirty="0" sz="2300"/>
              <a:t>	</a:t>
            </a:r>
            <a:r>
              <a:rPr dirty="0" sz="2300">
                <a:latin typeface="Arial"/>
                <a:cs typeface="Arial"/>
              </a:rPr>
              <a:t>:</a:t>
            </a:r>
            <a:r>
              <a:rPr dirty="0" sz="2300">
                <a:latin typeface="Arial"/>
                <a:cs typeface="Arial"/>
              </a:rPr>
              <a:t>ﷺ</a:t>
            </a:r>
            <a:r>
              <a:rPr dirty="0" sz="2300"/>
              <a:t>A</a:t>
            </a:r>
            <a:r>
              <a:rPr dirty="0" sz="2300" spc="-120"/>
              <a:t> </a:t>
            </a:r>
            <a:r>
              <a:rPr dirty="0" sz="2300"/>
              <a:t>Model</a:t>
            </a:r>
            <a:r>
              <a:rPr dirty="0" sz="2300" spc="-5"/>
              <a:t> </a:t>
            </a:r>
            <a:r>
              <a:rPr dirty="0" sz="2300"/>
              <a:t>for</a:t>
            </a:r>
            <a:r>
              <a:rPr dirty="0" sz="2300" spc="-125"/>
              <a:t> </a:t>
            </a:r>
            <a:r>
              <a:rPr dirty="0" sz="2300" spc="-25"/>
              <a:t>All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35852" y="1271016"/>
            <a:ext cx="1351280" cy="34163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650">
              <a:latin typeface="Times New Roman"/>
              <a:cs typeface="Times New Roman"/>
            </a:endParaRPr>
          </a:p>
          <a:p>
            <a:pPr marL="1270">
              <a:lnSpc>
                <a:spcPct val="100000"/>
              </a:lnSpc>
            </a:pPr>
            <a:r>
              <a:rPr dirty="0" sz="650" b="1">
                <a:latin typeface="Trebuchet MS"/>
                <a:cs typeface="Trebuchet MS"/>
              </a:rPr>
              <a:t>-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(The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Madani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Life</a:t>
            </a:r>
            <a:r>
              <a:rPr dirty="0" sz="650" spc="10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of</a:t>
            </a:r>
            <a:r>
              <a:rPr dirty="0" sz="650" spc="-5" b="1">
                <a:latin typeface="Trebuchet MS"/>
                <a:cs typeface="Trebuchet MS"/>
              </a:rPr>
              <a:t> </a:t>
            </a:r>
            <a:r>
              <a:rPr dirty="0" sz="650" b="1">
                <a:latin typeface="Trebuchet MS"/>
                <a:cs typeface="Trebuchet MS"/>
              </a:rPr>
              <a:t>the</a:t>
            </a:r>
            <a:r>
              <a:rPr dirty="0" sz="650" spc="-15" b="1">
                <a:latin typeface="Trebuchet MS"/>
                <a:cs typeface="Trebuchet MS"/>
              </a:rPr>
              <a:t> </a:t>
            </a:r>
            <a:r>
              <a:rPr dirty="0" sz="650" spc="-10" b="1">
                <a:latin typeface="Trebuchet MS"/>
                <a:cs typeface="Trebuchet MS"/>
              </a:rPr>
              <a:t>Prophet)</a:t>
            </a:r>
            <a:endParaRPr sz="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none"/>
              <a:t>3.</a:t>
            </a:r>
            <a:r>
              <a:rPr dirty="0" u="none" spc="-5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Hijrah:</a:t>
            </a:r>
            <a:r>
              <a:rPr dirty="0" spc="-135"/>
              <a:t> </a:t>
            </a:r>
            <a:r>
              <a:rPr dirty="0"/>
              <a:t>A</a:t>
            </a:r>
            <a:r>
              <a:rPr dirty="0" spc="-165"/>
              <a:t> </a:t>
            </a:r>
            <a:r>
              <a:rPr dirty="0"/>
              <a:t>Turning</a:t>
            </a:r>
            <a:r>
              <a:rPr dirty="0" spc="-35"/>
              <a:t> </a:t>
            </a:r>
            <a:r>
              <a:rPr dirty="0"/>
              <a:t>Point in</a:t>
            </a:r>
            <a:r>
              <a:rPr dirty="0" spc="-10"/>
              <a:t> </a:t>
            </a:r>
            <a:r>
              <a:rPr dirty="0"/>
              <a:t>Islamic</a:t>
            </a:r>
            <a:r>
              <a:rPr dirty="0" spc="-10"/>
              <a:t> History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1774943"/>
            <a:ext cx="7461250" cy="3922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A.</a:t>
            </a:r>
            <a:r>
              <a:rPr dirty="0" sz="1300" spc="95" b="1">
                <a:solidFill>
                  <a:srgbClr val="0070BF"/>
                </a:solidFill>
                <a:latin typeface="Trebuchet MS"/>
                <a:cs typeface="Trebuchet MS"/>
              </a:rPr>
              <a:t> 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Introduction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-</a:t>
            </a:r>
            <a:r>
              <a:rPr dirty="0" u="sng" sz="130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Reasons</a:t>
            </a:r>
            <a:r>
              <a:rPr dirty="0" u="sng" sz="1300" spc="5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30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Migration</a:t>
            </a:r>
            <a:r>
              <a:rPr dirty="0" u="sng" sz="1300" spc="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Madina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(Hijrah)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migration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(Hijrah)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35">
                <a:latin typeface="Trebuchet MS"/>
                <a:cs typeface="Trebuchet MS"/>
              </a:rPr>
              <a:t>  </a:t>
            </a:r>
            <a:r>
              <a:rPr dirty="0" sz="1450" spc="-55">
                <a:latin typeface="Microsoft Sans Serif"/>
                <a:cs typeface="Microsoft Sans Serif"/>
              </a:rPr>
              <a:t>ﷺ</a:t>
            </a:r>
            <a:r>
              <a:rPr dirty="0" sz="1450" spc="-55">
                <a:latin typeface="Trebuchet MS"/>
                <a:cs typeface="Trebuchet MS"/>
              </a:rPr>
              <a:t>and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followers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Makkah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Madina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622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CE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key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moment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history.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journey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merely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relocation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step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towards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establishing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could </a:t>
            </a:r>
            <a:r>
              <a:rPr dirty="0" sz="1450">
                <a:latin typeface="Trebuchet MS"/>
                <a:cs typeface="Trebuchet MS"/>
              </a:rPr>
              <a:t>practice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faith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build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society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principles.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Reasons</a:t>
            </a:r>
            <a:r>
              <a:rPr dirty="0" u="sng" sz="195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9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9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9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Migration</a:t>
            </a:r>
            <a:endParaRPr sz="1950">
              <a:latin typeface="Trebuchet MS"/>
              <a:cs typeface="Trebuchet MS"/>
            </a:endParaRPr>
          </a:p>
          <a:p>
            <a:pPr marL="248920" marR="236854" indent="-236220">
              <a:lnSpc>
                <a:spcPct val="102099"/>
              </a:lnSpc>
              <a:spcBef>
                <a:spcPts val="20"/>
              </a:spcBef>
              <a:buFont typeface="Wingdings"/>
              <a:buChar char=""/>
              <a:tabLst>
                <a:tab pos="248920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Escaping</a:t>
            </a:r>
            <a:r>
              <a:rPr dirty="0" u="sng" sz="130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Persecution:</a:t>
            </a:r>
            <a:r>
              <a:rPr dirty="0" sz="130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Makkah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faced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severe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oppression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hostility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from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Quraysh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tribe,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making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unsafe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practice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openly.</a:t>
            </a:r>
            <a:endParaRPr sz="1450">
              <a:latin typeface="Trebuchet MS"/>
              <a:cs typeface="Trebuchet MS"/>
            </a:endParaRPr>
          </a:p>
          <a:p>
            <a:pPr marL="248920" marR="51435" indent="-236220">
              <a:lnSpc>
                <a:spcPct val="102099"/>
              </a:lnSpc>
              <a:spcBef>
                <a:spcPts val="10"/>
              </a:spcBef>
              <a:buFont typeface="Wingdings"/>
              <a:buChar char=""/>
              <a:tabLst>
                <a:tab pos="248920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Seeking</a:t>
            </a:r>
            <a:r>
              <a:rPr dirty="0" u="sng" sz="1300" spc="1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Safety</a:t>
            </a:r>
            <a:r>
              <a:rPr dirty="0" u="sng" sz="1300" spc="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1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Freedom:</a:t>
            </a:r>
            <a:r>
              <a:rPr dirty="0" sz="130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Madina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offered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welcoming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environment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Muslims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fear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worship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freely.</a:t>
            </a:r>
            <a:endParaRPr sz="1450">
              <a:latin typeface="Trebuchet MS"/>
              <a:cs typeface="Trebuchet MS"/>
            </a:endParaRPr>
          </a:p>
          <a:p>
            <a:pPr marL="248920" marR="589915" indent="-236220">
              <a:lnSpc>
                <a:spcPct val="102099"/>
              </a:lnSpc>
              <a:spcBef>
                <a:spcPts val="15"/>
              </a:spcBef>
              <a:buFont typeface="Wingdings"/>
              <a:buChar char=""/>
              <a:tabLst>
                <a:tab pos="248920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Establishing</a:t>
            </a:r>
            <a:r>
              <a:rPr dirty="0" u="sng" sz="1300" spc="6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</a:t>
            </a:r>
            <a:r>
              <a:rPr dirty="0" u="sng" sz="130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Islamic</a:t>
            </a:r>
            <a:r>
              <a:rPr dirty="0" u="sng" sz="130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Community:</a:t>
            </a:r>
            <a:r>
              <a:rPr dirty="0" sz="130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migration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formation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Muslim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society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governed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laws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  <a:p>
            <a:pPr marL="248920" marR="542290" indent="-236220">
              <a:lnSpc>
                <a:spcPct val="102099"/>
              </a:lnSpc>
              <a:spcBef>
                <a:spcPts val="10"/>
              </a:spcBef>
              <a:buFont typeface="Wingdings"/>
              <a:buChar char=""/>
              <a:tabLst>
                <a:tab pos="248920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Divine</a:t>
            </a:r>
            <a:r>
              <a:rPr dirty="0" u="sng" sz="130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Guidance:</a:t>
            </a:r>
            <a:r>
              <a:rPr dirty="0" sz="130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45">
                <a:latin typeface="Trebuchet MS"/>
                <a:cs typeface="Trebuchet MS"/>
              </a:rPr>
              <a:t>  </a:t>
            </a:r>
            <a:r>
              <a:rPr dirty="0" sz="1450" spc="-20">
                <a:latin typeface="Microsoft Sans Serif"/>
                <a:cs typeface="Microsoft Sans Serif"/>
              </a:rPr>
              <a:t>ﷺ</a:t>
            </a:r>
            <a:r>
              <a:rPr dirty="0" sz="1450" spc="-20">
                <a:latin typeface="Trebuchet MS"/>
                <a:cs typeface="Trebuchet MS"/>
              </a:rPr>
              <a:t>received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divine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instructions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migrate, </a:t>
            </a:r>
            <a:r>
              <a:rPr dirty="0" sz="1450">
                <a:latin typeface="Trebuchet MS"/>
                <a:cs typeface="Trebuchet MS"/>
              </a:rPr>
              <a:t>signifying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importance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move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fulfilling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Islam.</a:t>
            </a:r>
            <a:endParaRPr sz="1450">
              <a:latin typeface="Trebuchet MS"/>
              <a:cs typeface="Trebuchet MS"/>
            </a:endParaRPr>
          </a:p>
          <a:p>
            <a:pPr marL="248920" marR="301625" indent="-236220">
              <a:lnSpc>
                <a:spcPct val="102099"/>
              </a:lnSpc>
              <a:spcBef>
                <a:spcPts val="10"/>
              </a:spcBef>
              <a:buFont typeface="Wingdings"/>
              <a:buChar char=""/>
              <a:tabLst>
                <a:tab pos="248920" algn="l"/>
              </a:tabLst>
            </a:pP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Economic</a:t>
            </a:r>
            <a:r>
              <a:rPr dirty="0" u="sng" sz="1300" spc="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Hardship:</a:t>
            </a:r>
            <a:r>
              <a:rPr dirty="0" sz="130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economic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boycott</a:t>
            </a:r>
            <a:r>
              <a:rPr dirty="0" sz="1450" spc="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imposed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Quraysh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financial </a:t>
            </a:r>
            <a:r>
              <a:rPr dirty="0" sz="1450">
                <a:latin typeface="Trebuchet MS"/>
                <a:cs typeface="Trebuchet MS"/>
              </a:rPr>
              <a:t>difficulties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Muslims,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prompting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search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better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opportunities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Madina.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803275">
              <a:lnSpc>
                <a:spcPct val="100000"/>
              </a:lnSpc>
              <a:spcBef>
                <a:spcPts val="130"/>
              </a:spcBef>
            </a:pPr>
            <a:r>
              <a:rPr dirty="0"/>
              <a:t>Reasons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/>
              <a:t>Migration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Madina </a:t>
            </a:r>
            <a:r>
              <a:rPr dirty="0" spc="-10"/>
              <a:t>(Hijrah)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7719" y="2392135"/>
            <a:ext cx="279717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1.</a:t>
            </a:r>
            <a:r>
              <a:rPr dirty="0" sz="1450" spc="42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Persecution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and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spc="-10" b="1">
                <a:solidFill>
                  <a:srgbClr val="0070BF"/>
                </a:solidFill>
                <a:latin typeface="Trebuchet MS"/>
                <a:cs typeface="Trebuchet MS"/>
              </a:rPr>
              <a:t>Opposition: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7719" y="2844829"/>
            <a:ext cx="3420745" cy="18376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8920" marR="5080" indent="-236220">
              <a:lnSpc>
                <a:spcPct val="102499"/>
              </a:lnSpc>
              <a:spcBef>
                <a:spcPts val="95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Quraysh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tribes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Makkah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strongly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opposed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Prophet </a:t>
            </a:r>
            <a:r>
              <a:rPr dirty="0" sz="1450">
                <a:latin typeface="Trebuchet MS"/>
                <a:cs typeface="Trebuchet MS"/>
              </a:rPr>
              <a:t>Muhammad’s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(peace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upon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him) </a:t>
            </a:r>
            <a:r>
              <a:rPr dirty="0" sz="1450" spc="-10">
                <a:latin typeface="Trebuchet MS"/>
                <a:cs typeface="Trebuchet MS"/>
              </a:rPr>
              <a:t>message.</a:t>
            </a:r>
            <a:endParaRPr sz="1450">
              <a:latin typeface="Trebuchet MS"/>
              <a:cs typeface="Trebuchet MS"/>
            </a:endParaRPr>
          </a:p>
          <a:p>
            <a:pPr marL="248920" marR="199390" indent="-236220">
              <a:lnSpc>
                <a:spcPts val="1789"/>
              </a:lnSpc>
              <a:spcBef>
                <a:spcPts val="5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were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subjected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harassment,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threats,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violence.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ts val="1705"/>
              </a:lnSpc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Life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Makkah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became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increasingly</a:t>
            </a:r>
            <a:endParaRPr sz="1450">
              <a:latin typeface="Trebuchet MS"/>
              <a:cs typeface="Trebuchet MS"/>
            </a:endParaRPr>
          </a:p>
          <a:p>
            <a:pPr marL="248920">
              <a:lnSpc>
                <a:spcPct val="100000"/>
              </a:lnSpc>
              <a:spcBef>
                <a:spcPts val="50"/>
              </a:spcBef>
            </a:pPr>
            <a:r>
              <a:rPr dirty="0" sz="1450">
                <a:latin typeface="Trebuchet MS"/>
                <a:cs typeface="Trebuchet MS"/>
              </a:rPr>
              <a:t>dangerous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early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believers.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28045" y="2393689"/>
            <a:ext cx="199834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2.</a:t>
            </a:r>
            <a:r>
              <a:rPr dirty="0" sz="130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Safety</a:t>
            </a:r>
            <a:r>
              <a:rPr dirty="0" u="sng" sz="1300" spc="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sng" sz="1300" spc="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Protection: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27986" y="2794540"/>
            <a:ext cx="3844925" cy="16103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8920" marR="61594" indent="-236220">
              <a:lnSpc>
                <a:spcPct val="102800"/>
              </a:lnSpc>
              <a:spcBef>
                <a:spcPts val="9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Muslims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desired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place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could </a:t>
            </a:r>
            <a:r>
              <a:rPr dirty="0" sz="1450">
                <a:latin typeface="Trebuchet MS"/>
                <a:cs typeface="Trebuchet MS"/>
              </a:rPr>
              <a:t>practice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faith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fear.</a:t>
            </a:r>
            <a:endParaRPr sz="14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3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Madina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welcomed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</a:t>
            </a:r>
            <a:endParaRPr sz="1450">
              <a:latin typeface="Trebuchet MS"/>
              <a:cs typeface="Trebuchet MS"/>
            </a:endParaRPr>
          </a:p>
          <a:p>
            <a:pPr marL="248920" marR="159385">
              <a:lnSpc>
                <a:spcPct val="102099"/>
              </a:lnSpc>
              <a:spcBef>
                <a:spcPts val="10"/>
              </a:spcBef>
            </a:pP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followers,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offering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them </a:t>
            </a:r>
            <a:r>
              <a:rPr dirty="0" sz="1450">
                <a:latin typeface="Trebuchet MS"/>
                <a:cs typeface="Trebuchet MS"/>
              </a:rPr>
              <a:t>protection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support.</a:t>
            </a:r>
            <a:endParaRPr sz="1450">
              <a:latin typeface="Trebuchet MS"/>
              <a:cs typeface="Trebuchet MS"/>
            </a:endParaRPr>
          </a:p>
          <a:p>
            <a:pPr marL="248920" marR="5080" indent="-236220">
              <a:lnSpc>
                <a:spcPct val="102099"/>
              </a:lnSpc>
              <a:spcBef>
                <a:spcPts val="1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450">
                <a:latin typeface="Trebuchet MS"/>
                <a:cs typeface="Trebuchet MS"/>
              </a:rPr>
              <a:t>Madina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provided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secure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environment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for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Muslim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grow.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00467" y="1745997"/>
            <a:ext cx="452882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Journey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650" spc="-1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Safety:</a:t>
            </a:r>
            <a:r>
              <a:rPr dirty="0" u="sng" sz="1650" spc="-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Reasons</a:t>
            </a:r>
            <a:r>
              <a:rPr dirty="0" u="sng" sz="1650" spc="-2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for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Hijrah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117600">
              <a:lnSpc>
                <a:spcPct val="100000"/>
              </a:lnSpc>
              <a:spcBef>
                <a:spcPts val="130"/>
              </a:spcBef>
            </a:pPr>
            <a:r>
              <a:rPr dirty="0"/>
              <a:t>Reasons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Migration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Madina </a:t>
            </a:r>
            <a:r>
              <a:rPr dirty="0" spc="-10"/>
              <a:t>(Hijrah)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99738" y="2236746"/>
            <a:ext cx="3249295" cy="2527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3.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Establishing</a:t>
            </a:r>
            <a:r>
              <a:rPr dirty="0" u="sng" sz="1450" spc="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Muslim</a:t>
            </a:r>
            <a:r>
              <a:rPr dirty="0" u="sng" sz="1450" spc="8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Community: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9738" y="2689348"/>
            <a:ext cx="3570604" cy="3195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7945">
              <a:lnSpc>
                <a:spcPct val="102400"/>
              </a:lnSpc>
              <a:spcBef>
                <a:spcPts val="9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Creating</a:t>
            </a:r>
            <a:r>
              <a:rPr dirty="0" sz="1450" spc="7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Safe</a:t>
            </a:r>
            <a:r>
              <a:rPr dirty="0" sz="1450" spc="8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Space:</a:t>
            </a:r>
            <a:r>
              <a:rPr dirty="0" sz="1450" spc="9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migration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Madina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allowed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Muhammad</a:t>
            </a:r>
            <a:r>
              <a:rPr dirty="0" sz="1450" spc="55">
                <a:latin typeface="Trebuchet MS"/>
                <a:cs typeface="Trebuchet MS"/>
              </a:rPr>
              <a:t>  </a:t>
            </a:r>
            <a:r>
              <a:rPr dirty="0" sz="1450" spc="-395">
                <a:latin typeface="Microsoft Sans Serif"/>
                <a:cs typeface="Microsoft Sans Serif"/>
              </a:rPr>
              <a:t>ﷺ</a:t>
            </a:r>
            <a:r>
              <a:rPr dirty="0" sz="14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followers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place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where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practice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freely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safely.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Building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</a:t>
            </a:r>
            <a:r>
              <a:rPr dirty="0" sz="1450" spc="8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Strong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Community: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Madina,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395">
                <a:latin typeface="Trebuchet MS"/>
                <a:cs typeface="Trebuchet MS"/>
              </a:rPr>
              <a:t> </a:t>
            </a:r>
            <a:r>
              <a:rPr dirty="0" sz="1450" spc="-10">
                <a:latin typeface="Microsoft Sans Serif"/>
                <a:cs typeface="Microsoft Sans Serif"/>
              </a:rPr>
              <a:t>ﷺ</a:t>
            </a:r>
            <a:r>
              <a:rPr dirty="0" sz="1450" spc="-10">
                <a:latin typeface="Trebuchet MS"/>
                <a:cs typeface="Trebuchet MS"/>
              </a:rPr>
              <a:t>established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community </a:t>
            </a:r>
            <a:r>
              <a:rPr dirty="0" sz="1450">
                <a:latin typeface="Trebuchet MS"/>
                <a:cs typeface="Trebuchet MS"/>
              </a:rPr>
              <a:t>based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Islamic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teachings,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promoting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like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justice,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compassion,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>
                <a:latin typeface="Trebuchet MS"/>
                <a:cs typeface="Trebuchet MS"/>
              </a:rPr>
              <a:t>mutual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support.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Spreading</a:t>
            </a:r>
            <a:r>
              <a:rPr dirty="0" sz="1450" spc="10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the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Message:</a:t>
            </a:r>
            <a:r>
              <a:rPr dirty="0" sz="1450" spc="10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new</a:t>
            </a:r>
            <a:endParaRPr sz="1450">
              <a:latin typeface="Trebuchet MS"/>
              <a:cs typeface="Trebuchet MS"/>
            </a:endParaRPr>
          </a:p>
          <a:p>
            <a:pPr marL="12700" marR="467995">
              <a:lnSpc>
                <a:spcPct val="1024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became</a:t>
            </a:r>
            <a:r>
              <a:rPr dirty="0" sz="1450" spc="1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foundation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for </a:t>
            </a:r>
            <a:r>
              <a:rPr dirty="0" sz="1450">
                <a:latin typeface="Trebuchet MS"/>
                <a:cs typeface="Trebuchet MS"/>
              </a:rPr>
              <a:t>spreading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Islam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beyond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Madina, </a:t>
            </a:r>
            <a:r>
              <a:rPr dirty="0" sz="1450">
                <a:latin typeface="Trebuchet MS"/>
                <a:cs typeface="Trebuchet MS"/>
              </a:rPr>
              <a:t>influencing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1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regions.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76799" y="2236746"/>
            <a:ext cx="3490595" cy="20631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4.</a:t>
            </a:r>
            <a:r>
              <a:rPr dirty="0" sz="1450" spc="6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4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Divine</a:t>
            </a:r>
            <a:r>
              <a:rPr dirty="0" u="sng" sz="1450" spc="7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Instruction: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02299"/>
              </a:lnSpc>
              <a:spcBef>
                <a:spcPts val="1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Command</a:t>
            </a:r>
            <a:r>
              <a:rPr dirty="0" sz="1450" spc="7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from</a:t>
            </a:r>
            <a:r>
              <a:rPr dirty="0" sz="1450" spc="-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Allah:</a:t>
            </a:r>
            <a:r>
              <a:rPr dirty="0" sz="1450" spc="4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Prophet</a:t>
            </a:r>
            <a:r>
              <a:rPr dirty="0" sz="1450" spc="40">
                <a:latin typeface="Trebuchet MS"/>
                <a:cs typeface="Trebuchet MS"/>
              </a:rPr>
              <a:t>  </a:t>
            </a:r>
            <a:r>
              <a:rPr dirty="0" sz="1450" spc="-395">
                <a:latin typeface="Microsoft Sans Serif"/>
                <a:cs typeface="Microsoft Sans Serif"/>
              </a:rPr>
              <a:t>ﷺ</a:t>
            </a:r>
            <a:r>
              <a:rPr dirty="0" sz="1450">
                <a:latin typeface="Microsoft Sans Serif"/>
                <a:cs typeface="Microsoft Sans Serif"/>
              </a:rPr>
              <a:t> </a:t>
            </a:r>
            <a:r>
              <a:rPr dirty="0" sz="1450">
                <a:latin typeface="Trebuchet MS"/>
                <a:cs typeface="Trebuchet MS"/>
              </a:rPr>
              <a:t>received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clear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instructions</a:t>
            </a:r>
            <a:r>
              <a:rPr dirty="0" sz="1450" spc="10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 Allah</a:t>
            </a:r>
            <a:r>
              <a:rPr dirty="0" sz="1450" spc="12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migrate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Madina,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making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journey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fulfillment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divine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will.</a:t>
            </a:r>
            <a:endParaRPr sz="1450">
              <a:latin typeface="Trebuchet MS"/>
              <a:cs typeface="Trebuchet MS"/>
            </a:endParaRPr>
          </a:p>
          <a:p>
            <a:pPr marL="12700" marR="86995">
              <a:lnSpc>
                <a:spcPct val="102299"/>
              </a:lnSpc>
              <a:spcBef>
                <a:spcPts val="10"/>
              </a:spcBef>
            </a:pP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Vision</a:t>
            </a:r>
            <a:r>
              <a:rPr dirty="0" sz="1450" spc="5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of</a:t>
            </a:r>
            <a:r>
              <a:rPr dirty="0" sz="1450" spc="45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 b="1">
                <a:solidFill>
                  <a:srgbClr val="0070BF"/>
                </a:solidFill>
                <a:latin typeface="Trebuchet MS"/>
                <a:cs typeface="Trebuchet MS"/>
              </a:rPr>
              <a:t>Hope:</a:t>
            </a:r>
            <a:r>
              <a:rPr dirty="0" sz="1450" spc="5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Madina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seen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land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promise,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where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Muslim </a:t>
            </a:r>
            <a:r>
              <a:rPr dirty="0" sz="1450">
                <a:latin typeface="Trebuchet MS"/>
                <a:cs typeface="Trebuchet MS"/>
              </a:rPr>
              <a:t>community</a:t>
            </a:r>
            <a:r>
              <a:rPr dirty="0" sz="1450" spc="8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could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grow</a:t>
            </a:r>
            <a:r>
              <a:rPr dirty="0" sz="1450" spc="8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9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thrive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under </a:t>
            </a:r>
            <a:r>
              <a:rPr dirty="0" sz="1450">
                <a:latin typeface="Trebuchet MS"/>
                <a:cs typeface="Trebuchet MS"/>
              </a:rPr>
              <a:t>Allah's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guidance.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0625" y="1745997"/>
            <a:ext cx="6668134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Guided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by</a:t>
            </a:r>
            <a:r>
              <a:rPr dirty="0" u="sng" sz="1650" spc="-114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Allah:</a:t>
            </a:r>
            <a:r>
              <a:rPr dirty="0" u="sng" sz="1650" spc="-8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650" spc="-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Prophet's</a:t>
            </a:r>
            <a:r>
              <a:rPr dirty="0" u="sng" sz="1650" spc="-4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Journey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to</a:t>
            </a:r>
            <a:r>
              <a:rPr dirty="0" u="sng" sz="1650" spc="-3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Establish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Islam</a:t>
            </a:r>
            <a:r>
              <a:rPr dirty="0" u="sng" sz="1650" spc="-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in</a:t>
            </a:r>
            <a:r>
              <a:rPr dirty="0" u="sng" sz="1650" spc="-25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5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Madina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117600">
              <a:lnSpc>
                <a:spcPct val="100000"/>
              </a:lnSpc>
              <a:spcBef>
                <a:spcPts val="130"/>
              </a:spcBef>
            </a:pPr>
            <a:r>
              <a:rPr dirty="0"/>
              <a:t>Reasons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Migration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Madina </a:t>
            </a:r>
            <a:r>
              <a:rPr dirty="0" spc="-10"/>
              <a:t>(Hijrah)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 marR="439420">
              <a:lnSpc>
                <a:spcPct val="100000"/>
              </a:lnSpc>
              <a:spcBef>
                <a:spcPts val="105"/>
              </a:spcBef>
            </a:pPr>
            <a:r>
              <a:rPr dirty="0"/>
              <a:t>From</a:t>
            </a:r>
            <a:r>
              <a:rPr dirty="0" spc="-40"/>
              <a:t> </a:t>
            </a:r>
            <a:r>
              <a:rPr dirty="0"/>
              <a:t>Struggle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Stability:</a:t>
            </a:r>
            <a:r>
              <a:rPr dirty="0" spc="-35"/>
              <a:t> </a:t>
            </a:r>
            <a:r>
              <a:rPr dirty="0"/>
              <a:t>Economic</a:t>
            </a:r>
            <a:r>
              <a:rPr dirty="0" spc="-20"/>
              <a:t> </a:t>
            </a:r>
            <a:r>
              <a:rPr dirty="0"/>
              <a:t>Relief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 spc="-10"/>
              <a:t>Madina</a:t>
            </a:r>
          </a:p>
          <a:p>
            <a:pPr>
              <a:lnSpc>
                <a:spcPct val="100000"/>
              </a:lnSpc>
              <a:spcBef>
                <a:spcPts val="405"/>
              </a:spcBef>
            </a:pPr>
          </a:p>
          <a:p>
            <a:pPr marL="12700">
              <a:lnSpc>
                <a:spcPct val="100000"/>
              </a:lnSpc>
            </a:pPr>
            <a:r>
              <a:rPr dirty="0" u="none" sz="1800"/>
              <a:t>5.</a:t>
            </a:r>
            <a:r>
              <a:rPr dirty="0" u="none" sz="1800" spc="15"/>
              <a:t> </a:t>
            </a:r>
            <a:r>
              <a:rPr dirty="0" sz="1800"/>
              <a:t>Economic</a:t>
            </a:r>
            <a:r>
              <a:rPr dirty="0" sz="1800" spc="45"/>
              <a:t> </a:t>
            </a:r>
            <a:r>
              <a:rPr dirty="0" sz="1800"/>
              <a:t>Hardship</a:t>
            </a:r>
            <a:r>
              <a:rPr dirty="0" sz="1800" spc="-10"/>
              <a:t> </a:t>
            </a:r>
            <a:r>
              <a:rPr dirty="0" sz="1800"/>
              <a:t>in</a:t>
            </a:r>
            <a:r>
              <a:rPr dirty="0" sz="1800" spc="10"/>
              <a:t> </a:t>
            </a:r>
            <a:r>
              <a:rPr dirty="0" sz="1800" spc="-10"/>
              <a:t>Makkah:</a:t>
            </a:r>
            <a:endParaRPr sz="1800"/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/>
          </a:p>
          <a:p>
            <a:pPr marL="12700" marR="5080" indent="-635">
              <a:lnSpc>
                <a:spcPct val="102800"/>
              </a:lnSpc>
            </a:pPr>
            <a:r>
              <a:rPr dirty="0" sz="1300"/>
              <a:t>Severe</a:t>
            </a:r>
            <a:r>
              <a:rPr dirty="0" sz="1300" spc="100"/>
              <a:t> </a:t>
            </a:r>
            <a:r>
              <a:rPr dirty="0" sz="1300"/>
              <a:t>Boycott</a:t>
            </a:r>
            <a:r>
              <a:rPr dirty="0" u="none" sz="1300"/>
              <a:t>:</a:t>
            </a:r>
            <a:r>
              <a:rPr dirty="0" u="none" sz="1300" spc="80"/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Quraysh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imposed</a:t>
            </a:r>
            <a:r>
              <a:rPr dirty="0" u="none" sz="145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strict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boycott</a:t>
            </a:r>
            <a:r>
              <a:rPr dirty="0" u="none" sz="145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Muslims,</a:t>
            </a:r>
            <a:r>
              <a:rPr dirty="0" u="none" sz="145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cutting</a:t>
            </a:r>
            <a:r>
              <a:rPr dirty="0" u="none" sz="145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off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trade</a:t>
            </a:r>
            <a:r>
              <a:rPr dirty="0" u="none" sz="1450" spc="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social ties.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300"/>
              <a:t>Widespread</a:t>
            </a:r>
            <a:r>
              <a:rPr dirty="0" sz="1300" spc="85"/>
              <a:t> </a:t>
            </a:r>
            <a:r>
              <a:rPr dirty="0" sz="1300"/>
              <a:t>Poverty</a:t>
            </a:r>
            <a:r>
              <a:rPr dirty="0" u="none" sz="1300"/>
              <a:t>:</a:t>
            </a:r>
            <a:r>
              <a:rPr dirty="0" u="none" sz="1300" spc="75"/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Many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Muslims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faced</a:t>
            </a:r>
            <a:r>
              <a:rPr dirty="0" u="none" sz="1450" spc="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hunger</a:t>
            </a:r>
            <a:r>
              <a:rPr dirty="0" u="none" sz="1450" spc="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financial</a:t>
            </a:r>
            <a:r>
              <a:rPr dirty="0" u="none" sz="1450" spc="10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struggles</a:t>
            </a:r>
            <a:r>
              <a:rPr dirty="0" u="none" sz="145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due</a:t>
            </a:r>
            <a:r>
              <a:rPr dirty="0" u="none" sz="1450" spc="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u="none" sz="1450" spc="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45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450" spc="-10" b="0">
                <a:solidFill>
                  <a:srgbClr val="000000"/>
                </a:solidFill>
                <a:latin typeface="Trebuchet MS"/>
                <a:cs typeface="Trebuchet MS"/>
              </a:rPr>
              <a:t>boycott.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1800"/>
              <a:t>Economic</a:t>
            </a:r>
            <a:r>
              <a:rPr dirty="0" sz="1800" spc="20"/>
              <a:t> </a:t>
            </a:r>
            <a:r>
              <a:rPr dirty="0" sz="1800"/>
              <a:t>Opportunities</a:t>
            </a:r>
            <a:r>
              <a:rPr dirty="0" sz="1800" spc="40"/>
              <a:t> </a:t>
            </a:r>
            <a:r>
              <a:rPr dirty="0" sz="1800"/>
              <a:t>in</a:t>
            </a:r>
            <a:r>
              <a:rPr dirty="0" sz="1800" spc="-15"/>
              <a:t> </a:t>
            </a:r>
            <a:r>
              <a:rPr dirty="0" sz="1800" spc="-10"/>
              <a:t>Madina</a:t>
            </a:r>
            <a:endParaRPr sz="1800"/>
          </a:p>
          <a:p>
            <a:pPr marL="12700" marR="88265">
              <a:lnSpc>
                <a:spcPct val="101499"/>
              </a:lnSpc>
              <a:spcBef>
                <a:spcPts val="1605"/>
              </a:spcBef>
            </a:pPr>
            <a:r>
              <a:rPr dirty="0" sz="1300"/>
              <a:t>Agricultural</a:t>
            </a:r>
            <a:r>
              <a:rPr dirty="0" sz="1300" spc="40"/>
              <a:t> </a:t>
            </a:r>
            <a:r>
              <a:rPr dirty="0" sz="1300"/>
              <a:t>Prosperity:</a:t>
            </a:r>
            <a:r>
              <a:rPr dirty="0" sz="1300" spc="30"/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Madina's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fertile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land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numerous</a:t>
            </a:r>
            <a:r>
              <a:rPr dirty="0" u="none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oases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made</a:t>
            </a:r>
            <a:r>
              <a:rPr dirty="0" u="none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it</a:t>
            </a:r>
            <a:r>
              <a:rPr dirty="0" u="none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ideal</a:t>
            </a:r>
            <a:r>
              <a:rPr dirty="0" u="none" sz="130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farming,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10" b="0">
                <a:solidFill>
                  <a:srgbClr val="000000"/>
                </a:solidFill>
                <a:latin typeface="Trebuchet MS"/>
                <a:cs typeface="Trebuchet MS"/>
              </a:rPr>
              <a:t>especially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date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10" b="0">
                <a:solidFill>
                  <a:srgbClr val="000000"/>
                </a:solidFill>
                <a:latin typeface="Trebuchet MS"/>
                <a:cs typeface="Trebuchet MS"/>
              </a:rPr>
              <a:t>cultivation.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300"/>
              <a:t>Supportive</a:t>
            </a:r>
            <a:r>
              <a:rPr dirty="0" sz="1300" spc="40"/>
              <a:t> </a:t>
            </a:r>
            <a:r>
              <a:rPr dirty="0" sz="1300"/>
              <a:t>Community</a:t>
            </a:r>
            <a:r>
              <a:rPr dirty="0" u="none" sz="1300">
                <a:solidFill>
                  <a:srgbClr val="000000"/>
                </a:solidFill>
              </a:rPr>
              <a:t>:</a:t>
            </a:r>
            <a:r>
              <a:rPr dirty="0" u="none" sz="1300" spc="-10">
                <a:solidFill>
                  <a:srgbClr val="000000"/>
                </a:solidFill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local</a:t>
            </a:r>
            <a:r>
              <a:rPr dirty="0" u="none" sz="130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tribes</a:t>
            </a:r>
            <a:r>
              <a:rPr dirty="0" u="none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of</a:t>
            </a:r>
            <a:r>
              <a:rPr dirty="0" u="none" sz="1300" spc="-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Aws(</a:t>
            </a:r>
            <a:r>
              <a:rPr dirty="0" u="none" sz="1300" b="0">
                <a:solidFill>
                  <a:srgbClr val="000000"/>
                </a:solidFill>
                <a:latin typeface="Microsoft Sans Serif"/>
                <a:cs typeface="Microsoft Sans Serif"/>
              </a:rPr>
              <a:t>سوأ</a:t>
            </a:r>
            <a:r>
              <a:rPr dirty="0" u="none" sz="1300" spc="3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u="none" sz="1300" spc="-245" b="0">
                <a:solidFill>
                  <a:srgbClr val="000000"/>
                </a:solidFill>
                <a:latin typeface="Microsoft Sans Serif"/>
                <a:cs typeface="Microsoft Sans Serif"/>
              </a:rPr>
              <a:t>ونب</a:t>
            </a:r>
            <a:r>
              <a:rPr dirty="0" u="none" sz="1300" spc="-245" b="0">
                <a:solidFill>
                  <a:srgbClr val="000000"/>
                </a:solidFill>
                <a:latin typeface="Trebuchet MS"/>
                <a:cs typeface="Trebuchet MS"/>
              </a:rPr>
              <a:t>)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300" spc="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Khazraj</a:t>
            </a:r>
            <a:r>
              <a:rPr dirty="0" u="none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welcomed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Prophet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10" b="0">
                <a:solidFill>
                  <a:srgbClr val="000000"/>
                </a:solidFill>
                <a:latin typeface="Trebuchet MS"/>
                <a:cs typeface="Trebuchet MS"/>
              </a:rPr>
              <a:t>Muhammad</a:t>
            </a:r>
            <a:endParaRPr sz="1300">
              <a:latin typeface="Trebuchet MS"/>
              <a:cs typeface="Trebuchet MS"/>
            </a:endParaRPr>
          </a:p>
          <a:p>
            <a:pPr marL="59690">
              <a:lnSpc>
                <a:spcPct val="100000"/>
              </a:lnSpc>
              <a:spcBef>
                <a:spcPts val="25"/>
              </a:spcBef>
            </a:pPr>
            <a:r>
              <a:rPr dirty="0" u="none" sz="1300" spc="-70" b="0">
                <a:solidFill>
                  <a:srgbClr val="000000"/>
                </a:solidFill>
                <a:latin typeface="Microsoft Sans Serif"/>
                <a:cs typeface="Microsoft Sans Serif"/>
              </a:rPr>
              <a:t>ﷺ</a:t>
            </a:r>
            <a:r>
              <a:rPr dirty="0" u="none" sz="1300" spc="-7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his</a:t>
            </a:r>
            <a:r>
              <a:rPr dirty="0" u="none" sz="1300" spc="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followers,</a:t>
            </a:r>
            <a:r>
              <a:rPr dirty="0" u="none" sz="1300" spc="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offering</a:t>
            </a:r>
            <a:r>
              <a:rPr dirty="0" u="none" sz="1300" spc="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them</a:t>
            </a:r>
            <a:r>
              <a:rPr dirty="0" u="none" sz="1300" spc="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protection</a:t>
            </a:r>
            <a:r>
              <a:rPr dirty="0" u="none" sz="1300" spc="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u="none" sz="1300" spc="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10" b="0">
                <a:solidFill>
                  <a:srgbClr val="000000"/>
                </a:solidFill>
                <a:latin typeface="Trebuchet MS"/>
                <a:cs typeface="Trebuchet MS"/>
              </a:rPr>
              <a:t>assistance.</a:t>
            </a:r>
            <a:endParaRPr sz="1300">
              <a:latin typeface="Trebuchet MS"/>
              <a:cs typeface="Trebuchet MS"/>
            </a:endParaRPr>
          </a:p>
          <a:p>
            <a:pPr marL="12700" marR="326390">
              <a:lnSpc>
                <a:spcPts val="1580"/>
              </a:lnSpc>
              <a:spcBef>
                <a:spcPts val="60"/>
              </a:spcBef>
            </a:pPr>
            <a:r>
              <a:rPr dirty="0" sz="1300" spc="-60"/>
              <a:t>Revival(</a:t>
            </a:r>
            <a:r>
              <a:rPr dirty="0" sz="1300" spc="-60">
                <a:latin typeface="Arial"/>
                <a:cs typeface="Arial"/>
              </a:rPr>
              <a:t>یلاحب</a:t>
            </a:r>
            <a:r>
              <a:rPr dirty="0" sz="1300" spc="-60"/>
              <a:t>)</a:t>
            </a:r>
            <a:r>
              <a:rPr dirty="0" sz="1300" spc="25"/>
              <a:t> </a:t>
            </a:r>
            <a:r>
              <a:rPr dirty="0" sz="1300"/>
              <a:t>of</a:t>
            </a:r>
            <a:r>
              <a:rPr dirty="0" sz="1300" spc="-25"/>
              <a:t> </a:t>
            </a:r>
            <a:r>
              <a:rPr dirty="0" sz="1300" spc="-10"/>
              <a:t>Trade:</a:t>
            </a:r>
            <a:r>
              <a:rPr dirty="0" sz="1300"/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u="none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Prophet</a:t>
            </a:r>
            <a:r>
              <a:rPr dirty="0" u="none" sz="1300" spc="3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320" b="0">
                <a:solidFill>
                  <a:srgbClr val="000000"/>
                </a:solidFill>
                <a:latin typeface="Microsoft Sans Serif"/>
                <a:cs typeface="Microsoft Sans Serif"/>
              </a:rPr>
              <a:t>ﷺ</a:t>
            </a:r>
            <a:r>
              <a:rPr dirty="0" u="none" sz="1300" spc="75" b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established</a:t>
            </a:r>
            <a:r>
              <a:rPr dirty="0" u="none" sz="1300" spc="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u="none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marketplace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u="none" sz="13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Madina,</a:t>
            </a:r>
            <a:r>
              <a:rPr dirty="0" u="none" sz="1300" spc="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encouraging</a:t>
            </a:r>
            <a:r>
              <a:rPr dirty="0" u="none" sz="1300" spc="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trade</a:t>
            </a:r>
            <a:r>
              <a:rPr dirty="0" u="none" sz="1300" spc="1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25" b="0">
                <a:solidFill>
                  <a:srgbClr val="000000"/>
                </a:solidFill>
                <a:latin typeface="Trebuchet MS"/>
                <a:cs typeface="Trebuchet MS"/>
              </a:rPr>
              <a:t>and </a:t>
            </a:r>
            <a:r>
              <a:rPr dirty="0" u="none" sz="1300" b="0">
                <a:solidFill>
                  <a:srgbClr val="000000"/>
                </a:solidFill>
                <a:latin typeface="Trebuchet MS"/>
                <a:cs typeface="Trebuchet MS"/>
              </a:rPr>
              <a:t>economic</a:t>
            </a:r>
            <a:r>
              <a:rPr dirty="0" u="none" sz="1300" spc="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u="none" sz="1300" spc="-10" b="0">
                <a:solidFill>
                  <a:srgbClr val="000000"/>
                </a:solidFill>
                <a:latin typeface="Trebuchet MS"/>
                <a:cs typeface="Trebuchet MS"/>
              </a:rPr>
              <a:t>growth.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70165" y="2069050"/>
            <a:ext cx="8267065" cy="229362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b="1">
                <a:solidFill>
                  <a:srgbClr val="0070BF"/>
                </a:solidFill>
                <a:latin typeface="Trebuchet MS"/>
                <a:cs typeface="Trebuchet MS"/>
              </a:rPr>
              <a:t>C.</a:t>
            </a:r>
            <a:r>
              <a:rPr dirty="0" sz="1300" spc="20" b="1">
                <a:solidFill>
                  <a:srgbClr val="0070BF"/>
                </a:solid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Conclusion</a:t>
            </a:r>
            <a:r>
              <a:rPr dirty="0" u="sng" sz="1300" spc="5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on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the</a:t>
            </a:r>
            <a:r>
              <a:rPr dirty="0" u="sng" sz="1300" spc="3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0" b="1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Trebuchet MS"/>
                <a:cs typeface="Trebuchet MS"/>
              </a:rPr>
              <a:t>Migration:</a:t>
            </a:r>
            <a:endParaRPr sz="130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migration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Madina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(Hijrah)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was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major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turning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point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Muslims.</a:t>
            </a:r>
            <a:endParaRPr sz="1150">
              <a:latin typeface="Trebuchet MS"/>
              <a:cs typeface="Trebuchet MS"/>
            </a:endParaRPr>
          </a:p>
          <a:p>
            <a:pPr marL="248920" marR="5080" indent="-236854">
              <a:lnSpc>
                <a:spcPct val="100000"/>
              </a:lnSpc>
              <a:spcBef>
                <a:spcPts val="10"/>
              </a:spcBef>
              <a:buFont typeface="Microsoft Sans Serif"/>
              <a:buChar char="•"/>
              <a:tabLst>
                <a:tab pos="248920" algn="l"/>
              </a:tabLst>
            </a:pPr>
            <a:r>
              <a:rPr dirty="0" sz="1150">
                <a:latin typeface="Trebuchet MS"/>
                <a:cs typeface="Trebuchet MS"/>
              </a:rPr>
              <a:t>It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allowed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Prophet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Muhammad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(peace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upon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him)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 his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followers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practice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their faith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freely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build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strong, </a:t>
            </a:r>
            <a:r>
              <a:rPr dirty="0" sz="1150">
                <a:latin typeface="Trebuchet MS"/>
                <a:cs typeface="Trebuchet MS"/>
              </a:rPr>
              <a:t>united</a:t>
            </a:r>
            <a:r>
              <a:rPr dirty="0" sz="1150" spc="-10">
                <a:latin typeface="Trebuchet MS"/>
                <a:cs typeface="Trebuchet MS"/>
              </a:rPr>
              <a:t> community.</a:t>
            </a:r>
            <a:endParaRPr sz="11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15"/>
              </a:spcBef>
              <a:buFont typeface="Microsoft Sans Serif"/>
              <a:buChar char="•"/>
              <a:tabLst>
                <a:tab pos="248285" algn="l"/>
              </a:tabLst>
            </a:pPr>
            <a:r>
              <a:rPr dirty="0" sz="1150">
                <a:latin typeface="Trebuchet MS"/>
                <a:cs typeface="Trebuchet MS"/>
              </a:rPr>
              <a:t>This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journey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shows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importance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faith, patience,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working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together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during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difficult </a:t>
            </a:r>
            <a:r>
              <a:rPr dirty="0" sz="1150" spc="-10">
                <a:latin typeface="Trebuchet MS"/>
                <a:cs typeface="Trebuchet MS"/>
              </a:rPr>
              <a:t>times.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Font typeface="Microsoft Sans Serif"/>
              <a:buChar char="•"/>
            </a:pPr>
            <a:endParaRPr sz="1150">
              <a:latin typeface="Trebuchet MS"/>
              <a:cs typeface="Trebuchet MS"/>
            </a:endParaRPr>
          </a:p>
          <a:p>
            <a:pPr marL="24765" marR="343535" indent="-12700">
              <a:lnSpc>
                <a:spcPct val="100899"/>
              </a:lnSpc>
              <a:spcBef>
                <a:spcPts val="5"/>
              </a:spcBef>
              <a:buFont typeface="Microsoft Sans Serif"/>
              <a:buChar char="•"/>
              <a:tabLst>
                <a:tab pos="75565" algn="l"/>
              </a:tabLst>
            </a:pPr>
            <a:r>
              <a:rPr dirty="0" sz="1150">
                <a:latin typeface="Trebuchet MS"/>
                <a:cs typeface="Trebuchet MS"/>
              </a:rPr>
              <a:t>	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life of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Prophet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Madina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reasons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for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migration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show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practical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example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how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live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 life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25">
                <a:latin typeface="Trebuchet MS"/>
                <a:cs typeface="Trebuchet MS"/>
              </a:rPr>
              <a:t>of </a:t>
            </a:r>
            <a:r>
              <a:rPr dirty="0" sz="1150">
                <a:latin typeface="Trebuchet MS"/>
                <a:cs typeface="Trebuchet MS"/>
              </a:rPr>
              <a:t>worship,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justice,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2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compassion.</a:t>
            </a:r>
            <a:endParaRPr sz="1150">
              <a:latin typeface="Trebuchet MS"/>
              <a:cs typeface="Trebuchet MS"/>
            </a:endParaRPr>
          </a:p>
          <a:p>
            <a:pPr marL="24765" marR="340995" indent="-12700">
              <a:lnSpc>
                <a:spcPts val="1390"/>
              </a:lnSpc>
              <a:spcBef>
                <a:spcPts val="35"/>
              </a:spcBef>
              <a:buFont typeface="Microsoft Sans Serif"/>
              <a:buChar char="•"/>
              <a:tabLst>
                <a:tab pos="75565" algn="l"/>
              </a:tabLst>
            </a:pPr>
            <a:r>
              <a:rPr dirty="0" sz="1150">
                <a:latin typeface="Trebuchet MS"/>
                <a:cs typeface="Trebuchet MS"/>
              </a:rPr>
              <a:t>	</a:t>
            </a:r>
            <a:r>
              <a:rPr dirty="0" sz="1150">
                <a:latin typeface="Trebuchet MS"/>
                <a:cs typeface="Trebuchet MS"/>
              </a:rPr>
              <a:t>These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events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teach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overcome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adversity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through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faith,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build strong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communities,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always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strive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for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balanced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ethical</a:t>
            </a:r>
            <a:r>
              <a:rPr dirty="0" sz="1150" spc="-20">
                <a:latin typeface="Trebuchet MS"/>
                <a:cs typeface="Trebuchet MS"/>
              </a:rPr>
              <a:t> life.</a:t>
            </a:r>
            <a:endParaRPr sz="1150">
              <a:latin typeface="Trebuchet MS"/>
              <a:cs typeface="Trebuchet MS"/>
            </a:endParaRPr>
          </a:p>
          <a:p>
            <a:pPr marL="75565" indent="-63500">
              <a:lnSpc>
                <a:spcPts val="1335"/>
              </a:lnSpc>
              <a:buFont typeface="Microsoft Sans Serif"/>
              <a:buChar char="•"/>
              <a:tabLst>
                <a:tab pos="75565" algn="l"/>
              </a:tabLst>
            </a:pPr>
            <a:r>
              <a:rPr dirty="0" sz="1150">
                <a:latin typeface="Trebuchet MS"/>
                <a:cs typeface="Trebuchet MS"/>
              </a:rPr>
              <a:t>As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we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reflect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on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these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lessons,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let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us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be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inspired</a:t>
            </a:r>
            <a:r>
              <a:rPr dirty="0" sz="1150" spc="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to</a:t>
            </a:r>
            <a:r>
              <a:rPr dirty="0" sz="1150" spc="-3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follow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the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Prophet’s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example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in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our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daily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lives,</a:t>
            </a:r>
            <a:r>
              <a:rPr dirty="0" sz="1150" spc="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fostering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50">
                <a:latin typeface="Trebuchet MS"/>
                <a:cs typeface="Trebuchet MS"/>
              </a:rPr>
              <a:t>a</a:t>
            </a:r>
            <a:endParaRPr sz="1150">
              <a:latin typeface="Trebuchet MS"/>
              <a:cs typeface="Trebuchet MS"/>
            </a:endParaRPr>
          </a:p>
          <a:p>
            <a:pPr marL="24765">
              <a:lnSpc>
                <a:spcPct val="100000"/>
              </a:lnSpc>
              <a:spcBef>
                <a:spcPts val="15"/>
              </a:spcBef>
            </a:pPr>
            <a:r>
              <a:rPr dirty="0" sz="1150">
                <a:latin typeface="Trebuchet MS"/>
                <a:cs typeface="Trebuchet MS"/>
              </a:rPr>
              <a:t>community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of</a:t>
            </a:r>
            <a:r>
              <a:rPr dirty="0" sz="1150" spc="-2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peace, trust,</a:t>
            </a:r>
            <a:r>
              <a:rPr dirty="0" sz="1150" spc="-15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and</a:t>
            </a:r>
            <a:r>
              <a:rPr dirty="0" sz="1150" spc="-10">
                <a:latin typeface="Trebuchet MS"/>
                <a:cs typeface="Trebuchet MS"/>
              </a:rPr>
              <a:t> </a:t>
            </a:r>
            <a:r>
              <a:rPr dirty="0" sz="1150">
                <a:latin typeface="Trebuchet MS"/>
                <a:cs typeface="Trebuchet MS"/>
              </a:rPr>
              <a:t>mutual </a:t>
            </a:r>
            <a:r>
              <a:rPr dirty="0" sz="1150" spc="-10">
                <a:latin typeface="Trebuchet MS"/>
                <a:cs typeface="Trebuchet MS"/>
              </a:rPr>
              <a:t>respect.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2642" y="1056843"/>
            <a:ext cx="5334000" cy="735330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/>
              <a:t>Reasons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35"/>
              <a:t> </a:t>
            </a:r>
            <a:r>
              <a:rPr dirty="0"/>
              <a:t>Migration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Madina </a:t>
            </a:r>
            <a:r>
              <a:rPr dirty="0" spc="-10"/>
              <a:t>(Hijrah)</a:t>
            </a: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1650"/>
              <a:t>The</a:t>
            </a:r>
            <a:r>
              <a:rPr dirty="0" sz="1650" spc="-30"/>
              <a:t> </a:t>
            </a:r>
            <a:r>
              <a:rPr dirty="0" sz="1650" spc="-10"/>
              <a:t>Hijrah:</a:t>
            </a:r>
            <a:r>
              <a:rPr dirty="0" sz="1650" spc="-130"/>
              <a:t> </a:t>
            </a:r>
            <a:r>
              <a:rPr dirty="0" sz="1650"/>
              <a:t>A</a:t>
            </a:r>
            <a:r>
              <a:rPr dirty="0" sz="1650" spc="-120"/>
              <a:t> </a:t>
            </a:r>
            <a:r>
              <a:rPr dirty="0" sz="1650"/>
              <a:t>Journey</a:t>
            </a:r>
            <a:r>
              <a:rPr dirty="0" sz="1650" spc="-45"/>
              <a:t> </a:t>
            </a:r>
            <a:r>
              <a:rPr dirty="0" sz="1650"/>
              <a:t>of</a:t>
            </a:r>
            <a:r>
              <a:rPr dirty="0" sz="1650" spc="-10"/>
              <a:t> </a:t>
            </a:r>
            <a:r>
              <a:rPr dirty="0" sz="1650"/>
              <a:t>Faith</a:t>
            </a:r>
            <a:r>
              <a:rPr dirty="0" sz="1650" spc="-50"/>
              <a:t> </a:t>
            </a:r>
            <a:r>
              <a:rPr dirty="0" sz="1650"/>
              <a:t>and</a:t>
            </a:r>
            <a:r>
              <a:rPr dirty="0" sz="1650" spc="-30"/>
              <a:t> </a:t>
            </a:r>
            <a:r>
              <a:rPr dirty="0" sz="1650" spc="-10"/>
              <a:t>Community</a:t>
            </a:r>
            <a:endParaRPr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Chapter-6 Life of the Beloved Holy Prophet</dc:title>
  <dcterms:created xsi:type="dcterms:W3CDTF">2025-07-05T10:16:31Z</dcterms:created>
  <dcterms:modified xsi:type="dcterms:W3CDTF">2025-07-05T10:16:31Z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2025-05-12T00:00:00Z</vt:filetime>
  </property>
  <property fmtid="{D5CDD505-2E9C-101B-9397-08002B2CF9AE}" pid="3" name="LastSaved">
    <vt:filetime>2025-07-05T00:00:00Z</vt:filetime>
  </property>
  <property fmtid="{D5CDD505-2E9C-101B-9397-08002B2CF9AE}" pid="4" name="Producer">
    <vt:lpwstr>Microsoft: Print To PDF</vt:lpwstr>
  </property>
</Properties>
</file>