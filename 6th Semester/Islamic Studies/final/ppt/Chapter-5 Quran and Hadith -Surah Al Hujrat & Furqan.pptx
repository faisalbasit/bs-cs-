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Default Extension="png" ContentType="image/png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 u="sng">
                <a:solidFill>
                  <a:srgbClr val="3F3F3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50" b="1" i="0" u="sng">
                <a:solidFill>
                  <a:srgbClr val="3F3F3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1251" y="1057656"/>
            <a:ext cx="1007744" cy="5659120"/>
          </a:xfrm>
          <a:custGeom>
            <a:avLst/>
            <a:gdLst/>
            <a:ahLst/>
            <a:cxnLst/>
            <a:rect l="l" t="t" r="r" b="b"/>
            <a:pathLst>
              <a:path w="1007745" h="5659120">
                <a:moveTo>
                  <a:pt x="0" y="0"/>
                </a:moveTo>
                <a:lnTo>
                  <a:pt x="1007364" y="5658611"/>
                </a:lnTo>
              </a:path>
            </a:pathLst>
          </a:custGeom>
          <a:ln w="762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126480" y="4094988"/>
            <a:ext cx="3930650" cy="2621280"/>
          </a:xfrm>
          <a:custGeom>
            <a:avLst/>
            <a:gdLst/>
            <a:ahLst/>
            <a:cxnLst/>
            <a:rect l="l" t="t" r="r" b="b"/>
            <a:pathLst>
              <a:path w="3930650" h="2621279">
                <a:moveTo>
                  <a:pt x="3930395" y="0"/>
                </a:moveTo>
                <a:lnTo>
                  <a:pt x="0" y="2621279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1860" y="1242966"/>
            <a:ext cx="7777480" cy="579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4693" y="1830153"/>
            <a:ext cx="8087995" cy="415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 u="sng">
                <a:solidFill>
                  <a:srgbClr val="3F3F3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122670" y="1053846"/>
            <a:ext cx="3938270" cy="5666740"/>
            <a:chOff x="6122670" y="1053846"/>
            <a:chExt cx="3938270" cy="5666740"/>
          </a:xfrm>
        </p:grpSpPr>
        <p:sp>
          <p:nvSpPr>
            <p:cNvPr id="3" name="object 3" descr=""/>
            <p:cNvSpPr/>
            <p:nvPr/>
          </p:nvSpPr>
          <p:spPr>
            <a:xfrm>
              <a:off x="7731251" y="1057656"/>
              <a:ext cx="1007744" cy="5659120"/>
            </a:xfrm>
            <a:custGeom>
              <a:avLst/>
              <a:gdLst/>
              <a:ahLst/>
              <a:cxnLst/>
              <a:rect l="l" t="t" r="r" b="b"/>
              <a:pathLst>
                <a:path w="1007745" h="5659120">
                  <a:moveTo>
                    <a:pt x="0" y="0"/>
                  </a:moveTo>
                  <a:lnTo>
                    <a:pt x="1007364" y="5658611"/>
                  </a:lnTo>
                </a:path>
              </a:pathLst>
            </a:custGeom>
            <a:ln w="762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26480" y="4094988"/>
              <a:ext cx="3930650" cy="2621280"/>
            </a:xfrm>
            <a:custGeom>
              <a:avLst/>
              <a:gdLst/>
              <a:ahLst/>
              <a:cxnLst/>
              <a:rect l="l" t="t" r="r" b="b"/>
              <a:pathLst>
                <a:path w="3930650" h="2621279">
                  <a:moveTo>
                    <a:pt x="3930395" y="0"/>
                  </a:moveTo>
                  <a:lnTo>
                    <a:pt x="0" y="2621279"/>
                  </a:lnTo>
                </a:path>
              </a:pathLst>
            </a:custGeom>
            <a:ln w="762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5492" y="1057656"/>
              <a:ext cx="2692907" cy="5658611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0" y="1057655"/>
            <a:ext cx="1588135" cy="5659120"/>
            <a:chOff x="0" y="1057655"/>
            <a:chExt cx="1588135" cy="565912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57655"/>
              <a:ext cx="702564" cy="468020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64" y="5148071"/>
              <a:ext cx="1571244" cy="1568196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2742682" y="5269406"/>
            <a:ext cx="3413125" cy="7816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solidFill>
                  <a:srgbClr val="3F7718"/>
                </a:solidFill>
                <a:latin typeface="Times New Roman"/>
                <a:cs typeface="Times New Roman"/>
              </a:rPr>
              <a:t>Ms.</a:t>
            </a:r>
            <a:r>
              <a:rPr dirty="0" sz="1950" spc="4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950" b="1">
                <a:solidFill>
                  <a:srgbClr val="3F7718"/>
                </a:solidFill>
                <a:latin typeface="Times New Roman"/>
                <a:cs typeface="Times New Roman"/>
              </a:rPr>
              <a:t>SAFIA</a:t>
            </a:r>
            <a:r>
              <a:rPr dirty="0" sz="1950" spc="-11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950" spc="-20" b="1">
                <a:solidFill>
                  <a:srgbClr val="3F7718"/>
                </a:solidFill>
                <a:latin typeface="Times New Roman"/>
                <a:cs typeface="Times New Roman"/>
              </a:rPr>
              <a:t>WAQAS</a:t>
            </a:r>
            <a:endParaRPr sz="1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Session:</a:t>
            </a:r>
            <a:r>
              <a:rPr dirty="0" sz="1450" spc="3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Spring:</a:t>
            </a:r>
            <a:r>
              <a:rPr dirty="0" sz="1450" spc="2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spc="-20" b="1">
                <a:solidFill>
                  <a:srgbClr val="3F7718"/>
                </a:solidFill>
                <a:latin typeface="Times New Roman"/>
                <a:cs typeface="Times New Roman"/>
              </a:rPr>
              <a:t>2025</a:t>
            </a: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Course:</a:t>
            </a:r>
            <a:r>
              <a:rPr dirty="0" sz="1450" spc="5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Islamic</a:t>
            </a:r>
            <a:r>
              <a:rPr dirty="0" sz="1450" spc="4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Studies</a:t>
            </a:r>
            <a:r>
              <a:rPr dirty="0" sz="1450" spc="4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/</a:t>
            </a:r>
            <a:r>
              <a:rPr dirty="0" sz="1450" spc="6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Ethical</a:t>
            </a:r>
            <a:r>
              <a:rPr dirty="0" sz="1450" spc="2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spc="-10" b="1">
                <a:solidFill>
                  <a:srgbClr val="3F7718"/>
                </a:solidFill>
                <a:latin typeface="Times New Roman"/>
                <a:cs typeface="Times New Roman"/>
              </a:rPr>
              <a:t>Behavior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874421" y="1278187"/>
            <a:ext cx="3717925" cy="8559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u="none" sz="5450">
                <a:solidFill>
                  <a:srgbClr val="90C126"/>
                </a:solidFill>
              </a:rPr>
              <a:t>5</a:t>
            </a:r>
            <a:r>
              <a:rPr dirty="0" u="none" baseline="25462" sz="5400">
                <a:solidFill>
                  <a:srgbClr val="90C126"/>
                </a:solidFill>
              </a:rPr>
              <a:t>th</a:t>
            </a:r>
            <a:r>
              <a:rPr dirty="0" u="none" baseline="25462" sz="5400" spc="825">
                <a:solidFill>
                  <a:srgbClr val="90C126"/>
                </a:solidFill>
              </a:rPr>
              <a:t> </a:t>
            </a:r>
            <a:r>
              <a:rPr dirty="0" u="none" sz="5450" spc="-10">
                <a:solidFill>
                  <a:srgbClr val="90C126"/>
                </a:solidFill>
              </a:rPr>
              <a:t>Chapter</a:t>
            </a:r>
            <a:endParaRPr sz="5450"/>
          </a:p>
        </p:txBody>
      </p:sp>
      <p:sp>
        <p:nvSpPr>
          <p:cNvPr id="11" name="object 11" descr=""/>
          <p:cNvSpPr/>
          <p:nvPr/>
        </p:nvSpPr>
        <p:spPr>
          <a:xfrm>
            <a:off x="2912364" y="2069592"/>
            <a:ext cx="3642360" cy="67310"/>
          </a:xfrm>
          <a:custGeom>
            <a:avLst/>
            <a:gdLst/>
            <a:ahLst/>
            <a:cxnLst/>
            <a:rect l="l" t="t" r="r" b="b"/>
            <a:pathLst>
              <a:path w="3642359" h="67310">
                <a:moveTo>
                  <a:pt x="3642359" y="67056"/>
                </a:moveTo>
                <a:lnTo>
                  <a:pt x="0" y="67056"/>
                </a:lnTo>
                <a:lnTo>
                  <a:pt x="0" y="0"/>
                </a:lnTo>
                <a:lnTo>
                  <a:pt x="3642359" y="0"/>
                </a:lnTo>
                <a:lnTo>
                  <a:pt x="3642359" y="67056"/>
                </a:lnTo>
                <a:close/>
              </a:path>
            </a:pathLst>
          </a:custGeom>
          <a:solidFill>
            <a:srgbClr val="90C1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444323" y="2110334"/>
            <a:ext cx="6578600" cy="2632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u="sng" sz="495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Quran</a:t>
            </a:r>
            <a:r>
              <a:rPr dirty="0" u="sng" sz="4950" spc="-105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495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4950" spc="-95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4950" spc="-1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Hadith</a:t>
            </a:r>
            <a:endParaRPr sz="49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u="sng" sz="3300" spc="-1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Surah</a:t>
            </a:r>
            <a:r>
              <a:rPr dirty="0" u="sng" sz="3300" spc="-22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30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Al</a:t>
            </a:r>
            <a:r>
              <a:rPr dirty="0" u="sng" sz="3300" spc="-5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30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Hujurat</a:t>
            </a:r>
            <a:r>
              <a:rPr dirty="0" u="sng" sz="3300" spc="-6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30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&amp;</a:t>
            </a:r>
            <a:r>
              <a:rPr dirty="0" u="sng" sz="3300" spc="-2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300" spc="-1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Surah</a:t>
            </a:r>
            <a:r>
              <a:rPr dirty="0" u="sng" sz="3300" spc="-22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30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Al</a:t>
            </a:r>
            <a:r>
              <a:rPr dirty="0" u="sng" sz="3300" spc="-15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300" spc="-10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Furqan</a:t>
            </a:r>
            <a:endParaRPr sz="3300">
              <a:latin typeface="Trebuchet MS"/>
              <a:cs typeface="Trebuchet MS"/>
            </a:endParaRPr>
          </a:p>
          <a:p>
            <a:pPr algn="ctr" marL="1126490" marR="1522730">
              <a:lnSpc>
                <a:spcPct val="141200"/>
              </a:lnSpc>
              <a:spcBef>
                <a:spcPts val="2180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Surah</a:t>
            </a:r>
            <a:r>
              <a:rPr dirty="0" sz="1650" spc="-114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Al Hujurat:</a:t>
            </a:r>
            <a:r>
              <a:rPr dirty="0" sz="1650" spc="-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Verses</a:t>
            </a:r>
            <a:r>
              <a:rPr dirty="0" sz="1650" spc="-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01,</a:t>
            </a:r>
            <a:r>
              <a:rPr dirty="0" sz="1650" spc="-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02,</a:t>
            </a:r>
            <a:r>
              <a:rPr dirty="0" sz="1650" spc="-6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11</a:t>
            </a:r>
            <a:r>
              <a:rPr dirty="0" sz="1650" spc="-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&amp;</a:t>
            </a:r>
            <a:r>
              <a:rPr dirty="0" sz="1650" spc="-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25" b="1">
                <a:solidFill>
                  <a:srgbClr val="0070BF"/>
                </a:solidFill>
                <a:latin typeface="Arial"/>
                <a:cs typeface="Arial"/>
              </a:rPr>
              <a:t>12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Surah</a:t>
            </a:r>
            <a:r>
              <a:rPr dirty="0" sz="1650" spc="-114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Al</a:t>
            </a:r>
            <a:r>
              <a:rPr dirty="0" sz="1650" spc="-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Furqan:</a:t>
            </a:r>
            <a:r>
              <a:rPr dirty="0" sz="1650" spc="-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Verses</a:t>
            </a:r>
            <a:r>
              <a:rPr dirty="0" sz="1650" spc="-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63</a:t>
            </a:r>
            <a:r>
              <a:rPr dirty="0" sz="1650" spc="-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&amp;</a:t>
            </a:r>
            <a:r>
              <a:rPr dirty="0" sz="1650" spc="-5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25" b="1">
                <a:solidFill>
                  <a:srgbClr val="0070BF"/>
                </a:solidFill>
                <a:latin typeface="Arial"/>
                <a:cs typeface="Arial"/>
              </a:rPr>
              <a:t>67</a:t>
            </a:r>
            <a:endParaRPr sz="1650">
              <a:latin typeface="Arial"/>
              <a:cs typeface="Arial"/>
            </a:endParaRPr>
          </a:p>
          <a:p>
            <a:pPr algn="ctr" marR="395605">
              <a:lnSpc>
                <a:spcPct val="100000"/>
              </a:lnSpc>
              <a:spcBef>
                <a:spcPts val="825"/>
              </a:spcBef>
            </a:pPr>
            <a:r>
              <a:rPr dirty="0" sz="1650" b="1">
                <a:solidFill>
                  <a:srgbClr val="0070BF"/>
                </a:solidFill>
                <a:latin typeface="Arial"/>
                <a:cs typeface="Arial"/>
              </a:rPr>
              <a:t>3</a:t>
            </a:r>
            <a:r>
              <a:rPr dirty="0" sz="1650" spc="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Selected</a:t>
            </a:r>
            <a:r>
              <a:rPr dirty="0" sz="1650" spc="-8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Arial"/>
                <a:cs typeface="Arial"/>
              </a:rPr>
              <a:t>Ahadith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1313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latin typeface="Arial"/>
                <a:cs typeface="Arial"/>
              </a:rPr>
              <a:t>Surah</a:t>
            </a:r>
            <a:r>
              <a:rPr dirty="0" sz="2950" spc="-14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Al</a:t>
            </a:r>
            <a:r>
              <a:rPr dirty="0" sz="2950" spc="-2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Hujurat:</a:t>
            </a:r>
            <a:r>
              <a:rPr dirty="0" sz="2950" spc="-3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Verses</a:t>
            </a:r>
            <a:r>
              <a:rPr dirty="0" sz="2950" spc="-4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01,</a:t>
            </a:r>
            <a:r>
              <a:rPr dirty="0" sz="2950" spc="-1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02,</a:t>
            </a:r>
            <a:r>
              <a:rPr dirty="0" sz="2950" spc="-1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11</a:t>
            </a:r>
            <a:r>
              <a:rPr dirty="0" sz="2950" spc="-1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&amp;</a:t>
            </a:r>
            <a:r>
              <a:rPr dirty="0" sz="2950" spc="-35">
                <a:latin typeface="Arial"/>
                <a:cs typeface="Arial"/>
              </a:rPr>
              <a:t> </a:t>
            </a:r>
            <a:r>
              <a:rPr dirty="0" sz="2950" spc="-25">
                <a:latin typeface="Arial"/>
                <a:cs typeface="Arial"/>
              </a:rPr>
              <a:t>12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u="none" sz="2100" spc="-254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u="none" sz="2100" spc="-135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pc="-10"/>
              <a:t>Topics:</a:t>
            </a:r>
            <a:endParaRPr sz="2100">
              <a:latin typeface="Georgia"/>
              <a:cs typeface="Georgia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u="none" sz="1850" spc="-1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u="none" sz="2300" spc="-10" b="0">
                <a:latin typeface="Trebuchet MS"/>
                <a:cs typeface="Trebuchet MS"/>
              </a:rPr>
              <a:t>Introduction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0"/>
              </a:spcBef>
            </a:pPr>
            <a:r>
              <a:rPr dirty="0" u="none" sz="185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u="none" sz="2300" b="0">
                <a:latin typeface="Trebuchet MS"/>
                <a:cs typeface="Trebuchet MS"/>
              </a:rPr>
              <a:t>Surah</a:t>
            </a:r>
            <a:r>
              <a:rPr dirty="0" u="none" sz="2300" spc="-10" b="0">
                <a:latin typeface="Trebuchet MS"/>
                <a:cs typeface="Trebuchet MS"/>
              </a:rPr>
              <a:t> Al-</a:t>
            </a:r>
            <a:r>
              <a:rPr dirty="0" u="none" sz="2300" b="0">
                <a:latin typeface="Trebuchet MS"/>
                <a:cs typeface="Trebuchet MS"/>
              </a:rPr>
              <a:t>Hujurat: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Verses</a:t>
            </a:r>
            <a:r>
              <a:rPr dirty="0" u="none" sz="2300" spc="-5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1,</a:t>
            </a:r>
            <a:r>
              <a:rPr dirty="0" u="none" sz="2300" spc="-5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2,</a:t>
            </a:r>
            <a:r>
              <a:rPr dirty="0" u="none" sz="2300" spc="-5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11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&amp;</a:t>
            </a:r>
            <a:r>
              <a:rPr dirty="0" u="none" sz="2300" spc="-5" b="0">
                <a:latin typeface="Trebuchet MS"/>
                <a:cs typeface="Trebuchet MS"/>
              </a:rPr>
              <a:t> </a:t>
            </a:r>
            <a:r>
              <a:rPr dirty="0" u="none" sz="2300" spc="-25" b="0">
                <a:latin typeface="Trebuchet MS"/>
                <a:cs typeface="Trebuchet MS"/>
              </a:rPr>
              <a:t>12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5"/>
              </a:spcBef>
            </a:pPr>
            <a:r>
              <a:rPr dirty="0" u="none" sz="185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u="none" sz="2300" b="0">
                <a:latin typeface="Trebuchet MS"/>
                <a:cs typeface="Trebuchet MS"/>
              </a:rPr>
              <a:t>Respect</a:t>
            </a:r>
            <a:r>
              <a:rPr dirty="0" u="none" sz="2300" spc="-4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for</a:t>
            </a:r>
            <a:r>
              <a:rPr dirty="0" u="none" sz="2300" spc="-2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Allah</a:t>
            </a:r>
            <a:r>
              <a:rPr dirty="0" u="none" sz="2300" spc="-15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and</a:t>
            </a:r>
            <a:r>
              <a:rPr dirty="0" u="none" sz="2300" spc="5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His</a:t>
            </a:r>
            <a:r>
              <a:rPr dirty="0" u="none" sz="2300" spc="10" b="0">
                <a:latin typeface="Trebuchet MS"/>
                <a:cs typeface="Trebuchet MS"/>
              </a:rPr>
              <a:t> </a:t>
            </a:r>
            <a:r>
              <a:rPr dirty="0" u="none" sz="2300" spc="-10" b="0">
                <a:latin typeface="Trebuchet MS"/>
                <a:cs typeface="Trebuchet MS"/>
              </a:rPr>
              <a:t>Messenger</a:t>
            </a:r>
            <a:endParaRPr sz="23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45"/>
              </a:spcBef>
              <a:buClr>
                <a:srgbClr val="90C126"/>
              </a:buClr>
              <a:buSzPct val="80434"/>
              <a:buAutoNum type="alphaUcPeriod"/>
              <a:tabLst>
                <a:tab pos="814069" algn="l"/>
              </a:tabLst>
            </a:pPr>
            <a:r>
              <a:rPr dirty="0" u="none" sz="2300" b="0">
                <a:latin typeface="Trebuchet MS"/>
                <a:cs typeface="Trebuchet MS"/>
              </a:rPr>
              <a:t>Surah</a:t>
            </a:r>
            <a:r>
              <a:rPr dirty="0" u="none" sz="2300" spc="-10" b="0">
                <a:latin typeface="Trebuchet MS"/>
                <a:cs typeface="Trebuchet MS"/>
              </a:rPr>
              <a:t> Al-</a:t>
            </a:r>
            <a:r>
              <a:rPr dirty="0" u="none" sz="2300" b="0">
                <a:latin typeface="Trebuchet MS"/>
                <a:cs typeface="Trebuchet MS"/>
              </a:rPr>
              <a:t>Hujurat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Ayat</a:t>
            </a:r>
            <a:r>
              <a:rPr dirty="0" u="none" sz="2300" spc="-5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1 (49:1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spc="-10" b="0">
                <a:latin typeface="Trebuchet MS"/>
                <a:cs typeface="Trebuchet MS"/>
              </a:rPr>
              <a:t>Quran)</a:t>
            </a:r>
            <a:endParaRPr sz="23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40"/>
              </a:spcBef>
              <a:buClr>
                <a:srgbClr val="90C126"/>
              </a:buClr>
              <a:buSzPct val="80434"/>
              <a:buAutoNum type="alphaUcPeriod"/>
              <a:tabLst>
                <a:tab pos="814069" algn="l"/>
              </a:tabLst>
            </a:pPr>
            <a:r>
              <a:rPr dirty="0" u="none" sz="2300" b="0">
                <a:latin typeface="Trebuchet MS"/>
                <a:cs typeface="Trebuchet MS"/>
              </a:rPr>
              <a:t>Surah</a:t>
            </a:r>
            <a:r>
              <a:rPr dirty="0" u="none" sz="2300" spc="-10" b="0">
                <a:latin typeface="Trebuchet MS"/>
                <a:cs typeface="Trebuchet MS"/>
              </a:rPr>
              <a:t> Al-</a:t>
            </a:r>
            <a:r>
              <a:rPr dirty="0" u="none" sz="2300" b="0">
                <a:latin typeface="Trebuchet MS"/>
                <a:cs typeface="Trebuchet MS"/>
              </a:rPr>
              <a:t>Hujurat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Ayat</a:t>
            </a:r>
            <a:r>
              <a:rPr dirty="0" u="none" sz="2300" spc="-5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2 (49:2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spc="-10" b="0">
                <a:latin typeface="Trebuchet MS"/>
                <a:cs typeface="Trebuchet MS"/>
              </a:rPr>
              <a:t>Quran)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65"/>
              </a:spcBef>
            </a:pPr>
            <a:r>
              <a:rPr dirty="0" u="none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u="none" sz="1550" spc="100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none" sz="1950" b="0">
                <a:latin typeface="Trebuchet MS"/>
                <a:cs typeface="Trebuchet MS"/>
              </a:rPr>
              <a:t>Promoting</a:t>
            </a:r>
            <a:r>
              <a:rPr dirty="0" u="none" sz="1950" spc="25" b="0">
                <a:latin typeface="Trebuchet MS"/>
                <a:cs typeface="Trebuchet MS"/>
              </a:rPr>
              <a:t> </a:t>
            </a:r>
            <a:r>
              <a:rPr dirty="0" u="none" sz="1950" b="0">
                <a:latin typeface="Trebuchet MS"/>
                <a:cs typeface="Trebuchet MS"/>
              </a:rPr>
              <a:t>Mutual</a:t>
            </a:r>
            <a:r>
              <a:rPr dirty="0" u="none" sz="1950" spc="25" b="0">
                <a:latin typeface="Trebuchet MS"/>
                <a:cs typeface="Trebuchet MS"/>
              </a:rPr>
              <a:t> </a:t>
            </a:r>
            <a:r>
              <a:rPr dirty="0" u="none" sz="1950" b="0">
                <a:latin typeface="Trebuchet MS"/>
                <a:cs typeface="Trebuchet MS"/>
              </a:rPr>
              <a:t>Respect</a:t>
            </a:r>
            <a:r>
              <a:rPr dirty="0" u="none" sz="1950" spc="20" b="0">
                <a:latin typeface="Trebuchet MS"/>
                <a:cs typeface="Trebuchet MS"/>
              </a:rPr>
              <a:t> </a:t>
            </a:r>
            <a:r>
              <a:rPr dirty="0" u="none" sz="1950" b="0">
                <a:latin typeface="Trebuchet MS"/>
                <a:cs typeface="Trebuchet MS"/>
              </a:rPr>
              <a:t>and</a:t>
            </a:r>
            <a:r>
              <a:rPr dirty="0" u="none" sz="1950" spc="35" b="0">
                <a:latin typeface="Trebuchet MS"/>
                <a:cs typeface="Trebuchet MS"/>
              </a:rPr>
              <a:t> </a:t>
            </a:r>
            <a:r>
              <a:rPr dirty="0" u="none" sz="1950" b="0">
                <a:latin typeface="Trebuchet MS"/>
                <a:cs typeface="Trebuchet MS"/>
              </a:rPr>
              <a:t>Avoiding</a:t>
            </a:r>
            <a:r>
              <a:rPr dirty="0" u="none" sz="1950" spc="30" b="0">
                <a:latin typeface="Trebuchet MS"/>
                <a:cs typeface="Trebuchet MS"/>
              </a:rPr>
              <a:t> </a:t>
            </a:r>
            <a:r>
              <a:rPr dirty="0" u="none" sz="1950" b="0">
                <a:latin typeface="Trebuchet MS"/>
                <a:cs typeface="Trebuchet MS"/>
              </a:rPr>
              <a:t>Harmful</a:t>
            </a:r>
            <a:r>
              <a:rPr dirty="0" u="none" sz="1950" spc="45" b="0">
                <a:latin typeface="Trebuchet MS"/>
                <a:cs typeface="Trebuchet MS"/>
              </a:rPr>
              <a:t> </a:t>
            </a:r>
            <a:r>
              <a:rPr dirty="0" u="none" sz="1950" b="0">
                <a:latin typeface="Trebuchet MS"/>
                <a:cs typeface="Trebuchet MS"/>
              </a:rPr>
              <a:t>Behavior</a:t>
            </a:r>
            <a:r>
              <a:rPr dirty="0" u="none" sz="1950" spc="50" b="0">
                <a:latin typeface="Trebuchet MS"/>
                <a:cs typeface="Trebuchet MS"/>
              </a:rPr>
              <a:t> </a:t>
            </a:r>
            <a:r>
              <a:rPr dirty="0" u="none" sz="1950" b="0">
                <a:latin typeface="Trebuchet MS"/>
                <a:cs typeface="Trebuchet MS"/>
              </a:rPr>
              <a:t>-</a:t>
            </a:r>
            <a:r>
              <a:rPr dirty="0" u="none" sz="1950" spc="40" b="0">
                <a:latin typeface="Trebuchet MS"/>
                <a:cs typeface="Trebuchet MS"/>
              </a:rPr>
              <a:t> </a:t>
            </a:r>
            <a:r>
              <a:rPr dirty="0" u="none" sz="1950" spc="-10" b="0">
                <a:latin typeface="Trebuchet MS"/>
                <a:cs typeface="Trebuchet MS"/>
              </a:rPr>
              <a:t>11&amp;12</a:t>
            </a:r>
            <a:endParaRPr sz="19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25"/>
              </a:spcBef>
              <a:buClr>
                <a:srgbClr val="90C126"/>
              </a:buClr>
              <a:buSzPct val="80434"/>
              <a:buAutoNum type="alphaUcPeriod"/>
              <a:tabLst>
                <a:tab pos="814069" algn="l"/>
              </a:tabLst>
            </a:pPr>
            <a:r>
              <a:rPr dirty="0" u="none" sz="2300" b="0">
                <a:latin typeface="Trebuchet MS"/>
                <a:cs typeface="Trebuchet MS"/>
              </a:rPr>
              <a:t>Surah</a:t>
            </a:r>
            <a:r>
              <a:rPr dirty="0" u="none" sz="2300" spc="-10" b="0">
                <a:latin typeface="Trebuchet MS"/>
                <a:cs typeface="Trebuchet MS"/>
              </a:rPr>
              <a:t> Al-</a:t>
            </a:r>
            <a:r>
              <a:rPr dirty="0" u="none" sz="2300" b="0">
                <a:latin typeface="Trebuchet MS"/>
                <a:cs typeface="Trebuchet MS"/>
              </a:rPr>
              <a:t>Hujurat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Ayat</a:t>
            </a:r>
            <a:r>
              <a:rPr dirty="0" u="none" sz="2300" spc="-1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11 (49:11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spc="-10" b="0">
                <a:latin typeface="Trebuchet MS"/>
                <a:cs typeface="Trebuchet MS"/>
              </a:rPr>
              <a:t>Quran)</a:t>
            </a:r>
            <a:endParaRPr sz="23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40"/>
              </a:spcBef>
              <a:buClr>
                <a:srgbClr val="90C126"/>
              </a:buClr>
              <a:buSzPct val="80434"/>
              <a:buAutoNum type="alphaUcPeriod"/>
              <a:tabLst>
                <a:tab pos="814069" algn="l"/>
              </a:tabLst>
            </a:pPr>
            <a:r>
              <a:rPr dirty="0" u="none" sz="2300" b="0">
                <a:latin typeface="Trebuchet MS"/>
                <a:cs typeface="Trebuchet MS"/>
              </a:rPr>
              <a:t>Surah</a:t>
            </a:r>
            <a:r>
              <a:rPr dirty="0" u="none" sz="2300" spc="-10" b="0">
                <a:latin typeface="Trebuchet MS"/>
                <a:cs typeface="Trebuchet MS"/>
              </a:rPr>
              <a:t> Al-</a:t>
            </a:r>
            <a:r>
              <a:rPr dirty="0" u="none" sz="2300" b="0">
                <a:latin typeface="Trebuchet MS"/>
                <a:cs typeface="Trebuchet MS"/>
              </a:rPr>
              <a:t>Hujurat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Ayat</a:t>
            </a:r>
            <a:r>
              <a:rPr dirty="0" u="none" sz="2300" spc="-1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12 (49:12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spc="-10" b="0">
                <a:latin typeface="Trebuchet MS"/>
                <a:cs typeface="Trebuchet MS"/>
              </a:rPr>
              <a:t>Quran)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93700">
              <a:lnSpc>
                <a:spcPct val="100000"/>
              </a:lnSpc>
              <a:spcBef>
                <a:spcPts val="125"/>
              </a:spcBef>
            </a:pPr>
            <a:r>
              <a:rPr dirty="0" sz="2950" spc="-10"/>
              <a:t>Introduction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622778" y="1933358"/>
            <a:ext cx="7028180" cy="235267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u="sng" sz="19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Introduction</a:t>
            </a:r>
            <a:endParaRPr sz="1950">
              <a:latin typeface="Arial"/>
              <a:cs typeface="Arial"/>
            </a:endParaRPr>
          </a:p>
          <a:p>
            <a:pPr marL="12700" marR="5080">
              <a:lnSpc>
                <a:spcPct val="102099"/>
              </a:lnSpc>
              <a:spcBef>
                <a:spcPts val="844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lecture,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look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at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key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verses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Surah</a:t>
            </a:r>
            <a:r>
              <a:rPr dirty="0" sz="14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Al-Hujurat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(Chapter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49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the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Quran).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These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verses</a:t>
            </a:r>
            <a:r>
              <a:rPr dirty="0" sz="1450" spc="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teach</a:t>
            </a:r>
            <a:r>
              <a:rPr dirty="0" sz="1450" spc="10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3F3F3F"/>
                </a:solidFill>
                <a:latin typeface="Trebuchet MS"/>
                <a:cs typeface="Trebuchet MS"/>
              </a:rPr>
              <a:t>us: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880"/>
              </a:spcBef>
              <a:buClr>
                <a:srgbClr val="90C126"/>
              </a:buClr>
              <a:buSzPct val="79310"/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latin typeface="Microsoft Sans Serif"/>
                <a:cs typeface="Microsoft Sans Serif"/>
              </a:rPr>
              <a:t>How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show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respect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for</a:t>
            </a:r>
            <a:r>
              <a:rPr dirty="0" sz="1450" spc="-1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His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Messenger.</a:t>
            </a:r>
            <a:endParaRPr sz="145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860"/>
              </a:spcBef>
              <a:buClr>
                <a:srgbClr val="90C126"/>
              </a:buClr>
              <a:buSzPct val="79310"/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latin typeface="Microsoft Sans Serif"/>
                <a:cs typeface="Microsoft Sans Serif"/>
              </a:rPr>
              <a:t>How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treat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others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with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kindness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humility.</a:t>
            </a:r>
            <a:endParaRPr sz="145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310"/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importance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avoiding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disrespectful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behavior.</a:t>
            </a:r>
            <a:endParaRPr sz="145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310"/>
              <a:buFont typeface="Wingdings"/>
              <a:buChar char=""/>
              <a:tabLst>
                <a:tab pos="295910" algn="l"/>
              </a:tabLst>
            </a:pPr>
            <a:r>
              <a:rPr dirty="0" sz="1450">
                <a:latin typeface="Microsoft Sans Serif"/>
                <a:cs typeface="Microsoft Sans Serif"/>
              </a:rPr>
              <a:t>Ways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build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community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based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on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trust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compassion.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/>
              <a:t>Respect</a:t>
            </a:r>
            <a:r>
              <a:rPr dirty="0" sz="3600" spc="10"/>
              <a:t> </a:t>
            </a:r>
            <a:r>
              <a:rPr dirty="0" sz="3600"/>
              <a:t>for</a:t>
            </a:r>
            <a:r>
              <a:rPr dirty="0" sz="3600" spc="-180"/>
              <a:t> </a:t>
            </a:r>
            <a:r>
              <a:rPr dirty="0" sz="3600"/>
              <a:t>Allah</a:t>
            </a:r>
            <a:r>
              <a:rPr dirty="0" sz="3600" spc="25"/>
              <a:t> </a:t>
            </a:r>
            <a:r>
              <a:rPr dirty="0" sz="3600"/>
              <a:t>and</a:t>
            </a:r>
            <a:r>
              <a:rPr dirty="0" sz="3600" spc="30"/>
              <a:t> </a:t>
            </a:r>
            <a:r>
              <a:rPr dirty="0" sz="3600"/>
              <a:t>His</a:t>
            </a:r>
            <a:r>
              <a:rPr dirty="0" sz="3600" spc="35"/>
              <a:t> </a:t>
            </a:r>
            <a:r>
              <a:rPr dirty="0" sz="3600" spc="-10"/>
              <a:t>Messenger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141221" y="1890886"/>
            <a:ext cx="8204834" cy="3694429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922145">
              <a:lnSpc>
                <a:spcPct val="100000"/>
              </a:lnSpc>
              <a:spcBef>
                <a:spcPts val="865"/>
              </a:spcBef>
              <a:tabLst>
                <a:tab pos="2299335" algn="l"/>
              </a:tabLst>
            </a:pPr>
            <a:r>
              <a:rPr dirty="0" sz="1800" spc="-25" b="1">
                <a:solidFill>
                  <a:srgbClr val="0070BF"/>
                </a:solidFill>
                <a:latin typeface="Arial"/>
                <a:cs typeface="Arial"/>
              </a:rPr>
              <a:t>A.</a:t>
            </a:r>
            <a:r>
              <a:rPr dirty="0" sz="1800" b="1">
                <a:solidFill>
                  <a:srgbClr val="0070BF"/>
                </a:solidFill>
                <a:latin typeface="Arial"/>
                <a:cs typeface="Arial"/>
              </a:rPr>
              <a:t>	</a:t>
            </a:r>
            <a:r>
              <a:rPr dirty="0" u="sng" sz="18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Surah</a:t>
            </a:r>
            <a:r>
              <a:rPr dirty="0" u="sng" sz="1800" spc="-1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Al-</a:t>
            </a:r>
            <a:r>
              <a:rPr dirty="0" u="sng" sz="18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Hujurat</a:t>
            </a:r>
            <a:r>
              <a:rPr dirty="0" u="sng" sz="1800" spc="-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Ayat</a:t>
            </a:r>
            <a:r>
              <a:rPr dirty="0" u="sng" sz="1800" spc="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1</a:t>
            </a:r>
            <a:r>
              <a:rPr dirty="0" u="sng" sz="180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(49:1</a:t>
            </a:r>
            <a:r>
              <a:rPr dirty="0" u="sng" sz="1800" spc="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Quran)</a:t>
            </a:r>
            <a:endParaRPr sz="1800">
              <a:latin typeface="Arial"/>
              <a:cs typeface="Arial"/>
            </a:endParaRPr>
          </a:p>
          <a:p>
            <a:pPr algn="r" marL="878205" marR="874394">
              <a:lnSpc>
                <a:spcPct val="100000"/>
              </a:lnSpc>
              <a:spcBef>
                <a:spcPts val="860"/>
              </a:spcBef>
            </a:pPr>
            <a:r>
              <a:rPr dirty="0" baseline="-2849" sz="2925" spc="-292" b="1">
                <a:solidFill>
                  <a:srgbClr val="0070BF"/>
                </a:solidFill>
                <a:latin typeface="Arial"/>
                <a:cs typeface="Arial"/>
              </a:rPr>
              <a:t>مٞ</a:t>
            </a:r>
            <a:r>
              <a:rPr dirty="0" baseline="-2849" sz="2925" spc="-2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2849" sz="2925" spc="-780" b="1">
                <a:solidFill>
                  <a:srgbClr val="0070BF"/>
                </a:solidFill>
                <a:latin typeface="Arial"/>
                <a:cs typeface="Arial"/>
              </a:rPr>
              <a:t>يلِ</a:t>
            </a:r>
            <a:r>
              <a:rPr dirty="0" baseline="-2849" sz="2925" spc="-19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950" spc="-515" b="1">
                <a:solidFill>
                  <a:srgbClr val="0070BF"/>
                </a:solidFill>
                <a:latin typeface="Arial"/>
                <a:cs typeface="Arial"/>
              </a:rPr>
              <a:t>عَ</a:t>
            </a:r>
            <a:r>
              <a:rPr dirty="0" sz="1950" b="1">
                <a:solidFill>
                  <a:srgbClr val="0070BF"/>
                </a:solidFill>
                <a:latin typeface="Arial"/>
                <a:cs typeface="Arial"/>
              </a:rPr>
              <a:t>  </a:t>
            </a:r>
            <a:r>
              <a:rPr dirty="0" sz="1950" spc="-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4273" sz="2925" spc="-675" b="1">
                <a:solidFill>
                  <a:srgbClr val="0070BF"/>
                </a:solidFill>
                <a:latin typeface="Arial"/>
                <a:cs typeface="Arial"/>
              </a:rPr>
              <a:t>عٌ</a:t>
            </a:r>
            <a:r>
              <a:rPr dirty="0" baseline="-4273" sz="2925" spc="3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2849" sz="2925" spc="-600" b="1">
                <a:solidFill>
                  <a:srgbClr val="0070BF"/>
                </a:solidFill>
                <a:latin typeface="Arial"/>
                <a:cs typeface="Arial"/>
              </a:rPr>
              <a:t>يمِ</a:t>
            </a:r>
            <a:r>
              <a:rPr dirty="0" baseline="-2849" sz="2925" spc="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4273" sz="2925" spc="-1289" b="1">
                <a:solidFill>
                  <a:srgbClr val="0070BF"/>
                </a:solidFill>
                <a:latin typeface="Arial"/>
                <a:cs typeface="Arial"/>
              </a:rPr>
              <a:t>سَ</a:t>
            </a:r>
            <a:r>
              <a:rPr dirty="0" baseline="-4273" sz="2925" b="1">
                <a:solidFill>
                  <a:srgbClr val="0070BF"/>
                </a:solidFill>
                <a:latin typeface="Arial"/>
                <a:cs typeface="Arial"/>
              </a:rPr>
              <a:t>  </a:t>
            </a:r>
            <a:r>
              <a:rPr dirty="0" baseline="-4273" sz="2925" spc="82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11396" sz="2925" spc="7" b="1">
                <a:solidFill>
                  <a:srgbClr val="0070BF"/>
                </a:solidFill>
                <a:latin typeface="Arial"/>
                <a:cs typeface="Arial"/>
              </a:rPr>
              <a:t>َ</a:t>
            </a:r>
            <a:r>
              <a:rPr dirty="0" sz="1950" spc="-1430" b="1">
                <a:solidFill>
                  <a:srgbClr val="0070BF"/>
                </a:solidFill>
                <a:latin typeface="Arial"/>
                <a:cs typeface="Arial"/>
              </a:rPr>
              <a:t>ໂ</a:t>
            </a:r>
            <a:r>
              <a:rPr dirty="0" baseline="-5698" sz="2925" b="1">
                <a:solidFill>
                  <a:srgbClr val="0070BF"/>
                </a:solidFill>
                <a:latin typeface="Arial"/>
                <a:cs typeface="Arial"/>
              </a:rPr>
              <a:t>ﱠ</a:t>
            </a:r>
            <a:r>
              <a:rPr dirty="0" baseline="-5698" sz="29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5698" sz="2925" spc="-3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0070BF"/>
                </a:solidFill>
                <a:latin typeface="Arial"/>
                <a:cs typeface="Arial"/>
              </a:rPr>
              <a:t>ٱ</a:t>
            </a:r>
            <a:r>
              <a:rPr dirty="0" sz="1950" spc="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2849" sz="2925" spc="-637" b="1">
                <a:solidFill>
                  <a:srgbClr val="0070BF"/>
                </a:solidFill>
                <a:latin typeface="Arial"/>
                <a:cs typeface="Arial"/>
              </a:rPr>
              <a:t>نﱠ</a:t>
            </a:r>
            <a:r>
              <a:rPr dirty="0" baseline="2849" sz="29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2849" sz="2925" spc="-352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950" spc="-5" b="1">
                <a:solidFill>
                  <a:srgbClr val="0070BF"/>
                </a:solidFill>
                <a:latin typeface="Arial"/>
                <a:cs typeface="Arial"/>
              </a:rPr>
              <a:t>ِإ</a:t>
            </a:r>
            <a:r>
              <a:rPr dirty="0" sz="1950" spc="-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11396" sz="2925" spc="7" b="1">
                <a:solidFill>
                  <a:srgbClr val="0070BF"/>
                </a:solidFill>
                <a:latin typeface="Arial"/>
                <a:cs typeface="Arial"/>
              </a:rPr>
              <a:t>َ</a:t>
            </a:r>
            <a:r>
              <a:rPr dirty="0" sz="1950" spc="-1725" b="1">
                <a:solidFill>
                  <a:srgbClr val="0070BF"/>
                </a:solidFill>
                <a:latin typeface="Arial"/>
                <a:cs typeface="Arial"/>
              </a:rPr>
              <a:t>ໂ</a:t>
            </a:r>
            <a:r>
              <a:rPr dirty="0" baseline="5698" sz="2925" b="1">
                <a:solidFill>
                  <a:srgbClr val="0070BF"/>
                </a:solidFill>
                <a:latin typeface="Arial"/>
                <a:cs typeface="Arial"/>
              </a:rPr>
              <a:t>ۚ</a:t>
            </a:r>
            <a:r>
              <a:rPr dirty="0" baseline="5698" sz="2925" spc="-36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5698" sz="2925" b="1">
                <a:solidFill>
                  <a:srgbClr val="0070BF"/>
                </a:solidFill>
                <a:latin typeface="Arial"/>
                <a:cs typeface="Arial"/>
              </a:rPr>
              <a:t>ﱠ</a:t>
            </a:r>
            <a:r>
              <a:rPr dirty="0" baseline="-5698" sz="29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5698" sz="2925" spc="-3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0070BF"/>
                </a:solidFill>
                <a:latin typeface="Arial"/>
                <a:cs typeface="Arial"/>
              </a:rPr>
              <a:t>ٱ</a:t>
            </a:r>
            <a:r>
              <a:rPr dirty="0" sz="1950" spc="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5698" sz="2925" spc="-315" b="1">
                <a:solidFill>
                  <a:srgbClr val="0070BF"/>
                </a:solidFill>
                <a:latin typeface="Arial"/>
                <a:cs typeface="Arial"/>
              </a:rPr>
              <a:t>اوُقﱠتٱوَ</a:t>
            </a:r>
            <a:r>
              <a:rPr dirty="0" baseline="-5698" sz="29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5698" sz="2925" spc="1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2849" sz="2925" spc="-209" b="1">
                <a:solidFill>
                  <a:srgbClr val="0070BF"/>
                </a:solidFill>
                <a:latin typeface="Arial"/>
                <a:cs typeface="Arial"/>
              </a:rPr>
              <a:t>ۖۦهِ</a:t>
            </a:r>
            <a:r>
              <a:rPr dirty="0" baseline="-2849" sz="2925" spc="2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2849" sz="2925" spc="-615" b="1">
                <a:solidFill>
                  <a:srgbClr val="0070BF"/>
                </a:solidFill>
                <a:latin typeface="Arial"/>
                <a:cs typeface="Arial"/>
              </a:rPr>
              <a:t>لِ</a:t>
            </a:r>
            <a:r>
              <a:rPr dirty="0" baseline="-2849" sz="2925" spc="-19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4273" sz="2925" spc="-869" b="1">
                <a:solidFill>
                  <a:srgbClr val="0070BF"/>
                </a:solidFill>
                <a:latin typeface="Arial"/>
                <a:cs typeface="Arial"/>
              </a:rPr>
              <a:t>وسُ</a:t>
            </a:r>
            <a:r>
              <a:rPr dirty="0" baseline="-4273" sz="29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4273" sz="2925" spc="1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7122" sz="2925" spc="-457" b="1">
                <a:solidFill>
                  <a:srgbClr val="0070BF"/>
                </a:solidFill>
                <a:latin typeface="Arial"/>
                <a:cs typeface="Arial"/>
              </a:rPr>
              <a:t>رَ</a:t>
            </a:r>
            <a:r>
              <a:rPr dirty="0" baseline="-7122" sz="2925" spc="104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5698" sz="2925" spc="-442" b="1">
                <a:solidFill>
                  <a:srgbClr val="0070BF"/>
                </a:solidFill>
                <a:latin typeface="Arial"/>
                <a:cs typeface="Arial"/>
              </a:rPr>
              <a:t>وَ</a:t>
            </a:r>
            <a:r>
              <a:rPr dirty="0" baseline="-5698" sz="29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5698" sz="2925" spc="9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950" spc="-1895" b="1">
                <a:solidFill>
                  <a:srgbClr val="0070BF"/>
                </a:solidFill>
                <a:latin typeface="Arial"/>
                <a:cs typeface="Arial"/>
              </a:rPr>
              <a:t>ໂ</a:t>
            </a:r>
            <a:r>
              <a:rPr dirty="0" baseline="-1424" sz="2925" b="1">
                <a:solidFill>
                  <a:srgbClr val="0070BF"/>
                </a:solidFill>
                <a:latin typeface="Arial"/>
                <a:cs typeface="Arial"/>
              </a:rPr>
              <a:t>ِ</a:t>
            </a:r>
            <a:r>
              <a:rPr dirty="0" baseline="-1424" sz="2925" spc="-104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5698" sz="2925" b="1">
                <a:solidFill>
                  <a:srgbClr val="0070BF"/>
                </a:solidFill>
                <a:latin typeface="Arial"/>
                <a:cs typeface="Arial"/>
              </a:rPr>
              <a:t>ﱠ</a:t>
            </a:r>
            <a:r>
              <a:rPr dirty="0" baseline="-5698" sz="29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5698" sz="2925" spc="-3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0070BF"/>
                </a:solidFill>
                <a:latin typeface="Arial"/>
                <a:cs typeface="Arial"/>
              </a:rPr>
              <a:t>ٱ</a:t>
            </a:r>
            <a:r>
              <a:rPr dirty="0" sz="1950" spc="-10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950" spc="-125" b="1">
                <a:solidFill>
                  <a:srgbClr val="0070BF"/>
                </a:solidFill>
                <a:latin typeface="Arial"/>
                <a:cs typeface="Arial"/>
              </a:rPr>
              <a:t>ِيدَ</a:t>
            </a:r>
            <a:r>
              <a:rPr dirty="0" sz="1950" spc="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950" spc="-360" b="1">
                <a:solidFill>
                  <a:srgbClr val="0070BF"/>
                </a:solidFill>
                <a:latin typeface="Arial"/>
                <a:cs typeface="Arial"/>
              </a:rPr>
              <a:t>َي</a:t>
            </a:r>
            <a:r>
              <a:rPr dirty="0" sz="1950" spc="-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2849" sz="2925" spc="-622" b="1">
                <a:solidFill>
                  <a:srgbClr val="0070BF"/>
                </a:solidFill>
                <a:latin typeface="Arial"/>
                <a:cs typeface="Arial"/>
              </a:rPr>
              <a:t>نَ</a:t>
            </a:r>
            <a:r>
              <a:rPr dirty="0" baseline="2849" sz="29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2849" sz="2925" spc="-382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5698" sz="2925" spc="-780" b="1">
                <a:solidFill>
                  <a:srgbClr val="0070BF"/>
                </a:solidFill>
                <a:latin typeface="Arial"/>
                <a:cs typeface="Arial"/>
              </a:rPr>
              <a:t>يۡ</a:t>
            </a:r>
            <a:r>
              <a:rPr dirty="0" baseline="5698" sz="2925" spc="-36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950" spc="-360" b="1">
                <a:solidFill>
                  <a:srgbClr val="0070BF"/>
                </a:solidFill>
                <a:latin typeface="Arial"/>
                <a:cs typeface="Arial"/>
              </a:rPr>
              <a:t>َب</a:t>
            </a:r>
            <a:r>
              <a:rPr dirty="0" sz="195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5698" sz="2925" spc="-209" b="1">
                <a:solidFill>
                  <a:srgbClr val="0070BF"/>
                </a:solidFill>
                <a:latin typeface="Arial"/>
                <a:cs typeface="Arial"/>
              </a:rPr>
              <a:t>اومُ</a:t>
            </a:r>
            <a:r>
              <a:rPr dirty="0" baseline="-5698" sz="2925" spc="19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1424" sz="2925" spc="-254" b="1">
                <a:solidFill>
                  <a:srgbClr val="0070BF"/>
                </a:solidFill>
                <a:latin typeface="Arial"/>
                <a:cs typeface="Arial"/>
              </a:rPr>
              <a:t>دِّ</a:t>
            </a:r>
            <a:r>
              <a:rPr dirty="0" baseline="-1424" sz="2925" spc="-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950" spc="-330" b="1">
                <a:solidFill>
                  <a:srgbClr val="0070BF"/>
                </a:solidFill>
                <a:latin typeface="Arial"/>
                <a:cs typeface="Arial"/>
              </a:rPr>
              <a:t>َقُت</a:t>
            </a:r>
            <a:r>
              <a:rPr dirty="0" sz="195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4273" sz="2925" spc="-412" b="1">
                <a:solidFill>
                  <a:srgbClr val="0070BF"/>
                </a:solidFill>
                <a:latin typeface="Arial"/>
                <a:cs typeface="Arial"/>
              </a:rPr>
              <a:t>ﻻَ</a:t>
            </a:r>
            <a:r>
              <a:rPr dirty="0" baseline="4273" sz="29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4273" sz="2925" spc="3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5698" sz="2925" spc="-270" b="1">
                <a:solidFill>
                  <a:srgbClr val="0070BF"/>
                </a:solidFill>
                <a:latin typeface="Arial"/>
                <a:cs typeface="Arial"/>
              </a:rPr>
              <a:t>اوُنمَ</a:t>
            </a:r>
            <a:r>
              <a:rPr dirty="0" baseline="-5698" sz="2925" spc="1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4273" sz="2925" spc="-405" b="1">
                <a:solidFill>
                  <a:srgbClr val="0070BF"/>
                </a:solidFill>
                <a:latin typeface="Arial"/>
                <a:cs typeface="Arial"/>
              </a:rPr>
              <a:t>اءَ</a:t>
            </a:r>
            <a:r>
              <a:rPr dirty="0" baseline="-4273" sz="29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4273" sz="2925" spc="39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2849" sz="2925" spc="-1627" b="1">
                <a:solidFill>
                  <a:srgbClr val="0070BF"/>
                </a:solidFill>
                <a:latin typeface="Arial"/>
                <a:cs typeface="Arial"/>
              </a:rPr>
              <a:t>نَ</a:t>
            </a:r>
            <a:r>
              <a:rPr dirty="0" baseline="2849" sz="29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2849" sz="2925" spc="-382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1424" sz="2925" spc="-615" b="1">
                <a:solidFill>
                  <a:srgbClr val="0070BF"/>
                </a:solidFill>
                <a:latin typeface="Arial"/>
                <a:cs typeface="Arial"/>
              </a:rPr>
              <a:t>يذِ</a:t>
            </a:r>
            <a:r>
              <a:rPr dirty="0" baseline="-1424" sz="2925" spc="-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950" spc="-130" b="1">
                <a:solidFill>
                  <a:srgbClr val="0070BF"/>
                </a:solidFill>
                <a:latin typeface="Arial"/>
                <a:cs typeface="Arial"/>
              </a:rPr>
              <a:t>ﱠلٱ</a:t>
            </a:r>
            <a:r>
              <a:rPr dirty="0" sz="1950" spc="-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2849" sz="2925" spc="-270" b="1">
                <a:solidFill>
                  <a:srgbClr val="0070BF"/>
                </a:solidFill>
                <a:latin typeface="Arial"/>
                <a:cs typeface="Arial"/>
              </a:rPr>
              <a:t>اهَ</a:t>
            </a:r>
            <a:r>
              <a:rPr dirty="0" baseline="-2849" sz="2925" spc="3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950" spc="-180" b="1">
                <a:solidFill>
                  <a:srgbClr val="0070BF"/>
                </a:solidFill>
                <a:latin typeface="Arial"/>
                <a:cs typeface="Arial"/>
              </a:rPr>
              <a:t>ﱡيَأٓـَي</a:t>
            </a:r>
            <a:endParaRPr sz="1950">
              <a:latin typeface="Arial"/>
              <a:cs typeface="Arial"/>
            </a:endParaRPr>
          </a:p>
          <a:p>
            <a:pPr algn="r" marL="201295" marR="43180">
              <a:lnSpc>
                <a:spcPct val="100000"/>
              </a:lnSpc>
              <a:spcBef>
                <a:spcPts val="295"/>
              </a:spcBef>
            </a:pPr>
            <a:r>
              <a:rPr dirty="0" sz="2300" spc="245" b="1">
                <a:latin typeface="Courier New"/>
                <a:cs typeface="Courier New"/>
              </a:rPr>
              <a:t>ӵ</a:t>
            </a:r>
            <a:r>
              <a:rPr dirty="0" sz="2300" spc="-980" b="1">
                <a:latin typeface="Courier New"/>
                <a:cs typeface="Courier New"/>
              </a:rPr>
              <a:t> </a:t>
            </a:r>
            <a:r>
              <a:rPr dirty="0" sz="2300" spc="-830" b="1">
                <a:latin typeface="Courier New"/>
                <a:cs typeface="Courier New"/>
              </a:rPr>
              <a:t>ﻻاو</a:t>
            </a:r>
            <a:r>
              <a:rPr dirty="0" sz="2300" spc="-950" b="1">
                <a:latin typeface="Courier New"/>
                <a:cs typeface="Courier New"/>
              </a:rPr>
              <a:t> </a:t>
            </a:r>
            <a:r>
              <a:rPr dirty="0" sz="2300" spc="-930" b="1">
                <a:latin typeface="Courier New"/>
                <a:cs typeface="Courier New"/>
              </a:rPr>
              <a:t>ےننا</a:t>
            </a:r>
            <a:r>
              <a:rPr dirty="0" sz="2300" spc="-930" b="1">
                <a:latin typeface="Courier New"/>
                <a:cs typeface="Courier New"/>
              </a:rPr>
              <a:t>v</a:t>
            </a:r>
            <a:r>
              <a:rPr dirty="0" sz="2300" spc="-955" b="1">
                <a:latin typeface="Courier New"/>
                <a:cs typeface="Courier New"/>
              </a:rPr>
              <a:t> </a:t>
            </a:r>
            <a:r>
              <a:rPr dirty="0" sz="2300" spc="-825" b="1">
                <a:latin typeface="Courier New"/>
                <a:cs typeface="Courier New"/>
              </a:rPr>
              <a:t>،ﻻاو</a:t>
            </a:r>
            <a:r>
              <a:rPr dirty="0" sz="2300" spc="-950" b="1">
                <a:latin typeface="Courier New"/>
                <a:cs typeface="Courier New"/>
              </a:rPr>
              <a:t> </a:t>
            </a:r>
            <a:r>
              <a:rPr dirty="0" sz="2300" spc="-835" b="1">
                <a:latin typeface="Courier New"/>
                <a:cs typeface="Courier New"/>
              </a:rPr>
              <a:t>ے</a:t>
            </a:r>
            <a:r>
              <a:rPr dirty="0" sz="2300" spc="-835" b="1">
                <a:latin typeface="Courier New"/>
                <a:cs typeface="Courier New"/>
              </a:rPr>
              <a:t>:</a:t>
            </a:r>
            <a:r>
              <a:rPr dirty="0" baseline="1207" sz="3450" spc="-1252" b="1">
                <a:latin typeface="Courier New"/>
                <a:cs typeface="Courier New"/>
              </a:rPr>
              <a:t>i</a:t>
            </a:r>
            <a:r>
              <a:rPr dirty="0" baseline="1207" sz="3450" spc="-1252" b="1">
                <a:latin typeface="Courier New"/>
                <a:cs typeface="Courier New"/>
              </a:rPr>
              <a:t>س</a:t>
            </a:r>
            <a:r>
              <a:rPr dirty="0" baseline="1207" sz="3450" spc="-1432" b="1">
                <a:latin typeface="Courier New"/>
                <a:cs typeface="Courier New"/>
              </a:rPr>
              <a:t> </a:t>
            </a:r>
            <a:r>
              <a:rPr dirty="0" sz="2300" spc="-805" b="1">
                <a:latin typeface="Courier New"/>
                <a:cs typeface="Courier New"/>
              </a:rPr>
              <a:t>ﱃاعت</a:t>
            </a:r>
            <a:r>
              <a:rPr dirty="0" sz="2300" spc="-955" b="1">
                <a:latin typeface="Courier New"/>
                <a:cs typeface="Courier New"/>
              </a:rPr>
              <a:t> </a:t>
            </a:r>
            <a:r>
              <a:rPr dirty="0" sz="2300" spc="260" b="1">
                <a:latin typeface="Courier New"/>
                <a:cs typeface="Courier New"/>
              </a:rPr>
              <a:t>ﷲ</a:t>
            </a:r>
            <a:r>
              <a:rPr dirty="0" sz="2300" spc="-955" b="1">
                <a:latin typeface="Courier New"/>
                <a:cs typeface="Courier New"/>
              </a:rPr>
              <a:t> </a:t>
            </a:r>
            <a:r>
              <a:rPr dirty="0" baseline="7246" sz="3450" spc="-2054" b="1">
                <a:latin typeface="Courier New"/>
                <a:cs typeface="Courier New"/>
              </a:rPr>
              <a:t>اً</a:t>
            </a:r>
            <a:r>
              <a:rPr dirty="0" baseline="7246" sz="3450" spc="-1507" b="1">
                <a:latin typeface="Courier New"/>
                <a:cs typeface="Courier New"/>
              </a:rPr>
              <a:t> </a:t>
            </a:r>
            <a:r>
              <a:rPr dirty="0" sz="2300" spc="-994" b="1">
                <a:latin typeface="Courier New"/>
                <a:cs typeface="Courier New"/>
              </a:rPr>
              <a:t>ن</a:t>
            </a:r>
            <a:r>
              <a:rPr dirty="0" baseline="1207" sz="3450" spc="-1492" b="1">
                <a:latin typeface="Courier New"/>
                <a:cs typeface="Courier New"/>
              </a:rPr>
              <a:t>̀</a:t>
            </a:r>
            <a:r>
              <a:rPr dirty="0" baseline="1207" sz="3450" spc="-1492" b="1">
                <a:latin typeface="Courier New"/>
                <a:cs typeface="Courier New"/>
              </a:rPr>
              <a:t>قي</a:t>
            </a:r>
            <a:r>
              <a:rPr dirty="0" baseline="1207" sz="3450" spc="-1470" b="1">
                <a:latin typeface="Courier New"/>
                <a:cs typeface="Courier New"/>
              </a:rPr>
              <a:t> </a:t>
            </a:r>
            <a:r>
              <a:rPr dirty="0" sz="2300" spc="-815" b="1">
                <a:latin typeface="Courier New"/>
                <a:cs typeface="Courier New"/>
              </a:rPr>
              <a:t>۔ور</a:t>
            </a:r>
            <a:r>
              <a:rPr dirty="0" sz="2300" spc="-815" b="1">
                <a:latin typeface="Courier New"/>
                <a:cs typeface="Courier New"/>
              </a:rPr>
              <a:t>ϼ</a:t>
            </a:r>
            <a:r>
              <a:rPr dirty="0" sz="2300" spc="-955" b="1">
                <a:latin typeface="Courier New"/>
                <a:cs typeface="Courier New"/>
              </a:rPr>
              <a:t> </a:t>
            </a:r>
            <a:r>
              <a:rPr dirty="0" sz="2300" spc="-944" b="1">
                <a:latin typeface="Courier New"/>
                <a:cs typeface="Courier New"/>
              </a:rPr>
              <a:t>اہر</a:t>
            </a:r>
            <a:r>
              <a:rPr dirty="0" sz="2300" spc="-965" b="1">
                <a:latin typeface="Courier New"/>
                <a:cs typeface="Courier New"/>
              </a:rPr>
              <a:t> </a:t>
            </a:r>
            <a:r>
              <a:rPr dirty="0" sz="2300" spc="-459" b="1">
                <a:latin typeface="Courier New"/>
                <a:cs typeface="Courier New"/>
              </a:rPr>
              <a:t>ӟ</a:t>
            </a:r>
            <a:r>
              <a:rPr dirty="0" sz="2300" spc="-459" b="1">
                <a:latin typeface="Courier New"/>
                <a:cs typeface="Courier New"/>
              </a:rPr>
              <a:t>رڈ</a:t>
            </a:r>
            <a:r>
              <a:rPr dirty="0" sz="2300" spc="-944" b="1">
                <a:latin typeface="Courier New"/>
                <a:cs typeface="Courier New"/>
              </a:rPr>
              <a:t> </a:t>
            </a:r>
            <a:r>
              <a:rPr dirty="0" sz="2300" spc="409" b="1">
                <a:latin typeface="Courier New"/>
                <a:cs typeface="Courier New"/>
              </a:rPr>
              <a:t>ӥ</a:t>
            </a:r>
            <a:r>
              <a:rPr dirty="0" sz="2300" spc="-980" b="1">
                <a:latin typeface="Courier New"/>
                <a:cs typeface="Courier New"/>
              </a:rPr>
              <a:t> </a:t>
            </a:r>
            <a:r>
              <a:rPr dirty="0" sz="2300" spc="260" b="1">
                <a:latin typeface="Courier New"/>
                <a:cs typeface="Courier New"/>
              </a:rPr>
              <a:t>ﷲ</a:t>
            </a:r>
            <a:r>
              <a:rPr dirty="0" sz="2300" spc="-955" b="1">
                <a:latin typeface="Courier New"/>
                <a:cs typeface="Courier New"/>
              </a:rPr>
              <a:t> </a:t>
            </a:r>
            <a:r>
              <a:rPr dirty="0" sz="2300" spc="-840" b="1">
                <a:latin typeface="Courier New"/>
                <a:cs typeface="Courier New"/>
              </a:rPr>
              <a:t>روا</a:t>
            </a:r>
            <a:r>
              <a:rPr dirty="0" sz="2300" spc="-960" b="1">
                <a:latin typeface="Courier New"/>
                <a:cs typeface="Courier New"/>
              </a:rPr>
              <a:t> </a:t>
            </a:r>
            <a:r>
              <a:rPr dirty="0" sz="2300" spc="-860" b="1">
                <a:latin typeface="Courier New"/>
                <a:cs typeface="Courier New"/>
              </a:rPr>
              <a:t>وھڑ</a:t>
            </a:r>
            <a:r>
              <a:rPr dirty="0" sz="2300" spc="-860" b="1">
                <a:latin typeface="Courier New"/>
                <a:cs typeface="Courier New"/>
              </a:rPr>
              <a:t>,</a:t>
            </a:r>
            <a:r>
              <a:rPr dirty="0" sz="2300" spc="-944" b="1">
                <a:latin typeface="Courier New"/>
                <a:cs typeface="Courier New"/>
              </a:rPr>
              <a:t> </a:t>
            </a:r>
            <a:r>
              <a:rPr dirty="0" sz="2300" spc="-1005" b="1">
                <a:latin typeface="Courier New"/>
                <a:cs typeface="Courier New"/>
              </a:rPr>
              <a:t>ہن</a:t>
            </a:r>
            <a:r>
              <a:rPr dirty="0" sz="2300" spc="-930" b="1">
                <a:latin typeface="Courier New"/>
                <a:cs typeface="Courier New"/>
              </a:rPr>
              <a:t> </a:t>
            </a:r>
            <a:r>
              <a:rPr dirty="0" sz="2300" spc="-894" b="1">
                <a:latin typeface="Courier New"/>
                <a:cs typeface="Courier New"/>
              </a:rPr>
              <a:t>fí</a:t>
            </a:r>
            <a:r>
              <a:rPr dirty="0" baseline="4830" sz="3450" spc="-1342" b="1">
                <a:latin typeface="Courier New"/>
                <a:cs typeface="Courier New"/>
              </a:rPr>
              <a:t>ٓ</a:t>
            </a:r>
            <a:r>
              <a:rPr dirty="0" sz="2300" spc="-894" b="1">
                <a:latin typeface="Courier New"/>
                <a:cs typeface="Courier New"/>
              </a:rPr>
              <a:t>ǫ</a:t>
            </a:r>
            <a:r>
              <a:rPr dirty="0" sz="2300" spc="-955" b="1">
                <a:latin typeface="Courier New"/>
                <a:cs typeface="Courier New"/>
              </a:rPr>
              <a:t> </a:t>
            </a:r>
            <a:r>
              <a:rPr dirty="0" sz="2300" spc="409" b="1">
                <a:latin typeface="Courier New"/>
                <a:cs typeface="Courier New"/>
              </a:rPr>
              <a:t>ӥ</a:t>
            </a:r>
            <a:r>
              <a:rPr dirty="0" sz="2300" spc="-980" b="1">
                <a:latin typeface="Courier New"/>
                <a:cs typeface="Courier New"/>
              </a:rPr>
              <a:t> </a:t>
            </a:r>
            <a:r>
              <a:rPr dirty="0" sz="2300" spc="-680" b="1">
                <a:latin typeface="Courier New"/>
                <a:cs typeface="Courier New"/>
              </a:rPr>
              <a:t>لوسر</a:t>
            </a:r>
            <a:r>
              <a:rPr dirty="0" sz="2300" spc="-935" b="1">
                <a:latin typeface="Courier New"/>
                <a:cs typeface="Courier New"/>
              </a:rPr>
              <a:t> </a:t>
            </a:r>
            <a:r>
              <a:rPr dirty="0" sz="2300" spc="-690" b="1">
                <a:latin typeface="Courier New"/>
                <a:cs typeface="Courier New"/>
              </a:rPr>
              <a:t>fi</a:t>
            </a:r>
            <a:r>
              <a:rPr dirty="0" sz="2300" spc="-950" b="1">
                <a:latin typeface="Courier New"/>
                <a:cs typeface="Courier New"/>
              </a:rPr>
              <a:t> </a:t>
            </a:r>
            <a:r>
              <a:rPr dirty="0" sz="2300" spc="-509" b="1">
                <a:latin typeface="Courier New"/>
                <a:cs typeface="Courier New"/>
              </a:rPr>
              <a:t>سا</a:t>
            </a:r>
            <a:r>
              <a:rPr dirty="0" sz="2300" spc="-960" b="1">
                <a:latin typeface="Courier New"/>
                <a:cs typeface="Courier New"/>
              </a:rPr>
              <a:t> </a:t>
            </a:r>
            <a:r>
              <a:rPr dirty="0" sz="2300" spc="-835" b="1">
                <a:latin typeface="Courier New"/>
                <a:cs typeface="Courier New"/>
              </a:rPr>
              <a:t>روا</a:t>
            </a:r>
            <a:r>
              <a:rPr dirty="0" sz="2300" spc="-935" b="1">
                <a:latin typeface="Courier New"/>
                <a:cs typeface="Courier New"/>
              </a:rPr>
              <a:t> </a:t>
            </a:r>
            <a:r>
              <a:rPr dirty="0" sz="2300" spc="260" b="1">
                <a:latin typeface="Courier New"/>
                <a:cs typeface="Courier New"/>
              </a:rPr>
              <a:t>ﷲ</a:t>
            </a:r>
            <a:r>
              <a:rPr dirty="0" sz="2300" spc="-990" b="1">
                <a:latin typeface="Courier New"/>
                <a:cs typeface="Courier New"/>
              </a:rPr>
              <a:t> </a:t>
            </a:r>
            <a:r>
              <a:rPr dirty="0" sz="2300" spc="-880" b="1">
                <a:latin typeface="Courier New"/>
                <a:cs typeface="Courier New"/>
              </a:rPr>
              <a:t>!</a:t>
            </a:r>
            <a:r>
              <a:rPr dirty="0" sz="2300" spc="-880" b="1">
                <a:latin typeface="Courier New"/>
                <a:cs typeface="Courier New"/>
              </a:rPr>
              <a:t>وگول</a:t>
            </a:r>
            <a:r>
              <a:rPr dirty="0" sz="2300" spc="-950" b="1">
                <a:latin typeface="Courier New"/>
                <a:cs typeface="Courier New"/>
              </a:rPr>
              <a:t> </a:t>
            </a:r>
            <a:r>
              <a:rPr dirty="0" sz="2300" spc="-635" b="1">
                <a:latin typeface="Courier New"/>
                <a:cs typeface="Courier New"/>
              </a:rPr>
              <a:t>3</a:t>
            </a:r>
            <a:r>
              <a:rPr dirty="0" sz="2300" spc="-635" b="1">
                <a:latin typeface="Courier New"/>
                <a:cs typeface="Courier New"/>
              </a:rPr>
              <a:t>او</a:t>
            </a:r>
            <a:r>
              <a:rPr dirty="0" sz="2300" spc="-950" b="1">
                <a:latin typeface="Courier New"/>
                <a:cs typeface="Courier New"/>
              </a:rPr>
              <a:t> </a:t>
            </a:r>
            <a:r>
              <a:rPr dirty="0" sz="2300" spc="-860" b="1">
                <a:latin typeface="Courier New"/>
                <a:cs typeface="Courier New"/>
              </a:rPr>
              <a:t>ناﳝا</a:t>
            </a:r>
            <a:r>
              <a:rPr dirty="0" sz="2300" spc="-960" b="1">
                <a:latin typeface="Courier New"/>
                <a:cs typeface="Courier New"/>
              </a:rPr>
              <a:t> </a:t>
            </a:r>
            <a:r>
              <a:rPr dirty="0" sz="2300" spc="-550" b="1">
                <a:latin typeface="Courier New"/>
                <a:cs typeface="Courier New"/>
              </a:rPr>
              <a:t>ےا</a:t>
            </a:r>
            <a:endParaRPr sz="2300">
              <a:latin typeface="Courier New"/>
              <a:cs typeface="Courier New"/>
            </a:endParaRPr>
          </a:p>
          <a:p>
            <a:pPr marL="50800" marR="61594">
              <a:lnSpc>
                <a:spcPct val="102200"/>
              </a:lnSpc>
              <a:spcBef>
                <a:spcPts val="1360"/>
              </a:spcBef>
            </a:pPr>
            <a:r>
              <a:rPr dirty="0" sz="1550" b="1">
                <a:latin typeface="Arial"/>
                <a:cs typeface="Arial"/>
              </a:rPr>
              <a:t>Translation:</a:t>
            </a:r>
            <a:r>
              <a:rPr dirty="0" sz="1550" spc="5" b="1">
                <a:latin typeface="Arial"/>
                <a:cs typeface="Arial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“O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you</a:t>
            </a:r>
            <a:r>
              <a:rPr dirty="0" sz="1450" spc="9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who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have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believed,</a:t>
            </a:r>
            <a:r>
              <a:rPr dirty="0" sz="1450" spc="2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do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put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[yourselves]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before</a:t>
            </a:r>
            <a:r>
              <a:rPr dirty="0" sz="1450" spc="-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</a:t>
            </a:r>
            <a:r>
              <a:rPr dirty="0" sz="1450" spc="2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His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Messenger </a:t>
            </a:r>
            <a:r>
              <a:rPr dirty="0" sz="1450">
                <a:latin typeface="Microsoft Sans Serif"/>
                <a:cs typeface="Microsoft Sans Serif"/>
              </a:rPr>
              <a:t>but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fear</a:t>
            </a:r>
            <a:r>
              <a:rPr dirty="0" sz="1450" spc="-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Allah.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Indeed,</a:t>
            </a:r>
            <a:r>
              <a:rPr dirty="0" sz="1450" spc="-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Hearing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Knowing.”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50800" marR="43180">
              <a:lnSpc>
                <a:spcPct val="102299"/>
              </a:lnSpc>
            </a:pPr>
            <a:r>
              <a:rPr dirty="0" sz="1550" b="1">
                <a:latin typeface="Arial"/>
                <a:cs typeface="Arial"/>
              </a:rPr>
              <a:t>Explanation:</a:t>
            </a:r>
            <a:r>
              <a:rPr dirty="0" sz="1550" spc="45" b="1">
                <a:latin typeface="Arial"/>
                <a:cs typeface="Arial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This</a:t>
            </a:r>
            <a:r>
              <a:rPr dirty="0" sz="1450" spc="2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verse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tells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believers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think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themselves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more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important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than</a:t>
            </a:r>
            <a:r>
              <a:rPr dirty="0" sz="1450" spc="-3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Allah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His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Messenger,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Prophet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Muhammad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(peace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upon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him).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It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reminds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us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act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with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humility, </a:t>
            </a:r>
            <a:r>
              <a:rPr dirty="0" sz="1450">
                <a:latin typeface="Microsoft Sans Serif"/>
                <a:cs typeface="Microsoft Sans Serif"/>
              </a:rPr>
              <a:t>obey</a:t>
            </a:r>
            <a:r>
              <a:rPr dirty="0" sz="1450" spc="-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Allah's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commands,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respect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His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Messenger.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When</a:t>
            </a:r>
            <a:r>
              <a:rPr dirty="0" sz="1450" spc="2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we</a:t>
            </a:r>
            <a:r>
              <a:rPr dirty="0" sz="1450" spc="8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put</a:t>
            </a:r>
            <a:r>
              <a:rPr dirty="0" sz="1450" spc="-1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Allah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His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Messenger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first, </a:t>
            </a:r>
            <a:r>
              <a:rPr dirty="0" sz="1450">
                <a:latin typeface="Microsoft Sans Serif"/>
                <a:cs typeface="Microsoft Sans Serif"/>
              </a:rPr>
              <a:t>we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avoid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arrogance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follow</a:t>
            </a:r>
            <a:r>
              <a:rPr dirty="0" sz="1450" spc="2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true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path.</a:t>
            </a:r>
            <a:endParaRPr sz="1450">
              <a:latin typeface="Microsoft Sans Serif"/>
              <a:cs typeface="Microsoft Sans Serif"/>
            </a:endParaRPr>
          </a:p>
          <a:p>
            <a:pPr marL="334010" indent="-283210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334010" algn="l"/>
              </a:tabLst>
            </a:pPr>
            <a:r>
              <a:rPr dirty="0" sz="1150">
                <a:latin typeface="Microsoft Sans Serif"/>
                <a:cs typeface="Microsoft Sans Serif"/>
              </a:rPr>
              <a:t>True</a:t>
            </a:r>
            <a:r>
              <a:rPr dirty="0" sz="1150" spc="-4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believers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always</a:t>
            </a:r>
            <a:r>
              <a:rPr dirty="0" sz="1150" spc="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follow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the</a:t>
            </a:r>
            <a:r>
              <a:rPr dirty="0" sz="1150" spc="-4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guidance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of</a:t>
            </a:r>
            <a:r>
              <a:rPr dirty="0" sz="1150" spc="-7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Allah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and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His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Messenger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instead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of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trusting</a:t>
            </a:r>
            <a:r>
              <a:rPr dirty="0" sz="1150" spc="-4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their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own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opinions.</a:t>
            </a:r>
            <a:endParaRPr sz="1150">
              <a:latin typeface="Microsoft Sans Serif"/>
              <a:cs typeface="Microsoft Sans Serif"/>
            </a:endParaRPr>
          </a:p>
          <a:p>
            <a:pPr marL="334010" indent="-283210">
              <a:lnSpc>
                <a:spcPct val="100000"/>
              </a:lnSpc>
              <a:buAutoNum type="arabicPeriod"/>
              <a:tabLst>
                <a:tab pos="334010" algn="l"/>
              </a:tabLst>
            </a:pPr>
            <a:r>
              <a:rPr dirty="0" sz="1150">
                <a:latin typeface="Microsoft Sans Serif"/>
                <a:cs typeface="Microsoft Sans Serif"/>
              </a:rPr>
              <a:t>This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rule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applies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to</a:t>
            </a:r>
            <a:r>
              <a:rPr dirty="0" sz="1150" spc="-3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both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personal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decisions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and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community</a:t>
            </a:r>
            <a:r>
              <a:rPr dirty="0" sz="1150" spc="-45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matters.</a:t>
            </a:r>
            <a:endParaRPr sz="1150">
              <a:latin typeface="Microsoft Sans Serif"/>
              <a:cs typeface="Microsoft Sans Serif"/>
            </a:endParaRPr>
          </a:p>
          <a:p>
            <a:pPr marL="334010" indent="-283210">
              <a:lnSpc>
                <a:spcPct val="100000"/>
              </a:lnSpc>
              <a:spcBef>
                <a:spcPts val="10"/>
              </a:spcBef>
              <a:buAutoNum type="arabicPeriod"/>
              <a:tabLst>
                <a:tab pos="334010" algn="l"/>
              </a:tabLst>
            </a:pPr>
            <a:r>
              <a:rPr dirty="0" sz="1150">
                <a:latin typeface="Microsoft Sans Serif"/>
                <a:cs typeface="Microsoft Sans Serif"/>
              </a:rPr>
              <a:t>The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Quran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and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the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Prophet’s teachings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are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our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main</a:t>
            </a:r>
            <a:r>
              <a:rPr dirty="0" sz="1150" spc="-4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sources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of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law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and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guidance.</a:t>
            </a:r>
            <a:endParaRPr sz="1150">
              <a:latin typeface="Microsoft Sans Serif"/>
              <a:cs typeface="Microsoft Sans Serif"/>
            </a:endParaRPr>
          </a:p>
          <a:p>
            <a:pPr marL="334010" indent="-283210">
              <a:lnSpc>
                <a:spcPct val="100000"/>
              </a:lnSpc>
              <a:buAutoNum type="arabicPeriod"/>
              <a:tabLst>
                <a:tab pos="334010" algn="l"/>
              </a:tabLst>
            </a:pPr>
            <a:r>
              <a:rPr dirty="0" sz="1150">
                <a:latin typeface="Microsoft Sans Serif"/>
                <a:cs typeface="Microsoft Sans Serif"/>
              </a:rPr>
              <a:t>Ignoring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them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means</a:t>
            </a:r>
            <a:r>
              <a:rPr dirty="0" sz="1150" spc="-35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defying</a:t>
            </a:r>
            <a:r>
              <a:rPr dirty="0" sz="1150" spc="-6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Allah, who</a:t>
            </a:r>
            <a:r>
              <a:rPr dirty="0" sz="1150" spc="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hears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and knows</a:t>
            </a:r>
            <a:r>
              <a:rPr dirty="0" sz="1150" spc="10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everything.</a:t>
            </a:r>
            <a:endParaRPr sz="1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12865" y="1525003"/>
            <a:ext cx="410146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17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B.</a:t>
            </a:r>
            <a:r>
              <a:rPr dirty="0" u="sng" sz="170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7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Surah</a:t>
            </a:r>
            <a:r>
              <a:rPr dirty="0" u="sng" sz="170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7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Al-</a:t>
            </a:r>
            <a:r>
              <a:rPr dirty="0" u="sng" sz="17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Hujurat</a:t>
            </a:r>
            <a:r>
              <a:rPr dirty="0" u="sng" sz="1700" spc="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7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Ayat</a:t>
            </a:r>
            <a:r>
              <a:rPr dirty="0" u="sng" sz="1700" spc="6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7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2</a:t>
            </a:r>
            <a:r>
              <a:rPr dirty="0" u="sng" sz="1700" spc="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7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(49:2</a:t>
            </a:r>
            <a:r>
              <a:rPr dirty="0" u="sng" sz="1700" spc="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7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Quran)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8609" y="1866952"/>
            <a:ext cx="7309484" cy="3530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r" marL="38100" marR="30480">
              <a:lnSpc>
                <a:spcPct val="100000"/>
              </a:lnSpc>
              <a:spcBef>
                <a:spcPts val="95"/>
              </a:spcBef>
            </a:pPr>
            <a:r>
              <a:rPr dirty="0" u="none" baseline="-5167" sz="3225" spc="-359">
                <a:latin typeface="Arial"/>
                <a:cs typeface="Arial"/>
              </a:rPr>
              <a:t>رِ</a:t>
            </a:r>
            <a:r>
              <a:rPr dirty="0" u="none" baseline="-5167" sz="3225" spc="-187">
                <a:latin typeface="Arial"/>
                <a:cs typeface="Arial"/>
              </a:rPr>
              <a:t> </a:t>
            </a:r>
            <a:r>
              <a:rPr dirty="0" u="none" baseline="7751" sz="3225" spc="-270">
                <a:latin typeface="Arial"/>
                <a:cs typeface="Arial"/>
              </a:rPr>
              <a:t>هۡ</a:t>
            </a:r>
            <a:r>
              <a:rPr dirty="0" u="none" baseline="7751" sz="3225">
                <a:latin typeface="Arial"/>
                <a:cs typeface="Arial"/>
              </a:rPr>
              <a:t> </a:t>
            </a:r>
            <a:r>
              <a:rPr dirty="0" u="none" sz="2150" spc="-540">
                <a:latin typeface="Arial"/>
                <a:cs typeface="Arial"/>
              </a:rPr>
              <a:t>جَ</a:t>
            </a:r>
            <a:r>
              <a:rPr dirty="0" u="none" sz="2150">
                <a:latin typeface="Arial"/>
                <a:cs typeface="Arial"/>
              </a:rPr>
              <a:t> </a:t>
            </a:r>
            <a:r>
              <a:rPr dirty="0" u="none" sz="2150" spc="-250">
                <a:latin typeface="Arial"/>
                <a:cs typeface="Arial"/>
              </a:rPr>
              <a:t> </a:t>
            </a:r>
            <a:r>
              <a:rPr dirty="0" u="none" baseline="2583" sz="3225" spc="-847">
                <a:latin typeface="Arial"/>
                <a:cs typeface="Arial"/>
              </a:rPr>
              <a:t>كَ</a:t>
            </a:r>
            <a:r>
              <a:rPr dirty="0" u="none" baseline="2583" sz="3225">
                <a:latin typeface="Arial"/>
                <a:cs typeface="Arial"/>
              </a:rPr>
              <a:t> </a:t>
            </a:r>
            <a:r>
              <a:rPr dirty="0" u="none" baseline="2583" sz="3225" spc="172">
                <a:latin typeface="Arial"/>
                <a:cs typeface="Arial"/>
              </a:rPr>
              <a:t> </a:t>
            </a:r>
            <a:r>
              <a:rPr dirty="0" u="none" baseline="-7751" sz="3225" spc="-615">
                <a:latin typeface="Arial"/>
                <a:cs typeface="Arial"/>
              </a:rPr>
              <a:t>لِ</a:t>
            </a:r>
            <a:r>
              <a:rPr dirty="0" u="none" baseline="-7751" sz="3225" spc="292">
                <a:latin typeface="Arial"/>
                <a:cs typeface="Arial"/>
              </a:rPr>
              <a:t> </a:t>
            </a:r>
            <a:r>
              <a:rPr dirty="0" u="none" baseline="6459" sz="3225" spc="-307">
                <a:latin typeface="Arial"/>
                <a:cs typeface="Arial"/>
              </a:rPr>
              <a:t>وۡ</a:t>
            </a:r>
            <a:r>
              <a:rPr dirty="0" u="none" baseline="6459" sz="3225" spc="-322">
                <a:latin typeface="Arial"/>
                <a:cs typeface="Arial"/>
              </a:rPr>
              <a:t> </a:t>
            </a:r>
            <a:r>
              <a:rPr dirty="0" u="none" baseline="16795" sz="3225" spc="-509">
                <a:latin typeface="Arial"/>
                <a:cs typeface="Arial"/>
              </a:rPr>
              <a:t>َقلۡ</a:t>
            </a:r>
            <a:r>
              <a:rPr dirty="0" u="none" baseline="16795" sz="3225" spc="-547">
                <a:latin typeface="Arial"/>
                <a:cs typeface="Arial"/>
              </a:rPr>
              <a:t> </a:t>
            </a:r>
            <a:r>
              <a:rPr dirty="0" u="none" baseline="1291" sz="3225" spc="-390">
                <a:latin typeface="Arial"/>
                <a:cs typeface="Arial"/>
              </a:rPr>
              <a:t>ٱِب</a:t>
            </a:r>
            <a:r>
              <a:rPr dirty="0" u="none" baseline="1291" sz="3225">
                <a:latin typeface="Arial"/>
                <a:cs typeface="Arial"/>
              </a:rPr>
              <a:t> </a:t>
            </a:r>
            <a:r>
              <a:rPr dirty="0" u="none" baseline="1291" sz="3225" spc="-112">
                <a:latin typeface="Arial"/>
                <a:cs typeface="Arial"/>
              </a:rPr>
              <a:t>ۥُهَل</a:t>
            </a:r>
            <a:r>
              <a:rPr dirty="0" u="none" baseline="1291" sz="3225" spc="-44">
                <a:latin typeface="Arial"/>
                <a:cs typeface="Arial"/>
              </a:rPr>
              <a:t> </a:t>
            </a:r>
            <a:r>
              <a:rPr dirty="0" u="none" baseline="-5167" sz="3225" spc="-262">
                <a:latin typeface="Arial"/>
                <a:cs typeface="Arial"/>
              </a:rPr>
              <a:t>اورُ</a:t>
            </a:r>
            <a:r>
              <a:rPr dirty="0" u="none" baseline="-5167" sz="3225" spc="165">
                <a:latin typeface="Arial"/>
                <a:cs typeface="Arial"/>
              </a:rPr>
              <a:t> </a:t>
            </a:r>
            <a:r>
              <a:rPr dirty="0" u="none" sz="2150" spc="-320">
                <a:latin typeface="Arial"/>
                <a:cs typeface="Arial"/>
              </a:rPr>
              <a:t>هَ</a:t>
            </a:r>
            <a:r>
              <a:rPr dirty="0" u="none" sz="2150" spc="260">
                <a:latin typeface="Arial"/>
                <a:cs typeface="Arial"/>
              </a:rPr>
              <a:t> </a:t>
            </a:r>
            <a:r>
              <a:rPr dirty="0" u="none" baseline="7751" sz="3225" spc="-615">
                <a:latin typeface="Arial"/>
                <a:cs typeface="Arial"/>
              </a:rPr>
              <a:t>جۡ</a:t>
            </a:r>
            <a:r>
              <a:rPr dirty="0" u="none" baseline="7751" sz="3225" spc="37">
                <a:latin typeface="Arial"/>
                <a:cs typeface="Arial"/>
              </a:rPr>
              <a:t> </a:t>
            </a:r>
            <a:r>
              <a:rPr dirty="0" u="none" baseline="1291" sz="3225" spc="-569">
                <a:latin typeface="Arial"/>
                <a:cs typeface="Arial"/>
              </a:rPr>
              <a:t>َت</a:t>
            </a:r>
            <a:r>
              <a:rPr dirty="0" u="none" baseline="1291" sz="3225" spc="30">
                <a:latin typeface="Arial"/>
                <a:cs typeface="Arial"/>
              </a:rPr>
              <a:t> </a:t>
            </a:r>
            <a:r>
              <a:rPr dirty="0" u="none" baseline="6459" sz="3225" spc="-457">
                <a:latin typeface="Arial"/>
                <a:cs typeface="Arial"/>
              </a:rPr>
              <a:t>ﻻَ</a:t>
            </a:r>
            <a:r>
              <a:rPr dirty="0" u="none" baseline="6459" sz="3225" spc="-30">
                <a:latin typeface="Arial"/>
                <a:cs typeface="Arial"/>
              </a:rPr>
              <a:t> </a:t>
            </a:r>
            <a:r>
              <a:rPr dirty="0" u="none" baseline="-2583" sz="3225" spc="-502">
                <a:latin typeface="Arial"/>
                <a:cs typeface="Arial"/>
              </a:rPr>
              <a:t>وَ</a:t>
            </a:r>
            <a:r>
              <a:rPr dirty="0" u="none" baseline="-2583" sz="3225">
                <a:latin typeface="Arial"/>
                <a:cs typeface="Arial"/>
              </a:rPr>
              <a:t> </a:t>
            </a:r>
            <a:r>
              <a:rPr dirty="0" u="none" baseline="-2583" sz="3225" spc="-150">
                <a:latin typeface="Arial"/>
                <a:cs typeface="Arial"/>
              </a:rPr>
              <a:t> </a:t>
            </a:r>
            <a:r>
              <a:rPr dirty="0" u="none" baseline="-9043" sz="3225" spc="-577">
                <a:latin typeface="Arial"/>
                <a:cs typeface="Arial"/>
              </a:rPr>
              <a:t>ِيّ</a:t>
            </a:r>
            <a:r>
              <a:rPr dirty="0" u="none" baseline="-9043" sz="3225">
                <a:latin typeface="Arial"/>
                <a:cs typeface="Arial"/>
              </a:rPr>
              <a:t> </a:t>
            </a:r>
            <a:r>
              <a:rPr dirty="0" u="none" baseline="-9043" sz="3225" spc="-120">
                <a:latin typeface="Arial"/>
                <a:cs typeface="Arial"/>
              </a:rPr>
              <a:t> </a:t>
            </a:r>
            <a:r>
              <a:rPr dirty="0" u="none" baseline="1291" sz="3225" spc="-472">
                <a:latin typeface="Arial"/>
                <a:cs typeface="Arial"/>
              </a:rPr>
              <a:t>ِبﱠنلٱ</a:t>
            </a:r>
            <a:r>
              <a:rPr dirty="0" u="none" baseline="1291" sz="3225" spc="-22">
                <a:latin typeface="Arial"/>
                <a:cs typeface="Arial"/>
              </a:rPr>
              <a:t> </a:t>
            </a:r>
            <a:r>
              <a:rPr dirty="0" u="none" sz="2150" spc="-610">
                <a:latin typeface="Arial"/>
                <a:cs typeface="Arial"/>
              </a:rPr>
              <a:t>تِ</a:t>
            </a:r>
            <a:r>
              <a:rPr dirty="0" u="none" sz="2150">
                <a:latin typeface="Arial"/>
                <a:cs typeface="Arial"/>
              </a:rPr>
              <a:t> </a:t>
            </a:r>
            <a:r>
              <a:rPr dirty="0" u="none" sz="2150" spc="5">
                <a:latin typeface="Arial"/>
                <a:cs typeface="Arial"/>
              </a:rPr>
              <a:t> </a:t>
            </a:r>
            <a:r>
              <a:rPr dirty="0" u="none" baseline="6459" sz="3225" spc="-307">
                <a:latin typeface="Arial"/>
                <a:cs typeface="Arial"/>
              </a:rPr>
              <a:t>وۡ</a:t>
            </a:r>
            <a:r>
              <a:rPr dirty="0" u="none" baseline="6459" sz="3225" spc="-322">
                <a:latin typeface="Arial"/>
                <a:cs typeface="Arial"/>
              </a:rPr>
              <a:t> </a:t>
            </a:r>
            <a:r>
              <a:rPr dirty="0" u="none" sz="2150" spc="-1095">
                <a:latin typeface="Arial"/>
                <a:cs typeface="Arial"/>
              </a:rPr>
              <a:t>صَ</a:t>
            </a:r>
            <a:r>
              <a:rPr dirty="0" u="none" sz="2150">
                <a:latin typeface="Arial"/>
                <a:cs typeface="Arial"/>
              </a:rPr>
              <a:t>   </a:t>
            </a:r>
            <a:r>
              <a:rPr dirty="0" u="none" sz="2150" spc="-265">
                <a:latin typeface="Arial"/>
                <a:cs typeface="Arial"/>
              </a:rPr>
              <a:t> </a:t>
            </a:r>
            <a:r>
              <a:rPr dirty="0" u="none" sz="2150" spc="-555">
                <a:latin typeface="Arial"/>
                <a:cs typeface="Arial"/>
              </a:rPr>
              <a:t>قَ</a:t>
            </a:r>
            <a:r>
              <a:rPr dirty="0" u="none" sz="2150">
                <a:latin typeface="Arial"/>
                <a:cs typeface="Arial"/>
              </a:rPr>
              <a:t> </a:t>
            </a:r>
            <a:r>
              <a:rPr dirty="0" u="none" sz="2150" spc="-100">
                <a:latin typeface="Arial"/>
                <a:cs typeface="Arial"/>
              </a:rPr>
              <a:t> </a:t>
            </a:r>
            <a:r>
              <a:rPr dirty="0" u="none" baseline="6459" sz="3225" spc="-307">
                <a:latin typeface="Arial"/>
                <a:cs typeface="Arial"/>
              </a:rPr>
              <a:t>وۡ</a:t>
            </a:r>
            <a:r>
              <a:rPr dirty="0" u="none" baseline="6459" sz="3225" spc="-322">
                <a:latin typeface="Arial"/>
                <a:cs typeface="Arial"/>
              </a:rPr>
              <a:t> </a:t>
            </a:r>
            <a:r>
              <a:rPr dirty="0" u="none" baseline="1291" sz="3225" spc="-719">
                <a:latin typeface="Arial"/>
                <a:cs typeface="Arial"/>
              </a:rPr>
              <a:t>َف</a:t>
            </a:r>
            <a:r>
              <a:rPr dirty="0" u="none" baseline="1291" sz="3225" spc="-75">
                <a:latin typeface="Arial"/>
                <a:cs typeface="Arial"/>
              </a:rPr>
              <a:t> </a:t>
            </a:r>
            <a:r>
              <a:rPr dirty="0" u="none" baseline="2583" sz="3225" spc="-337">
                <a:latin typeface="Arial"/>
                <a:cs typeface="Arial"/>
              </a:rPr>
              <a:t>مۡ</a:t>
            </a:r>
            <a:r>
              <a:rPr dirty="0" u="none" baseline="2583" sz="3225" spc="-254">
                <a:latin typeface="Arial"/>
                <a:cs typeface="Arial"/>
              </a:rPr>
              <a:t> </a:t>
            </a:r>
            <a:r>
              <a:rPr dirty="0" u="none" baseline="2583" sz="3225" spc="-847">
                <a:latin typeface="Arial"/>
                <a:cs typeface="Arial"/>
              </a:rPr>
              <a:t>كُ</a:t>
            </a:r>
            <a:r>
              <a:rPr dirty="0" u="none" baseline="2583" sz="3225" spc="97">
                <a:latin typeface="Arial"/>
                <a:cs typeface="Arial"/>
              </a:rPr>
              <a:t> </a:t>
            </a:r>
            <a:r>
              <a:rPr dirty="0" u="none" baseline="-2583" sz="3225" spc="-532">
                <a:latin typeface="Arial"/>
                <a:cs typeface="Arial"/>
              </a:rPr>
              <a:t>َتوَ</a:t>
            </a:r>
            <a:r>
              <a:rPr dirty="0" u="none" baseline="-2583" sz="3225" spc="67">
                <a:latin typeface="Arial"/>
                <a:cs typeface="Arial"/>
              </a:rPr>
              <a:t> </a:t>
            </a:r>
            <a:r>
              <a:rPr dirty="0" u="none" baseline="7751" sz="3225" spc="-1432">
                <a:latin typeface="Arial"/>
                <a:cs typeface="Arial"/>
              </a:rPr>
              <a:t>صۡ</a:t>
            </a:r>
            <a:r>
              <a:rPr dirty="0" u="none" baseline="7751" sz="3225">
                <a:latin typeface="Arial"/>
                <a:cs typeface="Arial"/>
              </a:rPr>
              <a:t> </a:t>
            </a:r>
            <a:r>
              <a:rPr dirty="0" u="none" baseline="7751" sz="3225" spc="7">
                <a:latin typeface="Arial"/>
                <a:cs typeface="Arial"/>
              </a:rPr>
              <a:t> </a:t>
            </a:r>
            <a:r>
              <a:rPr dirty="0" u="none" baseline="1291" sz="3225" spc="44">
                <a:latin typeface="Arial"/>
                <a:cs typeface="Arial"/>
              </a:rPr>
              <a:t>َأ</a:t>
            </a:r>
            <a:r>
              <a:rPr dirty="0" u="none" baseline="1291" sz="3225" spc="-22">
                <a:latin typeface="Arial"/>
                <a:cs typeface="Arial"/>
              </a:rPr>
              <a:t> </a:t>
            </a:r>
            <a:r>
              <a:rPr dirty="0" u="none" baseline="-7751" sz="3225" spc="-307">
                <a:latin typeface="Arial"/>
                <a:cs typeface="Arial"/>
              </a:rPr>
              <a:t>اوٓ</a:t>
            </a:r>
            <a:r>
              <a:rPr dirty="0" u="none" baseline="-7751" sz="3225" spc="-60">
                <a:latin typeface="Arial"/>
                <a:cs typeface="Arial"/>
              </a:rPr>
              <a:t> </a:t>
            </a:r>
            <a:r>
              <a:rPr dirty="0" u="none" baseline="3875" sz="3225" spc="-442">
                <a:latin typeface="Arial"/>
                <a:cs typeface="Arial"/>
              </a:rPr>
              <a:t>ُعَفرۡ</a:t>
            </a:r>
            <a:r>
              <a:rPr dirty="0" u="none" baseline="3875" sz="3225" spc="-382">
                <a:latin typeface="Arial"/>
                <a:cs typeface="Arial"/>
              </a:rPr>
              <a:t> </a:t>
            </a:r>
            <a:r>
              <a:rPr dirty="0" u="none" baseline="1291" sz="3225" spc="-569">
                <a:latin typeface="Arial"/>
                <a:cs typeface="Arial"/>
              </a:rPr>
              <a:t>َت</a:t>
            </a:r>
            <a:r>
              <a:rPr dirty="0" u="none" baseline="1291" sz="3225">
                <a:latin typeface="Arial"/>
                <a:cs typeface="Arial"/>
              </a:rPr>
              <a:t> </a:t>
            </a:r>
            <a:r>
              <a:rPr dirty="0" u="none" baseline="6459" sz="3225" spc="-442">
                <a:latin typeface="Arial"/>
                <a:cs typeface="Arial"/>
              </a:rPr>
              <a:t>ﻻَ</a:t>
            </a:r>
            <a:r>
              <a:rPr dirty="0" u="none" baseline="6459" sz="3225">
                <a:latin typeface="Arial"/>
                <a:cs typeface="Arial"/>
              </a:rPr>
              <a:t> </a:t>
            </a:r>
            <a:r>
              <a:rPr dirty="0" u="none" baseline="6459" sz="3225" spc="-89">
                <a:latin typeface="Arial"/>
                <a:cs typeface="Arial"/>
              </a:rPr>
              <a:t> </a:t>
            </a:r>
            <a:r>
              <a:rPr dirty="0" u="none" baseline="-3875" sz="3225" spc="-607">
                <a:latin typeface="Arial"/>
                <a:cs typeface="Arial"/>
              </a:rPr>
              <a:t>اوُنمَ</a:t>
            </a:r>
            <a:r>
              <a:rPr dirty="0" u="none" baseline="-3875" sz="3225" spc="165">
                <a:latin typeface="Arial"/>
                <a:cs typeface="Arial"/>
              </a:rPr>
              <a:t> </a:t>
            </a:r>
            <a:r>
              <a:rPr dirty="0" u="none" baseline="-1291" sz="3225" spc="-450">
                <a:latin typeface="Arial"/>
                <a:cs typeface="Arial"/>
              </a:rPr>
              <a:t>اءَ</a:t>
            </a:r>
            <a:r>
              <a:rPr dirty="0" u="none" baseline="-1291" sz="3225">
                <a:latin typeface="Arial"/>
                <a:cs typeface="Arial"/>
              </a:rPr>
              <a:t> </a:t>
            </a:r>
            <a:r>
              <a:rPr dirty="0" u="none" baseline="-1291" sz="3225" spc="427">
                <a:latin typeface="Arial"/>
                <a:cs typeface="Arial"/>
              </a:rPr>
              <a:t> </a:t>
            </a:r>
            <a:r>
              <a:rPr dirty="0" u="none" baseline="3875" sz="3225" spc="-705">
                <a:latin typeface="Arial"/>
                <a:cs typeface="Arial"/>
              </a:rPr>
              <a:t>نَ</a:t>
            </a:r>
            <a:r>
              <a:rPr dirty="0" u="none" baseline="3875" sz="3225">
                <a:latin typeface="Arial"/>
                <a:cs typeface="Arial"/>
              </a:rPr>
              <a:t> </a:t>
            </a:r>
            <a:r>
              <a:rPr dirty="0" u="none" baseline="3875" sz="3225" spc="-412">
                <a:latin typeface="Arial"/>
                <a:cs typeface="Arial"/>
              </a:rPr>
              <a:t> </a:t>
            </a:r>
            <a:r>
              <a:rPr dirty="0" u="none" sz="2150" spc="-455">
                <a:latin typeface="Arial"/>
                <a:cs typeface="Arial"/>
              </a:rPr>
              <a:t>يذِ</a:t>
            </a:r>
            <a:r>
              <a:rPr dirty="0" u="none" sz="2150" spc="-65">
                <a:latin typeface="Arial"/>
                <a:cs typeface="Arial"/>
              </a:rPr>
              <a:t> </a:t>
            </a:r>
            <a:r>
              <a:rPr dirty="0" u="none" baseline="1291" sz="3225" spc="-240">
                <a:latin typeface="Arial"/>
                <a:cs typeface="Arial"/>
              </a:rPr>
              <a:t>ﱠلٱ</a:t>
            </a:r>
            <a:r>
              <a:rPr dirty="0" u="none" baseline="1291" sz="3225" spc="-22">
                <a:latin typeface="Arial"/>
                <a:cs typeface="Arial"/>
              </a:rPr>
              <a:t> </a:t>
            </a:r>
            <a:r>
              <a:rPr dirty="0" u="none" sz="2150" spc="-204">
                <a:latin typeface="Arial"/>
                <a:cs typeface="Arial"/>
              </a:rPr>
              <a:t>اهَ</a:t>
            </a:r>
            <a:r>
              <a:rPr dirty="0" u="none" sz="2150" spc="260">
                <a:latin typeface="Arial"/>
                <a:cs typeface="Arial"/>
              </a:rPr>
              <a:t> </a:t>
            </a:r>
            <a:r>
              <a:rPr dirty="0" u="none" baseline="1291" sz="3225" spc="-300">
                <a:latin typeface="Arial"/>
                <a:cs typeface="Arial"/>
              </a:rPr>
              <a:t>ﱡيَأٓـَي</a:t>
            </a:r>
            <a:endParaRPr baseline="1291" sz="3225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4712" y="2152875"/>
            <a:ext cx="7861934" cy="3258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L="1859280" marR="1854200">
              <a:lnSpc>
                <a:spcPct val="100000"/>
              </a:lnSpc>
              <a:spcBef>
                <a:spcPts val="95"/>
              </a:spcBef>
            </a:pPr>
            <a:r>
              <a:rPr dirty="0" baseline="2583" sz="3225" spc="-705" b="1">
                <a:solidFill>
                  <a:srgbClr val="0070BF"/>
                </a:solidFill>
                <a:latin typeface="Arial"/>
                <a:cs typeface="Arial"/>
              </a:rPr>
              <a:t>نَ</a:t>
            </a:r>
            <a:r>
              <a:rPr dirty="0" baseline="2583" sz="32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2583" sz="3225" spc="-412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6459" sz="3225" spc="-352" b="1">
                <a:solidFill>
                  <a:srgbClr val="0070BF"/>
                </a:solidFill>
                <a:latin typeface="Arial"/>
                <a:cs typeface="Arial"/>
              </a:rPr>
              <a:t>ورُ</a:t>
            </a:r>
            <a:r>
              <a:rPr dirty="0" baseline="-6459" sz="3225" spc="6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9043" sz="3225" spc="-742" b="1">
                <a:solidFill>
                  <a:srgbClr val="0070BF"/>
                </a:solidFill>
                <a:latin typeface="Arial"/>
                <a:cs typeface="Arial"/>
              </a:rPr>
              <a:t>ُعشۡ</a:t>
            </a:r>
            <a:r>
              <a:rPr dirty="0" baseline="9043" sz="32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9043" sz="3225" spc="-412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150" spc="-380" b="1">
                <a:solidFill>
                  <a:srgbClr val="0070BF"/>
                </a:solidFill>
                <a:latin typeface="Arial"/>
                <a:cs typeface="Arial"/>
              </a:rPr>
              <a:t>َت</a:t>
            </a:r>
            <a:r>
              <a:rPr dirty="0" sz="215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5167" sz="3225" spc="-457" b="1">
                <a:solidFill>
                  <a:srgbClr val="0070BF"/>
                </a:solidFill>
                <a:latin typeface="Arial"/>
                <a:cs typeface="Arial"/>
              </a:rPr>
              <a:t>ﻻَ</a:t>
            </a:r>
            <a:r>
              <a:rPr dirty="0" baseline="5167" sz="32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5167" sz="3225" spc="-89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291" sz="3225" spc="-322" b="1">
                <a:solidFill>
                  <a:srgbClr val="0070BF"/>
                </a:solidFill>
                <a:latin typeface="Arial"/>
                <a:cs typeface="Arial"/>
              </a:rPr>
              <a:t>مۡ</a:t>
            </a:r>
            <a:r>
              <a:rPr dirty="0" baseline="1291" sz="3225" spc="-419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3875" sz="3225" spc="-427" b="1">
                <a:solidFill>
                  <a:srgbClr val="0070BF"/>
                </a:solidFill>
                <a:latin typeface="Arial"/>
                <a:cs typeface="Arial"/>
              </a:rPr>
              <a:t>ُتنَأوَ</a:t>
            </a:r>
            <a:r>
              <a:rPr dirty="0" baseline="-3875" sz="32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3875" sz="3225" spc="3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291" sz="3225" spc="-337" b="1">
                <a:solidFill>
                  <a:srgbClr val="0070BF"/>
                </a:solidFill>
                <a:latin typeface="Arial"/>
                <a:cs typeface="Arial"/>
              </a:rPr>
              <a:t>مۡ</a:t>
            </a:r>
            <a:r>
              <a:rPr dirty="0" baseline="1291" sz="3225" spc="-2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150" spc="-575" b="1">
                <a:solidFill>
                  <a:srgbClr val="0070BF"/>
                </a:solidFill>
                <a:latin typeface="Arial"/>
                <a:cs typeface="Arial"/>
              </a:rPr>
              <a:t>كُ</a:t>
            </a:r>
            <a:r>
              <a:rPr dirty="0" sz="2150" spc="1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5167" sz="3225" spc="-397" b="1">
                <a:solidFill>
                  <a:srgbClr val="0070BF"/>
                </a:solidFill>
                <a:latin typeface="Arial"/>
                <a:cs typeface="Arial"/>
              </a:rPr>
              <a:t>ُلمَ</a:t>
            </a:r>
            <a:r>
              <a:rPr dirty="0" baseline="-5167" sz="3225" spc="19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9043" sz="3225" spc="-660" b="1">
                <a:solidFill>
                  <a:srgbClr val="0070BF"/>
                </a:solidFill>
                <a:latin typeface="Arial"/>
                <a:cs typeface="Arial"/>
              </a:rPr>
              <a:t>عۡ</a:t>
            </a:r>
            <a:r>
              <a:rPr dirty="0" baseline="9043" sz="3225" spc="292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150" spc="30" b="1">
                <a:solidFill>
                  <a:srgbClr val="0070BF"/>
                </a:solidFill>
                <a:latin typeface="Arial"/>
                <a:cs typeface="Arial"/>
              </a:rPr>
              <a:t>َأ</a:t>
            </a:r>
            <a:r>
              <a:rPr dirty="0" sz="2150" spc="-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9043" sz="3225" spc="-825" b="1">
                <a:solidFill>
                  <a:srgbClr val="0070BF"/>
                </a:solidFill>
                <a:latin typeface="Arial"/>
                <a:cs typeface="Arial"/>
              </a:rPr>
              <a:t>طَ</a:t>
            </a:r>
            <a:r>
              <a:rPr dirty="0" baseline="9043" sz="32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9043" sz="3225" spc="-18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6459" sz="3225" spc="-607" b="1">
                <a:solidFill>
                  <a:srgbClr val="0070BF"/>
                </a:solidFill>
                <a:latin typeface="Arial"/>
                <a:cs typeface="Arial"/>
              </a:rPr>
              <a:t>َبحۡ</a:t>
            </a:r>
            <a:r>
              <a:rPr dirty="0" baseline="6459" sz="32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150" spc="-380" b="1">
                <a:solidFill>
                  <a:srgbClr val="0070BF"/>
                </a:solidFill>
                <a:latin typeface="Arial"/>
                <a:cs typeface="Arial"/>
              </a:rPr>
              <a:t>َت</a:t>
            </a:r>
            <a:r>
              <a:rPr dirty="0" sz="215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150" spc="-5" b="1">
                <a:solidFill>
                  <a:srgbClr val="0070BF"/>
                </a:solidFill>
                <a:latin typeface="Arial"/>
                <a:cs typeface="Arial"/>
              </a:rPr>
              <a:t>نَأ</a:t>
            </a:r>
            <a:r>
              <a:rPr dirty="0" sz="2150" spc="-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3875" sz="3225" spc="-1050" b="1">
                <a:solidFill>
                  <a:srgbClr val="0070BF"/>
                </a:solidFill>
                <a:latin typeface="Arial"/>
                <a:cs typeface="Arial"/>
              </a:rPr>
              <a:t>ضٍ</a:t>
            </a:r>
            <a:r>
              <a:rPr dirty="0" baseline="-3875" sz="32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3875" sz="3225" spc="30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5167" sz="3225" spc="-705" b="1">
                <a:solidFill>
                  <a:srgbClr val="0070BF"/>
                </a:solidFill>
                <a:latin typeface="Arial"/>
                <a:cs typeface="Arial"/>
              </a:rPr>
              <a:t>عۡ</a:t>
            </a:r>
            <a:r>
              <a:rPr dirty="0" baseline="5167" sz="3225" spc="-12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2583" sz="3225" spc="-1214" b="1">
                <a:solidFill>
                  <a:srgbClr val="0070BF"/>
                </a:solidFill>
                <a:latin typeface="Arial"/>
                <a:cs typeface="Arial"/>
              </a:rPr>
              <a:t>َبلِ</a:t>
            </a:r>
            <a:r>
              <a:rPr dirty="0" baseline="-2583" sz="32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2583" sz="3225" spc="-284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291" sz="3225" spc="-337" b="1">
                <a:solidFill>
                  <a:srgbClr val="0070BF"/>
                </a:solidFill>
                <a:latin typeface="Arial"/>
                <a:cs typeface="Arial"/>
              </a:rPr>
              <a:t>مۡ</a:t>
            </a:r>
            <a:r>
              <a:rPr dirty="0" baseline="1291" sz="3225" spc="-254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150" spc="-575" b="1">
                <a:solidFill>
                  <a:srgbClr val="0070BF"/>
                </a:solidFill>
                <a:latin typeface="Arial"/>
                <a:cs typeface="Arial"/>
              </a:rPr>
              <a:t>كُ</a:t>
            </a:r>
            <a:r>
              <a:rPr dirty="0" sz="2150" spc="17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6459" sz="3225" spc="-1252" b="1">
                <a:solidFill>
                  <a:srgbClr val="0070BF"/>
                </a:solidFill>
                <a:latin typeface="Arial"/>
                <a:cs typeface="Arial"/>
              </a:rPr>
              <a:t>ضِ</a:t>
            </a:r>
            <a:r>
              <a:rPr dirty="0" baseline="-6459" sz="32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6459" sz="3225" spc="-24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5167" sz="3225" spc="-705" b="1">
                <a:solidFill>
                  <a:srgbClr val="0070BF"/>
                </a:solidFill>
                <a:latin typeface="Arial"/>
                <a:cs typeface="Arial"/>
              </a:rPr>
              <a:t>عۡ</a:t>
            </a:r>
            <a:r>
              <a:rPr dirty="0" baseline="5167" sz="3225" spc="-12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2150" spc="-400" b="1">
                <a:solidFill>
                  <a:srgbClr val="0070BF"/>
                </a:solidFill>
                <a:latin typeface="Arial"/>
                <a:cs typeface="Arial"/>
              </a:rPr>
              <a:t>َب</a:t>
            </a:r>
            <a:endParaRPr sz="2150">
              <a:latin typeface="Arial"/>
              <a:cs typeface="Arial"/>
            </a:endParaRPr>
          </a:p>
          <a:p>
            <a:pPr algn="r" marL="376555" marR="43180">
              <a:lnSpc>
                <a:spcPts val="2330"/>
              </a:lnSpc>
              <a:spcBef>
                <a:spcPts val="405"/>
              </a:spcBef>
            </a:pPr>
            <a:r>
              <a:rPr dirty="0" sz="2150" spc="370" b="1">
                <a:latin typeface="Courier New"/>
                <a:cs typeface="Courier New"/>
              </a:rPr>
              <a:t>ӥ</a:t>
            </a:r>
            <a:r>
              <a:rPr dirty="0" sz="2150" spc="-919" b="1">
                <a:latin typeface="Courier New"/>
                <a:cs typeface="Courier New"/>
              </a:rPr>
              <a:t> </a:t>
            </a:r>
            <a:r>
              <a:rPr dirty="0" sz="2150" spc="-520" b="1">
                <a:latin typeface="Courier New"/>
                <a:cs typeface="Courier New"/>
              </a:rPr>
              <a:t>ےﴎود</a:t>
            </a:r>
            <a:r>
              <a:rPr dirty="0" sz="2150" spc="-894" b="1">
                <a:latin typeface="Courier New"/>
                <a:cs typeface="Courier New"/>
              </a:rPr>
              <a:t> </a:t>
            </a:r>
            <a:r>
              <a:rPr dirty="0" sz="2150" spc="-580" b="1">
                <a:latin typeface="Courier New"/>
                <a:cs typeface="Courier New"/>
              </a:rPr>
              <a:t>ک</a:t>
            </a:r>
            <a:r>
              <a:rPr dirty="0" sz="2150" spc="-580" b="1">
                <a:latin typeface="Courier New"/>
                <a:cs typeface="Courier New"/>
              </a:rPr>
              <a:t>,</a:t>
            </a:r>
            <a:r>
              <a:rPr dirty="0" sz="2150" spc="-580" b="1">
                <a:latin typeface="Courier New"/>
                <a:cs typeface="Courier New"/>
              </a:rPr>
              <a:t>ا</a:t>
            </a:r>
            <a:r>
              <a:rPr dirty="0" sz="2150" spc="-875" b="1">
                <a:latin typeface="Courier New"/>
                <a:cs typeface="Courier New"/>
              </a:rPr>
              <a:t> </a:t>
            </a:r>
            <a:r>
              <a:rPr dirty="0" sz="2150" spc="-905" b="1">
                <a:latin typeface="Courier New"/>
                <a:cs typeface="Courier New"/>
              </a:rPr>
              <a:t>܌</a:t>
            </a:r>
            <a:r>
              <a:rPr dirty="0" sz="2150" spc="-905" b="1">
                <a:latin typeface="Courier New"/>
                <a:cs typeface="Courier New"/>
              </a:rPr>
              <a:t>م</a:t>
            </a:r>
            <a:r>
              <a:rPr dirty="0" sz="2150" spc="-894" b="1">
                <a:latin typeface="Courier New"/>
                <a:cs typeface="Courier New"/>
              </a:rPr>
              <a:t> </a:t>
            </a:r>
            <a:r>
              <a:rPr dirty="0" sz="2150" spc="-660" b="1">
                <a:latin typeface="Courier New"/>
                <a:cs typeface="Courier New"/>
              </a:rPr>
              <a:t>س</a:t>
            </a:r>
            <a:r>
              <a:rPr dirty="0" sz="2150" spc="-660" b="1">
                <a:latin typeface="Courier New"/>
                <a:cs typeface="Courier New"/>
              </a:rPr>
              <a:t>s</a:t>
            </a:r>
            <a:r>
              <a:rPr dirty="0" baseline="3875" sz="3225" spc="-989" b="1">
                <a:latin typeface="Courier New"/>
                <a:cs typeface="Courier New"/>
              </a:rPr>
              <a:t>ٓ</a:t>
            </a:r>
            <a:r>
              <a:rPr dirty="0" sz="2150" spc="-660" b="1">
                <a:latin typeface="Courier New"/>
                <a:cs typeface="Courier New"/>
              </a:rPr>
              <a:t>ǫ</a:t>
            </a:r>
            <a:r>
              <a:rPr dirty="0" sz="2150" spc="-875" b="1">
                <a:latin typeface="Courier New"/>
                <a:cs typeface="Courier New"/>
              </a:rPr>
              <a:t> </a:t>
            </a:r>
            <a:r>
              <a:rPr dirty="0" sz="2150" spc="-55" b="1">
                <a:latin typeface="Courier New"/>
                <a:cs typeface="Courier New"/>
              </a:rPr>
              <a:t>ԏ</a:t>
            </a:r>
            <a:r>
              <a:rPr dirty="0" baseline="1291" sz="3225" spc="-82" b="1">
                <a:latin typeface="Courier New"/>
                <a:cs typeface="Courier New"/>
              </a:rPr>
              <a:t>v</a:t>
            </a:r>
            <a:r>
              <a:rPr dirty="0" baseline="1291" sz="3225" spc="-1335" b="1">
                <a:latin typeface="Courier New"/>
                <a:cs typeface="Courier New"/>
              </a:rPr>
              <a:t> </a:t>
            </a:r>
            <a:r>
              <a:rPr dirty="0" sz="2150" spc="-805" b="1">
                <a:latin typeface="Courier New"/>
                <a:cs typeface="Courier New"/>
              </a:rPr>
              <a:t>ور</a:t>
            </a:r>
            <a:r>
              <a:rPr dirty="0" sz="2150" spc="-805" b="1">
                <a:latin typeface="Courier New"/>
                <a:cs typeface="Courier New"/>
              </a:rPr>
              <a:t>ϼ</a:t>
            </a:r>
            <a:r>
              <a:rPr dirty="0" sz="2150" spc="-894" b="1">
                <a:latin typeface="Courier New"/>
                <a:cs typeface="Courier New"/>
              </a:rPr>
              <a:t> </a:t>
            </a:r>
            <a:r>
              <a:rPr dirty="0" sz="2150" spc="-365" b="1">
                <a:latin typeface="Courier New"/>
                <a:cs typeface="Courier New"/>
              </a:rPr>
              <a:t>ت</a:t>
            </a:r>
            <a:r>
              <a:rPr dirty="0" sz="2150" spc="-365" b="1">
                <a:latin typeface="Courier New"/>
                <a:cs typeface="Courier New"/>
              </a:rPr>
              <a:t>Դ</a:t>
            </a:r>
            <a:r>
              <a:rPr dirty="0" sz="2150" spc="-880" b="1">
                <a:latin typeface="Courier New"/>
                <a:cs typeface="Courier New"/>
              </a:rPr>
              <a:t> </a:t>
            </a:r>
            <a:r>
              <a:rPr dirty="0" sz="2150" spc="370" b="1">
                <a:latin typeface="Courier New"/>
                <a:cs typeface="Courier New"/>
              </a:rPr>
              <a:t>ӥ</a:t>
            </a:r>
            <a:r>
              <a:rPr dirty="0" sz="2150" spc="-915" b="1">
                <a:latin typeface="Courier New"/>
                <a:cs typeface="Courier New"/>
              </a:rPr>
              <a:t> </a:t>
            </a:r>
            <a:r>
              <a:rPr dirty="0" baseline="3875" sz="3225" spc="-1425" b="1">
                <a:latin typeface="Courier New"/>
                <a:cs typeface="Courier New"/>
              </a:rPr>
              <a:t>زاوٓ</a:t>
            </a:r>
            <a:r>
              <a:rPr dirty="0" sz="2150" spc="-950" b="1">
                <a:latin typeface="Courier New"/>
                <a:cs typeface="Courier New"/>
              </a:rPr>
              <a:t>ǫ</a:t>
            </a:r>
            <a:r>
              <a:rPr dirty="0" sz="2150" spc="-885" b="1">
                <a:latin typeface="Courier New"/>
                <a:cs typeface="Courier New"/>
              </a:rPr>
              <a:t> </a:t>
            </a:r>
            <a:r>
              <a:rPr dirty="0" sz="2150" spc="-760" b="1">
                <a:latin typeface="Courier New"/>
                <a:cs typeface="Courier New"/>
              </a:rPr>
              <a:t>ی</a:t>
            </a:r>
            <a:r>
              <a:rPr dirty="0" sz="2150" spc="-760" b="1">
                <a:latin typeface="Courier New"/>
                <a:cs typeface="Courier New"/>
              </a:rPr>
              <a:t>έ</a:t>
            </a:r>
            <a:r>
              <a:rPr dirty="0" sz="2150" spc="-760" b="1">
                <a:latin typeface="Courier New"/>
                <a:cs typeface="Courier New"/>
              </a:rPr>
              <a:t>نوا</a:t>
            </a:r>
            <a:r>
              <a:rPr dirty="0" sz="2150" spc="-880" b="1">
                <a:latin typeface="Courier New"/>
                <a:cs typeface="Courier New"/>
              </a:rPr>
              <a:t> </a:t>
            </a:r>
            <a:r>
              <a:rPr dirty="0" sz="2150" spc="370" b="1">
                <a:latin typeface="Courier New"/>
                <a:cs typeface="Courier New"/>
              </a:rPr>
              <a:t>ӥ</a:t>
            </a:r>
            <a:r>
              <a:rPr dirty="0" sz="2150" spc="-894" b="1">
                <a:latin typeface="Courier New"/>
                <a:cs typeface="Courier New"/>
              </a:rPr>
              <a:t> </a:t>
            </a:r>
            <a:r>
              <a:rPr dirty="0" sz="2150" spc="-745" b="1">
                <a:latin typeface="Courier New"/>
                <a:cs typeface="Courier New"/>
              </a:rPr>
              <a:t>نا</a:t>
            </a:r>
            <a:r>
              <a:rPr dirty="0" sz="2150" spc="-869" b="1">
                <a:latin typeface="Courier New"/>
                <a:cs typeface="Courier New"/>
              </a:rPr>
              <a:t> </a:t>
            </a:r>
            <a:r>
              <a:rPr dirty="0" sz="2150" spc="-955" b="1">
                <a:latin typeface="Courier New"/>
                <a:cs typeface="Courier New"/>
              </a:rPr>
              <a:t>ہن</a:t>
            </a:r>
            <a:r>
              <a:rPr dirty="0" sz="2150" spc="-880" b="1">
                <a:latin typeface="Courier New"/>
                <a:cs typeface="Courier New"/>
              </a:rPr>
              <a:t> </a:t>
            </a:r>
            <a:r>
              <a:rPr dirty="0" sz="2150" spc="-800" b="1">
                <a:latin typeface="Courier New"/>
                <a:cs typeface="Courier New"/>
              </a:rPr>
              <a:t>روا</a:t>
            </a:r>
            <a:r>
              <a:rPr dirty="0" sz="2150" spc="-915" b="1">
                <a:latin typeface="Courier New"/>
                <a:cs typeface="Courier New"/>
              </a:rPr>
              <a:t> </a:t>
            </a:r>
            <a:r>
              <a:rPr dirty="0" sz="2150" spc="-805" b="1">
                <a:latin typeface="Courier New"/>
                <a:cs typeface="Courier New"/>
              </a:rPr>
              <a:t>ور</a:t>
            </a:r>
            <a:r>
              <a:rPr dirty="0" sz="2150" spc="-805" b="1">
                <a:latin typeface="Courier New"/>
                <a:cs typeface="Courier New"/>
              </a:rPr>
              <a:t>ϼ</a:t>
            </a:r>
            <a:r>
              <a:rPr dirty="0" sz="2150" spc="-869" b="1">
                <a:latin typeface="Courier New"/>
                <a:cs typeface="Courier New"/>
              </a:rPr>
              <a:t> </a:t>
            </a:r>
            <a:r>
              <a:rPr dirty="0" sz="2150" spc="-955" b="1">
                <a:latin typeface="Courier New"/>
                <a:cs typeface="Courier New"/>
              </a:rPr>
              <a:t>ہن</a:t>
            </a:r>
            <a:r>
              <a:rPr dirty="0" sz="2150" spc="-900" b="1">
                <a:latin typeface="Courier New"/>
                <a:cs typeface="Courier New"/>
              </a:rPr>
              <a:t> </a:t>
            </a:r>
            <a:r>
              <a:rPr dirty="0" sz="2150" spc="-819" b="1">
                <a:latin typeface="Courier New"/>
                <a:cs typeface="Courier New"/>
              </a:rPr>
              <a:t>ر</a:t>
            </a:r>
            <a:r>
              <a:rPr dirty="0" sz="2150" spc="-819" b="1">
                <a:latin typeface="Courier New"/>
                <a:cs typeface="Courier New"/>
              </a:rPr>
              <a:t>,</a:t>
            </a:r>
            <a:r>
              <a:rPr dirty="0" sz="2150" spc="-819" b="1">
                <a:latin typeface="Courier New"/>
                <a:cs typeface="Courier New"/>
              </a:rPr>
              <a:t>وا</a:t>
            </a:r>
            <a:r>
              <a:rPr dirty="0" sz="2150" spc="-880" b="1">
                <a:latin typeface="Courier New"/>
                <a:cs typeface="Courier New"/>
              </a:rPr>
              <a:t> </a:t>
            </a:r>
            <a:r>
              <a:rPr dirty="0" sz="2150" spc="370" b="1">
                <a:latin typeface="Courier New"/>
                <a:cs typeface="Courier New"/>
              </a:rPr>
              <a:t>ӥ</a:t>
            </a:r>
            <a:r>
              <a:rPr dirty="0" sz="2150" spc="-915" b="1">
                <a:latin typeface="Courier New"/>
                <a:cs typeface="Courier New"/>
              </a:rPr>
              <a:t> </a:t>
            </a:r>
            <a:r>
              <a:rPr dirty="0" baseline="3875" sz="3225" spc="-1439" b="1">
                <a:latin typeface="Courier New"/>
                <a:cs typeface="Courier New"/>
              </a:rPr>
              <a:t>زاوٓ</a:t>
            </a:r>
            <a:r>
              <a:rPr dirty="0" sz="2150" spc="-960" b="1">
                <a:latin typeface="Courier New"/>
                <a:cs typeface="Courier New"/>
              </a:rPr>
              <a:t>ǫ</a:t>
            </a:r>
            <a:r>
              <a:rPr dirty="0" sz="2150" spc="-855" b="1">
                <a:latin typeface="Courier New"/>
                <a:cs typeface="Courier New"/>
              </a:rPr>
              <a:t> </a:t>
            </a:r>
            <a:r>
              <a:rPr dirty="0" sz="2150" spc="-1120" b="1">
                <a:latin typeface="Courier New"/>
                <a:cs typeface="Courier New"/>
              </a:rPr>
              <a:t>ﰽ</a:t>
            </a:r>
            <a:r>
              <a:rPr dirty="0" sz="2150" spc="-894" b="1">
                <a:latin typeface="Courier New"/>
                <a:cs typeface="Courier New"/>
              </a:rPr>
              <a:t> </a:t>
            </a:r>
            <a:r>
              <a:rPr dirty="0" sz="2150" spc="-620" b="1">
                <a:latin typeface="Courier New"/>
                <a:cs typeface="Courier New"/>
              </a:rPr>
              <a:t>ﱮن</a:t>
            </a:r>
            <a:r>
              <a:rPr dirty="0" sz="2150" spc="-880" b="1">
                <a:latin typeface="Courier New"/>
                <a:cs typeface="Courier New"/>
              </a:rPr>
              <a:t> </a:t>
            </a:r>
            <a:r>
              <a:rPr dirty="0" sz="2150" spc="-919" b="1">
                <a:latin typeface="Courier New"/>
                <a:cs typeface="Courier New"/>
              </a:rPr>
              <a:t>ں</a:t>
            </a:r>
            <a:r>
              <a:rPr dirty="0" sz="2150" spc="-919" b="1">
                <a:latin typeface="Courier New"/>
                <a:cs typeface="Courier New"/>
              </a:rPr>
              <a:t>,</a:t>
            </a:r>
            <a:r>
              <a:rPr dirty="0" baseline="3875" sz="3225" spc="-1380" b="1">
                <a:latin typeface="Courier New"/>
                <a:cs typeface="Courier New"/>
              </a:rPr>
              <a:t>زاوٓ</a:t>
            </a:r>
            <a:r>
              <a:rPr dirty="0" sz="2150" spc="-919" b="1">
                <a:latin typeface="Courier New"/>
                <a:cs typeface="Courier New"/>
              </a:rPr>
              <a:t>ǫ</a:t>
            </a:r>
            <a:r>
              <a:rPr dirty="0" sz="2150" spc="-880" b="1">
                <a:latin typeface="Courier New"/>
                <a:cs typeface="Courier New"/>
              </a:rPr>
              <a:t> </a:t>
            </a:r>
            <a:r>
              <a:rPr dirty="0" sz="2150" spc="-720" b="1">
                <a:latin typeface="Courier New"/>
                <a:cs typeface="Courier New"/>
              </a:rPr>
              <a:t>ﲎپا</a:t>
            </a:r>
            <a:r>
              <a:rPr dirty="0" sz="2150" spc="-885" b="1">
                <a:latin typeface="Courier New"/>
                <a:cs typeface="Courier New"/>
              </a:rPr>
              <a:t> </a:t>
            </a:r>
            <a:r>
              <a:rPr dirty="0" sz="2150" spc="-880" b="1">
                <a:latin typeface="Courier New"/>
                <a:cs typeface="Courier New"/>
              </a:rPr>
              <a:t>!</a:t>
            </a:r>
            <a:r>
              <a:rPr dirty="0" sz="2150" spc="-880" b="1">
                <a:latin typeface="Courier New"/>
                <a:cs typeface="Courier New"/>
              </a:rPr>
              <a:t>ولاو</a:t>
            </a:r>
            <a:r>
              <a:rPr dirty="0" sz="2150" spc="-885" b="1">
                <a:latin typeface="Courier New"/>
                <a:cs typeface="Courier New"/>
              </a:rPr>
              <a:t> </a:t>
            </a:r>
            <a:r>
              <a:rPr dirty="0" sz="2150" spc="-810" b="1">
                <a:latin typeface="Courier New"/>
                <a:cs typeface="Courier New"/>
              </a:rPr>
              <a:t>ناﳝا</a:t>
            </a:r>
            <a:r>
              <a:rPr dirty="0" sz="2150" spc="-869" b="1">
                <a:latin typeface="Courier New"/>
                <a:cs typeface="Courier New"/>
              </a:rPr>
              <a:t> </a:t>
            </a:r>
            <a:r>
              <a:rPr dirty="0" sz="2150" spc="-540" b="1">
                <a:latin typeface="Courier New"/>
                <a:cs typeface="Courier New"/>
              </a:rPr>
              <a:t>ےا</a:t>
            </a:r>
            <a:r>
              <a:rPr dirty="0" sz="2150" spc="535" b="1">
                <a:latin typeface="Courier New"/>
                <a:cs typeface="Courier New"/>
              </a:rPr>
              <a:t> </a:t>
            </a:r>
            <a:r>
              <a:rPr dirty="0" sz="2150" spc="-660" b="1">
                <a:latin typeface="Courier New"/>
                <a:cs typeface="Courier New"/>
              </a:rPr>
              <a:t>و</a:t>
            </a:r>
            <a:r>
              <a:rPr dirty="0" sz="2150" spc="-660" b="1">
                <a:latin typeface="Courier New"/>
                <a:cs typeface="Courier New"/>
              </a:rPr>
              <a:t>я</a:t>
            </a:r>
            <a:r>
              <a:rPr dirty="0" sz="2150" spc="-894" b="1">
                <a:latin typeface="Courier New"/>
                <a:cs typeface="Courier New"/>
              </a:rPr>
              <a:t> </a:t>
            </a:r>
            <a:r>
              <a:rPr dirty="0" sz="2150" spc="-955" b="1">
                <a:latin typeface="Courier New"/>
                <a:cs typeface="Courier New"/>
              </a:rPr>
              <a:t>ہن</a:t>
            </a:r>
            <a:r>
              <a:rPr dirty="0" sz="2150" spc="-855" b="1">
                <a:latin typeface="Courier New"/>
                <a:cs typeface="Courier New"/>
              </a:rPr>
              <a:t> </a:t>
            </a:r>
            <a:r>
              <a:rPr dirty="0" sz="2150" spc="-860" b="1">
                <a:latin typeface="Courier New"/>
                <a:cs typeface="Courier New"/>
              </a:rPr>
              <a:t>ی</a:t>
            </a:r>
            <a:r>
              <a:rPr dirty="0" sz="2150" spc="-860" b="1">
                <a:latin typeface="Courier New"/>
                <a:cs typeface="Courier New"/>
              </a:rPr>
              <a:t>˛</a:t>
            </a:r>
            <a:r>
              <a:rPr dirty="0" baseline="1291" sz="3225" spc="-1289" b="1">
                <a:latin typeface="Courier New"/>
                <a:cs typeface="Courier New"/>
              </a:rPr>
              <a:t>ھب</a:t>
            </a:r>
            <a:r>
              <a:rPr dirty="0" baseline="1291" sz="3225" spc="-1305" b="1">
                <a:latin typeface="Courier New"/>
                <a:cs typeface="Courier New"/>
              </a:rPr>
              <a:t> </a:t>
            </a:r>
            <a:r>
              <a:rPr dirty="0" sz="2150" spc="-440" b="1">
                <a:latin typeface="Courier New"/>
                <a:cs typeface="Courier New"/>
              </a:rPr>
              <a:t>ﱪ</a:t>
            </a:r>
            <a:r>
              <a:rPr dirty="0" sz="2150" spc="-440" b="1">
                <a:latin typeface="Courier New"/>
                <a:cs typeface="Courier New"/>
              </a:rPr>
              <a:t>i</a:t>
            </a:r>
            <a:r>
              <a:rPr dirty="0" sz="2150" spc="-900" b="1">
                <a:latin typeface="Courier New"/>
                <a:cs typeface="Courier New"/>
              </a:rPr>
              <a:t> </a:t>
            </a:r>
            <a:r>
              <a:rPr dirty="0" sz="2150" spc="-905" b="1">
                <a:latin typeface="Courier New"/>
                <a:cs typeface="Courier New"/>
              </a:rPr>
              <a:t>܌</a:t>
            </a:r>
            <a:r>
              <a:rPr dirty="0" sz="2150" spc="-905" b="1">
                <a:latin typeface="Courier New"/>
                <a:cs typeface="Courier New"/>
              </a:rPr>
              <a:t>ہﲤ</a:t>
            </a:r>
            <a:r>
              <a:rPr dirty="0" sz="2150" spc="-894" b="1">
                <a:latin typeface="Courier New"/>
                <a:cs typeface="Courier New"/>
              </a:rPr>
              <a:t> </a:t>
            </a:r>
            <a:r>
              <a:rPr dirty="0" sz="2150" spc="-800" b="1">
                <a:latin typeface="Courier New"/>
                <a:cs typeface="Courier New"/>
              </a:rPr>
              <a:t>روا</a:t>
            </a:r>
            <a:r>
              <a:rPr dirty="0" sz="2150" spc="-890" b="1">
                <a:latin typeface="Courier New"/>
                <a:cs typeface="Courier New"/>
              </a:rPr>
              <a:t> </a:t>
            </a:r>
            <a:r>
              <a:rPr dirty="0" sz="2150" spc="-885" b="1">
                <a:latin typeface="Courier New"/>
                <a:cs typeface="Courier New"/>
              </a:rPr>
              <a:t>܌</a:t>
            </a:r>
            <a:r>
              <a:rPr dirty="0" sz="2150" spc="-885" b="1">
                <a:latin typeface="Courier New"/>
                <a:cs typeface="Courier New"/>
              </a:rPr>
              <a:t>ئا</a:t>
            </a:r>
            <a:r>
              <a:rPr dirty="0" sz="2150" spc="-885" b="1">
                <a:latin typeface="Courier New"/>
                <a:cs typeface="Courier New"/>
              </a:rPr>
              <a:t>v</a:t>
            </a:r>
            <a:r>
              <a:rPr dirty="0" sz="2150" spc="-900" b="1">
                <a:latin typeface="Courier New"/>
                <a:cs typeface="Courier New"/>
              </a:rPr>
              <a:t> </a:t>
            </a:r>
            <a:r>
              <a:rPr dirty="0" sz="2150" spc="-850" b="1">
                <a:latin typeface="Courier New"/>
                <a:cs typeface="Courier New"/>
              </a:rPr>
              <a:t>ترﰷ</a:t>
            </a:r>
            <a:r>
              <a:rPr dirty="0" sz="2150" spc="-850" b="1">
                <a:latin typeface="Courier New"/>
                <a:cs typeface="Courier New"/>
              </a:rPr>
              <a:t>ǫ</a:t>
            </a:r>
            <a:r>
              <a:rPr dirty="0" sz="2150" spc="-885" b="1">
                <a:latin typeface="Courier New"/>
                <a:cs typeface="Courier New"/>
              </a:rPr>
              <a:t> </a:t>
            </a:r>
            <a:r>
              <a:rPr dirty="0" sz="2150" spc="-944" b="1">
                <a:latin typeface="Courier New"/>
                <a:cs typeface="Courier New"/>
              </a:rPr>
              <a:t>لﲈعا</a:t>
            </a:r>
            <a:r>
              <a:rPr dirty="0" sz="2150" spc="-900" b="1">
                <a:latin typeface="Courier New"/>
                <a:cs typeface="Courier New"/>
              </a:rPr>
              <a:t> </a:t>
            </a:r>
            <a:r>
              <a:rPr dirty="0" sz="2150" spc="-670" b="1">
                <a:latin typeface="Courier New"/>
                <a:cs typeface="Courier New"/>
              </a:rPr>
              <a:t>ےراہﲤ</a:t>
            </a:r>
            <a:r>
              <a:rPr dirty="0" sz="2150" spc="-900" b="1">
                <a:latin typeface="Courier New"/>
                <a:cs typeface="Courier New"/>
              </a:rPr>
              <a:t> </a:t>
            </a:r>
            <a:r>
              <a:rPr dirty="0" sz="2150" spc="-785" b="1">
                <a:latin typeface="Courier New"/>
                <a:cs typeface="Courier New"/>
              </a:rPr>
              <a:t>(</a:t>
            </a:r>
            <a:r>
              <a:rPr dirty="0" sz="2150" spc="-785" b="1">
                <a:latin typeface="Courier New"/>
                <a:cs typeface="Courier New"/>
              </a:rPr>
              <a:t>ہک</a:t>
            </a:r>
            <a:r>
              <a:rPr dirty="0" sz="2150" spc="-905" b="1">
                <a:latin typeface="Courier New"/>
                <a:cs typeface="Courier New"/>
              </a:rPr>
              <a:t> </a:t>
            </a:r>
            <a:r>
              <a:rPr dirty="0" sz="2150" spc="-655" b="1">
                <a:latin typeface="Courier New"/>
                <a:cs typeface="Courier New"/>
              </a:rPr>
              <a:t>و</a:t>
            </a:r>
            <a:r>
              <a:rPr dirty="0" sz="2150" spc="-655" b="1">
                <a:latin typeface="Courier New"/>
                <a:cs typeface="Courier New"/>
              </a:rPr>
              <a:t>я</a:t>
            </a:r>
            <a:r>
              <a:rPr dirty="0" sz="2150" spc="-869" b="1">
                <a:latin typeface="Courier New"/>
                <a:cs typeface="Courier New"/>
              </a:rPr>
              <a:t> </a:t>
            </a:r>
            <a:r>
              <a:rPr dirty="0" sz="2150" spc="-955" b="1">
                <a:latin typeface="Courier New"/>
                <a:cs typeface="Courier New"/>
              </a:rPr>
              <a:t>ہن</a:t>
            </a:r>
            <a:r>
              <a:rPr dirty="0" sz="2150" spc="-900" b="1">
                <a:latin typeface="Courier New"/>
                <a:cs typeface="Courier New"/>
              </a:rPr>
              <a:t> </a:t>
            </a:r>
            <a:r>
              <a:rPr dirty="0" sz="2150" spc="-800" b="1">
                <a:latin typeface="Courier New"/>
                <a:cs typeface="Courier New"/>
              </a:rPr>
              <a:t>اس</a:t>
            </a:r>
            <a:r>
              <a:rPr dirty="0" baseline="1291" sz="3225" spc="-1200" b="1">
                <a:latin typeface="Courier New"/>
                <a:cs typeface="Courier New"/>
              </a:rPr>
              <a:t>̼</a:t>
            </a:r>
            <a:r>
              <a:rPr dirty="0" sz="2150" spc="-800" b="1">
                <a:latin typeface="Courier New"/>
                <a:cs typeface="Courier New"/>
              </a:rPr>
              <a:t>ا</a:t>
            </a:r>
            <a:r>
              <a:rPr dirty="0" sz="2150" spc="-800" b="1">
                <a:latin typeface="Courier New"/>
                <a:cs typeface="Courier New"/>
              </a:rPr>
              <a:t>)</a:t>
            </a:r>
            <a:r>
              <a:rPr dirty="0" sz="2150" spc="-885" b="1">
                <a:latin typeface="Courier New"/>
                <a:cs typeface="Courier New"/>
              </a:rPr>
              <a:t> </a:t>
            </a:r>
            <a:r>
              <a:rPr dirty="0" sz="2150" spc="-880" b="1">
                <a:latin typeface="Courier New"/>
                <a:cs typeface="Courier New"/>
              </a:rPr>
              <a:t>܌</a:t>
            </a:r>
            <a:r>
              <a:rPr dirty="0" sz="2150" spc="-880" b="1">
                <a:latin typeface="Courier New"/>
                <a:cs typeface="Courier New"/>
              </a:rPr>
              <a:t>ہک</a:t>
            </a:r>
            <a:r>
              <a:rPr dirty="0" sz="2150" spc="-905" b="1">
                <a:latin typeface="Courier New"/>
                <a:cs typeface="Courier New"/>
              </a:rPr>
              <a:t> </a:t>
            </a:r>
            <a:r>
              <a:rPr dirty="0" sz="2150" spc="-690" b="1">
                <a:latin typeface="Courier New"/>
                <a:cs typeface="Courier New"/>
              </a:rPr>
              <a:t>،و</a:t>
            </a:r>
            <a:r>
              <a:rPr dirty="0" sz="2150" spc="-690" b="1">
                <a:latin typeface="Courier New"/>
                <a:cs typeface="Courier New"/>
              </a:rPr>
              <a:t>я</a:t>
            </a:r>
            <a:r>
              <a:rPr dirty="0" sz="2150" spc="-894" b="1">
                <a:latin typeface="Courier New"/>
                <a:cs typeface="Courier New"/>
              </a:rPr>
              <a:t> </a:t>
            </a:r>
            <a:r>
              <a:rPr dirty="0" sz="2150" spc="-540" b="1">
                <a:latin typeface="Courier New"/>
                <a:cs typeface="Courier New"/>
              </a:rPr>
              <a:t>ӟ</a:t>
            </a:r>
            <a:r>
              <a:rPr dirty="0" sz="2150" spc="-540" b="1">
                <a:latin typeface="Courier New"/>
                <a:cs typeface="Courier New"/>
              </a:rPr>
              <a:t>ر</a:t>
            </a:r>
            <a:r>
              <a:rPr dirty="0" sz="2150" spc="-540" b="1">
                <a:latin typeface="Courier New"/>
                <a:cs typeface="Courier New"/>
              </a:rPr>
              <a:t>ϼ</a:t>
            </a:r>
            <a:endParaRPr sz="2150">
              <a:latin typeface="Courier New"/>
              <a:cs typeface="Courier New"/>
            </a:endParaRPr>
          </a:p>
          <a:p>
            <a:pPr marL="50800" marR="199390">
              <a:lnSpc>
                <a:spcPct val="91300"/>
              </a:lnSpc>
              <a:spcBef>
                <a:spcPts val="1220"/>
              </a:spcBef>
            </a:pPr>
            <a:r>
              <a:rPr dirty="0" sz="1400" spc="-10" b="1">
                <a:latin typeface="Arial"/>
                <a:cs typeface="Arial"/>
              </a:rPr>
              <a:t>Translation: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“O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you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who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have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believed,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do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not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raise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your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voices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above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voice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of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Prophet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or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 spc="-25">
                <a:latin typeface="Microsoft Sans Serif"/>
                <a:cs typeface="Microsoft Sans Serif"/>
              </a:rPr>
              <a:t>be </a:t>
            </a:r>
            <a:r>
              <a:rPr dirty="0" sz="1300">
                <a:latin typeface="Microsoft Sans Serif"/>
                <a:cs typeface="Microsoft Sans Serif"/>
              </a:rPr>
              <a:t>loud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him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speech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like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loudness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of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some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of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you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others,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lest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your</a:t>
            </a:r>
            <a:r>
              <a:rPr dirty="0" sz="1300" spc="6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deeds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become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worthless </a:t>
            </a:r>
            <a:r>
              <a:rPr dirty="0" sz="1300">
                <a:latin typeface="Microsoft Sans Serif"/>
                <a:cs typeface="Microsoft Sans Serif"/>
              </a:rPr>
              <a:t>while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you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perceive </a:t>
            </a:r>
            <a:r>
              <a:rPr dirty="0" sz="1300" spc="-20">
                <a:latin typeface="Microsoft Sans Serif"/>
                <a:cs typeface="Microsoft Sans Serif"/>
              </a:rPr>
              <a:t>not.”</a:t>
            </a: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Microsoft Sans Serif"/>
              <a:cs typeface="Microsoft Sans Serif"/>
            </a:endParaRPr>
          </a:p>
          <a:p>
            <a:pPr marL="50800" marR="125095">
              <a:lnSpc>
                <a:spcPct val="92200"/>
              </a:lnSpc>
            </a:pPr>
            <a:r>
              <a:rPr dirty="0" sz="1400" b="1">
                <a:latin typeface="Arial"/>
                <a:cs typeface="Arial"/>
              </a:rPr>
              <a:t>Explanation:</a:t>
            </a:r>
            <a:r>
              <a:rPr dirty="0" sz="1400" spc="3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T</a:t>
            </a:r>
            <a:r>
              <a:rPr dirty="0" sz="1450">
                <a:latin typeface="Microsoft Sans Serif"/>
                <a:cs typeface="Microsoft Sans Serif"/>
              </a:rPr>
              <a:t>his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verse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instructs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us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to</a:t>
            </a:r>
            <a:r>
              <a:rPr dirty="0" sz="1450" spc="7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speak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gently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respectfully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when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addressing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 spc="-25">
                <a:latin typeface="Microsoft Sans Serif"/>
                <a:cs typeface="Microsoft Sans Serif"/>
              </a:rPr>
              <a:t>the </a:t>
            </a:r>
            <a:r>
              <a:rPr dirty="0" sz="1450">
                <a:latin typeface="Microsoft Sans Serif"/>
                <a:cs typeface="Microsoft Sans Serif"/>
              </a:rPr>
              <a:t>Prophet.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We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should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not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shout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or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speak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over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him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because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doing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so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can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diminish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value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 spc="-25">
                <a:latin typeface="Microsoft Sans Serif"/>
                <a:cs typeface="Microsoft Sans Serif"/>
              </a:rPr>
              <a:t>of </a:t>
            </a:r>
            <a:r>
              <a:rPr dirty="0" sz="1450">
                <a:latin typeface="Microsoft Sans Serif"/>
                <a:cs typeface="Microsoft Sans Serif"/>
              </a:rPr>
              <a:t>our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good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deeds.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It</a:t>
            </a:r>
            <a:r>
              <a:rPr dirty="0" sz="1450" spc="7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reminds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us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that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our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manner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communication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reflects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our</a:t>
            </a:r>
            <a:r>
              <a:rPr dirty="0" sz="1450" spc="6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inner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respect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humility.</a:t>
            </a:r>
            <a:endParaRPr sz="1450">
              <a:latin typeface="Microsoft Sans Serif"/>
              <a:cs typeface="Microsoft Sans Serif"/>
            </a:endParaRPr>
          </a:p>
          <a:p>
            <a:pPr marL="334010" indent="-283210">
              <a:lnSpc>
                <a:spcPts val="1019"/>
              </a:lnSpc>
              <a:buAutoNum type="arabicPeriod"/>
              <a:tabLst>
                <a:tab pos="334010" algn="l"/>
              </a:tabLst>
            </a:pP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teaches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us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0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speak</a:t>
            </a:r>
            <a:r>
              <a:rPr dirty="0" sz="10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gently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respectfully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when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addressing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(peace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upon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him).</a:t>
            </a:r>
            <a:endParaRPr sz="1000">
              <a:latin typeface="Trebuchet MS"/>
              <a:cs typeface="Trebuchet MS"/>
            </a:endParaRPr>
          </a:p>
          <a:p>
            <a:pPr marL="334010" indent="-283210">
              <a:lnSpc>
                <a:spcPts val="1070"/>
              </a:lnSpc>
              <a:buAutoNum type="arabicPeriod"/>
              <a:tabLst>
                <a:tab pos="334010" algn="l"/>
              </a:tabLst>
            </a:pP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We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should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never</a:t>
            </a:r>
            <a:r>
              <a:rPr dirty="0" sz="10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raise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voices</a:t>
            </a:r>
            <a:r>
              <a:rPr dirty="0" sz="10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above</a:t>
            </a:r>
            <a:r>
              <a:rPr dirty="0" sz="10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his,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showing</a:t>
            </a:r>
            <a:r>
              <a:rPr dirty="0" sz="10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honor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humility.</a:t>
            </a:r>
            <a:endParaRPr sz="1000">
              <a:latin typeface="Trebuchet MS"/>
              <a:cs typeface="Trebuchet MS"/>
            </a:endParaRPr>
          </a:p>
          <a:p>
            <a:pPr marL="334010" indent="-283210">
              <a:lnSpc>
                <a:spcPts val="1070"/>
              </a:lnSpc>
              <a:buAutoNum type="arabicPeriod"/>
              <a:tabLst>
                <a:tab pos="334010" algn="l"/>
              </a:tabLst>
            </a:pP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guidance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reminds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us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0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treat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those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high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rank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proper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respect.</a:t>
            </a:r>
            <a:endParaRPr sz="1000">
              <a:latin typeface="Trebuchet MS"/>
              <a:cs typeface="Trebuchet MS"/>
            </a:endParaRPr>
          </a:p>
          <a:p>
            <a:pPr marL="334010" indent="-283210">
              <a:lnSpc>
                <a:spcPts val="1135"/>
              </a:lnSpc>
              <a:buAutoNum type="arabicPeriod"/>
              <a:tabLst>
                <a:tab pos="334010" algn="l"/>
              </a:tabLst>
            </a:pP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Respecting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means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respecting</a:t>
            </a:r>
            <a:r>
              <a:rPr dirty="0" sz="1000" spc="-114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faith.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237219" y="1257300"/>
            <a:ext cx="295910" cy="341630"/>
          </a:xfrm>
          <a:custGeom>
            <a:avLst/>
            <a:gdLst/>
            <a:ahLst/>
            <a:cxnLst/>
            <a:rect l="l" t="t" r="r" b="b"/>
            <a:pathLst>
              <a:path w="295909" h="341630">
                <a:moveTo>
                  <a:pt x="295656" y="341375"/>
                </a:moveTo>
                <a:lnTo>
                  <a:pt x="0" y="341375"/>
                </a:lnTo>
                <a:lnTo>
                  <a:pt x="0" y="0"/>
                </a:lnTo>
                <a:lnTo>
                  <a:pt x="295656" y="0"/>
                </a:lnTo>
                <a:lnTo>
                  <a:pt x="295656" y="341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162" y="1224718"/>
            <a:ext cx="8503920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none" sz="2300"/>
              <a:t>Promoting</a:t>
            </a:r>
            <a:r>
              <a:rPr dirty="0" u="none" sz="2300" spc="-30"/>
              <a:t> </a:t>
            </a:r>
            <a:r>
              <a:rPr dirty="0" u="none" sz="2300"/>
              <a:t>Mutual</a:t>
            </a:r>
            <a:r>
              <a:rPr dirty="0" u="none" sz="2300" spc="-55"/>
              <a:t> </a:t>
            </a:r>
            <a:r>
              <a:rPr dirty="0" u="none" sz="2300"/>
              <a:t>Respect</a:t>
            </a:r>
            <a:r>
              <a:rPr dirty="0" u="none" sz="2300" spc="-35"/>
              <a:t> </a:t>
            </a:r>
            <a:r>
              <a:rPr dirty="0" u="none" sz="2300"/>
              <a:t>and</a:t>
            </a:r>
            <a:r>
              <a:rPr dirty="0" u="none" sz="2300" spc="-165"/>
              <a:t> </a:t>
            </a:r>
            <a:r>
              <a:rPr dirty="0" u="none" sz="2300"/>
              <a:t>Avoiding</a:t>
            </a:r>
            <a:r>
              <a:rPr dirty="0" u="none" sz="2300" spc="-45"/>
              <a:t> </a:t>
            </a:r>
            <a:r>
              <a:rPr dirty="0" u="none" sz="2300"/>
              <a:t>Harmful</a:t>
            </a:r>
            <a:r>
              <a:rPr dirty="0" u="none" sz="2300" spc="-30"/>
              <a:t> </a:t>
            </a:r>
            <a:r>
              <a:rPr dirty="0" u="none" sz="2300"/>
              <a:t>Behavior</a:t>
            </a:r>
            <a:r>
              <a:rPr dirty="0" u="none" sz="2300" spc="-35"/>
              <a:t> </a:t>
            </a:r>
            <a:r>
              <a:rPr dirty="0" u="none" sz="2300"/>
              <a:t>-</a:t>
            </a:r>
            <a:r>
              <a:rPr dirty="0" u="none" sz="2300" spc="-15"/>
              <a:t> </a:t>
            </a:r>
            <a:r>
              <a:rPr dirty="0" u="none" spc="-25">
                <a:solidFill>
                  <a:srgbClr val="000000"/>
                </a:solidFill>
              </a:rPr>
              <a:t>11</a:t>
            </a:r>
            <a:endParaRPr sz="2300"/>
          </a:p>
        </p:txBody>
      </p:sp>
      <p:sp>
        <p:nvSpPr>
          <p:cNvPr id="4" name="object 4" descr=""/>
          <p:cNvSpPr/>
          <p:nvPr/>
        </p:nvSpPr>
        <p:spPr>
          <a:xfrm>
            <a:off x="54864" y="1568195"/>
            <a:ext cx="8182609" cy="29209"/>
          </a:xfrm>
          <a:custGeom>
            <a:avLst/>
            <a:gdLst/>
            <a:ahLst/>
            <a:cxnLst/>
            <a:rect l="l" t="t" r="r" b="b"/>
            <a:pathLst>
              <a:path w="8182609" h="29209">
                <a:moveTo>
                  <a:pt x="8182355" y="28956"/>
                </a:moveTo>
                <a:lnTo>
                  <a:pt x="0" y="28956"/>
                </a:lnTo>
                <a:lnTo>
                  <a:pt x="0" y="0"/>
                </a:lnTo>
                <a:lnTo>
                  <a:pt x="8182355" y="0"/>
                </a:lnTo>
                <a:lnTo>
                  <a:pt x="8182355" y="28956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72191" y="1651767"/>
            <a:ext cx="7845425" cy="4676140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85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Surah</a:t>
            </a:r>
            <a:r>
              <a:rPr dirty="0" u="sng" sz="145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Al-Hujurat</a:t>
            </a:r>
            <a:r>
              <a:rPr dirty="0" u="sng" sz="1450" spc="-6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Ayat</a:t>
            </a:r>
            <a:r>
              <a:rPr dirty="0" u="sng" sz="145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11</a:t>
            </a:r>
            <a:r>
              <a:rPr dirty="0" u="sng" sz="145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(49:11</a:t>
            </a:r>
            <a:r>
              <a:rPr dirty="0" u="sng" sz="1450" spc="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Quran):</a:t>
            </a:r>
            <a:endParaRPr sz="1450">
              <a:latin typeface="Trebuchet MS"/>
              <a:cs typeface="Trebuchet MS"/>
            </a:endParaRPr>
          </a:p>
          <a:p>
            <a:pPr algn="r" marL="238760" marR="33655" indent="-2540">
              <a:lnSpc>
                <a:spcPts val="3120"/>
              </a:lnSpc>
              <a:spcBef>
                <a:spcPts val="229"/>
              </a:spcBef>
            </a:pPr>
            <a:r>
              <a:rPr dirty="0" baseline="6535" sz="2550" spc="-277" b="1">
                <a:solidFill>
                  <a:srgbClr val="0070BF"/>
                </a:solidFill>
                <a:latin typeface="Arial"/>
                <a:cs typeface="Arial"/>
              </a:rPr>
              <a:t>اريۡ</a:t>
            </a:r>
            <a:r>
              <a:rPr dirty="0" baseline="6535" sz="2550" spc="-322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0070BF"/>
                </a:solidFill>
                <a:latin typeface="Arial"/>
                <a:cs typeface="Arial"/>
              </a:rPr>
              <a:t>خ</a:t>
            </a:r>
            <a:r>
              <a:rPr dirty="0" sz="170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310" b="1">
                <a:solidFill>
                  <a:srgbClr val="0070BF"/>
                </a:solidFill>
                <a:latin typeface="Arial"/>
                <a:cs typeface="Arial"/>
              </a:rPr>
              <a:t>نكي</a:t>
            </a:r>
            <a:r>
              <a:rPr dirty="0" sz="170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نأ</a:t>
            </a:r>
            <a:r>
              <a:rPr dirty="0" sz="1700" spc="-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633" sz="2550" spc="-375" b="1">
                <a:solidFill>
                  <a:srgbClr val="0070BF"/>
                </a:solidFill>
                <a:latin typeface="Arial"/>
                <a:cs typeface="Arial"/>
              </a:rPr>
              <a:t>ىٓ</a:t>
            </a:r>
            <a:r>
              <a:rPr dirty="0" baseline="1633" sz="2550" spc="45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235" b="1">
                <a:solidFill>
                  <a:srgbClr val="0070BF"/>
                </a:solidFill>
                <a:latin typeface="Arial"/>
                <a:cs typeface="Arial"/>
              </a:rPr>
              <a:t>سع</a:t>
            </a:r>
            <a:r>
              <a:rPr dirty="0" sz="170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170" b="1">
                <a:solidFill>
                  <a:srgbClr val="0070BF"/>
                </a:solidFill>
                <a:latin typeface="Arial"/>
                <a:cs typeface="Arial"/>
              </a:rPr>
              <a:t>ءٓاسن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50" b="1">
                <a:solidFill>
                  <a:srgbClr val="0070BF"/>
                </a:solidFill>
                <a:latin typeface="Arial"/>
                <a:cs typeface="Arial"/>
              </a:rPr>
              <a:t>نم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170" b="1">
                <a:solidFill>
                  <a:srgbClr val="0070BF"/>
                </a:solidFill>
                <a:latin typeface="Arial"/>
                <a:cs typeface="Arial"/>
              </a:rPr>
              <a:t>ءٓاسن</a:t>
            </a:r>
            <a:r>
              <a:rPr dirty="0" sz="170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5" b="1">
                <a:solidFill>
                  <a:srgbClr val="0070BF"/>
                </a:solidFill>
                <a:latin typeface="Arial"/>
                <a:cs typeface="Arial"/>
              </a:rPr>
              <a:t>ﻻو</a:t>
            </a:r>
            <a:r>
              <a:rPr dirty="0" sz="1700" spc="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633" sz="2550" spc="-127" b="1">
                <a:solidFill>
                  <a:srgbClr val="0070BF"/>
                </a:solidFill>
                <a:latin typeface="Arial"/>
                <a:cs typeface="Arial"/>
              </a:rPr>
              <a:t>مۡ</a:t>
            </a:r>
            <a:r>
              <a:rPr dirty="0" baseline="1633" sz="2550" spc="-19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4705" sz="2550" spc="-195" b="1">
                <a:solidFill>
                  <a:srgbClr val="0070BF"/>
                </a:solidFill>
                <a:latin typeface="Arial"/>
                <a:cs typeface="Arial"/>
              </a:rPr>
              <a:t>هنۡ</a:t>
            </a:r>
            <a:r>
              <a:rPr dirty="0" baseline="14705" sz="2550" spc="-322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100" b="1">
                <a:solidFill>
                  <a:srgbClr val="0070BF"/>
                </a:solidFill>
                <a:latin typeface="Arial"/>
                <a:cs typeface="Arial"/>
              </a:rPr>
              <a:t>م</a:t>
            </a:r>
            <a:r>
              <a:rPr dirty="0" sz="170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6535" sz="2550" spc="-284" b="1">
                <a:solidFill>
                  <a:srgbClr val="0070BF"/>
                </a:solidFill>
                <a:latin typeface="Arial"/>
                <a:cs typeface="Arial"/>
              </a:rPr>
              <a:t>اريۡ</a:t>
            </a:r>
            <a:r>
              <a:rPr dirty="0" baseline="6535" sz="2550" spc="-30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0070BF"/>
                </a:solidFill>
                <a:latin typeface="Arial"/>
                <a:cs typeface="Arial"/>
              </a:rPr>
              <a:t>خ</a:t>
            </a:r>
            <a:r>
              <a:rPr dirty="0" sz="170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229" b="1">
                <a:solidFill>
                  <a:srgbClr val="0070BF"/>
                </a:solidFill>
                <a:latin typeface="Arial"/>
                <a:cs typeface="Arial"/>
              </a:rPr>
              <a:t>اونوكي</a:t>
            </a:r>
            <a:r>
              <a:rPr dirty="0" sz="170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نأ</a:t>
            </a:r>
            <a:r>
              <a:rPr dirty="0" sz="1700" spc="-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633" sz="2550" spc="-375" b="1">
                <a:solidFill>
                  <a:srgbClr val="0070BF"/>
                </a:solidFill>
                <a:latin typeface="Arial"/>
                <a:cs typeface="Arial"/>
              </a:rPr>
              <a:t>ىٓ</a:t>
            </a:r>
            <a:r>
              <a:rPr dirty="0" baseline="1633" sz="2550" spc="45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235" b="1">
                <a:solidFill>
                  <a:srgbClr val="0070BF"/>
                </a:solidFill>
                <a:latin typeface="Arial"/>
                <a:cs typeface="Arial"/>
              </a:rPr>
              <a:t>سع</a:t>
            </a:r>
            <a:r>
              <a:rPr dirty="0" sz="170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4901" sz="2550" spc="-112" b="1">
                <a:solidFill>
                  <a:srgbClr val="0070BF"/>
                </a:solidFill>
                <a:latin typeface="Arial"/>
                <a:cs typeface="Arial"/>
              </a:rPr>
              <a:t>موۡ</a:t>
            </a:r>
            <a:r>
              <a:rPr dirty="0" baseline="4901" sz="2550" spc="-21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520" b="1">
                <a:solidFill>
                  <a:srgbClr val="0070BF"/>
                </a:solidFill>
                <a:latin typeface="Arial"/>
                <a:cs typeface="Arial"/>
              </a:rPr>
              <a:t>ق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50" b="1">
                <a:solidFill>
                  <a:srgbClr val="0070BF"/>
                </a:solidFill>
                <a:latin typeface="Arial"/>
                <a:cs typeface="Arial"/>
              </a:rPr>
              <a:t>نم</a:t>
            </a:r>
            <a:r>
              <a:rPr dirty="0" sz="170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4901" sz="2550" spc="-112" b="1">
                <a:solidFill>
                  <a:srgbClr val="0070BF"/>
                </a:solidFill>
                <a:latin typeface="Arial"/>
                <a:cs typeface="Arial"/>
              </a:rPr>
              <a:t>موۡ</a:t>
            </a:r>
            <a:r>
              <a:rPr dirty="0" baseline="4901" sz="2550" spc="-21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520" b="1">
                <a:solidFill>
                  <a:srgbClr val="0070BF"/>
                </a:solidFill>
                <a:latin typeface="Arial"/>
                <a:cs typeface="Arial"/>
              </a:rPr>
              <a:t>ق</a:t>
            </a:r>
            <a:r>
              <a:rPr dirty="0" sz="170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3267" sz="2550" spc="-127" b="1">
                <a:solidFill>
                  <a:srgbClr val="0070BF"/>
                </a:solidFill>
                <a:latin typeface="Arial"/>
                <a:cs typeface="Arial"/>
              </a:rPr>
              <a:t>رۡ</a:t>
            </a:r>
            <a:r>
              <a:rPr dirty="0" baseline="3267" sz="2550" spc="-21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4901" sz="2550" spc="-517" b="1">
                <a:solidFill>
                  <a:srgbClr val="0070BF"/>
                </a:solidFill>
                <a:latin typeface="Arial"/>
                <a:cs typeface="Arial"/>
              </a:rPr>
              <a:t>خسۡ</a:t>
            </a:r>
            <a:r>
              <a:rPr dirty="0" baseline="4901" sz="2550" spc="509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640" b="1">
                <a:solidFill>
                  <a:srgbClr val="0070BF"/>
                </a:solidFill>
                <a:latin typeface="Arial"/>
                <a:cs typeface="Arial"/>
              </a:rPr>
              <a:t>ي</a:t>
            </a:r>
            <a:r>
              <a:rPr dirty="0" sz="170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5" b="1">
                <a:solidFill>
                  <a:srgbClr val="0070BF"/>
                </a:solidFill>
                <a:latin typeface="Arial"/>
                <a:cs typeface="Arial"/>
              </a:rPr>
              <a:t>ﻻ</a:t>
            </a:r>
            <a:r>
              <a:rPr dirty="0" sz="1700" spc="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0070BF"/>
                </a:solidFill>
                <a:latin typeface="Arial"/>
                <a:cs typeface="Arial"/>
              </a:rPr>
              <a:t>اونماء</a:t>
            </a:r>
            <a:r>
              <a:rPr dirty="0" sz="170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200" b="1">
                <a:solidFill>
                  <a:srgbClr val="0070BF"/>
                </a:solidFill>
                <a:latin typeface="Arial"/>
                <a:cs typeface="Arial"/>
              </a:rPr>
              <a:t>نيذلٱ</a:t>
            </a:r>
            <a:r>
              <a:rPr dirty="0" sz="1700" spc="-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330" b="1">
                <a:solidFill>
                  <a:srgbClr val="0070BF"/>
                </a:solidFill>
                <a:latin typeface="Arial"/>
                <a:cs typeface="Arial"/>
              </a:rPr>
              <a:t>اهيأٓـي</a:t>
            </a:r>
            <a:r>
              <a:rPr dirty="0" sz="1700" spc="-28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0070BF"/>
                </a:solidFill>
                <a:latin typeface="Arial"/>
                <a:cs typeface="Arial"/>
              </a:rPr>
              <a:t>نوملـظلٱ</a:t>
            </a:r>
            <a:r>
              <a:rPr dirty="0" sz="1700" spc="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114" b="1">
                <a:solidFill>
                  <a:srgbClr val="0070BF"/>
                </a:solidFill>
                <a:latin typeface="Arial"/>
                <a:cs typeface="Arial"/>
              </a:rPr>
              <a:t>مه</a:t>
            </a:r>
            <a:r>
              <a:rPr dirty="0" sz="1700" spc="-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210" b="1">
                <a:solidFill>
                  <a:srgbClr val="0070BF"/>
                </a:solidFill>
                <a:latin typeface="Arial"/>
                <a:cs typeface="Arial"/>
              </a:rPr>
              <a:t>كئٓـلوأف</a:t>
            </a:r>
            <a:r>
              <a:rPr dirty="0" sz="170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4901" sz="2550" spc="-247" b="1">
                <a:solidFill>
                  <a:srgbClr val="0070BF"/>
                </a:solidFill>
                <a:latin typeface="Arial"/>
                <a:cs typeface="Arial"/>
              </a:rPr>
              <a:t>بۡ</a:t>
            </a:r>
            <a:r>
              <a:rPr dirty="0" baseline="4901" sz="2550" spc="30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645" b="1">
                <a:solidFill>
                  <a:srgbClr val="0070BF"/>
                </a:solidFill>
                <a:latin typeface="Arial"/>
                <a:cs typeface="Arial"/>
              </a:rPr>
              <a:t>تي</a:t>
            </a:r>
            <a:r>
              <a:rPr dirty="0" sz="170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633" sz="2550" spc="-127" b="1">
                <a:solidFill>
                  <a:srgbClr val="0070BF"/>
                </a:solidFill>
                <a:latin typeface="Arial"/>
                <a:cs typeface="Arial"/>
              </a:rPr>
              <a:t>مۡ</a:t>
            </a:r>
            <a:r>
              <a:rPr dirty="0" baseline="1633" sz="2550" spc="-1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360" b="1">
                <a:solidFill>
                  <a:srgbClr val="0070BF"/>
                </a:solidFill>
                <a:latin typeface="Arial"/>
                <a:cs typeface="Arial"/>
              </a:rPr>
              <a:t>ل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35" b="1">
                <a:solidFill>
                  <a:srgbClr val="0070BF"/>
                </a:solidFill>
                <a:latin typeface="Arial"/>
                <a:cs typeface="Arial"/>
              </a:rPr>
              <a:t>نمو</a:t>
            </a:r>
            <a:r>
              <a:rPr dirty="0" sz="170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1437" sz="2550" spc="-202" b="1">
                <a:solidFill>
                  <a:srgbClr val="0070BF"/>
                </a:solidFill>
                <a:latin typeface="Arial"/>
                <a:cs typeface="Arial"/>
              </a:rPr>
              <a:t>نۚ</a:t>
            </a:r>
            <a:r>
              <a:rPr dirty="0" baseline="11437" sz="2550" spc="89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4705" sz="2550" spc="-247" b="1">
                <a:solidFill>
                  <a:srgbClr val="0070BF"/>
                </a:solidFill>
                <a:latin typeface="Arial"/>
                <a:cs typeface="Arial"/>
              </a:rPr>
              <a:t>ميﻹۡ</a:t>
            </a:r>
            <a:r>
              <a:rPr dirty="0" baseline="14705" sz="2550" spc="-322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10" b="1">
                <a:solidFill>
                  <a:srgbClr val="0070BF"/>
                </a:solidFill>
                <a:latin typeface="Arial"/>
                <a:cs typeface="Arial"/>
              </a:rPr>
              <a:t>ٱ</a:t>
            </a:r>
            <a:r>
              <a:rPr dirty="0" sz="1700" spc="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4901" sz="2550" spc="-284" b="1">
                <a:solidFill>
                  <a:srgbClr val="0070BF"/>
                </a:solidFill>
                <a:latin typeface="Arial"/>
                <a:cs typeface="Arial"/>
              </a:rPr>
              <a:t>دعۡ</a:t>
            </a:r>
            <a:r>
              <a:rPr dirty="0" baseline="4901" sz="2550" spc="-89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640" b="1">
                <a:solidFill>
                  <a:srgbClr val="0070BF"/>
                </a:solidFill>
                <a:latin typeface="Arial"/>
                <a:cs typeface="Arial"/>
              </a:rPr>
              <a:t>ب</a:t>
            </a:r>
            <a:r>
              <a:rPr dirty="0" sz="170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4705" sz="2550" spc="-419" b="1">
                <a:solidFill>
                  <a:srgbClr val="0070BF"/>
                </a:solidFill>
                <a:latin typeface="Arial"/>
                <a:cs typeface="Arial"/>
              </a:rPr>
              <a:t>قوسفلۡ</a:t>
            </a:r>
            <a:r>
              <a:rPr dirty="0" baseline="14705" sz="2550" spc="-39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10" b="1">
                <a:solidFill>
                  <a:srgbClr val="0070BF"/>
                </a:solidFill>
                <a:latin typeface="Arial"/>
                <a:cs typeface="Arial"/>
              </a:rPr>
              <a:t>ٱ</a:t>
            </a:r>
            <a:r>
              <a:rPr dirty="0" sz="1700" spc="-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4901" sz="2550" spc="-472" b="1">
                <a:solidFill>
                  <a:srgbClr val="0070BF"/>
                </a:solidFill>
                <a:latin typeface="Arial"/>
                <a:cs typeface="Arial"/>
              </a:rPr>
              <a:t>مسۡ</a:t>
            </a:r>
            <a:r>
              <a:rPr dirty="0" baseline="4901" sz="2550" spc="494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120" b="1">
                <a:solidFill>
                  <a:srgbClr val="0070BF"/>
                </a:solidFill>
                <a:latin typeface="Arial"/>
                <a:cs typeface="Arial"/>
              </a:rPr>
              <a:t>ڈٱ</a:t>
            </a:r>
            <a:r>
              <a:rPr dirty="0" sz="1700" spc="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1437" sz="2550" spc="-390" b="1">
                <a:solidFill>
                  <a:srgbClr val="0070BF"/>
                </a:solidFill>
                <a:latin typeface="Arial"/>
                <a:cs typeface="Arial"/>
              </a:rPr>
              <a:t>سئۡ</a:t>
            </a:r>
            <a:r>
              <a:rPr dirty="0" baseline="11437" sz="2550" spc="-24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640" b="1">
                <a:solidFill>
                  <a:srgbClr val="0070BF"/>
                </a:solidFill>
                <a:latin typeface="Arial"/>
                <a:cs typeface="Arial"/>
              </a:rPr>
              <a:t>ب</a:t>
            </a:r>
            <a:r>
              <a:rPr dirty="0" sz="170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4901" sz="2550" spc="-262" b="1">
                <a:solidFill>
                  <a:srgbClr val="0070BF"/>
                </a:solidFill>
                <a:latin typeface="Arial"/>
                <a:cs typeface="Arial"/>
              </a:rPr>
              <a:t>بۖ</a:t>
            </a:r>
            <a:r>
              <a:rPr dirty="0" baseline="4901" sz="2550" spc="352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4705" sz="2550" spc="-442" b="1">
                <a:solidFill>
                  <a:srgbClr val="0070BF"/>
                </a:solidFill>
                <a:latin typeface="Arial"/>
                <a:cs typeface="Arial"/>
              </a:rPr>
              <a:t>قلۡ</a:t>
            </a:r>
            <a:r>
              <a:rPr dirty="0" baseline="14705" sz="2550" spc="-39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4705" sz="2550" spc="-97" b="1">
                <a:solidFill>
                  <a:srgbClr val="0070BF"/>
                </a:solidFill>
                <a:latin typeface="Arial"/>
                <a:cs typeface="Arial"/>
              </a:rPr>
              <a:t>ﻷۡ</a:t>
            </a:r>
            <a:r>
              <a:rPr dirty="0" baseline="14705" sz="2550" spc="-352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295" b="1">
                <a:solidFill>
                  <a:srgbClr val="0070BF"/>
                </a:solidFill>
                <a:latin typeface="Arial"/>
                <a:cs typeface="Arial"/>
              </a:rPr>
              <a:t>ٱب</a:t>
            </a:r>
            <a:r>
              <a:rPr dirty="0" sz="170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245" b="1">
                <a:solidFill>
                  <a:srgbClr val="0070BF"/>
                </a:solidFill>
                <a:latin typeface="Arial"/>
                <a:cs typeface="Arial"/>
              </a:rPr>
              <a:t>اوزبانت</a:t>
            </a:r>
            <a:r>
              <a:rPr dirty="0" sz="170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15" b="1">
                <a:solidFill>
                  <a:srgbClr val="0070BF"/>
                </a:solidFill>
                <a:latin typeface="Arial"/>
                <a:cs typeface="Arial"/>
              </a:rPr>
              <a:t>ﻻو</a:t>
            </a:r>
            <a:r>
              <a:rPr dirty="0" sz="170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633" sz="2550" spc="-120" b="1">
                <a:solidFill>
                  <a:srgbClr val="0070BF"/>
                </a:solidFill>
                <a:latin typeface="Arial"/>
                <a:cs typeface="Arial"/>
              </a:rPr>
              <a:t>مۡ</a:t>
            </a:r>
            <a:r>
              <a:rPr dirty="0" baseline="1633" sz="2550" spc="-19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405" b="1">
                <a:solidFill>
                  <a:srgbClr val="0070BF"/>
                </a:solidFill>
                <a:latin typeface="Arial"/>
                <a:cs typeface="Arial"/>
              </a:rPr>
              <a:t>كسفنأ</a:t>
            </a:r>
            <a:r>
              <a:rPr dirty="0" sz="1700" spc="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-9803" sz="2550" spc="-165" b="1">
                <a:solidFill>
                  <a:srgbClr val="0070BF"/>
                </a:solidFill>
                <a:latin typeface="Arial"/>
                <a:cs typeface="Arial"/>
              </a:rPr>
              <a:t>اوٓ</a:t>
            </a:r>
            <a:r>
              <a:rPr dirty="0" baseline="-9803" sz="2550" spc="3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4705" sz="2550" spc="-150" b="1">
                <a:solidFill>
                  <a:srgbClr val="0070BF"/>
                </a:solidFill>
                <a:latin typeface="Arial"/>
                <a:cs typeface="Arial"/>
              </a:rPr>
              <a:t>زملۡ</a:t>
            </a:r>
            <a:r>
              <a:rPr dirty="0" baseline="14705" sz="2550" spc="-39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640" b="1">
                <a:solidFill>
                  <a:srgbClr val="0070BF"/>
                </a:solidFill>
                <a:latin typeface="Arial"/>
                <a:cs typeface="Arial"/>
              </a:rPr>
              <a:t>ت</a:t>
            </a:r>
            <a:r>
              <a:rPr dirty="0" sz="170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15" b="1">
                <a:solidFill>
                  <a:srgbClr val="0070BF"/>
                </a:solidFill>
                <a:latin typeface="Arial"/>
                <a:cs typeface="Arial"/>
              </a:rPr>
              <a:t>ﻻو</a:t>
            </a:r>
            <a:r>
              <a:rPr dirty="0" sz="170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29411" sz="2550" spc="-217" b="1">
                <a:solidFill>
                  <a:srgbClr val="0070BF"/>
                </a:solidFill>
                <a:latin typeface="Arial"/>
                <a:cs typeface="Arial"/>
              </a:rPr>
              <a:t>نۖ</a:t>
            </a:r>
            <a:r>
              <a:rPr dirty="0" baseline="29411" sz="2550" spc="142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4705" sz="2550" spc="-195" b="1">
                <a:solidFill>
                  <a:srgbClr val="0070BF"/>
                </a:solidFill>
                <a:latin typeface="Arial"/>
                <a:cs typeface="Arial"/>
              </a:rPr>
              <a:t>هنۡ</a:t>
            </a:r>
            <a:r>
              <a:rPr dirty="0" baseline="14705" sz="2550" spc="-322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100" b="1">
                <a:solidFill>
                  <a:srgbClr val="0070BF"/>
                </a:solidFill>
                <a:latin typeface="Arial"/>
                <a:cs typeface="Arial"/>
              </a:rPr>
              <a:t>م</a:t>
            </a:r>
            <a:endParaRPr sz="1700">
              <a:latin typeface="Arial"/>
              <a:cs typeface="Arial"/>
            </a:endParaRPr>
          </a:p>
          <a:p>
            <a:pPr algn="r" marL="175895" marR="32384" indent="-1270">
              <a:lnSpc>
                <a:spcPts val="2660"/>
              </a:lnSpc>
              <a:spcBef>
                <a:spcPts val="30"/>
              </a:spcBef>
            </a:pPr>
            <a:r>
              <a:rPr dirty="0" sz="1450" b="1">
                <a:latin typeface="Arial"/>
                <a:cs typeface="Arial"/>
              </a:rPr>
              <a:t>قاذم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275" b="1">
                <a:latin typeface="Arial"/>
                <a:cs typeface="Arial"/>
              </a:rPr>
              <a:t>اک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 spc="-85" b="1">
                <a:latin typeface="Arial"/>
                <a:cs typeface="Arial"/>
              </a:rPr>
              <a:t>ںوتروع</a:t>
            </a:r>
            <a:r>
              <a:rPr dirty="0" sz="1450" spc="5" b="1">
                <a:latin typeface="Arial"/>
                <a:cs typeface="Arial"/>
              </a:rPr>
              <a:t> </a:t>
            </a:r>
            <a:r>
              <a:rPr dirty="0" sz="1450" spc="-180" b="1">
                <a:latin typeface="Arial"/>
                <a:cs typeface="Arial"/>
              </a:rPr>
              <a:t>ںيتروع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 spc="-200" b="1">
                <a:latin typeface="Arial"/>
                <a:cs typeface="Arial"/>
              </a:rPr>
              <a:t>ہن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روا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85" b="1">
                <a:latin typeface="Arial"/>
                <a:cs typeface="Arial"/>
              </a:rPr>
              <a:t>وہ</a:t>
            </a:r>
            <a:r>
              <a:rPr dirty="0" sz="1450" spc="5" b="1">
                <a:latin typeface="Arial"/>
                <a:cs typeface="Arial"/>
              </a:rPr>
              <a:t> </a:t>
            </a:r>
            <a:r>
              <a:rPr dirty="0" sz="1450" spc="-290" b="1">
                <a:latin typeface="Arial"/>
                <a:cs typeface="Arial"/>
              </a:rPr>
              <a:t>رتہب</a:t>
            </a:r>
            <a:r>
              <a:rPr dirty="0" sz="1450" spc="50" b="1">
                <a:latin typeface="Arial"/>
                <a:cs typeface="Arial"/>
              </a:rPr>
              <a:t> </a:t>
            </a:r>
            <a:r>
              <a:rPr dirty="0" sz="1450" spc="-190" b="1">
                <a:latin typeface="Arial"/>
                <a:cs typeface="Arial"/>
              </a:rPr>
              <a:t>ےس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نا</a:t>
            </a:r>
            <a:r>
              <a:rPr dirty="0" sz="1450" spc="40" b="1">
                <a:latin typeface="Arial"/>
                <a:cs typeface="Arial"/>
              </a:rPr>
              <a:t> </a:t>
            </a:r>
            <a:r>
              <a:rPr dirty="0" sz="1450" spc="-275" b="1">
                <a:latin typeface="Arial"/>
                <a:cs typeface="Arial"/>
              </a:rPr>
              <a:t>ہي</a:t>
            </a:r>
            <a:r>
              <a:rPr dirty="0" sz="1450" spc="35" b="1">
                <a:latin typeface="Arial"/>
                <a:cs typeface="Arial"/>
              </a:rPr>
              <a:t> </a:t>
            </a:r>
            <a:r>
              <a:rPr dirty="0" sz="1450" spc="-285" b="1">
                <a:latin typeface="Arial"/>
                <a:cs typeface="Arial"/>
              </a:rPr>
              <a:t>ہک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ےہ</a:t>
            </a:r>
            <a:r>
              <a:rPr dirty="0" sz="1450" spc="70" b="1">
                <a:latin typeface="Arial"/>
                <a:cs typeface="Arial"/>
              </a:rPr>
              <a:t> </a:t>
            </a:r>
            <a:r>
              <a:rPr dirty="0" sz="1450" spc="-25" b="1">
                <a:latin typeface="Arial"/>
                <a:cs typeface="Arial"/>
              </a:rPr>
              <a:t>نکمم</a:t>
            </a:r>
            <a:r>
              <a:rPr dirty="0" sz="1450" spc="-5" b="1">
                <a:latin typeface="Arial"/>
                <a:cs typeface="Arial"/>
              </a:rPr>
              <a:t> </a:t>
            </a:r>
            <a:r>
              <a:rPr dirty="0" sz="1450" spc="-185" b="1">
                <a:latin typeface="Arial"/>
                <a:cs typeface="Arial"/>
              </a:rPr>
              <a:t>ںيئاڑا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254" b="1">
                <a:latin typeface="Arial"/>
                <a:cs typeface="Arial"/>
              </a:rPr>
              <a:t>ہن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قاذم</a:t>
            </a:r>
            <a:r>
              <a:rPr dirty="0" sz="1450" spc="30" b="1">
                <a:latin typeface="Arial"/>
                <a:cs typeface="Arial"/>
              </a:rPr>
              <a:t> </a:t>
            </a:r>
            <a:r>
              <a:rPr dirty="0" sz="1450" spc="-275" b="1">
                <a:latin typeface="Arial"/>
                <a:cs typeface="Arial"/>
              </a:rPr>
              <a:t>اک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ںودرم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70" b="1">
                <a:latin typeface="Arial"/>
                <a:cs typeface="Arial"/>
              </a:rPr>
              <a:t>ےرسود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درم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55" b="1">
                <a:latin typeface="Arial"/>
                <a:cs typeface="Arial"/>
              </a:rPr>
              <a:t>!</a:t>
            </a:r>
            <a:r>
              <a:rPr dirty="0" sz="1450" spc="-55" b="1">
                <a:latin typeface="Arial"/>
                <a:cs typeface="Arial"/>
              </a:rPr>
              <a:t>ولاو</a:t>
            </a:r>
            <a:r>
              <a:rPr dirty="0" sz="1450" spc="35" b="1">
                <a:latin typeface="Arial"/>
                <a:cs typeface="Arial"/>
              </a:rPr>
              <a:t> </a:t>
            </a:r>
            <a:r>
              <a:rPr dirty="0" sz="1450" spc="-85" b="1">
                <a:latin typeface="Arial"/>
                <a:cs typeface="Arial"/>
              </a:rPr>
              <a:t>ناميا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25" b="1">
                <a:latin typeface="Arial"/>
                <a:cs typeface="Arial"/>
              </a:rPr>
              <a:t>ےا</a:t>
            </a:r>
            <a:r>
              <a:rPr dirty="0" sz="1450" spc="-25" b="1">
                <a:latin typeface="Arial"/>
                <a:cs typeface="Arial"/>
              </a:rPr>
              <a:t> </a:t>
            </a:r>
            <a:r>
              <a:rPr dirty="0" sz="1450" spc="-270" b="1">
                <a:latin typeface="Arial"/>
                <a:cs typeface="Arial"/>
              </a:rPr>
              <a:t>ےک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85" b="1">
                <a:latin typeface="Arial"/>
                <a:cs typeface="Arial"/>
              </a:rPr>
              <a:t>ناميا</a:t>
            </a:r>
            <a:r>
              <a:rPr dirty="0" sz="145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۔ود</a:t>
            </a:r>
            <a:r>
              <a:rPr dirty="0" sz="1450" spc="5" b="1">
                <a:latin typeface="Arial"/>
                <a:cs typeface="Arial"/>
              </a:rPr>
              <a:t> </a:t>
            </a:r>
            <a:r>
              <a:rPr dirty="0" sz="1450" spc="-235" b="1">
                <a:latin typeface="Arial"/>
                <a:cs typeface="Arial"/>
              </a:rPr>
              <a:t>بقل</a:t>
            </a:r>
            <a:r>
              <a:rPr dirty="0" sz="1450" spc="-10" b="1">
                <a:latin typeface="Arial"/>
                <a:cs typeface="Arial"/>
              </a:rPr>
              <a:t> </a:t>
            </a:r>
            <a:r>
              <a:rPr dirty="0" sz="1450" spc="-175" b="1">
                <a:latin typeface="Arial"/>
                <a:cs typeface="Arial"/>
              </a:rPr>
              <a:t>ےرب</a:t>
            </a:r>
            <a:r>
              <a:rPr dirty="0" sz="1450" spc="-5" b="1">
                <a:latin typeface="Arial"/>
                <a:cs typeface="Arial"/>
              </a:rPr>
              <a:t> </a:t>
            </a:r>
            <a:r>
              <a:rPr dirty="0" sz="1450" spc="-270" b="1">
                <a:latin typeface="Arial"/>
                <a:cs typeface="Arial"/>
              </a:rPr>
              <a:t>وک</a:t>
            </a:r>
            <a:r>
              <a:rPr dirty="0" sz="1450" spc="-5" b="1">
                <a:latin typeface="Arial"/>
                <a:cs typeface="Arial"/>
              </a:rPr>
              <a:t> </a:t>
            </a:r>
            <a:r>
              <a:rPr dirty="0" sz="1450" spc="-375" b="1">
                <a:latin typeface="Arial"/>
                <a:cs typeface="Arial"/>
              </a:rPr>
              <a:t>یسک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200" b="1">
                <a:latin typeface="Arial"/>
                <a:cs typeface="Arial"/>
              </a:rPr>
              <a:t>ہن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روا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155" b="1">
                <a:latin typeface="Arial"/>
                <a:cs typeface="Arial"/>
              </a:rPr>
              <a:t>ؤاگل</a:t>
            </a:r>
            <a:r>
              <a:rPr dirty="0" sz="1450" spc="5" b="1">
                <a:latin typeface="Arial"/>
                <a:cs typeface="Arial"/>
              </a:rPr>
              <a:t> </a:t>
            </a:r>
            <a:r>
              <a:rPr dirty="0" sz="1450" spc="-200" b="1">
                <a:latin typeface="Arial"/>
                <a:cs typeface="Arial"/>
              </a:rPr>
              <a:t>ہن</a:t>
            </a:r>
            <a:r>
              <a:rPr dirty="0" sz="1450" spc="-5" b="1">
                <a:latin typeface="Arial"/>
                <a:cs typeface="Arial"/>
              </a:rPr>
              <a:t> </a:t>
            </a:r>
            <a:r>
              <a:rPr dirty="0" sz="1450" spc="-175" b="1">
                <a:latin typeface="Arial"/>
                <a:cs typeface="Arial"/>
              </a:rPr>
              <a:t>بيع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275" b="1">
                <a:latin typeface="Arial"/>
                <a:cs typeface="Arial"/>
              </a:rPr>
              <a:t>وک</a:t>
            </a:r>
            <a:r>
              <a:rPr dirty="0" sz="1450" spc="-5" b="1">
                <a:latin typeface="Arial"/>
                <a:cs typeface="Arial"/>
              </a:rPr>
              <a:t> </a:t>
            </a:r>
            <a:r>
              <a:rPr dirty="0" sz="1450" spc="-65" b="1">
                <a:latin typeface="Arial"/>
                <a:cs typeface="Arial"/>
              </a:rPr>
              <a:t>ےرسود</a:t>
            </a:r>
            <a:r>
              <a:rPr dirty="0" sz="1450" spc="5" b="1">
                <a:latin typeface="Arial"/>
                <a:cs typeface="Arial"/>
              </a:rPr>
              <a:t> </a:t>
            </a:r>
            <a:r>
              <a:rPr dirty="0" sz="1450" spc="-120" b="1">
                <a:latin typeface="Arial"/>
                <a:cs typeface="Arial"/>
              </a:rPr>
              <a:t>کيا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160" b="1">
                <a:latin typeface="Arial"/>
                <a:cs typeface="Arial"/>
              </a:rPr>
              <a:t>ںيم</a:t>
            </a:r>
            <a:r>
              <a:rPr dirty="0" sz="1450" spc="-10" b="1">
                <a:latin typeface="Arial"/>
                <a:cs typeface="Arial"/>
              </a:rPr>
              <a:t> </a:t>
            </a:r>
            <a:r>
              <a:rPr dirty="0" sz="1450" spc="-175" b="1">
                <a:latin typeface="Arial"/>
                <a:cs typeface="Arial"/>
              </a:rPr>
              <a:t>سپآ</a:t>
            </a:r>
            <a:r>
              <a:rPr dirty="0" sz="145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روا</a:t>
            </a:r>
            <a:r>
              <a:rPr dirty="0" sz="1450" b="1">
                <a:latin typeface="Arial"/>
                <a:cs typeface="Arial"/>
              </a:rPr>
              <a:t> </a:t>
            </a:r>
            <a:r>
              <a:rPr dirty="0" sz="1450" spc="-20" b="1">
                <a:latin typeface="Arial"/>
                <a:cs typeface="Arial"/>
              </a:rPr>
              <a:t>،ںوہ</a:t>
            </a:r>
            <a:r>
              <a:rPr dirty="0" sz="1450" spc="-5" b="1">
                <a:latin typeface="Arial"/>
                <a:cs typeface="Arial"/>
              </a:rPr>
              <a:t> </a:t>
            </a:r>
            <a:r>
              <a:rPr dirty="0" sz="1450" spc="-290" b="1">
                <a:latin typeface="Arial"/>
                <a:cs typeface="Arial"/>
              </a:rPr>
              <a:t>رتہب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190" b="1">
                <a:latin typeface="Arial"/>
                <a:cs typeface="Arial"/>
              </a:rPr>
              <a:t>ےس</a:t>
            </a:r>
            <a:r>
              <a:rPr dirty="0" sz="145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نا</a:t>
            </a:r>
            <a:r>
              <a:rPr dirty="0" sz="1450" b="1">
                <a:latin typeface="Arial"/>
                <a:cs typeface="Arial"/>
              </a:rPr>
              <a:t> </a:t>
            </a:r>
            <a:r>
              <a:rPr dirty="0" sz="1450" spc="-270" b="1">
                <a:latin typeface="Arial"/>
                <a:cs typeface="Arial"/>
              </a:rPr>
              <a:t>ہي</a:t>
            </a:r>
            <a:r>
              <a:rPr dirty="0" sz="1450" spc="-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ےہ</a:t>
            </a:r>
            <a:r>
              <a:rPr dirty="0" sz="1450" spc="40" b="1">
                <a:latin typeface="Arial"/>
                <a:cs typeface="Arial"/>
              </a:rPr>
              <a:t> </a:t>
            </a:r>
            <a:r>
              <a:rPr dirty="0" sz="1450" spc="-25" b="1">
                <a:latin typeface="Arial"/>
                <a:cs typeface="Arial"/>
              </a:rPr>
              <a:t>نکمم</a:t>
            </a:r>
            <a:r>
              <a:rPr dirty="0" sz="1450" spc="-25" b="1">
                <a:latin typeface="Arial"/>
                <a:cs typeface="Arial"/>
              </a:rPr>
              <a:t> </a:t>
            </a:r>
            <a:r>
              <a:rPr dirty="0" sz="1450" spc="-50" b="1">
                <a:latin typeface="Arial"/>
                <a:cs typeface="Arial"/>
              </a:rPr>
              <a:t>ںيئاڑا</a:t>
            </a:r>
            <a:endParaRPr sz="1450">
              <a:latin typeface="Arial"/>
              <a:cs typeface="Arial"/>
            </a:endParaRPr>
          </a:p>
          <a:p>
            <a:pPr algn="r" marL="4001770" marR="32384">
              <a:lnSpc>
                <a:spcPct val="100000"/>
              </a:lnSpc>
              <a:spcBef>
                <a:spcPts val="695"/>
              </a:spcBef>
            </a:pPr>
            <a:r>
              <a:rPr dirty="0" sz="1450" spc="-240" b="1">
                <a:latin typeface="Arial"/>
                <a:cs typeface="Arial"/>
              </a:rPr>
              <a:t>ںيہ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95" b="1">
                <a:latin typeface="Arial"/>
                <a:cs typeface="Arial"/>
              </a:rPr>
              <a:t>گول</a:t>
            </a:r>
            <a:r>
              <a:rPr dirty="0" sz="1450" b="1">
                <a:latin typeface="Arial"/>
                <a:cs typeface="Arial"/>
              </a:rPr>
              <a:t> </a:t>
            </a:r>
            <a:r>
              <a:rPr dirty="0" sz="1450" spc="-65" b="1">
                <a:latin typeface="Arial"/>
                <a:cs typeface="Arial"/>
              </a:rPr>
              <a:t>ملاظ</a:t>
            </a:r>
            <a:r>
              <a:rPr dirty="0" sz="1450" b="1">
                <a:latin typeface="Arial"/>
                <a:cs typeface="Arial"/>
              </a:rPr>
              <a:t> </a:t>
            </a:r>
            <a:r>
              <a:rPr dirty="0" sz="1450" spc="-95" b="1">
                <a:latin typeface="Arial"/>
                <a:cs typeface="Arial"/>
              </a:rPr>
              <a:t>یہو</a:t>
            </a:r>
            <a:r>
              <a:rPr dirty="0" sz="1450" spc="-20" b="1">
                <a:latin typeface="Arial"/>
                <a:cs typeface="Arial"/>
              </a:rPr>
              <a:t> </a:t>
            </a:r>
            <a:r>
              <a:rPr dirty="0" sz="1450" spc="-270" b="1">
                <a:latin typeface="Arial"/>
                <a:cs typeface="Arial"/>
              </a:rPr>
              <a:t>ںيرک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200" b="1">
                <a:latin typeface="Arial"/>
                <a:cs typeface="Arial"/>
              </a:rPr>
              <a:t>ہن</a:t>
            </a:r>
            <a:r>
              <a:rPr dirty="0" sz="1450" spc="-5" b="1">
                <a:latin typeface="Arial"/>
                <a:cs typeface="Arial"/>
              </a:rPr>
              <a:t> </a:t>
            </a:r>
            <a:r>
              <a:rPr dirty="0" sz="1450" spc="-265" b="1">
                <a:latin typeface="Arial"/>
                <a:cs typeface="Arial"/>
              </a:rPr>
              <a:t>ہبوت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وج</a:t>
            </a:r>
            <a:r>
              <a:rPr dirty="0" sz="1450" spc="-1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روا</a:t>
            </a:r>
            <a:r>
              <a:rPr dirty="0" sz="1450" spc="-20" b="1">
                <a:latin typeface="Arial"/>
                <a:cs typeface="Arial"/>
              </a:rPr>
              <a:t> </a:t>
            </a:r>
            <a:r>
              <a:rPr dirty="0" sz="1450" spc="-10" b="1">
                <a:latin typeface="Arial"/>
                <a:cs typeface="Arial"/>
              </a:rPr>
              <a:t>،ےہ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120" b="1">
                <a:latin typeface="Arial"/>
                <a:cs typeface="Arial"/>
              </a:rPr>
              <a:t>مان</a:t>
            </a:r>
            <a:r>
              <a:rPr dirty="0" sz="1450" spc="-5" b="1">
                <a:latin typeface="Arial"/>
                <a:cs typeface="Arial"/>
              </a:rPr>
              <a:t> </a:t>
            </a:r>
            <a:r>
              <a:rPr dirty="0" sz="1450" spc="-180" b="1">
                <a:latin typeface="Arial"/>
                <a:cs typeface="Arial"/>
              </a:rPr>
              <a:t>ارب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345" b="1">
                <a:latin typeface="Arial"/>
                <a:cs typeface="Arial"/>
              </a:rPr>
              <a:t>قسف</a:t>
            </a:r>
            <a:r>
              <a:rPr dirty="0" sz="1450" spc="-10" b="1">
                <a:latin typeface="Arial"/>
                <a:cs typeface="Arial"/>
              </a:rPr>
              <a:t> </a:t>
            </a:r>
            <a:r>
              <a:rPr dirty="0" sz="1450" spc="-290" b="1">
                <a:latin typeface="Arial"/>
                <a:cs typeface="Arial"/>
              </a:rPr>
              <a:t>دعب</a:t>
            </a:r>
            <a:endParaRPr sz="1450">
              <a:latin typeface="Arial"/>
              <a:cs typeface="Arial"/>
            </a:endParaRPr>
          </a:p>
          <a:p>
            <a:pPr marL="38100" marR="30480" indent="-635">
              <a:lnSpc>
                <a:spcPct val="144500"/>
              </a:lnSpc>
              <a:spcBef>
                <a:spcPts val="165"/>
              </a:spcBef>
            </a:pPr>
            <a:r>
              <a:rPr dirty="0" sz="1450" b="1">
                <a:latin typeface="Arial"/>
                <a:cs typeface="Arial"/>
              </a:rPr>
              <a:t>Translation:</a:t>
            </a:r>
            <a:r>
              <a:rPr dirty="0" sz="1450" spc="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“Believers,</a:t>
            </a:r>
            <a:r>
              <a:rPr dirty="0" sz="1000" spc="-5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let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not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group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men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mock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another</a:t>
            </a:r>
            <a:r>
              <a:rPr dirty="0" sz="1000" spc="-6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group;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it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may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well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that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those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mocked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are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better</a:t>
            </a:r>
            <a:r>
              <a:rPr dirty="0" sz="1000" spc="-6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than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them. </a:t>
            </a:r>
            <a:r>
              <a:rPr dirty="0" sz="1000" b="1">
                <a:latin typeface="Arial"/>
                <a:cs typeface="Arial"/>
              </a:rPr>
              <a:t>Nor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should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women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mock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other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women;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perhaps</a:t>
            </a:r>
            <a:r>
              <a:rPr dirty="0" sz="1000" spc="-5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latter</a:t>
            </a:r>
            <a:r>
              <a:rPr dirty="0" sz="1000" spc="-6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are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better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than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them.</a:t>
            </a:r>
            <a:r>
              <a:rPr dirty="0" sz="1000" spc="-7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And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do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not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taunt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one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another</a:t>
            </a:r>
            <a:r>
              <a:rPr dirty="0" sz="1000" spc="-5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or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call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each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other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by </a:t>
            </a:r>
            <a:r>
              <a:rPr dirty="0" sz="1000" spc="-10" b="1">
                <a:latin typeface="Arial"/>
                <a:cs typeface="Arial"/>
              </a:rPr>
              <a:t>offensive</a:t>
            </a:r>
            <a:r>
              <a:rPr dirty="0" sz="1000" spc="-5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nicknames.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It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is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bad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thing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to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gain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reputation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for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wrongdoing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after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faith.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Those</a:t>
            </a:r>
            <a:r>
              <a:rPr dirty="0" sz="1000" spc="-5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who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do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not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repent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are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wrongdoers.”</a:t>
            </a:r>
            <a:endParaRPr sz="1000">
              <a:latin typeface="Arial"/>
              <a:cs typeface="Arial"/>
            </a:endParaRPr>
          </a:p>
          <a:p>
            <a:pPr marL="38100" marR="161925" indent="-635">
              <a:lnSpc>
                <a:spcPct val="144500"/>
              </a:lnSpc>
              <a:spcBef>
                <a:spcPts val="35"/>
              </a:spcBef>
            </a:pPr>
            <a:r>
              <a:rPr dirty="0" sz="1450" b="1">
                <a:latin typeface="Arial"/>
                <a:cs typeface="Arial"/>
              </a:rPr>
              <a:t>Explanation:</a:t>
            </a:r>
            <a:r>
              <a:rPr dirty="0" sz="1450" spc="-45" b="1">
                <a:latin typeface="Arial"/>
                <a:cs typeface="Arial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This</a:t>
            </a:r>
            <a:r>
              <a:rPr dirty="0" sz="1000" spc="-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verse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warns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us</a:t>
            </a:r>
            <a:r>
              <a:rPr dirty="0" sz="1000" spc="-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against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mocking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or</a:t>
            </a:r>
            <a:r>
              <a:rPr dirty="0" sz="1000" spc="-1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insulting</a:t>
            </a:r>
            <a:r>
              <a:rPr dirty="0" sz="1000" spc="-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others.</a:t>
            </a:r>
            <a:r>
              <a:rPr dirty="0" sz="1000" spc="-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 teaches</a:t>
            </a:r>
            <a:r>
              <a:rPr dirty="0" sz="1000" spc="-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we should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not</a:t>
            </a:r>
            <a:r>
              <a:rPr dirty="0" sz="1000" spc="-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look</a:t>
            </a:r>
            <a:r>
              <a:rPr dirty="0" sz="1000" spc="-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down</a:t>
            </a:r>
            <a:r>
              <a:rPr dirty="0" sz="1000" spc="-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-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anyone</a:t>
            </a:r>
            <a:r>
              <a:rPr dirty="0" sz="1000" spc="-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or</a:t>
            </a:r>
            <a:r>
              <a:rPr dirty="0" sz="1000" spc="-1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use </a:t>
            </a:r>
            <a:r>
              <a:rPr dirty="0" sz="1000">
                <a:latin typeface="Microsoft Sans Serif"/>
                <a:cs typeface="Microsoft Sans Serif"/>
              </a:rPr>
              <a:t>hurtful</a:t>
            </a:r>
            <a:r>
              <a:rPr dirty="0" sz="1000" spc="-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names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because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those</a:t>
            </a:r>
            <a:r>
              <a:rPr dirty="0" sz="1000" spc="-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we</a:t>
            </a:r>
            <a:r>
              <a:rPr dirty="0" sz="1000" spc="-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mock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might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have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virtues</a:t>
            </a:r>
            <a:r>
              <a:rPr dirty="0" sz="1000" spc="-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we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do</a:t>
            </a:r>
            <a:r>
              <a:rPr dirty="0" sz="1000" spc="-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not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see.</a:t>
            </a:r>
            <a:r>
              <a:rPr dirty="0" sz="1000" spc="-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Such</a:t>
            </a:r>
            <a:r>
              <a:rPr dirty="0" sz="1000" spc="-4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behavior</a:t>
            </a:r>
            <a:r>
              <a:rPr dirty="0" sz="1000" spc="-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-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not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only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unkind</a:t>
            </a:r>
            <a:r>
              <a:rPr dirty="0" sz="1000" spc="-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but</a:t>
            </a:r>
            <a:r>
              <a:rPr dirty="0" sz="1000" spc="-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can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also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lead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us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away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from </a:t>
            </a:r>
            <a:r>
              <a:rPr dirty="0" sz="1000">
                <a:latin typeface="Microsoft Sans Serif"/>
                <a:cs typeface="Microsoft Sans Serif"/>
              </a:rPr>
              <a:t>true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faith.</a:t>
            </a:r>
            <a:r>
              <a:rPr dirty="0" sz="1000" spc="-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Believers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are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urged</a:t>
            </a:r>
            <a:r>
              <a:rPr dirty="0" sz="1000" spc="-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-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</a:t>
            </a:r>
            <a:r>
              <a:rPr dirty="0" sz="1000" spc="-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humble</a:t>
            </a:r>
            <a:r>
              <a:rPr dirty="0" sz="1000" spc="-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-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avoid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actions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-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harm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others.</a:t>
            </a:r>
            <a:endParaRPr sz="1000">
              <a:latin typeface="Microsoft Sans Serif"/>
              <a:cs typeface="Microsoft Sans Serif"/>
            </a:endParaRPr>
          </a:p>
          <a:p>
            <a:pPr marL="224790" indent="-186690">
              <a:lnSpc>
                <a:spcPct val="100000"/>
              </a:lnSpc>
              <a:spcBef>
                <a:spcPts val="590"/>
              </a:spcBef>
              <a:buAutoNum type="arabicPeriod"/>
              <a:tabLst>
                <a:tab pos="224790" algn="l"/>
              </a:tabLst>
            </a:pPr>
            <a:r>
              <a:rPr dirty="0" sz="1000">
                <a:latin typeface="Microsoft Sans Serif"/>
                <a:cs typeface="Microsoft Sans Serif"/>
              </a:rPr>
              <a:t>This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verse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teaches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us</a:t>
            </a:r>
            <a:r>
              <a:rPr dirty="0" sz="1000" spc="-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not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-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make</a:t>
            </a:r>
            <a:r>
              <a:rPr dirty="0" sz="1000" spc="-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fun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 or</a:t>
            </a:r>
            <a:r>
              <a:rPr dirty="0" sz="1000" spc="-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insult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others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because</a:t>
            </a:r>
            <a:r>
              <a:rPr dirty="0" sz="1000" spc="-4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everyone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deserves</a:t>
            </a:r>
            <a:r>
              <a:rPr dirty="0" sz="1000" spc="-5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respect.</a:t>
            </a:r>
            <a:endParaRPr sz="1000">
              <a:latin typeface="Microsoft Sans Serif"/>
              <a:cs typeface="Microsoft Sans Serif"/>
            </a:endParaRPr>
          </a:p>
          <a:p>
            <a:pPr marL="224790" indent="-18669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24790" algn="l"/>
              </a:tabLst>
            </a:pPr>
            <a:r>
              <a:rPr dirty="0" sz="1000">
                <a:latin typeface="Microsoft Sans Serif"/>
                <a:cs typeface="Microsoft Sans Serif"/>
              </a:rPr>
              <a:t>We</a:t>
            </a:r>
            <a:r>
              <a:rPr dirty="0" sz="1000" spc="-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should</a:t>
            </a:r>
            <a:r>
              <a:rPr dirty="0" sz="1000" spc="-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never</a:t>
            </a:r>
            <a:r>
              <a:rPr dirty="0" sz="1000" spc="-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use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hurtful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nicknames</a:t>
            </a:r>
            <a:r>
              <a:rPr dirty="0" sz="1000" spc="-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or</a:t>
            </a:r>
            <a:r>
              <a:rPr dirty="0" sz="1000" spc="-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speak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-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-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way</a:t>
            </a:r>
            <a:r>
              <a:rPr dirty="0" sz="1000" spc="-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-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mocks</a:t>
            </a:r>
            <a:r>
              <a:rPr dirty="0" sz="1000" spc="-5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someone.</a:t>
            </a:r>
            <a:endParaRPr sz="1000">
              <a:latin typeface="Microsoft Sans Serif"/>
              <a:cs typeface="Microsoft Sans Serif"/>
            </a:endParaRPr>
          </a:p>
          <a:p>
            <a:pPr marL="224790" indent="-186690">
              <a:lnSpc>
                <a:spcPct val="100000"/>
              </a:lnSpc>
              <a:spcBef>
                <a:spcPts val="590"/>
              </a:spcBef>
              <a:buAutoNum type="arabicPeriod"/>
              <a:tabLst>
                <a:tab pos="224790" algn="l"/>
              </a:tabLst>
            </a:pPr>
            <a:r>
              <a:rPr dirty="0" sz="1000" spc="-10">
                <a:latin typeface="Microsoft Sans Serif"/>
                <a:cs typeface="Microsoft Sans Serif"/>
              </a:rPr>
              <a:t>Believers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must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always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treat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each</a:t>
            </a:r>
            <a:r>
              <a:rPr dirty="0" sz="1000" spc="-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other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with</a:t>
            </a:r>
            <a:r>
              <a:rPr dirty="0" sz="1000" spc="-10">
                <a:latin typeface="Microsoft Sans Serif"/>
                <a:cs typeface="Microsoft Sans Serif"/>
              </a:rPr>
              <a:t> kindness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understanding.</a:t>
            </a:r>
            <a:endParaRPr sz="1000">
              <a:latin typeface="Microsoft Sans Serif"/>
              <a:cs typeface="Microsoft Sans Serif"/>
            </a:endParaRPr>
          </a:p>
          <a:p>
            <a:pPr marL="224790" indent="-18669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24790" algn="l"/>
              </a:tabLst>
            </a:pPr>
            <a:r>
              <a:rPr dirty="0" sz="1000">
                <a:latin typeface="Microsoft Sans Serif"/>
                <a:cs typeface="Microsoft Sans Serif"/>
              </a:rPr>
              <a:t>If</a:t>
            </a:r>
            <a:r>
              <a:rPr dirty="0" sz="1000" spc="-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we</a:t>
            </a:r>
            <a:r>
              <a:rPr dirty="0" sz="1000" spc="-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do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not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follow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these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rules,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our</a:t>
            </a:r>
            <a:r>
              <a:rPr dirty="0" sz="1000" spc="-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good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deeds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may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lose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their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value,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we</a:t>
            </a:r>
            <a:r>
              <a:rPr dirty="0" sz="1000" spc="-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risk</a:t>
            </a:r>
            <a:r>
              <a:rPr dirty="0" sz="1000" spc="-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doing</a:t>
            </a:r>
            <a:r>
              <a:rPr dirty="0" sz="1000" spc="-4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wrong.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266176" y="1257300"/>
            <a:ext cx="344805" cy="390525"/>
          </a:xfrm>
          <a:custGeom>
            <a:avLst/>
            <a:gdLst/>
            <a:ahLst/>
            <a:cxnLst/>
            <a:rect l="l" t="t" r="r" b="b"/>
            <a:pathLst>
              <a:path w="344804" h="390525">
                <a:moveTo>
                  <a:pt x="344423" y="390144"/>
                </a:moveTo>
                <a:lnTo>
                  <a:pt x="0" y="390144"/>
                </a:lnTo>
                <a:lnTo>
                  <a:pt x="0" y="0"/>
                </a:lnTo>
                <a:lnTo>
                  <a:pt x="344423" y="0"/>
                </a:lnTo>
                <a:lnTo>
                  <a:pt x="344423" y="3901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162" y="1223208"/>
            <a:ext cx="8582660" cy="4279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none" sz="2300"/>
              <a:t>Promoting</a:t>
            </a:r>
            <a:r>
              <a:rPr dirty="0" u="none" sz="2300" spc="-30"/>
              <a:t> </a:t>
            </a:r>
            <a:r>
              <a:rPr dirty="0" u="none" sz="2300"/>
              <a:t>Mutual</a:t>
            </a:r>
            <a:r>
              <a:rPr dirty="0" u="none" sz="2300" spc="-55"/>
              <a:t> </a:t>
            </a:r>
            <a:r>
              <a:rPr dirty="0" u="none" sz="2300"/>
              <a:t>Respect</a:t>
            </a:r>
            <a:r>
              <a:rPr dirty="0" u="none" sz="2300" spc="-40"/>
              <a:t> </a:t>
            </a:r>
            <a:r>
              <a:rPr dirty="0" u="none" sz="2300"/>
              <a:t>and</a:t>
            </a:r>
            <a:r>
              <a:rPr dirty="0" u="none" sz="2300" spc="-165"/>
              <a:t> </a:t>
            </a:r>
            <a:r>
              <a:rPr dirty="0" u="none" sz="2300"/>
              <a:t>Avoiding</a:t>
            </a:r>
            <a:r>
              <a:rPr dirty="0" u="none" sz="2300" spc="-45"/>
              <a:t> </a:t>
            </a:r>
            <a:r>
              <a:rPr dirty="0" u="none" sz="2300"/>
              <a:t>Harmful</a:t>
            </a:r>
            <a:r>
              <a:rPr dirty="0" u="none" sz="2300" spc="-35"/>
              <a:t> </a:t>
            </a:r>
            <a:r>
              <a:rPr dirty="0" u="none" sz="2300"/>
              <a:t>Behavior</a:t>
            </a:r>
            <a:r>
              <a:rPr dirty="0" u="none" sz="2300" spc="-35"/>
              <a:t> </a:t>
            </a:r>
            <a:r>
              <a:rPr dirty="0" u="none" sz="2650"/>
              <a:t>-</a:t>
            </a:r>
            <a:r>
              <a:rPr dirty="0" u="none" sz="2650" spc="-15"/>
              <a:t> </a:t>
            </a:r>
            <a:r>
              <a:rPr dirty="0" u="none" sz="2300" spc="-25">
                <a:solidFill>
                  <a:srgbClr val="000000"/>
                </a:solidFill>
              </a:rPr>
              <a:t>12</a:t>
            </a:r>
            <a:endParaRPr sz="2300"/>
          </a:p>
        </p:txBody>
      </p:sp>
      <p:sp>
        <p:nvSpPr>
          <p:cNvPr id="4" name="object 4" descr=""/>
          <p:cNvSpPr/>
          <p:nvPr/>
        </p:nvSpPr>
        <p:spPr>
          <a:xfrm>
            <a:off x="54864" y="1607819"/>
            <a:ext cx="8211820" cy="29209"/>
          </a:xfrm>
          <a:custGeom>
            <a:avLst/>
            <a:gdLst/>
            <a:ahLst/>
            <a:cxnLst/>
            <a:rect l="l" t="t" r="r" b="b"/>
            <a:pathLst>
              <a:path w="8211820" h="29210">
                <a:moveTo>
                  <a:pt x="8211312" y="28956"/>
                </a:moveTo>
                <a:lnTo>
                  <a:pt x="0" y="28956"/>
                </a:lnTo>
                <a:lnTo>
                  <a:pt x="0" y="0"/>
                </a:lnTo>
                <a:lnTo>
                  <a:pt x="8211312" y="0"/>
                </a:lnTo>
                <a:lnTo>
                  <a:pt x="8211312" y="28956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72191" y="1651767"/>
            <a:ext cx="7844155" cy="4902835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85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Surah</a:t>
            </a:r>
            <a:r>
              <a:rPr dirty="0" u="sng" sz="145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Al-Hujurat</a:t>
            </a:r>
            <a:r>
              <a:rPr dirty="0" u="sng" sz="1450" spc="-6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Ayat</a:t>
            </a:r>
            <a:r>
              <a:rPr dirty="0" u="sng" sz="145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12</a:t>
            </a:r>
            <a:r>
              <a:rPr dirty="0" u="sng" sz="145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(49:12</a:t>
            </a:r>
            <a:r>
              <a:rPr dirty="0" u="sng" sz="1450" spc="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Quran):</a:t>
            </a:r>
            <a:endParaRPr sz="1450">
              <a:latin typeface="Trebuchet MS"/>
              <a:cs typeface="Trebuchet MS"/>
            </a:endParaRPr>
          </a:p>
          <a:p>
            <a:pPr algn="r" marL="95250" marR="31750" indent="-635">
              <a:lnSpc>
                <a:spcPts val="3120"/>
              </a:lnSpc>
              <a:spcBef>
                <a:spcPts val="229"/>
              </a:spcBef>
            </a:pPr>
            <a:r>
              <a:rPr dirty="0" baseline="1633" sz="2550" spc="-254" b="1">
                <a:solidFill>
                  <a:srgbClr val="0070BF"/>
                </a:solidFill>
                <a:latin typeface="Arial"/>
                <a:cs typeface="Arial"/>
              </a:rPr>
              <a:t>مۡ</a:t>
            </a:r>
            <a:r>
              <a:rPr dirty="0" baseline="1633" sz="2550" spc="-19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90" b="1">
                <a:solidFill>
                  <a:srgbClr val="0070BF"/>
                </a:solidFill>
                <a:latin typeface="Arial"/>
                <a:cs typeface="Arial"/>
              </a:rPr>
              <a:t>كدحأ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175" b="1">
                <a:solidFill>
                  <a:srgbClr val="0070BF"/>
                </a:solidFill>
                <a:latin typeface="Arial"/>
                <a:cs typeface="Arial"/>
              </a:rPr>
              <a:t>بحيأ</a:t>
            </a:r>
            <a:r>
              <a:rPr dirty="0" sz="170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3071" sz="2550" spc="-209" b="1">
                <a:solidFill>
                  <a:srgbClr val="0070BF"/>
                </a:solidFill>
                <a:latin typeface="Arial"/>
                <a:cs typeface="Arial"/>
              </a:rPr>
              <a:t>اۚ</a:t>
            </a:r>
            <a:r>
              <a:rPr dirty="0" baseline="13071" sz="2550" spc="-2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4901" sz="2550" spc="-757" b="1">
                <a:solidFill>
                  <a:srgbClr val="0070BF"/>
                </a:solidFill>
                <a:latin typeface="Arial"/>
                <a:cs typeface="Arial"/>
              </a:rPr>
              <a:t>ضعۡ</a:t>
            </a:r>
            <a:r>
              <a:rPr dirty="0" baseline="4901" sz="2550" spc="-89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640" b="1">
                <a:solidFill>
                  <a:srgbClr val="0070BF"/>
                </a:solidFill>
                <a:latin typeface="Arial"/>
                <a:cs typeface="Arial"/>
              </a:rPr>
              <a:t>ب</a:t>
            </a:r>
            <a:r>
              <a:rPr dirty="0" sz="170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4901" sz="2550" spc="-517" b="1">
                <a:solidFill>
                  <a:srgbClr val="0070BF"/>
                </a:solidFill>
                <a:latin typeface="Arial"/>
                <a:cs typeface="Arial"/>
              </a:rPr>
              <a:t>مكضعۡ</a:t>
            </a:r>
            <a:r>
              <a:rPr dirty="0" baseline="4901" sz="2550" spc="-82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640" b="1">
                <a:solidFill>
                  <a:srgbClr val="0070BF"/>
                </a:solidFill>
                <a:latin typeface="Arial"/>
                <a:cs typeface="Arial"/>
              </a:rPr>
              <a:t>ب</a:t>
            </a:r>
            <a:r>
              <a:rPr dirty="0" sz="170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4705" sz="2550" spc="-600" b="1">
                <a:solidFill>
                  <a:srgbClr val="0070BF"/>
                </a:solidFill>
                <a:latin typeface="Arial"/>
                <a:cs typeface="Arial"/>
              </a:rPr>
              <a:t>بتغۡ</a:t>
            </a:r>
            <a:r>
              <a:rPr dirty="0" baseline="14705" sz="2550" spc="-6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640" b="1">
                <a:solidFill>
                  <a:srgbClr val="0070BF"/>
                </a:solidFill>
                <a:latin typeface="Arial"/>
                <a:cs typeface="Arial"/>
              </a:rPr>
              <a:t>ي</a:t>
            </a:r>
            <a:r>
              <a:rPr dirty="0" sz="170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ﻻو</a:t>
            </a:r>
            <a:r>
              <a:rPr dirty="0" sz="170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285" b="1">
                <a:solidFill>
                  <a:srgbClr val="0070BF"/>
                </a:solidFill>
                <a:latin typeface="Arial"/>
                <a:cs typeface="Arial"/>
              </a:rPr>
              <a:t>اوسسجت</a:t>
            </a:r>
            <a:r>
              <a:rPr dirty="0" sz="170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ﻻو</a:t>
            </a:r>
            <a:r>
              <a:rPr dirty="0" sz="170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3071" sz="2550" spc="-284" b="1">
                <a:solidFill>
                  <a:srgbClr val="0070BF"/>
                </a:solidFill>
                <a:latin typeface="Arial"/>
                <a:cs typeface="Arial"/>
              </a:rPr>
              <a:t>مۖ</a:t>
            </a:r>
            <a:r>
              <a:rPr dirty="0" baseline="13071" sz="2550" spc="-112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7973" sz="2550" spc="-952" b="1">
                <a:solidFill>
                  <a:srgbClr val="0070BF"/>
                </a:solidFill>
                <a:latin typeface="Arial"/>
                <a:cs typeface="Arial"/>
              </a:rPr>
              <a:t>ثۡ</a:t>
            </a:r>
            <a:r>
              <a:rPr dirty="0" baseline="17973" sz="2550" spc="-2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إ</a:t>
            </a:r>
            <a:r>
              <a:rPr dirty="0" sz="1700" spc="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0070BF"/>
                </a:solidFill>
                <a:latin typeface="Arial"/>
                <a:cs typeface="Arial"/>
              </a:rPr>
              <a:t>نظلٱ</a:t>
            </a:r>
            <a:r>
              <a:rPr dirty="0" sz="170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4901" sz="2550" spc="-427" b="1">
                <a:solidFill>
                  <a:srgbClr val="0070BF"/>
                </a:solidFill>
                <a:latin typeface="Arial"/>
                <a:cs typeface="Arial"/>
              </a:rPr>
              <a:t>ضعۡ</a:t>
            </a:r>
            <a:r>
              <a:rPr dirty="0" baseline="4901" sz="2550" spc="-6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640" b="1">
                <a:solidFill>
                  <a:srgbClr val="0070BF"/>
                </a:solidFill>
                <a:latin typeface="Arial"/>
                <a:cs typeface="Arial"/>
              </a:rPr>
              <a:t>ب</a:t>
            </a:r>
            <a:r>
              <a:rPr dirty="0" sz="170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نإ</a:t>
            </a:r>
            <a:r>
              <a:rPr dirty="0" sz="170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85" b="1">
                <a:solidFill>
                  <a:srgbClr val="0070BF"/>
                </a:solidFill>
                <a:latin typeface="Arial"/>
                <a:cs typeface="Arial"/>
              </a:rPr>
              <a:t>نظلٱ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50" b="1">
                <a:solidFill>
                  <a:srgbClr val="0070BF"/>
                </a:solidFill>
                <a:latin typeface="Arial"/>
                <a:cs typeface="Arial"/>
              </a:rPr>
              <a:t>نم</a:t>
            </a:r>
            <a:r>
              <a:rPr dirty="0" sz="1700" spc="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330" b="1">
                <a:solidFill>
                  <a:srgbClr val="0070BF"/>
                </a:solidFill>
                <a:latin typeface="Arial"/>
                <a:cs typeface="Arial"/>
              </a:rPr>
              <a:t>اريثك</a:t>
            </a:r>
            <a:r>
              <a:rPr dirty="0" sz="1700" spc="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6535" sz="2550" spc="-569" b="1">
                <a:solidFill>
                  <a:srgbClr val="0070BF"/>
                </a:solidFill>
                <a:latin typeface="Arial"/>
                <a:cs typeface="Arial"/>
              </a:rPr>
              <a:t>اوبنتجۡ</a:t>
            </a:r>
            <a:r>
              <a:rPr dirty="0" baseline="6535" sz="2550" spc="12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ٱ</a:t>
            </a:r>
            <a:r>
              <a:rPr dirty="0" sz="170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40" b="1">
                <a:solidFill>
                  <a:srgbClr val="0070BF"/>
                </a:solidFill>
                <a:latin typeface="Arial"/>
                <a:cs typeface="Arial"/>
              </a:rPr>
              <a:t>اونماء</a:t>
            </a:r>
            <a:r>
              <a:rPr dirty="0" sz="170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0070BF"/>
                </a:solidFill>
                <a:latin typeface="Arial"/>
                <a:cs typeface="Arial"/>
              </a:rPr>
              <a:t>نيذلٱ</a:t>
            </a:r>
            <a:r>
              <a:rPr dirty="0" sz="1700" spc="50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470" b="1">
                <a:solidFill>
                  <a:srgbClr val="0070BF"/>
                </a:solidFill>
                <a:latin typeface="Arial"/>
                <a:cs typeface="Arial"/>
              </a:rPr>
              <a:t>اهيأٓـيي</a:t>
            </a:r>
            <a:r>
              <a:rPr dirty="0" sz="1700" spc="-28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190" b="1">
                <a:solidFill>
                  <a:srgbClr val="0070BF"/>
                </a:solidFill>
                <a:latin typeface="Arial"/>
                <a:cs typeface="Arial"/>
              </a:rPr>
              <a:t>ميحر</a:t>
            </a:r>
            <a:r>
              <a:rPr dirty="0" sz="170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160" b="1">
                <a:solidFill>
                  <a:srgbClr val="0070BF"/>
                </a:solidFill>
                <a:latin typeface="Arial"/>
                <a:cs typeface="Arial"/>
              </a:rPr>
              <a:t>باوت</a:t>
            </a:r>
            <a:r>
              <a:rPr dirty="0" sz="1700" spc="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250" b="1">
                <a:solidFill>
                  <a:srgbClr val="0070BF"/>
                </a:solidFill>
                <a:latin typeface="Arial"/>
                <a:cs typeface="Arial"/>
              </a:rPr>
              <a:t>ໂ</a:t>
            </a:r>
            <a:r>
              <a:rPr dirty="0" sz="1700" spc="-250" b="1">
                <a:solidFill>
                  <a:srgbClr val="0070BF"/>
                </a:solidFill>
                <a:latin typeface="Arial"/>
                <a:cs typeface="Arial"/>
              </a:rPr>
              <a:t>ٱ</a:t>
            </a:r>
            <a:r>
              <a:rPr dirty="0" sz="170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نإ</a:t>
            </a:r>
            <a:r>
              <a:rPr dirty="0" sz="170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1510" b="1">
                <a:solidFill>
                  <a:srgbClr val="0070BF"/>
                </a:solidFill>
                <a:latin typeface="Arial"/>
                <a:cs typeface="Arial"/>
              </a:rPr>
              <a:t>ໂ</a:t>
            </a:r>
            <a:r>
              <a:rPr dirty="0" baseline="4901" sz="2550" spc="-2265" b="1">
                <a:solidFill>
                  <a:srgbClr val="0070BF"/>
                </a:solidFill>
                <a:latin typeface="Arial"/>
                <a:cs typeface="Arial"/>
              </a:rPr>
              <a:t>ۚ</a:t>
            </a:r>
            <a:r>
              <a:rPr dirty="0" baseline="4901" sz="2550" spc="60" b="1">
                <a:solidFill>
                  <a:srgbClr val="0070BF"/>
                </a:solidFill>
                <a:latin typeface="Arial"/>
                <a:cs typeface="Arial"/>
              </a:rPr>
              <a:t>  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ٱ</a:t>
            </a:r>
            <a:r>
              <a:rPr dirty="0" sz="170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190" b="1">
                <a:solidFill>
                  <a:srgbClr val="0070BF"/>
                </a:solidFill>
                <a:latin typeface="Arial"/>
                <a:cs typeface="Arial"/>
              </a:rPr>
              <a:t>اوقتٱو</a:t>
            </a:r>
            <a:r>
              <a:rPr dirty="0" sz="1700" spc="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9607" sz="2550" spc="-284" b="1">
                <a:solidFill>
                  <a:srgbClr val="0070BF"/>
                </a:solidFill>
                <a:latin typeface="Arial"/>
                <a:cs typeface="Arial"/>
              </a:rPr>
              <a:t>هۚ</a:t>
            </a:r>
            <a:r>
              <a:rPr dirty="0" baseline="19607" sz="2550" spc="-127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3071" sz="2550" spc="-254" b="1">
                <a:solidFill>
                  <a:srgbClr val="0070BF"/>
                </a:solidFill>
                <a:latin typeface="Arial"/>
                <a:cs typeface="Arial"/>
              </a:rPr>
              <a:t>ومتهۡ</a:t>
            </a:r>
            <a:r>
              <a:rPr dirty="0" baseline="13071" sz="2550" spc="16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360" b="1">
                <a:solidFill>
                  <a:srgbClr val="0070BF"/>
                </a:solidFill>
                <a:latin typeface="Arial"/>
                <a:cs typeface="Arial"/>
              </a:rPr>
              <a:t>ركف</a:t>
            </a:r>
            <a:r>
              <a:rPr dirty="0" sz="170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6535" sz="2550" spc="-712" b="1">
                <a:solidFill>
                  <a:srgbClr val="0070BF"/>
                </a:solidFill>
                <a:latin typeface="Arial"/>
                <a:cs typeface="Arial"/>
              </a:rPr>
              <a:t>اتيۡ</a:t>
            </a:r>
            <a:r>
              <a:rPr dirty="0" baseline="6535" sz="2550" spc="-3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100" b="1">
                <a:solidFill>
                  <a:srgbClr val="0070BF"/>
                </a:solidFill>
                <a:latin typeface="Arial"/>
                <a:cs typeface="Arial"/>
              </a:rPr>
              <a:t>م</a:t>
            </a:r>
            <a:r>
              <a:rPr dirty="0" sz="1700" spc="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155" b="1">
                <a:solidFill>
                  <a:srgbClr val="0070BF"/>
                </a:solidFill>
                <a:latin typeface="Arial"/>
                <a:cs typeface="Arial"/>
              </a:rPr>
              <a:t>هيخأ</a:t>
            </a:r>
            <a:r>
              <a:rPr dirty="0" sz="170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6535" sz="2550" spc="-337" b="1">
                <a:solidFill>
                  <a:srgbClr val="0070BF"/>
                </a:solidFill>
                <a:latin typeface="Arial"/>
                <a:cs typeface="Arial"/>
              </a:rPr>
              <a:t>محۡ</a:t>
            </a:r>
            <a:r>
              <a:rPr dirty="0" baseline="6535" sz="2550" spc="104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360" b="1">
                <a:solidFill>
                  <a:srgbClr val="0070BF"/>
                </a:solidFill>
                <a:latin typeface="Arial"/>
                <a:cs typeface="Arial"/>
              </a:rPr>
              <a:t>ل</a:t>
            </a:r>
            <a:r>
              <a:rPr dirty="0" sz="170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baseline="19607" sz="2550" spc="-240" b="1">
                <a:solidFill>
                  <a:srgbClr val="0070BF"/>
                </a:solidFill>
                <a:latin typeface="Arial"/>
                <a:cs typeface="Arial"/>
              </a:rPr>
              <a:t>لكأۡ</a:t>
            </a:r>
            <a:r>
              <a:rPr dirty="0" baseline="19607" sz="2550" spc="-2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640" b="1">
                <a:solidFill>
                  <a:srgbClr val="0070BF"/>
                </a:solidFill>
                <a:latin typeface="Arial"/>
                <a:cs typeface="Arial"/>
              </a:rPr>
              <a:t>ي</a:t>
            </a:r>
            <a:r>
              <a:rPr dirty="0" sz="1700" spc="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0070BF"/>
                </a:solidFill>
                <a:latin typeface="Arial"/>
                <a:cs typeface="Arial"/>
              </a:rPr>
              <a:t>نأ</a:t>
            </a:r>
            <a:endParaRPr sz="1700">
              <a:latin typeface="Arial"/>
              <a:cs typeface="Arial"/>
            </a:endParaRPr>
          </a:p>
          <a:p>
            <a:pPr algn="r" marL="250190" marR="33020" indent="-2540">
              <a:lnSpc>
                <a:spcPts val="2660"/>
              </a:lnSpc>
              <a:spcBef>
                <a:spcPts val="30"/>
              </a:spcBef>
            </a:pPr>
            <a:r>
              <a:rPr dirty="0" sz="1450" spc="-190" b="1">
                <a:latin typeface="Arial"/>
                <a:cs typeface="Arial"/>
              </a:rPr>
              <a:t>ےس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160" b="1">
                <a:latin typeface="Arial"/>
                <a:cs typeface="Arial"/>
              </a:rPr>
              <a:t>ںيم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270" b="1">
                <a:latin typeface="Arial"/>
                <a:cs typeface="Arial"/>
              </a:rPr>
              <a:t>مت</a:t>
            </a:r>
            <a:r>
              <a:rPr dirty="0" sz="1450" spc="30" b="1">
                <a:latin typeface="Arial"/>
                <a:cs typeface="Arial"/>
              </a:rPr>
              <a:t> </a:t>
            </a:r>
            <a:r>
              <a:rPr dirty="0" sz="1450" spc="-210" b="1">
                <a:latin typeface="Arial"/>
                <a:cs typeface="Arial"/>
              </a:rPr>
              <a:t>ہن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روا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185" b="1">
                <a:latin typeface="Arial"/>
                <a:cs typeface="Arial"/>
              </a:rPr>
              <a:t>ورک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260" b="1">
                <a:latin typeface="Arial"/>
                <a:cs typeface="Arial"/>
              </a:rPr>
              <a:t>ﻻوٹٹ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200" b="1">
                <a:latin typeface="Arial"/>
                <a:cs typeface="Arial"/>
              </a:rPr>
              <a:t>ہن</a:t>
            </a:r>
            <a:r>
              <a:rPr dirty="0" sz="1450" b="1">
                <a:latin typeface="Arial"/>
                <a:cs typeface="Arial"/>
              </a:rPr>
              <a:t> </a:t>
            </a:r>
            <a:r>
              <a:rPr dirty="0" sz="1450" spc="-229" b="1">
                <a:latin typeface="Arial"/>
                <a:cs typeface="Arial"/>
              </a:rPr>
              <a:t>ديهب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روا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 spc="-190" b="1">
                <a:latin typeface="Arial"/>
                <a:cs typeface="Arial"/>
              </a:rPr>
              <a:t>۔ںيہ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235" b="1">
                <a:latin typeface="Arial"/>
                <a:cs typeface="Arial"/>
              </a:rPr>
              <a:t>هانگ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220" b="1">
                <a:latin typeface="Arial"/>
                <a:cs typeface="Arial"/>
              </a:rPr>
              <a:t>ںاينامگدب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254" b="1">
                <a:latin typeface="Arial"/>
                <a:cs typeface="Arial"/>
              </a:rPr>
              <a:t>ضعب</a:t>
            </a:r>
            <a:r>
              <a:rPr dirty="0" sz="1450" spc="30" b="1">
                <a:latin typeface="Arial"/>
                <a:cs typeface="Arial"/>
              </a:rPr>
              <a:t> </a:t>
            </a:r>
            <a:r>
              <a:rPr dirty="0" sz="1450" spc="-285" b="1">
                <a:latin typeface="Arial"/>
                <a:cs typeface="Arial"/>
              </a:rPr>
              <a:t>ہک</a:t>
            </a:r>
            <a:r>
              <a:rPr dirty="0" sz="1450" spc="30" b="1">
                <a:latin typeface="Arial"/>
                <a:cs typeface="Arial"/>
              </a:rPr>
              <a:t> </a:t>
            </a:r>
            <a:r>
              <a:rPr dirty="0" sz="1450" spc="-60" b="1">
                <a:latin typeface="Arial"/>
                <a:cs typeface="Arial"/>
              </a:rPr>
              <a:t>ونام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375" b="1">
                <a:latin typeface="Arial"/>
                <a:cs typeface="Arial"/>
              </a:rPr>
              <a:t>نيقي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204" b="1">
                <a:latin typeface="Arial"/>
                <a:cs typeface="Arial"/>
              </a:rPr>
              <a:t>وچب</a:t>
            </a:r>
            <a:r>
              <a:rPr dirty="0" sz="1450" spc="30" b="1">
                <a:latin typeface="Arial"/>
                <a:cs typeface="Arial"/>
              </a:rPr>
              <a:t> </a:t>
            </a:r>
            <a:r>
              <a:rPr dirty="0" sz="1450" spc="-195" b="1">
                <a:latin typeface="Arial"/>
                <a:cs typeface="Arial"/>
              </a:rPr>
              <a:t>ےس</a:t>
            </a:r>
            <a:r>
              <a:rPr dirty="0" sz="1450" spc="5" b="1">
                <a:latin typeface="Arial"/>
                <a:cs typeface="Arial"/>
              </a:rPr>
              <a:t> </a:t>
            </a:r>
            <a:r>
              <a:rPr dirty="0" sz="1450" spc="-220" b="1">
                <a:latin typeface="Arial"/>
                <a:cs typeface="Arial"/>
              </a:rPr>
              <a:t>ںوينامگدب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204" b="1">
                <a:latin typeface="Arial"/>
                <a:cs typeface="Arial"/>
              </a:rPr>
              <a:t>تہب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 spc="-55" b="1">
                <a:latin typeface="Arial"/>
                <a:cs typeface="Arial"/>
              </a:rPr>
              <a:t>!</a:t>
            </a:r>
            <a:r>
              <a:rPr dirty="0" sz="1450" spc="-55" b="1">
                <a:latin typeface="Arial"/>
                <a:cs typeface="Arial"/>
              </a:rPr>
              <a:t>ولاو</a:t>
            </a:r>
            <a:r>
              <a:rPr dirty="0" sz="1450" spc="30" b="1">
                <a:latin typeface="Arial"/>
                <a:cs typeface="Arial"/>
              </a:rPr>
              <a:t> </a:t>
            </a:r>
            <a:r>
              <a:rPr dirty="0" sz="1450" spc="-85" b="1">
                <a:latin typeface="Arial"/>
                <a:cs typeface="Arial"/>
              </a:rPr>
              <a:t>ناميا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 spc="-25" b="1">
                <a:latin typeface="Arial"/>
                <a:cs typeface="Arial"/>
              </a:rPr>
              <a:t>ےا</a:t>
            </a:r>
            <a:r>
              <a:rPr dirty="0" sz="1450" spc="-25" b="1">
                <a:latin typeface="Arial"/>
                <a:cs typeface="Arial"/>
              </a:rPr>
              <a:t> </a:t>
            </a:r>
            <a:r>
              <a:rPr dirty="0" sz="1450" spc="-130" b="1">
                <a:latin typeface="Arial"/>
                <a:cs typeface="Arial"/>
              </a:rPr>
              <a:t>نهگ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195" b="1">
                <a:latin typeface="Arial"/>
                <a:cs typeface="Arial"/>
              </a:rPr>
              <a:t>ےس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سا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 spc="-275" b="1">
                <a:latin typeface="Arial"/>
                <a:cs typeface="Arial"/>
              </a:rPr>
              <a:t>وک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270" b="1">
                <a:latin typeface="Arial"/>
                <a:cs typeface="Arial"/>
              </a:rPr>
              <a:t>مت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20" b="1">
                <a:latin typeface="Arial"/>
                <a:cs typeface="Arial"/>
              </a:rPr>
              <a:t>؟ےہ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270" b="1">
                <a:latin typeface="Arial"/>
                <a:cs typeface="Arial"/>
              </a:rPr>
              <a:t>اترک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330" b="1">
                <a:latin typeface="Arial"/>
                <a:cs typeface="Arial"/>
              </a:rPr>
              <a:t>دنسپ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155" b="1">
                <a:latin typeface="Arial"/>
                <a:cs typeface="Arial"/>
              </a:rPr>
              <a:t>اناهک</a:t>
            </a:r>
            <a:r>
              <a:rPr dirty="0" sz="1450" spc="30" b="1">
                <a:latin typeface="Arial"/>
                <a:cs typeface="Arial"/>
              </a:rPr>
              <a:t> </a:t>
            </a:r>
            <a:r>
              <a:rPr dirty="0" sz="1450" spc="-240" b="1">
                <a:latin typeface="Arial"/>
                <a:cs typeface="Arial"/>
              </a:rPr>
              <a:t>تشوگ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270" b="1">
                <a:latin typeface="Arial"/>
                <a:cs typeface="Arial"/>
              </a:rPr>
              <a:t>اک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204" b="1">
                <a:latin typeface="Arial"/>
                <a:cs typeface="Arial"/>
              </a:rPr>
              <a:t>یئاهب</a:t>
            </a:r>
            <a:r>
              <a:rPr dirty="0" sz="145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هدرم</a:t>
            </a:r>
            <a:r>
              <a:rPr dirty="0" sz="1450" spc="5" b="1">
                <a:latin typeface="Arial"/>
                <a:cs typeface="Arial"/>
              </a:rPr>
              <a:t> </a:t>
            </a:r>
            <a:r>
              <a:rPr dirty="0" sz="1450" spc="-229" b="1">
                <a:latin typeface="Arial"/>
                <a:cs typeface="Arial"/>
              </a:rPr>
              <a:t>ےنپا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170" b="1">
                <a:latin typeface="Arial"/>
                <a:cs typeface="Arial"/>
              </a:rPr>
              <a:t>یهب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305" b="1">
                <a:latin typeface="Arial"/>
                <a:cs typeface="Arial"/>
              </a:rPr>
              <a:t>یئوک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190" b="1">
                <a:latin typeface="Arial"/>
                <a:cs typeface="Arial"/>
              </a:rPr>
              <a:t>ےس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160" b="1">
                <a:latin typeface="Arial"/>
                <a:cs typeface="Arial"/>
              </a:rPr>
              <a:t>ںيم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270" b="1">
                <a:latin typeface="Arial"/>
                <a:cs typeface="Arial"/>
              </a:rPr>
              <a:t>مت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405" b="1">
                <a:latin typeface="Arial"/>
                <a:cs typeface="Arial"/>
              </a:rPr>
              <a:t>ايک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135" b="1">
                <a:latin typeface="Arial"/>
                <a:cs typeface="Arial"/>
              </a:rPr>
              <a:t>۔ےرک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265" b="1">
                <a:latin typeface="Arial"/>
                <a:cs typeface="Arial"/>
              </a:rPr>
              <a:t>تبيغ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345" b="1">
                <a:latin typeface="Arial"/>
                <a:cs typeface="Arial"/>
              </a:rPr>
              <a:t>یک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375" b="1">
                <a:latin typeface="Arial"/>
                <a:cs typeface="Arial"/>
              </a:rPr>
              <a:t>یسک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330" b="1">
                <a:latin typeface="Arial"/>
                <a:cs typeface="Arial"/>
              </a:rPr>
              <a:t>یئوک</a:t>
            </a:r>
            <a:endParaRPr sz="1450">
              <a:latin typeface="Arial"/>
              <a:cs typeface="Arial"/>
            </a:endParaRPr>
          </a:p>
          <a:p>
            <a:pPr algn="r" marL="3046095" marR="33020">
              <a:lnSpc>
                <a:spcPct val="100000"/>
              </a:lnSpc>
              <a:spcBef>
                <a:spcPts val="695"/>
              </a:spcBef>
            </a:pPr>
            <a:r>
              <a:rPr dirty="0" sz="1450" spc="-50" b="1">
                <a:latin typeface="Arial"/>
                <a:cs typeface="Arial"/>
              </a:rPr>
              <a:t>ےہ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85" b="1">
                <a:latin typeface="Arial"/>
                <a:cs typeface="Arial"/>
              </a:rPr>
              <a:t>نابرہم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ﻻاو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240" b="1">
                <a:latin typeface="Arial"/>
                <a:cs typeface="Arial"/>
              </a:rPr>
              <a:t>ےنرک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245" b="1">
                <a:latin typeface="Arial"/>
                <a:cs typeface="Arial"/>
              </a:rPr>
              <a:t>لوبق</a:t>
            </a:r>
            <a:r>
              <a:rPr dirty="0" sz="1450" spc="20" b="1">
                <a:latin typeface="Arial"/>
                <a:cs typeface="Arial"/>
              </a:rPr>
              <a:t> </a:t>
            </a:r>
            <a:r>
              <a:rPr dirty="0" sz="1450" spc="-265" b="1">
                <a:latin typeface="Arial"/>
                <a:cs typeface="Arial"/>
              </a:rPr>
              <a:t>ہبوت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ﷲ</a:t>
            </a:r>
            <a:r>
              <a:rPr dirty="0" sz="1450" spc="25" b="1">
                <a:latin typeface="Arial"/>
                <a:cs typeface="Arial"/>
              </a:rPr>
              <a:t> </a:t>
            </a:r>
            <a:r>
              <a:rPr dirty="0" sz="1450" spc="-325" b="1">
                <a:latin typeface="Arial"/>
                <a:cs typeface="Arial"/>
              </a:rPr>
              <a:t>کشيب</a:t>
            </a:r>
            <a:r>
              <a:rPr dirty="0" sz="1450" spc="-5" b="1">
                <a:latin typeface="Arial"/>
                <a:cs typeface="Arial"/>
              </a:rPr>
              <a:t> </a:t>
            </a:r>
            <a:r>
              <a:rPr dirty="0" sz="1450" spc="-20" b="1">
                <a:latin typeface="Arial"/>
                <a:cs typeface="Arial"/>
              </a:rPr>
              <a:t>،وہر</a:t>
            </a:r>
            <a:r>
              <a:rPr dirty="0" sz="1450" spc="-5" b="1">
                <a:latin typeface="Arial"/>
                <a:cs typeface="Arial"/>
              </a:rPr>
              <a:t> </a:t>
            </a:r>
            <a:r>
              <a:rPr dirty="0" sz="1450" spc="-135" b="1">
                <a:latin typeface="Arial"/>
                <a:cs typeface="Arial"/>
              </a:rPr>
              <a:t>ےترڈ</a:t>
            </a:r>
            <a:r>
              <a:rPr dirty="0" sz="1450" spc="35" b="1">
                <a:latin typeface="Arial"/>
                <a:cs typeface="Arial"/>
              </a:rPr>
              <a:t> </a:t>
            </a:r>
            <a:r>
              <a:rPr dirty="0" sz="1450" spc="-190" b="1">
                <a:latin typeface="Arial"/>
                <a:cs typeface="Arial"/>
              </a:rPr>
              <a:t>ےس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ﷲ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b="1">
                <a:latin typeface="Arial"/>
                <a:cs typeface="Arial"/>
              </a:rPr>
              <a:t>روا</a:t>
            </a:r>
            <a:r>
              <a:rPr dirty="0" sz="1450" spc="15" b="1">
                <a:latin typeface="Arial"/>
                <a:cs typeface="Arial"/>
              </a:rPr>
              <a:t> </a:t>
            </a:r>
            <a:r>
              <a:rPr dirty="0" sz="1450" spc="-229" b="1">
                <a:latin typeface="Arial"/>
                <a:cs typeface="Arial"/>
              </a:rPr>
              <a:t>،یگ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450" spc="-50" b="1">
                <a:latin typeface="Arial"/>
                <a:cs typeface="Arial"/>
              </a:rPr>
              <a:t>ےئآ</a:t>
            </a:r>
            <a:endParaRPr sz="1450">
              <a:latin typeface="Arial"/>
              <a:cs typeface="Arial"/>
            </a:endParaRPr>
          </a:p>
          <a:p>
            <a:pPr algn="r" marL="95885" marR="30480" indent="106045">
              <a:lnSpc>
                <a:spcPct val="141000"/>
              </a:lnSpc>
              <a:spcBef>
                <a:spcPts val="225"/>
              </a:spcBef>
            </a:pPr>
            <a:r>
              <a:rPr dirty="0" sz="1450" b="1">
                <a:latin typeface="Arial"/>
                <a:cs typeface="Arial"/>
              </a:rPr>
              <a:t>Translation:</a:t>
            </a:r>
            <a:r>
              <a:rPr dirty="0" sz="1450" spc="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“O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you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who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have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believed,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avoid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suspicion.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Indeed,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some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suspicion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is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sin.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Do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not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spy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on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or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backbite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each </a:t>
            </a:r>
            <a:r>
              <a:rPr dirty="0" sz="1000" spc="-10" b="1">
                <a:latin typeface="Arial"/>
                <a:cs typeface="Arial"/>
              </a:rPr>
              <a:t>other.</a:t>
            </a:r>
            <a:r>
              <a:rPr dirty="0" sz="1000" spc="-6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Would</a:t>
            </a:r>
            <a:r>
              <a:rPr dirty="0" sz="1000" spc="-5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any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you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like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to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eat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flesh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your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dead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brother?</a:t>
            </a:r>
            <a:r>
              <a:rPr dirty="0" sz="1000" spc="-6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You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would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surely</a:t>
            </a:r>
            <a:r>
              <a:rPr dirty="0" sz="1000" spc="-5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hate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it.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Fear</a:t>
            </a:r>
            <a:r>
              <a:rPr dirty="0" sz="1000" spc="-7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Allah; </a:t>
            </a:r>
            <a:r>
              <a:rPr dirty="0" sz="1000" spc="-10" b="1">
                <a:latin typeface="Arial"/>
                <a:cs typeface="Arial"/>
              </a:rPr>
              <a:t>indeed,</a:t>
            </a:r>
            <a:r>
              <a:rPr dirty="0" sz="1000" spc="-6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Allah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is</a:t>
            </a:r>
            <a:r>
              <a:rPr dirty="0" sz="1000" spc="-5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Accepting</a:t>
            </a:r>
            <a:endParaRPr sz="1000">
              <a:latin typeface="Arial"/>
              <a:cs typeface="Arial"/>
            </a:endParaRPr>
          </a:p>
          <a:p>
            <a:pPr marL="5636895">
              <a:lnSpc>
                <a:spcPct val="100000"/>
              </a:lnSpc>
              <a:spcBef>
                <a:spcPts val="575"/>
              </a:spcBef>
            </a:pP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-10" b="1">
                <a:latin typeface="Arial"/>
                <a:cs typeface="Arial"/>
              </a:rPr>
              <a:t> repentance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and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is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Most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Merciful.”</a:t>
            </a:r>
            <a:endParaRPr sz="1000">
              <a:latin typeface="Arial"/>
              <a:cs typeface="Arial"/>
            </a:endParaRPr>
          </a:p>
          <a:p>
            <a:pPr marL="38100" marR="115570" indent="-635">
              <a:lnSpc>
                <a:spcPct val="146000"/>
              </a:lnSpc>
              <a:spcBef>
                <a:spcPts val="10"/>
              </a:spcBef>
            </a:pPr>
            <a:r>
              <a:rPr dirty="0" sz="1450" b="1">
                <a:latin typeface="Arial"/>
                <a:cs typeface="Arial"/>
              </a:rPr>
              <a:t>Explanation:</a:t>
            </a:r>
            <a:r>
              <a:rPr dirty="0" sz="145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This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verse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teaches</a:t>
            </a:r>
            <a:r>
              <a:rPr dirty="0" sz="1000" spc="-5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us to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avoid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unnecessary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suspicion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and negative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assumptions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about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others.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It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tells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us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not </a:t>
            </a:r>
            <a:r>
              <a:rPr dirty="0" sz="1000" b="1">
                <a:latin typeface="Arial"/>
                <a:cs typeface="Arial"/>
              </a:rPr>
              <a:t>to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spy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on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our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fellow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Muslims</a:t>
            </a:r>
            <a:r>
              <a:rPr dirty="0" sz="1000" spc="-6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or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speak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badly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about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them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behind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their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backs.</a:t>
            </a:r>
            <a:r>
              <a:rPr dirty="0" sz="1000" spc="-5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strong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image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eating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flesh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one’s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dead </a:t>
            </a:r>
            <a:r>
              <a:rPr dirty="0" sz="1000" spc="-10" b="1">
                <a:latin typeface="Arial"/>
                <a:cs typeface="Arial"/>
              </a:rPr>
              <a:t>brother</a:t>
            </a:r>
            <a:r>
              <a:rPr dirty="0" sz="1000" spc="-6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shows</a:t>
            </a:r>
            <a:r>
              <a:rPr dirty="0" sz="1000" spc="-5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just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how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disgusting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backbiting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is.</a:t>
            </a:r>
            <a:r>
              <a:rPr dirty="0" sz="1000" spc="-5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Instead,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we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should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act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with</a:t>
            </a:r>
            <a:r>
              <a:rPr dirty="0" sz="1000" spc="-5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kindness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and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have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fear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-5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Allah, who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is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always</a:t>
            </a:r>
            <a:r>
              <a:rPr dirty="0" sz="1000" spc="50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ready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to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forgive</a:t>
            </a:r>
            <a:r>
              <a:rPr dirty="0" sz="1000" spc="-6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those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who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repent.</a:t>
            </a:r>
            <a:endParaRPr sz="1000">
              <a:latin typeface="Arial"/>
              <a:cs typeface="Arial"/>
            </a:endParaRPr>
          </a:p>
          <a:p>
            <a:pPr marL="224790" indent="-18669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24790" algn="l"/>
              </a:tabLst>
            </a:pPr>
            <a:r>
              <a:rPr dirty="0" sz="1000" spc="-10">
                <a:latin typeface="Microsoft Sans Serif"/>
                <a:cs typeface="Microsoft Sans Serif"/>
              </a:rPr>
              <a:t>Believers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are</a:t>
            </a:r>
            <a:r>
              <a:rPr dirty="0" sz="1000" spc="-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warned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not</a:t>
            </a:r>
            <a:r>
              <a:rPr dirty="0" sz="1000" spc="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 make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too</a:t>
            </a:r>
            <a:r>
              <a:rPr dirty="0" sz="1000" spc="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many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negative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assumptions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or</a:t>
            </a:r>
            <a:r>
              <a:rPr dirty="0" sz="1000" spc="1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suspicions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about</a:t>
            </a:r>
            <a:r>
              <a:rPr dirty="0" sz="1000" spc="-1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others.</a:t>
            </a:r>
            <a:endParaRPr sz="1000">
              <a:latin typeface="Microsoft Sans Serif"/>
              <a:cs typeface="Microsoft Sans Serif"/>
            </a:endParaRPr>
          </a:p>
          <a:p>
            <a:pPr marL="224790" indent="-186690">
              <a:lnSpc>
                <a:spcPct val="100000"/>
              </a:lnSpc>
              <a:spcBef>
                <a:spcPts val="590"/>
              </a:spcBef>
              <a:buAutoNum type="arabicPeriod"/>
              <a:tabLst>
                <a:tab pos="224790" algn="l"/>
              </a:tabLst>
            </a:pPr>
            <a:r>
              <a:rPr dirty="0" sz="1000">
                <a:latin typeface="Microsoft Sans Serif"/>
                <a:cs typeface="Microsoft Sans Serif"/>
              </a:rPr>
              <a:t>We</a:t>
            </a:r>
            <a:r>
              <a:rPr dirty="0" sz="1000" spc="-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must</a:t>
            </a:r>
            <a:r>
              <a:rPr dirty="0" sz="1000" spc="-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avoid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spying</a:t>
            </a:r>
            <a:r>
              <a:rPr dirty="0" sz="1000" spc="-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or</a:t>
            </a:r>
            <a:r>
              <a:rPr dirty="0" sz="1000" spc="-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speaking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badly</a:t>
            </a:r>
            <a:r>
              <a:rPr dirty="0" sz="1000" spc="-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about</a:t>
            </a:r>
            <a:r>
              <a:rPr dirty="0" sz="1000" spc="-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another.</a:t>
            </a:r>
            <a:endParaRPr sz="1000">
              <a:latin typeface="Microsoft Sans Serif"/>
              <a:cs typeface="Microsoft Sans Serif"/>
            </a:endParaRPr>
          </a:p>
          <a:p>
            <a:pPr marL="224790" indent="-18669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224790" algn="l"/>
              </a:tabLst>
            </a:pP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-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verse</a:t>
            </a:r>
            <a:r>
              <a:rPr dirty="0" sz="1000" spc="-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uses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-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strong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image</a:t>
            </a:r>
            <a:r>
              <a:rPr dirty="0" sz="1000" spc="-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-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show</a:t>
            </a:r>
            <a:r>
              <a:rPr dirty="0" sz="1000" spc="-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how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repulsive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backbiting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is.</a:t>
            </a:r>
            <a:endParaRPr sz="1000">
              <a:latin typeface="Microsoft Sans Serif"/>
              <a:cs typeface="Microsoft Sans Serif"/>
            </a:endParaRPr>
          </a:p>
          <a:p>
            <a:pPr marL="224790" indent="-186690">
              <a:lnSpc>
                <a:spcPct val="100000"/>
              </a:lnSpc>
              <a:spcBef>
                <a:spcPts val="590"/>
              </a:spcBef>
              <a:buAutoNum type="arabicPeriod"/>
              <a:tabLst>
                <a:tab pos="224790" algn="l"/>
              </a:tabLst>
            </a:pPr>
            <a:r>
              <a:rPr dirty="0" sz="1000">
                <a:latin typeface="Microsoft Sans Serif"/>
                <a:cs typeface="Microsoft Sans Serif"/>
              </a:rPr>
              <a:t>Instead,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we</a:t>
            </a:r>
            <a:r>
              <a:rPr dirty="0" sz="1000" spc="-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should</a:t>
            </a:r>
            <a:r>
              <a:rPr dirty="0" sz="1000" spc="-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fear</a:t>
            </a:r>
            <a:r>
              <a:rPr dirty="0" sz="1000" spc="-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Allah,</a:t>
            </a:r>
            <a:r>
              <a:rPr dirty="0" sz="1000" spc="-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seek</a:t>
            </a:r>
            <a:r>
              <a:rPr dirty="0" sz="1000" spc="-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forgiveness,</a:t>
            </a:r>
            <a:r>
              <a:rPr dirty="0" sz="1000" spc="-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-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maintain</a:t>
            </a:r>
            <a:r>
              <a:rPr dirty="0" sz="1000" spc="-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kind</a:t>
            </a:r>
            <a:r>
              <a:rPr dirty="0" sz="1000" spc="-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community.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14"/>
              </a:spcBef>
            </a:pPr>
            <a:r>
              <a:rPr dirty="0" sz="2300"/>
              <a:t>The</a:t>
            </a:r>
            <a:r>
              <a:rPr dirty="0" sz="2300" spc="-35"/>
              <a:t> </a:t>
            </a:r>
            <a:r>
              <a:rPr dirty="0" sz="2300"/>
              <a:t>Six</a:t>
            </a:r>
            <a:r>
              <a:rPr dirty="0" sz="2300" spc="-50"/>
              <a:t> </a:t>
            </a:r>
            <a:r>
              <a:rPr dirty="0" sz="2300"/>
              <a:t>Commandments</a:t>
            </a:r>
            <a:r>
              <a:rPr dirty="0" sz="2300" spc="-70"/>
              <a:t> </a:t>
            </a:r>
            <a:r>
              <a:rPr dirty="0" sz="2300"/>
              <a:t>Derived</a:t>
            </a:r>
            <a:r>
              <a:rPr dirty="0" sz="2300" spc="-45"/>
              <a:t> </a:t>
            </a:r>
            <a:r>
              <a:rPr dirty="0" sz="2300"/>
              <a:t>from</a:t>
            </a:r>
            <a:r>
              <a:rPr dirty="0" sz="2300" spc="-20"/>
              <a:t> </a:t>
            </a:r>
            <a:r>
              <a:rPr dirty="0" sz="2300"/>
              <a:t>Verses</a:t>
            </a:r>
            <a:r>
              <a:rPr dirty="0" sz="2300" spc="-45"/>
              <a:t> </a:t>
            </a:r>
            <a:r>
              <a:rPr dirty="0" sz="2300"/>
              <a:t>11</a:t>
            </a:r>
            <a:r>
              <a:rPr dirty="0" sz="2300" spc="-40"/>
              <a:t> </a:t>
            </a:r>
            <a:r>
              <a:rPr dirty="0" sz="2300"/>
              <a:t>&amp;</a:t>
            </a:r>
            <a:r>
              <a:rPr dirty="0" sz="2300" spc="-35"/>
              <a:t> </a:t>
            </a:r>
            <a:r>
              <a:rPr dirty="0" sz="2300" spc="-25"/>
              <a:t>12</a:t>
            </a:r>
            <a:endParaRPr sz="2300"/>
          </a:p>
        </p:txBody>
      </p:sp>
      <p:sp>
        <p:nvSpPr>
          <p:cNvPr id="3" name="object 3" descr=""/>
          <p:cNvSpPr txBox="1"/>
          <p:nvPr/>
        </p:nvSpPr>
        <p:spPr>
          <a:xfrm>
            <a:off x="250909" y="2123903"/>
            <a:ext cx="7614920" cy="3295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297180" algn="l"/>
              </a:tabLst>
            </a:pP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</a:t>
            </a:r>
            <a:r>
              <a:rPr dirty="0" u="sng" sz="165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one</a:t>
            </a:r>
            <a:r>
              <a:rPr dirty="0" u="sng" sz="165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should</a:t>
            </a:r>
            <a:r>
              <a:rPr dirty="0" u="sng" sz="1650" spc="-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make</a:t>
            </a:r>
            <a:r>
              <a:rPr dirty="0" u="sng" sz="1650" spc="-5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fun</a:t>
            </a:r>
            <a:r>
              <a:rPr dirty="0" u="sng" sz="165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dirty="0" u="sng" sz="165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anyone.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50">
                <a:latin typeface="Microsoft Sans Serif"/>
                <a:cs typeface="Microsoft Sans Serif"/>
              </a:rPr>
              <a:t>"It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is enough</a:t>
            </a:r>
            <a:r>
              <a:rPr dirty="0" sz="1650" spc="-1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evil for</a:t>
            </a:r>
            <a:r>
              <a:rPr dirty="0" sz="1650" spc="-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a</a:t>
            </a:r>
            <a:r>
              <a:rPr dirty="0" sz="1650" spc="1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person</a:t>
            </a:r>
            <a:r>
              <a:rPr dirty="0" sz="1650" spc="-2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to</a:t>
            </a:r>
            <a:r>
              <a:rPr dirty="0" sz="1650" spc="-1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look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down</a:t>
            </a:r>
            <a:r>
              <a:rPr dirty="0" sz="1650" spc="-1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upon</a:t>
            </a:r>
            <a:r>
              <a:rPr dirty="0" sz="1650" spc="-1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his</a:t>
            </a:r>
            <a:r>
              <a:rPr dirty="0" sz="1650" spc="-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Muslim</a:t>
            </a:r>
            <a:r>
              <a:rPr dirty="0" sz="1650" spc="-35">
                <a:latin typeface="Microsoft Sans Serif"/>
                <a:cs typeface="Microsoft Sans Serif"/>
              </a:rPr>
              <a:t> </a:t>
            </a:r>
            <a:r>
              <a:rPr dirty="0" sz="1650" spc="-10">
                <a:latin typeface="Microsoft Sans Serif"/>
                <a:cs typeface="Microsoft Sans Serif"/>
              </a:rPr>
              <a:t>brother."</a:t>
            </a:r>
            <a:r>
              <a:rPr dirty="0" sz="1650" spc="-40">
                <a:latin typeface="Microsoft Sans Serif"/>
                <a:cs typeface="Microsoft Sans Serif"/>
              </a:rPr>
              <a:t> </a:t>
            </a:r>
            <a:r>
              <a:rPr dirty="0" sz="1650" spc="-10">
                <a:latin typeface="Microsoft Sans Serif"/>
                <a:cs typeface="Microsoft Sans Serif"/>
              </a:rPr>
              <a:t>(Muslim)</a:t>
            </a:r>
            <a:endParaRPr sz="1650">
              <a:latin typeface="Microsoft Sans Serif"/>
              <a:cs typeface="Microsoft Sans Serif"/>
            </a:endParaRPr>
          </a:p>
          <a:p>
            <a:pPr marL="243840" indent="-231140">
              <a:lnSpc>
                <a:spcPct val="100000"/>
              </a:lnSpc>
              <a:buAutoNum type="arabicPeriod" startAt="2"/>
              <a:tabLst>
                <a:tab pos="243840" algn="l"/>
              </a:tabLst>
            </a:pP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</a:t>
            </a:r>
            <a:r>
              <a:rPr dirty="0" u="sng" sz="165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one</a:t>
            </a:r>
            <a:r>
              <a:rPr dirty="0" u="sng" sz="165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should</a:t>
            </a:r>
            <a:r>
              <a:rPr dirty="0" u="sng" sz="1650" spc="-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taunt</a:t>
            </a:r>
            <a:r>
              <a:rPr dirty="0" u="sng" sz="1650" spc="-5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anyone.</a:t>
            </a:r>
            <a:endParaRPr sz="16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650">
                <a:latin typeface="Microsoft Sans Serif"/>
                <a:cs typeface="Microsoft Sans Serif"/>
              </a:rPr>
              <a:t>"A</a:t>
            </a:r>
            <a:r>
              <a:rPr dirty="0" sz="1650" spc="-10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Muslim</a:t>
            </a:r>
            <a:r>
              <a:rPr dirty="0" sz="1650" spc="-2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is the</a:t>
            </a:r>
            <a:r>
              <a:rPr dirty="0" sz="1650" spc="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brother</a:t>
            </a:r>
            <a:r>
              <a:rPr dirty="0" sz="1650" spc="-3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of</a:t>
            </a:r>
            <a:r>
              <a:rPr dirty="0" sz="1650" spc="2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another</a:t>
            </a:r>
            <a:r>
              <a:rPr dirty="0" sz="1650" spc="-3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Muslim.</a:t>
            </a:r>
            <a:r>
              <a:rPr dirty="0" sz="1650" spc="-3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He</a:t>
            </a:r>
            <a:r>
              <a:rPr dirty="0" sz="1650" spc="-1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does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not oppress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him,</a:t>
            </a:r>
            <a:r>
              <a:rPr dirty="0" sz="1650" spc="-1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nor</a:t>
            </a:r>
            <a:r>
              <a:rPr dirty="0" sz="1650" spc="-1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does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 spc="-25">
                <a:latin typeface="Microsoft Sans Serif"/>
                <a:cs typeface="Microsoft Sans Serif"/>
              </a:rPr>
              <a:t>he </a:t>
            </a:r>
            <a:r>
              <a:rPr dirty="0" sz="1650">
                <a:latin typeface="Microsoft Sans Serif"/>
                <a:cs typeface="Microsoft Sans Serif"/>
              </a:rPr>
              <a:t>ridicule</a:t>
            </a:r>
            <a:r>
              <a:rPr dirty="0" sz="1650" spc="-2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him."</a:t>
            </a:r>
            <a:r>
              <a:rPr dirty="0" sz="1650" spc="-1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(Bukhari</a:t>
            </a:r>
            <a:r>
              <a:rPr dirty="0" sz="1650" spc="-2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&amp;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 spc="-10">
                <a:latin typeface="Microsoft Sans Serif"/>
                <a:cs typeface="Microsoft Sans Serif"/>
              </a:rPr>
              <a:t>Muslim)</a:t>
            </a:r>
            <a:endParaRPr sz="1650">
              <a:latin typeface="Microsoft Sans Serif"/>
              <a:cs typeface="Microsoft Sans Serif"/>
            </a:endParaRPr>
          </a:p>
          <a:p>
            <a:pPr marL="243840" indent="-231140">
              <a:lnSpc>
                <a:spcPct val="100000"/>
              </a:lnSpc>
              <a:buAutoNum type="arabicPeriod" startAt="3"/>
              <a:tabLst>
                <a:tab pos="243840" algn="l"/>
              </a:tabLst>
            </a:pP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</a:t>
            </a:r>
            <a:r>
              <a:rPr dirty="0" u="sng" sz="165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one</a:t>
            </a:r>
            <a:r>
              <a:rPr dirty="0" u="sng" sz="165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should</a:t>
            </a:r>
            <a:r>
              <a:rPr dirty="0" u="sng" sz="165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call</a:t>
            </a:r>
            <a:r>
              <a:rPr dirty="0" u="sng" sz="1650" spc="-6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anyone</a:t>
            </a:r>
            <a:r>
              <a:rPr dirty="0" u="sng" sz="165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by</a:t>
            </a:r>
            <a:r>
              <a:rPr dirty="0" u="sng" sz="165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dirty="0" u="sng" sz="165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bad</a:t>
            </a:r>
            <a:r>
              <a:rPr dirty="0" u="sng" sz="165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name</a:t>
            </a:r>
            <a:r>
              <a:rPr dirty="0" u="sng" sz="1650" spc="-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</a:t>
            </a:r>
            <a:r>
              <a:rPr dirty="0" u="sng" sz="165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title.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50">
                <a:latin typeface="Microsoft Sans Serif"/>
                <a:cs typeface="Microsoft Sans Serif"/>
              </a:rPr>
              <a:t>"The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best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names</a:t>
            </a:r>
            <a:r>
              <a:rPr dirty="0" sz="1650" spc="-2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to</a:t>
            </a:r>
            <a:r>
              <a:rPr dirty="0" sz="1650" spc="-9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Allah</a:t>
            </a:r>
            <a:r>
              <a:rPr dirty="0" sz="1650" spc="-1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are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‘Abdullah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and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‘Abdur-Rahman."</a:t>
            </a:r>
            <a:r>
              <a:rPr dirty="0" sz="1650" spc="-45">
                <a:latin typeface="Microsoft Sans Serif"/>
                <a:cs typeface="Microsoft Sans Serif"/>
              </a:rPr>
              <a:t> </a:t>
            </a:r>
            <a:r>
              <a:rPr dirty="0" sz="1650" spc="-10">
                <a:latin typeface="Microsoft Sans Serif"/>
                <a:cs typeface="Microsoft Sans Serif"/>
              </a:rPr>
              <a:t>(Muslim)</a:t>
            </a:r>
            <a:endParaRPr sz="1650">
              <a:latin typeface="Microsoft Sans Serif"/>
              <a:cs typeface="Microsoft Sans Serif"/>
            </a:endParaRPr>
          </a:p>
          <a:p>
            <a:pPr marL="243840" indent="-231140">
              <a:lnSpc>
                <a:spcPct val="100000"/>
              </a:lnSpc>
              <a:buAutoNum type="arabicPeriod" startAt="4"/>
              <a:tabLst>
                <a:tab pos="243840" algn="l"/>
              </a:tabLst>
            </a:pP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</a:t>
            </a:r>
            <a:r>
              <a:rPr dirty="0" u="sng" sz="1650" spc="-5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one</a:t>
            </a:r>
            <a:r>
              <a:rPr dirty="0" u="sng" sz="165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should</a:t>
            </a:r>
            <a:r>
              <a:rPr dirty="0" u="sng" sz="165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</a:t>
            </a:r>
            <a:r>
              <a:rPr dirty="0" u="sng" sz="165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suspicious</a:t>
            </a:r>
            <a:r>
              <a:rPr dirty="0" u="sng" sz="1650" spc="-6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dirty="0" u="sng" sz="165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any</a:t>
            </a:r>
            <a:r>
              <a:rPr dirty="0" u="sng" sz="1650" spc="-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Muslim.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50">
                <a:latin typeface="Microsoft Sans Serif"/>
                <a:cs typeface="Microsoft Sans Serif"/>
              </a:rPr>
              <a:t>"Beware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of suspicion,</a:t>
            </a:r>
            <a:r>
              <a:rPr dirty="0" sz="1650" spc="-5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for</a:t>
            </a:r>
            <a:r>
              <a:rPr dirty="0" sz="1650" spc="-1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suspicion</a:t>
            </a:r>
            <a:r>
              <a:rPr dirty="0" sz="1650" spc="-3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is</a:t>
            </a:r>
            <a:r>
              <a:rPr dirty="0" sz="1650" spc="-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the</a:t>
            </a:r>
            <a:r>
              <a:rPr dirty="0" sz="1650" spc="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worst</a:t>
            </a:r>
            <a:r>
              <a:rPr dirty="0" sz="1650" spc="-1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of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false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tales."</a:t>
            </a:r>
            <a:r>
              <a:rPr dirty="0" sz="1650" spc="-1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(Bukhari</a:t>
            </a:r>
            <a:r>
              <a:rPr dirty="0" sz="1650" spc="-4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&amp;</a:t>
            </a:r>
            <a:r>
              <a:rPr dirty="0" sz="1650" spc="20">
                <a:latin typeface="Microsoft Sans Serif"/>
                <a:cs typeface="Microsoft Sans Serif"/>
              </a:rPr>
              <a:t> </a:t>
            </a:r>
            <a:r>
              <a:rPr dirty="0" sz="1650" spc="-10">
                <a:latin typeface="Microsoft Sans Serif"/>
                <a:cs typeface="Microsoft Sans Serif"/>
              </a:rPr>
              <a:t>Muslim)</a:t>
            </a:r>
            <a:endParaRPr sz="1650">
              <a:latin typeface="Microsoft Sans Serif"/>
              <a:cs typeface="Microsoft Sans Serif"/>
            </a:endParaRPr>
          </a:p>
          <a:p>
            <a:pPr marL="243840" indent="-231140">
              <a:lnSpc>
                <a:spcPct val="100000"/>
              </a:lnSpc>
              <a:buAutoNum type="arabicPeriod" startAt="5"/>
              <a:tabLst>
                <a:tab pos="243840" algn="l"/>
              </a:tabLst>
            </a:pP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</a:t>
            </a:r>
            <a:r>
              <a:rPr dirty="0" u="sng" sz="1650" spc="-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one</a:t>
            </a:r>
            <a:r>
              <a:rPr dirty="0" u="sng" sz="165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should</a:t>
            </a:r>
            <a:r>
              <a:rPr dirty="0" u="sng" sz="1650" spc="-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spy</a:t>
            </a:r>
            <a:r>
              <a:rPr dirty="0" u="sng" sz="165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</a:t>
            </a:r>
            <a:r>
              <a:rPr dirty="0" u="sng" sz="165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anyone</a:t>
            </a:r>
            <a:r>
              <a:rPr dirty="0" u="sng" sz="165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</a:t>
            </a:r>
            <a:r>
              <a:rPr dirty="0" u="sng" sz="165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interfere</a:t>
            </a:r>
            <a:r>
              <a:rPr dirty="0" u="sng" sz="1650" spc="-8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</a:t>
            </a:r>
            <a:r>
              <a:rPr dirty="0" u="sng" sz="1650" spc="-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personal</a:t>
            </a:r>
            <a:r>
              <a:rPr dirty="0" u="sng" sz="1650" spc="-5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affairs.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50">
                <a:latin typeface="Microsoft Sans Serif"/>
                <a:cs typeface="Microsoft Sans Serif"/>
              </a:rPr>
              <a:t>"Do</a:t>
            </a:r>
            <a:r>
              <a:rPr dirty="0" sz="1650" spc="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not</a:t>
            </a:r>
            <a:r>
              <a:rPr dirty="0" sz="1650" spc="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spy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on</a:t>
            </a:r>
            <a:r>
              <a:rPr dirty="0" sz="1650" spc="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one</a:t>
            </a:r>
            <a:r>
              <a:rPr dirty="0" sz="1650" spc="-10">
                <a:latin typeface="Microsoft Sans Serif"/>
                <a:cs typeface="Microsoft Sans Serif"/>
              </a:rPr>
              <a:t> another,</a:t>
            </a:r>
            <a:r>
              <a:rPr dirty="0" sz="1650" spc="-3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and</a:t>
            </a:r>
            <a:r>
              <a:rPr dirty="0" sz="1650" spc="-1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do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not</a:t>
            </a:r>
            <a:r>
              <a:rPr dirty="0" sz="1650" spc="-1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seek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out</a:t>
            </a:r>
            <a:r>
              <a:rPr dirty="0" sz="1650" spc="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others'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faults."</a:t>
            </a:r>
            <a:r>
              <a:rPr dirty="0" sz="1650" spc="-30">
                <a:latin typeface="Microsoft Sans Serif"/>
                <a:cs typeface="Microsoft Sans Serif"/>
              </a:rPr>
              <a:t> </a:t>
            </a:r>
            <a:r>
              <a:rPr dirty="0" sz="1650" spc="-10">
                <a:latin typeface="Microsoft Sans Serif"/>
                <a:cs typeface="Microsoft Sans Serif"/>
              </a:rPr>
              <a:t>(Bukhari)</a:t>
            </a:r>
            <a:endParaRPr sz="1650">
              <a:latin typeface="Microsoft Sans Serif"/>
              <a:cs typeface="Microsoft Sans Serif"/>
            </a:endParaRPr>
          </a:p>
          <a:p>
            <a:pPr marL="243840" indent="-231140">
              <a:lnSpc>
                <a:spcPct val="100000"/>
              </a:lnSpc>
              <a:buAutoNum type="arabicPeriod" startAt="6"/>
              <a:tabLst>
                <a:tab pos="243840" algn="l"/>
              </a:tabLst>
            </a:pP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Do</a:t>
            </a:r>
            <a:r>
              <a:rPr dirty="0" u="sng" sz="165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not</a:t>
            </a:r>
            <a:r>
              <a:rPr dirty="0" u="sng" sz="165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gossip</a:t>
            </a:r>
            <a:r>
              <a:rPr dirty="0" u="sng" sz="165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</a:t>
            </a:r>
            <a:r>
              <a:rPr dirty="0" u="sng" sz="165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65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backbite.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50">
                <a:latin typeface="Microsoft Sans Serif"/>
                <a:cs typeface="Microsoft Sans Serif"/>
              </a:rPr>
              <a:t>"Backbiting</a:t>
            </a:r>
            <a:r>
              <a:rPr dirty="0" sz="1650" spc="-3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is</a:t>
            </a:r>
            <a:r>
              <a:rPr dirty="0" sz="1650" spc="-2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to mention</a:t>
            </a:r>
            <a:r>
              <a:rPr dirty="0" sz="1650" spc="-2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something</a:t>
            </a:r>
            <a:r>
              <a:rPr dirty="0" sz="1650" spc="-4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about</a:t>
            </a:r>
            <a:r>
              <a:rPr dirty="0" sz="1650" spc="-3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your</a:t>
            </a:r>
            <a:r>
              <a:rPr dirty="0" sz="1650" spc="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brother</a:t>
            </a:r>
            <a:r>
              <a:rPr dirty="0" sz="1650" spc="-2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that</a:t>
            </a:r>
            <a:r>
              <a:rPr dirty="0" sz="1650" spc="-20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he</a:t>
            </a:r>
            <a:r>
              <a:rPr dirty="0" sz="1650" spc="-15">
                <a:latin typeface="Microsoft Sans Serif"/>
                <a:cs typeface="Microsoft Sans Serif"/>
              </a:rPr>
              <a:t> </a:t>
            </a:r>
            <a:r>
              <a:rPr dirty="0" sz="1650">
                <a:latin typeface="Microsoft Sans Serif"/>
                <a:cs typeface="Microsoft Sans Serif"/>
              </a:rPr>
              <a:t>dislikes."</a:t>
            </a:r>
            <a:r>
              <a:rPr dirty="0" sz="1650" spc="-35">
                <a:latin typeface="Microsoft Sans Serif"/>
                <a:cs typeface="Microsoft Sans Serif"/>
              </a:rPr>
              <a:t> </a:t>
            </a:r>
            <a:r>
              <a:rPr dirty="0" sz="1650" spc="-10">
                <a:latin typeface="Microsoft Sans Serif"/>
                <a:cs typeface="Microsoft Sans Serif"/>
              </a:rPr>
              <a:t>(Muslim)</a:t>
            </a:r>
            <a:endParaRPr sz="16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1313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latin typeface="Arial"/>
                <a:cs typeface="Arial"/>
              </a:rPr>
              <a:t>Surah</a:t>
            </a:r>
            <a:r>
              <a:rPr dirty="0" sz="2950" spc="-15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Al-Furqan,</a:t>
            </a:r>
            <a:r>
              <a:rPr dirty="0" sz="2950" spc="-1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Verses</a:t>
            </a:r>
            <a:r>
              <a:rPr dirty="0" sz="2950" spc="-3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63 &amp;</a:t>
            </a:r>
            <a:r>
              <a:rPr dirty="0" sz="2950" spc="10">
                <a:latin typeface="Arial"/>
                <a:cs typeface="Arial"/>
              </a:rPr>
              <a:t> </a:t>
            </a:r>
            <a:r>
              <a:rPr dirty="0" sz="2950" spc="-25">
                <a:latin typeface="Arial"/>
                <a:cs typeface="Arial"/>
              </a:rPr>
              <a:t>67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u="none" sz="2100" spc="-254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u="none" sz="2100" spc="-135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pc="-10"/>
              <a:t>Topics:</a:t>
            </a:r>
            <a:endParaRPr sz="2100">
              <a:latin typeface="Georgia"/>
              <a:cs typeface="Georgia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u="none" sz="1850" spc="-1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u="none" sz="2300" spc="-10" b="0">
                <a:latin typeface="Trebuchet MS"/>
                <a:cs typeface="Trebuchet MS"/>
              </a:rPr>
              <a:t>Introduction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0"/>
              </a:spcBef>
            </a:pPr>
            <a:r>
              <a:rPr dirty="0" u="none" sz="185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u="none" sz="2300" b="0">
                <a:latin typeface="Trebuchet MS"/>
                <a:cs typeface="Trebuchet MS"/>
              </a:rPr>
              <a:t>Surah</a:t>
            </a:r>
            <a:r>
              <a:rPr dirty="0" u="none" sz="2300" spc="-10" b="0">
                <a:latin typeface="Trebuchet MS"/>
                <a:cs typeface="Trebuchet MS"/>
              </a:rPr>
              <a:t> Al-</a:t>
            </a:r>
            <a:r>
              <a:rPr dirty="0" u="none" sz="2300" b="0">
                <a:latin typeface="Trebuchet MS"/>
                <a:cs typeface="Trebuchet MS"/>
              </a:rPr>
              <a:t>Hujurat: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Verses</a:t>
            </a:r>
            <a:r>
              <a:rPr dirty="0" u="none" sz="2300" spc="-5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1,</a:t>
            </a:r>
            <a:r>
              <a:rPr dirty="0" u="none" sz="2300" spc="-5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2,</a:t>
            </a:r>
            <a:r>
              <a:rPr dirty="0" u="none" sz="2300" spc="-5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11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&amp;</a:t>
            </a:r>
            <a:r>
              <a:rPr dirty="0" u="none" sz="2300" spc="-5" b="0">
                <a:latin typeface="Trebuchet MS"/>
                <a:cs typeface="Trebuchet MS"/>
              </a:rPr>
              <a:t> </a:t>
            </a:r>
            <a:r>
              <a:rPr dirty="0" u="none" sz="2300" spc="-25" b="0">
                <a:latin typeface="Trebuchet MS"/>
                <a:cs typeface="Trebuchet MS"/>
              </a:rPr>
              <a:t>12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5"/>
              </a:spcBef>
            </a:pPr>
            <a:r>
              <a:rPr dirty="0" u="none" sz="185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u="none" sz="2300" b="0">
                <a:latin typeface="Trebuchet MS"/>
                <a:cs typeface="Trebuchet MS"/>
              </a:rPr>
              <a:t>Respect</a:t>
            </a:r>
            <a:r>
              <a:rPr dirty="0" u="none" sz="2300" spc="-4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for</a:t>
            </a:r>
            <a:r>
              <a:rPr dirty="0" u="none" sz="2300" spc="-2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Allah</a:t>
            </a:r>
            <a:r>
              <a:rPr dirty="0" u="none" sz="2300" spc="-15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and</a:t>
            </a:r>
            <a:r>
              <a:rPr dirty="0" u="none" sz="2300" spc="5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His</a:t>
            </a:r>
            <a:r>
              <a:rPr dirty="0" u="none" sz="2300" spc="10" b="0">
                <a:latin typeface="Trebuchet MS"/>
                <a:cs typeface="Trebuchet MS"/>
              </a:rPr>
              <a:t> </a:t>
            </a:r>
            <a:r>
              <a:rPr dirty="0" u="none" sz="2300" spc="-10" b="0">
                <a:latin typeface="Trebuchet MS"/>
                <a:cs typeface="Trebuchet MS"/>
              </a:rPr>
              <a:t>Messenger</a:t>
            </a:r>
            <a:endParaRPr sz="23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45"/>
              </a:spcBef>
              <a:buClr>
                <a:srgbClr val="90C126"/>
              </a:buClr>
              <a:buSzPct val="80434"/>
              <a:buAutoNum type="alphaUcPeriod"/>
              <a:tabLst>
                <a:tab pos="814069" algn="l"/>
              </a:tabLst>
            </a:pPr>
            <a:r>
              <a:rPr dirty="0" u="none" sz="2300" b="0">
                <a:latin typeface="Trebuchet MS"/>
                <a:cs typeface="Trebuchet MS"/>
              </a:rPr>
              <a:t>Surah</a:t>
            </a:r>
            <a:r>
              <a:rPr dirty="0" u="none" sz="2300" spc="-10" b="0">
                <a:latin typeface="Trebuchet MS"/>
                <a:cs typeface="Trebuchet MS"/>
              </a:rPr>
              <a:t> Al-</a:t>
            </a:r>
            <a:r>
              <a:rPr dirty="0" u="none" sz="2300" b="0">
                <a:latin typeface="Trebuchet MS"/>
                <a:cs typeface="Trebuchet MS"/>
              </a:rPr>
              <a:t>Hujurat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Ayat</a:t>
            </a:r>
            <a:r>
              <a:rPr dirty="0" u="none" sz="2300" spc="-5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1 (49:1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spc="-10" b="0">
                <a:latin typeface="Trebuchet MS"/>
                <a:cs typeface="Trebuchet MS"/>
              </a:rPr>
              <a:t>Quran)</a:t>
            </a:r>
            <a:endParaRPr sz="23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40"/>
              </a:spcBef>
              <a:buClr>
                <a:srgbClr val="90C126"/>
              </a:buClr>
              <a:buSzPct val="80434"/>
              <a:buAutoNum type="alphaUcPeriod"/>
              <a:tabLst>
                <a:tab pos="814069" algn="l"/>
              </a:tabLst>
            </a:pPr>
            <a:r>
              <a:rPr dirty="0" u="none" sz="2300" b="0">
                <a:latin typeface="Trebuchet MS"/>
                <a:cs typeface="Trebuchet MS"/>
              </a:rPr>
              <a:t>Surah</a:t>
            </a:r>
            <a:r>
              <a:rPr dirty="0" u="none" sz="2300" spc="-10" b="0">
                <a:latin typeface="Trebuchet MS"/>
                <a:cs typeface="Trebuchet MS"/>
              </a:rPr>
              <a:t> Al-</a:t>
            </a:r>
            <a:r>
              <a:rPr dirty="0" u="none" sz="2300" b="0">
                <a:latin typeface="Trebuchet MS"/>
                <a:cs typeface="Trebuchet MS"/>
              </a:rPr>
              <a:t>Hujurat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Ayat</a:t>
            </a:r>
            <a:r>
              <a:rPr dirty="0" u="none" sz="2300" spc="-5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2 (49:2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spc="-10" b="0">
                <a:latin typeface="Trebuchet MS"/>
                <a:cs typeface="Trebuchet MS"/>
              </a:rPr>
              <a:t>Quran)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65"/>
              </a:spcBef>
            </a:pPr>
            <a:r>
              <a:rPr dirty="0" u="none" sz="1550" spc="-20" b="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u="none" sz="1550" spc="100" b="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none" sz="1950" b="0">
                <a:latin typeface="Trebuchet MS"/>
                <a:cs typeface="Trebuchet MS"/>
              </a:rPr>
              <a:t>Promoting</a:t>
            </a:r>
            <a:r>
              <a:rPr dirty="0" u="none" sz="1950" spc="25" b="0">
                <a:latin typeface="Trebuchet MS"/>
                <a:cs typeface="Trebuchet MS"/>
              </a:rPr>
              <a:t> </a:t>
            </a:r>
            <a:r>
              <a:rPr dirty="0" u="none" sz="1950" b="0">
                <a:latin typeface="Trebuchet MS"/>
                <a:cs typeface="Trebuchet MS"/>
              </a:rPr>
              <a:t>Mutual</a:t>
            </a:r>
            <a:r>
              <a:rPr dirty="0" u="none" sz="1950" spc="25" b="0">
                <a:latin typeface="Trebuchet MS"/>
                <a:cs typeface="Trebuchet MS"/>
              </a:rPr>
              <a:t> </a:t>
            </a:r>
            <a:r>
              <a:rPr dirty="0" u="none" sz="1950" b="0">
                <a:latin typeface="Trebuchet MS"/>
                <a:cs typeface="Trebuchet MS"/>
              </a:rPr>
              <a:t>Respect</a:t>
            </a:r>
            <a:r>
              <a:rPr dirty="0" u="none" sz="1950" spc="20" b="0">
                <a:latin typeface="Trebuchet MS"/>
                <a:cs typeface="Trebuchet MS"/>
              </a:rPr>
              <a:t> </a:t>
            </a:r>
            <a:r>
              <a:rPr dirty="0" u="none" sz="1950" b="0">
                <a:latin typeface="Trebuchet MS"/>
                <a:cs typeface="Trebuchet MS"/>
              </a:rPr>
              <a:t>and</a:t>
            </a:r>
            <a:r>
              <a:rPr dirty="0" u="none" sz="1950" spc="35" b="0">
                <a:latin typeface="Trebuchet MS"/>
                <a:cs typeface="Trebuchet MS"/>
              </a:rPr>
              <a:t> </a:t>
            </a:r>
            <a:r>
              <a:rPr dirty="0" u="none" sz="1950" b="0">
                <a:latin typeface="Trebuchet MS"/>
                <a:cs typeface="Trebuchet MS"/>
              </a:rPr>
              <a:t>Avoiding</a:t>
            </a:r>
            <a:r>
              <a:rPr dirty="0" u="none" sz="1950" spc="30" b="0">
                <a:latin typeface="Trebuchet MS"/>
                <a:cs typeface="Trebuchet MS"/>
              </a:rPr>
              <a:t> </a:t>
            </a:r>
            <a:r>
              <a:rPr dirty="0" u="none" sz="1950" b="0">
                <a:latin typeface="Trebuchet MS"/>
                <a:cs typeface="Trebuchet MS"/>
              </a:rPr>
              <a:t>Harmful</a:t>
            </a:r>
            <a:r>
              <a:rPr dirty="0" u="none" sz="1950" spc="45" b="0">
                <a:latin typeface="Trebuchet MS"/>
                <a:cs typeface="Trebuchet MS"/>
              </a:rPr>
              <a:t> </a:t>
            </a:r>
            <a:r>
              <a:rPr dirty="0" u="none" sz="1950" b="0">
                <a:latin typeface="Trebuchet MS"/>
                <a:cs typeface="Trebuchet MS"/>
              </a:rPr>
              <a:t>Behavior</a:t>
            </a:r>
            <a:r>
              <a:rPr dirty="0" u="none" sz="1950" spc="50" b="0">
                <a:latin typeface="Trebuchet MS"/>
                <a:cs typeface="Trebuchet MS"/>
              </a:rPr>
              <a:t> </a:t>
            </a:r>
            <a:r>
              <a:rPr dirty="0" u="none" sz="1950" b="0">
                <a:latin typeface="Trebuchet MS"/>
                <a:cs typeface="Trebuchet MS"/>
              </a:rPr>
              <a:t>-</a:t>
            </a:r>
            <a:r>
              <a:rPr dirty="0" u="none" sz="1950" spc="40" b="0">
                <a:latin typeface="Trebuchet MS"/>
                <a:cs typeface="Trebuchet MS"/>
              </a:rPr>
              <a:t> </a:t>
            </a:r>
            <a:r>
              <a:rPr dirty="0" u="none" sz="1950" spc="-10" b="0">
                <a:latin typeface="Trebuchet MS"/>
                <a:cs typeface="Trebuchet MS"/>
              </a:rPr>
              <a:t>11&amp;12</a:t>
            </a:r>
            <a:endParaRPr sz="19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25"/>
              </a:spcBef>
              <a:buClr>
                <a:srgbClr val="90C126"/>
              </a:buClr>
              <a:buSzPct val="80434"/>
              <a:buAutoNum type="alphaUcPeriod"/>
              <a:tabLst>
                <a:tab pos="814069" algn="l"/>
              </a:tabLst>
            </a:pPr>
            <a:r>
              <a:rPr dirty="0" u="none" sz="2300" b="0">
                <a:latin typeface="Trebuchet MS"/>
                <a:cs typeface="Trebuchet MS"/>
              </a:rPr>
              <a:t>Surah</a:t>
            </a:r>
            <a:r>
              <a:rPr dirty="0" u="none" sz="2300" spc="-10" b="0">
                <a:latin typeface="Trebuchet MS"/>
                <a:cs typeface="Trebuchet MS"/>
              </a:rPr>
              <a:t> Al-</a:t>
            </a:r>
            <a:r>
              <a:rPr dirty="0" u="none" sz="2300" b="0">
                <a:latin typeface="Trebuchet MS"/>
                <a:cs typeface="Trebuchet MS"/>
              </a:rPr>
              <a:t>Hujurat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Ayat</a:t>
            </a:r>
            <a:r>
              <a:rPr dirty="0" u="none" sz="2300" spc="-1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11 (49:11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spc="-10" b="0">
                <a:latin typeface="Trebuchet MS"/>
                <a:cs typeface="Trebuchet MS"/>
              </a:rPr>
              <a:t>Quran)</a:t>
            </a:r>
            <a:endParaRPr sz="23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40"/>
              </a:spcBef>
              <a:buClr>
                <a:srgbClr val="90C126"/>
              </a:buClr>
              <a:buSzPct val="80434"/>
              <a:buAutoNum type="alphaUcPeriod"/>
              <a:tabLst>
                <a:tab pos="814069" algn="l"/>
              </a:tabLst>
            </a:pPr>
            <a:r>
              <a:rPr dirty="0" u="none" sz="2300" b="0">
                <a:latin typeface="Trebuchet MS"/>
                <a:cs typeface="Trebuchet MS"/>
              </a:rPr>
              <a:t>Surah</a:t>
            </a:r>
            <a:r>
              <a:rPr dirty="0" u="none" sz="2300" spc="-10" b="0">
                <a:latin typeface="Trebuchet MS"/>
                <a:cs typeface="Trebuchet MS"/>
              </a:rPr>
              <a:t> Al-</a:t>
            </a:r>
            <a:r>
              <a:rPr dirty="0" u="none" sz="2300" b="0">
                <a:latin typeface="Trebuchet MS"/>
                <a:cs typeface="Trebuchet MS"/>
              </a:rPr>
              <a:t>Hujurat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Ayat</a:t>
            </a:r>
            <a:r>
              <a:rPr dirty="0" u="none" sz="2300" spc="-10" b="0">
                <a:latin typeface="Trebuchet MS"/>
                <a:cs typeface="Trebuchet MS"/>
              </a:rPr>
              <a:t> </a:t>
            </a:r>
            <a:r>
              <a:rPr dirty="0" u="none" sz="2300" b="0">
                <a:latin typeface="Trebuchet MS"/>
                <a:cs typeface="Trebuchet MS"/>
              </a:rPr>
              <a:t>12 (49:12</a:t>
            </a:r>
            <a:r>
              <a:rPr dirty="0" u="none" sz="2300" spc="-30" b="0">
                <a:latin typeface="Trebuchet MS"/>
                <a:cs typeface="Trebuchet MS"/>
              </a:rPr>
              <a:t> </a:t>
            </a:r>
            <a:r>
              <a:rPr dirty="0" u="none" sz="2300" spc="-10" b="0">
                <a:latin typeface="Trebuchet MS"/>
                <a:cs typeface="Trebuchet MS"/>
              </a:rPr>
              <a:t>Quran)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010" y="1134813"/>
            <a:ext cx="6611620" cy="73088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100"/>
              </a:spcBef>
            </a:pPr>
            <a:r>
              <a:rPr dirty="0" sz="2300"/>
              <a:t>Understanding</a:t>
            </a:r>
            <a:r>
              <a:rPr dirty="0" sz="2300" spc="-75"/>
              <a:t> </a:t>
            </a:r>
            <a:r>
              <a:rPr dirty="0" sz="2300"/>
              <a:t>the</a:t>
            </a:r>
            <a:r>
              <a:rPr dirty="0" sz="2300" spc="-35"/>
              <a:t> </a:t>
            </a:r>
            <a:r>
              <a:rPr dirty="0" sz="2300"/>
              <a:t>Qualities</a:t>
            </a:r>
            <a:r>
              <a:rPr dirty="0" sz="2300" spc="-75"/>
              <a:t> </a:t>
            </a:r>
            <a:r>
              <a:rPr dirty="0" sz="2300"/>
              <a:t>of</a:t>
            </a:r>
            <a:r>
              <a:rPr dirty="0" sz="2300" spc="-70"/>
              <a:t> </a:t>
            </a:r>
            <a:r>
              <a:rPr dirty="0" sz="2300" spc="-35"/>
              <a:t>True </a:t>
            </a:r>
            <a:r>
              <a:rPr dirty="0" sz="2300"/>
              <a:t>Believers</a:t>
            </a:r>
            <a:r>
              <a:rPr dirty="0" sz="2300" spc="-70"/>
              <a:t> </a:t>
            </a:r>
            <a:r>
              <a:rPr dirty="0" sz="2300" spc="-25"/>
              <a:t>in</a:t>
            </a:r>
            <a:r>
              <a:rPr dirty="0" u="none" sz="2300" spc="-25"/>
              <a:t> </a:t>
            </a:r>
            <a:r>
              <a:rPr dirty="0" sz="2300" spc="-20"/>
              <a:t>Surah</a:t>
            </a:r>
            <a:r>
              <a:rPr dirty="0" sz="2300" spc="-120"/>
              <a:t> </a:t>
            </a:r>
            <a:r>
              <a:rPr dirty="0" sz="2300"/>
              <a:t>Al-</a:t>
            </a:r>
            <a:r>
              <a:rPr dirty="0" sz="2300" spc="-10"/>
              <a:t>Furqan</a:t>
            </a:r>
            <a:endParaRPr sz="2300"/>
          </a:p>
        </p:txBody>
      </p:sp>
      <p:sp>
        <p:nvSpPr>
          <p:cNvPr id="3" name="object 3" descr=""/>
          <p:cNvSpPr txBox="1"/>
          <p:nvPr/>
        </p:nvSpPr>
        <p:spPr>
          <a:xfrm>
            <a:off x="363704" y="2005052"/>
            <a:ext cx="7430134" cy="3907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Introduction:</a:t>
            </a:r>
            <a:endParaRPr sz="1150">
              <a:latin typeface="Trebuchet MS"/>
              <a:cs typeface="Trebuchet MS"/>
            </a:endParaRPr>
          </a:p>
          <a:p>
            <a:pPr marL="12700" marR="5080">
              <a:lnSpc>
                <a:spcPts val="1190"/>
              </a:lnSpc>
              <a:spcBef>
                <a:spcPts val="869"/>
              </a:spcBef>
            </a:pP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lecture,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we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explore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two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significant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verses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Surah</a:t>
            </a:r>
            <a:r>
              <a:rPr dirty="0" sz="1000" spc="-1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Al-Furqan</a:t>
            </a:r>
            <a:r>
              <a:rPr dirty="0" sz="10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(Chapter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25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Quran):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63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67.</a:t>
            </a:r>
            <a:r>
              <a:rPr dirty="0" sz="10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These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verses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highlight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0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characteristics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true</a:t>
            </a:r>
            <a:r>
              <a:rPr dirty="0" sz="10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believers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provide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guidance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0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living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0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balanced,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kind,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moderate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life.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000" spc="50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reflecting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these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teachings,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we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can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learn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how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embody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humility,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peace,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fairness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0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our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daily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actions.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u="sng" sz="11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Verse</a:t>
            </a:r>
            <a:r>
              <a:rPr dirty="0" u="sng" sz="11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1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63</a:t>
            </a:r>
            <a:r>
              <a:rPr dirty="0" sz="1150" b="1">
                <a:solidFill>
                  <a:srgbClr val="0070BF"/>
                </a:solidFill>
                <a:latin typeface="Trebuchet MS"/>
                <a:cs typeface="Trebuchet MS"/>
              </a:rPr>
              <a:t>:</a:t>
            </a:r>
            <a:r>
              <a:rPr dirty="0" sz="1150" spc="-5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050" b="1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050" spc="1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50" b="1">
                <a:solidFill>
                  <a:srgbClr val="3F3F3F"/>
                </a:solidFill>
                <a:latin typeface="Trebuchet MS"/>
                <a:cs typeface="Trebuchet MS"/>
              </a:rPr>
              <a:t>Humble</a:t>
            </a:r>
            <a:r>
              <a:rPr dirty="0" sz="1050" spc="-5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50" b="1">
                <a:solidFill>
                  <a:srgbClr val="3F3F3F"/>
                </a:solidFill>
                <a:latin typeface="Trebuchet MS"/>
                <a:cs typeface="Trebuchet MS"/>
              </a:rPr>
              <a:t>Walkers</a:t>
            </a:r>
            <a:r>
              <a:rPr dirty="0" sz="1050" spc="-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50" b="1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050" spc="-1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50" spc="-20" b="1">
                <a:solidFill>
                  <a:srgbClr val="3F3F3F"/>
                </a:solidFill>
                <a:latin typeface="Trebuchet MS"/>
                <a:cs typeface="Trebuchet MS"/>
              </a:rPr>
              <a:t>Earth</a:t>
            </a:r>
            <a:endParaRPr sz="1050">
              <a:latin typeface="Trebuchet MS"/>
              <a:cs typeface="Trebuchet MS"/>
            </a:endParaRPr>
          </a:p>
          <a:p>
            <a:pPr marL="12700" marR="7620">
              <a:lnSpc>
                <a:spcPts val="1190"/>
              </a:lnSpc>
              <a:spcBef>
                <a:spcPts val="869"/>
              </a:spcBef>
            </a:pP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describes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servants</a:t>
            </a:r>
            <a:r>
              <a:rPr dirty="0" sz="10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Most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Merciful</a:t>
            </a:r>
            <a:r>
              <a:rPr dirty="0" sz="10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those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walk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on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earth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humility.</a:t>
            </a:r>
            <a:r>
              <a:rPr dirty="0" sz="10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When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addressed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ignorant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individuals,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they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respond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words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peace.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teaches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us the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importance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maintaining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humility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responding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0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negativity with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kindness.Islamic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Studies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u="sng" sz="11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Verse</a:t>
            </a:r>
            <a:r>
              <a:rPr dirty="0" u="sng" sz="115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1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67</a:t>
            </a:r>
            <a:r>
              <a:rPr dirty="0" sz="1150" b="1">
                <a:solidFill>
                  <a:srgbClr val="0070BF"/>
                </a:solidFill>
                <a:latin typeface="Trebuchet MS"/>
                <a:cs typeface="Trebuchet MS"/>
              </a:rPr>
              <a:t>:</a:t>
            </a:r>
            <a:r>
              <a:rPr dirty="0" sz="1150" spc="-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050" b="1">
                <a:solidFill>
                  <a:srgbClr val="3F3F3F"/>
                </a:solidFill>
                <a:latin typeface="Trebuchet MS"/>
                <a:cs typeface="Trebuchet MS"/>
              </a:rPr>
              <a:t>Moderation</a:t>
            </a:r>
            <a:r>
              <a:rPr dirty="0" sz="1050" spc="-2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50" b="1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050" spc="-4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50" spc="-10" b="1">
                <a:solidFill>
                  <a:srgbClr val="3F3F3F"/>
                </a:solidFill>
                <a:latin typeface="Trebuchet MS"/>
                <a:cs typeface="Trebuchet MS"/>
              </a:rPr>
              <a:t>Spending</a:t>
            </a:r>
            <a:endParaRPr sz="1050">
              <a:latin typeface="Trebuchet MS"/>
              <a:cs typeface="Trebuchet MS"/>
            </a:endParaRPr>
          </a:p>
          <a:p>
            <a:pPr marL="12700" marR="76835">
              <a:lnSpc>
                <a:spcPts val="1190"/>
              </a:lnSpc>
              <a:spcBef>
                <a:spcPts val="869"/>
              </a:spcBef>
            </a:pP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emphasizes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that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true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believers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neither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extravagant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nor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stingy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their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spending.</a:t>
            </a:r>
            <a:r>
              <a:rPr dirty="0" sz="1000" spc="-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They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find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balanced</a:t>
            </a:r>
            <a:r>
              <a:rPr dirty="0" sz="10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path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between these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extremes,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highlighting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value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moderation</a:t>
            </a:r>
            <a:r>
              <a:rPr dirty="0" sz="1000" spc="-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all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aspects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0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life.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u="sng" sz="11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Key</a:t>
            </a:r>
            <a:r>
              <a:rPr dirty="0" u="sng" sz="1150" spc="-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1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Lessons:</a:t>
            </a:r>
            <a:endParaRPr sz="1150">
              <a:latin typeface="Trebuchet MS"/>
              <a:cs typeface="Trebuchet MS"/>
            </a:endParaRPr>
          </a:p>
          <a:p>
            <a:pPr marL="12700" marR="1337310">
              <a:lnSpc>
                <a:spcPct val="167600"/>
              </a:lnSpc>
            </a:pPr>
            <a:r>
              <a:rPr dirty="0" u="sng" sz="10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Humility:</a:t>
            </a:r>
            <a:r>
              <a:rPr dirty="0" sz="1050" spc="-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Approach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life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0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humble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attitude,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treating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others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respect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avoiding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arrogance. </a:t>
            </a:r>
            <a:r>
              <a:rPr dirty="0" u="sng" sz="10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Peacefulness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r>
              <a:rPr dirty="0" sz="10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Respond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to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conflicts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provocations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calmness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gentle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words,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promoting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harmony. </a:t>
            </a:r>
            <a:r>
              <a:rPr dirty="0" u="sng" sz="10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Moderation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r>
              <a:rPr dirty="0" sz="10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Balance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your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desires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actions,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avoiding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extremes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spending,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emotions,</a:t>
            </a:r>
            <a:r>
              <a:rPr dirty="0" sz="100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behaviors.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u="sng" sz="10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Gratitude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thankful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your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blessings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acknowledging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those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00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have</a:t>
            </a:r>
            <a:r>
              <a:rPr dirty="0" sz="10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less,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fostering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contentment.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u="sng" sz="10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Empathy</a:t>
            </a:r>
            <a:r>
              <a:rPr dirty="0" u="sng" sz="1050" spc="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05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Generosity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r>
              <a:rPr dirty="0" sz="100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Show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compassion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towards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others'</a:t>
            </a:r>
            <a:r>
              <a:rPr dirty="0" sz="100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hardships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0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willing</a:t>
            </a:r>
            <a:r>
              <a:rPr dirty="0" sz="1000" spc="-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 help,</a:t>
            </a:r>
            <a:r>
              <a:rPr dirty="0" sz="1000" spc="-20">
                <a:solidFill>
                  <a:srgbClr val="3F3F3F"/>
                </a:solidFill>
                <a:latin typeface="Trebuchet MS"/>
                <a:cs typeface="Trebuchet MS"/>
              </a:rPr>
              <a:t> building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 caring</a:t>
            </a:r>
            <a:r>
              <a:rPr dirty="0" sz="100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000" spc="-10">
                <a:solidFill>
                  <a:srgbClr val="3F3F3F"/>
                </a:solidFill>
                <a:latin typeface="Trebuchet MS"/>
                <a:cs typeface="Trebuchet MS"/>
              </a:rPr>
              <a:t>community.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8991" y="1369608"/>
            <a:ext cx="4318000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89890" algn="l"/>
              </a:tabLst>
            </a:pPr>
            <a:r>
              <a:rPr dirty="0" sz="1800" spc="-25" b="1">
                <a:solidFill>
                  <a:srgbClr val="0070BF"/>
                </a:solidFill>
                <a:latin typeface="Arial"/>
                <a:cs typeface="Arial"/>
              </a:rPr>
              <a:t>A.</a:t>
            </a:r>
            <a:r>
              <a:rPr dirty="0" sz="1800" b="1">
                <a:solidFill>
                  <a:srgbClr val="0070BF"/>
                </a:solidFill>
                <a:latin typeface="Arial"/>
                <a:cs typeface="Arial"/>
              </a:rPr>
              <a:t>	</a:t>
            </a:r>
            <a:r>
              <a:rPr dirty="0" u="sng" sz="18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Surah</a:t>
            </a:r>
            <a:r>
              <a:rPr dirty="0" u="sng" sz="180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Furqan</a:t>
            </a:r>
            <a:r>
              <a:rPr dirty="0" u="sng" sz="1800" spc="-7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Ayat</a:t>
            </a:r>
            <a:r>
              <a:rPr dirty="0" u="sng" sz="1800" spc="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63</a:t>
            </a:r>
            <a:r>
              <a:rPr dirty="0" u="sng" sz="1800" spc="-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(25:63</a:t>
            </a:r>
            <a:r>
              <a:rPr dirty="0" u="sng" sz="1800" spc="-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Quran)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857" y="1711815"/>
            <a:ext cx="7650480" cy="1155065"/>
          </a:xfrm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algn="r" marL="25400" marR="19050" indent="-1905">
              <a:lnSpc>
                <a:spcPct val="105600"/>
              </a:lnSpc>
              <a:spcBef>
                <a:spcPts val="240"/>
              </a:spcBef>
            </a:pPr>
            <a:r>
              <a:rPr dirty="0" u="none" baseline="-4830" sz="3450" spc="-165">
                <a:latin typeface="Arial"/>
                <a:cs typeface="Arial"/>
              </a:rPr>
              <a:t>امٗ</a:t>
            </a:r>
            <a:r>
              <a:rPr dirty="0" u="none" baseline="-4830" sz="3450" spc="-240">
                <a:latin typeface="Arial"/>
                <a:cs typeface="Arial"/>
              </a:rPr>
              <a:t> </a:t>
            </a:r>
            <a:r>
              <a:rPr dirty="0" u="none" baseline="-3623" sz="3450" spc="-960">
                <a:latin typeface="Arial"/>
                <a:cs typeface="Arial"/>
              </a:rPr>
              <a:t>َلسَ</a:t>
            </a:r>
            <a:r>
              <a:rPr dirty="0" u="none" baseline="-3623" sz="3450">
                <a:latin typeface="Arial"/>
                <a:cs typeface="Arial"/>
              </a:rPr>
              <a:t>  </a:t>
            </a:r>
            <a:r>
              <a:rPr dirty="0" u="none" baseline="-3623" sz="3450" spc="104">
                <a:latin typeface="Arial"/>
                <a:cs typeface="Arial"/>
              </a:rPr>
              <a:t> </a:t>
            </a:r>
            <a:r>
              <a:rPr dirty="0" u="none" sz="2300" spc="-170">
                <a:latin typeface="Arial"/>
                <a:cs typeface="Arial"/>
              </a:rPr>
              <a:t>اوُلاَق</a:t>
            </a:r>
            <a:r>
              <a:rPr dirty="0" u="none" sz="2300" spc="-5">
                <a:latin typeface="Arial"/>
                <a:cs typeface="Arial"/>
              </a:rPr>
              <a:t> </a:t>
            </a:r>
            <a:r>
              <a:rPr dirty="0" u="none" baseline="2415" sz="3450" spc="-757">
                <a:latin typeface="Arial"/>
                <a:cs typeface="Arial"/>
              </a:rPr>
              <a:t>نَ</a:t>
            </a:r>
            <a:r>
              <a:rPr dirty="0" u="none" baseline="2415" sz="3450">
                <a:latin typeface="Arial"/>
                <a:cs typeface="Arial"/>
              </a:rPr>
              <a:t> </a:t>
            </a:r>
            <a:r>
              <a:rPr dirty="0" u="none" baseline="2415" sz="3450" spc="-427">
                <a:latin typeface="Arial"/>
                <a:cs typeface="Arial"/>
              </a:rPr>
              <a:t> </a:t>
            </a:r>
            <a:r>
              <a:rPr dirty="0" u="none" baseline="-12077" sz="3450" spc="-330">
                <a:latin typeface="Arial"/>
                <a:cs typeface="Arial"/>
              </a:rPr>
              <a:t>وُلهِ</a:t>
            </a:r>
            <a:r>
              <a:rPr dirty="0" u="none" baseline="-12077" sz="3450" spc="322">
                <a:latin typeface="Arial"/>
                <a:cs typeface="Arial"/>
              </a:rPr>
              <a:t> </a:t>
            </a:r>
            <a:r>
              <a:rPr dirty="0" u="none" baseline="-2415" sz="3450" spc="-869">
                <a:latin typeface="Arial"/>
                <a:cs typeface="Arial"/>
              </a:rPr>
              <a:t>جَ</a:t>
            </a:r>
            <a:r>
              <a:rPr dirty="0" u="none" baseline="-2415" sz="3450">
                <a:latin typeface="Arial"/>
                <a:cs typeface="Arial"/>
              </a:rPr>
              <a:t> </a:t>
            </a:r>
            <a:r>
              <a:rPr dirty="0" u="none" baseline="-2415" sz="3450" spc="-390">
                <a:latin typeface="Arial"/>
                <a:cs typeface="Arial"/>
              </a:rPr>
              <a:t> </a:t>
            </a:r>
            <a:r>
              <a:rPr dirty="0" u="none" baseline="14492" sz="3450" spc="-577">
                <a:latin typeface="Arial"/>
                <a:cs typeface="Arial"/>
              </a:rPr>
              <a:t>لۡ</a:t>
            </a:r>
            <a:r>
              <a:rPr dirty="0" u="none" baseline="14492" sz="3450" spc="-577">
                <a:latin typeface="Arial"/>
                <a:cs typeface="Arial"/>
              </a:rPr>
              <a:t> </a:t>
            </a:r>
            <a:r>
              <a:rPr dirty="0" u="none" sz="2300">
                <a:latin typeface="Arial"/>
                <a:cs typeface="Arial"/>
              </a:rPr>
              <a:t>ٱ</a:t>
            </a:r>
            <a:r>
              <a:rPr dirty="0" u="none" sz="2300" spc="-10">
                <a:latin typeface="Arial"/>
                <a:cs typeface="Arial"/>
              </a:rPr>
              <a:t> </a:t>
            </a:r>
            <a:r>
              <a:rPr dirty="0" u="none" baseline="-8454" sz="3450" spc="-577">
                <a:latin typeface="Arial"/>
                <a:cs typeface="Arial"/>
              </a:rPr>
              <a:t>مُ</a:t>
            </a:r>
            <a:r>
              <a:rPr dirty="0" u="none" baseline="-8454" sz="3450" spc="187">
                <a:latin typeface="Arial"/>
                <a:cs typeface="Arial"/>
              </a:rPr>
              <a:t> </a:t>
            </a:r>
            <a:r>
              <a:rPr dirty="0" u="none" baseline="-2415" sz="3450" spc="-509">
                <a:latin typeface="Arial"/>
                <a:cs typeface="Arial"/>
              </a:rPr>
              <a:t>هُ</a:t>
            </a:r>
            <a:r>
              <a:rPr dirty="0" u="none" baseline="-2415" sz="3450" spc="427">
                <a:latin typeface="Arial"/>
                <a:cs typeface="Arial"/>
              </a:rPr>
              <a:t> </a:t>
            </a:r>
            <a:r>
              <a:rPr dirty="0" u="none" baseline="8454" sz="3450" spc="-765">
                <a:latin typeface="Arial"/>
                <a:cs typeface="Arial"/>
              </a:rPr>
              <a:t>َبطَ</a:t>
            </a:r>
            <a:r>
              <a:rPr dirty="0" u="none" baseline="8454" sz="3450">
                <a:latin typeface="Arial"/>
                <a:cs typeface="Arial"/>
              </a:rPr>
              <a:t> </a:t>
            </a:r>
            <a:r>
              <a:rPr dirty="0" u="none" baseline="8454" sz="3450" spc="-150">
                <a:latin typeface="Arial"/>
                <a:cs typeface="Arial"/>
              </a:rPr>
              <a:t> </a:t>
            </a:r>
            <a:r>
              <a:rPr dirty="0" u="none" baseline="4830" sz="3450" spc="-562">
                <a:latin typeface="Arial"/>
                <a:cs typeface="Arial"/>
              </a:rPr>
              <a:t>اخَ</a:t>
            </a:r>
            <a:r>
              <a:rPr dirty="0" u="none" baseline="4830" sz="3450">
                <a:latin typeface="Arial"/>
                <a:cs typeface="Arial"/>
              </a:rPr>
              <a:t>  </a:t>
            </a:r>
            <a:r>
              <a:rPr dirty="0" u="none" baseline="4830" sz="3450" spc="-375">
                <a:latin typeface="Arial"/>
                <a:cs typeface="Arial"/>
              </a:rPr>
              <a:t> </a:t>
            </a:r>
            <a:r>
              <a:rPr dirty="0" u="none" baseline="-4830" sz="3450" spc="-157">
                <a:latin typeface="Arial"/>
                <a:cs typeface="Arial"/>
              </a:rPr>
              <a:t>اَذِإوَ</a:t>
            </a:r>
            <a:r>
              <a:rPr dirty="0" u="none" baseline="-4830" sz="3450">
                <a:latin typeface="Arial"/>
                <a:cs typeface="Arial"/>
              </a:rPr>
              <a:t> </a:t>
            </a:r>
            <a:r>
              <a:rPr dirty="0" u="none" baseline="-4830" sz="3450" spc="135">
                <a:latin typeface="Arial"/>
                <a:cs typeface="Arial"/>
              </a:rPr>
              <a:t> </a:t>
            </a:r>
            <a:r>
              <a:rPr dirty="0" u="none" baseline="6038" sz="3450" spc="-480">
                <a:latin typeface="Arial"/>
                <a:cs typeface="Arial"/>
              </a:rPr>
              <a:t>انٗ</a:t>
            </a:r>
            <a:r>
              <a:rPr dirty="0" u="none" baseline="6038" sz="3450" spc="-442">
                <a:latin typeface="Arial"/>
                <a:cs typeface="Arial"/>
              </a:rPr>
              <a:t> </a:t>
            </a:r>
            <a:r>
              <a:rPr dirty="0" u="none" baseline="3623" sz="3450" spc="-315">
                <a:latin typeface="Arial"/>
                <a:cs typeface="Arial"/>
              </a:rPr>
              <a:t>وۡ</a:t>
            </a:r>
            <a:r>
              <a:rPr dirty="0" u="none" baseline="3623" sz="3450" spc="-337">
                <a:latin typeface="Arial"/>
                <a:cs typeface="Arial"/>
              </a:rPr>
              <a:t> </a:t>
            </a:r>
            <a:r>
              <a:rPr dirty="0" u="none" baseline="3623" sz="3450" spc="-562">
                <a:latin typeface="Arial"/>
                <a:cs typeface="Arial"/>
              </a:rPr>
              <a:t>هَ</a:t>
            </a:r>
            <a:r>
              <a:rPr dirty="0" u="none" baseline="3623" sz="3450">
                <a:latin typeface="Arial"/>
                <a:cs typeface="Arial"/>
              </a:rPr>
              <a:t>  </a:t>
            </a:r>
            <a:r>
              <a:rPr dirty="0" u="none" baseline="3623" sz="3450" spc="-375">
                <a:latin typeface="Arial"/>
                <a:cs typeface="Arial"/>
              </a:rPr>
              <a:t> </a:t>
            </a:r>
            <a:r>
              <a:rPr dirty="0" u="none" baseline="-4830" sz="3450" spc="-1132">
                <a:latin typeface="Arial"/>
                <a:cs typeface="Arial"/>
              </a:rPr>
              <a:t>ضِ</a:t>
            </a:r>
            <a:r>
              <a:rPr dirty="0" u="none" baseline="-4830" sz="3450">
                <a:latin typeface="Arial"/>
                <a:cs typeface="Arial"/>
              </a:rPr>
              <a:t> </a:t>
            </a:r>
            <a:r>
              <a:rPr dirty="0" u="none" baseline="-4830" sz="3450" spc="375">
                <a:latin typeface="Arial"/>
                <a:cs typeface="Arial"/>
              </a:rPr>
              <a:t> </a:t>
            </a:r>
            <a:r>
              <a:rPr dirty="0" u="none" baseline="2415" sz="3450" spc="-359">
                <a:latin typeface="Arial"/>
                <a:cs typeface="Arial"/>
              </a:rPr>
              <a:t>رۡ</a:t>
            </a:r>
            <a:r>
              <a:rPr dirty="0" u="none" baseline="2415" sz="3450" spc="-442">
                <a:latin typeface="Arial"/>
                <a:cs typeface="Arial"/>
              </a:rPr>
              <a:t> </a:t>
            </a:r>
            <a:r>
              <a:rPr dirty="0" u="none" baseline="14492" sz="3450" spc="-112">
                <a:latin typeface="Arial"/>
                <a:cs typeface="Arial"/>
              </a:rPr>
              <a:t>َﻷۡ</a:t>
            </a:r>
            <a:r>
              <a:rPr dirty="0" u="none" baseline="14492" sz="3450" spc="-472">
                <a:latin typeface="Arial"/>
                <a:cs typeface="Arial"/>
              </a:rPr>
              <a:t> </a:t>
            </a:r>
            <a:r>
              <a:rPr dirty="0" u="none" sz="2300">
                <a:latin typeface="Arial"/>
                <a:cs typeface="Arial"/>
              </a:rPr>
              <a:t>ٱ</a:t>
            </a:r>
            <a:r>
              <a:rPr dirty="0" u="none" sz="2300" spc="15">
                <a:latin typeface="Arial"/>
                <a:cs typeface="Arial"/>
              </a:rPr>
              <a:t> </a:t>
            </a:r>
            <a:r>
              <a:rPr dirty="0" u="none" sz="2300" spc="-395">
                <a:latin typeface="Arial"/>
                <a:cs typeface="Arial"/>
              </a:rPr>
              <a:t>ىَلعَ</a:t>
            </a:r>
            <a:r>
              <a:rPr dirty="0" u="none" sz="2300">
                <a:latin typeface="Arial"/>
                <a:cs typeface="Arial"/>
              </a:rPr>
              <a:t>  </a:t>
            </a:r>
            <a:r>
              <a:rPr dirty="0" u="none" sz="2300" spc="-65">
                <a:latin typeface="Arial"/>
                <a:cs typeface="Arial"/>
              </a:rPr>
              <a:t> </a:t>
            </a:r>
            <a:r>
              <a:rPr dirty="0" u="none" baseline="2415" sz="3450" spc="-757">
                <a:latin typeface="Arial"/>
                <a:cs typeface="Arial"/>
              </a:rPr>
              <a:t>نَ</a:t>
            </a:r>
            <a:r>
              <a:rPr dirty="0" u="none" baseline="2415" sz="3450">
                <a:latin typeface="Arial"/>
                <a:cs typeface="Arial"/>
              </a:rPr>
              <a:t> </a:t>
            </a:r>
            <a:r>
              <a:rPr dirty="0" u="none" baseline="2415" sz="3450" spc="-427">
                <a:latin typeface="Arial"/>
                <a:cs typeface="Arial"/>
              </a:rPr>
              <a:t> </a:t>
            </a:r>
            <a:r>
              <a:rPr dirty="0" u="none" baseline="-1207" sz="3450" spc="-1027">
                <a:latin typeface="Arial"/>
                <a:cs typeface="Arial"/>
              </a:rPr>
              <a:t>وشُ</a:t>
            </a:r>
            <a:r>
              <a:rPr dirty="0" u="none" baseline="-1207" sz="3450">
                <a:latin typeface="Arial"/>
                <a:cs typeface="Arial"/>
              </a:rPr>
              <a:t> </a:t>
            </a:r>
            <a:r>
              <a:rPr dirty="0" u="none" baseline="-1207" sz="3450" spc="127">
                <a:latin typeface="Arial"/>
                <a:cs typeface="Arial"/>
              </a:rPr>
              <a:t> </a:t>
            </a:r>
            <a:r>
              <a:rPr dirty="0" u="none" baseline="3623" sz="3450" spc="-277">
                <a:latin typeface="Arial"/>
                <a:cs typeface="Arial"/>
              </a:rPr>
              <a:t>مۡ</a:t>
            </a:r>
            <a:r>
              <a:rPr dirty="0" u="none" baseline="3623" sz="3450" spc="-232">
                <a:latin typeface="Arial"/>
                <a:cs typeface="Arial"/>
              </a:rPr>
              <a:t> </a:t>
            </a:r>
            <a:r>
              <a:rPr dirty="0" u="none" sz="2300" spc="-425">
                <a:latin typeface="Arial"/>
                <a:cs typeface="Arial"/>
              </a:rPr>
              <a:t>َي</a:t>
            </a:r>
            <a:r>
              <a:rPr dirty="0" u="none" sz="2300" spc="5">
                <a:latin typeface="Arial"/>
                <a:cs typeface="Arial"/>
              </a:rPr>
              <a:t> </a:t>
            </a:r>
            <a:r>
              <a:rPr dirty="0" u="none" baseline="2415" sz="3450" spc="-757">
                <a:latin typeface="Arial"/>
                <a:cs typeface="Arial"/>
              </a:rPr>
              <a:t>نَ</a:t>
            </a:r>
            <a:r>
              <a:rPr dirty="0" u="none" baseline="2415" sz="3450">
                <a:latin typeface="Arial"/>
                <a:cs typeface="Arial"/>
              </a:rPr>
              <a:t> </a:t>
            </a:r>
            <a:r>
              <a:rPr dirty="0" u="none" baseline="2415" sz="3450" spc="-427">
                <a:latin typeface="Arial"/>
                <a:cs typeface="Arial"/>
              </a:rPr>
              <a:t> </a:t>
            </a:r>
            <a:r>
              <a:rPr dirty="0" u="none" baseline="-1207" sz="3450" spc="-757">
                <a:latin typeface="Arial"/>
                <a:cs typeface="Arial"/>
              </a:rPr>
              <a:t>يذِ</a:t>
            </a:r>
            <a:r>
              <a:rPr dirty="0" u="none" baseline="-1207" sz="3450" spc="-60">
                <a:latin typeface="Arial"/>
                <a:cs typeface="Arial"/>
              </a:rPr>
              <a:t> </a:t>
            </a:r>
            <a:r>
              <a:rPr dirty="0" u="none" sz="2300" spc="-165">
                <a:latin typeface="Arial"/>
                <a:cs typeface="Arial"/>
              </a:rPr>
              <a:t>ﱠلٱ</a:t>
            </a:r>
            <a:r>
              <a:rPr dirty="0" u="none" sz="2300" spc="15">
                <a:latin typeface="Arial"/>
                <a:cs typeface="Arial"/>
              </a:rPr>
              <a:t> </a:t>
            </a:r>
            <a:r>
              <a:rPr dirty="0" u="none" baseline="-9661" sz="3450" spc="-757">
                <a:latin typeface="Arial"/>
                <a:cs typeface="Arial"/>
              </a:rPr>
              <a:t>نِ</a:t>
            </a:r>
            <a:r>
              <a:rPr dirty="0" u="none" baseline="-9661" sz="3450">
                <a:latin typeface="Arial"/>
                <a:cs typeface="Arial"/>
              </a:rPr>
              <a:t> </a:t>
            </a:r>
            <a:r>
              <a:rPr dirty="0" u="none" baseline="-9661" sz="3450" spc="-427">
                <a:latin typeface="Arial"/>
                <a:cs typeface="Arial"/>
              </a:rPr>
              <a:t> </a:t>
            </a:r>
            <a:r>
              <a:rPr dirty="0" u="none" baseline="-6038" sz="3450" spc="-982">
                <a:latin typeface="Arial"/>
                <a:cs typeface="Arial"/>
              </a:rPr>
              <a:t>مَ</a:t>
            </a:r>
            <a:r>
              <a:rPr dirty="0" u="none" baseline="-6038" sz="3450" spc="217">
                <a:latin typeface="Arial"/>
                <a:cs typeface="Arial"/>
              </a:rPr>
              <a:t> </a:t>
            </a:r>
            <a:r>
              <a:rPr dirty="0" u="none" baseline="7246" sz="3450" spc="-644">
                <a:latin typeface="Arial"/>
                <a:cs typeface="Arial"/>
              </a:rPr>
              <a:t>حۡ</a:t>
            </a:r>
            <a:r>
              <a:rPr dirty="0" u="none" baseline="7246" sz="3450" spc="112">
                <a:latin typeface="Arial"/>
                <a:cs typeface="Arial"/>
              </a:rPr>
              <a:t> </a:t>
            </a:r>
            <a:r>
              <a:rPr dirty="0" u="none" baseline="-6038" sz="3450" spc="-547">
                <a:latin typeface="Arial"/>
                <a:cs typeface="Arial"/>
              </a:rPr>
              <a:t>رﱠ</a:t>
            </a:r>
            <a:r>
              <a:rPr dirty="0" u="none" baseline="-6038" sz="3450" spc="112">
                <a:latin typeface="Arial"/>
                <a:cs typeface="Arial"/>
              </a:rPr>
              <a:t> </a:t>
            </a:r>
            <a:r>
              <a:rPr dirty="0" u="none" sz="2300" spc="-245">
                <a:latin typeface="Arial"/>
                <a:cs typeface="Arial"/>
              </a:rPr>
              <a:t>لٱ</a:t>
            </a:r>
            <a:r>
              <a:rPr dirty="0" u="none" sz="2300" spc="-10">
                <a:latin typeface="Arial"/>
                <a:cs typeface="Arial"/>
              </a:rPr>
              <a:t> </a:t>
            </a:r>
            <a:r>
              <a:rPr dirty="0" u="none" sz="2300" spc="-355">
                <a:latin typeface="Arial"/>
                <a:cs typeface="Arial"/>
              </a:rPr>
              <a:t>دُ</a:t>
            </a:r>
            <a:r>
              <a:rPr dirty="0" u="none" sz="2300" spc="75">
                <a:latin typeface="Arial"/>
                <a:cs typeface="Arial"/>
              </a:rPr>
              <a:t> </a:t>
            </a:r>
            <a:r>
              <a:rPr dirty="0" u="none" baseline="-2415" sz="3450" spc="-569">
                <a:latin typeface="Arial"/>
                <a:cs typeface="Arial"/>
              </a:rPr>
              <a:t>اَبعِ</a:t>
            </a:r>
            <a:r>
              <a:rPr dirty="0" u="none" baseline="-2415" sz="3450">
                <a:latin typeface="Arial"/>
                <a:cs typeface="Arial"/>
              </a:rPr>
              <a:t> </a:t>
            </a:r>
            <a:r>
              <a:rPr dirty="0" u="none" baseline="-2415" sz="3450" spc="-359">
                <a:latin typeface="Arial"/>
                <a:cs typeface="Arial"/>
              </a:rPr>
              <a:t> </a:t>
            </a:r>
            <a:r>
              <a:rPr dirty="0" u="none" baseline="-4830" sz="3450" spc="-547">
                <a:latin typeface="Arial"/>
                <a:cs typeface="Arial"/>
              </a:rPr>
              <a:t>وَ</a:t>
            </a:r>
            <a:r>
              <a:rPr dirty="0" u="none" baseline="-4830" sz="3450">
                <a:latin typeface="Arial"/>
                <a:cs typeface="Arial"/>
              </a:rPr>
              <a:t> </a:t>
            </a:r>
            <a:r>
              <a:rPr dirty="0" u="none" sz="2300" spc="-1055">
                <a:solidFill>
                  <a:srgbClr val="000000"/>
                </a:solidFill>
                <a:latin typeface="Courier New"/>
                <a:cs typeface="Courier New"/>
              </a:rPr>
              <a:t>܌</a:t>
            </a:r>
            <a:r>
              <a:rPr dirty="0" u="none" sz="2300" spc="-740">
                <a:solidFill>
                  <a:srgbClr val="000000"/>
                </a:solidFill>
                <a:latin typeface="Courier New"/>
                <a:cs typeface="Courier New"/>
              </a:rPr>
              <a:t>я</a:t>
            </a:r>
            <a:r>
              <a:rPr dirty="0" u="none" sz="2300" spc="-95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880">
                <a:solidFill>
                  <a:srgbClr val="000000"/>
                </a:solidFill>
                <a:latin typeface="Courier New"/>
                <a:cs typeface="Courier New"/>
              </a:rPr>
              <a:t>ے</a:t>
            </a:r>
            <a:r>
              <a:rPr dirty="0" u="none" sz="2300" spc="-994">
                <a:solidFill>
                  <a:srgbClr val="000000"/>
                </a:solidFill>
                <a:latin typeface="Courier New"/>
                <a:cs typeface="Courier New"/>
              </a:rPr>
              <a:t>˗</a:t>
            </a:r>
            <a:r>
              <a:rPr dirty="0" u="none" sz="2300" spc="-865">
                <a:solidFill>
                  <a:srgbClr val="000000"/>
                </a:solidFill>
                <a:latin typeface="Courier New"/>
                <a:cs typeface="Courier New"/>
              </a:rPr>
              <a:t>گل</a:t>
            </a:r>
            <a:r>
              <a:rPr dirty="0" u="none" sz="2300" spc="-96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110">
                <a:solidFill>
                  <a:srgbClr val="000000"/>
                </a:solidFill>
                <a:latin typeface="Courier New"/>
                <a:cs typeface="Courier New"/>
              </a:rPr>
              <a:t>ӳ</a:t>
            </a:r>
            <a:r>
              <a:rPr dirty="0" u="none" sz="2300" spc="-625">
                <a:solidFill>
                  <a:srgbClr val="000000"/>
                </a:solidFill>
                <a:latin typeface="Courier New"/>
                <a:cs typeface="Courier New"/>
              </a:rPr>
              <a:t>ر</a:t>
            </a:r>
            <a:r>
              <a:rPr dirty="0" u="none" sz="2300" spc="-1095">
                <a:solidFill>
                  <a:srgbClr val="000000"/>
                </a:solidFill>
                <a:latin typeface="Courier New"/>
                <a:cs typeface="Courier New"/>
              </a:rPr>
              <a:t>ϼ</a:t>
            </a:r>
            <a:r>
              <a:rPr dirty="0" u="none" sz="2300" spc="-95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1070">
                <a:solidFill>
                  <a:srgbClr val="000000"/>
                </a:solidFill>
                <a:latin typeface="Courier New"/>
                <a:cs typeface="Courier New"/>
              </a:rPr>
              <a:t>܌</a:t>
            </a:r>
            <a:r>
              <a:rPr dirty="0" u="none" sz="2300" spc="-1080">
                <a:solidFill>
                  <a:srgbClr val="000000"/>
                </a:solidFill>
                <a:latin typeface="Courier New"/>
                <a:cs typeface="Courier New"/>
              </a:rPr>
              <a:t>ت</a:t>
            </a:r>
            <a:r>
              <a:rPr dirty="0" u="none" sz="2300" spc="-685">
                <a:solidFill>
                  <a:srgbClr val="000000"/>
                </a:solidFill>
                <a:latin typeface="Courier New"/>
                <a:cs typeface="Courier New"/>
              </a:rPr>
              <a:t>Դ</a:t>
            </a:r>
            <a:r>
              <a:rPr dirty="0" u="none" sz="2300" spc="-96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415">
                <a:solidFill>
                  <a:srgbClr val="000000"/>
                </a:solidFill>
                <a:latin typeface="Courier New"/>
                <a:cs typeface="Courier New"/>
              </a:rPr>
              <a:t>ӥ</a:t>
            </a:r>
            <a:r>
              <a:rPr dirty="0" u="none" sz="2300" spc="-96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790">
                <a:solidFill>
                  <a:srgbClr val="000000"/>
                </a:solidFill>
                <a:latin typeface="Courier New"/>
                <a:cs typeface="Courier New"/>
              </a:rPr>
              <a:t>نا</a:t>
            </a:r>
            <a:r>
              <a:rPr dirty="0" u="none" sz="2300" spc="-94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620">
                <a:solidFill>
                  <a:srgbClr val="000000"/>
                </a:solidFill>
                <a:latin typeface="Courier New"/>
                <a:cs typeface="Courier New"/>
              </a:rPr>
              <a:t>گول</a:t>
            </a:r>
            <a:r>
              <a:rPr dirty="0" u="none" sz="2300" spc="-93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1425">
                <a:solidFill>
                  <a:srgbClr val="000000"/>
                </a:solidFill>
                <a:latin typeface="Courier New"/>
                <a:cs typeface="Courier New"/>
              </a:rPr>
              <a:t>ﲅ</a:t>
            </a:r>
            <a:r>
              <a:rPr dirty="0" u="none" sz="2300" spc="-840">
                <a:solidFill>
                  <a:srgbClr val="000000"/>
                </a:solidFill>
                <a:latin typeface="Courier New"/>
                <a:cs typeface="Courier New"/>
              </a:rPr>
              <a:t>̊</a:t>
            </a:r>
            <a:r>
              <a:rPr dirty="0" u="none" sz="2300" spc="-944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120">
                <a:solidFill>
                  <a:srgbClr val="000000"/>
                </a:solidFill>
                <a:latin typeface="Courier New"/>
                <a:cs typeface="Courier New"/>
              </a:rPr>
              <a:t>Ӝ</a:t>
            </a:r>
            <a:r>
              <a:rPr dirty="0" u="none" sz="2300" spc="-97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229">
                <a:solidFill>
                  <a:srgbClr val="000000"/>
                </a:solidFill>
                <a:latin typeface="Courier New"/>
                <a:cs typeface="Courier New"/>
              </a:rPr>
              <a:t>بج</a:t>
            </a:r>
            <a:r>
              <a:rPr dirty="0" u="none" sz="2300" spc="-95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840">
                <a:solidFill>
                  <a:srgbClr val="000000"/>
                </a:solidFill>
                <a:latin typeface="Courier New"/>
                <a:cs typeface="Courier New"/>
              </a:rPr>
              <a:t>روا</a:t>
            </a:r>
            <a:r>
              <a:rPr dirty="0" u="none" sz="2300" spc="-95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1055">
                <a:solidFill>
                  <a:srgbClr val="000000"/>
                </a:solidFill>
                <a:latin typeface="Courier New"/>
                <a:cs typeface="Courier New"/>
              </a:rPr>
              <a:t>܌</a:t>
            </a:r>
            <a:r>
              <a:rPr dirty="0" u="none" sz="2300" spc="-740">
                <a:solidFill>
                  <a:srgbClr val="000000"/>
                </a:solidFill>
                <a:latin typeface="Courier New"/>
                <a:cs typeface="Courier New"/>
              </a:rPr>
              <a:t>я</a:t>
            </a:r>
            <a:r>
              <a:rPr dirty="0" u="none" sz="2300" spc="-969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baseline="1207" sz="3450" spc="-1410">
                <a:solidFill>
                  <a:srgbClr val="000000"/>
                </a:solidFill>
                <a:latin typeface="Courier New"/>
                <a:cs typeface="Courier New"/>
              </a:rPr>
              <a:t>ےتل</a:t>
            </a:r>
            <a:r>
              <a:rPr dirty="0" u="none" baseline="1207" sz="3450" spc="-862">
                <a:solidFill>
                  <a:srgbClr val="000000"/>
                </a:solidFill>
                <a:latin typeface="Courier New"/>
                <a:cs typeface="Courier New"/>
              </a:rPr>
              <a:t>v</a:t>
            </a:r>
            <a:r>
              <a:rPr dirty="0" u="none" baseline="1207" sz="3450" spc="-1447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770">
                <a:solidFill>
                  <a:srgbClr val="000000"/>
                </a:solidFill>
                <a:latin typeface="Courier New"/>
                <a:cs typeface="Courier New"/>
              </a:rPr>
              <a:t>ھتاس</a:t>
            </a:r>
            <a:r>
              <a:rPr dirty="0" u="none" sz="2300" spc="-95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675">
                <a:solidFill>
                  <a:srgbClr val="000000"/>
                </a:solidFill>
                <a:latin typeface="Courier New"/>
                <a:cs typeface="Courier New"/>
              </a:rPr>
              <a:t>fi</a:t>
            </a:r>
            <a:r>
              <a:rPr dirty="0" u="none" sz="2300" spc="-97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735">
                <a:solidFill>
                  <a:srgbClr val="000000"/>
                </a:solidFill>
                <a:latin typeface="Courier New"/>
                <a:cs typeface="Courier New"/>
              </a:rPr>
              <a:t>ﲎتورف</a:t>
            </a:r>
            <a:r>
              <a:rPr dirty="0" u="none" sz="2300" spc="-93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620">
                <a:solidFill>
                  <a:srgbClr val="000000"/>
                </a:solidFill>
                <a:latin typeface="Courier New"/>
                <a:cs typeface="Courier New"/>
              </a:rPr>
              <a:t>ر</a:t>
            </a:r>
            <a:r>
              <a:rPr dirty="0" u="none" sz="2300" spc="-1070">
                <a:solidFill>
                  <a:srgbClr val="000000"/>
                </a:solidFill>
                <a:latin typeface="Courier New"/>
                <a:cs typeface="Courier New"/>
              </a:rPr>
              <a:t>,</a:t>
            </a:r>
            <a:r>
              <a:rPr dirty="0" u="none" sz="2300" spc="-96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645">
                <a:solidFill>
                  <a:srgbClr val="000000"/>
                </a:solidFill>
                <a:latin typeface="Courier New"/>
                <a:cs typeface="Courier New"/>
              </a:rPr>
              <a:t>ﲔمز</a:t>
            </a:r>
            <a:r>
              <a:rPr dirty="0" u="none" sz="2300" spc="-95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575">
                <a:solidFill>
                  <a:srgbClr val="000000"/>
                </a:solidFill>
                <a:latin typeface="Courier New"/>
                <a:cs typeface="Courier New"/>
              </a:rPr>
              <a:t>وج</a:t>
            </a:r>
            <a:r>
              <a:rPr dirty="0" u="none" sz="2300" spc="-96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1055">
                <a:solidFill>
                  <a:srgbClr val="000000"/>
                </a:solidFill>
                <a:latin typeface="Courier New"/>
                <a:cs typeface="Courier New"/>
              </a:rPr>
              <a:t>܌</a:t>
            </a:r>
            <a:r>
              <a:rPr dirty="0" u="none" sz="2300" spc="-740">
                <a:solidFill>
                  <a:srgbClr val="000000"/>
                </a:solidFill>
                <a:latin typeface="Courier New"/>
                <a:cs typeface="Courier New"/>
              </a:rPr>
              <a:t>я</a:t>
            </a:r>
            <a:r>
              <a:rPr dirty="0" u="none" sz="2300" spc="-969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850">
                <a:solidFill>
                  <a:srgbClr val="000000"/>
                </a:solidFill>
                <a:latin typeface="Courier New"/>
                <a:cs typeface="Courier New"/>
              </a:rPr>
              <a:t>هو</a:t>
            </a:r>
            <a:r>
              <a:rPr dirty="0" u="none" sz="2300" spc="-98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baseline="1207" sz="3450" spc="-997">
                <a:solidFill>
                  <a:srgbClr val="000000"/>
                </a:solidFill>
                <a:latin typeface="Courier New"/>
                <a:cs typeface="Courier New"/>
              </a:rPr>
              <a:t>ےدنب</a:t>
            </a:r>
            <a:r>
              <a:rPr dirty="0" u="none" baseline="1207" sz="3450" spc="-1447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825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dirty="0" u="none" sz="2300" spc="-75">
                <a:solidFill>
                  <a:srgbClr val="000000"/>
                </a:solidFill>
                <a:latin typeface="Courier New"/>
                <a:cs typeface="Courier New"/>
              </a:rPr>
              <a:t>Ԩ</a:t>
            </a:r>
            <a:r>
              <a:rPr dirty="0" u="none" sz="2300" spc="-434">
                <a:solidFill>
                  <a:srgbClr val="000000"/>
                </a:solidFill>
                <a:latin typeface="Courier New"/>
                <a:cs typeface="Courier New"/>
              </a:rPr>
              <a:t>س</a:t>
            </a:r>
            <a:r>
              <a:rPr dirty="0" u="none" sz="2300" spc="-815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  <a:r>
              <a:rPr dirty="0" u="none" sz="2300" spc="-95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675">
                <a:solidFill>
                  <a:srgbClr val="000000"/>
                </a:solidFill>
                <a:latin typeface="Courier New"/>
                <a:cs typeface="Courier New"/>
              </a:rPr>
              <a:t>fi</a:t>
            </a:r>
            <a:r>
              <a:rPr dirty="0" u="none" sz="2300" spc="-97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565">
                <a:solidFill>
                  <a:srgbClr val="000000"/>
                </a:solidFill>
                <a:latin typeface="Courier New"/>
                <a:cs typeface="Courier New"/>
              </a:rPr>
              <a:t>نﲪر</a:t>
            </a:r>
            <a:r>
              <a:rPr dirty="0" u="none" sz="2300" spc="-69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250">
                <a:solidFill>
                  <a:srgbClr val="000000"/>
                </a:solidFill>
                <a:latin typeface="Courier New"/>
                <a:cs typeface="Courier New"/>
              </a:rPr>
              <a:t>ӵ</a:t>
            </a:r>
            <a:r>
              <a:rPr dirty="0" u="none" sz="2300" spc="-98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490">
                <a:solidFill>
                  <a:srgbClr val="000000"/>
                </a:solidFill>
                <a:latin typeface="Courier New"/>
                <a:cs typeface="Courier New"/>
              </a:rPr>
              <a:t>مﻼس</a:t>
            </a:r>
            <a:r>
              <a:rPr dirty="0" u="none" sz="2300" spc="-96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819">
                <a:solidFill>
                  <a:srgbClr val="000000"/>
                </a:solidFill>
                <a:latin typeface="Courier New"/>
                <a:cs typeface="Courier New"/>
              </a:rPr>
              <a:t>ہک</a:t>
            </a:r>
            <a:r>
              <a:rPr dirty="0" u="none" sz="2300" spc="-97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1055">
                <a:solidFill>
                  <a:srgbClr val="000000"/>
                </a:solidFill>
                <a:latin typeface="Courier New"/>
                <a:cs typeface="Courier New"/>
              </a:rPr>
              <a:t>܌</a:t>
            </a:r>
            <a:r>
              <a:rPr dirty="0" u="none" sz="2300" spc="-740">
                <a:solidFill>
                  <a:srgbClr val="000000"/>
                </a:solidFill>
                <a:latin typeface="Courier New"/>
                <a:cs typeface="Courier New"/>
              </a:rPr>
              <a:t>я</a:t>
            </a:r>
            <a:r>
              <a:rPr dirty="0" u="none" sz="2300" spc="-969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229">
                <a:solidFill>
                  <a:srgbClr val="000000"/>
                </a:solidFill>
                <a:latin typeface="Courier New"/>
                <a:cs typeface="Courier New"/>
              </a:rPr>
              <a:t>Ԋ</a:t>
            </a:r>
            <a:r>
              <a:rPr dirty="0" u="none" sz="2300" spc="-755">
                <a:solidFill>
                  <a:srgbClr val="000000"/>
                </a:solidFill>
                <a:latin typeface="Courier New"/>
                <a:cs typeface="Courier New"/>
              </a:rPr>
              <a:t>د</a:t>
            </a:r>
            <a:r>
              <a:rPr dirty="0" u="none" sz="2300" spc="-96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855">
                <a:solidFill>
                  <a:srgbClr val="000000"/>
                </a:solidFill>
                <a:latin typeface="Courier New"/>
                <a:cs typeface="Courier New"/>
              </a:rPr>
              <a:t>ہہک</a:t>
            </a:r>
            <a:r>
              <a:rPr dirty="0" u="none" sz="2300" spc="-97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850">
                <a:solidFill>
                  <a:srgbClr val="000000"/>
                </a:solidFill>
                <a:latin typeface="Courier New"/>
                <a:cs typeface="Courier New"/>
              </a:rPr>
              <a:t>هو</a:t>
            </a:r>
            <a:r>
              <a:rPr dirty="0" u="none" sz="2300" spc="-95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300" spc="-869">
                <a:solidFill>
                  <a:srgbClr val="000000"/>
                </a:solidFill>
                <a:latin typeface="Courier New"/>
                <a:cs typeface="Courier New"/>
              </a:rPr>
              <a:t>وت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8991" y="3017061"/>
            <a:ext cx="7658100" cy="282956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162560">
              <a:lnSpc>
                <a:spcPct val="102099"/>
              </a:lnSpc>
              <a:spcBef>
                <a:spcPts val="80"/>
              </a:spcBef>
            </a:pPr>
            <a:r>
              <a:rPr dirty="0" sz="1550" b="1">
                <a:latin typeface="Arial"/>
                <a:cs typeface="Arial"/>
              </a:rPr>
              <a:t>Translation:</a:t>
            </a:r>
            <a:r>
              <a:rPr dirty="0" sz="1550" spc="10" b="1">
                <a:latin typeface="Arial"/>
                <a:cs typeface="Arial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"And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bondmen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of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Most</a:t>
            </a:r>
            <a:r>
              <a:rPr dirty="0" sz="1450" spc="-2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Affectionate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are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those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who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walk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on</a:t>
            </a:r>
            <a:r>
              <a:rPr dirty="0" sz="1450" spc="6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55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earth </a:t>
            </a:r>
            <a:r>
              <a:rPr dirty="0" sz="1450">
                <a:latin typeface="Microsoft Sans Serif"/>
                <a:cs typeface="Microsoft Sans Serif"/>
              </a:rPr>
              <a:t>modestly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and</a:t>
            </a:r>
            <a:r>
              <a:rPr dirty="0" sz="1450" spc="3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when</a:t>
            </a:r>
            <a:r>
              <a:rPr dirty="0" sz="1450" spc="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ignorant</a:t>
            </a:r>
            <a:r>
              <a:rPr dirty="0" sz="1450" spc="3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address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them,</a:t>
            </a:r>
            <a:r>
              <a:rPr dirty="0" sz="1450" spc="45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they</a:t>
            </a:r>
            <a:r>
              <a:rPr dirty="0" sz="1450" spc="4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Microsoft Sans Serif"/>
                <a:cs typeface="Microsoft Sans Serif"/>
              </a:rPr>
              <a:t>say,</a:t>
            </a:r>
            <a:r>
              <a:rPr dirty="0" sz="1450" spc="90">
                <a:latin typeface="Microsoft Sans Serif"/>
                <a:cs typeface="Microsoft Sans Serif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'peace’.”</a:t>
            </a:r>
            <a:endParaRPr sz="1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Explanation: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Walking</a:t>
            </a:r>
            <a:r>
              <a:rPr dirty="0" u="sng" sz="145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with</a:t>
            </a:r>
            <a:r>
              <a:rPr dirty="0" u="sng" sz="1450" spc="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Humility: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  <a:spcBef>
                <a:spcPts val="5"/>
              </a:spcBef>
            </a:pPr>
            <a:r>
              <a:rPr dirty="0" sz="1300">
                <a:latin typeface="Microsoft Sans Serif"/>
                <a:cs typeface="Microsoft Sans Serif"/>
              </a:rPr>
              <a:t>True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believers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move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through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life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with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modesty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calmness.They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do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not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show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arrogance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or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boast </a:t>
            </a:r>
            <a:r>
              <a:rPr dirty="0" sz="1300">
                <a:latin typeface="Microsoft Sans Serif"/>
                <a:cs typeface="Microsoft Sans Serif"/>
              </a:rPr>
              <a:t>about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themselves.Instead,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they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carry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themselves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with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grace,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if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every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step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sign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of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their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respect </a:t>
            </a:r>
            <a:r>
              <a:rPr dirty="0" sz="1300">
                <a:latin typeface="Microsoft Sans Serif"/>
                <a:cs typeface="Microsoft Sans Serif"/>
              </a:rPr>
              <a:t>for</a:t>
            </a:r>
            <a:r>
              <a:rPr dirty="0" sz="1300" spc="-6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Allah.For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example,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even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if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they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are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hurry,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they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remain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composed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respectful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towards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others.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Responding</a:t>
            </a:r>
            <a:r>
              <a:rPr dirty="0" u="sng" sz="1450" spc="8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with</a:t>
            </a:r>
            <a:r>
              <a:rPr dirty="0" u="sng" sz="1450" spc="8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Peace:</a:t>
            </a:r>
            <a:endParaRPr sz="1450">
              <a:latin typeface="Arial"/>
              <a:cs typeface="Arial"/>
            </a:endParaRPr>
          </a:p>
          <a:p>
            <a:pPr marL="12700" marR="83820">
              <a:lnSpc>
                <a:spcPct val="101499"/>
              </a:lnSpc>
              <a:spcBef>
                <a:spcPts val="5"/>
              </a:spcBef>
            </a:pPr>
            <a:r>
              <a:rPr dirty="0" sz="1300">
                <a:latin typeface="Microsoft Sans Serif"/>
                <a:cs typeface="Microsoft Sans Serif"/>
              </a:rPr>
              <a:t>When</a:t>
            </a:r>
            <a:r>
              <a:rPr dirty="0" sz="1300" spc="-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someone</a:t>
            </a:r>
            <a:r>
              <a:rPr dirty="0" sz="1300" spc="-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speaks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harshly,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rudely,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or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foolishly,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true</a:t>
            </a:r>
            <a:r>
              <a:rPr dirty="0" sz="1300" spc="-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believers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reply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with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word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"peace."They</a:t>
            </a:r>
            <a:r>
              <a:rPr dirty="0" sz="1300" spc="-5">
                <a:latin typeface="Microsoft Sans Serif"/>
                <a:cs typeface="Microsoft Sans Serif"/>
              </a:rPr>
              <a:t> </a:t>
            </a:r>
            <a:r>
              <a:rPr dirty="0" sz="1300" spc="-25">
                <a:latin typeface="Microsoft Sans Serif"/>
                <a:cs typeface="Microsoft Sans Serif"/>
              </a:rPr>
              <a:t>do </a:t>
            </a:r>
            <a:r>
              <a:rPr dirty="0" sz="1300">
                <a:latin typeface="Microsoft Sans Serif"/>
                <a:cs typeface="Microsoft Sans Serif"/>
              </a:rPr>
              <a:t>not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raise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their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voice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or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get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angry,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even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if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they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are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insulted.They choose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kind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gentle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words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 spc="-20">
                <a:latin typeface="Microsoft Sans Serif"/>
                <a:cs typeface="Microsoft Sans Serif"/>
              </a:rPr>
              <a:t>calm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situation instead of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causing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more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conflict.For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example,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if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someone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criticizes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them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unfairly,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 spc="-20">
                <a:latin typeface="Microsoft Sans Serif"/>
                <a:cs typeface="Microsoft Sans Serif"/>
              </a:rPr>
              <a:t>they </a:t>
            </a:r>
            <a:r>
              <a:rPr dirty="0" sz="1300">
                <a:latin typeface="Microsoft Sans Serif"/>
                <a:cs typeface="Microsoft Sans Serif"/>
              </a:rPr>
              <a:t>respond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calmly,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helping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lower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tension</a:t>
            </a:r>
            <a:r>
              <a:rPr dirty="0" sz="1300" spc="-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promote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understanding.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267" rIns="0" bIns="0" rtlCol="0" vert="horz">
            <a:spAutoFit/>
          </a:bodyPr>
          <a:lstStyle/>
          <a:p>
            <a:pPr marL="606425">
              <a:lnSpc>
                <a:spcPct val="100000"/>
              </a:lnSpc>
              <a:spcBef>
                <a:spcPts val="90"/>
              </a:spcBef>
            </a:pPr>
            <a:r>
              <a:rPr dirty="0" sz="2650"/>
              <a:t>Insights</a:t>
            </a:r>
            <a:r>
              <a:rPr dirty="0" sz="2650" spc="-85"/>
              <a:t> </a:t>
            </a:r>
            <a:r>
              <a:rPr dirty="0" sz="2650"/>
              <a:t>and</a:t>
            </a:r>
            <a:r>
              <a:rPr dirty="0" sz="2650" spc="-80"/>
              <a:t> </a:t>
            </a:r>
            <a:r>
              <a:rPr dirty="0" sz="2650"/>
              <a:t>Guidance</a:t>
            </a:r>
            <a:r>
              <a:rPr dirty="0" sz="2650" spc="-90"/>
              <a:t> </a:t>
            </a:r>
            <a:r>
              <a:rPr dirty="0" sz="2650"/>
              <a:t>from</a:t>
            </a:r>
            <a:r>
              <a:rPr dirty="0" sz="2650" spc="-80"/>
              <a:t> </a:t>
            </a:r>
            <a:r>
              <a:rPr dirty="0" sz="2650" spc="-20"/>
              <a:t>Verse</a:t>
            </a:r>
            <a:r>
              <a:rPr dirty="0" sz="2650" spc="-90"/>
              <a:t> </a:t>
            </a:r>
            <a:r>
              <a:rPr dirty="0" sz="2650"/>
              <a:t>-</a:t>
            </a:r>
            <a:r>
              <a:rPr dirty="0" sz="2650" spc="-70"/>
              <a:t> </a:t>
            </a:r>
            <a:r>
              <a:rPr dirty="0" sz="2650" spc="-25"/>
              <a:t>63</a:t>
            </a:r>
            <a:endParaRPr sz="2650"/>
          </a:p>
        </p:txBody>
      </p:sp>
      <p:sp>
        <p:nvSpPr>
          <p:cNvPr id="3" name="object 3" descr=""/>
          <p:cNvSpPr txBox="1"/>
          <p:nvPr/>
        </p:nvSpPr>
        <p:spPr>
          <a:xfrm>
            <a:off x="429283" y="2140689"/>
            <a:ext cx="7280909" cy="29184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94640" marR="323850" indent="-282575">
              <a:lnSpc>
                <a:spcPct val="101400"/>
              </a:lnSpc>
              <a:spcBef>
                <a:spcPts val="110"/>
              </a:spcBef>
              <a:buAutoNum type="arabicPeriod"/>
              <a:tabLst>
                <a:tab pos="295910" algn="l"/>
              </a:tabLst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Characteristics</a:t>
            </a:r>
            <a:r>
              <a:rPr dirty="0" u="sng" sz="1450" spc="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Moral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Helps: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latin typeface="Trebuchet MS"/>
                <a:cs typeface="Trebuchet MS"/>
              </a:rPr>
              <a:t>True</a:t>
            </a:r>
            <a:r>
              <a:rPr dirty="0" sz="1150" spc="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believers</a:t>
            </a:r>
            <a:r>
              <a:rPr dirty="0" sz="1150" spc="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are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kind,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merciful,</a:t>
            </a:r>
            <a:r>
              <a:rPr dirty="0" sz="1150" spc="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compassionate.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 spc="-20">
                <a:latin typeface="Trebuchet MS"/>
                <a:cs typeface="Trebuchet MS"/>
              </a:rPr>
              <a:t>They </a:t>
            </a:r>
            <a:r>
              <a:rPr dirty="0" sz="1150" spc="-20">
                <a:latin typeface="Trebuchet MS"/>
                <a:cs typeface="Trebuchet MS"/>
              </a:rPr>
              <a:t>	</a:t>
            </a:r>
            <a:r>
              <a:rPr dirty="0" sz="1150">
                <a:latin typeface="Trebuchet MS"/>
                <a:cs typeface="Trebuchet MS"/>
              </a:rPr>
              <a:t>always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help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others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show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genuine</a:t>
            </a:r>
            <a:r>
              <a:rPr dirty="0" sz="1150" spc="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care,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knowing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that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every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person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is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creation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of</a:t>
            </a:r>
            <a:r>
              <a:rPr dirty="0" sz="1150" spc="-8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Allah.</a:t>
            </a:r>
            <a:endParaRPr sz="1150">
              <a:latin typeface="Trebuchet MS"/>
              <a:cs typeface="Trebuchet MS"/>
            </a:endParaRPr>
          </a:p>
          <a:p>
            <a:pPr marL="294640" marR="5080" indent="-282575">
              <a:lnSpc>
                <a:spcPct val="101400"/>
              </a:lnSpc>
              <a:buAutoNum type="arabicPeriod"/>
              <a:tabLst>
                <a:tab pos="295910" algn="l"/>
              </a:tabLst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Humility</a:t>
            </a:r>
            <a:r>
              <a:rPr dirty="0" u="sng" sz="145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450" spc="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Modesty:</a:t>
            </a:r>
            <a:r>
              <a:rPr dirty="0" sz="1450" spc="1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They</a:t>
            </a:r>
            <a:r>
              <a:rPr dirty="0" sz="1150" spc="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walk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on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earth</a:t>
            </a:r>
            <a:r>
              <a:rPr dirty="0" sz="1150" spc="4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with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gentle,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calm </a:t>
            </a:r>
            <a:r>
              <a:rPr dirty="0" sz="1150" spc="-20">
                <a:latin typeface="Trebuchet MS"/>
                <a:cs typeface="Trebuchet MS"/>
              </a:rPr>
              <a:t>manner.</a:t>
            </a:r>
            <a:r>
              <a:rPr dirty="0" sz="1150" spc="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Their</a:t>
            </a:r>
            <a:r>
              <a:rPr dirty="0" sz="1150" spc="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modest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behavior </a:t>
            </a:r>
            <a:r>
              <a:rPr dirty="0" sz="1150" spc="-10">
                <a:latin typeface="Trebuchet MS"/>
                <a:cs typeface="Trebuchet MS"/>
              </a:rPr>
              <a:t>	</a:t>
            </a:r>
            <a:r>
              <a:rPr dirty="0" sz="1150">
                <a:latin typeface="Trebuchet MS"/>
                <a:cs typeface="Trebuchet MS"/>
              </a:rPr>
              <a:t>shows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deep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respect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for</a:t>
            </a:r>
            <a:r>
              <a:rPr dirty="0" sz="1150" spc="-6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Allah,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they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do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not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boast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or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seek</a:t>
            </a:r>
            <a:r>
              <a:rPr dirty="0" sz="1150" spc="-10">
                <a:latin typeface="Trebuchet MS"/>
                <a:cs typeface="Trebuchet MS"/>
              </a:rPr>
              <a:t> praise.</a:t>
            </a:r>
            <a:endParaRPr sz="1150">
              <a:latin typeface="Trebuchet MS"/>
              <a:cs typeface="Trebuchet MS"/>
            </a:endParaRPr>
          </a:p>
          <a:p>
            <a:pPr marL="294640" marR="337185" indent="-282575">
              <a:lnSpc>
                <a:spcPct val="101400"/>
              </a:lnSpc>
              <a:buAutoNum type="arabicPeriod"/>
              <a:tabLst>
                <a:tab pos="295910" algn="l"/>
              </a:tabLst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Respectful</a:t>
            </a:r>
            <a:r>
              <a:rPr dirty="0" u="sng" sz="1450" spc="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Reaction:</a:t>
            </a:r>
            <a:r>
              <a:rPr dirty="0" sz="1450" spc="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Even</a:t>
            </a:r>
            <a:r>
              <a:rPr dirty="0" sz="1150" spc="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when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faced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with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harsh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or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foolish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words,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they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respond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politely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 spc="-20">
                <a:latin typeface="Trebuchet MS"/>
                <a:cs typeface="Trebuchet MS"/>
              </a:rPr>
              <a:t>with </a:t>
            </a:r>
            <a:r>
              <a:rPr dirty="0" sz="1150" spc="-20">
                <a:latin typeface="Trebuchet MS"/>
                <a:cs typeface="Trebuchet MS"/>
              </a:rPr>
              <a:t>	</a:t>
            </a:r>
            <a:r>
              <a:rPr dirty="0" sz="1150">
                <a:latin typeface="Trebuchet MS"/>
                <a:cs typeface="Trebuchet MS"/>
              </a:rPr>
              <a:t>"peace“</a:t>
            </a:r>
            <a:r>
              <a:rPr dirty="0" sz="1150" spc="-4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This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respectful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reaction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prevents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arguments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helps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calm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tensions.</a:t>
            </a:r>
            <a:endParaRPr sz="1150">
              <a:latin typeface="Trebuchet MS"/>
              <a:cs typeface="Trebuchet MS"/>
            </a:endParaRPr>
          </a:p>
          <a:p>
            <a:pPr marL="294640" marR="90170" indent="-282575">
              <a:lnSpc>
                <a:spcPct val="100699"/>
              </a:lnSpc>
              <a:spcBef>
                <a:spcPts val="15"/>
              </a:spcBef>
              <a:buAutoNum type="arabicPeriod"/>
              <a:tabLst>
                <a:tab pos="295910" algn="l"/>
              </a:tabLst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Balanced</a:t>
            </a:r>
            <a:r>
              <a:rPr dirty="0" u="sng" sz="1450" spc="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45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Gracious</a:t>
            </a:r>
            <a:r>
              <a:rPr dirty="0" u="sng" sz="145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Demeanor:</a:t>
            </a:r>
            <a:r>
              <a:rPr dirty="0" sz="1450" spc="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They</a:t>
            </a:r>
            <a:r>
              <a:rPr dirty="0" sz="1150" spc="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maintain</a:t>
            </a:r>
            <a:r>
              <a:rPr dirty="0" sz="1150" spc="4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balance</a:t>
            </a:r>
            <a:r>
              <a:rPr dirty="0" sz="1150" spc="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in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all</a:t>
            </a:r>
            <a:r>
              <a:rPr dirty="0" sz="1150" spc="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aspects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of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life,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showing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 spc="-20">
                <a:latin typeface="Trebuchet MS"/>
                <a:cs typeface="Trebuchet MS"/>
              </a:rPr>
              <a:t>calm </a:t>
            </a:r>
            <a:r>
              <a:rPr dirty="0" sz="1150" spc="-20">
                <a:latin typeface="Trebuchet MS"/>
                <a:cs typeface="Trebuchet MS"/>
              </a:rPr>
              <a:t>	</a:t>
            </a:r>
            <a:r>
              <a:rPr dirty="0" sz="1150">
                <a:latin typeface="Trebuchet MS"/>
                <a:cs typeface="Trebuchet MS"/>
              </a:rPr>
              <a:t>and peace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in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their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actions.</a:t>
            </a:r>
            <a:r>
              <a:rPr dirty="0" sz="1150" spc="-4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Their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behavior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reflects inner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peace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serves as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positive example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 spc="-25">
                <a:latin typeface="Trebuchet MS"/>
                <a:cs typeface="Trebuchet MS"/>
              </a:rPr>
              <a:t>for </a:t>
            </a:r>
            <a:r>
              <a:rPr dirty="0" sz="1150" spc="-25">
                <a:latin typeface="Trebuchet MS"/>
                <a:cs typeface="Trebuchet MS"/>
              </a:rPr>
              <a:t>	</a:t>
            </a:r>
            <a:r>
              <a:rPr dirty="0" sz="1150" spc="-10">
                <a:latin typeface="Trebuchet MS"/>
                <a:cs typeface="Trebuchet MS"/>
              </a:rPr>
              <a:t>others.</a:t>
            </a:r>
            <a:endParaRPr sz="1150">
              <a:latin typeface="Trebuchet MS"/>
              <a:cs typeface="Trebuchet MS"/>
            </a:endParaRPr>
          </a:p>
          <a:p>
            <a:pPr marL="295275" indent="-282575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295275" algn="l"/>
              </a:tabLst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How</a:t>
            </a:r>
            <a:r>
              <a:rPr dirty="0" u="sng" sz="145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to</a:t>
            </a:r>
            <a:r>
              <a:rPr dirty="0" u="sng" sz="145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Practice</a:t>
            </a:r>
            <a:r>
              <a:rPr dirty="0" u="sng" sz="145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These</a:t>
            </a:r>
            <a:r>
              <a:rPr dirty="0" u="sng" sz="145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Qualities:</a:t>
            </a:r>
            <a:endParaRPr sz="1450">
              <a:latin typeface="Trebuchet MS"/>
              <a:cs typeface="Trebuchet MS"/>
            </a:endParaRPr>
          </a:p>
          <a:p>
            <a:pPr marL="12700" marR="309880">
              <a:lnSpc>
                <a:spcPct val="100899"/>
              </a:lnSpc>
            </a:pPr>
            <a:r>
              <a:rPr dirty="0" u="sng" sz="11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Be</a:t>
            </a:r>
            <a:r>
              <a:rPr dirty="0" u="sng" sz="1150" spc="-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1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Kind</a:t>
            </a:r>
            <a:r>
              <a:rPr dirty="0" u="sng" sz="115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1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150" spc="-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1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Compassionate:</a:t>
            </a:r>
            <a:r>
              <a:rPr dirty="0" sz="1150" spc="-1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Treat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everyone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with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care,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help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those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in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need,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always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remember</a:t>
            </a:r>
            <a:r>
              <a:rPr dirty="0" sz="1150" spc="-6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Allah’s mercy.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u="sng" sz="11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Stay</a:t>
            </a:r>
            <a:r>
              <a:rPr dirty="0" u="sng" sz="1150" spc="-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1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Humble:</a:t>
            </a:r>
            <a:r>
              <a:rPr dirty="0" sz="1150" spc="-8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Avoid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showing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off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focus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on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improving yourself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quietly.</a:t>
            </a:r>
            <a:endParaRPr sz="1150">
              <a:latin typeface="Trebuchet MS"/>
              <a:cs typeface="Trebuchet MS"/>
            </a:endParaRPr>
          </a:p>
          <a:p>
            <a:pPr marL="12700" marR="374650">
              <a:lnSpc>
                <a:spcPct val="100000"/>
              </a:lnSpc>
              <a:spcBef>
                <a:spcPts val="10"/>
              </a:spcBef>
            </a:pPr>
            <a:r>
              <a:rPr dirty="0" u="sng" sz="11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Respond</a:t>
            </a:r>
            <a:r>
              <a:rPr dirty="0" u="sng" sz="11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1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with</a:t>
            </a:r>
            <a:r>
              <a:rPr dirty="0" u="sng" sz="115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1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Peace:</a:t>
            </a:r>
            <a:r>
              <a:rPr dirty="0" sz="1150" spc="-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When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encounter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anger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or</a:t>
            </a:r>
            <a:r>
              <a:rPr dirty="0" sz="1150" spc="-4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rudeness,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reply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with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calm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kind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words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instead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 spc="-25">
                <a:latin typeface="Trebuchet MS"/>
                <a:cs typeface="Trebuchet MS"/>
              </a:rPr>
              <a:t>of </a:t>
            </a:r>
            <a:r>
              <a:rPr dirty="0" sz="1150">
                <a:latin typeface="Trebuchet MS"/>
                <a:cs typeface="Trebuchet MS"/>
              </a:rPr>
              <a:t>reacting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harshly.</a:t>
            </a:r>
            <a:endParaRPr sz="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93700">
              <a:lnSpc>
                <a:spcPct val="100000"/>
              </a:lnSpc>
              <a:spcBef>
                <a:spcPts val="125"/>
              </a:spcBef>
            </a:pPr>
            <a:r>
              <a:rPr dirty="0" sz="2950"/>
              <a:t>Introduction:</a:t>
            </a:r>
            <a:r>
              <a:rPr dirty="0" sz="2950" spc="-35"/>
              <a:t> </a:t>
            </a:r>
            <a:r>
              <a:rPr dirty="0" sz="2950"/>
              <a:t>Learning</a:t>
            </a:r>
            <a:r>
              <a:rPr dirty="0" sz="2950" spc="20"/>
              <a:t> </a:t>
            </a:r>
            <a:r>
              <a:rPr dirty="0" sz="2950"/>
              <a:t>from</a:t>
            </a:r>
            <a:r>
              <a:rPr dirty="0" sz="2950" spc="-5"/>
              <a:t> </a:t>
            </a:r>
            <a:r>
              <a:rPr dirty="0" sz="2950"/>
              <a:t>the</a:t>
            </a:r>
            <a:r>
              <a:rPr dirty="0" sz="2950" spc="10"/>
              <a:t> </a:t>
            </a:r>
            <a:r>
              <a:rPr dirty="0" sz="2950" spc="-10"/>
              <a:t>Quran</a:t>
            </a:r>
            <a:endParaRPr sz="2950"/>
          </a:p>
        </p:txBody>
      </p:sp>
      <p:sp>
        <p:nvSpPr>
          <p:cNvPr id="3" name="object 3" descr=""/>
          <p:cNvSpPr txBox="1"/>
          <p:nvPr/>
        </p:nvSpPr>
        <p:spPr>
          <a:xfrm>
            <a:off x="622788" y="2076743"/>
            <a:ext cx="6911975" cy="29565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Surah</a:t>
            </a:r>
            <a:r>
              <a:rPr dirty="0" sz="1450" spc="-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Al-Furqan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–</a:t>
            </a:r>
            <a:r>
              <a:rPr dirty="0" sz="1450" spc="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Verses</a:t>
            </a:r>
            <a:r>
              <a:rPr dirty="0" sz="1450" spc="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63 &amp;</a:t>
            </a:r>
            <a:r>
              <a:rPr dirty="0" sz="1450" spc="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25" b="1">
                <a:solidFill>
                  <a:srgbClr val="0070BF"/>
                </a:solidFill>
                <a:latin typeface="Trebuchet MS"/>
                <a:cs typeface="Trebuchet MS"/>
              </a:rPr>
              <a:t>67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855"/>
              </a:spcBef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lesson,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we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will learn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about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two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special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verses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from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1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Quran –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63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Verse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67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150" spc="-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Surah</a:t>
            </a:r>
            <a:r>
              <a:rPr dirty="0" sz="1150" spc="-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Al-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Furqan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(Chapter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25).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These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verses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teach</a:t>
            </a:r>
            <a:r>
              <a:rPr dirty="0" sz="11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us:</a:t>
            </a:r>
            <a:endParaRPr sz="11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840"/>
              </a:spcBef>
              <a:buFont typeface="Wingdings"/>
              <a:buChar char=""/>
              <a:tabLst>
                <a:tab pos="248285" algn="l"/>
              </a:tabLst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true believer</a:t>
            </a:r>
            <a:r>
              <a:rPr dirty="0" sz="11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endParaRPr sz="11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248285" algn="l"/>
              </a:tabLst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How</a:t>
            </a:r>
            <a:r>
              <a:rPr dirty="0" sz="11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1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live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kindness,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humility,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fairness</a:t>
            </a:r>
            <a:endParaRPr sz="1150">
              <a:latin typeface="Trebuchet MS"/>
              <a:cs typeface="Trebuchet MS"/>
            </a:endParaRPr>
          </a:p>
          <a:p>
            <a:pPr marL="12700" marR="3547745" indent="235585">
              <a:lnSpc>
                <a:spcPct val="160000"/>
              </a:lnSpc>
              <a:buFont typeface="Wingdings"/>
              <a:buChar char=""/>
              <a:tabLst>
                <a:tab pos="248285" algn="l"/>
              </a:tabLst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The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importance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1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balance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everything</a:t>
            </a:r>
            <a:r>
              <a:rPr dirty="0" sz="115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we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35">
                <a:solidFill>
                  <a:srgbClr val="3F3F3F"/>
                </a:solidFill>
                <a:latin typeface="Trebuchet MS"/>
                <a:cs typeface="Trebuchet MS"/>
              </a:rPr>
              <a:t>do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We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see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how</a:t>
            </a:r>
            <a:r>
              <a:rPr dirty="0" sz="1150" spc="-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wants</a:t>
            </a:r>
            <a:r>
              <a:rPr dirty="0" sz="115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us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to:</a:t>
            </a:r>
            <a:endParaRPr sz="11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840"/>
              </a:spcBef>
              <a:buFont typeface="Wingdings"/>
              <a:buChar char=""/>
              <a:tabLst>
                <a:tab pos="248285" algn="l"/>
              </a:tabLst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Walk</a:t>
            </a:r>
            <a:r>
              <a:rPr dirty="0" sz="11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respect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150" spc="-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calmness</a:t>
            </a:r>
            <a:endParaRPr sz="11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825"/>
              </a:spcBef>
              <a:buFont typeface="Wingdings"/>
              <a:buChar char=""/>
              <a:tabLst>
                <a:tab pos="248285" algn="l"/>
              </a:tabLst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Respond</a:t>
            </a:r>
            <a:r>
              <a:rPr dirty="0" sz="115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peace,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even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when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others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are</a:t>
            </a:r>
            <a:r>
              <a:rPr dirty="0" sz="1150" spc="-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rude</a:t>
            </a:r>
            <a:endParaRPr sz="11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830"/>
              </a:spcBef>
              <a:buFont typeface="Wingdings"/>
              <a:buChar char=""/>
              <a:tabLst>
                <a:tab pos="248285" algn="l"/>
              </a:tabLst>
            </a:pP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Spend</a:t>
            </a:r>
            <a:r>
              <a:rPr dirty="0" sz="11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money</a:t>
            </a:r>
            <a:r>
              <a:rPr dirty="0" sz="115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wisely,</a:t>
            </a:r>
            <a:r>
              <a:rPr dirty="0" sz="1150" spc="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not</a:t>
            </a:r>
            <a:r>
              <a:rPr dirty="0" sz="115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too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much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15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not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3F3F3F"/>
                </a:solidFill>
                <a:latin typeface="Trebuchet MS"/>
                <a:cs typeface="Trebuchet MS"/>
              </a:rPr>
              <a:t>too</a:t>
            </a:r>
            <a:r>
              <a:rPr dirty="0" sz="115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3F3F3F"/>
                </a:solidFill>
                <a:latin typeface="Trebuchet MS"/>
                <a:cs typeface="Trebuchet MS"/>
              </a:rPr>
              <a:t>little</a:t>
            </a:r>
            <a:endParaRPr sz="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0217" y="1409166"/>
            <a:ext cx="413448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89890" algn="l"/>
              </a:tabLst>
            </a:pPr>
            <a:r>
              <a:rPr dirty="0" sz="1700" spc="-25" b="1">
                <a:solidFill>
                  <a:srgbClr val="0070BF"/>
                </a:solidFill>
                <a:latin typeface="Arial"/>
                <a:cs typeface="Arial"/>
              </a:rPr>
              <a:t>A.</a:t>
            </a:r>
            <a:r>
              <a:rPr dirty="0" sz="1700" b="1">
                <a:solidFill>
                  <a:srgbClr val="0070BF"/>
                </a:solidFill>
                <a:latin typeface="Arial"/>
                <a:cs typeface="Arial"/>
              </a:rPr>
              <a:t>	</a:t>
            </a:r>
            <a:r>
              <a:rPr dirty="0" u="sng" sz="17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Surah</a:t>
            </a:r>
            <a:r>
              <a:rPr dirty="0" u="sng" sz="170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7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Furqan</a:t>
            </a:r>
            <a:r>
              <a:rPr dirty="0" u="sng" sz="170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7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Ayat</a:t>
            </a:r>
            <a:r>
              <a:rPr dirty="0" u="sng" sz="1700" spc="6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7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67</a:t>
            </a:r>
            <a:r>
              <a:rPr dirty="0" u="sng" sz="1700" spc="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7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(25:67</a:t>
            </a:r>
            <a:r>
              <a:rPr dirty="0" u="sng" sz="1700" spc="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7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Quran)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4978" y="1748340"/>
            <a:ext cx="7211059" cy="69151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r" marL="2084070" marR="17780">
              <a:lnSpc>
                <a:spcPct val="100000"/>
              </a:lnSpc>
              <a:spcBef>
                <a:spcPts val="95"/>
              </a:spcBef>
            </a:pPr>
            <a:r>
              <a:rPr dirty="0" u="none" baseline="-3875" sz="3225" spc="-157">
                <a:latin typeface="Arial"/>
                <a:cs typeface="Arial"/>
              </a:rPr>
              <a:t>امٗ</a:t>
            </a:r>
            <a:r>
              <a:rPr dirty="0" u="none" baseline="-3875" sz="3225" spc="-225">
                <a:latin typeface="Arial"/>
                <a:cs typeface="Arial"/>
              </a:rPr>
              <a:t> </a:t>
            </a:r>
            <a:r>
              <a:rPr dirty="0" u="none" baseline="-3875" sz="3225" spc="-607">
                <a:latin typeface="Arial"/>
                <a:cs typeface="Arial"/>
              </a:rPr>
              <a:t>اوقََ</a:t>
            </a:r>
            <a:r>
              <a:rPr dirty="0" u="none" baseline="-3875" sz="3225">
                <a:latin typeface="Arial"/>
                <a:cs typeface="Arial"/>
              </a:rPr>
              <a:t>  </a:t>
            </a:r>
            <a:r>
              <a:rPr dirty="0" u="none" baseline="-3875" sz="3225" spc="209">
                <a:latin typeface="Arial"/>
                <a:cs typeface="Arial"/>
              </a:rPr>
              <a:t> </a:t>
            </a:r>
            <a:r>
              <a:rPr dirty="0" u="none" baseline="2583" sz="3225" spc="-660">
                <a:latin typeface="Arial"/>
                <a:cs typeface="Arial"/>
              </a:rPr>
              <a:t>كلذََِ</a:t>
            </a:r>
            <a:r>
              <a:rPr dirty="0" u="none" baseline="2583" sz="3225">
                <a:latin typeface="Arial"/>
                <a:cs typeface="Arial"/>
              </a:rPr>
              <a:t>    </a:t>
            </a:r>
            <a:r>
              <a:rPr dirty="0" u="none" baseline="2583" sz="3225" spc="-427">
                <a:latin typeface="Arial"/>
                <a:cs typeface="Arial"/>
              </a:rPr>
              <a:t> </a:t>
            </a:r>
            <a:r>
              <a:rPr dirty="0" u="none" baseline="3875" sz="3225" spc="-937">
                <a:latin typeface="Arial"/>
                <a:cs typeface="Arial"/>
              </a:rPr>
              <a:t>نيبََۡ</a:t>
            </a:r>
            <a:r>
              <a:rPr dirty="0" u="none" baseline="3875" sz="3225">
                <a:latin typeface="Arial"/>
                <a:cs typeface="Arial"/>
              </a:rPr>
              <a:t>   </a:t>
            </a:r>
            <a:r>
              <a:rPr dirty="0" u="none" baseline="3875" sz="3225" spc="434">
                <a:latin typeface="Arial"/>
                <a:cs typeface="Arial"/>
              </a:rPr>
              <a:t> </a:t>
            </a:r>
            <a:r>
              <a:rPr dirty="0" u="none" baseline="3875" sz="3225" spc="-705">
                <a:latin typeface="Arial"/>
                <a:cs typeface="Arial"/>
              </a:rPr>
              <a:t>ناَ</a:t>
            </a:r>
            <a:r>
              <a:rPr dirty="0" u="none" baseline="3875" sz="3225">
                <a:latin typeface="Arial"/>
                <a:cs typeface="Arial"/>
              </a:rPr>
              <a:t> </a:t>
            </a:r>
            <a:r>
              <a:rPr dirty="0" u="none" baseline="3875" sz="3225" spc="359">
                <a:latin typeface="Arial"/>
                <a:cs typeface="Arial"/>
              </a:rPr>
              <a:t> </a:t>
            </a:r>
            <a:r>
              <a:rPr dirty="0" u="none" baseline="2583" sz="3225" spc="-847">
                <a:latin typeface="Arial"/>
                <a:cs typeface="Arial"/>
              </a:rPr>
              <a:t>كَ</a:t>
            </a:r>
            <a:r>
              <a:rPr dirty="0" u="none" baseline="2583" sz="3225" spc="195">
                <a:latin typeface="Arial"/>
                <a:cs typeface="Arial"/>
              </a:rPr>
              <a:t> </a:t>
            </a:r>
            <a:r>
              <a:rPr dirty="0" u="none" baseline="-3875" sz="3225" spc="-502">
                <a:latin typeface="Arial"/>
                <a:cs typeface="Arial"/>
              </a:rPr>
              <a:t>وَ</a:t>
            </a:r>
            <a:r>
              <a:rPr dirty="0" u="none" baseline="-3875" sz="3225">
                <a:latin typeface="Arial"/>
                <a:cs typeface="Arial"/>
              </a:rPr>
              <a:t> </a:t>
            </a:r>
            <a:r>
              <a:rPr dirty="0" u="none" baseline="-3875" sz="3225" spc="7">
                <a:latin typeface="Arial"/>
                <a:cs typeface="Arial"/>
              </a:rPr>
              <a:t> </a:t>
            </a:r>
            <a:r>
              <a:rPr dirty="0" u="none" baseline="-5167" sz="3225" spc="-735">
                <a:latin typeface="Arial"/>
                <a:cs typeface="Arial"/>
              </a:rPr>
              <a:t>اورتقيَُُۡ</a:t>
            </a:r>
            <a:r>
              <a:rPr dirty="0" u="none" baseline="-5167" sz="3225">
                <a:latin typeface="Arial"/>
                <a:cs typeface="Arial"/>
              </a:rPr>
              <a:t>    </a:t>
            </a:r>
            <a:r>
              <a:rPr dirty="0" u="none" baseline="-5167" sz="3225" spc="254">
                <a:latin typeface="Arial"/>
                <a:cs typeface="Arial"/>
              </a:rPr>
              <a:t> </a:t>
            </a:r>
            <a:r>
              <a:rPr dirty="0" u="none" baseline="2583" sz="3225" spc="-337">
                <a:latin typeface="Arial"/>
                <a:cs typeface="Arial"/>
              </a:rPr>
              <a:t>مۡ</a:t>
            </a:r>
            <a:r>
              <a:rPr dirty="0" u="none" baseline="2583" sz="3225" spc="-254">
                <a:latin typeface="Arial"/>
                <a:cs typeface="Arial"/>
              </a:rPr>
              <a:t> </a:t>
            </a:r>
            <a:r>
              <a:rPr dirty="0" u="none" baseline="-3875" sz="3225" spc="-427">
                <a:latin typeface="Arial"/>
                <a:cs typeface="Arial"/>
              </a:rPr>
              <a:t>َلوَ</a:t>
            </a:r>
            <a:r>
              <a:rPr dirty="0" u="none" baseline="-3875" sz="3225">
                <a:latin typeface="Arial"/>
                <a:cs typeface="Arial"/>
              </a:rPr>
              <a:t> </a:t>
            </a:r>
            <a:r>
              <a:rPr dirty="0" u="none" baseline="-3875" sz="3225" spc="75">
                <a:latin typeface="Arial"/>
                <a:cs typeface="Arial"/>
              </a:rPr>
              <a:t> </a:t>
            </a:r>
            <a:r>
              <a:rPr dirty="0" u="none" baseline="11627" sz="3225" spc="-630">
                <a:latin typeface="Arial"/>
                <a:cs typeface="Arial"/>
              </a:rPr>
              <a:t>اوفُ</a:t>
            </a:r>
            <a:r>
              <a:rPr dirty="0" u="none" baseline="11627" sz="3225" spc="165">
                <a:latin typeface="Arial"/>
                <a:cs typeface="Arial"/>
              </a:rPr>
              <a:t> </a:t>
            </a:r>
            <a:r>
              <a:rPr dirty="0" u="none" baseline="-6459" sz="3225" spc="-742">
                <a:latin typeface="Arial"/>
                <a:cs typeface="Arial"/>
              </a:rPr>
              <a:t>رسُِۡ</a:t>
            </a:r>
            <a:r>
              <a:rPr dirty="0" u="none" baseline="-6459" sz="3225">
                <a:latin typeface="Arial"/>
                <a:cs typeface="Arial"/>
              </a:rPr>
              <a:t>  </a:t>
            </a:r>
            <a:r>
              <a:rPr dirty="0" u="none" baseline="-6459" sz="3225" spc="15">
                <a:latin typeface="Arial"/>
                <a:cs typeface="Arial"/>
              </a:rPr>
              <a:t> </a:t>
            </a:r>
            <a:r>
              <a:rPr dirty="0" u="none" baseline="1291" sz="3225" spc="-1207">
                <a:latin typeface="Arial"/>
                <a:cs typeface="Arial"/>
              </a:rPr>
              <a:t>ي</a:t>
            </a:r>
            <a:r>
              <a:rPr dirty="0" u="none" baseline="1291" sz="3225" spc="-37">
                <a:latin typeface="Arial"/>
                <a:cs typeface="Arial"/>
              </a:rPr>
              <a:t> </a:t>
            </a:r>
            <a:r>
              <a:rPr dirty="0" u="none" baseline="2583" sz="3225" spc="-322">
                <a:latin typeface="Arial"/>
                <a:cs typeface="Arial"/>
              </a:rPr>
              <a:t>مۡ</a:t>
            </a:r>
            <a:r>
              <a:rPr dirty="0" u="none" baseline="2583" sz="3225" spc="-284">
                <a:latin typeface="Arial"/>
                <a:cs typeface="Arial"/>
              </a:rPr>
              <a:t> </a:t>
            </a:r>
            <a:r>
              <a:rPr dirty="0" u="none" baseline="1291" sz="3225" spc="-345">
                <a:latin typeface="Arial"/>
                <a:cs typeface="Arial"/>
              </a:rPr>
              <a:t>َل</a:t>
            </a:r>
            <a:r>
              <a:rPr dirty="0" u="none" baseline="1291" sz="3225" spc="-75">
                <a:latin typeface="Arial"/>
                <a:cs typeface="Arial"/>
              </a:rPr>
              <a:t> </a:t>
            </a:r>
            <a:r>
              <a:rPr dirty="0" u="none" baseline="7751" sz="3225" spc="-412">
                <a:latin typeface="Arial"/>
                <a:cs typeface="Arial"/>
              </a:rPr>
              <a:t>اوقَُ</a:t>
            </a:r>
            <a:r>
              <a:rPr dirty="0" u="none" baseline="7751" sz="3225" spc="195">
                <a:latin typeface="Arial"/>
                <a:cs typeface="Arial"/>
              </a:rPr>
              <a:t> </a:t>
            </a:r>
            <a:r>
              <a:rPr dirty="0" u="none" baseline="1291" sz="3225" spc="-1395">
                <a:latin typeface="Arial"/>
                <a:cs typeface="Arial"/>
              </a:rPr>
              <a:t>فنَأ</a:t>
            </a:r>
            <a:r>
              <a:rPr dirty="0" u="none" baseline="1291" sz="3225" spc="-52">
                <a:latin typeface="Arial"/>
                <a:cs typeface="Arial"/>
              </a:rPr>
              <a:t> </a:t>
            </a:r>
            <a:r>
              <a:rPr dirty="0" u="none" baseline="-6459" sz="3225" spc="-120">
                <a:latin typeface="Arial"/>
                <a:cs typeface="Arial"/>
              </a:rPr>
              <a:t>ٓاَذإِ</a:t>
            </a:r>
            <a:r>
              <a:rPr dirty="0" u="none" baseline="-6459" sz="3225">
                <a:latin typeface="Arial"/>
                <a:cs typeface="Arial"/>
              </a:rPr>
              <a:t> </a:t>
            </a:r>
            <a:r>
              <a:rPr dirty="0" u="none" baseline="-6459" sz="3225" spc="-217">
                <a:latin typeface="Arial"/>
                <a:cs typeface="Arial"/>
              </a:rPr>
              <a:t> </a:t>
            </a:r>
            <a:r>
              <a:rPr dirty="0" u="none" baseline="3875" sz="3225" spc="-869">
                <a:latin typeface="Arial"/>
                <a:cs typeface="Arial"/>
              </a:rPr>
              <a:t>نيذلﱠَِ</a:t>
            </a:r>
            <a:r>
              <a:rPr dirty="0" u="none" baseline="3875" sz="3225">
                <a:latin typeface="Arial"/>
                <a:cs typeface="Arial"/>
              </a:rPr>
              <a:t>    </a:t>
            </a:r>
            <a:r>
              <a:rPr dirty="0" u="none" baseline="3875" sz="3225" spc="-359">
                <a:latin typeface="Arial"/>
                <a:cs typeface="Arial"/>
              </a:rPr>
              <a:t> </a:t>
            </a:r>
            <a:r>
              <a:rPr dirty="0" u="none" baseline="-3875" sz="3225" spc="-337">
                <a:latin typeface="Arial"/>
                <a:cs typeface="Arial"/>
              </a:rPr>
              <a:t>ٱوَ</a:t>
            </a:r>
            <a:endParaRPr baseline="-3875" sz="3225">
              <a:latin typeface="Arial"/>
              <a:cs typeface="Arial"/>
            </a:endParaRPr>
          </a:p>
          <a:p>
            <a:pPr algn="r" marL="25400" marR="18415">
              <a:lnSpc>
                <a:spcPct val="100000"/>
              </a:lnSpc>
              <a:spcBef>
                <a:spcPts val="90"/>
              </a:spcBef>
            </a:pPr>
            <a:r>
              <a:rPr dirty="0" u="none" sz="2150" spc="-850">
                <a:solidFill>
                  <a:srgbClr val="000000"/>
                </a:solidFill>
                <a:latin typeface="Courier New"/>
                <a:cs typeface="Courier New"/>
              </a:rPr>
              <a:t>܌я</a:t>
            </a:r>
            <a:r>
              <a:rPr dirty="0" u="none" sz="2150" spc="-894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515">
                <a:solidFill>
                  <a:srgbClr val="000000"/>
                </a:solidFill>
                <a:latin typeface="Courier New"/>
                <a:cs typeface="Courier New"/>
              </a:rPr>
              <a:t>ӟ</a:t>
            </a:r>
            <a:r>
              <a:rPr dirty="0" u="none" sz="2150" spc="-515">
                <a:solidFill>
                  <a:srgbClr val="000000"/>
                </a:solidFill>
                <a:latin typeface="Courier New"/>
                <a:cs typeface="Courier New"/>
              </a:rPr>
              <a:t>ر</a:t>
            </a:r>
            <a:r>
              <a:rPr dirty="0" u="none" sz="2150" spc="-515">
                <a:solidFill>
                  <a:srgbClr val="000000"/>
                </a:solidFill>
                <a:latin typeface="Courier New"/>
                <a:cs typeface="Courier New"/>
              </a:rPr>
              <a:t>ϼ</a:t>
            </a:r>
            <a:r>
              <a:rPr dirty="0" u="none" sz="2150" spc="-90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495">
                <a:solidFill>
                  <a:srgbClr val="000000"/>
                </a:solidFill>
                <a:latin typeface="Courier New"/>
                <a:cs typeface="Courier New"/>
              </a:rPr>
              <a:t>چرخ</a:t>
            </a:r>
            <a:r>
              <a:rPr dirty="0" u="none" sz="2150" spc="-91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805">
                <a:solidFill>
                  <a:srgbClr val="000000"/>
                </a:solidFill>
                <a:latin typeface="Courier New"/>
                <a:cs typeface="Courier New"/>
              </a:rPr>
              <a:t>ر</a:t>
            </a:r>
            <a:r>
              <a:rPr dirty="0" u="none" sz="2150" spc="-805">
                <a:solidFill>
                  <a:srgbClr val="000000"/>
                </a:solidFill>
                <a:latin typeface="Courier New"/>
                <a:cs typeface="Courier New"/>
              </a:rPr>
              <a:t>,</a:t>
            </a:r>
            <a:r>
              <a:rPr dirty="0" u="none" sz="2150" spc="-894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940">
                <a:solidFill>
                  <a:srgbClr val="000000"/>
                </a:solidFill>
                <a:latin typeface="Courier New"/>
                <a:cs typeface="Courier New"/>
              </a:rPr>
              <a:t>ےق</a:t>
            </a:r>
            <a:r>
              <a:rPr dirty="0" u="none" sz="2150" spc="-940">
                <a:solidFill>
                  <a:srgbClr val="000000"/>
                </a:solidFill>
                <a:latin typeface="Courier New"/>
                <a:cs typeface="Courier New"/>
              </a:rPr>
              <a:t>ୟ</a:t>
            </a:r>
            <a:r>
              <a:rPr dirty="0" u="none" sz="2150" spc="-940">
                <a:solidFill>
                  <a:srgbClr val="000000"/>
                </a:solidFill>
                <a:latin typeface="Courier New"/>
                <a:cs typeface="Courier New"/>
              </a:rPr>
              <a:t>رط</a:t>
            </a:r>
            <a:r>
              <a:rPr dirty="0" u="none" sz="2150" spc="-89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baseline="1291" sz="3225" spc="-1080">
                <a:solidFill>
                  <a:srgbClr val="000000"/>
                </a:solidFill>
                <a:latin typeface="Courier New"/>
                <a:cs typeface="Courier New"/>
              </a:rPr>
              <a:t>لدتعم</a:t>
            </a:r>
            <a:r>
              <a:rPr dirty="0" u="none" baseline="1291" sz="3225" spc="-135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800">
                <a:solidFill>
                  <a:srgbClr val="000000"/>
                </a:solidFill>
                <a:latin typeface="Courier New"/>
                <a:cs typeface="Courier New"/>
              </a:rPr>
              <a:t>نا</a:t>
            </a:r>
            <a:r>
              <a:rPr dirty="0" u="none" sz="2150" spc="-800">
                <a:solidFill>
                  <a:srgbClr val="000000"/>
                </a:solidFill>
                <a:latin typeface="Courier New"/>
                <a:cs typeface="Courier New"/>
              </a:rPr>
              <a:t>̀</a:t>
            </a:r>
            <a:r>
              <a:rPr dirty="0" u="none" sz="2150" spc="-800">
                <a:solidFill>
                  <a:srgbClr val="000000"/>
                </a:solidFill>
                <a:latin typeface="Courier New"/>
                <a:cs typeface="Courier New"/>
              </a:rPr>
              <a:t>مرد</a:t>
            </a:r>
            <a:r>
              <a:rPr dirty="0" u="none" sz="2150" spc="-869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645">
                <a:solidFill>
                  <a:srgbClr val="000000"/>
                </a:solidFill>
                <a:latin typeface="Courier New"/>
                <a:cs typeface="Courier New"/>
              </a:rPr>
              <a:t>fi</a:t>
            </a:r>
            <a:r>
              <a:rPr dirty="0" u="none" sz="2150" spc="-90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755">
                <a:solidFill>
                  <a:srgbClr val="000000"/>
                </a:solidFill>
                <a:latin typeface="Courier New"/>
                <a:cs typeface="Courier New"/>
              </a:rPr>
              <a:t>ںونود</a:t>
            </a:r>
            <a:r>
              <a:rPr dirty="0" u="none" sz="2150" spc="-90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735">
                <a:solidFill>
                  <a:srgbClr val="000000"/>
                </a:solidFill>
                <a:latin typeface="Courier New"/>
                <a:cs typeface="Courier New"/>
              </a:rPr>
              <a:t>نا</a:t>
            </a:r>
            <a:r>
              <a:rPr dirty="0" u="none" sz="2150" spc="-87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844">
                <a:solidFill>
                  <a:srgbClr val="000000"/>
                </a:solidFill>
                <a:latin typeface="Courier New"/>
                <a:cs typeface="Courier New"/>
              </a:rPr>
              <a:t>ہکلب</a:t>
            </a:r>
            <a:r>
              <a:rPr dirty="0" u="none" sz="2150" spc="-91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baseline="1291" sz="3225" spc="-1162">
                <a:solidFill>
                  <a:srgbClr val="000000"/>
                </a:solidFill>
                <a:latin typeface="Courier New"/>
                <a:cs typeface="Courier New"/>
              </a:rPr>
              <a:t>،ﲆيﲞ</a:t>
            </a:r>
            <a:r>
              <a:rPr dirty="0" u="none" baseline="1291" sz="3225" spc="-1327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955">
                <a:solidFill>
                  <a:srgbClr val="000000"/>
                </a:solidFill>
                <a:latin typeface="Courier New"/>
                <a:cs typeface="Courier New"/>
              </a:rPr>
              <a:t>ہن</a:t>
            </a:r>
            <a:r>
              <a:rPr dirty="0" u="none" sz="2150" spc="-88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844">
                <a:solidFill>
                  <a:srgbClr val="000000"/>
                </a:solidFill>
                <a:latin typeface="Courier New"/>
                <a:cs typeface="Courier New"/>
              </a:rPr>
              <a:t>܌я</a:t>
            </a:r>
            <a:r>
              <a:rPr dirty="0" u="none" sz="2150" spc="-90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515">
                <a:solidFill>
                  <a:srgbClr val="000000"/>
                </a:solidFill>
                <a:latin typeface="Courier New"/>
                <a:cs typeface="Courier New"/>
              </a:rPr>
              <a:t>ӟ</a:t>
            </a:r>
            <a:r>
              <a:rPr dirty="0" u="none" sz="2150" spc="-515">
                <a:solidFill>
                  <a:srgbClr val="000000"/>
                </a:solidFill>
                <a:latin typeface="Courier New"/>
                <a:cs typeface="Courier New"/>
              </a:rPr>
              <a:t>ر</a:t>
            </a:r>
            <a:r>
              <a:rPr dirty="0" u="none" sz="2150" spc="-515">
                <a:solidFill>
                  <a:srgbClr val="000000"/>
                </a:solidFill>
                <a:latin typeface="Courier New"/>
                <a:cs typeface="Courier New"/>
              </a:rPr>
              <a:t>ϼ</a:t>
            </a:r>
            <a:r>
              <a:rPr dirty="0" u="none" sz="2150" spc="-90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725">
                <a:solidFill>
                  <a:srgbClr val="000000"/>
                </a:solidFill>
                <a:latin typeface="Courier New"/>
                <a:cs typeface="Courier New"/>
              </a:rPr>
              <a:t>فاﴎا</a:t>
            </a:r>
            <a:r>
              <a:rPr dirty="0" u="none" sz="2150" spc="-869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830">
                <a:solidFill>
                  <a:srgbClr val="000000"/>
                </a:solidFill>
                <a:latin typeface="Courier New"/>
                <a:cs typeface="Courier New"/>
              </a:rPr>
              <a:t>وت</a:t>
            </a:r>
            <a:r>
              <a:rPr dirty="0" u="none" sz="2150" spc="-87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955">
                <a:solidFill>
                  <a:srgbClr val="000000"/>
                </a:solidFill>
                <a:latin typeface="Courier New"/>
                <a:cs typeface="Courier New"/>
              </a:rPr>
              <a:t>ہن</a:t>
            </a:r>
            <a:r>
              <a:rPr dirty="0" u="none" sz="2150" spc="-88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860">
                <a:solidFill>
                  <a:srgbClr val="000000"/>
                </a:solidFill>
                <a:latin typeface="Courier New"/>
                <a:cs typeface="Courier New"/>
              </a:rPr>
              <a:t>ی</a:t>
            </a:r>
            <a:r>
              <a:rPr dirty="0" u="none" sz="2150" spc="-860">
                <a:solidFill>
                  <a:srgbClr val="000000"/>
                </a:solidFill>
                <a:latin typeface="Courier New"/>
                <a:cs typeface="Courier New"/>
              </a:rPr>
              <a:t>˛</a:t>
            </a:r>
            <a:r>
              <a:rPr dirty="0" u="none" baseline="1291" sz="3225" spc="-1289">
                <a:solidFill>
                  <a:srgbClr val="000000"/>
                </a:solidFill>
                <a:latin typeface="Courier New"/>
                <a:cs typeface="Courier New"/>
              </a:rPr>
              <a:t>ھب</a:t>
            </a:r>
            <a:r>
              <a:rPr dirty="0" u="none" baseline="1291" sz="3225" spc="-1327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560">
                <a:solidFill>
                  <a:srgbClr val="000000"/>
                </a:solidFill>
                <a:latin typeface="Courier New"/>
                <a:cs typeface="Courier New"/>
              </a:rPr>
              <a:t>تقو</a:t>
            </a:r>
            <a:r>
              <a:rPr dirty="0" u="none" sz="2150" spc="-90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515">
                <a:solidFill>
                  <a:srgbClr val="000000"/>
                </a:solidFill>
                <a:latin typeface="Courier New"/>
                <a:cs typeface="Courier New"/>
              </a:rPr>
              <a:t>ӟ</a:t>
            </a:r>
            <a:r>
              <a:rPr dirty="0" u="none" sz="2150" spc="-515">
                <a:solidFill>
                  <a:srgbClr val="000000"/>
                </a:solidFill>
                <a:latin typeface="Courier New"/>
                <a:cs typeface="Courier New"/>
              </a:rPr>
              <a:t>ر</a:t>
            </a:r>
            <a:r>
              <a:rPr dirty="0" u="none" sz="2150" spc="-515">
                <a:solidFill>
                  <a:srgbClr val="000000"/>
                </a:solidFill>
                <a:latin typeface="Courier New"/>
                <a:cs typeface="Courier New"/>
              </a:rPr>
              <a:t>ϼ</a:t>
            </a:r>
            <a:r>
              <a:rPr dirty="0" u="none" sz="2150" spc="-90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495">
                <a:solidFill>
                  <a:srgbClr val="000000"/>
                </a:solidFill>
                <a:latin typeface="Courier New"/>
                <a:cs typeface="Courier New"/>
              </a:rPr>
              <a:t>چرخ</a:t>
            </a:r>
            <a:r>
              <a:rPr dirty="0" u="none" sz="2150" spc="-894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550">
                <a:solidFill>
                  <a:srgbClr val="000000"/>
                </a:solidFill>
                <a:latin typeface="Courier New"/>
                <a:cs typeface="Courier New"/>
              </a:rPr>
              <a:t>وج</a:t>
            </a:r>
            <a:r>
              <a:rPr dirty="0" u="none" sz="2150" spc="-905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u="none" sz="2150" spc="-825">
                <a:solidFill>
                  <a:srgbClr val="000000"/>
                </a:solidFill>
                <a:latin typeface="Courier New"/>
                <a:cs typeface="Courier New"/>
              </a:rPr>
              <a:t>روا</a:t>
            </a:r>
            <a:endParaRPr sz="21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0123" y="2555270"/>
            <a:ext cx="7485380" cy="3335654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 marR="233045">
              <a:lnSpc>
                <a:spcPts val="1440"/>
              </a:lnSpc>
              <a:spcBef>
                <a:spcPts val="350"/>
              </a:spcBef>
            </a:pPr>
            <a:r>
              <a:rPr dirty="0" sz="1400" spc="-10" b="1">
                <a:latin typeface="Arial"/>
                <a:cs typeface="Arial"/>
              </a:rPr>
              <a:t>Translation: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"And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those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who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when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they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spend,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do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not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exceed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limit,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nor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are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they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miserly,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 spc="-25">
                <a:latin typeface="Microsoft Sans Serif"/>
                <a:cs typeface="Microsoft Sans Serif"/>
              </a:rPr>
              <a:t>and </a:t>
            </a:r>
            <a:r>
              <a:rPr dirty="0" sz="1300">
                <a:latin typeface="Microsoft Sans Serif"/>
                <a:cs typeface="Microsoft Sans Serif"/>
              </a:rPr>
              <a:t>remain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on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middle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path."</a:t>
            </a: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u="sng" sz="19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Explanation: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Moderation</a:t>
            </a:r>
            <a:r>
              <a:rPr dirty="0" u="sng" sz="145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in</a:t>
            </a:r>
            <a:r>
              <a:rPr dirty="0" u="sng" sz="1450" spc="7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Spending:</a:t>
            </a:r>
            <a:endParaRPr sz="1450">
              <a:latin typeface="Arial"/>
              <a:cs typeface="Arial"/>
            </a:endParaRPr>
          </a:p>
          <a:p>
            <a:pPr marL="295910" indent="-283210">
              <a:lnSpc>
                <a:spcPts val="1490"/>
              </a:lnSpc>
              <a:spcBef>
                <a:spcPts val="1305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300">
                <a:latin typeface="Microsoft Sans Serif"/>
                <a:cs typeface="Microsoft Sans Serif"/>
              </a:rPr>
              <a:t>Believers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are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encouraged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use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their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money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wisely.</a:t>
            </a:r>
            <a:endParaRPr sz="1300">
              <a:latin typeface="Microsoft Sans Serif"/>
              <a:cs typeface="Microsoft Sans Serif"/>
            </a:endParaRPr>
          </a:p>
          <a:p>
            <a:pPr marL="295910" marR="27305" indent="-283845">
              <a:lnSpc>
                <a:spcPts val="1430"/>
              </a:lnSpc>
              <a:spcBef>
                <a:spcPts val="80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300">
                <a:latin typeface="Microsoft Sans Serif"/>
                <a:cs typeface="Microsoft Sans Serif"/>
              </a:rPr>
              <a:t>They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avoid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spending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too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much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on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unnecessary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things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also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avoid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being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overly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tight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with</a:t>
            </a:r>
            <a:r>
              <a:rPr dirty="0" sz="1300" spc="7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their money.</a:t>
            </a:r>
            <a:endParaRPr sz="1300">
              <a:latin typeface="Microsoft Sans Serif"/>
              <a:cs typeface="Microsoft Sans Serif"/>
            </a:endParaRPr>
          </a:p>
          <a:p>
            <a:pPr marL="295910" indent="-283210">
              <a:lnSpc>
                <a:spcPts val="1335"/>
              </a:lnSpc>
              <a:buFont typeface="Wingdings"/>
              <a:buChar char=""/>
              <a:tabLst>
                <a:tab pos="295910" algn="l"/>
              </a:tabLst>
            </a:pPr>
            <a:r>
              <a:rPr dirty="0" sz="1300">
                <a:latin typeface="Microsoft Sans Serif"/>
                <a:cs typeface="Microsoft Sans Serif"/>
              </a:rPr>
              <a:t>This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balanced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way</a:t>
            </a:r>
            <a:r>
              <a:rPr dirty="0" sz="1300" spc="7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of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spending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helps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them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make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sure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that</a:t>
            </a:r>
            <a:r>
              <a:rPr dirty="0" sz="1300" spc="6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they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can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support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themselves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 spc="-20">
                <a:latin typeface="Microsoft Sans Serif"/>
                <a:cs typeface="Microsoft Sans Serif"/>
              </a:rPr>
              <a:t>also</a:t>
            </a:r>
            <a:endParaRPr sz="1300">
              <a:latin typeface="Microsoft Sans Serif"/>
              <a:cs typeface="Microsoft Sans Serif"/>
            </a:endParaRPr>
          </a:p>
          <a:p>
            <a:pPr marL="295910">
              <a:lnSpc>
                <a:spcPts val="1495"/>
              </a:lnSpc>
            </a:pPr>
            <a:r>
              <a:rPr dirty="0" sz="1300">
                <a:latin typeface="Microsoft Sans Serif"/>
                <a:cs typeface="Microsoft Sans Serif"/>
              </a:rPr>
              <a:t>help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others.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Balanced</a:t>
            </a:r>
            <a:r>
              <a:rPr dirty="0" u="sng" sz="14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Approach</a:t>
            </a:r>
            <a:r>
              <a:rPr dirty="0" u="sng" sz="1450" spc="1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1450" spc="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Life:</a:t>
            </a:r>
            <a:endParaRPr sz="1450">
              <a:latin typeface="Arial"/>
              <a:cs typeface="Arial"/>
            </a:endParaRPr>
          </a:p>
          <a:p>
            <a:pPr marL="295910" indent="-283210">
              <a:lnSpc>
                <a:spcPts val="1495"/>
              </a:lnSpc>
              <a:spcBef>
                <a:spcPts val="1300"/>
              </a:spcBef>
              <a:buFont typeface="Wingdings"/>
              <a:buChar char=""/>
              <a:tabLst>
                <a:tab pos="295910" algn="l"/>
              </a:tabLst>
            </a:pPr>
            <a:r>
              <a:rPr dirty="0" sz="1300">
                <a:latin typeface="Microsoft Sans Serif"/>
                <a:cs typeface="Microsoft Sans Serif"/>
              </a:rPr>
              <a:t>They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follow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middle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path,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avoiding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extremes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every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aspect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of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life.</a:t>
            </a:r>
            <a:endParaRPr sz="1300">
              <a:latin typeface="Microsoft Sans Serif"/>
              <a:cs typeface="Microsoft Sans Serif"/>
            </a:endParaRPr>
          </a:p>
          <a:p>
            <a:pPr marL="295910" indent="-283210">
              <a:lnSpc>
                <a:spcPts val="1420"/>
              </a:lnSpc>
              <a:buFont typeface="Wingdings"/>
              <a:buChar char=""/>
              <a:tabLst>
                <a:tab pos="295910" algn="l"/>
              </a:tabLst>
            </a:pPr>
            <a:r>
              <a:rPr dirty="0" sz="1300">
                <a:latin typeface="Microsoft Sans Serif"/>
                <a:cs typeface="Microsoft Sans Serif"/>
              </a:rPr>
              <a:t>This balance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means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they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are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fair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when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giving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charity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how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they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manage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their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daily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tasks.</a:t>
            </a:r>
            <a:endParaRPr sz="1300">
              <a:latin typeface="Microsoft Sans Serif"/>
              <a:cs typeface="Microsoft Sans Serif"/>
            </a:endParaRPr>
          </a:p>
          <a:p>
            <a:pPr marL="295910" indent="-283210">
              <a:lnSpc>
                <a:spcPts val="1490"/>
              </a:lnSpc>
              <a:buFont typeface="Wingdings"/>
              <a:buChar char=""/>
              <a:tabLst>
                <a:tab pos="295910" algn="l"/>
              </a:tabLst>
            </a:pPr>
            <a:r>
              <a:rPr dirty="0" sz="1300">
                <a:latin typeface="Microsoft Sans Serif"/>
                <a:cs typeface="Microsoft Sans Serif"/>
              </a:rPr>
              <a:t>By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keeping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balanced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life,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they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remain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humble,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kind,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just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their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actions.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614" rIns="0" bIns="0" rtlCol="0" vert="horz">
            <a:spAutoFit/>
          </a:bodyPr>
          <a:lstStyle/>
          <a:p>
            <a:pPr marL="1905">
              <a:lnSpc>
                <a:spcPct val="100000"/>
              </a:lnSpc>
              <a:spcBef>
                <a:spcPts val="90"/>
              </a:spcBef>
            </a:pPr>
            <a:r>
              <a:rPr dirty="0" sz="2650"/>
              <a:t>Living</a:t>
            </a:r>
            <a:r>
              <a:rPr dirty="0" sz="2650" spc="-85"/>
              <a:t> </a:t>
            </a:r>
            <a:r>
              <a:rPr dirty="0" sz="2650"/>
              <a:t>a</a:t>
            </a:r>
            <a:r>
              <a:rPr dirty="0" sz="2650" spc="-80"/>
              <a:t> </a:t>
            </a:r>
            <a:r>
              <a:rPr dirty="0" sz="2650"/>
              <a:t>Balanced</a:t>
            </a:r>
            <a:r>
              <a:rPr dirty="0" sz="2650" spc="-55"/>
              <a:t> </a:t>
            </a:r>
            <a:r>
              <a:rPr dirty="0" sz="2650"/>
              <a:t>Life:</a:t>
            </a:r>
            <a:r>
              <a:rPr dirty="0" sz="2650" spc="-70"/>
              <a:t> </a:t>
            </a:r>
            <a:r>
              <a:rPr dirty="0" sz="2650"/>
              <a:t>Lessons</a:t>
            </a:r>
            <a:r>
              <a:rPr dirty="0" sz="2650" spc="-75"/>
              <a:t> </a:t>
            </a:r>
            <a:r>
              <a:rPr dirty="0" sz="2650"/>
              <a:t>from</a:t>
            </a:r>
            <a:r>
              <a:rPr dirty="0" sz="2650" spc="-75"/>
              <a:t> </a:t>
            </a:r>
            <a:r>
              <a:rPr dirty="0" sz="2650" spc="-20"/>
              <a:t>Verse</a:t>
            </a:r>
            <a:r>
              <a:rPr dirty="0" sz="2650" spc="-85"/>
              <a:t> </a:t>
            </a:r>
            <a:r>
              <a:rPr dirty="0" sz="2650" spc="-25"/>
              <a:t>67</a:t>
            </a:r>
            <a:endParaRPr sz="2650"/>
          </a:p>
        </p:txBody>
      </p:sp>
      <p:sp>
        <p:nvSpPr>
          <p:cNvPr id="3" name="object 3" descr=""/>
          <p:cNvSpPr txBox="1"/>
          <p:nvPr/>
        </p:nvSpPr>
        <p:spPr>
          <a:xfrm>
            <a:off x="203681" y="1925876"/>
            <a:ext cx="7924165" cy="3523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Responsibility</a:t>
            </a:r>
            <a:r>
              <a:rPr dirty="0" u="sng" sz="1450" spc="9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and</a:t>
            </a:r>
            <a:r>
              <a:rPr dirty="0" u="sng" sz="1450" spc="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Accountability: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>
                <a:latin typeface="Microsoft Sans Serif"/>
                <a:cs typeface="Microsoft Sans Serif"/>
              </a:rPr>
              <a:t>Every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person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is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responsible</a:t>
            </a:r>
            <a:r>
              <a:rPr dirty="0" sz="1150" spc="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for</a:t>
            </a:r>
            <a:r>
              <a:rPr dirty="0" sz="1150" spc="-4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their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own</a:t>
            </a:r>
            <a:r>
              <a:rPr dirty="0" sz="1150" spc="5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actions.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Microsoft Sans Serif"/>
                <a:cs typeface="Microsoft Sans Serif"/>
              </a:rPr>
              <a:t>We</a:t>
            </a:r>
            <a:r>
              <a:rPr dirty="0" sz="1150" spc="-5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will</a:t>
            </a:r>
            <a:r>
              <a:rPr dirty="0" sz="1150" spc="3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all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be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held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accountable</a:t>
            </a:r>
            <a:r>
              <a:rPr dirty="0" sz="1150" spc="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by</a:t>
            </a:r>
            <a:r>
              <a:rPr dirty="0" sz="1150" spc="-6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Allah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for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the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way</a:t>
            </a:r>
            <a:r>
              <a:rPr dirty="0" sz="1150" spc="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we</a:t>
            </a:r>
            <a:r>
              <a:rPr dirty="0" sz="1150" spc="2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live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our </a:t>
            </a:r>
            <a:r>
              <a:rPr dirty="0" sz="1150" spc="-10">
                <a:latin typeface="Microsoft Sans Serif"/>
                <a:cs typeface="Microsoft Sans Serif"/>
              </a:rPr>
              <a:t>lives.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150">
                <a:latin typeface="Microsoft Sans Serif"/>
                <a:cs typeface="Microsoft Sans Serif"/>
              </a:rPr>
              <a:t>Example: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If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we</a:t>
            </a:r>
            <a:r>
              <a:rPr dirty="0" sz="1150" spc="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do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something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wrong,</a:t>
            </a:r>
            <a:r>
              <a:rPr dirty="0" sz="1150" spc="4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we</a:t>
            </a:r>
            <a:r>
              <a:rPr dirty="0" sz="1150" spc="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should</a:t>
            </a:r>
            <a:r>
              <a:rPr dirty="0" sz="1150" spc="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try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to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fix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it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and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ask for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forgiveness.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Moderation</a:t>
            </a:r>
            <a:r>
              <a:rPr dirty="0" u="sng" sz="1450" spc="6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in</a:t>
            </a:r>
            <a:r>
              <a:rPr dirty="0" u="sng" sz="1450" spc="8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Spending:</a:t>
            </a:r>
            <a:endParaRPr sz="1450">
              <a:latin typeface="Arial"/>
              <a:cs typeface="Arial"/>
            </a:endParaRPr>
          </a:p>
          <a:p>
            <a:pPr marL="12700" marR="2270760">
              <a:lnSpc>
                <a:spcPct val="100000"/>
              </a:lnSpc>
              <a:spcBef>
                <a:spcPts val="25"/>
              </a:spcBef>
            </a:pPr>
            <a:r>
              <a:rPr dirty="0" sz="1150">
                <a:latin typeface="Microsoft Sans Serif"/>
                <a:cs typeface="Microsoft Sans Serif"/>
              </a:rPr>
              <a:t>Believers</a:t>
            </a:r>
            <a:r>
              <a:rPr dirty="0" sz="1150" spc="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use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their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money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wisely,</a:t>
            </a:r>
            <a:r>
              <a:rPr dirty="0" sz="1150" spc="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avoiding both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wastefulness</a:t>
            </a:r>
            <a:r>
              <a:rPr dirty="0" sz="1150" spc="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and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being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too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tight-fisted. </a:t>
            </a:r>
            <a:r>
              <a:rPr dirty="0" sz="1150">
                <a:latin typeface="Microsoft Sans Serif"/>
                <a:cs typeface="Microsoft Sans Serif"/>
              </a:rPr>
              <a:t>They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spend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enough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to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take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care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of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their needs and help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others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without</a:t>
            </a:r>
            <a:r>
              <a:rPr dirty="0" sz="1150" spc="20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overspending.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Microsoft Sans Serif"/>
                <a:cs typeface="Microsoft Sans Serif"/>
              </a:rPr>
              <a:t>Example: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Instead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of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buying</a:t>
            </a:r>
            <a:r>
              <a:rPr dirty="0" sz="1150" spc="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unnecessary</a:t>
            </a:r>
            <a:r>
              <a:rPr dirty="0" sz="1150" spc="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items,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use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money</a:t>
            </a:r>
            <a:r>
              <a:rPr dirty="0" sz="1150" spc="-3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to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support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your family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or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donate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to</a:t>
            </a:r>
            <a:r>
              <a:rPr dirty="0" sz="1150" spc="-10">
                <a:latin typeface="Microsoft Sans Serif"/>
                <a:cs typeface="Microsoft Sans Serif"/>
              </a:rPr>
              <a:t> charity.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Balance</a:t>
            </a:r>
            <a:r>
              <a:rPr dirty="0" u="sng" sz="145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in</a:t>
            </a:r>
            <a:r>
              <a:rPr dirty="0" u="sng" sz="1450" spc="6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5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Life:</a:t>
            </a:r>
            <a:endParaRPr sz="1450">
              <a:latin typeface="Arial"/>
              <a:cs typeface="Arial"/>
            </a:endParaRPr>
          </a:p>
          <a:p>
            <a:pPr marL="12700" marR="3423920">
              <a:lnSpc>
                <a:spcPct val="100000"/>
              </a:lnSpc>
              <a:spcBef>
                <a:spcPts val="25"/>
              </a:spcBef>
            </a:pPr>
            <a:r>
              <a:rPr dirty="0" sz="1150">
                <a:latin typeface="Microsoft Sans Serif"/>
                <a:cs typeface="Microsoft Sans Serif"/>
              </a:rPr>
              <a:t>A</a:t>
            </a:r>
            <a:r>
              <a:rPr dirty="0" sz="1150" spc="-6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balanced</a:t>
            </a:r>
            <a:r>
              <a:rPr dirty="0" sz="1150" spc="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life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means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being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fair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in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both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giving</a:t>
            </a:r>
            <a:r>
              <a:rPr dirty="0" sz="1150" spc="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and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receiving. </a:t>
            </a:r>
            <a:r>
              <a:rPr dirty="0" sz="1150">
                <a:latin typeface="Microsoft Sans Serif"/>
                <a:cs typeface="Microsoft Sans Serif"/>
              </a:rPr>
              <a:t>Believers</a:t>
            </a:r>
            <a:r>
              <a:rPr dirty="0" sz="1150" spc="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follow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middle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path,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avoiding</a:t>
            </a:r>
            <a:r>
              <a:rPr dirty="0" sz="1150" spc="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extremes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in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every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part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of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life.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Microsoft Sans Serif"/>
                <a:cs typeface="Microsoft Sans Serif"/>
              </a:rPr>
              <a:t>Example: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They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work</a:t>
            </a:r>
            <a:r>
              <a:rPr dirty="0" sz="1150" spc="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hard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but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also</a:t>
            </a:r>
            <a:r>
              <a:rPr dirty="0" sz="1150" spc="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take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time</a:t>
            </a:r>
            <a:r>
              <a:rPr dirty="0" sz="1150" spc="-3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for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rest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and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prayer,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keeping</a:t>
            </a:r>
            <a:r>
              <a:rPr dirty="0" sz="1150" spc="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their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life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in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harmony.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12700" marR="1266825">
              <a:lnSpc>
                <a:spcPct val="100000"/>
              </a:lnSpc>
              <a:spcBef>
                <a:spcPts val="5"/>
              </a:spcBef>
            </a:pPr>
            <a:r>
              <a:rPr dirty="0" sz="1150">
                <a:latin typeface="Microsoft Sans Serif"/>
                <a:cs typeface="Microsoft Sans Serif"/>
              </a:rPr>
              <a:t>Verse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63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reminds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us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to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be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humble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and peaceful,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while</a:t>
            </a:r>
            <a:r>
              <a:rPr dirty="0" sz="1150" spc="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Verse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67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teaches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us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the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importance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of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balance. </a:t>
            </a:r>
            <a:r>
              <a:rPr dirty="0" sz="1150" spc="-25">
                <a:latin typeface="Microsoft Sans Serif"/>
                <a:cs typeface="Microsoft Sans Serif"/>
              </a:rPr>
              <a:t>Together,</a:t>
            </a:r>
            <a:r>
              <a:rPr dirty="0" sz="1150">
                <a:latin typeface="Microsoft Sans Serif"/>
                <a:cs typeface="Microsoft Sans Serif"/>
              </a:rPr>
              <a:t> these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verses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guide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us</a:t>
            </a:r>
            <a:r>
              <a:rPr dirty="0" sz="1150" spc="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to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be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kind, respectful,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and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fair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in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our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daily</a:t>
            </a:r>
            <a:r>
              <a:rPr dirty="0" sz="1150" spc="15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actions.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12700" marR="5080">
              <a:lnSpc>
                <a:spcPct val="100899"/>
              </a:lnSpc>
            </a:pPr>
            <a:r>
              <a:rPr dirty="0" sz="1150">
                <a:latin typeface="Microsoft Sans Serif"/>
                <a:cs typeface="Microsoft Sans Serif"/>
              </a:rPr>
              <a:t>When</a:t>
            </a:r>
            <a:r>
              <a:rPr dirty="0" sz="1150" spc="-5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we</a:t>
            </a:r>
            <a:r>
              <a:rPr dirty="0" sz="1150" spc="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follow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these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teachings, we</a:t>
            </a:r>
            <a:r>
              <a:rPr dirty="0" sz="1150" spc="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build a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community</a:t>
            </a:r>
            <a:r>
              <a:rPr dirty="0" sz="1150" spc="-4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full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of compassion,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fairness,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and</a:t>
            </a:r>
            <a:r>
              <a:rPr dirty="0" sz="1150" spc="-10">
                <a:latin typeface="Microsoft Sans Serif"/>
                <a:cs typeface="Microsoft Sans Serif"/>
              </a:rPr>
              <a:t> trust.</a:t>
            </a:r>
            <a:r>
              <a:rPr dirty="0" sz="1150" spc="-6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</a:t>
            </a:r>
            <a:r>
              <a:rPr dirty="0" sz="1150" spc="-6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balanced</a:t>
            </a:r>
            <a:r>
              <a:rPr dirty="0" sz="1150" spc="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and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responsible </a:t>
            </a:r>
            <a:r>
              <a:rPr dirty="0" sz="1150">
                <a:latin typeface="Microsoft Sans Serif"/>
                <a:cs typeface="Microsoft Sans Serif"/>
              </a:rPr>
              <a:t>community</a:t>
            </a:r>
            <a:r>
              <a:rPr dirty="0" sz="1150" spc="-5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helps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everyone</a:t>
            </a:r>
            <a:r>
              <a:rPr dirty="0" sz="1150" spc="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live</a:t>
            </a:r>
            <a:r>
              <a:rPr dirty="0" sz="1150" spc="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better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and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be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closer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to</a:t>
            </a:r>
            <a:r>
              <a:rPr dirty="0" sz="1150" spc="-75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Allah.</a:t>
            </a:r>
            <a:endParaRPr sz="1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812" rIns="0" bIns="0" rtlCol="0" vert="horz">
            <a:spAutoFit/>
          </a:bodyPr>
          <a:lstStyle/>
          <a:p>
            <a:pPr marL="239395">
              <a:lnSpc>
                <a:spcPct val="100000"/>
              </a:lnSpc>
              <a:spcBef>
                <a:spcPts val="130"/>
              </a:spcBef>
            </a:pPr>
            <a:r>
              <a:rPr dirty="0"/>
              <a:t>Introduction</a:t>
            </a:r>
            <a:r>
              <a:rPr dirty="0" spc="50"/>
              <a:t> </a:t>
            </a:r>
            <a:r>
              <a:rPr dirty="0"/>
              <a:t>to</a:t>
            </a:r>
            <a:r>
              <a:rPr dirty="0" spc="40"/>
              <a:t> </a:t>
            </a:r>
            <a:r>
              <a:rPr dirty="0"/>
              <a:t>Hadith</a:t>
            </a:r>
            <a:r>
              <a:rPr dirty="0" spc="30"/>
              <a:t> </a:t>
            </a:r>
            <a:r>
              <a:rPr dirty="0"/>
              <a:t>No.</a:t>
            </a:r>
            <a:r>
              <a:rPr dirty="0" spc="40"/>
              <a:t> </a:t>
            </a:r>
            <a:r>
              <a:rPr dirty="0"/>
              <a:t>1</a:t>
            </a:r>
            <a:r>
              <a:rPr dirty="0" spc="60"/>
              <a:t> </a:t>
            </a:r>
            <a:r>
              <a:rPr dirty="0"/>
              <a:t>–</a:t>
            </a:r>
            <a:r>
              <a:rPr dirty="0" spc="35"/>
              <a:t> </a:t>
            </a:r>
            <a:r>
              <a:rPr dirty="0"/>
              <a:t>“Look</a:t>
            </a:r>
            <a:r>
              <a:rPr dirty="0" spc="60"/>
              <a:t> </a:t>
            </a:r>
            <a:r>
              <a:rPr dirty="0"/>
              <a:t>at Those</a:t>
            </a:r>
            <a:r>
              <a:rPr dirty="0" spc="20"/>
              <a:t> </a:t>
            </a:r>
            <a:r>
              <a:rPr dirty="0"/>
              <a:t>Below</a:t>
            </a:r>
            <a:r>
              <a:rPr dirty="0" spc="5"/>
              <a:t> </a:t>
            </a:r>
            <a:r>
              <a:rPr dirty="0" spc="-20"/>
              <a:t>You”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2788" y="2076743"/>
            <a:ext cx="7013575" cy="18040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lesson,</a:t>
            </a:r>
            <a:r>
              <a:rPr dirty="0" sz="14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we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will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learn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about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very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meaningful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Hadith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of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Prophet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Muhammad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(peace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upon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him)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called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“Look</a:t>
            </a:r>
            <a:r>
              <a:rPr dirty="0" sz="14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at</a:t>
            </a:r>
            <a:r>
              <a:rPr dirty="0" sz="145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those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have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less</a:t>
            </a:r>
            <a:r>
              <a:rPr dirty="0" sz="14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than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you.”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This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Hadith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teaches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us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important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way</a:t>
            </a:r>
            <a:r>
              <a:rPr dirty="0" sz="1450" spc="7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to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think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in</a:t>
            </a:r>
            <a:r>
              <a:rPr dirty="0" sz="1450" spc="8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life: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865"/>
              </a:spcBef>
              <a:buFont typeface="Wingdings"/>
              <a:buChar char=""/>
              <a:tabLst>
                <a:tab pos="248285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Be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thankful</a:t>
            </a:r>
            <a:r>
              <a:rPr dirty="0" sz="1450" spc="3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what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you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have.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865"/>
              </a:spcBef>
              <a:buFont typeface="Wingdings"/>
              <a:buChar char=""/>
              <a:tabLst>
                <a:tab pos="248285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Don’t</a:t>
            </a:r>
            <a:r>
              <a:rPr dirty="0" sz="1450" spc="7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compare</a:t>
            </a:r>
            <a:r>
              <a:rPr dirty="0" sz="1450" spc="10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yourself</a:t>
            </a:r>
            <a:r>
              <a:rPr dirty="0" sz="14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with</a:t>
            </a:r>
            <a:r>
              <a:rPr dirty="0" sz="1450" spc="9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people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have</a:t>
            </a:r>
            <a:r>
              <a:rPr dirty="0" sz="145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3F3F3F"/>
                </a:solidFill>
                <a:latin typeface="Trebuchet MS"/>
                <a:cs typeface="Trebuchet MS"/>
              </a:rPr>
              <a:t>more.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875"/>
              </a:spcBef>
              <a:buFont typeface="Wingdings"/>
              <a:buChar char=""/>
              <a:tabLst>
                <a:tab pos="248285" algn="l"/>
              </a:tabLst>
            </a:pP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Avoid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3F3F3F"/>
                </a:solidFill>
                <a:latin typeface="Trebuchet MS"/>
                <a:cs typeface="Trebuchet MS"/>
              </a:rPr>
              <a:t>jealousy</a:t>
            </a:r>
            <a:r>
              <a:rPr dirty="0" sz="1450" spc="60" b="1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450" spc="9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stay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happy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by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remembering</a:t>
            </a:r>
            <a:r>
              <a:rPr dirty="0" sz="1450" spc="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others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who</a:t>
            </a:r>
            <a:r>
              <a:rPr dirty="0" sz="1450" spc="5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have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less</a:t>
            </a:r>
            <a:r>
              <a:rPr dirty="0" sz="1450" spc="6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3F3F3F"/>
                </a:solidFill>
                <a:latin typeface="Trebuchet MS"/>
                <a:cs typeface="Trebuchet MS"/>
              </a:rPr>
              <a:t>than</a:t>
            </a:r>
            <a:r>
              <a:rPr dirty="0" sz="1450" spc="7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3F3F3F"/>
                </a:solidFill>
                <a:latin typeface="Trebuchet MS"/>
                <a:cs typeface="Trebuchet MS"/>
              </a:rPr>
              <a:t>you.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991" y="1369608"/>
            <a:ext cx="3692525" cy="3016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89890" algn="l"/>
              </a:tabLst>
            </a:pPr>
            <a:r>
              <a:rPr dirty="0" u="none" sz="1800" spc="-25">
                <a:latin typeface="Arial"/>
                <a:cs typeface="Arial"/>
              </a:rPr>
              <a:t>A.</a:t>
            </a:r>
            <a:r>
              <a:rPr dirty="0" u="none" sz="1800">
                <a:latin typeface="Arial"/>
                <a:cs typeface="Arial"/>
              </a:rPr>
              <a:t>	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Hadith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No-</a:t>
            </a:r>
            <a:r>
              <a:rPr dirty="0" sz="1800">
                <a:latin typeface="Arial"/>
                <a:cs typeface="Arial"/>
              </a:rPr>
              <a:t>1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(Look</a:t>
            </a:r>
            <a:r>
              <a:rPr dirty="0" sz="1800" spc="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Lower)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8991" y="2664954"/>
            <a:ext cx="7693025" cy="1737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L="264160" marR="5080" indent="47625">
              <a:lnSpc>
                <a:spcPct val="101299"/>
              </a:lnSpc>
              <a:spcBef>
                <a:spcPts val="95"/>
              </a:spcBef>
            </a:pPr>
            <a:r>
              <a:rPr dirty="0" sz="1550" spc="-195" b="1">
                <a:solidFill>
                  <a:srgbClr val="0070BF"/>
                </a:solidFill>
                <a:latin typeface="Arial"/>
                <a:cs typeface="Arial"/>
              </a:rPr>
              <a:t>یهب</a:t>
            </a:r>
            <a:r>
              <a:rPr dirty="0" sz="155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315" b="1">
                <a:solidFill>
                  <a:srgbClr val="0070BF"/>
                </a:solidFill>
                <a:latin typeface="Arial"/>
                <a:cs typeface="Arial"/>
              </a:rPr>
              <a:t>وک</a:t>
            </a:r>
            <a:r>
              <a:rPr dirty="0" sz="155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سا</a:t>
            </a:r>
            <a:r>
              <a:rPr dirty="0" sz="1550" spc="-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300" b="1">
                <a:solidFill>
                  <a:srgbClr val="0070BF"/>
                </a:solidFill>
                <a:latin typeface="Arial"/>
                <a:cs typeface="Arial"/>
              </a:rPr>
              <a:t>وت</a:t>
            </a:r>
            <a:r>
              <a:rPr dirty="0" sz="155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80" b="1">
                <a:solidFill>
                  <a:srgbClr val="0070BF"/>
                </a:solidFill>
                <a:latin typeface="Arial"/>
                <a:cs typeface="Arial"/>
              </a:rPr>
              <a:t>ےہ</a:t>
            </a:r>
            <a:r>
              <a:rPr dirty="0" sz="155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35" b="1">
                <a:solidFill>
                  <a:srgbClr val="0070BF"/>
                </a:solidFill>
                <a:latin typeface="Arial"/>
                <a:cs typeface="Arial"/>
              </a:rPr>
              <a:t>لصاح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415" b="1">
                <a:solidFill>
                  <a:srgbClr val="0070BF"/>
                </a:solidFill>
                <a:latin typeface="Arial"/>
                <a:cs typeface="Arial"/>
              </a:rPr>
              <a:t>تليضف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70" b="1">
                <a:solidFill>
                  <a:srgbClr val="0070BF"/>
                </a:solidFill>
                <a:latin typeface="Arial"/>
                <a:cs typeface="Arial"/>
              </a:rPr>
              <a:t>ںيم</a:t>
            </a:r>
            <a:r>
              <a:rPr dirty="0" sz="155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لامج</a:t>
            </a:r>
            <a:r>
              <a:rPr dirty="0" sz="155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روا</a:t>
            </a:r>
            <a:r>
              <a:rPr dirty="0" sz="155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لام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95" b="1">
                <a:solidFill>
                  <a:srgbClr val="0070BF"/>
                </a:solidFill>
                <a:latin typeface="Arial"/>
                <a:cs typeface="Arial"/>
              </a:rPr>
              <a:t>ےسج</a:t>
            </a: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55" b="1">
                <a:solidFill>
                  <a:srgbClr val="0070BF"/>
                </a:solidFill>
                <a:latin typeface="Arial"/>
                <a:cs typeface="Arial"/>
              </a:rPr>
              <a:t>ےهکيد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فرط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375" b="1">
                <a:solidFill>
                  <a:srgbClr val="0070BF"/>
                </a:solidFill>
                <a:latin typeface="Arial"/>
                <a:cs typeface="Arial"/>
              </a:rPr>
              <a:t>یک</a:t>
            </a:r>
            <a:r>
              <a:rPr dirty="0" sz="155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سا</a:t>
            </a:r>
            <a:r>
              <a:rPr dirty="0" sz="1550" spc="-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95" b="1">
                <a:solidFill>
                  <a:srgbClr val="0070BF"/>
                </a:solidFill>
                <a:latin typeface="Arial"/>
                <a:cs typeface="Arial"/>
              </a:rPr>
              <a:t>صخش</a:t>
            </a:r>
            <a:r>
              <a:rPr dirty="0" sz="1550" spc="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340" b="1">
                <a:solidFill>
                  <a:srgbClr val="0070BF"/>
                </a:solidFill>
                <a:latin typeface="Arial"/>
                <a:cs typeface="Arial"/>
              </a:rPr>
              <a:t>یئوک</a:t>
            </a:r>
            <a:r>
              <a:rPr dirty="0" sz="1550" spc="-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235" b="1">
                <a:solidFill>
                  <a:srgbClr val="0070BF"/>
                </a:solidFill>
                <a:latin typeface="Arial"/>
                <a:cs typeface="Arial"/>
              </a:rPr>
              <a:t>ےس</a:t>
            </a:r>
            <a:r>
              <a:rPr dirty="0" sz="155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70" b="1">
                <a:solidFill>
                  <a:srgbClr val="0070BF"/>
                </a:solidFill>
                <a:latin typeface="Arial"/>
                <a:cs typeface="Arial"/>
              </a:rPr>
              <a:t>ںيم</a:t>
            </a:r>
            <a:r>
              <a:rPr dirty="0" sz="155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300" b="1">
                <a:solidFill>
                  <a:srgbClr val="0070BF"/>
                </a:solidFill>
                <a:latin typeface="Arial"/>
                <a:cs typeface="Arial"/>
              </a:rPr>
              <a:t>مت</a:t>
            </a:r>
            <a:r>
              <a:rPr dirty="0" sz="155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20" b="1">
                <a:solidFill>
                  <a:srgbClr val="0070BF"/>
                </a:solidFill>
                <a:latin typeface="Arial"/>
                <a:cs typeface="Arial"/>
              </a:rPr>
              <a:t>بج</a:t>
            </a:r>
            <a:r>
              <a:rPr dirty="0" sz="1550" spc="-20" b="1">
                <a:solidFill>
                  <a:srgbClr val="0070BF"/>
                </a:solidFill>
                <a:latin typeface="Arial"/>
                <a:cs typeface="Arial"/>
              </a:rPr>
              <a:t>’</a:t>
            </a:r>
            <a:r>
              <a:rPr dirty="0" sz="1550" spc="-20" b="1">
                <a:solidFill>
                  <a:srgbClr val="0070BF"/>
                </a:solidFill>
                <a:latin typeface="Arial"/>
                <a:cs typeface="Arial"/>
              </a:rPr>
              <a:t>’</a:t>
            </a:r>
            <a:r>
              <a:rPr dirty="0" sz="1550" spc="-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40" b="1">
                <a:solidFill>
                  <a:srgbClr val="0070BF"/>
                </a:solidFill>
                <a:latin typeface="Arial"/>
                <a:cs typeface="Arial"/>
              </a:rPr>
              <a:t>‘‘</a:t>
            </a:r>
            <a:r>
              <a:rPr dirty="0" sz="1550" spc="-40" b="1">
                <a:solidFill>
                  <a:srgbClr val="0070BF"/>
                </a:solidFill>
                <a:latin typeface="Arial"/>
                <a:cs typeface="Arial"/>
              </a:rPr>
              <a:t>۔ےہ</a:t>
            </a:r>
            <a:r>
              <a:rPr dirty="0" sz="1550" spc="-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35" b="1">
                <a:solidFill>
                  <a:srgbClr val="0070BF"/>
                </a:solidFill>
                <a:latin typeface="Arial"/>
                <a:cs typeface="Arial"/>
              </a:rPr>
              <a:t>لصاح</a:t>
            </a:r>
            <a:r>
              <a:rPr dirty="0" sz="1550" spc="-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415" b="1">
                <a:solidFill>
                  <a:srgbClr val="0070BF"/>
                </a:solidFill>
                <a:latin typeface="Arial"/>
                <a:cs typeface="Arial"/>
              </a:rPr>
              <a:t>تليضف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50" b="1">
                <a:solidFill>
                  <a:srgbClr val="0070BF"/>
                </a:solidFill>
                <a:latin typeface="Arial"/>
                <a:cs typeface="Arial"/>
              </a:rPr>
              <a:t>ےسا</a:t>
            </a:r>
            <a:r>
              <a:rPr dirty="0" sz="1550" spc="-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(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دوخ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)</a:t>
            </a:r>
            <a:r>
              <a:rPr dirty="0" sz="1550" spc="-8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300" b="1">
                <a:solidFill>
                  <a:srgbClr val="0070BF"/>
                </a:solidFill>
                <a:latin typeface="Arial"/>
                <a:cs typeface="Arial"/>
              </a:rPr>
              <a:t>رپ</a:t>
            </a: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سج</a:t>
            </a:r>
            <a:r>
              <a:rPr dirty="0" sz="1550" spc="-4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50" b="1">
                <a:solidFill>
                  <a:srgbClr val="0070BF"/>
                </a:solidFill>
                <a:latin typeface="Arial"/>
                <a:cs typeface="Arial"/>
              </a:rPr>
              <a:t>،ےہ</a:t>
            </a:r>
            <a:r>
              <a:rPr dirty="0" sz="1550" spc="-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285" b="1">
                <a:solidFill>
                  <a:srgbClr val="0070BF"/>
                </a:solidFill>
                <a:latin typeface="Arial"/>
                <a:cs typeface="Arial"/>
              </a:rPr>
              <a:t>رتمک</a:t>
            </a:r>
            <a:r>
              <a:rPr dirty="0" sz="1550" spc="-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235" b="1">
                <a:solidFill>
                  <a:srgbClr val="0070BF"/>
                </a:solidFill>
                <a:latin typeface="Arial"/>
                <a:cs typeface="Arial"/>
              </a:rPr>
              <a:t>ےس</a:t>
            </a:r>
            <a:r>
              <a:rPr dirty="0" sz="155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سا</a:t>
            </a:r>
            <a:r>
              <a:rPr dirty="0" sz="1550" spc="-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وج</a:t>
            </a:r>
            <a:r>
              <a:rPr dirty="0" sz="1550" spc="-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ےهکيد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550" b="1">
                <a:latin typeface="Arial"/>
                <a:cs typeface="Arial"/>
              </a:rPr>
              <a:t>The</a:t>
            </a:r>
            <a:r>
              <a:rPr dirty="0" sz="1550" spc="3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Prophet</a:t>
            </a:r>
            <a:r>
              <a:rPr dirty="0" sz="1550" spc="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(peace</a:t>
            </a:r>
            <a:r>
              <a:rPr dirty="0" sz="1550" spc="3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be</a:t>
            </a:r>
            <a:r>
              <a:rPr dirty="0" sz="1550" spc="35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upon</a:t>
            </a:r>
            <a:r>
              <a:rPr dirty="0" sz="1550" spc="1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him)</a:t>
            </a:r>
            <a:r>
              <a:rPr dirty="0" sz="1550" spc="35" b="1">
                <a:latin typeface="Arial"/>
                <a:cs typeface="Arial"/>
              </a:rPr>
              <a:t> </a:t>
            </a:r>
            <a:r>
              <a:rPr dirty="0" sz="1550" spc="-10" b="1">
                <a:latin typeface="Arial"/>
                <a:cs typeface="Arial"/>
              </a:rPr>
              <a:t>said:</a:t>
            </a:r>
            <a:endParaRPr sz="1550">
              <a:latin typeface="Arial"/>
              <a:cs typeface="Arial"/>
            </a:endParaRPr>
          </a:p>
          <a:p>
            <a:pPr marL="12700" marR="240029">
              <a:lnSpc>
                <a:spcPct val="100699"/>
              </a:lnSpc>
              <a:spcBef>
                <a:spcPts val="840"/>
              </a:spcBef>
            </a:pPr>
            <a:r>
              <a:rPr dirty="0" sz="1550">
                <a:latin typeface="Microsoft Sans Serif"/>
                <a:cs typeface="Microsoft Sans Serif"/>
              </a:rPr>
              <a:t>"When</a:t>
            </a:r>
            <a:r>
              <a:rPr dirty="0" sz="1550" spc="10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any</a:t>
            </a:r>
            <a:r>
              <a:rPr dirty="0" sz="1550" spc="40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one</a:t>
            </a:r>
            <a:r>
              <a:rPr dirty="0" sz="1550" spc="45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of</a:t>
            </a:r>
            <a:r>
              <a:rPr dirty="0" sz="1550" spc="40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you</a:t>
            </a:r>
            <a:r>
              <a:rPr dirty="0" sz="1550" spc="100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looks</a:t>
            </a:r>
            <a:r>
              <a:rPr dirty="0" sz="1550" spc="25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at</a:t>
            </a:r>
            <a:r>
              <a:rPr dirty="0" sz="1550" spc="40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someone</a:t>
            </a:r>
            <a:r>
              <a:rPr dirty="0" sz="1550" spc="45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who</a:t>
            </a:r>
            <a:r>
              <a:rPr dirty="0" sz="1550" spc="60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is</a:t>
            </a:r>
            <a:r>
              <a:rPr dirty="0" sz="1550" spc="40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better</a:t>
            </a:r>
            <a:r>
              <a:rPr dirty="0" sz="1550" spc="50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in</a:t>
            </a:r>
            <a:r>
              <a:rPr dirty="0" sz="1550" spc="45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appearance</a:t>
            </a:r>
            <a:r>
              <a:rPr dirty="0" sz="1550" spc="45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and</a:t>
            </a:r>
            <a:r>
              <a:rPr dirty="0" sz="1550" spc="45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wealth,</a:t>
            </a:r>
            <a:r>
              <a:rPr dirty="0" sz="1550" spc="60">
                <a:latin typeface="Microsoft Sans Serif"/>
                <a:cs typeface="Microsoft Sans Serif"/>
              </a:rPr>
              <a:t> </a:t>
            </a:r>
            <a:r>
              <a:rPr dirty="0" sz="1550" spc="-25">
                <a:latin typeface="Microsoft Sans Serif"/>
                <a:cs typeface="Microsoft Sans Serif"/>
              </a:rPr>
              <a:t>he </a:t>
            </a:r>
            <a:r>
              <a:rPr dirty="0" sz="1550">
                <a:latin typeface="Microsoft Sans Serif"/>
                <a:cs typeface="Microsoft Sans Serif"/>
              </a:rPr>
              <a:t>should</a:t>
            </a:r>
            <a:r>
              <a:rPr dirty="0" sz="1550" spc="25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then</a:t>
            </a:r>
            <a:r>
              <a:rPr dirty="0" sz="1550" spc="40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look</a:t>
            </a:r>
            <a:r>
              <a:rPr dirty="0" sz="1550" spc="55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at</a:t>
            </a:r>
            <a:r>
              <a:rPr dirty="0" sz="1550" spc="40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someone</a:t>
            </a:r>
            <a:r>
              <a:rPr dirty="0" sz="1550" spc="30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who</a:t>
            </a:r>
            <a:r>
              <a:rPr dirty="0" sz="1550" spc="55">
                <a:latin typeface="Microsoft Sans Serif"/>
                <a:cs typeface="Microsoft Sans Serif"/>
              </a:rPr>
              <a:t> </a:t>
            </a:r>
            <a:r>
              <a:rPr dirty="0" sz="1550">
                <a:latin typeface="Microsoft Sans Serif"/>
                <a:cs typeface="Microsoft Sans Serif"/>
              </a:rPr>
              <a:t>is</a:t>
            </a:r>
            <a:r>
              <a:rPr dirty="0" sz="1550" spc="55">
                <a:latin typeface="Microsoft Sans Serif"/>
                <a:cs typeface="Microsoft Sans Serif"/>
              </a:rPr>
              <a:t> </a:t>
            </a:r>
            <a:r>
              <a:rPr dirty="0" sz="1550" spc="-10">
                <a:latin typeface="Microsoft Sans Serif"/>
                <a:cs typeface="Microsoft Sans Serif"/>
              </a:rPr>
              <a:t>lower.“</a:t>
            </a:r>
            <a:endParaRPr sz="1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300" b="1">
                <a:solidFill>
                  <a:srgbClr val="0070BF"/>
                </a:solidFill>
                <a:latin typeface="Arial"/>
                <a:cs typeface="Arial"/>
              </a:rPr>
              <a:t>(Sahih</a:t>
            </a:r>
            <a:r>
              <a:rPr dirty="0" sz="130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70BF"/>
                </a:solidFill>
                <a:latin typeface="Arial"/>
                <a:cs typeface="Arial"/>
              </a:rPr>
              <a:t>Muslim,</a:t>
            </a:r>
            <a:r>
              <a:rPr dirty="0" sz="1300" spc="6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070BF"/>
                </a:solidFill>
                <a:latin typeface="Arial"/>
                <a:cs typeface="Arial"/>
              </a:rPr>
              <a:t>Hadith</a:t>
            </a:r>
            <a:r>
              <a:rPr dirty="0" sz="130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0070BF"/>
                </a:solidFill>
                <a:latin typeface="Arial"/>
                <a:cs typeface="Arial"/>
              </a:rPr>
              <a:t>2963)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812" y="1748028"/>
            <a:ext cx="7107935" cy="74828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200"/>
              <a:t>Learning</a:t>
            </a:r>
            <a:r>
              <a:rPr dirty="0" sz="2200" spc="10"/>
              <a:t> </a:t>
            </a:r>
            <a:r>
              <a:rPr dirty="0" sz="2200"/>
              <a:t>to</a:t>
            </a:r>
            <a:r>
              <a:rPr dirty="0" sz="2200" spc="45"/>
              <a:t> </a:t>
            </a:r>
            <a:r>
              <a:rPr dirty="0" sz="2200"/>
              <a:t>Be Thankful</a:t>
            </a:r>
            <a:r>
              <a:rPr dirty="0" sz="2200" spc="5"/>
              <a:t> </a:t>
            </a:r>
            <a:r>
              <a:rPr dirty="0" sz="2200"/>
              <a:t>and</a:t>
            </a:r>
            <a:r>
              <a:rPr dirty="0" sz="2200" spc="10"/>
              <a:t> </a:t>
            </a:r>
            <a:r>
              <a:rPr dirty="0" sz="2200"/>
              <a:t>Happy</a:t>
            </a:r>
            <a:r>
              <a:rPr dirty="0" sz="2200" spc="55"/>
              <a:t> </a:t>
            </a:r>
            <a:r>
              <a:rPr dirty="0" sz="2200"/>
              <a:t>with</a:t>
            </a:r>
            <a:r>
              <a:rPr dirty="0" sz="2200" spc="30"/>
              <a:t> </a:t>
            </a:r>
            <a:r>
              <a:rPr dirty="0" sz="2200"/>
              <a:t>What</a:t>
            </a:r>
            <a:r>
              <a:rPr dirty="0" sz="2200" spc="20"/>
              <a:t> </a:t>
            </a:r>
            <a:r>
              <a:rPr dirty="0" sz="2200"/>
              <a:t>We</a:t>
            </a:r>
            <a:r>
              <a:rPr dirty="0" sz="2200" spc="30"/>
              <a:t> </a:t>
            </a:r>
            <a:r>
              <a:rPr dirty="0" sz="2200" spc="-20"/>
              <a:t>Have</a:t>
            </a:r>
            <a:endParaRPr sz="2200"/>
          </a:p>
        </p:txBody>
      </p:sp>
      <p:sp>
        <p:nvSpPr>
          <p:cNvPr id="3" name="object 3" descr=""/>
          <p:cNvSpPr txBox="1"/>
          <p:nvPr/>
        </p:nvSpPr>
        <p:spPr>
          <a:xfrm>
            <a:off x="267719" y="1935000"/>
            <a:ext cx="3512185" cy="35731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solidFill>
                  <a:srgbClr val="0070BF"/>
                </a:solidFill>
                <a:latin typeface="Trebuchet MS"/>
                <a:cs typeface="Trebuchet MS"/>
              </a:rPr>
              <a:t>A.</a:t>
            </a:r>
            <a:r>
              <a:rPr dirty="0" sz="1950" spc="-31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Being Thankful</a:t>
            </a:r>
            <a:r>
              <a:rPr dirty="0" u="sng" sz="1950" spc="6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(Shukr)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What</a:t>
            </a:r>
            <a:r>
              <a:rPr dirty="0" sz="1450" spc="1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it</a:t>
            </a:r>
            <a:r>
              <a:rPr dirty="0" sz="1450" spc="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means:</a:t>
            </a:r>
            <a:endParaRPr sz="1450">
              <a:latin typeface="Trebuchet MS"/>
              <a:cs typeface="Trebuchet MS"/>
            </a:endParaRPr>
          </a:p>
          <a:p>
            <a:pPr marL="12700" marR="226695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look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less </a:t>
            </a:r>
            <a:r>
              <a:rPr dirty="0" sz="1450">
                <a:latin typeface="Trebuchet MS"/>
                <a:cs typeface="Trebuchet MS"/>
              </a:rPr>
              <a:t>than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remember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much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we </a:t>
            </a:r>
            <a:r>
              <a:rPr dirty="0" sz="1450">
                <a:latin typeface="Trebuchet MS"/>
                <a:cs typeface="Trebuchet MS"/>
              </a:rPr>
              <a:t>already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have.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Why</a:t>
            </a:r>
            <a:r>
              <a:rPr dirty="0" sz="1450" spc="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it's</a:t>
            </a:r>
            <a:r>
              <a:rPr dirty="0" sz="1450" spc="5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important:</a:t>
            </a:r>
            <a:endParaRPr sz="1450">
              <a:latin typeface="Trebuchet MS"/>
              <a:cs typeface="Trebuchet MS"/>
            </a:endParaRPr>
          </a:p>
          <a:p>
            <a:pPr algn="just" marL="12700" marR="508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say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Alhamdulillah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(Thank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you, </a:t>
            </a:r>
            <a:r>
              <a:rPr dirty="0" sz="1450">
                <a:latin typeface="Trebuchet MS"/>
                <a:cs typeface="Trebuchet MS"/>
              </a:rPr>
              <a:t>Allah)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often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grateful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our </a:t>
            </a:r>
            <a:r>
              <a:rPr dirty="0" sz="1450" spc="-10">
                <a:latin typeface="Trebuchet MS"/>
                <a:cs typeface="Trebuchet MS"/>
              </a:rPr>
              <a:t>blessings.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Simple</a:t>
            </a:r>
            <a:r>
              <a:rPr dirty="0" sz="1450" spc="8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12700" marR="75565">
              <a:lnSpc>
                <a:spcPct val="1022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someone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doesn't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have </a:t>
            </a:r>
            <a:r>
              <a:rPr dirty="0" sz="1450">
                <a:latin typeface="Trebuchet MS"/>
                <a:cs typeface="Trebuchet MS"/>
              </a:rPr>
              <a:t>clean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clothes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good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meal,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reminds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lucky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those </a:t>
            </a:r>
            <a:r>
              <a:rPr dirty="0" sz="1450" spc="-10">
                <a:latin typeface="Trebuchet MS"/>
                <a:cs typeface="Trebuchet MS"/>
              </a:rPr>
              <a:t>things.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11198" y="1935000"/>
            <a:ext cx="3890010" cy="274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84810">
              <a:lnSpc>
                <a:spcPct val="101499"/>
              </a:lnSpc>
              <a:spcBef>
                <a:spcPts val="95"/>
              </a:spcBef>
            </a:pPr>
            <a:r>
              <a:rPr dirty="0" sz="1950" b="1">
                <a:solidFill>
                  <a:srgbClr val="0070BF"/>
                </a:solidFill>
                <a:latin typeface="Trebuchet MS"/>
                <a:cs typeface="Trebuchet MS"/>
              </a:rPr>
              <a:t>B.</a:t>
            </a:r>
            <a:r>
              <a:rPr dirty="0" sz="1950" spc="6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Being</a:t>
            </a:r>
            <a:r>
              <a:rPr dirty="0" u="sng" sz="195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Happy</a:t>
            </a:r>
            <a:r>
              <a:rPr dirty="0" u="sng" sz="195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with</a:t>
            </a:r>
            <a:r>
              <a:rPr dirty="0" u="sng" sz="1950" spc="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What</a:t>
            </a:r>
            <a:r>
              <a:rPr dirty="0" u="sng" sz="1950" spc="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We</a:t>
            </a:r>
            <a:r>
              <a:rPr dirty="0" sz="1950" spc="-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Have</a:t>
            </a:r>
            <a:r>
              <a:rPr dirty="0" u="sng" sz="1950" spc="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(Qana’ah)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What</a:t>
            </a:r>
            <a:r>
              <a:rPr dirty="0" sz="1450" spc="1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it</a:t>
            </a:r>
            <a:r>
              <a:rPr dirty="0" sz="1450" spc="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means: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stop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always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wanting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look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those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less,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feel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satisfied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 spc="-10">
                <a:latin typeface="Trebuchet MS"/>
                <a:cs typeface="Trebuchet MS"/>
              </a:rPr>
              <a:t>peaceful.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Why</a:t>
            </a:r>
            <a:r>
              <a:rPr dirty="0" sz="1450" spc="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it's</a:t>
            </a:r>
            <a:r>
              <a:rPr dirty="0" sz="1450" spc="5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important:</a:t>
            </a:r>
            <a:endParaRPr sz="1450">
              <a:latin typeface="Trebuchet MS"/>
              <a:cs typeface="Trebuchet MS"/>
            </a:endParaRPr>
          </a:p>
          <a:p>
            <a:pPr marL="12700" marR="20193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enjoy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life,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worry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less,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thank </a:t>
            </a:r>
            <a:r>
              <a:rPr dirty="0" sz="1450">
                <a:latin typeface="Trebuchet MS"/>
                <a:cs typeface="Trebuchet MS"/>
              </a:rPr>
              <a:t>Allah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instead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comparing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ourselves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 spc="-10">
                <a:latin typeface="Trebuchet MS"/>
                <a:cs typeface="Trebuchet MS"/>
              </a:rPr>
              <a:t>others.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5992" y="1951698"/>
            <a:ext cx="3050540" cy="3800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solidFill>
                  <a:srgbClr val="0070BF"/>
                </a:solidFill>
                <a:latin typeface="Trebuchet MS"/>
                <a:cs typeface="Trebuchet MS"/>
              </a:rPr>
              <a:t>C.</a:t>
            </a:r>
            <a:r>
              <a:rPr dirty="0" sz="1950" spc="-9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Avoiding</a:t>
            </a:r>
            <a:r>
              <a:rPr dirty="0" u="sng" sz="1950" spc="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Envy</a:t>
            </a:r>
            <a:r>
              <a:rPr dirty="0" sz="1950" spc="-1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9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(Hasad)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Explanation: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always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compare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ourselves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those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more,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might </a:t>
            </a:r>
            <a:r>
              <a:rPr dirty="0" sz="1450">
                <a:latin typeface="Trebuchet MS"/>
                <a:cs typeface="Trebuchet MS"/>
              </a:rPr>
              <a:t>start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feeling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jealous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unhappy.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Key</a:t>
            </a:r>
            <a:r>
              <a:rPr dirty="0" sz="1450" spc="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Point:</a:t>
            </a:r>
            <a:endParaRPr sz="1450">
              <a:latin typeface="Trebuchet MS"/>
              <a:cs typeface="Trebuchet MS"/>
            </a:endParaRPr>
          </a:p>
          <a:p>
            <a:pPr marL="12700" marR="89535">
              <a:lnSpc>
                <a:spcPct val="102299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(peace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be </a:t>
            </a:r>
            <a:r>
              <a:rPr dirty="0" sz="1450">
                <a:latin typeface="Trebuchet MS"/>
                <a:cs typeface="Trebuchet MS"/>
              </a:rPr>
              <a:t>upon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him)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taught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focus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on </a:t>
            </a:r>
            <a:r>
              <a:rPr dirty="0" sz="1450">
                <a:latin typeface="Trebuchet MS"/>
                <a:cs typeface="Trebuchet MS"/>
              </a:rPr>
              <a:t>those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less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avoid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these </a:t>
            </a:r>
            <a:r>
              <a:rPr dirty="0" sz="1450">
                <a:latin typeface="Trebuchet MS"/>
                <a:cs typeface="Trebuchet MS"/>
              </a:rPr>
              <a:t>bad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feelings.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Example</a:t>
            </a:r>
            <a:r>
              <a:rPr dirty="0" sz="1450" spc="-10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feel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envious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someone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with</a:t>
            </a:r>
            <a:endParaRPr sz="1450">
              <a:latin typeface="Trebuchet MS"/>
              <a:cs typeface="Trebuchet MS"/>
            </a:endParaRPr>
          </a:p>
          <a:p>
            <a:pPr marL="12700" marR="64769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big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house,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think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about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those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who </a:t>
            </a:r>
            <a:r>
              <a:rPr dirty="0" sz="1450">
                <a:latin typeface="Trebuchet MS"/>
                <a:cs typeface="Trebuchet MS"/>
              </a:rPr>
              <a:t>don't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home.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help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appreciate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own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situation.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039588" y="1951698"/>
            <a:ext cx="3608704" cy="35731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43510">
              <a:lnSpc>
                <a:spcPct val="101600"/>
              </a:lnSpc>
              <a:spcBef>
                <a:spcPts val="90"/>
              </a:spcBef>
            </a:pPr>
            <a:r>
              <a:rPr dirty="0" sz="1950" b="1">
                <a:solidFill>
                  <a:srgbClr val="0070BF"/>
                </a:solidFill>
                <a:latin typeface="Trebuchet MS"/>
                <a:cs typeface="Trebuchet MS"/>
              </a:rPr>
              <a:t>D.</a:t>
            </a:r>
            <a:r>
              <a:rPr dirty="0" sz="1950" spc="1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Perspective</a:t>
            </a:r>
            <a:r>
              <a:rPr dirty="0" u="sng" sz="1950" spc="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on</a:t>
            </a:r>
            <a:r>
              <a:rPr dirty="0" u="sng" sz="1950" spc="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Worldly</a:t>
            </a:r>
            <a:r>
              <a:rPr dirty="0" u="sng" sz="1950" spc="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vs.</a:t>
            </a:r>
            <a:r>
              <a:rPr dirty="0" sz="1950" spc="-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Spiritual</a:t>
            </a:r>
            <a:r>
              <a:rPr dirty="0" u="sng" sz="195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Matters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Explanation:</a:t>
            </a:r>
            <a:endParaRPr sz="1450">
              <a:latin typeface="Trebuchet MS"/>
              <a:cs typeface="Trebuchet MS"/>
            </a:endParaRPr>
          </a:p>
          <a:p>
            <a:pPr marL="12700" marR="34290">
              <a:lnSpc>
                <a:spcPct val="1022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(peace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upon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him)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advised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terms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worldly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things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money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status,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should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look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those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who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less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keep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our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hearts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humble.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Key</a:t>
            </a:r>
            <a:r>
              <a:rPr dirty="0" sz="1450" spc="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Point: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spiritual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moral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growth,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we</a:t>
            </a:r>
            <a:endParaRPr sz="1450">
              <a:latin typeface="Trebuchet MS"/>
              <a:cs typeface="Trebuchet MS"/>
            </a:endParaRPr>
          </a:p>
          <a:p>
            <a:pPr marL="12700" marR="357505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should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look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very </a:t>
            </a:r>
            <a:r>
              <a:rPr dirty="0" sz="1450" spc="-60">
                <a:latin typeface="Trebuchet MS"/>
                <a:cs typeface="Trebuchet MS"/>
              </a:rPr>
              <a:t>pious</a:t>
            </a:r>
            <a:r>
              <a:rPr dirty="0" sz="900" spc="-60">
                <a:latin typeface="Trebuchet MS"/>
                <a:cs typeface="Trebuchet MS"/>
              </a:rPr>
              <a:t>(</a:t>
            </a:r>
            <a:r>
              <a:rPr dirty="0" sz="900" spc="-60">
                <a:latin typeface="Microsoft Sans Serif"/>
                <a:cs typeface="Microsoft Sans Serif"/>
              </a:rPr>
              <a:t>یقتم</a:t>
            </a:r>
            <a:r>
              <a:rPr dirty="0" sz="900" spc="-60">
                <a:latin typeface="Trebuchet MS"/>
                <a:cs typeface="Trebuchet MS"/>
              </a:rPr>
              <a:t>)</a:t>
            </a:r>
            <a:r>
              <a:rPr dirty="0" sz="90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good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character.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Instead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admiring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someone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just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their</a:t>
            </a:r>
            <a:endParaRPr sz="1450">
              <a:latin typeface="Trebuchet MS"/>
              <a:cs typeface="Trebuchet MS"/>
            </a:endParaRPr>
          </a:p>
          <a:p>
            <a:pPr marL="12700" marR="127635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wealth,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admire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someone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known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their </a:t>
            </a:r>
            <a:r>
              <a:rPr dirty="0" sz="1450">
                <a:latin typeface="Trebuchet MS"/>
                <a:cs typeface="Trebuchet MS"/>
              </a:rPr>
              <a:t>honesty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kindness.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200"/>
              <a:t>Learning</a:t>
            </a:r>
            <a:r>
              <a:rPr dirty="0" sz="2200" spc="-35"/>
              <a:t> </a:t>
            </a:r>
            <a:r>
              <a:rPr dirty="0" sz="2200"/>
              <a:t>Thankfulness</a:t>
            </a:r>
            <a:r>
              <a:rPr dirty="0" sz="2200" spc="5"/>
              <a:t> </a:t>
            </a:r>
            <a:r>
              <a:rPr dirty="0" sz="2200"/>
              <a:t>and</a:t>
            </a:r>
            <a:r>
              <a:rPr dirty="0" sz="2200" spc="30"/>
              <a:t> </a:t>
            </a:r>
            <a:r>
              <a:rPr dirty="0" sz="2200"/>
              <a:t>Peace</a:t>
            </a:r>
            <a:r>
              <a:rPr dirty="0" sz="2200" spc="20"/>
              <a:t> </a:t>
            </a:r>
            <a:r>
              <a:rPr dirty="0" sz="2200"/>
              <a:t>in</a:t>
            </a:r>
            <a:r>
              <a:rPr dirty="0" sz="2200" spc="55"/>
              <a:t> </a:t>
            </a:r>
            <a:r>
              <a:rPr dirty="0" sz="2200" spc="-10"/>
              <a:t>Islam</a:t>
            </a:r>
            <a:endParaRPr sz="2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5992" y="1951698"/>
            <a:ext cx="3075940" cy="3372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3815">
              <a:lnSpc>
                <a:spcPct val="101400"/>
              </a:lnSpc>
              <a:spcBef>
                <a:spcPts val="95"/>
              </a:spcBef>
            </a:pPr>
            <a:r>
              <a:rPr dirty="0" sz="1950" b="1">
                <a:solidFill>
                  <a:srgbClr val="0070BF"/>
                </a:solidFill>
                <a:latin typeface="Trebuchet MS"/>
                <a:cs typeface="Trebuchet MS"/>
              </a:rPr>
              <a:t>E.</a:t>
            </a:r>
            <a:r>
              <a:rPr dirty="0" sz="1950" spc="1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Achieving</a:t>
            </a:r>
            <a:r>
              <a:rPr dirty="0" sz="1650" spc="-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Balance</a:t>
            </a:r>
            <a:r>
              <a:rPr dirty="0" sz="1650" spc="-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Between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Material</a:t>
            </a:r>
            <a:r>
              <a:rPr dirty="0" sz="1650" spc="-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and</a:t>
            </a:r>
            <a:r>
              <a:rPr dirty="0" sz="1650" spc="-1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Spiritual</a:t>
            </a:r>
            <a:r>
              <a:rPr dirty="0" sz="1650" spc="-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spc="-20" b="1">
                <a:solidFill>
                  <a:srgbClr val="0070BF"/>
                </a:solidFill>
                <a:latin typeface="Trebuchet MS"/>
                <a:cs typeface="Trebuchet MS"/>
              </a:rPr>
              <a:t>Needs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Explanation:</a:t>
            </a:r>
            <a:endParaRPr sz="1450">
              <a:latin typeface="Trebuchet MS"/>
              <a:cs typeface="Trebuchet MS"/>
            </a:endParaRPr>
          </a:p>
          <a:p>
            <a:pPr marL="12700" marR="12065">
              <a:lnSpc>
                <a:spcPct val="100400"/>
              </a:lnSpc>
              <a:spcBef>
                <a:spcPts val="20"/>
              </a:spcBef>
            </a:pPr>
            <a:r>
              <a:rPr dirty="0" sz="1150">
                <a:latin typeface="Trebuchet MS"/>
                <a:cs typeface="Trebuchet MS"/>
              </a:rPr>
              <a:t>Islam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teaches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us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appreciate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beauty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 spc="-25">
                <a:latin typeface="Trebuchet MS"/>
                <a:cs typeface="Trebuchet MS"/>
              </a:rPr>
              <a:t>and </a:t>
            </a:r>
            <a:r>
              <a:rPr dirty="0" sz="1150">
                <a:latin typeface="Trebuchet MS"/>
                <a:cs typeface="Trebuchet MS"/>
              </a:rPr>
              <a:t>success</a:t>
            </a:r>
            <a:r>
              <a:rPr dirty="0" sz="1150" spc="-3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in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our lives without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becoming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overly </a:t>
            </a:r>
            <a:r>
              <a:rPr dirty="0" sz="1150">
                <a:latin typeface="Trebuchet MS"/>
                <a:cs typeface="Trebuchet MS"/>
              </a:rPr>
              <a:t>focused</a:t>
            </a:r>
            <a:r>
              <a:rPr dirty="0" sz="1150" spc="-3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on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material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possessions.</a:t>
            </a:r>
            <a:r>
              <a:rPr dirty="0" sz="1150" spc="-5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This</a:t>
            </a:r>
            <a:r>
              <a:rPr dirty="0" sz="1150" spc="-20">
                <a:latin typeface="Trebuchet MS"/>
                <a:cs typeface="Trebuchet MS"/>
              </a:rPr>
              <a:t> means </a:t>
            </a:r>
            <a:r>
              <a:rPr dirty="0" sz="1150">
                <a:latin typeface="Trebuchet MS"/>
                <a:cs typeface="Trebuchet MS"/>
              </a:rPr>
              <a:t>enjoying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what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have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but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not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letting </a:t>
            </a:r>
            <a:r>
              <a:rPr dirty="0" sz="1150" spc="-25">
                <a:latin typeface="Trebuchet MS"/>
                <a:cs typeface="Trebuchet MS"/>
              </a:rPr>
              <a:t>it </a:t>
            </a:r>
            <a:r>
              <a:rPr dirty="0" sz="1150">
                <a:latin typeface="Trebuchet MS"/>
                <a:cs typeface="Trebuchet MS"/>
              </a:rPr>
              <a:t>distract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us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from our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spiritual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goals.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Key</a:t>
            </a:r>
            <a:r>
              <a:rPr dirty="0" sz="1450" spc="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Point:</a:t>
            </a:r>
            <a:endParaRPr sz="1450">
              <a:latin typeface="Trebuchet MS"/>
              <a:cs typeface="Trebuchet MS"/>
            </a:endParaRPr>
          </a:p>
          <a:p>
            <a:pPr marL="12700" marR="340995">
              <a:lnSpc>
                <a:spcPct val="100400"/>
              </a:lnSpc>
              <a:spcBef>
                <a:spcPts val="15"/>
              </a:spcBef>
            </a:pPr>
            <a:r>
              <a:rPr dirty="0" sz="1150">
                <a:latin typeface="Trebuchet MS"/>
                <a:cs typeface="Trebuchet MS"/>
              </a:rPr>
              <a:t>We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should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strive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balance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our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worldly </a:t>
            </a:r>
            <a:r>
              <a:rPr dirty="0" sz="1150">
                <a:latin typeface="Trebuchet MS"/>
                <a:cs typeface="Trebuchet MS"/>
              </a:rPr>
              <a:t>desires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with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our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spiritual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responsibilities, </a:t>
            </a:r>
            <a:r>
              <a:rPr dirty="0" sz="1150">
                <a:latin typeface="Trebuchet MS"/>
                <a:cs typeface="Trebuchet MS"/>
              </a:rPr>
              <a:t>ensuring neither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is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neglected.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Example</a:t>
            </a:r>
            <a:r>
              <a:rPr dirty="0" sz="1450" spc="-10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0299"/>
              </a:lnSpc>
              <a:spcBef>
                <a:spcPts val="20"/>
              </a:spcBef>
            </a:pPr>
            <a:r>
              <a:rPr dirty="0" sz="1150">
                <a:latin typeface="Trebuchet MS"/>
                <a:cs typeface="Trebuchet MS"/>
              </a:rPr>
              <a:t>While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it's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fine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work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hard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 earn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money, </a:t>
            </a:r>
            <a:r>
              <a:rPr dirty="0" sz="1150">
                <a:latin typeface="Trebuchet MS"/>
                <a:cs typeface="Trebuchet MS"/>
              </a:rPr>
              <a:t>we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should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also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dedicate time to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prayer, </a:t>
            </a:r>
            <a:r>
              <a:rPr dirty="0" sz="1150">
                <a:latin typeface="Trebuchet MS"/>
                <a:cs typeface="Trebuchet MS"/>
              </a:rPr>
              <a:t>helping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others,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10">
                <a:latin typeface="Trebuchet MS"/>
                <a:cs typeface="Trebuchet MS"/>
              </a:rPr>
              <a:t> self-</a:t>
            </a:r>
            <a:r>
              <a:rPr dirty="0" sz="1150">
                <a:latin typeface="Trebuchet MS"/>
                <a:cs typeface="Trebuchet MS"/>
              </a:rPr>
              <a:t>reflection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10">
                <a:latin typeface="Trebuchet MS"/>
                <a:cs typeface="Trebuchet MS"/>
              </a:rPr>
              <a:t> maintain </a:t>
            </a:r>
            <a:r>
              <a:rPr dirty="0" sz="1150">
                <a:latin typeface="Trebuchet MS"/>
                <a:cs typeface="Trebuchet MS"/>
              </a:rPr>
              <a:t>this </a:t>
            </a:r>
            <a:r>
              <a:rPr dirty="0" sz="1150" spc="-10">
                <a:latin typeface="Trebuchet MS"/>
                <a:cs typeface="Trebuchet MS"/>
              </a:rPr>
              <a:t>balance.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039588" y="1951698"/>
            <a:ext cx="3609340" cy="3724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85825">
              <a:lnSpc>
                <a:spcPct val="101400"/>
              </a:lnSpc>
              <a:spcBef>
                <a:spcPts val="95"/>
              </a:spcBef>
            </a:pPr>
            <a:r>
              <a:rPr dirty="0" sz="1950" spc="-35" b="1">
                <a:solidFill>
                  <a:srgbClr val="0070BF"/>
                </a:solidFill>
                <a:latin typeface="Trebuchet MS"/>
                <a:cs typeface="Trebuchet MS"/>
              </a:rPr>
              <a:t>F.</a:t>
            </a:r>
            <a:r>
              <a:rPr dirty="0" sz="1950" spc="-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Developing</a:t>
            </a:r>
            <a:r>
              <a:rPr dirty="0" sz="1650" spc="-8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Empathy</a:t>
            </a:r>
            <a:r>
              <a:rPr dirty="0" sz="1650" spc="-8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spc="-25" b="1">
                <a:solidFill>
                  <a:srgbClr val="0070BF"/>
                </a:solidFill>
                <a:latin typeface="Trebuchet MS"/>
                <a:cs typeface="Trebuchet MS"/>
              </a:rPr>
              <a:t>and 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Encouraging</a:t>
            </a:r>
            <a:r>
              <a:rPr dirty="0" sz="1650" spc="-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650" spc="-10" b="1">
                <a:solidFill>
                  <a:srgbClr val="0070BF"/>
                </a:solidFill>
                <a:latin typeface="Trebuchet MS"/>
                <a:cs typeface="Trebuchet MS"/>
              </a:rPr>
              <a:t>Generosity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Explanation: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0299"/>
              </a:lnSpc>
              <a:spcBef>
                <a:spcPts val="20"/>
              </a:spcBef>
            </a:pPr>
            <a:r>
              <a:rPr dirty="0" sz="1150">
                <a:latin typeface="Trebuchet MS"/>
                <a:cs typeface="Trebuchet MS"/>
              </a:rPr>
              <a:t>Observing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challenges faced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by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others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can</a:t>
            </a:r>
            <a:r>
              <a:rPr dirty="0" sz="1150" spc="-10">
                <a:latin typeface="Trebuchet MS"/>
                <a:cs typeface="Trebuchet MS"/>
              </a:rPr>
              <a:t> deepen </a:t>
            </a:r>
            <a:r>
              <a:rPr dirty="0" sz="1150">
                <a:latin typeface="Trebuchet MS"/>
                <a:cs typeface="Trebuchet MS"/>
              </a:rPr>
              <a:t>our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empathy,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making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us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more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inclined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 spc="-20">
                <a:latin typeface="Trebuchet MS"/>
                <a:cs typeface="Trebuchet MS"/>
              </a:rPr>
              <a:t>offer </a:t>
            </a:r>
            <a:r>
              <a:rPr dirty="0" sz="1150">
                <a:latin typeface="Trebuchet MS"/>
                <a:cs typeface="Trebuchet MS"/>
              </a:rPr>
              <a:t>assistance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support.</a:t>
            </a:r>
            <a:r>
              <a:rPr dirty="0" sz="1150" spc="-4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This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awareness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fosters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sense </a:t>
            </a:r>
            <a:r>
              <a:rPr dirty="0" sz="1150">
                <a:latin typeface="Trebuchet MS"/>
                <a:cs typeface="Trebuchet MS"/>
              </a:rPr>
              <a:t>of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community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shared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responsibility.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Key</a:t>
            </a:r>
            <a:r>
              <a:rPr dirty="0" sz="1450" spc="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Point:</a:t>
            </a:r>
            <a:endParaRPr sz="1450">
              <a:latin typeface="Trebuchet MS"/>
              <a:cs typeface="Trebuchet MS"/>
            </a:endParaRPr>
          </a:p>
          <a:p>
            <a:pPr marL="12700" marR="27940">
              <a:lnSpc>
                <a:spcPct val="100400"/>
              </a:lnSpc>
              <a:spcBef>
                <a:spcPts val="10"/>
              </a:spcBef>
            </a:pPr>
            <a:r>
              <a:rPr dirty="0" sz="1150">
                <a:latin typeface="Trebuchet MS"/>
                <a:cs typeface="Trebuchet MS"/>
              </a:rPr>
              <a:t>By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practicing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kindness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 giving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those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in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need, </a:t>
            </a:r>
            <a:r>
              <a:rPr dirty="0" sz="1150" spc="-25">
                <a:latin typeface="Trebuchet MS"/>
                <a:cs typeface="Trebuchet MS"/>
              </a:rPr>
              <a:t>we </a:t>
            </a:r>
            <a:r>
              <a:rPr dirty="0" sz="1150">
                <a:latin typeface="Trebuchet MS"/>
                <a:cs typeface="Trebuchet MS"/>
              </a:rPr>
              <a:t>contribute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building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compassionate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10">
                <a:latin typeface="Trebuchet MS"/>
                <a:cs typeface="Trebuchet MS"/>
              </a:rPr>
              <a:t> caring society.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algn="just" marL="12700" marR="160020">
              <a:lnSpc>
                <a:spcPct val="100400"/>
              </a:lnSpc>
              <a:spcBef>
                <a:spcPts val="5"/>
              </a:spcBef>
            </a:pPr>
            <a:r>
              <a:rPr dirty="0" sz="1150">
                <a:latin typeface="Trebuchet MS"/>
                <a:cs typeface="Trebuchet MS"/>
              </a:rPr>
              <a:t>Donating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charity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or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volunteering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time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help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 spc="-25">
                <a:latin typeface="Trebuchet MS"/>
                <a:cs typeface="Trebuchet MS"/>
              </a:rPr>
              <a:t>the </a:t>
            </a:r>
            <a:r>
              <a:rPr dirty="0" sz="1150">
                <a:latin typeface="Trebuchet MS"/>
                <a:cs typeface="Trebuchet MS"/>
              </a:rPr>
              <a:t>less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fortunate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not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only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aids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them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but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also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cultivates </a:t>
            </a:r>
            <a:r>
              <a:rPr dirty="0" sz="1150">
                <a:latin typeface="Trebuchet MS"/>
                <a:cs typeface="Trebuchet MS"/>
              </a:rPr>
              <a:t>gratitude and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humility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within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ourselves.</a:t>
            </a:r>
            <a:endParaRPr sz="1150">
              <a:latin typeface="Trebuchet MS"/>
              <a:cs typeface="Trebuchet MS"/>
            </a:endParaRPr>
          </a:p>
          <a:p>
            <a:pPr marL="12700" marR="147320">
              <a:lnSpc>
                <a:spcPct val="100299"/>
              </a:lnSpc>
              <a:spcBef>
                <a:spcPts val="10"/>
              </a:spcBef>
            </a:pPr>
            <a:r>
              <a:rPr dirty="0" sz="1150">
                <a:latin typeface="Trebuchet MS"/>
                <a:cs typeface="Trebuchet MS"/>
              </a:rPr>
              <a:t>These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principles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are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deeply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rooted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in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Islamic </a:t>
            </a:r>
            <a:r>
              <a:rPr dirty="0" sz="1150">
                <a:latin typeface="Trebuchet MS"/>
                <a:cs typeface="Trebuchet MS"/>
              </a:rPr>
              <a:t>teachings,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emphasizing the</a:t>
            </a:r>
            <a:r>
              <a:rPr dirty="0" sz="1150" spc="-3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importance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of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balancing </a:t>
            </a:r>
            <a:r>
              <a:rPr dirty="0" sz="1150">
                <a:latin typeface="Trebuchet MS"/>
                <a:cs typeface="Trebuchet MS"/>
              </a:rPr>
              <a:t>material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pursuits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with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spiritual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growth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fostering </a:t>
            </a:r>
            <a:r>
              <a:rPr dirty="0" sz="1150">
                <a:latin typeface="Trebuchet MS"/>
                <a:cs typeface="Trebuchet MS"/>
              </a:rPr>
              <a:t>empathy through</a:t>
            </a:r>
            <a:r>
              <a:rPr dirty="0" sz="1150" spc="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acts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of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generosity.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200"/>
              <a:t>Cultivating Gratitude</a:t>
            </a:r>
            <a:r>
              <a:rPr dirty="0" sz="2200" spc="20"/>
              <a:t> </a:t>
            </a:r>
            <a:r>
              <a:rPr dirty="0" sz="2200"/>
              <a:t>and</a:t>
            </a:r>
            <a:r>
              <a:rPr dirty="0" sz="2200" spc="30"/>
              <a:t> </a:t>
            </a:r>
            <a:r>
              <a:rPr dirty="0" sz="2200"/>
              <a:t>Compassion</a:t>
            </a:r>
            <a:r>
              <a:rPr dirty="0" sz="2200" spc="30"/>
              <a:t> </a:t>
            </a:r>
            <a:r>
              <a:rPr dirty="0" sz="2200"/>
              <a:t>in</a:t>
            </a:r>
            <a:r>
              <a:rPr dirty="0" sz="2200" spc="55"/>
              <a:t> </a:t>
            </a:r>
            <a:r>
              <a:rPr dirty="0" sz="2200"/>
              <a:t>Daily</a:t>
            </a:r>
            <a:r>
              <a:rPr dirty="0" sz="2200" spc="20"/>
              <a:t> </a:t>
            </a:r>
            <a:r>
              <a:rPr dirty="0" sz="2200" spc="-20"/>
              <a:t>Life</a:t>
            </a:r>
            <a:endParaRPr sz="2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61732" y="1261872"/>
            <a:ext cx="586740" cy="341630"/>
          </a:xfrm>
          <a:custGeom>
            <a:avLst/>
            <a:gdLst/>
            <a:ahLst/>
            <a:cxnLst/>
            <a:rect l="l" t="t" r="r" b="b"/>
            <a:pathLst>
              <a:path w="586740" h="341630">
                <a:moveTo>
                  <a:pt x="586739" y="341376"/>
                </a:moveTo>
                <a:lnTo>
                  <a:pt x="0" y="341376"/>
                </a:lnTo>
                <a:lnTo>
                  <a:pt x="0" y="0"/>
                </a:lnTo>
                <a:lnTo>
                  <a:pt x="586739" y="0"/>
                </a:lnTo>
                <a:lnTo>
                  <a:pt x="586739" y="34137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396" y="1227878"/>
            <a:ext cx="8276590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none" sz="2300"/>
              <a:t>Practical</a:t>
            </a:r>
            <a:r>
              <a:rPr dirty="0" u="none" sz="2300" spc="-60"/>
              <a:t> </a:t>
            </a:r>
            <a:r>
              <a:rPr dirty="0" u="none" sz="2300"/>
              <a:t>Steps</a:t>
            </a:r>
            <a:r>
              <a:rPr dirty="0" u="none" sz="2300" spc="-50"/>
              <a:t> </a:t>
            </a:r>
            <a:r>
              <a:rPr dirty="0" u="none" sz="2300"/>
              <a:t>to</a:t>
            </a:r>
            <a:r>
              <a:rPr dirty="0" u="none" sz="2300" spc="-40"/>
              <a:t> </a:t>
            </a:r>
            <a:r>
              <a:rPr dirty="0" u="none" sz="2300"/>
              <a:t>Cultivate</a:t>
            </a:r>
            <a:r>
              <a:rPr dirty="0" u="none" sz="2300" spc="-60"/>
              <a:t> </a:t>
            </a:r>
            <a:r>
              <a:rPr dirty="0" u="none" sz="2300"/>
              <a:t>Gratitude</a:t>
            </a:r>
            <a:r>
              <a:rPr dirty="0" u="none" sz="2300" spc="-85"/>
              <a:t> </a:t>
            </a:r>
            <a:r>
              <a:rPr dirty="0" u="none" sz="2300"/>
              <a:t>and</a:t>
            </a:r>
            <a:r>
              <a:rPr dirty="0" u="none" sz="2300" spc="-50"/>
              <a:t> </a:t>
            </a:r>
            <a:r>
              <a:rPr dirty="0" u="none" sz="2300"/>
              <a:t>Contentment</a:t>
            </a:r>
            <a:r>
              <a:rPr dirty="0" u="none" sz="2300" spc="-70"/>
              <a:t> </a:t>
            </a:r>
            <a:r>
              <a:rPr dirty="0" u="none" sz="2300" spc="-275">
                <a:latin typeface="Arial"/>
                <a:cs typeface="Arial"/>
              </a:rPr>
              <a:t>تعانق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7535" y="1572767"/>
            <a:ext cx="8252459" cy="29209"/>
          </a:xfrm>
          <a:custGeom>
            <a:avLst/>
            <a:gdLst/>
            <a:ahLst/>
            <a:cxnLst/>
            <a:rect l="l" t="t" r="r" b="b"/>
            <a:pathLst>
              <a:path w="8252459" h="29209">
                <a:moveTo>
                  <a:pt x="8252460" y="28956"/>
                </a:moveTo>
                <a:lnTo>
                  <a:pt x="0" y="28956"/>
                </a:lnTo>
                <a:lnTo>
                  <a:pt x="0" y="0"/>
                </a:lnTo>
                <a:lnTo>
                  <a:pt x="8252460" y="0"/>
                </a:lnTo>
                <a:lnTo>
                  <a:pt x="8252460" y="28956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58548" y="1960848"/>
            <a:ext cx="7456805" cy="37566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Practice</a:t>
            </a:r>
            <a:r>
              <a:rPr dirty="0" u="sng" sz="1450" spc="7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Daily</a:t>
            </a:r>
            <a:r>
              <a:rPr dirty="0" u="sng" sz="1450" spc="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Gratitude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2700" marR="189230">
              <a:lnSpc>
                <a:spcPct val="101499"/>
              </a:lnSpc>
              <a:spcBef>
                <a:spcPts val="10"/>
              </a:spcBef>
            </a:pPr>
            <a:r>
              <a:rPr dirty="0" sz="1300">
                <a:latin typeface="Microsoft Sans Serif"/>
                <a:cs typeface="Microsoft Sans Serif"/>
              </a:rPr>
              <a:t>Each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day,</a:t>
            </a:r>
            <a:r>
              <a:rPr dirty="0" sz="1300" spc="6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take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moment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reflect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on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your</a:t>
            </a:r>
            <a:r>
              <a:rPr dirty="0" sz="1300" spc="6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blessings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thank</a:t>
            </a:r>
            <a:r>
              <a:rPr dirty="0" sz="1300" spc="-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Allah.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This</a:t>
            </a:r>
            <a:r>
              <a:rPr dirty="0" sz="1300" spc="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habit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fosters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positive </a:t>
            </a:r>
            <a:r>
              <a:rPr dirty="0" sz="1300">
                <a:latin typeface="Microsoft Sans Serif"/>
                <a:cs typeface="Microsoft Sans Serif"/>
              </a:rPr>
              <a:t>outlook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reinforces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appreciation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for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what</a:t>
            </a:r>
            <a:r>
              <a:rPr dirty="0" sz="1300" spc="6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you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have.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Limit</a:t>
            </a:r>
            <a:r>
              <a:rPr dirty="0" u="sng" sz="1450" spc="6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Comparisons</a:t>
            </a:r>
            <a:r>
              <a:rPr dirty="0" u="sng" sz="1450" spc="8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with</a:t>
            </a:r>
            <a:r>
              <a:rPr dirty="0" u="sng" sz="1450" spc="8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Others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2700" marR="216535">
              <a:lnSpc>
                <a:spcPct val="101600"/>
              </a:lnSpc>
              <a:spcBef>
                <a:spcPts val="5"/>
              </a:spcBef>
            </a:pPr>
            <a:r>
              <a:rPr dirty="0" sz="1300">
                <a:latin typeface="Microsoft Sans Serif"/>
                <a:cs typeface="Microsoft Sans Serif"/>
              </a:rPr>
              <a:t>Avoid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measuring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your</a:t>
            </a:r>
            <a:r>
              <a:rPr dirty="0" sz="1300" spc="6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life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against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others',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especially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on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social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media,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as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this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can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lead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envy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 spc="-25">
                <a:latin typeface="Microsoft Sans Serif"/>
                <a:cs typeface="Microsoft Sans Serif"/>
              </a:rPr>
              <a:t>and </a:t>
            </a:r>
            <a:r>
              <a:rPr dirty="0" sz="1300" spc="-10">
                <a:latin typeface="Microsoft Sans Serif"/>
                <a:cs typeface="Microsoft Sans Serif"/>
              </a:rPr>
              <a:t>dissatisfaction.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Engage</a:t>
            </a:r>
            <a:r>
              <a:rPr dirty="0" u="sng" sz="145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in</a:t>
            </a:r>
            <a:r>
              <a:rPr dirty="0" u="sng" sz="145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Acts</a:t>
            </a:r>
            <a:r>
              <a:rPr dirty="0" u="sng" sz="1450" spc="6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450" spc="6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Charity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5"/>
              </a:spcBef>
            </a:pPr>
            <a:r>
              <a:rPr dirty="0" sz="1300">
                <a:latin typeface="Microsoft Sans Serif"/>
                <a:cs typeface="Microsoft Sans Serif"/>
              </a:rPr>
              <a:t>Helping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those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need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not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only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benefits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them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but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also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deepens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your</a:t>
            </a:r>
            <a:r>
              <a:rPr dirty="0" sz="1300" spc="7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sense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of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gratitude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empathy. </a:t>
            </a:r>
            <a:r>
              <a:rPr dirty="0" sz="1300">
                <a:latin typeface="Microsoft Sans Serif"/>
                <a:cs typeface="Microsoft Sans Serif"/>
              </a:rPr>
              <a:t>Seek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Spiritual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Role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Models:</a:t>
            </a:r>
            <a:r>
              <a:rPr dirty="0" sz="1300" spc="6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Look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up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individuals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known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for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their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strong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faith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good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character, </a:t>
            </a:r>
            <a:r>
              <a:rPr dirty="0" sz="1300">
                <a:latin typeface="Microsoft Sans Serif"/>
                <a:cs typeface="Microsoft Sans Serif"/>
              </a:rPr>
              <a:t>rather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than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those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celebrated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solely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for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material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success.</a:t>
            </a: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Main</a:t>
            </a:r>
            <a:r>
              <a:rPr dirty="0" u="sng" sz="145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Points</a:t>
            </a:r>
            <a:r>
              <a:rPr dirty="0" u="sng" sz="1450" spc="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to</a:t>
            </a:r>
            <a:r>
              <a:rPr dirty="0" u="sng" sz="145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Remember</a:t>
            </a:r>
            <a:endParaRPr sz="1450">
              <a:latin typeface="Trebuchet MS"/>
              <a:cs typeface="Trebuchet MS"/>
            </a:endParaRPr>
          </a:p>
          <a:p>
            <a:pPr marL="12700" marR="431800">
              <a:lnSpc>
                <a:spcPct val="100800"/>
              </a:lnSpc>
              <a:spcBef>
                <a:spcPts val="1390"/>
              </a:spcBef>
            </a:pPr>
            <a:r>
              <a:rPr dirty="0" sz="1150">
                <a:latin typeface="Trebuchet MS"/>
                <a:cs typeface="Trebuchet MS"/>
              </a:rPr>
              <a:t>This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Hadith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encourages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us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appreciate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our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blessings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by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observing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those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with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less,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development </a:t>
            </a:r>
            <a:r>
              <a:rPr dirty="0" sz="1150" spc="-10">
                <a:latin typeface="Trebuchet MS"/>
                <a:cs typeface="Trebuchet MS"/>
              </a:rPr>
              <a:t>gratitude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contentment.</a:t>
            </a:r>
            <a:endParaRPr sz="1150">
              <a:latin typeface="Trebuchet MS"/>
              <a:cs typeface="Trebuchet MS"/>
            </a:endParaRPr>
          </a:p>
          <a:p>
            <a:pPr marL="12700" marR="508000">
              <a:lnSpc>
                <a:spcPts val="1390"/>
              </a:lnSpc>
              <a:spcBef>
                <a:spcPts val="40"/>
              </a:spcBef>
            </a:pPr>
            <a:r>
              <a:rPr dirty="0" sz="1150">
                <a:latin typeface="Trebuchet MS"/>
                <a:cs typeface="Trebuchet MS"/>
              </a:rPr>
              <a:t>It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advises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against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envy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promotes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balanced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perspective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between worldly achievements and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spiritual growth.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ts val="1335"/>
              </a:lnSpc>
            </a:pPr>
            <a:r>
              <a:rPr dirty="0" sz="1150">
                <a:latin typeface="Trebuchet MS"/>
                <a:cs typeface="Trebuchet MS"/>
              </a:rPr>
              <a:t>By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embracing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these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teachings,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can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attain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inner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peace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contribute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compassionate,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supportive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150">
                <a:latin typeface="Trebuchet MS"/>
                <a:cs typeface="Trebuchet MS"/>
              </a:rPr>
              <a:t>community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that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aligns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with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Islamic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values.</a:t>
            </a:r>
            <a:endParaRPr sz="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97180">
              <a:lnSpc>
                <a:spcPct val="100000"/>
              </a:lnSpc>
              <a:spcBef>
                <a:spcPts val="125"/>
              </a:spcBef>
            </a:pPr>
            <a:r>
              <a:rPr dirty="0" u="none" sz="2950" b="0">
                <a:latin typeface="Trebuchet MS"/>
                <a:cs typeface="Trebuchet MS"/>
              </a:rPr>
              <a:t>Hadith</a:t>
            </a:r>
            <a:r>
              <a:rPr dirty="0" u="none" sz="2950" spc="-35" b="0">
                <a:latin typeface="Trebuchet MS"/>
                <a:cs typeface="Trebuchet MS"/>
              </a:rPr>
              <a:t> </a:t>
            </a:r>
            <a:r>
              <a:rPr dirty="0" u="none" sz="2950" b="0">
                <a:latin typeface="Trebuchet MS"/>
                <a:cs typeface="Trebuchet MS"/>
              </a:rPr>
              <a:t>No:2</a:t>
            </a:r>
            <a:r>
              <a:rPr dirty="0" u="none" sz="2950" spc="30" b="0">
                <a:latin typeface="Trebuchet MS"/>
                <a:cs typeface="Trebuchet MS"/>
              </a:rPr>
              <a:t> </a:t>
            </a:r>
            <a:r>
              <a:rPr dirty="0" u="none" sz="2950" b="0">
                <a:latin typeface="Trebuchet MS"/>
                <a:cs typeface="Trebuchet MS"/>
              </a:rPr>
              <a:t>–</a:t>
            </a:r>
            <a:r>
              <a:rPr dirty="0" u="none" sz="2950" spc="25" b="0">
                <a:latin typeface="Trebuchet MS"/>
                <a:cs typeface="Trebuchet MS"/>
              </a:rPr>
              <a:t> </a:t>
            </a:r>
            <a:r>
              <a:rPr dirty="0" u="none" sz="2950" b="0">
                <a:latin typeface="Trebuchet MS"/>
                <a:cs typeface="Trebuchet MS"/>
              </a:rPr>
              <a:t>Four</a:t>
            </a:r>
            <a:r>
              <a:rPr dirty="0" u="none" sz="2950" spc="-20" b="0">
                <a:latin typeface="Trebuchet MS"/>
                <a:cs typeface="Trebuchet MS"/>
              </a:rPr>
              <a:t> </a:t>
            </a:r>
            <a:r>
              <a:rPr dirty="0" u="none" sz="2950" b="0">
                <a:latin typeface="Trebuchet MS"/>
                <a:cs typeface="Trebuchet MS"/>
              </a:rPr>
              <a:t>Signs of</a:t>
            </a:r>
            <a:r>
              <a:rPr dirty="0" u="none" sz="2950" spc="15" b="0">
                <a:latin typeface="Trebuchet MS"/>
                <a:cs typeface="Trebuchet MS"/>
              </a:rPr>
              <a:t> </a:t>
            </a:r>
            <a:r>
              <a:rPr dirty="0" u="none" sz="2950" b="0">
                <a:latin typeface="Trebuchet MS"/>
                <a:cs typeface="Trebuchet MS"/>
              </a:rPr>
              <a:t>a</a:t>
            </a:r>
            <a:r>
              <a:rPr dirty="0" u="none" sz="2950" spc="-5" b="0">
                <a:latin typeface="Trebuchet MS"/>
                <a:cs typeface="Trebuchet MS"/>
              </a:rPr>
              <a:t> </a:t>
            </a:r>
            <a:r>
              <a:rPr dirty="0" u="none" sz="2950" spc="-10" b="0">
                <a:latin typeface="Trebuchet MS"/>
                <a:cs typeface="Trebuchet MS"/>
              </a:rPr>
              <a:t>Hypocrite</a:t>
            </a:r>
            <a:endParaRPr sz="295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663" y="1834895"/>
            <a:ext cx="7103364" cy="121005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984" y="3212743"/>
            <a:ext cx="7536233" cy="70436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62785" y="4477057"/>
            <a:ext cx="7002780" cy="138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Messenger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Allah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(peace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upon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him)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said: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299"/>
              </a:lnSpc>
              <a:spcBef>
                <a:spcPts val="10"/>
              </a:spcBef>
            </a:pPr>
            <a:r>
              <a:rPr dirty="0" sz="1450" b="1">
                <a:latin typeface="Trebuchet MS"/>
                <a:cs typeface="Trebuchet MS"/>
              </a:rPr>
              <a:t>"There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are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four</a:t>
            </a:r>
            <a:r>
              <a:rPr dirty="0" sz="1450" spc="3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traits:</a:t>
            </a:r>
            <a:r>
              <a:rPr dirty="0" sz="1450" spc="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whoever</a:t>
            </a:r>
            <a:r>
              <a:rPr dirty="0" sz="1450" spc="4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has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them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pure</a:t>
            </a:r>
            <a:r>
              <a:rPr dirty="0" sz="1450" spc="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hypocrite,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and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whoever</a:t>
            </a:r>
            <a:r>
              <a:rPr dirty="0" sz="1450" spc="4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has </a:t>
            </a:r>
            <a:r>
              <a:rPr dirty="0" sz="1450" b="1">
                <a:latin typeface="Trebuchet MS"/>
                <a:cs typeface="Trebuchet MS"/>
              </a:rPr>
              <a:t>one</a:t>
            </a:r>
            <a:r>
              <a:rPr dirty="0" sz="1450" spc="3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of</a:t>
            </a:r>
            <a:r>
              <a:rPr dirty="0" sz="1450" spc="3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them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has</a:t>
            </a:r>
            <a:r>
              <a:rPr dirty="0" sz="1450" spc="1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trait</a:t>
            </a:r>
            <a:r>
              <a:rPr dirty="0" sz="1450" spc="4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of</a:t>
            </a:r>
            <a:r>
              <a:rPr dirty="0" sz="1450" spc="3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hypocrisy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until</a:t>
            </a:r>
            <a:r>
              <a:rPr dirty="0" sz="1450" spc="3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he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gives</a:t>
            </a:r>
            <a:r>
              <a:rPr dirty="0" sz="1450" spc="4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it</a:t>
            </a:r>
            <a:r>
              <a:rPr dirty="0" sz="1450" spc="3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up.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When</a:t>
            </a:r>
            <a:r>
              <a:rPr dirty="0" sz="1450" spc="1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he</a:t>
            </a:r>
            <a:r>
              <a:rPr dirty="0" sz="1450" spc="2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entrusted, </a:t>
            </a:r>
            <a:r>
              <a:rPr dirty="0" sz="1450" b="1">
                <a:latin typeface="Trebuchet MS"/>
                <a:cs typeface="Trebuchet MS"/>
              </a:rPr>
              <a:t>he</a:t>
            </a:r>
            <a:r>
              <a:rPr dirty="0" sz="1450" spc="3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betrays;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when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he</a:t>
            </a:r>
            <a:r>
              <a:rPr dirty="0" sz="1450" spc="3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speaks,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he</a:t>
            </a:r>
            <a:r>
              <a:rPr dirty="0" sz="1450" spc="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lies;</a:t>
            </a:r>
            <a:r>
              <a:rPr dirty="0" sz="1450" spc="4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when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he</a:t>
            </a:r>
            <a:r>
              <a:rPr dirty="0" sz="1450" spc="3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makes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</a:t>
            </a:r>
            <a:r>
              <a:rPr dirty="0" sz="1450" spc="5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promise,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he</a:t>
            </a:r>
            <a:r>
              <a:rPr dirty="0" sz="1450" spc="3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breaks</a:t>
            </a:r>
            <a:r>
              <a:rPr dirty="0" sz="1450" spc="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it; </a:t>
            </a:r>
            <a:r>
              <a:rPr dirty="0" sz="1450" b="1">
                <a:latin typeface="Trebuchet MS"/>
                <a:cs typeface="Trebuchet MS"/>
              </a:rPr>
              <a:t>and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when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he</a:t>
            </a:r>
            <a:r>
              <a:rPr dirty="0" sz="1450" spc="4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disputes,</a:t>
            </a:r>
            <a:r>
              <a:rPr dirty="0" sz="1450" spc="9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he</a:t>
            </a:r>
            <a:r>
              <a:rPr dirty="0" sz="1450" spc="6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behaves</a:t>
            </a:r>
            <a:r>
              <a:rPr dirty="0" sz="1450" spc="6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immorally."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>
                <a:latin typeface="Trebuchet MS"/>
                <a:cs typeface="Trebuchet MS"/>
              </a:rPr>
              <a:t>(Sahih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Bukhari,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Hadith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No: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2459)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627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130"/>
              </a:spcBef>
            </a:pPr>
            <a:r>
              <a:rPr dirty="0" u="none"/>
              <a:t>B.</a:t>
            </a:r>
            <a:r>
              <a:rPr dirty="0" u="none" spc="35"/>
              <a:t> </a:t>
            </a:r>
            <a:r>
              <a:rPr dirty="0"/>
              <a:t>Explanation</a:t>
            </a:r>
            <a:r>
              <a:rPr dirty="0" spc="10"/>
              <a:t> </a:t>
            </a:r>
            <a:r>
              <a:rPr dirty="0"/>
              <a:t>-</a:t>
            </a:r>
            <a:r>
              <a:rPr dirty="0" spc="15"/>
              <a:t> </a:t>
            </a:r>
            <a:r>
              <a:rPr dirty="0"/>
              <a:t>Upholding</a:t>
            </a:r>
            <a:r>
              <a:rPr dirty="0" spc="-30"/>
              <a:t> </a:t>
            </a:r>
            <a:r>
              <a:rPr dirty="0"/>
              <a:t>Trust</a:t>
            </a:r>
            <a:r>
              <a:rPr dirty="0" spc="35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Honesty</a:t>
            </a:r>
            <a:r>
              <a:rPr dirty="0" spc="25"/>
              <a:t> </a:t>
            </a:r>
            <a:r>
              <a:rPr dirty="0"/>
              <a:t>in</a:t>
            </a:r>
            <a:r>
              <a:rPr dirty="0" spc="10"/>
              <a:t> </a:t>
            </a:r>
            <a:r>
              <a:rPr dirty="0" spc="-10"/>
              <a:t>Islam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99738" y="2207772"/>
            <a:ext cx="7440930" cy="294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A.</a:t>
            </a:r>
            <a:r>
              <a:rPr dirty="0" sz="1450" spc="3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45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Betrayal</a:t>
            </a:r>
            <a:r>
              <a:rPr dirty="0" u="sng" sz="100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</a:t>
            </a:r>
            <a:r>
              <a:rPr dirty="0" u="sng" sz="100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Arial"/>
                <a:cs typeface="Arial"/>
              </a:rPr>
              <a:t>تنايخ</a:t>
            </a:r>
            <a:r>
              <a:rPr dirty="0" u="sng" sz="100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)</a:t>
            </a:r>
            <a:r>
              <a:rPr dirty="0" u="sng" sz="145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of</a:t>
            </a:r>
            <a:r>
              <a:rPr dirty="0" u="sng" sz="1450" spc="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Trust</a:t>
            </a:r>
            <a:endParaRPr sz="1450">
              <a:latin typeface="Trebuchet MS"/>
              <a:cs typeface="Trebuchet MS"/>
            </a:endParaRPr>
          </a:p>
          <a:p>
            <a:pPr marL="295910" indent="-283210">
              <a:lnSpc>
                <a:spcPct val="100000"/>
              </a:lnSpc>
              <a:spcBef>
                <a:spcPts val="30"/>
              </a:spcBef>
              <a:buFont typeface="Microsoft Sans Serif"/>
              <a:buChar char="•"/>
              <a:tabLst>
                <a:tab pos="295910" algn="l"/>
              </a:tabLst>
            </a:pPr>
            <a:r>
              <a:rPr dirty="0" sz="1300" b="1">
                <a:latin typeface="Arial"/>
                <a:cs typeface="Arial"/>
              </a:rPr>
              <a:t>Explanation:</a:t>
            </a:r>
            <a:r>
              <a:rPr dirty="0" sz="1300" spc="30" b="1">
                <a:latin typeface="Arial"/>
                <a:cs typeface="Arial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Being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trustworthy</a:t>
            </a:r>
            <a:r>
              <a:rPr dirty="0" sz="1300" spc="6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means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keeping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promises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secrets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others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share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with</a:t>
            </a:r>
            <a:r>
              <a:rPr dirty="0" sz="1300" spc="70">
                <a:latin typeface="Microsoft Sans Serif"/>
                <a:cs typeface="Microsoft Sans Serif"/>
              </a:rPr>
              <a:t> </a:t>
            </a:r>
            <a:r>
              <a:rPr dirty="0" sz="1300" spc="-25">
                <a:latin typeface="Microsoft Sans Serif"/>
                <a:cs typeface="Microsoft Sans Serif"/>
              </a:rPr>
              <a:t>us.</a:t>
            </a:r>
            <a:endParaRPr sz="130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25"/>
              </a:spcBef>
              <a:buFont typeface="Microsoft Sans Serif"/>
              <a:buChar char="•"/>
              <a:tabLst>
                <a:tab pos="295910" algn="l"/>
              </a:tabLst>
            </a:pPr>
            <a:r>
              <a:rPr dirty="0" sz="1300" b="1">
                <a:latin typeface="Arial"/>
                <a:cs typeface="Arial"/>
              </a:rPr>
              <a:t>Example:</a:t>
            </a:r>
            <a:r>
              <a:rPr dirty="0" sz="1300" spc="15" b="1">
                <a:latin typeface="Arial"/>
                <a:cs typeface="Arial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If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friend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tells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you</a:t>
            </a:r>
            <a:r>
              <a:rPr dirty="0" sz="1300" spc="6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secret,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keeping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it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confidential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shows</a:t>
            </a:r>
            <a:r>
              <a:rPr dirty="0" sz="1300" spc="7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you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respect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their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trust.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B.</a:t>
            </a:r>
            <a:r>
              <a:rPr dirty="0" sz="1450" spc="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Honesty</a:t>
            </a:r>
            <a:r>
              <a:rPr dirty="0" u="sng" sz="1450" spc="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in</a:t>
            </a:r>
            <a:r>
              <a:rPr dirty="0" u="sng" sz="1450" spc="6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Speech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30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300" b="1">
                <a:latin typeface="Arial"/>
                <a:cs typeface="Arial"/>
              </a:rPr>
              <a:t>Explanation:</a:t>
            </a:r>
            <a:r>
              <a:rPr dirty="0" sz="1300" spc="30" b="1">
                <a:latin typeface="Arial"/>
                <a:cs typeface="Arial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Speaking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truthfully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builds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trust</a:t>
            </a:r>
            <a:r>
              <a:rPr dirty="0" sz="1300" spc="6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strengthens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relationships.</a:t>
            </a:r>
            <a:endParaRPr sz="1300">
              <a:latin typeface="Microsoft Sans Serif"/>
              <a:cs typeface="Microsoft Sans Serif"/>
            </a:endParaRPr>
          </a:p>
          <a:p>
            <a:pPr marL="248920" marR="547370" indent="-236854">
              <a:lnSpc>
                <a:spcPct val="101499"/>
              </a:lnSpc>
              <a:spcBef>
                <a:spcPts val="5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300" b="1">
                <a:latin typeface="Arial"/>
                <a:cs typeface="Arial"/>
              </a:rPr>
              <a:t>Example:</a:t>
            </a:r>
            <a:r>
              <a:rPr dirty="0" sz="1300" spc="-50" b="1">
                <a:latin typeface="Arial"/>
                <a:cs typeface="Arial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Admitting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when</a:t>
            </a:r>
            <a:r>
              <a:rPr dirty="0" sz="1300" spc="7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you've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made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mistake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at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work</a:t>
            </a:r>
            <a:r>
              <a:rPr dirty="0" sz="1300" spc="6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shows</a:t>
            </a:r>
            <a:r>
              <a:rPr dirty="0" sz="1300" spc="6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honesty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helps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solve problems.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C.</a:t>
            </a:r>
            <a:r>
              <a:rPr dirty="0" sz="1450" spc="5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Keeping</a:t>
            </a:r>
            <a:r>
              <a:rPr dirty="0" u="sng" sz="1450" spc="6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Promises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30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300" b="1">
                <a:latin typeface="Arial"/>
                <a:cs typeface="Arial"/>
              </a:rPr>
              <a:t>Explanation:</a:t>
            </a:r>
            <a:r>
              <a:rPr dirty="0" sz="1300" spc="15" b="1">
                <a:latin typeface="Arial"/>
                <a:cs typeface="Arial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Fulfilling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our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commitments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shows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reliability</a:t>
            </a:r>
            <a:r>
              <a:rPr dirty="0" sz="1300" spc="2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respect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for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others.</a:t>
            </a:r>
            <a:endParaRPr sz="130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20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300" b="1">
                <a:latin typeface="Arial"/>
                <a:cs typeface="Arial"/>
              </a:rPr>
              <a:t>Example:</a:t>
            </a:r>
            <a:r>
              <a:rPr dirty="0" sz="1300" spc="20" b="1">
                <a:latin typeface="Arial"/>
                <a:cs typeface="Arial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If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you</a:t>
            </a:r>
            <a:r>
              <a:rPr dirty="0" sz="1300" spc="7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promise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help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neighbor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move,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doing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so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keeps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your</a:t>
            </a:r>
            <a:r>
              <a:rPr dirty="0" sz="1300" spc="6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word</a:t>
            </a:r>
            <a:r>
              <a:rPr dirty="0" sz="1300" spc="7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supports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them.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D.</a:t>
            </a:r>
            <a:r>
              <a:rPr dirty="0" sz="1450" spc="1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Fairness</a:t>
            </a:r>
            <a:r>
              <a:rPr dirty="0" u="sng" sz="145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in</a:t>
            </a:r>
            <a:r>
              <a:rPr dirty="0" u="sng" sz="1450" spc="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Disputes</a:t>
            </a:r>
            <a:endParaRPr sz="1450">
              <a:latin typeface="Trebuchet MS"/>
              <a:cs typeface="Trebuchet MS"/>
            </a:endParaRPr>
          </a:p>
          <a:p>
            <a:pPr marL="248920" marR="214629" indent="-236854">
              <a:lnSpc>
                <a:spcPct val="101499"/>
              </a:lnSpc>
              <a:spcBef>
                <a:spcPts val="5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300" b="1">
                <a:latin typeface="Arial"/>
                <a:cs typeface="Arial"/>
              </a:rPr>
              <a:t>Explanation:</a:t>
            </a:r>
            <a:r>
              <a:rPr dirty="0" sz="1300" spc="30" b="1">
                <a:latin typeface="Arial"/>
                <a:cs typeface="Arial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Handling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disagreements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with</a:t>
            </a:r>
            <a:r>
              <a:rPr dirty="0" sz="1300" spc="6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fairness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respect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prevents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harm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maintains peace.</a:t>
            </a:r>
            <a:endParaRPr sz="130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25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300" b="1">
                <a:latin typeface="Arial"/>
                <a:cs typeface="Arial"/>
              </a:rPr>
              <a:t>Example:</a:t>
            </a:r>
            <a:r>
              <a:rPr dirty="0" sz="1300" spc="20" b="1">
                <a:latin typeface="Arial"/>
                <a:cs typeface="Arial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Listening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to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both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sides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of</a:t>
            </a:r>
            <a:r>
              <a:rPr dirty="0" sz="1300" spc="5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argument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between</a:t>
            </a:r>
            <a:r>
              <a:rPr dirty="0" sz="1300" spc="5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friends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helps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find</a:t>
            </a:r>
            <a:r>
              <a:rPr dirty="0" sz="1300" spc="3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</a:t>
            </a:r>
            <a:r>
              <a:rPr dirty="0" sz="1300" spc="1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fair</a:t>
            </a:r>
            <a:r>
              <a:rPr dirty="0" sz="1300" spc="4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solution.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99688" y="1376954"/>
            <a:ext cx="7511415" cy="5171440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650" b="1">
                <a:solidFill>
                  <a:srgbClr val="0070BF"/>
                </a:solidFill>
                <a:latin typeface="Trebuchet MS"/>
                <a:cs typeface="Trebuchet MS"/>
              </a:rPr>
              <a:t>C.</a:t>
            </a:r>
            <a:r>
              <a:rPr dirty="0" sz="1650" spc="-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Practical</a:t>
            </a:r>
            <a:r>
              <a:rPr dirty="0" u="sng" sz="1650" spc="-7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Lessons</a:t>
            </a:r>
            <a:r>
              <a:rPr dirty="0" u="sng" sz="165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for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Muslims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Self-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Reflection:</a:t>
            </a:r>
            <a:endParaRPr sz="1450">
              <a:latin typeface="Trebuchet MS"/>
              <a:cs typeface="Trebuchet MS"/>
            </a:endParaRPr>
          </a:p>
          <a:p>
            <a:pPr marL="12700" marR="43815">
              <a:lnSpc>
                <a:spcPct val="150400"/>
              </a:lnSpc>
              <a:spcBef>
                <a:spcPts val="85"/>
              </a:spcBef>
            </a:pPr>
            <a:r>
              <a:rPr dirty="0" u="sng" sz="11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Explanation</a:t>
            </a:r>
            <a:r>
              <a:rPr dirty="0" sz="1150">
                <a:latin typeface="Trebuchet MS"/>
                <a:cs typeface="Trebuchet MS"/>
              </a:rPr>
              <a:t>:</a:t>
            </a:r>
            <a:r>
              <a:rPr dirty="0" sz="1150" spc="-25">
                <a:latin typeface="Trebuchet MS"/>
                <a:cs typeface="Trebuchet MS"/>
              </a:rPr>
              <a:t> Take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time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look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at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your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own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actions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ask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yourself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if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have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any negative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habits,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like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lying </a:t>
            </a:r>
            <a:r>
              <a:rPr dirty="0" sz="1150" spc="-25">
                <a:latin typeface="Trebuchet MS"/>
                <a:cs typeface="Trebuchet MS"/>
              </a:rPr>
              <a:t>or </a:t>
            </a:r>
            <a:r>
              <a:rPr dirty="0" sz="1150">
                <a:latin typeface="Trebuchet MS"/>
                <a:cs typeface="Trebuchet MS"/>
              </a:rPr>
              <a:t>breaking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promises.</a:t>
            </a:r>
            <a:r>
              <a:rPr dirty="0" sz="1150" spc="-50">
                <a:latin typeface="Trebuchet MS"/>
                <a:cs typeface="Trebuchet MS"/>
              </a:rPr>
              <a:t> </a:t>
            </a:r>
            <a:r>
              <a:rPr dirty="0" sz="1150" spc="-20">
                <a:latin typeface="Trebuchet MS"/>
                <a:cs typeface="Trebuchet MS"/>
              </a:rPr>
              <a:t>Try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3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correct</a:t>
            </a:r>
            <a:r>
              <a:rPr dirty="0" sz="1150" spc="-40">
                <a:latin typeface="Trebuchet MS"/>
                <a:cs typeface="Trebuchet MS"/>
              </a:rPr>
              <a:t> </a:t>
            </a:r>
            <a:r>
              <a:rPr dirty="0" sz="1150" spc="-20">
                <a:latin typeface="Trebuchet MS"/>
                <a:cs typeface="Trebuchet MS"/>
              </a:rPr>
              <a:t>them.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u="sng" sz="11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Example</a:t>
            </a:r>
            <a:r>
              <a:rPr dirty="0" sz="1150">
                <a:latin typeface="Trebuchet MS"/>
                <a:cs typeface="Trebuchet MS"/>
              </a:rPr>
              <a:t>: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Before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going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bed,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think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about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your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day—</a:t>
            </a:r>
            <a:r>
              <a:rPr dirty="0" sz="1150">
                <a:latin typeface="Trebuchet MS"/>
                <a:cs typeface="Trebuchet MS"/>
              </a:rPr>
              <a:t>did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keep</a:t>
            </a:r>
            <a:r>
              <a:rPr dirty="0" sz="1150" spc="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your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word?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Did</a:t>
            </a:r>
            <a:r>
              <a:rPr dirty="0" sz="1150" spc="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act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with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honesty?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Trustworthiness: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50400"/>
              </a:lnSpc>
              <a:spcBef>
                <a:spcPts val="95"/>
              </a:spcBef>
            </a:pPr>
            <a:r>
              <a:rPr dirty="0" u="sng" sz="11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Explanation</a:t>
            </a:r>
            <a:r>
              <a:rPr dirty="0" sz="1150">
                <a:latin typeface="Trebuchet MS"/>
                <a:cs typeface="Trebuchet MS"/>
              </a:rPr>
              <a:t>: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Be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someone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people can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rely on.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Whether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it's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small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task or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big</a:t>
            </a:r>
            <a:r>
              <a:rPr dirty="0" sz="1150" spc="-10">
                <a:latin typeface="Trebuchet MS"/>
                <a:cs typeface="Trebuchet MS"/>
              </a:rPr>
              <a:t> responsibility,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always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do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what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 spc="-25">
                <a:latin typeface="Trebuchet MS"/>
                <a:cs typeface="Trebuchet MS"/>
              </a:rPr>
              <a:t>you </a:t>
            </a:r>
            <a:r>
              <a:rPr dirty="0" sz="1150">
                <a:latin typeface="Trebuchet MS"/>
                <a:cs typeface="Trebuchet MS"/>
              </a:rPr>
              <a:t>say you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will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 spc="-25">
                <a:latin typeface="Trebuchet MS"/>
                <a:cs typeface="Trebuchet MS"/>
              </a:rPr>
              <a:t>do.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u="sng" sz="11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Example</a:t>
            </a:r>
            <a:r>
              <a:rPr dirty="0" sz="1150">
                <a:latin typeface="Trebuchet MS"/>
                <a:cs typeface="Trebuchet MS"/>
              </a:rPr>
              <a:t>: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If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friend</a:t>
            </a:r>
            <a:r>
              <a:rPr dirty="0" sz="1150" spc="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asks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for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help,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do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your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best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support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them without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making </a:t>
            </a:r>
            <a:r>
              <a:rPr dirty="0" sz="1150" spc="-10">
                <a:latin typeface="Trebuchet MS"/>
                <a:cs typeface="Trebuchet MS"/>
              </a:rPr>
              <a:t>excuses.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Truthfulness: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u="sng" sz="11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Explanation</a:t>
            </a:r>
            <a:r>
              <a:rPr dirty="0" sz="1150">
                <a:latin typeface="Trebuchet MS"/>
                <a:cs typeface="Trebuchet MS"/>
              </a:rPr>
              <a:t>:</a:t>
            </a:r>
            <a:r>
              <a:rPr dirty="0" sz="1150" spc="-7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Always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speak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truth, even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if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it’s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difficult. </a:t>
            </a:r>
            <a:r>
              <a:rPr dirty="0" sz="1150" spc="-10">
                <a:latin typeface="Trebuchet MS"/>
                <a:cs typeface="Trebuchet MS"/>
              </a:rPr>
              <a:t>Lying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can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damage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trust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hurt </a:t>
            </a:r>
            <a:r>
              <a:rPr dirty="0" sz="1150" spc="-10">
                <a:latin typeface="Trebuchet MS"/>
                <a:cs typeface="Trebuchet MS"/>
              </a:rPr>
              <a:t>relationships.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u="sng" sz="11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Example</a:t>
            </a:r>
            <a:r>
              <a:rPr dirty="0" sz="1150">
                <a:latin typeface="Trebuchet MS"/>
                <a:cs typeface="Trebuchet MS"/>
              </a:rPr>
              <a:t>:</a:t>
            </a:r>
            <a:r>
              <a:rPr dirty="0" sz="1150" spc="4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If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make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mistake,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admit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it.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Being honest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shows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strength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of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character.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Fulfilling</a:t>
            </a:r>
            <a:r>
              <a:rPr dirty="0" u="sng" sz="1450" spc="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Promises: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u="sng" sz="11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Explanation</a:t>
            </a:r>
            <a:r>
              <a:rPr dirty="0" sz="1150">
                <a:latin typeface="Trebuchet MS"/>
                <a:cs typeface="Trebuchet MS"/>
              </a:rPr>
              <a:t>: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When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give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your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word,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keep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it.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This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helps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build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trust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makes people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respect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 spc="-20">
                <a:latin typeface="Trebuchet MS"/>
                <a:cs typeface="Trebuchet MS"/>
              </a:rPr>
              <a:t>you.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u="sng" sz="11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Example</a:t>
            </a:r>
            <a:r>
              <a:rPr dirty="0" sz="1150">
                <a:latin typeface="Trebuchet MS"/>
                <a:cs typeface="Trebuchet MS"/>
              </a:rPr>
              <a:t>: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If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promise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meet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friend,</a:t>
            </a:r>
            <a:r>
              <a:rPr dirty="0" sz="1150" spc="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don’t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cancel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unless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it’s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absolutely</a:t>
            </a:r>
            <a:r>
              <a:rPr dirty="0" sz="1150" spc="-10">
                <a:latin typeface="Trebuchet MS"/>
                <a:cs typeface="Trebuchet MS"/>
              </a:rPr>
              <a:t> necessary.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Resolving</a:t>
            </a:r>
            <a:r>
              <a:rPr dirty="0" u="sng" sz="1450" spc="9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Disputes</a:t>
            </a:r>
            <a:r>
              <a:rPr dirty="0" u="sng" sz="1450" spc="114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Decently:</a:t>
            </a:r>
            <a:endParaRPr sz="1450">
              <a:latin typeface="Trebuchet MS"/>
              <a:cs typeface="Trebuchet MS"/>
            </a:endParaRPr>
          </a:p>
          <a:p>
            <a:pPr marL="12700" marR="697865">
              <a:lnSpc>
                <a:spcPct val="150400"/>
              </a:lnSpc>
              <a:spcBef>
                <a:spcPts val="85"/>
              </a:spcBef>
            </a:pPr>
            <a:r>
              <a:rPr dirty="0" u="sng" sz="11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Explanation</a:t>
            </a:r>
            <a:r>
              <a:rPr dirty="0" sz="1150">
                <a:latin typeface="Trebuchet MS"/>
                <a:cs typeface="Trebuchet MS"/>
              </a:rPr>
              <a:t>:</a:t>
            </a:r>
            <a:r>
              <a:rPr dirty="0" sz="1150" spc="-7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Approach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disagreements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with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calmness,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respect,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fairness, instead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of</a:t>
            </a:r>
            <a:r>
              <a:rPr dirty="0" sz="1150" spc="-3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getting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angry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 spc="-25">
                <a:latin typeface="Trebuchet MS"/>
                <a:cs typeface="Trebuchet MS"/>
              </a:rPr>
              <a:t>or </a:t>
            </a:r>
            <a:r>
              <a:rPr dirty="0" sz="1150" spc="-10">
                <a:latin typeface="Trebuchet MS"/>
                <a:cs typeface="Trebuchet MS"/>
              </a:rPr>
              <a:t>disrespectful.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u="sng" sz="11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Example</a:t>
            </a:r>
            <a:r>
              <a:rPr dirty="0" sz="1150">
                <a:latin typeface="Trebuchet MS"/>
                <a:cs typeface="Trebuchet MS"/>
              </a:rPr>
              <a:t>: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If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disagree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with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someone,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listen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carefully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their point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of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view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before responding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kindly.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658" y="1076995"/>
            <a:ext cx="4641850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none"/>
              <a:t>Practical</a:t>
            </a:r>
            <a:r>
              <a:rPr dirty="0" u="none" spc="50"/>
              <a:t> </a:t>
            </a:r>
            <a:r>
              <a:rPr dirty="0" u="none"/>
              <a:t>Steps</a:t>
            </a:r>
            <a:r>
              <a:rPr dirty="0" u="none" spc="60"/>
              <a:t> </a:t>
            </a:r>
            <a:r>
              <a:rPr dirty="0" u="none"/>
              <a:t>for</a:t>
            </a:r>
            <a:r>
              <a:rPr dirty="0" u="none" spc="45"/>
              <a:t> </a:t>
            </a:r>
            <a:r>
              <a:rPr dirty="0" u="none"/>
              <a:t>Improving</a:t>
            </a:r>
            <a:r>
              <a:rPr dirty="0" u="none" spc="35"/>
              <a:t> </a:t>
            </a:r>
            <a:r>
              <a:rPr dirty="0" u="none" spc="-10"/>
              <a:t>Character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7643" y="1991355"/>
            <a:ext cx="7249159" cy="35883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b="1">
                <a:solidFill>
                  <a:srgbClr val="0070BF"/>
                </a:solidFill>
                <a:latin typeface="Trebuchet MS"/>
                <a:cs typeface="Trebuchet MS"/>
              </a:rPr>
              <a:t>D.</a:t>
            </a:r>
            <a:r>
              <a:rPr dirty="0" sz="2300" spc="-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0070BF"/>
                </a:solidFill>
                <a:latin typeface="Trebuchet MS"/>
                <a:cs typeface="Trebuchet MS"/>
              </a:rPr>
              <a:t>Conclusion</a:t>
            </a:r>
            <a:r>
              <a:rPr dirty="0" sz="2300" spc="-7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0070BF"/>
                </a:solidFill>
                <a:latin typeface="Trebuchet MS"/>
                <a:cs typeface="Trebuchet MS"/>
              </a:rPr>
              <a:t>of</a:t>
            </a:r>
            <a:r>
              <a:rPr dirty="0" sz="2300" spc="-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0070BF"/>
                </a:solidFill>
                <a:latin typeface="Trebuchet MS"/>
                <a:cs typeface="Trebuchet MS"/>
              </a:rPr>
              <a:t>Hadith</a:t>
            </a:r>
            <a:r>
              <a:rPr dirty="0" sz="2300" spc="-5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0070BF"/>
                </a:solidFill>
                <a:latin typeface="Trebuchet MS"/>
                <a:cs typeface="Trebuchet MS"/>
              </a:rPr>
              <a:t>No:2</a:t>
            </a:r>
            <a:r>
              <a:rPr dirty="0" sz="2300" spc="-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0070BF"/>
                </a:solidFill>
                <a:latin typeface="Trebuchet MS"/>
                <a:cs typeface="Trebuchet MS"/>
              </a:rPr>
              <a:t>(Four</a:t>
            </a:r>
            <a:r>
              <a:rPr dirty="0" sz="2300" spc="-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0070BF"/>
                </a:solidFill>
                <a:latin typeface="Trebuchet MS"/>
                <a:cs typeface="Trebuchet MS"/>
              </a:rPr>
              <a:t>Signs)</a:t>
            </a:r>
            <a:endParaRPr sz="2300">
              <a:latin typeface="Trebuchet MS"/>
              <a:cs typeface="Trebuchet MS"/>
            </a:endParaRPr>
          </a:p>
          <a:p>
            <a:pPr marL="12700" marR="5080">
              <a:lnSpc>
                <a:spcPct val="150900"/>
              </a:lnSpc>
              <a:spcBef>
                <a:spcPts val="280"/>
              </a:spcBef>
            </a:pPr>
            <a:r>
              <a:rPr dirty="0" sz="1150">
                <a:latin typeface="Trebuchet MS"/>
                <a:cs typeface="Trebuchet MS"/>
              </a:rPr>
              <a:t>This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Hadith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highlights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actions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that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harm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both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our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personal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character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well-</a:t>
            </a:r>
            <a:r>
              <a:rPr dirty="0" sz="1150">
                <a:latin typeface="Trebuchet MS"/>
                <a:cs typeface="Trebuchet MS"/>
              </a:rPr>
              <a:t>being</a:t>
            </a:r>
            <a:r>
              <a:rPr dirty="0" sz="1150" spc="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of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our</a:t>
            </a:r>
            <a:r>
              <a:rPr dirty="0" sz="1150" spc="-10">
                <a:latin typeface="Trebuchet MS"/>
                <a:cs typeface="Trebuchet MS"/>
              </a:rPr>
              <a:t> community.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 spc="-25">
                <a:latin typeface="Trebuchet MS"/>
                <a:cs typeface="Trebuchet MS"/>
              </a:rPr>
              <a:t>By </a:t>
            </a:r>
            <a:r>
              <a:rPr dirty="0" sz="1150">
                <a:latin typeface="Trebuchet MS"/>
                <a:cs typeface="Trebuchet MS"/>
              </a:rPr>
              <a:t>recognizing and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avoiding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these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behaviors,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can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strengthen our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faith and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demonstrate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true commitment</a:t>
            </a:r>
            <a:r>
              <a:rPr dirty="0" sz="1150" spc="-35">
                <a:latin typeface="Trebuchet MS"/>
                <a:cs typeface="Trebuchet MS"/>
              </a:rPr>
              <a:t> </a:t>
            </a:r>
            <a:r>
              <a:rPr dirty="0" sz="1150" spc="-25">
                <a:latin typeface="Trebuchet MS"/>
                <a:cs typeface="Trebuchet MS"/>
              </a:rPr>
              <a:t>to </a:t>
            </a:r>
            <a:r>
              <a:rPr dirty="0" sz="1150" spc="-10">
                <a:latin typeface="Trebuchet MS"/>
                <a:cs typeface="Trebuchet MS"/>
              </a:rPr>
              <a:t>Islam.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Key</a:t>
            </a:r>
            <a:r>
              <a:rPr dirty="0" u="sng" sz="1450" spc="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Points:</a:t>
            </a:r>
            <a:endParaRPr sz="1450">
              <a:latin typeface="Trebuchet MS"/>
              <a:cs typeface="Trebuchet MS"/>
            </a:endParaRPr>
          </a:p>
          <a:p>
            <a:pPr marL="153035" indent="-140335">
              <a:lnSpc>
                <a:spcPct val="100000"/>
              </a:lnSpc>
              <a:spcBef>
                <a:spcPts val="715"/>
              </a:spcBef>
              <a:buFont typeface="Microsoft Sans Serif"/>
              <a:buChar char="•"/>
              <a:tabLst>
                <a:tab pos="153035" algn="l"/>
              </a:tabLst>
            </a:pPr>
            <a:r>
              <a:rPr dirty="0" sz="1000" spc="-20">
                <a:latin typeface="Trebuchet MS"/>
                <a:cs typeface="Trebuchet MS"/>
              </a:rPr>
              <a:t>Betraying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 spc="-25">
                <a:latin typeface="Trebuchet MS"/>
                <a:cs typeface="Trebuchet MS"/>
              </a:rPr>
              <a:t>Trust</a:t>
            </a:r>
            <a:r>
              <a:rPr dirty="0" sz="1000">
                <a:latin typeface="Trebuchet MS"/>
                <a:cs typeface="Trebuchet MS"/>
              </a:rPr>
              <a:t> -</a:t>
            </a:r>
            <a:r>
              <a:rPr dirty="0" sz="1000" spc="325">
                <a:latin typeface="Trebuchet MS"/>
                <a:cs typeface="Trebuchet MS"/>
              </a:rPr>
              <a:t> </a:t>
            </a:r>
            <a:r>
              <a:rPr dirty="0" sz="1000" spc="-140">
                <a:latin typeface="Microsoft Sans Serif"/>
                <a:cs typeface="Microsoft Sans Serif"/>
              </a:rPr>
              <a:t>انرک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تنايخ</a:t>
            </a:r>
            <a:endParaRPr sz="1000">
              <a:latin typeface="Microsoft Sans Serif"/>
              <a:cs typeface="Microsoft Sans Serif"/>
            </a:endParaRPr>
          </a:p>
          <a:p>
            <a:pPr marL="153035" indent="-140335">
              <a:lnSpc>
                <a:spcPct val="100000"/>
              </a:lnSpc>
              <a:spcBef>
                <a:spcPts val="585"/>
              </a:spcBef>
              <a:buFont typeface="Microsoft Sans Serif"/>
              <a:buChar char="•"/>
              <a:tabLst>
                <a:tab pos="153035" algn="l"/>
              </a:tabLst>
            </a:pPr>
            <a:r>
              <a:rPr dirty="0" sz="1000" spc="-10">
                <a:latin typeface="Trebuchet MS"/>
                <a:cs typeface="Trebuchet MS"/>
              </a:rPr>
              <a:t>Lying</a:t>
            </a:r>
            <a:endParaRPr sz="1000">
              <a:latin typeface="Trebuchet MS"/>
              <a:cs typeface="Trebuchet MS"/>
            </a:endParaRPr>
          </a:p>
          <a:p>
            <a:pPr marL="153035" indent="-140335">
              <a:lnSpc>
                <a:spcPct val="100000"/>
              </a:lnSpc>
              <a:spcBef>
                <a:spcPts val="575"/>
              </a:spcBef>
              <a:buFont typeface="Microsoft Sans Serif"/>
              <a:buChar char="•"/>
              <a:tabLst>
                <a:tab pos="153035" algn="l"/>
              </a:tabLst>
            </a:pPr>
            <a:r>
              <a:rPr dirty="0" sz="1000" spc="-10">
                <a:latin typeface="Trebuchet MS"/>
                <a:cs typeface="Trebuchet MS"/>
              </a:rPr>
              <a:t>Breaking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Promises</a:t>
            </a:r>
            <a:endParaRPr sz="1000">
              <a:latin typeface="Trebuchet MS"/>
              <a:cs typeface="Trebuchet MS"/>
            </a:endParaRPr>
          </a:p>
          <a:p>
            <a:pPr marL="153035" indent="-140335">
              <a:lnSpc>
                <a:spcPct val="100000"/>
              </a:lnSpc>
              <a:spcBef>
                <a:spcPts val="590"/>
              </a:spcBef>
              <a:buFont typeface="Microsoft Sans Serif"/>
              <a:buChar char="•"/>
              <a:tabLst>
                <a:tab pos="153035" algn="l"/>
              </a:tabLst>
            </a:pPr>
            <a:r>
              <a:rPr dirty="0" sz="1000" spc="-10">
                <a:latin typeface="Trebuchet MS"/>
                <a:cs typeface="Trebuchet MS"/>
              </a:rPr>
              <a:t>Immorality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in</a:t>
            </a:r>
            <a:r>
              <a:rPr dirty="0" sz="1000" spc="-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Disputes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u="sng" sz="10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Practical</a:t>
            </a:r>
            <a:r>
              <a:rPr dirty="0" u="sng" sz="1000" spc="-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Steps</a:t>
            </a:r>
            <a:r>
              <a:rPr dirty="0" u="sng" sz="1000" spc="-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to</a:t>
            </a:r>
            <a:r>
              <a:rPr dirty="0" u="sng" sz="1000" spc="-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Uphold</a:t>
            </a:r>
            <a:r>
              <a:rPr dirty="0" u="sng" sz="1000" spc="-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Integrity:</a:t>
            </a:r>
            <a:endParaRPr sz="1000">
              <a:latin typeface="Trebuchet MS"/>
              <a:cs typeface="Trebuchet MS"/>
            </a:endParaRPr>
          </a:p>
          <a:p>
            <a:pPr marL="153035" indent="-140335">
              <a:lnSpc>
                <a:spcPct val="100000"/>
              </a:lnSpc>
              <a:spcBef>
                <a:spcPts val="590"/>
              </a:spcBef>
              <a:buFont typeface="Microsoft Sans Serif"/>
              <a:buChar char="•"/>
              <a:tabLst>
                <a:tab pos="153035" algn="l"/>
              </a:tabLst>
            </a:pPr>
            <a:r>
              <a:rPr dirty="0" sz="1000" spc="-10" b="1">
                <a:latin typeface="Trebuchet MS"/>
                <a:cs typeface="Trebuchet MS"/>
              </a:rPr>
              <a:t>Self-Reflection:</a:t>
            </a:r>
            <a:r>
              <a:rPr dirty="0" sz="1000" spc="-55" b="1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Regularly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assess</a:t>
            </a:r>
            <a:r>
              <a:rPr dirty="0" sz="1000" spc="-6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your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actions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and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strive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to</a:t>
            </a:r>
            <a:r>
              <a:rPr dirty="0" sz="1000" spc="-2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align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them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with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Islamic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values.</a:t>
            </a:r>
            <a:endParaRPr sz="1000">
              <a:latin typeface="Trebuchet MS"/>
              <a:cs typeface="Trebuchet MS"/>
            </a:endParaRPr>
          </a:p>
          <a:p>
            <a:pPr marL="153035" indent="-140335">
              <a:lnSpc>
                <a:spcPct val="100000"/>
              </a:lnSpc>
              <a:spcBef>
                <a:spcPts val="575"/>
              </a:spcBef>
              <a:buFont typeface="Microsoft Sans Serif"/>
              <a:buChar char="•"/>
              <a:tabLst>
                <a:tab pos="153035" algn="l"/>
              </a:tabLst>
            </a:pPr>
            <a:r>
              <a:rPr dirty="0" sz="1000" b="1">
                <a:latin typeface="Trebuchet MS"/>
                <a:cs typeface="Trebuchet MS"/>
              </a:rPr>
              <a:t>Seek</a:t>
            </a:r>
            <a:r>
              <a:rPr dirty="0" sz="1000" spc="-40" b="1">
                <a:latin typeface="Trebuchet MS"/>
                <a:cs typeface="Trebuchet MS"/>
              </a:rPr>
              <a:t> </a:t>
            </a:r>
            <a:r>
              <a:rPr dirty="0" sz="1000" spc="-10" b="1">
                <a:latin typeface="Trebuchet MS"/>
                <a:cs typeface="Trebuchet MS"/>
              </a:rPr>
              <a:t>Forgiveness:</a:t>
            </a:r>
            <a:r>
              <a:rPr dirty="0" sz="1000" spc="-60" b="1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Repent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for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past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shortcomings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and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commit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to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positive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change.</a:t>
            </a:r>
            <a:endParaRPr sz="1000">
              <a:latin typeface="Trebuchet MS"/>
              <a:cs typeface="Trebuchet MS"/>
            </a:endParaRPr>
          </a:p>
          <a:p>
            <a:pPr marL="153035" indent="-140335">
              <a:lnSpc>
                <a:spcPct val="100000"/>
              </a:lnSpc>
              <a:spcBef>
                <a:spcPts val="590"/>
              </a:spcBef>
              <a:buFont typeface="Microsoft Sans Serif"/>
              <a:buChar char="•"/>
              <a:tabLst>
                <a:tab pos="153035" algn="l"/>
              </a:tabLst>
            </a:pPr>
            <a:r>
              <a:rPr dirty="0" sz="1000" spc="-10" b="1">
                <a:latin typeface="Trebuchet MS"/>
                <a:cs typeface="Trebuchet MS"/>
              </a:rPr>
              <a:t>Educate</a:t>
            </a:r>
            <a:r>
              <a:rPr dirty="0" sz="1000" spc="-40" b="1">
                <a:latin typeface="Trebuchet MS"/>
                <a:cs typeface="Trebuchet MS"/>
              </a:rPr>
              <a:t> </a:t>
            </a:r>
            <a:r>
              <a:rPr dirty="0" sz="1000" spc="-20" b="1">
                <a:latin typeface="Trebuchet MS"/>
                <a:cs typeface="Trebuchet MS"/>
              </a:rPr>
              <a:t>Yourself:</a:t>
            </a:r>
            <a:r>
              <a:rPr dirty="0" sz="1000" spc="-50" b="1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Learn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about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the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teachings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of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Islam</a:t>
            </a:r>
            <a:r>
              <a:rPr dirty="0" sz="1000" spc="-2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to</a:t>
            </a:r>
            <a:r>
              <a:rPr dirty="0" sz="1000" spc="-2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better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 spc="-20">
                <a:latin typeface="Trebuchet MS"/>
                <a:cs typeface="Trebuchet MS"/>
              </a:rPr>
              <a:t>understand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and</a:t>
            </a:r>
            <a:r>
              <a:rPr dirty="0" sz="1000" spc="-4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embody</a:t>
            </a:r>
            <a:r>
              <a:rPr dirty="0" sz="1000" spc="-5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its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principles.</a:t>
            </a:r>
            <a:endParaRPr sz="1000">
              <a:latin typeface="Trebuchet MS"/>
              <a:cs typeface="Trebuchet MS"/>
            </a:endParaRPr>
          </a:p>
          <a:p>
            <a:pPr marL="153035" indent="-140335">
              <a:lnSpc>
                <a:spcPct val="100000"/>
              </a:lnSpc>
              <a:spcBef>
                <a:spcPts val="575"/>
              </a:spcBef>
              <a:buFont typeface="Microsoft Sans Serif"/>
              <a:buChar char="•"/>
              <a:tabLst>
                <a:tab pos="153035" algn="l"/>
              </a:tabLst>
            </a:pPr>
            <a:r>
              <a:rPr dirty="0" sz="1000" b="1">
                <a:latin typeface="Trebuchet MS"/>
                <a:cs typeface="Trebuchet MS"/>
              </a:rPr>
              <a:t>Lead</a:t>
            </a:r>
            <a:r>
              <a:rPr dirty="0" sz="1000" spc="-30" b="1">
                <a:latin typeface="Trebuchet MS"/>
                <a:cs typeface="Trebuchet MS"/>
              </a:rPr>
              <a:t> </a:t>
            </a:r>
            <a:r>
              <a:rPr dirty="0" sz="1000" b="1">
                <a:latin typeface="Trebuchet MS"/>
                <a:cs typeface="Trebuchet MS"/>
              </a:rPr>
              <a:t>by</a:t>
            </a:r>
            <a:r>
              <a:rPr dirty="0" sz="1000" spc="-25" b="1">
                <a:latin typeface="Trebuchet MS"/>
                <a:cs typeface="Trebuchet MS"/>
              </a:rPr>
              <a:t> </a:t>
            </a:r>
            <a:r>
              <a:rPr dirty="0" sz="1000" spc="-10" b="1">
                <a:latin typeface="Trebuchet MS"/>
                <a:cs typeface="Trebuchet MS"/>
              </a:rPr>
              <a:t>Example:</a:t>
            </a:r>
            <a:r>
              <a:rPr dirty="0" sz="1000" spc="-35" b="1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Prove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honesty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in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all</a:t>
            </a:r>
            <a:r>
              <a:rPr dirty="0" sz="1000" spc="-3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aspects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of</a:t>
            </a:r>
            <a:r>
              <a:rPr dirty="0" sz="1000" spc="-30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life</a:t>
            </a:r>
            <a:r>
              <a:rPr dirty="0" sz="1000" spc="-45">
                <a:latin typeface="Trebuchet MS"/>
                <a:cs typeface="Trebuchet MS"/>
              </a:rPr>
              <a:t> </a:t>
            </a:r>
            <a:r>
              <a:rPr dirty="0" sz="1000">
                <a:latin typeface="Trebuchet MS"/>
                <a:cs typeface="Trebuchet MS"/>
              </a:rPr>
              <a:t>to</a:t>
            </a:r>
            <a:r>
              <a:rPr dirty="0" sz="1000" spc="-20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inspire</a:t>
            </a:r>
            <a:r>
              <a:rPr dirty="0" sz="1000" spc="-55">
                <a:latin typeface="Trebuchet MS"/>
                <a:cs typeface="Trebuchet MS"/>
              </a:rPr>
              <a:t> </a:t>
            </a:r>
            <a:r>
              <a:rPr dirty="0" sz="1000" spc="-10">
                <a:latin typeface="Trebuchet MS"/>
                <a:cs typeface="Trebuchet MS"/>
              </a:rPr>
              <a:t>others.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1386" y="1188142"/>
            <a:ext cx="6138545" cy="3657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200"/>
              <a:t>Upholding</a:t>
            </a:r>
            <a:r>
              <a:rPr dirty="0" sz="2200" spc="30"/>
              <a:t> </a:t>
            </a:r>
            <a:r>
              <a:rPr dirty="0" sz="2200"/>
              <a:t>Integrity:</a:t>
            </a:r>
            <a:r>
              <a:rPr dirty="0" sz="2200" spc="15"/>
              <a:t> </a:t>
            </a:r>
            <a:r>
              <a:rPr dirty="0" sz="2200"/>
              <a:t>Lessons</a:t>
            </a:r>
            <a:r>
              <a:rPr dirty="0" sz="2200" spc="35"/>
              <a:t> </a:t>
            </a:r>
            <a:r>
              <a:rPr dirty="0" sz="2200"/>
              <a:t>from</a:t>
            </a:r>
            <a:r>
              <a:rPr dirty="0" sz="2200" spc="60"/>
              <a:t> </a:t>
            </a:r>
            <a:r>
              <a:rPr dirty="0" sz="2200"/>
              <a:t>Hadith</a:t>
            </a:r>
            <a:r>
              <a:rPr dirty="0" sz="2200" spc="50"/>
              <a:t> </a:t>
            </a:r>
            <a:r>
              <a:rPr dirty="0" sz="2200" spc="-20"/>
              <a:t>No:2</a:t>
            </a:r>
            <a:endParaRPr sz="2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3345" y="1441163"/>
            <a:ext cx="521716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none" sz="2950" b="0">
                <a:latin typeface="Trebuchet MS"/>
                <a:cs typeface="Trebuchet MS"/>
              </a:rPr>
              <a:t>3.</a:t>
            </a:r>
            <a:r>
              <a:rPr dirty="0" u="none" sz="2950" spc="10" b="0">
                <a:latin typeface="Trebuchet MS"/>
                <a:cs typeface="Trebuchet MS"/>
              </a:rPr>
              <a:t> </a:t>
            </a:r>
            <a:r>
              <a:rPr dirty="0" u="none" sz="2950" b="0">
                <a:latin typeface="Trebuchet MS"/>
                <a:cs typeface="Trebuchet MS"/>
              </a:rPr>
              <a:t>Hadith</a:t>
            </a:r>
            <a:r>
              <a:rPr dirty="0" u="none" sz="2950" spc="-20" b="0">
                <a:latin typeface="Trebuchet MS"/>
                <a:cs typeface="Trebuchet MS"/>
              </a:rPr>
              <a:t> </a:t>
            </a:r>
            <a:r>
              <a:rPr dirty="0" u="none" sz="2950" b="0">
                <a:latin typeface="Trebuchet MS"/>
                <a:cs typeface="Trebuchet MS"/>
              </a:rPr>
              <a:t>No:2</a:t>
            </a:r>
            <a:r>
              <a:rPr dirty="0" u="none" sz="2950" spc="-10" b="0">
                <a:latin typeface="Trebuchet MS"/>
                <a:cs typeface="Trebuchet MS"/>
              </a:rPr>
              <a:t> </a:t>
            </a:r>
            <a:r>
              <a:rPr dirty="0" u="none" sz="2950" b="0">
                <a:latin typeface="Trebuchet MS"/>
                <a:cs typeface="Trebuchet MS"/>
              </a:rPr>
              <a:t>–</a:t>
            </a:r>
            <a:r>
              <a:rPr dirty="0" u="none" sz="2950" spc="15" b="0">
                <a:latin typeface="Trebuchet MS"/>
                <a:cs typeface="Trebuchet MS"/>
              </a:rPr>
              <a:t> </a:t>
            </a:r>
            <a:r>
              <a:rPr dirty="0" u="none" sz="2950" b="0">
                <a:latin typeface="Trebuchet MS"/>
                <a:cs typeface="Trebuchet MS"/>
              </a:rPr>
              <a:t>Virtue</a:t>
            </a:r>
            <a:r>
              <a:rPr dirty="0" u="none" sz="2950" spc="-50" b="0">
                <a:latin typeface="Trebuchet MS"/>
                <a:cs typeface="Trebuchet MS"/>
              </a:rPr>
              <a:t> </a:t>
            </a:r>
            <a:r>
              <a:rPr dirty="0" u="none" sz="2950" b="0">
                <a:latin typeface="Trebuchet MS"/>
                <a:cs typeface="Trebuchet MS"/>
              </a:rPr>
              <a:t>and</a:t>
            </a:r>
            <a:r>
              <a:rPr dirty="0" u="none" sz="2950" spc="-20" b="0">
                <a:latin typeface="Trebuchet MS"/>
                <a:cs typeface="Trebuchet MS"/>
              </a:rPr>
              <a:t> </a:t>
            </a:r>
            <a:r>
              <a:rPr dirty="0" u="none" sz="2950" spc="-25" b="0">
                <a:latin typeface="Trebuchet MS"/>
                <a:cs typeface="Trebuchet MS"/>
              </a:rPr>
              <a:t>Sin</a:t>
            </a:r>
            <a:endParaRPr sz="295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8008" y="2308860"/>
            <a:ext cx="4875275" cy="93116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10030" y="3577851"/>
            <a:ext cx="7205980" cy="9321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An-Nawwas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bin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Sam'an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(RA)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narrated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asked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(peace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upon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him) </a:t>
            </a:r>
            <a:r>
              <a:rPr dirty="0" sz="1450">
                <a:latin typeface="Trebuchet MS"/>
                <a:cs typeface="Trebuchet MS"/>
              </a:rPr>
              <a:t>about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virtue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sin,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said:</a:t>
            </a:r>
            <a:endParaRPr sz="1450">
              <a:latin typeface="Trebuchet MS"/>
              <a:cs typeface="Trebuchet MS"/>
            </a:endParaRPr>
          </a:p>
          <a:p>
            <a:pPr marL="12700" marR="165735">
              <a:lnSpc>
                <a:spcPts val="1789"/>
              </a:lnSpc>
              <a:spcBef>
                <a:spcPts val="50"/>
              </a:spcBef>
            </a:pPr>
            <a:r>
              <a:rPr dirty="0" sz="1450">
                <a:latin typeface="Trebuchet MS"/>
                <a:cs typeface="Trebuchet MS"/>
              </a:rPr>
              <a:t>"Virtue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good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manners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which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pricks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your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conscience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which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you </a:t>
            </a:r>
            <a:r>
              <a:rPr dirty="0" sz="1450">
                <a:latin typeface="Trebuchet MS"/>
                <a:cs typeface="Trebuchet MS"/>
              </a:rPr>
              <a:t>would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know."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130"/>
              </a:spcBef>
            </a:pPr>
            <a:r>
              <a:rPr dirty="0" u="none"/>
              <a:t>B.</a:t>
            </a:r>
            <a:r>
              <a:rPr dirty="0" u="none" spc="45"/>
              <a:t> </a:t>
            </a:r>
            <a:r>
              <a:rPr dirty="0"/>
              <a:t>Understanding</a:t>
            </a:r>
            <a:r>
              <a:rPr dirty="0" spc="-5"/>
              <a:t> </a:t>
            </a:r>
            <a:r>
              <a:rPr dirty="0"/>
              <a:t>Virtue</a:t>
            </a:r>
            <a:r>
              <a:rPr dirty="0" spc="30"/>
              <a:t> </a:t>
            </a:r>
            <a:r>
              <a:rPr dirty="0"/>
              <a:t>and</a:t>
            </a:r>
            <a:r>
              <a:rPr dirty="0" spc="20"/>
              <a:t> </a:t>
            </a:r>
            <a:r>
              <a:rPr dirty="0"/>
              <a:t>Sin</a:t>
            </a:r>
            <a:r>
              <a:rPr dirty="0" spc="20"/>
              <a:t> </a:t>
            </a:r>
            <a:r>
              <a:rPr dirty="0"/>
              <a:t>in</a:t>
            </a:r>
            <a:r>
              <a:rPr dirty="0" spc="20"/>
              <a:t> </a:t>
            </a:r>
            <a:r>
              <a:rPr dirty="0" spc="-10"/>
              <a:t>Islam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72839" y="1969983"/>
            <a:ext cx="7496809" cy="32200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91135" indent="-178435">
              <a:lnSpc>
                <a:spcPct val="100000"/>
              </a:lnSpc>
              <a:spcBef>
                <a:spcPts val="135"/>
              </a:spcBef>
              <a:buSzPct val="93103"/>
              <a:buAutoNum type="arabicPeriod"/>
              <a:tabLst>
                <a:tab pos="191135" algn="l"/>
              </a:tabLst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Virtue</a:t>
            </a:r>
            <a:r>
              <a:rPr dirty="0" u="sng" sz="145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(Good</a:t>
            </a:r>
            <a:r>
              <a:rPr dirty="0" u="sng" sz="1450" spc="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Manners)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Explanation</a:t>
            </a:r>
            <a:r>
              <a:rPr dirty="0" sz="1450" spc="-10">
                <a:solidFill>
                  <a:srgbClr val="0070BF"/>
                </a:solidFill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2700" marR="495934">
              <a:lnSpc>
                <a:spcPct val="101600"/>
              </a:lnSpc>
              <a:spcBef>
                <a:spcPts val="5"/>
              </a:spcBef>
            </a:pPr>
            <a:r>
              <a:rPr dirty="0" sz="1300">
                <a:latin typeface="Trebuchet MS"/>
                <a:cs typeface="Trebuchet MS"/>
              </a:rPr>
              <a:t>Good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manners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are</a:t>
            </a:r>
            <a:r>
              <a:rPr dirty="0" sz="1300" spc="1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behaviors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that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reflect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kindness,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honesty,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respect,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humility.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These</a:t>
            </a:r>
            <a:r>
              <a:rPr dirty="0" sz="1300" spc="5">
                <a:latin typeface="Trebuchet MS"/>
                <a:cs typeface="Trebuchet MS"/>
              </a:rPr>
              <a:t> </a:t>
            </a:r>
            <a:r>
              <a:rPr dirty="0" sz="1300" spc="-25">
                <a:latin typeface="Trebuchet MS"/>
                <a:cs typeface="Trebuchet MS"/>
              </a:rPr>
              <a:t>are </a:t>
            </a:r>
            <a:r>
              <a:rPr dirty="0" sz="1300">
                <a:latin typeface="Trebuchet MS"/>
                <a:cs typeface="Trebuchet MS"/>
              </a:rPr>
              <a:t>qualities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that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help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build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strong,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positive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relationships.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Example</a:t>
            </a:r>
            <a:r>
              <a:rPr dirty="0" sz="1450" spc="-10">
                <a:solidFill>
                  <a:srgbClr val="0070BF"/>
                </a:solidFill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2700" marR="98425">
              <a:lnSpc>
                <a:spcPct val="101600"/>
              </a:lnSpc>
              <a:spcBef>
                <a:spcPts val="5"/>
              </a:spcBef>
            </a:pPr>
            <a:r>
              <a:rPr dirty="0" sz="1300">
                <a:latin typeface="Trebuchet MS"/>
                <a:cs typeface="Trebuchet MS"/>
              </a:rPr>
              <a:t>Being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polite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to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everyone,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helping</a:t>
            </a:r>
            <a:r>
              <a:rPr dirty="0" sz="1300" spc="6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those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need,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showing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care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for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others. These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actions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 spc="-20">
                <a:latin typeface="Trebuchet MS"/>
                <a:cs typeface="Trebuchet MS"/>
              </a:rPr>
              <a:t>make </a:t>
            </a:r>
            <a:r>
              <a:rPr dirty="0" sz="1300">
                <a:latin typeface="Trebuchet MS"/>
                <a:cs typeface="Trebuchet MS"/>
              </a:rPr>
              <a:t>our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hearts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and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society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better.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30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5"/>
              </a:spcBef>
              <a:buSzPct val="93103"/>
              <a:buAutoNum type="arabicPeriod" startAt="2"/>
              <a:tabLst>
                <a:tab pos="248285" algn="l"/>
              </a:tabLst>
            </a:pP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Sin</a:t>
            </a:r>
            <a:r>
              <a:rPr dirty="0" u="sng" sz="1450" spc="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(What</a:t>
            </a:r>
            <a:r>
              <a:rPr dirty="0" u="sng" sz="1450" spc="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Pricks</a:t>
            </a:r>
            <a:r>
              <a:rPr dirty="0" u="sng" sz="1450" spc="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Your</a:t>
            </a:r>
            <a:r>
              <a:rPr dirty="0" u="sng" sz="1450" spc="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Conscience)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Explanation:</a:t>
            </a:r>
            <a:endParaRPr sz="1450">
              <a:latin typeface="Trebuchet MS"/>
              <a:cs typeface="Trebuchet MS"/>
            </a:endParaRPr>
          </a:p>
          <a:p>
            <a:pPr marL="12700" marR="170180">
              <a:lnSpc>
                <a:spcPct val="101600"/>
              </a:lnSpc>
              <a:spcBef>
                <a:spcPts val="5"/>
              </a:spcBef>
            </a:pPr>
            <a:r>
              <a:rPr dirty="0" sz="1300">
                <a:latin typeface="Trebuchet MS"/>
                <a:cs typeface="Trebuchet MS"/>
              </a:rPr>
              <a:t>Sin</a:t>
            </a:r>
            <a:r>
              <a:rPr dirty="0" sz="1300" spc="5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is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any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act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that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causes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guilt</a:t>
            </a:r>
            <a:r>
              <a:rPr dirty="0" sz="1300" spc="5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or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shame.</a:t>
            </a:r>
            <a:r>
              <a:rPr dirty="0" sz="1300" spc="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It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is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something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we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wouldn’t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want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others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to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know</a:t>
            </a:r>
            <a:r>
              <a:rPr dirty="0" sz="1300" spc="5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about </a:t>
            </a:r>
            <a:r>
              <a:rPr dirty="0" sz="1300">
                <a:latin typeface="Trebuchet MS"/>
                <a:cs typeface="Trebuchet MS"/>
              </a:rPr>
              <a:t>because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it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goes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against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our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moral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values.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5"/>
              </a:spcBef>
            </a:pPr>
            <a:r>
              <a:rPr dirty="0" sz="1300">
                <a:latin typeface="Trebuchet MS"/>
                <a:cs typeface="Trebuchet MS"/>
              </a:rPr>
              <a:t>Cheating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on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test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or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lying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about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something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important.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When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we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do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such</a:t>
            </a:r>
            <a:r>
              <a:rPr dirty="0" sz="1300" spc="1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things,</a:t>
            </a:r>
            <a:r>
              <a:rPr dirty="0" sz="1300" spc="4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they</a:t>
            </a:r>
            <a:r>
              <a:rPr dirty="0" sz="1300" spc="3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make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us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 spc="-20">
                <a:latin typeface="Trebuchet MS"/>
                <a:cs typeface="Trebuchet MS"/>
              </a:rPr>
              <a:t>feel </a:t>
            </a:r>
            <a:r>
              <a:rPr dirty="0" sz="1300">
                <a:latin typeface="Trebuchet MS"/>
                <a:cs typeface="Trebuchet MS"/>
              </a:rPr>
              <a:t>bad</a:t>
            </a:r>
            <a:r>
              <a:rPr dirty="0" sz="1300" spc="2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inside</a:t>
            </a:r>
            <a:r>
              <a:rPr dirty="0" sz="1300" spc="45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because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we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know</a:t>
            </a:r>
            <a:r>
              <a:rPr dirty="0" sz="1300" spc="5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they</a:t>
            </a:r>
            <a:r>
              <a:rPr dirty="0" sz="1300" spc="30">
                <a:latin typeface="Trebuchet MS"/>
                <a:cs typeface="Trebuchet MS"/>
              </a:rPr>
              <a:t> </a:t>
            </a:r>
            <a:r>
              <a:rPr dirty="0" sz="1300">
                <a:latin typeface="Trebuchet MS"/>
                <a:cs typeface="Trebuchet MS"/>
              </a:rPr>
              <a:t>are</a:t>
            </a:r>
            <a:r>
              <a:rPr dirty="0" sz="1300" spc="20">
                <a:latin typeface="Trebuchet MS"/>
                <a:cs typeface="Trebuchet MS"/>
              </a:rPr>
              <a:t> </a:t>
            </a:r>
            <a:r>
              <a:rPr dirty="0" sz="1300" spc="-10">
                <a:latin typeface="Trebuchet MS"/>
                <a:cs typeface="Trebuchet MS"/>
              </a:rPr>
              <a:t>wrong.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99696" y="1726196"/>
            <a:ext cx="7642225" cy="3547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C.</a:t>
            </a:r>
            <a:r>
              <a:rPr dirty="0" sz="1450" spc="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Practical</a:t>
            </a:r>
            <a:r>
              <a:rPr dirty="0" u="sng" sz="1450" spc="7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Lessons</a:t>
            </a:r>
            <a:r>
              <a:rPr dirty="0" u="sng" sz="1450" spc="6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for</a:t>
            </a:r>
            <a:r>
              <a:rPr dirty="0" u="sng" sz="145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Muslims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295275" indent="-282575">
              <a:lnSpc>
                <a:spcPct val="100000"/>
              </a:lnSpc>
              <a:buAutoNum type="arabicPeriod"/>
              <a:tabLst>
                <a:tab pos="295275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Focus</a:t>
            </a:r>
            <a:r>
              <a:rPr dirty="0" sz="1450" spc="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on</a:t>
            </a:r>
            <a:r>
              <a:rPr dirty="0" sz="1450" spc="1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Good</a:t>
            </a:r>
            <a:r>
              <a:rPr dirty="0" sz="1450" spc="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Behavior: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b="1">
                <a:latin typeface="Trebuchet MS"/>
                <a:cs typeface="Trebuchet MS"/>
              </a:rPr>
              <a:t>Explanation</a:t>
            </a:r>
            <a:r>
              <a:rPr dirty="0" sz="1150">
                <a:latin typeface="Trebuchet MS"/>
                <a:cs typeface="Trebuchet MS"/>
              </a:rPr>
              <a:t>: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Strive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embody kindness,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 spc="-20">
                <a:latin typeface="Trebuchet MS"/>
                <a:cs typeface="Trebuchet MS"/>
              </a:rPr>
              <a:t>honesty, </a:t>
            </a:r>
            <a:r>
              <a:rPr dirty="0" sz="1150">
                <a:latin typeface="Trebuchet MS"/>
                <a:cs typeface="Trebuchet MS"/>
              </a:rPr>
              <a:t>respect,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humility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in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your daily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interactions.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latin typeface="Trebuchet MS"/>
                <a:cs typeface="Trebuchet MS"/>
              </a:rPr>
              <a:t>Example</a:t>
            </a:r>
            <a:r>
              <a:rPr dirty="0" sz="1150">
                <a:latin typeface="Trebuchet MS"/>
                <a:cs typeface="Trebuchet MS"/>
              </a:rPr>
              <a:t>:</a:t>
            </a:r>
            <a:r>
              <a:rPr dirty="0" sz="1150" spc="-3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Treat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everyone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with politeness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 assist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those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in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need, fostering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supportive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 spc="-20">
                <a:latin typeface="Trebuchet MS"/>
                <a:cs typeface="Trebuchet MS"/>
              </a:rPr>
              <a:t>community.Avoid</a:t>
            </a:r>
            <a:r>
              <a:rPr dirty="0" sz="1150" spc="-6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Actions</a:t>
            </a:r>
            <a:endParaRPr sz="1150">
              <a:latin typeface="Trebuchet MS"/>
              <a:cs typeface="Trebuchet MS"/>
            </a:endParaRPr>
          </a:p>
          <a:p>
            <a:pPr marL="244475" indent="-231775">
              <a:lnSpc>
                <a:spcPct val="100000"/>
              </a:lnSpc>
              <a:spcBef>
                <a:spcPts val="35"/>
              </a:spcBef>
              <a:buAutoNum type="arabicPeriod" startAt="2"/>
              <a:tabLst>
                <a:tab pos="244475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That</a:t>
            </a:r>
            <a:r>
              <a:rPr dirty="0" sz="1450" spc="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Cause</a:t>
            </a:r>
            <a:r>
              <a:rPr dirty="0" sz="1450" spc="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Guilt: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 b="1">
                <a:latin typeface="Trebuchet MS"/>
                <a:cs typeface="Trebuchet MS"/>
              </a:rPr>
              <a:t>Explanation</a:t>
            </a:r>
            <a:r>
              <a:rPr dirty="0" sz="1150">
                <a:latin typeface="Trebuchet MS"/>
                <a:cs typeface="Trebuchet MS"/>
              </a:rPr>
              <a:t>: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mindful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of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your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actions;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refrain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from behaviors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that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lead to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feelings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of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guilt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or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shame.</a:t>
            </a:r>
            <a:endParaRPr sz="115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</a:pPr>
            <a:r>
              <a:rPr dirty="0" sz="1150" b="1">
                <a:latin typeface="Trebuchet MS"/>
                <a:cs typeface="Trebuchet MS"/>
              </a:rPr>
              <a:t>Example</a:t>
            </a:r>
            <a:r>
              <a:rPr dirty="0" sz="1150">
                <a:latin typeface="Trebuchet MS"/>
                <a:cs typeface="Trebuchet MS"/>
              </a:rPr>
              <a:t>:</a:t>
            </a:r>
            <a:r>
              <a:rPr dirty="0" sz="1150" spc="-7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Avoid</a:t>
            </a:r>
            <a:r>
              <a:rPr dirty="0" sz="1150" spc="-4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dishonesty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or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unethical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conduct,</a:t>
            </a:r>
            <a:r>
              <a:rPr dirty="0" sz="1150" spc="-3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as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these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actions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harm your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conscience</a:t>
            </a:r>
            <a:r>
              <a:rPr dirty="0" sz="1150" spc="-4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relationships.Inner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 spc="-25">
                <a:latin typeface="Trebuchet MS"/>
                <a:cs typeface="Trebuchet MS"/>
              </a:rPr>
              <a:t>and </a:t>
            </a:r>
            <a:r>
              <a:rPr dirty="0" sz="1150" spc="-10">
                <a:latin typeface="Trebuchet MS"/>
                <a:cs typeface="Trebuchet MS"/>
              </a:rPr>
              <a:t>Outer</a:t>
            </a:r>
            <a:endParaRPr sz="11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AutoNum type="arabicPeriod" startAt="3"/>
              <a:tabLst>
                <a:tab pos="248285" algn="l"/>
              </a:tabLst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Reflection: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 b="1">
                <a:latin typeface="Trebuchet MS"/>
                <a:cs typeface="Trebuchet MS"/>
              </a:rPr>
              <a:t>Explanation</a:t>
            </a:r>
            <a:r>
              <a:rPr dirty="0" sz="1150">
                <a:latin typeface="Trebuchet MS"/>
                <a:cs typeface="Trebuchet MS"/>
              </a:rPr>
              <a:t>: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Nurture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both</a:t>
            </a:r>
            <a:r>
              <a:rPr dirty="0" sz="1150" spc="-3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your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external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manners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 internal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feelings to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cultivate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strong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moral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character.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150" b="1">
                <a:latin typeface="Trebuchet MS"/>
                <a:cs typeface="Trebuchet MS"/>
              </a:rPr>
              <a:t>Example</a:t>
            </a:r>
            <a:r>
              <a:rPr dirty="0" sz="1150">
                <a:latin typeface="Trebuchet MS"/>
                <a:cs typeface="Trebuchet MS"/>
              </a:rPr>
              <a:t>: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Engage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in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self-</a:t>
            </a:r>
            <a:r>
              <a:rPr dirty="0" sz="1150">
                <a:latin typeface="Trebuchet MS"/>
                <a:cs typeface="Trebuchet MS"/>
              </a:rPr>
              <a:t>reflection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ensure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your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actions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align with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your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values, promoting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personal</a:t>
            </a:r>
            <a:r>
              <a:rPr dirty="0" sz="1150" spc="-10">
                <a:latin typeface="Trebuchet MS"/>
                <a:cs typeface="Trebuchet MS"/>
              </a:rPr>
              <a:t> growth.</a:t>
            </a:r>
            <a:endParaRPr sz="1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Key</a:t>
            </a:r>
            <a:r>
              <a:rPr dirty="0" sz="1450" spc="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Takeaways:</a:t>
            </a:r>
            <a:endParaRPr sz="1450">
              <a:latin typeface="Trebuchet MS"/>
              <a:cs typeface="Trebuchet MS"/>
            </a:endParaRPr>
          </a:p>
          <a:p>
            <a:pPr marL="12700" marR="380365">
              <a:lnSpc>
                <a:spcPct val="100800"/>
              </a:lnSpc>
              <a:spcBef>
                <a:spcPts val="5"/>
              </a:spcBef>
            </a:pPr>
            <a:r>
              <a:rPr dirty="0" sz="1150" b="1">
                <a:solidFill>
                  <a:srgbClr val="0070BF"/>
                </a:solidFill>
                <a:latin typeface="Trebuchet MS"/>
                <a:cs typeface="Trebuchet MS"/>
              </a:rPr>
              <a:t>Virtue</a:t>
            </a:r>
            <a:r>
              <a:rPr dirty="0" sz="1150" spc="-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150" b="1">
                <a:solidFill>
                  <a:srgbClr val="0070BF"/>
                </a:solidFill>
                <a:latin typeface="Trebuchet MS"/>
                <a:cs typeface="Trebuchet MS"/>
              </a:rPr>
              <a:t>and</a:t>
            </a:r>
            <a:r>
              <a:rPr dirty="0" sz="1150" spc="-1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150" b="1">
                <a:solidFill>
                  <a:srgbClr val="0070BF"/>
                </a:solidFill>
                <a:latin typeface="Trebuchet MS"/>
                <a:cs typeface="Trebuchet MS"/>
              </a:rPr>
              <a:t>Sin</a:t>
            </a:r>
            <a:r>
              <a:rPr dirty="0" sz="1150">
                <a:solidFill>
                  <a:srgbClr val="0070BF"/>
                </a:solidFill>
                <a:latin typeface="Trebuchet MS"/>
                <a:cs typeface="Trebuchet MS"/>
              </a:rPr>
              <a:t>:</a:t>
            </a:r>
            <a:r>
              <a:rPr dirty="0" sz="1150" spc="-30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Good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manners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enhance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our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connection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with</a:t>
            </a:r>
            <a:r>
              <a:rPr dirty="0" sz="1150" spc="-7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Allah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 others,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while sinful actions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damage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 spc="-25">
                <a:latin typeface="Trebuchet MS"/>
                <a:cs typeface="Trebuchet MS"/>
              </a:rPr>
              <a:t>our </a:t>
            </a:r>
            <a:r>
              <a:rPr dirty="0" sz="1150">
                <a:latin typeface="Trebuchet MS"/>
                <a:cs typeface="Trebuchet MS"/>
              </a:rPr>
              <a:t>hearts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relationships.</a:t>
            </a:r>
            <a:endParaRPr sz="1150">
              <a:latin typeface="Trebuchet MS"/>
              <a:cs typeface="Trebuchet MS"/>
            </a:endParaRPr>
          </a:p>
          <a:p>
            <a:pPr marL="12700" marR="221615">
              <a:lnSpc>
                <a:spcPts val="1390"/>
              </a:lnSpc>
              <a:spcBef>
                <a:spcPts val="35"/>
              </a:spcBef>
            </a:pPr>
            <a:r>
              <a:rPr dirty="0" sz="1150" b="1">
                <a:solidFill>
                  <a:srgbClr val="0070BF"/>
                </a:solidFill>
                <a:latin typeface="Trebuchet MS"/>
                <a:cs typeface="Trebuchet MS"/>
              </a:rPr>
              <a:t>Balanced</a:t>
            </a:r>
            <a:r>
              <a:rPr dirty="0" sz="1150" spc="-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150" b="1">
                <a:solidFill>
                  <a:srgbClr val="0070BF"/>
                </a:solidFill>
                <a:latin typeface="Trebuchet MS"/>
                <a:cs typeface="Trebuchet MS"/>
              </a:rPr>
              <a:t>Life:</a:t>
            </a:r>
            <a:r>
              <a:rPr dirty="0" sz="1150" spc="-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By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practicing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virtue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steering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clear of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actions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that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cause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guilt,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we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lead lives that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please</a:t>
            </a:r>
            <a:r>
              <a:rPr dirty="0" sz="1150" spc="-6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Allah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contribute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positively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our</a:t>
            </a:r>
            <a:r>
              <a:rPr dirty="0" sz="1150" spc="-10">
                <a:latin typeface="Trebuchet MS"/>
                <a:cs typeface="Trebuchet MS"/>
              </a:rPr>
              <a:t> communities.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658" y="1244593"/>
            <a:ext cx="6677025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none"/>
              <a:t>Practical</a:t>
            </a:r>
            <a:r>
              <a:rPr dirty="0" u="none" spc="25"/>
              <a:t> </a:t>
            </a:r>
            <a:r>
              <a:rPr dirty="0" u="none"/>
              <a:t>Guidance</a:t>
            </a:r>
            <a:r>
              <a:rPr dirty="0" u="none" spc="10"/>
              <a:t> </a:t>
            </a:r>
            <a:r>
              <a:rPr dirty="0" u="none"/>
              <a:t>for</a:t>
            </a:r>
            <a:r>
              <a:rPr dirty="0" u="none" spc="45"/>
              <a:t> </a:t>
            </a:r>
            <a:r>
              <a:rPr dirty="0" u="none"/>
              <a:t>Upholding</a:t>
            </a:r>
            <a:r>
              <a:rPr dirty="0" u="none" spc="15"/>
              <a:t> </a:t>
            </a:r>
            <a:r>
              <a:rPr dirty="0" u="none"/>
              <a:t>Virtue</a:t>
            </a:r>
            <a:r>
              <a:rPr dirty="0" u="none" spc="30"/>
              <a:t> </a:t>
            </a:r>
            <a:r>
              <a:rPr dirty="0" u="none"/>
              <a:t>and</a:t>
            </a:r>
            <a:r>
              <a:rPr dirty="0" u="none" spc="-100"/>
              <a:t> </a:t>
            </a:r>
            <a:r>
              <a:rPr dirty="0" u="none"/>
              <a:t>Avoiding</a:t>
            </a:r>
            <a:r>
              <a:rPr dirty="0" u="none" spc="15"/>
              <a:t> </a:t>
            </a:r>
            <a:r>
              <a:rPr dirty="0" u="none" spc="-25"/>
              <a:t>Sin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Chapter-5 Quran and Hadith</dc:title>
  <dcterms:created xsi:type="dcterms:W3CDTF">2025-07-05T10:16:10Z</dcterms:created>
  <dcterms:modified xsi:type="dcterms:W3CDTF">2025-07-05T10:16:10Z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2025-05-12T00:00:00Z</vt:filetime>
  </property>
  <property fmtid="{D5CDD505-2E9C-101B-9397-08002B2CF9AE}" pid="3" name="LastSaved">
    <vt:filetime>2025-07-05T00:00:00Z</vt:filetime>
  </property>
  <property fmtid="{D5CDD505-2E9C-101B-9397-08002B2CF9AE}" pid="4" name="Producer">
    <vt:lpwstr>Microsoft: Print To PDF</vt:lpwstr>
  </property>
</Properties>
</file>