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7744" cy="5659120"/>
          </a:xfrm>
          <a:custGeom>
            <a:avLst/>
            <a:gdLst/>
            <a:ahLst/>
            <a:cxnLst/>
            <a:rect l="l" t="t" r="r" b="b"/>
            <a:pathLst>
              <a:path w="1007745" h="5659120">
                <a:moveTo>
                  <a:pt x="0" y="0"/>
                </a:moveTo>
                <a:lnTo>
                  <a:pt x="1007364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0966" y="1212654"/>
            <a:ext cx="8916467" cy="378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502" y="1884425"/>
            <a:ext cx="7899400" cy="414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3" name="object 3" descr=""/>
            <p:cNvSpPr/>
            <p:nvPr/>
          </p:nvSpPr>
          <p:spPr>
            <a:xfrm>
              <a:off x="7731251" y="1057656"/>
              <a:ext cx="1007744" cy="5659120"/>
            </a:xfrm>
            <a:custGeom>
              <a:avLst/>
              <a:gdLst/>
              <a:ahLst/>
              <a:cxnLst/>
              <a:rect l="l" t="t" r="r" b="b"/>
              <a:pathLst>
                <a:path w="1007745" h="5659120">
                  <a:moveTo>
                    <a:pt x="0" y="0"/>
                  </a:moveTo>
                  <a:lnTo>
                    <a:pt x="1007364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1057655"/>
            <a:ext cx="1588135" cy="5659120"/>
            <a:chOff x="0" y="1057655"/>
            <a:chExt cx="1588135" cy="56591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57655"/>
              <a:ext cx="702564" cy="468020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" y="5148071"/>
              <a:ext cx="1571244" cy="156819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742682" y="2202661"/>
            <a:ext cx="3413125" cy="384810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ctr" marR="132080">
              <a:lnSpc>
                <a:spcPct val="100000"/>
              </a:lnSpc>
              <a:spcBef>
                <a:spcPts val="655"/>
              </a:spcBef>
            </a:pP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What</a:t>
            </a:r>
            <a:r>
              <a:rPr dirty="0" sz="1200" spc="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is</a:t>
            </a:r>
            <a:r>
              <a:rPr dirty="0" sz="1200" spc="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200" spc="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12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Political</a:t>
            </a:r>
            <a:r>
              <a:rPr dirty="0" sz="12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algn="ctr" marL="26034" marR="158750">
              <a:lnSpc>
                <a:spcPts val="2020"/>
              </a:lnSpc>
              <a:spcBef>
                <a:spcPts val="150"/>
              </a:spcBef>
            </a:pP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Basic</a:t>
            </a:r>
            <a:r>
              <a:rPr dirty="0" sz="1200" spc="1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Principles</a:t>
            </a:r>
            <a:r>
              <a:rPr dirty="0" sz="1200" spc="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200" spc="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1200" spc="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Political</a:t>
            </a:r>
            <a:r>
              <a:rPr dirty="0" sz="1200" spc="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System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Tawhid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–</a:t>
            </a:r>
            <a:r>
              <a:rPr dirty="0" sz="1200" spc="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Oneness</a:t>
            </a:r>
            <a:r>
              <a:rPr dirty="0" sz="120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0070BF"/>
                </a:solidFill>
                <a:latin typeface="Arial"/>
                <a:cs typeface="Arial"/>
              </a:rPr>
              <a:t>Allah</a:t>
            </a:r>
            <a:endParaRPr sz="1200">
              <a:latin typeface="Arial"/>
              <a:cs typeface="Arial"/>
            </a:endParaRPr>
          </a:p>
          <a:p>
            <a:pPr algn="ctr" marR="131445">
              <a:lnSpc>
                <a:spcPct val="100000"/>
              </a:lnSpc>
              <a:spcBef>
                <a:spcPts val="405"/>
              </a:spcBef>
            </a:pP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Risalat</a:t>
            </a:r>
            <a:r>
              <a:rPr dirty="0" sz="120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–</a:t>
            </a:r>
            <a:r>
              <a:rPr dirty="0" sz="1200" spc="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Prophethood</a:t>
            </a:r>
            <a:endParaRPr sz="1200">
              <a:latin typeface="Arial"/>
              <a:cs typeface="Arial"/>
            </a:endParaRPr>
          </a:p>
          <a:p>
            <a:pPr algn="ctr" marL="181610" marR="308610" indent="-5715">
              <a:lnSpc>
                <a:spcPct val="139800"/>
              </a:lnSpc>
              <a:spcBef>
                <a:spcPts val="5"/>
              </a:spcBef>
            </a:pP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Khilafah</a:t>
            </a:r>
            <a:r>
              <a:rPr dirty="0" sz="1200" spc="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–</a:t>
            </a:r>
            <a:r>
              <a:rPr dirty="0" sz="1200" spc="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CaliphateDistinguishing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Features</a:t>
            </a:r>
            <a:r>
              <a:rPr dirty="0" sz="1200" spc="1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200" spc="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Islamic</a:t>
            </a:r>
            <a:r>
              <a:rPr dirty="0" sz="1200" spc="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Political</a:t>
            </a:r>
            <a:r>
              <a:rPr dirty="0" sz="1200" spc="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System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Simplicity,</a:t>
            </a:r>
            <a:r>
              <a:rPr dirty="0" sz="120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Accessibility,</a:t>
            </a:r>
            <a:r>
              <a:rPr dirty="0" sz="12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Accountability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Consultative</a:t>
            </a:r>
            <a:r>
              <a:rPr dirty="0" sz="1200" spc="1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Deliberation</a:t>
            </a:r>
            <a:r>
              <a:rPr dirty="0" sz="1200" spc="1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(Shura)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Justice,</a:t>
            </a:r>
            <a:r>
              <a:rPr dirty="0" sz="1200" spc="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Equality</a:t>
            </a:r>
            <a:endParaRPr sz="1200">
              <a:latin typeface="Arial"/>
              <a:cs typeface="Arial"/>
            </a:endParaRPr>
          </a:p>
          <a:p>
            <a:pPr algn="ctr" marL="568960" marR="698500">
              <a:lnSpc>
                <a:spcPts val="2020"/>
              </a:lnSpc>
              <a:spcBef>
                <a:spcPts val="145"/>
              </a:spcBef>
            </a:pP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Baitul</a:t>
            </a:r>
            <a:r>
              <a:rPr dirty="0" sz="1200" spc="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Maal</a:t>
            </a:r>
            <a:r>
              <a:rPr dirty="0" sz="1200" spc="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(Public</a:t>
            </a:r>
            <a:r>
              <a:rPr dirty="0" sz="120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70BF"/>
                </a:solidFill>
                <a:latin typeface="Arial"/>
                <a:cs typeface="Arial"/>
              </a:rPr>
              <a:t>Treasury) </a:t>
            </a:r>
            <a:r>
              <a:rPr dirty="0" sz="1200" b="1">
                <a:solidFill>
                  <a:srgbClr val="0070BF"/>
                </a:solidFill>
                <a:latin typeface="Arial"/>
                <a:cs typeface="Arial"/>
              </a:rPr>
              <a:t>Welfare</a:t>
            </a:r>
            <a:r>
              <a:rPr dirty="0" sz="1200" spc="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0070BF"/>
                </a:solidFill>
                <a:latin typeface="Arial"/>
                <a:cs typeface="Arial"/>
              </a:rPr>
              <a:t>State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Ms.</a:t>
            </a:r>
            <a:r>
              <a:rPr dirty="0" sz="19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SAFIA</a:t>
            </a:r>
            <a:r>
              <a:rPr dirty="0" sz="1950" spc="-11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spc="-20" b="1">
                <a:solidFill>
                  <a:srgbClr val="3F7718"/>
                </a:solidFill>
                <a:latin typeface="Times New Roman"/>
                <a:cs typeface="Times New Roman"/>
              </a:rPr>
              <a:t>WAQAS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Session:</a:t>
            </a:r>
            <a:r>
              <a:rPr dirty="0" sz="1450" spc="3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Spring:</a:t>
            </a:r>
            <a:r>
              <a:rPr dirty="0" sz="1450" spc="2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3F7718"/>
                </a:solidFill>
                <a:latin typeface="Times New Roman"/>
                <a:cs typeface="Times New Roman"/>
              </a:rPr>
              <a:t>2025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Course:</a:t>
            </a:r>
            <a:r>
              <a:rPr dirty="0" sz="1450" spc="5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Islamic</a:t>
            </a:r>
            <a:r>
              <a:rPr dirty="0" sz="14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Studies</a:t>
            </a:r>
            <a:r>
              <a:rPr dirty="0" sz="1450" spc="4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/</a:t>
            </a:r>
            <a:r>
              <a:rPr dirty="0" sz="1450" spc="6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Ethical</a:t>
            </a:r>
            <a:r>
              <a:rPr dirty="0" sz="1450" spc="2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3F7718"/>
                </a:solidFill>
                <a:latin typeface="Times New Roman"/>
                <a:cs typeface="Times New Roman"/>
              </a:rPr>
              <a:t>Behavior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480620" y="1308612"/>
            <a:ext cx="3656329" cy="83058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 marL="1905">
              <a:lnSpc>
                <a:spcPts val="3175"/>
              </a:lnSpc>
              <a:spcBef>
                <a:spcPts val="90"/>
              </a:spcBef>
            </a:pPr>
            <a:r>
              <a:rPr dirty="0" u="sng" sz="265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</a:rPr>
              <a:t>Chapter</a:t>
            </a:r>
            <a:endParaRPr sz="2650"/>
          </a:p>
          <a:p>
            <a:pPr algn="ctr">
              <a:lnSpc>
                <a:spcPts val="3175"/>
              </a:lnSpc>
            </a:pPr>
            <a:r>
              <a:rPr dirty="0" u="sng" sz="265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</a:rPr>
              <a:t>Islamic</a:t>
            </a:r>
            <a:r>
              <a:rPr dirty="0" u="sng" sz="2650" spc="-135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</a:rPr>
              <a:t> </a:t>
            </a:r>
            <a:r>
              <a:rPr dirty="0" u="sng" sz="265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</a:rPr>
              <a:t>Political</a:t>
            </a:r>
            <a:r>
              <a:rPr dirty="0" u="sng" sz="2650" spc="-145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</a:rPr>
              <a:t> </a:t>
            </a:r>
            <a:r>
              <a:rPr dirty="0" u="sng" sz="265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</a:rPr>
              <a:t>System</a:t>
            </a:r>
            <a:endParaRPr sz="2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4" y="1328405"/>
            <a:ext cx="541020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Islamic</a:t>
            </a:r>
            <a:r>
              <a:rPr dirty="0" sz="2950" spc="-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Political</a:t>
            </a:r>
            <a:r>
              <a:rPr dirty="0" sz="2950" spc="3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System</a:t>
            </a:r>
            <a:r>
              <a:rPr dirty="0" sz="2950" spc="20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Basic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4665" y="1833180"/>
            <a:ext cx="5805170" cy="447802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950" spc="-2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950" spc="2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4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4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10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21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dirty="0" sz="21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21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1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Political</a:t>
            </a:r>
            <a:r>
              <a:rPr dirty="0" sz="215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System?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10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Basic</a:t>
            </a:r>
            <a:r>
              <a:rPr dirty="0" sz="21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Principles</a:t>
            </a:r>
            <a:r>
              <a:rPr dirty="0" sz="21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1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Political</a:t>
            </a:r>
            <a:r>
              <a:rPr dirty="0" sz="2150" spc="-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System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00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Tawhid</a:t>
            </a:r>
            <a:r>
              <a:rPr dirty="0" sz="21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21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Oneness</a:t>
            </a:r>
            <a:r>
              <a:rPr dirty="0" sz="215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1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00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Risalat</a:t>
            </a:r>
            <a:r>
              <a:rPr dirty="0" sz="21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2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Prophethood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15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Khilafah</a:t>
            </a:r>
            <a:r>
              <a:rPr dirty="0" sz="215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dirty="0" sz="2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Caliphate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00"/>
              </a:spcBef>
            </a:pPr>
            <a:r>
              <a:rPr dirty="0" sz="170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46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Features</a:t>
            </a:r>
            <a:r>
              <a:rPr dirty="0" sz="2150" spc="-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2150" spc="-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Islamic</a:t>
            </a:r>
            <a:r>
              <a:rPr dirty="0" sz="2150" spc="-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Political</a:t>
            </a:r>
            <a:r>
              <a:rPr dirty="0" sz="2150" spc="-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System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00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Simplicity,</a:t>
            </a:r>
            <a:r>
              <a:rPr dirty="0" sz="215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Accessibility,</a:t>
            </a:r>
            <a:r>
              <a:rPr dirty="0" sz="215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Accountability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10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Consultative</a:t>
            </a:r>
            <a:r>
              <a:rPr dirty="0" sz="2150" spc="-1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Deliberation</a:t>
            </a:r>
            <a:r>
              <a:rPr dirty="0" sz="2150" spc="-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(Shura)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00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Justice,</a:t>
            </a:r>
            <a:r>
              <a:rPr dirty="0" sz="2150" spc="-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Equality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00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Baitul</a:t>
            </a:r>
            <a:r>
              <a:rPr dirty="0" sz="2150" spc="-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Maal</a:t>
            </a:r>
            <a:r>
              <a:rPr dirty="0" sz="2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(Public</a:t>
            </a:r>
            <a:r>
              <a:rPr dirty="0" sz="215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Treasury)</a:t>
            </a:r>
            <a:endParaRPr sz="21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315"/>
              </a:spcBef>
            </a:pPr>
            <a:r>
              <a:rPr dirty="0" sz="1700" spc="-2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700" spc="-7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2150">
                <a:solidFill>
                  <a:srgbClr val="3F3F3F"/>
                </a:solidFill>
                <a:latin typeface="Trebuchet MS"/>
                <a:cs typeface="Trebuchet MS"/>
              </a:rPr>
              <a:t>Welfare</a:t>
            </a:r>
            <a:r>
              <a:rPr dirty="0" sz="2150" spc="-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3F3F3F"/>
                </a:solidFill>
                <a:latin typeface="Trebuchet MS"/>
                <a:cs typeface="Trebuchet MS"/>
              </a:rPr>
              <a:t>State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761" y="1240086"/>
            <a:ext cx="6737984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894839" algn="l"/>
              </a:tabLst>
            </a:pPr>
            <a:r>
              <a:rPr dirty="0"/>
              <a:t>Principles</a:t>
            </a:r>
            <a:r>
              <a:rPr dirty="0" spc="-50"/>
              <a:t> </a:t>
            </a:r>
            <a:r>
              <a:rPr dirty="0" spc="-25"/>
              <a:t>of</a:t>
            </a:r>
            <a:r>
              <a:rPr dirty="0"/>
              <a:t>	Islamic</a:t>
            </a:r>
            <a:r>
              <a:rPr dirty="0" spc="-50"/>
              <a:t> </a:t>
            </a:r>
            <a:r>
              <a:rPr dirty="0"/>
              <a:t>Political</a:t>
            </a:r>
            <a:r>
              <a:rPr dirty="0" spc="-55"/>
              <a:t> </a:t>
            </a:r>
            <a:r>
              <a:rPr dirty="0"/>
              <a:t>System</a:t>
            </a:r>
            <a:r>
              <a:rPr dirty="0" spc="-35"/>
              <a:t> </a:t>
            </a:r>
            <a:r>
              <a:rPr dirty="0"/>
              <a:t>Basic</a:t>
            </a:r>
            <a:r>
              <a:rPr dirty="0" spc="-50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 spc="-10"/>
              <a:t>I.P.S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98147" y="1787177"/>
            <a:ext cx="7769225" cy="3674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Basic</a:t>
            </a:r>
            <a:r>
              <a:rPr dirty="0" u="sng" sz="16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Principles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6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I.P.S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Tawhid (Oneness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-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Allah):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Trebuchet MS"/>
                <a:cs typeface="Trebuchet MS"/>
              </a:rPr>
              <a:t>Belief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 Allah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Lord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Ruler.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power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laws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Him.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4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“His</a:t>
            </a:r>
            <a:r>
              <a:rPr dirty="0" sz="1450" spc="8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is</a:t>
            </a:r>
            <a:r>
              <a:rPr dirty="0" sz="1450" spc="7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the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creation</a:t>
            </a:r>
            <a:r>
              <a:rPr dirty="0" sz="1450" spc="3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and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the</a:t>
            </a:r>
            <a:r>
              <a:rPr dirty="0" sz="1450" spc="4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command.”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</a:t>
            </a:r>
            <a:r>
              <a:rPr dirty="0" sz="1450" spc="-10">
                <a:latin typeface="Trebuchet MS"/>
                <a:cs typeface="Trebuchet MS"/>
              </a:rPr>
              <a:t>A’raf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7:54)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leader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Allah’s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laws,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wishes.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Risalat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(Prophethood):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Belief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 Allah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sent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people.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last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.</a:t>
            </a:r>
            <a:r>
              <a:rPr dirty="0" sz="1450" spc="-25">
                <a:latin typeface="Microsoft Sans Serif"/>
                <a:cs typeface="Microsoft Sans Serif"/>
              </a:rPr>
              <a:t>ﷺ</a:t>
            </a:r>
            <a:endParaRPr sz="1450">
              <a:latin typeface="Microsoft Sans Serif"/>
              <a:cs typeface="Microsoft Sans Serif"/>
            </a:endParaRPr>
          </a:p>
          <a:p>
            <a:pPr marL="248920" marR="5080" indent="-236220">
              <a:lnSpc>
                <a:spcPct val="102099"/>
              </a:lnSpc>
              <a:spcBef>
                <a:spcPts val="1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95" b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“Muhammad</a:t>
            </a:r>
            <a:r>
              <a:rPr dirty="0" sz="1450" spc="10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is</a:t>
            </a:r>
            <a:r>
              <a:rPr dirty="0" sz="1450" spc="7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the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Messenger</a:t>
            </a:r>
            <a:r>
              <a:rPr dirty="0" sz="1450" spc="3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of</a:t>
            </a:r>
            <a:r>
              <a:rPr dirty="0" sz="1450" spc="1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Allah</a:t>
            </a:r>
            <a:r>
              <a:rPr dirty="0" sz="1450" spc="5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and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the</a:t>
            </a:r>
            <a:r>
              <a:rPr dirty="0" sz="1450" spc="5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last</a:t>
            </a:r>
            <a:r>
              <a:rPr dirty="0" sz="1450" spc="8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of</a:t>
            </a:r>
            <a:r>
              <a:rPr dirty="0" sz="1450" spc="4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the</a:t>
            </a:r>
            <a:r>
              <a:rPr dirty="0" sz="1450" spc="6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Prophets.”</a:t>
            </a:r>
            <a:r>
              <a:rPr dirty="0" sz="1450" spc="50" i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(Surah </a:t>
            </a:r>
            <a:r>
              <a:rPr dirty="0" sz="1450">
                <a:latin typeface="Trebuchet MS"/>
                <a:cs typeface="Trebuchet MS"/>
              </a:rPr>
              <a:t>Al-Ahzab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33:40)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2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490">
                <a:latin typeface="Trebuchet MS"/>
                <a:cs typeface="Trebuchet MS"/>
              </a:rPr>
              <a:t> </a:t>
            </a:r>
            <a:r>
              <a:rPr dirty="0" sz="1450" spc="-105">
                <a:latin typeface="Microsoft Sans Serif"/>
                <a:cs typeface="Microsoft Sans Serif"/>
              </a:rPr>
              <a:t>ﷺ</a:t>
            </a:r>
            <a:r>
              <a:rPr dirty="0" sz="1450" spc="-105">
                <a:latin typeface="Trebuchet MS"/>
                <a:cs typeface="Trebuchet MS"/>
              </a:rPr>
              <a:t>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role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model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rulers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citizens.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Khilafat</a:t>
            </a:r>
            <a:r>
              <a:rPr dirty="0" sz="1450" spc="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(Caliphate):</a:t>
            </a:r>
            <a:endParaRPr sz="1450">
              <a:latin typeface="Trebuchet MS"/>
              <a:cs typeface="Trebuchet MS"/>
            </a:endParaRPr>
          </a:p>
          <a:p>
            <a:pPr marL="12700" marR="259715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Belief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humans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Allah’s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representatives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Earth.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follow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commands.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Trebuchet MS"/>
                <a:cs typeface="Trebuchet MS"/>
              </a:rPr>
              <a:t>Reference:</a:t>
            </a:r>
            <a:r>
              <a:rPr dirty="0" sz="1450" spc="105" b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“I</a:t>
            </a:r>
            <a:r>
              <a:rPr dirty="0" sz="1450" spc="9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will</a:t>
            </a:r>
            <a:r>
              <a:rPr dirty="0" sz="1450" spc="5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make</a:t>
            </a:r>
            <a:r>
              <a:rPr dirty="0" sz="1450" spc="10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a</a:t>
            </a:r>
            <a:r>
              <a:rPr dirty="0" sz="1450" spc="8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vicegerent</a:t>
            </a:r>
            <a:r>
              <a:rPr dirty="0" sz="1450" spc="5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(Khalifah)</a:t>
            </a:r>
            <a:r>
              <a:rPr dirty="0" sz="1450" spc="80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on</a:t>
            </a:r>
            <a:r>
              <a:rPr dirty="0" sz="1450" spc="85" i="1">
                <a:latin typeface="Trebuchet MS"/>
                <a:cs typeface="Trebuchet MS"/>
              </a:rPr>
              <a:t> </a:t>
            </a:r>
            <a:r>
              <a:rPr dirty="0" sz="1450" i="1">
                <a:latin typeface="Trebuchet MS"/>
                <a:cs typeface="Trebuchet MS"/>
              </a:rPr>
              <a:t>Earth.”</a:t>
            </a:r>
            <a:r>
              <a:rPr dirty="0" sz="1450" spc="70" i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Al-Baqarah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2:30)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latin typeface="Trebuchet MS"/>
                <a:cs typeface="Trebuchet MS"/>
              </a:rPr>
              <a:t>Example: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Caliph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Umar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(RA)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fairness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accountability.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43510">
              <a:lnSpc>
                <a:spcPct val="100000"/>
              </a:lnSpc>
              <a:spcBef>
                <a:spcPts val="114"/>
              </a:spcBef>
            </a:pPr>
            <a:r>
              <a:rPr dirty="0"/>
              <a:t>Distinguishing</a:t>
            </a:r>
            <a:r>
              <a:rPr dirty="0" spc="-95"/>
              <a:t> </a:t>
            </a:r>
            <a:r>
              <a:rPr dirty="0"/>
              <a:t>Features</a:t>
            </a:r>
            <a:r>
              <a:rPr dirty="0" spc="-9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Islamic</a:t>
            </a:r>
            <a:r>
              <a:rPr dirty="0" spc="-70"/>
              <a:t> </a:t>
            </a:r>
            <a:r>
              <a:rPr dirty="0"/>
              <a:t>Political</a:t>
            </a:r>
            <a:r>
              <a:rPr dirty="0" spc="-100"/>
              <a:t> </a:t>
            </a:r>
            <a:r>
              <a:rPr dirty="0" spc="-10"/>
              <a:t>System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40613" y="2015489"/>
          <a:ext cx="7663180" cy="4058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2741930"/>
                <a:gridCol w="1015364"/>
                <a:gridCol w="2950845"/>
              </a:tblGrid>
              <a:tr h="412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Trebuchet MS"/>
                          <a:cs typeface="Trebuchet MS"/>
                        </a:rPr>
                        <a:t>Feature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Trebuchet MS"/>
                          <a:cs typeface="Trebuchet MS"/>
                        </a:rPr>
                        <a:t>Definition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Trebuchet MS"/>
                          <a:cs typeface="Trebuchet MS"/>
                        </a:rPr>
                        <a:t>Reference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750" spc="-10">
                          <a:latin typeface="Trebuchet MS"/>
                          <a:cs typeface="Trebuchet MS"/>
                        </a:rPr>
                        <a:t>Example</a:t>
                      </a:r>
                      <a:endParaRPr sz="75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650" spc="-10">
                          <a:latin typeface="Trebuchet MS"/>
                          <a:cs typeface="Trebuchet MS"/>
                        </a:rPr>
                        <a:t>Simplicity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 system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easy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 understand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follow.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Prophet’s</a:t>
                      </a:r>
                      <a:r>
                        <a:rPr dirty="0" sz="650" spc="2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Microsoft Sans Serif"/>
                          <a:cs typeface="Microsoft Sans Serif"/>
                        </a:rPr>
                        <a:t>ﷺ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government</a:t>
                      </a:r>
                      <a:r>
                        <a:rPr dirty="0" sz="65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Madinah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was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simple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clear.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650" spc="-10">
                          <a:latin typeface="Trebuchet MS"/>
                          <a:cs typeface="Trebuchet MS"/>
                        </a:rPr>
                        <a:t>Accessibility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Leaders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close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 the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people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easy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20">
                          <a:latin typeface="Trebuchet MS"/>
                          <a:cs typeface="Trebuchet MS"/>
                        </a:rPr>
                        <a:t>meet.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Caliph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Umar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(RA)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walked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among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people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listened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their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problems.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650" spc="-10">
                          <a:latin typeface="Trebuchet MS"/>
                          <a:cs typeface="Trebuchet MS"/>
                        </a:rPr>
                        <a:t>Accountability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Leaders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must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answer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Allah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people.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Umar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(RA)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said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would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questioned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if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dog went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hungry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under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his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20">
                          <a:latin typeface="Trebuchet MS"/>
                          <a:cs typeface="Trebuchet MS"/>
                        </a:rPr>
                        <a:t>rule.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Shura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(Consultation)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Decisions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made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through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discussion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trusted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people.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Surah</a:t>
                      </a:r>
                      <a:r>
                        <a:rPr dirty="0" sz="65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Aal-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e-Imran</a:t>
                      </a:r>
                      <a:r>
                        <a:rPr dirty="0" sz="650" spc="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3:159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 Prophet</a:t>
                      </a:r>
                      <a:r>
                        <a:rPr dirty="0" sz="650" spc="20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Microsoft Sans Serif"/>
                          <a:cs typeface="Microsoft Sans Serif"/>
                        </a:rPr>
                        <a:t>ﷺ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consulted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companions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before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Battle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20">
                          <a:latin typeface="Trebuchet MS"/>
                          <a:cs typeface="Trebuchet MS"/>
                        </a:rPr>
                        <a:t>Uhud.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650" spc="-10">
                          <a:latin typeface="Trebuchet MS"/>
                          <a:cs typeface="Trebuchet MS"/>
                        </a:rPr>
                        <a:t>Justice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Everyone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is treated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fairly,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injustice.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Surah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An-Nahl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16:90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Rich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poor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received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equal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treatment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Islamic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courts.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650" spc="-10">
                          <a:latin typeface="Trebuchet MS"/>
                          <a:cs typeface="Trebuchet MS"/>
                        </a:rPr>
                        <a:t>Equality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All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people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equal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regardless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of status,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race,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wealth.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Surah</a:t>
                      </a:r>
                      <a:r>
                        <a:rPr dirty="0" sz="65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Al-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Hujurat</a:t>
                      </a:r>
                      <a:r>
                        <a:rPr dirty="0" sz="65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49:13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prayer,</a:t>
                      </a:r>
                      <a:r>
                        <a:rPr dirty="0" sz="65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king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worker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stand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side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side.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  <a:tr h="671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Baitul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20">
                          <a:latin typeface="Trebuchet MS"/>
                          <a:cs typeface="Trebuchet MS"/>
                        </a:rPr>
                        <a:t>Maal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government fund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used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help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poor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support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public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needs.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Used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Caliph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Umar’s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time to build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roads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help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orphans.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Welfare</a:t>
                      </a:r>
                      <a:r>
                        <a:rPr dirty="0" sz="65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State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 state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cares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 basic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needs of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all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its</a:t>
                      </a:r>
                      <a:r>
                        <a:rPr dirty="0" sz="65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people.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Prophet</a:t>
                      </a:r>
                      <a:r>
                        <a:rPr dirty="0" sz="650" spc="1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Microsoft Sans Serif"/>
                          <a:cs typeface="Microsoft Sans Serif"/>
                        </a:rPr>
                        <a:t>ﷺ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ensured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food and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safety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everyone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Madinah.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90C126"/>
                      </a:solidFill>
                      <a:prstDash val="solid"/>
                    </a:lnL>
                    <a:lnR w="12700">
                      <a:solidFill>
                        <a:srgbClr val="90C126"/>
                      </a:solidFill>
                      <a:prstDash val="solid"/>
                    </a:lnR>
                    <a:lnT w="12700">
                      <a:solidFill>
                        <a:srgbClr val="90C126"/>
                      </a:solidFill>
                      <a:prstDash val="solid"/>
                    </a:lnT>
                    <a:lnB w="12700">
                      <a:solidFill>
                        <a:srgbClr val="90C126"/>
                      </a:solidFill>
                      <a:prstDash val="solid"/>
                    </a:lnB>
                    <a:solidFill>
                      <a:srgbClr val="EDF4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643" y="1261341"/>
            <a:ext cx="498094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What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Islamic</a:t>
            </a:r>
            <a:r>
              <a:rPr dirty="0" spc="-65"/>
              <a:t> </a:t>
            </a:r>
            <a:r>
              <a:rPr dirty="0"/>
              <a:t>Political</a:t>
            </a:r>
            <a:r>
              <a:rPr dirty="0" spc="-55"/>
              <a:t> </a:t>
            </a:r>
            <a:r>
              <a:rPr dirty="0" spc="-10"/>
              <a:t>System?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6150" y="1968506"/>
            <a:ext cx="7651115" cy="3648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Trebuchet MS"/>
                <a:cs typeface="Trebuchet MS"/>
              </a:rPr>
              <a:t>What</a:t>
            </a:r>
            <a:r>
              <a:rPr dirty="0" sz="1450" spc="2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the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Islamic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Political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System?</a:t>
            </a:r>
            <a:endParaRPr sz="1450">
              <a:latin typeface="Trebuchet MS"/>
              <a:cs typeface="Trebuchet MS"/>
            </a:endParaRPr>
          </a:p>
          <a:p>
            <a:pPr marL="78740" indent="-73025">
              <a:lnSpc>
                <a:spcPct val="100000"/>
              </a:lnSpc>
              <a:spcBef>
                <a:spcPts val="50"/>
              </a:spcBef>
              <a:buSzPct val="93103"/>
              <a:buFont typeface="Microsoft Sans Serif"/>
              <a:buChar char="•"/>
              <a:tabLst>
                <a:tab pos="78740" algn="l"/>
              </a:tabLst>
            </a:pP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governing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teachings.</a:t>
            </a:r>
            <a:endParaRPr sz="1450">
              <a:latin typeface="Trebuchet MS"/>
              <a:cs typeface="Trebuchet MS"/>
            </a:endParaRPr>
          </a:p>
          <a:p>
            <a:pPr marL="78740" indent="-73025">
              <a:lnSpc>
                <a:spcPct val="100000"/>
              </a:lnSpc>
              <a:spcBef>
                <a:spcPts val="35"/>
              </a:spcBef>
              <a:buSzPct val="93103"/>
              <a:buFont typeface="Microsoft Sans Serif"/>
              <a:buChar char="•"/>
              <a:tabLst>
                <a:tab pos="78740" algn="l"/>
              </a:tabLst>
            </a:pP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Qur’an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Sunnah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(teachings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actions)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Muhammad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spc="-25">
                <a:latin typeface="Microsoft Sans Serif"/>
                <a:cs typeface="Microsoft Sans Serif"/>
              </a:rPr>
              <a:t>.</a:t>
            </a:r>
            <a:r>
              <a:rPr dirty="0" sz="1450" spc="-25">
                <a:latin typeface="Microsoft Sans Serif"/>
                <a:cs typeface="Microsoft Sans Serif"/>
              </a:rPr>
              <a:t>ﷺ</a:t>
            </a:r>
            <a:endParaRPr sz="1450">
              <a:latin typeface="Microsoft Sans Serif"/>
              <a:cs typeface="Microsoft Sans Serif"/>
            </a:endParaRPr>
          </a:p>
          <a:p>
            <a:pPr marL="78740" indent="-73025">
              <a:lnSpc>
                <a:spcPct val="100000"/>
              </a:lnSpc>
              <a:spcBef>
                <a:spcPts val="35"/>
              </a:spcBef>
              <a:buSzPct val="93103"/>
              <a:buFont typeface="Microsoft Sans Serif"/>
              <a:buChar char="•"/>
              <a:tabLst>
                <a:tab pos="78740" algn="l"/>
              </a:tabLst>
            </a:pP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goals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please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Allah,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people,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establish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society.</a:t>
            </a:r>
            <a:endParaRPr sz="1450">
              <a:latin typeface="Trebuchet MS"/>
              <a:cs typeface="Trebuchet MS"/>
            </a:endParaRPr>
          </a:p>
          <a:p>
            <a:pPr marL="78740" indent="-73025">
              <a:lnSpc>
                <a:spcPct val="100000"/>
              </a:lnSpc>
              <a:spcBef>
                <a:spcPts val="45"/>
              </a:spcBef>
              <a:buSzPct val="93103"/>
              <a:buFont typeface="Microsoft Sans Serif"/>
              <a:buChar char="•"/>
              <a:tabLst>
                <a:tab pos="78740" algn="l"/>
              </a:tabLst>
            </a:pPr>
            <a:r>
              <a:rPr dirty="0" sz="1450">
                <a:latin typeface="Trebuchet MS"/>
                <a:cs typeface="Trebuchet MS"/>
              </a:rPr>
              <a:t>Leaders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Allah’s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commands,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personal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desires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man-made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laws.</a:t>
            </a:r>
            <a:endParaRPr sz="1450">
              <a:latin typeface="Trebuchet MS"/>
              <a:cs typeface="Trebuchet MS"/>
            </a:endParaRPr>
          </a:p>
          <a:p>
            <a:pPr marL="13970" marR="5080" indent="-8255">
              <a:lnSpc>
                <a:spcPts val="1789"/>
              </a:lnSpc>
              <a:spcBef>
                <a:spcPts val="55"/>
              </a:spcBef>
              <a:buSzPct val="93103"/>
              <a:buFont typeface="Microsoft Sans Serif"/>
              <a:buChar char="•"/>
              <a:tabLst>
                <a:tab pos="78740" algn="l"/>
              </a:tabLst>
            </a:pPr>
            <a:r>
              <a:rPr dirty="0" sz="1450">
                <a:latin typeface="Trebuchet MS"/>
                <a:cs typeface="Trebuchet MS"/>
              </a:rPr>
              <a:t>	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ensures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decisions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fair,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people’s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rights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protected,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leaders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are </a:t>
            </a:r>
            <a:r>
              <a:rPr dirty="0" sz="1450" spc="-10">
                <a:latin typeface="Trebuchet MS"/>
                <a:cs typeface="Trebuchet MS"/>
              </a:rPr>
              <a:t>accountable.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</a:pPr>
            <a:r>
              <a:rPr dirty="0" sz="1450">
                <a:latin typeface="Trebuchet MS"/>
                <a:cs typeface="Trebuchet MS"/>
              </a:rPr>
              <a:t>Qur’anic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Reference:</a:t>
            </a: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Trebuchet MS"/>
                <a:cs typeface="Trebuchet MS"/>
              </a:rPr>
              <a:t>“And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judge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them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revealed.”(Surah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Al-Ma’idah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5:49)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</a:pPr>
            <a:r>
              <a:rPr dirty="0" sz="1450" spc="-10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3970" marR="4572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During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time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Caliph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Umar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ibn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Al-Khattab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(RA),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applied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laws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equally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all </a:t>
            </a:r>
            <a:r>
              <a:rPr dirty="0" sz="1450">
                <a:latin typeface="Trebuchet MS"/>
                <a:cs typeface="Trebuchet MS"/>
              </a:rPr>
              <a:t>people—rich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poor,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Arab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non-Arab.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Qur’an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Sunnah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every </a:t>
            </a:r>
            <a:r>
              <a:rPr dirty="0" sz="1450">
                <a:latin typeface="Trebuchet MS"/>
                <a:cs typeface="Trebuchet MS"/>
              </a:rPr>
              <a:t>decision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fairness.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395" y="1342198"/>
            <a:ext cx="5790565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Basic</a:t>
            </a:r>
            <a:r>
              <a:rPr dirty="0" spc="-55"/>
              <a:t> </a:t>
            </a:r>
            <a:r>
              <a:rPr dirty="0"/>
              <a:t>Principles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Islamic</a:t>
            </a:r>
            <a:r>
              <a:rPr dirty="0" spc="-50"/>
              <a:t> </a:t>
            </a:r>
            <a:r>
              <a:rPr dirty="0"/>
              <a:t>Political</a:t>
            </a:r>
            <a:r>
              <a:rPr dirty="0" spc="-80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9610" y="1776485"/>
            <a:ext cx="7646034" cy="479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three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principles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foundation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Political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System.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how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according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Islam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0207" y="2359151"/>
            <a:ext cx="2697480" cy="4189729"/>
          </a:xfrm>
          <a:prstGeom prst="rect">
            <a:avLst/>
          </a:prstGeom>
          <a:solidFill>
            <a:srgbClr val="90C126"/>
          </a:solidFill>
        </p:spPr>
        <p:txBody>
          <a:bodyPr wrap="square" lIns="0" tIns="31115" rIns="0" bIns="0" rtlCol="0" vert="horz">
            <a:spAutoFit/>
          </a:bodyPr>
          <a:lstStyle/>
          <a:p>
            <a:pPr marL="75565" marR="107314" indent="231775">
              <a:lnSpc>
                <a:spcPct val="102400"/>
              </a:lnSpc>
              <a:spcBef>
                <a:spcPts val="245"/>
              </a:spcBef>
              <a:buAutoNum type="arabicPeriod"/>
              <a:tabLst>
                <a:tab pos="307340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Tawhid</a:t>
            </a:r>
            <a:r>
              <a:rPr dirty="0" sz="1450" spc="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(Oneness</a:t>
            </a:r>
            <a:r>
              <a:rPr dirty="0" sz="1450" spc="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-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Allah</a:t>
            </a:r>
            <a:r>
              <a:rPr dirty="0" sz="1450" spc="-10" b="1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Belief</a:t>
            </a:r>
            <a:r>
              <a:rPr dirty="0" sz="14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45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Allah</a:t>
            </a:r>
            <a:r>
              <a:rPr dirty="0" sz="145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45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45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only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Lord,</a:t>
            </a:r>
            <a:r>
              <a:rPr dirty="0" sz="145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Ruler,</a:t>
            </a:r>
            <a:r>
              <a:rPr dirty="0" sz="14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4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Lawgiver.</a:t>
            </a:r>
            <a:endParaRPr sz="1450">
              <a:latin typeface="Trebuchet MS"/>
              <a:cs typeface="Trebuchet MS"/>
            </a:endParaRPr>
          </a:p>
          <a:p>
            <a:pPr lvl="1" marL="75565" marR="548640" indent="-8255">
              <a:lnSpc>
                <a:spcPct val="102099"/>
              </a:lnSpc>
              <a:spcBef>
                <a:spcPts val="15"/>
              </a:spcBef>
              <a:buSzPct val="93103"/>
              <a:buFont typeface="Microsoft Sans Serif"/>
              <a:buChar char="•"/>
              <a:tabLst>
                <a:tab pos="140335" algn="l"/>
              </a:tabLst>
            </a:pP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All</a:t>
            </a:r>
            <a:r>
              <a:rPr dirty="0" sz="14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authority</a:t>
            </a: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45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power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belongs</a:t>
            </a:r>
            <a:r>
              <a:rPr dirty="0" sz="14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45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Allah.</a:t>
            </a:r>
            <a:endParaRPr sz="1450">
              <a:latin typeface="Trebuchet MS"/>
              <a:cs typeface="Trebuchet MS"/>
            </a:endParaRPr>
          </a:p>
          <a:p>
            <a:pPr lvl="1" marL="75565" marR="349250" indent="-8255">
              <a:lnSpc>
                <a:spcPct val="102400"/>
              </a:lnSpc>
              <a:spcBef>
                <a:spcPts val="5"/>
              </a:spcBef>
              <a:buSzPct val="93103"/>
              <a:buFont typeface="Microsoft Sans Serif"/>
              <a:buChar char="•"/>
              <a:tabLst>
                <a:tab pos="140335" algn="l"/>
              </a:tabLst>
            </a:pP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Humans</a:t>
            </a:r>
            <a:r>
              <a:rPr dirty="0" sz="145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obey</a:t>
            </a:r>
            <a:r>
              <a:rPr dirty="0" sz="14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His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commands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4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every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part</a:t>
            </a:r>
            <a:r>
              <a:rPr dirty="0" sz="145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life,</a:t>
            </a: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including</a:t>
            </a:r>
            <a:r>
              <a:rPr dirty="0" sz="145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politics.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50">
              <a:latin typeface="Trebuchet MS"/>
              <a:cs typeface="Trebuchet MS"/>
            </a:endParaRPr>
          </a:p>
          <a:p>
            <a:pPr marL="75565" marR="404495">
              <a:lnSpc>
                <a:spcPct val="102299"/>
              </a:lnSpc>
            </a:pPr>
            <a:r>
              <a:rPr dirty="0" u="sng" sz="145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Reference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“His</a:t>
            </a:r>
            <a:r>
              <a:rPr dirty="0" sz="14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4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creation</a:t>
            </a:r>
            <a:r>
              <a:rPr dirty="0" sz="14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command.”(Surah</a:t>
            </a:r>
            <a:r>
              <a:rPr dirty="0" sz="1450" spc="1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Al-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A’raf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7:54)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50">
              <a:latin typeface="Trebuchet MS"/>
              <a:cs typeface="Trebuchet MS"/>
            </a:endParaRPr>
          </a:p>
          <a:p>
            <a:pPr marL="75565" marR="172720">
              <a:lnSpc>
                <a:spcPct val="102499"/>
              </a:lnSpc>
            </a:pP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Example:</a:t>
            </a:r>
            <a:r>
              <a:rPr dirty="0" sz="14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Laws</a:t>
            </a:r>
            <a:r>
              <a:rPr dirty="0" sz="14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Islamic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state</a:t>
            </a:r>
            <a:r>
              <a:rPr dirty="0" sz="145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dirty="0" sz="145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follow</a:t>
            </a:r>
            <a:r>
              <a:rPr dirty="0" sz="145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Qur’an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450" spc="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Sunnah,</a:t>
            </a:r>
            <a:r>
              <a:rPr dirty="0" sz="145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dirty="0" sz="145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man-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made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rules.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906267" y="2359151"/>
            <a:ext cx="2699385" cy="4139565"/>
          </a:xfrm>
          <a:custGeom>
            <a:avLst/>
            <a:gdLst/>
            <a:ahLst/>
            <a:cxnLst/>
            <a:rect l="l" t="t" r="r" b="b"/>
            <a:pathLst>
              <a:path w="2699385" h="4139565">
                <a:moveTo>
                  <a:pt x="2699003" y="4139183"/>
                </a:moveTo>
                <a:lnTo>
                  <a:pt x="0" y="4139183"/>
                </a:lnTo>
                <a:lnTo>
                  <a:pt x="0" y="0"/>
                </a:lnTo>
                <a:lnTo>
                  <a:pt x="2699003" y="0"/>
                </a:lnTo>
                <a:lnTo>
                  <a:pt x="2699003" y="4139183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969768" y="2378478"/>
            <a:ext cx="2470150" cy="20631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2.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Risalat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(Prophethood)Belief</a:t>
            </a:r>
            <a:r>
              <a:rPr dirty="0" sz="1450" spc="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that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Allah</a:t>
            </a:r>
            <a:r>
              <a:rPr dirty="0" sz="14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sent</a:t>
            </a:r>
            <a:r>
              <a:rPr dirty="0" sz="14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Prophets</a:t>
            </a:r>
            <a:r>
              <a:rPr dirty="0" sz="14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45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guide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people.</a:t>
            </a:r>
            <a:r>
              <a:rPr dirty="0" sz="145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Prophet</a:t>
            </a:r>
            <a:r>
              <a:rPr dirty="0" sz="14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Muhammad </a:t>
            </a:r>
            <a:r>
              <a:rPr dirty="0" sz="1450" spc="-105">
                <a:solidFill>
                  <a:srgbClr val="FFFFFF"/>
                </a:solidFill>
                <a:latin typeface="Microsoft Sans Serif"/>
                <a:cs typeface="Microsoft Sans Serif"/>
              </a:rPr>
              <a:t>ﷺ</a:t>
            </a:r>
            <a:r>
              <a:rPr dirty="0" sz="1450" spc="-10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45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final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messenger</a:t>
            </a:r>
            <a:r>
              <a:rPr dirty="0" sz="14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who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brought</a:t>
            </a:r>
            <a:r>
              <a:rPr dirty="0" sz="14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complete</a:t>
            </a:r>
            <a:r>
              <a:rPr dirty="0" sz="1450" spc="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guidance.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His</a:t>
            </a:r>
            <a:r>
              <a:rPr dirty="0" sz="145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Sunnah</a:t>
            </a:r>
            <a:r>
              <a:rPr dirty="0" sz="145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(practices)</a:t>
            </a: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must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dirty="0" sz="14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followed</a:t>
            </a:r>
            <a:r>
              <a:rPr dirty="0" sz="145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45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personal</a:t>
            </a:r>
            <a:r>
              <a:rPr dirty="0" sz="145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life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4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government.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69768" y="4641581"/>
            <a:ext cx="2403475" cy="1787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4775">
              <a:lnSpc>
                <a:spcPct val="102400"/>
              </a:lnSpc>
              <a:spcBef>
                <a:spcPts val="95"/>
              </a:spcBef>
            </a:pPr>
            <a:r>
              <a:rPr dirty="0" u="sng" sz="145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Reference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dirty="0" sz="1450" spc="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“Muhammad</a:t>
            </a:r>
            <a:r>
              <a:rPr dirty="0" sz="1450" spc="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45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Messenger</a:t>
            </a:r>
            <a:r>
              <a:rPr dirty="0" sz="14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4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Allah</a:t>
            </a:r>
            <a:r>
              <a:rPr dirty="0" sz="145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4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last</a:t>
            </a:r>
            <a:r>
              <a:rPr dirty="0" sz="14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45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Prophets.”(Surah</a:t>
            </a:r>
            <a:r>
              <a:rPr dirty="0" sz="145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Al-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Ahzab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33:40)</a:t>
            </a:r>
            <a:endParaRPr sz="1450">
              <a:latin typeface="Trebuchet MS"/>
              <a:cs typeface="Trebuchet MS"/>
            </a:endParaRPr>
          </a:p>
          <a:p>
            <a:pPr marL="12700" marR="5080" indent="-635">
              <a:lnSpc>
                <a:spcPct val="101600"/>
              </a:lnSpc>
              <a:spcBef>
                <a:spcPts val="20"/>
              </a:spcBef>
            </a:pP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Example:</a:t>
            </a:r>
            <a:r>
              <a:rPr dirty="0" sz="145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Islamic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leaders</a:t>
            </a:r>
            <a:r>
              <a:rPr dirty="0" sz="13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Trebuchet MS"/>
                <a:cs typeface="Trebuchet MS"/>
              </a:rPr>
              <a:t>must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make</a:t>
            </a:r>
            <a:r>
              <a:rPr dirty="0" sz="13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decisions</a:t>
            </a:r>
            <a:r>
              <a:rPr dirty="0" sz="130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based on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teachings</a:t>
            </a:r>
            <a:r>
              <a:rPr dirty="0" sz="130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13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3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FFFFFF"/>
                </a:solidFill>
                <a:latin typeface="Trebuchet MS"/>
                <a:cs typeface="Trebuchet MS"/>
              </a:rPr>
              <a:t>Prophet</a:t>
            </a:r>
            <a:r>
              <a:rPr dirty="0" sz="13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Microsoft Sans Serif"/>
                <a:cs typeface="Microsoft Sans Serif"/>
              </a:rPr>
              <a:t>.</a:t>
            </a:r>
            <a:r>
              <a:rPr dirty="0" sz="1300" spc="-25">
                <a:solidFill>
                  <a:srgbClr val="FFFFFF"/>
                </a:solidFill>
                <a:latin typeface="Microsoft Sans Serif"/>
                <a:cs typeface="Microsoft Sans Serif"/>
              </a:rPr>
              <a:t>ﷺ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673852" y="2359151"/>
            <a:ext cx="2697480" cy="4189729"/>
          </a:xfrm>
          <a:custGeom>
            <a:avLst/>
            <a:gdLst/>
            <a:ahLst/>
            <a:cxnLst/>
            <a:rect l="l" t="t" r="r" b="b"/>
            <a:pathLst>
              <a:path w="2697479" h="4189729">
                <a:moveTo>
                  <a:pt x="2697480" y="4189476"/>
                </a:moveTo>
                <a:lnTo>
                  <a:pt x="0" y="4189476"/>
                </a:lnTo>
                <a:lnTo>
                  <a:pt x="0" y="0"/>
                </a:lnTo>
                <a:lnTo>
                  <a:pt x="2697480" y="0"/>
                </a:lnTo>
                <a:lnTo>
                  <a:pt x="2697480" y="4189476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737331" y="2378478"/>
            <a:ext cx="2566670" cy="1610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3.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Khilafah </a:t>
            </a:r>
            <a:r>
              <a:rPr dirty="0" sz="1000" spc="-10" b="1">
                <a:solidFill>
                  <a:srgbClr val="0070BF"/>
                </a:solidFill>
                <a:latin typeface="Trebuchet MS"/>
                <a:cs typeface="Trebuchet MS"/>
              </a:rPr>
              <a:t>(Caliphate</a:t>
            </a:r>
            <a:r>
              <a:rPr dirty="0" sz="100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000" b="1">
                <a:solidFill>
                  <a:srgbClr val="0070BF"/>
                </a:solidFill>
                <a:latin typeface="Trebuchet MS"/>
                <a:cs typeface="Trebuchet MS"/>
              </a:rPr>
              <a:t>or</a:t>
            </a:r>
            <a:r>
              <a:rPr dirty="0" sz="1000" spc="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000" spc="-10" b="1">
                <a:solidFill>
                  <a:srgbClr val="0070BF"/>
                </a:solidFill>
                <a:latin typeface="Trebuchet MS"/>
                <a:cs typeface="Trebuchet MS"/>
              </a:rPr>
              <a:t>Leadership)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Belief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45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humans</a:t>
            </a:r>
            <a:r>
              <a:rPr dirty="0" sz="145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14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Allah’s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representatives</a:t>
            </a:r>
            <a:r>
              <a:rPr dirty="0" sz="1450" spc="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(Khalifahs)</a:t>
            </a:r>
            <a:r>
              <a:rPr dirty="0" sz="1450" spc="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on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Earth.</a:t>
            </a:r>
            <a:r>
              <a:rPr dirty="0" sz="14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They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must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rule</a:t>
            </a:r>
            <a:r>
              <a:rPr dirty="0" sz="145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with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justice</a:t>
            </a: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apply</a:t>
            </a:r>
            <a:r>
              <a:rPr dirty="0" sz="14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Allah’s</a:t>
            </a:r>
            <a:r>
              <a:rPr dirty="0" sz="1450" spc="5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laws.</a:t>
            </a:r>
            <a:r>
              <a:rPr dirty="0" sz="14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Leadership</a:t>
            </a:r>
            <a:r>
              <a:rPr dirty="0" sz="145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4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trust,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dirty="0" sz="145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4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right</a:t>
            </a:r>
            <a:r>
              <a:rPr dirty="0" sz="14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145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privilege.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37331" y="4188979"/>
            <a:ext cx="2240915" cy="932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dirty="0" u="sng" sz="145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rebuchet MS"/>
                <a:cs typeface="Trebuchet MS"/>
              </a:rPr>
              <a:t>Reference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dirty="0" sz="14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“I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will</a:t>
            </a:r>
            <a:r>
              <a:rPr dirty="0" sz="1450" spc="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make</a:t>
            </a:r>
            <a:r>
              <a:rPr dirty="0" sz="1450" spc="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5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vicegerent</a:t>
            </a:r>
            <a:r>
              <a:rPr dirty="0" sz="1450" spc="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(Khalifah)</a:t>
            </a:r>
            <a:r>
              <a:rPr dirty="0" sz="14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on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Earth.”(Surah</a:t>
            </a:r>
            <a:r>
              <a:rPr dirty="0" sz="1450" spc="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Al-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Baqarah 2:30)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37331" y="5321268"/>
            <a:ext cx="2476500" cy="1157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Example:</a:t>
            </a:r>
            <a:r>
              <a:rPr dirty="0" sz="14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4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Rightly</a:t>
            </a:r>
            <a:r>
              <a:rPr dirty="0" sz="14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Guided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Caliphs</a:t>
            </a:r>
            <a:r>
              <a:rPr dirty="0" sz="145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(Abu</a:t>
            </a:r>
            <a:r>
              <a:rPr dirty="0" sz="1450" spc="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Bakr,</a:t>
            </a:r>
            <a:r>
              <a:rPr dirty="0" sz="145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Umar,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Uthman,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Ali)</a:t>
            </a:r>
            <a:r>
              <a:rPr dirty="0" sz="14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ruled</a:t>
            </a:r>
            <a:r>
              <a:rPr dirty="0" sz="145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with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justice</a:t>
            </a:r>
            <a:r>
              <a:rPr dirty="0" sz="145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45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FFFFFF"/>
                </a:solidFill>
                <a:latin typeface="Trebuchet MS"/>
                <a:cs typeface="Trebuchet MS"/>
              </a:rPr>
              <a:t>followed</a:t>
            </a:r>
            <a:r>
              <a:rPr dirty="0" sz="1450" spc="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Trebuchet MS"/>
                <a:cs typeface="Trebuchet MS"/>
              </a:rPr>
              <a:t>Islam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completely.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338" y="1144005"/>
            <a:ext cx="3541395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25"/>
              <a:t>Tawhid</a:t>
            </a:r>
            <a:r>
              <a:rPr dirty="0" spc="-55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/>
              <a:t>Oneness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145"/>
              <a:t> </a:t>
            </a:r>
            <a:r>
              <a:rPr dirty="0" spc="-10"/>
              <a:t>Allah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0314" y="1709402"/>
            <a:ext cx="7023734" cy="39484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04850">
              <a:lnSpc>
                <a:spcPct val="102800"/>
              </a:lnSpc>
              <a:spcBef>
                <a:spcPts val="90"/>
              </a:spcBef>
            </a:pPr>
            <a:r>
              <a:rPr dirty="0" sz="1450">
                <a:latin typeface="Microsoft Sans Serif"/>
                <a:cs typeface="Microsoft Sans Serif"/>
              </a:rPr>
              <a:t>Tawhid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means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only</a:t>
            </a:r>
            <a:r>
              <a:rPr dirty="0" sz="1450" spc="-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true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God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Supreme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Ruler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of </a:t>
            </a:r>
            <a:r>
              <a:rPr dirty="0" sz="1450" spc="-10">
                <a:latin typeface="Microsoft Sans Serif"/>
                <a:cs typeface="Microsoft Sans Serif"/>
              </a:rPr>
              <a:t>everything.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Only</a:t>
            </a:r>
            <a:r>
              <a:rPr dirty="0" sz="1450" spc="-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has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right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make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laws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follow.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No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king,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president,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parliament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can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make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laws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against</a:t>
            </a:r>
            <a:r>
              <a:rPr dirty="0" sz="1450" spc="-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Allah’s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commands.</a:t>
            </a:r>
            <a:endParaRPr sz="1450">
              <a:latin typeface="Microsoft Sans Serif"/>
              <a:cs typeface="Microsoft Sans Serif"/>
            </a:endParaRPr>
          </a:p>
          <a:p>
            <a:pPr marL="248920" marR="217170" indent="-236220">
              <a:lnSpc>
                <a:spcPct val="102099"/>
              </a:lnSpc>
              <a:spcBef>
                <a:spcPts val="15"/>
              </a:spcBef>
              <a:buChar char="•"/>
              <a:tabLst>
                <a:tab pos="248920" algn="l"/>
              </a:tabLst>
            </a:pPr>
            <a:r>
              <a:rPr dirty="0" sz="1450">
                <a:latin typeface="Microsoft Sans Serif"/>
                <a:cs typeface="Microsoft Sans Serif"/>
              </a:rPr>
              <a:t>All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humans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635">
                <a:latin typeface="Microsoft Sans Serif"/>
                <a:cs typeface="Microsoft Sans Serif"/>
              </a:rPr>
              <a:t>—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whether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rich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poor,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ruler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citizen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 spc="635">
                <a:latin typeface="Microsoft Sans Serif"/>
                <a:cs typeface="Microsoft Sans Serif"/>
              </a:rPr>
              <a:t>—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servants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-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and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follow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guidance.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Qur’anic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References:</a:t>
            </a:r>
            <a:endParaRPr sz="1450">
              <a:latin typeface="Trebuchet MS"/>
              <a:cs typeface="Trebuchet MS"/>
            </a:endParaRPr>
          </a:p>
          <a:p>
            <a:pPr marL="12700" marR="133286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“His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creation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command.”(Surah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Al-A'raf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7:54)“ </a:t>
            </a:r>
            <a:r>
              <a:rPr dirty="0" sz="1450">
                <a:latin typeface="Trebuchet MS"/>
                <a:cs typeface="Trebuchet MS"/>
              </a:rPr>
              <a:t>There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Allah.”(Declaration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Tawhid)</a:t>
            </a:r>
            <a:endParaRPr sz="1450">
              <a:latin typeface="Trebuchet MS"/>
              <a:cs typeface="Trebuchet MS"/>
            </a:endParaRPr>
          </a:p>
          <a:p>
            <a:pPr marL="113030">
              <a:lnSpc>
                <a:spcPct val="100000"/>
              </a:lnSpc>
              <a:spcBef>
                <a:spcPts val="1465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13030" marR="508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government,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law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goes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against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Qur’an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or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Sunnah</a:t>
            </a:r>
            <a:r>
              <a:rPr dirty="0" sz="1450">
                <a:latin typeface="Trebuchet MS"/>
                <a:cs typeface="Trebuchet MS"/>
              </a:rPr>
              <a:t>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be </a:t>
            </a:r>
            <a:r>
              <a:rPr dirty="0" sz="1450">
                <a:latin typeface="Trebuchet MS"/>
                <a:cs typeface="Trebuchet MS"/>
              </a:rPr>
              <a:t>rejected—even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comes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leader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council.</a:t>
            </a:r>
            <a:endParaRPr sz="1450">
              <a:latin typeface="Trebuchet MS"/>
              <a:cs typeface="Trebuchet MS"/>
            </a:endParaRPr>
          </a:p>
          <a:p>
            <a:pPr marL="113030" marR="9906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During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Caliph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Umar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(RA)</a:t>
            </a:r>
            <a:r>
              <a:rPr dirty="0" sz="1450">
                <a:latin typeface="Trebuchet MS"/>
                <a:cs typeface="Trebuchet MS"/>
              </a:rPr>
              <a:t>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decisions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Allah’s </a:t>
            </a:r>
            <a:r>
              <a:rPr dirty="0" sz="1450" b="1">
                <a:latin typeface="Trebuchet MS"/>
                <a:cs typeface="Trebuchet MS"/>
              </a:rPr>
              <a:t>commands</a:t>
            </a:r>
            <a:r>
              <a:rPr dirty="0" sz="1450">
                <a:latin typeface="Trebuchet MS"/>
                <a:cs typeface="Trebuchet MS"/>
              </a:rPr>
              <a:t>,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personal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opinions.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935480">
              <a:lnSpc>
                <a:spcPct val="100000"/>
              </a:lnSpc>
              <a:spcBef>
                <a:spcPts val="114"/>
              </a:spcBef>
            </a:pPr>
            <a:r>
              <a:rPr dirty="0"/>
              <a:t>Risalat</a:t>
            </a:r>
            <a:r>
              <a:rPr dirty="0" spc="-3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10"/>
              <a:t>Prophethood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5700" y="1774916"/>
            <a:ext cx="7744459" cy="35248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Microsoft Sans Serif"/>
                <a:cs typeface="Microsoft Sans Serif"/>
              </a:rPr>
              <a:t>Risalat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means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-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sent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teach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how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live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right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way.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last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final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Muhammad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ﷺ</a:t>
            </a:r>
            <a:r>
              <a:rPr dirty="0" sz="1450" spc="-25">
                <a:latin typeface="Microsoft Sans Serif"/>
                <a:cs typeface="Microsoft Sans Serif"/>
              </a:rPr>
              <a:t>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life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teachings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called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Sunnah.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Muslims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follow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Sunnah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along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with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Qur’an.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4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No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law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allowed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Islamic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system</a:t>
            </a:r>
            <a:r>
              <a:rPr dirty="0" sz="1450" spc="9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if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goes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against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what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 spc="-345">
                <a:latin typeface="Microsoft Sans Serif"/>
                <a:cs typeface="Microsoft Sans Serif"/>
              </a:rPr>
              <a:t>ﷺ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taught.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50" b="1">
                <a:latin typeface="Arial"/>
                <a:cs typeface="Arial"/>
              </a:rPr>
              <a:t>Qur’anic</a:t>
            </a:r>
            <a:r>
              <a:rPr dirty="0" sz="1450" spc="1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Reference:</a:t>
            </a:r>
            <a:endParaRPr sz="1450">
              <a:latin typeface="Arial"/>
              <a:cs typeface="Arial"/>
            </a:endParaRPr>
          </a:p>
          <a:p>
            <a:pPr marL="12700" marR="3446779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“Whoever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obeys</a:t>
            </a:r>
            <a:r>
              <a:rPr dirty="0" sz="1450" spc="9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Messenger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has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obeyed </a:t>
            </a:r>
            <a:r>
              <a:rPr dirty="0" sz="1450" spc="-10">
                <a:latin typeface="Microsoft Sans Serif"/>
                <a:cs typeface="Microsoft Sans Serif"/>
              </a:rPr>
              <a:t>Allah.” </a:t>
            </a: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1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An-Nisa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4:80)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 marR="236854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475">
                <a:latin typeface="Trebuchet MS"/>
                <a:cs typeface="Trebuchet MS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ﷺ</a:t>
            </a:r>
            <a:r>
              <a:rPr dirty="0" sz="1450" spc="-25">
                <a:latin typeface="Trebuchet MS"/>
                <a:cs typeface="Trebuchet MS"/>
              </a:rPr>
              <a:t>showed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nation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fairly,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consult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(Shura).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example,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during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Treaty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Hudaybiyyah,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peaceful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agreement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when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difficult,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wisdom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patience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leadership.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588645">
              <a:lnSpc>
                <a:spcPct val="100000"/>
              </a:lnSpc>
              <a:spcBef>
                <a:spcPts val="114"/>
              </a:spcBef>
            </a:pPr>
            <a:r>
              <a:rPr dirty="0"/>
              <a:t>Khilafah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Caliphate</a:t>
            </a:r>
            <a:r>
              <a:rPr dirty="0" spc="-65"/>
              <a:t> </a:t>
            </a:r>
            <a:r>
              <a:rPr dirty="0"/>
              <a:t>(Leadership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10"/>
              <a:t> Islam)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1629" y="1916649"/>
            <a:ext cx="8050530" cy="4311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Microsoft Sans Serif"/>
                <a:cs typeface="Microsoft Sans Serif"/>
              </a:rPr>
              <a:t>Khilafah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means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leader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(Caliph)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representative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-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Earth.</a:t>
            </a:r>
            <a:endParaRPr sz="1450">
              <a:latin typeface="Microsoft Sans Serif"/>
              <a:cs typeface="Microsoft Sans Serif"/>
            </a:endParaRPr>
          </a:p>
          <a:p>
            <a:pPr marL="381000" indent="-236220">
              <a:lnSpc>
                <a:spcPct val="100000"/>
              </a:lnSpc>
              <a:spcBef>
                <a:spcPts val="50"/>
              </a:spcBef>
              <a:buChar char="•"/>
              <a:tabLst>
                <a:tab pos="381000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Caliph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rule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according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Qur’an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Sunnah.</a:t>
            </a:r>
            <a:endParaRPr sz="1450">
              <a:latin typeface="Microsoft Sans Serif"/>
              <a:cs typeface="Microsoft Sans Serif"/>
            </a:endParaRPr>
          </a:p>
          <a:p>
            <a:pPr marL="381000" indent="-236220">
              <a:lnSpc>
                <a:spcPct val="100000"/>
              </a:lnSpc>
              <a:spcBef>
                <a:spcPts val="35"/>
              </a:spcBef>
              <a:buChar char="•"/>
              <a:tabLst>
                <a:tab pos="381000" algn="l"/>
              </a:tabLst>
            </a:pP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-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Caliph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above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law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635">
                <a:latin typeface="Microsoft Sans Serif"/>
                <a:cs typeface="Microsoft Sans Serif"/>
              </a:rPr>
              <a:t>—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just,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honest,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serve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people,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himself.</a:t>
            </a:r>
            <a:endParaRPr sz="1450">
              <a:latin typeface="Microsoft Sans Serif"/>
              <a:cs typeface="Microsoft Sans Serif"/>
            </a:endParaRPr>
          </a:p>
          <a:p>
            <a:pPr marL="381000" indent="-236220">
              <a:lnSpc>
                <a:spcPct val="100000"/>
              </a:lnSpc>
              <a:spcBef>
                <a:spcPts val="50"/>
              </a:spcBef>
              <a:buChar char="•"/>
              <a:tabLst>
                <a:tab pos="381000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leader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responsible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-1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how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treats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runs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country.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450" b="1">
                <a:latin typeface="Arial"/>
                <a:cs typeface="Arial"/>
              </a:rPr>
              <a:t>Qur’anic</a:t>
            </a:r>
            <a:r>
              <a:rPr dirty="0" sz="1450" spc="1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Reference:</a:t>
            </a:r>
            <a:endParaRPr sz="1450">
              <a:latin typeface="Arial"/>
              <a:cs typeface="Arial"/>
            </a:endParaRPr>
          </a:p>
          <a:p>
            <a:pPr marL="12700" marR="3114040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Microsoft Sans Serif"/>
                <a:cs typeface="Microsoft Sans Serif"/>
              </a:rPr>
              <a:t>“Indeed,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will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make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upon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earth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vicegerent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(khalifah).” </a:t>
            </a: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1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Al-Baqarah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2:30)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latin typeface="Arial"/>
                <a:cs typeface="Arial"/>
              </a:rPr>
              <a:t>Hadith</a:t>
            </a:r>
            <a:r>
              <a:rPr dirty="0" sz="1450" spc="65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Reference: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 spc="-345">
                <a:latin typeface="Microsoft Sans Serif"/>
                <a:cs typeface="Microsoft Sans Serif"/>
              </a:rPr>
              <a:t>ﷺ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said:</a:t>
            </a:r>
            <a:endParaRPr sz="1450">
              <a:latin typeface="Microsoft Sans Serif"/>
              <a:cs typeface="Microsoft Sans Serif"/>
            </a:endParaRPr>
          </a:p>
          <a:p>
            <a:pPr marL="12700" marR="117665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“Every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you</a:t>
            </a:r>
            <a:r>
              <a:rPr dirty="0" sz="1450" spc="9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shepherd,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every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one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you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answerable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flock.” </a:t>
            </a:r>
            <a:r>
              <a:rPr dirty="0" sz="1450">
                <a:latin typeface="Microsoft Sans Serif"/>
                <a:cs typeface="Microsoft Sans Serif"/>
              </a:rPr>
              <a:t>(Sahih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Bukhari)</a:t>
            </a:r>
            <a:endParaRPr sz="1450">
              <a:latin typeface="Microsoft Sans Serif"/>
              <a:cs typeface="Microsoft Sans Serif"/>
            </a:endParaRPr>
          </a:p>
          <a:p>
            <a:pPr marL="12700" marR="14795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These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texts</a:t>
            </a:r>
            <a:r>
              <a:rPr dirty="0" sz="1450" spc="10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caretakers,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kings,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they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take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care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people </a:t>
            </a:r>
            <a:r>
              <a:rPr dirty="0" sz="1450">
                <a:latin typeface="Microsoft Sans Serif"/>
                <a:cs typeface="Microsoft Sans Serif"/>
              </a:rPr>
              <a:t>with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honesty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fear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-2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Allah.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 marR="2362835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Caliph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Umar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ibn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Al-Khattab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(RA)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simplicity.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walk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night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check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anyone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hungry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need.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Once,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carried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food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back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poor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woman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—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showing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Caliph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truly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servant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people.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Distinguishing</a:t>
            </a:r>
            <a:r>
              <a:rPr dirty="0" spc="-80"/>
              <a:t> </a:t>
            </a:r>
            <a:r>
              <a:rPr dirty="0"/>
              <a:t>Features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Islamic</a:t>
            </a:r>
            <a:r>
              <a:rPr dirty="0" spc="-80"/>
              <a:t> </a:t>
            </a:r>
            <a:r>
              <a:rPr dirty="0"/>
              <a:t>Political</a:t>
            </a:r>
            <a:r>
              <a:rPr dirty="0" spc="-85"/>
              <a:t> </a:t>
            </a:r>
            <a:r>
              <a:rPr dirty="0" spc="-10"/>
              <a:t>System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244602" y="1884425"/>
          <a:ext cx="7899400" cy="4148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8369"/>
                <a:gridCol w="2927985"/>
                <a:gridCol w="978535"/>
                <a:gridCol w="2978150"/>
              </a:tblGrid>
              <a:tr h="420370"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000" spc="-10" b="1">
                          <a:solidFill>
                            <a:srgbClr val="0070BF"/>
                          </a:solidFill>
                          <a:latin typeface="Trebuchet MS"/>
                          <a:cs typeface="Trebuchet MS"/>
                        </a:rPr>
                        <a:t>Feature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000" spc="-10" b="1">
                          <a:solidFill>
                            <a:srgbClr val="0070BF"/>
                          </a:solidFill>
                          <a:latin typeface="Trebuchet MS"/>
                          <a:cs typeface="Trebuchet MS"/>
                        </a:rPr>
                        <a:t>Definition's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000" spc="-10" b="1">
                          <a:solidFill>
                            <a:srgbClr val="0070BF"/>
                          </a:solidFill>
                          <a:latin typeface="Trebuchet MS"/>
                          <a:cs typeface="Trebuchet MS"/>
                        </a:rPr>
                        <a:t>Reference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000" spc="-10" b="1">
                          <a:solidFill>
                            <a:srgbClr val="0070BF"/>
                          </a:solidFill>
                          <a:latin typeface="Trebuchet MS"/>
                          <a:cs typeface="Trebuchet MS"/>
                        </a:rPr>
                        <a:t>Example</a:t>
                      </a:r>
                      <a:endParaRPr sz="1000">
                        <a:latin typeface="Trebuchet MS"/>
                        <a:cs typeface="Trebuchet MS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1.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Simplicity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 marR="272415">
                        <a:lnSpc>
                          <a:spcPct val="1016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 system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is simple,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complex.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Easy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people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understand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25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5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follow.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 Prophet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Muhammad</a:t>
                      </a:r>
                      <a:r>
                        <a:rPr dirty="0" sz="650" spc="2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30">
                          <a:latin typeface="Microsoft Sans Serif"/>
                          <a:cs typeface="Microsoft Sans Serif"/>
                        </a:rPr>
                        <a:t>ﷺ</a:t>
                      </a:r>
                      <a:r>
                        <a:rPr dirty="0" sz="650" spc="-30">
                          <a:latin typeface="Trebuchet MS"/>
                          <a:cs typeface="Trebuchet MS"/>
                        </a:rPr>
                        <a:t>ran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Madinah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state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simple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clear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rules.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2.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Accessibility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Leaders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easy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meet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talk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to.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They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close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 the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people.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Caliph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Umar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(RA)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had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guards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walked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freely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among the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people.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3.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Accountability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Leaders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responsible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Allah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people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their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actions.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Umar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(RA)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said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he would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answerable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 Allah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if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even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 dog slept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hungry.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4.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Shura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(Consultation)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Decisions</a:t>
                      </a:r>
                      <a:r>
                        <a:rPr dirty="0" sz="65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made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discussing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honest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wise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people.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Surah</a:t>
                      </a:r>
                      <a:r>
                        <a:rPr dirty="0" sz="65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Aal-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e-Imran</a:t>
                      </a:r>
                      <a:r>
                        <a:rPr dirty="0" sz="650" spc="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3:159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 Prophet</a:t>
                      </a:r>
                      <a:r>
                        <a:rPr dirty="0" sz="650" spc="20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Microsoft Sans Serif"/>
                          <a:cs typeface="Microsoft Sans Serif"/>
                        </a:rPr>
                        <a:t>ﷺ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consulted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his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companions</a:t>
                      </a:r>
                      <a:r>
                        <a:rPr dirty="0" sz="65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before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Battle of </a:t>
                      </a:r>
                      <a:r>
                        <a:rPr dirty="0" sz="650" spc="-20">
                          <a:latin typeface="Trebuchet MS"/>
                          <a:cs typeface="Trebuchet MS"/>
                        </a:rPr>
                        <a:t>Uhud.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5.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Justice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Everyone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treated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fairly,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matter their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wealth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status.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Surah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An-Nahl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16:90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rich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woman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was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punished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theft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during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Prophet’s</a:t>
                      </a:r>
                      <a:r>
                        <a:rPr dirty="0" sz="650" spc="2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Microsoft Sans Serif"/>
                          <a:cs typeface="Microsoft Sans Serif"/>
                        </a:rPr>
                        <a:t>ﷺ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time.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6.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Equality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All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people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equal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eyes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Allah,</a:t>
                      </a:r>
                      <a:r>
                        <a:rPr dirty="0" sz="65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regardless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of race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or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class.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Surah</a:t>
                      </a:r>
                      <a:r>
                        <a:rPr dirty="0" sz="65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Al-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Hujurat</a:t>
                      </a:r>
                      <a:r>
                        <a:rPr dirty="0" sz="65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49:13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Islamic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prayer,</a:t>
                      </a:r>
                      <a:r>
                        <a:rPr dirty="0" sz="65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 king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 worker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stand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side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20">
                          <a:latin typeface="Trebuchet MS"/>
                          <a:cs typeface="Trebuchet MS"/>
                        </a:rPr>
                        <a:t>side.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7.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Baitul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20">
                          <a:latin typeface="Trebuchet MS"/>
                          <a:cs typeface="Trebuchet MS"/>
                        </a:rPr>
                        <a:t>Maal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public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treasury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holds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money to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help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poor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support</a:t>
                      </a:r>
                      <a:r>
                        <a:rPr dirty="0" sz="6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society.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Caliph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Umar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(RA)</a:t>
                      </a:r>
                      <a:r>
                        <a:rPr dirty="0" sz="6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used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Baitul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Maal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funds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build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roads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help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orphans.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8.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Welfare</a:t>
                      </a:r>
                      <a:r>
                        <a:rPr dirty="0" sz="65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State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government takes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care</a:t>
                      </a:r>
                      <a:r>
                        <a:rPr dirty="0" sz="6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6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basic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needs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every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citizen.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3810">
                        <a:lnSpc>
                          <a:spcPct val="100000"/>
                        </a:lnSpc>
                      </a:pPr>
                      <a:r>
                        <a:rPr dirty="0" sz="650" spc="-50">
                          <a:latin typeface="Trebuchet MS"/>
                          <a:cs typeface="Trebuchet MS"/>
                        </a:rPr>
                        <a:t>—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dirty="0" sz="650">
                          <a:latin typeface="Trebuchet MS"/>
                          <a:cs typeface="Trebuchet MS"/>
                        </a:rPr>
                        <a:t>The Prophet</a:t>
                      </a:r>
                      <a:r>
                        <a:rPr dirty="0" sz="650" spc="20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Microsoft Sans Serif"/>
                          <a:cs typeface="Microsoft Sans Serif"/>
                        </a:rPr>
                        <a:t>ﷺ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ensured</a:t>
                      </a:r>
                      <a:r>
                        <a:rPr dirty="0" sz="6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everyone in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Madinah</a:t>
                      </a:r>
                      <a:r>
                        <a:rPr dirty="0" sz="6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had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food</a:t>
                      </a:r>
                      <a:r>
                        <a:rPr dirty="0" sz="6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65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650" spc="-10">
                          <a:latin typeface="Trebuchet MS"/>
                          <a:cs typeface="Trebuchet MS"/>
                        </a:rPr>
                        <a:t>protection.</a:t>
                      </a:r>
                      <a:endParaRPr sz="6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908554"/>
                      </a:solidFill>
                      <a:prstDash val="solid"/>
                    </a:lnL>
                    <a:lnR w="12700">
                      <a:solidFill>
                        <a:srgbClr val="908554"/>
                      </a:solidFill>
                      <a:prstDash val="solid"/>
                    </a:lnR>
                    <a:lnT w="12700">
                      <a:solidFill>
                        <a:srgbClr val="908554"/>
                      </a:solidFill>
                      <a:prstDash val="solid"/>
                    </a:lnT>
                    <a:lnB w="12700">
                      <a:solidFill>
                        <a:srgbClr val="90855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740660">
              <a:lnSpc>
                <a:spcPct val="100000"/>
              </a:lnSpc>
              <a:spcBef>
                <a:spcPts val="114"/>
              </a:spcBef>
            </a:pPr>
            <a:r>
              <a:rPr dirty="0" spc="-10"/>
              <a:t>Simplicity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826" y="1755170"/>
            <a:ext cx="7726680" cy="32594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live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simple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humble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lives.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They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should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avoid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luxury,</a:t>
            </a:r>
            <a:r>
              <a:rPr dirty="0" sz="1450" spc="10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pride,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showing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off.</a:t>
            </a:r>
            <a:endParaRPr sz="1450">
              <a:latin typeface="Microsoft Sans Serif"/>
              <a:cs typeface="Microsoft Sans Serif"/>
            </a:endParaRPr>
          </a:p>
          <a:p>
            <a:pPr marL="248920" marR="227965" indent="-236220">
              <a:lnSpc>
                <a:spcPts val="1789"/>
              </a:lnSpc>
              <a:spcBef>
                <a:spcPts val="55"/>
              </a:spcBef>
              <a:buChar char="•"/>
              <a:tabLst>
                <a:tab pos="248920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Muhammad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345">
                <a:latin typeface="Microsoft Sans Serif"/>
                <a:cs typeface="Microsoft Sans Serif"/>
              </a:rPr>
              <a:t>ﷺ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first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Caliphs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lived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modestly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focused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serving </a:t>
            </a:r>
            <a:r>
              <a:rPr dirty="0" sz="1450">
                <a:latin typeface="Microsoft Sans Serif"/>
                <a:cs typeface="Microsoft Sans Serif"/>
              </a:rPr>
              <a:t>people,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themselves.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87325">
              <a:lnSpc>
                <a:spcPct val="100000"/>
              </a:lnSpc>
            </a:pPr>
            <a:r>
              <a:rPr dirty="0" sz="1450" b="1">
                <a:latin typeface="Trebuchet MS"/>
                <a:cs typeface="Trebuchet MS"/>
              </a:rPr>
              <a:t>Qur’anic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Reference:</a:t>
            </a:r>
            <a:endParaRPr sz="1450">
              <a:latin typeface="Trebuchet MS"/>
              <a:cs typeface="Trebuchet MS"/>
            </a:endParaRPr>
          </a:p>
          <a:p>
            <a:pPr marL="187325" marR="390906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“And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walk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earth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proudly.” </a:t>
            </a:r>
            <a:r>
              <a:rPr dirty="0" sz="1450">
                <a:latin typeface="Trebuchet MS"/>
                <a:cs typeface="Trebuchet MS"/>
              </a:rPr>
              <a:t>(Surah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Luqman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31:18)</a:t>
            </a:r>
            <a:endParaRPr sz="1450">
              <a:latin typeface="Trebuchet MS"/>
              <a:cs typeface="Trebuchet MS"/>
            </a:endParaRPr>
          </a:p>
          <a:p>
            <a:pPr marL="187325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leaders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humble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arrogance.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450">
              <a:latin typeface="Trebuchet MS"/>
              <a:cs typeface="Trebuchet MS"/>
            </a:endParaRPr>
          </a:p>
          <a:p>
            <a:pPr marL="55244">
              <a:lnSpc>
                <a:spcPct val="100000"/>
              </a:lnSpc>
              <a:spcBef>
                <a:spcPts val="5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55244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Trebuchet MS"/>
                <a:cs typeface="Trebuchet MS"/>
              </a:rPr>
              <a:t>Caliph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Umar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ibn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Al-Khattab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(RA)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patched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simple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clothes.</a:t>
            </a:r>
            <a:endParaRPr sz="1450">
              <a:latin typeface="Trebuchet MS"/>
              <a:cs typeface="Trebuchet MS"/>
            </a:endParaRPr>
          </a:p>
          <a:p>
            <a:pPr marL="55244" marR="5080">
              <a:lnSpc>
                <a:spcPts val="1789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modest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though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large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empire,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showing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true </a:t>
            </a:r>
            <a:r>
              <a:rPr dirty="0" sz="1450">
                <a:latin typeface="Trebuchet MS"/>
                <a:cs typeface="Trebuchet MS"/>
              </a:rPr>
              <a:t>leadership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serving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pride.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563495">
              <a:lnSpc>
                <a:spcPct val="100000"/>
              </a:lnSpc>
              <a:spcBef>
                <a:spcPts val="114"/>
              </a:spcBef>
            </a:pPr>
            <a:r>
              <a:rPr dirty="0" spc="-10"/>
              <a:t>Accessibility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6567" y="2095013"/>
            <a:ext cx="7581265" cy="2360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Microsoft Sans Serif"/>
                <a:cs typeface="Microsoft Sans Serif"/>
              </a:rPr>
              <a:t>Islamic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easy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meet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talk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to.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Microsoft Sans Serif"/>
                <a:cs typeface="Microsoft Sans Serif"/>
              </a:rPr>
              <a:t>People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should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feel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comfortable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free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share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their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problems.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Microsoft Sans Serif"/>
                <a:cs typeface="Microsoft Sans Serif"/>
              </a:rPr>
              <a:t>There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should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fear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too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much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formality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between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public.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50" spc="-10" b="1">
                <a:latin typeface="Trebuchet MS"/>
                <a:cs typeface="Trebuchet MS"/>
              </a:rPr>
              <a:t>Examples:</a:t>
            </a:r>
            <a:endParaRPr sz="1450">
              <a:latin typeface="Trebuchet MS"/>
              <a:cs typeface="Trebuchet MS"/>
            </a:endParaRPr>
          </a:p>
          <a:p>
            <a:pPr marL="248920" marR="5080" indent="-236220">
              <a:lnSpc>
                <a:spcPct val="102099"/>
              </a:lnSpc>
              <a:spcBef>
                <a:spcPts val="1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495">
                <a:latin typeface="Trebuchet MS"/>
                <a:cs typeface="Trebuchet MS"/>
              </a:rPr>
              <a:t> </a:t>
            </a:r>
            <a:r>
              <a:rPr dirty="0" sz="1450" spc="-40">
                <a:latin typeface="Microsoft Sans Serif"/>
                <a:cs typeface="Microsoft Sans Serif"/>
              </a:rPr>
              <a:t>ﷺ</a:t>
            </a:r>
            <a:r>
              <a:rPr dirty="0" sz="1450" spc="-40">
                <a:latin typeface="Trebuchet MS"/>
                <a:cs typeface="Trebuchet MS"/>
              </a:rPr>
              <a:t>used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talk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poor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rich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alike,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listening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needs.</a:t>
            </a:r>
            <a:endParaRPr sz="1450">
              <a:latin typeface="Trebuchet MS"/>
              <a:cs typeface="Trebuchet MS"/>
            </a:endParaRPr>
          </a:p>
          <a:p>
            <a:pPr marL="248920" marR="43815" indent="-236220">
              <a:lnSpc>
                <a:spcPct val="102099"/>
              </a:lnSpc>
              <a:spcBef>
                <a:spcPts val="1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Caliph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Umar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ibn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Al-Khattab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(RA)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walked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directly.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425065">
              <a:lnSpc>
                <a:spcPct val="100000"/>
              </a:lnSpc>
              <a:spcBef>
                <a:spcPts val="114"/>
              </a:spcBef>
            </a:pPr>
            <a:r>
              <a:rPr dirty="0" spc="-10"/>
              <a:t>Accountability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89034" y="2101104"/>
            <a:ext cx="7019925" cy="3047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above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law.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They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answer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-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their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actions.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will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questioned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about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their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decisions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life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hereafter.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Arial"/>
                <a:cs typeface="Arial"/>
              </a:rPr>
              <a:t>Qur’anic</a:t>
            </a:r>
            <a:r>
              <a:rPr dirty="0" sz="1450" spc="1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Reference:</a:t>
            </a:r>
            <a:endParaRPr sz="1450">
              <a:latin typeface="Arial"/>
              <a:cs typeface="Arial"/>
            </a:endParaRPr>
          </a:p>
          <a:p>
            <a:pPr marL="12700" marR="270129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“And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stop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them;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indeed,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they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questioned.” </a:t>
            </a:r>
            <a:r>
              <a:rPr dirty="0" sz="1450">
                <a:latin typeface="Microsoft Sans Serif"/>
                <a:cs typeface="Microsoft Sans Serif"/>
              </a:rPr>
              <a:t>(Surah As-Saffat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37:24)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means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will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held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responsible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their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deeds.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11760">
              <a:lnSpc>
                <a:spcPct val="100000"/>
              </a:lnSpc>
              <a:spcBef>
                <a:spcPts val="5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1176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woman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once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corrected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Caliph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Umar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(RA)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public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mistake.</a:t>
            </a:r>
            <a:endParaRPr sz="1450">
              <a:latin typeface="Trebuchet MS"/>
              <a:cs typeface="Trebuchet MS"/>
            </a:endParaRPr>
          </a:p>
          <a:p>
            <a:pPr marL="111760" marR="5080">
              <a:lnSpc>
                <a:spcPts val="1789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accepted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advice,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showing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leaders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ready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held </a:t>
            </a:r>
            <a:r>
              <a:rPr dirty="0" sz="1450" spc="-10">
                <a:latin typeface="Trebuchet MS"/>
                <a:cs typeface="Trebuchet MS"/>
              </a:rPr>
              <a:t>accountable.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140460">
              <a:lnSpc>
                <a:spcPct val="100000"/>
              </a:lnSpc>
              <a:spcBef>
                <a:spcPts val="114"/>
              </a:spcBef>
            </a:pPr>
            <a:r>
              <a:rPr dirty="0"/>
              <a:t>Consultative</a:t>
            </a:r>
            <a:r>
              <a:rPr dirty="0" spc="-95"/>
              <a:t> </a:t>
            </a:r>
            <a:r>
              <a:rPr dirty="0"/>
              <a:t>Deliberation</a:t>
            </a:r>
            <a:r>
              <a:rPr dirty="0" spc="-110"/>
              <a:t> </a:t>
            </a:r>
            <a:r>
              <a:rPr dirty="0" spc="-10"/>
              <a:t>(Shura)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6565" y="1858793"/>
            <a:ext cx="7759065" cy="3331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Important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decisions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should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made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by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talking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asking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advice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from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others.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listen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opinions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trusted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before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making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choices.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Islam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teaches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working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together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consulting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others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best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way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lead.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450" b="1">
                <a:latin typeface="Arial"/>
                <a:cs typeface="Arial"/>
              </a:rPr>
              <a:t>Qur’anic</a:t>
            </a:r>
            <a:r>
              <a:rPr dirty="0" sz="1450" spc="1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Reference:</a:t>
            </a:r>
            <a:endParaRPr sz="1450">
              <a:latin typeface="Arial"/>
              <a:cs typeface="Arial"/>
            </a:endParaRPr>
          </a:p>
          <a:p>
            <a:pPr marL="12700" marR="483679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“And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consult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with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them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matters.” </a:t>
            </a: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Aal-e-Imran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3:159)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shows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importance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consultation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leadership.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800"/>
              </a:lnSpc>
            </a:pP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50">
                <a:latin typeface="Trebuchet MS"/>
                <a:cs typeface="Trebuchet MS"/>
              </a:rPr>
              <a:t>  </a:t>
            </a:r>
            <a:r>
              <a:rPr dirty="0" sz="1450" spc="-30">
                <a:latin typeface="Microsoft Sans Serif"/>
                <a:cs typeface="Microsoft Sans Serif"/>
              </a:rPr>
              <a:t>ﷺ</a:t>
            </a:r>
            <a:r>
              <a:rPr dirty="0" sz="1450" spc="-30">
                <a:latin typeface="Trebuchet MS"/>
                <a:cs typeface="Trebuchet MS"/>
              </a:rPr>
              <a:t>always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asked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companions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advice,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especially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before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important </a:t>
            </a:r>
            <a:r>
              <a:rPr dirty="0" sz="1450">
                <a:latin typeface="Trebuchet MS"/>
                <a:cs typeface="Trebuchet MS"/>
              </a:rPr>
              <a:t>events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Battle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Uhud.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better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decisions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respect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others’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ideas.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924810">
              <a:lnSpc>
                <a:spcPct val="100000"/>
              </a:lnSpc>
              <a:spcBef>
                <a:spcPts val="114"/>
              </a:spcBef>
            </a:pPr>
            <a:r>
              <a:rPr dirty="0" spc="-10"/>
              <a:t>Justice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9899" y="1814594"/>
            <a:ext cx="6926580" cy="37255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Justice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means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being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fair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everyone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 spc="635">
                <a:latin typeface="Microsoft Sans Serif"/>
                <a:cs typeface="Microsoft Sans Serif"/>
              </a:rPr>
              <a:t>—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whether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rich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poor,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friend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enemy.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No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gets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special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treatment;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there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favoritism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corruption.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Even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leader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follow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law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punished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if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they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wrong.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latin typeface="Arial"/>
                <a:cs typeface="Arial"/>
              </a:rPr>
              <a:t>Qur’anic</a:t>
            </a:r>
            <a:r>
              <a:rPr dirty="0" sz="1450" spc="1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Reference:</a:t>
            </a:r>
            <a:endParaRPr sz="1450">
              <a:latin typeface="Arial"/>
              <a:cs typeface="Arial"/>
            </a:endParaRPr>
          </a:p>
          <a:p>
            <a:pPr marL="12700" marR="3490595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Microsoft Sans Serif"/>
                <a:cs typeface="Microsoft Sans Serif"/>
              </a:rPr>
              <a:t>“Indeed,</a:t>
            </a:r>
            <a:r>
              <a:rPr dirty="0" sz="1450" spc="-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commands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you</a:t>
            </a:r>
            <a:r>
              <a:rPr dirty="0" sz="1450" spc="11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just.” </a:t>
            </a: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-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An-Nahl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16:90)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fairness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command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from</a:t>
            </a:r>
            <a:r>
              <a:rPr dirty="0" sz="1450" spc="-1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Allah.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 spc="-10" b="1">
                <a:latin typeface="Arial"/>
                <a:cs typeface="Arial"/>
              </a:rPr>
              <a:t>Example: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Muhammad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345">
                <a:latin typeface="Microsoft Sans Serif"/>
                <a:cs typeface="Microsoft Sans Serif"/>
              </a:rPr>
              <a:t>ﷺ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said:</a:t>
            </a:r>
            <a:endParaRPr sz="1450">
              <a:latin typeface="Microsoft Sans Serif"/>
              <a:cs typeface="Microsoft Sans Serif"/>
            </a:endParaRPr>
          </a:p>
          <a:p>
            <a:pPr marL="12700" marR="253619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“If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my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daughter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Fatimah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stole,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would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cut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her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hand.” </a:t>
            </a:r>
            <a:r>
              <a:rPr dirty="0" sz="1450">
                <a:latin typeface="Microsoft Sans Serif"/>
                <a:cs typeface="Microsoft Sans Serif"/>
              </a:rPr>
              <a:t>(Sahih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Bukhari)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means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justice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applies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everyone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equally,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even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Prophet’s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own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family.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857500">
              <a:lnSpc>
                <a:spcPct val="100000"/>
              </a:lnSpc>
              <a:spcBef>
                <a:spcPts val="114"/>
              </a:spcBef>
            </a:pPr>
            <a:r>
              <a:rPr dirty="0" spc="-10"/>
              <a:t>Equality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7430" y="1796324"/>
            <a:ext cx="7456170" cy="37287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All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equal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before</a:t>
            </a:r>
            <a:r>
              <a:rPr dirty="0" sz="1450" spc="-2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Allah.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No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one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better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because</a:t>
            </a:r>
            <a:r>
              <a:rPr dirty="0" sz="1450" spc="1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their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race,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money,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social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status.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only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thing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makes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person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better</a:t>
            </a:r>
            <a:r>
              <a:rPr dirty="0" sz="1450" spc="9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their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taqwa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(God-consciousness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piety).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50" b="1">
                <a:latin typeface="Arial"/>
                <a:cs typeface="Arial"/>
              </a:rPr>
              <a:t>Qur’anic</a:t>
            </a:r>
            <a:r>
              <a:rPr dirty="0" sz="1450" spc="1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Reference:</a:t>
            </a:r>
            <a:endParaRPr sz="1450">
              <a:latin typeface="Arial"/>
              <a:cs typeface="Arial"/>
            </a:endParaRPr>
          </a:p>
          <a:p>
            <a:pPr marL="12700" marR="196532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“The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most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noble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you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sight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-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most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righteous.” </a:t>
            </a: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1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Al-Hujurat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49:13)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means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true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honor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comes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from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being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good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pious,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from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birth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wealth.</a:t>
            </a:r>
            <a:endParaRPr sz="1450">
              <a:latin typeface="Microsoft Sans Serif"/>
              <a:cs typeface="Microsoft Sans Serif"/>
            </a:endParaRPr>
          </a:p>
          <a:p>
            <a:pPr marL="93345">
              <a:lnSpc>
                <a:spcPct val="100000"/>
              </a:lnSpc>
              <a:spcBef>
                <a:spcPts val="1550"/>
              </a:spcBef>
            </a:pPr>
            <a:r>
              <a:rPr dirty="0" sz="1450" spc="-10" b="1">
                <a:latin typeface="Arial"/>
                <a:cs typeface="Arial"/>
              </a:rPr>
              <a:t>Example: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45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Muhammad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345">
                <a:latin typeface="Microsoft Sans Serif"/>
                <a:cs typeface="Microsoft Sans Serif"/>
              </a:rPr>
              <a:t>ﷺ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said:</a:t>
            </a:r>
            <a:endParaRPr sz="1450">
              <a:latin typeface="Microsoft Sans Serif"/>
              <a:cs typeface="Microsoft Sans Serif"/>
            </a:endParaRPr>
          </a:p>
          <a:p>
            <a:pPr marL="93345" marR="909319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“No</a:t>
            </a:r>
            <a:r>
              <a:rPr dirty="0" sz="1450" spc="-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Arab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better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non-Arab,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non-Arab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better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</a:t>
            </a:r>
            <a:r>
              <a:rPr dirty="0" sz="1450" spc="-4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Arab...” </a:t>
            </a:r>
            <a:r>
              <a:rPr dirty="0" sz="1450">
                <a:latin typeface="Microsoft Sans Serif"/>
                <a:cs typeface="Microsoft Sans Serif"/>
              </a:rPr>
              <a:t>(Musnad</a:t>
            </a:r>
            <a:r>
              <a:rPr dirty="0" sz="1450" spc="-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Ahmad)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93345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equal,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only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their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goodness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counts.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463040">
              <a:lnSpc>
                <a:spcPct val="100000"/>
              </a:lnSpc>
              <a:spcBef>
                <a:spcPts val="114"/>
              </a:spcBef>
            </a:pPr>
            <a:r>
              <a:rPr dirty="0"/>
              <a:t>Baitul</a:t>
            </a:r>
            <a:r>
              <a:rPr dirty="0" spc="-40"/>
              <a:t> </a:t>
            </a:r>
            <a:r>
              <a:rPr dirty="0"/>
              <a:t>Maal</a:t>
            </a:r>
            <a:r>
              <a:rPr dirty="0" spc="-35"/>
              <a:t> </a:t>
            </a:r>
            <a:r>
              <a:rPr dirty="0"/>
              <a:t>(Public</a:t>
            </a:r>
            <a:r>
              <a:rPr dirty="0" spc="-75"/>
              <a:t> </a:t>
            </a:r>
            <a:r>
              <a:rPr dirty="0" spc="-10"/>
              <a:t>Treasury)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5826" y="1826774"/>
            <a:ext cx="7926705" cy="3576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It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place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where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money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Muslim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state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kept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safely.</a:t>
            </a:r>
            <a:endParaRPr sz="1450">
              <a:latin typeface="Microsoft Sans Serif"/>
              <a:cs typeface="Microsoft Sans Serif"/>
            </a:endParaRPr>
          </a:p>
          <a:p>
            <a:pPr marL="248920" marR="461009" indent="-236220">
              <a:lnSpc>
                <a:spcPct val="102099"/>
              </a:lnSpc>
              <a:spcBef>
                <a:spcPts val="15"/>
              </a:spcBef>
              <a:buChar char="•"/>
              <a:tabLst>
                <a:tab pos="248920" algn="l"/>
              </a:tabLst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money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used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help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poor,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build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roads,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schools,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hospitals,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serve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the </a:t>
            </a:r>
            <a:r>
              <a:rPr dirty="0" sz="1450" spc="-10">
                <a:latin typeface="Microsoft Sans Serif"/>
                <a:cs typeface="Microsoft Sans Serif"/>
              </a:rPr>
              <a:t>community.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4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cannot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money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themselves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their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families.</a:t>
            </a:r>
            <a:endParaRPr sz="1450">
              <a:latin typeface="Microsoft Sans Serif"/>
              <a:cs typeface="Microsoft Sans Serif"/>
            </a:endParaRPr>
          </a:p>
          <a:p>
            <a:pPr marL="173990">
              <a:lnSpc>
                <a:spcPct val="100000"/>
              </a:lnSpc>
              <a:spcBef>
                <a:spcPts val="925"/>
              </a:spcBef>
            </a:pPr>
            <a:r>
              <a:rPr dirty="0" sz="1450" b="1">
                <a:latin typeface="Arial"/>
                <a:cs typeface="Arial"/>
              </a:rPr>
              <a:t>Qur’anic</a:t>
            </a:r>
            <a:r>
              <a:rPr dirty="0" sz="1450" spc="1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Reference:</a:t>
            </a:r>
            <a:endParaRPr sz="1450">
              <a:latin typeface="Arial"/>
              <a:cs typeface="Arial"/>
            </a:endParaRPr>
          </a:p>
          <a:p>
            <a:pPr marL="173990" marR="455549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“Zakat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poor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needy...” </a:t>
            </a:r>
            <a:r>
              <a:rPr dirty="0" sz="1450">
                <a:latin typeface="Microsoft Sans Serif"/>
                <a:cs typeface="Microsoft Sans Serif"/>
              </a:rPr>
              <a:t>(Surah</a:t>
            </a:r>
            <a:r>
              <a:rPr dirty="0" sz="1450" spc="-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At-Tawbah</a:t>
            </a:r>
            <a:r>
              <a:rPr dirty="0" sz="1450" spc="10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9:60)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73990">
              <a:lnSpc>
                <a:spcPct val="100000"/>
              </a:lnSpc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shows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public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money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support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those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need.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73990">
              <a:lnSpc>
                <a:spcPct val="100000"/>
              </a:lnSpc>
            </a:pPr>
            <a:r>
              <a:rPr dirty="0" sz="1450" spc="-10" b="1"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73990">
              <a:lnSpc>
                <a:spcPct val="100000"/>
              </a:lnSpc>
            </a:pPr>
            <a:r>
              <a:rPr dirty="0" sz="1450">
                <a:latin typeface="Trebuchet MS"/>
                <a:cs typeface="Trebuchet MS"/>
              </a:rPr>
              <a:t>Caliph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Umar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ibn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Al-Khattab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(RA)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kept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detailed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records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Baitul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Maal.</a:t>
            </a:r>
            <a:endParaRPr sz="1450">
              <a:latin typeface="Trebuchet MS"/>
              <a:cs typeface="Trebuchet MS"/>
            </a:endParaRPr>
          </a:p>
          <a:p>
            <a:pPr marL="173990" marR="508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sure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money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spent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fairly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public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benefit,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personal </a:t>
            </a:r>
            <a:r>
              <a:rPr dirty="0" sz="1450" spc="-20">
                <a:latin typeface="Trebuchet MS"/>
                <a:cs typeface="Trebuchet MS"/>
              </a:rPr>
              <a:t>use.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482850">
              <a:lnSpc>
                <a:spcPct val="100000"/>
              </a:lnSpc>
              <a:spcBef>
                <a:spcPts val="114"/>
              </a:spcBef>
            </a:pPr>
            <a:r>
              <a:rPr dirty="0"/>
              <a:t>Welfare</a:t>
            </a:r>
            <a:r>
              <a:rPr dirty="0" spc="-75"/>
              <a:t> </a:t>
            </a:r>
            <a:r>
              <a:rPr dirty="0" spc="-20"/>
              <a:t>State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0605" y="1840523"/>
            <a:ext cx="6507480" cy="36677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An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Islamic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state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take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care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people,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whether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they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rich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poor.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50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It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should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provide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food,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shelter,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healthcare,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education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everyone.</a:t>
            </a:r>
            <a:endParaRPr sz="145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Char char="•"/>
              <a:tabLst>
                <a:tab pos="248285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state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also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support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orphans,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widows,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those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need.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450" b="1">
                <a:latin typeface="Arial"/>
                <a:cs typeface="Arial"/>
              </a:rPr>
              <a:t>Qur’anic</a:t>
            </a:r>
            <a:r>
              <a:rPr dirty="0" sz="1450" spc="13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Reference: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50">
              <a:latin typeface="Arial"/>
              <a:cs typeface="Arial"/>
            </a:endParaRPr>
          </a:p>
          <a:p>
            <a:pPr marL="12700" marR="2900680">
              <a:lnSpc>
                <a:spcPct val="102800"/>
              </a:lnSpc>
              <a:spcBef>
                <a:spcPts val="5"/>
              </a:spcBef>
            </a:pPr>
            <a:r>
              <a:rPr dirty="0" sz="1450">
                <a:latin typeface="Microsoft Sans Serif"/>
                <a:cs typeface="Microsoft Sans Serif"/>
              </a:rPr>
              <a:t>“Feed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poor,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kind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orphan.” </a:t>
            </a:r>
            <a:r>
              <a:rPr dirty="0" sz="1450">
                <a:latin typeface="Microsoft Sans Serif"/>
                <a:cs typeface="Microsoft Sans Serif"/>
              </a:rPr>
              <a:t>(Surah Al-Insan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76:8)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importance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caring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weak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needy.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50" spc="-10" b="1">
                <a:latin typeface="Arial"/>
                <a:cs typeface="Arial"/>
              </a:rPr>
              <a:t>Example: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Muhammad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345">
                <a:latin typeface="Microsoft Sans Serif"/>
                <a:cs typeface="Microsoft Sans Serif"/>
              </a:rPr>
              <a:t>ﷺ</a:t>
            </a:r>
            <a:r>
              <a:rPr dirty="0" sz="1450" spc="100">
                <a:latin typeface="Microsoft Sans Serif"/>
                <a:cs typeface="Microsoft Sans Serif"/>
              </a:rPr>
              <a:t> </a:t>
            </a:r>
            <a:r>
              <a:rPr dirty="0" sz="1450" spc="-20">
                <a:latin typeface="Microsoft Sans Serif"/>
                <a:cs typeface="Microsoft Sans Serif"/>
              </a:rPr>
              <a:t>said:</a:t>
            </a:r>
            <a:endParaRPr sz="1450">
              <a:latin typeface="Microsoft Sans Serif"/>
              <a:cs typeface="Microsoft Sans Serif"/>
            </a:endParaRPr>
          </a:p>
          <a:p>
            <a:pPr marL="12700" marR="1663064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Microsoft Sans Serif"/>
                <a:cs typeface="Microsoft Sans Serif"/>
              </a:rPr>
              <a:t>“The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ruler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guardian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responsible</a:t>
            </a:r>
            <a:r>
              <a:rPr dirty="0" sz="1450" spc="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people.” </a:t>
            </a:r>
            <a:r>
              <a:rPr dirty="0" sz="1450">
                <a:latin typeface="Microsoft Sans Serif"/>
                <a:cs typeface="Microsoft Sans Serif"/>
              </a:rPr>
              <a:t>(Sahih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Bukhari)</a:t>
            </a: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means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leaders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must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protect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care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8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their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citizens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like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guardian.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Waqas Naseem</dc:creator>
  <dc:title>Microsoft PowerPoint - Chapter Islamic Political System.pptx</dc:title>
  <dcterms:created xsi:type="dcterms:W3CDTF">2025-07-05T10:15:52Z</dcterms:created>
  <dcterms:modified xsi:type="dcterms:W3CDTF">2025-07-05T10:15:52Z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2025-05-26T00:00:00Z</vt:filetime>
  </property>
  <property fmtid="{D5CDD505-2E9C-101B-9397-08002B2CF9AE}" pid="3" name="LastSaved">
    <vt:filetime>2025-07-05T00:00:00Z</vt:filetime>
  </property>
  <property fmtid="{D5CDD505-2E9C-101B-9397-08002B2CF9AE}" pid="4" name="Producer">
    <vt:lpwstr>Microsoft: Print To PDF</vt:lpwstr>
  </property>
</Properties>
</file>