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31251" y="1057656"/>
            <a:ext cx="1007744" cy="5659120"/>
          </a:xfrm>
          <a:custGeom>
            <a:avLst/>
            <a:gdLst/>
            <a:ahLst/>
            <a:cxnLst/>
            <a:rect l="l" t="t" r="r" b="b"/>
            <a:pathLst>
              <a:path w="1007745" h="5659120">
                <a:moveTo>
                  <a:pt x="0" y="0"/>
                </a:moveTo>
                <a:lnTo>
                  <a:pt x="1007364" y="5658611"/>
                </a:lnTo>
              </a:path>
            </a:pathLst>
          </a:custGeom>
          <a:ln w="762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126480" y="4094988"/>
            <a:ext cx="3930650" cy="2621280"/>
          </a:xfrm>
          <a:custGeom>
            <a:avLst/>
            <a:gdLst/>
            <a:ahLst/>
            <a:cxnLst/>
            <a:rect l="l" t="t" r="r" b="b"/>
            <a:pathLst>
              <a:path w="3930650" h="2621279">
                <a:moveTo>
                  <a:pt x="3930395" y="0"/>
                </a:moveTo>
                <a:lnTo>
                  <a:pt x="0" y="2621279"/>
                </a:lnTo>
              </a:path>
            </a:pathLst>
          </a:custGeom>
          <a:ln w="7620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1634" y="1212654"/>
            <a:ext cx="6314440" cy="378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9579" y="2206204"/>
            <a:ext cx="7047230" cy="20631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122670" y="1053846"/>
            <a:ext cx="3938270" cy="5666740"/>
            <a:chOff x="6122670" y="1053846"/>
            <a:chExt cx="3938270" cy="5666740"/>
          </a:xfrm>
        </p:grpSpPr>
        <p:sp>
          <p:nvSpPr>
            <p:cNvPr id="3" name="object 3" descr=""/>
            <p:cNvSpPr/>
            <p:nvPr/>
          </p:nvSpPr>
          <p:spPr>
            <a:xfrm>
              <a:off x="7731251" y="1057656"/>
              <a:ext cx="1007744" cy="5659120"/>
            </a:xfrm>
            <a:custGeom>
              <a:avLst/>
              <a:gdLst/>
              <a:ahLst/>
              <a:cxnLst/>
              <a:rect l="l" t="t" r="r" b="b"/>
              <a:pathLst>
                <a:path w="1007745" h="5659120">
                  <a:moveTo>
                    <a:pt x="0" y="0"/>
                  </a:moveTo>
                  <a:lnTo>
                    <a:pt x="1007364" y="5658611"/>
                  </a:lnTo>
                </a:path>
              </a:pathLst>
            </a:custGeom>
            <a:ln w="762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126480" y="4094988"/>
              <a:ext cx="3930650" cy="2621280"/>
            </a:xfrm>
            <a:custGeom>
              <a:avLst/>
              <a:gdLst/>
              <a:ahLst/>
              <a:cxnLst/>
              <a:rect l="l" t="t" r="r" b="b"/>
              <a:pathLst>
                <a:path w="3930650" h="2621279">
                  <a:moveTo>
                    <a:pt x="3930395" y="0"/>
                  </a:moveTo>
                  <a:lnTo>
                    <a:pt x="0" y="2621279"/>
                  </a:lnTo>
                </a:path>
              </a:pathLst>
            </a:custGeom>
            <a:ln w="762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65492" y="1057656"/>
              <a:ext cx="2692907" cy="5658611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0" y="1057655"/>
            <a:ext cx="1588135" cy="5659120"/>
            <a:chOff x="0" y="1057655"/>
            <a:chExt cx="1588135" cy="565912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057655"/>
              <a:ext cx="702564" cy="468020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64" y="5148071"/>
              <a:ext cx="1571244" cy="156819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485567" y="1168389"/>
            <a:ext cx="3718560" cy="8559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u="none" sz="5450">
                <a:solidFill>
                  <a:srgbClr val="90C126"/>
                </a:solidFill>
              </a:rPr>
              <a:t>9</a:t>
            </a:r>
            <a:r>
              <a:rPr dirty="0" u="none" baseline="25462" sz="5400">
                <a:solidFill>
                  <a:srgbClr val="90C126"/>
                </a:solidFill>
              </a:rPr>
              <a:t>th</a:t>
            </a:r>
            <a:r>
              <a:rPr dirty="0" u="none" baseline="25462" sz="5400" spc="832">
                <a:solidFill>
                  <a:srgbClr val="90C126"/>
                </a:solidFill>
              </a:rPr>
              <a:t> </a:t>
            </a:r>
            <a:r>
              <a:rPr dirty="0" u="none" sz="5450" spc="-10">
                <a:solidFill>
                  <a:srgbClr val="90C126"/>
                </a:solidFill>
              </a:rPr>
              <a:t>Chapter</a:t>
            </a:r>
            <a:endParaRPr sz="5450"/>
          </a:p>
        </p:txBody>
      </p:sp>
      <p:sp>
        <p:nvSpPr>
          <p:cNvPr id="10" name="object 10" descr=""/>
          <p:cNvSpPr/>
          <p:nvPr/>
        </p:nvSpPr>
        <p:spPr>
          <a:xfrm>
            <a:off x="2522219" y="1959863"/>
            <a:ext cx="3642360" cy="67310"/>
          </a:xfrm>
          <a:custGeom>
            <a:avLst/>
            <a:gdLst/>
            <a:ahLst/>
            <a:cxnLst/>
            <a:rect l="l" t="t" r="r" b="b"/>
            <a:pathLst>
              <a:path w="3642360" h="67310">
                <a:moveTo>
                  <a:pt x="3642360" y="67056"/>
                </a:moveTo>
                <a:lnTo>
                  <a:pt x="0" y="67056"/>
                </a:lnTo>
                <a:lnTo>
                  <a:pt x="0" y="0"/>
                </a:lnTo>
                <a:lnTo>
                  <a:pt x="3642360" y="0"/>
                </a:lnTo>
                <a:lnTo>
                  <a:pt x="3642360" y="67056"/>
                </a:lnTo>
                <a:close/>
              </a:path>
            </a:pathLst>
          </a:custGeom>
          <a:solidFill>
            <a:srgbClr val="90C1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974877" y="2005069"/>
            <a:ext cx="6739890" cy="40455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  <a:tabLst>
                <a:tab pos="1616075" algn="l"/>
              </a:tabLst>
            </a:pPr>
            <a:r>
              <a:rPr dirty="0" u="sng" sz="3600" spc="-1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Islamic</a:t>
            </a:r>
            <a:r>
              <a:rPr dirty="0" u="sng" sz="360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	Culture</a:t>
            </a:r>
            <a:r>
              <a:rPr dirty="0" u="sng" sz="3600" spc="6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60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3600" spc="45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600" spc="-1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Civilization</a:t>
            </a:r>
            <a:endParaRPr sz="3600">
              <a:latin typeface="Trebuchet MS"/>
              <a:cs typeface="Trebuchet MS"/>
            </a:endParaRPr>
          </a:p>
          <a:p>
            <a:pPr algn="ctr" marL="367665" marR="357505">
              <a:lnSpc>
                <a:spcPct val="130400"/>
              </a:lnSpc>
              <a:spcBef>
                <a:spcPts val="1735"/>
              </a:spcBef>
            </a:pP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Features</a:t>
            </a:r>
            <a:r>
              <a:rPr dirty="0" sz="2300" spc="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2300" spc="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Islamic</a:t>
            </a:r>
            <a:r>
              <a:rPr dirty="0" sz="230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Culture</a:t>
            </a:r>
            <a:r>
              <a:rPr dirty="0" sz="230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and</a:t>
            </a:r>
            <a:r>
              <a:rPr dirty="0" sz="230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70BF"/>
                </a:solidFill>
                <a:latin typeface="Arial"/>
                <a:cs typeface="Arial"/>
              </a:rPr>
              <a:t>Civilization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Concept</a:t>
            </a:r>
            <a:r>
              <a:rPr dirty="0" sz="230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2300" spc="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Islamic</a:t>
            </a:r>
            <a:r>
              <a:rPr dirty="0" sz="230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70BF"/>
                </a:solidFill>
                <a:latin typeface="Arial"/>
                <a:cs typeface="Arial"/>
              </a:rPr>
              <a:t>Society</a:t>
            </a:r>
            <a:endParaRPr sz="2300">
              <a:latin typeface="Arial"/>
              <a:cs typeface="Arial"/>
            </a:endParaRPr>
          </a:p>
          <a:p>
            <a:pPr algn="ctr" marL="1061085" marR="1056005">
              <a:lnSpc>
                <a:spcPct val="130000"/>
              </a:lnSpc>
              <a:spcBef>
                <a:spcPts val="10"/>
              </a:spcBef>
            </a:pP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Importance</a:t>
            </a:r>
            <a:r>
              <a:rPr dirty="0" sz="2300" spc="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2300" spc="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Education</a:t>
            </a:r>
            <a:r>
              <a:rPr dirty="0" sz="2300" spc="-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in</a:t>
            </a:r>
            <a:r>
              <a:rPr dirty="0" sz="230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70BF"/>
                </a:solidFill>
                <a:latin typeface="Arial"/>
                <a:cs typeface="Arial"/>
              </a:rPr>
              <a:t>Islam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Rights</a:t>
            </a:r>
            <a:r>
              <a:rPr dirty="0" sz="2300" spc="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230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70BF"/>
                </a:solidFill>
                <a:latin typeface="Arial"/>
                <a:cs typeface="Arial"/>
              </a:rPr>
              <a:t>Parents</a:t>
            </a:r>
            <a:endParaRPr sz="23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  <a:spcBef>
                <a:spcPts val="840"/>
              </a:spcBef>
            </a:pP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Rights</a:t>
            </a:r>
            <a:r>
              <a:rPr dirty="0" sz="2300" spc="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230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70BF"/>
                </a:solidFill>
                <a:latin typeface="Arial"/>
                <a:cs typeface="Arial"/>
              </a:rPr>
              <a:t>Teachers</a:t>
            </a:r>
            <a:endParaRPr sz="2300">
              <a:latin typeface="Arial"/>
              <a:cs typeface="Arial"/>
            </a:endParaRPr>
          </a:p>
          <a:p>
            <a:pPr algn="ctr" marL="203200">
              <a:lnSpc>
                <a:spcPct val="100000"/>
              </a:lnSpc>
              <a:spcBef>
                <a:spcPts val="1655"/>
              </a:spcBef>
            </a:pPr>
            <a:r>
              <a:rPr dirty="0" sz="1950" b="1">
                <a:solidFill>
                  <a:srgbClr val="3F7718"/>
                </a:solidFill>
                <a:latin typeface="Times New Roman"/>
                <a:cs typeface="Times New Roman"/>
              </a:rPr>
              <a:t>Ms.</a:t>
            </a:r>
            <a:r>
              <a:rPr dirty="0" sz="1950" spc="4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950" b="1">
                <a:solidFill>
                  <a:srgbClr val="3F7718"/>
                </a:solidFill>
                <a:latin typeface="Times New Roman"/>
                <a:cs typeface="Times New Roman"/>
              </a:rPr>
              <a:t>SAFIA</a:t>
            </a:r>
            <a:r>
              <a:rPr dirty="0" sz="1950" spc="-11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950" spc="-20" b="1">
                <a:solidFill>
                  <a:srgbClr val="3F7718"/>
                </a:solidFill>
                <a:latin typeface="Times New Roman"/>
                <a:cs typeface="Times New Roman"/>
              </a:rPr>
              <a:t>WAQAS</a:t>
            </a:r>
            <a:endParaRPr sz="1950">
              <a:latin typeface="Times New Roman"/>
              <a:cs typeface="Times New Roman"/>
            </a:endParaRPr>
          </a:p>
          <a:p>
            <a:pPr algn="ctr" marL="205104">
              <a:lnSpc>
                <a:spcPct val="100000"/>
              </a:lnSpc>
              <a:spcBef>
                <a:spcPts val="60"/>
              </a:spcBef>
            </a:pP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Session:</a:t>
            </a:r>
            <a:r>
              <a:rPr dirty="0" sz="1450" spc="3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Spring:</a:t>
            </a:r>
            <a:r>
              <a:rPr dirty="0" sz="1450" spc="2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spc="-20" b="1">
                <a:solidFill>
                  <a:srgbClr val="3F7718"/>
                </a:solidFill>
                <a:latin typeface="Times New Roman"/>
                <a:cs typeface="Times New Roman"/>
              </a:rPr>
              <a:t>2025</a:t>
            </a:r>
            <a:endParaRPr sz="1450">
              <a:latin typeface="Times New Roman"/>
              <a:cs typeface="Times New Roman"/>
            </a:endParaRPr>
          </a:p>
          <a:p>
            <a:pPr algn="ctr" marL="208279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Course:</a:t>
            </a:r>
            <a:r>
              <a:rPr dirty="0" sz="1450" spc="5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Islamic</a:t>
            </a:r>
            <a:r>
              <a:rPr dirty="0" sz="1450" spc="4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Studies</a:t>
            </a:r>
            <a:r>
              <a:rPr dirty="0" sz="1450" spc="4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/</a:t>
            </a:r>
            <a:r>
              <a:rPr dirty="0" sz="1450" spc="6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Ethical</a:t>
            </a:r>
            <a:r>
              <a:rPr dirty="0" sz="1450" spc="2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spc="-10" b="1">
                <a:solidFill>
                  <a:srgbClr val="3F7718"/>
                </a:solidFill>
                <a:latin typeface="Times New Roman"/>
                <a:cs typeface="Times New Roman"/>
              </a:rPr>
              <a:t>Behavior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74" y="1328405"/>
            <a:ext cx="560070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latin typeface="Arial"/>
                <a:cs typeface="Arial"/>
              </a:rPr>
              <a:t>Islamic</a:t>
            </a:r>
            <a:r>
              <a:rPr dirty="0" sz="2950" spc="-2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Culture</a:t>
            </a:r>
            <a:r>
              <a:rPr dirty="0" sz="2950" spc="-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and</a:t>
            </a:r>
            <a:r>
              <a:rPr dirty="0" sz="2950" spc="45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Civilization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64693" y="1830153"/>
            <a:ext cx="6313805" cy="283654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2100" spc="-254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100" spc="-13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u="sng" sz="2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Topics:</a:t>
            </a:r>
            <a:endParaRPr sz="26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Features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Islamic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Culture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Civilization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Concept</a:t>
            </a:r>
            <a:r>
              <a:rPr dirty="0" sz="23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Islamic</a:t>
            </a:r>
            <a:r>
              <a:rPr dirty="0" sz="23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Society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Importance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Education</a:t>
            </a:r>
            <a:r>
              <a:rPr dirty="0" sz="23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23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Islam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Rights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Parents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Rights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Teachers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539750">
              <a:lnSpc>
                <a:spcPct val="100000"/>
              </a:lnSpc>
              <a:spcBef>
                <a:spcPts val="114"/>
              </a:spcBef>
            </a:pPr>
            <a:r>
              <a:rPr dirty="0"/>
              <a:t>What</a:t>
            </a:r>
            <a:r>
              <a:rPr dirty="0" spc="-40"/>
              <a:t> </a:t>
            </a:r>
            <a:r>
              <a:rPr dirty="0"/>
              <a:t>Is Islamic</a:t>
            </a:r>
            <a:r>
              <a:rPr dirty="0" spc="-30"/>
              <a:t> </a:t>
            </a:r>
            <a:r>
              <a:rPr dirty="0"/>
              <a:t>Culture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Civilization?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98187" y="1797829"/>
            <a:ext cx="8192770" cy="9429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4600"/>
              </a:lnSpc>
              <a:spcBef>
                <a:spcPts val="95"/>
              </a:spcBef>
            </a:pPr>
            <a:r>
              <a:rPr dirty="0" sz="1300">
                <a:latin typeface="Arial MT"/>
                <a:cs typeface="Arial MT"/>
              </a:rPr>
              <a:t>It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is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the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way</a:t>
            </a:r>
            <a:r>
              <a:rPr dirty="0" sz="1300" spc="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Muslims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live,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based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on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the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Quran and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the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teachings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of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Prophet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Muhammad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(peace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be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upon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him). </a:t>
            </a:r>
            <a:r>
              <a:rPr dirty="0" sz="1300">
                <a:latin typeface="Arial MT"/>
                <a:cs typeface="Arial MT"/>
              </a:rPr>
              <a:t>It</a:t>
            </a:r>
            <a:r>
              <a:rPr dirty="0" sz="1300" spc="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includes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beliefs,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values,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traditions,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and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daily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practices.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300">
                <a:latin typeface="Arial MT"/>
                <a:cs typeface="Arial MT"/>
              </a:rPr>
              <a:t>It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connects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religion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with</a:t>
            </a:r>
            <a:r>
              <a:rPr dirty="0" sz="1300" spc="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knowledge</a:t>
            </a:r>
            <a:r>
              <a:rPr dirty="0" sz="1300" spc="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and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human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development.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643" y="1261341"/>
            <a:ext cx="3620135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1.</a:t>
            </a:r>
            <a:r>
              <a:rPr dirty="0" spc="-5"/>
              <a:t> </a:t>
            </a:r>
            <a:r>
              <a:rPr dirty="0" spc="-25"/>
              <a:t>Faith-</a:t>
            </a:r>
            <a:r>
              <a:rPr dirty="0"/>
              <a:t>Based</a:t>
            </a:r>
            <a:r>
              <a:rPr dirty="0" spc="-40"/>
              <a:t> </a:t>
            </a:r>
            <a:r>
              <a:rPr dirty="0" spc="-10"/>
              <a:t>Foundation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7719" y="2046201"/>
            <a:ext cx="6663690" cy="4034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1450">
                <a:latin typeface="Trebuchet MS"/>
                <a:cs typeface="Trebuchet MS"/>
              </a:rPr>
              <a:t>Based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Tawheed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–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belief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(Allah).Follows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teachings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Prophet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(peace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upon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him).Guides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parts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life: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worship, </a:t>
            </a:r>
            <a:r>
              <a:rPr dirty="0" sz="1450">
                <a:latin typeface="Trebuchet MS"/>
                <a:cs typeface="Trebuchet MS"/>
              </a:rPr>
              <a:t>work,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family,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community.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450">
              <a:latin typeface="Trebuchet MS"/>
              <a:cs typeface="Trebuchet MS"/>
            </a:endParaRPr>
          </a:p>
          <a:p>
            <a:pPr marL="311785" indent="-218440">
              <a:lnSpc>
                <a:spcPct val="100000"/>
              </a:lnSpc>
              <a:buClr>
                <a:srgbClr val="000000"/>
              </a:buClr>
              <a:buSzPct val="63043"/>
              <a:buAutoNum type="arabicPeriod" startAt="2"/>
              <a:tabLst>
                <a:tab pos="311785" algn="l"/>
              </a:tabLst>
            </a:pPr>
            <a:r>
              <a:rPr dirty="0" u="sng" sz="2300" spc="-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2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Universal</a:t>
            </a:r>
            <a:r>
              <a:rPr dirty="0" u="sng" sz="230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23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Values</a:t>
            </a:r>
            <a:endParaRPr sz="2300">
              <a:latin typeface="Trebuchet MS"/>
              <a:cs typeface="Trebuchet MS"/>
            </a:endParaRPr>
          </a:p>
          <a:p>
            <a:pPr lvl="1" marL="158750" indent="-73025">
              <a:lnSpc>
                <a:spcPct val="100000"/>
              </a:lnSpc>
              <a:spcBef>
                <a:spcPts val="60"/>
              </a:spcBef>
              <a:buSzPct val="93103"/>
              <a:buFont typeface="Arial MT"/>
              <a:buChar char="•"/>
              <a:tabLst>
                <a:tab pos="158750" algn="l"/>
              </a:tabLst>
            </a:pPr>
            <a:r>
              <a:rPr dirty="0" sz="1450">
                <a:latin typeface="Trebuchet MS"/>
                <a:cs typeface="Trebuchet MS"/>
              </a:rPr>
              <a:t>Teaches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justice,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kindness,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equality.</a:t>
            </a:r>
            <a:endParaRPr sz="1450">
              <a:latin typeface="Trebuchet MS"/>
              <a:cs typeface="Trebuchet MS"/>
            </a:endParaRPr>
          </a:p>
          <a:p>
            <a:pPr lvl="1" marL="158750" indent="-73025">
              <a:lnSpc>
                <a:spcPct val="100000"/>
              </a:lnSpc>
              <a:spcBef>
                <a:spcPts val="50"/>
              </a:spcBef>
              <a:buSzPct val="93103"/>
              <a:buFont typeface="Arial MT"/>
              <a:buChar char="•"/>
              <a:tabLst>
                <a:tab pos="158750" algn="l"/>
              </a:tabLst>
            </a:pPr>
            <a:r>
              <a:rPr dirty="0" sz="1450">
                <a:latin typeface="Trebuchet MS"/>
                <a:cs typeface="Trebuchet MS"/>
              </a:rPr>
              <a:t>Respects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people,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matter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race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background.</a:t>
            </a:r>
            <a:endParaRPr sz="1450">
              <a:latin typeface="Trebuchet MS"/>
              <a:cs typeface="Trebuchet MS"/>
            </a:endParaRPr>
          </a:p>
          <a:p>
            <a:pPr lvl="1" marL="158750" indent="-73025">
              <a:lnSpc>
                <a:spcPct val="100000"/>
              </a:lnSpc>
              <a:spcBef>
                <a:spcPts val="35"/>
              </a:spcBef>
              <a:buSzPct val="93103"/>
              <a:buFont typeface="Arial MT"/>
              <a:buChar char="•"/>
              <a:tabLst>
                <a:tab pos="158750" algn="l"/>
              </a:tabLst>
            </a:pPr>
            <a:r>
              <a:rPr dirty="0" sz="1450">
                <a:latin typeface="Trebuchet MS"/>
                <a:cs typeface="Trebuchet MS"/>
              </a:rPr>
              <a:t>Encourages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helping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living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peacefully.</a:t>
            </a:r>
            <a:endParaRPr sz="145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145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35"/>
              </a:spcBef>
              <a:buFont typeface="Arial MT"/>
              <a:buChar char="•"/>
            </a:pPr>
            <a:endParaRPr sz="1450">
              <a:latin typeface="Trebuchet MS"/>
              <a:cs typeface="Trebuchet MS"/>
            </a:endParaRPr>
          </a:p>
          <a:p>
            <a:pPr lvl="2" marL="483870" indent="-218440">
              <a:lnSpc>
                <a:spcPct val="100000"/>
              </a:lnSpc>
              <a:buClr>
                <a:srgbClr val="000000"/>
              </a:buClr>
              <a:buSzPct val="63043"/>
              <a:buAutoNum type="arabicPeriod" startAt="3"/>
              <a:tabLst>
                <a:tab pos="483870" algn="l"/>
              </a:tabLst>
            </a:pPr>
            <a:r>
              <a:rPr dirty="0" u="sng" sz="2300" spc="-1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2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Knowledge</a:t>
            </a:r>
            <a:r>
              <a:rPr dirty="0" u="sng" sz="2300" spc="-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2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2300" spc="-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23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Education</a:t>
            </a:r>
            <a:endParaRPr sz="2300">
              <a:latin typeface="Trebuchet MS"/>
              <a:cs typeface="Trebuchet MS"/>
            </a:endParaRPr>
          </a:p>
          <a:p>
            <a:pPr lvl="3" marL="330200" indent="-73025">
              <a:lnSpc>
                <a:spcPct val="100000"/>
              </a:lnSpc>
              <a:spcBef>
                <a:spcPts val="60"/>
              </a:spcBef>
              <a:buSzPct val="93103"/>
              <a:buFont typeface="Arial MT"/>
              <a:buChar char="•"/>
              <a:tabLst>
                <a:tab pos="330200" algn="l"/>
              </a:tabLst>
            </a:pPr>
            <a:r>
              <a:rPr dirty="0" sz="1450">
                <a:latin typeface="Trebuchet MS"/>
                <a:cs typeface="Trebuchet MS"/>
              </a:rPr>
              <a:t>Islam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encourages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learning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seeking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knowledge.</a:t>
            </a:r>
            <a:endParaRPr sz="1450">
              <a:latin typeface="Trebuchet MS"/>
              <a:cs typeface="Trebuchet MS"/>
            </a:endParaRPr>
          </a:p>
          <a:p>
            <a:pPr lvl="3" marL="265430" marR="2044700" indent="-8255">
              <a:lnSpc>
                <a:spcPct val="102099"/>
              </a:lnSpc>
              <a:spcBef>
                <a:spcPts val="10"/>
              </a:spcBef>
              <a:buSzPct val="93103"/>
              <a:buFont typeface="Arial MT"/>
              <a:buChar char="•"/>
              <a:tabLst>
                <a:tab pos="330200" algn="l"/>
              </a:tabLst>
            </a:pPr>
            <a:r>
              <a:rPr dirty="0" sz="1450">
                <a:latin typeface="Trebuchet MS"/>
                <a:cs typeface="Trebuchet MS"/>
              </a:rPr>
              <a:t>	</a:t>
            </a:r>
            <a:r>
              <a:rPr dirty="0" sz="1450">
                <a:latin typeface="Trebuchet MS"/>
                <a:cs typeface="Trebuchet MS"/>
              </a:rPr>
              <a:t>Muslim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scholars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made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big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contributions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science, </a:t>
            </a:r>
            <a:r>
              <a:rPr dirty="0" sz="1450">
                <a:latin typeface="Trebuchet MS"/>
                <a:cs typeface="Trebuchet MS"/>
              </a:rPr>
              <a:t>medicine,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math.</a:t>
            </a:r>
            <a:endParaRPr sz="1450">
              <a:latin typeface="Trebuchet MS"/>
              <a:cs typeface="Trebuchet MS"/>
            </a:endParaRPr>
          </a:p>
          <a:p>
            <a:pPr lvl="3" marL="265430" marR="1489075" indent="-8255">
              <a:lnSpc>
                <a:spcPct val="102000"/>
              </a:lnSpc>
              <a:spcBef>
                <a:spcPts val="15"/>
              </a:spcBef>
              <a:buSzPct val="93103"/>
              <a:buFont typeface="Arial MT"/>
              <a:buChar char="•"/>
              <a:tabLst>
                <a:tab pos="330200" algn="l"/>
              </a:tabLst>
            </a:pPr>
            <a:r>
              <a:rPr dirty="0" sz="1450">
                <a:latin typeface="Trebuchet MS"/>
                <a:cs typeface="Trebuchet MS"/>
              </a:rPr>
              <a:t>	</a:t>
            </a:r>
            <a:r>
              <a:rPr dirty="0" sz="1450">
                <a:latin typeface="Trebuchet MS"/>
                <a:cs typeface="Trebuchet MS"/>
              </a:rPr>
              <a:t>Example: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House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of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Wisdom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Baghdad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center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learning.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3940" y="1980687"/>
            <a:ext cx="4763770" cy="16103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latin typeface="Trebuchet MS"/>
                <a:cs typeface="Trebuchet MS"/>
              </a:rPr>
              <a:t>Examples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of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Muslim</a:t>
            </a:r>
            <a:r>
              <a:rPr dirty="0" sz="1450" spc="8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Scholars</a:t>
            </a:r>
            <a:endParaRPr sz="1450">
              <a:latin typeface="Trebuchet MS"/>
              <a:cs typeface="Trebuchet MS"/>
            </a:endParaRPr>
          </a:p>
          <a:p>
            <a:pPr marL="12700" marR="284480" indent="-8255">
              <a:lnSpc>
                <a:spcPct val="102099"/>
              </a:lnSpc>
              <a:spcBef>
                <a:spcPts val="15"/>
              </a:spcBef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Al-Khwarizmi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Father</a:t>
            </a:r>
            <a:r>
              <a:rPr dirty="0" sz="1450" spc="1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Algebra;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introduced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Arabic numerals.</a:t>
            </a:r>
            <a:endParaRPr sz="1450">
              <a:latin typeface="Trebuchet MS"/>
              <a:cs typeface="Trebuchet MS"/>
            </a:endParaRPr>
          </a:p>
          <a:p>
            <a:pPr marL="12700" marR="20955" indent="-8255">
              <a:lnSpc>
                <a:spcPct val="102099"/>
              </a:lnSpc>
              <a:spcBef>
                <a:spcPts val="10"/>
              </a:spcBef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Ibn</a:t>
            </a:r>
            <a:r>
              <a:rPr dirty="0" sz="1450" spc="8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Sina</a:t>
            </a:r>
            <a:r>
              <a:rPr dirty="0" sz="1450" spc="8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(Avicenna)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Wrote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"The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Canon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Medicine,"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>
                <a:latin typeface="Trebuchet MS"/>
                <a:cs typeface="Trebuchet MS"/>
              </a:rPr>
              <a:t>key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medical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book.</a:t>
            </a:r>
            <a:endParaRPr sz="1450">
              <a:latin typeface="Trebuchet MS"/>
              <a:cs typeface="Trebuchet MS"/>
            </a:endParaRPr>
          </a:p>
          <a:p>
            <a:pPr marL="12700" marR="5080" indent="-8255">
              <a:lnSpc>
                <a:spcPct val="102099"/>
              </a:lnSpc>
              <a:spcBef>
                <a:spcPts val="10"/>
              </a:spcBef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 b="1">
                <a:latin typeface="Trebuchet MS"/>
                <a:cs typeface="Trebuchet MS"/>
              </a:rPr>
              <a:t>	</a:t>
            </a:r>
            <a:r>
              <a:rPr dirty="0" sz="1450" b="1">
                <a:latin typeface="Trebuchet MS"/>
                <a:cs typeface="Trebuchet MS"/>
              </a:rPr>
              <a:t>Ibn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al-Haytham</a:t>
            </a:r>
            <a:r>
              <a:rPr dirty="0" sz="1450">
                <a:latin typeface="Trebuchet MS"/>
                <a:cs typeface="Trebuchet MS"/>
              </a:rPr>
              <a:t>: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Studied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light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vision;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known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father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optics.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74387" y="1714016"/>
            <a:ext cx="4578985" cy="9321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AutoNum type="arabicPeriod" startAt="4"/>
              <a:tabLst>
                <a:tab pos="248285" algn="l"/>
              </a:tabLst>
            </a:pPr>
            <a:r>
              <a:rPr dirty="0" sz="1450" b="1">
                <a:latin typeface="Trebuchet MS"/>
                <a:cs typeface="Trebuchet MS"/>
              </a:rPr>
              <a:t>Moral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and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Ethical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Code</a:t>
            </a:r>
            <a:endParaRPr sz="1450">
              <a:latin typeface="Trebuchet MS"/>
              <a:cs typeface="Trebuchet MS"/>
            </a:endParaRPr>
          </a:p>
          <a:p>
            <a:pPr lvl="1" marL="77470" indent="-73025">
              <a:lnSpc>
                <a:spcPct val="100000"/>
              </a:lnSpc>
              <a:spcBef>
                <a:spcPts val="50"/>
              </a:spcBef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>
                <a:latin typeface="Trebuchet MS"/>
                <a:cs typeface="Trebuchet MS"/>
              </a:rPr>
              <a:t>Teaches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honesty,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modesty,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10">
                <a:latin typeface="Trebuchet MS"/>
                <a:cs typeface="Trebuchet MS"/>
              </a:rPr>
              <a:t> humility.</a:t>
            </a:r>
            <a:endParaRPr sz="1450">
              <a:latin typeface="Trebuchet MS"/>
              <a:cs typeface="Trebuchet MS"/>
            </a:endParaRPr>
          </a:p>
          <a:p>
            <a:pPr lvl="1" marL="77470" indent="-73025">
              <a:lnSpc>
                <a:spcPct val="100000"/>
              </a:lnSpc>
              <a:spcBef>
                <a:spcPts val="35"/>
              </a:spcBef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>
                <a:latin typeface="Trebuchet MS"/>
                <a:cs typeface="Trebuchet MS"/>
              </a:rPr>
              <a:t>Encourages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good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behavior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personal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social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life.</a:t>
            </a:r>
            <a:endParaRPr sz="1450">
              <a:latin typeface="Trebuchet MS"/>
              <a:cs typeface="Trebuchet MS"/>
            </a:endParaRPr>
          </a:p>
          <a:p>
            <a:pPr lvl="1" marL="77470" indent="-73025">
              <a:lnSpc>
                <a:spcPct val="100000"/>
              </a:lnSpc>
              <a:spcBef>
                <a:spcPts val="50"/>
              </a:spcBef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>
                <a:latin typeface="Trebuchet MS"/>
                <a:cs typeface="Trebuchet MS"/>
              </a:rPr>
              <a:t>Promotes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fairness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responsibility.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74387" y="3068870"/>
            <a:ext cx="4121785" cy="9321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AutoNum type="arabicPeriod" startAt="5"/>
              <a:tabLst>
                <a:tab pos="248285" algn="l"/>
              </a:tabLst>
            </a:pPr>
            <a:r>
              <a:rPr dirty="0" sz="1450" b="1">
                <a:latin typeface="Trebuchet MS"/>
                <a:cs typeface="Trebuchet MS"/>
              </a:rPr>
              <a:t>Social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Structure</a:t>
            </a:r>
            <a:endParaRPr sz="1450">
              <a:latin typeface="Trebuchet MS"/>
              <a:cs typeface="Trebuchet MS"/>
            </a:endParaRPr>
          </a:p>
          <a:p>
            <a:pPr lvl="1" marL="77470" indent="-73025">
              <a:lnSpc>
                <a:spcPct val="100000"/>
              </a:lnSpc>
              <a:spcBef>
                <a:spcPts val="50"/>
              </a:spcBef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>
                <a:latin typeface="Trebuchet MS"/>
                <a:cs typeface="Trebuchet MS"/>
              </a:rPr>
              <a:t>Family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very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important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Islam.</a:t>
            </a:r>
            <a:endParaRPr sz="1450">
              <a:latin typeface="Trebuchet MS"/>
              <a:cs typeface="Trebuchet MS"/>
            </a:endParaRPr>
          </a:p>
          <a:p>
            <a:pPr lvl="1" marL="77470" indent="-73025">
              <a:lnSpc>
                <a:spcPct val="100000"/>
              </a:lnSpc>
              <a:spcBef>
                <a:spcPts val="35"/>
              </a:spcBef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>
                <a:latin typeface="Trebuchet MS"/>
                <a:cs typeface="Trebuchet MS"/>
              </a:rPr>
              <a:t>Everyone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rights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duties.</a:t>
            </a:r>
            <a:endParaRPr sz="1450">
              <a:latin typeface="Trebuchet MS"/>
              <a:cs typeface="Trebuchet MS"/>
            </a:endParaRPr>
          </a:p>
          <a:p>
            <a:pPr lvl="1" marL="77470" indent="-73025">
              <a:lnSpc>
                <a:spcPct val="100000"/>
              </a:lnSpc>
              <a:spcBef>
                <a:spcPts val="50"/>
              </a:spcBef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>
                <a:latin typeface="Trebuchet MS"/>
                <a:cs typeface="Trebuchet MS"/>
              </a:rPr>
              <a:t>Leaders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should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just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care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people.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74387" y="4499849"/>
            <a:ext cx="4799965" cy="11576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36854" indent="-224154">
              <a:lnSpc>
                <a:spcPct val="100000"/>
              </a:lnSpc>
              <a:spcBef>
                <a:spcPts val="135"/>
              </a:spcBef>
              <a:buAutoNum type="arabicPeriod" startAt="6"/>
              <a:tabLst>
                <a:tab pos="236854" algn="l"/>
              </a:tabLst>
            </a:pPr>
            <a:r>
              <a:rPr dirty="0" sz="1450" b="1">
                <a:latin typeface="Trebuchet MS"/>
                <a:cs typeface="Trebuchet MS"/>
              </a:rPr>
              <a:t>Art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and </a:t>
            </a:r>
            <a:r>
              <a:rPr dirty="0" sz="1450" spc="-10" b="1">
                <a:latin typeface="Trebuchet MS"/>
                <a:cs typeface="Trebuchet MS"/>
              </a:rPr>
              <a:t>Architecture</a:t>
            </a:r>
            <a:endParaRPr sz="1450">
              <a:latin typeface="Trebuchet MS"/>
              <a:cs typeface="Trebuchet MS"/>
            </a:endParaRPr>
          </a:p>
          <a:p>
            <a:pPr lvl="1" marL="77470" indent="-73025">
              <a:lnSpc>
                <a:spcPct val="100000"/>
              </a:lnSpc>
              <a:spcBef>
                <a:spcPts val="50"/>
              </a:spcBef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art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includes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beautiful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calligraphy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patterns.</a:t>
            </a:r>
            <a:endParaRPr sz="1450">
              <a:latin typeface="Trebuchet MS"/>
              <a:cs typeface="Trebuchet MS"/>
            </a:endParaRPr>
          </a:p>
          <a:p>
            <a:pPr lvl="1" marL="77470" indent="-73025">
              <a:lnSpc>
                <a:spcPct val="100000"/>
              </a:lnSpc>
              <a:spcBef>
                <a:spcPts val="35"/>
              </a:spcBef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>
                <a:latin typeface="Trebuchet MS"/>
                <a:cs typeface="Trebuchet MS"/>
              </a:rPr>
              <a:t>Mosques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unique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designs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domes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minarets.</a:t>
            </a:r>
            <a:endParaRPr sz="1450">
              <a:latin typeface="Trebuchet MS"/>
              <a:cs typeface="Trebuchet MS"/>
            </a:endParaRPr>
          </a:p>
          <a:p>
            <a:pPr lvl="1" marL="12700" marR="245110" indent="-8255">
              <a:lnSpc>
                <a:spcPct val="102099"/>
              </a:lnSpc>
              <a:spcBef>
                <a:spcPts val="10"/>
              </a:spcBef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>
                <a:latin typeface="Trebuchet MS"/>
                <a:cs typeface="Trebuchet MS"/>
              </a:rPr>
              <a:t>	</a:t>
            </a:r>
            <a:r>
              <a:rPr dirty="0" sz="1450">
                <a:latin typeface="Trebuchet MS"/>
                <a:cs typeface="Trebuchet MS"/>
              </a:rPr>
              <a:t>Famous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buildings: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Alhambra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Spain,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Blue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Mosque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 </a:t>
            </a:r>
            <a:r>
              <a:rPr dirty="0" sz="1450" spc="-10">
                <a:latin typeface="Trebuchet MS"/>
                <a:cs typeface="Trebuchet MS"/>
              </a:rPr>
              <a:t>Turkey.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92707" y="1714016"/>
            <a:ext cx="2915285" cy="16103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AutoNum type="arabicPeriod" startAt="7"/>
              <a:tabLst>
                <a:tab pos="248285" algn="l"/>
              </a:tabLst>
            </a:pPr>
            <a:r>
              <a:rPr dirty="0" sz="1450" b="1">
                <a:latin typeface="Trebuchet MS"/>
                <a:cs typeface="Trebuchet MS"/>
              </a:rPr>
              <a:t>Unity</a:t>
            </a:r>
            <a:r>
              <a:rPr dirty="0" sz="1450" spc="4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in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Diversity</a:t>
            </a:r>
            <a:endParaRPr sz="1450">
              <a:latin typeface="Trebuchet MS"/>
              <a:cs typeface="Trebuchet MS"/>
            </a:endParaRPr>
          </a:p>
          <a:p>
            <a:pPr lvl="1" marL="12700" marR="5080" indent="-8255">
              <a:lnSpc>
                <a:spcPct val="102099"/>
              </a:lnSpc>
              <a:spcBef>
                <a:spcPts val="15"/>
              </a:spcBef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>
                <a:latin typeface="Trebuchet MS"/>
                <a:cs typeface="Trebuchet MS"/>
              </a:rPr>
              <a:t>	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civilization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includes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many </a:t>
            </a:r>
            <a:r>
              <a:rPr dirty="0" sz="1450">
                <a:latin typeface="Trebuchet MS"/>
                <a:cs typeface="Trebuchet MS"/>
              </a:rPr>
              <a:t>cultures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languages.</a:t>
            </a:r>
            <a:endParaRPr sz="1450">
              <a:latin typeface="Trebuchet MS"/>
              <a:cs typeface="Trebuchet MS"/>
            </a:endParaRPr>
          </a:p>
          <a:p>
            <a:pPr lvl="1" marL="12700" marR="76200" indent="-8255">
              <a:lnSpc>
                <a:spcPct val="102099"/>
              </a:lnSpc>
              <a:spcBef>
                <a:spcPts val="10"/>
              </a:spcBef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>
                <a:latin typeface="Trebuchet MS"/>
                <a:cs typeface="Trebuchet MS"/>
              </a:rPr>
              <a:t>	</a:t>
            </a:r>
            <a:r>
              <a:rPr dirty="0" sz="1450">
                <a:latin typeface="Trebuchet MS"/>
                <a:cs typeface="Trebuchet MS"/>
              </a:rPr>
              <a:t>Despite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differences,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are </a:t>
            </a:r>
            <a:r>
              <a:rPr dirty="0" sz="1450">
                <a:latin typeface="Trebuchet MS"/>
                <a:cs typeface="Trebuchet MS"/>
              </a:rPr>
              <a:t>united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faith.</a:t>
            </a:r>
            <a:endParaRPr sz="1450">
              <a:latin typeface="Trebuchet MS"/>
              <a:cs typeface="Trebuchet MS"/>
            </a:endParaRPr>
          </a:p>
          <a:p>
            <a:pPr lvl="1" marL="12700" marR="315595" indent="-8255">
              <a:lnSpc>
                <a:spcPct val="102099"/>
              </a:lnSpc>
              <a:spcBef>
                <a:spcPts val="10"/>
              </a:spcBef>
              <a:buSzPct val="93103"/>
              <a:buFont typeface="Arial MT"/>
              <a:buChar char="•"/>
              <a:tabLst>
                <a:tab pos="77470" algn="l"/>
              </a:tabLst>
            </a:pPr>
            <a:r>
              <a:rPr dirty="0" sz="1450">
                <a:latin typeface="Trebuchet MS"/>
                <a:cs typeface="Trebuchet MS"/>
              </a:rPr>
              <a:t>	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unity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brings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strength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 spc="-10">
                <a:latin typeface="Trebuchet MS"/>
                <a:cs typeface="Trebuchet MS"/>
              </a:rPr>
              <a:t>harmony.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Importance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Islamic</a:t>
            </a:r>
            <a:r>
              <a:rPr dirty="0" spc="-40"/>
              <a:t> </a:t>
            </a:r>
            <a:r>
              <a:rPr dirty="0"/>
              <a:t>Culture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10"/>
              <a:t>Civilization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24677" y="2389090"/>
            <a:ext cx="5019675" cy="7054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8105" indent="-73025">
              <a:lnSpc>
                <a:spcPct val="100000"/>
              </a:lnSpc>
              <a:spcBef>
                <a:spcPts val="135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Arial MT"/>
                <a:cs typeface="Arial MT"/>
              </a:rPr>
              <a:t>Shows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how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live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balanced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life: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spiritually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materially.</a:t>
            </a:r>
            <a:endParaRPr sz="1450">
              <a:latin typeface="Arial MT"/>
              <a:cs typeface="Arial MT"/>
            </a:endParaRPr>
          </a:p>
          <a:p>
            <a:pPr marL="78105" indent="-73025">
              <a:lnSpc>
                <a:spcPct val="100000"/>
              </a:lnSpc>
              <a:spcBef>
                <a:spcPts val="50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Arial MT"/>
                <a:cs typeface="Arial MT"/>
              </a:rPr>
              <a:t>Encourages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peace,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respect,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cooperation.</a:t>
            </a:r>
            <a:endParaRPr sz="1450">
              <a:latin typeface="Arial MT"/>
              <a:cs typeface="Arial MT"/>
            </a:endParaRPr>
          </a:p>
          <a:p>
            <a:pPr marL="78105" indent="-73025">
              <a:lnSpc>
                <a:spcPct val="100000"/>
              </a:lnSpc>
              <a:spcBef>
                <a:spcPts val="35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Arial MT"/>
                <a:cs typeface="Arial MT"/>
              </a:rPr>
              <a:t>Reminds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Muslims'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contributions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world.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321435">
              <a:lnSpc>
                <a:spcPct val="100000"/>
              </a:lnSpc>
              <a:spcBef>
                <a:spcPts val="114"/>
              </a:spcBef>
            </a:pPr>
            <a:r>
              <a:rPr dirty="0"/>
              <a:t>What</a:t>
            </a:r>
            <a:r>
              <a:rPr dirty="0" spc="-15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/>
              <a:t>an</a:t>
            </a:r>
            <a:r>
              <a:rPr dirty="0" spc="5"/>
              <a:t> </a:t>
            </a:r>
            <a:r>
              <a:rPr dirty="0"/>
              <a:t>Islamic</a:t>
            </a:r>
            <a:r>
              <a:rPr dirty="0" spc="-50"/>
              <a:t> </a:t>
            </a:r>
            <a:r>
              <a:rPr dirty="0" spc="-10"/>
              <a:t>Society?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9771" y="2783836"/>
            <a:ext cx="7121525" cy="7048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8105" indent="-73025">
              <a:lnSpc>
                <a:spcPct val="100000"/>
              </a:lnSpc>
              <a:spcBef>
                <a:spcPts val="135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-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community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where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people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live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according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Islamic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teachings.</a:t>
            </a:r>
            <a:endParaRPr sz="1450">
              <a:latin typeface="Arial MT"/>
              <a:cs typeface="Arial MT"/>
            </a:endParaRPr>
          </a:p>
          <a:p>
            <a:pPr marL="78105" indent="-73025">
              <a:lnSpc>
                <a:spcPct val="100000"/>
              </a:lnSpc>
              <a:spcBef>
                <a:spcPts val="50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Arial MT"/>
                <a:cs typeface="Arial MT"/>
              </a:rPr>
              <a:t>Based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on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Quran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teachings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Prophet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Muhammad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(peace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upon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him).</a:t>
            </a:r>
            <a:endParaRPr sz="1450">
              <a:latin typeface="Arial MT"/>
              <a:cs typeface="Arial MT"/>
            </a:endParaRPr>
          </a:p>
          <a:p>
            <a:pPr marL="78105" indent="-73025">
              <a:lnSpc>
                <a:spcPct val="100000"/>
              </a:lnSpc>
              <a:spcBef>
                <a:spcPts val="35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Arial MT"/>
                <a:cs typeface="Arial MT"/>
              </a:rPr>
              <a:t>Focuses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faith,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good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behavior,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justice,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helping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each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other.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899160">
              <a:lnSpc>
                <a:spcPct val="100000"/>
              </a:lnSpc>
              <a:spcBef>
                <a:spcPts val="114"/>
              </a:spcBef>
            </a:pPr>
            <a:r>
              <a:rPr dirty="0"/>
              <a:t>Importance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Education</a:t>
            </a:r>
            <a:r>
              <a:rPr dirty="0" spc="-60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 spc="-10"/>
              <a:t>Islam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72911" y="2142258"/>
            <a:ext cx="4796790" cy="20631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8105" indent="-73025">
              <a:lnSpc>
                <a:spcPct val="100000"/>
              </a:lnSpc>
              <a:spcBef>
                <a:spcPts val="135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Arial MT"/>
                <a:cs typeface="Arial MT"/>
              </a:rPr>
              <a:t>Islam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encourages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everyone</a:t>
            </a:r>
            <a:r>
              <a:rPr dirty="0" sz="1450" spc="9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seek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knowledge.</a:t>
            </a:r>
            <a:endParaRPr sz="1450">
              <a:latin typeface="Arial MT"/>
              <a:cs typeface="Arial MT"/>
            </a:endParaRPr>
          </a:p>
          <a:p>
            <a:pPr marL="78105" indent="-73025">
              <a:lnSpc>
                <a:spcPct val="100000"/>
              </a:lnSpc>
              <a:spcBef>
                <a:spcPts val="35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Arial MT"/>
                <a:cs typeface="Arial MT"/>
              </a:rPr>
              <a:t>Learning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helps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understand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our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religion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world.</a:t>
            </a:r>
            <a:endParaRPr sz="1450">
              <a:latin typeface="Arial MT"/>
              <a:cs typeface="Arial MT"/>
            </a:endParaRPr>
          </a:p>
          <a:p>
            <a:pPr marL="78105" indent="-73025">
              <a:lnSpc>
                <a:spcPct val="100000"/>
              </a:lnSpc>
              <a:spcBef>
                <a:spcPts val="50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Arial MT"/>
                <a:cs typeface="Arial MT"/>
              </a:rPr>
              <a:t>Both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men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women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are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encouraged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learn.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Arial"/>
                <a:cs typeface="Arial"/>
              </a:rPr>
              <a:t>Quran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spc="-20" b="1">
                <a:latin typeface="Arial"/>
                <a:cs typeface="Arial"/>
              </a:rPr>
              <a:t>Says: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Arial MT"/>
                <a:cs typeface="Arial MT"/>
              </a:rPr>
              <a:t>“Read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name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your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Lord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who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created.”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i="1">
                <a:latin typeface="Arial"/>
                <a:cs typeface="Arial"/>
              </a:rPr>
              <a:t>(Surah</a:t>
            </a:r>
            <a:r>
              <a:rPr dirty="0" sz="1450" spc="5" i="1">
                <a:latin typeface="Arial"/>
                <a:cs typeface="Arial"/>
              </a:rPr>
              <a:t> </a:t>
            </a:r>
            <a:r>
              <a:rPr dirty="0" sz="1450" i="1">
                <a:latin typeface="Arial"/>
                <a:cs typeface="Arial"/>
              </a:rPr>
              <a:t>Al-‘Alaq,</a:t>
            </a:r>
            <a:r>
              <a:rPr dirty="0" sz="1450" spc="75" i="1">
                <a:latin typeface="Arial"/>
                <a:cs typeface="Arial"/>
              </a:rPr>
              <a:t> </a:t>
            </a:r>
            <a:r>
              <a:rPr dirty="0" sz="1450" spc="-10" i="1">
                <a:latin typeface="Arial"/>
                <a:cs typeface="Arial"/>
              </a:rPr>
              <a:t>96:1)</a:t>
            </a:r>
            <a:endParaRPr sz="1450">
              <a:latin typeface="Arial"/>
              <a:cs typeface="Arial"/>
            </a:endParaRPr>
          </a:p>
          <a:p>
            <a:pPr marL="12700" marR="17145">
              <a:lnSpc>
                <a:spcPct val="102400"/>
              </a:lnSpc>
              <a:spcBef>
                <a:spcPts val="5"/>
              </a:spcBef>
            </a:pPr>
            <a:r>
              <a:rPr dirty="0" sz="1450" b="1">
                <a:latin typeface="Arial"/>
                <a:cs typeface="Arial"/>
              </a:rPr>
              <a:t>Prophet</a:t>
            </a:r>
            <a:r>
              <a:rPr dirty="0" sz="1450" spc="5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Muhammad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(peace</a:t>
            </a:r>
            <a:r>
              <a:rPr dirty="0" sz="1450" spc="6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be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upon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him)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said: </a:t>
            </a:r>
            <a:r>
              <a:rPr dirty="0" sz="1450">
                <a:latin typeface="Arial MT"/>
                <a:cs typeface="Arial MT"/>
              </a:rPr>
              <a:t>“Seeking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knowledge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obligation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upon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every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Muslim.” </a:t>
            </a:r>
            <a:r>
              <a:rPr dirty="0" sz="1450" i="1">
                <a:latin typeface="Arial"/>
                <a:cs typeface="Arial"/>
              </a:rPr>
              <a:t>(Sunan</a:t>
            </a:r>
            <a:r>
              <a:rPr dirty="0" sz="1450" spc="20" i="1">
                <a:latin typeface="Arial"/>
                <a:cs typeface="Arial"/>
              </a:rPr>
              <a:t> </a:t>
            </a:r>
            <a:r>
              <a:rPr dirty="0" sz="1450" i="1">
                <a:latin typeface="Arial"/>
                <a:cs typeface="Arial"/>
              </a:rPr>
              <a:t>Ibn</a:t>
            </a:r>
            <a:r>
              <a:rPr dirty="0" sz="1450" spc="40" i="1">
                <a:latin typeface="Arial"/>
                <a:cs typeface="Arial"/>
              </a:rPr>
              <a:t> </a:t>
            </a:r>
            <a:r>
              <a:rPr dirty="0" sz="1450" spc="-10" i="1">
                <a:latin typeface="Arial"/>
                <a:cs typeface="Arial"/>
              </a:rPr>
              <a:t>Majah)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432560">
              <a:lnSpc>
                <a:spcPct val="100000"/>
              </a:lnSpc>
              <a:spcBef>
                <a:spcPts val="114"/>
              </a:spcBef>
            </a:pPr>
            <a:r>
              <a:rPr dirty="0"/>
              <a:t>Status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Women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-10"/>
              <a:t> Islam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18906" y="2143734"/>
            <a:ext cx="6217285" cy="18357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8105" indent="-73025">
              <a:lnSpc>
                <a:spcPct val="100000"/>
              </a:lnSpc>
              <a:spcBef>
                <a:spcPts val="135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Arial MT"/>
                <a:cs typeface="Arial MT"/>
              </a:rPr>
              <a:t>Women</a:t>
            </a:r>
            <a:r>
              <a:rPr dirty="0" sz="1450" spc="-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have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rights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education,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property,</a:t>
            </a:r>
            <a:r>
              <a:rPr dirty="0" sz="1450" spc="7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inheritance.</a:t>
            </a:r>
            <a:endParaRPr sz="1450">
              <a:latin typeface="Arial MT"/>
              <a:cs typeface="Arial MT"/>
            </a:endParaRPr>
          </a:p>
          <a:p>
            <a:pPr marL="78105" indent="-73025">
              <a:lnSpc>
                <a:spcPct val="100000"/>
              </a:lnSpc>
              <a:spcBef>
                <a:spcPts val="40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Arial MT"/>
                <a:cs typeface="Arial MT"/>
              </a:rPr>
              <a:t>They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are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respected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daughters,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wives,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mothers.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 b="1">
                <a:latin typeface="Arial"/>
                <a:cs typeface="Arial"/>
              </a:rPr>
              <a:t>Quran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spc="-20" b="1">
                <a:latin typeface="Arial"/>
                <a:cs typeface="Arial"/>
              </a:rPr>
              <a:t>Says: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Arial MT"/>
                <a:cs typeface="Arial MT"/>
              </a:rPr>
              <a:t>“And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for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women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share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what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parents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close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relatives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leave...”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i="1">
                <a:latin typeface="Arial"/>
                <a:cs typeface="Arial"/>
              </a:rPr>
              <a:t>(Surah</a:t>
            </a:r>
            <a:r>
              <a:rPr dirty="0" sz="1450" spc="20" i="1">
                <a:latin typeface="Arial"/>
                <a:cs typeface="Arial"/>
              </a:rPr>
              <a:t> </a:t>
            </a:r>
            <a:r>
              <a:rPr dirty="0" sz="1450" i="1">
                <a:latin typeface="Arial"/>
                <a:cs typeface="Arial"/>
              </a:rPr>
              <a:t>An-Nisa,</a:t>
            </a:r>
            <a:r>
              <a:rPr dirty="0" sz="1450" spc="65" i="1">
                <a:latin typeface="Arial"/>
                <a:cs typeface="Arial"/>
              </a:rPr>
              <a:t> </a:t>
            </a:r>
            <a:r>
              <a:rPr dirty="0" sz="1450" spc="-20" i="1">
                <a:latin typeface="Arial"/>
                <a:cs typeface="Arial"/>
              </a:rPr>
              <a:t>4:7)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Arial"/>
                <a:cs typeface="Arial"/>
              </a:rPr>
              <a:t>Prophet</a:t>
            </a:r>
            <a:r>
              <a:rPr dirty="0" sz="1450" spc="5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Muhammad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(peace</a:t>
            </a:r>
            <a:r>
              <a:rPr dirty="0" sz="1450" spc="6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be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upon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him)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said: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Arial MT"/>
                <a:cs typeface="Arial MT"/>
              </a:rPr>
              <a:t>“The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best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you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are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those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who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are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best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their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women.”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i="1">
                <a:latin typeface="Arial"/>
                <a:cs typeface="Arial"/>
              </a:rPr>
              <a:t>(Sunan</a:t>
            </a:r>
            <a:r>
              <a:rPr dirty="0" sz="1450" spc="30" i="1">
                <a:latin typeface="Arial"/>
                <a:cs typeface="Arial"/>
              </a:rPr>
              <a:t> </a:t>
            </a:r>
            <a:r>
              <a:rPr dirty="0" sz="1450" i="1">
                <a:latin typeface="Arial"/>
                <a:cs typeface="Arial"/>
              </a:rPr>
              <a:t>At-</a:t>
            </a:r>
            <a:r>
              <a:rPr dirty="0" sz="1450" spc="-10" i="1">
                <a:latin typeface="Arial"/>
                <a:cs typeface="Arial"/>
              </a:rPr>
              <a:t>Tirmidhi)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054735">
              <a:lnSpc>
                <a:spcPct val="100000"/>
              </a:lnSpc>
              <a:spcBef>
                <a:spcPts val="114"/>
              </a:spcBef>
            </a:pPr>
            <a:r>
              <a:rPr dirty="0"/>
              <a:t>Generosity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Helping</a:t>
            </a:r>
            <a:r>
              <a:rPr dirty="0" spc="-35"/>
              <a:t> </a:t>
            </a:r>
            <a:r>
              <a:rPr dirty="0" spc="-10"/>
              <a:t>Others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5541" y="2125464"/>
            <a:ext cx="5398770" cy="18357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8105" indent="-73025">
              <a:lnSpc>
                <a:spcPct val="100000"/>
              </a:lnSpc>
              <a:spcBef>
                <a:spcPts val="135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Arial MT"/>
                <a:cs typeface="Arial MT"/>
              </a:rPr>
              <a:t>Islam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teaches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generous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help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those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need.</a:t>
            </a:r>
            <a:endParaRPr sz="1450">
              <a:latin typeface="Arial MT"/>
              <a:cs typeface="Arial MT"/>
            </a:endParaRPr>
          </a:p>
          <a:p>
            <a:pPr marL="78105" indent="-73025">
              <a:lnSpc>
                <a:spcPct val="100000"/>
              </a:lnSpc>
              <a:spcBef>
                <a:spcPts val="40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Arial MT"/>
                <a:cs typeface="Arial MT"/>
              </a:rPr>
              <a:t>Sharing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wealth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brings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blessings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helps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society.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 b="1">
                <a:latin typeface="Arial"/>
                <a:cs typeface="Arial"/>
              </a:rPr>
              <a:t>Quran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spc="-20" b="1">
                <a:latin typeface="Arial"/>
                <a:cs typeface="Arial"/>
              </a:rPr>
              <a:t>Says: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Arial MT"/>
                <a:cs typeface="Arial MT"/>
              </a:rPr>
              <a:t>“And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spend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way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-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Allah...”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i="1">
                <a:latin typeface="Arial"/>
                <a:cs typeface="Arial"/>
              </a:rPr>
              <a:t>(Surah</a:t>
            </a:r>
            <a:r>
              <a:rPr dirty="0" sz="1450" spc="20" i="1">
                <a:latin typeface="Arial"/>
                <a:cs typeface="Arial"/>
              </a:rPr>
              <a:t> </a:t>
            </a:r>
            <a:r>
              <a:rPr dirty="0" sz="1450" i="1">
                <a:latin typeface="Arial"/>
                <a:cs typeface="Arial"/>
              </a:rPr>
              <a:t>Al-Baqarah,</a:t>
            </a:r>
            <a:r>
              <a:rPr dirty="0" sz="1450" spc="75" i="1">
                <a:latin typeface="Arial"/>
                <a:cs typeface="Arial"/>
              </a:rPr>
              <a:t> </a:t>
            </a:r>
            <a:r>
              <a:rPr dirty="0" sz="1450" spc="-10" i="1">
                <a:latin typeface="Arial"/>
                <a:cs typeface="Arial"/>
              </a:rPr>
              <a:t>2:195)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Arial"/>
                <a:cs typeface="Arial"/>
              </a:rPr>
              <a:t>Prophet</a:t>
            </a:r>
            <a:r>
              <a:rPr dirty="0" sz="1450" spc="5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Muhammad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(peace</a:t>
            </a:r>
            <a:r>
              <a:rPr dirty="0" sz="1450" spc="6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be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upon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him)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said: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Arial MT"/>
                <a:cs typeface="Arial MT"/>
              </a:rPr>
              <a:t>“The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upper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(giver)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better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than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lower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(receiver).”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i="1">
                <a:latin typeface="Arial"/>
                <a:cs typeface="Arial"/>
              </a:rPr>
              <a:t>(Sahih</a:t>
            </a:r>
            <a:r>
              <a:rPr dirty="0" sz="1450" spc="45" i="1">
                <a:latin typeface="Arial"/>
                <a:cs typeface="Arial"/>
              </a:rPr>
              <a:t> </a:t>
            </a:r>
            <a:r>
              <a:rPr dirty="0" sz="1450" spc="-10" i="1">
                <a:latin typeface="Arial"/>
                <a:cs typeface="Arial"/>
              </a:rPr>
              <a:t>Bukhari)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2002789">
              <a:lnSpc>
                <a:spcPct val="100000"/>
              </a:lnSpc>
              <a:spcBef>
                <a:spcPts val="114"/>
              </a:spcBef>
            </a:pPr>
            <a:r>
              <a:rPr dirty="0"/>
              <a:t>Rights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 spc="-10"/>
              <a:t>Parents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93236" y="2134599"/>
            <a:ext cx="4885055" cy="18357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8105" indent="-73025">
              <a:lnSpc>
                <a:spcPct val="100000"/>
              </a:lnSpc>
              <a:spcBef>
                <a:spcPts val="135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Arial MT"/>
                <a:cs typeface="Arial MT"/>
              </a:rPr>
              <a:t>Parents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deserve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love,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respect,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care.</a:t>
            </a:r>
            <a:endParaRPr sz="1450">
              <a:latin typeface="Arial MT"/>
              <a:cs typeface="Arial MT"/>
            </a:endParaRPr>
          </a:p>
          <a:p>
            <a:pPr marL="78105" indent="-73025">
              <a:lnSpc>
                <a:spcPct val="100000"/>
              </a:lnSpc>
              <a:spcBef>
                <a:spcPts val="40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Arial MT"/>
                <a:cs typeface="Arial MT"/>
              </a:rPr>
              <a:t>Obeying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helping</a:t>
            </a:r>
            <a:r>
              <a:rPr dirty="0" sz="1450" spc="-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parents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way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please</a:t>
            </a:r>
            <a:r>
              <a:rPr dirty="0" sz="1450" spc="-8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Allah.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 b="1">
                <a:latin typeface="Arial"/>
                <a:cs typeface="Arial"/>
              </a:rPr>
              <a:t>Quran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spc="-20" b="1">
                <a:latin typeface="Arial"/>
                <a:cs typeface="Arial"/>
              </a:rPr>
              <a:t>Says: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Arial MT"/>
                <a:cs typeface="Arial MT"/>
              </a:rPr>
              <a:t>“Be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grateful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your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parents...”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i="1">
                <a:latin typeface="Arial"/>
                <a:cs typeface="Arial"/>
              </a:rPr>
              <a:t>(Surah</a:t>
            </a:r>
            <a:r>
              <a:rPr dirty="0" sz="1450" spc="55" i="1">
                <a:latin typeface="Arial"/>
                <a:cs typeface="Arial"/>
              </a:rPr>
              <a:t> </a:t>
            </a:r>
            <a:r>
              <a:rPr dirty="0" sz="1450" i="1">
                <a:latin typeface="Arial"/>
                <a:cs typeface="Arial"/>
              </a:rPr>
              <a:t>Luqman,</a:t>
            </a:r>
            <a:r>
              <a:rPr dirty="0" sz="1450" spc="55" i="1">
                <a:latin typeface="Arial"/>
                <a:cs typeface="Arial"/>
              </a:rPr>
              <a:t> </a:t>
            </a:r>
            <a:r>
              <a:rPr dirty="0" sz="1450" spc="-10" i="1">
                <a:latin typeface="Arial"/>
                <a:cs typeface="Arial"/>
              </a:rPr>
              <a:t>31:14)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Arial"/>
                <a:cs typeface="Arial"/>
              </a:rPr>
              <a:t>Prophet</a:t>
            </a:r>
            <a:r>
              <a:rPr dirty="0" sz="1450" spc="5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Muhammad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(peace</a:t>
            </a:r>
            <a:r>
              <a:rPr dirty="0" sz="1450" spc="6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be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upon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him)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said: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Arial MT"/>
                <a:cs typeface="Arial MT"/>
              </a:rPr>
              <a:t>“The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pleasure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Lord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pleasure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father...”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i="1">
                <a:latin typeface="Arial"/>
                <a:cs typeface="Arial"/>
              </a:rPr>
              <a:t>(Sunan</a:t>
            </a:r>
            <a:r>
              <a:rPr dirty="0" sz="1450" spc="30" i="1">
                <a:latin typeface="Arial"/>
                <a:cs typeface="Arial"/>
              </a:rPr>
              <a:t> </a:t>
            </a:r>
            <a:r>
              <a:rPr dirty="0" sz="1450" i="1">
                <a:latin typeface="Arial"/>
                <a:cs typeface="Arial"/>
              </a:rPr>
              <a:t>At-</a:t>
            </a:r>
            <a:r>
              <a:rPr dirty="0" sz="1450" spc="-10" i="1">
                <a:latin typeface="Arial"/>
                <a:cs typeface="Arial"/>
              </a:rPr>
              <a:t>Tirmidhi)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908175">
              <a:lnSpc>
                <a:spcPct val="100000"/>
              </a:lnSpc>
              <a:spcBef>
                <a:spcPts val="114"/>
              </a:spcBef>
            </a:pPr>
            <a:r>
              <a:rPr dirty="0"/>
              <a:t>Rights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Teachers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1629" y="1831388"/>
            <a:ext cx="7727315" cy="24225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63195" indent="-73025">
              <a:lnSpc>
                <a:spcPct val="100000"/>
              </a:lnSpc>
              <a:spcBef>
                <a:spcPts val="135"/>
              </a:spcBef>
              <a:buSzPct val="93103"/>
              <a:buChar char="•"/>
              <a:tabLst>
                <a:tab pos="163195" algn="l"/>
              </a:tabLst>
            </a:pPr>
            <a:r>
              <a:rPr dirty="0" sz="1450" spc="-10">
                <a:latin typeface="Arial MT"/>
                <a:cs typeface="Arial MT"/>
              </a:rPr>
              <a:t>Teachers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guide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deserve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respect.</a:t>
            </a:r>
            <a:endParaRPr sz="1450">
              <a:latin typeface="Arial MT"/>
              <a:cs typeface="Arial MT"/>
            </a:endParaRPr>
          </a:p>
          <a:p>
            <a:pPr marL="163195" indent="-73025">
              <a:lnSpc>
                <a:spcPct val="100000"/>
              </a:lnSpc>
              <a:spcBef>
                <a:spcPts val="35"/>
              </a:spcBef>
              <a:buSzPct val="93103"/>
              <a:buChar char="•"/>
              <a:tabLst>
                <a:tab pos="163195" algn="l"/>
              </a:tabLst>
            </a:pPr>
            <a:r>
              <a:rPr dirty="0" sz="1450">
                <a:latin typeface="Arial MT"/>
                <a:cs typeface="Arial MT"/>
              </a:rPr>
              <a:t>Listening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being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thankful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teachers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important.</a:t>
            </a:r>
            <a:endParaRPr sz="1450">
              <a:latin typeface="Arial MT"/>
              <a:cs typeface="Arial MT"/>
            </a:endParaRPr>
          </a:p>
          <a:p>
            <a:pPr marL="97790">
              <a:lnSpc>
                <a:spcPct val="100000"/>
              </a:lnSpc>
              <a:spcBef>
                <a:spcPts val="50"/>
              </a:spcBef>
            </a:pPr>
            <a:r>
              <a:rPr dirty="0" sz="1450" b="1">
                <a:latin typeface="Arial"/>
                <a:cs typeface="Arial"/>
              </a:rPr>
              <a:t>Quran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spc="-20" b="1">
                <a:latin typeface="Arial"/>
                <a:cs typeface="Arial"/>
              </a:rPr>
              <a:t>Says:</a:t>
            </a:r>
            <a:endParaRPr sz="1450">
              <a:latin typeface="Arial"/>
              <a:cs typeface="Arial"/>
            </a:endParaRPr>
          </a:p>
          <a:p>
            <a:pPr marL="9779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Arial MT"/>
                <a:cs typeface="Arial MT"/>
              </a:rPr>
              <a:t>“Ask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those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who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possess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knowledge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if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you</a:t>
            </a:r>
            <a:r>
              <a:rPr dirty="0" sz="1450" spc="7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do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not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know.”</a:t>
            </a:r>
            <a:endParaRPr sz="1450">
              <a:latin typeface="Arial MT"/>
              <a:cs typeface="Arial MT"/>
            </a:endParaRPr>
          </a:p>
          <a:p>
            <a:pPr marL="97790">
              <a:lnSpc>
                <a:spcPct val="100000"/>
              </a:lnSpc>
              <a:spcBef>
                <a:spcPts val="50"/>
              </a:spcBef>
            </a:pPr>
            <a:r>
              <a:rPr dirty="0" sz="1450" i="1">
                <a:latin typeface="Arial"/>
                <a:cs typeface="Arial"/>
              </a:rPr>
              <a:t>(Surah</a:t>
            </a:r>
            <a:r>
              <a:rPr dirty="0" sz="1450" spc="10" i="1">
                <a:latin typeface="Arial"/>
                <a:cs typeface="Arial"/>
              </a:rPr>
              <a:t> </a:t>
            </a:r>
            <a:r>
              <a:rPr dirty="0" sz="1450" i="1">
                <a:latin typeface="Arial"/>
                <a:cs typeface="Arial"/>
              </a:rPr>
              <a:t>An-Nahl,</a:t>
            </a:r>
            <a:r>
              <a:rPr dirty="0" sz="1450" spc="75" i="1">
                <a:latin typeface="Arial"/>
                <a:cs typeface="Arial"/>
              </a:rPr>
              <a:t> </a:t>
            </a:r>
            <a:r>
              <a:rPr dirty="0" sz="1450" spc="-10" i="1">
                <a:latin typeface="Arial"/>
                <a:cs typeface="Arial"/>
              </a:rPr>
              <a:t>16:43)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latin typeface="Arial"/>
                <a:cs typeface="Arial"/>
              </a:rPr>
              <a:t>Prophet</a:t>
            </a:r>
            <a:r>
              <a:rPr dirty="0" sz="1450" spc="5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Muhammad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(peace</a:t>
            </a:r>
            <a:r>
              <a:rPr dirty="0" sz="1450" spc="6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be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upon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him)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said: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Arial MT"/>
                <a:cs typeface="Arial MT"/>
              </a:rPr>
              <a:t>“He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not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us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who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does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not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show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respect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our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elders,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mercy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our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young,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honor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our </a:t>
            </a:r>
            <a:r>
              <a:rPr dirty="0" sz="1450" spc="-10">
                <a:latin typeface="Arial MT"/>
                <a:cs typeface="Arial MT"/>
              </a:rPr>
              <a:t>scholars.”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i="1">
                <a:latin typeface="Arial"/>
                <a:cs typeface="Arial"/>
              </a:rPr>
              <a:t>(Sunan</a:t>
            </a:r>
            <a:r>
              <a:rPr dirty="0" sz="1450" spc="-5" i="1">
                <a:latin typeface="Arial"/>
                <a:cs typeface="Arial"/>
              </a:rPr>
              <a:t> </a:t>
            </a:r>
            <a:r>
              <a:rPr dirty="0" sz="1450" i="1">
                <a:latin typeface="Arial"/>
                <a:cs typeface="Arial"/>
              </a:rPr>
              <a:t>Abu</a:t>
            </a:r>
            <a:r>
              <a:rPr dirty="0" sz="1450" spc="45" i="1">
                <a:latin typeface="Arial"/>
                <a:cs typeface="Arial"/>
              </a:rPr>
              <a:t> </a:t>
            </a:r>
            <a:r>
              <a:rPr dirty="0" sz="1450" spc="-10" i="1">
                <a:latin typeface="Arial"/>
                <a:cs typeface="Arial"/>
              </a:rPr>
              <a:t>Dawood)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833245">
              <a:lnSpc>
                <a:spcPct val="100000"/>
              </a:lnSpc>
              <a:spcBef>
                <a:spcPts val="114"/>
              </a:spcBef>
            </a:pPr>
            <a:r>
              <a:rPr dirty="0"/>
              <a:t>Rights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 spc="-10"/>
              <a:t>Neighbors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3518" y="1784144"/>
            <a:ext cx="7269480" cy="20631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8105" indent="-73025">
              <a:lnSpc>
                <a:spcPct val="100000"/>
              </a:lnSpc>
              <a:spcBef>
                <a:spcPts val="135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Arial MT"/>
                <a:cs typeface="Arial MT"/>
              </a:rPr>
              <a:t>Treat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neighbors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with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kindness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respect.</a:t>
            </a:r>
            <a:endParaRPr sz="1450">
              <a:latin typeface="Arial MT"/>
              <a:cs typeface="Arial MT"/>
            </a:endParaRPr>
          </a:p>
          <a:p>
            <a:pPr marL="78105" indent="-73025">
              <a:lnSpc>
                <a:spcPct val="100000"/>
              </a:lnSpc>
              <a:spcBef>
                <a:spcPts val="35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Arial MT"/>
                <a:cs typeface="Arial MT"/>
              </a:rPr>
              <a:t>Help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them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times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need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avoid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harming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them.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b="1">
                <a:latin typeface="Arial"/>
                <a:cs typeface="Arial"/>
              </a:rPr>
              <a:t>Quran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spc="-20" b="1">
                <a:latin typeface="Arial"/>
                <a:cs typeface="Arial"/>
              </a:rPr>
              <a:t>Says: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789"/>
              </a:lnSpc>
              <a:spcBef>
                <a:spcPts val="55"/>
              </a:spcBef>
            </a:pPr>
            <a:r>
              <a:rPr dirty="0" sz="1450">
                <a:latin typeface="Arial MT"/>
                <a:cs typeface="Arial MT"/>
              </a:rPr>
              <a:t>“Worship</a:t>
            </a:r>
            <a:r>
              <a:rPr dirty="0" sz="1450" spc="-9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Allah...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parents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do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good,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relatives,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orphans,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needy,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near </a:t>
            </a:r>
            <a:r>
              <a:rPr dirty="0" sz="1450">
                <a:latin typeface="Arial MT"/>
                <a:cs typeface="Arial MT"/>
              </a:rPr>
              <a:t>neighbor,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neighbor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farther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away...”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ts val="1705"/>
              </a:lnSpc>
            </a:pPr>
            <a:r>
              <a:rPr dirty="0" sz="1450" i="1">
                <a:latin typeface="Arial"/>
                <a:cs typeface="Arial"/>
              </a:rPr>
              <a:t>(Surah</a:t>
            </a:r>
            <a:r>
              <a:rPr dirty="0" sz="1450" spc="20" i="1">
                <a:latin typeface="Arial"/>
                <a:cs typeface="Arial"/>
              </a:rPr>
              <a:t> </a:t>
            </a:r>
            <a:r>
              <a:rPr dirty="0" sz="1450" i="1">
                <a:latin typeface="Arial"/>
                <a:cs typeface="Arial"/>
              </a:rPr>
              <a:t>An-Nisa,</a:t>
            </a:r>
            <a:r>
              <a:rPr dirty="0" sz="1450" spc="65" i="1">
                <a:latin typeface="Arial"/>
                <a:cs typeface="Arial"/>
              </a:rPr>
              <a:t> </a:t>
            </a:r>
            <a:r>
              <a:rPr dirty="0" sz="1450" spc="-20" i="1">
                <a:latin typeface="Arial"/>
                <a:cs typeface="Arial"/>
              </a:rPr>
              <a:t>4:36)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 b="1">
                <a:latin typeface="Arial"/>
                <a:cs typeface="Arial"/>
              </a:rPr>
              <a:t>Prophet</a:t>
            </a:r>
            <a:r>
              <a:rPr dirty="0" sz="1450" spc="5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Muhammad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(peace</a:t>
            </a:r>
            <a:r>
              <a:rPr dirty="0" sz="1450" spc="6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be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upon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him)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said: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>
                <a:latin typeface="Arial MT"/>
                <a:cs typeface="Arial MT"/>
              </a:rPr>
              <a:t>“He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not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believer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whose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neighbor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not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safe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from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his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harm.”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 i="1">
                <a:latin typeface="Arial"/>
                <a:cs typeface="Arial"/>
              </a:rPr>
              <a:t>(Sahih</a:t>
            </a:r>
            <a:r>
              <a:rPr dirty="0" sz="1450" spc="45" i="1">
                <a:latin typeface="Arial"/>
                <a:cs typeface="Arial"/>
              </a:rPr>
              <a:t> </a:t>
            </a:r>
            <a:r>
              <a:rPr dirty="0" sz="1450" spc="-10" i="1">
                <a:latin typeface="Arial"/>
                <a:cs typeface="Arial"/>
              </a:rPr>
              <a:t>Bukhari)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973580">
              <a:lnSpc>
                <a:spcPct val="100000"/>
              </a:lnSpc>
              <a:spcBef>
                <a:spcPts val="114"/>
              </a:spcBef>
            </a:pPr>
            <a:r>
              <a:rPr dirty="0"/>
              <a:t>Rights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 spc="-10"/>
              <a:t>Spouses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78105" indent="-73025">
              <a:lnSpc>
                <a:spcPct val="100000"/>
              </a:lnSpc>
              <a:spcBef>
                <a:spcPts val="135"/>
              </a:spcBef>
              <a:buSzPct val="93103"/>
              <a:buChar char="•"/>
              <a:tabLst>
                <a:tab pos="78105" algn="l"/>
              </a:tabLst>
            </a:pPr>
            <a:r>
              <a:rPr dirty="0"/>
              <a:t>Husbands</a:t>
            </a:r>
            <a:r>
              <a:rPr dirty="0" spc="15"/>
              <a:t> </a:t>
            </a:r>
            <a:r>
              <a:rPr dirty="0"/>
              <a:t>and</a:t>
            </a:r>
            <a:r>
              <a:rPr dirty="0" spc="40"/>
              <a:t> </a:t>
            </a:r>
            <a:r>
              <a:rPr dirty="0"/>
              <a:t>wives</a:t>
            </a:r>
            <a:r>
              <a:rPr dirty="0" spc="50"/>
              <a:t> </a:t>
            </a:r>
            <a:r>
              <a:rPr dirty="0"/>
              <a:t>should</a:t>
            </a:r>
            <a:r>
              <a:rPr dirty="0" spc="10"/>
              <a:t> </a:t>
            </a:r>
            <a:r>
              <a:rPr dirty="0"/>
              <a:t>love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20"/>
              <a:t> </a:t>
            </a:r>
            <a:r>
              <a:rPr dirty="0"/>
              <a:t>care</a:t>
            </a:r>
            <a:r>
              <a:rPr dirty="0" spc="40"/>
              <a:t> </a:t>
            </a:r>
            <a:r>
              <a:rPr dirty="0"/>
              <a:t>for</a:t>
            </a:r>
            <a:r>
              <a:rPr dirty="0" spc="45"/>
              <a:t> </a:t>
            </a:r>
            <a:r>
              <a:rPr dirty="0"/>
              <a:t>each</a:t>
            </a:r>
            <a:r>
              <a:rPr dirty="0" spc="40"/>
              <a:t> </a:t>
            </a:r>
            <a:r>
              <a:rPr dirty="0" spc="-10"/>
              <a:t>other.</a:t>
            </a:r>
          </a:p>
          <a:p>
            <a:pPr marL="78105" indent="-73025">
              <a:lnSpc>
                <a:spcPct val="100000"/>
              </a:lnSpc>
              <a:spcBef>
                <a:spcPts val="40"/>
              </a:spcBef>
              <a:buSzPct val="93103"/>
              <a:buChar char="•"/>
              <a:tabLst>
                <a:tab pos="78105" algn="l"/>
              </a:tabLst>
            </a:pPr>
            <a:r>
              <a:rPr dirty="0"/>
              <a:t>Marriage</a:t>
            </a:r>
            <a:r>
              <a:rPr dirty="0" spc="35"/>
              <a:t> </a:t>
            </a:r>
            <a:r>
              <a:rPr dirty="0"/>
              <a:t>is</a:t>
            </a:r>
            <a:r>
              <a:rPr dirty="0" spc="30"/>
              <a:t> </a:t>
            </a:r>
            <a:r>
              <a:rPr dirty="0"/>
              <a:t>based</a:t>
            </a:r>
            <a:r>
              <a:rPr dirty="0" spc="40"/>
              <a:t> </a:t>
            </a:r>
            <a:r>
              <a:rPr dirty="0"/>
              <a:t>on</a:t>
            </a:r>
            <a:r>
              <a:rPr dirty="0" spc="35"/>
              <a:t> </a:t>
            </a:r>
            <a:r>
              <a:rPr dirty="0"/>
              <a:t>mutual</a:t>
            </a:r>
            <a:r>
              <a:rPr dirty="0" spc="50"/>
              <a:t> </a:t>
            </a:r>
            <a:r>
              <a:rPr dirty="0"/>
              <a:t>respect</a:t>
            </a:r>
            <a:r>
              <a:rPr dirty="0" spc="35"/>
              <a:t> </a:t>
            </a:r>
            <a:r>
              <a:rPr dirty="0"/>
              <a:t>and</a:t>
            </a:r>
            <a:r>
              <a:rPr dirty="0" spc="35"/>
              <a:t> </a:t>
            </a:r>
            <a:r>
              <a:rPr dirty="0" spc="-10"/>
              <a:t>kindness.</a:t>
            </a:r>
          </a:p>
          <a:p>
            <a:pPr algn="just" marL="12700">
              <a:lnSpc>
                <a:spcPct val="100000"/>
              </a:lnSpc>
              <a:spcBef>
                <a:spcPts val="45"/>
              </a:spcBef>
            </a:pPr>
            <a:r>
              <a:rPr dirty="0" b="1">
                <a:latin typeface="Arial"/>
                <a:cs typeface="Arial"/>
              </a:rPr>
              <a:t>Quran</a:t>
            </a:r>
            <a:r>
              <a:rPr dirty="0" spc="70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Says:</a:t>
            </a:r>
          </a:p>
          <a:p>
            <a:pPr algn="just" marL="12700" marR="5080">
              <a:lnSpc>
                <a:spcPts val="1789"/>
              </a:lnSpc>
              <a:spcBef>
                <a:spcPts val="55"/>
              </a:spcBef>
            </a:pPr>
            <a:r>
              <a:rPr dirty="0"/>
              <a:t>“And</a:t>
            </a:r>
            <a:r>
              <a:rPr dirty="0" spc="30"/>
              <a:t> </a:t>
            </a:r>
            <a:r>
              <a:rPr dirty="0"/>
              <a:t>of</a:t>
            </a:r>
            <a:r>
              <a:rPr dirty="0" spc="30"/>
              <a:t> </a:t>
            </a:r>
            <a:r>
              <a:rPr dirty="0"/>
              <a:t>His</a:t>
            </a:r>
            <a:r>
              <a:rPr dirty="0" spc="25"/>
              <a:t> </a:t>
            </a:r>
            <a:r>
              <a:rPr dirty="0"/>
              <a:t>signs</a:t>
            </a:r>
            <a:r>
              <a:rPr dirty="0" spc="10"/>
              <a:t> </a:t>
            </a:r>
            <a:r>
              <a:rPr dirty="0"/>
              <a:t>is</a:t>
            </a:r>
            <a:r>
              <a:rPr dirty="0" spc="25"/>
              <a:t> </a:t>
            </a:r>
            <a:r>
              <a:rPr dirty="0"/>
              <a:t>that</a:t>
            </a:r>
            <a:r>
              <a:rPr dirty="0" spc="50"/>
              <a:t> </a:t>
            </a:r>
            <a:r>
              <a:rPr dirty="0"/>
              <a:t>He</a:t>
            </a:r>
            <a:r>
              <a:rPr dirty="0" spc="30"/>
              <a:t> </a:t>
            </a:r>
            <a:r>
              <a:rPr dirty="0"/>
              <a:t>created</a:t>
            </a:r>
            <a:r>
              <a:rPr dirty="0" spc="30"/>
              <a:t> </a:t>
            </a:r>
            <a:r>
              <a:rPr dirty="0"/>
              <a:t>for</a:t>
            </a:r>
            <a:r>
              <a:rPr dirty="0" spc="35"/>
              <a:t> </a:t>
            </a:r>
            <a:r>
              <a:rPr dirty="0"/>
              <a:t>you</a:t>
            </a:r>
            <a:r>
              <a:rPr dirty="0" spc="65"/>
              <a:t> </a:t>
            </a:r>
            <a:r>
              <a:rPr dirty="0"/>
              <a:t>from</a:t>
            </a:r>
            <a:r>
              <a:rPr dirty="0" spc="55"/>
              <a:t> </a:t>
            </a:r>
            <a:r>
              <a:rPr dirty="0"/>
              <a:t>yourselves</a:t>
            </a:r>
            <a:r>
              <a:rPr dirty="0" spc="55"/>
              <a:t> </a:t>
            </a:r>
            <a:r>
              <a:rPr dirty="0"/>
              <a:t>mates</a:t>
            </a:r>
            <a:r>
              <a:rPr dirty="0" spc="45"/>
              <a:t> </a:t>
            </a:r>
            <a:r>
              <a:rPr dirty="0"/>
              <a:t>that</a:t>
            </a:r>
            <a:r>
              <a:rPr dirty="0" spc="30"/>
              <a:t> </a:t>
            </a:r>
            <a:r>
              <a:rPr dirty="0"/>
              <a:t>you</a:t>
            </a:r>
            <a:r>
              <a:rPr dirty="0" spc="80"/>
              <a:t> </a:t>
            </a:r>
            <a:r>
              <a:rPr dirty="0"/>
              <a:t>may</a:t>
            </a:r>
            <a:r>
              <a:rPr dirty="0" spc="25"/>
              <a:t> </a:t>
            </a:r>
            <a:r>
              <a:rPr dirty="0" spc="-20"/>
              <a:t>find </a:t>
            </a:r>
            <a:r>
              <a:rPr dirty="0"/>
              <a:t>tranquility</a:t>
            </a:r>
            <a:r>
              <a:rPr dirty="0" spc="30"/>
              <a:t> </a:t>
            </a:r>
            <a:r>
              <a:rPr dirty="0"/>
              <a:t>in</a:t>
            </a:r>
            <a:r>
              <a:rPr dirty="0" spc="40"/>
              <a:t> </a:t>
            </a:r>
            <a:r>
              <a:rPr dirty="0" spc="-10"/>
              <a:t>them...”</a:t>
            </a:r>
          </a:p>
          <a:p>
            <a:pPr algn="just" marL="12700">
              <a:lnSpc>
                <a:spcPts val="1705"/>
              </a:lnSpc>
            </a:pPr>
            <a:r>
              <a:rPr dirty="0" i="1">
                <a:latin typeface="Arial"/>
                <a:cs typeface="Arial"/>
              </a:rPr>
              <a:t>(Surah</a:t>
            </a:r>
            <a:r>
              <a:rPr dirty="0" spc="-1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Ar-Rum,</a:t>
            </a:r>
            <a:r>
              <a:rPr dirty="0" spc="75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30:21)</a:t>
            </a:r>
          </a:p>
          <a:p>
            <a:pPr algn="just" marL="12700" marR="2794635">
              <a:lnSpc>
                <a:spcPct val="102400"/>
              </a:lnSpc>
              <a:spcBef>
                <a:spcPts val="5"/>
              </a:spcBef>
            </a:pPr>
            <a:r>
              <a:rPr dirty="0" b="1">
                <a:latin typeface="Arial"/>
                <a:cs typeface="Arial"/>
              </a:rPr>
              <a:t>Prophet</a:t>
            </a:r>
            <a:r>
              <a:rPr dirty="0" spc="5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Muhammad</a:t>
            </a:r>
            <a:r>
              <a:rPr dirty="0" spc="6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(peace</a:t>
            </a:r>
            <a:r>
              <a:rPr dirty="0" spc="6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be</a:t>
            </a:r>
            <a:r>
              <a:rPr dirty="0" spc="7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upon</a:t>
            </a:r>
            <a:r>
              <a:rPr dirty="0" spc="6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him)</a:t>
            </a:r>
            <a:r>
              <a:rPr dirty="0" spc="7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said: </a:t>
            </a:r>
            <a:r>
              <a:rPr dirty="0"/>
              <a:t>“The</a:t>
            </a:r>
            <a:r>
              <a:rPr dirty="0" spc="25"/>
              <a:t> </a:t>
            </a:r>
            <a:r>
              <a:rPr dirty="0"/>
              <a:t>best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/>
              <a:t>you</a:t>
            </a:r>
            <a:r>
              <a:rPr dirty="0" spc="60"/>
              <a:t> </a:t>
            </a:r>
            <a:r>
              <a:rPr dirty="0"/>
              <a:t>is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/>
              <a:t>one</a:t>
            </a:r>
            <a:r>
              <a:rPr dirty="0" spc="25"/>
              <a:t> </a:t>
            </a:r>
            <a:r>
              <a:rPr dirty="0"/>
              <a:t>who</a:t>
            </a:r>
            <a:r>
              <a:rPr dirty="0" spc="25"/>
              <a:t> </a:t>
            </a:r>
            <a:r>
              <a:rPr dirty="0"/>
              <a:t>is</a:t>
            </a:r>
            <a:r>
              <a:rPr dirty="0" spc="20"/>
              <a:t> </a:t>
            </a:r>
            <a:r>
              <a:rPr dirty="0"/>
              <a:t>best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his</a:t>
            </a:r>
            <a:r>
              <a:rPr dirty="0" spc="35"/>
              <a:t> </a:t>
            </a:r>
            <a:r>
              <a:rPr dirty="0" spc="-10"/>
              <a:t>wife.” </a:t>
            </a:r>
            <a:r>
              <a:rPr dirty="0" i="1">
                <a:latin typeface="Arial"/>
                <a:cs typeface="Arial"/>
              </a:rPr>
              <a:t>(Sunan</a:t>
            </a:r>
            <a:r>
              <a:rPr dirty="0" spc="3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At-</a:t>
            </a:r>
            <a:r>
              <a:rPr dirty="0" spc="-10" i="1">
                <a:latin typeface="Arial"/>
                <a:cs typeface="Arial"/>
              </a:rPr>
              <a:t>Tirmidhi)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Waqas Naseem</dc:creator>
  <dc:title>Microsoft PowerPoint - Chapter-9 Islamic Culture and Civilization.pptx</dc:title>
  <dcterms:created xsi:type="dcterms:W3CDTF">2025-07-05T10:16:47Z</dcterms:created>
  <dcterms:modified xsi:type="dcterms:W3CDTF">2025-07-05T10:16:47Z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2025-05-23T00:00:00Z</vt:filetime>
  </property>
  <property fmtid="{D5CDD505-2E9C-101B-9397-08002B2CF9AE}" pid="3" name="LastSaved">
    <vt:filetime>2025-07-05T00:00:00Z</vt:filetime>
  </property>
  <property fmtid="{D5CDD505-2E9C-101B-9397-08002B2CF9AE}" pid="4" name="Producer">
    <vt:lpwstr>Microsoft: Print To PDF</vt:lpwstr>
  </property>
</Properties>
</file>