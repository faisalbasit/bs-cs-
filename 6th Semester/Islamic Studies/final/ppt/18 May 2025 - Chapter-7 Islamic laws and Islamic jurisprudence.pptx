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9246" y="1259905"/>
            <a:ext cx="6508750" cy="828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0349" y="2823514"/>
            <a:ext cx="4062729" cy="2289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7744" cy="5659120"/>
            </a:xfrm>
            <a:custGeom>
              <a:avLst/>
              <a:gdLst/>
              <a:ahLst/>
              <a:cxnLst/>
              <a:rect l="l" t="t" r="r" b="b"/>
              <a:pathLst>
                <a:path w="1007745" h="5659120">
                  <a:moveTo>
                    <a:pt x="0" y="0"/>
                  </a:moveTo>
                  <a:lnTo>
                    <a:pt x="1007364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742682" y="5269406"/>
            <a:ext cx="3413125" cy="7816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Ms.</a:t>
            </a:r>
            <a:r>
              <a:rPr dirty="0" sz="19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3F7718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3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Spring:</a:t>
            </a:r>
            <a:r>
              <a:rPr dirty="0" sz="1450" spc="2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3F7718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Islamic</a:t>
            </a:r>
            <a:r>
              <a:rPr dirty="0" sz="14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/</a:t>
            </a:r>
            <a:r>
              <a:rPr dirty="0" sz="1450" spc="6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3F7718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06851" y="1422783"/>
            <a:ext cx="3718560" cy="855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none" sz="5450">
                <a:solidFill>
                  <a:srgbClr val="90C126"/>
                </a:solidFill>
              </a:rPr>
              <a:t>7</a:t>
            </a:r>
            <a:r>
              <a:rPr dirty="0" u="none" baseline="25462" sz="5400">
                <a:solidFill>
                  <a:srgbClr val="90C126"/>
                </a:solidFill>
              </a:rPr>
              <a:t>th</a:t>
            </a:r>
            <a:r>
              <a:rPr dirty="0" u="none" baseline="25462" sz="5400" spc="832">
                <a:solidFill>
                  <a:srgbClr val="90C126"/>
                </a:solidFill>
              </a:rPr>
              <a:t> </a:t>
            </a:r>
            <a:r>
              <a:rPr dirty="0" u="none" sz="5450" spc="-10">
                <a:solidFill>
                  <a:srgbClr val="90C126"/>
                </a:solidFill>
              </a:rPr>
              <a:t>Chapter</a:t>
            </a:r>
            <a:endParaRPr sz="5450"/>
          </a:p>
        </p:txBody>
      </p:sp>
      <p:sp>
        <p:nvSpPr>
          <p:cNvPr id="11" name="object 11" descr=""/>
          <p:cNvSpPr/>
          <p:nvPr/>
        </p:nvSpPr>
        <p:spPr>
          <a:xfrm>
            <a:off x="2545080" y="2214372"/>
            <a:ext cx="3642360" cy="67310"/>
          </a:xfrm>
          <a:custGeom>
            <a:avLst/>
            <a:gdLst/>
            <a:ahLst/>
            <a:cxnLst/>
            <a:rect l="l" t="t" r="r" b="b"/>
            <a:pathLst>
              <a:path w="3642360" h="67310">
                <a:moveTo>
                  <a:pt x="3642359" y="67056"/>
                </a:moveTo>
                <a:lnTo>
                  <a:pt x="0" y="67056"/>
                </a:lnTo>
                <a:lnTo>
                  <a:pt x="0" y="0"/>
                </a:lnTo>
                <a:lnTo>
                  <a:pt x="3642359" y="0"/>
                </a:lnTo>
                <a:lnTo>
                  <a:pt x="3642359" y="67056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17722" y="2261034"/>
            <a:ext cx="7697470" cy="2411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3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Islamic</a:t>
            </a:r>
            <a:r>
              <a:rPr dirty="0" u="sng" sz="3300" spc="-1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Laws</a:t>
            </a:r>
            <a:r>
              <a:rPr dirty="0" u="sng" sz="3300" spc="-9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3300" spc="-9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Islamic</a:t>
            </a:r>
            <a:r>
              <a:rPr dirty="0" u="sng" sz="3300" spc="-9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Jurisprudence</a:t>
            </a:r>
            <a:endParaRPr sz="3300">
              <a:latin typeface="Trebuchet MS"/>
              <a:cs typeface="Trebuchet MS"/>
            </a:endParaRPr>
          </a:p>
          <a:p>
            <a:pPr algn="ctr" marL="2113915" marR="1775460" indent="-1270">
              <a:lnSpc>
                <a:spcPct val="125200"/>
              </a:lnSpc>
              <a:spcBef>
                <a:spcPts val="850"/>
              </a:spcBef>
            </a:pP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1550" spc="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Laws and</a:t>
            </a:r>
            <a:r>
              <a:rPr dirty="0" sz="155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155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Jurisprudence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Sources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155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Jurisprudence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(Fiqh)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55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Quran</a:t>
            </a:r>
            <a:r>
              <a:rPr dirty="0" sz="155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(Primary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Source):</a:t>
            </a:r>
            <a:endParaRPr sz="1550">
              <a:latin typeface="Arial"/>
              <a:cs typeface="Arial"/>
            </a:endParaRPr>
          </a:p>
          <a:p>
            <a:pPr algn="ctr" marL="2220595" marR="1881505">
              <a:lnSpc>
                <a:spcPct val="125099"/>
              </a:lnSpc>
            </a:pP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Hadith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/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Sunnah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(Primary</a:t>
            </a:r>
            <a:r>
              <a:rPr dirty="0" sz="155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Source)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Ijma'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(Consensus)</a:t>
            </a:r>
            <a:endParaRPr sz="1550">
              <a:latin typeface="Arial"/>
              <a:cs typeface="Arial"/>
            </a:endParaRPr>
          </a:p>
          <a:p>
            <a:pPr algn="ctr" marL="329565">
              <a:lnSpc>
                <a:spcPct val="100000"/>
              </a:lnSpc>
              <a:spcBef>
                <a:spcPts val="470"/>
              </a:spcBef>
            </a:pP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Qiyas</a:t>
            </a:r>
            <a:r>
              <a:rPr dirty="0" sz="1550" spc="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(legal</a:t>
            </a:r>
            <a:r>
              <a:rPr dirty="0" sz="155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analogy)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4" y="1328405"/>
            <a:ext cx="721296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Islamic</a:t>
            </a:r>
            <a:r>
              <a:rPr dirty="0" sz="2950" spc="-2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Laws</a:t>
            </a:r>
            <a:r>
              <a:rPr dirty="0" sz="2950" spc="2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and</a:t>
            </a:r>
            <a:r>
              <a:rPr dirty="0" sz="2950" spc="3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Islamic</a:t>
            </a:r>
            <a:r>
              <a:rPr dirty="0" sz="2950" spc="1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Jurisprudence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4693" y="1830153"/>
            <a:ext cx="6840220" cy="329247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Introduction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Laws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Jurisprudence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Sources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Jurisprudence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(Fiqh)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(Primary</a:t>
            </a:r>
            <a:r>
              <a:rPr dirty="0" sz="2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Source):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/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Sunnah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(Primary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Source)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Ijma'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(Consensus)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2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Qiyas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(legal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analogy)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861" y="1238544"/>
            <a:ext cx="746379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Introduction</a:t>
            </a:r>
            <a:r>
              <a:rPr dirty="0" sz="2650" spc="-90"/>
              <a:t> </a:t>
            </a:r>
            <a:r>
              <a:rPr dirty="0" sz="2650"/>
              <a:t>to</a:t>
            </a:r>
            <a:r>
              <a:rPr dirty="0" sz="2650" spc="-80"/>
              <a:t> </a:t>
            </a:r>
            <a:r>
              <a:rPr dirty="0" sz="2650"/>
              <a:t>Islamic</a:t>
            </a:r>
            <a:r>
              <a:rPr dirty="0" sz="2650" spc="-90"/>
              <a:t> </a:t>
            </a:r>
            <a:r>
              <a:rPr dirty="0" sz="2650"/>
              <a:t>Laws</a:t>
            </a:r>
            <a:r>
              <a:rPr dirty="0" sz="2650" spc="-90"/>
              <a:t> </a:t>
            </a:r>
            <a:r>
              <a:rPr dirty="0" sz="2650"/>
              <a:t>and</a:t>
            </a:r>
            <a:r>
              <a:rPr dirty="0" sz="2650" spc="-85"/>
              <a:t> </a:t>
            </a:r>
            <a:r>
              <a:rPr dirty="0" sz="2650" spc="-10"/>
              <a:t>Jurisprudence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298169" y="1569017"/>
            <a:ext cx="7633334" cy="434657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algn="ctr" marL="234950">
              <a:lnSpc>
                <a:spcPct val="100000"/>
              </a:lnSpc>
              <a:spcBef>
                <a:spcPts val="74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Shariah:</a:t>
            </a:r>
            <a:r>
              <a:rPr dirty="0" u="sng" sz="145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45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Path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Islamic</a:t>
            </a:r>
            <a:r>
              <a:rPr dirty="0" u="sng" sz="14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Law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What</a:t>
            </a:r>
            <a:r>
              <a:rPr dirty="0" sz="1450" spc="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Islamic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0070BF"/>
                </a:solidFill>
                <a:latin typeface="Trebuchet MS"/>
                <a:cs typeface="Trebuchet MS"/>
              </a:rPr>
              <a:t>Law?</a:t>
            </a:r>
            <a:endParaRPr sz="1450">
              <a:latin typeface="Trebuchet MS"/>
              <a:cs typeface="Trebuchet MS"/>
            </a:endParaRPr>
          </a:p>
          <a:p>
            <a:pPr marL="12700" marR="607695">
              <a:lnSpc>
                <a:spcPct val="154600"/>
              </a:lnSpc>
              <a:spcBef>
                <a:spcPts val="5"/>
              </a:spcBef>
            </a:pPr>
            <a:r>
              <a:rPr dirty="0" sz="1300" b="1">
                <a:latin typeface="Arial"/>
                <a:cs typeface="Arial"/>
              </a:rPr>
              <a:t>Islamic</a:t>
            </a:r>
            <a:r>
              <a:rPr dirty="0" sz="1300" spc="-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Law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is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called</a:t>
            </a:r>
            <a:r>
              <a:rPr dirty="0" sz="1300" spc="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Shariah:</a:t>
            </a:r>
            <a:r>
              <a:rPr dirty="0" sz="1300" spc="15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Shariah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means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"the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clear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path"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or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"the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way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live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good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life.“ </a:t>
            </a:r>
            <a:r>
              <a:rPr dirty="0" sz="1300">
                <a:latin typeface="Microsoft Sans Serif"/>
                <a:cs typeface="Microsoft Sans Serif"/>
              </a:rPr>
              <a:t>It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guides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Muslims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on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live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according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-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Allah's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will.</a:t>
            </a:r>
            <a:endParaRPr sz="1300">
              <a:latin typeface="Microsoft Sans Serif"/>
              <a:cs typeface="Microsoft Sans Serif"/>
            </a:endParaRPr>
          </a:p>
          <a:p>
            <a:pPr marL="12700" marR="5080">
              <a:lnSpc>
                <a:spcPct val="101499"/>
              </a:lnSpc>
              <a:spcBef>
                <a:spcPts val="830"/>
              </a:spcBef>
            </a:pPr>
            <a:r>
              <a:rPr dirty="0" sz="1300" b="1">
                <a:latin typeface="Arial"/>
                <a:cs typeface="Arial"/>
              </a:rPr>
              <a:t>Helps</a:t>
            </a:r>
            <a:r>
              <a:rPr dirty="0" sz="1300" spc="1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in</a:t>
            </a:r>
            <a:r>
              <a:rPr dirty="0" sz="1300" spc="-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Everyday</a:t>
            </a:r>
            <a:r>
              <a:rPr dirty="0" sz="1300" spc="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Life:</a:t>
            </a:r>
            <a:r>
              <a:rPr dirty="0" sz="1300" spc="1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covers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personal,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social,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religious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matters.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It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teaches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pray,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 spc="-25">
                <a:latin typeface="Microsoft Sans Serif"/>
                <a:cs typeface="Microsoft Sans Serif"/>
              </a:rPr>
              <a:t>be </a:t>
            </a:r>
            <a:r>
              <a:rPr dirty="0" sz="1300">
                <a:latin typeface="Microsoft Sans Serif"/>
                <a:cs typeface="Microsoft Sans Serif"/>
              </a:rPr>
              <a:t>honest,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treat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family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kindly,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do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fair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business.</a:t>
            </a:r>
            <a:endParaRPr sz="1300">
              <a:latin typeface="Microsoft Sans Serif"/>
              <a:cs typeface="Microsoft Sans Serif"/>
            </a:endParaRPr>
          </a:p>
          <a:p>
            <a:pPr marL="12700" marR="610870">
              <a:lnSpc>
                <a:spcPct val="101600"/>
              </a:lnSpc>
              <a:spcBef>
                <a:spcPts val="815"/>
              </a:spcBef>
            </a:pPr>
            <a:r>
              <a:rPr dirty="0" sz="1300" b="1">
                <a:latin typeface="Arial"/>
                <a:cs typeface="Arial"/>
              </a:rPr>
              <a:t>Follows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Allah’s</a:t>
            </a:r>
            <a:r>
              <a:rPr dirty="0" sz="1300" spc="1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Commands:</a:t>
            </a:r>
            <a:r>
              <a:rPr dirty="0" sz="1300" spc="15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Shariah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Muslims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live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way</a:t>
            </a:r>
            <a:r>
              <a:rPr dirty="0" sz="1300" spc="-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Allah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wants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 spc="355">
                <a:latin typeface="Microsoft Sans Serif"/>
                <a:cs typeface="Microsoft Sans Serif"/>
              </a:rPr>
              <a:t>–</a:t>
            </a:r>
            <a:r>
              <a:rPr dirty="0" sz="1300">
                <a:latin typeface="Microsoft Sans Serif"/>
                <a:cs typeface="Microsoft Sans Serif"/>
              </a:rPr>
              <a:t> with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kindness, </a:t>
            </a:r>
            <a:r>
              <a:rPr dirty="0" sz="1300">
                <a:latin typeface="Microsoft Sans Serif"/>
                <a:cs typeface="Microsoft Sans Serif"/>
              </a:rPr>
              <a:t>fairness,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respect.</a:t>
            </a:r>
            <a:endParaRPr sz="1300">
              <a:latin typeface="Microsoft Sans Serif"/>
              <a:cs typeface="Microsoft Sans Serif"/>
            </a:endParaRPr>
          </a:p>
          <a:p>
            <a:pPr marL="12700" marR="3944620">
              <a:lnSpc>
                <a:spcPts val="2620"/>
              </a:lnSpc>
              <a:spcBef>
                <a:spcPts val="21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What Does</a:t>
            </a:r>
            <a:r>
              <a:rPr dirty="0" sz="1450" spc="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Shariah</a:t>
            </a:r>
            <a:r>
              <a:rPr dirty="0" sz="1450" spc="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Teach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Us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in</a:t>
            </a:r>
            <a:r>
              <a:rPr dirty="0" sz="1450" spc="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Daily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Life?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Shariah</a:t>
            </a:r>
            <a:r>
              <a:rPr dirty="0" u="sng" sz="1450" spc="8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provides</a:t>
            </a:r>
            <a:r>
              <a:rPr dirty="0" u="sng" sz="1450" spc="12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guidance</a:t>
            </a:r>
            <a:r>
              <a:rPr dirty="0" u="sng" sz="1450" spc="12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2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on: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620"/>
              </a:spcBef>
              <a:buClr>
                <a:srgbClr val="90C126"/>
              </a:buClr>
              <a:buSzPct val="80769"/>
              <a:buFont typeface="Microsoft Sans Serif"/>
              <a:buChar char="•"/>
              <a:tabLst>
                <a:tab pos="248285" algn="l"/>
              </a:tabLst>
            </a:pPr>
            <a:r>
              <a:rPr dirty="0" sz="1300" b="1">
                <a:latin typeface="Arial"/>
                <a:cs typeface="Arial"/>
              </a:rPr>
              <a:t>Worship</a:t>
            </a:r>
            <a:r>
              <a:rPr dirty="0" sz="1300">
                <a:latin typeface="Microsoft Sans Serif"/>
                <a:cs typeface="Microsoft Sans Serif"/>
              </a:rPr>
              <a:t>: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Praying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five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times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day,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fasting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Ramadan,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giving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money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 poor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people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(Zakat).</a:t>
            </a:r>
            <a:endParaRPr sz="1300">
              <a:latin typeface="Microsoft Sans Serif"/>
              <a:cs typeface="Microsoft Sans Serif"/>
            </a:endParaRPr>
          </a:p>
          <a:p>
            <a:pPr marL="248920" marR="704850" indent="-236220">
              <a:lnSpc>
                <a:spcPct val="101499"/>
              </a:lnSpc>
              <a:spcBef>
                <a:spcPts val="815"/>
              </a:spcBef>
              <a:buClr>
                <a:srgbClr val="90C126"/>
              </a:buClr>
              <a:buSzPct val="80769"/>
              <a:buFont typeface="Microsoft Sans Serif"/>
              <a:buChar char="•"/>
              <a:tabLst>
                <a:tab pos="248920" algn="l"/>
              </a:tabLst>
            </a:pPr>
            <a:r>
              <a:rPr dirty="0" sz="1300" b="1">
                <a:latin typeface="Arial"/>
                <a:cs typeface="Arial"/>
              </a:rPr>
              <a:t>Family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Life</a:t>
            </a:r>
            <a:r>
              <a:rPr dirty="0" sz="1300">
                <a:latin typeface="Microsoft Sans Serif"/>
                <a:cs typeface="Microsoft Sans Serif"/>
              </a:rPr>
              <a:t>: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Getting</a:t>
            </a:r>
            <a:r>
              <a:rPr dirty="0" sz="1300" spc="-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married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right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way,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treating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your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spouse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kindly,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teaching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kids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good </a:t>
            </a:r>
            <a:r>
              <a:rPr dirty="0" sz="1300" spc="-10">
                <a:latin typeface="Microsoft Sans Serif"/>
                <a:cs typeface="Microsoft Sans Serif"/>
              </a:rPr>
              <a:t>manners.</a:t>
            </a:r>
            <a:endParaRPr sz="130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850"/>
              </a:spcBef>
              <a:buClr>
                <a:srgbClr val="90C126"/>
              </a:buClr>
              <a:buSzPct val="80769"/>
              <a:buFont typeface="Microsoft Sans Serif"/>
              <a:buChar char="•"/>
              <a:tabLst>
                <a:tab pos="248285" algn="l"/>
              </a:tabLst>
            </a:pPr>
            <a:r>
              <a:rPr dirty="0" sz="1300" b="1">
                <a:latin typeface="Arial"/>
                <a:cs typeface="Arial"/>
              </a:rPr>
              <a:t>Business</a:t>
            </a:r>
            <a:r>
              <a:rPr dirty="0" sz="1300">
                <a:latin typeface="Microsoft Sans Serif"/>
                <a:cs typeface="Microsoft Sans Serif"/>
              </a:rPr>
              <a:t>: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Selling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honestly,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cheating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weight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or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price,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keeping </a:t>
            </a:r>
            <a:r>
              <a:rPr dirty="0" sz="1300" spc="-10">
                <a:latin typeface="Microsoft Sans Serif"/>
                <a:cs typeface="Microsoft Sans Serif"/>
              </a:rPr>
              <a:t>promises.</a:t>
            </a:r>
            <a:endParaRPr sz="130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855"/>
              </a:spcBef>
              <a:buClr>
                <a:srgbClr val="90C126"/>
              </a:buClr>
              <a:buSzPct val="80769"/>
              <a:buFont typeface="Microsoft Sans Serif"/>
              <a:buChar char="•"/>
              <a:tabLst>
                <a:tab pos="248285" algn="l"/>
              </a:tabLst>
            </a:pPr>
            <a:r>
              <a:rPr dirty="0" sz="1300" b="1">
                <a:latin typeface="Arial"/>
                <a:cs typeface="Arial"/>
              </a:rPr>
              <a:t>Community</a:t>
            </a:r>
            <a:r>
              <a:rPr dirty="0" sz="1300">
                <a:latin typeface="Microsoft Sans Serif"/>
                <a:cs typeface="Microsoft Sans Serif"/>
              </a:rPr>
              <a:t>: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Being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fair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everyone,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helping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those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need,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being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kind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neighbors.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5" y="3552444"/>
            <a:ext cx="2334767" cy="26807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643" y="1261341"/>
            <a:ext cx="8230234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Understanding</a:t>
            </a:r>
            <a:r>
              <a:rPr dirty="0" spc="-65"/>
              <a:t> </a:t>
            </a:r>
            <a:r>
              <a:rPr dirty="0"/>
              <a:t>Fiqh:</a:t>
            </a:r>
            <a:r>
              <a:rPr dirty="0" spc="-145"/>
              <a:t> </a:t>
            </a:r>
            <a:r>
              <a:rPr dirty="0"/>
              <a:t>Applying</a:t>
            </a:r>
            <a:r>
              <a:rPr dirty="0" spc="-40"/>
              <a:t> </a:t>
            </a:r>
            <a:r>
              <a:rPr dirty="0"/>
              <a:t>Islamic</a:t>
            </a:r>
            <a:r>
              <a:rPr dirty="0" spc="-105"/>
              <a:t> </a:t>
            </a:r>
            <a:r>
              <a:rPr dirty="0" spc="-20"/>
              <a:t>Teachings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Daily</a:t>
            </a:r>
            <a:r>
              <a:rPr dirty="0" spc="-40"/>
              <a:t> </a:t>
            </a:r>
            <a:r>
              <a:rPr dirty="0" spc="-20"/>
              <a:t>Life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62527" y="1697262"/>
            <a:ext cx="7834630" cy="1809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A.</a:t>
            </a:r>
            <a:r>
              <a:rPr dirty="0" sz="1300" spc="85" b="1">
                <a:solidFill>
                  <a:srgbClr val="0070BF"/>
                </a:solidFill>
                <a:latin typeface="Trebuchet MS"/>
                <a:cs typeface="Trebuchet MS"/>
              </a:rPr>
              <a:t> 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What</a:t>
            </a:r>
            <a:r>
              <a:rPr dirty="0" u="sng" sz="13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is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Fiqh(Islamic</a:t>
            </a:r>
            <a:r>
              <a:rPr dirty="0" u="sng" sz="130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Jurisprudence</a:t>
            </a:r>
            <a:r>
              <a:rPr dirty="0" u="sng" sz="1300" spc="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-</a:t>
            </a:r>
            <a:r>
              <a:rPr dirty="0" u="sng" sz="130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ہقف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)?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ts val="1789"/>
              </a:lnSpc>
              <a:spcBef>
                <a:spcPts val="45"/>
              </a:spcBef>
            </a:pPr>
            <a:r>
              <a:rPr dirty="0" sz="1450" b="1">
                <a:latin typeface="Trebuchet MS"/>
                <a:cs typeface="Trebuchet MS"/>
              </a:rPr>
              <a:t>Fiqh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understanding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Allah's guidance.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b="1">
                <a:latin typeface="Trebuchet MS"/>
                <a:cs typeface="Trebuchet MS"/>
              </a:rPr>
              <a:t>Scholars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study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Quran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Hadith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to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make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rules.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It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helps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scholars: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Interpret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Hadith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understand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Allah's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commands.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Make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decisions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situations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directly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mentioned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Hadith.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Areas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Covered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by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Fiqh: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7719" y="3943624"/>
            <a:ext cx="187134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1.</a:t>
            </a:r>
            <a:r>
              <a:rPr dirty="0" sz="1450" spc="420" b="1"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Worship</a:t>
            </a:r>
            <a:r>
              <a:rPr dirty="0" u="sng" sz="1450" spc="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(Ibadah):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7737" y="4397759"/>
            <a:ext cx="2197735" cy="1433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2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>
                <a:latin typeface="Trebuchet MS"/>
                <a:cs typeface="Trebuchet MS"/>
              </a:rPr>
              <a:t>Praying five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times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 </a:t>
            </a:r>
            <a:r>
              <a:rPr dirty="0" sz="1300" spc="-20">
                <a:latin typeface="Trebuchet MS"/>
                <a:cs typeface="Trebuchet MS"/>
              </a:rPr>
              <a:t>day.</a:t>
            </a:r>
            <a:endParaRPr sz="130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2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>
                <a:latin typeface="Trebuchet MS"/>
                <a:cs typeface="Trebuchet MS"/>
              </a:rPr>
              <a:t>Fasting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during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Ramadan.</a:t>
            </a:r>
            <a:endParaRPr sz="1300">
              <a:latin typeface="Trebuchet MS"/>
              <a:cs typeface="Trebuchet MS"/>
            </a:endParaRPr>
          </a:p>
          <a:p>
            <a:pPr marL="248920" marR="155575" indent="-236854">
              <a:lnSpc>
                <a:spcPct val="101499"/>
              </a:lnSpc>
              <a:buFont typeface="Microsoft Sans Serif"/>
              <a:buChar char="•"/>
              <a:tabLst>
                <a:tab pos="248920" algn="l"/>
              </a:tabLst>
            </a:pPr>
            <a:r>
              <a:rPr dirty="0" sz="1300">
                <a:latin typeface="Trebuchet MS"/>
                <a:cs typeface="Trebuchet MS"/>
              </a:rPr>
              <a:t>Giving</a:t>
            </a:r>
            <a:r>
              <a:rPr dirty="0" sz="1300" spc="6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Zakat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(charity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to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needy).</a:t>
            </a:r>
            <a:endParaRPr sz="1300">
              <a:latin typeface="Trebuchet MS"/>
              <a:cs typeface="Trebuchet MS"/>
            </a:endParaRPr>
          </a:p>
          <a:p>
            <a:pPr marL="248920" marR="5080" indent="-236854">
              <a:lnSpc>
                <a:spcPts val="1580"/>
              </a:lnSpc>
              <a:spcBef>
                <a:spcPts val="6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300">
                <a:latin typeface="Trebuchet MS"/>
                <a:cs typeface="Trebuchet MS"/>
              </a:rPr>
              <a:t>Example: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Knowing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how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to </a:t>
            </a:r>
            <a:r>
              <a:rPr dirty="0" sz="1300">
                <a:latin typeface="Trebuchet MS"/>
                <a:cs typeface="Trebuchet MS"/>
              </a:rPr>
              <a:t>perform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ablution</a:t>
            </a:r>
            <a:r>
              <a:rPr dirty="0" sz="1300" spc="7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(wudu) </a:t>
            </a:r>
            <a:r>
              <a:rPr dirty="0" sz="1300">
                <a:latin typeface="Trebuchet MS"/>
                <a:cs typeface="Trebuchet MS"/>
              </a:rPr>
              <a:t>before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prayer.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9076" y="3579876"/>
            <a:ext cx="2307336" cy="268071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862576" y="3971029"/>
            <a:ext cx="217233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3.</a:t>
            </a:r>
            <a:r>
              <a:rPr dirty="0" sz="1450" spc="20" b="1">
                <a:latin typeface="Trebuchet MS"/>
                <a:cs typeface="Trebuchet MS"/>
              </a:rPr>
              <a:t> </a:t>
            </a: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Business</a:t>
            </a:r>
            <a:r>
              <a:rPr dirty="0" u="sng" sz="1300" spc="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&amp; </a:t>
            </a:r>
            <a:r>
              <a:rPr dirty="0" u="sng" sz="130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Transactions: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62617" y="4399314"/>
            <a:ext cx="2035175" cy="12325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2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>
                <a:latin typeface="Trebuchet MS"/>
                <a:cs typeface="Trebuchet MS"/>
              </a:rPr>
              <a:t>Honest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trade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practices.</a:t>
            </a:r>
            <a:endParaRPr sz="1300">
              <a:latin typeface="Trebuchet MS"/>
              <a:cs typeface="Trebuchet MS"/>
            </a:endParaRPr>
          </a:p>
          <a:p>
            <a:pPr marL="248285" marR="40005" indent="-236220">
              <a:lnSpc>
                <a:spcPts val="1580"/>
              </a:lnSpc>
              <a:spcBef>
                <a:spcPts val="6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>
                <a:latin typeface="Trebuchet MS"/>
                <a:cs typeface="Trebuchet MS"/>
              </a:rPr>
              <a:t>Avoiding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interest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(riba)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financial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dealings.</a:t>
            </a:r>
            <a:endParaRPr sz="1300">
              <a:latin typeface="Trebuchet MS"/>
              <a:cs typeface="Trebuchet MS"/>
            </a:endParaRPr>
          </a:p>
          <a:p>
            <a:pPr marL="248285" marR="137160" indent="-236220">
              <a:lnSpc>
                <a:spcPts val="1580"/>
              </a:lnSpc>
              <a:spcBef>
                <a:spcPts val="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>
                <a:latin typeface="Trebuchet MS"/>
                <a:cs typeface="Trebuchet MS"/>
              </a:rPr>
              <a:t>Example: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Ensuring </a:t>
            </a:r>
            <a:r>
              <a:rPr dirty="0" sz="1300">
                <a:latin typeface="Trebuchet MS"/>
                <a:cs typeface="Trebuchet MS"/>
              </a:rPr>
              <a:t>fairness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buying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and </a:t>
            </a:r>
            <a:r>
              <a:rPr dirty="0" sz="1300">
                <a:latin typeface="Trebuchet MS"/>
                <a:cs typeface="Trebuchet MS"/>
              </a:rPr>
              <a:t>selling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goods.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0132" y="3576827"/>
            <a:ext cx="2177795" cy="268071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643673" y="3993913"/>
            <a:ext cx="130429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2.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Family</a:t>
            </a:r>
            <a:r>
              <a:rPr dirty="0" u="sng" sz="1450" spc="2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2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Life: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43595" y="4446545"/>
            <a:ext cx="1837055" cy="1836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8920" marR="5080" indent="-236854">
              <a:lnSpc>
                <a:spcPct val="101499"/>
              </a:lnSpc>
              <a:spcBef>
                <a:spcPts val="9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300">
                <a:latin typeface="Trebuchet MS"/>
                <a:cs typeface="Trebuchet MS"/>
              </a:rPr>
              <a:t>Marriage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divorce rules.</a:t>
            </a:r>
            <a:endParaRPr sz="1300">
              <a:latin typeface="Trebuchet MS"/>
              <a:cs typeface="Trebuchet MS"/>
            </a:endParaRPr>
          </a:p>
          <a:p>
            <a:pPr marL="248920" marR="5080" indent="-236854">
              <a:lnSpc>
                <a:spcPct val="101600"/>
              </a:lnSpc>
              <a:buFont typeface="Microsoft Sans Serif"/>
              <a:buChar char="•"/>
              <a:tabLst>
                <a:tab pos="248920" algn="l"/>
              </a:tabLst>
            </a:pPr>
            <a:r>
              <a:rPr dirty="0" sz="1300">
                <a:latin typeface="Trebuchet MS"/>
                <a:cs typeface="Trebuchet MS"/>
              </a:rPr>
              <a:t>Raising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children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with </a:t>
            </a:r>
            <a:r>
              <a:rPr dirty="0" sz="1300">
                <a:latin typeface="Trebuchet MS"/>
                <a:cs typeface="Trebuchet MS"/>
              </a:rPr>
              <a:t>good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manners.</a:t>
            </a:r>
            <a:endParaRPr sz="1300">
              <a:latin typeface="Trebuchet MS"/>
              <a:cs typeface="Trebuchet MS"/>
            </a:endParaRPr>
          </a:p>
          <a:p>
            <a:pPr marL="248920" marR="197485" indent="-236854">
              <a:lnSpc>
                <a:spcPct val="101499"/>
              </a:lnSpc>
              <a:buFont typeface="Microsoft Sans Serif"/>
              <a:buChar char="•"/>
              <a:tabLst>
                <a:tab pos="248920" algn="l"/>
              </a:tabLst>
            </a:pPr>
            <a:r>
              <a:rPr dirty="0" sz="1300" spc="-10">
                <a:latin typeface="Trebuchet MS"/>
                <a:cs typeface="Trebuchet MS"/>
              </a:rPr>
              <a:t>Example: </a:t>
            </a:r>
            <a:r>
              <a:rPr dirty="0" sz="1300">
                <a:latin typeface="Trebuchet MS"/>
                <a:cs typeface="Trebuchet MS"/>
              </a:rPr>
              <a:t>Understanding</a:t>
            </a:r>
            <a:r>
              <a:rPr dirty="0" sz="1300" spc="6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the </a:t>
            </a:r>
            <a:r>
              <a:rPr dirty="0" sz="1300">
                <a:latin typeface="Trebuchet MS"/>
                <a:cs typeface="Trebuchet MS"/>
              </a:rPr>
              <a:t>rights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and </a:t>
            </a:r>
            <a:r>
              <a:rPr dirty="0" sz="1300" spc="-10">
                <a:latin typeface="Trebuchet MS"/>
                <a:cs typeface="Trebuchet MS"/>
              </a:rPr>
              <a:t>responsibilities </a:t>
            </a:r>
            <a:r>
              <a:rPr dirty="0" sz="1300">
                <a:latin typeface="Trebuchet MS"/>
                <a:cs typeface="Trebuchet MS"/>
              </a:rPr>
              <a:t>between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spouses.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559" y="3576827"/>
            <a:ext cx="2307335" cy="268071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7211055" y="3955804"/>
            <a:ext cx="155956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4.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Criminal</a:t>
            </a:r>
            <a:r>
              <a:rPr dirty="0" u="sng" sz="1450" spc="4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2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Laws: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211053" y="4409956"/>
            <a:ext cx="2040889" cy="1457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8920" marR="84455" indent="-236854">
              <a:lnSpc>
                <a:spcPct val="101600"/>
              </a:lnSpc>
              <a:spcBef>
                <a:spcPts val="9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300">
                <a:latin typeface="Trebuchet MS"/>
                <a:cs typeface="Trebuchet MS"/>
              </a:rPr>
              <a:t>Justice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dealing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with </a:t>
            </a:r>
            <a:r>
              <a:rPr dirty="0" sz="1300" spc="-10">
                <a:latin typeface="Trebuchet MS"/>
                <a:cs typeface="Trebuchet MS"/>
              </a:rPr>
              <a:t>crimes.</a:t>
            </a:r>
            <a:endParaRPr sz="1300">
              <a:latin typeface="Trebuchet MS"/>
              <a:cs typeface="Trebuchet MS"/>
            </a:endParaRPr>
          </a:p>
          <a:p>
            <a:pPr marL="248920" marR="81280" indent="-236854">
              <a:lnSpc>
                <a:spcPts val="1580"/>
              </a:lnSpc>
              <a:spcBef>
                <a:spcPts val="6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300">
                <a:latin typeface="Trebuchet MS"/>
                <a:cs typeface="Trebuchet MS"/>
              </a:rPr>
              <a:t>Punishments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for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theft, </a:t>
            </a:r>
            <a:r>
              <a:rPr dirty="0" sz="1300">
                <a:latin typeface="Trebuchet MS"/>
                <a:cs typeface="Trebuchet MS"/>
              </a:rPr>
              <a:t>lying,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etc.</a:t>
            </a:r>
            <a:endParaRPr sz="1300">
              <a:latin typeface="Trebuchet MS"/>
              <a:cs typeface="Trebuchet MS"/>
            </a:endParaRPr>
          </a:p>
          <a:p>
            <a:pPr marL="248920" marR="5080" indent="-236854">
              <a:lnSpc>
                <a:spcPts val="1580"/>
              </a:lnSpc>
              <a:spcBef>
                <a:spcPts val="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300">
                <a:latin typeface="Trebuchet MS"/>
                <a:cs typeface="Trebuchet MS"/>
              </a:rPr>
              <a:t>Example: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Implementing </a:t>
            </a:r>
            <a:r>
              <a:rPr dirty="0" sz="1300">
                <a:latin typeface="Trebuchet MS"/>
                <a:cs typeface="Trebuchet MS"/>
              </a:rPr>
              <a:t>fair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trials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evidence</a:t>
            </a:r>
            <a:endParaRPr sz="1300">
              <a:latin typeface="Trebuchet MS"/>
              <a:cs typeface="Trebuchet MS"/>
            </a:endParaRPr>
          </a:p>
          <a:p>
            <a:pPr marL="248920">
              <a:lnSpc>
                <a:spcPts val="1720"/>
              </a:lnSpc>
            </a:pPr>
            <a:r>
              <a:rPr dirty="0" sz="1300">
                <a:latin typeface="Trebuchet MS"/>
                <a:cs typeface="Trebuchet MS"/>
              </a:rPr>
              <a:t>before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judgment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185" y="1241524"/>
            <a:ext cx="695515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/>
              <a:t>Shariah:</a:t>
            </a:r>
            <a:r>
              <a:rPr dirty="0" sz="1950" spc="-10"/>
              <a:t> </a:t>
            </a:r>
            <a:r>
              <a:rPr dirty="0" sz="1950"/>
              <a:t>The</a:t>
            </a:r>
            <a:r>
              <a:rPr dirty="0" sz="1950" spc="20"/>
              <a:t> </a:t>
            </a:r>
            <a:r>
              <a:rPr dirty="0" sz="1950"/>
              <a:t>Path</a:t>
            </a:r>
            <a:r>
              <a:rPr dirty="0" sz="1950" spc="45"/>
              <a:t> </a:t>
            </a:r>
            <a:r>
              <a:rPr dirty="0" sz="1950"/>
              <a:t>of</a:t>
            </a:r>
            <a:r>
              <a:rPr dirty="0" sz="1950" spc="35"/>
              <a:t> </a:t>
            </a:r>
            <a:r>
              <a:rPr dirty="0" sz="1950"/>
              <a:t>Islamic</a:t>
            </a:r>
            <a:r>
              <a:rPr dirty="0" sz="1950" spc="25"/>
              <a:t> </a:t>
            </a:r>
            <a:r>
              <a:rPr dirty="0" sz="1950"/>
              <a:t>Law</a:t>
            </a:r>
            <a:r>
              <a:rPr dirty="0" sz="1950" spc="20"/>
              <a:t> </a:t>
            </a:r>
            <a:r>
              <a:rPr dirty="0" sz="1950"/>
              <a:t>(The</a:t>
            </a:r>
            <a:r>
              <a:rPr dirty="0" sz="1950" spc="40"/>
              <a:t> </a:t>
            </a:r>
            <a:r>
              <a:rPr dirty="0" sz="1950"/>
              <a:t>Quran</a:t>
            </a:r>
            <a:r>
              <a:rPr dirty="0" sz="1950" spc="30"/>
              <a:t> </a:t>
            </a:r>
            <a:r>
              <a:rPr dirty="0" sz="1950"/>
              <a:t>&amp;</a:t>
            </a:r>
            <a:r>
              <a:rPr dirty="0" sz="1950" spc="-5"/>
              <a:t> </a:t>
            </a:r>
            <a:r>
              <a:rPr dirty="0" sz="1950"/>
              <a:t>The</a:t>
            </a:r>
            <a:r>
              <a:rPr dirty="0" sz="1950" spc="-5"/>
              <a:t> </a:t>
            </a:r>
            <a:r>
              <a:rPr dirty="0" sz="1950" spc="-10"/>
              <a:t>Hadith)</a:t>
            </a:r>
            <a:endParaRPr sz="1950"/>
          </a:p>
        </p:txBody>
      </p:sp>
      <p:sp>
        <p:nvSpPr>
          <p:cNvPr id="3" name="object 3" descr=""/>
          <p:cNvSpPr txBox="1"/>
          <p:nvPr/>
        </p:nvSpPr>
        <p:spPr>
          <a:xfrm>
            <a:off x="298169" y="1582581"/>
            <a:ext cx="7496809" cy="358902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133600">
              <a:lnSpc>
                <a:spcPct val="100000"/>
              </a:lnSpc>
              <a:spcBef>
                <a:spcPts val="95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Main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Sources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Shariah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(Islamic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0070BF"/>
                </a:solidFill>
                <a:latin typeface="Trebuchet MS"/>
                <a:cs typeface="Trebuchet MS"/>
              </a:rPr>
              <a:t>Law)</a:t>
            </a:r>
            <a:endParaRPr sz="1450">
              <a:latin typeface="Trebuchet MS"/>
              <a:cs typeface="Trebuchet MS"/>
            </a:endParaRPr>
          </a:p>
          <a:p>
            <a:pPr marL="390525" indent="-377825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39052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The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Primary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Source:</a:t>
            </a:r>
            <a:endParaRPr sz="1450">
              <a:latin typeface="Trebuchet MS"/>
              <a:cs typeface="Trebuchet MS"/>
            </a:endParaRPr>
          </a:p>
          <a:p>
            <a:pPr marL="12700" marR="220345" indent="-635">
              <a:lnSpc>
                <a:spcPct val="101699"/>
              </a:lnSpc>
              <a:spcBef>
                <a:spcPts val="844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The Quran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-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 holy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book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from</a:t>
            </a:r>
            <a:r>
              <a:rPr dirty="0" sz="1300" spc="-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Allah,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sent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Prophet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Muhammad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60">
                <a:latin typeface="Microsoft Sans Serif"/>
                <a:cs typeface="Microsoft Sans Serif"/>
              </a:rPr>
              <a:t>.</a:t>
            </a:r>
            <a:r>
              <a:rPr dirty="0" sz="1300" spc="-60">
                <a:latin typeface="Microsoft Sans Serif"/>
                <a:cs typeface="Microsoft Sans Serif"/>
              </a:rPr>
              <a:t>ﷺ</a:t>
            </a:r>
            <a:r>
              <a:rPr dirty="0" sz="1300" spc="-60">
                <a:latin typeface="Microsoft Sans Serif"/>
                <a:cs typeface="Microsoft Sans Serif"/>
              </a:rPr>
              <a:t>It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teaches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live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50">
                <a:latin typeface="Microsoft Sans Serif"/>
                <a:cs typeface="Microsoft Sans Serif"/>
              </a:rPr>
              <a:t>a </a:t>
            </a:r>
            <a:r>
              <a:rPr dirty="0" sz="1300">
                <a:latin typeface="Microsoft Sans Serif"/>
                <a:cs typeface="Microsoft Sans Serif"/>
              </a:rPr>
              <a:t>good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life,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like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being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honest,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praying,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helping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others.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855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Quran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word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-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Allah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(God).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840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Revealed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Prophet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Muhammad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(PBUH)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over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23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years.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850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It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has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114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chapters called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Surahs.Teaches</a:t>
            </a:r>
            <a:r>
              <a:rPr dirty="0" sz="1300" spc="-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about faith,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worship,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 daily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life.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How</a:t>
            </a:r>
            <a:r>
              <a:rPr dirty="0" sz="1450" spc="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Was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the</a:t>
            </a:r>
            <a:r>
              <a:rPr dirty="0" sz="1450" spc="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Quran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Collected?</a:t>
            </a:r>
            <a:endParaRPr sz="1450">
              <a:latin typeface="Trebuchet MS"/>
              <a:cs typeface="Trebuchet MS"/>
            </a:endParaRPr>
          </a:p>
          <a:p>
            <a:pPr lvl="1" marL="248920" marR="5080" indent="-236220">
              <a:lnSpc>
                <a:spcPct val="101499"/>
              </a:lnSpc>
              <a:spcBef>
                <a:spcPts val="835"/>
              </a:spcBef>
              <a:buClr>
                <a:srgbClr val="90C126"/>
              </a:buClr>
              <a:buSzPct val="80769"/>
              <a:buChar char="•"/>
              <a:tabLst>
                <a:tab pos="248920" algn="l"/>
              </a:tabLst>
            </a:pPr>
            <a:r>
              <a:rPr dirty="0" sz="1300">
                <a:latin typeface="Microsoft Sans Serif"/>
                <a:cs typeface="Microsoft Sans Serif"/>
              </a:rPr>
              <a:t>During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Prophet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Muhammad's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(PBUH)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life,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Quran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was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memorized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written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materials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like </a:t>
            </a:r>
            <a:r>
              <a:rPr dirty="0" sz="1300">
                <a:latin typeface="Microsoft Sans Serif"/>
                <a:cs typeface="Microsoft Sans Serif"/>
              </a:rPr>
              <a:t>leaves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bones.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850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After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his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death,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Caliph</a:t>
            </a:r>
            <a:r>
              <a:rPr dirty="0" sz="1300" spc="-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Abu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Bakr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asked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Zayd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ibn</a:t>
            </a:r>
            <a:r>
              <a:rPr dirty="0" sz="1300" spc="-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Thabit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collect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it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into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book.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850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Later,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Caliph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Uthman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made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copies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send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different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places.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185" y="1241524"/>
            <a:ext cx="695515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/>
              <a:t>Shariah:</a:t>
            </a:r>
            <a:r>
              <a:rPr dirty="0" sz="1950" spc="-10"/>
              <a:t> </a:t>
            </a:r>
            <a:r>
              <a:rPr dirty="0" sz="1950"/>
              <a:t>The</a:t>
            </a:r>
            <a:r>
              <a:rPr dirty="0" sz="1950" spc="20"/>
              <a:t> </a:t>
            </a:r>
            <a:r>
              <a:rPr dirty="0" sz="1950"/>
              <a:t>Path</a:t>
            </a:r>
            <a:r>
              <a:rPr dirty="0" sz="1950" spc="45"/>
              <a:t> </a:t>
            </a:r>
            <a:r>
              <a:rPr dirty="0" sz="1950"/>
              <a:t>of</a:t>
            </a:r>
            <a:r>
              <a:rPr dirty="0" sz="1950" spc="35"/>
              <a:t> </a:t>
            </a:r>
            <a:r>
              <a:rPr dirty="0" sz="1950"/>
              <a:t>Islamic</a:t>
            </a:r>
            <a:r>
              <a:rPr dirty="0" sz="1950" spc="25"/>
              <a:t> </a:t>
            </a:r>
            <a:r>
              <a:rPr dirty="0" sz="1950"/>
              <a:t>Law</a:t>
            </a:r>
            <a:r>
              <a:rPr dirty="0" sz="1950" spc="20"/>
              <a:t> </a:t>
            </a:r>
            <a:r>
              <a:rPr dirty="0" sz="1950"/>
              <a:t>(The</a:t>
            </a:r>
            <a:r>
              <a:rPr dirty="0" sz="1950" spc="40"/>
              <a:t> </a:t>
            </a:r>
            <a:r>
              <a:rPr dirty="0" sz="1950"/>
              <a:t>Quran</a:t>
            </a:r>
            <a:r>
              <a:rPr dirty="0" sz="1950" spc="30"/>
              <a:t> </a:t>
            </a:r>
            <a:r>
              <a:rPr dirty="0" sz="1950"/>
              <a:t>&amp;</a:t>
            </a:r>
            <a:r>
              <a:rPr dirty="0" sz="1950" spc="-5"/>
              <a:t> </a:t>
            </a:r>
            <a:r>
              <a:rPr dirty="0" sz="1950"/>
              <a:t>The</a:t>
            </a:r>
            <a:r>
              <a:rPr dirty="0" sz="1950" spc="-5"/>
              <a:t> </a:t>
            </a:r>
            <a:r>
              <a:rPr dirty="0" sz="1950" spc="-10"/>
              <a:t>Hadith)</a:t>
            </a:r>
            <a:endParaRPr sz="1950"/>
          </a:p>
        </p:txBody>
      </p:sp>
      <p:sp>
        <p:nvSpPr>
          <p:cNvPr id="3" name="object 3" descr=""/>
          <p:cNvSpPr txBox="1"/>
          <p:nvPr/>
        </p:nvSpPr>
        <p:spPr>
          <a:xfrm>
            <a:off x="298169" y="1581105"/>
            <a:ext cx="7386320" cy="461010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2147570">
              <a:lnSpc>
                <a:spcPct val="100000"/>
              </a:lnSpc>
              <a:spcBef>
                <a:spcPts val="78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Main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Sources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Shariah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(Islamic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0070BF"/>
                </a:solidFill>
                <a:latin typeface="Trebuchet MS"/>
                <a:cs typeface="Trebuchet MS"/>
              </a:rPr>
              <a:t>Law)</a:t>
            </a:r>
            <a:endParaRPr sz="1450">
              <a:latin typeface="Trebuchet MS"/>
              <a:cs typeface="Trebuchet MS"/>
            </a:endParaRPr>
          </a:p>
          <a:p>
            <a:pPr marL="390525" indent="-377825">
              <a:lnSpc>
                <a:spcPct val="100000"/>
              </a:lnSpc>
              <a:spcBef>
                <a:spcPts val="700"/>
              </a:spcBef>
              <a:buAutoNum type="arabicPeriod" startAt="2"/>
              <a:tabLst>
                <a:tab pos="39052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The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Second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Source:</a:t>
            </a:r>
            <a:endParaRPr sz="1450">
              <a:latin typeface="Trebuchet MS"/>
              <a:cs typeface="Trebuchet MS"/>
            </a:endParaRPr>
          </a:p>
          <a:p>
            <a:pPr marL="12700" marR="5080" indent="-635">
              <a:lnSpc>
                <a:spcPts val="1460"/>
              </a:lnSpc>
              <a:spcBef>
                <a:spcPts val="96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The Hadith</a:t>
            </a:r>
            <a:r>
              <a:rPr dirty="0" sz="1450" spc="4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-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holy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book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from</a:t>
            </a:r>
            <a:r>
              <a:rPr dirty="0" sz="1300" spc="-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Allah,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sent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Prophet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Muhammad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60">
                <a:latin typeface="Microsoft Sans Serif"/>
                <a:cs typeface="Microsoft Sans Serif"/>
              </a:rPr>
              <a:t>.</a:t>
            </a:r>
            <a:r>
              <a:rPr dirty="0" sz="1300" spc="-60">
                <a:latin typeface="Microsoft Sans Serif"/>
                <a:cs typeface="Microsoft Sans Serif"/>
              </a:rPr>
              <a:t>ﷺ</a:t>
            </a:r>
            <a:r>
              <a:rPr dirty="0" sz="1300" spc="-60">
                <a:latin typeface="Microsoft Sans Serif"/>
                <a:cs typeface="Microsoft Sans Serif"/>
              </a:rPr>
              <a:t>It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teaches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live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50">
                <a:latin typeface="Microsoft Sans Serif"/>
                <a:cs typeface="Microsoft Sans Serif"/>
              </a:rPr>
              <a:t>a </a:t>
            </a:r>
            <a:r>
              <a:rPr dirty="0" sz="1300">
                <a:latin typeface="Microsoft Sans Serif"/>
                <a:cs typeface="Microsoft Sans Serif"/>
              </a:rPr>
              <a:t>good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life,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like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being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honest,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praying,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helping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others.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Hadith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sayings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actions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Prophet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Muhammad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(PBUH).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685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explain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Quran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show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practice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Islam.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695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Help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Muslims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understand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pray,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fast,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live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rightly.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How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Were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Hadith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Collected?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>
                <a:latin typeface="Microsoft Sans Serif"/>
                <a:cs typeface="Microsoft Sans Serif"/>
              </a:rPr>
              <a:t>After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Prophet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Passed</a:t>
            </a:r>
            <a:r>
              <a:rPr dirty="0" sz="1300" spc="-25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Away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685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His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companions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remembered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what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said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did.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695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Later,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scholars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wrote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these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down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so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would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forgotten.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Famous</a:t>
            </a:r>
            <a:r>
              <a:rPr dirty="0" sz="1450" spc="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Books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Hadith:</a:t>
            </a:r>
            <a:endParaRPr sz="1450">
              <a:latin typeface="Trebuchet MS"/>
              <a:cs typeface="Trebuchet MS"/>
            </a:endParaRPr>
          </a:p>
          <a:p>
            <a:pPr lvl="1" marL="248285" indent="-235585">
              <a:lnSpc>
                <a:spcPct val="100000"/>
              </a:lnSpc>
              <a:spcBef>
                <a:spcPts val="700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Sahih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al-</a:t>
            </a:r>
            <a:r>
              <a:rPr dirty="0" sz="1300">
                <a:latin typeface="Microsoft Sans Serif"/>
                <a:cs typeface="Microsoft Sans Serif"/>
              </a:rPr>
              <a:t>Bukhari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355">
                <a:latin typeface="Microsoft Sans Serif"/>
                <a:cs typeface="Microsoft Sans Serif"/>
              </a:rPr>
              <a:t>–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Collected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Imam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Bukhari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685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Sahih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Muslim</a:t>
            </a:r>
            <a:r>
              <a:rPr dirty="0" sz="1300" spc="415">
                <a:latin typeface="Microsoft Sans Serif"/>
                <a:cs typeface="Microsoft Sans Serif"/>
              </a:rPr>
              <a:t> </a:t>
            </a:r>
            <a:r>
              <a:rPr dirty="0" sz="1300" spc="355">
                <a:latin typeface="Microsoft Sans Serif"/>
                <a:cs typeface="Microsoft Sans Serif"/>
              </a:rPr>
              <a:t>–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Collected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by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Imam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Muslim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695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Sunan</a:t>
            </a:r>
            <a:r>
              <a:rPr dirty="0" sz="1300" spc="-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Abu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Dawood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 spc="355">
                <a:latin typeface="Microsoft Sans Serif"/>
                <a:cs typeface="Microsoft Sans Serif"/>
              </a:rPr>
              <a:t>–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Collected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by</a:t>
            </a:r>
            <a:r>
              <a:rPr dirty="0" sz="1300" spc="-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Abu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Dawood</a:t>
            </a:r>
            <a:endParaRPr sz="13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700"/>
              </a:spcBef>
              <a:buClr>
                <a:srgbClr val="90C126"/>
              </a:buClr>
              <a:buSzPct val="80769"/>
              <a:buChar char="•"/>
              <a:tabLst>
                <a:tab pos="248285" algn="l"/>
              </a:tabLst>
            </a:pPr>
            <a:r>
              <a:rPr dirty="0" sz="1300">
                <a:latin typeface="Microsoft Sans Serif"/>
                <a:cs typeface="Microsoft Sans Serif"/>
              </a:rPr>
              <a:t>Jami' at-Tirmidhi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 spc="355">
                <a:latin typeface="Microsoft Sans Serif"/>
                <a:cs typeface="Microsoft Sans Serif"/>
              </a:rPr>
              <a:t>–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Collected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by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Imam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Tirmidhi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185" y="1241524"/>
            <a:ext cx="695515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/>
              <a:t>Shariah:</a:t>
            </a:r>
            <a:r>
              <a:rPr dirty="0" sz="1950" spc="-10"/>
              <a:t> </a:t>
            </a:r>
            <a:r>
              <a:rPr dirty="0" sz="1950"/>
              <a:t>The</a:t>
            </a:r>
            <a:r>
              <a:rPr dirty="0" sz="1950" spc="20"/>
              <a:t> </a:t>
            </a:r>
            <a:r>
              <a:rPr dirty="0" sz="1950"/>
              <a:t>Path</a:t>
            </a:r>
            <a:r>
              <a:rPr dirty="0" sz="1950" spc="45"/>
              <a:t> </a:t>
            </a:r>
            <a:r>
              <a:rPr dirty="0" sz="1950"/>
              <a:t>of</a:t>
            </a:r>
            <a:r>
              <a:rPr dirty="0" sz="1950" spc="35"/>
              <a:t> </a:t>
            </a:r>
            <a:r>
              <a:rPr dirty="0" sz="1950"/>
              <a:t>Islamic</a:t>
            </a:r>
            <a:r>
              <a:rPr dirty="0" sz="1950" spc="25"/>
              <a:t> </a:t>
            </a:r>
            <a:r>
              <a:rPr dirty="0" sz="1950"/>
              <a:t>Law</a:t>
            </a:r>
            <a:r>
              <a:rPr dirty="0" sz="1950" spc="20"/>
              <a:t> </a:t>
            </a:r>
            <a:r>
              <a:rPr dirty="0" sz="1950"/>
              <a:t>(The</a:t>
            </a:r>
            <a:r>
              <a:rPr dirty="0" sz="1950" spc="40"/>
              <a:t> </a:t>
            </a:r>
            <a:r>
              <a:rPr dirty="0" sz="1950"/>
              <a:t>Quran</a:t>
            </a:r>
            <a:r>
              <a:rPr dirty="0" sz="1950" spc="30"/>
              <a:t> </a:t>
            </a:r>
            <a:r>
              <a:rPr dirty="0" sz="1950"/>
              <a:t>&amp;</a:t>
            </a:r>
            <a:r>
              <a:rPr dirty="0" sz="1950" spc="-5"/>
              <a:t> </a:t>
            </a:r>
            <a:r>
              <a:rPr dirty="0" sz="1950"/>
              <a:t>The</a:t>
            </a:r>
            <a:r>
              <a:rPr dirty="0" sz="1950" spc="-5"/>
              <a:t> </a:t>
            </a:r>
            <a:r>
              <a:rPr dirty="0" sz="1950" spc="-10"/>
              <a:t>Hadith)</a:t>
            </a:r>
            <a:endParaRPr sz="1950"/>
          </a:p>
        </p:txBody>
      </p:sp>
      <p:sp>
        <p:nvSpPr>
          <p:cNvPr id="3" name="object 3" descr=""/>
          <p:cNvSpPr txBox="1"/>
          <p:nvPr/>
        </p:nvSpPr>
        <p:spPr>
          <a:xfrm>
            <a:off x="298147" y="1593052"/>
            <a:ext cx="7195184" cy="467550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078480">
              <a:lnSpc>
                <a:spcPct val="100000"/>
              </a:lnSpc>
              <a:spcBef>
                <a:spcPts val="869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Main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Sources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Shariah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(Islamic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0070BF"/>
                </a:solidFill>
                <a:latin typeface="Trebuchet MS"/>
                <a:cs typeface="Trebuchet MS"/>
              </a:rPr>
              <a:t>Law)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Types</a:t>
            </a:r>
            <a:r>
              <a:rPr dirty="0" sz="1650" spc="-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650" spc="-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Hadith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 b="1">
                <a:solidFill>
                  <a:srgbClr val="0070BF"/>
                </a:solidFill>
                <a:latin typeface="Arial"/>
                <a:cs typeface="Arial"/>
              </a:rPr>
              <a:t>Sahih</a:t>
            </a:r>
            <a:r>
              <a:rPr dirty="0" sz="1450" spc="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Arial"/>
                <a:cs typeface="Arial"/>
              </a:rPr>
              <a:t>(Authentic)</a:t>
            </a:r>
            <a:endParaRPr sz="1450">
              <a:latin typeface="Arial"/>
              <a:cs typeface="Arial"/>
            </a:endParaRPr>
          </a:p>
          <a:p>
            <a:pPr marL="12700" marR="1928495">
              <a:lnSpc>
                <a:spcPct val="149700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Hadith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strong,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true,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comes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from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honest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people. </a:t>
            </a:r>
            <a:r>
              <a:rPr dirty="0" sz="1450">
                <a:latin typeface="Microsoft Sans Serif"/>
                <a:cs typeface="Microsoft Sans Serif"/>
              </a:rPr>
              <a:t>Example: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Used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books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like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Sahih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Bukhari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Sahih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Muslim.. </a:t>
            </a:r>
            <a:r>
              <a:rPr dirty="0" sz="1450" b="1">
                <a:solidFill>
                  <a:srgbClr val="0070BF"/>
                </a:solidFill>
                <a:latin typeface="Arial"/>
                <a:cs typeface="Arial"/>
              </a:rPr>
              <a:t>Hasan</a:t>
            </a:r>
            <a:r>
              <a:rPr dirty="0" sz="145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Arial"/>
                <a:cs typeface="Arial"/>
              </a:rPr>
              <a:t>(Good)</a:t>
            </a:r>
            <a:endParaRPr sz="1450">
              <a:latin typeface="Arial"/>
              <a:cs typeface="Arial"/>
            </a:endParaRPr>
          </a:p>
          <a:p>
            <a:pPr marL="12700" marR="2475230" indent="48260">
              <a:lnSpc>
                <a:spcPts val="2620"/>
              </a:lnSpc>
              <a:spcBef>
                <a:spcPts val="220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Hadith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good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but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strong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Sahih. </a:t>
            </a:r>
            <a:r>
              <a:rPr dirty="0" sz="1450">
                <a:latin typeface="Microsoft Sans Serif"/>
                <a:cs typeface="Microsoft Sans Serif"/>
              </a:rPr>
              <a:t>Scholars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still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accept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it.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450" b="1">
                <a:solidFill>
                  <a:srgbClr val="0070BF"/>
                </a:solidFill>
                <a:latin typeface="Arial"/>
                <a:cs typeface="Arial"/>
              </a:rPr>
              <a:t>Da'if</a:t>
            </a:r>
            <a:r>
              <a:rPr dirty="0" sz="145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Arial"/>
                <a:cs typeface="Arial"/>
              </a:rPr>
              <a:t>(Weak)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Hadith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weak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chain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mistake.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used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making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Islamic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laws,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but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sometimes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used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personal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advice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(with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care).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 b="1">
                <a:solidFill>
                  <a:srgbClr val="0070BF"/>
                </a:solidFill>
                <a:latin typeface="Arial"/>
                <a:cs typeface="Arial"/>
              </a:rPr>
              <a:t>Mawdu'</a:t>
            </a:r>
            <a:r>
              <a:rPr dirty="0" sz="1450" spc="1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070BF"/>
                </a:solidFill>
                <a:latin typeface="Arial"/>
                <a:cs typeface="Arial"/>
              </a:rPr>
              <a:t>(Made-</a:t>
            </a:r>
            <a:r>
              <a:rPr dirty="0" sz="1450" spc="-10" b="1">
                <a:solidFill>
                  <a:srgbClr val="0070BF"/>
                </a:solidFill>
                <a:latin typeface="Arial"/>
                <a:cs typeface="Arial"/>
              </a:rPr>
              <a:t>up/Fake)</a:t>
            </a:r>
            <a:endParaRPr sz="1450">
              <a:latin typeface="Arial"/>
              <a:cs typeface="Arial"/>
            </a:endParaRPr>
          </a:p>
          <a:p>
            <a:pPr marL="12700" marR="2828290">
              <a:lnSpc>
                <a:spcPct val="149700"/>
              </a:lnSpc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Hadith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true.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was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made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up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by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someone. </a:t>
            </a:r>
            <a:r>
              <a:rPr dirty="0" sz="1450">
                <a:latin typeface="Microsoft Sans Serif"/>
                <a:cs typeface="Microsoft Sans Serif"/>
              </a:rPr>
              <a:t>Muslims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should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follow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type</a:t>
            </a:r>
            <a:r>
              <a:rPr dirty="0" sz="1450" spc="9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Hadith.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185" y="1241524"/>
            <a:ext cx="695515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/>
              <a:t>Shariah:</a:t>
            </a:r>
            <a:r>
              <a:rPr dirty="0" sz="1950" spc="-10"/>
              <a:t> </a:t>
            </a:r>
            <a:r>
              <a:rPr dirty="0" sz="1950"/>
              <a:t>The</a:t>
            </a:r>
            <a:r>
              <a:rPr dirty="0" sz="1950" spc="20"/>
              <a:t> </a:t>
            </a:r>
            <a:r>
              <a:rPr dirty="0" sz="1950"/>
              <a:t>Path</a:t>
            </a:r>
            <a:r>
              <a:rPr dirty="0" sz="1950" spc="45"/>
              <a:t> </a:t>
            </a:r>
            <a:r>
              <a:rPr dirty="0" sz="1950"/>
              <a:t>of</a:t>
            </a:r>
            <a:r>
              <a:rPr dirty="0" sz="1950" spc="35"/>
              <a:t> </a:t>
            </a:r>
            <a:r>
              <a:rPr dirty="0" sz="1950"/>
              <a:t>Islamic</a:t>
            </a:r>
            <a:r>
              <a:rPr dirty="0" sz="1950" spc="25"/>
              <a:t> </a:t>
            </a:r>
            <a:r>
              <a:rPr dirty="0" sz="1950"/>
              <a:t>Law</a:t>
            </a:r>
            <a:r>
              <a:rPr dirty="0" sz="1950" spc="20"/>
              <a:t> </a:t>
            </a:r>
            <a:r>
              <a:rPr dirty="0" sz="1950"/>
              <a:t>(The</a:t>
            </a:r>
            <a:r>
              <a:rPr dirty="0" sz="1950" spc="40"/>
              <a:t> </a:t>
            </a:r>
            <a:r>
              <a:rPr dirty="0" sz="1950"/>
              <a:t>Quran</a:t>
            </a:r>
            <a:r>
              <a:rPr dirty="0" sz="1950" spc="30"/>
              <a:t> </a:t>
            </a:r>
            <a:r>
              <a:rPr dirty="0" sz="1950"/>
              <a:t>&amp;</a:t>
            </a:r>
            <a:r>
              <a:rPr dirty="0" sz="1950" spc="-5"/>
              <a:t> </a:t>
            </a:r>
            <a:r>
              <a:rPr dirty="0" sz="1950"/>
              <a:t>The</a:t>
            </a:r>
            <a:r>
              <a:rPr dirty="0" sz="1950" spc="-5"/>
              <a:t> </a:t>
            </a:r>
            <a:r>
              <a:rPr dirty="0" sz="1950" spc="-10"/>
              <a:t>Hadith)</a:t>
            </a:r>
            <a:endParaRPr sz="1950"/>
          </a:p>
        </p:txBody>
      </p:sp>
      <p:sp>
        <p:nvSpPr>
          <p:cNvPr id="3" name="object 3" descr=""/>
          <p:cNvSpPr txBox="1"/>
          <p:nvPr/>
        </p:nvSpPr>
        <p:spPr>
          <a:xfrm>
            <a:off x="2509561" y="1665209"/>
            <a:ext cx="31489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Main</a:t>
            </a:r>
            <a:r>
              <a:rPr dirty="0" sz="1400" spc="-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Sources</a:t>
            </a:r>
            <a:r>
              <a:rPr dirty="0" sz="140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00" spc="-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Shariah</a:t>
            </a:r>
            <a:r>
              <a:rPr dirty="0" sz="1400" spc="-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(Islamic</a:t>
            </a:r>
            <a:r>
              <a:rPr dirty="0" sz="1400" spc="-20" b="1">
                <a:solidFill>
                  <a:srgbClr val="0070BF"/>
                </a:solidFill>
                <a:latin typeface="Trebuchet MS"/>
                <a:cs typeface="Trebuchet MS"/>
              </a:rPr>
              <a:t> Law)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8178" y="1862776"/>
            <a:ext cx="3222625" cy="118681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How</a:t>
            </a:r>
            <a:r>
              <a:rPr dirty="0" sz="1400" spc="-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Quran</a:t>
            </a:r>
            <a:r>
              <a:rPr dirty="0" sz="1400" spc="-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0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Hadith</a:t>
            </a:r>
            <a:r>
              <a:rPr dirty="0" sz="1400" spc="-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Work</a:t>
            </a:r>
            <a:r>
              <a:rPr dirty="0" sz="1400" spc="-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0070BF"/>
                </a:solidFill>
                <a:latin typeface="Trebuchet MS"/>
                <a:cs typeface="Trebuchet MS"/>
              </a:rPr>
              <a:t>Together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6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Quran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gives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general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rules.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6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Hadith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explains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how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to</a:t>
            </a:r>
            <a:r>
              <a:rPr dirty="0" sz="1200" spc="6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follow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those</a:t>
            </a:r>
            <a:r>
              <a:rPr dirty="0" sz="1200" spc="7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rules.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Other</a:t>
            </a:r>
            <a:r>
              <a:rPr dirty="0" u="sng" sz="1400" spc="-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Sources</a:t>
            </a:r>
            <a:r>
              <a:rPr dirty="0" u="sng" sz="140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0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Fiqh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8178" y="3008870"/>
            <a:ext cx="7502525" cy="346964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Ijma’</a:t>
            </a:r>
            <a:r>
              <a:rPr dirty="0" u="sng" sz="140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(Consensus</a:t>
            </a:r>
            <a:r>
              <a:rPr dirty="0" u="sng" sz="14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Scholars)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r>
              <a:rPr dirty="0" sz="140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Ijma'</a:t>
            </a:r>
            <a:r>
              <a:rPr dirty="0" sz="1200" spc="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means</a:t>
            </a:r>
            <a:r>
              <a:rPr dirty="0" sz="1200" spc="5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that</a:t>
            </a:r>
            <a:r>
              <a:rPr dirty="0" sz="1200" spc="4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all</a:t>
            </a:r>
            <a:r>
              <a:rPr dirty="0" sz="1200" spc="5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Islamic</a:t>
            </a:r>
            <a:r>
              <a:rPr dirty="0" sz="1200" spc="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scholars</a:t>
            </a:r>
            <a:r>
              <a:rPr dirty="0" sz="1200" spc="4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agree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on</a:t>
            </a:r>
            <a:r>
              <a:rPr dirty="0" sz="1200" spc="6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</a:t>
            </a:r>
            <a:r>
              <a:rPr dirty="0" sz="1200" spc="4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religious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issue.</a:t>
            </a:r>
            <a:endParaRPr sz="1200">
              <a:latin typeface="Microsoft Sans Serif"/>
              <a:cs typeface="Microsoft Sans Serif"/>
            </a:endParaRPr>
          </a:p>
          <a:p>
            <a:pPr marL="12700" marR="267335">
              <a:lnSpc>
                <a:spcPts val="1330"/>
              </a:lnSpc>
              <a:spcBef>
                <a:spcPts val="850"/>
              </a:spcBef>
            </a:pPr>
            <a:r>
              <a:rPr dirty="0" sz="1200" b="1">
                <a:latin typeface="Arial"/>
                <a:cs typeface="Arial"/>
              </a:rPr>
              <a:t>Issue</a:t>
            </a:r>
            <a:r>
              <a:rPr dirty="0" sz="1200">
                <a:latin typeface="Microsoft Sans Serif"/>
                <a:cs typeface="Microsoft Sans Serif"/>
              </a:rPr>
              <a:t>: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During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Prophet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Muhammad's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(PBUH)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time,</a:t>
            </a:r>
            <a:r>
              <a:rPr dirty="0" sz="1200" spc="1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Tarawih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prayers</a:t>
            </a:r>
            <a:r>
              <a:rPr dirty="0" sz="1200" spc="14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were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performed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individually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or</a:t>
            </a:r>
            <a:r>
              <a:rPr dirty="0" sz="1200" spc="80">
                <a:latin typeface="Microsoft Sans Serif"/>
                <a:cs typeface="Microsoft Sans Serif"/>
              </a:rPr>
              <a:t> </a:t>
            </a:r>
            <a:r>
              <a:rPr dirty="0" sz="1200" spc="-25">
                <a:latin typeface="Microsoft Sans Serif"/>
                <a:cs typeface="Microsoft Sans Serif"/>
              </a:rPr>
              <a:t>in </a:t>
            </a:r>
            <a:r>
              <a:rPr dirty="0" sz="1200">
                <a:latin typeface="Microsoft Sans Serif"/>
                <a:cs typeface="Microsoft Sans Serif"/>
              </a:rPr>
              <a:t>small</a:t>
            </a:r>
            <a:r>
              <a:rPr dirty="0" sz="1200" spc="6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groups.</a:t>
            </a:r>
            <a:endParaRPr sz="1200">
              <a:latin typeface="Microsoft Sans Serif"/>
              <a:cs typeface="Microsoft Sans Serif"/>
            </a:endParaRPr>
          </a:p>
          <a:p>
            <a:pPr marL="12700" marR="5080">
              <a:lnSpc>
                <a:spcPts val="1330"/>
              </a:lnSpc>
              <a:spcBef>
                <a:spcPts val="844"/>
              </a:spcBef>
            </a:pPr>
            <a:r>
              <a:rPr dirty="0" sz="1200" b="1">
                <a:latin typeface="Arial"/>
                <a:cs typeface="Arial"/>
              </a:rPr>
              <a:t>Ijma'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Application: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Caliph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Umar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ibn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al-Khattab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gathered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people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to</a:t>
            </a:r>
            <a:r>
              <a:rPr dirty="0" sz="1200" spc="5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perform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Tarawih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in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congregation,</a:t>
            </a:r>
            <a:r>
              <a:rPr dirty="0" sz="1200" spc="1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and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 spc="-25">
                <a:latin typeface="Microsoft Sans Serif"/>
                <a:cs typeface="Microsoft Sans Serif"/>
              </a:rPr>
              <a:t>the </a:t>
            </a:r>
            <a:r>
              <a:rPr dirty="0" sz="1200">
                <a:latin typeface="Microsoft Sans Serif"/>
                <a:cs typeface="Microsoft Sans Serif"/>
              </a:rPr>
              <a:t>companions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agreed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with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this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practice.</a:t>
            </a:r>
            <a:endParaRPr sz="1200">
              <a:latin typeface="Microsoft Sans Serif"/>
              <a:cs typeface="Microsoft Sans Serif"/>
            </a:endParaRPr>
          </a:p>
          <a:p>
            <a:pPr marL="12700" marR="508000">
              <a:lnSpc>
                <a:spcPts val="1330"/>
              </a:lnSpc>
              <a:spcBef>
                <a:spcPts val="835"/>
              </a:spcBef>
            </a:pPr>
            <a:r>
              <a:rPr dirty="0" sz="1200" b="1">
                <a:latin typeface="Arial"/>
                <a:cs typeface="Arial"/>
              </a:rPr>
              <a:t>Outcome</a:t>
            </a:r>
            <a:r>
              <a:rPr dirty="0" sz="1200">
                <a:latin typeface="Microsoft Sans Serif"/>
                <a:cs typeface="Microsoft Sans Serif"/>
              </a:rPr>
              <a:t>:</a:t>
            </a:r>
            <a:r>
              <a:rPr dirty="0" sz="1200" spc="5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collective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agreement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(Ijma')</a:t>
            </a:r>
            <a:r>
              <a:rPr dirty="0" sz="1200" spc="6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established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practice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of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performing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Tarawih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prayers</a:t>
            </a:r>
            <a:r>
              <a:rPr dirty="0" sz="1200" spc="155">
                <a:latin typeface="Microsoft Sans Serif"/>
                <a:cs typeface="Microsoft Sans Serif"/>
              </a:rPr>
              <a:t> </a:t>
            </a:r>
            <a:r>
              <a:rPr dirty="0" sz="1200" spc="-25">
                <a:latin typeface="Microsoft Sans Serif"/>
                <a:cs typeface="Microsoft Sans Serif"/>
              </a:rPr>
              <a:t>in </a:t>
            </a:r>
            <a:r>
              <a:rPr dirty="0" sz="1200">
                <a:latin typeface="Microsoft Sans Serif"/>
                <a:cs typeface="Microsoft Sans Serif"/>
              </a:rPr>
              <a:t>congregation</a:t>
            </a:r>
            <a:r>
              <a:rPr dirty="0" sz="1200" spc="16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during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Ramadan.</a:t>
            </a:r>
            <a:endParaRPr sz="1200">
              <a:latin typeface="Microsoft Sans Serif"/>
              <a:cs typeface="Microsoft Sans Serif"/>
            </a:endParaRPr>
          </a:p>
          <a:p>
            <a:pPr marL="12700" marR="168275">
              <a:lnSpc>
                <a:spcPts val="1380"/>
              </a:lnSpc>
              <a:spcBef>
                <a:spcPts val="935"/>
              </a:spcBef>
            </a:pP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Qiyas</a:t>
            </a:r>
            <a:r>
              <a:rPr dirty="0" u="sng" sz="14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(Analogical</a:t>
            </a:r>
            <a:r>
              <a:rPr dirty="0" u="sng" sz="14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Reasoning)</a:t>
            </a:r>
            <a:r>
              <a:rPr dirty="0" sz="140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r>
              <a:rPr dirty="0" sz="140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Qiyas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is</a:t>
            </a:r>
            <a:r>
              <a:rPr dirty="0" sz="1200" spc="5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using</a:t>
            </a:r>
            <a:r>
              <a:rPr dirty="0" sz="1200" spc="5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known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Islamic</a:t>
            </a:r>
            <a:r>
              <a:rPr dirty="0" sz="1200" spc="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rules</a:t>
            </a:r>
            <a:r>
              <a:rPr dirty="0" sz="1200" spc="7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to</a:t>
            </a:r>
            <a:r>
              <a:rPr dirty="0" sz="1200" spc="4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decide</a:t>
            </a:r>
            <a:r>
              <a:rPr dirty="0" sz="1200" spc="6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on</a:t>
            </a:r>
            <a:r>
              <a:rPr dirty="0" sz="1200" spc="5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new</a:t>
            </a:r>
            <a:r>
              <a:rPr dirty="0" sz="1200" spc="7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issues</a:t>
            </a:r>
            <a:r>
              <a:rPr dirty="0" sz="1200" spc="6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by</a:t>
            </a:r>
            <a:r>
              <a:rPr dirty="0" sz="1200" spc="6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finding similarities.</a:t>
            </a:r>
            <a:endParaRPr sz="1200">
              <a:latin typeface="Microsoft Sans Serif"/>
              <a:cs typeface="Microsoft Sans Serif"/>
            </a:endParaRPr>
          </a:p>
          <a:p>
            <a:pPr marL="12700" marR="245745">
              <a:lnSpc>
                <a:spcPts val="1330"/>
              </a:lnSpc>
              <a:spcBef>
                <a:spcPts val="819"/>
              </a:spcBef>
            </a:pPr>
            <a:r>
              <a:rPr dirty="0" sz="1200" b="1">
                <a:latin typeface="Arial"/>
                <a:cs typeface="Arial"/>
              </a:rPr>
              <a:t>Issue</a:t>
            </a:r>
            <a:r>
              <a:rPr dirty="0" sz="1200">
                <a:latin typeface="Microsoft Sans Serif"/>
                <a:cs typeface="Microsoft Sans Serif"/>
              </a:rPr>
              <a:t>:</a:t>
            </a:r>
            <a:r>
              <a:rPr dirty="0" sz="1200" spc="1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After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Prophet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Muhammad's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(PBUH)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death,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there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was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concern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about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preserving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Qur'an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 spc="-25">
                <a:latin typeface="Microsoft Sans Serif"/>
                <a:cs typeface="Microsoft Sans Serif"/>
              </a:rPr>
              <a:t>as </a:t>
            </a:r>
            <a:r>
              <a:rPr dirty="0" sz="1200">
                <a:latin typeface="Microsoft Sans Serif"/>
                <a:cs typeface="Microsoft Sans Serif"/>
              </a:rPr>
              <a:t>many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memorizers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were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passing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 spc="-20">
                <a:latin typeface="Microsoft Sans Serif"/>
                <a:cs typeface="Microsoft Sans Serif"/>
              </a:rPr>
              <a:t>away.</a:t>
            </a:r>
            <a:endParaRPr sz="1200">
              <a:latin typeface="Microsoft Sans Serif"/>
              <a:cs typeface="Microsoft Sans Serif"/>
            </a:endParaRPr>
          </a:p>
          <a:p>
            <a:pPr marL="12700" marR="760730">
              <a:lnSpc>
                <a:spcPts val="1340"/>
              </a:lnSpc>
              <a:spcBef>
                <a:spcPts val="825"/>
              </a:spcBef>
            </a:pPr>
            <a:r>
              <a:rPr dirty="0" sz="1200" b="1">
                <a:latin typeface="Arial"/>
                <a:cs typeface="Arial"/>
              </a:rPr>
              <a:t>Ijma' Application</a:t>
            </a:r>
            <a:r>
              <a:rPr dirty="0" sz="1200">
                <a:latin typeface="Microsoft Sans Serif"/>
                <a:cs typeface="Microsoft Sans Serif"/>
              </a:rPr>
              <a:t>: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6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companions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agreed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to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compile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Qur'an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into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</a:t>
            </a:r>
            <a:r>
              <a:rPr dirty="0" sz="1200" spc="8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single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book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to</a:t>
            </a:r>
            <a:r>
              <a:rPr dirty="0" sz="1200" spc="6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ensure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 spc="-25">
                <a:latin typeface="Microsoft Sans Serif"/>
                <a:cs typeface="Microsoft Sans Serif"/>
              </a:rPr>
              <a:t>its </a:t>
            </a:r>
            <a:r>
              <a:rPr dirty="0" sz="1200" spc="-10">
                <a:latin typeface="Microsoft Sans Serif"/>
                <a:cs typeface="Microsoft Sans Serif"/>
              </a:rPr>
              <a:t>preservation.</a:t>
            </a:r>
            <a:endParaRPr sz="1200">
              <a:latin typeface="Microsoft Sans Serif"/>
              <a:cs typeface="Microsoft Sans Serif"/>
            </a:endParaRPr>
          </a:p>
          <a:p>
            <a:pPr marL="12700" marR="306705">
              <a:lnSpc>
                <a:spcPts val="1330"/>
              </a:lnSpc>
              <a:spcBef>
                <a:spcPts val="830"/>
              </a:spcBef>
            </a:pPr>
            <a:r>
              <a:rPr dirty="0" sz="1200" b="1">
                <a:latin typeface="Arial"/>
                <a:cs typeface="Arial"/>
              </a:rPr>
              <a:t>Outcome</a:t>
            </a:r>
            <a:r>
              <a:rPr dirty="0" sz="1200">
                <a:latin typeface="Microsoft Sans Serif"/>
                <a:cs typeface="Microsoft Sans Serif"/>
              </a:rPr>
              <a:t>:</a:t>
            </a:r>
            <a:r>
              <a:rPr dirty="0" sz="1200" spc="5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Qur'an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was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compiled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during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Caliph</a:t>
            </a:r>
            <a:r>
              <a:rPr dirty="0" sz="1200" spc="4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Abu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Bakr's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time</a:t>
            </a:r>
            <a:r>
              <a:rPr dirty="0" sz="1200" spc="6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and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later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standardized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under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Caliph Uthman.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71607" y="1944146"/>
            <a:ext cx="84518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71647" y="2139240"/>
            <a:ext cx="3298825" cy="65786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875"/>
              </a:spcBef>
              <a:buChar char="•"/>
              <a:tabLst>
                <a:tab pos="248920" algn="l"/>
              </a:tabLst>
            </a:pPr>
            <a:r>
              <a:rPr dirty="0" sz="1300">
                <a:latin typeface="Microsoft Sans Serif"/>
                <a:cs typeface="Microsoft Sans Serif"/>
              </a:rPr>
              <a:t>Quran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says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pray.</a:t>
            </a:r>
            <a:endParaRPr sz="1300">
              <a:latin typeface="Microsoft Sans Serif"/>
              <a:cs typeface="Microsoft Sans Serif"/>
            </a:endParaRPr>
          </a:p>
          <a:p>
            <a:pPr marL="248920" indent="-236220">
              <a:lnSpc>
                <a:spcPct val="100000"/>
              </a:lnSpc>
              <a:spcBef>
                <a:spcPts val="895"/>
              </a:spcBef>
              <a:buChar char="•"/>
              <a:tabLst>
                <a:tab pos="248920" algn="l"/>
              </a:tabLst>
            </a:pPr>
            <a:r>
              <a:rPr dirty="0" sz="1300">
                <a:latin typeface="Microsoft Sans Serif"/>
                <a:cs typeface="Microsoft Sans Serif"/>
              </a:rPr>
              <a:t>Hadith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shows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perform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prayer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246" y="1259905"/>
            <a:ext cx="650875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7719" y="1531111"/>
            <a:ext cx="8097520" cy="426339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221865">
              <a:lnSpc>
                <a:spcPct val="100000"/>
              </a:lnSpc>
              <a:spcBef>
                <a:spcPts val="79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Understanding</a:t>
            </a:r>
            <a:r>
              <a:rPr dirty="0" u="sng" sz="145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Ijma</a:t>
            </a:r>
            <a:r>
              <a:rPr dirty="0" u="sng" sz="145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5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Today's</a:t>
            </a:r>
            <a:r>
              <a:rPr dirty="0" u="sng" sz="145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World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What</a:t>
            </a:r>
            <a:r>
              <a:rPr dirty="0" sz="165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is </a:t>
            </a:r>
            <a:r>
              <a:rPr dirty="0" sz="1650" spc="-20" b="1">
                <a:solidFill>
                  <a:srgbClr val="0070BF"/>
                </a:solidFill>
                <a:latin typeface="Trebuchet MS"/>
                <a:cs typeface="Trebuchet MS"/>
              </a:rPr>
              <a:t>Ijma?</a:t>
            </a:r>
            <a:endParaRPr sz="1650">
              <a:latin typeface="Trebuchet MS"/>
              <a:cs typeface="Trebuchet MS"/>
            </a:endParaRPr>
          </a:p>
          <a:p>
            <a:pPr marL="12700" marR="626745">
              <a:lnSpc>
                <a:spcPts val="1789"/>
              </a:lnSpc>
              <a:spcBef>
                <a:spcPts val="6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Ijma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-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عامجإ</a:t>
            </a:r>
            <a:r>
              <a:rPr dirty="0" sz="1450" spc="1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agreement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religious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issue.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main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sources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along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Qur’an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holy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book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Sunnah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practices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.</a:t>
            </a:r>
            <a:r>
              <a:rPr dirty="0" sz="1450" spc="-25">
                <a:latin typeface="Microsoft Sans Serif"/>
                <a:cs typeface="Microsoft Sans Serif"/>
              </a:rPr>
              <a:t>ﷺ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Qiyas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Reasoning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analogy.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Ijma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understand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apply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situations.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Examples</a:t>
            </a:r>
            <a:r>
              <a:rPr dirty="0" sz="1650" spc="-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650" spc="-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Ijma</a:t>
            </a:r>
            <a:r>
              <a:rPr dirty="0" sz="1650" spc="-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Islamic</a:t>
            </a:r>
            <a:endParaRPr sz="1650">
              <a:latin typeface="Trebuchet MS"/>
              <a:cs typeface="Trebuchet MS"/>
            </a:endParaRPr>
          </a:p>
          <a:p>
            <a:pPr marL="12700" marR="141605">
              <a:lnSpc>
                <a:spcPts val="1789"/>
              </a:lnSpc>
              <a:spcBef>
                <a:spcPts val="6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Banking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charging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interest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(riba)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prohibited.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consensus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development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banking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comply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Shariah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law.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3800"/>
              </a:lnSpc>
              <a:spcBef>
                <a:spcPts val="5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Organ</a:t>
            </a:r>
            <a:r>
              <a:rPr dirty="0" sz="1450" spc="1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Donation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Initially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debated,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now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organ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donation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permissible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ethical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guidelines.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aligns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Qur’anic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saving </a:t>
            </a:r>
            <a:r>
              <a:rPr dirty="0" sz="1450">
                <a:latin typeface="Trebuchet MS"/>
                <a:cs typeface="Trebuchet MS"/>
              </a:rPr>
              <a:t>human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  <a:p>
            <a:pPr marL="12700" marR="391160">
              <a:lnSpc>
                <a:spcPts val="1789"/>
              </a:lnSpc>
              <a:spcBef>
                <a:spcPts val="5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Use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Technology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in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Worship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discuss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Qur’an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recitation.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consensus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technology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assist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replace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human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elements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worship.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634" y="2218476"/>
            <a:ext cx="309054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1.</a:t>
            </a:r>
            <a:r>
              <a:rPr dirty="0" sz="1450" spc="4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Ijma</a:t>
            </a:r>
            <a:r>
              <a:rPr dirty="0" u="sng" sz="145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Qawli</a:t>
            </a:r>
            <a:r>
              <a:rPr dirty="0" u="sng" sz="145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(Spoken</a:t>
            </a:r>
            <a:r>
              <a:rPr dirty="0" u="sng" sz="14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Agreement)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1653" y="2672571"/>
            <a:ext cx="3358515" cy="1433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78765">
              <a:lnSpc>
                <a:spcPct val="101600"/>
              </a:lnSpc>
              <a:spcBef>
                <a:spcPts val="95"/>
              </a:spcBef>
            </a:pPr>
            <a:r>
              <a:rPr dirty="0" sz="1300" b="1">
                <a:latin typeface="Trebuchet MS"/>
                <a:cs typeface="Trebuchet MS"/>
              </a:rPr>
              <a:t>Meaning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All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Islamic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scholars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clearly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and </a:t>
            </a:r>
            <a:r>
              <a:rPr dirty="0" sz="1300">
                <a:latin typeface="Trebuchet MS"/>
                <a:cs typeface="Trebuchet MS"/>
              </a:rPr>
              <a:t>openly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agree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on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specific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ruling.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ts val="1580"/>
              </a:lnSpc>
              <a:spcBef>
                <a:spcPts val="60"/>
              </a:spcBef>
            </a:pPr>
            <a:r>
              <a:rPr dirty="0" sz="1300" b="1">
                <a:latin typeface="Trebuchet MS"/>
                <a:cs typeface="Trebuchet MS"/>
              </a:rPr>
              <a:t>Example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agreement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that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Muslims</a:t>
            </a:r>
            <a:r>
              <a:rPr dirty="0" sz="1300" spc="70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must </a:t>
            </a:r>
            <a:r>
              <a:rPr dirty="0" sz="1300">
                <a:latin typeface="Trebuchet MS"/>
                <a:cs typeface="Trebuchet MS"/>
              </a:rPr>
              <a:t>pray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five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times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day.</a:t>
            </a:r>
            <a:endParaRPr sz="1300">
              <a:latin typeface="Trebuchet MS"/>
              <a:cs typeface="Trebuchet MS"/>
            </a:endParaRPr>
          </a:p>
          <a:p>
            <a:pPr marL="12700" marR="57150">
              <a:lnSpc>
                <a:spcPts val="1580"/>
              </a:lnSpc>
              <a:spcBef>
                <a:spcPts val="5"/>
              </a:spcBef>
            </a:pPr>
            <a:r>
              <a:rPr dirty="0" sz="1300" b="1">
                <a:latin typeface="Trebuchet MS"/>
                <a:cs typeface="Trebuchet MS"/>
              </a:rPr>
              <a:t>Reference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This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type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consensus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is </a:t>
            </a:r>
            <a:r>
              <a:rPr dirty="0" sz="1300">
                <a:latin typeface="Trebuchet MS"/>
                <a:cs typeface="Trebuchet MS"/>
              </a:rPr>
              <a:t>considered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definitive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binding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Islamic </a:t>
            </a:r>
            <a:r>
              <a:rPr dirty="0" sz="1300" spc="-25">
                <a:latin typeface="Trebuchet MS"/>
                <a:cs typeface="Trebuchet MS"/>
              </a:rPr>
              <a:t>law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Types</a:t>
            </a:r>
            <a:r>
              <a:rPr dirty="0" sz="2950" spc="-100"/>
              <a:t> </a:t>
            </a:r>
            <a:r>
              <a:rPr dirty="0" sz="2950"/>
              <a:t>of</a:t>
            </a:r>
            <a:r>
              <a:rPr dirty="0" sz="2950" spc="-95"/>
              <a:t> </a:t>
            </a:r>
            <a:r>
              <a:rPr dirty="0" sz="2950" spc="-20"/>
              <a:t>Ijma</a:t>
            </a:r>
            <a:endParaRPr sz="2950"/>
          </a:p>
        </p:txBody>
      </p:sp>
      <p:sp>
        <p:nvSpPr>
          <p:cNvPr id="5" name="object 5" descr=""/>
          <p:cNvSpPr txBox="1"/>
          <p:nvPr/>
        </p:nvSpPr>
        <p:spPr>
          <a:xfrm>
            <a:off x="1457957" y="4646195"/>
            <a:ext cx="5777230" cy="16611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3.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Practical</a:t>
            </a:r>
            <a:r>
              <a:rPr dirty="0" u="sng" sz="1450" spc="7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Ijma</a:t>
            </a:r>
            <a:r>
              <a:rPr dirty="0" u="sng" sz="145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(Consensus</a:t>
            </a:r>
            <a:r>
              <a:rPr dirty="0" u="sng" sz="145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by</a:t>
            </a:r>
            <a:r>
              <a:rPr dirty="0" u="sng" sz="1450" spc="7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Practice)</a:t>
            </a:r>
            <a:endParaRPr sz="1450">
              <a:latin typeface="Trebuchet MS"/>
              <a:cs typeface="Trebuchet MS"/>
            </a:endParaRPr>
          </a:p>
          <a:p>
            <a:pPr marL="12700" marR="267335">
              <a:lnSpc>
                <a:spcPct val="101600"/>
              </a:lnSpc>
              <a:spcBef>
                <a:spcPts val="1590"/>
              </a:spcBef>
            </a:pPr>
            <a:r>
              <a:rPr dirty="0" sz="1300" b="1">
                <a:latin typeface="Trebuchet MS"/>
                <a:cs typeface="Trebuchet MS"/>
              </a:rPr>
              <a:t>Meaning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</a:t>
            </a:r>
            <a:r>
              <a:rPr dirty="0" sz="1300" spc="-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practice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widely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adopted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by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Muslim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community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without </a:t>
            </a:r>
            <a:r>
              <a:rPr dirty="0" sz="1300">
                <a:latin typeface="Trebuchet MS"/>
                <a:cs typeface="Trebuchet MS"/>
              </a:rPr>
              <a:t>opposition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from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scholars.</a:t>
            </a:r>
            <a:endParaRPr sz="1300">
              <a:latin typeface="Trebuchet MS"/>
              <a:cs typeface="Trebuchet MS"/>
            </a:endParaRPr>
          </a:p>
          <a:p>
            <a:pPr marL="12700" marR="300990">
              <a:lnSpc>
                <a:spcPct val="101499"/>
              </a:lnSpc>
            </a:pPr>
            <a:r>
              <a:rPr dirty="0" sz="1300" b="1">
                <a:latin typeface="Trebuchet MS"/>
                <a:cs typeface="Trebuchet MS"/>
              </a:rPr>
              <a:t>Example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-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compilation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Qur'an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into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single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book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during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Caliph </a:t>
            </a:r>
            <a:r>
              <a:rPr dirty="0" sz="1300">
                <a:latin typeface="Trebuchet MS"/>
                <a:cs typeface="Trebuchet MS"/>
              </a:rPr>
              <a:t>Uthman's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time,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which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was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accepted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practiced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by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community.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</a:pPr>
            <a:r>
              <a:rPr dirty="0" sz="1300" b="1">
                <a:latin typeface="Trebuchet MS"/>
                <a:cs typeface="Trebuchet MS"/>
              </a:rPr>
              <a:t>Reference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This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type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consensus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established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through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consistent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and </a:t>
            </a:r>
            <a:r>
              <a:rPr dirty="0" sz="1300">
                <a:latin typeface="Trebuchet MS"/>
                <a:cs typeface="Trebuchet MS"/>
              </a:rPr>
              <a:t>unopposed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practice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community.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26676" y="2218476"/>
            <a:ext cx="3792854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2.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Ijma</a:t>
            </a:r>
            <a:r>
              <a:rPr dirty="0" u="sng" sz="145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Sukuti</a:t>
            </a:r>
            <a:r>
              <a:rPr dirty="0" u="sng" sz="1450" spc="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(Silent</a:t>
            </a:r>
            <a:r>
              <a:rPr dirty="0" u="sng" sz="14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Agreement)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10"/>
              </a:spcBef>
            </a:pPr>
            <a:r>
              <a:rPr dirty="0" sz="1300" b="1">
                <a:latin typeface="Trebuchet MS"/>
                <a:cs typeface="Trebuchet MS"/>
              </a:rPr>
              <a:t>Meaning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Some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scholars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express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opinion,</a:t>
            </a:r>
            <a:r>
              <a:rPr dirty="0" sz="1300" spc="8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and </a:t>
            </a:r>
            <a:r>
              <a:rPr dirty="0" sz="1300">
                <a:latin typeface="Trebuchet MS"/>
                <a:cs typeface="Trebuchet MS"/>
              </a:rPr>
              <a:t>others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remain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silent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without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objection,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indicating acceptance.</a:t>
            </a:r>
            <a:endParaRPr sz="1300">
              <a:latin typeface="Trebuchet MS"/>
              <a:cs typeface="Trebuchet MS"/>
            </a:endParaRPr>
          </a:p>
          <a:p>
            <a:pPr algn="just" marL="12700" marR="213360">
              <a:lnSpc>
                <a:spcPct val="101499"/>
              </a:lnSpc>
            </a:pPr>
            <a:r>
              <a:rPr dirty="0" sz="1300" b="1">
                <a:latin typeface="Trebuchet MS"/>
                <a:cs typeface="Trebuchet MS"/>
              </a:rPr>
              <a:t>Example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acceptance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organ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donation</a:t>
            </a:r>
            <a:r>
              <a:rPr dirty="0" sz="1300" spc="70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to </a:t>
            </a:r>
            <a:r>
              <a:rPr dirty="0" sz="1300">
                <a:latin typeface="Trebuchet MS"/>
                <a:cs typeface="Trebuchet MS"/>
              </a:rPr>
              <a:t>save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lives,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where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some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scholars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approved,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and </a:t>
            </a:r>
            <a:r>
              <a:rPr dirty="0" sz="1300">
                <a:latin typeface="Trebuchet MS"/>
                <a:cs typeface="Trebuchet MS"/>
              </a:rPr>
              <a:t>others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did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not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object.</a:t>
            </a:r>
            <a:endParaRPr sz="1300">
              <a:latin typeface="Trebuchet MS"/>
              <a:cs typeface="Trebuchet MS"/>
            </a:endParaRPr>
          </a:p>
          <a:p>
            <a:pPr algn="just" marL="12700" marR="92710">
              <a:lnSpc>
                <a:spcPct val="101499"/>
              </a:lnSpc>
            </a:pPr>
            <a:r>
              <a:rPr dirty="0" sz="1300" b="1">
                <a:latin typeface="Trebuchet MS"/>
                <a:cs typeface="Trebuchet MS"/>
              </a:rPr>
              <a:t>Reference</a:t>
            </a:r>
            <a:r>
              <a:rPr dirty="0" sz="1300">
                <a:latin typeface="Trebuchet MS"/>
                <a:cs typeface="Trebuchet MS"/>
              </a:rPr>
              <a:t>: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This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form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consensus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recognized </a:t>
            </a:r>
            <a:r>
              <a:rPr dirty="0" sz="1300">
                <a:latin typeface="Trebuchet MS"/>
                <a:cs typeface="Trebuchet MS"/>
              </a:rPr>
              <a:t>when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scholars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are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informed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opinion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do </a:t>
            </a:r>
            <a:r>
              <a:rPr dirty="0" sz="1300">
                <a:latin typeface="Trebuchet MS"/>
                <a:cs typeface="Trebuchet MS"/>
              </a:rPr>
              <a:t>not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express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disagreement.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Why</a:t>
            </a:r>
            <a:r>
              <a:rPr dirty="0" sz="2950" spc="-20"/>
              <a:t> </a:t>
            </a:r>
            <a:r>
              <a:rPr dirty="0" sz="2950"/>
              <a:t>is</a:t>
            </a:r>
            <a:r>
              <a:rPr dirty="0" sz="2950" spc="-5"/>
              <a:t> </a:t>
            </a:r>
            <a:r>
              <a:rPr dirty="0" sz="2950"/>
              <a:t>Ijma</a:t>
            </a:r>
            <a:r>
              <a:rPr dirty="0" sz="2950" spc="25"/>
              <a:t> </a:t>
            </a:r>
            <a:r>
              <a:rPr dirty="0" sz="2950"/>
              <a:t>Important</a:t>
            </a:r>
            <a:r>
              <a:rPr dirty="0" sz="2950" spc="-55"/>
              <a:t> </a:t>
            </a:r>
            <a:r>
              <a:rPr dirty="0" sz="2950" spc="-10"/>
              <a:t>Today?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505416" y="2204721"/>
            <a:ext cx="8082915" cy="3756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Solving</a:t>
            </a:r>
            <a:r>
              <a:rPr dirty="0" sz="1650" spc="-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New</a:t>
            </a:r>
            <a:r>
              <a:rPr dirty="0" sz="1650" spc="-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Problems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Trebuchet MS"/>
                <a:cs typeface="Trebuchet MS"/>
              </a:rPr>
              <a:t>Ijma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address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directly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mentioned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Qur'an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Sunnah.</a:t>
            </a:r>
            <a:endParaRPr sz="1450">
              <a:latin typeface="Trebuchet MS"/>
              <a:cs typeface="Trebuchet MS"/>
            </a:endParaRPr>
          </a:p>
          <a:p>
            <a:pPr marL="12700" marR="14604">
              <a:lnSpc>
                <a:spcPct val="102099"/>
              </a:lnSpc>
              <a:spcBef>
                <a:spcPts val="1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discussed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permissibility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organ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donation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lives,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aligning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Qur'anic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0070BF"/>
                </a:solidFill>
                <a:latin typeface="Trebuchet MS"/>
                <a:cs typeface="Trebuchet MS"/>
              </a:rPr>
              <a:t>(Surah</a:t>
            </a:r>
            <a:r>
              <a:rPr dirty="0" sz="1450" spc="-10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0070BF"/>
                </a:solidFill>
                <a:latin typeface="Trebuchet MS"/>
                <a:cs typeface="Trebuchet MS"/>
              </a:rPr>
              <a:t>Al-Ma'idah,</a:t>
            </a:r>
            <a:r>
              <a:rPr dirty="0" sz="1450" spc="55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0070BF"/>
                </a:solidFill>
                <a:latin typeface="Trebuchet MS"/>
                <a:cs typeface="Trebuchet MS"/>
              </a:rPr>
              <a:t>5:32).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Keeping</a:t>
            </a:r>
            <a:r>
              <a:rPr dirty="0" sz="1650" spc="-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Islam</a:t>
            </a:r>
            <a:r>
              <a:rPr dirty="0" sz="165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Relevant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relevant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modern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times.</a:t>
            </a:r>
            <a:endParaRPr sz="1450">
              <a:latin typeface="Trebuchet MS"/>
              <a:cs typeface="Trebuchet MS"/>
            </a:endParaRPr>
          </a:p>
          <a:p>
            <a:pPr marL="12700" marR="81280">
              <a:lnSpc>
                <a:spcPts val="1789"/>
              </a:lnSpc>
              <a:spcBef>
                <a:spcPts val="5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development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banking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comply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Shariah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avoiding </a:t>
            </a:r>
            <a:r>
              <a:rPr dirty="0" sz="1450">
                <a:latin typeface="Trebuchet MS"/>
                <a:cs typeface="Trebuchet MS"/>
              </a:rPr>
              <a:t>interest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(riba),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Ijma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keeps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applicable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today.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900"/>
              </a:lnSpc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Providing</a:t>
            </a:r>
            <a:r>
              <a:rPr dirty="0" sz="165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Unified</a:t>
            </a:r>
            <a:r>
              <a:rPr dirty="0" sz="1650" spc="-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Guidance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Trebuchet MS"/>
                <a:cs typeface="Trebuchet MS"/>
              </a:rPr>
              <a:t>Ijma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offers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unified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guidance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worldwide.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Example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consensus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compilation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Qur'an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during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Uthman's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time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ensured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text.</a:t>
            </a:r>
            <a:endParaRPr sz="1450">
              <a:latin typeface="Trebuchet MS"/>
              <a:cs typeface="Trebuchet MS"/>
            </a:endParaRPr>
          </a:p>
          <a:p>
            <a:pPr marL="12700" marR="935355">
              <a:lnSpc>
                <a:spcPct val="101099"/>
              </a:lnSpc>
              <a:spcBef>
                <a:spcPts val="1610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Qur'an</a:t>
            </a:r>
            <a:r>
              <a:rPr dirty="0" sz="1450">
                <a:latin typeface="Microsoft Sans Serif"/>
                <a:cs typeface="Microsoft Sans Serif"/>
              </a:rPr>
              <a:t>: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Surah</a:t>
            </a:r>
            <a:r>
              <a:rPr dirty="0" sz="1450" spc="-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Al-Ma'idah,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5:32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 spc="395">
                <a:latin typeface="Microsoft Sans Serif"/>
                <a:cs typeface="Microsoft Sans Serif"/>
              </a:rPr>
              <a:t>–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Emphasizes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value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saving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human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life.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Hadith</a:t>
            </a:r>
            <a:r>
              <a:rPr dirty="0" sz="1450" b="1">
                <a:latin typeface="Arial"/>
                <a:cs typeface="Arial"/>
              </a:rPr>
              <a:t>: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Muhammad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(peace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upon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him)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said,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"My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ummah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will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never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agree </a:t>
            </a:r>
            <a:r>
              <a:rPr dirty="0" sz="1450">
                <a:latin typeface="Microsoft Sans Serif"/>
                <a:cs typeface="Microsoft Sans Serif"/>
              </a:rPr>
              <a:t>upon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error."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(Sunan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Ibn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Majah)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006" y="2151393"/>
            <a:ext cx="9392285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What</a:t>
            </a:r>
            <a:r>
              <a:rPr dirty="0" sz="145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Are</a:t>
            </a:r>
            <a:r>
              <a:rPr dirty="0" sz="145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These</a:t>
            </a:r>
            <a:r>
              <a:rPr dirty="0" sz="1450" spc="10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Issues?</a:t>
            </a:r>
            <a:r>
              <a:rPr dirty="0" sz="1450" spc="1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Modern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medicine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introduced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treatments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technologies.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seek </a:t>
            </a:r>
            <a:r>
              <a:rPr dirty="0" sz="1450">
                <a:latin typeface="Trebuchet MS"/>
                <a:cs typeface="Trebuchet MS"/>
              </a:rPr>
              <a:t>guidance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align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teachings.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Ijma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(consensus)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rulings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such </a:t>
            </a:r>
            <a:r>
              <a:rPr dirty="0" sz="1450" spc="-10">
                <a:latin typeface="Trebuchet MS"/>
                <a:cs typeface="Trebuchet MS"/>
              </a:rPr>
              <a:t>matters.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Medical</a:t>
            </a:r>
            <a:r>
              <a:rPr dirty="0" sz="2950" spc="-35"/>
              <a:t> </a:t>
            </a:r>
            <a:r>
              <a:rPr dirty="0" sz="2950"/>
              <a:t>and</a:t>
            </a:r>
            <a:r>
              <a:rPr dirty="0" sz="2950" spc="10"/>
              <a:t> </a:t>
            </a:r>
            <a:r>
              <a:rPr dirty="0" sz="2950"/>
              <a:t>Bioethical</a:t>
            </a:r>
            <a:r>
              <a:rPr dirty="0" sz="2950" spc="-35"/>
              <a:t> </a:t>
            </a:r>
            <a:r>
              <a:rPr dirty="0" sz="2950" spc="-10"/>
              <a:t>Concerns</a:t>
            </a:r>
            <a:endParaRPr sz="2950"/>
          </a:p>
        </p:txBody>
      </p:sp>
      <p:sp>
        <p:nvSpPr>
          <p:cNvPr id="4" name="object 4" descr=""/>
          <p:cNvSpPr txBox="1"/>
          <p:nvPr/>
        </p:nvSpPr>
        <p:spPr>
          <a:xfrm>
            <a:off x="158006" y="2943839"/>
            <a:ext cx="4140200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4828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Organ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Transplantation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donate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receive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organs?</a:t>
            </a:r>
            <a:endParaRPr sz="1450">
              <a:latin typeface="Trebuchet MS"/>
              <a:cs typeface="Trebuchet MS"/>
            </a:endParaRPr>
          </a:p>
          <a:p>
            <a:pPr lvl="1" marL="12700" marR="854075" indent="-8255">
              <a:lnSpc>
                <a:spcPts val="1789"/>
              </a:lnSpc>
              <a:spcBef>
                <a:spcPts val="5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it's </a:t>
            </a:r>
            <a:r>
              <a:rPr dirty="0" sz="1450">
                <a:latin typeface="Trebuchet MS"/>
                <a:cs typeface="Trebuchet MS"/>
              </a:rPr>
              <a:t>permissible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if: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8006" y="3849135"/>
            <a:ext cx="3996054" cy="704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donor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deceased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consents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willingly.</a:t>
            </a:r>
            <a:endParaRPr sz="1450">
              <a:latin typeface="Trebuchet MS"/>
              <a:cs typeface="Trebuchet MS"/>
            </a:endParaRPr>
          </a:p>
          <a:p>
            <a:pPr marL="248920" marR="5080" indent="-236220">
              <a:lnSpc>
                <a:spcPct val="102099"/>
              </a:lnSpc>
              <a:spcBef>
                <a:spcPts val="1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procedure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doesn't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harm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donor.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8006" y="4528823"/>
            <a:ext cx="3481704" cy="47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donates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kidney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relative,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8006" y="4981425"/>
            <a:ext cx="4155440" cy="705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-8255">
              <a:lnSpc>
                <a:spcPct val="102400"/>
              </a:lnSpc>
              <a:spcBef>
                <a:spcPts val="9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Qur'anic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"Whoever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saved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humanity."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Al- </a:t>
            </a:r>
            <a:r>
              <a:rPr dirty="0" sz="1450">
                <a:latin typeface="Trebuchet MS"/>
                <a:cs typeface="Trebuchet MS"/>
              </a:rPr>
              <a:t>Ma'idah,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5:32)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23311" y="2943839"/>
            <a:ext cx="3006090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AutoNum type="arabicPeriod" startAt="2"/>
              <a:tabLst>
                <a:tab pos="24828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In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Vitro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Fertilization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0070BF"/>
                </a:solidFill>
                <a:latin typeface="Trebuchet MS"/>
                <a:cs typeface="Trebuchet MS"/>
              </a:rPr>
              <a:t>(IVF)</a:t>
            </a:r>
            <a:endParaRPr sz="1450">
              <a:latin typeface="Trebuchet MS"/>
              <a:cs typeface="Trebuchet MS"/>
            </a:endParaRPr>
          </a:p>
          <a:p>
            <a:pPr lvl="1" marL="12700" marR="5080" indent="-8255">
              <a:lnSpc>
                <a:spcPct val="102099"/>
              </a:lnSpc>
              <a:spcBef>
                <a:spcPts val="1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couples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IVF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have </a:t>
            </a:r>
            <a:r>
              <a:rPr dirty="0" sz="1450" spc="-10">
                <a:latin typeface="Trebuchet MS"/>
                <a:cs typeface="Trebuchet MS"/>
              </a:rPr>
              <a:t>children?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4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Permissible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if: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23311" y="3849135"/>
            <a:ext cx="3596640" cy="704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8920" marR="5080" indent="-236220">
              <a:lnSpc>
                <a:spcPct val="102800"/>
              </a:lnSpc>
              <a:spcBef>
                <a:spcPts val="9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sperm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egg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married couple.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third-party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donors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involved.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23311" y="4528823"/>
            <a:ext cx="329692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married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couple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IVF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to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23311" y="4754340"/>
            <a:ext cx="3615690" cy="705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Trebuchet MS"/>
                <a:cs typeface="Trebuchet MS"/>
              </a:rPr>
              <a:t>conceive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sperm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egg.</a:t>
            </a:r>
            <a:endParaRPr sz="1450">
              <a:latin typeface="Trebuchet MS"/>
              <a:cs typeface="Trebuchet MS"/>
            </a:endParaRPr>
          </a:p>
          <a:p>
            <a:pPr marL="12700" marR="5080" indent="-8255">
              <a:lnSpc>
                <a:spcPct val="102099"/>
              </a:lnSpc>
              <a:spcBef>
                <a:spcPts val="1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Note: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Surrogacy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(using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another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woman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carry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baby)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allowed.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Medical</a:t>
            </a:r>
            <a:r>
              <a:rPr dirty="0" sz="2950" spc="-35"/>
              <a:t> </a:t>
            </a:r>
            <a:r>
              <a:rPr dirty="0" sz="2950"/>
              <a:t>and</a:t>
            </a:r>
            <a:r>
              <a:rPr dirty="0" sz="2950" spc="10"/>
              <a:t> </a:t>
            </a:r>
            <a:r>
              <a:rPr dirty="0" sz="2950"/>
              <a:t>Bioethical</a:t>
            </a:r>
            <a:r>
              <a:rPr dirty="0" sz="2950" spc="-35"/>
              <a:t> </a:t>
            </a:r>
            <a:r>
              <a:rPr dirty="0" sz="2950" spc="-10"/>
              <a:t>Concerns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183935" y="2258061"/>
            <a:ext cx="3712845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AutoNum type="arabicPeriod" startAt="3"/>
              <a:tabLst>
                <a:tab pos="248285" algn="l"/>
              </a:tabLst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Cloning</a:t>
            </a:r>
            <a:endParaRPr sz="1450">
              <a:latin typeface="Trebuchet MS"/>
              <a:cs typeface="Trebuchet MS"/>
            </a:endParaRPr>
          </a:p>
          <a:p>
            <a:pPr lvl="1" marL="12700" marR="517525" indent="-8255">
              <a:lnSpc>
                <a:spcPct val="102099"/>
              </a:lnSpc>
              <a:spcBef>
                <a:spcPts val="1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genetic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copy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human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acceptable?</a:t>
            </a:r>
            <a:endParaRPr sz="1450">
              <a:latin typeface="Trebuchet MS"/>
              <a:cs typeface="Trebuchet MS"/>
            </a:endParaRPr>
          </a:p>
          <a:p>
            <a:pPr lvl="1" marL="12700" marR="63500" indent="-8255">
              <a:lnSpc>
                <a:spcPct val="102400"/>
              </a:lnSpc>
              <a:spcBef>
                <a:spcPts val="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Generally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it </a:t>
            </a:r>
            <a:r>
              <a:rPr dirty="0" sz="1450">
                <a:latin typeface="Trebuchet MS"/>
                <a:cs typeface="Trebuchet MS"/>
              </a:rPr>
              <a:t>interferes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natural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creation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lineage.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Cloning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animals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may</a:t>
            </a:r>
            <a:endParaRPr sz="1450">
              <a:latin typeface="Trebuchet MS"/>
              <a:cs typeface="Trebuchet MS"/>
            </a:endParaRPr>
          </a:p>
          <a:p>
            <a:pPr marL="12700" marR="54102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acceptable,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cloning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humans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 spc="-10">
                <a:latin typeface="Trebuchet MS"/>
                <a:cs typeface="Trebuchet MS"/>
              </a:rPr>
              <a:t>prohibited.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55484" y="2258061"/>
            <a:ext cx="3604895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AutoNum type="arabicPeriod" startAt="4"/>
              <a:tabLst>
                <a:tab pos="24828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Stem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Cell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Research</a:t>
            </a:r>
            <a:endParaRPr sz="1450">
              <a:latin typeface="Trebuchet MS"/>
              <a:cs typeface="Trebuchet MS"/>
            </a:endParaRPr>
          </a:p>
          <a:p>
            <a:pPr lvl="1" marL="12700" marR="5080" indent="-8255">
              <a:lnSpc>
                <a:spcPct val="102099"/>
              </a:lnSpc>
              <a:spcBef>
                <a:spcPts val="1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stem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cells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medical treatments?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4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if: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55484" y="3163358"/>
            <a:ext cx="3881120" cy="9321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8920" marR="304165" indent="-236220">
              <a:lnSpc>
                <a:spcPct val="102800"/>
              </a:lnSpc>
              <a:spcBef>
                <a:spcPts val="9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Stem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cells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obtained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ethically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(e.g.,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early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embryos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before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14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days).</a:t>
            </a:r>
            <a:endParaRPr sz="1450">
              <a:latin typeface="Trebuchet MS"/>
              <a:cs typeface="Trebuchet MS"/>
            </a:endParaRPr>
          </a:p>
          <a:p>
            <a:pPr marL="248920" marR="5080" indent="-236220">
              <a:lnSpc>
                <a:spcPts val="1789"/>
              </a:lnSpc>
              <a:spcBef>
                <a:spcPts val="5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diseases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creating life.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55484" y="4068562"/>
            <a:ext cx="3700145" cy="479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stem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cells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child's leukemia.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96539" y="4946361"/>
            <a:ext cx="6613525" cy="11576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5.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Euthanasia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(Assisted</a:t>
            </a:r>
            <a:r>
              <a:rPr dirty="0" sz="1450" spc="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Dying)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permissible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relieve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suffering?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allowed.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sacred,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decides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end.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terminally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ill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patient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given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pain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relief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assisted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dying.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Note: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Stopping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futile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treatment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death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certain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permissible.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Artificial</a:t>
            </a:r>
            <a:r>
              <a:rPr dirty="0" sz="2950" spc="-25"/>
              <a:t> </a:t>
            </a:r>
            <a:r>
              <a:rPr dirty="0" sz="2950"/>
              <a:t>Intelligence</a:t>
            </a:r>
            <a:r>
              <a:rPr dirty="0" sz="2950" spc="40"/>
              <a:t> </a:t>
            </a:r>
            <a:r>
              <a:rPr dirty="0" sz="2950"/>
              <a:t>and</a:t>
            </a:r>
            <a:r>
              <a:rPr dirty="0" sz="2950" spc="25"/>
              <a:t> </a:t>
            </a:r>
            <a:r>
              <a:rPr dirty="0" sz="2950" spc="-10"/>
              <a:t>Robotics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241770" y="2390696"/>
            <a:ext cx="607758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84600" algn="l"/>
              </a:tabLst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Use</a:t>
            </a:r>
            <a:r>
              <a:rPr dirty="0" sz="165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650" spc="-10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AI</a:t>
            </a:r>
            <a:r>
              <a:rPr dirty="0" sz="1650" spc="-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in</a:t>
            </a:r>
            <a:r>
              <a:rPr dirty="0" sz="1650" spc="-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Daily</a:t>
            </a:r>
            <a:r>
              <a:rPr dirty="0" sz="1650" spc="-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20" b="1">
                <a:solidFill>
                  <a:srgbClr val="0070BF"/>
                </a:solidFill>
                <a:latin typeface="Trebuchet MS"/>
                <a:cs typeface="Trebuchet MS"/>
              </a:rPr>
              <a:t>Life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	Robots</a:t>
            </a:r>
            <a:r>
              <a:rPr dirty="0" sz="1650" spc="-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Leading</a:t>
            </a:r>
            <a:r>
              <a:rPr dirty="0" sz="1650" spc="-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Prayers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1790" y="2870758"/>
            <a:ext cx="3363595" cy="2967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2540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increasingly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various </a:t>
            </a:r>
            <a:r>
              <a:rPr dirty="0" sz="1450">
                <a:latin typeface="Trebuchet MS"/>
                <a:cs typeface="Trebuchet MS"/>
              </a:rPr>
              <a:t>aspects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daily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including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religious practices.</a:t>
            </a:r>
            <a:endParaRPr sz="1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use</a:t>
            </a:r>
            <a:endParaRPr sz="1450">
              <a:latin typeface="Trebuchet MS"/>
              <a:cs typeface="Trebuchet MS"/>
            </a:endParaRPr>
          </a:p>
          <a:p>
            <a:pPr marL="12700" marR="19304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beneficial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technology,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long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it </a:t>
            </a:r>
            <a:r>
              <a:rPr dirty="0" sz="1450">
                <a:latin typeface="Trebuchet MS"/>
                <a:cs typeface="Trebuchet MS"/>
              </a:rPr>
              <a:t>aligns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principles.</a:t>
            </a:r>
            <a:endParaRPr sz="1450">
              <a:latin typeface="Trebuchet MS"/>
              <a:cs typeface="Trebuchet MS"/>
            </a:endParaRPr>
          </a:p>
          <a:p>
            <a:pPr marL="12700" marR="142240">
              <a:lnSpc>
                <a:spcPct val="102400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users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learn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recite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Qur'an correctly.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been</a:t>
            </a:r>
            <a:endParaRPr sz="1450">
              <a:latin typeface="Trebuchet MS"/>
              <a:cs typeface="Trebuchet MS"/>
            </a:endParaRPr>
          </a:p>
          <a:p>
            <a:pPr marL="12700" marR="349885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keen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examine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interaction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faith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ensure </a:t>
            </a:r>
            <a:r>
              <a:rPr dirty="0" sz="1450">
                <a:latin typeface="Trebuchet MS"/>
                <a:cs typeface="Trebuchet MS"/>
              </a:rPr>
              <a:t>technology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supports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13751" y="2870758"/>
            <a:ext cx="3945890" cy="2288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robots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(Salat)? </a:t>
            </a: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requires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human </a:t>
            </a:r>
            <a:r>
              <a:rPr dirty="0" sz="1450">
                <a:latin typeface="Trebuchet MS"/>
                <a:cs typeface="Trebuchet MS"/>
              </a:rPr>
              <a:t>qualities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intention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spirituality,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which </a:t>
            </a:r>
            <a:r>
              <a:rPr dirty="0" sz="1450">
                <a:latin typeface="Trebuchet MS"/>
                <a:cs typeface="Trebuchet MS"/>
              </a:rPr>
              <a:t>robots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lack.</a:t>
            </a:r>
            <a:endParaRPr sz="1450">
              <a:latin typeface="Trebuchet MS"/>
              <a:cs typeface="Trebuchet MS"/>
            </a:endParaRPr>
          </a:p>
          <a:p>
            <a:pPr marL="12700" marR="199390">
              <a:lnSpc>
                <a:spcPct val="102400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robot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assist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displaying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times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physical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movements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cannot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congregation.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14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technology</a:t>
            </a:r>
            <a:endParaRPr sz="1450">
              <a:latin typeface="Trebuchet MS"/>
              <a:cs typeface="Trebuchet MS"/>
            </a:endParaRPr>
          </a:p>
          <a:p>
            <a:pPr marL="12700" marR="23114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assist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worship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replace </a:t>
            </a:r>
            <a:r>
              <a:rPr dirty="0" sz="1450">
                <a:latin typeface="Trebuchet MS"/>
                <a:cs typeface="Trebuchet MS"/>
              </a:rPr>
              <a:t>human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roles.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Artificial</a:t>
            </a:r>
            <a:r>
              <a:rPr dirty="0" sz="2950" spc="-25"/>
              <a:t> </a:t>
            </a:r>
            <a:r>
              <a:rPr dirty="0" sz="2950"/>
              <a:t>Intelligence</a:t>
            </a:r>
            <a:r>
              <a:rPr dirty="0" sz="2950" spc="40"/>
              <a:t> </a:t>
            </a:r>
            <a:r>
              <a:rPr dirty="0" sz="2950"/>
              <a:t>and</a:t>
            </a:r>
            <a:r>
              <a:rPr dirty="0" sz="2950" spc="25"/>
              <a:t> </a:t>
            </a:r>
            <a:r>
              <a:rPr dirty="0" sz="2950" spc="-10"/>
              <a:t>Robotics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238745" y="2155914"/>
            <a:ext cx="9573895" cy="4326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Privacy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Concerns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in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the</a:t>
            </a:r>
            <a:r>
              <a:rPr dirty="0" sz="145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Age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-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0070BF"/>
                </a:solidFill>
                <a:latin typeface="Trebuchet MS"/>
                <a:cs typeface="Trebuchet MS"/>
              </a:rPr>
              <a:t>AI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Issue</a:t>
            </a:r>
            <a:r>
              <a:rPr dirty="0" sz="1450" b="1">
                <a:latin typeface="Trebuchet MS"/>
                <a:cs typeface="Trebuchet MS"/>
              </a:rPr>
              <a:t>: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AI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Devices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Collecting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Personal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Data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89"/>
              </a:lnSpc>
              <a:spcBef>
                <a:spcPts val="55"/>
              </a:spcBef>
            </a:pPr>
            <a:r>
              <a:rPr dirty="0" sz="1450" spc="-40">
                <a:latin typeface="Trebuchet MS"/>
                <a:cs typeface="Trebuchet MS"/>
              </a:rPr>
              <a:t>Today,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smart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devices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phones,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home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assistants,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collect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information.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include </a:t>
            </a:r>
            <a:r>
              <a:rPr dirty="0" sz="1450">
                <a:latin typeface="Trebuchet MS"/>
                <a:cs typeface="Trebuchet MS"/>
              </a:rPr>
              <a:t>conversations,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locations,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habits.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Sometimes,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collected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user's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clear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permission.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on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Privacy</a:t>
            </a:r>
            <a:endParaRPr sz="1450">
              <a:latin typeface="Trebuchet MS"/>
              <a:cs typeface="Trebuchet MS"/>
            </a:endParaRPr>
          </a:p>
          <a:p>
            <a:pPr marL="12700" marR="8001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privacy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important.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Qur'an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invade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privacy. </a:t>
            </a:r>
            <a:r>
              <a:rPr dirty="0" sz="1450" b="1">
                <a:latin typeface="Trebuchet MS"/>
                <a:cs typeface="Trebuchet MS"/>
              </a:rPr>
              <a:t>Qur'anic</a:t>
            </a:r>
            <a:r>
              <a:rPr dirty="0" sz="1450" spc="114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"O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believed,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much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[negative]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assumption.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Indeed,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assumption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sin.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spy..."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—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Surah Al-Hujurat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(49:12)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respect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others'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private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information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spaces.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spc="-10" b="1">
                <a:latin typeface="Trebuchet MS"/>
                <a:cs typeface="Trebuchet MS"/>
              </a:rPr>
              <a:t>Example</a:t>
            </a:r>
            <a:endParaRPr sz="1450">
              <a:latin typeface="Trebuchet MS"/>
              <a:cs typeface="Trebuchet MS"/>
            </a:endParaRPr>
          </a:p>
          <a:p>
            <a:pPr marL="12700" marR="46990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Imagine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voice-activated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assistant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home.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records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conversations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knowing,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that's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privacy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concern.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actions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acceptable,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intrude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space.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Guidance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Consent: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ask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permission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before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accessing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someone's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information.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Transparency: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clear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collected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it's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used.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Protection:</a:t>
            </a:r>
            <a:r>
              <a:rPr dirty="0" sz="1450" spc="1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Safeguard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collect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prevent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misuse.</a:t>
            </a:r>
            <a:endParaRPr sz="1450">
              <a:latin typeface="Trebuchet MS"/>
              <a:cs typeface="Trebuchet MS"/>
            </a:endParaRPr>
          </a:p>
          <a:p>
            <a:pPr marL="12700" marR="73977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technology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respects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protects </a:t>
            </a:r>
            <a:r>
              <a:rPr dirty="0" sz="1450">
                <a:latin typeface="Trebuchet MS"/>
                <a:cs typeface="Trebuchet MS"/>
              </a:rPr>
              <a:t>individual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privacy.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Gender</a:t>
            </a:r>
            <a:r>
              <a:rPr dirty="0" sz="2950" spc="-45"/>
              <a:t> </a:t>
            </a:r>
            <a:r>
              <a:rPr dirty="0" sz="2950"/>
              <a:t>and</a:t>
            </a:r>
            <a:r>
              <a:rPr dirty="0" sz="2950" spc="15"/>
              <a:t> </a:t>
            </a:r>
            <a:r>
              <a:rPr dirty="0" sz="2950"/>
              <a:t>Social</a:t>
            </a:r>
            <a:r>
              <a:rPr dirty="0" sz="2950" spc="5"/>
              <a:t> </a:t>
            </a:r>
            <a:r>
              <a:rPr dirty="0" sz="2950" spc="-10"/>
              <a:t>Issues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145826" y="2262675"/>
            <a:ext cx="2887980" cy="36480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15595">
              <a:lnSpc>
                <a:spcPct val="102699"/>
              </a:lnSpc>
              <a:spcBef>
                <a:spcPts val="9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Women's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Roles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in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Leadership Issue: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women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hold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leadership</a:t>
            </a:r>
            <a:endParaRPr sz="1450">
              <a:latin typeface="Trebuchet MS"/>
              <a:cs typeface="Trebuchet MS"/>
            </a:endParaRPr>
          </a:p>
          <a:p>
            <a:pPr marL="12700" marR="877569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positions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politics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education?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View: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women</a:t>
            </a:r>
            <a:endParaRPr sz="1450">
              <a:latin typeface="Trebuchet MS"/>
              <a:cs typeface="Trebuchet MS"/>
            </a:endParaRPr>
          </a:p>
          <a:p>
            <a:pPr marL="12700" marR="5461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leaders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areas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like </a:t>
            </a:r>
            <a:r>
              <a:rPr dirty="0" sz="1450">
                <a:latin typeface="Trebuchet MS"/>
                <a:cs typeface="Trebuchet MS"/>
              </a:rPr>
              <a:t>education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politics,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as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principles.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Indonesia,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female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Islamic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taken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leadership </a:t>
            </a:r>
            <a:r>
              <a:rPr dirty="0" sz="1450">
                <a:latin typeface="Trebuchet MS"/>
                <a:cs typeface="Trebuchet MS"/>
              </a:rPr>
              <a:t>roles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recognized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contributions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Islamic scholarship.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63358" y="2262675"/>
            <a:ext cx="2228850" cy="3420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Gender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Equity</a:t>
            </a:r>
            <a:endParaRPr sz="1450">
              <a:latin typeface="Trebuchet MS"/>
              <a:cs typeface="Trebuchet MS"/>
            </a:endParaRPr>
          </a:p>
          <a:p>
            <a:pPr marL="12700" marR="29209" indent="-8255">
              <a:lnSpc>
                <a:spcPct val="102400"/>
              </a:lnSpc>
              <a:spcBef>
                <a:spcPts val="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women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treated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equally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 spc="-10">
                <a:latin typeface="Trebuchet MS"/>
                <a:cs typeface="Trebuchet MS"/>
              </a:rPr>
              <a:t>Islam?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Islam</a:t>
            </a:r>
            <a:endParaRPr sz="1450">
              <a:latin typeface="Trebuchet MS"/>
              <a:cs typeface="Trebuchet MS"/>
            </a:endParaRPr>
          </a:p>
          <a:p>
            <a:pPr marL="12700" marR="14859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women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eyes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Allah.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have </a:t>
            </a:r>
            <a:r>
              <a:rPr dirty="0" sz="1450">
                <a:latin typeface="Trebuchet MS"/>
                <a:cs typeface="Trebuchet MS"/>
              </a:rPr>
              <a:t>different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roles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are </a:t>
            </a:r>
            <a:r>
              <a:rPr dirty="0" sz="1450">
                <a:latin typeface="Trebuchet MS"/>
                <a:cs typeface="Trebuchet MS"/>
              </a:rPr>
              <a:t>equally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important.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Women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have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right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property, </a:t>
            </a:r>
            <a:r>
              <a:rPr dirty="0" sz="1450">
                <a:latin typeface="Trebuchet MS"/>
                <a:cs typeface="Trebuchet MS"/>
              </a:rPr>
              <a:t>receive</a:t>
            </a:r>
            <a:r>
              <a:rPr dirty="0" sz="1450" spc="1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education,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participate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social activities.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30084" y="2262675"/>
            <a:ext cx="2789555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LGBTQ+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Matters</a:t>
            </a:r>
            <a:endParaRPr sz="1450">
              <a:latin typeface="Trebuchet MS"/>
              <a:cs typeface="Trebuchet MS"/>
            </a:endParaRPr>
          </a:p>
          <a:p>
            <a:pPr marL="12700" marR="47625" indent="-8255">
              <a:lnSpc>
                <a:spcPct val="102099"/>
              </a:lnSpc>
              <a:spcBef>
                <a:spcPts val="10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Islam's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stance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on </a:t>
            </a:r>
            <a:r>
              <a:rPr dirty="0" sz="1450">
                <a:latin typeface="Trebuchet MS"/>
                <a:cs typeface="Trebuchet MS"/>
              </a:rPr>
              <a:t>LGBTQ+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issues?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2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Traditional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Islamic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consider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homosexual </a:t>
            </a:r>
            <a:r>
              <a:rPr dirty="0" sz="1450">
                <a:latin typeface="Trebuchet MS"/>
                <a:cs typeface="Trebuchet MS"/>
              </a:rPr>
              <a:t>acts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prohibited.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However, </a:t>
            </a:r>
            <a:r>
              <a:rPr dirty="0" sz="1450">
                <a:latin typeface="Trebuchet MS"/>
                <a:cs typeface="Trebuchet MS"/>
              </a:rPr>
              <a:t>there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emphasis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treating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respect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compassion.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6632" y="6071122"/>
            <a:ext cx="8750300" cy="427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5"/>
              </a:spcBef>
            </a:pPr>
            <a:r>
              <a:rPr dirty="0" sz="1300">
                <a:latin typeface="Trebuchet MS"/>
                <a:cs typeface="Trebuchet MS"/>
              </a:rPr>
              <a:t>Islam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addresses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gender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social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issues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by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emphasizing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justice,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compassion,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adherence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to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its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teachings.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While </a:t>
            </a:r>
            <a:r>
              <a:rPr dirty="0" sz="1300">
                <a:latin typeface="Trebuchet MS"/>
                <a:cs typeface="Trebuchet MS"/>
              </a:rPr>
              <a:t>interpretations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may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vary,</a:t>
            </a:r>
            <a:r>
              <a:rPr dirty="0" sz="1300">
                <a:latin typeface="Trebuchet MS"/>
                <a:cs typeface="Trebuchet MS"/>
              </a:rPr>
              <a:t> the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core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principles</a:t>
            </a:r>
            <a:r>
              <a:rPr dirty="0" sz="1300" spc="6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focus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on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respect,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equity,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 the well-being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of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</a:t>
            </a:r>
            <a:r>
              <a:rPr dirty="0" sz="1300" spc="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community.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Environmental</a:t>
            </a:r>
            <a:r>
              <a:rPr dirty="0" sz="2950" spc="120"/>
              <a:t> </a:t>
            </a:r>
            <a:r>
              <a:rPr dirty="0" sz="2950" spc="-10"/>
              <a:t>Sustainability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215861" y="3012490"/>
            <a:ext cx="4017010" cy="319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12115">
              <a:lnSpc>
                <a:spcPct val="102299"/>
              </a:lnSpc>
              <a:spcBef>
                <a:spcPts val="95"/>
              </a:spcBef>
            </a:pP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humans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caretakers </a:t>
            </a:r>
            <a:r>
              <a:rPr dirty="0" sz="1450">
                <a:latin typeface="Trebuchet MS"/>
                <a:cs typeface="Trebuchet MS"/>
              </a:rPr>
              <a:t>(khalifah)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Earth.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are </a:t>
            </a:r>
            <a:r>
              <a:rPr dirty="0" sz="1450">
                <a:latin typeface="Trebuchet MS"/>
                <a:cs typeface="Trebuchet MS"/>
              </a:rPr>
              <a:t>responsible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protecting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preserving nature.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Qur'anic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Reference:</a:t>
            </a:r>
            <a:endParaRPr sz="1450">
              <a:latin typeface="Trebuchet MS"/>
              <a:cs typeface="Trebuchet MS"/>
            </a:endParaRPr>
          </a:p>
          <a:p>
            <a:pPr marL="12700" marR="513715">
              <a:lnSpc>
                <a:spcPts val="1789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"Indeed,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wasteful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brothers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devils.“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—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Surah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Al-Isra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(17:27)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b="1">
                <a:latin typeface="Trebuchet MS"/>
                <a:cs typeface="Trebuchet MS"/>
              </a:rPr>
              <a:t>Prophetic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Tradition:</a:t>
            </a:r>
            <a:endParaRPr sz="1450">
              <a:latin typeface="Trebuchet MS"/>
              <a:cs typeface="Trebuchet MS"/>
            </a:endParaRPr>
          </a:p>
          <a:p>
            <a:pPr marL="12700" marR="14922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him) </a:t>
            </a:r>
            <a:r>
              <a:rPr dirty="0" sz="1450" spc="-10">
                <a:latin typeface="Trebuchet MS"/>
                <a:cs typeface="Trebuchet MS"/>
              </a:rPr>
              <a:t>said,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"If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plants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sows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seeds,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then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bird,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animal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eats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from </a:t>
            </a:r>
            <a:r>
              <a:rPr dirty="0" sz="1450">
                <a:latin typeface="Trebuchet MS"/>
                <a:cs typeface="Trebuchet MS"/>
              </a:rPr>
              <a:t>it,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regarded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charitable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gift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him."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Trebuchet MS"/>
                <a:cs typeface="Trebuchet MS"/>
              </a:rPr>
              <a:t>—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Sahih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Bukhari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5891" y="2280919"/>
            <a:ext cx="5728970" cy="736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69494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What</a:t>
            </a:r>
            <a:r>
              <a:rPr dirty="0" sz="1650" spc="-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Does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Islam</a:t>
            </a:r>
            <a:r>
              <a:rPr dirty="0" sz="165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Say</a:t>
            </a:r>
            <a:r>
              <a:rPr dirty="0" sz="1650" spc="-1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About</a:t>
            </a:r>
            <a:r>
              <a:rPr dirty="0" sz="1650" spc="-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25" b="1">
                <a:solidFill>
                  <a:srgbClr val="0070BF"/>
                </a:solidFill>
                <a:latin typeface="Trebuchet MS"/>
                <a:cs typeface="Trebuchet MS"/>
              </a:rPr>
              <a:t>the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Environment?</a:t>
            </a:r>
            <a:endParaRPr sz="1650">
              <a:latin typeface="Trebuchet MS"/>
              <a:cs typeface="Trebuchet MS"/>
            </a:endParaRPr>
          </a:p>
          <a:p>
            <a:pPr marL="4189729">
              <a:lnSpc>
                <a:spcPts val="1630"/>
              </a:lnSpc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Climate</a:t>
            </a:r>
            <a:r>
              <a:rPr dirty="0" sz="1650" spc="-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Change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93181" y="2992651"/>
            <a:ext cx="3681729" cy="27425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 b="1">
                <a:latin typeface="Trebuchet MS"/>
                <a:cs typeface="Trebuchet MS"/>
              </a:rPr>
              <a:t>Issue:</a:t>
            </a:r>
            <a:endParaRPr sz="1450">
              <a:latin typeface="Trebuchet MS"/>
              <a:cs typeface="Trebuchet MS"/>
            </a:endParaRPr>
          </a:p>
          <a:p>
            <a:pPr marL="12700" marR="29209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Rising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temperatures,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melting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ice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caps,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extreme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weather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events.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View: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Causing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harm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Earth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discouraged.</a:t>
            </a:r>
            <a:endParaRPr sz="1450">
              <a:latin typeface="Trebuchet MS"/>
              <a:cs typeface="Trebuchet MS"/>
            </a:endParaRPr>
          </a:p>
          <a:p>
            <a:pPr marL="12700" marR="187960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urged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balance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with </a:t>
            </a:r>
            <a:r>
              <a:rPr dirty="0" sz="1450" spc="-10">
                <a:latin typeface="Trebuchet MS"/>
                <a:cs typeface="Trebuchet MS"/>
              </a:rPr>
              <a:t>nature.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Declaration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Global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Climate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Change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calls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greenhouse </a:t>
            </a:r>
            <a:r>
              <a:rPr dirty="0" sz="1450">
                <a:latin typeface="Trebuchet MS"/>
                <a:cs typeface="Trebuchet MS"/>
              </a:rPr>
              <a:t>gas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emissions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adopt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sustainable practices.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Environmental</a:t>
            </a:r>
            <a:r>
              <a:rPr dirty="0" sz="2950" spc="120"/>
              <a:t> </a:t>
            </a:r>
            <a:r>
              <a:rPr dirty="0" sz="2950" spc="-10"/>
              <a:t>Sustainability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215861" y="2280919"/>
            <a:ext cx="3564254" cy="2090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Renewable</a:t>
            </a:r>
            <a:r>
              <a:rPr dirty="0" sz="1650" spc="-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Energy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ts val="1789"/>
              </a:lnSpc>
              <a:spcBef>
                <a:spcPts val="60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Dependence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fossil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fuels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 spc="-10">
                <a:latin typeface="Trebuchet MS"/>
                <a:cs typeface="Trebuchet MS"/>
              </a:rPr>
              <a:t>pollution.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clean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energy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aligns</a:t>
            </a:r>
            <a:endParaRPr sz="1450">
              <a:latin typeface="Trebuchet MS"/>
              <a:cs typeface="Trebuchet MS"/>
            </a:endParaRPr>
          </a:p>
          <a:p>
            <a:pPr marL="12700" marR="389890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harming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 spc="-10">
                <a:latin typeface="Trebuchet MS"/>
                <a:cs typeface="Trebuchet MS"/>
              </a:rPr>
              <a:t>environment.</a:t>
            </a:r>
            <a:endParaRPr sz="1450">
              <a:latin typeface="Trebuchet MS"/>
              <a:cs typeface="Trebuchet MS"/>
            </a:endParaRPr>
          </a:p>
          <a:p>
            <a:pPr marL="12700" marR="196850">
              <a:lnSpc>
                <a:spcPct val="102400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mosques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installed </a:t>
            </a:r>
            <a:r>
              <a:rPr dirty="0" sz="1450">
                <a:latin typeface="Trebuchet MS"/>
                <a:cs typeface="Trebuchet MS"/>
              </a:rPr>
              <a:t>solar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panels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carbon footprint.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55453" y="2288518"/>
            <a:ext cx="3653154" cy="2090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Waste</a:t>
            </a:r>
            <a:r>
              <a:rPr dirty="0" sz="1650" spc="-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Management</a:t>
            </a:r>
            <a:endParaRPr sz="1650">
              <a:latin typeface="Trebuchet MS"/>
              <a:cs typeface="Trebuchet MS"/>
            </a:endParaRPr>
          </a:p>
          <a:p>
            <a:pPr marL="12700" marR="214629">
              <a:lnSpc>
                <a:spcPts val="1789"/>
              </a:lnSpc>
              <a:spcBef>
                <a:spcPts val="60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Excessive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waste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pollutes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water.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Wastefulness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discouraged.</a:t>
            </a:r>
            <a:endParaRPr sz="1450">
              <a:latin typeface="Trebuchet MS"/>
              <a:cs typeface="Trebuchet MS"/>
            </a:endParaRPr>
          </a:p>
          <a:p>
            <a:pPr marL="12700" marR="342265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recycle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reuse.</a:t>
            </a:r>
            <a:endParaRPr sz="1450">
              <a:latin typeface="Trebuchet MS"/>
              <a:cs typeface="Trebuchet MS"/>
            </a:endParaRPr>
          </a:p>
          <a:p>
            <a:pPr marL="12700" marR="191770">
              <a:lnSpc>
                <a:spcPct val="102400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12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programs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promote </a:t>
            </a:r>
            <a:r>
              <a:rPr dirty="0" sz="1450">
                <a:latin typeface="Trebuchet MS"/>
                <a:cs typeface="Trebuchet MS"/>
              </a:rPr>
              <a:t>recycling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proper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waste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disposal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Muslim-majority</a:t>
            </a:r>
            <a:r>
              <a:rPr dirty="0" sz="1450" spc="1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countries.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 spc="-10"/>
              <a:t>Technology</a:t>
            </a:r>
            <a:r>
              <a:rPr dirty="0" sz="2950" spc="-85"/>
              <a:t> </a:t>
            </a:r>
            <a:r>
              <a:rPr dirty="0" sz="2950"/>
              <a:t>and</a:t>
            </a:r>
            <a:r>
              <a:rPr dirty="0" sz="2950" spc="-70"/>
              <a:t> </a:t>
            </a:r>
            <a:r>
              <a:rPr dirty="0" sz="2950"/>
              <a:t>Digital</a:t>
            </a:r>
            <a:r>
              <a:rPr dirty="0" sz="2950" spc="-60"/>
              <a:t> </a:t>
            </a:r>
            <a:r>
              <a:rPr dirty="0" sz="2950" spc="-10"/>
              <a:t>Ethics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310349" y="2370820"/>
            <a:ext cx="619696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58310" algn="l"/>
              </a:tabLst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Cybersecurity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	Social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Media</a:t>
            </a:r>
            <a:r>
              <a:rPr dirty="0" sz="1450" spc="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Behavior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b="1">
                <a:latin typeface="Trebuchet MS"/>
                <a:cs typeface="Trebuchet MS"/>
              </a:rPr>
              <a:t>Issue:</a:t>
            </a:r>
            <a:r>
              <a:rPr dirty="0" spc="120" b="1">
                <a:latin typeface="Trebuchet MS"/>
                <a:cs typeface="Trebuchet MS"/>
              </a:rPr>
              <a:t> </a:t>
            </a:r>
            <a:r>
              <a:rPr dirty="0"/>
              <a:t>Protecting</a:t>
            </a:r>
            <a:r>
              <a:rPr dirty="0" spc="95"/>
              <a:t> </a:t>
            </a:r>
            <a:r>
              <a:rPr dirty="0"/>
              <a:t>personal</a:t>
            </a:r>
            <a:r>
              <a:rPr dirty="0" spc="90"/>
              <a:t> </a:t>
            </a:r>
            <a:r>
              <a:rPr dirty="0"/>
              <a:t>information</a:t>
            </a:r>
            <a:r>
              <a:rPr dirty="0" spc="110"/>
              <a:t> </a:t>
            </a:r>
            <a:r>
              <a:rPr dirty="0" spc="-10"/>
              <a:t>online. </a:t>
            </a:r>
            <a:r>
              <a:rPr dirty="0" b="1">
                <a:latin typeface="Trebuchet MS"/>
                <a:cs typeface="Trebuchet MS"/>
              </a:rPr>
              <a:t>Islamic</a:t>
            </a:r>
            <a:r>
              <a:rPr dirty="0" spc="70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View:</a:t>
            </a:r>
            <a:r>
              <a:rPr dirty="0" spc="95" b="1">
                <a:latin typeface="Trebuchet MS"/>
                <a:cs typeface="Trebuchet MS"/>
              </a:rPr>
              <a:t> </a:t>
            </a:r>
            <a:r>
              <a:rPr dirty="0"/>
              <a:t>Islam</a:t>
            </a:r>
            <a:r>
              <a:rPr dirty="0" spc="70"/>
              <a:t> </a:t>
            </a:r>
            <a:r>
              <a:rPr dirty="0"/>
              <a:t>emphasizes</a:t>
            </a:r>
            <a:r>
              <a:rPr dirty="0" spc="65"/>
              <a:t> </a:t>
            </a:r>
            <a:r>
              <a:rPr dirty="0"/>
              <a:t>the</a:t>
            </a:r>
            <a:r>
              <a:rPr dirty="0" spc="100"/>
              <a:t> </a:t>
            </a:r>
            <a:r>
              <a:rPr dirty="0" spc="-10"/>
              <a:t>importance </a:t>
            </a:r>
            <a:r>
              <a:rPr dirty="0"/>
              <a:t>of</a:t>
            </a:r>
            <a:r>
              <a:rPr dirty="0" spc="90"/>
              <a:t> </a:t>
            </a:r>
            <a:r>
              <a:rPr dirty="0"/>
              <a:t>privacy</a:t>
            </a:r>
            <a:r>
              <a:rPr dirty="0" spc="95"/>
              <a:t> </a:t>
            </a:r>
            <a:r>
              <a:rPr dirty="0"/>
              <a:t>and</a:t>
            </a:r>
            <a:r>
              <a:rPr dirty="0" spc="90"/>
              <a:t> </a:t>
            </a:r>
            <a:r>
              <a:rPr dirty="0"/>
              <a:t>safeguarding</a:t>
            </a:r>
            <a:r>
              <a:rPr dirty="0" spc="105"/>
              <a:t> </a:t>
            </a:r>
            <a:r>
              <a:rPr dirty="0"/>
              <a:t>personal</a:t>
            </a:r>
            <a:r>
              <a:rPr dirty="0" spc="80"/>
              <a:t> </a:t>
            </a:r>
            <a:r>
              <a:rPr dirty="0" spc="-10"/>
              <a:t>data.</a:t>
            </a:r>
          </a:p>
          <a:p>
            <a:pPr marL="12700" marR="404495">
              <a:lnSpc>
                <a:spcPct val="102299"/>
              </a:lnSpc>
              <a:spcBef>
                <a:spcPts val="10"/>
              </a:spcBef>
            </a:pPr>
            <a:r>
              <a:rPr dirty="0" b="1">
                <a:latin typeface="Trebuchet MS"/>
                <a:cs typeface="Trebuchet MS"/>
              </a:rPr>
              <a:t>Example:</a:t>
            </a:r>
            <a:r>
              <a:rPr dirty="0" spc="80" b="1">
                <a:latin typeface="Trebuchet MS"/>
                <a:cs typeface="Trebuchet MS"/>
              </a:rPr>
              <a:t> </a:t>
            </a:r>
            <a:r>
              <a:rPr dirty="0"/>
              <a:t>Using</a:t>
            </a:r>
            <a:r>
              <a:rPr dirty="0" spc="95"/>
              <a:t> </a:t>
            </a:r>
            <a:r>
              <a:rPr dirty="0"/>
              <a:t>strong</a:t>
            </a:r>
            <a:r>
              <a:rPr dirty="0" spc="75"/>
              <a:t> </a:t>
            </a:r>
            <a:r>
              <a:rPr dirty="0"/>
              <a:t>passwords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100"/>
              <a:t> </a:t>
            </a:r>
            <a:r>
              <a:rPr dirty="0" spc="-25"/>
              <a:t>not </a:t>
            </a:r>
            <a:r>
              <a:rPr dirty="0"/>
              <a:t>sharing</a:t>
            </a:r>
            <a:r>
              <a:rPr dirty="0" spc="110"/>
              <a:t> </a:t>
            </a:r>
            <a:r>
              <a:rPr dirty="0"/>
              <a:t>others'</a:t>
            </a:r>
            <a:r>
              <a:rPr dirty="0" spc="120"/>
              <a:t> </a:t>
            </a:r>
            <a:r>
              <a:rPr dirty="0"/>
              <a:t>private</a:t>
            </a:r>
            <a:r>
              <a:rPr dirty="0" spc="125"/>
              <a:t> </a:t>
            </a:r>
            <a:r>
              <a:rPr dirty="0"/>
              <a:t>information</a:t>
            </a:r>
            <a:r>
              <a:rPr dirty="0" spc="105"/>
              <a:t> </a:t>
            </a:r>
            <a:r>
              <a:rPr dirty="0" spc="-10"/>
              <a:t>without </a:t>
            </a:r>
            <a:r>
              <a:rPr dirty="0"/>
              <a:t>permission</a:t>
            </a:r>
            <a:r>
              <a:rPr dirty="0" spc="100"/>
              <a:t> </a:t>
            </a:r>
            <a:r>
              <a:rPr dirty="0"/>
              <a:t>aligns</a:t>
            </a:r>
            <a:r>
              <a:rPr dirty="0" spc="90"/>
              <a:t> </a:t>
            </a:r>
            <a:r>
              <a:rPr dirty="0"/>
              <a:t>with</a:t>
            </a:r>
            <a:r>
              <a:rPr dirty="0" spc="114"/>
              <a:t> </a:t>
            </a:r>
            <a:r>
              <a:rPr dirty="0"/>
              <a:t>Islamic</a:t>
            </a:r>
            <a:r>
              <a:rPr dirty="0" spc="85"/>
              <a:t> </a:t>
            </a:r>
            <a:r>
              <a:rPr dirty="0"/>
              <a:t>teachings</a:t>
            </a:r>
            <a:r>
              <a:rPr dirty="0" spc="105"/>
              <a:t> </a:t>
            </a:r>
            <a:r>
              <a:rPr dirty="0" spc="-25"/>
              <a:t>on </a:t>
            </a:r>
            <a:r>
              <a:rPr dirty="0"/>
              <a:t>respecting</a:t>
            </a:r>
            <a:r>
              <a:rPr dirty="0" spc="110"/>
              <a:t> </a:t>
            </a:r>
            <a:r>
              <a:rPr dirty="0"/>
              <a:t>others'</a:t>
            </a:r>
            <a:r>
              <a:rPr dirty="0" spc="135"/>
              <a:t> </a:t>
            </a:r>
            <a:r>
              <a:rPr dirty="0" spc="-10"/>
              <a:t>privacy.</a:t>
            </a:r>
          </a:p>
          <a:p>
            <a:pPr marL="12700" marR="107950">
              <a:lnSpc>
                <a:spcPct val="102400"/>
              </a:lnSpc>
              <a:spcBef>
                <a:spcPts val="5"/>
              </a:spcBef>
            </a:pPr>
            <a:r>
              <a:rPr dirty="0" b="1">
                <a:latin typeface="Trebuchet MS"/>
                <a:cs typeface="Trebuchet MS"/>
              </a:rPr>
              <a:t>Reference:</a:t>
            </a:r>
            <a:r>
              <a:rPr dirty="0" spc="65" b="1">
                <a:latin typeface="Trebuchet MS"/>
                <a:cs typeface="Trebuchet MS"/>
              </a:rPr>
              <a:t> </a:t>
            </a:r>
            <a:r>
              <a:rPr dirty="0"/>
              <a:t>The</a:t>
            </a:r>
            <a:r>
              <a:rPr dirty="0" spc="90"/>
              <a:t> </a:t>
            </a:r>
            <a:r>
              <a:rPr dirty="0"/>
              <a:t>Qur'an</a:t>
            </a:r>
            <a:r>
              <a:rPr dirty="0" spc="75"/>
              <a:t> </a:t>
            </a:r>
            <a:r>
              <a:rPr dirty="0"/>
              <a:t>advises,</a:t>
            </a:r>
            <a:r>
              <a:rPr dirty="0" spc="65"/>
              <a:t> </a:t>
            </a:r>
            <a:r>
              <a:rPr dirty="0"/>
              <a:t>"Do</a:t>
            </a:r>
            <a:r>
              <a:rPr dirty="0" spc="65"/>
              <a:t> </a:t>
            </a:r>
            <a:r>
              <a:rPr dirty="0"/>
              <a:t>not</a:t>
            </a:r>
            <a:r>
              <a:rPr dirty="0" spc="60"/>
              <a:t> </a:t>
            </a:r>
            <a:r>
              <a:rPr dirty="0"/>
              <a:t>spy</a:t>
            </a:r>
            <a:r>
              <a:rPr dirty="0" spc="70"/>
              <a:t> </a:t>
            </a:r>
            <a:r>
              <a:rPr dirty="0" spc="-25"/>
              <a:t>on </a:t>
            </a:r>
            <a:r>
              <a:rPr dirty="0"/>
              <a:t>one</a:t>
            </a:r>
            <a:r>
              <a:rPr dirty="0" spc="110"/>
              <a:t> </a:t>
            </a:r>
            <a:r>
              <a:rPr dirty="0"/>
              <a:t>another"</a:t>
            </a:r>
            <a:r>
              <a:rPr dirty="0" spc="114"/>
              <a:t> </a:t>
            </a:r>
            <a:r>
              <a:rPr dirty="0"/>
              <a:t>(Surah</a:t>
            </a:r>
            <a:r>
              <a:rPr dirty="0" spc="20"/>
              <a:t> </a:t>
            </a:r>
            <a:r>
              <a:rPr dirty="0"/>
              <a:t>Al-Hujurat,</a:t>
            </a:r>
            <a:r>
              <a:rPr dirty="0" spc="105"/>
              <a:t> </a:t>
            </a:r>
            <a:r>
              <a:rPr dirty="0" spc="-10"/>
              <a:t>49:12), </a:t>
            </a:r>
            <a:r>
              <a:rPr dirty="0"/>
              <a:t>highlighting</a:t>
            </a:r>
            <a:r>
              <a:rPr dirty="0" spc="100"/>
              <a:t> </a:t>
            </a:r>
            <a:r>
              <a:rPr dirty="0"/>
              <a:t>the</a:t>
            </a:r>
            <a:r>
              <a:rPr dirty="0" spc="110"/>
              <a:t> </a:t>
            </a:r>
            <a:r>
              <a:rPr dirty="0"/>
              <a:t>importance</a:t>
            </a:r>
            <a:r>
              <a:rPr dirty="0" spc="114"/>
              <a:t> </a:t>
            </a:r>
            <a:r>
              <a:rPr dirty="0"/>
              <a:t>of</a:t>
            </a:r>
            <a:r>
              <a:rPr dirty="0" spc="105"/>
              <a:t> </a:t>
            </a:r>
            <a:r>
              <a:rPr dirty="0" spc="-10"/>
              <a:t>privacy.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556228" y="2823514"/>
            <a:ext cx="3906520" cy="2742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66370">
              <a:lnSpc>
                <a:spcPct val="102699"/>
              </a:lnSpc>
              <a:spcBef>
                <a:spcPts val="90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false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information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engaging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harmful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online.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be</a:t>
            </a:r>
            <a:endParaRPr sz="1450">
              <a:latin typeface="Trebuchet MS"/>
              <a:cs typeface="Trebuchet MS"/>
            </a:endParaRPr>
          </a:p>
          <a:p>
            <a:pPr marL="12700" marR="528955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honest,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respectful,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spreading falsehoods.</a:t>
            </a:r>
            <a:endParaRPr sz="1450">
              <a:latin typeface="Trebuchet MS"/>
              <a:cs typeface="Trebuchet MS"/>
            </a:endParaRPr>
          </a:p>
          <a:p>
            <a:pPr marL="12700" marR="114300">
              <a:lnSpc>
                <a:spcPct val="102400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Before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sharing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social </a:t>
            </a:r>
            <a:r>
              <a:rPr dirty="0" sz="1450">
                <a:latin typeface="Trebuchet MS"/>
                <a:cs typeface="Trebuchet MS"/>
              </a:rPr>
              <a:t>media,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verifying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authenticity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reflects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honesty.</a:t>
            </a:r>
            <a:endParaRPr sz="1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(peace</a:t>
            </a:r>
            <a:endParaRPr sz="1450">
              <a:latin typeface="Trebuchet MS"/>
              <a:cs typeface="Trebuchet MS"/>
            </a:endParaRPr>
          </a:p>
          <a:p>
            <a:pPr algn="just"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said,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"Whoever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believes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0">
                <a:latin typeface="Trebuchet MS"/>
                <a:cs typeface="Trebuchet MS"/>
              </a:rPr>
              <a:t> Allah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Last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speak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remain </a:t>
            </a:r>
            <a:r>
              <a:rPr dirty="0" sz="1450">
                <a:latin typeface="Trebuchet MS"/>
                <a:cs typeface="Trebuchet MS"/>
              </a:rPr>
              <a:t>silent"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(Sahih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Bukhari).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 spc="-10"/>
              <a:t>Technology</a:t>
            </a:r>
            <a:r>
              <a:rPr dirty="0" sz="2950" spc="-85"/>
              <a:t> </a:t>
            </a:r>
            <a:r>
              <a:rPr dirty="0" sz="2950"/>
              <a:t>and</a:t>
            </a:r>
            <a:r>
              <a:rPr dirty="0" sz="2950" spc="-70"/>
              <a:t> </a:t>
            </a:r>
            <a:r>
              <a:rPr dirty="0" sz="2950"/>
              <a:t>Digital</a:t>
            </a:r>
            <a:r>
              <a:rPr dirty="0" sz="2950" spc="-60"/>
              <a:t> </a:t>
            </a:r>
            <a:r>
              <a:rPr dirty="0" sz="2950" spc="-10"/>
              <a:t>Ethics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531345" y="2485147"/>
            <a:ext cx="7439025" cy="2289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Blockchain</a:t>
            </a:r>
            <a:r>
              <a:rPr dirty="0" sz="1450" spc="10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Technology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blockchain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financial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transactions.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5"/>
              </a:spcBef>
            </a:pP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View: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Blockchain's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transparency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security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align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if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ethically.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50">
              <a:latin typeface="Trebuchet MS"/>
              <a:cs typeface="Trebuchet MS"/>
            </a:endParaRPr>
          </a:p>
          <a:p>
            <a:pPr marL="12700" marR="101600">
              <a:lnSpc>
                <a:spcPct val="102800"/>
              </a:lnSpc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financial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institutions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blockchain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transparent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interest-free</a:t>
            </a:r>
            <a:r>
              <a:rPr dirty="0" sz="1450" spc="1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transactions.</a:t>
            </a:r>
            <a:endParaRPr sz="1450">
              <a:latin typeface="Trebuchet MS"/>
              <a:cs typeface="Trebuchet MS"/>
            </a:endParaRPr>
          </a:p>
          <a:p>
            <a:pPr marL="12700" marR="440055">
              <a:lnSpc>
                <a:spcPts val="1789"/>
              </a:lnSpc>
              <a:spcBef>
                <a:spcPts val="55"/>
              </a:spcBef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finance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emphasize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transparency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fairness,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which </a:t>
            </a:r>
            <a:r>
              <a:rPr dirty="0" sz="1450">
                <a:latin typeface="Trebuchet MS"/>
                <a:cs typeface="Trebuchet MS"/>
              </a:rPr>
              <a:t>blockchain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support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applied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correctly.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How</a:t>
            </a:r>
            <a:r>
              <a:rPr dirty="0" sz="2950" spc="-45"/>
              <a:t> </a:t>
            </a:r>
            <a:r>
              <a:rPr dirty="0" sz="2950"/>
              <a:t>is</a:t>
            </a:r>
            <a:r>
              <a:rPr dirty="0" sz="2950" spc="-30"/>
              <a:t> </a:t>
            </a:r>
            <a:r>
              <a:rPr dirty="0" sz="2950"/>
              <a:t>Ijma</a:t>
            </a:r>
            <a:r>
              <a:rPr dirty="0" sz="2950" spc="-40"/>
              <a:t> </a:t>
            </a:r>
            <a:r>
              <a:rPr dirty="0" sz="2950"/>
              <a:t>Formed</a:t>
            </a:r>
            <a:r>
              <a:rPr dirty="0" sz="2950" spc="-90"/>
              <a:t> </a:t>
            </a:r>
            <a:r>
              <a:rPr dirty="0" sz="2950" spc="-10"/>
              <a:t>Today?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252494" y="2239791"/>
            <a:ext cx="7576820" cy="875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Ijma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religious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issue.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Today,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step- </a:t>
            </a:r>
            <a:r>
              <a:rPr dirty="0" sz="1450">
                <a:latin typeface="Trebuchet MS"/>
                <a:cs typeface="Trebuchet MS"/>
              </a:rPr>
              <a:t>by-step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process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Ijma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topics: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  <a:tabLst>
                <a:tab pos="2365375" algn="l"/>
                <a:tab pos="518350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Identify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New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Issues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	Study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Islamic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Sources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	Discuss</a:t>
            </a:r>
            <a:r>
              <a:rPr dirty="0" sz="1450" spc="-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Among</a:t>
            </a:r>
            <a:r>
              <a:rPr dirty="0" sz="1450" spc="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Scholars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2494" y="3315701"/>
            <a:ext cx="2183130" cy="2289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335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Happens:</a:t>
            </a:r>
            <a:r>
              <a:rPr dirty="0" sz="1450" spc="50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notice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new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modern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life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Islamic guidance.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Questions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arise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</a:t>
            </a:r>
            <a:endParaRPr sz="1450">
              <a:latin typeface="Trebuchet MS"/>
              <a:cs typeface="Trebuchet MS"/>
            </a:endParaRPr>
          </a:p>
          <a:p>
            <a:pPr marL="12700" marR="110489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permissibility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organ </a:t>
            </a:r>
            <a:r>
              <a:rPr dirty="0" sz="1450">
                <a:latin typeface="Trebuchet MS"/>
                <a:cs typeface="Trebuchet MS"/>
              </a:rPr>
              <a:t>donation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digital </a:t>
            </a:r>
            <a:r>
              <a:rPr dirty="0" sz="1450">
                <a:latin typeface="Trebuchet MS"/>
                <a:cs typeface="Trebuchet MS"/>
              </a:rPr>
              <a:t>currencies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Bitcoin.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05564" y="3315701"/>
            <a:ext cx="2647950" cy="27425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Happens: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look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Qur'an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Prophet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upon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related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principles. </a:t>
            </a: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organ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donation,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scholars</a:t>
            </a:r>
            <a:endParaRPr sz="1450">
              <a:latin typeface="Trebuchet MS"/>
              <a:cs typeface="Trebuchet MS"/>
            </a:endParaRPr>
          </a:p>
          <a:p>
            <a:pPr marL="12700" marR="6731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refer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verse: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"And </a:t>
            </a:r>
            <a:r>
              <a:rPr dirty="0" sz="1450">
                <a:latin typeface="Trebuchet MS"/>
                <a:cs typeface="Trebuchet MS"/>
              </a:rPr>
              <a:t>whoever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[life]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–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saved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mankind </a:t>
            </a:r>
            <a:r>
              <a:rPr dirty="0" sz="1450">
                <a:latin typeface="Trebuchet MS"/>
                <a:cs typeface="Trebuchet MS"/>
              </a:rPr>
              <a:t>entirely."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</a:t>
            </a:r>
            <a:r>
              <a:rPr dirty="0" sz="1450" spc="-10">
                <a:latin typeface="Trebuchet MS"/>
                <a:cs typeface="Trebuchet MS"/>
              </a:rPr>
              <a:t>Ma'idah, 5:32)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23416" y="3315701"/>
            <a:ext cx="2600960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Happens: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meet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discuss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issue,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considering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cultural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practical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aspects.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423416" y="4448083"/>
            <a:ext cx="2638425" cy="11576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Councils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International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Fiqh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Academy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(IIFA) </a:t>
            </a:r>
            <a:r>
              <a:rPr dirty="0" sz="1450">
                <a:latin typeface="Trebuchet MS"/>
                <a:cs typeface="Trebuchet MS"/>
              </a:rPr>
              <a:t>hold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meetings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deliberate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on </a:t>
            </a:r>
            <a:r>
              <a:rPr dirty="0" sz="1450">
                <a:latin typeface="Trebuchet MS"/>
                <a:cs typeface="Trebuchet MS"/>
              </a:rPr>
              <a:t>modern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issues.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How</a:t>
            </a:r>
            <a:r>
              <a:rPr dirty="0" sz="2950" spc="-45"/>
              <a:t> </a:t>
            </a:r>
            <a:r>
              <a:rPr dirty="0" sz="2950"/>
              <a:t>is</a:t>
            </a:r>
            <a:r>
              <a:rPr dirty="0" sz="2950" spc="-30"/>
              <a:t> </a:t>
            </a:r>
            <a:r>
              <a:rPr dirty="0" sz="2950"/>
              <a:t>Ijma</a:t>
            </a:r>
            <a:r>
              <a:rPr dirty="0" sz="2950" spc="-40"/>
              <a:t> </a:t>
            </a:r>
            <a:r>
              <a:rPr dirty="0" sz="2950"/>
              <a:t>Formed</a:t>
            </a:r>
            <a:r>
              <a:rPr dirty="0" sz="2950" spc="-90"/>
              <a:t> </a:t>
            </a:r>
            <a:r>
              <a:rPr dirty="0" sz="2950" spc="-10"/>
              <a:t>Today?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206726" y="2489668"/>
            <a:ext cx="3194050" cy="2515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Reach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 Agreement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Happens:</a:t>
            </a:r>
            <a:endParaRPr sz="1450">
              <a:latin typeface="Trebuchet MS"/>
              <a:cs typeface="Trebuchet MS"/>
            </a:endParaRPr>
          </a:p>
          <a:p>
            <a:pPr algn="just"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After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discussions,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decision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collective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ruling,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fatwa.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digital</a:t>
            </a:r>
            <a:endParaRPr sz="1450">
              <a:latin typeface="Trebuchet MS"/>
              <a:cs typeface="Trebuchet MS"/>
            </a:endParaRPr>
          </a:p>
          <a:p>
            <a:pPr marL="12700" marR="14287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currencies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permissible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avoids </a:t>
            </a:r>
            <a:r>
              <a:rPr dirty="0" sz="1450">
                <a:latin typeface="Trebuchet MS"/>
                <a:cs typeface="Trebuchet MS"/>
              </a:rPr>
              <a:t>interest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(riba)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fraud.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43624" y="2489668"/>
            <a:ext cx="181737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Institutions</a:t>
            </a:r>
            <a:r>
              <a:rPr dirty="0" sz="1450" spc="114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Involved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43624" y="2942363"/>
            <a:ext cx="4420870" cy="2289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Trebuchet MS"/>
                <a:cs typeface="Trebuchet MS"/>
              </a:rPr>
              <a:t>Several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organizations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Ijma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today: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International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Fiqh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Academy</a:t>
            </a:r>
            <a:r>
              <a:rPr dirty="0" sz="1450" spc="12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(IIFA):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Addresses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global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bioethics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finance.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Fiqh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Council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North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America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(FCNA):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Provides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guidance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North</a:t>
            </a:r>
            <a:r>
              <a:rPr dirty="0" sz="1450" spc="-10">
                <a:latin typeface="Trebuchet MS"/>
                <a:cs typeface="Trebuchet MS"/>
              </a:rPr>
              <a:t> America.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European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Council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for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Fatwa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Research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(ECFR):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Issues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rulings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Europe.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Key</a:t>
            </a:r>
            <a:r>
              <a:rPr dirty="0" sz="2950" spc="-30"/>
              <a:t> </a:t>
            </a:r>
            <a:r>
              <a:rPr dirty="0" sz="2950"/>
              <a:t>Institutions</a:t>
            </a:r>
            <a:r>
              <a:rPr dirty="0" sz="2950" spc="-45"/>
              <a:t> </a:t>
            </a:r>
            <a:r>
              <a:rPr dirty="0" sz="2950"/>
              <a:t>Facilitating</a:t>
            </a:r>
            <a:r>
              <a:rPr dirty="0" sz="2950" spc="-50"/>
              <a:t> </a:t>
            </a:r>
            <a:r>
              <a:rPr dirty="0" sz="2950" spc="-20"/>
              <a:t>Ijma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235700" y="2335755"/>
            <a:ext cx="7656830" cy="1012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9230" marR="508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today's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world,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several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important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organizations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come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together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agree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religious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matters.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institutions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remain </a:t>
            </a:r>
            <a:r>
              <a:rPr dirty="0" sz="1450">
                <a:latin typeface="Trebuchet MS"/>
                <a:cs typeface="Trebuchet MS"/>
              </a:rPr>
              <a:t>relevant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guidance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issues.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3931920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International</a:t>
            </a:r>
            <a:r>
              <a:rPr dirty="0" sz="1450" spc="10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Islamic</a:t>
            </a:r>
            <a:r>
              <a:rPr dirty="0" sz="1450" spc="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Fiqh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Academy</a:t>
            </a:r>
            <a:r>
              <a:rPr dirty="0" sz="1450" spc="1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(IIFA)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	National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Fiqh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Councils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5700" y="3548877"/>
            <a:ext cx="3613785" cy="2289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It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Is: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global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organization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Jeddah,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Saudi Arabia,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established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1981. </a:t>
            </a:r>
            <a:r>
              <a:rPr dirty="0" sz="1450" b="1">
                <a:latin typeface="Trebuchet MS"/>
                <a:cs typeface="Trebuchet MS"/>
              </a:rPr>
              <a:t>Role: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Brings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together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from </a:t>
            </a:r>
            <a:r>
              <a:rPr dirty="0" sz="1450">
                <a:latin typeface="Trebuchet MS"/>
                <a:cs typeface="Trebuchet MS"/>
              </a:rPr>
              <a:t>different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countries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discuss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issue </a:t>
            </a:r>
            <a:r>
              <a:rPr dirty="0" sz="1450">
                <a:latin typeface="Trebuchet MS"/>
                <a:cs typeface="Trebuchet MS"/>
              </a:rPr>
              <a:t>rulings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modern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medicine, </a:t>
            </a:r>
            <a:r>
              <a:rPr dirty="0" sz="1450">
                <a:latin typeface="Trebuchet MS"/>
                <a:cs typeface="Trebuchet MS"/>
              </a:rPr>
              <a:t>finance,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technology.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IIFA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guidelines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on</a:t>
            </a:r>
            <a:endParaRPr sz="1450">
              <a:latin typeface="Trebuchet MS"/>
              <a:cs typeface="Trebuchet MS"/>
            </a:endParaRPr>
          </a:p>
          <a:p>
            <a:pPr marL="12700" marR="435609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organ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transplantation,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stating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permissible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certain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conditions, </a:t>
            </a:r>
            <a:r>
              <a:rPr dirty="0" sz="1450">
                <a:latin typeface="Trebuchet MS"/>
                <a:cs typeface="Trebuchet MS"/>
              </a:rPr>
              <a:t>aligning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principles.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55484" y="3548877"/>
            <a:ext cx="3674745" cy="9321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They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Are: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Local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individual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countries.</a:t>
            </a:r>
            <a:endParaRPr sz="1450">
              <a:latin typeface="Trebuchet MS"/>
              <a:cs typeface="Trebuchet MS"/>
            </a:endParaRPr>
          </a:p>
          <a:p>
            <a:pPr marL="12700" marR="442595">
              <a:lnSpc>
                <a:spcPts val="1789"/>
              </a:lnSpc>
              <a:spcBef>
                <a:spcPts val="50"/>
              </a:spcBef>
            </a:pPr>
            <a:r>
              <a:rPr dirty="0" sz="1450" b="1">
                <a:latin typeface="Trebuchet MS"/>
                <a:cs typeface="Trebuchet MS"/>
              </a:rPr>
              <a:t>Role: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Address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local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provide </a:t>
            </a:r>
            <a:r>
              <a:rPr dirty="0" sz="1450">
                <a:latin typeface="Trebuchet MS"/>
                <a:cs typeface="Trebuchet MS"/>
              </a:rPr>
              <a:t>guidance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region.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55484" y="4906776"/>
            <a:ext cx="3786504" cy="1157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Fiqh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Council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North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America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guidance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moon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sighting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Ramadan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Eid,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North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America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determine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start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months.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algn="ctr">
              <a:lnSpc>
                <a:spcPct val="100000"/>
              </a:lnSpc>
            </a:pPr>
            <a:r>
              <a:rPr dirty="0" sz="2950"/>
              <a:t>Key</a:t>
            </a:r>
            <a:r>
              <a:rPr dirty="0" sz="2950" spc="-30"/>
              <a:t> </a:t>
            </a:r>
            <a:r>
              <a:rPr dirty="0" sz="2950"/>
              <a:t>Institutions</a:t>
            </a:r>
            <a:r>
              <a:rPr dirty="0" sz="2950" spc="-45"/>
              <a:t> </a:t>
            </a:r>
            <a:r>
              <a:rPr dirty="0" sz="2950"/>
              <a:t>Facilitating</a:t>
            </a:r>
            <a:r>
              <a:rPr dirty="0" sz="2950" spc="-50"/>
              <a:t> </a:t>
            </a:r>
            <a:r>
              <a:rPr dirty="0" sz="2950" spc="-20"/>
              <a:t>Ijma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810288" y="2550661"/>
            <a:ext cx="6807200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Al-Azhar</a:t>
            </a:r>
            <a:r>
              <a:rPr dirty="0" sz="145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University</a:t>
            </a:r>
            <a:r>
              <a:rPr dirty="0" sz="1450" spc="1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(Egypt)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It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Is: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oldest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most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respected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universities,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located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Cairo,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Egypt.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Role: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Educates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religious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rulings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various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matters.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50">
              <a:latin typeface="Trebuchet MS"/>
              <a:cs typeface="Trebuchet MS"/>
            </a:endParaRPr>
          </a:p>
          <a:p>
            <a:pPr marL="12700" marR="203835">
              <a:lnSpc>
                <a:spcPct val="102099"/>
              </a:lnSpc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Al-Azhar's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Council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Senior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plays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role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interpreting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guiding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contemporary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issues.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marL="173990">
              <a:lnSpc>
                <a:spcPct val="100000"/>
              </a:lnSpc>
            </a:pPr>
            <a:r>
              <a:rPr dirty="0" sz="2950"/>
              <a:t>Challenges</a:t>
            </a:r>
            <a:r>
              <a:rPr dirty="0" sz="2950" spc="20"/>
              <a:t> </a:t>
            </a:r>
            <a:r>
              <a:rPr dirty="0" sz="2950"/>
              <a:t>in</a:t>
            </a:r>
            <a:r>
              <a:rPr dirty="0" sz="2950" spc="-100"/>
              <a:t> </a:t>
            </a:r>
            <a:r>
              <a:rPr dirty="0" sz="2950"/>
              <a:t>Achieving</a:t>
            </a:r>
            <a:r>
              <a:rPr dirty="0" sz="2950" spc="30"/>
              <a:t> </a:t>
            </a:r>
            <a:r>
              <a:rPr dirty="0" sz="2950"/>
              <a:t>Ijma</a:t>
            </a:r>
            <a:r>
              <a:rPr dirty="0" sz="2950" spc="-5"/>
              <a:t> </a:t>
            </a:r>
            <a:r>
              <a:rPr dirty="0" sz="2950" spc="-10"/>
              <a:t>Today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63518" y="2320530"/>
            <a:ext cx="8382000" cy="7264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modern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world,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reaching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consensus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(Ijma)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faces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several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challenges: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450">
              <a:latin typeface="Trebuchet MS"/>
              <a:cs typeface="Trebuchet MS"/>
            </a:endParaRPr>
          </a:p>
          <a:p>
            <a:pPr marL="268605">
              <a:lnSpc>
                <a:spcPct val="100000"/>
              </a:lnSpc>
              <a:tabLst>
                <a:tab pos="4349750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Diverse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Opinions</a:t>
            </a:r>
            <a:r>
              <a:rPr dirty="0" sz="145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Across</a:t>
            </a:r>
            <a:r>
              <a:rPr dirty="0" sz="1450" spc="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Cultures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50" spc="9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Sects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	Rapid</a:t>
            </a:r>
            <a:r>
              <a:rPr dirty="0" sz="1450" spc="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Technological</a:t>
            </a:r>
            <a:r>
              <a:rPr dirty="0" sz="1450" spc="-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Advancements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9577" y="3247142"/>
            <a:ext cx="3849370" cy="2742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belong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various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cultures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follow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different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schools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thought </a:t>
            </a:r>
            <a:r>
              <a:rPr dirty="0" sz="1450">
                <a:latin typeface="Trebuchet MS"/>
                <a:cs typeface="Trebuchet MS"/>
              </a:rPr>
              <a:t>(madhhabs),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varied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interpretations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teachings.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celebration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Prophet</a:t>
            </a:r>
            <a:endParaRPr sz="1450">
              <a:latin typeface="Trebuchet MS"/>
              <a:cs typeface="Trebuchet MS"/>
            </a:endParaRPr>
          </a:p>
          <a:p>
            <a:pPr marL="12700" marR="195580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Muhammad's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birthday </a:t>
            </a:r>
            <a:r>
              <a:rPr dirty="0" sz="1450">
                <a:latin typeface="Trebuchet MS"/>
                <a:cs typeface="Trebuchet MS"/>
              </a:rPr>
              <a:t>(Mawlid)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accepted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communities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considered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innovation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(bid'ah)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in </a:t>
            </a:r>
            <a:r>
              <a:rPr dirty="0" sz="1450" spc="-10">
                <a:latin typeface="Trebuchet MS"/>
                <a:cs typeface="Trebuchet MS"/>
              </a:rPr>
              <a:t>others.</a:t>
            </a:r>
            <a:endParaRPr sz="1450">
              <a:latin typeface="Trebuchet MS"/>
              <a:cs typeface="Trebuchet MS"/>
            </a:endParaRPr>
          </a:p>
          <a:p>
            <a:pPr marL="12700" marR="39370">
              <a:lnSpc>
                <a:spcPct val="102400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3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Different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madhhabs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unique </a:t>
            </a:r>
            <a:r>
              <a:rPr dirty="0" sz="1450">
                <a:latin typeface="Trebuchet MS"/>
                <a:cs typeface="Trebuchet MS"/>
              </a:rPr>
              <a:t>perspectives,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unanimous </a:t>
            </a:r>
            <a:r>
              <a:rPr dirty="0" sz="1450">
                <a:latin typeface="Trebuchet MS"/>
                <a:cs typeface="Trebuchet MS"/>
              </a:rPr>
              <a:t>agreement</a:t>
            </a:r>
            <a:r>
              <a:rPr dirty="0" sz="1450" spc="1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challenging.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00839" y="3247142"/>
            <a:ext cx="3738245" cy="2967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1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technologies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artificial </a:t>
            </a:r>
            <a:r>
              <a:rPr dirty="0" sz="1450">
                <a:latin typeface="Trebuchet MS"/>
                <a:cs typeface="Trebuchet MS"/>
              </a:rPr>
              <a:t>intelligence,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biotechnology,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digital </a:t>
            </a:r>
            <a:r>
              <a:rPr dirty="0" sz="1450">
                <a:latin typeface="Trebuchet MS"/>
                <a:cs typeface="Trebuchet MS"/>
              </a:rPr>
              <a:t>currencies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emerge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quickly,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posing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questions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traditional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jurisprudence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hasn't </a:t>
            </a: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permissibility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using </a:t>
            </a:r>
            <a:r>
              <a:rPr dirty="0" sz="1450">
                <a:latin typeface="Trebuchet MS"/>
                <a:cs typeface="Trebuchet MS"/>
              </a:rPr>
              <a:t>cryptocurrencies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Bitcoin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varies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among </a:t>
            </a:r>
            <a:r>
              <a:rPr dirty="0" sz="1450">
                <a:latin typeface="Trebuchet MS"/>
                <a:cs typeface="Trebuchet MS"/>
              </a:rPr>
              <a:t>scholars,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accepting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them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under </a:t>
            </a:r>
            <a:r>
              <a:rPr dirty="0" sz="1450">
                <a:latin typeface="Trebuchet MS"/>
                <a:cs typeface="Trebuchet MS"/>
              </a:rPr>
              <a:t>certain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conditions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expressing caution.</a:t>
            </a:r>
            <a:endParaRPr sz="1450">
              <a:latin typeface="Trebuchet MS"/>
              <a:cs typeface="Trebuchet MS"/>
            </a:endParaRPr>
          </a:p>
          <a:p>
            <a:pPr marL="12700" marR="43815">
              <a:lnSpc>
                <a:spcPct val="102299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strive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apply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Islamic </a:t>
            </a:r>
            <a:r>
              <a:rPr dirty="0" sz="1450">
                <a:latin typeface="Trebuchet MS"/>
                <a:cs typeface="Trebuchet MS"/>
              </a:rPr>
              <a:t>principles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modern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innovations,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rapid </a:t>
            </a:r>
            <a:r>
              <a:rPr dirty="0" sz="1450">
                <a:latin typeface="Trebuchet MS"/>
                <a:cs typeface="Trebuchet MS"/>
              </a:rPr>
              <a:t>changes</a:t>
            </a:r>
            <a:r>
              <a:rPr dirty="0" sz="1450" spc="1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outpace</a:t>
            </a:r>
            <a:r>
              <a:rPr dirty="0" sz="1450" spc="1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consensus-</a:t>
            </a:r>
            <a:r>
              <a:rPr dirty="0" sz="1450" spc="-10">
                <a:latin typeface="Trebuchet MS"/>
                <a:cs typeface="Trebuchet MS"/>
              </a:rPr>
              <a:t>building efforts.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760"/>
              </a:lnSpc>
              <a:spcBef>
                <a:spcPts val="114"/>
              </a:spcBef>
            </a:pPr>
            <a:r>
              <a:rPr dirty="0"/>
              <a:t>Consensus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Scholars</a:t>
            </a:r>
            <a:r>
              <a:rPr dirty="0" spc="-5"/>
              <a:t> </a:t>
            </a:r>
            <a:r>
              <a:rPr dirty="0"/>
              <a:t>Regarding</a:t>
            </a:r>
            <a:r>
              <a:rPr dirty="0" spc="-55"/>
              <a:t> </a:t>
            </a:r>
            <a:r>
              <a:rPr dirty="0"/>
              <a:t>Current</a:t>
            </a:r>
            <a:r>
              <a:rPr dirty="0" spc="-20"/>
              <a:t> </a:t>
            </a:r>
            <a:r>
              <a:rPr dirty="0" spc="-10"/>
              <a:t>Issues</a:t>
            </a:r>
          </a:p>
          <a:p>
            <a:pPr marL="173990">
              <a:lnSpc>
                <a:spcPct val="100000"/>
              </a:lnSpc>
            </a:pPr>
            <a:r>
              <a:rPr dirty="0" sz="2950"/>
              <a:t>Challenges</a:t>
            </a:r>
            <a:r>
              <a:rPr dirty="0" sz="2950" spc="20"/>
              <a:t> </a:t>
            </a:r>
            <a:r>
              <a:rPr dirty="0" sz="2950"/>
              <a:t>in</a:t>
            </a:r>
            <a:r>
              <a:rPr dirty="0" sz="2950" spc="-100"/>
              <a:t> </a:t>
            </a:r>
            <a:r>
              <a:rPr dirty="0" sz="2950"/>
              <a:t>Achieving</a:t>
            </a:r>
            <a:r>
              <a:rPr dirty="0" sz="2950" spc="30"/>
              <a:t> </a:t>
            </a:r>
            <a:r>
              <a:rPr dirty="0" sz="2950"/>
              <a:t>Ijma</a:t>
            </a:r>
            <a:r>
              <a:rPr dirty="0" sz="2950" spc="-5"/>
              <a:t> </a:t>
            </a:r>
            <a:r>
              <a:rPr dirty="0" sz="2950" spc="-10"/>
              <a:t>Today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412496" y="2367774"/>
            <a:ext cx="3180080" cy="3420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93040">
              <a:lnSpc>
                <a:spcPct val="102800"/>
              </a:lnSpc>
              <a:spcBef>
                <a:spcPts val="9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Lack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Central</a:t>
            </a:r>
            <a:r>
              <a:rPr dirty="0" sz="145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Authority</a:t>
            </a:r>
            <a:r>
              <a:rPr dirty="0" sz="1450" spc="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for</a:t>
            </a:r>
            <a:r>
              <a:rPr dirty="0" sz="1450" spc="-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0070BF"/>
                </a:solidFill>
                <a:latin typeface="Trebuchet MS"/>
                <a:cs typeface="Trebuchet MS"/>
              </a:rPr>
              <a:t>All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Muslims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50">
              <a:latin typeface="Trebuchet MS"/>
              <a:cs typeface="Trebuchet MS"/>
            </a:endParaRPr>
          </a:p>
          <a:p>
            <a:pPr marL="12700" marR="72390">
              <a:lnSpc>
                <a:spcPct val="102299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Unlike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past,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there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no </a:t>
            </a:r>
            <a:r>
              <a:rPr dirty="0" sz="1450">
                <a:latin typeface="Trebuchet MS"/>
                <a:cs typeface="Trebuchet MS"/>
              </a:rPr>
              <a:t>single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global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authority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binding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all </a:t>
            </a:r>
            <a:r>
              <a:rPr dirty="0" sz="1450" spc="-10">
                <a:latin typeface="Trebuchet MS"/>
                <a:cs typeface="Trebuchet MS"/>
              </a:rPr>
              <a:t>Muslims.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13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Different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countries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may </a:t>
            </a:r>
            <a:r>
              <a:rPr dirty="0" sz="1450">
                <a:latin typeface="Trebuchet MS"/>
                <a:cs typeface="Trebuchet MS"/>
              </a:rPr>
              <a:t>start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Ramadan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different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days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due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varying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sighting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methods, </a:t>
            </a:r>
            <a:r>
              <a:rPr dirty="0" sz="1450">
                <a:latin typeface="Trebuchet MS"/>
                <a:cs typeface="Trebuchet MS"/>
              </a:rPr>
              <a:t>leading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confusion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Muslims. </a:t>
            </a: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Efforts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Amman </a:t>
            </a:r>
            <a:r>
              <a:rPr dirty="0" sz="1450">
                <a:latin typeface="Trebuchet MS"/>
                <a:cs typeface="Trebuchet MS"/>
              </a:rPr>
              <a:t>Message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promote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unity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among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recognizing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validity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various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schools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thought.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55484" y="2367774"/>
            <a:ext cx="3576954" cy="3420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28980">
              <a:lnSpc>
                <a:spcPct val="102800"/>
              </a:lnSpc>
              <a:spcBef>
                <a:spcPts val="9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Political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Social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Pressures</a:t>
            </a:r>
            <a:r>
              <a:rPr dirty="0" sz="145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0070BF"/>
                </a:solidFill>
                <a:latin typeface="Trebuchet MS"/>
                <a:cs typeface="Trebuchet MS"/>
              </a:rPr>
              <a:t>on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Scholars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50">
              <a:latin typeface="Trebuchet MS"/>
              <a:cs typeface="Trebuchet MS"/>
            </a:endParaRPr>
          </a:p>
          <a:p>
            <a:pPr marL="12700" marR="33655">
              <a:lnSpc>
                <a:spcPct val="102299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Issue: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face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pressure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from </a:t>
            </a:r>
            <a:r>
              <a:rPr dirty="0" sz="1450">
                <a:latin typeface="Trebuchet MS"/>
                <a:cs typeface="Trebuchet MS"/>
              </a:rPr>
              <a:t>governments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social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influencing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ability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issue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unbiased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religious rulings.</a:t>
            </a:r>
            <a:endParaRPr sz="1450">
              <a:latin typeface="Trebuchet MS"/>
              <a:cs typeface="Trebuchet MS"/>
            </a:endParaRPr>
          </a:p>
          <a:p>
            <a:pPr marL="12700" marR="27305">
              <a:lnSpc>
                <a:spcPct val="102299"/>
              </a:lnSpc>
              <a:spcBef>
                <a:spcPts val="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regions,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might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discussing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sensitive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topics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like </a:t>
            </a:r>
            <a:r>
              <a:rPr dirty="0" sz="1450">
                <a:latin typeface="Trebuchet MS"/>
                <a:cs typeface="Trebuchet MS"/>
              </a:rPr>
              <a:t>human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rights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political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due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potential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repercussions.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Political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social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dynamics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impact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independence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scholarly </a:t>
            </a:r>
            <a:r>
              <a:rPr dirty="0" sz="1450">
                <a:latin typeface="Trebuchet MS"/>
                <a:cs typeface="Trebuchet MS"/>
              </a:rPr>
              <a:t>opinions,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affecting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formation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consensus.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- 18 May 2025 - Chapter-7 Islamic laws and Islamic jurisprudence</dc:title>
  <dcterms:created xsi:type="dcterms:W3CDTF">2025-07-05T10:15:27Z</dcterms:created>
  <dcterms:modified xsi:type="dcterms:W3CDTF">2025-07-05T10:15:27Z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2025-05-18T00:00:00Z</vt:filetime>
  </property>
  <property fmtid="{D5CDD505-2E9C-101B-9397-08002B2CF9AE}" pid="3" name="LastSaved">
    <vt:filetime>2025-07-05T00:00:00Z</vt:filetime>
  </property>
  <property fmtid="{D5CDD505-2E9C-101B-9397-08002B2CF9AE}" pid="4" name="Producer">
    <vt:lpwstr>Microsoft: Print To PDF</vt:lpwstr>
  </property>
</Properties>
</file>