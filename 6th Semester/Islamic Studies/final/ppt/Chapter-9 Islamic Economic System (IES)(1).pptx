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31727" y="1718579"/>
            <a:ext cx="3540125" cy="4855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70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4137" y="1139422"/>
            <a:ext cx="3818890" cy="365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285" y="1724405"/>
            <a:ext cx="7489190" cy="285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742682" y="5269406"/>
            <a:ext cx="3413125" cy="781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85567" y="1785623"/>
            <a:ext cx="3718560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9</a:t>
            </a:r>
            <a:r>
              <a:rPr dirty="0" u="none" baseline="25462" sz="5400">
                <a:solidFill>
                  <a:srgbClr val="90C126"/>
                </a:solidFill>
              </a:rPr>
              <a:t>th</a:t>
            </a:r>
            <a:r>
              <a:rPr dirty="0" u="none" baseline="25462" sz="5400" spc="832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1" name="object 11" descr=""/>
          <p:cNvSpPr/>
          <p:nvPr/>
        </p:nvSpPr>
        <p:spPr>
          <a:xfrm>
            <a:off x="2522219" y="2577083"/>
            <a:ext cx="3642360" cy="67310"/>
          </a:xfrm>
          <a:custGeom>
            <a:avLst/>
            <a:gdLst/>
            <a:ahLst/>
            <a:cxnLst/>
            <a:rect l="l" t="t" r="r" b="b"/>
            <a:pathLst>
              <a:path w="3642360" h="67310">
                <a:moveTo>
                  <a:pt x="3642360" y="67056"/>
                </a:moveTo>
                <a:lnTo>
                  <a:pt x="0" y="67056"/>
                </a:lnTo>
                <a:lnTo>
                  <a:pt x="0" y="0"/>
                </a:lnTo>
                <a:lnTo>
                  <a:pt x="3642360" y="0"/>
                </a:lnTo>
                <a:lnTo>
                  <a:pt x="3642360" y="6705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09034" y="2622192"/>
            <a:ext cx="6470650" cy="1816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  <a:tabLst>
                <a:tab pos="1616075" algn="l"/>
                <a:tab pos="3818254" algn="l"/>
              </a:tabLst>
            </a:pP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	</a:t>
            </a: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	System</a:t>
            </a:r>
            <a:r>
              <a:rPr dirty="0" u="sng" sz="3600" spc="1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(IES)</a:t>
            </a:r>
            <a:endParaRPr sz="3600">
              <a:latin typeface="Trebuchet MS"/>
              <a:cs typeface="Trebuchet MS"/>
            </a:endParaRPr>
          </a:p>
          <a:p>
            <a:pPr algn="ctr" marL="408305" marR="398780" indent="-1270">
              <a:lnSpc>
                <a:spcPct val="141200"/>
              </a:lnSpc>
              <a:spcBef>
                <a:spcPts val="124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Basis,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Importance,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Uniqueness,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&amp;</a:t>
            </a:r>
            <a:r>
              <a:rPr dirty="0" sz="1650" spc="-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Characteristics</a:t>
            </a:r>
            <a:r>
              <a:rPr dirty="0" sz="165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6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0070BF"/>
                </a:solidFill>
                <a:latin typeface="Arial"/>
                <a:cs typeface="Arial"/>
              </a:rPr>
              <a:t>IES.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650" spc="-8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Economic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System</a:t>
            </a:r>
            <a:r>
              <a:rPr dirty="0" sz="165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and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Other</a:t>
            </a:r>
            <a:r>
              <a:rPr dirty="0" sz="16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Economic</a:t>
            </a:r>
            <a:r>
              <a:rPr dirty="0" sz="16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Systems.</a:t>
            </a:r>
            <a:endParaRPr sz="165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865"/>
              </a:spcBef>
            </a:pP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Illegal</a:t>
            </a:r>
            <a:r>
              <a:rPr dirty="0" sz="1700" spc="1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Earning</a:t>
            </a:r>
            <a:r>
              <a:rPr dirty="0" sz="1700" spc="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(Kasb-e-</a:t>
            </a:r>
            <a:r>
              <a:rPr dirty="0" sz="1700" spc="-10" b="1">
                <a:solidFill>
                  <a:srgbClr val="0070BF"/>
                </a:solidFill>
                <a:latin typeface="Arial"/>
                <a:cs typeface="Arial"/>
              </a:rPr>
              <a:t>Haram)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562038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Islamic</a:t>
            </a:r>
            <a:r>
              <a:rPr dirty="0" sz="2950" spc="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Economic System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(IES)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8405495" cy="146494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Economic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System</a:t>
            </a:r>
            <a:r>
              <a:rPr dirty="0" sz="2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(IES)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(Basis,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Importance,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Uniqueness,</a:t>
            </a:r>
            <a:r>
              <a:rPr dirty="0" sz="11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Characteristics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IES)</a:t>
            </a:r>
            <a:endParaRPr sz="1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Economic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System</a:t>
            </a:r>
            <a:r>
              <a:rPr dirty="0" sz="2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 Other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Economic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Systems.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738" y="1240086"/>
            <a:ext cx="604647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Understanding</a:t>
            </a:r>
            <a:r>
              <a:rPr dirty="0" sz="2300" spc="-60"/>
              <a:t> </a:t>
            </a:r>
            <a:r>
              <a:rPr dirty="0" sz="2300"/>
              <a:t>the</a:t>
            </a:r>
            <a:r>
              <a:rPr dirty="0" sz="2300" spc="-15"/>
              <a:t> </a:t>
            </a:r>
            <a:r>
              <a:rPr dirty="0" sz="2300"/>
              <a:t>Islamic</a:t>
            </a:r>
            <a:r>
              <a:rPr dirty="0" sz="2300" spc="-55"/>
              <a:t> </a:t>
            </a:r>
            <a:r>
              <a:rPr dirty="0" sz="2300"/>
              <a:t>Economic</a:t>
            </a:r>
            <a:r>
              <a:rPr dirty="0" sz="2300" spc="-40"/>
              <a:t> </a:t>
            </a:r>
            <a:r>
              <a:rPr dirty="0" sz="2300" spc="-10"/>
              <a:t>System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298147" y="1774147"/>
            <a:ext cx="8258175" cy="380936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9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is</a:t>
            </a:r>
            <a:r>
              <a:rPr dirty="0" sz="19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9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9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Economic</a:t>
            </a:r>
            <a:r>
              <a:rPr dirty="0" sz="19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950" spc="-10" b="1">
                <a:solidFill>
                  <a:srgbClr val="0070BF"/>
                </a:solidFill>
                <a:latin typeface="Trebuchet MS"/>
                <a:cs typeface="Trebuchet MS"/>
              </a:rPr>
              <a:t>System?</a:t>
            </a:r>
            <a:endParaRPr sz="1950">
              <a:latin typeface="Trebuchet MS"/>
              <a:cs typeface="Trebuchet MS"/>
            </a:endParaRPr>
          </a:p>
          <a:p>
            <a:pPr marL="12700" marR="337185" indent="-635">
              <a:lnSpc>
                <a:spcPct val="101899"/>
              </a:lnSpc>
              <a:spcBef>
                <a:spcPts val="80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Definition</a:t>
            </a:r>
            <a:r>
              <a:rPr dirty="0" sz="1650" spc="-10">
                <a:latin typeface="Microsoft Sans Serif"/>
                <a:cs typeface="Microsoft Sans Serif"/>
              </a:rPr>
              <a:t>: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Islamic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Economic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System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way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managing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money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resources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based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Islamic </a:t>
            </a:r>
            <a:r>
              <a:rPr dirty="0" sz="1300">
                <a:latin typeface="Microsoft Sans Serif"/>
                <a:cs typeface="Microsoft Sans Serif"/>
              </a:rPr>
              <a:t>teachings.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guides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people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earn,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spend,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share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wealth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honest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manner.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Sources</a:t>
            </a:r>
            <a:r>
              <a:rPr dirty="0" sz="1300" spc="-10" b="1">
                <a:solidFill>
                  <a:srgbClr val="0070BF"/>
                </a:solidFill>
                <a:latin typeface="Arial"/>
                <a:cs typeface="Arial"/>
              </a:rPr>
              <a:t>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300">
                <a:latin typeface="Microsoft Sans Serif"/>
                <a:cs typeface="Microsoft Sans Serif"/>
              </a:rPr>
              <a:t>This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system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based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on: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650" spc="-9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:</a:t>
            </a:r>
            <a:r>
              <a:rPr dirty="0" sz="130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-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holy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book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Islam.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Sunnah</a:t>
            </a: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:</a:t>
            </a:r>
            <a:r>
              <a:rPr dirty="0" sz="1300" spc="-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Teachings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practices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(peace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upon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him).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Goal</a:t>
            </a:r>
            <a:r>
              <a:rPr dirty="0" sz="1300">
                <a:latin typeface="Microsoft Sans Serif"/>
                <a:cs typeface="Microsoft Sans Serif"/>
              </a:rPr>
              <a:t>: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 spc="-60">
                <a:latin typeface="Microsoft Sans Serif"/>
                <a:cs typeface="Microsoft Sans Serif"/>
              </a:rPr>
              <a:t>To</a:t>
            </a:r>
            <a:r>
              <a:rPr dirty="0" sz="1300" spc="-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create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 society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where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everyone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treated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fairly,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wealth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shared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justly,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people's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needs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met.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 spc="-10">
                <a:latin typeface="Microsoft Sans Serif"/>
                <a:cs typeface="Microsoft Sans Serif"/>
              </a:rPr>
              <a:t>:</a:t>
            </a:r>
            <a:endParaRPr sz="1300">
              <a:latin typeface="Microsoft Sans Serif"/>
              <a:cs typeface="Microsoft Sans Serif"/>
            </a:endParaRPr>
          </a:p>
          <a:p>
            <a:pPr marL="12700" marR="8255">
              <a:lnSpc>
                <a:spcPct val="101499"/>
              </a:lnSpc>
              <a:spcBef>
                <a:spcPts val="835"/>
              </a:spcBef>
            </a:pP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Pakistan,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many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people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prefer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Islamic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banking,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which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follows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Islamic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rules.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example,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Meezan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Bank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50">
                <a:latin typeface="Microsoft Sans Serif"/>
                <a:cs typeface="Microsoft Sans Serif"/>
              </a:rPr>
              <a:t>a </a:t>
            </a:r>
            <a:r>
              <a:rPr dirty="0" sz="1300">
                <a:latin typeface="Microsoft Sans Serif"/>
                <a:cs typeface="Microsoft Sans Serif"/>
              </a:rPr>
              <a:t>popular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Islamic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bank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that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does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charge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interest,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interest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(called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riba)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allowed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Islam.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Instead,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they </a:t>
            </a:r>
            <a:r>
              <a:rPr dirty="0" sz="1300">
                <a:latin typeface="Microsoft Sans Serif"/>
                <a:cs typeface="Microsoft Sans Serif"/>
              </a:rPr>
              <a:t>use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profit-sharing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methods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people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save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borrow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money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halal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(permissible)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way.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643" y="1261341"/>
            <a:ext cx="650240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Core</a:t>
            </a:r>
            <a:r>
              <a:rPr dirty="0" sz="2300" spc="-5"/>
              <a:t> </a:t>
            </a:r>
            <a:r>
              <a:rPr dirty="0" sz="2300"/>
              <a:t>Principles</a:t>
            </a:r>
            <a:r>
              <a:rPr dirty="0" sz="2300" spc="-35"/>
              <a:t> </a:t>
            </a:r>
            <a:r>
              <a:rPr dirty="0" sz="2300"/>
              <a:t>of</a:t>
            </a:r>
            <a:r>
              <a:rPr dirty="0" sz="2300" spc="-10"/>
              <a:t> </a:t>
            </a:r>
            <a:r>
              <a:rPr dirty="0" sz="2300"/>
              <a:t>the</a:t>
            </a:r>
            <a:r>
              <a:rPr dirty="0" sz="2300" spc="-20"/>
              <a:t> </a:t>
            </a:r>
            <a:r>
              <a:rPr dirty="0" sz="2300"/>
              <a:t>Islamic</a:t>
            </a:r>
            <a:r>
              <a:rPr dirty="0" sz="2300" spc="-40"/>
              <a:t> </a:t>
            </a:r>
            <a:r>
              <a:rPr dirty="0" sz="2300"/>
              <a:t>Economic</a:t>
            </a:r>
            <a:r>
              <a:rPr dirty="0" sz="2300" spc="-45"/>
              <a:t> </a:t>
            </a:r>
            <a:r>
              <a:rPr dirty="0" sz="2300" spc="-10"/>
              <a:t>System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2046272"/>
            <a:ext cx="3496310" cy="213931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353060">
              <a:lnSpc>
                <a:spcPct val="102200"/>
              </a:lnSpc>
              <a:spcBef>
                <a:spcPts val="60"/>
              </a:spcBef>
            </a:pPr>
            <a:r>
              <a:rPr dirty="0" sz="1450">
                <a:latin typeface="Trebuchet MS"/>
                <a:cs typeface="Trebuchet MS"/>
              </a:rPr>
              <a:t>1.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Tawhid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(Oneness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650" spc="-8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Allah): </a:t>
            </a:r>
            <a:r>
              <a:rPr dirty="0" sz="1450">
                <a:latin typeface="Trebuchet MS"/>
                <a:cs typeface="Trebuchet MS"/>
              </a:rPr>
              <a:t>Meaning: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only </a:t>
            </a:r>
            <a:r>
              <a:rPr dirty="0" sz="1450">
                <a:latin typeface="Trebuchet MS"/>
                <a:cs typeface="Trebuchet MS"/>
              </a:rPr>
              <a:t>creator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everything.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In</a:t>
            </a:r>
            <a:r>
              <a:rPr dirty="0" sz="16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Economics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caretakers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89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us.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 </a:t>
            </a:r>
            <a:r>
              <a:rPr dirty="0" sz="1450" spc="-10">
                <a:latin typeface="Trebuchet MS"/>
                <a:cs typeface="Trebuchet MS"/>
              </a:rPr>
              <a:t>responsibly.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farmer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portion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</a:t>
            </a:r>
            <a:endParaRPr sz="1450">
              <a:latin typeface="Trebuchet MS"/>
              <a:cs typeface="Trebuchet MS"/>
            </a:endParaRPr>
          </a:p>
          <a:p>
            <a:pPr marL="12700" marR="15240">
              <a:lnSpc>
                <a:spcPts val="1789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harvest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acknowledging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blessing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7719" y="4384025"/>
            <a:ext cx="3564890" cy="1913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Trebuchet MS"/>
                <a:cs typeface="Trebuchet MS"/>
              </a:rPr>
              <a:t>2.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Adl</a:t>
            </a:r>
            <a:r>
              <a:rPr dirty="0" sz="16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(Justice</a:t>
            </a:r>
            <a:r>
              <a:rPr dirty="0" sz="1450" spc="-10">
                <a:latin typeface="Trebuchet MS"/>
                <a:cs typeface="Trebuchet MS"/>
              </a:rPr>
              <a:t>):</a:t>
            </a:r>
            <a:endParaRPr sz="1450">
              <a:latin typeface="Trebuchet MS"/>
              <a:cs typeface="Trebuchet MS"/>
            </a:endParaRPr>
          </a:p>
          <a:p>
            <a:pPr marL="12700" marR="688975">
              <a:lnSpc>
                <a:spcPct val="1020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Meaning: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 </a:t>
            </a:r>
            <a:r>
              <a:rPr dirty="0" sz="1450" spc="-10">
                <a:latin typeface="Trebuchet MS"/>
                <a:cs typeface="Trebuchet MS"/>
              </a:rPr>
              <a:t>dealings.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820"/>
              </a:lnSpc>
              <a:spcBef>
                <a:spcPts val="20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In</a:t>
            </a:r>
            <a:r>
              <a:rPr dirty="0" sz="16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Economics</a:t>
            </a:r>
            <a:r>
              <a:rPr dirty="0" sz="1450">
                <a:latin typeface="Trebuchet MS"/>
                <a:cs typeface="Trebuchet MS"/>
              </a:rPr>
              <a:t>: Ensuring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fairness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buying,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selling,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distribution.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 shopkeeper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honest</a:t>
            </a:r>
            <a:endParaRPr sz="1450">
              <a:latin typeface="Trebuchet MS"/>
              <a:cs typeface="Trebuchet MS"/>
            </a:endParaRPr>
          </a:p>
          <a:p>
            <a:pPr marL="12700" marR="753110">
              <a:lnSpc>
                <a:spcPts val="1789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weights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measures,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ensuring </a:t>
            </a:r>
            <a:r>
              <a:rPr dirty="0" sz="1450">
                <a:latin typeface="Trebuchet MS"/>
                <a:cs typeface="Trebuchet MS"/>
              </a:rPr>
              <a:t>customers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for.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66462" y="2200183"/>
            <a:ext cx="3775710" cy="12325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latin typeface="Trebuchet MS"/>
                <a:cs typeface="Trebuchet MS"/>
              </a:rPr>
              <a:t>Meaning: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Purifying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one's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wealth</a:t>
            </a:r>
            <a:r>
              <a:rPr dirty="0" sz="1300" spc="7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and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spc="-20" b="1">
                <a:latin typeface="Trebuchet MS"/>
                <a:cs typeface="Trebuchet MS"/>
              </a:rPr>
              <a:t>soul.</a:t>
            </a:r>
            <a:endParaRPr sz="1300">
              <a:latin typeface="Trebuchet MS"/>
              <a:cs typeface="Trebuchet MS"/>
            </a:endParaRPr>
          </a:p>
          <a:p>
            <a:pPr marL="12700" marR="113664">
              <a:lnSpc>
                <a:spcPts val="1580"/>
              </a:lnSpc>
              <a:spcBef>
                <a:spcPts val="60"/>
              </a:spcBef>
            </a:pPr>
            <a:r>
              <a:rPr dirty="0" sz="1300" b="1">
                <a:latin typeface="Trebuchet MS"/>
                <a:cs typeface="Trebuchet MS"/>
              </a:rPr>
              <a:t>In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Economics:</a:t>
            </a:r>
            <a:r>
              <a:rPr dirty="0" sz="1300" spc="-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Avoiding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dishonest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earnings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and </a:t>
            </a:r>
            <a:r>
              <a:rPr dirty="0" sz="1300" b="1">
                <a:latin typeface="Trebuchet MS"/>
                <a:cs typeface="Trebuchet MS"/>
              </a:rPr>
              <a:t>giving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to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charity.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ts val="1580"/>
              </a:lnSpc>
              <a:spcBef>
                <a:spcPts val="5"/>
              </a:spcBef>
            </a:pPr>
            <a:r>
              <a:rPr dirty="0" sz="1300" b="1">
                <a:latin typeface="Trebuchet MS"/>
                <a:cs typeface="Trebuchet MS"/>
              </a:rPr>
              <a:t>Example:</a:t>
            </a:r>
            <a:r>
              <a:rPr dirty="0" sz="1300" spc="-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</a:t>
            </a:r>
            <a:r>
              <a:rPr dirty="0" sz="1300" spc="-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businessperson</a:t>
            </a:r>
            <a:r>
              <a:rPr dirty="0" sz="1300" spc="11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donates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</a:t>
            </a:r>
            <a:r>
              <a:rPr dirty="0" sz="1300" spc="5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portion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of </a:t>
            </a:r>
            <a:r>
              <a:rPr dirty="0" sz="1300" b="1">
                <a:latin typeface="Trebuchet MS"/>
                <a:cs typeface="Trebuchet MS"/>
              </a:rPr>
              <a:t>their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income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to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charity,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cleansing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their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wealth </a:t>
            </a:r>
            <a:r>
              <a:rPr dirty="0" sz="1300" b="1">
                <a:latin typeface="Trebuchet MS"/>
                <a:cs typeface="Trebuchet MS"/>
              </a:rPr>
              <a:t>and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helping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those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in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spc="-20" b="1">
                <a:latin typeface="Trebuchet MS"/>
                <a:cs typeface="Trebuchet MS"/>
              </a:rPr>
              <a:t>need.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66500" y="3695188"/>
            <a:ext cx="3683635" cy="1887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indent="-635">
              <a:lnSpc>
                <a:spcPct val="100000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650" spc="-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Banks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Institutions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Meezan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>
                <a:latin typeface="Trebuchet MS"/>
                <a:cs typeface="Trebuchet MS"/>
              </a:rPr>
              <a:t>Bank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Pakistan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operate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charging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interest,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aligning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riba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(interest).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Instead,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they </a:t>
            </a:r>
            <a:r>
              <a:rPr dirty="0" sz="1450">
                <a:latin typeface="Trebuchet MS"/>
                <a:cs typeface="Trebuchet MS"/>
              </a:rPr>
              <a:t>engage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profit-sharing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models,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ensuring </a:t>
            </a:r>
            <a:r>
              <a:rPr dirty="0" sz="1450">
                <a:latin typeface="Trebuchet MS"/>
                <a:cs typeface="Trebuchet MS"/>
              </a:rPr>
              <a:t>fairness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financial transactions.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7735" y="1648425"/>
            <a:ext cx="6013450" cy="576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130"/>
              </a:spcBef>
            </a:pP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Foundations</a:t>
            </a:r>
            <a:r>
              <a:rPr dirty="0" u="sng" sz="1950" spc="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9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IES</a:t>
            </a:r>
            <a:endParaRPr sz="1950">
              <a:latin typeface="Trebuchet MS"/>
              <a:cs typeface="Trebuchet MS"/>
            </a:endParaRPr>
          </a:p>
          <a:p>
            <a:pPr marL="3710940">
              <a:lnSpc>
                <a:spcPts val="1975"/>
              </a:lnSpc>
            </a:pPr>
            <a:r>
              <a:rPr dirty="0" sz="1650" spc="-20" b="1">
                <a:solidFill>
                  <a:srgbClr val="0070BF"/>
                </a:solidFill>
                <a:latin typeface="Arial"/>
                <a:cs typeface="Arial"/>
              </a:rPr>
              <a:t>Tazkiyah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(Purification):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11285" y="2034048"/>
            <a:ext cx="3913504" cy="41008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Economic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Stability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93345">
              <a:lnSpc>
                <a:spcPts val="1810"/>
              </a:lnSpc>
              <a:spcBef>
                <a:spcPts val="20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harmful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can </a:t>
            </a:r>
            <a:r>
              <a:rPr dirty="0" sz="1450">
                <a:latin typeface="Trebuchet MS"/>
                <a:cs typeface="Trebuchet MS"/>
              </a:rPr>
              <a:t>hurt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economy.</a:t>
            </a:r>
            <a:endParaRPr sz="1450">
              <a:latin typeface="Trebuchet MS"/>
              <a:cs typeface="Trebuchet MS"/>
            </a:endParaRPr>
          </a:p>
          <a:p>
            <a:pPr marL="12700" marR="102235">
              <a:lnSpc>
                <a:spcPts val="1820"/>
              </a:lnSpc>
              <a:spcBef>
                <a:spcPts val="13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prohibiting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 </a:t>
            </a:r>
            <a:r>
              <a:rPr dirty="0" sz="1450">
                <a:latin typeface="Trebuchet MS"/>
                <a:cs typeface="Trebuchet MS"/>
              </a:rPr>
              <a:t>prevents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falling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debt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traps.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buAutoNum type="arabicPeriod" startAt="4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Moral</a:t>
            </a:r>
            <a:r>
              <a:rPr dirty="0" sz="16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Foundation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182880">
              <a:lnSpc>
                <a:spcPts val="1820"/>
              </a:lnSpc>
              <a:spcBef>
                <a:spcPts val="19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fairness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dealings.</a:t>
            </a:r>
            <a:endParaRPr sz="1450">
              <a:latin typeface="Trebuchet MS"/>
              <a:cs typeface="Trebuchet MS"/>
            </a:endParaRPr>
          </a:p>
          <a:p>
            <a:pPr marL="12700" marR="201295">
              <a:lnSpc>
                <a:spcPts val="1810"/>
              </a:lnSpc>
              <a:spcBef>
                <a:spcPts val="13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Businesspeople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taught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 </a:t>
            </a:r>
            <a:r>
              <a:rPr dirty="0" sz="1450">
                <a:latin typeface="Trebuchet MS"/>
                <a:cs typeface="Trebuchet MS"/>
              </a:rPr>
              <a:t>truthful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cheat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customers.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buAutoNum type="arabicPeriod" startAt="5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Balanced</a:t>
            </a:r>
            <a:r>
              <a:rPr dirty="0" sz="1650" spc="-9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Ownership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810"/>
              </a:lnSpc>
              <a:spcBef>
                <a:spcPts val="20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but </a:t>
            </a:r>
            <a:r>
              <a:rPr dirty="0" sz="1450">
                <a:latin typeface="Trebuchet MS"/>
                <a:cs typeface="Trebuchet MS"/>
              </a:rPr>
              <a:t>reminds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others.</a:t>
            </a:r>
            <a:endParaRPr sz="1450">
              <a:latin typeface="Trebuchet MS"/>
              <a:cs typeface="Trebuchet MS"/>
            </a:endParaRPr>
          </a:p>
          <a:p>
            <a:pPr marL="12700" marR="291465">
              <a:lnSpc>
                <a:spcPts val="1820"/>
              </a:lnSpc>
              <a:spcBef>
                <a:spcPts val="13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house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also </a:t>
            </a:r>
            <a:r>
              <a:rPr dirty="0" sz="1450">
                <a:latin typeface="Trebuchet MS"/>
                <a:cs typeface="Trebuchet MS"/>
              </a:rPr>
              <a:t>donates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build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1350" y="1212654"/>
            <a:ext cx="577342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Why</a:t>
            </a:r>
            <a:r>
              <a:rPr dirty="0" sz="2300" spc="-10"/>
              <a:t> </a:t>
            </a:r>
            <a:r>
              <a:rPr dirty="0" sz="2300"/>
              <a:t>the</a:t>
            </a:r>
            <a:r>
              <a:rPr dirty="0" sz="2300" spc="-5"/>
              <a:t> </a:t>
            </a:r>
            <a:r>
              <a:rPr dirty="0" sz="2300"/>
              <a:t>Islamic</a:t>
            </a:r>
            <a:r>
              <a:rPr dirty="0" sz="2300" spc="-45"/>
              <a:t> </a:t>
            </a:r>
            <a:r>
              <a:rPr dirty="0" sz="2300"/>
              <a:t>Economic</a:t>
            </a:r>
            <a:r>
              <a:rPr dirty="0" sz="2300" spc="-30"/>
              <a:t> </a:t>
            </a:r>
            <a:r>
              <a:rPr dirty="0" sz="2300"/>
              <a:t>System</a:t>
            </a:r>
            <a:r>
              <a:rPr dirty="0" sz="2300" spc="-15"/>
              <a:t> </a:t>
            </a:r>
            <a:r>
              <a:rPr dirty="0" sz="2300" spc="-10"/>
              <a:t>Matters</a:t>
            </a:r>
            <a:endParaRPr sz="2300"/>
          </a:p>
        </p:txBody>
      </p:sp>
      <p:sp>
        <p:nvSpPr>
          <p:cNvPr id="4" name="object 4" descr=""/>
          <p:cNvSpPr txBox="1"/>
          <p:nvPr/>
        </p:nvSpPr>
        <p:spPr>
          <a:xfrm>
            <a:off x="170123" y="1475839"/>
            <a:ext cx="3790950" cy="476567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Importance</a:t>
            </a:r>
            <a:r>
              <a:rPr dirty="0" u="sng" sz="19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9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IES</a:t>
            </a:r>
            <a:endParaRPr sz="1950">
              <a:latin typeface="Trebuchet MS"/>
              <a:cs typeface="Trebuchet MS"/>
            </a:endParaRPr>
          </a:p>
          <a:p>
            <a:pPr marL="12700" marR="502284" indent="231140">
              <a:lnSpc>
                <a:spcPct val="101200"/>
              </a:lnSpc>
              <a:spcBef>
                <a:spcPts val="1105"/>
              </a:spcBef>
              <a:buAutoNum type="arabicPeriod"/>
              <a:tabLst>
                <a:tab pos="243840" algn="l"/>
              </a:tabLst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Comprehensive</a:t>
            </a:r>
            <a:r>
              <a:rPr dirty="0" sz="16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Guidance</a:t>
            </a:r>
            <a:r>
              <a:rPr dirty="0" sz="1450" spc="-10" b="1">
                <a:latin typeface="Trebuchet MS"/>
                <a:cs typeface="Trebuchet MS"/>
              </a:rPr>
              <a:t>: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provides </a:t>
            </a:r>
            <a:r>
              <a:rPr dirty="0" sz="1450">
                <a:latin typeface="Trebuchet MS"/>
                <a:cs typeface="Trebuchet MS"/>
              </a:rPr>
              <a:t>rules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matters.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earn, </a:t>
            </a:r>
            <a:r>
              <a:rPr dirty="0" sz="1450">
                <a:latin typeface="Trebuchet MS"/>
                <a:cs typeface="Trebuchet MS"/>
              </a:rPr>
              <a:t>spend,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halal </a:t>
            </a:r>
            <a:r>
              <a:rPr dirty="0" sz="1450">
                <a:latin typeface="Trebuchet MS"/>
                <a:cs typeface="Trebuchet MS"/>
              </a:rPr>
              <a:t>(permissible)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way.</a:t>
            </a: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buAutoNum type="arabicPeriod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Social</a:t>
            </a:r>
            <a:r>
              <a:rPr dirty="0" sz="165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Justice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222885">
              <a:lnSpc>
                <a:spcPts val="1820"/>
              </a:lnSpc>
              <a:spcBef>
                <a:spcPts val="19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fairly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  <a:p>
            <a:pPr marL="12700" marR="389890">
              <a:lnSpc>
                <a:spcPts val="1810"/>
              </a:lnSpc>
              <a:spcBef>
                <a:spcPts val="13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 Through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zakat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(charity),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rich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poverty.</a:t>
            </a:r>
            <a:endParaRPr sz="1450">
              <a:latin typeface="Trebuchet MS"/>
              <a:cs typeface="Trebuchet MS"/>
            </a:endParaRPr>
          </a:p>
          <a:p>
            <a:pPr marL="68580">
              <a:lnSpc>
                <a:spcPct val="100000"/>
              </a:lnSpc>
              <a:spcBef>
                <a:spcPts val="75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6858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Pakistan,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Meezan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Bank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operates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</a:t>
            </a:r>
            <a:endParaRPr sz="1450">
              <a:latin typeface="Trebuchet MS"/>
              <a:cs typeface="Trebuchet MS"/>
            </a:endParaRPr>
          </a:p>
          <a:p>
            <a:pPr marL="68580" marR="50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principles.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interest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loans.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Instead,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profit-</a:t>
            </a:r>
            <a:r>
              <a:rPr dirty="0" sz="1450" spc="-10">
                <a:latin typeface="Trebuchet MS"/>
                <a:cs typeface="Trebuchet MS"/>
              </a:rPr>
              <a:t>sharing </a:t>
            </a:r>
            <a:r>
              <a:rPr dirty="0" sz="1450">
                <a:latin typeface="Trebuchet MS"/>
                <a:cs typeface="Trebuchet MS"/>
              </a:rPr>
              <a:t>methods,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fairness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helping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debt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problems.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719" y="1677399"/>
            <a:ext cx="3505835" cy="4899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Divine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Origin:</a:t>
            </a:r>
            <a:endParaRPr sz="1650">
              <a:latin typeface="Arial"/>
              <a:cs typeface="Arial"/>
            </a:endParaRPr>
          </a:p>
          <a:p>
            <a:pPr marL="12700" marR="55244">
              <a:lnSpc>
                <a:spcPts val="1810"/>
              </a:lnSpc>
              <a:spcBef>
                <a:spcPts val="20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system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teachings</a:t>
            </a:r>
            <a:endParaRPr sz="1450">
              <a:latin typeface="Trebuchet MS"/>
              <a:cs typeface="Trebuchet MS"/>
            </a:endParaRPr>
          </a:p>
          <a:p>
            <a:pPr marL="12700" marR="22225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upon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earn, </a:t>
            </a:r>
            <a:r>
              <a:rPr dirty="0" sz="1450">
                <a:latin typeface="Trebuchet MS"/>
                <a:cs typeface="Trebuchet MS"/>
              </a:rPr>
              <a:t>spend,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money.</a:t>
            </a: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No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Interest</a:t>
            </a:r>
            <a:r>
              <a:rPr dirty="0" sz="16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(Riba):</a:t>
            </a:r>
            <a:endParaRPr sz="1650">
              <a:latin typeface="Arial"/>
              <a:cs typeface="Arial"/>
            </a:endParaRPr>
          </a:p>
          <a:p>
            <a:pPr marL="12700" marR="33655">
              <a:lnSpc>
                <a:spcPts val="1810"/>
              </a:lnSpc>
              <a:spcBef>
                <a:spcPts val="20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paying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banks,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Meezan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Bank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Pakistan,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offer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loans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without </a:t>
            </a:r>
            <a:r>
              <a:rPr dirty="0" sz="1450">
                <a:latin typeface="Trebuchet MS"/>
                <a:cs typeface="Trebuchet MS"/>
              </a:rPr>
              <a:t>interest.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Instead,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profit-</a:t>
            </a:r>
            <a:r>
              <a:rPr dirty="0" sz="1450" spc="-10">
                <a:latin typeface="Trebuchet MS"/>
                <a:cs typeface="Trebuchet MS"/>
              </a:rPr>
              <a:t>sharing </a:t>
            </a:r>
            <a:r>
              <a:rPr dirty="0" sz="1450">
                <a:latin typeface="Trebuchet MS"/>
                <a:cs typeface="Trebuchet MS"/>
              </a:rPr>
              <a:t>methods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borrow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halal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(permissible)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way.</a:t>
            </a:r>
            <a:endParaRPr sz="1450">
              <a:latin typeface="Trebuchet MS"/>
              <a:cs typeface="Trebuchet MS"/>
            </a:endParaRPr>
          </a:p>
          <a:p>
            <a:pPr marL="161925">
              <a:lnSpc>
                <a:spcPct val="100000"/>
              </a:lnSpc>
              <a:spcBef>
                <a:spcPts val="55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61925" marR="30480">
              <a:lnSpc>
                <a:spcPct val="101499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Pakistan,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Meezan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Bank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operates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under </a:t>
            </a:r>
            <a:r>
              <a:rPr dirty="0" sz="1300">
                <a:latin typeface="Trebuchet MS"/>
                <a:cs typeface="Trebuchet MS"/>
              </a:rPr>
              <a:t>Islamic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principles.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doesn't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charge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interest </a:t>
            </a:r>
            <a:r>
              <a:rPr dirty="0" sz="1300">
                <a:latin typeface="Trebuchet MS"/>
                <a:cs typeface="Trebuchet MS"/>
              </a:rPr>
              <a:t>on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loans.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Instead,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uses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profit-</a:t>
            </a:r>
            <a:r>
              <a:rPr dirty="0" sz="1300" spc="-10">
                <a:latin typeface="Trebuchet MS"/>
                <a:cs typeface="Trebuchet MS"/>
              </a:rPr>
              <a:t>sharing </a:t>
            </a:r>
            <a:r>
              <a:rPr dirty="0" sz="1300">
                <a:latin typeface="Trebuchet MS"/>
                <a:cs typeface="Trebuchet MS"/>
              </a:rPr>
              <a:t>methods,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ensuring</a:t>
            </a:r>
            <a:r>
              <a:rPr dirty="0" sz="1300" spc="6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fairness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helping </a:t>
            </a:r>
            <a:r>
              <a:rPr dirty="0" sz="1300">
                <a:latin typeface="Trebuchet MS"/>
                <a:cs typeface="Trebuchet MS"/>
              </a:rPr>
              <a:t>people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avoid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debt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problems.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08" y="1171488"/>
            <a:ext cx="7355840" cy="4025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/>
              <a:t>What</a:t>
            </a:r>
            <a:r>
              <a:rPr dirty="0" sz="2450" spc="50"/>
              <a:t> </a:t>
            </a:r>
            <a:r>
              <a:rPr dirty="0" sz="2450"/>
              <a:t>Makes</a:t>
            </a:r>
            <a:r>
              <a:rPr dirty="0" sz="2450" spc="35"/>
              <a:t> </a:t>
            </a:r>
            <a:r>
              <a:rPr dirty="0" sz="2450"/>
              <a:t>the</a:t>
            </a:r>
            <a:r>
              <a:rPr dirty="0" sz="2450" spc="30"/>
              <a:t> </a:t>
            </a:r>
            <a:r>
              <a:rPr dirty="0" sz="2450"/>
              <a:t>Islamic</a:t>
            </a:r>
            <a:r>
              <a:rPr dirty="0" sz="2450" spc="60"/>
              <a:t> </a:t>
            </a:r>
            <a:r>
              <a:rPr dirty="0" sz="2450"/>
              <a:t>Economic</a:t>
            </a:r>
            <a:r>
              <a:rPr dirty="0" sz="2450" spc="60"/>
              <a:t> </a:t>
            </a:r>
            <a:r>
              <a:rPr dirty="0" sz="2450"/>
              <a:t>System</a:t>
            </a:r>
            <a:r>
              <a:rPr dirty="0" sz="2450" spc="40"/>
              <a:t> </a:t>
            </a:r>
            <a:r>
              <a:rPr dirty="0" sz="2450" spc="-10"/>
              <a:t>Special?</a:t>
            </a:r>
            <a:endParaRPr sz="2450"/>
          </a:p>
        </p:txBody>
      </p:sp>
      <p:sp>
        <p:nvSpPr>
          <p:cNvPr id="4" name="object 4" descr=""/>
          <p:cNvSpPr txBox="1"/>
          <p:nvPr/>
        </p:nvSpPr>
        <p:spPr>
          <a:xfrm>
            <a:off x="4035067" y="1677399"/>
            <a:ext cx="4054475" cy="4779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Sharing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Wealth:</a:t>
            </a:r>
            <a:endParaRPr sz="1650">
              <a:latin typeface="Arial"/>
              <a:cs typeface="Arial"/>
            </a:endParaRPr>
          </a:p>
          <a:p>
            <a:pPr marL="12700" marR="319405">
              <a:lnSpc>
                <a:spcPts val="1810"/>
              </a:lnSpc>
              <a:spcBef>
                <a:spcPts val="20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wealth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need.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zakat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(a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charity)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poor.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waqf </a:t>
            </a:r>
            <a:r>
              <a:rPr dirty="0" sz="1450">
                <a:latin typeface="Trebuchet MS"/>
                <a:cs typeface="Trebuchet MS"/>
              </a:rPr>
              <a:t>(charitable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trusts)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schools,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hospitals,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</a:t>
            </a: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Ethical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Investments:</a:t>
            </a:r>
            <a:endParaRPr sz="1650">
              <a:latin typeface="Arial"/>
              <a:cs typeface="Arial"/>
            </a:endParaRPr>
          </a:p>
          <a:p>
            <a:pPr marL="12700" marR="295275">
              <a:lnSpc>
                <a:spcPts val="1810"/>
              </a:lnSpc>
              <a:spcBef>
                <a:spcPts val="20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Investing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harmful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unethical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allowed.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investing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</a:t>
            </a:r>
            <a:endParaRPr sz="1450">
              <a:latin typeface="Trebuchet MS"/>
              <a:cs typeface="Trebuchet MS"/>
            </a:endParaRPr>
          </a:p>
          <a:p>
            <a:pPr marL="12700" marR="3302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companies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deal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alcohol,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gambling,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or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prohibited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activities.</a:t>
            </a:r>
            <a:endParaRPr sz="1450">
              <a:latin typeface="Trebuchet MS"/>
              <a:cs typeface="Trebuchet MS"/>
            </a:endParaRPr>
          </a:p>
          <a:p>
            <a:pPr marL="243840" indent="-231140">
              <a:lnSpc>
                <a:spcPct val="100000"/>
              </a:lnSpc>
              <a:buAutoNum type="arabicPeriod" startAt="5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Focus</a:t>
            </a:r>
            <a:r>
              <a:rPr dirty="0" sz="16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on</a:t>
            </a:r>
            <a:r>
              <a:rPr dirty="0" sz="16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Helping</a:t>
            </a:r>
            <a:r>
              <a:rPr dirty="0" sz="16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People:</a:t>
            </a:r>
            <a:endParaRPr sz="1650">
              <a:latin typeface="Arial"/>
              <a:cs typeface="Arial"/>
            </a:endParaRPr>
          </a:p>
          <a:p>
            <a:pPr marL="12700" marR="237490">
              <a:lnSpc>
                <a:spcPts val="1820"/>
              </a:lnSpc>
              <a:spcBef>
                <a:spcPts val="19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450">
                <a:latin typeface="Trebuchet MS"/>
                <a:cs typeface="Trebuchet MS"/>
              </a:rPr>
              <a:t>: 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improve </a:t>
            </a:r>
            <a:r>
              <a:rPr dirty="0" sz="1450">
                <a:latin typeface="Trebuchet MS"/>
                <a:cs typeface="Trebuchet MS"/>
              </a:rPr>
              <a:t>everyone's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well-being,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14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supports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provide</a:t>
            </a:r>
            <a:endParaRPr sz="1450">
              <a:latin typeface="Trebuchet MS"/>
              <a:cs typeface="Trebuchet MS"/>
            </a:endParaRPr>
          </a:p>
          <a:p>
            <a:pPr marL="12700" marR="391795">
              <a:lnSpc>
                <a:spcPct val="1020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essential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community </a:t>
            </a:r>
            <a:r>
              <a:rPr dirty="0" sz="1450">
                <a:latin typeface="Trebuchet MS"/>
                <a:cs typeface="Trebuchet MS"/>
              </a:rPr>
              <a:t>benefits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whole.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43840" algn="l"/>
              </a:tabLst>
            </a:pPr>
            <a:r>
              <a:rPr dirty="0" spc="-10"/>
              <a:t>Ownership</a:t>
            </a:r>
            <a:r>
              <a:rPr dirty="0" sz="1300" spc="-1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endParaRPr sz="1300">
              <a:latin typeface="Trebuchet MS"/>
              <a:cs typeface="Trebuchet MS"/>
            </a:endParaRPr>
          </a:p>
          <a:p>
            <a:pPr marL="12700" marR="635635" indent="-635">
              <a:lnSpc>
                <a:spcPts val="1660"/>
              </a:lnSpc>
              <a:spcBef>
                <a:spcPts val="320"/>
              </a:spcBef>
            </a:pPr>
            <a:r>
              <a:rPr dirty="0" spc="-10"/>
              <a:t>Meaning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Allah</a:t>
            </a:r>
            <a:r>
              <a:rPr dirty="0" sz="130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true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owner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5" b="0">
                <a:solidFill>
                  <a:srgbClr val="000000"/>
                </a:solidFill>
                <a:latin typeface="Trebuchet MS"/>
                <a:cs typeface="Trebuchet MS"/>
              </a:rPr>
              <a:t>of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everything;</a:t>
            </a:r>
            <a:r>
              <a:rPr dirty="0" sz="130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humans</a:t>
            </a:r>
            <a:r>
              <a:rPr dirty="0" sz="130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caretakers.</a:t>
            </a:r>
            <a:endParaRPr sz="1300">
              <a:latin typeface="Trebuchet MS"/>
              <a:cs typeface="Trebuchet MS"/>
            </a:endParaRPr>
          </a:p>
          <a:p>
            <a:pPr marL="12700" marR="24130" indent="-635">
              <a:lnSpc>
                <a:spcPts val="1660"/>
              </a:lnSpc>
              <a:spcBef>
                <a:spcPts val="245"/>
              </a:spcBef>
            </a:pPr>
            <a:r>
              <a:rPr dirty="0" spc="-10"/>
              <a:t>Example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1300" spc="-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farmer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uses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land</a:t>
            </a:r>
            <a:r>
              <a:rPr dirty="0" sz="130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grow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crops,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understanding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it's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trust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dirty="0" sz="1300" spc="-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Allah.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00"/>
              </a:lnSpc>
              <a:buAutoNum type="arabicPeriod" startAt="2"/>
              <a:tabLst>
                <a:tab pos="243840" algn="l"/>
              </a:tabLst>
            </a:pPr>
            <a:r>
              <a:rPr dirty="0"/>
              <a:t>No</a:t>
            </a:r>
            <a:r>
              <a:rPr dirty="0" spc="-35"/>
              <a:t> </a:t>
            </a:r>
            <a:r>
              <a:rPr dirty="0"/>
              <a:t>Interest</a:t>
            </a:r>
            <a:r>
              <a:rPr dirty="0" spc="-50"/>
              <a:t> </a:t>
            </a:r>
            <a:r>
              <a:rPr dirty="0" spc="-10"/>
              <a:t>(Riba):</a:t>
            </a:r>
          </a:p>
          <a:p>
            <a:pPr marL="12700" marR="49530" indent="-635">
              <a:lnSpc>
                <a:spcPts val="1660"/>
              </a:lnSpc>
              <a:spcBef>
                <a:spcPts val="320"/>
              </a:spcBef>
            </a:pPr>
            <a:r>
              <a:rPr dirty="0"/>
              <a:t>Meaning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Charging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paying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interest</a:t>
            </a:r>
            <a:r>
              <a:rPr dirty="0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5" b="0">
                <a:solidFill>
                  <a:srgbClr val="000000"/>
                </a:solidFill>
                <a:latin typeface="Trebuchet MS"/>
                <a:cs typeface="Trebuchet MS"/>
              </a:rPr>
              <a:t>not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allowed</a:t>
            </a:r>
            <a:r>
              <a:rPr dirty="0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prevent</a:t>
            </a:r>
            <a:r>
              <a:rPr dirty="0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injustice.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900"/>
              </a:lnSpc>
            </a:pPr>
            <a:r>
              <a:rPr dirty="0"/>
              <a:t>Example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Islamic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banks,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like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Meezan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0" b="0">
                <a:solidFill>
                  <a:srgbClr val="000000"/>
                </a:solidFill>
                <a:latin typeface="Trebuchet MS"/>
                <a:cs typeface="Trebuchet MS"/>
              </a:rPr>
              <a:t>Bank</a:t>
            </a:r>
            <a:endParaRPr sz="1300">
              <a:latin typeface="Trebuchet MS"/>
              <a:cs typeface="Trebuchet MS"/>
            </a:endParaRPr>
          </a:p>
          <a:p>
            <a:pPr marL="12700" marR="17145">
              <a:lnSpc>
                <a:spcPct val="101499"/>
              </a:lnSpc>
              <a:spcBef>
                <a:spcPts val="5"/>
              </a:spcBef>
            </a:pP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Pakistan,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offer</a:t>
            </a:r>
            <a:r>
              <a:rPr dirty="0" sz="1300" spc="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loans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without</a:t>
            </a:r>
            <a:r>
              <a:rPr dirty="0" sz="130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interest,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using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profit-sharing</a:t>
            </a:r>
            <a:r>
              <a:rPr dirty="0" sz="130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methods</a:t>
            </a:r>
            <a:r>
              <a:rPr dirty="0" sz="130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instead.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80"/>
              </a:lnSpc>
              <a:buAutoNum type="arabicPeriod" startAt="3"/>
              <a:tabLst>
                <a:tab pos="243840" algn="l"/>
              </a:tabLst>
            </a:pPr>
            <a:r>
              <a:rPr dirty="0"/>
              <a:t>Sharing</a:t>
            </a:r>
            <a:r>
              <a:rPr dirty="0" spc="-80"/>
              <a:t> </a:t>
            </a:r>
            <a:r>
              <a:rPr dirty="0" spc="-10"/>
              <a:t>Wealth:</a:t>
            </a:r>
          </a:p>
          <a:p>
            <a:pPr marL="12700" marR="263525" indent="-635">
              <a:lnSpc>
                <a:spcPts val="1660"/>
              </a:lnSpc>
              <a:spcBef>
                <a:spcPts val="325"/>
              </a:spcBef>
            </a:pPr>
            <a:r>
              <a:rPr dirty="0"/>
              <a:t>Meaning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Muslims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give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portion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z="1300" spc="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0" b="0">
                <a:solidFill>
                  <a:srgbClr val="000000"/>
                </a:solidFill>
                <a:latin typeface="Trebuchet MS"/>
                <a:cs typeface="Trebuchet MS"/>
              </a:rPr>
              <a:t>their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wealth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help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those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130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0" b="0">
                <a:solidFill>
                  <a:srgbClr val="000000"/>
                </a:solidFill>
                <a:latin typeface="Trebuchet MS"/>
                <a:cs typeface="Trebuchet MS"/>
              </a:rPr>
              <a:t>need.</a:t>
            </a:r>
            <a:endParaRPr sz="1300">
              <a:latin typeface="Trebuchet MS"/>
              <a:cs typeface="Trebuchet MS"/>
            </a:endParaRPr>
          </a:p>
          <a:p>
            <a:pPr marL="12700" marR="310515" indent="-635">
              <a:lnSpc>
                <a:spcPts val="1660"/>
              </a:lnSpc>
              <a:spcBef>
                <a:spcPts val="240"/>
              </a:spcBef>
            </a:pPr>
            <a:r>
              <a:rPr dirty="0"/>
              <a:t>Example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Paying</a:t>
            </a:r>
            <a:r>
              <a:rPr dirty="0" sz="1300" spc="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zakat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(2.5%</a:t>
            </a:r>
            <a:r>
              <a:rPr dirty="0" sz="1300" spc="-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savings)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annually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support</a:t>
            </a:r>
            <a:r>
              <a:rPr dirty="0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20" b="0">
                <a:solidFill>
                  <a:srgbClr val="000000"/>
                </a:solidFill>
                <a:latin typeface="Trebuchet MS"/>
                <a:cs typeface="Trebuchet MS"/>
              </a:rPr>
              <a:t>poor.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00"/>
              </a:lnSpc>
              <a:buAutoNum type="arabicPeriod" startAt="4"/>
              <a:tabLst>
                <a:tab pos="243840" algn="l"/>
              </a:tabLst>
            </a:pPr>
            <a:r>
              <a:rPr dirty="0"/>
              <a:t>Sharing</a:t>
            </a:r>
            <a:r>
              <a:rPr dirty="0" spc="-80"/>
              <a:t> </a:t>
            </a:r>
            <a:r>
              <a:rPr dirty="0" spc="-10"/>
              <a:t>Risks:</a:t>
            </a:r>
          </a:p>
          <a:p>
            <a:pPr marL="12700" marR="254635" indent="-635">
              <a:lnSpc>
                <a:spcPts val="1660"/>
              </a:lnSpc>
              <a:spcBef>
                <a:spcPts val="325"/>
              </a:spcBef>
            </a:pPr>
            <a:r>
              <a:rPr dirty="0"/>
              <a:t>Meaning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Business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partners</a:t>
            </a:r>
            <a:r>
              <a:rPr dirty="0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share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profits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losses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together.</a:t>
            </a:r>
            <a:endParaRPr sz="1300">
              <a:latin typeface="Trebuchet MS"/>
              <a:cs typeface="Trebuchet MS"/>
            </a:endParaRPr>
          </a:p>
          <a:p>
            <a:pPr marL="12700" marR="5080" indent="-635">
              <a:lnSpc>
                <a:spcPts val="1660"/>
              </a:lnSpc>
              <a:spcBef>
                <a:spcPts val="240"/>
              </a:spcBef>
            </a:pPr>
            <a:r>
              <a:rPr dirty="0"/>
              <a:t>Example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:</a:t>
            </a:r>
            <a:r>
              <a:rPr dirty="0" sz="130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35" b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 people</a:t>
            </a:r>
            <a:r>
              <a:rPr dirty="0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start a</a:t>
            </a:r>
            <a:r>
              <a:rPr dirty="0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shop,</a:t>
            </a:r>
            <a:r>
              <a:rPr dirty="0" sz="1300" spc="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agreeing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split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profits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1300" spc="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b="0">
                <a:solidFill>
                  <a:srgbClr val="000000"/>
                </a:solidFill>
                <a:latin typeface="Trebuchet MS"/>
                <a:cs typeface="Trebuchet MS"/>
              </a:rPr>
              <a:t>losses</a:t>
            </a:r>
            <a:r>
              <a:rPr dirty="0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300" spc="-10" b="0">
                <a:solidFill>
                  <a:srgbClr val="000000"/>
                </a:solidFill>
                <a:latin typeface="Trebuchet MS"/>
                <a:cs typeface="Trebuchet MS"/>
              </a:rPr>
              <a:t>equally.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8667" y="1145556"/>
            <a:ext cx="467931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How</a:t>
            </a:r>
            <a:r>
              <a:rPr dirty="0" sz="2650" spc="-75"/>
              <a:t> </a:t>
            </a:r>
            <a:r>
              <a:rPr dirty="0" sz="2650"/>
              <a:t>Islamic</a:t>
            </a:r>
            <a:r>
              <a:rPr dirty="0" sz="2650" spc="-100"/>
              <a:t> </a:t>
            </a:r>
            <a:r>
              <a:rPr dirty="0" sz="2650"/>
              <a:t>Economics</a:t>
            </a:r>
            <a:r>
              <a:rPr dirty="0" sz="2650" spc="-114"/>
              <a:t> </a:t>
            </a:r>
            <a:r>
              <a:rPr dirty="0" sz="2650" spc="-10"/>
              <a:t>Works</a:t>
            </a:r>
            <a:endParaRPr sz="2650"/>
          </a:p>
        </p:txBody>
      </p:sp>
      <p:sp>
        <p:nvSpPr>
          <p:cNvPr id="4" name="object 4" descr=""/>
          <p:cNvSpPr txBox="1"/>
          <p:nvPr/>
        </p:nvSpPr>
        <p:spPr>
          <a:xfrm>
            <a:off x="4030473" y="1718579"/>
            <a:ext cx="3571240" cy="4653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5"/>
              </a:spcBef>
              <a:buAutoNum type="arabicPeriod" startAt="5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Honest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Business:</a:t>
            </a:r>
            <a:endParaRPr sz="1650">
              <a:latin typeface="Arial"/>
              <a:cs typeface="Arial"/>
            </a:endParaRPr>
          </a:p>
          <a:p>
            <a:pPr marL="12700" marR="16510">
              <a:lnSpc>
                <a:spcPts val="1660"/>
              </a:lnSpc>
              <a:spcBef>
                <a:spcPts val="32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Being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truthful 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fair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all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trade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business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dealings.</a:t>
            </a:r>
            <a:endParaRPr sz="1300">
              <a:latin typeface="Trebuchet MS"/>
              <a:cs typeface="Trebuchet MS"/>
            </a:endParaRPr>
          </a:p>
          <a:p>
            <a:pPr marL="12700" marR="6350">
              <a:lnSpc>
                <a:spcPts val="1660"/>
              </a:lnSpc>
              <a:spcBef>
                <a:spcPts val="24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 spc="-10">
                <a:latin typeface="Trebuchet MS"/>
                <a:cs typeface="Trebuchet MS"/>
              </a:rPr>
              <a:t>:</a:t>
            </a:r>
            <a:r>
              <a:rPr dirty="0" sz="1300" spc="-7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-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shopkeeper</a:t>
            </a:r>
            <a:r>
              <a:rPr dirty="0" sz="1300" spc="7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uses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accurate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scales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does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not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cheat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customers.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00"/>
              </a:lnSpc>
              <a:buAutoNum type="arabicPeriod" startAt="6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No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Hoarding:</a:t>
            </a:r>
            <a:endParaRPr sz="1650">
              <a:latin typeface="Arial"/>
              <a:cs typeface="Arial"/>
            </a:endParaRPr>
          </a:p>
          <a:p>
            <a:pPr marL="12700" marR="34290">
              <a:lnSpc>
                <a:spcPts val="1660"/>
              </a:lnSpc>
              <a:spcBef>
                <a:spcPts val="32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Keeping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wealth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idle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without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using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benefit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others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discouraged.</a:t>
            </a:r>
            <a:endParaRPr sz="1300">
              <a:latin typeface="Trebuchet MS"/>
              <a:cs typeface="Trebuchet MS"/>
            </a:endParaRPr>
          </a:p>
          <a:p>
            <a:pPr marL="12700" marR="336550">
              <a:lnSpc>
                <a:spcPts val="1660"/>
              </a:lnSpc>
              <a:spcBef>
                <a:spcPts val="24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Investing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money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businesses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create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jobs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instead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just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saving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it.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00"/>
              </a:lnSpc>
              <a:buAutoNum type="arabicPeriod" startAt="7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Helping</a:t>
            </a:r>
            <a:r>
              <a:rPr dirty="0" sz="1650" spc="-8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Everyone:</a:t>
            </a:r>
            <a:endParaRPr sz="1650">
              <a:latin typeface="Arial"/>
              <a:cs typeface="Arial"/>
            </a:endParaRPr>
          </a:p>
          <a:p>
            <a:pPr marL="12700" marR="208279">
              <a:lnSpc>
                <a:spcPts val="1660"/>
              </a:lnSpc>
              <a:spcBef>
                <a:spcPts val="32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Ensuring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everyone's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basic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needs </a:t>
            </a:r>
            <a:r>
              <a:rPr dirty="0" sz="1300">
                <a:latin typeface="Trebuchet MS"/>
                <a:cs typeface="Trebuchet MS"/>
              </a:rPr>
              <a:t>like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food,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shelter,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education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are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met.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ts val="1660"/>
              </a:lnSpc>
              <a:spcBef>
                <a:spcPts val="24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 Community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programs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provide </a:t>
            </a:r>
            <a:r>
              <a:rPr dirty="0" sz="1300">
                <a:latin typeface="Trebuchet MS"/>
                <a:cs typeface="Trebuchet MS"/>
              </a:rPr>
              <a:t>free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meals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schooling.</a:t>
            </a:r>
            <a:endParaRPr sz="1300">
              <a:latin typeface="Trebuchet MS"/>
              <a:cs typeface="Trebuchet MS"/>
            </a:endParaRPr>
          </a:p>
          <a:p>
            <a:pPr marL="243840" indent="-231140">
              <a:lnSpc>
                <a:spcPts val="1900"/>
              </a:lnSpc>
              <a:buAutoNum type="arabicPeriod" startAt="8"/>
              <a:tabLst>
                <a:tab pos="243840" algn="l"/>
              </a:tabLst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Ethical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Investments:</a:t>
            </a:r>
            <a:endParaRPr sz="1650">
              <a:latin typeface="Arial"/>
              <a:cs typeface="Arial"/>
            </a:endParaRPr>
          </a:p>
          <a:p>
            <a:pPr marL="12700" marR="163830">
              <a:lnSpc>
                <a:spcPts val="1660"/>
              </a:lnSpc>
              <a:spcBef>
                <a:spcPts val="32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Investing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only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businesses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that </a:t>
            </a:r>
            <a:r>
              <a:rPr dirty="0" sz="1300">
                <a:latin typeface="Trebuchet MS"/>
                <a:cs typeface="Trebuchet MS"/>
              </a:rPr>
              <a:t>are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halal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(permissible)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beneficial.</a:t>
            </a:r>
            <a:endParaRPr sz="1300">
              <a:latin typeface="Trebuchet MS"/>
              <a:cs typeface="Trebuchet MS"/>
            </a:endParaRPr>
          </a:p>
          <a:p>
            <a:pPr marL="12700" marR="9525">
              <a:lnSpc>
                <a:spcPts val="1660"/>
              </a:lnSpc>
              <a:spcBef>
                <a:spcPts val="240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 spc="-10">
                <a:latin typeface="Trebuchet MS"/>
                <a:cs typeface="Trebuchet MS"/>
              </a:rPr>
              <a:t>:</a:t>
            </a:r>
            <a:r>
              <a:rPr dirty="0" sz="1300" spc="-9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Avoiding</a:t>
            </a:r>
            <a:r>
              <a:rPr dirty="0" sz="1300" spc="6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investments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alcohol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or </a:t>
            </a:r>
            <a:r>
              <a:rPr dirty="0" sz="1300">
                <a:latin typeface="Trebuchet MS"/>
                <a:cs typeface="Trebuchet MS"/>
              </a:rPr>
              <a:t>gambling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industries.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72" y="1982724"/>
            <a:ext cx="2481071" cy="352958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72839" y="2002008"/>
            <a:ext cx="2336800" cy="34474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8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1.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Social</a:t>
            </a:r>
            <a:r>
              <a:rPr dirty="0" sz="16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Justice: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Islam</a:t>
            </a:r>
            <a:r>
              <a:rPr dirty="0" sz="1300" spc="-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teaches </a:t>
            </a:r>
            <a:r>
              <a:rPr dirty="0" sz="1300">
                <a:latin typeface="Trebuchet MS"/>
                <a:cs typeface="Trebuchet MS"/>
              </a:rPr>
              <a:t>Muslims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pray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give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zakat </a:t>
            </a:r>
            <a:r>
              <a:rPr dirty="0" sz="1300">
                <a:latin typeface="Trebuchet MS"/>
                <a:cs typeface="Trebuchet MS"/>
              </a:rPr>
              <a:t>(charity)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help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those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in</a:t>
            </a:r>
            <a:r>
              <a:rPr dirty="0" sz="1300" spc="50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need.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Reference:</a:t>
            </a:r>
            <a:endParaRPr sz="1650">
              <a:latin typeface="Arial"/>
              <a:cs typeface="Arial"/>
            </a:endParaRPr>
          </a:p>
          <a:p>
            <a:pPr marL="12700" marR="46990">
              <a:lnSpc>
                <a:spcPct val="101499"/>
              </a:lnSpc>
            </a:pPr>
            <a:r>
              <a:rPr dirty="0" sz="1300">
                <a:latin typeface="Trebuchet MS"/>
                <a:cs typeface="Trebuchet MS"/>
              </a:rPr>
              <a:t>“Establish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prayer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give </a:t>
            </a:r>
            <a:r>
              <a:rPr dirty="0" sz="1300">
                <a:latin typeface="Trebuchet MS"/>
                <a:cs typeface="Trebuchet MS"/>
              </a:rPr>
              <a:t>zakat,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whatever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good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you </a:t>
            </a:r>
            <a:r>
              <a:rPr dirty="0" sz="1300">
                <a:latin typeface="Trebuchet MS"/>
                <a:cs typeface="Trebuchet MS"/>
              </a:rPr>
              <a:t>put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forward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yourselves— </a:t>
            </a:r>
            <a:r>
              <a:rPr dirty="0" sz="1300">
                <a:latin typeface="Trebuchet MS"/>
                <a:cs typeface="Trebuchet MS"/>
              </a:rPr>
              <a:t>you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will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find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with</a:t>
            </a:r>
            <a:r>
              <a:rPr dirty="0" sz="1300" spc="-4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Allah.” </a:t>
            </a:r>
            <a:r>
              <a:rPr dirty="0" sz="1300">
                <a:latin typeface="Trebuchet MS"/>
                <a:cs typeface="Trebuchet MS"/>
              </a:rPr>
              <a:t>(Quran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2:110)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980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-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Pakistan,</a:t>
            </a:r>
            <a:r>
              <a:rPr dirty="0" sz="1300" spc="-1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many</a:t>
            </a:r>
            <a:endParaRPr sz="1300">
              <a:latin typeface="Trebuchet MS"/>
              <a:cs typeface="Trebuchet MS"/>
            </a:endParaRPr>
          </a:p>
          <a:p>
            <a:pPr marL="12700" marR="187960">
              <a:lnSpc>
                <a:spcPct val="101499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Muslims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give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zakat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during </a:t>
            </a:r>
            <a:r>
              <a:rPr dirty="0" sz="1300">
                <a:latin typeface="Trebuchet MS"/>
                <a:cs typeface="Trebuchet MS"/>
              </a:rPr>
              <a:t>Ramadan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support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poor </a:t>
            </a:r>
            <a:r>
              <a:rPr dirty="0" sz="1300">
                <a:latin typeface="Trebuchet MS"/>
                <a:cs typeface="Trebuchet MS"/>
              </a:rPr>
              <a:t>families,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ensuring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they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have </a:t>
            </a:r>
            <a:r>
              <a:rPr dirty="0" sz="1300">
                <a:latin typeface="Trebuchet MS"/>
                <a:cs typeface="Trebuchet MS"/>
              </a:rPr>
              <a:t>food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basic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needs.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Importance</a:t>
            </a:r>
            <a:r>
              <a:rPr dirty="0" sz="2300" spc="-35"/>
              <a:t> </a:t>
            </a:r>
            <a:r>
              <a:rPr dirty="0" sz="2300"/>
              <a:t>in</a:t>
            </a:r>
            <a:r>
              <a:rPr dirty="0" sz="2300" spc="-20"/>
              <a:t> </a:t>
            </a:r>
            <a:r>
              <a:rPr dirty="0" sz="2300"/>
              <a:t>Islamic</a:t>
            </a:r>
            <a:r>
              <a:rPr dirty="0" sz="2300" spc="-50"/>
              <a:t> </a:t>
            </a:r>
            <a:r>
              <a:rPr dirty="0" sz="2300" spc="-25"/>
              <a:t>Law</a:t>
            </a:r>
            <a:endParaRPr sz="2300"/>
          </a:p>
        </p:txBody>
      </p:sp>
      <p:sp>
        <p:nvSpPr>
          <p:cNvPr id="5" name="object 5" descr=""/>
          <p:cNvSpPr txBox="1"/>
          <p:nvPr/>
        </p:nvSpPr>
        <p:spPr>
          <a:xfrm>
            <a:off x="258584" y="1621004"/>
            <a:ext cx="33235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How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Guides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Economic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Practices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492" y="1982724"/>
            <a:ext cx="2481071" cy="352958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524024" y="2002008"/>
            <a:ext cx="152717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3.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Moral Accountability</a:t>
            </a:r>
            <a:r>
              <a:rPr dirty="0" sz="1300" spc="-10" b="1">
                <a:latin typeface="Trebuchet MS"/>
                <a:cs typeface="Trebuchet MS"/>
              </a:rPr>
              <a:t>: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24010" y="2706165"/>
            <a:ext cx="2353310" cy="882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 spc="-10" b="1">
                <a:latin typeface="Trebuchet MS"/>
                <a:cs typeface="Trebuchet MS"/>
              </a:rPr>
              <a:t>:</a:t>
            </a:r>
            <a:endParaRPr sz="1300">
              <a:latin typeface="Trebuchet MS"/>
              <a:cs typeface="Trebuchet MS"/>
            </a:endParaRPr>
          </a:p>
          <a:p>
            <a:pPr algn="just" marL="12700" marR="5080">
              <a:lnSpc>
                <a:spcPct val="101600"/>
              </a:lnSpc>
            </a:pPr>
            <a:r>
              <a:rPr dirty="0" sz="1300" b="1">
                <a:latin typeface="Trebuchet MS"/>
                <a:cs typeface="Trebuchet MS"/>
              </a:rPr>
              <a:t>Being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honest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and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trustworthy </a:t>
            </a:r>
            <a:r>
              <a:rPr dirty="0" sz="1300" b="1">
                <a:latin typeface="Trebuchet MS"/>
                <a:cs typeface="Trebuchet MS"/>
              </a:rPr>
              <a:t>in</a:t>
            </a:r>
            <a:r>
              <a:rPr dirty="0" sz="1300" spc="1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business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is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highly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valued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in </a:t>
            </a:r>
            <a:r>
              <a:rPr dirty="0" sz="1300" spc="-10" b="1">
                <a:latin typeface="Trebuchet MS"/>
                <a:cs typeface="Trebuchet MS"/>
              </a:rPr>
              <a:t>Islam.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24010" y="3762246"/>
            <a:ext cx="2338070" cy="1686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Hadith</a:t>
            </a:r>
            <a:r>
              <a:rPr dirty="0" sz="1650" spc="-11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Reference: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The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Prophet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Muhammad </a:t>
            </a:r>
            <a:r>
              <a:rPr dirty="0" sz="1300" b="1">
                <a:latin typeface="Trebuchet MS"/>
                <a:cs typeface="Trebuchet MS"/>
              </a:rPr>
              <a:t>(peace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be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upon</a:t>
            </a:r>
            <a:r>
              <a:rPr dirty="0" sz="1300" spc="5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him)</a:t>
            </a:r>
            <a:r>
              <a:rPr dirty="0" sz="1300" spc="10" b="1">
                <a:latin typeface="Trebuchet MS"/>
                <a:cs typeface="Trebuchet MS"/>
              </a:rPr>
              <a:t> </a:t>
            </a:r>
            <a:r>
              <a:rPr dirty="0" sz="1300" spc="-20" b="1">
                <a:latin typeface="Trebuchet MS"/>
                <a:cs typeface="Trebuchet MS"/>
              </a:rPr>
              <a:t>said, </a:t>
            </a:r>
            <a:r>
              <a:rPr dirty="0" sz="1300" b="1">
                <a:latin typeface="Trebuchet MS"/>
                <a:cs typeface="Trebuchet MS"/>
              </a:rPr>
              <a:t>“The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truthful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and</a:t>
            </a:r>
            <a:r>
              <a:rPr dirty="0" sz="1300" spc="50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trustworthy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merchant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will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be </a:t>
            </a:r>
            <a:r>
              <a:rPr dirty="0" sz="1300" b="1">
                <a:latin typeface="Trebuchet MS"/>
                <a:cs typeface="Trebuchet MS"/>
              </a:rPr>
              <a:t>with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the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Prophets,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the </a:t>
            </a:r>
            <a:r>
              <a:rPr dirty="0" sz="1300" b="1">
                <a:latin typeface="Trebuchet MS"/>
                <a:cs typeface="Trebuchet MS"/>
              </a:rPr>
              <a:t>truthful,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and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the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martyrs.” </a:t>
            </a:r>
            <a:r>
              <a:rPr dirty="0" sz="1300" b="1">
                <a:latin typeface="Trebuchet MS"/>
                <a:cs typeface="Trebuchet MS"/>
              </a:rPr>
              <a:t>(Tirmidhi,</a:t>
            </a:r>
            <a:r>
              <a:rPr dirty="0" sz="1300" spc="1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Hadith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1209)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127" y="1982724"/>
            <a:ext cx="2392679" cy="35798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992675" y="2002008"/>
            <a:ext cx="161607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2.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Prohibition</a:t>
            </a:r>
            <a:r>
              <a:rPr dirty="0" sz="1650" spc="-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of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Exploitation: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92627" y="2756381"/>
            <a:ext cx="2263775" cy="1083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Meaning</a:t>
            </a:r>
            <a:r>
              <a:rPr dirty="0" sz="1300" spc="-10" b="1">
                <a:latin typeface="Trebuchet MS"/>
                <a:cs typeface="Trebuchet MS"/>
              </a:rPr>
              <a:t>: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Charging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interest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(riba)</a:t>
            </a:r>
            <a:r>
              <a:rPr dirty="0" sz="1300" spc="70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is </a:t>
            </a:r>
            <a:r>
              <a:rPr dirty="0" sz="1300" b="1">
                <a:latin typeface="Trebuchet MS"/>
                <a:cs typeface="Trebuchet MS"/>
              </a:rPr>
              <a:t>forbidden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in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Islam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because</a:t>
            </a:r>
            <a:r>
              <a:rPr dirty="0" sz="1300" spc="50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it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can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lead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to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unfairness</a:t>
            </a:r>
            <a:r>
              <a:rPr dirty="0" sz="1300" spc="50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and </a:t>
            </a:r>
            <a:r>
              <a:rPr dirty="0" sz="1300" spc="-10" b="1">
                <a:latin typeface="Trebuchet MS"/>
                <a:cs typeface="Trebuchet MS"/>
              </a:rPr>
              <a:t>harm.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992627" y="4013738"/>
            <a:ext cx="2221230" cy="1485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Reference: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“O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you</a:t>
            </a:r>
            <a:r>
              <a:rPr dirty="0" sz="1300" spc="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who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have</a:t>
            </a:r>
            <a:r>
              <a:rPr dirty="0" sz="1300" spc="2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believed, </a:t>
            </a:r>
            <a:r>
              <a:rPr dirty="0" sz="1300" b="1">
                <a:latin typeface="Trebuchet MS"/>
                <a:cs typeface="Trebuchet MS"/>
              </a:rPr>
              <a:t>do</a:t>
            </a:r>
            <a:r>
              <a:rPr dirty="0" sz="1300" spc="2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not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consume</a:t>
            </a:r>
            <a:r>
              <a:rPr dirty="0" sz="1300" spc="60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usury, </a:t>
            </a:r>
            <a:r>
              <a:rPr dirty="0" sz="1300" b="1">
                <a:latin typeface="Trebuchet MS"/>
                <a:cs typeface="Trebuchet MS"/>
              </a:rPr>
              <a:t>doubled</a:t>
            </a:r>
            <a:r>
              <a:rPr dirty="0" sz="1300" spc="5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and</a:t>
            </a:r>
            <a:r>
              <a:rPr dirty="0" sz="1300" spc="4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multiplied,</a:t>
            </a:r>
            <a:r>
              <a:rPr dirty="0" sz="1300" spc="6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but </a:t>
            </a:r>
            <a:r>
              <a:rPr dirty="0" sz="1300" b="1">
                <a:latin typeface="Trebuchet MS"/>
                <a:cs typeface="Trebuchet MS"/>
              </a:rPr>
              <a:t>fear</a:t>
            </a:r>
            <a:r>
              <a:rPr dirty="0" sz="1300" spc="-5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Allah</a:t>
            </a:r>
            <a:r>
              <a:rPr dirty="0" sz="1300" spc="4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that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you</a:t>
            </a:r>
            <a:r>
              <a:rPr dirty="0" sz="1300" spc="30" b="1">
                <a:latin typeface="Trebuchet MS"/>
                <a:cs typeface="Trebuchet MS"/>
              </a:rPr>
              <a:t> </a:t>
            </a:r>
            <a:r>
              <a:rPr dirty="0" sz="1300" b="1">
                <a:latin typeface="Trebuchet MS"/>
                <a:cs typeface="Trebuchet MS"/>
              </a:rPr>
              <a:t>may</a:t>
            </a:r>
            <a:r>
              <a:rPr dirty="0" sz="1300" spc="15" b="1">
                <a:latin typeface="Trebuchet MS"/>
                <a:cs typeface="Trebuchet MS"/>
              </a:rPr>
              <a:t> </a:t>
            </a:r>
            <a:r>
              <a:rPr dirty="0" sz="1300" spc="-25" b="1">
                <a:latin typeface="Trebuchet MS"/>
                <a:cs typeface="Trebuchet MS"/>
              </a:rPr>
              <a:t>be </a:t>
            </a:r>
            <a:r>
              <a:rPr dirty="0" sz="1300" spc="-10" b="1">
                <a:latin typeface="Trebuchet MS"/>
                <a:cs typeface="Trebuchet MS"/>
              </a:rPr>
              <a:t>successful.”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300" b="1">
                <a:latin typeface="Trebuchet MS"/>
                <a:cs typeface="Trebuchet MS"/>
              </a:rPr>
              <a:t>(Quran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spc="-10" b="1">
                <a:latin typeface="Trebuchet MS"/>
                <a:cs typeface="Trebuchet MS"/>
              </a:rPr>
              <a:t>3:130)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471" y="1182097"/>
            <a:ext cx="758507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 sz="1950"/>
              <a:t>Comparing</a:t>
            </a:r>
            <a:r>
              <a:rPr dirty="0" u="none" sz="1950" spc="30"/>
              <a:t> </a:t>
            </a:r>
            <a:r>
              <a:rPr dirty="0" u="none" sz="1950"/>
              <a:t>Economic</a:t>
            </a:r>
            <a:r>
              <a:rPr dirty="0" u="none" sz="1950" spc="35"/>
              <a:t> </a:t>
            </a:r>
            <a:r>
              <a:rPr dirty="0" u="none" sz="1950"/>
              <a:t>Systems:</a:t>
            </a:r>
            <a:r>
              <a:rPr dirty="0" u="none" sz="1950" spc="30"/>
              <a:t> </a:t>
            </a:r>
            <a:r>
              <a:rPr dirty="0" u="none" sz="1400"/>
              <a:t>Islamic,</a:t>
            </a:r>
            <a:r>
              <a:rPr dirty="0" u="none" sz="1400" spc="15"/>
              <a:t> </a:t>
            </a:r>
            <a:r>
              <a:rPr dirty="0" u="none" sz="1400"/>
              <a:t>Capitalism,</a:t>
            </a:r>
            <a:r>
              <a:rPr dirty="0" u="none" sz="1400" spc="-5"/>
              <a:t> </a:t>
            </a:r>
            <a:r>
              <a:rPr dirty="0" u="none" sz="1400"/>
              <a:t>Socialism,</a:t>
            </a:r>
            <a:r>
              <a:rPr dirty="0" u="none" sz="1400" spc="25"/>
              <a:t> </a:t>
            </a:r>
            <a:r>
              <a:rPr dirty="0" u="none" sz="1400"/>
              <a:t>and</a:t>
            </a:r>
            <a:r>
              <a:rPr dirty="0" u="none" sz="1400" spc="5"/>
              <a:t> </a:t>
            </a:r>
            <a:r>
              <a:rPr dirty="0" u="none" sz="1400" spc="-10"/>
              <a:t>Communism</a:t>
            </a:r>
            <a:endParaRPr sz="1400"/>
          </a:p>
        </p:txBody>
      </p:sp>
      <p:sp>
        <p:nvSpPr>
          <p:cNvPr id="3" name="object 3" descr=""/>
          <p:cNvSpPr txBox="1"/>
          <p:nvPr/>
        </p:nvSpPr>
        <p:spPr>
          <a:xfrm>
            <a:off x="185390" y="1912133"/>
            <a:ext cx="7230745" cy="2238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Understanding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Systems:</a:t>
            </a:r>
            <a:r>
              <a:rPr dirty="0" u="sng" sz="130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Islamic,</a:t>
            </a:r>
            <a:r>
              <a:rPr dirty="0" u="sng" sz="130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Capitalism,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Socialism,</a:t>
            </a:r>
            <a:r>
              <a:rPr dirty="0" u="sng" sz="130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Communism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What</a:t>
            </a:r>
            <a:r>
              <a:rPr dirty="0" u="sng" sz="14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System?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</a:pP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organizes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jobs,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resources.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 </a:t>
            </a:r>
            <a:r>
              <a:rPr dirty="0" sz="1450" spc="-10">
                <a:latin typeface="Trebuchet MS"/>
                <a:cs typeface="Trebuchet MS"/>
              </a:rPr>
              <a:t>decides: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what?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money?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shared?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8858" y="1421409"/>
            <a:ext cx="463804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none" sz="2650" spc="-10"/>
              <a:t>Four</a:t>
            </a:r>
            <a:r>
              <a:rPr dirty="0" u="none" sz="2650" spc="-120"/>
              <a:t> </a:t>
            </a:r>
            <a:r>
              <a:rPr dirty="0" u="none" sz="2650"/>
              <a:t>Main</a:t>
            </a:r>
            <a:r>
              <a:rPr dirty="0" u="none" sz="2650" spc="-120"/>
              <a:t> </a:t>
            </a:r>
            <a:r>
              <a:rPr dirty="0" u="none" sz="2650"/>
              <a:t>Economic</a:t>
            </a:r>
            <a:r>
              <a:rPr dirty="0" u="none" sz="2650" spc="-125"/>
              <a:t> </a:t>
            </a:r>
            <a:r>
              <a:rPr dirty="0" u="none" sz="2650" spc="-10"/>
              <a:t>Systems: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290603" y="2276331"/>
            <a:ext cx="3069590" cy="251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9527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Economic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System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70BF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12700" marR="100965">
              <a:lnSpc>
                <a:spcPct val="102699"/>
              </a:lnSpc>
            </a:pPr>
            <a:r>
              <a:rPr dirty="0" sz="1450" b="1">
                <a:latin typeface="Trebuchet MS"/>
                <a:cs typeface="Trebuchet MS"/>
              </a:rPr>
              <a:t>Belief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belongs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 </a:t>
            </a:r>
            <a:r>
              <a:rPr dirty="0" sz="1450" spc="-10">
                <a:latin typeface="Trebuchet MS"/>
                <a:cs typeface="Trebuchet MS"/>
              </a:rPr>
              <a:t>Allah; </a:t>
            </a:r>
            <a:r>
              <a:rPr dirty="0" sz="1450">
                <a:latin typeface="Trebuchet MS"/>
                <a:cs typeface="Trebuchet MS"/>
              </a:rPr>
              <a:t>humans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caretakers.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lvl="1" marL="248285" indent="-23558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allowed.</a:t>
            </a:r>
            <a:endParaRPr sz="1450">
              <a:latin typeface="Trebuchet MS"/>
              <a:cs typeface="Trebuchet MS"/>
            </a:endParaRPr>
          </a:p>
          <a:p>
            <a:pPr lvl="1" marL="248920" marR="195580" indent="-236220">
              <a:lnSpc>
                <a:spcPts val="1789"/>
              </a:lnSpc>
              <a:spcBef>
                <a:spcPts val="5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through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zakat </a:t>
            </a:r>
            <a:r>
              <a:rPr dirty="0" sz="1450" spc="-10">
                <a:latin typeface="Trebuchet MS"/>
                <a:cs typeface="Trebuchet MS"/>
              </a:rPr>
              <a:t>(charity).</a:t>
            </a:r>
            <a:endParaRPr sz="1450">
              <a:latin typeface="Trebuchet MS"/>
              <a:cs typeface="Trebuchet MS"/>
            </a:endParaRPr>
          </a:p>
          <a:p>
            <a:pPr lvl="1" marL="248285" indent="-235585">
              <a:lnSpc>
                <a:spcPts val="1705"/>
              </a:lnSpc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Business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fair.</a:t>
            </a:r>
            <a:endParaRPr sz="1450">
              <a:latin typeface="Trebuchet MS"/>
              <a:cs typeface="Trebuchet MS"/>
            </a:endParaRPr>
          </a:p>
          <a:p>
            <a:pPr marL="12700" marR="414020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Pakistan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</a:t>
            </a:r>
            <a:r>
              <a:rPr dirty="0" sz="1450">
                <a:latin typeface="Trebuchet MS"/>
                <a:cs typeface="Trebuchet MS"/>
              </a:rPr>
              <a:t>banking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interest.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2439" y="2276331"/>
            <a:ext cx="117665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2.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Capitalism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52439" y="2729026"/>
            <a:ext cx="3787140" cy="20631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Belief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make </a:t>
            </a:r>
            <a:r>
              <a:rPr dirty="0" sz="1450" spc="-10">
                <a:latin typeface="Trebuchet MS"/>
                <a:cs typeface="Trebuchet MS"/>
              </a:rPr>
              <a:t>profits.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248920" marR="645160" indent="-236220">
              <a:lnSpc>
                <a:spcPct val="102099"/>
              </a:lnSpc>
              <a:spcBef>
                <a:spcPts val="1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Private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ownership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businesses.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Prices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demand.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Minimal</a:t>
            </a:r>
            <a:r>
              <a:rPr dirty="0" sz="1450" spc="1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control.</a:t>
            </a:r>
            <a:endParaRPr sz="1450">
              <a:latin typeface="Trebuchet MS"/>
              <a:cs typeface="Trebuchet MS"/>
            </a:endParaRPr>
          </a:p>
          <a:p>
            <a:pPr marL="12700" marR="52069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capitalist economy.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8858" y="1421409"/>
            <a:ext cx="463804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none" sz="2650" spc="-10"/>
              <a:t>Four</a:t>
            </a:r>
            <a:r>
              <a:rPr dirty="0" u="none" sz="2650" spc="-120"/>
              <a:t> </a:t>
            </a:r>
            <a:r>
              <a:rPr dirty="0" u="none" sz="2650"/>
              <a:t>Main</a:t>
            </a:r>
            <a:r>
              <a:rPr dirty="0" u="none" sz="2650" spc="-120"/>
              <a:t> </a:t>
            </a:r>
            <a:r>
              <a:rPr dirty="0" u="none" sz="2650"/>
              <a:t>Economic</a:t>
            </a:r>
            <a:r>
              <a:rPr dirty="0" u="none" sz="2650" spc="-125"/>
              <a:t> </a:t>
            </a:r>
            <a:r>
              <a:rPr dirty="0" u="none" sz="2650" spc="-10"/>
              <a:t>Systems: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258584" y="2276331"/>
            <a:ext cx="3417570" cy="2742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3"/>
              <a:tabLst>
                <a:tab pos="248285" algn="l"/>
              </a:tabLst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Socialism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70BF"/>
              </a:buClr>
              <a:buFont typeface="Trebuchet MS"/>
              <a:buAutoNum type="arabicPeriod" startAt="3"/>
            </a:pP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</a:pPr>
            <a:r>
              <a:rPr dirty="0" sz="1450" b="1">
                <a:latin typeface="Trebuchet MS"/>
                <a:cs typeface="Trebuchet MS"/>
              </a:rPr>
              <a:t>Belief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ensure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access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resources. </a:t>
            </a: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lvl="1" marL="248285" indent="-23558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major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industries.</a:t>
            </a:r>
            <a:endParaRPr sz="1450">
              <a:latin typeface="Trebuchet MS"/>
              <a:cs typeface="Trebuchet MS"/>
            </a:endParaRPr>
          </a:p>
          <a:p>
            <a:pPr lvl="1" marL="248920" marR="108585" indent="-236220">
              <a:lnSpc>
                <a:spcPts val="1789"/>
              </a:lnSpc>
              <a:spcBef>
                <a:spcPts val="5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High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taxes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education.</a:t>
            </a:r>
            <a:endParaRPr sz="1450">
              <a:latin typeface="Trebuchet MS"/>
              <a:cs typeface="Trebuchet MS"/>
            </a:endParaRPr>
          </a:p>
          <a:p>
            <a:pPr lvl="1" marL="248285" indent="-235585">
              <a:lnSpc>
                <a:spcPts val="1705"/>
              </a:lnSpc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Aim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income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differences.</a:t>
            </a:r>
            <a:endParaRPr sz="1450">
              <a:latin typeface="Trebuchet MS"/>
              <a:cs typeface="Trebuchet MS"/>
            </a:endParaRPr>
          </a:p>
          <a:p>
            <a:pPr marL="12700" marR="330835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Sweden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free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funded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by </a:t>
            </a:r>
            <a:r>
              <a:rPr dirty="0" sz="1450" spc="-10">
                <a:latin typeface="Trebuchet MS"/>
                <a:cs typeface="Trebuchet MS"/>
              </a:rPr>
              <a:t>taxes.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17953" y="2276331"/>
            <a:ext cx="133350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4.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Communism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17953" y="2729026"/>
            <a:ext cx="3686175" cy="2289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4643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Belief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community;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private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ownership. </a:t>
            </a: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248920" marR="92075" indent="-236220">
              <a:lnSpc>
                <a:spcPct val="102099"/>
              </a:lnSpc>
              <a:spcBef>
                <a:spcPts val="1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resources.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02099"/>
              </a:lnSpc>
              <a:spcBef>
                <a:spcPts val="1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gets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regardless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work.</a:t>
            </a:r>
            <a:endParaRPr sz="1450">
              <a:latin typeface="Trebuchet MS"/>
              <a:cs typeface="Trebuchet MS"/>
            </a:endParaRPr>
          </a:p>
          <a:p>
            <a:pPr marL="12700" marR="313690" indent="235585">
              <a:lnSpc>
                <a:spcPct val="102400"/>
              </a:lnSpc>
              <a:spcBef>
                <a:spcPts val="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competition;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private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profit. </a:t>
            </a: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North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Korea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communist economy.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9777" y="1261360"/>
            <a:ext cx="3818890" cy="3657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2392135"/>
            <a:ext cx="3570604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9527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Economic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System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Based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him).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4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5672" y="3297431"/>
            <a:ext cx="306832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35"/>
              </a:spcBef>
              <a:buFont typeface="Microsoft Sans Serif"/>
              <a:buChar char="•"/>
              <a:tabLst>
                <a:tab pos="247015" algn="l"/>
              </a:tabLst>
            </a:pP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allowed.</a:t>
            </a:r>
            <a:endParaRPr sz="1450">
              <a:latin typeface="Trebuchet MS"/>
              <a:cs typeface="Trebuchet MS"/>
            </a:endParaRPr>
          </a:p>
          <a:p>
            <a:pPr marL="247015" marR="195580" indent="-234950">
              <a:lnSpc>
                <a:spcPct val="102099"/>
              </a:lnSpc>
              <a:spcBef>
                <a:spcPts val="15"/>
              </a:spcBef>
              <a:buFont typeface="Microsoft Sans Serif"/>
              <a:buChar char="•"/>
              <a:tabLst>
                <a:tab pos="247015" algn="l"/>
              </a:tabLst>
            </a:pP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through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zakat </a:t>
            </a:r>
            <a:r>
              <a:rPr dirty="0" sz="1450" spc="-10">
                <a:latin typeface="Trebuchet MS"/>
                <a:cs typeface="Trebuchet MS"/>
              </a:rPr>
              <a:t>(charity).</a:t>
            </a:r>
            <a:endParaRPr sz="1450">
              <a:latin typeface="Trebuchet MS"/>
              <a:cs typeface="Trebuchet MS"/>
            </a:endParaRPr>
          </a:p>
          <a:p>
            <a:pPr marL="247015" indent="-234315">
              <a:lnSpc>
                <a:spcPct val="100000"/>
              </a:lnSpc>
              <a:spcBef>
                <a:spcPts val="45"/>
              </a:spcBef>
              <a:buFont typeface="Microsoft Sans Serif"/>
              <a:buChar char="•"/>
              <a:tabLst>
                <a:tab pos="247015" algn="l"/>
              </a:tabLst>
            </a:pPr>
            <a:r>
              <a:rPr dirty="0" sz="1450">
                <a:latin typeface="Trebuchet MS"/>
                <a:cs typeface="Trebuchet MS"/>
              </a:rPr>
              <a:t>Business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7719" y="4202728"/>
            <a:ext cx="3096260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8255">
              <a:lnSpc>
                <a:spcPct val="102400"/>
              </a:lnSpc>
              <a:spcBef>
                <a:spcPts val="9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Pakistan,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Meezan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Bank </a:t>
            </a:r>
            <a:r>
              <a:rPr dirty="0" sz="1450">
                <a:latin typeface="Trebuchet MS"/>
                <a:cs typeface="Trebuchet MS"/>
              </a:rPr>
              <a:t>operates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interest,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78405" y="1745997"/>
            <a:ext cx="53740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Countries</a:t>
            </a:r>
            <a:r>
              <a:rPr dirty="0" u="sng" sz="165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Manage</a:t>
            </a:r>
            <a:r>
              <a:rPr dirty="0" u="sng" sz="1650" spc="-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Money: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Four</a:t>
            </a:r>
            <a:r>
              <a:rPr dirty="0" u="sng" sz="1650" spc="-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Systems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29143" y="2375433"/>
            <a:ext cx="3415029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2.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Capitalism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Based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Private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ownership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profit- making.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29143" y="3280638"/>
            <a:ext cx="3411854" cy="932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8920" marR="556895" indent="-236220">
              <a:lnSpc>
                <a:spcPct val="102800"/>
              </a:lnSpc>
              <a:spcBef>
                <a:spcPts val="9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property.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Prices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demand.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Minimal</a:t>
            </a:r>
            <a:r>
              <a:rPr dirty="0" sz="1450" spc="1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control.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29143" y="4185934"/>
            <a:ext cx="289877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29143" y="4413019"/>
            <a:ext cx="3511550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dirty="0" sz="1450">
                <a:latin typeface="Trebuchet MS"/>
                <a:cs typeface="Trebuchet MS"/>
              </a:rPr>
              <a:t>capitalist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economy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companies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like </a:t>
            </a:r>
            <a:r>
              <a:rPr dirty="0" sz="1450">
                <a:latin typeface="Trebuchet MS"/>
                <a:cs typeface="Trebuchet MS"/>
              </a:rPr>
              <a:t>Apple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Amazon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privately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owned.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390" y="1156169"/>
            <a:ext cx="3818890" cy="3657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811" y="1432393"/>
            <a:ext cx="8473440" cy="4708525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u="sng" sz="2300" spc="10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Capitalism</a:t>
            </a:r>
            <a:r>
              <a:rPr dirty="0" u="sng" sz="23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230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Capitalism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82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Capitalism?</a:t>
            </a:r>
            <a:endParaRPr sz="1450">
              <a:latin typeface="Trebuchet MS"/>
              <a:cs typeface="Trebuchet MS"/>
            </a:endParaRPr>
          </a:p>
          <a:p>
            <a:pPr marL="13970" marR="10858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Capitalism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property.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They </a:t>
            </a:r>
            <a:r>
              <a:rPr dirty="0" sz="1450">
                <a:latin typeface="Trebuchet MS"/>
                <a:cs typeface="Trebuchet MS"/>
              </a:rPr>
              <a:t>aim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selling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Features: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Private</a:t>
            </a:r>
            <a:r>
              <a:rPr dirty="0" sz="1450" spc="114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Ownership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land.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Profit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Motive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profits.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Free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Market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Prices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demand.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Limited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Government</a:t>
            </a:r>
            <a:r>
              <a:rPr dirty="0" sz="1450" spc="114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Role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minimal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over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businesses.</a:t>
            </a:r>
            <a:endParaRPr sz="1450">
              <a:latin typeface="Trebuchet MS"/>
              <a:cs typeface="Trebuchet MS"/>
            </a:endParaRPr>
          </a:p>
          <a:p>
            <a:pPr marL="13970" marR="69215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capitalist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country.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Amazon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privately </a:t>
            </a:r>
            <a:r>
              <a:rPr dirty="0" sz="1450">
                <a:latin typeface="Trebuchet MS"/>
                <a:cs typeface="Trebuchet MS"/>
              </a:rPr>
              <a:t>owned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selling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products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ts val="1705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Pros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(Good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Points):</a:t>
            </a:r>
            <a:endParaRPr sz="1450">
              <a:latin typeface="Trebuchet MS"/>
              <a:cs typeface="Trebuchet MS"/>
            </a:endParaRPr>
          </a:p>
          <a:p>
            <a:pPr marL="13970" marR="34925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Encourages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Innovation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better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products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profits. </a:t>
            </a:r>
            <a:r>
              <a:rPr dirty="0" sz="1450" b="1">
                <a:latin typeface="Trebuchet MS"/>
                <a:cs typeface="Trebuchet MS"/>
              </a:rPr>
              <a:t>Consumer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Choice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options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choose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buying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 </a:t>
            </a:r>
            <a:r>
              <a:rPr dirty="0" sz="1450" b="1">
                <a:latin typeface="Trebuchet MS"/>
                <a:cs typeface="Trebuchet MS"/>
              </a:rPr>
              <a:t>Economic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Growth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Successful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creation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growing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economy.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Cons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(Bad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Points):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Income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Inequality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become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rich,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while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remain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poor.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Exploitation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Risk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Workers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wages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profits.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Neglect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Public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Welfare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Essential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underprovided.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835265" cy="4307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Socialism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Socialism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1470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Socialism?</a:t>
            </a:r>
            <a:endParaRPr sz="1450">
              <a:latin typeface="Trebuchet MS"/>
              <a:cs typeface="Trebuchet MS"/>
            </a:endParaRPr>
          </a:p>
          <a:p>
            <a:pPr marL="93345" marR="76835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Socialism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major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industries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distribute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gap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rich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Features:</a:t>
            </a:r>
            <a:endParaRPr sz="1450">
              <a:latin typeface="Trebuchet MS"/>
              <a:cs typeface="Trebuchet MS"/>
            </a:endParaRPr>
          </a:p>
          <a:p>
            <a:pPr marL="93345" marR="911225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Government</a:t>
            </a:r>
            <a:r>
              <a:rPr dirty="0" sz="1450" spc="1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Ownership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industries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like </a:t>
            </a:r>
            <a:r>
              <a:rPr dirty="0" sz="1450">
                <a:latin typeface="Trebuchet MS"/>
                <a:cs typeface="Trebuchet MS"/>
              </a:rPr>
              <a:t>healthcare,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education,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transportation.</a:t>
            </a:r>
            <a:endParaRPr sz="1450">
              <a:latin typeface="Trebuchet MS"/>
              <a:cs typeface="Trebuchet MS"/>
            </a:endParaRPr>
          </a:p>
          <a:p>
            <a:pPr marL="93345" marR="273685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Free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Public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Services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receive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low-cost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education.</a:t>
            </a:r>
            <a:endParaRPr sz="1450">
              <a:latin typeface="Trebuchet MS"/>
              <a:cs typeface="Trebuchet MS"/>
            </a:endParaRPr>
          </a:p>
          <a:p>
            <a:pPr marL="93345" marR="5080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High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Taxes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taxes,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especially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from </a:t>
            </a:r>
            <a:r>
              <a:rPr dirty="0" sz="1450">
                <a:latin typeface="Trebuchet MS"/>
                <a:cs typeface="Trebuchet MS"/>
              </a:rPr>
              <a:t>higher-income</a:t>
            </a:r>
            <a:r>
              <a:rPr dirty="0" sz="1450" spc="2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individuals.</a:t>
            </a:r>
            <a:endParaRPr sz="1450">
              <a:latin typeface="Trebuchet MS"/>
              <a:cs typeface="Trebuchet MS"/>
            </a:endParaRPr>
          </a:p>
          <a:p>
            <a:pPr marL="93345" marR="287655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Wealth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Redistribution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redistribute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has </a:t>
            </a:r>
            <a:r>
              <a:rPr dirty="0" sz="1450">
                <a:latin typeface="Trebuchet MS"/>
                <a:cs typeface="Trebuchet MS"/>
              </a:rPr>
              <a:t>access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needs.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Sweden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Sweden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often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cited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implements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socialist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Swedish</a:t>
            </a:r>
            <a:endParaRPr sz="1450">
              <a:latin typeface="Trebuchet MS"/>
              <a:cs typeface="Trebuchet MS"/>
            </a:endParaRPr>
          </a:p>
          <a:p>
            <a:pPr marL="93345" marR="5080">
              <a:lnSpc>
                <a:spcPct val="1020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taxes.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access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essential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740015" cy="3629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Socialism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Socialism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algn="just" marL="93345">
              <a:lnSpc>
                <a:spcPct val="100000"/>
              </a:lnSpc>
              <a:spcBef>
                <a:spcPts val="147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Pros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(Advantages):</a:t>
            </a:r>
            <a:endParaRPr sz="1450">
              <a:latin typeface="Trebuchet MS"/>
              <a:cs typeface="Trebuchet MS"/>
            </a:endParaRPr>
          </a:p>
          <a:p>
            <a:pPr algn="just" marL="93345" marR="349885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Reduces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Poverty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essential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socialism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poverty levels.</a:t>
            </a:r>
            <a:endParaRPr sz="1450">
              <a:latin typeface="Trebuchet MS"/>
              <a:cs typeface="Trebuchet MS"/>
            </a:endParaRPr>
          </a:p>
          <a:p>
            <a:pPr algn="just" marL="93345" marR="508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Equal Access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access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services. </a:t>
            </a:r>
            <a:r>
              <a:rPr dirty="0" sz="1450" b="1">
                <a:latin typeface="Trebuchet MS"/>
                <a:cs typeface="Trebuchet MS"/>
              </a:rPr>
              <a:t>Social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Welfare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supports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unemployed,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elderly,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disabled.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Cons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(Disadvantages):</a:t>
            </a:r>
            <a:endParaRPr sz="1450">
              <a:latin typeface="Trebuchet MS"/>
              <a:cs typeface="Trebuchet MS"/>
            </a:endParaRPr>
          </a:p>
          <a:p>
            <a:pPr marL="93345" marR="730885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latin typeface="Trebuchet MS"/>
                <a:cs typeface="Trebuchet MS"/>
              </a:rPr>
              <a:t>High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Taxes</a:t>
            </a:r>
            <a:r>
              <a:rPr dirty="0" sz="1450" spc="-1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To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public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taxes,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 </a:t>
            </a:r>
            <a:r>
              <a:rPr dirty="0" sz="1450" spc="-10">
                <a:latin typeface="Trebuchet MS"/>
                <a:cs typeface="Trebuchet MS"/>
              </a:rPr>
              <a:t>burdensome.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Reduced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Incentives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feel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less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motivated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harder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innovate.</a:t>
            </a:r>
            <a:endParaRPr sz="1450">
              <a:latin typeface="Trebuchet MS"/>
              <a:cs typeface="Trebuchet MS"/>
            </a:endParaRPr>
          </a:p>
          <a:p>
            <a:pPr marL="93345" marR="882015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latin typeface="Trebuchet MS"/>
                <a:cs typeface="Trebuchet MS"/>
              </a:rPr>
              <a:t>Government</a:t>
            </a:r>
            <a:r>
              <a:rPr dirty="0" sz="1450" spc="1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Control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Extensive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over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industries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inefficiencies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lack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competition.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867015" cy="4535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Communism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algn="just" marL="93345">
              <a:lnSpc>
                <a:spcPct val="100000"/>
              </a:lnSpc>
              <a:spcBef>
                <a:spcPts val="1470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Communism?</a:t>
            </a:r>
            <a:endParaRPr sz="1450">
              <a:latin typeface="Trebuchet MS"/>
              <a:cs typeface="Trebuchet MS"/>
            </a:endParaRPr>
          </a:p>
          <a:p>
            <a:pPr algn="just" marL="93345" marR="50419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Communism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are </a:t>
            </a:r>
            <a:r>
              <a:rPr dirty="0" sz="1450">
                <a:latin typeface="Trebuchet MS"/>
                <a:cs typeface="Trebuchet MS"/>
              </a:rPr>
              <a:t>owned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government.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classless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society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  <a:p>
            <a:pPr algn="just" marL="93345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Features:</a:t>
            </a:r>
            <a:endParaRPr sz="1450">
              <a:latin typeface="Trebuchet MS"/>
              <a:cs typeface="Trebuchet MS"/>
            </a:endParaRPr>
          </a:p>
          <a:p>
            <a:pPr marL="93345" marR="474980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Private</a:t>
            </a:r>
            <a:r>
              <a:rPr dirty="0" sz="1450" spc="11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Ownership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land;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or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everything.</a:t>
            </a:r>
            <a:endParaRPr sz="1450">
              <a:latin typeface="Trebuchet MS"/>
              <a:cs typeface="Trebuchet MS"/>
            </a:endParaRPr>
          </a:p>
          <a:p>
            <a:pPr marL="93345" marR="256540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Equal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Distribution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receives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eliminate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gap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rich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poor.</a:t>
            </a:r>
            <a:endParaRPr sz="1450">
              <a:latin typeface="Trebuchet MS"/>
              <a:cs typeface="Trebuchet MS"/>
            </a:endParaRPr>
          </a:p>
          <a:p>
            <a:pPr marL="93345" marR="697865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Central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Planning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decides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produced,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much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produced,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prices.</a:t>
            </a:r>
            <a:endParaRPr sz="1450">
              <a:latin typeface="Trebuchet MS"/>
              <a:cs typeface="Trebuchet MS"/>
            </a:endParaRPr>
          </a:p>
          <a:p>
            <a:pPr marL="93345" marR="15875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Work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for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Common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Good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profit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benefit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entire community.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North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Korea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North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Korea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example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communist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principles.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government</a:t>
            </a:r>
            <a:endParaRPr sz="1450">
              <a:latin typeface="Trebuchet MS"/>
              <a:cs typeface="Trebuchet MS"/>
            </a:endParaRPr>
          </a:p>
          <a:p>
            <a:pPr marL="93345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controls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industries,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land,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resources.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Citizens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assigned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food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housing.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However,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faces </a:t>
            </a:r>
            <a:r>
              <a:rPr dirty="0" sz="1450">
                <a:latin typeface="Trebuchet MS"/>
                <a:cs typeface="Trebuchet MS"/>
              </a:rPr>
              <a:t>challenges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limited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freedoms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difficulties.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710805" cy="3402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Communism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147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Pros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(Advantages):</a:t>
            </a:r>
            <a:endParaRPr sz="1450">
              <a:latin typeface="Trebuchet MS"/>
              <a:cs typeface="Trebuchet MS"/>
            </a:endParaRPr>
          </a:p>
          <a:p>
            <a:pPr marL="93345" marR="358775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Equality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eliminate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class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differences,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status. </a:t>
            </a:r>
            <a:r>
              <a:rPr dirty="0" sz="1450" b="1">
                <a:latin typeface="Trebuchet MS"/>
                <a:cs typeface="Trebuchet MS"/>
              </a:rPr>
              <a:t>Basic</a:t>
            </a:r>
            <a:r>
              <a:rPr dirty="0" sz="1450" spc="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Needs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Met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essential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citizens.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Unemployment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assigns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full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employment.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Cons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(Disadvantages):</a:t>
            </a:r>
            <a:endParaRPr sz="1450">
              <a:latin typeface="Trebuchet MS"/>
              <a:cs typeface="Trebuchet MS"/>
            </a:endParaRPr>
          </a:p>
          <a:p>
            <a:pPr marL="93345" marR="5080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Lack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Motivation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Since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earns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lack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incentive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harder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innovate.</a:t>
            </a:r>
            <a:endParaRPr sz="1450">
              <a:latin typeface="Trebuchet MS"/>
              <a:cs typeface="Trebuchet MS"/>
            </a:endParaRPr>
          </a:p>
          <a:p>
            <a:pPr marL="93345" marR="32385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Limited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Personal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Freedom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aspects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can </a:t>
            </a:r>
            <a:r>
              <a:rPr dirty="0" sz="1450">
                <a:latin typeface="Trebuchet MS"/>
                <a:cs typeface="Trebuchet MS"/>
              </a:rPr>
              <a:t>restrict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choices.</a:t>
            </a:r>
            <a:endParaRPr sz="1450">
              <a:latin typeface="Trebuchet MS"/>
              <a:cs typeface="Trebuchet MS"/>
            </a:endParaRPr>
          </a:p>
          <a:p>
            <a:pPr marL="93345" marR="25400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Inefficiency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Central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planning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decision-making,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shortages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or </a:t>
            </a:r>
            <a:r>
              <a:rPr dirty="0" sz="1450">
                <a:latin typeface="Trebuchet MS"/>
                <a:cs typeface="Trebuchet MS"/>
              </a:rPr>
              <a:t>surpluses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goods.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943215" cy="4535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Economy</a:t>
            </a:r>
            <a:r>
              <a:rPr dirty="0" u="sng" sz="1650" spc="-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1470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Economic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System?</a:t>
            </a:r>
            <a:endParaRPr sz="1450">
              <a:latin typeface="Trebuchet MS"/>
              <a:cs typeface="Trebuchet MS"/>
            </a:endParaRPr>
          </a:p>
          <a:p>
            <a:pPr marL="93345" marR="149225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managing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resources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Sunnah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70">
                <a:latin typeface="Microsoft Sans Serif"/>
                <a:cs typeface="Microsoft Sans Serif"/>
              </a:rPr>
              <a:t>ﷺ</a:t>
            </a:r>
            <a:r>
              <a:rPr dirty="0" sz="1450" spc="-170">
                <a:latin typeface="Trebuchet MS"/>
                <a:cs typeface="Trebuchet MS"/>
              </a:rPr>
              <a:t>.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focuses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fairness,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justice,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Key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Features:</a:t>
            </a:r>
            <a:endParaRPr sz="1450">
              <a:latin typeface="Trebuchet MS"/>
              <a:cs typeface="Trebuchet MS"/>
            </a:endParaRPr>
          </a:p>
          <a:p>
            <a:pPr marL="93345" marR="5080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158115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Interest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(Riba)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paying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allowed.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Instead,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profits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losses.</a:t>
            </a:r>
            <a:endParaRPr sz="1450">
              <a:latin typeface="Trebuchet MS"/>
              <a:cs typeface="Trebuchet MS"/>
            </a:endParaRPr>
          </a:p>
          <a:p>
            <a:pPr marL="93345" marR="307340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Charity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(Zakat):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small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(usually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2.5%)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poor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needy.</a:t>
            </a:r>
            <a:endParaRPr sz="1450">
              <a:latin typeface="Trebuchet MS"/>
              <a:cs typeface="Trebuchet MS"/>
            </a:endParaRPr>
          </a:p>
          <a:p>
            <a:pPr marL="93345" marR="3429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Ethical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Business:</a:t>
            </a:r>
            <a:r>
              <a:rPr dirty="0" sz="1450" spc="114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harmful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activities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selling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alcohol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gambling.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Risk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Sharing: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risks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rewards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deals.</a:t>
            </a:r>
            <a:endParaRPr sz="1450">
              <a:latin typeface="Trebuchet MS"/>
              <a:cs typeface="Trebuchet MS"/>
            </a:endParaRPr>
          </a:p>
          <a:p>
            <a:pPr marL="93345" marR="120014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latin typeface="Trebuchet MS"/>
                <a:cs typeface="Trebuchet MS"/>
              </a:rPr>
              <a:t>Helping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Society:</a:t>
            </a:r>
            <a:r>
              <a:rPr dirty="0" sz="1450" spc="1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gap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rich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poor.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Saudi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Arabia</a:t>
            </a:r>
            <a:endParaRPr sz="1450">
              <a:latin typeface="Trebuchet MS"/>
              <a:cs typeface="Trebuchet MS"/>
            </a:endParaRPr>
          </a:p>
          <a:p>
            <a:pPr marL="93345" marR="1701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Saudi Arabia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principles.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example,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Saudi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Arabia </a:t>
            </a:r>
            <a:r>
              <a:rPr dirty="0" sz="1450">
                <a:latin typeface="Trebuchet MS"/>
                <a:cs typeface="Trebuchet MS"/>
              </a:rPr>
              <a:t>offer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services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interest.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zakat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support </a:t>
            </a:r>
            <a:r>
              <a:rPr dirty="0" sz="1450">
                <a:latin typeface="Trebuchet MS"/>
                <a:cs typeface="Trebuchet MS"/>
              </a:rPr>
              <a:t>social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programs.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Four</a:t>
            </a:r>
            <a:r>
              <a:rPr dirty="0" spc="-5"/>
              <a:t> </a:t>
            </a:r>
            <a:r>
              <a:rPr dirty="0"/>
              <a:t>Main</a:t>
            </a:r>
            <a:r>
              <a:rPr dirty="0" spc="10"/>
              <a:t> </a:t>
            </a:r>
            <a:r>
              <a:rPr dirty="0"/>
              <a:t>Economic</a:t>
            </a:r>
            <a:r>
              <a:rPr dirty="0" spc="3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832" y="1572243"/>
            <a:ext cx="7346950" cy="2724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Economy</a:t>
            </a:r>
            <a:r>
              <a:rPr dirty="0" u="sng" sz="1650" spc="-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Works: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Basics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Examples</a:t>
            </a:r>
            <a:endParaRPr sz="16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147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Pros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(Advantages):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Trebuchet MS"/>
              <a:cs typeface="Trebuchet MS"/>
            </a:endParaRPr>
          </a:p>
          <a:p>
            <a:pPr marL="93345" marR="5080">
              <a:lnSpc>
                <a:spcPct val="102400"/>
              </a:lnSpc>
            </a:pPr>
            <a:r>
              <a:rPr dirty="0" sz="1450" b="1">
                <a:latin typeface="Trebuchet MS"/>
                <a:cs typeface="Trebuchet MS"/>
              </a:rPr>
              <a:t>Fairness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justly,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need.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Moral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Guidance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responsible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money. </a:t>
            </a:r>
            <a:r>
              <a:rPr dirty="0" sz="1450" b="1">
                <a:latin typeface="Trebuchet MS"/>
                <a:cs typeface="Trebuchet MS"/>
              </a:rPr>
              <a:t>Stability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risky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financial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stable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economy.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Cons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(Challenges):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Requires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Strong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Faith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93345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committed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well.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050" y="1108972"/>
            <a:ext cx="7386955" cy="5219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73095" marR="5080" indent="-3161030">
              <a:lnSpc>
                <a:spcPct val="1014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10"/>
              <a:t> </a:t>
            </a:r>
            <a:r>
              <a:rPr dirty="0"/>
              <a:t>Different</a:t>
            </a:r>
            <a:r>
              <a:rPr dirty="0" spc="10"/>
              <a:t> </a:t>
            </a:r>
            <a:r>
              <a:rPr dirty="0"/>
              <a:t>Economies Work: </a:t>
            </a:r>
            <a:r>
              <a:rPr dirty="0" sz="1000" spc="-10"/>
              <a:t>Capitalism,</a:t>
            </a:r>
            <a:r>
              <a:rPr dirty="0" sz="1000" spc="-20"/>
              <a:t> </a:t>
            </a:r>
            <a:r>
              <a:rPr dirty="0" sz="1000" spc="-10"/>
              <a:t>Socialism, </a:t>
            </a:r>
            <a:r>
              <a:rPr dirty="0" sz="1000"/>
              <a:t>Communism</a:t>
            </a:r>
            <a:r>
              <a:rPr dirty="0" sz="1000" spc="-10"/>
              <a:t> </a:t>
            </a:r>
            <a:r>
              <a:rPr dirty="0" sz="1000"/>
              <a:t>&amp; Islamic</a:t>
            </a:r>
            <a:r>
              <a:rPr dirty="0" sz="1000" spc="-5"/>
              <a:t> </a:t>
            </a:r>
            <a:r>
              <a:rPr dirty="0" sz="1000" spc="-10"/>
              <a:t>System</a:t>
            </a:r>
            <a:r>
              <a:rPr dirty="0" u="none" sz="1000" spc="-10"/>
              <a:t> </a:t>
            </a:r>
            <a:r>
              <a:rPr dirty="0" sz="1000" spc="-10"/>
              <a:t>Comparison</a:t>
            </a:r>
            <a:r>
              <a:rPr dirty="0" sz="1000" spc="-20"/>
              <a:t> </a:t>
            </a:r>
            <a:r>
              <a:rPr dirty="0" sz="1000" spc="-10"/>
              <a:t>Table</a:t>
            </a:r>
            <a:endParaRPr sz="10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21385" y="1724405"/>
          <a:ext cx="7489190" cy="2856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975"/>
                <a:gridCol w="1085214"/>
                <a:gridCol w="1548764"/>
                <a:gridCol w="1228725"/>
                <a:gridCol w="2089785"/>
              </a:tblGrid>
              <a:tr h="662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u="sng" sz="13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Aspect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u="sng" sz="13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Capitalism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u="sng" sz="13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Socialism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u="sng" sz="13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Communism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u="sng" sz="130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Islamic</a:t>
                      </a:r>
                      <a:r>
                        <a:rPr dirty="0" u="sng" sz="1300" spc="55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u="sng" sz="130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Economic</a:t>
                      </a:r>
                      <a:r>
                        <a:rPr dirty="0" u="sng" sz="1300" spc="6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u="sng" sz="13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System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Ownership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Private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Government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Community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Allah</a:t>
                      </a:r>
                      <a:r>
                        <a:rPr dirty="0" sz="100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000" spc="-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000" spc="-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dirty="0" sz="10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20" b="1">
                          <a:latin typeface="Trebuchet MS"/>
                          <a:cs typeface="Trebuchet MS"/>
                        </a:rPr>
                        <a:t>owner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Wealth</a:t>
                      </a:r>
                      <a:r>
                        <a:rPr dirty="0" sz="10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Distribution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Unequal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dirty="0" sz="1000" spc="-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equal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Equal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dirty="0" sz="1000" spc="-6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Zakat</a:t>
                      </a:r>
                      <a:r>
                        <a:rPr dirty="0" sz="1000" spc="-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000" spc="-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charity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Profit</a:t>
                      </a:r>
                      <a:r>
                        <a:rPr dirty="0" sz="1000" spc="-6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Motive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0" b="1">
                          <a:latin typeface="Trebuchet MS"/>
                          <a:cs typeface="Trebuchet MS"/>
                        </a:rPr>
                        <a:t>High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Moderate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5" b="1">
                          <a:latin typeface="Trebuchet MS"/>
                          <a:cs typeface="Trebuchet MS"/>
                        </a:rPr>
                        <a:t>Low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Within</a:t>
                      </a:r>
                      <a:r>
                        <a:rPr dirty="0" sz="1000" spc="-3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ethical</a:t>
                      </a:r>
                      <a:r>
                        <a:rPr dirty="0" sz="1000" spc="-3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limits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Interest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(Riba)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Allowed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Allowed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Allowed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Prohibited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Ethical</a:t>
                      </a:r>
                      <a:r>
                        <a:rPr dirty="0" sz="10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Guidelines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0" b="1">
                          <a:latin typeface="Trebuchet MS"/>
                          <a:cs typeface="Trebuchet MS"/>
                        </a:rPr>
                        <a:t>Market-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driven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Government</a:t>
                      </a:r>
                      <a:r>
                        <a:rPr dirty="0" sz="1000" spc="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policies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0" b="1">
                          <a:latin typeface="Trebuchet MS"/>
                          <a:cs typeface="Trebuchet MS"/>
                        </a:rPr>
                        <a:t>State-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controlled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000" b="1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000" spc="-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b="1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000" spc="-2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00" spc="-10" b="1">
                          <a:latin typeface="Trebuchet MS"/>
                          <a:cs typeface="Trebuchet MS"/>
                        </a:rPr>
                        <a:t>Shariah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54A021"/>
                      </a:solidFill>
                      <a:prstDash val="solid"/>
                    </a:lnL>
                    <a:lnR w="12700">
                      <a:solidFill>
                        <a:srgbClr val="54A021"/>
                      </a:solidFill>
                      <a:prstDash val="solid"/>
                    </a:lnR>
                    <a:lnT w="12700">
                      <a:solidFill>
                        <a:srgbClr val="54A021"/>
                      </a:solidFill>
                      <a:prstDash val="solid"/>
                    </a:lnT>
                    <a:lnB w="12700">
                      <a:solidFill>
                        <a:srgbClr val="54A021"/>
                      </a:solidFill>
                      <a:prstDash val="solid"/>
                    </a:lnB>
                    <a:solidFill>
                      <a:srgbClr val="E8EFE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99738" y="4635491"/>
            <a:ext cx="8398510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latin typeface="Trebuchet MS"/>
                <a:cs typeface="Trebuchet MS"/>
              </a:rPr>
              <a:t>Examples</a:t>
            </a:r>
            <a:endParaRPr sz="1450">
              <a:latin typeface="Trebuchet MS"/>
              <a:cs typeface="Trebuchet MS"/>
            </a:endParaRPr>
          </a:p>
          <a:p>
            <a:pPr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Capitalism: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gadget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sells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profit.</a:t>
            </a:r>
            <a:endParaRPr sz="1450">
              <a:latin typeface="Trebuchet MS"/>
              <a:cs typeface="Trebuchet MS"/>
            </a:endParaRPr>
          </a:p>
          <a:p>
            <a:pPr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Socialism: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Sweden,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healthcare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citizens.</a:t>
            </a:r>
            <a:endParaRPr sz="1450">
              <a:latin typeface="Trebuchet MS"/>
              <a:cs typeface="Trebuchet MS"/>
            </a:endParaRPr>
          </a:p>
          <a:p>
            <a:pPr marL="12700" marR="5080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Communism: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North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Korea,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assigns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jobs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businesses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state- owned.</a:t>
            </a:r>
            <a:endParaRPr sz="1450">
              <a:latin typeface="Trebuchet MS"/>
              <a:cs typeface="Trebuchet MS"/>
            </a:endParaRPr>
          </a:p>
          <a:p>
            <a:pPr marL="12700" marR="16383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Economic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System:</a:t>
            </a:r>
            <a:r>
              <a:rPr dirty="0" sz="1450" spc="1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Saudi Arabia,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operate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people </a:t>
            </a:r>
            <a:r>
              <a:rPr dirty="0" sz="1450">
                <a:latin typeface="Trebuchet MS"/>
                <a:cs typeface="Trebuchet MS"/>
              </a:rPr>
              <a:t>give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Zakat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support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Waqas Naseem</dc:creator>
  <dc:title>Microsoft PowerPoint - Chapter-8 Islamic Economic System (IES).pptx</dc:title>
  <dcterms:created xsi:type="dcterms:W3CDTF">2025-07-05T10:17:21Z</dcterms:created>
  <dcterms:modified xsi:type="dcterms:W3CDTF">2025-07-05T10:17:21Z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2025-05-20T00:00:00Z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