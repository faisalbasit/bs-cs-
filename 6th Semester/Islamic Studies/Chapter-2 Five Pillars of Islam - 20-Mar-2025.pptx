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5840" cy="5659120"/>
          </a:xfrm>
          <a:custGeom>
            <a:avLst/>
            <a:gdLst/>
            <a:ahLst/>
            <a:cxnLst/>
            <a:rect l="l" t="t" r="r" b="b"/>
            <a:pathLst>
              <a:path w="1005840" h="5659120">
                <a:moveTo>
                  <a:pt x="0" y="0"/>
                </a:moveTo>
                <a:lnTo>
                  <a:pt x="1005840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633" y="1325264"/>
            <a:ext cx="9529133" cy="579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90C1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0477" y="2274855"/>
            <a:ext cx="7496175" cy="3298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22670" y="1053846"/>
            <a:ext cx="3938270" cy="5666740"/>
            <a:chOff x="6122670" y="1053846"/>
            <a:chExt cx="3938270" cy="5666740"/>
          </a:xfrm>
        </p:grpSpPr>
        <p:sp>
          <p:nvSpPr>
            <p:cNvPr id="3" name="object 3" descr=""/>
            <p:cNvSpPr/>
            <p:nvPr/>
          </p:nvSpPr>
          <p:spPr>
            <a:xfrm>
              <a:off x="7731251" y="1057656"/>
              <a:ext cx="1005840" cy="5659120"/>
            </a:xfrm>
            <a:custGeom>
              <a:avLst/>
              <a:gdLst/>
              <a:ahLst/>
              <a:cxnLst/>
              <a:rect l="l" t="t" r="r" b="b"/>
              <a:pathLst>
                <a:path w="1005840" h="5659120">
                  <a:moveTo>
                    <a:pt x="0" y="0"/>
                  </a:moveTo>
                  <a:lnTo>
                    <a:pt x="1005840" y="5658611"/>
                  </a:lnTo>
                </a:path>
              </a:pathLst>
            </a:custGeom>
            <a:ln w="762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26480" y="4094988"/>
              <a:ext cx="3930650" cy="2621280"/>
            </a:xfrm>
            <a:custGeom>
              <a:avLst/>
              <a:gdLst/>
              <a:ahLst/>
              <a:cxnLst/>
              <a:rect l="l" t="t" r="r" b="b"/>
              <a:pathLst>
                <a:path w="3930650" h="2621279">
                  <a:moveTo>
                    <a:pt x="3930395" y="0"/>
                  </a:moveTo>
                  <a:lnTo>
                    <a:pt x="0" y="2621279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5492" y="1057656"/>
              <a:ext cx="2692907" cy="5658611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0" y="1057655"/>
            <a:ext cx="1588135" cy="5659120"/>
            <a:chOff x="0" y="1057655"/>
            <a:chExt cx="1588135" cy="56591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57655"/>
              <a:ext cx="702564" cy="468020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4" y="5148071"/>
              <a:ext cx="1571244" cy="156819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51945" y="1307220"/>
            <a:ext cx="4591050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36370" algn="l"/>
              </a:tabLst>
            </a:pPr>
            <a:r>
              <a:rPr dirty="0" sz="6600" spc="-25"/>
              <a:t>2</a:t>
            </a:r>
            <a:r>
              <a:rPr dirty="0" baseline="25252" sz="6600" spc="-37"/>
              <a:t>nd</a:t>
            </a:r>
            <a:r>
              <a:rPr dirty="0" baseline="25252" sz="6600"/>
              <a:t>	</a:t>
            </a:r>
            <a:r>
              <a:rPr dirty="0" sz="6600" spc="-10"/>
              <a:t>Chapter</a:t>
            </a:r>
            <a:endParaRPr sz="6600"/>
          </a:p>
        </p:txBody>
      </p:sp>
      <p:sp>
        <p:nvSpPr>
          <p:cNvPr id="10" name="object 10" descr=""/>
          <p:cNvSpPr/>
          <p:nvPr/>
        </p:nvSpPr>
        <p:spPr>
          <a:xfrm>
            <a:off x="2189988" y="2263139"/>
            <a:ext cx="4514215" cy="82550"/>
          </a:xfrm>
          <a:custGeom>
            <a:avLst/>
            <a:gdLst/>
            <a:ahLst/>
            <a:cxnLst/>
            <a:rect l="l" t="t" r="r" b="b"/>
            <a:pathLst>
              <a:path w="4514215" h="82550">
                <a:moveTo>
                  <a:pt x="4514088" y="82296"/>
                </a:moveTo>
                <a:lnTo>
                  <a:pt x="0" y="82296"/>
                </a:lnTo>
                <a:lnTo>
                  <a:pt x="0" y="0"/>
                </a:lnTo>
                <a:lnTo>
                  <a:pt x="4514088" y="0"/>
                </a:lnTo>
                <a:lnTo>
                  <a:pt x="4514088" y="82296"/>
                </a:lnTo>
                <a:close/>
              </a:path>
            </a:pathLst>
          </a:custGeom>
          <a:solidFill>
            <a:srgbClr val="90C1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976148" y="2320415"/>
            <a:ext cx="4944745" cy="3730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u="sng" sz="445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Five</a:t>
            </a:r>
            <a:r>
              <a:rPr dirty="0" u="sng" sz="4450" spc="-105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45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Pillars</a:t>
            </a:r>
            <a:r>
              <a:rPr dirty="0" u="sng" sz="4450" spc="-10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45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4450" spc="-12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450" spc="-1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Islam</a:t>
            </a:r>
            <a:endParaRPr sz="4450">
              <a:latin typeface="Trebuchet MS"/>
              <a:cs typeface="Trebuchet MS"/>
            </a:endParaRPr>
          </a:p>
          <a:p>
            <a:pPr marL="1175385" marR="59055" indent="-692150">
              <a:lnSpc>
                <a:spcPct val="141200"/>
              </a:lnSpc>
              <a:spcBef>
                <a:spcPts val="137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1st</a:t>
            </a:r>
            <a:r>
              <a:rPr dirty="0" sz="165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Pillar</a:t>
            </a:r>
            <a:r>
              <a:rPr dirty="0" sz="1650" spc="-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Deliration</a:t>
            </a:r>
            <a:r>
              <a:rPr dirty="0" sz="1650" spc="-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 Islam/Kalima-e-Tayyib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2nd</a:t>
            </a:r>
            <a:r>
              <a:rPr dirty="0" sz="1650" spc="-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Pillar</a:t>
            </a:r>
            <a:r>
              <a:rPr dirty="0" sz="1650" spc="-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Prayer/Salah/Namaz</a:t>
            </a:r>
            <a:endParaRPr sz="1650">
              <a:latin typeface="Arial"/>
              <a:cs typeface="Arial"/>
            </a:endParaRPr>
          </a:p>
          <a:p>
            <a:pPr marL="922019" marR="501015" indent="311785">
              <a:lnSpc>
                <a:spcPct val="141800"/>
              </a:lnSpc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3rd</a:t>
            </a:r>
            <a:r>
              <a:rPr dirty="0" sz="1650" spc="-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Pillar</a:t>
            </a:r>
            <a:r>
              <a:rPr dirty="0" sz="165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Fasting/Soam/Roza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4th</a:t>
            </a:r>
            <a:r>
              <a:rPr dirty="0" sz="165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Pillar</a:t>
            </a:r>
            <a:r>
              <a:rPr dirty="0" sz="165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Zakat</a:t>
            </a:r>
            <a:r>
              <a:rPr dirty="0" sz="165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(Obligatory</a:t>
            </a:r>
            <a:r>
              <a:rPr dirty="0" sz="1650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Charity)</a:t>
            </a:r>
            <a:endParaRPr sz="1650">
              <a:latin typeface="Arial"/>
              <a:cs typeface="Arial"/>
            </a:endParaRPr>
          </a:p>
          <a:p>
            <a:pPr marL="1450975">
              <a:lnSpc>
                <a:spcPct val="100000"/>
              </a:lnSpc>
              <a:spcBef>
                <a:spcPts val="83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5th</a:t>
            </a:r>
            <a:r>
              <a:rPr dirty="0" sz="1650" spc="-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Pillar</a:t>
            </a:r>
            <a:r>
              <a:rPr dirty="0" sz="165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Hajj/Pilgrimage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650">
              <a:latin typeface="Arial"/>
              <a:cs typeface="Arial"/>
            </a:endParaRPr>
          </a:p>
          <a:p>
            <a:pPr marL="1379220">
              <a:lnSpc>
                <a:spcPct val="100000"/>
              </a:lnSpc>
              <a:spcBef>
                <a:spcPts val="5"/>
              </a:spcBef>
            </a:pP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Ms.</a:t>
            </a:r>
            <a:r>
              <a:rPr dirty="0" sz="1950" spc="6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SAFIA</a:t>
            </a:r>
            <a:r>
              <a:rPr dirty="0" sz="1950" spc="-11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spc="-20" b="1">
                <a:solidFill>
                  <a:srgbClr val="3F7718"/>
                </a:solidFill>
                <a:latin typeface="Times New Roman"/>
                <a:cs typeface="Times New Roman"/>
              </a:rPr>
              <a:t>WAQAS</a:t>
            </a:r>
            <a:endParaRPr sz="1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Session:</a:t>
            </a:r>
            <a:r>
              <a:rPr dirty="0" sz="14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Spring:</a:t>
            </a:r>
            <a:r>
              <a:rPr dirty="0" sz="1450" spc="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20" b="1">
                <a:solidFill>
                  <a:srgbClr val="3F7718"/>
                </a:solidFill>
                <a:latin typeface="Times New Roman"/>
                <a:cs typeface="Times New Roman"/>
              </a:rPr>
              <a:t>2025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Course:</a:t>
            </a:r>
            <a:r>
              <a:rPr dirty="0" sz="1450" spc="5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Islamic</a:t>
            </a:r>
            <a:r>
              <a:rPr dirty="0" sz="1450" spc="8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Studies</a:t>
            </a:r>
            <a:r>
              <a:rPr dirty="0" sz="1450" spc="4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/</a:t>
            </a:r>
            <a:r>
              <a:rPr dirty="0" sz="1450" spc="4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Ethical</a:t>
            </a:r>
            <a:r>
              <a:rPr dirty="0" sz="1450" spc="2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3F7718"/>
                </a:solidFill>
                <a:latin typeface="Times New Roman"/>
                <a:cs typeface="Times New Roman"/>
              </a:rPr>
              <a:t>Behavior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74" y="1328405"/>
            <a:ext cx="3551554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Five</a:t>
            </a:r>
            <a:r>
              <a:rPr dirty="0" u="sng" spc="1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Pillars</a:t>
            </a:r>
            <a:r>
              <a:rPr dirty="0" u="sng" spc="-2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of</a:t>
            </a:r>
            <a:r>
              <a:rPr dirty="0" u="sng" spc="5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Islam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4693" y="1830153"/>
            <a:ext cx="8208009" cy="410146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100" spc="-254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100" spc="-13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6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Introduction</a:t>
            </a:r>
            <a:r>
              <a:rPr dirty="0" sz="23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Islam.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What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Islam?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Five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Pillars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Core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Principles</a:t>
            </a:r>
            <a:r>
              <a:rPr dirty="0" sz="230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Purpose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endParaRPr sz="2300">
              <a:latin typeface="Trebuchet MS"/>
              <a:cs typeface="Trebuchet MS"/>
            </a:endParaRPr>
          </a:p>
          <a:p>
            <a:pPr marL="624840" marR="1105535" indent="-234950">
              <a:lnSpc>
                <a:spcPct val="100400"/>
              </a:lnSpc>
              <a:spcBef>
                <a:spcPts val="830"/>
              </a:spcBef>
            </a:pPr>
            <a:r>
              <a:rPr dirty="0" sz="1850" spc="-2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-22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1st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Pillar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Declaration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(Kalima-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e-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Tayyib)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Requirements</a:t>
            </a:r>
            <a:r>
              <a:rPr dirty="0" sz="23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Kalima-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e-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Tayyib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Understanding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Iman-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e-Mujmal:</a:t>
            </a:r>
            <a:r>
              <a:rPr dirty="0" sz="2300" spc="-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Heart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Faith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sz="1850" spc="-2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-22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 spc="-110">
                <a:solidFill>
                  <a:srgbClr val="3F3F3F"/>
                </a:solidFill>
                <a:latin typeface="Trebuchet MS"/>
                <a:cs typeface="Trebuchet MS"/>
              </a:rPr>
              <a:t>Two</a:t>
            </a:r>
            <a:r>
              <a:rPr dirty="0" sz="2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Testimonies</a:t>
            </a:r>
            <a:r>
              <a:rPr dirty="0" sz="23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Faith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(Shahadatayn)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Significance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23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10">
                <a:solidFill>
                  <a:srgbClr val="3F3F3F"/>
                </a:solidFill>
                <a:latin typeface="Trebuchet MS"/>
                <a:cs typeface="Trebuchet MS"/>
              </a:rPr>
              <a:t>Two</a:t>
            </a:r>
            <a:r>
              <a:rPr dirty="0" sz="23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Testimonies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253663"/>
            <a:ext cx="643890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Introduction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15"/>
              <a:t> </a:t>
            </a:r>
            <a:r>
              <a:rPr dirty="0"/>
              <a:t>Islam.</a:t>
            </a:r>
            <a:r>
              <a:rPr dirty="0" spc="5"/>
              <a:t> </a:t>
            </a:r>
            <a:r>
              <a:rPr dirty="0"/>
              <a:t>What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5"/>
              <a:t> </a:t>
            </a:r>
            <a:r>
              <a:rPr dirty="0" spc="-10"/>
              <a:t>Islam?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8" y="2213548"/>
            <a:ext cx="5233670" cy="2741295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2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What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is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Islam?</a:t>
            </a:r>
            <a:endParaRPr sz="1450">
              <a:latin typeface="Arial"/>
              <a:cs typeface="Arial"/>
            </a:endParaRPr>
          </a:p>
          <a:p>
            <a:pPr marL="129539" indent="-116839">
              <a:lnSpc>
                <a:spcPct val="100000"/>
              </a:lnSpc>
              <a:spcBef>
                <a:spcPts val="940"/>
              </a:spcBef>
              <a:buClr>
                <a:srgbClr val="000000"/>
              </a:buClr>
              <a:buFont typeface="Microsoft Sans Serif"/>
              <a:buChar char="•"/>
              <a:tabLst>
                <a:tab pos="129539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"Islam"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means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"submission"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"surrender"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marL="129539" indent="-116839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Microsoft Sans Serif"/>
              <a:buChar char="•"/>
              <a:tabLst>
                <a:tab pos="129539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way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life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based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obeying</a:t>
            </a:r>
            <a:r>
              <a:rPr dirty="0" sz="145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commands.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Purpose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of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Islam: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worship</a:t>
            </a:r>
            <a:r>
              <a:rPr dirty="0" sz="145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only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live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good</a:t>
            </a:r>
            <a:r>
              <a:rPr dirty="0" sz="14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fair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life</a:t>
            </a:r>
            <a:r>
              <a:rPr dirty="0" sz="1450" spc="-20"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grow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spiritually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prepare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life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after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death</a:t>
            </a:r>
            <a:r>
              <a:rPr dirty="0" sz="1450" spc="-10"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449705">
              <a:lnSpc>
                <a:spcPct val="100000"/>
              </a:lnSpc>
              <a:spcBef>
                <a:spcPts val="135"/>
              </a:spcBef>
            </a:pP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The</a:t>
            </a:r>
            <a:r>
              <a:rPr dirty="0" u="sng" sz="3600" spc="4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Five</a:t>
            </a:r>
            <a:r>
              <a:rPr dirty="0" u="sng" sz="3600" spc="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Pillars</a:t>
            </a:r>
            <a:r>
              <a:rPr dirty="0" u="sng" sz="3600" spc="2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of</a:t>
            </a:r>
            <a:r>
              <a:rPr dirty="0" u="sng" sz="3600" spc="2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z="3600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Islam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322619" y="2026350"/>
            <a:ext cx="709739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136390" algn="l"/>
              </a:tabLst>
            </a:pP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Five</a:t>
            </a:r>
            <a:r>
              <a:rPr dirty="0" u="sng" sz="1950" spc="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Pillars</a:t>
            </a:r>
            <a:r>
              <a:rPr dirty="0" u="sng" sz="195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19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Islam:</a:t>
            </a:r>
            <a:r>
              <a:rPr dirty="0" sz="1950" b="1">
                <a:latin typeface="Arial"/>
                <a:cs typeface="Arial"/>
              </a:rPr>
              <a:t>	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Core</a:t>
            </a:r>
            <a:r>
              <a:rPr dirty="0" u="sng" sz="1950" spc="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Principles</a:t>
            </a:r>
            <a:r>
              <a:rPr dirty="0" u="sng" sz="1950" spc="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1950" spc="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Islam:</a:t>
            </a:r>
            <a:endParaRPr sz="19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22588" y="2735124"/>
            <a:ext cx="3846829" cy="264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97180" algn="l"/>
              </a:tabLst>
            </a:pPr>
            <a:r>
              <a:rPr dirty="0" sz="1650" b="1">
                <a:latin typeface="Arial"/>
                <a:cs typeface="Arial"/>
              </a:rPr>
              <a:t>Shahada: </a:t>
            </a:r>
            <a:r>
              <a:rPr dirty="0" sz="1450">
                <a:latin typeface="Microsoft Sans Serif"/>
                <a:cs typeface="Microsoft Sans Serif"/>
              </a:rPr>
              <a:t>Declaration</a:t>
            </a:r>
            <a:r>
              <a:rPr dirty="0" sz="1450" spc="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Faith</a:t>
            </a:r>
            <a:endParaRPr sz="1450">
              <a:latin typeface="Microsoft Sans Serif"/>
              <a:cs typeface="Microsoft Sans Serif"/>
            </a:endParaRPr>
          </a:p>
          <a:p>
            <a:pPr marL="295910" marR="309245" indent="-283845">
              <a:lnSpc>
                <a:spcPts val="1820"/>
              </a:lnSpc>
              <a:spcBef>
                <a:spcPts val="195"/>
              </a:spcBef>
              <a:buAutoNum type="arabicPeriod"/>
              <a:tabLst>
                <a:tab pos="295910" algn="l"/>
              </a:tabLst>
            </a:pPr>
            <a:r>
              <a:rPr dirty="0" sz="1650" b="1">
                <a:latin typeface="Arial"/>
                <a:cs typeface="Arial"/>
              </a:rPr>
              <a:t>Salah</a:t>
            </a:r>
            <a:r>
              <a:rPr dirty="0" sz="1650" spc="-1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(Prayers):</a:t>
            </a:r>
            <a:r>
              <a:rPr dirty="0" sz="1650" spc="-20" b="1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Performing</a:t>
            </a:r>
            <a:r>
              <a:rPr dirty="0" sz="1450" spc="2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the</a:t>
            </a:r>
            <a:r>
              <a:rPr dirty="0" sz="1450" spc="4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Microsoft Sans Serif"/>
                <a:cs typeface="Microsoft Sans Serif"/>
              </a:rPr>
              <a:t>five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daily</a:t>
            </a:r>
            <a:r>
              <a:rPr dirty="0" sz="1450" spc="5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Microsoft Sans Serif"/>
                <a:cs typeface="Microsoft Sans Serif"/>
              </a:rPr>
              <a:t>prayers.</a:t>
            </a:r>
            <a:endParaRPr sz="145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ts val="1820"/>
              </a:lnSpc>
              <a:spcBef>
                <a:spcPts val="125"/>
              </a:spcBef>
              <a:buAutoNum type="arabicPeriod"/>
              <a:tabLst>
                <a:tab pos="295910" algn="l"/>
              </a:tabLst>
            </a:pPr>
            <a:r>
              <a:rPr dirty="0" sz="1650" b="1">
                <a:latin typeface="Arial"/>
                <a:cs typeface="Arial"/>
              </a:rPr>
              <a:t>Zakat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(Charity):</a:t>
            </a:r>
            <a:r>
              <a:rPr dirty="0" sz="1650" spc="-25" b="1">
                <a:latin typeface="Arial"/>
                <a:cs typeface="Arial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Giving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portion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your </a:t>
            </a:r>
            <a:r>
              <a:rPr dirty="0" sz="1450">
                <a:latin typeface="Microsoft Sans Serif"/>
                <a:cs typeface="Microsoft Sans Serif"/>
              </a:rPr>
              <a:t>wealth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those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need.</a:t>
            </a:r>
            <a:endParaRPr sz="1450">
              <a:latin typeface="Microsoft Sans Serif"/>
              <a:cs typeface="Microsoft Sans Serif"/>
            </a:endParaRPr>
          </a:p>
          <a:p>
            <a:pPr marL="295910" marR="415925" indent="-283845">
              <a:lnSpc>
                <a:spcPts val="1820"/>
              </a:lnSpc>
              <a:spcBef>
                <a:spcPts val="114"/>
              </a:spcBef>
              <a:buAutoNum type="arabicPeriod"/>
              <a:tabLst>
                <a:tab pos="295910" algn="l"/>
              </a:tabLst>
            </a:pPr>
            <a:r>
              <a:rPr dirty="0" sz="1650" spc="-10" b="1">
                <a:latin typeface="Arial"/>
                <a:cs typeface="Arial"/>
              </a:rPr>
              <a:t>Sawm(Fasting):</a:t>
            </a:r>
            <a:r>
              <a:rPr dirty="0" sz="1650" spc="-5" b="1">
                <a:latin typeface="Arial"/>
                <a:cs typeface="Arial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Fasting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during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the </a:t>
            </a:r>
            <a:r>
              <a:rPr dirty="0" sz="1450">
                <a:latin typeface="Microsoft Sans Serif"/>
                <a:cs typeface="Microsoft Sans Serif"/>
              </a:rPr>
              <a:t>month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Ramadan.</a:t>
            </a:r>
            <a:endParaRPr sz="1450">
              <a:latin typeface="Microsoft Sans Serif"/>
              <a:cs typeface="Microsoft Sans Serif"/>
            </a:endParaRPr>
          </a:p>
          <a:p>
            <a:pPr marL="295910" marR="74930" indent="-283845">
              <a:lnSpc>
                <a:spcPts val="1820"/>
              </a:lnSpc>
              <a:spcBef>
                <a:spcPts val="130"/>
              </a:spcBef>
              <a:buAutoNum type="arabicPeriod"/>
              <a:tabLst>
                <a:tab pos="295910" algn="l"/>
              </a:tabLst>
            </a:pPr>
            <a:r>
              <a:rPr dirty="0" sz="1650" b="1">
                <a:latin typeface="Arial"/>
                <a:cs typeface="Arial"/>
              </a:rPr>
              <a:t>Hajj</a:t>
            </a:r>
            <a:r>
              <a:rPr dirty="0" sz="1650" spc="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(Pilgrimage):</a:t>
            </a:r>
            <a:r>
              <a:rPr dirty="0" sz="1650" spc="-25" b="1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Making</a:t>
            </a:r>
            <a:r>
              <a:rPr dirty="0" sz="1450" spc="3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a</a:t>
            </a:r>
            <a:r>
              <a:rPr dirty="0" sz="1450" spc="5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Microsoft Sans Serif"/>
                <a:cs typeface="Microsoft Sans Serif"/>
              </a:rPr>
              <a:t>pilgrimage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to</a:t>
            </a:r>
            <a:r>
              <a:rPr dirty="0" sz="1450" spc="6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Mecca</a:t>
            </a:r>
            <a:r>
              <a:rPr dirty="0" sz="1450" spc="3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if</a:t>
            </a:r>
            <a:r>
              <a:rPr dirty="0" sz="1450" spc="4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you</a:t>
            </a:r>
            <a:r>
              <a:rPr dirty="0" sz="1450" spc="6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are</a:t>
            </a:r>
            <a:r>
              <a:rPr dirty="0" sz="1450" spc="4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Microsoft Sans Serif"/>
                <a:cs typeface="Microsoft Sans Serif"/>
              </a:rPr>
              <a:t>able.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ts val="1705"/>
              </a:lnSpc>
            </a:pP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These</a:t>
            </a:r>
            <a:r>
              <a:rPr dirty="0" sz="1450" spc="5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acts</a:t>
            </a:r>
            <a:r>
              <a:rPr dirty="0" sz="1450" spc="6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build</a:t>
            </a:r>
            <a:r>
              <a:rPr dirty="0" sz="1450" spc="5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a</a:t>
            </a:r>
            <a:r>
              <a:rPr dirty="0" sz="1450" spc="6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strong,</a:t>
            </a:r>
            <a:r>
              <a:rPr dirty="0" sz="1450" spc="6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balanced</a:t>
            </a:r>
            <a:r>
              <a:rPr dirty="0" sz="1450" spc="3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life</a:t>
            </a:r>
            <a:r>
              <a:rPr dirty="0" sz="1450" spc="5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Microsoft Sans Serif"/>
                <a:cs typeface="Microsoft Sans Serif"/>
              </a:rPr>
              <a:t>and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connect</a:t>
            </a:r>
            <a:r>
              <a:rPr dirty="0" sz="1450" spc="4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a</a:t>
            </a:r>
            <a:r>
              <a:rPr dirty="0" sz="1450" spc="6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Muslim</a:t>
            </a:r>
            <a:r>
              <a:rPr dirty="0" sz="1450" spc="5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to</a:t>
            </a:r>
            <a:r>
              <a:rPr dirty="0" sz="1450" spc="8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their</a:t>
            </a:r>
            <a:r>
              <a:rPr dirty="0" sz="1450" spc="5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Microsoft Sans Serif"/>
                <a:cs typeface="Microsoft Sans Serif"/>
              </a:rPr>
              <a:t>faith.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46584" y="2735124"/>
            <a:ext cx="4217670" cy="19640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295910" marR="228600" indent="-283845">
              <a:lnSpc>
                <a:spcPct val="102200"/>
              </a:lnSpc>
              <a:spcBef>
                <a:spcPts val="60"/>
              </a:spcBef>
              <a:buAutoNum type="arabicPeriod"/>
              <a:tabLst>
                <a:tab pos="295910" algn="l"/>
              </a:tabLst>
            </a:pPr>
            <a:r>
              <a:rPr dirty="0" sz="1650" spc="-30" b="1">
                <a:latin typeface="Arial"/>
                <a:cs typeface="Arial"/>
              </a:rPr>
              <a:t>Tawhid</a:t>
            </a:r>
            <a:r>
              <a:rPr dirty="0" sz="1650" spc="-9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(</a:t>
            </a:r>
            <a:r>
              <a:rPr dirty="0" sz="1650" b="1">
                <a:latin typeface="Arial"/>
                <a:cs typeface="Arial"/>
              </a:rPr>
              <a:t>Oneness</a:t>
            </a:r>
            <a:r>
              <a:rPr dirty="0" sz="1650" spc="-8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of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Allah</a:t>
            </a:r>
            <a:r>
              <a:rPr dirty="0" sz="1450" b="1">
                <a:latin typeface="Arial"/>
                <a:cs typeface="Arial"/>
              </a:rPr>
              <a:t>):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Belief in</a:t>
            </a:r>
            <a:r>
              <a:rPr dirty="0" sz="1450" spc="1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Microsoft Sans Serif"/>
                <a:cs typeface="Microsoft Sans Serif"/>
              </a:rPr>
              <a:t>the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oneness</a:t>
            </a:r>
            <a:r>
              <a:rPr dirty="0" sz="1450" spc="5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of</a:t>
            </a:r>
            <a:r>
              <a:rPr dirty="0" sz="1450" spc="-2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Microsoft Sans Serif"/>
                <a:cs typeface="Microsoft Sans Serif"/>
              </a:rPr>
              <a:t>Allah.</a:t>
            </a:r>
            <a:endParaRPr sz="1450">
              <a:latin typeface="Microsoft Sans Serif"/>
              <a:cs typeface="Microsoft Sans Serif"/>
            </a:endParaRPr>
          </a:p>
          <a:p>
            <a:pPr marL="295910" marR="15240" indent="-283845">
              <a:lnSpc>
                <a:spcPts val="1820"/>
              </a:lnSpc>
              <a:spcBef>
                <a:spcPts val="200"/>
              </a:spcBef>
              <a:buAutoNum type="arabicPeriod"/>
              <a:tabLst>
                <a:tab pos="295910" algn="l"/>
              </a:tabLst>
            </a:pPr>
            <a:r>
              <a:rPr dirty="0" sz="1650" b="1">
                <a:latin typeface="Arial"/>
                <a:cs typeface="Arial"/>
              </a:rPr>
              <a:t>Risalah</a:t>
            </a:r>
            <a:r>
              <a:rPr dirty="0" sz="1650" spc="-100" b="1">
                <a:latin typeface="Arial"/>
                <a:cs typeface="Arial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Prophethood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):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Belief</a:t>
            </a:r>
            <a:r>
              <a:rPr dirty="0" sz="1450" spc="-1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in</a:t>
            </a:r>
            <a:r>
              <a:rPr dirty="0" sz="1450" spc="1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Microsoft Sans Serif"/>
                <a:cs typeface="Microsoft Sans Serif"/>
              </a:rPr>
              <a:t>the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Prophethood</a:t>
            </a:r>
            <a:r>
              <a:rPr dirty="0" sz="1450" spc="9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(especially</a:t>
            </a:r>
            <a:r>
              <a:rPr dirty="0" sz="1450" spc="7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Prophet</a:t>
            </a:r>
            <a:r>
              <a:rPr dirty="0" sz="1450" spc="10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Microsoft Sans Serif"/>
                <a:cs typeface="Microsoft Sans Serif"/>
              </a:rPr>
              <a:t>Muhammad).</a:t>
            </a:r>
            <a:endParaRPr sz="1450">
              <a:latin typeface="Microsoft Sans Serif"/>
              <a:cs typeface="Microsoft Sans Serif"/>
            </a:endParaRPr>
          </a:p>
          <a:p>
            <a:pPr marL="297180" indent="-284480">
              <a:lnSpc>
                <a:spcPts val="1900"/>
              </a:lnSpc>
              <a:buAutoNum type="arabicPeriod"/>
              <a:tabLst>
                <a:tab pos="297180" algn="l"/>
              </a:tabLst>
            </a:pPr>
            <a:r>
              <a:rPr dirty="0" sz="1650" b="1">
                <a:latin typeface="Arial"/>
                <a:cs typeface="Arial"/>
              </a:rPr>
              <a:t>Akhirah</a:t>
            </a:r>
            <a:r>
              <a:rPr dirty="0" sz="1650" spc="-25" b="1">
                <a:latin typeface="Arial"/>
                <a:cs typeface="Arial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Afterlife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r>
              <a:rPr dirty="0" sz="1450" b="1">
                <a:latin typeface="Arial"/>
                <a:cs typeface="Arial"/>
              </a:rPr>
              <a:t>: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Belief</a:t>
            </a:r>
            <a:r>
              <a:rPr dirty="0" sz="1450" spc="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in</a:t>
            </a:r>
            <a:r>
              <a:rPr dirty="0" sz="1450" spc="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life</a:t>
            </a:r>
            <a:r>
              <a:rPr dirty="0" sz="1450" spc="2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after</a:t>
            </a:r>
            <a:r>
              <a:rPr dirty="0" sz="1450" spc="2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Microsoft Sans Serif"/>
                <a:cs typeface="Microsoft Sans Serif"/>
              </a:rPr>
              <a:t>death.</a:t>
            </a:r>
            <a:endParaRPr sz="1450">
              <a:latin typeface="Microsoft Sans Serif"/>
              <a:cs typeface="Microsoft Sans Serif"/>
            </a:endParaRPr>
          </a:p>
          <a:p>
            <a:pPr marL="297180" indent="-284480">
              <a:lnSpc>
                <a:spcPct val="100000"/>
              </a:lnSpc>
              <a:buAutoNum type="arabicPeriod"/>
              <a:tabLst>
                <a:tab pos="297180" algn="l"/>
              </a:tabLst>
            </a:pPr>
            <a:r>
              <a:rPr dirty="0" sz="1650" b="1">
                <a:latin typeface="Arial"/>
                <a:cs typeface="Arial"/>
              </a:rPr>
              <a:t>Adl</a:t>
            </a:r>
            <a:r>
              <a:rPr dirty="0" sz="1650" spc="-15" b="1">
                <a:latin typeface="Arial"/>
                <a:cs typeface="Arial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Justice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):</a:t>
            </a:r>
            <a:r>
              <a:rPr dirty="0" sz="1450" spc="-20" b="1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Belief in</a:t>
            </a:r>
            <a:r>
              <a:rPr dirty="0" sz="1450" spc="1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Microsoft Sans Serif"/>
                <a:cs typeface="Microsoft Sans Serif"/>
              </a:rPr>
              <a:t>justice</a:t>
            </a:r>
            <a:r>
              <a:rPr dirty="0" sz="1300" spc="-10">
                <a:solidFill>
                  <a:srgbClr val="3F3F3F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ts val="1820"/>
              </a:lnSpc>
              <a:spcBef>
                <a:spcPts val="195"/>
              </a:spcBef>
              <a:buAutoNum type="arabicPeriod"/>
              <a:tabLst>
                <a:tab pos="295910" algn="l"/>
              </a:tabLst>
            </a:pPr>
            <a:r>
              <a:rPr dirty="0" sz="1650" b="1">
                <a:latin typeface="Arial"/>
                <a:cs typeface="Arial"/>
              </a:rPr>
              <a:t>Ihsan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Goodness):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Belief</a:t>
            </a:r>
            <a:r>
              <a:rPr dirty="0" sz="1450" spc="1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in</a:t>
            </a:r>
            <a:r>
              <a:rPr dirty="0" sz="1450" spc="2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doing</a:t>
            </a:r>
            <a:r>
              <a:rPr dirty="0" sz="1450" spc="15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good</a:t>
            </a:r>
            <a:r>
              <a:rPr dirty="0" sz="1450" spc="1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Microsoft Sans Serif"/>
                <a:cs typeface="Microsoft Sans Serif"/>
              </a:rPr>
              <a:t>and </a:t>
            </a:r>
            <a:r>
              <a:rPr dirty="0" sz="1450">
                <a:solidFill>
                  <a:srgbClr val="3F3F3F"/>
                </a:solidFill>
                <a:latin typeface="Microsoft Sans Serif"/>
                <a:cs typeface="Microsoft Sans Serif"/>
              </a:rPr>
              <a:t>being</a:t>
            </a:r>
            <a:r>
              <a:rPr dirty="0" sz="1450" spc="50">
                <a:solidFill>
                  <a:srgbClr val="3F3F3F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Microsoft Sans Serif"/>
                <a:cs typeface="Microsoft Sans Serif"/>
              </a:rPr>
              <a:t>kind.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18" y="1261414"/>
            <a:ext cx="836739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070BF"/>
                </a:solidFill>
              </a:rPr>
              <a:t>1</a:t>
            </a:r>
            <a:r>
              <a:rPr dirty="0" baseline="25641" sz="2925">
                <a:solidFill>
                  <a:srgbClr val="0070BF"/>
                </a:solidFill>
              </a:rPr>
              <a:t>st</a:t>
            </a:r>
            <a:r>
              <a:rPr dirty="0" baseline="25641" sz="2925" spc="427">
                <a:solidFill>
                  <a:srgbClr val="0070BF"/>
                </a:solidFill>
              </a:rPr>
              <a:t> </a:t>
            </a:r>
            <a:r>
              <a:rPr dirty="0" sz="2950" spc="-10">
                <a:solidFill>
                  <a:srgbClr val="0070BF"/>
                </a:solidFill>
              </a:rPr>
              <a:t>Pillar–Kalima-</a:t>
            </a:r>
            <a:r>
              <a:rPr dirty="0" sz="2950">
                <a:solidFill>
                  <a:srgbClr val="0070BF"/>
                </a:solidFill>
              </a:rPr>
              <a:t>e-</a:t>
            </a:r>
            <a:r>
              <a:rPr dirty="0" sz="2950" spc="-30">
                <a:solidFill>
                  <a:srgbClr val="0070BF"/>
                </a:solidFill>
              </a:rPr>
              <a:t>Tayyib</a:t>
            </a:r>
            <a:r>
              <a:rPr dirty="0" sz="2950" spc="-60">
                <a:solidFill>
                  <a:srgbClr val="0070BF"/>
                </a:solidFill>
              </a:rPr>
              <a:t> </a:t>
            </a:r>
            <a:r>
              <a:rPr dirty="0" sz="2950">
                <a:solidFill>
                  <a:srgbClr val="0070BF"/>
                </a:solidFill>
              </a:rPr>
              <a:t>(Declaration</a:t>
            </a:r>
            <a:r>
              <a:rPr dirty="0" sz="2950" spc="-60">
                <a:solidFill>
                  <a:srgbClr val="0070BF"/>
                </a:solidFill>
              </a:rPr>
              <a:t> </a:t>
            </a:r>
            <a:r>
              <a:rPr dirty="0" sz="2950">
                <a:solidFill>
                  <a:srgbClr val="0070BF"/>
                </a:solidFill>
              </a:rPr>
              <a:t>of</a:t>
            </a:r>
            <a:r>
              <a:rPr dirty="0" sz="2950" spc="-20">
                <a:solidFill>
                  <a:srgbClr val="0070BF"/>
                </a:solidFill>
              </a:rPr>
              <a:t> </a:t>
            </a:r>
            <a:r>
              <a:rPr dirty="0" sz="2950" spc="-10">
                <a:solidFill>
                  <a:srgbClr val="0070BF"/>
                </a:solidFill>
              </a:rPr>
              <a:t>Islam)</a:t>
            </a:r>
            <a:endParaRPr sz="2950"/>
          </a:p>
        </p:txBody>
      </p:sp>
      <p:sp>
        <p:nvSpPr>
          <p:cNvPr id="3" name="object 3" descr=""/>
          <p:cNvSpPr/>
          <p:nvPr/>
        </p:nvSpPr>
        <p:spPr>
          <a:xfrm>
            <a:off x="76200" y="1700783"/>
            <a:ext cx="8290559" cy="36830"/>
          </a:xfrm>
          <a:custGeom>
            <a:avLst/>
            <a:gdLst/>
            <a:ahLst/>
            <a:cxnLst/>
            <a:rect l="l" t="t" r="r" b="b"/>
            <a:pathLst>
              <a:path w="8290559" h="36830">
                <a:moveTo>
                  <a:pt x="8290560" y="36576"/>
                </a:moveTo>
                <a:lnTo>
                  <a:pt x="0" y="36576"/>
                </a:lnTo>
                <a:lnTo>
                  <a:pt x="0" y="0"/>
                </a:lnTo>
                <a:lnTo>
                  <a:pt x="8290560" y="0"/>
                </a:lnTo>
                <a:lnTo>
                  <a:pt x="8290560" y="36576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85091" y="2175439"/>
            <a:ext cx="7920355" cy="3421379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025"/>
              </a:spcBef>
              <a:buFont typeface="Wingdings"/>
              <a:buChar char=""/>
              <a:tabLst>
                <a:tab pos="248285" algn="l"/>
              </a:tabLst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12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Kalima-e-</a:t>
            </a:r>
            <a:r>
              <a:rPr dirty="0" sz="1450" spc="-10" b="1">
                <a:latin typeface="Trebuchet MS"/>
                <a:cs typeface="Trebuchet MS"/>
              </a:rPr>
              <a:t>Tayyib?</a:t>
            </a:r>
            <a:endParaRPr sz="1450">
              <a:latin typeface="Trebuchet MS"/>
              <a:cs typeface="Trebuchet MS"/>
            </a:endParaRPr>
          </a:p>
          <a:p>
            <a:pPr marL="12700" marR="1677035">
              <a:lnSpc>
                <a:spcPct val="153800"/>
              </a:lnSpc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Kalima-e-Tayyib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pure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clear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declaration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Muslim’s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faith.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Kalima: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450" b="1">
                <a:latin typeface="Trebuchet MS"/>
                <a:cs typeface="Trebuchet MS"/>
              </a:rPr>
              <a:t>"There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no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god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but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Allah,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Muhammad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the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Messenger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of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Allah.“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r>
              <a:rPr dirty="0" sz="1450" b="1">
                <a:latin typeface="Trebuchet MS"/>
                <a:cs typeface="Trebuchet MS"/>
              </a:rPr>
              <a:t>Requirements</a:t>
            </a:r>
            <a:r>
              <a:rPr dirty="0" sz="1450" spc="1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of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the</a:t>
            </a:r>
            <a:r>
              <a:rPr dirty="0" sz="1450" spc="10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Kalima-e-</a:t>
            </a:r>
            <a:r>
              <a:rPr dirty="0" sz="1450" spc="-10" b="1">
                <a:latin typeface="Trebuchet MS"/>
                <a:cs typeface="Trebuchet MS"/>
              </a:rPr>
              <a:t>Tayyib: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935"/>
              </a:spcBef>
              <a:buFont typeface="Wingdings"/>
              <a:buChar char=""/>
              <a:tabLst>
                <a:tab pos="248285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Belief</a:t>
            </a:r>
            <a:r>
              <a:rPr dirty="0" u="sng" sz="1450" spc="3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450" spc="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One</a:t>
            </a:r>
            <a:r>
              <a:rPr dirty="0" u="sng" sz="1450" spc="4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God</a:t>
            </a:r>
            <a:r>
              <a:rPr dirty="0" u="sng" sz="1450" spc="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(Tawhid)</a:t>
            </a:r>
            <a:r>
              <a:rPr dirty="0" sz="1450" b="1">
                <a:latin typeface="Trebuchet MS"/>
                <a:cs typeface="Trebuchet MS"/>
              </a:rPr>
              <a:t>:</a:t>
            </a:r>
            <a:r>
              <a:rPr dirty="0" sz="1450" spc="3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Truly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believe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only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worthy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worship.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925"/>
              </a:spcBef>
              <a:buFont typeface="Wingdings"/>
              <a:buChar char=""/>
              <a:tabLst>
                <a:tab pos="248285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Belief</a:t>
            </a:r>
            <a:r>
              <a:rPr dirty="0" u="sng" sz="1450" spc="7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450" spc="9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Prophet</a:t>
            </a:r>
            <a:r>
              <a:rPr dirty="0" u="sng" sz="1450" spc="7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Muhammad</a:t>
            </a:r>
            <a:r>
              <a:rPr dirty="0" sz="1450" b="1">
                <a:latin typeface="Trebuchet MS"/>
                <a:cs typeface="Trebuchet MS"/>
              </a:rPr>
              <a:t>: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Accept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ahoma"/>
                <a:cs typeface="Tahoma"/>
              </a:rPr>
              <a:t>(</a:t>
            </a:r>
            <a:r>
              <a:rPr dirty="0" sz="1450">
                <a:latin typeface="Tahoma"/>
                <a:cs typeface="Tahoma"/>
              </a:rPr>
              <a:t>ﷺ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Allah’s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final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messenger.</a:t>
            </a:r>
            <a:endParaRPr sz="1450">
              <a:latin typeface="Trebuchet MS"/>
              <a:cs typeface="Trebuchet MS"/>
            </a:endParaRPr>
          </a:p>
          <a:p>
            <a:pPr marL="248920" marR="5080" indent="-236220">
              <a:lnSpc>
                <a:spcPct val="153800"/>
              </a:lnSpc>
              <a:buFont typeface="Wingdings"/>
              <a:buChar char=""/>
              <a:tabLst>
                <a:tab pos="248920" algn="l"/>
              </a:tabLst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Sincere</a:t>
            </a:r>
            <a:r>
              <a:rPr dirty="0" u="sng" sz="1450" spc="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Acceptance</a:t>
            </a:r>
            <a:r>
              <a:rPr dirty="0" sz="1450" b="1">
                <a:latin typeface="Trebuchet MS"/>
                <a:cs typeface="Trebuchet MS"/>
              </a:rPr>
              <a:t>: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belief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deep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within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heart.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Believe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your </a:t>
            </a:r>
            <a:r>
              <a:rPr dirty="0" sz="1450">
                <a:latin typeface="Trebuchet MS"/>
                <a:cs typeface="Trebuchet MS"/>
              </a:rPr>
              <a:t>heart,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speak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tongue,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according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words.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5307" y="1565148"/>
            <a:ext cx="3403091" cy="12633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424" y="1174533"/>
            <a:ext cx="6939280" cy="830580"/>
          </a:xfrm>
          <a:prstGeom prst="rect"/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195"/>
              </a:spcBef>
            </a:pPr>
            <a:r>
              <a:rPr dirty="0" sz="2650" spc="-10">
                <a:solidFill>
                  <a:srgbClr val="0070BF"/>
                </a:solidFill>
              </a:rPr>
              <a:t>Understanding</a:t>
            </a:r>
            <a:r>
              <a:rPr dirty="0" sz="2650" spc="-80">
                <a:solidFill>
                  <a:srgbClr val="0070BF"/>
                </a:solidFill>
              </a:rPr>
              <a:t> </a:t>
            </a:r>
            <a:r>
              <a:rPr dirty="0" sz="2650" spc="-25">
                <a:solidFill>
                  <a:srgbClr val="0070BF"/>
                </a:solidFill>
              </a:rPr>
              <a:t>Iman-e-</a:t>
            </a:r>
            <a:r>
              <a:rPr dirty="0" sz="2650">
                <a:solidFill>
                  <a:srgbClr val="0070BF"/>
                </a:solidFill>
              </a:rPr>
              <a:t>Mujmal:</a:t>
            </a:r>
            <a:r>
              <a:rPr dirty="0" sz="2650" spc="-110">
                <a:solidFill>
                  <a:srgbClr val="0070BF"/>
                </a:solidFill>
              </a:rPr>
              <a:t> </a:t>
            </a:r>
            <a:r>
              <a:rPr dirty="0" sz="2650">
                <a:solidFill>
                  <a:srgbClr val="0070BF"/>
                </a:solidFill>
              </a:rPr>
              <a:t>The</a:t>
            </a:r>
            <a:r>
              <a:rPr dirty="0" sz="2650" spc="-80">
                <a:solidFill>
                  <a:srgbClr val="0070BF"/>
                </a:solidFill>
              </a:rPr>
              <a:t> </a:t>
            </a:r>
            <a:r>
              <a:rPr dirty="0" sz="2650">
                <a:solidFill>
                  <a:srgbClr val="0070BF"/>
                </a:solidFill>
              </a:rPr>
              <a:t>Heart</a:t>
            </a:r>
            <a:r>
              <a:rPr dirty="0" sz="2650" spc="-65">
                <a:solidFill>
                  <a:srgbClr val="0070BF"/>
                </a:solidFill>
              </a:rPr>
              <a:t> </a:t>
            </a:r>
            <a:r>
              <a:rPr dirty="0" sz="2650" spc="-25">
                <a:solidFill>
                  <a:srgbClr val="0070BF"/>
                </a:solidFill>
              </a:rPr>
              <a:t>of </a:t>
            </a:r>
            <a:r>
              <a:rPr dirty="0" sz="2650">
                <a:solidFill>
                  <a:srgbClr val="0070BF"/>
                </a:solidFill>
              </a:rPr>
              <a:t>Islamic</a:t>
            </a:r>
            <a:r>
              <a:rPr dirty="0" sz="2650" spc="-120">
                <a:solidFill>
                  <a:srgbClr val="0070BF"/>
                </a:solidFill>
              </a:rPr>
              <a:t> </a:t>
            </a:r>
            <a:r>
              <a:rPr dirty="0" sz="2650" spc="-20">
                <a:solidFill>
                  <a:srgbClr val="0070BF"/>
                </a:solidFill>
              </a:rPr>
              <a:t>Faith</a:t>
            </a:r>
            <a:endParaRPr sz="2650"/>
          </a:p>
        </p:txBody>
      </p:sp>
      <p:sp>
        <p:nvSpPr>
          <p:cNvPr id="3" name="object 3" descr=""/>
          <p:cNvSpPr txBox="1"/>
          <p:nvPr/>
        </p:nvSpPr>
        <p:spPr>
          <a:xfrm>
            <a:off x="220475" y="2087239"/>
            <a:ext cx="7059930" cy="324866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50"/>
              </a:spcBef>
              <a:buClr>
                <a:srgbClr val="90C126"/>
              </a:buClr>
              <a:buSzPct val="78787"/>
              <a:buFont typeface="Wingdings"/>
              <a:buChar char=""/>
              <a:tabLst>
                <a:tab pos="295910" algn="l"/>
              </a:tabLst>
            </a:pP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Iman-e-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Mujmal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(Brief</a:t>
            </a:r>
            <a:r>
              <a:rPr dirty="0" u="sng" sz="1650" spc="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Faith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):</a:t>
            </a:r>
            <a:endParaRPr sz="1450">
              <a:latin typeface="Trebuchet MS"/>
              <a:cs typeface="Trebuchet MS"/>
            </a:endParaRPr>
          </a:p>
          <a:p>
            <a:pPr lvl="1" marL="624840" marR="120650" indent="-234950">
              <a:lnSpc>
                <a:spcPct val="101499"/>
              </a:lnSpc>
              <a:spcBef>
                <a:spcPts val="830"/>
              </a:spcBef>
              <a:buClr>
                <a:srgbClr val="90C126"/>
              </a:buClr>
              <a:buSzPct val="80769"/>
              <a:buFont typeface="Microsoft Sans Serif"/>
              <a:buChar char="•"/>
              <a:tabLst>
                <a:tab pos="624840" algn="l"/>
              </a:tabLst>
            </a:pP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“I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have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faith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3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Names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Attributes,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accept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3F3F3F"/>
                </a:solidFill>
                <a:latin typeface="Trebuchet MS"/>
                <a:cs typeface="Trebuchet MS"/>
              </a:rPr>
              <a:t>His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commands.”</a:t>
            </a:r>
            <a:endParaRPr sz="1300">
              <a:latin typeface="Trebuchet MS"/>
              <a:cs typeface="Trebuchet MS"/>
            </a:endParaRPr>
          </a:p>
          <a:p>
            <a:pPr marL="12700" marR="12065">
              <a:lnSpc>
                <a:spcPct val="102200"/>
              </a:lnSpc>
              <a:spcBef>
                <a:spcPts val="785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Belief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Iman-e-Mujmal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means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believing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completely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names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qualities.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200"/>
              </a:lnSpc>
              <a:spcBef>
                <a:spcPts val="775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Spiritual</a:t>
            </a:r>
            <a:r>
              <a:rPr dirty="0" u="sng" sz="1650" spc="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Purification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450" spc="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Kalima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cleanses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your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soul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reminding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Allah’s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power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teachings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ahoma"/>
                <a:cs typeface="Tahoma"/>
              </a:rPr>
              <a:t>(</a:t>
            </a:r>
            <a:r>
              <a:rPr dirty="0" sz="1450" spc="-25">
                <a:solidFill>
                  <a:srgbClr val="3F3F3F"/>
                </a:solidFill>
                <a:latin typeface="Tahoma"/>
                <a:cs typeface="Tahoma"/>
              </a:rPr>
              <a:t>ﷺ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  <a:p>
            <a:pPr marL="12700" marR="160655">
              <a:lnSpc>
                <a:spcPct val="102200"/>
              </a:lnSpc>
              <a:spcBef>
                <a:spcPts val="775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Unity</a:t>
            </a:r>
            <a:r>
              <a:rPr dirty="0" u="sng" sz="1650" spc="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650" spc="4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Purpose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Kalima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brings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Muslims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together,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creating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shared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belief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purpose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around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message.</a:t>
            </a:r>
            <a:endParaRPr sz="1450">
              <a:latin typeface="Trebuchet MS"/>
              <a:cs typeface="Trebuchet MS"/>
            </a:endParaRPr>
          </a:p>
          <a:p>
            <a:pPr marL="12700" marR="513080">
              <a:lnSpc>
                <a:spcPct val="101600"/>
              </a:lnSpc>
              <a:spcBef>
                <a:spcPts val="800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Accountability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: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reminds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Judgment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inspires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act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righteously.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5783" y="1420367"/>
            <a:ext cx="2642616" cy="30967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838325">
              <a:lnSpc>
                <a:spcPct val="100000"/>
              </a:lnSpc>
              <a:spcBef>
                <a:spcPts val="125"/>
              </a:spcBef>
            </a:pPr>
            <a:r>
              <a:rPr dirty="0" u="sng" spc="-4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Two</a:t>
            </a:r>
            <a:r>
              <a:rPr dirty="0" u="sng" spc="-15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Testimonies</a:t>
            </a:r>
            <a:r>
              <a:rPr dirty="0" u="sng" spc="-1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of</a:t>
            </a:r>
            <a:r>
              <a:rPr dirty="0" u="sng" spc="-10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Faith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54653" y="4902255"/>
            <a:ext cx="5718810" cy="932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God,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Messenger:</a:t>
            </a:r>
            <a:r>
              <a:rPr dirty="0" sz="1450" spc="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about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believing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only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God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(Allah)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(peace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upon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him)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was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prophet.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Promise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God: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Saying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testimonies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means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promise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only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worship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follow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Muhammad's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teachings.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47930" y="2519897"/>
            <a:ext cx="2580640" cy="687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64490" marR="5080" indent="-352425">
              <a:lnSpc>
                <a:spcPct val="149700"/>
              </a:lnSpc>
              <a:spcBef>
                <a:spcPts val="90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2.</a:t>
            </a:r>
            <a:r>
              <a:rPr dirty="0" sz="1450" spc="-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Testimony of</a:t>
            </a:r>
            <a:r>
              <a:rPr dirty="0" sz="1450" spc="-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Prophethood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(Shahada</a:t>
            </a:r>
            <a:r>
              <a:rPr dirty="0" u="sng" sz="1450" spc="6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50" spc="9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Risalah)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50550" y="3861315"/>
            <a:ext cx="3642995" cy="704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>
                <a:latin typeface="Microsoft Sans Serif"/>
                <a:cs typeface="Microsoft Sans Serif"/>
              </a:rPr>
              <a:t>“Muhammad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Messenger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-1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Allah.”</a:t>
            </a:r>
            <a:endParaRPr sz="1450">
              <a:latin typeface="Microsoft Sans Serif"/>
              <a:cs typeface="Microsoft Sans Serif"/>
            </a:endParaRPr>
          </a:p>
          <a:p>
            <a:pPr marL="295910" marR="234950" indent="-283845">
              <a:lnSpc>
                <a:spcPts val="1789"/>
              </a:lnSpc>
              <a:spcBef>
                <a:spcPts val="5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shows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our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belief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guidance </a:t>
            </a:r>
            <a:r>
              <a:rPr dirty="0" sz="1450">
                <a:latin typeface="Microsoft Sans Serif"/>
                <a:cs typeface="Microsoft Sans Serif"/>
              </a:rPr>
              <a:t>brought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by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Muhammad.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17671" y="2064535"/>
            <a:ext cx="37141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95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950" spc="-2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spc="-5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Two</a:t>
            </a:r>
            <a:r>
              <a:rPr dirty="0" u="sng" sz="1950" spc="-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Important</a:t>
            </a:r>
            <a:r>
              <a:rPr dirty="0" u="sng" sz="1950" spc="-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spc="-1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Declarations: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14490" y="2635701"/>
            <a:ext cx="2501265" cy="687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26390" marR="5080" indent="-314325">
              <a:lnSpc>
                <a:spcPct val="149700"/>
              </a:lnSpc>
              <a:spcBef>
                <a:spcPts val="90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1.</a:t>
            </a:r>
            <a:r>
              <a:rPr dirty="0" sz="1450" spc="-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Testimony of</a:t>
            </a:r>
            <a:r>
              <a:rPr dirty="0" sz="1450" spc="-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Monotheism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(Shahada</a:t>
            </a:r>
            <a:r>
              <a:rPr dirty="0" u="sng" sz="1450" spc="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50" spc="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Tawhid)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93236" y="3960417"/>
            <a:ext cx="3107690" cy="478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>
                <a:latin typeface="Microsoft Sans Serif"/>
                <a:cs typeface="Microsoft Sans Serif"/>
              </a:rPr>
              <a:t>“There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god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but</a:t>
            </a:r>
            <a:r>
              <a:rPr dirty="0" sz="1450" spc="-4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Allah.”</a:t>
            </a:r>
            <a:endParaRPr sz="145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3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shows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our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belief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God.</a:t>
            </a:r>
            <a:endParaRPr sz="1450">
              <a:latin typeface="Microsoft Sans Serif"/>
              <a:cs typeface="Microsoft Sans Serif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" y="3343656"/>
            <a:ext cx="2627375" cy="41147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0639" y="3307079"/>
            <a:ext cx="2273808" cy="3657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74" y="1328405"/>
            <a:ext cx="618998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151380" algn="l"/>
              </a:tabLst>
            </a:pP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2nd</a:t>
            </a:r>
            <a:r>
              <a:rPr dirty="0" u="sng" spc="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Pillar</a:t>
            </a:r>
            <a:r>
              <a:rPr dirty="0" u="sng" spc="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pc="-5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-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	Prayer</a:t>
            </a:r>
            <a:r>
              <a:rPr dirty="0" u="sng" spc="3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/</a:t>
            </a:r>
            <a:r>
              <a:rPr dirty="0" u="sng" spc="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Salah</a:t>
            </a:r>
            <a:r>
              <a:rPr dirty="0" u="sng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/</a:t>
            </a:r>
            <a:r>
              <a:rPr dirty="0" u="sng" spc="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Namaz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4693" y="1830153"/>
            <a:ext cx="8525510" cy="374967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100" spc="-254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100" spc="-13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6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What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2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Prayer?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Qualities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Importance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Consequences</a:t>
            </a:r>
            <a:r>
              <a:rPr dirty="0" sz="23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Skipping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Hereafter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Consequences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Catching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Up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Missed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Prayers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(Qada)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Benefits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Establishing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Salah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25"/>
              </a:spcBef>
            </a:pPr>
            <a:r>
              <a:rPr dirty="0" sz="1850" spc="-2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-22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Modern</a:t>
            </a:r>
            <a:r>
              <a:rPr dirty="0" sz="23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Science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Perspective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Hereafter Benefits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61" y="1410719"/>
            <a:ext cx="7186295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2nd</a:t>
            </a:r>
            <a:r>
              <a:rPr dirty="0" u="sng" sz="3600" spc="-3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Pillar</a:t>
            </a:r>
            <a:r>
              <a:rPr dirty="0" u="sng" sz="3600" spc="2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–</a:t>
            </a:r>
            <a:r>
              <a:rPr dirty="0" u="sng" sz="3600" spc="2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Prayer</a:t>
            </a:r>
            <a:r>
              <a:rPr dirty="0" u="sng" sz="3600" spc="-2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z="3600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(Salah/Namaz)</a:t>
            </a:r>
            <a:endParaRPr sz="3600"/>
          </a:p>
        </p:txBody>
      </p:sp>
      <p:grpSp>
        <p:nvGrpSpPr>
          <p:cNvPr id="3" name="object 3" descr=""/>
          <p:cNvGrpSpPr/>
          <p:nvPr/>
        </p:nvGrpSpPr>
        <p:grpSpPr>
          <a:xfrm>
            <a:off x="-3810" y="1055369"/>
            <a:ext cx="10066020" cy="20320"/>
            <a:chOff x="-3810" y="1055369"/>
            <a:chExt cx="10066020" cy="20320"/>
          </a:xfrm>
        </p:grpSpPr>
        <p:sp>
          <p:nvSpPr>
            <p:cNvPr id="4" name="object 4" descr=""/>
            <p:cNvSpPr/>
            <p:nvPr/>
          </p:nvSpPr>
          <p:spPr>
            <a:xfrm>
              <a:off x="0" y="1059179"/>
              <a:ext cx="10058400" cy="12700"/>
            </a:xfrm>
            <a:custGeom>
              <a:avLst/>
              <a:gdLst/>
              <a:ahLst/>
              <a:cxnLst/>
              <a:rect l="l" t="t" r="r" b="b"/>
              <a:pathLst>
                <a:path w="10058400" h="12700">
                  <a:moveTo>
                    <a:pt x="10058400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1059179"/>
              <a:ext cx="10058400" cy="12700"/>
            </a:xfrm>
            <a:custGeom>
              <a:avLst/>
              <a:gdLst/>
              <a:ahLst/>
              <a:cxnLst/>
              <a:rect l="l" t="t" r="r" b="b"/>
              <a:pathLst>
                <a:path w="10058400" h="12700">
                  <a:moveTo>
                    <a:pt x="0" y="0"/>
                  </a:moveTo>
                  <a:lnTo>
                    <a:pt x="10058400" y="0"/>
                  </a:lnTo>
                  <a:lnTo>
                    <a:pt x="10058400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5085" rIns="0" bIns="0" rtlCol="0" vert="horz">
            <a:spAutoFit/>
          </a:bodyPr>
          <a:lstStyle/>
          <a:p>
            <a:pPr marL="12700" marR="62865">
              <a:lnSpc>
                <a:spcPts val="1540"/>
              </a:lnSpc>
              <a:spcBef>
                <a:spcPts val="355"/>
              </a:spcBef>
            </a:pPr>
            <a:r>
              <a:rPr dirty="0" u="sng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What</a:t>
            </a:r>
            <a:r>
              <a:rPr dirty="0" u="sng" spc="-35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Is</a:t>
            </a:r>
            <a:r>
              <a:rPr dirty="0" u="sng" spc="-1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Prayer?</a:t>
            </a:r>
            <a:r>
              <a:rPr dirty="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4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35" b="0">
                <a:solidFill>
                  <a:srgbClr val="3F3F3F"/>
                </a:solidFill>
                <a:latin typeface="Trebuchet MS"/>
                <a:cs typeface="Trebuchet MS"/>
              </a:rPr>
              <a:t>Prayer,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 also</a:t>
            </a:r>
            <a:r>
              <a:rPr dirty="0" sz="1400" spc="-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known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00" spc="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Salah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Namaz,</a:t>
            </a:r>
            <a:r>
              <a:rPr dirty="0" sz="1400" spc="-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00" spc="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special</a:t>
            </a:r>
            <a:r>
              <a:rPr dirty="0" sz="1400" spc="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way</a:t>
            </a:r>
            <a:r>
              <a:rPr dirty="0" sz="1400" spc="-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Muslims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00" spc="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20" b="0">
                <a:solidFill>
                  <a:srgbClr val="3F3F3F"/>
                </a:solidFill>
                <a:latin typeface="Trebuchet MS"/>
                <a:cs typeface="Trebuchet MS"/>
              </a:rPr>
              <a:t>talk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00" spc="-7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r>
              <a:rPr dirty="0" sz="1400" spc="-3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00" spc="-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is the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second</a:t>
            </a:r>
            <a:r>
              <a:rPr dirty="0" sz="1400" spc="-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most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important</a:t>
            </a:r>
            <a:r>
              <a:rPr dirty="0" sz="1400" spc="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act</a:t>
            </a:r>
            <a:r>
              <a:rPr dirty="0" sz="1400" spc="-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00" spc="-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worship</a:t>
            </a:r>
            <a:r>
              <a:rPr dirty="0" sz="1400" spc="-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00" spc="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Islam.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ts val="1510"/>
              </a:lnSpc>
              <a:spcBef>
                <a:spcPts val="819"/>
              </a:spcBef>
            </a:pP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Direct</a:t>
            </a:r>
            <a:r>
              <a:rPr dirty="0" sz="1400" spc="-4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25" b="0">
                <a:solidFill>
                  <a:srgbClr val="3F3F3F"/>
                </a:solidFill>
                <a:latin typeface="Trebuchet MS"/>
                <a:cs typeface="Trebuchet MS"/>
              </a:rPr>
              <a:t>Talk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00" spc="-9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Allah:</a:t>
            </a:r>
            <a:r>
              <a:rPr dirty="0" sz="1400" spc="-3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400" spc="-3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like</a:t>
            </a:r>
            <a:r>
              <a:rPr dirty="0" sz="1400" spc="-2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having</a:t>
            </a:r>
            <a:r>
              <a:rPr dirty="0" sz="1400" spc="-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00" spc="-3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direct conversation</a:t>
            </a:r>
            <a:r>
              <a:rPr dirty="0" sz="1400" spc="-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00" spc="-9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r>
              <a:rPr dirty="0" sz="1400" spc="-4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00" spc="-3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time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20" b="0">
                <a:solidFill>
                  <a:srgbClr val="3F3F3F"/>
                </a:solidFill>
                <a:latin typeface="Trebuchet MS"/>
                <a:cs typeface="Trebuchet MS"/>
              </a:rPr>
              <a:t>when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you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speak to</a:t>
            </a:r>
            <a:r>
              <a:rPr dirty="0" sz="1400" spc="-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Him,</a:t>
            </a:r>
            <a:r>
              <a:rPr dirty="0" sz="1400" spc="-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ask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00" spc="-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help,</a:t>
            </a:r>
            <a:r>
              <a:rPr dirty="0" sz="1400" spc="-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00" spc="-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say thank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20" b="0">
                <a:solidFill>
                  <a:srgbClr val="3F3F3F"/>
                </a:solidFill>
                <a:latin typeface="Trebuchet MS"/>
                <a:cs typeface="Trebuchet MS"/>
              </a:rPr>
              <a:t>you.</a:t>
            </a:r>
            <a:endParaRPr sz="14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40"/>
              </a:spcBef>
              <a:buClr>
                <a:srgbClr val="90C126"/>
              </a:buClr>
              <a:buSzPct val="78571"/>
              <a:buFont typeface="Microsoft Sans Serif"/>
              <a:buChar char="•"/>
              <a:tabLst>
                <a:tab pos="295910" algn="l"/>
              </a:tabLst>
            </a:pP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connects</a:t>
            </a:r>
            <a:r>
              <a:rPr dirty="0" sz="1400" spc="-3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400" spc="-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00" spc="-8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00" spc="-3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cleanses</a:t>
            </a:r>
            <a:r>
              <a:rPr dirty="0" sz="1400" spc="-3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sins.</a:t>
            </a:r>
            <a:endParaRPr sz="14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0"/>
              </a:spcBef>
              <a:buClr>
                <a:srgbClr val="90C126"/>
              </a:buClr>
              <a:buSzPct val="78571"/>
              <a:buFont typeface="Microsoft Sans Serif"/>
              <a:buChar char="•"/>
              <a:tabLst>
                <a:tab pos="295910" algn="l"/>
              </a:tabLst>
            </a:pP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00" spc="-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00" spc="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key</a:t>
            </a:r>
            <a:r>
              <a:rPr dirty="0" sz="1400" spc="-2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part</a:t>
            </a:r>
            <a:r>
              <a:rPr dirty="0" sz="1400" spc="1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successful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0">
                <a:solidFill>
                  <a:srgbClr val="3F3F3F"/>
                </a:solidFill>
                <a:latin typeface="Trebuchet MS"/>
                <a:cs typeface="Trebuchet MS"/>
              </a:rPr>
              <a:t>and balanced</a:t>
            </a:r>
            <a:r>
              <a:rPr dirty="0" sz="1400" spc="-25" b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0">
                <a:solidFill>
                  <a:srgbClr val="3F3F3F"/>
                </a:solidFill>
                <a:latin typeface="Trebuchet MS"/>
                <a:cs typeface="Trebuchet MS"/>
              </a:rPr>
              <a:t>life.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Font typeface="Microsoft Sans Serif"/>
              <a:buChar char="•"/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Microsoft Sans Serif"/>
              <a:buChar char="•"/>
            </a:pPr>
            <a:endParaRPr sz="1400">
              <a:latin typeface="Trebuchet MS"/>
              <a:cs typeface="Trebuchet MS"/>
            </a:endParaRPr>
          </a:p>
          <a:p>
            <a:pPr marL="77470" indent="-74930">
              <a:lnSpc>
                <a:spcPct val="100000"/>
              </a:lnSpc>
              <a:buSzPct val="89655"/>
              <a:buFont typeface="Microsoft Sans Serif"/>
              <a:buChar char="•"/>
              <a:tabLst>
                <a:tab pos="77470" algn="l"/>
              </a:tabLst>
            </a:pPr>
            <a:r>
              <a:rPr dirty="0">
                <a:latin typeface="Trebuchet MS"/>
                <a:cs typeface="Trebuchet MS"/>
              </a:rPr>
              <a:t>Quranic</a:t>
            </a:r>
            <a:r>
              <a:rPr dirty="0" spc="85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Verses:</a:t>
            </a:r>
            <a:r>
              <a:rPr dirty="0" spc="90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“Establish</a:t>
            </a:r>
            <a:r>
              <a:rPr dirty="0" spc="60" b="0" i="1">
                <a:latin typeface="Trebuchet MS"/>
                <a:cs typeface="Trebuchet MS"/>
              </a:rPr>
              <a:t> </a:t>
            </a:r>
            <a:r>
              <a:rPr dirty="0" spc="-10" b="0" i="1">
                <a:latin typeface="Trebuchet MS"/>
                <a:cs typeface="Trebuchet MS"/>
              </a:rPr>
              <a:t>prayer,</a:t>
            </a:r>
            <a:r>
              <a:rPr dirty="0" spc="4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for</a:t>
            </a:r>
            <a:r>
              <a:rPr dirty="0" spc="5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prayer</a:t>
            </a:r>
            <a:r>
              <a:rPr dirty="0" spc="6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prevents</a:t>
            </a:r>
            <a:r>
              <a:rPr dirty="0" spc="3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indecency</a:t>
            </a:r>
            <a:r>
              <a:rPr dirty="0" spc="4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and</a:t>
            </a:r>
            <a:r>
              <a:rPr dirty="0" spc="75" b="0" i="1">
                <a:latin typeface="Trebuchet MS"/>
                <a:cs typeface="Trebuchet MS"/>
              </a:rPr>
              <a:t> </a:t>
            </a:r>
            <a:r>
              <a:rPr dirty="0" spc="-10" b="0" i="1">
                <a:latin typeface="Trebuchet MS"/>
                <a:cs typeface="Trebuchet MS"/>
              </a:rPr>
              <a:t>evil.”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b="0">
                <a:latin typeface="Trebuchet MS"/>
                <a:cs typeface="Trebuchet MS"/>
              </a:rPr>
              <a:t>(Surah</a:t>
            </a:r>
            <a:r>
              <a:rPr dirty="0" spc="3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Al-Ankabut,</a:t>
            </a:r>
            <a:r>
              <a:rPr dirty="0" spc="13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29:45)</a:t>
            </a:r>
          </a:p>
          <a:p>
            <a:pPr marL="77470" indent="-74930">
              <a:lnSpc>
                <a:spcPct val="100000"/>
              </a:lnSpc>
              <a:spcBef>
                <a:spcPts val="35"/>
              </a:spcBef>
              <a:buSzPct val="89655"/>
              <a:buFont typeface="Microsoft Sans Serif"/>
              <a:buChar char="•"/>
              <a:tabLst>
                <a:tab pos="77470" algn="l"/>
              </a:tabLst>
            </a:pPr>
            <a:r>
              <a:rPr dirty="0" b="0" i="1">
                <a:latin typeface="Trebuchet MS"/>
                <a:cs typeface="Trebuchet MS"/>
              </a:rPr>
              <a:t>“Indeed,</a:t>
            </a:r>
            <a:r>
              <a:rPr dirty="0" spc="45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prayer</a:t>
            </a:r>
            <a:r>
              <a:rPr dirty="0" spc="75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has</a:t>
            </a:r>
            <a:r>
              <a:rPr dirty="0" spc="9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been</a:t>
            </a:r>
            <a:r>
              <a:rPr dirty="0" spc="7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decreed</a:t>
            </a:r>
            <a:r>
              <a:rPr dirty="0" spc="5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upon</a:t>
            </a:r>
            <a:r>
              <a:rPr dirty="0" spc="9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the</a:t>
            </a:r>
            <a:r>
              <a:rPr dirty="0" spc="85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believers</a:t>
            </a:r>
            <a:r>
              <a:rPr dirty="0" spc="35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at</a:t>
            </a:r>
            <a:r>
              <a:rPr dirty="0" spc="10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specified</a:t>
            </a:r>
            <a:r>
              <a:rPr dirty="0" spc="45" b="0" i="1">
                <a:latin typeface="Trebuchet MS"/>
                <a:cs typeface="Trebuchet MS"/>
              </a:rPr>
              <a:t> </a:t>
            </a:r>
            <a:r>
              <a:rPr dirty="0" spc="-10" b="0" i="1">
                <a:latin typeface="Trebuchet MS"/>
                <a:cs typeface="Trebuchet MS"/>
              </a:rPr>
              <a:t>times.”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b="0">
                <a:latin typeface="Trebuchet MS"/>
                <a:cs typeface="Trebuchet MS"/>
              </a:rPr>
              <a:t>(Surah An-Nisa,</a:t>
            </a:r>
            <a:r>
              <a:rPr dirty="0" spc="10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4:103)</a:t>
            </a:r>
          </a:p>
          <a:p>
            <a:pPr marL="77470" indent="-74930">
              <a:lnSpc>
                <a:spcPct val="100000"/>
              </a:lnSpc>
              <a:spcBef>
                <a:spcPts val="35"/>
              </a:spcBef>
              <a:buSzPct val="89655"/>
              <a:buFont typeface="Microsoft Sans Serif"/>
              <a:buChar char="•"/>
              <a:tabLst>
                <a:tab pos="77470" algn="l"/>
              </a:tabLst>
            </a:pPr>
            <a:r>
              <a:rPr dirty="0" b="0" i="1">
                <a:latin typeface="Trebuchet MS"/>
                <a:cs typeface="Trebuchet MS"/>
              </a:rPr>
              <a:t>“Successful</a:t>
            </a:r>
            <a:r>
              <a:rPr dirty="0" spc="6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indeed</a:t>
            </a:r>
            <a:r>
              <a:rPr dirty="0" spc="45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are</a:t>
            </a:r>
            <a:r>
              <a:rPr dirty="0" spc="85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the</a:t>
            </a:r>
            <a:r>
              <a:rPr dirty="0" spc="85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believers,</a:t>
            </a:r>
            <a:r>
              <a:rPr dirty="0" spc="45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those</a:t>
            </a:r>
            <a:r>
              <a:rPr dirty="0" spc="7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who</a:t>
            </a:r>
            <a:r>
              <a:rPr dirty="0" spc="65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humble</a:t>
            </a:r>
            <a:r>
              <a:rPr dirty="0" spc="85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themselves</a:t>
            </a:r>
            <a:r>
              <a:rPr dirty="0" spc="55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in</a:t>
            </a:r>
            <a:r>
              <a:rPr dirty="0" spc="90" b="0" i="1">
                <a:latin typeface="Trebuchet MS"/>
                <a:cs typeface="Trebuchet MS"/>
              </a:rPr>
              <a:t> </a:t>
            </a:r>
            <a:r>
              <a:rPr dirty="0" b="0" i="1">
                <a:latin typeface="Trebuchet MS"/>
                <a:cs typeface="Trebuchet MS"/>
              </a:rPr>
              <a:t>their</a:t>
            </a:r>
            <a:r>
              <a:rPr dirty="0" spc="70" b="0" i="1">
                <a:latin typeface="Trebuchet MS"/>
                <a:cs typeface="Trebuchet MS"/>
              </a:rPr>
              <a:t> </a:t>
            </a:r>
            <a:r>
              <a:rPr dirty="0" spc="-10" b="0" i="1">
                <a:latin typeface="Trebuchet MS"/>
                <a:cs typeface="Trebuchet MS"/>
              </a:rPr>
              <a:t>prayer.”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b="0">
                <a:latin typeface="Trebuchet MS"/>
                <a:cs typeface="Trebuchet MS"/>
              </a:rPr>
              <a:t>(Surah</a:t>
            </a:r>
            <a:r>
              <a:rPr dirty="0" spc="7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Al-Mu’minun,</a:t>
            </a:r>
            <a:r>
              <a:rPr dirty="0" spc="15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23:1-</a:t>
            </a:r>
            <a:r>
              <a:rPr dirty="0" spc="-25" b="0">
                <a:latin typeface="Trebuchet MS"/>
                <a:cs typeface="Trebuchet MS"/>
              </a:rPr>
              <a:t>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619315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Qualities</a:t>
            </a:r>
            <a:r>
              <a:rPr dirty="0" u="sng" spc="-3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and</a:t>
            </a:r>
            <a:r>
              <a:rPr dirty="0" u="sng" spc="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Importance</a:t>
            </a:r>
            <a:r>
              <a:rPr dirty="0" u="sng" spc="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of</a:t>
            </a:r>
            <a:r>
              <a:rPr dirty="0" u="sng" spc="1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Prayer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5524" y="2619069"/>
            <a:ext cx="6724650" cy="2526665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Cleansing</a:t>
            </a:r>
            <a:r>
              <a:rPr dirty="0" u="sng" sz="1650" spc="1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650" spc="4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Sins</a:t>
            </a:r>
            <a:r>
              <a:rPr dirty="0" sz="1450" b="1">
                <a:latin typeface="Trebuchet MS"/>
                <a:cs typeface="Trebuchet MS"/>
              </a:rPr>
              <a:t>: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Regular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erase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minor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sins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450">
                <a:latin typeface="Trebuchet MS"/>
                <a:cs typeface="Trebuchet MS"/>
              </a:rPr>
              <a:t>(Hadith: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Five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daily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Jumu’ah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expiate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sins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major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sins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avoided)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Spiritual</a:t>
            </a:r>
            <a:r>
              <a:rPr dirty="0" u="sng" sz="1650" spc="2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Elevation</a:t>
            </a:r>
            <a:r>
              <a:rPr dirty="0" sz="1450" b="1">
                <a:latin typeface="Trebuchet MS"/>
                <a:cs typeface="Trebuchet MS"/>
              </a:rPr>
              <a:t>: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Brings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inner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peace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strengthens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faith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450" spc="-20" i="1">
                <a:latin typeface="Trebuchet MS"/>
                <a:cs typeface="Trebuchet MS"/>
              </a:rPr>
              <a:t>“Verily,</a:t>
            </a:r>
            <a:r>
              <a:rPr dirty="0" sz="1450" spc="2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in</a:t>
            </a:r>
            <a:r>
              <a:rPr dirty="0" sz="1450" spc="7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the</a:t>
            </a:r>
            <a:r>
              <a:rPr dirty="0" sz="1450" spc="4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remembrance</a:t>
            </a:r>
            <a:r>
              <a:rPr dirty="0" sz="1450" spc="4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of</a:t>
            </a:r>
            <a:r>
              <a:rPr dirty="0" sz="1450" spc="-1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Allah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do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hearts</a:t>
            </a:r>
            <a:r>
              <a:rPr dirty="0" sz="1450" spc="3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find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Trebuchet MS"/>
                <a:cs typeface="Trebuchet MS"/>
              </a:rPr>
              <a:t>rest.”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Ar-Ra’d,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13:28)</a:t>
            </a:r>
            <a:endParaRPr sz="1450">
              <a:latin typeface="Trebuchet MS"/>
              <a:cs typeface="Trebuchet MS"/>
            </a:endParaRPr>
          </a:p>
          <a:p>
            <a:pPr marL="12700" marR="5080" indent="-635">
              <a:lnSpc>
                <a:spcPts val="2750"/>
              </a:lnSpc>
              <a:spcBef>
                <a:spcPts val="250"/>
              </a:spcBef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Path</a:t>
            </a: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to</a:t>
            </a:r>
            <a:r>
              <a:rPr dirty="0" u="sng" sz="1650" spc="2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Paradise</a:t>
            </a:r>
            <a:r>
              <a:rPr dirty="0" sz="1450" spc="-10" b="1">
                <a:latin typeface="Trebuchet MS"/>
                <a:cs typeface="Trebuchet MS"/>
              </a:rPr>
              <a:t>: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first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deed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questioned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Day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Judgment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sound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deeds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will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sound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(Hadith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Tirmidhi)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2800" rIns="0" bIns="0" rtlCol="0" vert="horz">
            <a:spAutoFit/>
          </a:bodyPr>
          <a:lstStyle/>
          <a:p>
            <a:pPr marL="192405">
              <a:lnSpc>
                <a:spcPct val="100000"/>
              </a:lnSpc>
              <a:spcBef>
                <a:spcPts val="125"/>
              </a:spcBef>
            </a:pP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Consequences</a:t>
            </a:r>
            <a:r>
              <a:rPr dirty="0" u="sng" spc="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of</a:t>
            </a:r>
            <a:r>
              <a:rPr dirty="0" u="sng" spc="4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Skipping</a:t>
            </a:r>
            <a:r>
              <a:rPr dirty="0" u="sng" spc="3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Prayer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15861" y="2079788"/>
            <a:ext cx="3869054" cy="3420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Worldly</a:t>
            </a:r>
            <a:r>
              <a:rPr dirty="0" u="sng" sz="1450" spc="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Consequences:</a:t>
            </a:r>
            <a:endParaRPr sz="1450">
              <a:latin typeface="Arial"/>
              <a:cs typeface="Arial"/>
            </a:endParaRPr>
          </a:p>
          <a:p>
            <a:pPr marL="111760" indent="-103505">
              <a:lnSpc>
                <a:spcPct val="100000"/>
              </a:lnSpc>
              <a:spcBef>
                <a:spcPts val="50"/>
              </a:spcBef>
              <a:buSzPct val="93103"/>
              <a:buFont typeface="Trebuchet MS"/>
              <a:buChar char="•"/>
              <a:tabLst>
                <a:tab pos="11176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Loss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Blessings:</a:t>
            </a:r>
            <a:endParaRPr sz="1450">
              <a:latin typeface="Trebuchet MS"/>
              <a:cs typeface="Trebuchet MS"/>
            </a:endParaRPr>
          </a:p>
          <a:p>
            <a:pPr marL="12700" marR="911860">
              <a:lnSpc>
                <a:spcPts val="1789"/>
              </a:lnSpc>
              <a:spcBef>
                <a:spcPts val="5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Skipping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can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lead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missed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opportunities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blessings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life.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Without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regular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act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prayer,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might</a:t>
            </a:r>
            <a:endParaRPr sz="1450">
              <a:latin typeface="Trebuchet MS"/>
              <a:cs typeface="Trebuchet MS"/>
            </a:endParaRPr>
          </a:p>
          <a:p>
            <a:pPr marL="12700" marR="20701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face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unexpected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hardships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challenges.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(Surah</a:t>
            </a: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Taha,</a:t>
            </a:r>
            <a:r>
              <a:rPr dirty="0" sz="14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20:124)</a:t>
            </a:r>
            <a:endParaRPr sz="1450">
              <a:latin typeface="Trebuchet MS"/>
              <a:cs typeface="Trebuchet MS"/>
            </a:endParaRPr>
          </a:p>
          <a:p>
            <a:pPr marL="111760" indent="-103505">
              <a:lnSpc>
                <a:spcPct val="100000"/>
              </a:lnSpc>
              <a:spcBef>
                <a:spcPts val="45"/>
              </a:spcBef>
              <a:buSzPct val="93103"/>
              <a:buFont typeface="Trebuchet MS"/>
              <a:buChar char="•"/>
              <a:tabLst>
                <a:tab pos="11176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Spiritual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Deprivation: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When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do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pray,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your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heart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feel</a:t>
            </a:r>
            <a:endParaRPr sz="1450">
              <a:latin typeface="Trebuchet MS"/>
              <a:cs typeface="Trebuchet MS"/>
            </a:endParaRPr>
          </a:p>
          <a:p>
            <a:pPr marL="12700" marR="202565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empty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lose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connection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spiritual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distance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can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lead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lack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of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inner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peace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feeling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emptiness.</a:t>
            </a:r>
            <a:endParaRPr sz="1450">
              <a:latin typeface="Trebuchet MS"/>
              <a:cs typeface="Trebuchet MS"/>
            </a:endParaRPr>
          </a:p>
          <a:p>
            <a:pPr marL="111760" indent="-103505">
              <a:lnSpc>
                <a:spcPct val="100000"/>
              </a:lnSpc>
              <a:spcBef>
                <a:spcPts val="35"/>
              </a:spcBef>
              <a:buSzPct val="93103"/>
              <a:buFont typeface="Trebuchet MS"/>
              <a:buChar char="•"/>
              <a:tabLst>
                <a:tab pos="11176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Social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Impact: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Missing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can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weaken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self-discipline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moral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values.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3810" y="1055369"/>
            <a:ext cx="10066020" cy="20320"/>
            <a:chOff x="-3810" y="1055369"/>
            <a:chExt cx="10066020" cy="20320"/>
          </a:xfrm>
        </p:grpSpPr>
        <p:sp>
          <p:nvSpPr>
            <p:cNvPr id="5" name="object 5" descr=""/>
            <p:cNvSpPr/>
            <p:nvPr/>
          </p:nvSpPr>
          <p:spPr>
            <a:xfrm>
              <a:off x="0" y="1059179"/>
              <a:ext cx="10058400" cy="12700"/>
            </a:xfrm>
            <a:custGeom>
              <a:avLst/>
              <a:gdLst/>
              <a:ahLst/>
              <a:cxnLst/>
              <a:rect l="l" t="t" r="r" b="b"/>
              <a:pathLst>
                <a:path w="10058400" h="12700">
                  <a:moveTo>
                    <a:pt x="10058400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10058400" y="0"/>
                  </a:lnTo>
                  <a:lnTo>
                    <a:pt x="10058400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1059179"/>
              <a:ext cx="10058400" cy="12700"/>
            </a:xfrm>
            <a:custGeom>
              <a:avLst/>
              <a:gdLst/>
              <a:ahLst/>
              <a:cxnLst/>
              <a:rect l="l" t="t" r="r" b="b"/>
              <a:pathLst>
                <a:path w="10058400" h="12700">
                  <a:moveTo>
                    <a:pt x="0" y="0"/>
                  </a:moveTo>
                  <a:lnTo>
                    <a:pt x="10058400" y="0"/>
                  </a:lnTo>
                  <a:lnTo>
                    <a:pt x="10058400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242313" y="2079788"/>
            <a:ext cx="4068445" cy="3420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Hereafter</a:t>
            </a:r>
            <a:r>
              <a:rPr dirty="0" u="sng" sz="1450" spc="1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Consequences:</a:t>
            </a:r>
            <a:endParaRPr sz="1450">
              <a:latin typeface="Trebuchet MS"/>
              <a:cs typeface="Trebuchet MS"/>
            </a:endParaRPr>
          </a:p>
          <a:p>
            <a:pPr marL="12700" marR="11430">
              <a:lnSpc>
                <a:spcPct val="102400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Severe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Punishment: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Hereafter,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those </a:t>
            </a:r>
            <a:r>
              <a:rPr dirty="0" sz="1450">
                <a:latin typeface="Trebuchet MS"/>
                <a:cs typeface="Trebuchet MS"/>
              </a:rPr>
              <a:t>who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consistently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neglect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face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harsh punishment.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warning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reminder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maintain</a:t>
            </a:r>
            <a:endParaRPr sz="1450">
              <a:latin typeface="Trebuchet MS"/>
              <a:cs typeface="Trebuchet MS"/>
            </a:endParaRPr>
          </a:p>
          <a:p>
            <a:pPr marL="12700" marR="110489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regular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protect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oneself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divine </a:t>
            </a:r>
            <a:r>
              <a:rPr dirty="0" sz="1450">
                <a:latin typeface="Trebuchet MS"/>
                <a:cs typeface="Trebuchet MS"/>
              </a:rPr>
              <a:t>retribution.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</a:t>
            </a:r>
            <a:r>
              <a:rPr dirty="0" sz="1450" spc="-10">
                <a:latin typeface="Trebuchet MS"/>
                <a:cs typeface="Trebuchet MS"/>
              </a:rPr>
              <a:t>Muddathir,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74:42-</a:t>
            </a:r>
            <a:r>
              <a:rPr dirty="0" sz="1450" spc="-25">
                <a:latin typeface="Trebuchet MS"/>
                <a:cs typeface="Trebuchet MS"/>
              </a:rPr>
              <a:t>43) </a:t>
            </a:r>
            <a:r>
              <a:rPr dirty="0" sz="1450" b="1">
                <a:latin typeface="Trebuchet MS"/>
                <a:cs typeface="Trebuchet MS"/>
              </a:rPr>
              <a:t>Loss</a:t>
            </a:r>
            <a:r>
              <a:rPr dirty="0" sz="1450" spc="3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of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Intercession: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by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ahoma"/>
                <a:cs typeface="Tahoma"/>
              </a:rPr>
              <a:t>(</a:t>
            </a:r>
            <a:r>
              <a:rPr dirty="0" sz="1450">
                <a:latin typeface="Tahoma"/>
                <a:cs typeface="Tahoma"/>
              </a:rPr>
              <a:t>ﷺ</a:t>
            </a:r>
            <a:r>
              <a:rPr dirty="0" sz="1450">
                <a:latin typeface="Trebuchet MS"/>
                <a:cs typeface="Trebuchet MS"/>
              </a:rPr>
              <a:t>)intercedes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behalf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 spc="-10">
                <a:latin typeface="Trebuchet MS"/>
                <a:cs typeface="Trebuchet MS"/>
              </a:rPr>
              <a:t>believers.</a:t>
            </a:r>
            <a:endParaRPr sz="1450">
              <a:latin typeface="Trebuchet MS"/>
              <a:cs typeface="Trebuchet MS"/>
            </a:endParaRPr>
          </a:p>
          <a:p>
            <a:pPr marL="12700" marR="41910">
              <a:lnSpc>
                <a:spcPts val="1789"/>
              </a:lnSpc>
              <a:spcBef>
                <a:spcPts val="55"/>
              </a:spcBef>
            </a:pPr>
            <a:r>
              <a:rPr dirty="0" sz="1450">
                <a:latin typeface="Trebuchet MS"/>
                <a:cs typeface="Trebuchet MS"/>
              </a:rPr>
              <a:t>Neglecting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might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miss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on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Day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Judgment.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sz="1450" b="1">
                <a:latin typeface="Trebuchet MS"/>
                <a:cs typeface="Trebuchet MS"/>
              </a:rPr>
              <a:t>Dire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Outcome: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Persistent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neglect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can</a:t>
            </a:r>
            <a:endParaRPr sz="1450">
              <a:latin typeface="Trebuchet MS"/>
              <a:cs typeface="Trebuchet MS"/>
            </a:endParaRPr>
          </a:p>
          <a:p>
            <a:pPr marL="12700" marR="27813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lead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very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serious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consequences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life </a:t>
            </a:r>
            <a:r>
              <a:rPr dirty="0" sz="1450">
                <a:latin typeface="Trebuchet MS"/>
                <a:cs typeface="Trebuchet MS"/>
              </a:rPr>
              <a:t>after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death.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5861" y="5475273"/>
            <a:ext cx="8154034" cy="704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10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society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where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many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skip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may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struggle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seen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major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failing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overshadow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maintaining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ethical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moral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standards.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 </a:t>
            </a:r>
            <a:r>
              <a:rPr dirty="0" sz="1450">
                <a:latin typeface="Trebuchet MS"/>
                <a:cs typeface="Trebuchet MS"/>
              </a:rPr>
              <a:t>even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deeds.</a:t>
            </a:r>
            <a:endParaRPr sz="1450">
              <a:latin typeface="Trebuchet MS"/>
              <a:cs typeface="Trebuchet MS"/>
            </a:endParaRPr>
          </a:p>
          <a:p>
            <a:pPr marL="40386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Al-Ma’un,</a:t>
            </a:r>
            <a:r>
              <a:rPr dirty="0" sz="1450" spc="1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107:4-</a:t>
            </a:r>
            <a:r>
              <a:rPr dirty="0" sz="1450" spc="-25">
                <a:latin typeface="Trebuchet MS"/>
                <a:cs typeface="Trebuchet MS"/>
              </a:rPr>
              <a:t>5)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25"/>
              </a:spcBef>
            </a:pP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Catching</a:t>
            </a:r>
            <a:r>
              <a:rPr dirty="0" u="sng" spc="-2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Up</a:t>
            </a:r>
            <a:r>
              <a:rPr dirty="0" u="sng" spc="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on</a:t>
            </a:r>
            <a:r>
              <a:rPr dirty="0" u="sng" spc="-1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Missed</a:t>
            </a:r>
            <a:r>
              <a:rPr dirty="0" u="sng" spc="-4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Prayers</a:t>
            </a:r>
            <a:r>
              <a:rPr dirty="0" u="sng" spc="-1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(Qada)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4549" y="2227611"/>
            <a:ext cx="7666990" cy="27425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When</a:t>
            </a:r>
            <a:r>
              <a:rPr dirty="0" u="sng" sz="1450" spc="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450" spc="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Make</a:t>
            </a:r>
            <a:r>
              <a:rPr dirty="0" u="sng" sz="145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Up</a:t>
            </a:r>
            <a:r>
              <a:rPr dirty="0" sz="1450" spc="-25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2700" marR="207010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If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miss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accident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(like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falling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asleep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forgetting),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make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up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soon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as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remember.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Hadith</a:t>
            </a:r>
            <a:r>
              <a:rPr dirty="0" u="sng" sz="1450" spc="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Guidance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789"/>
              </a:lnSpc>
              <a:spcBef>
                <a:spcPts val="5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“Whoever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forgets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prayer,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let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him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soon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remembers.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There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expiation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other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than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this.”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i="1">
                <a:solidFill>
                  <a:srgbClr val="3F3F3F"/>
                </a:solidFill>
                <a:latin typeface="Trebuchet MS"/>
                <a:cs typeface="Trebuchet MS"/>
              </a:rPr>
              <a:t>(Bukhari,</a:t>
            </a:r>
            <a:r>
              <a:rPr dirty="0" sz="1450" spc="4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i="1">
                <a:solidFill>
                  <a:srgbClr val="3F3F3F"/>
                </a:solidFill>
                <a:latin typeface="Trebuchet MS"/>
                <a:cs typeface="Trebuchet MS"/>
              </a:rPr>
              <a:t>Muslim)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Conditions</a:t>
            </a:r>
            <a:r>
              <a:rPr dirty="0" u="sng" sz="1450" spc="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dirty="0" u="sng" sz="1450" spc="8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Qada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78105" indent="-73025">
              <a:lnSpc>
                <a:spcPct val="100000"/>
              </a:lnSpc>
              <a:spcBef>
                <a:spcPts val="4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Sincere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repentance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9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missing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9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prayer</a:t>
            </a:r>
            <a:endParaRPr sz="1450">
              <a:latin typeface="Microsoft Sans Serif"/>
              <a:cs typeface="Microsoft Sans Serif"/>
            </a:endParaRPr>
          </a:p>
          <a:p>
            <a:pPr marL="78105" indent="-73025">
              <a:lnSpc>
                <a:spcPct val="100000"/>
              </a:lnSpc>
              <a:spcBef>
                <a:spcPts val="40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Resolve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repeat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mistake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Note</a:t>
            </a:r>
            <a:r>
              <a:rPr dirty="0" u="sng" sz="1450" spc="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1450" spc="7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Deliberate</a:t>
            </a:r>
            <a:r>
              <a:rPr dirty="0" u="sng" sz="1450" spc="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Neglect</a:t>
            </a:r>
            <a:r>
              <a:rPr dirty="0" sz="1450" spc="-10" b="1">
                <a:latin typeface="Arial"/>
                <a:cs typeface="Arial"/>
              </a:rPr>
              <a:t>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Skipping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purpose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serious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sin.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requires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both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making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up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missed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true,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heartfelt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repentance.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006" rIns="0" bIns="0" rtlCol="0" vert="horz">
            <a:spAutoFit/>
          </a:bodyPr>
          <a:lstStyle/>
          <a:p>
            <a:pPr marL="467995">
              <a:lnSpc>
                <a:spcPct val="100000"/>
              </a:lnSpc>
              <a:spcBef>
                <a:spcPts val="125"/>
              </a:spcBef>
            </a:pP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Benefits</a:t>
            </a:r>
            <a:r>
              <a:rPr dirty="0" u="sng" spc="1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of</a:t>
            </a:r>
            <a:r>
              <a:rPr dirty="0" u="sng" spc="2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Establishing</a:t>
            </a:r>
            <a:r>
              <a:rPr dirty="0" u="sng" spc="2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Salah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69441" y="2026407"/>
            <a:ext cx="7311390" cy="266065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75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Forgiveness</a:t>
            </a:r>
            <a:r>
              <a:rPr dirty="0" u="sng" sz="1450" spc="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450" spc="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Mercy:</a:t>
            </a:r>
            <a:endParaRPr sz="145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855"/>
              </a:spcBef>
              <a:buClr>
                <a:srgbClr val="90C126"/>
              </a:buClr>
              <a:buSzPct val="80769"/>
              <a:buFont typeface="Wingdings"/>
              <a:buChar char=""/>
              <a:tabLst>
                <a:tab pos="624840" algn="l"/>
              </a:tabLst>
            </a:pP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way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ask for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forgiveness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receive</a:t>
            </a:r>
            <a:r>
              <a:rPr dirty="0" sz="13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mercy</a:t>
            </a:r>
            <a:endParaRPr sz="1300">
              <a:latin typeface="Trebuchet MS"/>
              <a:cs typeface="Trebuchet MS"/>
            </a:endParaRPr>
          </a:p>
          <a:p>
            <a:pPr lvl="1" marL="624840" marR="5080" indent="-234950">
              <a:lnSpc>
                <a:spcPct val="101499"/>
              </a:lnSpc>
              <a:spcBef>
                <a:spcPts val="830"/>
              </a:spcBef>
              <a:buClr>
                <a:srgbClr val="90C126"/>
              </a:buClr>
              <a:buSzPct val="80769"/>
              <a:buFont typeface="Wingdings"/>
              <a:buChar char=""/>
              <a:tabLst>
                <a:tab pos="624840" algn="l"/>
              </a:tabLst>
            </a:pP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“O</a:t>
            </a:r>
            <a:r>
              <a:rPr dirty="0" sz="1300" spc="1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you</a:t>
            </a:r>
            <a:r>
              <a:rPr dirty="0" sz="1300" spc="2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300" spc="2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have</a:t>
            </a:r>
            <a:r>
              <a:rPr dirty="0" sz="1300" spc="3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believed,</a:t>
            </a:r>
            <a:r>
              <a:rPr dirty="0" sz="1300" spc="3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seek</a:t>
            </a:r>
            <a:r>
              <a:rPr dirty="0" sz="1300" spc="1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help</a:t>
            </a:r>
            <a:r>
              <a:rPr dirty="0" sz="1300" spc="3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through</a:t>
            </a:r>
            <a:r>
              <a:rPr dirty="0" sz="1300" spc="2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patience</a:t>
            </a:r>
            <a:r>
              <a:rPr dirty="0" sz="1300" spc="2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 i="1">
                <a:solidFill>
                  <a:srgbClr val="3F3F3F"/>
                </a:solidFill>
                <a:latin typeface="Trebuchet MS"/>
                <a:cs typeface="Trebuchet MS"/>
              </a:rPr>
              <a:t>prayer.</a:t>
            </a:r>
            <a:r>
              <a:rPr dirty="0" sz="1300" spc="5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Indeed,</a:t>
            </a:r>
            <a:r>
              <a:rPr dirty="0" sz="1300" spc="-2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300" spc="2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300" spc="1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20" i="1">
                <a:solidFill>
                  <a:srgbClr val="3F3F3F"/>
                </a:solidFill>
                <a:latin typeface="Trebuchet MS"/>
                <a:cs typeface="Trebuchet MS"/>
              </a:rPr>
              <a:t>with </a:t>
            </a:r>
            <a:r>
              <a:rPr dirty="0" sz="1300" i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20" i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 i="1">
                <a:solidFill>
                  <a:srgbClr val="3F3F3F"/>
                </a:solidFill>
                <a:latin typeface="Trebuchet MS"/>
                <a:cs typeface="Trebuchet MS"/>
              </a:rPr>
              <a:t>patient.”</a:t>
            </a:r>
            <a:endParaRPr sz="1300">
              <a:latin typeface="Trebuchet MS"/>
              <a:cs typeface="Trebuchet MS"/>
            </a:endParaRPr>
          </a:p>
          <a:p>
            <a:pPr marL="624840">
              <a:lnSpc>
                <a:spcPct val="100000"/>
              </a:lnSpc>
              <a:spcBef>
                <a:spcPts val="25"/>
              </a:spcBef>
            </a:pP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(Surah</a:t>
            </a:r>
            <a:r>
              <a:rPr dirty="0" sz="1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Al-Baqarah,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2:153)</a:t>
            </a:r>
            <a:endParaRPr sz="13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55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Unity</a:t>
            </a:r>
            <a:r>
              <a:rPr dirty="0" u="sng" sz="1450" spc="4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50" spc="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450" spc="4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Ummah:</a:t>
            </a:r>
            <a:endParaRPr sz="145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860"/>
              </a:spcBef>
              <a:buClr>
                <a:srgbClr val="90C126"/>
              </a:buClr>
              <a:buSzPct val="80769"/>
              <a:buFont typeface="Wingdings"/>
              <a:buChar char=""/>
              <a:tabLst>
                <a:tab pos="624840" algn="l"/>
              </a:tabLst>
            </a:pP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Congregational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prayers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build</a:t>
            </a:r>
            <a:r>
              <a:rPr dirty="0" sz="13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strong</a:t>
            </a:r>
            <a:r>
              <a:rPr dirty="0" sz="13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community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bonds</a:t>
            </a:r>
            <a:endParaRPr sz="13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55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Divine</a:t>
            </a:r>
            <a:r>
              <a:rPr dirty="0" u="sng" sz="1450" spc="1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Protection:</a:t>
            </a:r>
            <a:endParaRPr sz="145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860"/>
              </a:spcBef>
              <a:buClr>
                <a:srgbClr val="90C126"/>
              </a:buClr>
              <a:buSzPct val="80769"/>
              <a:buFont typeface="Wingdings"/>
              <a:buChar char=""/>
              <a:tabLst>
                <a:tab pos="624840" algn="l"/>
              </a:tabLst>
            </a:pP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acts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shield,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protecting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evil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misdeeds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828" y="1515904"/>
            <a:ext cx="7503159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Prayer</a:t>
            </a:r>
            <a:r>
              <a:rPr dirty="0" u="sng" spc="-4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from</a:t>
            </a:r>
            <a:r>
              <a:rPr dirty="0" u="sng" spc="-1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a</a:t>
            </a:r>
            <a:r>
              <a:rPr dirty="0" u="sng" spc="-2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Modern</a:t>
            </a:r>
            <a:r>
              <a:rPr dirty="0" u="sng" spc="-2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Science</a:t>
            </a:r>
            <a:r>
              <a:rPr dirty="0" u="sng" spc="-3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Perspective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1056" y="2132305"/>
            <a:ext cx="5255260" cy="2510155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What</a:t>
            </a:r>
            <a:r>
              <a:rPr dirty="0" u="sng" sz="1950" spc="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Science</a:t>
            </a:r>
            <a:r>
              <a:rPr dirty="0" u="sng" sz="1950" spc="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Says:</a:t>
            </a:r>
            <a:endParaRPr sz="19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78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similar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meditation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deep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reflection.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127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benefits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body,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mind,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emotions.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Clr>
                <a:srgbClr val="3F3F3F"/>
              </a:buClr>
              <a:buFont typeface="Wingdings"/>
              <a:buChar char=""/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u="sng" sz="19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Key</a:t>
            </a:r>
            <a:r>
              <a:rPr dirty="0" u="sng" sz="1950" spc="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Points:</a:t>
            </a:r>
            <a:endParaRPr sz="195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78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Mindfulness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Helps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stay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present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aware.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40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Stress</a:t>
            </a:r>
            <a:r>
              <a:rPr dirty="0" u="sng" sz="1450" spc="10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Reduction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Lowers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stress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anxiety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levels.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4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Improved</a:t>
            </a:r>
            <a:r>
              <a:rPr dirty="0" u="sng" sz="1450" spc="1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Focus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Boosts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concentration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self-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discipline.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931" y="1198773"/>
            <a:ext cx="615188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Hereafter</a:t>
            </a:r>
            <a:r>
              <a:rPr dirty="0" u="sng" sz="3600" spc="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Benefits</a:t>
            </a:r>
            <a:r>
              <a:rPr dirty="0" u="sng" sz="3600" spc="3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of</a:t>
            </a:r>
            <a:r>
              <a:rPr dirty="0" u="sng" sz="3600" spc="4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 </a:t>
            </a:r>
            <a:r>
              <a:rPr dirty="0" u="sng" sz="3600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</a:rPr>
              <a:t>Prayer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665475" y="1988164"/>
            <a:ext cx="7399020" cy="327596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107950" indent="-635">
              <a:lnSpc>
                <a:spcPct val="148900"/>
              </a:lnSpc>
              <a:spcBef>
                <a:spcPts val="170"/>
              </a:spcBef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Path</a:t>
            </a: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65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Forgiveness</a:t>
            </a:r>
            <a:r>
              <a:rPr dirty="0" sz="1450" b="1">
                <a:latin typeface="Arial"/>
                <a:cs typeface="Arial"/>
              </a:rPr>
              <a:t>: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Prayer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Opens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door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-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Allah’s</a:t>
            </a:r>
            <a:r>
              <a:rPr dirty="0" sz="1450" spc="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mercy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cleanses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soul </a:t>
            </a:r>
            <a:r>
              <a:rPr dirty="0" sz="1450">
                <a:latin typeface="Microsoft Sans Serif"/>
                <a:cs typeface="Microsoft Sans Serif"/>
              </a:rPr>
              <a:t>(Surah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Hud,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11:114)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First</a:t>
            </a:r>
            <a:r>
              <a:rPr dirty="0" u="sng" sz="165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Accountability</a:t>
            </a:r>
            <a:r>
              <a:rPr dirty="0" sz="1450" spc="-10" b="1">
                <a:latin typeface="Arial"/>
                <a:cs typeface="Arial"/>
              </a:rPr>
              <a:t>:</a:t>
            </a:r>
            <a:r>
              <a:rPr dirty="0" sz="1450" spc="75" b="1">
                <a:latin typeface="Arial"/>
                <a:cs typeface="Arial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Day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Judgment,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first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judged.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50">
                <a:latin typeface="Microsoft Sans Serif"/>
                <a:cs typeface="Microsoft Sans Serif"/>
              </a:rPr>
              <a:t>(Hadith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from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Tirmidhi)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Reward</a:t>
            </a:r>
            <a:r>
              <a:rPr dirty="0" u="sng" sz="1650" spc="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</a:t>
            </a:r>
            <a:r>
              <a:rPr dirty="0" u="sng" sz="1650" spc="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Paradise</a:t>
            </a:r>
            <a:r>
              <a:rPr dirty="0" sz="1450" b="1">
                <a:latin typeface="Arial"/>
                <a:cs typeface="Arial"/>
              </a:rPr>
              <a:t>: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>
                <a:latin typeface="Trebuchet MS"/>
                <a:cs typeface="Trebuchet MS"/>
              </a:rPr>
              <a:t>Praying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regularly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brings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blessings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rewards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Paradise.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50">
                <a:latin typeface="Microsoft Sans Serif"/>
                <a:cs typeface="Microsoft Sans Serif"/>
              </a:rPr>
              <a:t>(Surah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Al-Mu’minun,</a:t>
            </a:r>
            <a:r>
              <a:rPr dirty="0" sz="1450" spc="10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23:1-</a:t>
            </a:r>
            <a:r>
              <a:rPr dirty="0" sz="1450" spc="-25">
                <a:latin typeface="Microsoft Sans Serif"/>
                <a:cs typeface="Microsoft Sans Serif"/>
              </a:rPr>
              <a:t>2)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Protection</a:t>
            </a:r>
            <a:r>
              <a:rPr dirty="0" u="sng" sz="165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from</a:t>
            </a:r>
            <a:r>
              <a:rPr dirty="0" u="sng" sz="165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Hellfire</a:t>
            </a:r>
            <a:r>
              <a:rPr dirty="0" sz="1450" b="1">
                <a:latin typeface="Arial"/>
                <a:cs typeface="Arial"/>
              </a:rPr>
              <a:t>:</a:t>
            </a:r>
            <a:r>
              <a:rPr dirty="0" sz="1450" spc="5" b="1">
                <a:latin typeface="Arial"/>
                <a:cs typeface="Arial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acts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shield,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protecting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punishment.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50">
                <a:latin typeface="Microsoft Sans Serif"/>
                <a:cs typeface="Microsoft Sans Serif"/>
              </a:rPr>
              <a:t>(Hadith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from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Muslim)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Elevated</a:t>
            </a:r>
            <a:r>
              <a:rPr dirty="0" u="sng" sz="1650" spc="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Status</a:t>
            </a:r>
            <a:r>
              <a:rPr dirty="0" sz="1450" b="1">
                <a:latin typeface="Arial"/>
                <a:cs typeface="Arial"/>
              </a:rPr>
              <a:t>: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>
                <a:latin typeface="Trebuchet MS"/>
                <a:cs typeface="Trebuchet MS"/>
              </a:rPr>
              <a:t>Regular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prayer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increases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your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rank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status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sight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3rd</a:t>
            </a:r>
            <a:r>
              <a:rPr dirty="0" u="sng" sz="3600" spc="1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Pillar</a:t>
            </a:r>
            <a:r>
              <a:rPr dirty="0" u="sng" sz="3600" spc="2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60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-</a:t>
            </a:r>
            <a:r>
              <a:rPr dirty="0" u="sng" sz="3600" spc="85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600" spc="-1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Fasting/Soam/Roza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4693" y="2084853"/>
            <a:ext cx="8022590" cy="3291840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100" spc="-254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100" spc="-13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6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Fasting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Obligation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2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Virtues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Fasting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Ramadan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Importance</a:t>
            </a:r>
            <a:r>
              <a:rPr dirty="0" sz="2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Fasting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Consequences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Neglecting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Fasting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Punishment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Intentionally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Skipping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23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Breaking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Fast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sz="1850" spc="-2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-22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Worldly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Benefits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Fasting</a:t>
            </a:r>
            <a:r>
              <a:rPr dirty="0" sz="2300" spc="-1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According</a:t>
            </a:r>
            <a:r>
              <a:rPr dirty="0" sz="23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Modern</a:t>
            </a:r>
            <a:r>
              <a:rPr dirty="0" sz="23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Science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406082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="0">
                <a:latin typeface="Trebuchet MS"/>
                <a:cs typeface="Trebuchet MS"/>
              </a:rPr>
              <a:t>Fasting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as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an</a:t>
            </a:r>
            <a:r>
              <a:rPr dirty="0" spc="-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Obligation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8" y="3405668"/>
            <a:ext cx="8059420" cy="183768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7470" indent="-73025">
              <a:lnSpc>
                <a:spcPct val="100000"/>
              </a:lnSpc>
              <a:spcBef>
                <a:spcPts val="13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Arial"/>
                <a:cs typeface="Arial"/>
              </a:rPr>
              <a:t>Key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Points:</a:t>
            </a:r>
            <a:endParaRPr sz="1450">
              <a:latin typeface="Arial"/>
              <a:cs typeface="Arial"/>
            </a:endParaRPr>
          </a:p>
          <a:p>
            <a:pPr marL="78105" indent="-73025">
              <a:lnSpc>
                <a:spcPct val="100000"/>
              </a:lnSpc>
              <a:spcBef>
                <a:spcPts val="50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Fasting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required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every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adult,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sane,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capable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Muslim.</a:t>
            </a:r>
            <a:endParaRPr sz="1450">
              <a:latin typeface="Microsoft Sans Serif"/>
              <a:cs typeface="Microsoft Sans Serif"/>
            </a:endParaRPr>
          </a:p>
          <a:p>
            <a:pPr marL="78105" indent="-73025">
              <a:lnSpc>
                <a:spcPct val="100000"/>
              </a:lnSpc>
              <a:spcBef>
                <a:spcPts val="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It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clearly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mentioned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Quran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Hadith.</a:t>
            </a:r>
            <a:endParaRPr sz="1450">
              <a:latin typeface="Microsoft Sans Serif"/>
              <a:cs typeface="Microsoft Sans Serif"/>
            </a:endParaRPr>
          </a:p>
          <a:p>
            <a:pPr marL="77470" indent="-73025">
              <a:lnSpc>
                <a:spcPct val="100000"/>
              </a:lnSpc>
              <a:spcBef>
                <a:spcPts val="50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Arial"/>
                <a:cs typeface="Arial"/>
              </a:rPr>
              <a:t>Quran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Verses:</a:t>
            </a:r>
            <a:endParaRPr sz="1450">
              <a:latin typeface="Arial"/>
              <a:cs typeface="Arial"/>
            </a:endParaRPr>
          </a:p>
          <a:p>
            <a:pPr marL="78105" indent="-73025">
              <a:lnSpc>
                <a:spcPct val="100000"/>
              </a:lnSpc>
              <a:spcBef>
                <a:spcPts val="3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“O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you</a:t>
            </a:r>
            <a:r>
              <a:rPr dirty="0" sz="1450" spc="9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who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have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believed,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fasting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prescribed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130">
                <a:latin typeface="Microsoft Sans Serif"/>
                <a:cs typeface="Microsoft Sans Serif"/>
              </a:rPr>
              <a:t>you…”</a:t>
            </a:r>
            <a:r>
              <a:rPr dirty="0" sz="1450" spc="10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(Surah</a:t>
            </a:r>
            <a:r>
              <a:rPr dirty="0" sz="1450" spc="-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Al-Baqarah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2:183)</a:t>
            </a:r>
            <a:endParaRPr sz="1450">
              <a:latin typeface="Microsoft Sans Serif"/>
              <a:cs typeface="Microsoft Sans Serif"/>
            </a:endParaRPr>
          </a:p>
          <a:p>
            <a:pPr marL="78105" indent="-73025">
              <a:lnSpc>
                <a:spcPct val="100000"/>
              </a:lnSpc>
              <a:spcBef>
                <a:spcPts val="4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“The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month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Ramadan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[is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that]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which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was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revealed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85">
                <a:latin typeface="Microsoft Sans Serif"/>
                <a:cs typeface="Microsoft Sans Serif"/>
              </a:rPr>
              <a:t>Qur'an…”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(Surah</a:t>
            </a:r>
            <a:r>
              <a:rPr dirty="0" sz="1450" spc="-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Al-Baqarah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2:185)</a:t>
            </a:r>
            <a:endParaRPr sz="1450">
              <a:latin typeface="Microsoft Sans Serif"/>
              <a:cs typeface="Microsoft Sans Serif"/>
            </a:endParaRPr>
          </a:p>
          <a:p>
            <a:pPr marL="77470" indent="-73025">
              <a:lnSpc>
                <a:spcPct val="100000"/>
              </a:lnSpc>
              <a:spcBef>
                <a:spcPts val="40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Arial"/>
                <a:cs typeface="Arial"/>
              </a:rPr>
              <a:t>Hadith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Reminder:</a:t>
            </a:r>
            <a:endParaRPr sz="1450">
              <a:latin typeface="Arial"/>
              <a:cs typeface="Arial"/>
            </a:endParaRPr>
          </a:p>
          <a:p>
            <a:pPr marL="78105" indent="-73025">
              <a:lnSpc>
                <a:spcPct val="100000"/>
              </a:lnSpc>
              <a:spcBef>
                <a:spcPts val="4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Muhammad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20">
                <a:latin typeface="Microsoft Sans Serif"/>
                <a:cs typeface="Microsoft Sans Serif"/>
              </a:rPr>
              <a:t>(</a:t>
            </a:r>
            <a:r>
              <a:rPr dirty="0" sz="1450" spc="-120">
                <a:latin typeface="Microsoft Sans Serif"/>
                <a:cs typeface="Microsoft Sans Serif"/>
              </a:rPr>
              <a:t>ﷺ</a:t>
            </a:r>
            <a:r>
              <a:rPr dirty="0" sz="1450" spc="-120">
                <a:latin typeface="Microsoft Sans Serif"/>
                <a:cs typeface="Microsoft Sans Serif"/>
              </a:rPr>
              <a:t>)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said,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“Islam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built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upon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five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 spc="75">
                <a:latin typeface="Microsoft Sans Serif"/>
                <a:cs typeface="Microsoft Sans Serif"/>
              </a:rPr>
              <a:t>pillars…”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(Bukhari)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506603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="0">
                <a:latin typeface="Trebuchet MS"/>
                <a:cs typeface="Trebuchet MS"/>
              </a:rPr>
              <a:t>Virtues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of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Fasting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in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Ramadan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8" y="2623834"/>
            <a:ext cx="6333490" cy="2289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7470" indent="-73025">
              <a:lnSpc>
                <a:spcPct val="100000"/>
              </a:lnSpc>
              <a:spcBef>
                <a:spcPts val="13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Arial"/>
                <a:cs typeface="Arial"/>
              </a:rPr>
              <a:t>Attaining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Taqwa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(Piety):</a:t>
            </a:r>
            <a:endParaRPr sz="1450">
              <a:latin typeface="Arial"/>
              <a:cs typeface="Arial"/>
            </a:endParaRPr>
          </a:p>
          <a:p>
            <a:pPr marL="78105" indent="-73025">
              <a:lnSpc>
                <a:spcPct val="100000"/>
              </a:lnSpc>
              <a:spcBef>
                <a:spcPts val="50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Fasting</a:t>
            </a:r>
            <a:r>
              <a:rPr dirty="0" sz="1450" spc="10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helps</a:t>
            </a:r>
            <a:r>
              <a:rPr dirty="0" sz="1450" spc="9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increase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God-consciousness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self-</a:t>
            </a:r>
            <a:r>
              <a:rPr dirty="0" sz="1450" spc="-10">
                <a:latin typeface="Microsoft Sans Serif"/>
                <a:cs typeface="Microsoft Sans Serif"/>
              </a:rPr>
              <a:t>restraint.</a:t>
            </a:r>
            <a:endParaRPr sz="1450">
              <a:latin typeface="Microsoft Sans Serif"/>
              <a:cs typeface="Microsoft Sans Serif"/>
            </a:endParaRPr>
          </a:p>
          <a:p>
            <a:pPr marL="77470" indent="-73025">
              <a:lnSpc>
                <a:spcPct val="100000"/>
              </a:lnSpc>
              <a:spcBef>
                <a:spcPts val="3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Arial"/>
                <a:cs typeface="Arial"/>
              </a:rPr>
              <a:t>Immense</a:t>
            </a:r>
            <a:r>
              <a:rPr dirty="0" sz="1450" spc="8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Rewards:</a:t>
            </a:r>
            <a:endParaRPr sz="1450">
              <a:latin typeface="Arial"/>
              <a:cs typeface="Arial"/>
            </a:endParaRPr>
          </a:p>
          <a:p>
            <a:pPr marL="78105" indent="-73025">
              <a:lnSpc>
                <a:spcPct val="100000"/>
              </a:lnSpc>
              <a:spcBef>
                <a:spcPts val="50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Good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deeds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multiplied,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fasting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specially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rewarded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by</a:t>
            </a:r>
            <a:r>
              <a:rPr dirty="0" sz="1450" spc="-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Allah.</a:t>
            </a:r>
            <a:endParaRPr sz="1450">
              <a:latin typeface="Microsoft Sans Serif"/>
              <a:cs typeface="Microsoft Sans Serif"/>
            </a:endParaRPr>
          </a:p>
          <a:p>
            <a:pPr marL="77470" indent="-73025">
              <a:lnSpc>
                <a:spcPct val="100000"/>
              </a:lnSpc>
              <a:spcBef>
                <a:spcPts val="3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Arial"/>
                <a:cs typeface="Arial"/>
              </a:rPr>
              <a:t>Forgiveness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of</a:t>
            </a:r>
            <a:r>
              <a:rPr dirty="0" sz="1450" spc="5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Sins:</a:t>
            </a:r>
            <a:endParaRPr sz="1450">
              <a:latin typeface="Arial"/>
              <a:cs typeface="Arial"/>
            </a:endParaRPr>
          </a:p>
          <a:p>
            <a:pPr marL="78105" indent="-73025">
              <a:lnSpc>
                <a:spcPct val="100000"/>
              </a:lnSpc>
              <a:spcBef>
                <a:spcPts val="4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Fasting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with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true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faith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leads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forgiveness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past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sins.</a:t>
            </a:r>
            <a:endParaRPr sz="1450">
              <a:latin typeface="Microsoft Sans Serif"/>
              <a:cs typeface="Microsoft Sans Serif"/>
            </a:endParaRPr>
          </a:p>
          <a:p>
            <a:pPr marL="77470" indent="-73025">
              <a:lnSpc>
                <a:spcPct val="100000"/>
              </a:lnSpc>
              <a:spcBef>
                <a:spcPts val="40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Arial"/>
                <a:cs typeface="Arial"/>
              </a:rPr>
              <a:t>Entry</a:t>
            </a:r>
            <a:r>
              <a:rPr dirty="0" sz="1450" spc="5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into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Paradise:</a:t>
            </a:r>
            <a:endParaRPr sz="1450">
              <a:latin typeface="Arial"/>
              <a:cs typeface="Arial"/>
            </a:endParaRPr>
          </a:p>
          <a:p>
            <a:pPr marL="78105" indent="-73025">
              <a:lnSpc>
                <a:spcPct val="100000"/>
              </a:lnSpc>
              <a:spcBef>
                <a:spcPts val="45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-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special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gate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Paradise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(Ar-Rayyan)</a:t>
            </a:r>
            <a:r>
              <a:rPr dirty="0" sz="1450" spc="1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those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fast.</a:t>
            </a:r>
            <a:endParaRPr sz="1450">
              <a:latin typeface="Microsoft Sans Serif"/>
              <a:cs typeface="Microsoft Sans Serif"/>
            </a:endParaRPr>
          </a:p>
          <a:p>
            <a:pPr marL="77470" indent="-73025">
              <a:lnSpc>
                <a:spcPct val="100000"/>
              </a:lnSpc>
              <a:spcBef>
                <a:spcPts val="35"/>
              </a:spcBef>
              <a:buSzPct val="93103"/>
              <a:buFont typeface="Microsoft Sans Serif"/>
              <a:buChar char="•"/>
              <a:tabLst>
                <a:tab pos="77470" algn="l"/>
              </a:tabLst>
            </a:pPr>
            <a:r>
              <a:rPr dirty="0" sz="1450" b="1">
                <a:latin typeface="Arial"/>
                <a:cs typeface="Arial"/>
              </a:rPr>
              <a:t>Spiritual</a:t>
            </a:r>
            <a:r>
              <a:rPr dirty="0" sz="1450" spc="9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Upliftment:</a:t>
            </a:r>
            <a:endParaRPr sz="1450">
              <a:latin typeface="Arial"/>
              <a:cs typeface="Arial"/>
            </a:endParaRPr>
          </a:p>
          <a:p>
            <a:pPr marL="78105" indent="-73025">
              <a:lnSpc>
                <a:spcPct val="100000"/>
              </a:lnSpc>
              <a:spcBef>
                <a:spcPts val="50"/>
              </a:spcBef>
              <a:buSzPct val="93103"/>
              <a:buChar char="•"/>
              <a:tabLst>
                <a:tab pos="78105" algn="l"/>
              </a:tabLst>
            </a:pPr>
            <a:r>
              <a:rPr dirty="0" sz="1450">
                <a:latin typeface="Microsoft Sans Serif"/>
                <a:cs typeface="Microsoft Sans Serif"/>
              </a:rPr>
              <a:t>Ramadan,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month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Quran,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strengthens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our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bond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with</a:t>
            </a:r>
            <a:r>
              <a:rPr dirty="0" sz="1450" spc="-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Allah’s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word.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70840">
              <a:lnSpc>
                <a:spcPct val="100000"/>
              </a:lnSpc>
              <a:spcBef>
                <a:spcPts val="125"/>
              </a:spcBef>
            </a:pPr>
            <a:r>
              <a:rPr dirty="0"/>
              <a:t>Importance</a:t>
            </a:r>
            <a:r>
              <a:rPr dirty="0" spc="-15"/>
              <a:t> </a:t>
            </a:r>
            <a:r>
              <a:rPr dirty="0"/>
              <a:t>of </a:t>
            </a:r>
            <a:r>
              <a:rPr dirty="0" spc="-10"/>
              <a:t>Fasting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8" y="2151079"/>
            <a:ext cx="7306309" cy="3421379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2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Obedience</a:t>
            </a:r>
            <a:r>
              <a:rPr dirty="0" sz="1450" spc="4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to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Allah: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50">
                <a:latin typeface="Microsoft Sans Serif"/>
                <a:cs typeface="Microsoft Sans Serif"/>
              </a:rPr>
              <a:t>Fasting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shows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our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submission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-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Allah’s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commands.</a:t>
            </a:r>
            <a:endParaRPr sz="145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93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Detachment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from</a:t>
            </a:r>
            <a:r>
              <a:rPr dirty="0" sz="1450" spc="8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Material</a:t>
            </a:r>
            <a:r>
              <a:rPr dirty="0" sz="1450" spc="8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Desires: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450">
                <a:latin typeface="Microsoft Sans Serif"/>
                <a:cs typeface="Microsoft Sans Serif"/>
              </a:rPr>
              <a:t>It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helps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control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physical</a:t>
            </a:r>
            <a:r>
              <a:rPr dirty="0" sz="1450" spc="9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urges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like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eating,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drinking,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marital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relations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during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daylight.</a:t>
            </a:r>
            <a:endParaRPr sz="145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93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Empathy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for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</a:t>
            </a:r>
            <a:r>
              <a:rPr dirty="0" sz="1450" spc="5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Poor: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450">
                <a:latin typeface="Microsoft Sans Serif"/>
                <a:cs typeface="Microsoft Sans Serif"/>
              </a:rPr>
              <a:t>Experiencing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hunger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makes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us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more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compassionate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toward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those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need.</a:t>
            </a:r>
            <a:endParaRPr sz="145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93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Health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Benefits: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450">
                <a:latin typeface="Microsoft Sans Serif"/>
                <a:cs typeface="Microsoft Sans Serif"/>
              </a:rPr>
              <a:t>Fasting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cleanses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body,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sharpens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mind,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improves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overall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health.</a:t>
            </a:r>
            <a:endParaRPr sz="145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935"/>
              </a:spcBef>
              <a:buFont typeface="Wingdings"/>
              <a:buChar char="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Communal</a:t>
            </a:r>
            <a:r>
              <a:rPr dirty="0" sz="1450" spc="13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Bonding: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450">
                <a:latin typeface="Microsoft Sans Serif"/>
                <a:cs typeface="Microsoft Sans Serif"/>
              </a:rPr>
              <a:t>Fasting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brings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Muslims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together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around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world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worship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unity.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027" rIns="0" bIns="0" rtlCol="0" vert="horz">
            <a:spAutoFit/>
          </a:bodyPr>
          <a:lstStyle/>
          <a:p>
            <a:pPr marL="370840">
              <a:lnSpc>
                <a:spcPct val="100000"/>
              </a:lnSpc>
              <a:spcBef>
                <a:spcPts val="125"/>
              </a:spcBef>
            </a:pPr>
            <a:r>
              <a:rPr dirty="0"/>
              <a:t>Consequences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Neglecting</a:t>
            </a:r>
            <a:r>
              <a:rPr dirty="0" spc="15"/>
              <a:t> </a:t>
            </a:r>
            <a:r>
              <a:rPr dirty="0" spc="-10"/>
              <a:t>Fasting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19405" indent="-73025">
              <a:lnSpc>
                <a:spcPct val="100000"/>
              </a:lnSpc>
              <a:spcBef>
                <a:spcPts val="135"/>
              </a:spcBef>
              <a:buSzPct val="93103"/>
              <a:buFont typeface="Microsoft Sans Serif"/>
              <a:buChar char="•"/>
              <a:tabLst>
                <a:tab pos="320040" algn="l"/>
              </a:tabLst>
            </a:pPr>
            <a:r>
              <a:rPr dirty="0"/>
              <a:t>Spiritual</a:t>
            </a:r>
            <a:r>
              <a:rPr dirty="0" spc="70"/>
              <a:t> </a:t>
            </a:r>
            <a:r>
              <a:rPr dirty="0"/>
              <a:t>and</a:t>
            </a:r>
            <a:r>
              <a:rPr dirty="0" spc="65"/>
              <a:t> </a:t>
            </a:r>
            <a:r>
              <a:rPr dirty="0"/>
              <a:t>Moral</a:t>
            </a:r>
            <a:r>
              <a:rPr dirty="0" spc="70"/>
              <a:t> </a:t>
            </a:r>
            <a:r>
              <a:rPr dirty="0" spc="-10"/>
              <a:t>Consequences:</a:t>
            </a:r>
          </a:p>
          <a:p>
            <a:pPr marL="320040" indent="-73025">
              <a:lnSpc>
                <a:spcPct val="100000"/>
              </a:lnSpc>
              <a:spcBef>
                <a:spcPts val="50"/>
              </a:spcBef>
              <a:buSzPct val="93103"/>
              <a:buChar char="•"/>
              <a:tabLst>
                <a:tab pos="320675" algn="l"/>
              </a:tabLst>
            </a:pPr>
            <a:r>
              <a:rPr dirty="0" b="0">
                <a:latin typeface="Microsoft Sans Serif"/>
                <a:cs typeface="Microsoft Sans Serif"/>
              </a:rPr>
              <a:t>Breaking</a:t>
            </a:r>
            <a:r>
              <a:rPr dirty="0" spc="3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or</a:t>
            </a:r>
            <a:r>
              <a:rPr dirty="0" spc="6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skipping</a:t>
            </a:r>
            <a:r>
              <a:rPr dirty="0" spc="2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a</a:t>
            </a:r>
            <a:r>
              <a:rPr dirty="0" spc="5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fast</a:t>
            </a:r>
            <a:r>
              <a:rPr dirty="0" spc="6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without</a:t>
            </a:r>
            <a:r>
              <a:rPr dirty="0" spc="4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a</a:t>
            </a:r>
            <a:r>
              <a:rPr dirty="0" spc="7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valid</a:t>
            </a:r>
            <a:r>
              <a:rPr dirty="0" spc="5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reason</a:t>
            </a:r>
            <a:r>
              <a:rPr dirty="0" spc="5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is</a:t>
            </a:r>
            <a:r>
              <a:rPr dirty="0" spc="5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a</a:t>
            </a:r>
            <a:r>
              <a:rPr dirty="0" spc="5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serious</a:t>
            </a:r>
            <a:r>
              <a:rPr dirty="0" spc="70" b="0">
                <a:latin typeface="Microsoft Sans Serif"/>
                <a:cs typeface="Microsoft Sans Serif"/>
              </a:rPr>
              <a:t> </a:t>
            </a:r>
            <a:r>
              <a:rPr dirty="0" spc="-20" b="0">
                <a:latin typeface="Microsoft Sans Serif"/>
                <a:cs typeface="Microsoft Sans Serif"/>
              </a:rPr>
              <a:t>sin.</a:t>
            </a:r>
          </a:p>
          <a:p>
            <a:pPr marL="319405" indent="-73025">
              <a:lnSpc>
                <a:spcPct val="100000"/>
              </a:lnSpc>
              <a:spcBef>
                <a:spcPts val="35"/>
              </a:spcBef>
              <a:buSzPct val="93103"/>
              <a:buFont typeface="Microsoft Sans Serif"/>
              <a:buChar char="•"/>
              <a:tabLst>
                <a:tab pos="320040" algn="l"/>
              </a:tabLst>
            </a:pPr>
            <a:r>
              <a:rPr dirty="0"/>
              <a:t>Quranic</a:t>
            </a:r>
            <a:r>
              <a:rPr dirty="0" spc="75"/>
              <a:t> </a:t>
            </a:r>
            <a:r>
              <a:rPr dirty="0" spc="-10"/>
              <a:t>Warning:</a:t>
            </a:r>
          </a:p>
          <a:p>
            <a:pPr marL="320040" indent="-73025">
              <a:lnSpc>
                <a:spcPct val="100000"/>
              </a:lnSpc>
              <a:spcBef>
                <a:spcPts val="50"/>
              </a:spcBef>
              <a:buSzPct val="93103"/>
              <a:buChar char="•"/>
              <a:tabLst>
                <a:tab pos="320675" algn="l"/>
              </a:tabLst>
            </a:pPr>
            <a:r>
              <a:rPr dirty="0" b="0">
                <a:latin typeface="Microsoft Sans Serif"/>
                <a:cs typeface="Microsoft Sans Serif"/>
              </a:rPr>
              <a:t>Deliberate</a:t>
            </a:r>
            <a:r>
              <a:rPr dirty="0" spc="5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disobedience</a:t>
            </a:r>
            <a:r>
              <a:rPr dirty="0" spc="2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in</a:t>
            </a:r>
            <a:r>
              <a:rPr dirty="0" spc="7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fasting</a:t>
            </a:r>
            <a:r>
              <a:rPr dirty="0" spc="7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labels</a:t>
            </a:r>
            <a:r>
              <a:rPr dirty="0" spc="4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one</a:t>
            </a:r>
            <a:r>
              <a:rPr dirty="0" spc="7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among</a:t>
            </a:r>
            <a:r>
              <a:rPr dirty="0" spc="5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the</a:t>
            </a:r>
            <a:r>
              <a:rPr dirty="0" spc="90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sinners.</a:t>
            </a:r>
          </a:p>
          <a:p>
            <a:pPr marL="319405" indent="-73025">
              <a:lnSpc>
                <a:spcPct val="100000"/>
              </a:lnSpc>
              <a:spcBef>
                <a:spcPts val="35"/>
              </a:spcBef>
              <a:buSzPct val="93103"/>
              <a:buFont typeface="Microsoft Sans Serif"/>
              <a:buChar char="•"/>
              <a:tabLst>
                <a:tab pos="320040" algn="l"/>
              </a:tabLst>
            </a:pPr>
            <a:r>
              <a:rPr dirty="0"/>
              <a:t>Hadith</a:t>
            </a:r>
            <a:r>
              <a:rPr dirty="0" spc="65"/>
              <a:t> </a:t>
            </a:r>
            <a:r>
              <a:rPr dirty="0" spc="-10"/>
              <a:t>Warning:</a:t>
            </a:r>
          </a:p>
          <a:p>
            <a:pPr marL="254635" marR="259715" indent="-7620">
              <a:lnSpc>
                <a:spcPct val="102099"/>
              </a:lnSpc>
              <a:spcBef>
                <a:spcPts val="10"/>
              </a:spcBef>
              <a:buSzPct val="93103"/>
              <a:buChar char="•"/>
              <a:tabLst>
                <a:tab pos="320675" algn="l"/>
              </a:tabLst>
            </a:pPr>
            <a:r>
              <a:rPr dirty="0" b="0">
                <a:latin typeface="Microsoft Sans Serif"/>
                <a:cs typeface="Microsoft Sans Serif"/>
              </a:rPr>
              <a:t>	</a:t>
            </a:r>
            <a:r>
              <a:rPr dirty="0" b="0">
                <a:latin typeface="Microsoft Sans Serif"/>
                <a:cs typeface="Microsoft Sans Serif"/>
              </a:rPr>
              <a:t>The</a:t>
            </a:r>
            <a:r>
              <a:rPr dirty="0" spc="6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Prophet</a:t>
            </a:r>
            <a:r>
              <a:rPr dirty="0" spc="4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warned</a:t>
            </a:r>
            <a:r>
              <a:rPr dirty="0" spc="6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that</a:t>
            </a:r>
            <a:r>
              <a:rPr dirty="0" spc="5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those</a:t>
            </a:r>
            <a:r>
              <a:rPr dirty="0" spc="6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who</a:t>
            </a:r>
            <a:r>
              <a:rPr dirty="0" spc="6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break</a:t>
            </a:r>
            <a:r>
              <a:rPr dirty="0" spc="5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the</a:t>
            </a:r>
            <a:r>
              <a:rPr dirty="0" spc="6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fast</a:t>
            </a:r>
            <a:r>
              <a:rPr dirty="0" spc="7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may</a:t>
            </a:r>
            <a:r>
              <a:rPr dirty="0" spc="5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face</a:t>
            </a:r>
            <a:r>
              <a:rPr dirty="0" spc="6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severe</a:t>
            </a:r>
            <a:r>
              <a:rPr dirty="0" spc="65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consequences, </a:t>
            </a:r>
            <a:r>
              <a:rPr dirty="0" b="0">
                <a:latin typeface="Microsoft Sans Serif"/>
                <a:cs typeface="Microsoft Sans Serif"/>
              </a:rPr>
              <a:t>symbolized</a:t>
            </a:r>
            <a:r>
              <a:rPr dirty="0" spc="7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by</a:t>
            </a:r>
            <a:r>
              <a:rPr dirty="0" spc="7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the</a:t>
            </a:r>
            <a:r>
              <a:rPr dirty="0" spc="6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image</a:t>
            </a:r>
            <a:r>
              <a:rPr dirty="0" spc="5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of</a:t>
            </a:r>
            <a:r>
              <a:rPr dirty="0" spc="5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“cheeks</a:t>
            </a:r>
            <a:r>
              <a:rPr dirty="0" spc="7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being</a:t>
            </a:r>
            <a:r>
              <a:rPr dirty="0" spc="40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torn.”</a:t>
            </a:r>
          </a:p>
          <a:p>
            <a:pPr marL="319405" indent="-73025">
              <a:lnSpc>
                <a:spcPct val="100000"/>
              </a:lnSpc>
              <a:spcBef>
                <a:spcPts val="50"/>
              </a:spcBef>
              <a:buSzPct val="93103"/>
              <a:buFont typeface="Microsoft Sans Serif"/>
              <a:buChar char="•"/>
              <a:tabLst>
                <a:tab pos="320040" algn="l"/>
              </a:tabLst>
            </a:pPr>
            <a:r>
              <a:rPr dirty="0"/>
              <a:t>Worldly</a:t>
            </a:r>
            <a:r>
              <a:rPr dirty="0" spc="60"/>
              <a:t> </a:t>
            </a:r>
            <a:r>
              <a:rPr dirty="0"/>
              <a:t>and</a:t>
            </a:r>
            <a:r>
              <a:rPr dirty="0" spc="60"/>
              <a:t> </a:t>
            </a:r>
            <a:r>
              <a:rPr dirty="0"/>
              <a:t>Hereafter</a:t>
            </a:r>
            <a:r>
              <a:rPr dirty="0" spc="60"/>
              <a:t> </a:t>
            </a:r>
            <a:r>
              <a:rPr dirty="0" spc="-10"/>
              <a:t>Losses:</a:t>
            </a:r>
          </a:p>
          <a:p>
            <a:pPr marL="320040" indent="-73025">
              <a:lnSpc>
                <a:spcPct val="100000"/>
              </a:lnSpc>
              <a:spcBef>
                <a:spcPts val="35"/>
              </a:spcBef>
              <a:buSzPct val="93103"/>
              <a:buChar char="•"/>
              <a:tabLst>
                <a:tab pos="320675" algn="l"/>
              </a:tabLst>
            </a:pPr>
            <a:r>
              <a:rPr dirty="0" b="0">
                <a:latin typeface="Microsoft Sans Serif"/>
                <a:cs typeface="Microsoft Sans Serif"/>
              </a:rPr>
              <a:t>Loss</a:t>
            </a:r>
            <a:r>
              <a:rPr dirty="0" spc="4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of</a:t>
            </a:r>
            <a:r>
              <a:rPr dirty="0" spc="-4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Allah’s</a:t>
            </a:r>
            <a:r>
              <a:rPr dirty="0" spc="1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mercy,</a:t>
            </a:r>
            <a:r>
              <a:rPr dirty="0" spc="9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spiritual</a:t>
            </a:r>
            <a:r>
              <a:rPr dirty="0" spc="5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decline,</a:t>
            </a:r>
            <a:r>
              <a:rPr dirty="0" spc="2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and</a:t>
            </a:r>
            <a:r>
              <a:rPr dirty="0" spc="5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missing</a:t>
            </a:r>
            <a:r>
              <a:rPr dirty="0" spc="3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the</a:t>
            </a:r>
            <a:r>
              <a:rPr dirty="0" spc="5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gate</a:t>
            </a:r>
            <a:r>
              <a:rPr dirty="0" spc="5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of</a:t>
            </a:r>
            <a:r>
              <a:rPr dirty="0" spc="-3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Ar-Rayyan</a:t>
            </a:r>
            <a:r>
              <a:rPr dirty="0" spc="114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in</a:t>
            </a:r>
            <a:r>
              <a:rPr dirty="0" spc="50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Paradise.</a:t>
            </a:r>
          </a:p>
          <a:p>
            <a:pPr marL="320040" indent="-73025">
              <a:lnSpc>
                <a:spcPct val="100000"/>
              </a:lnSpc>
              <a:spcBef>
                <a:spcPts val="50"/>
              </a:spcBef>
              <a:buSzPct val="93103"/>
              <a:buChar char="•"/>
              <a:tabLst>
                <a:tab pos="320675" algn="l"/>
              </a:tabLst>
            </a:pPr>
            <a:r>
              <a:rPr dirty="0" b="0">
                <a:latin typeface="Microsoft Sans Serif"/>
                <a:cs typeface="Microsoft Sans Serif"/>
              </a:rPr>
              <a:t>Possible</a:t>
            </a:r>
            <a:r>
              <a:rPr dirty="0" spc="4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punishment</a:t>
            </a:r>
            <a:r>
              <a:rPr dirty="0" spc="5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in</a:t>
            </a:r>
            <a:r>
              <a:rPr dirty="0" spc="5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the</a:t>
            </a:r>
            <a:r>
              <a:rPr dirty="0" spc="8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grave</a:t>
            </a:r>
            <a:r>
              <a:rPr dirty="0" spc="6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and</a:t>
            </a:r>
            <a:r>
              <a:rPr dirty="0" spc="65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Hellfire.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565" y="1575329"/>
            <a:ext cx="6678295" cy="932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54505" marR="5080" indent="-1742439">
              <a:lnSpc>
                <a:spcPct val="100699"/>
              </a:lnSpc>
              <a:spcBef>
                <a:spcPts val="100"/>
              </a:spcBef>
            </a:pPr>
            <a:r>
              <a:rPr dirty="0"/>
              <a:t>Punishment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20"/>
              <a:t> </a:t>
            </a:r>
            <a:r>
              <a:rPr dirty="0"/>
              <a:t>Intentionally</a:t>
            </a:r>
            <a:r>
              <a:rPr dirty="0" spc="25"/>
              <a:t> </a:t>
            </a:r>
            <a:r>
              <a:rPr dirty="0" spc="-10"/>
              <a:t>Skipping </a:t>
            </a:r>
            <a:r>
              <a:rPr dirty="0"/>
              <a:t>or</a:t>
            </a:r>
            <a:r>
              <a:rPr dirty="0" spc="15"/>
              <a:t> </a:t>
            </a:r>
            <a:r>
              <a:rPr dirty="0"/>
              <a:t>Breaking</a:t>
            </a:r>
            <a:r>
              <a:rPr dirty="0" spc="15"/>
              <a:t> </a:t>
            </a:r>
            <a:r>
              <a:rPr dirty="0"/>
              <a:t>a</a:t>
            </a:r>
            <a:r>
              <a:rPr dirty="0" spc="10"/>
              <a:t> </a:t>
            </a:r>
            <a:r>
              <a:rPr dirty="0" spc="-20"/>
              <a:t>Fast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7435" y="3012490"/>
            <a:ext cx="7350125" cy="20631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According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to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Quran:</a:t>
            </a:r>
            <a:endParaRPr sz="1450">
              <a:latin typeface="Arial"/>
              <a:cs typeface="Arial"/>
            </a:endParaRPr>
          </a:p>
          <a:p>
            <a:pPr marL="12700" marR="10096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Those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who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ignore</a:t>
            </a:r>
            <a:r>
              <a:rPr dirty="0" sz="1450" spc="-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Allah’s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command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may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held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accountable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Day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Judgment. </a:t>
            </a:r>
            <a:r>
              <a:rPr dirty="0" sz="1450">
                <a:latin typeface="Microsoft Sans Serif"/>
                <a:cs typeface="Microsoft Sans Serif"/>
              </a:rPr>
              <a:t>Skipping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fast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seen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neglecting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vital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duty.</a:t>
            </a:r>
            <a:endParaRPr sz="145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50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 b="1">
                <a:latin typeface="Arial"/>
                <a:cs typeface="Arial"/>
              </a:rPr>
              <a:t>According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to</a:t>
            </a:r>
            <a:r>
              <a:rPr dirty="0" sz="1450" spc="6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the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Hadith: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-120">
                <a:latin typeface="Microsoft Sans Serif"/>
                <a:cs typeface="Microsoft Sans Serif"/>
              </a:rPr>
              <a:t>(</a:t>
            </a:r>
            <a:r>
              <a:rPr dirty="0" sz="1450" spc="-120">
                <a:latin typeface="Microsoft Sans Serif"/>
                <a:cs typeface="Microsoft Sans Serif"/>
              </a:rPr>
              <a:t>ﷺ</a:t>
            </a:r>
            <a:r>
              <a:rPr dirty="0" sz="1450" spc="-120">
                <a:latin typeface="Microsoft Sans Serif"/>
                <a:cs typeface="Microsoft Sans Serif"/>
              </a:rPr>
              <a:t>)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warned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severe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consequences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breaking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fast.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Microsoft Sans Serif"/>
                <a:cs typeface="Microsoft Sans Serif"/>
              </a:rPr>
              <a:t>If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fast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deliberately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broken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(by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eating,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drinking,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marital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relations),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person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must:</a:t>
            </a:r>
            <a:endParaRPr sz="1450">
              <a:latin typeface="Microsoft Sans Serif"/>
              <a:cs typeface="Microsoft Sans Serif"/>
            </a:endParaRPr>
          </a:p>
          <a:p>
            <a:pPr lvl="1" marL="624840" indent="-234315">
              <a:lnSpc>
                <a:spcPct val="100000"/>
              </a:lnSpc>
              <a:spcBef>
                <a:spcPts val="35"/>
              </a:spcBef>
              <a:buFont typeface="Wingdings"/>
              <a:buChar char=""/>
              <a:tabLst>
                <a:tab pos="624840" algn="l"/>
              </a:tabLst>
            </a:pPr>
            <a:r>
              <a:rPr dirty="0" sz="1450">
                <a:latin typeface="Microsoft Sans Serif"/>
                <a:cs typeface="Microsoft Sans Serif"/>
              </a:rPr>
              <a:t>Fast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two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consecutive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months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(60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days),</a:t>
            </a:r>
            <a:r>
              <a:rPr dirty="0" sz="1450" spc="110">
                <a:latin typeface="Microsoft Sans Serif"/>
                <a:cs typeface="Microsoft Sans Serif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or</a:t>
            </a:r>
            <a:endParaRPr sz="1450">
              <a:latin typeface="Microsoft Sans Serif"/>
              <a:cs typeface="Microsoft Sans Serif"/>
            </a:endParaRPr>
          </a:p>
          <a:p>
            <a:pPr lvl="1" marL="624840" indent="-234315">
              <a:lnSpc>
                <a:spcPct val="100000"/>
              </a:lnSpc>
              <a:spcBef>
                <a:spcPts val="50"/>
              </a:spcBef>
              <a:buFont typeface="Wingdings"/>
              <a:buChar char=""/>
              <a:tabLst>
                <a:tab pos="624840" algn="l"/>
              </a:tabLst>
            </a:pPr>
            <a:r>
              <a:rPr dirty="0" sz="1450">
                <a:latin typeface="Microsoft Sans Serif"/>
                <a:cs typeface="Microsoft Sans Serif"/>
              </a:rPr>
              <a:t>Feed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60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poor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people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(expiation).</a:t>
            </a:r>
            <a:endParaRPr sz="145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3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-1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missed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fast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also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means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losing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9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immense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rewards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promised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by</a:t>
            </a:r>
            <a:r>
              <a:rPr dirty="0" sz="1450" spc="-2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Allah.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47" y="1397056"/>
            <a:ext cx="6587490" cy="9315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64335" marR="5080" indent="-1652270">
              <a:lnSpc>
                <a:spcPct val="100699"/>
              </a:lnSpc>
              <a:spcBef>
                <a:spcPts val="100"/>
              </a:spcBef>
            </a:pPr>
            <a:r>
              <a:rPr dirty="0"/>
              <a:t>Worldly</a:t>
            </a:r>
            <a:r>
              <a:rPr dirty="0" spc="-10"/>
              <a:t> </a:t>
            </a:r>
            <a:r>
              <a:rPr dirty="0"/>
              <a:t>Benefits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20"/>
              <a:t>Fasting</a:t>
            </a:r>
            <a:r>
              <a:rPr dirty="0" spc="-185"/>
              <a:t> </a:t>
            </a:r>
            <a:r>
              <a:rPr dirty="0" spc="-10"/>
              <a:t>According </a:t>
            </a:r>
            <a:r>
              <a:rPr dirty="0"/>
              <a:t>to Modern</a:t>
            </a:r>
            <a:r>
              <a:rPr dirty="0" spc="-15"/>
              <a:t> </a:t>
            </a:r>
            <a:r>
              <a:rPr dirty="0" spc="-10"/>
              <a:t>Science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2" y="2371624"/>
            <a:ext cx="7053580" cy="404431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890"/>
              </a:spcBef>
              <a:buClr>
                <a:srgbClr val="90C126"/>
              </a:buClr>
              <a:buSzPct val="78571"/>
              <a:buFont typeface="Wingdings"/>
              <a:buChar char="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Metabolic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Health:</a:t>
            </a:r>
            <a:endParaRPr sz="140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725"/>
              </a:spcBef>
              <a:buClr>
                <a:srgbClr val="90C126"/>
              </a:buClr>
              <a:buSzPct val="83333"/>
              <a:buFont typeface="Wingdings"/>
              <a:buChar char=""/>
              <a:tabLst>
                <a:tab pos="62484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Helps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control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blood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sugar,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reduces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insulin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resistance,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improves</a:t>
            </a:r>
            <a:r>
              <a:rPr dirty="0" sz="120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cholesterol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levels.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Font typeface="Wingdings"/>
              <a:buChar char="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Detoxification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Cell</a:t>
            </a:r>
            <a:r>
              <a:rPr dirty="0" sz="1400" spc="-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Repair:</a:t>
            </a:r>
            <a:endParaRPr sz="140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715"/>
              </a:spcBef>
              <a:buClr>
                <a:srgbClr val="90C126"/>
              </a:buClr>
              <a:buSzPct val="83333"/>
              <a:buFont typeface="Wingdings"/>
              <a:buChar char=""/>
              <a:tabLst>
                <a:tab pos="62484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body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cleans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out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toxins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repairs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cells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(process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called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autophagy).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Font typeface="Wingdings"/>
              <a:buChar char="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Weight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20" b="1">
                <a:solidFill>
                  <a:srgbClr val="3F3F3F"/>
                </a:solidFill>
                <a:latin typeface="Trebuchet MS"/>
                <a:cs typeface="Trebuchet MS"/>
              </a:rPr>
              <a:t>Loss:</a:t>
            </a:r>
            <a:endParaRPr sz="140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715"/>
              </a:spcBef>
              <a:buClr>
                <a:srgbClr val="90C126"/>
              </a:buClr>
              <a:buSzPct val="83333"/>
              <a:buFont typeface="Wingdings"/>
              <a:buChar char=""/>
              <a:tabLst>
                <a:tab pos="62484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Supports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fat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burning</a:t>
            </a:r>
            <a:r>
              <a:rPr dirty="0" sz="120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helps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reduce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body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3F3F3F"/>
                </a:solidFill>
                <a:latin typeface="Trebuchet MS"/>
                <a:cs typeface="Trebuchet MS"/>
              </a:rPr>
              <a:t>fat.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Font typeface="Wingdings"/>
              <a:buChar char="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Enhanced</a:t>
            </a:r>
            <a:r>
              <a:rPr dirty="0" sz="1400" spc="-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Brain</a:t>
            </a:r>
            <a:r>
              <a:rPr dirty="0" sz="1400" spc="-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Function:</a:t>
            </a:r>
            <a:endParaRPr sz="140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715"/>
              </a:spcBef>
              <a:buClr>
                <a:srgbClr val="90C126"/>
              </a:buClr>
              <a:buSzPct val="83333"/>
              <a:buFont typeface="Wingdings"/>
              <a:buChar char=""/>
              <a:tabLst>
                <a:tab pos="62484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Increases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brain</a:t>
            </a:r>
            <a:r>
              <a:rPr dirty="0" sz="120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chemicals</a:t>
            </a:r>
            <a:r>
              <a:rPr dirty="0" sz="120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(like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BDNF)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boost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brain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health</a:t>
            </a:r>
            <a:r>
              <a:rPr dirty="0" sz="120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protect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against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diseases.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Font typeface="Wingdings"/>
              <a:buChar char="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Reduced</a:t>
            </a:r>
            <a:r>
              <a:rPr dirty="0" sz="140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Inflammation:</a:t>
            </a:r>
            <a:endParaRPr sz="140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715"/>
              </a:spcBef>
              <a:buClr>
                <a:srgbClr val="90C126"/>
              </a:buClr>
              <a:buSzPct val="83333"/>
              <a:buFont typeface="Wingdings"/>
              <a:buChar char=""/>
              <a:tabLst>
                <a:tab pos="62484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Lowers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inflammation,</a:t>
            </a:r>
            <a:r>
              <a:rPr dirty="0" sz="1200" spc="1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reducing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risk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many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chronic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illnesses.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Font typeface="Wingdings"/>
              <a:buChar char="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Heart</a:t>
            </a:r>
            <a:r>
              <a:rPr dirty="0" sz="1400" spc="-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Health:</a:t>
            </a:r>
            <a:endParaRPr sz="140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715"/>
              </a:spcBef>
              <a:buClr>
                <a:srgbClr val="90C126"/>
              </a:buClr>
              <a:buSzPct val="83333"/>
              <a:buFont typeface="Wingdings"/>
              <a:buChar char=""/>
              <a:tabLst>
                <a:tab pos="62484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Helps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lower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blood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pressure</a:t>
            </a:r>
            <a:r>
              <a:rPr dirty="0" sz="120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improve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overall</a:t>
            </a:r>
            <a:r>
              <a:rPr dirty="0" sz="120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cardiovascular</a:t>
            </a:r>
            <a:r>
              <a:rPr dirty="0" sz="120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health.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Font typeface="Wingdings"/>
              <a:buChar char="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Mental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Clarity</a:t>
            </a:r>
            <a:r>
              <a:rPr dirty="0" sz="140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140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Emotional</a:t>
            </a:r>
            <a:r>
              <a:rPr dirty="0" sz="140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Balance:</a:t>
            </a:r>
            <a:endParaRPr sz="1400">
              <a:latin typeface="Trebuchet MS"/>
              <a:cs typeface="Trebuchet MS"/>
            </a:endParaRPr>
          </a:p>
          <a:p>
            <a:pPr lvl="1" marL="624840" indent="-234315">
              <a:lnSpc>
                <a:spcPct val="100000"/>
              </a:lnSpc>
              <a:spcBef>
                <a:spcPts val="715"/>
              </a:spcBef>
              <a:buClr>
                <a:srgbClr val="90C126"/>
              </a:buClr>
              <a:buSzPct val="83333"/>
              <a:buFont typeface="Wingdings"/>
              <a:buChar char=""/>
              <a:tabLst>
                <a:tab pos="624840" algn="l"/>
              </a:tabLst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discipline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fasting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can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improve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focus,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mental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clarity,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emotional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stability.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33" y="1325264"/>
            <a:ext cx="777113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>
                <a:solidFill>
                  <a:srgbClr val="0070BF"/>
                </a:solidFill>
                <a:latin typeface="Arial"/>
                <a:cs typeface="Arial"/>
              </a:rPr>
              <a:t>4th</a:t>
            </a:r>
            <a:r>
              <a:rPr dirty="0" sz="3600" spc="50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0070BF"/>
                </a:solidFill>
                <a:latin typeface="Arial"/>
                <a:cs typeface="Arial"/>
              </a:rPr>
              <a:t>Pillar</a:t>
            </a:r>
            <a:r>
              <a:rPr dirty="0" sz="3600" spc="70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0070BF"/>
                </a:solidFill>
                <a:latin typeface="Arial"/>
                <a:cs typeface="Arial"/>
              </a:rPr>
              <a:t>Zakat</a:t>
            </a:r>
            <a:r>
              <a:rPr dirty="0" sz="3600" spc="55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0070BF"/>
                </a:solidFill>
                <a:latin typeface="Arial"/>
                <a:cs typeface="Arial"/>
              </a:rPr>
              <a:t>(Obligatory</a:t>
            </a:r>
            <a:r>
              <a:rPr dirty="0" sz="3600" spc="5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0070BF"/>
                </a:solidFill>
                <a:latin typeface="Arial"/>
                <a:cs typeface="Arial"/>
              </a:rPr>
              <a:t>Charity)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4693" y="1830153"/>
            <a:ext cx="7437755" cy="364426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100" spc="-254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100" spc="-13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650">
              <a:latin typeface="Trebuchet MS"/>
              <a:cs typeface="Trebuchet MS"/>
            </a:endParaRPr>
          </a:p>
          <a:p>
            <a:pPr marL="624840" marR="5080" indent="-234950">
              <a:lnSpc>
                <a:spcPct val="100499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What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230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Translation</a:t>
            </a:r>
            <a:r>
              <a:rPr dirty="0" sz="23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60</a:t>
            </a:r>
            <a:r>
              <a:rPr dirty="0" sz="23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2300" spc="-1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At-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Tawbah.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Recipients</a:t>
            </a:r>
            <a:r>
              <a:rPr dirty="0" sz="230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Restrictions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Giving</a:t>
            </a:r>
            <a:r>
              <a:rPr dirty="0" sz="23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Virtue</a:t>
            </a:r>
            <a:r>
              <a:rPr dirty="0" sz="230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Importance</a:t>
            </a:r>
            <a:r>
              <a:rPr dirty="0" sz="230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Paying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Importance</a:t>
            </a:r>
            <a:r>
              <a:rPr dirty="0" sz="230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Zakat in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Society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25"/>
              </a:spcBef>
            </a:pPr>
            <a:r>
              <a:rPr dirty="0" sz="1850" spc="-2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-22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Warnings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Consequences</a:t>
            </a:r>
            <a:r>
              <a:rPr dirty="0" sz="230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23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Paying</a:t>
            </a:r>
            <a:r>
              <a:rPr dirty="0" sz="2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8297" y="1576771"/>
            <a:ext cx="6335395" cy="830580"/>
          </a:xfrm>
          <a:prstGeom prst="rect"/>
        </p:spPr>
        <p:txBody>
          <a:bodyPr wrap="square" lIns="0" tIns="24765" rIns="0" bIns="0" rtlCol="0" vert="horz">
            <a:spAutoFit/>
          </a:bodyPr>
          <a:lstStyle/>
          <a:p>
            <a:pPr marL="1856739" marR="5080" indent="-1844039">
              <a:lnSpc>
                <a:spcPts val="3170"/>
              </a:lnSpc>
              <a:spcBef>
                <a:spcPts val="195"/>
              </a:spcBef>
            </a:pPr>
            <a:r>
              <a:rPr dirty="0" sz="2650" b="0">
                <a:latin typeface="Trebuchet MS"/>
                <a:cs typeface="Trebuchet MS"/>
              </a:rPr>
              <a:t>What</a:t>
            </a:r>
            <a:r>
              <a:rPr dirty="0" sz="2650" spc="-50" b="0">
                <a:latin typeface="Trebuchet MS"/>
                <a:cs typeface="Trebuchet MS"/>
              </a:rPr>
              <a:t> </a:t>
            </a:r>
            <a:r>
              <a:rPr dirty="0" sz="2650" b="0">
                <a:latin typeface="Trebuchet MS"/>
                <a:cs typeface="Trebuchet MS"/>
              </a:rPr>
              <a:t>is</a:t>
            </a:r>
            <a:r>
              <a:rPr dirty="0" sz="2650" spc="-60" b="0">
                <a:latin typeface="Trebuchet MS"/>
                <a:cs typeface="Trebuchet MS"/>
              </a:rPr>
              <a:t> </a:t>
            </a:r>
            <a:r>
              <a:rPr dirty="0" sz="2650" b="0">
                <a:latin typeface="Trebuchet MS"/>
                <a:cs typeface="Trebuchet MS"/>
              </a:rPr>
              <a:t>Zakat</a:t>
            </a:r>
            <a:r>
              <a:rPr dirty="0" sz="2650" spc="-70" b="0">
                <a:latin typeface="Trebuchet MS"/>
                <a:cs typeface="Trebuchet MS"/>
              </a:rPr>
              <a:t> </a:t>
            </a:r>
            <a:r>
              <a:rPr dirty="0" sz="2650" b="0">
                <a:latin typeface="Trebuchet MS"/>
                <a:cs typeface="Trebuchet MS"/>
              </a:rPr>
              <a:t>&amp;</a:t>
            </a:r>
            <a:r>
              <a:rPr dirty="0" sz="2650" spc="-140" b="0">
                <a:latin typeface="Trebuchet MS"/>
                <a:cs typeface="Trebuchet MS"/>
              </a:rPr>
              <a:t> </a:t>
            </a:r>
            <a:r>
              <a:rPr dirty="0" sz="2650" spc="-25" b="0">
                <a:latin typeface="Trebuchet MS"/>
                <a:cs typeface="Trebuchet MS"/>
              </a:rPr>
              <a:t>Translation</a:t>
            </a:r>
            <a:r>
              <a:rPr dirty="0" sz="2650" spc="-70" b="0">
                <a:latin typeface="Trebuchet MS"/>
                <a:cs typeface="Trebuchet MS"/>
              </a:rPr>
              <a:t> </a:t>
            </a:r>
            <a:r>
              <a:rPr dirty="0" sz="2650" b="0">
                <a:latin typeface="Trebuchet MS"/>
                <a:cs typeface="Trebuchet MS"/>
              </a:rPr>
              <a:t>of</a:t>
            </a:r>
            <a:r>
              <a:rPr dirty="0" sz="2650" spc="-100" b="0">
                <a:latin typeface="Trebuchet MS"/>
                <a:cs typeface="Trebuchet MS"/>
              </a:rPr>
              <a:t> </a:t>
            </a:r>
            <a:r>
              <a:rPr dirty="0" sz="2650" spc="-10" b="0">
                <a:latin typeface="Trebuchet MS"/>
                <a:cs typeface="Trebuchet MS"/>
              </a:rPr>
              <a:t>Verse</a:t>
            </a:r>
            <a:r>
              <a:rPr dirty="0" sz="2650" spc="-60" b="0">
                <a:latin typeface="Trebuchet MS"/>
                <a:cs typeface="Trebuchet MS"/>
              </a:rPr>
              <a:t> </a:t>
            </a:r>
            <a:r>
              <a:rPr dirty="0" sz="2650" b="0">
                <a:latin typeface="Trebuchet MS"/>
                <a:cs typeface="Trebuchet MS"/>
              </a:rPr>
              <a:t>60</a:t>
            </a:r>
            <a:r>
              <a:rPr dirty="0" sz="2650" spc="-65" b="0">
                <a:latin typeface="Trebuchet MS"/>
                <a:cs typeface="Trebuchet MS"/>
              </a:rPr>
              <a:t> </a:t>
            </a:r>
            <a:r>
              <a:rPr dirty="0" sz="2650" spc="-25" b="0">
                <a:latin typeface="Trebuchet MS"/>
                <a:cs typeface="Trebuchet MS"/>
              </a:rPr>
              <a:t>of </a:t>
            </a:r>
            <a:r>
              <a:rPr dirty="0" sz="2650" spc="-10" b="0">
                <a:latin typeface="Trebuchet MS"/>
                <a:cs typeface="Trebuchet MS"/>
              </a:rPr>
              <a:t>Surah</a:t>
            </a:r>
            <a:r>
              <a:rPr dirty="0" sz="2650" spc="-135" b="0">
                <a:latin typeface="Trebuchet MS"/>
                <a:cs typeface="Trebuchet MS"/>
              </a:rPr>
              <a:t> </a:t>
            </a:r>
            <a:r>
              <a:rPr dirty="0" sz="2650" spc="-25" b="0">
                <a:latin typeface="Trebuchet MS"/>
                <a:cs typeface="Trebuchet MS"/>
              </a:rPr>
              <a:t>At-</a:t>
            </a:r>
            <a:r>
              <a:rPr dirty="0" sz="2650" spc="-10" b="0">
                <a:latin typeface="Trebuchet MS"/>
                <a:cs typeface="Trebuchet MS"/>
              </a:rPr>
              <a:t>Tawbah.</a:t>
            </a:r>
            <a:endParaRPr sz="26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75950" y="2375098"/>
            <a:ext cx="7771130" cy="298196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  <a:tabLst>
                <a:tab pos="295910" algn="l"/>
              </a:tabLst>
            </a:pPr>
            <a:r>
              <a:rPr dirty="0" sz="13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3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650" b="1">
                <a:solidFill>
                  <a:srgbClr val="3F3F3F"/>
                </a:solidFill>
                <a:latin typeface="Trebuchet MS"/>
                <a:cs typeface="Trebuchet MS"/>
              </a:rPr>
              <a:t>What</a:t>
            </a:r>
            <a:r>
              <a:rPr dirty="0" sz="165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3F3F3F"/>
                </a:solidFill>
                <a:latin typeface="Trebuchet MS"/>
                <a:cs typeface="Trebuchet MS"/>
              </a:rPr>
              <a:t>is 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Zakat?</a:t>
            </a:r>
            <a:endParaRPr sz="1650">
              <a:latin typeface="Trebuchet MS"/>
              <a:cs typeface="Trebuchet MS"/>
            </a:endParaRPr>
          </a:p>
          <a:p>
            <a:pPr marL="12700" marR="176530">
              <a:lnSpc>
                <a:spcPct val="102099"/>
              </a:lnSpc>
              <a:spcBef>
                <a:spcPts val="83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core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duty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five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pillars.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meant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purify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wealth,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help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need,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balance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society.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  <a:tabLst>
                <a:tab pos="295910" algn="l"/>
              </a:tabLst>
            </a:pPr>
            <a:r>
              <a:rPr dirty="0" sz="13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3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650" spc="-20" b="1">
                <a:solidFill>
                  <a:srgbClr val="3F3F3F"/>
                </a:solidFill>
                <a:latin typeface="Trebuchet MS"/>
                <a:cs typeface="Trebuchet MS"/>
              </a:rPr>
              <a:t>Translation</a:t>
            </a:r>
            <a:r>
              <a:rPr dirty="0" sz="1650" spc="-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650" spc="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65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3F3F3F"/>
                </a:solidFill>
                <a:latin typeface="Trebuchet MS"/>
                <a:cs typeface="Trebuchet MS"/>
              </a:rPr>
              <a:t>60</a:t>
            </a:r>
            <a:r>
              <a:rPr dirty="0" sz="165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65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1650" spc="-1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At-Tawbah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02499"/>
              </a:lnSpc>
              <a:spcBef>
                <a:spcPts val="81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“Zakat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expenditures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only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poor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needy,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employed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collect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it,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bringing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hearts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together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[for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Islam],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freeing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captives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[slaves],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those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debt,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cause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Allah,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[stranded]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traveler—an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obligation</a:t>
            </a:r>
            <a:r>
              <a:rPr dirty="0" sz="1450" spc="500">
                <a:solidFill>
                  <a:srgbClr val="3F3F3F"/>
                </a:solidFill>
                <a:latin typeface="Trebuchet MS"/>
                <a:cs typeface="Trebuchet MS"/>
              </a:rPr>
              <a:t> 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[imposed]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r>
              <a:rPr dirty="0" sz="14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Knowing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Wise.”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(Surah</a:t>
            </a:r>
            <a:r>
              <a:rPr dirty="0" sz="145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At-Tawbah,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9:60)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clearly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explains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specific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purposes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which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should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spent.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5976" y="1256800"/>
            <a:ext cx="340296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Recipients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 spc="-10"/>
              <a:t>Zakat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2" y="1757503"/>
            <a:ext cx="6453505" cy="461581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890"/>
              </a:spcBef>
              <a:buClr>
                <a:srgbClr val="90C126"/>
              </a:buClr>
              <a:buSzPct val="78571"/>
              <a:buAutoNum type="arabicPeriod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Can</a:t>
            </a:r>
            <a:r>
              <a:rPr dirty="0" sz="1400" spc="-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Receive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Zakat?</a:t>
            </a:r>
            <a:r>
              <a:rPr dirty="0" sz="1400" spc="-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Poor</a:t>
            </a:r>
            <a:r>
              <a:rPr dirty="0" sz="1400" spc="-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(Al-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Fuqara):</a:t>
            </a:r>
            <a:endParaRPr sz="14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7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do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have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enough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money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basic</a:t>
            </a:r>
            <a:r>
              <a:rPr dirty="0" sz="12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needs.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AutoNum type="arabicPeriod" startAt="2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-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Needy</a:t>
            </a:r>
            <a:r>
              <a:rPr dirty="0" sz="1400" spc="-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(Al-Masakin):</a:t>
            </a:r>
            <a:endParaRPr sz="14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71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8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People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slightly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better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off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than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poor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but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still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need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help.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AutoNum type="arabicPeriod" startAt="3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Collectors</a:t>
            </a:r>
            <a:r>
              <a:rPr dirty="0" sz="1400" spc="-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(Al-‘Amileen</a:t>
            </a:r>
            <a:r>
              <a:rPr dirty="0" sz="1400" spc="-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‘Alayha):</a:t>
            </a:r>
            <a:endParaRPr sz="14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71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9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Individuals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appointed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collect,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manage,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distribute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Zakat.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AutoNum type="arabicPeriod" startAt="4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400" spc="-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Whose</a:t>
            </a:r>
            <a:r>
              <a:rPr dirty="0" sz="1400" spc="-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Hearts</a:t>
            </a:r>
            <a:r>
              <a:rPr dirty="0" sz="140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Need</a:t>
            </a:r>
            <a:r>
              <a:rPr dirty="0" sz="140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00" spc="-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Reconciled</a:t>
            </a:r>
            <a:r>
              <a:rPr dirty="0" sz="140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(Mu'allafatul</a:t>
            </a:r>
            <a:r>
              <a:rPr dirty="0" sz="1400" spc="-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Quloob):</a:t>
            </a:r>
            <a:endParaRPr sz="14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71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9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New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converts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people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need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support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strengthen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their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faith.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AutoNum type="arabicPeriod" startAt="5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Freeing</a:t>
            </a:r>
            <a:r>
              <a:rPr dirty="0" sz="1400" spc="-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Captives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(Fi</a:t>
            </a:r>
            <a:r>
              <a:rPr dirty="0" sz="1400" spc="-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Ar-Riqab):</a:t>
            </a:r>
            <a:endParaRPr sz="14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71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7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Assisting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slaves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prisoners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gain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freedom.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AutoNum type="arabicPeriod" startAt="6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00" spc="-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40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Debt</a:t>
            </a:r>
            <a:r>
              <a:rPr dirty="0" sz="140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(Al-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Gharimeen):</a:t>
            </a:r>
            <a:endParaRPr sz="14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71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9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Helping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individuals</a:t>
            </a:r>
            <a:r>
              <a:rPr dirty="0" sz="120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burdened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debts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incurred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lawful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reasons.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AutoNum type="arabicPeriod" startAt="7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0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-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Cause</a:t>
            </a:r>
            <a:r>
              <a:rPr dirty="0" sz="140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00" spc="-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0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(Fi</a:t>
            </a:r>
            <a:r>
              <a:rPr dirty="0" sz="1400" spc="-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Sabeelillah):</a:t>
            </a:r>
            <a:endParaRPr sz="14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71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30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Supporting</a:t>
            </a:r>
            <a:r>
              <a:rPr dirty="0" sz="120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projects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serve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(e.g.,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building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mosques,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religious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education).</a:t>
            </a:r>
            <a:endParaRPr sz="120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665"/>
              </a:spcBef>
              <a:buClr>
                <a:srgbClr val="90C126"/>
              </a:buClr>
              <a:buSzPct val="78571"/>
              <a:buAutoNum type="arabicPeriod" startAt="8"/>
              <a:tabLst>
                <a:tab pos="295910" algn="l"/>
              </a:tabLst>
            </a:pP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0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Stranded</a:t>
            </a:r>
            <a:r>
              <a:rPr dirty="0" sz="140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25" b="1">
                <a:solidFill>
                  <a:srgbClr val="3F3F3F"/>
                </a:solidFill>
                <a:latin typeface="Trebuchet MS"/>
                <a:cs typeface="Trebuchet MS"/>
              </a:rPr>
              <a:t>Traveler</a:t>
            </a:r>
            <a:r>
              <a:rPr dirty="0" sz="140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(Ibn</a:t>
            </a:r>
            <a:r>
              <a:rPr dirty="0" sz="1400" spc="-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As-Sabeel):</a:t>
            </a:r>
            <a:endParaRPr sz="14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71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7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Travelers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have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run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out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money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need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help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2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return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home.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474154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="0">
                <a:latin typeface="Trebuchet MS"/>
                <a:cs typeface="Trebuchet MS"/>
              </a:rPr>
              <a:t>Restrictions</a:t>
            </a:r>
            <a:r>
              <a:rPr dirty="0" spc="-4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on</a:t>
            </a:r>
            <a:r>
              <a:rPr dirty="0" spc="-4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Giving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Zakat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364417"/>
            <a:ext cx="6770370" cy="246888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Must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Only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Go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-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Above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Eight</a:t>
            </a:r>
            <a:r>
              <a:rPr dirty="0" sz="1450" spc="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Groups: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cannot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given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3F3F3F"/>
                </a:solidFill>
                <a:latin typeface="Trebuchet MS"/>
                <a:cs typeface="Trebuchet MS"/>
              </a:rPr>
              <a:t>to:</a:t>
            </a:r>
            <a:endParaRPr sz="14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18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Wealthy</a:t>
            </a:r>
            <a:r>
              <a:rPr dirty="0" sz="1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or self-sufficient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individuals.</a:t>
            </a:r>
            <a:endParaRPr sz="1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21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Direct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family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members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(parents,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children,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grandparents,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etc.).</a:t>
            </a:r>
            <a:endParaRPr sz="1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0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15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One’s</a:t>
            </a:r>
            <a:r>
              <a:rPr dirty="0" sz="1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own</a:t>
            </a:r>
            <a:r>
              <a:rPr dirty="0" sz="1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spouse.</a:t>
            </a:r>
            <a:endParaRPr sz="1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20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Any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cause not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mentioned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 eight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categories.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83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sacred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duty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clear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guidelines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must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followed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exactly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3F3F3F"/>
                </a:solidFill>
                <a:latin typeface="Trebuchet MS"/>
                <a:cs typeface="Trebuchet MS"/>
              </a:rPr>
              <a:t>as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revealed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45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0843" y="1339108"/>
            <a:ext cx="617728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="0">
                <a:latin typeface="Trebuchet MS"/>
                <a:cs typeface="Trebuchet MS"/>
              </a:rPr>
              <a:t>Virtue</a:t>
            </a:r>
            <a:r>
              <a:rPr dirty="0" spc="-8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&amp;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Importance</a:t>
            </a:r>
            <a:r>
              <a:rPr dirty="0" spc="-5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of</a:t>
            </a:r>
            <a:r>
              <a:rPr dirty="0" spc="-3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Paying</a:t>
            </a:r>
            <a:r>
              <a:rPr dirty="0" spc="-4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Zakat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5495" y="1704553"/>
            <a:ext cx="8681085" cy="481584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Why</a:t>
            </a:r>
            <a:r>
              <a:rPr dirty="0" sz="1450" spc="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1450" spc="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Important?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pillar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Islam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obligation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every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eligible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Muslim.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purifies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one’s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wealth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soul,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removing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greed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selfishness.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Virtues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Zakat: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Purification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Wealth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3F3F3F"/>
                </a:solidFill>
                <a:latin typeface="Trebuchet MS"/>
                <a:cs typeface="Trebuchet MS"/>
              </a:rPr>
              <a:t>Soul:</a:t>
            </a:r>
            <a:endParaRPr sz="14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204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Helps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cleanse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wealth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 our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hearts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materialism.</a:t>
            </a:r>
            <a:endParaRPr sz="1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204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Reminder: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“Take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from their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wealth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 charity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which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you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purify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them...”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(Surah</a:t>
            </a:r>
            <a:r>
              <a:rPr dirty="0" sz="13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At-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Tawbah,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9:103)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Increased</a:t>
            </a:r>
            <a:r>
              <a:rPr dirty="0" sz="1450" spc="1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Blessings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Sustenance:</a:t>
            </a:r>
            <a:endParaRPr sz="14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0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19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act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giving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brings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barakah</a:t>
            </a:r>
            <a:r>
              <a:rPr dirty="0" sz="1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(divine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blessings)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one’s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wealth.</a:t>
            </a:r>
            <a:endParaRPr sz="1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0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19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(</a:t>
            </a:r>
            <a:r>
              <a:rPr dirty="0" sz="1300">
                <a:solidFill>
                  <a:srgbClr val="3F3F3F"/>
                </a:solidFill>
                <a:latin typeface="Tahoma"/>
                <a:cs typeface="Tahoma"/>
              </a:rPr>
              <a:t>ﷺ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) said, “Wealth</a:t>
            </a:r>
            <a:r>
              <a:rPr dirty="0" sz="1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not diminished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giving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charity.”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Compassion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0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Social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Solidarity:</a:t>
            </a:r>
            <a:endParaRPr sz="14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4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19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Bridges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the gap between rich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poor,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encouraging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unity.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Divine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Reward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Key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Paradise:</a:t>
            </a:r>
            <a:endParaRPr sz="14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4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20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seen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sign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of faith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way to</a:t>
            </a:r>
            <a:r>
              <a:rPr dirty="0" sz="1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earn</a:t>
            </a:r>
            <a:r>
              <a:rPr dirty="0" sz="1300" spc="-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rewards.</a:t>
            </a:r>
            <a:endParaRPr sz="1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0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50" spc="21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Example: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“Charity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extinguishes</a:t>
            </a:r>
            <a:r>
              <a:rPr dirty="0" sz="13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sins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3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water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extinguishes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fire.”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(Tirmidhi)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521970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="0">
                <a:latin typeface="Trebuchet MS"/>
                <a:cs typeface="Trebuchet MS"/>
              </a:rPr>
              <a:t>Importance</a:t>
            </a:r>
            <a:r>
              <a:rPr dirty="0" spc="-3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of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Zakat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in</a:t>
            </a:r>
            <a:r>
              <a:rPr dirty="0" spc="-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Society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8333" y="2567158"/>
            <a:ext cx="7493634" cy="267462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Economic</a:t>
            </a:r>
            <a:r>
              <a:rPr dirty="0" u="sng" sz="1450" spc="1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Stability: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Font typeface="Wingdings"/>
              <a:buChar char="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Redistributes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wealth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reduce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poverty</a:t>
            </a:r>
            <a:r>
              <a:rPr dirty="0" sz="1450" spc="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economic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differences.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Obligation</a:t>
            </a:r>
            <a:r>
              <a:rPr dirty="0" u="sng" sz="1450" spc="7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450" spc="7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Islam: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Font typeface="Wingdings"/>
              <a:buChar char="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Just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important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prayer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fasting,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fulfilling</a:t>
            </a:r>
            <a:r>
              <a:rPr dirty="0" sz="1450" spc="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shows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obedience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-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Moral</a:t>
            </a:r>
            <a:r>
              <a:rPr dirty="0" u="sng" sz="1450" spc="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Responsibility: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0"/>
              </a:spcBef>
              <a:buClr>
                <a:srgbClr val="90C126"/>
              </a:buClr>
              <a:buSzPct val="79310"/>
              <a:buFont typeface="Wingdings"/>
              <a:buChar char="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Promotes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empathy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care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less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fortunate.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Spiritual</a:t>
            </a:r>
            <a:r>
              <a:rPr dirty="0" u="sng" sz="1450" spc="7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Development: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60"/>
              </a:spcBef>
              <a:buClr>
                <a:srgbClr val="90C126"/>
              </a:buClr>
              <a:buSzPct val="79310"/>
              <a:buFont typeface="Wingdings"/>
              <a:buChar char=""/>
              <a:tabLst>
                <a:tab pos="295910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Helps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remove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heart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excessive</a:t>
            </a:r>
            <a:r>
              <a:rPr dirty="0" sz="1450" spc="1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materialism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connects</a:t>
            </a:r>
            <a:r>
              <a:rPr dirty="0" sz="1450" spc="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-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304044"/>
            <a:ext cx="6049010" cy="9321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b="0">
                <a:latin typeface="Trebuchet MS"/>
                <a:cs typeface="Trebuchet MS"/>
              </a:rPr>
              <a:t>Warnings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and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Consequences</a:t>
            </a:r>
            <a:r>
              <a:rPr dirty="0" spc="-5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for</a:t>
            </a:r>
            <a:r>
              <a:rPr dirty="0" spc="-65" b="0">
                <a:latin typeface="Trebuchet MS"/>
                <a:cs typeface="Trebuchet MS"/>
              </a:rPr>
              <a:t> </a:t>
            </a:r>
            <a:r>
              <a:rPr dirty="0" spc="-25" b="0">
                <a:latin typeface="Trebuchet MS"/>
                <a:cs typeface="Trebuchet MS"/>
              </a:rPr>
              <a:t>Not </a:t>
            </a:r>
            <a:r>
              <a:rPr dirty="0" b="0">
                <a:latin typeface="Trebuchet MS"/>
                <a:cs typeface="Trebuchet MS"/>
              </a:rPr>
              <a:t>Paying</a:t>
            </a:r>
            <a:r>
              <a:rPr dirty="0" spc="-125" b="0">
                <a:latin typeface="Trebuchet MS"/>
                <a:cs typeface="Trebuchet MS"/>
              </a:rPr>
              <a:t> </a:t>
            </a:r>
            <a:r>
              <a:rPr dirty="0" spc="-20" b="0">
                <a:latin typeface="Trebuchet MS"/>
                <a:cs typeface="Trebuchet MS"/>
              </a:rPr>
              <a:t>Zakat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2" y="2206671"/>
            <a:ext cx="7416165" cy="4154804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295910" algn="l"/>
              </a:tabLst>
            </a:pPr>
            <a:r>
              <a:rPr dirty="0" sz="11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Spiritual</a:t>
            </a:r>
            <a:r>
              <a:rPr dirty="0" sz="1400" spc="-2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Warnings:</a:t>
            </a:r>
            <a:endParaRPr sz="14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57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7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Neglecting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2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serious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sin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invites</a:t>
            </a:r>
            <a:r>
              <a:rPr dirty="0" sz="12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anger.</a:t>
            </a:r>
            <a:endParaRPr sz="1200">
              <a:latin typeface="Trebuchet MS"/>
              <a:cs typeface="Trebuchet MS"/>
            </a:endParaRPr>
          </a:p>
          <a:p>
            <a:pPr marL="624840" marR="47625" indent="-234950">
              <a:lnSpc>
                <a:spcPts val="1190"/>
              </a:lnSpc>
              <a:spcBef>
                <a:spcPts val="819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8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Warning: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“And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hoard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gold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silver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spend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way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2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Allah—</a:t>
            </a:r>
            <a:r>
              <a:rPr dirty="0" sz="1200" spc="-20">
                <a:solidFill>
                  <a:srgbClr val="3F3F3F"/>
                </a:solidFill>
                <a:latin typeface="Trebuchet MS"/>
                <a:cs typeface="Trebuchet MS"/>
              </a:rPr>
              <a:t>give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them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tidings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painful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punishment.”</a:t>
            </a:r>
            <a:r>
              <a:rPr dirty="0" sz="1200" spc="1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(Surah</a:t>
            </a:r>
            <a:r>
              <a:rPr dirty="0" sz="12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At-Tawbah,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9:34)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295910" algn="l"/>
              </a:tabLst>
            </a:pPr>
            <a:r>
              <a:rPr dirty="0" sz="11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1400" spc="-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Warning:</a:t>
            </a:r>
            <a:endParaRPr sz="1400">
              <a:latin typeface="Trebuchet MS"/>
              <a:cs typeface="Trebuchet MS"/>
            </a:endParaRPr>
          </a:p>
          <a:p>
            <a:pPr marL="624840" marR="552450" indent="-234950">
              <a:lnSpc>
                <a:spcPts val="1190"/>
              </a:lnSpc>
              <a:spcBef>
                <a:spcPts val="820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9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ahoma"/>
                <a:cs typeface="Tahoma"/>
              </a:rPr>
              <a:t>(</a:t>
            </a:r>
            <a:r>
              <a:rPr dirty="0" sz="1200">
                <a:solidFill>
                  <a:srgbClr val="3F3F3F"/>
                </a:solidFill>
                <a:latin typeface="Tahoma"/>
                <a:cs typeface="Tahoma"/>
              </a:rPr>
              <a:t>ﷺ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)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warned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wealth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given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charity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may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bring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severe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punishment,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symbolized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vivid</a:t>
            </a:r>
            <a:r>
              <a:rPr dirty="0" sz="120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imagery.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295910" algn="l"/>
              </a:tabLst>
            </a:pPr>
            <a:r>
              <a:rPr dirty="0" sz="11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Worldly</a:t>
            </a:r>
            <a:r>
              <a:rPr dirty="0" sz="1400" spc="-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Consequences:</a:t>
            </a:r>
            <a:endParaRPr sz="14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560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6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Loss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2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blessings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barakah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wealth.</a:t>
            </a:r>
            <a:endParaRPr sz="12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57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7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Increased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social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problems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such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poverty,</a:t>
            </a:r>
            <a:r>
              <a:rPr dirty="0" sz="12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greed,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lack</a:t>
            </a:r>
            <a:r>
              <a:rPr dirty="0" sz="12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2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unity.</a:t>
            </a:r>
            <a:endParaRPr sz="12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57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80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Possible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divine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punishments</a:t>
            </a:r>
            <a:r>
              <a:rPr dirty="0" sz="120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(e.g.,</a:t>
            </a:r>
            <a:r>
              <a:rPr dirty="0" sz="12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drought,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famine).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295910" algn="l"/>
              </a:tabLst>
            </a:pPr>
            <a:r>
              <a:rPr dirty="0" sz="110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0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00" b="1">
                <a:solidFill>
                  <a:srgbClr val="3F3F3F"/>
                </a:solidFill>
                <a:latin typeface="Trebuchet MS"/>
                <a:cs typeface="Trebuchet MS"/>
              </a:rPr>
              <a:t>Hereafter</a:t>
            </a:r>
            <a:r>
              <a:rPr dirty="0" sz="1400" spc="-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3F3F3F"/>
                </a:solidFill>
                <a:latin typeface="Trebuchet MS"/>
                <a:cs typeface="Trebuchet MS"/>
              </a:rPr>
              <a:t>Consequences:</a:t>
            </a:r>
            <a:endParaRPr sz="14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57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7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Severe</a:t>
            </a:r>
            <a:r>
              <a:rPr dirty="0" sz="12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torment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regret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20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2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Judgment.</a:t>
            </a:r>
            <a:endParaRPr sz="12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56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35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Loss</a:t>
            </a:r>
            <a:r>
              <a:rPr dirty="0" sz="12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 Paradise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2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mercy.</a:t>
            </a:r>
            <a:endParaRPr sz="12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575"/>
              </a:spcBef>
            </a:pPr>
            <a:r>
              <a:rPr dirty="0" sz="10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000" spc="229">
                <a:solidFill>
                  <a:srgbClr val="90C126"/>
                </a:solidFill>
                <a:latin typeface="Georgia"/>
                <a:cs typeface="Georgia"/>
              </a:rPr>
              <a:t> 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Rejection</a:t>
            </a:r>
            <a:r>
              <a:rPr dirty="0" sz="12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of the</a:t>
            </a:r>
            <a:r>
              <a:rPr dirty="0" sz="12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Prophet’s</a:t>
            </a:r>
            <a:r>
              <a:rPr dirty="0" sz="12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negotiation.</a:t>
            </a:r>
            <a:endParaRPr sz="1200">
              <a:latin typeface="Trebuchet MS"/>
              <a:cs typeface="Trebuchet MS"/>
            </a:endParaRPr>
          </a:p>
          <a:p>
            <a:pPr marL="390525" marR="5080">
              <a:lnSpc>
                <a:spcPts val="1190"/>
              </a:lnSpc>
              <a:spcBef>
                <a:spcPts val="825"/>
              </a:spcBef>
            </a:pP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Muslims,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fulfilling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Zakat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obligation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120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only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cleanses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wealth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but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also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helps</a:t>
            </a:r>
            <a:r>
              <a:rPr dirty="0" sz="12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build</a:t>
            </a:r>
            <a:r>
              <a:rPr dirty="0" sz="120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caring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just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community,</a:t>
            </a:r>
            <a:r>
              <a:rPr dirty="0" sz="120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ultimately</a:t>
            </a:r>
            <a:r>
              <a:rPr dirty="0" sz="120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paving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way</a:t>
            </a:r>
            <a:r>
              <a:rPr dirty="0" sz="120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eternal</a:t>
            </a:r>
            <a:r>
              <a:rPr dirty="0" sz="120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rewards</a:t>
            </a:r>
            <a:r>
              <a:rPr dirty="0" sz="120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2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20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3F3F3F"/>
                </a:solidFill>
                <a:latin typeface="Trebuchet MS"/>
                <a:cs typeface="Trebuchet MS"/>
              </a:rPr>
              <a:t>Hereafter.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8824" y="1242966"/>
            <a:ext cx="544068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>
                <a:solidFill>
                  <a:srgbClr val="54A021"/>
                </a:solidFill>
                <a:latin typeface="Arial"/>
                <a:cs typeface="Arial"/>
              </a:rPr>
              <a:t>5th</a:t>
            </a:r>
            <a:r>
              <a:rPr dirty="0" sz="3600" spc="40">
                <a:solidFill>
                  <a:srgbClr val="54A021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54A021"/>
                </a:solidFill>
                <a:latin typeface="Arial"/>
                <a:cs typeface="Arial"/>
              </a:rPr>
              <a:t>Pillar</a:t>
            </a:r>
            <a:r>
              <a:rPr dirty="0" sz="3600" spc="50">
                <a:solidFill>
                  <a:srgbClr val="54A021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54A021"/>
                </a:solidFill>
                <a:latin typeface="Arial"/>
                <a:cs typeface="Arial"/>
              </a:rPr>
              <a:t>Hajj/Pilgrimage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37345" y="2573647"/>
            <a:ext cx="160655" cy="341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35"/>
              </a:lnSpc>
            </a:pPr>
            <a:r>
              <a:rPr dirty="0" sz="2300" spc="-5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4693" y="1912515"/>
            <a:ext cx="9174480" cy="449516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100" spc="-254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100" spc="-13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6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Fifth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Pillar: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-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Quran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Evidenc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2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Benefits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Hajj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Importance</a:t>
            </a:r>
            <a:r>
              <a:rPr dirty="0" sz="2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 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 spc="-2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850" spc="-22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Warning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Consequences</a:t>
            </a:r>
            <a:r>
              <a:rPr dirty="0" sz="23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Neglecting</a:t>
            </a:r>
            <a:r>
              <a:rPr dirty="0" sz="230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4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Rituals</a:t>
            </a:r>
            <a:r>
              <a:rPr dirty="0" sz="2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2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(Manasik-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e-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Hajj)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90"/>
              </a:spcBef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450" spc="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1</a:t>
            </a:r>
            <a:r>
              <a:rPr dirty="0" u="sng" sz="1450" spc="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Ihram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(State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Purity)</a:t>
            </a:r>
            <a:endParaRPr sz="14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0"/>
              </a:spcBef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450" spc="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2</a:t>
            </a:r>
            <a:r>
              <a:rPr dirty="0" u="sng" sz="1450" spc="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Tawaf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(Circumambulation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Kaaba)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450" spc="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3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Sa’i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(Walking</a:t>
            </a:r>
            <a:r>
              <a:rPr dirty="0" sz="14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Between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Safa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Marwah)</a:t>
            </a:r>
            <a:endParaRPr sz="14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5"/>
              </a:spcBef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450" spc="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4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Wuquf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Arafat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(Standing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Arafat)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450" spc="6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5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Muzdalifah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(Collecting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Pebbles)</a:t>
            </a:r>
            <a:endParaRPr sz="1450">
              <a:latin typeface="Trebuchet MS"/>
              <a:cs typeface="Trebuchet MS"/>
            </a:endParaRPr>
          </a:p>
          <a:p>
            <a:pPr marL="390525" marR="1465580">
              <a:lnSpc>
                <a:spcPts val="2620"/>
              </a:lnSpc>
              <a:spcBef>
                <a:spcPts val="90"/>
              </a:spcBef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450" spc="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6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Rami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al-Jamarat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(Stoning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Pillars)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450" spc="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7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Qurbani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(Animal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Sacrifice)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Additional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Rituals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6035" y="1057655"/>
            <a:ext cx="2912364" cy="177088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0815">
              <a:lnSpc>
                <a:spcPct val="100000"/>
              </a:lnSpc>
              <a:spcBef>
                <a:spcPts val="125"/>
              </a:spcBef>
            </a:pPr>
            <a:r>
              <a:rPr dirty="0" b="0">
                <a:latin typeface="Trebuchet MS"/>
                <a:cs typeface="Trebuchet MS"/>
              </a:rPr>
              <a:t>The</a:t>
            </a:r>
            <a:r>
              <a:rPr dirty="0" spc="-3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Fifth</a:t>
            </a:r>
            <a:r>
              <a:rPr dirty="0" spc="-3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Pillar: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Hajj</a:t>
            </a:r>
            <a:r>
              <a:rPr dirty="0" spc="-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-</a:t>
            </a:r>
            <a:r>
              <a:rPr dirty="0" spc="-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Quran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&amp;</a:t>
            </a:r>
            <a:r>
              <a:rPr dirty="0" spc="-3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Hadith</a:t>
            </a:r>
            <a:r>
              <a:rPr dirty="0" spc="-6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Evidence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3132" y="1974613"/>
            <a:ext cx="8188959" cy="1035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95910" marR="5080" indent="-283845">
              <a:lnSpc>
                <a:spcPct val="102800"/>
              </a:lnSpc>
              <a:spcBef>
                <a:spcPts val="90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Obligation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Hajj: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required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act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worship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every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eligible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Muslim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least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once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in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their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lifetime.</a:t>
            </a:r>
            <a:endParaRPr sz="1450">
              <a:latin typeface="Trebuchet MS"/>
              <a:cs typeface="Trebuchet MS"/>
            </a:endParaRPr>
          </a:p>
          <a:p>
            <a:pPr marL="12700" marR="146685">
              <a:lnSpc>
                <a:spcPct val="102099"/>
              </a:lnSpc>
              <a:spcBef>
                <a:spcPts val="82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five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pillars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Islam.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special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journey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holy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city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Makkah.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is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act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worship,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submission,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unity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Muslims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physically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financially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able.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3132" y="3274247"/>
            <a:ext cx="3418840" cy="215011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955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Quranic</a:t>
            </a:r>
            <a:r>
              <a:rPr dirty="0" u="sng" sz="1450" spc="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Evidence: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99"/>
              </a:lnSpc>
              <a:spcBef>
                <a:spcPts val="819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“And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[due]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people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5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pilgrimage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House—for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whoever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is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able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find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way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thereto...”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(Surah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Aal-e-Imran,</a:t>
            </a:r>
            <a:r>
              <a:rPr dirty="0" sz="1450" spc="1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3:97)</a:t>
            </a:r>
            <a:endParaRPr sz="1450">
              <a:latin typeface="Trebuchet MS"/>
              <a:cs typeface="Trebuchet MS"/>
            </a:endParaRPr>
          </a:p>
          <a:p>
            <a:pPr marL="295910" marR="130810" indent="-283845">
              <a:lnSpc>
                <a:spcPct val="102400"/>
              </a:lnSpc>
              <a:spcBef>
                <a:spcPts val="819"/>
              </a:spcBef>
              <a:buClr>
                <a:srgbClr val="90C126"/>
              </a:buClr>
              <a:buSzPct val="79310"/>
              <a:buFont typeface="Microsoft Sans Serif"/>
              <a:buChar char="•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reminds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that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performing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duty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neglecting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shows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ungratefulness.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96226" y="3272770"/>
            <a:ext cx="3236595" cy="217487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785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u="sng" sz="14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Hadith</a:t>
            </a:r>
            <a:r>
              <a:rPr dirty="0" u="sng" sz="1450" spc="9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Evidence:</a:t>
            </a:r>
            <a:endParaRPr sz="1450">
              <a:latin typeface="Trebuchet MS"/>
              <a:cs typeface="Trebuchet MS"/>
            </a:endParaRPr>
          </a:p>
          <a:p>
            <a:pPr marL="12700" marR="24130">
              <a:lnSpc>
                <a:spcPct val="92100"/>
              </a:lnSpc>
              <a:spcBef>
                <a:spcPts val="83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ahoma"/>
                <a:cs typeface="Tahoma"/>
              </a:rPr>
              <a:t>(</a:t>
            </a:r>
            <a:r>
              <a:rPr dirty="0" sz="1450" spc="-10">
                <a:solidFill>
                  <a:srgbClr val="3F3F3F"/>
                </a:solidFill>
                <a:latin typeface="Tahoma"/>
                <a:cs typeface="Tahoma"/>
              </a:rPr>
              <a:t>ﷺ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said,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“Islam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built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five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pillars…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performing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House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(Kaaba)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able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do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so.”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(Bukhari,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Muslim)</a:t>
            </a:r>
            <a:endParaRPr sz="1450">
              <a:latin typeface="Trebuchet MS"/>
              <a:cs typeface="Trebuchet MS"/>
            </a:endParaRPr>
          </a:p>
          <a:p>
            <a:pPr marL="295910" marR="5080" indent="-283845">
              <a:lnSpc>
                <a:spcPct val="92100"/>
              </a:lnSpc>
              <a:spcBef>
                <a:spcPts val="835"/>
              </a:spcBef>
              <a:buClr>
                <a:srgbClr val="90C126"/>
              </a:buClr>
              <a:buSzPct val="79310"/>
              <a:buFont typeface="Microsoft Sans Serif"/>
              <a:buChar char="•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also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urged,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“Hasten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perform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Hajj,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knows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what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will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happen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him.”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(Musnad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Ahmad)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963" rIns="0" bIns="0" rtlCol="0" vert="horz">
            <a:spAutoFit/>
          </a:bodyPr>
          <a:lstStyle/>
          <a:p>
            <a:pPr marL="370840">
              <a:lnSpc>
                <a:spcPct val="100000"/>
              </a:lnSpc>
              <a:spcBef>
                <a:spcPts val="125"/>
              </a:spcBef>
            </a:pPr>
            <a:r>
              <a:rPr dirty="0" b="0">
                <a:latin typeface="Trebuchet MS"/>
                <a:cs typeface="Trebuchet MS"/>
              </a:rPr>
              <a:t>Benefits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of</a:t>
            </a:r>
            <a:r>
              <a:rPr dirty="0" spc="10" b="0">
                <a:latin typeface="Trebuchet MS"/>
                <a:cs typeface="Trebuchet MS"/>
              </a:rPr>
              <a:t> </a:t>
            </a:r>
            <a:r>
              <a:rPr dirty="0" spc="-20" b="0">
                <a:latin typeface="Trebuchet MS"/>
                <a:cs typeface="Trebuchet MS"/>
              </a:rPr>
              <a:t>Hajj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1983415"/>
            <a:ext cx="8361680" cy="401701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Forgiveness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3F3F3F"/>
                </a:solidFill>
                <a:latin typeface="Trebuchet MS"/>
                <a:cs typeface="Trebuchet MS"/>
              </a:rPr>
              <a:t>Sins: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84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</a:t>
            </a:r>
            <a:r>
              <a:rPr dirty="0" sz="1450">
                <a:solidFill>
                  <a:srgbClr val="3F3F3F"/>
                </a:solidFill>
                <a:latin typeface="Tahoma"/>
                <a:cs typeface="Tahoma"/>
              </a:rPr>
              <a:t>ﷺ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)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said,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“Whoever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performs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does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commit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any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obscenity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wrongdoing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out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was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born—pure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free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sins.”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(Bukhari,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Muslim)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Massive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Rewards: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successful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accepted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earns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reward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Paradise.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Unity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Brotherhood:</a:t>
            </a:r>
            <a:endParaRPr sz="1450">
              <a:latin typeface="Trebuchet MS"/>
              <a:cs typeface="Trebuchet MS"/>
            </a:endParaRPr>
          </a:p>
          <a:p>
            <a:pPr marL="12700" marR="370205">
              <a:lnSpc>
                <a:spcPct val="102099"/>
              </a:lnSpc>
              <a:spcBef>
                <a:spcPts val="82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brings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together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Muslims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over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world,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showing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equality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unity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regardless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of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race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status.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Renewal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Faith: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journey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strengthens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connection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renews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spiritual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energy.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Witnessing</a:t>
            </a:r>
            <a:r>
              <a:rPr dirty="0" sz="1450" spc="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Sacred</a:t>
            </a:r>
            <a:r>
              <a:rPr dirty="0" sz="1450" spc="1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Rituals:</a:t>
            </a:r>
            <a:endParaRPr sz="1450">
              <a:latin typeface="Trebuchet MS"/>
              <a:cs typeface="Trebuchet MS"/>
            </a:endParaRPr>
          </a:p>
          <a:p>
            <a:pPr marL="12700" marR="135890">
              <a:lnSpc>
                <a:spcPct val="102800"/>
              </a:lnSpc>
              <a:spcBef>
                <a:spcPts val="81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Pilgrims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follow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footsteps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Prophets,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remembering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examples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Ibrahim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(AS)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8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Muhammad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3F3F3F"/>
                </a:solidFill>
                <a:latin typeface="Trebuchet MS"/>
                <a:cs typeface="Trebuchet MS"/>
              </a:rPr>
              <a:t>(</a:t>
            </a:r>
            <a:r>
              <a:rPr dirty="0" sz="1450" spc="-20" b="1">
                <a:solidFill>
                  <a:srgbClr val="3F3F3F"/>
                </a:solidFill>
                <a:latin typeface="Tahoma"/>
                <a:cs typeface="Tahoma"/>
              </a:rPr>
              <a:t>ﷺ</a:t>
            </a:r>
            <a:r>
              <a:rPr dirty="0" sz="1450" spc="-20" b="1">
                <a:solidFill>
                  <a:srgbClr val="3F3F3F"/>
                </a:solidFill>
                <a:latin typeface="Trebuchet MS"/>
                <a:cs typeface="Trebuchet MS"/>
              </a:rPr>
              <a:t>).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880" y="1575329"/>
            <a:ext cx="335026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Importance</a:t>
            </a:r>
            <a:r>
              <a:rPr dirty="0" spc="-15"/>
              <a:t> </a:t>
            </a:r>
            <a:r>
              <a:rPr dirty="0"/>
              <a:t>of </a:t>
            </a:r>
            <a:r>
              <a:rPr dirty="0" spc="-20"/>
              <a:t>Hajj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2198399"/>
            <a:ext cx="7480934" cy="312674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Test</a:t>
            </a:r>
            <a:r>
              <a:rPr dirty="0" sz="145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Submission: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requires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sacrifice,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patience,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devotion,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proving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willingness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obey</a:t>
            </a:r>
            <a:r>
              <a:rPr dirty="0" sz="14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Connection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Holy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History:</a:t>
            </a:r>
            <a:endParaRPr sz="1450">
              <a:latin typeface="Trebuchet MS"/>
              <a:cs typeface="Trebuchet MS"/>
            </a:endParaRPr>
          </a:p>
          <a:p>
            <a:pPr marL="12700" marR="8890">
              <a:lnSpc>
                <a:spcPct val="102099"/>
              </a:lnSpc>
              <a:spcBef>
                <a:spcPts val="82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Pilgrims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revisit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sites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linked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Ibrahim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(AS)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family,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deepening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their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bond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heritage.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Fulfillment of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Pillar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Islam: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performing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without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valid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reason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seen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lack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one’s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faith.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Promotion</a:t>
            </a:r>
            <a:r>
              <a:rPr dirty="0" sz="1450" spc="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Taqwa</a:t>
            </a:r>
            <a:r>
              <a:rPr dirty="0" sz="1450" spc="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(Piety):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800"/>
              </a:lnSpc>
              <a:spcBef>
                <a:spcPts val="81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formal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procedure(rituals)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help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teach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humility,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discipline,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strong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awareness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of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hearts.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783" rIns="0" bIns="0" rtlCol="0" vert="horz">
            <a:spAutoFit/>
          </a:bodyPr>
          <a:lstStyle/>
          <a:p>
            <a:pPr marL="175260">
              <a:lnSpc>
                <a:spcPct val="100000"/>
              </a:lnSpc>
              <a:spcBef>
                <a:spcPts val="125"/>
              </a:spcBef>
            </a:pPr>
            <a:r>
              <a:rPr dirty="0"/>
              <a:t>Warning</a:t>
            </a:r>
            <a:r>
              <a:rPr dirty="0" spc="-10"/>
              <a:t> </a:t>
            </a:r>
            <a:r>
              <a:rPr dirty="0"/>
              <a:t>&amp;</a:t>
            </a:r>
            <a:r>
              <a:rPr dirty="0" spc="10"/>
              <a:t> </a:t>
            </a:r>
            <a:r>
              <a:rPr dirty="0"/>
              <a:t>Consequences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10"/>
              <a:t> </a:t>
            </a:r>
            <a:r>
              <a:rPr dirty="0"/>
              <a:t>Neglecting</a:t>
            </a:r>
            <a:r>
              <a:rPr dirty="0" spc="-15"/>
              <a:t> </a:t>
            </a:r>
            <a:r>
              <a:rPr dirty="0" spc="-20"/>
              <a:t>Hajj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7722" y="1989505"/>
            <a:ext cx="7800975" cy="434657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Quranic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Warning:</a:t>
            </a:r>
            <a:endParaRPr sz="1450">
              <a:latin typeface="Trebuchet MS"/>
              <a:cs typeface="Trebuchet MS"/>
            </a:endParaRPr>
          </a:p>
          <a:p>
            <a:pPr marL="12700" marR="72390">
              <a:lnSpc>
                <a:spcPct val="102800"/>
              </a:lnSpc>
              <a:spcBef>
                <a:spcPts val="81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“And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whoever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disbelieves—then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indeed,</a:t>
            </a:r>
            <a:r>
              <a:rPr dirty="0" sz="14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free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need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worlds.”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(Surah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Aal-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e-Imran,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3:97)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Neglecting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sign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ingratitude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rising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against</a:t>
            </a:r>
            <a:r>
              <a:rPr dirty="0" sz="145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1450" spc="9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Warning:</a:t>
            </a:r>
            <a:endParaRPr sz="1450">
              <a:latin typeface="Trebuchet MS"/>
              <a:cs typeface="Trebuchet MS"/>
            </a:endParaRPr>
          </a:p>
          <a:p>
            <a:pPr marL="12700" marR="104139">
              <a:lnSpc>
                <a:spcPct val="102099"/>
              </a:lnSpc>
              <a:spcBef>
                <a:spcPts val="84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</a:t>
            </a:r>
            <a:r>
              <a:rPr dirty="0" sz="1450">
                <a:solidFill>
                  <a:srgbClr val="3F3F3F"/>
                </a:solidFill>
                <a:latin typeface="Tahoma"/>
                <a:cs typeface="Tahoma"/>
              </a:rPr>
              <a:t>ﷺ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)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warned,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“Whoever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possesses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provisions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means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transportation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to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bring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him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House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yet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does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perform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Hajj…”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(Tirmidhi,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 Ahmad)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Worldly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3F3F3F"/>
                </a:solidFill>
                <a:latin typeface="Trebuchet MS"/>
                <a:cs typeface="Trebuchet MS"/>
              </a:rPr>
              <a:t>Harm: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Spiritual</a:t>
            </a:r>
            <a:r>
              <a:rPr dirty="0" sz="1450" spc="9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Decline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Missing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weakens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faith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reduces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blessings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(barakah)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life.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Social</a:t>
            </a:r>
            <a:r>
              <a:rPr dirty="0" sz="1450" spc="1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Disconnection: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1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builds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community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bonds.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Harm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Hereafter: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Accountability:</a:t>
            </a:r>
            <a:r>
              <a:rPr dirty="0" sz="1450" spc="6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ignore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Hajj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questioned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by Allah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Judgment.</a:t>
            </a:r>
            <a:endParaRPr sz="1450">
              <a:latin typeface="Trebuchet MS"/>
              <a:cs typeface="Trebuchet MS"/>
            </a:endParaRPr>
          </a:p>
          <a:p>
            <a:pPr marL="12700" marR="480059">
              <a:lnSpc>
                <a:spcPct val="102099"/>
              </a:lnSpc>
              <a:spcBef>
                <a:spcPts val="840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Loss</a:t>
            </a:r>
            <a:r>
              <a:rPr dirty="0" sz="1450" spc="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Forgiveness:</a:t>
            </a:r>
            <a:r>
              <a:rPr dirty="0" sz="1450" spc="8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They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miss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chance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have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their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sins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wiped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away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lose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the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reward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Paradise.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8935" y="1124269"/>
            <a:ext cx="614362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30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Rituals</a:t>
            </a:r>
            <a:r>
              <a:rPr dirty="0" u="sng" sz="3300" spc="-4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 </a:t>
            </a:r>
            <a:r>
              <a:rPr dirty="0" u="sng" sz="330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of</a:t>
            </a:r>
            <a:r>
              <a:rPr dirty="0" u="sng" sz="3300" spc="-65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 </a:t>
            </a:r>
            <a:r>
              <a:rPr dirty="0" u="sng" sz="330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Hajj</a:t>
            </a:r>
            <a:r>
              <a:rPr dirty="0" u="sng" sz="3300" spc="-55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 </a:t>
            </a:r>
            <a:r>
              <a:rPr dirty="0" u="sng" sz="3300" spc="-25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(Manasik-</a:t>
            </a:r>
            <a:r>
              <a:rPr dirty="0" u="sng" sz="3300" spc="-3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e-</a:t>
            </a:r>
            <a:r>
              <a:rPr dirty="0" u="sng" sz="3300" spc="-1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</a:rPr>
              <a:t>Hajj)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276854" y="5051553"/>
            <a:ext cx="7780655" cy="1035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100"/>
              </a:spcBef>
            </a:pPr>
            <a:r>
              <a:rPr dirty="0" sz="1450" b="1">
                <a:latin typeface="Trebuchet MS"/>
                <a:cs typeface="Trebuchet MS"/>
              </a:rPr>
              <a:t>“Labbayka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Allahumma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Labbayk.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Labbayka</a:t>
            </a:r>
            <a:r>
              <a:rPr dirty="0" sz="1450" spc="10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la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sharika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laka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labbayk.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Inna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al-hamda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wa</a:t>
            </a:r>
            <a:r>
              <a:rPr dirty="0" sz="1450" spc="8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an- </a:t>
            </a:r>
            <a:r>
              <a:rPr dirty="0" sz="1450" b="1">
                <a:latin typeface="Trebuchet MS"/>
                <a:cs typeface="Trebuchet MS"/>
              </a:rPr>
              <a:t>ni'mata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laka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wal-mulk.</a:t>
            </a:r>
            <a:r>
              <a:rPr dirty="0" sz="1450" spc="3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La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sharika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lak.”</a:t>
            </a:r>
            <a:endParaRPr sz="1450">
              <a:latin typeface="Trebuchet MS"/>
              <a:cs typeface="Trebuchet MS"/>
            </a:endParaRPr>
          </a:p>
          <a:p>
            <a:pPr marL="12700" marR="343535">
              <a:lnSpc>
                <a:spcPct val="102800"/>
              </a:lnSpc>
              <a:spcBef>
                <a:spcPts val="815"/>
              </a:spcBef>
            </a:pPr>
            <a:r>
              <a:rPr dirty="0" sz="1450" b="1">
                <a:latin typeface="Trebuchet MS"/>
                <a:cs typeface="Trebuchet MS"/>
              </a:rPr>
              <a:t>(Meaning:</a:t>
            </a:r>
            <a:r>
              <a:rPr dirty="0" sz="1450" spc="2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“Here</a:t>
            </a:r>
            <a:r>
              <a:rPr dirty="0" sz="1450" spc="3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</a:t>
            </a:r>
            <a:r>
              <a:rPr dirty="0" sz="1450" spc="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am,</a:t>
            </a:r>
            <a:r>
              <a:rPr dirty="0" sz="1450" spc="2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Allah,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here</a:t>
            </a:r>
            <a:r>
              <a:rPr dirty="0" sz="1450" spc="3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am.</a:t>
            </a:r>
            <a:r>
              <a:rPr dirty="0" sz="1450" spc="-10" b="1">
                <a:latin typeface="Trebuchet MS"/>
                <a:cs typeface="Trebuchet MS"/>
              </a:rPr>
              <a:t> You</a:t>
            </a:r>
            <a:r>
              <a:rPr dirty="0" sz="1450" b="1">
                <a:latin typeface="Trebuchet MS"/>
                <a:cs typeface="Trebuchet MS"/>
              </a:rPr>
              <a:t> have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no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partner.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Here</a:t>
            </a:r>
            <a:r>
              <a:rPr dirty="0" sz="1450" spc="3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am.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Verily,</a:t>
            </a:r>
            <a:r>
              <a:rPr dirty="0" sz="1450" spc="3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all </a:t>
            </a:r>
            <a:r>
              <a:rPr dirty="0" sz="1450" b="1">
                <a:latin typeface="Trebuchet MS"/>
                <a:cs typeface="Trebuchet MS"/>
              </a:rPr>
              <a:t>praise,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blessings,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sovereignty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belong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to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You.”)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6854" y="1675202"/>
            <a:ext cx="7242175" cy="263525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720"/>
              </a:spcBef>
            </a:pP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Hajj</a:t>
            </a:r>
            <a:r>
              <a:rPr dirty="0" sz="1650" spc="-4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has</a:t>
            </a:r>
            <a:r>
              <a:rPr dirty="0" sz="1650" spc="-3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specific</a:t>
            </a:r>
            <a:r>
              <a:rPr dirty="0" sz="1650" spc="-15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rituals</a:t>
            </a:r>
            <a:r>
              <a:rPr dirty="0" sz="1650" spc="-45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performed</a:t>
            </a:r>
            <a:r>
              <a:rPr dirty="0" sz="1650" spc="-3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in a</a:t>
            </a:r>
            <a:r>
              <a:rPr dirty="0" sz="1650" spc="-3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fixed</a:t>
            </a:r>
            <a:r>
              <a:rPr dirty="0" sz="1650" spc="-2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AFEF"/>
                </a:solidFill>
                <a:latin typeface="Trebuchet MS"/>
                <a:cs typeface="Trebuchet MS"/>
              </a:rPr>
              <a:t>order.</a:t>
            </a:r>
            <a:endParaRPr sz="1650">
              <a:latin typeface="Trebuchet MS"/>
              <a:cs typeface="Trebuchet MS"/>
            </a:endParaRPr>
          </a:p>
          <a:p>
            <a:pPr marL="158750">
              <a:lnSpc>
                <a:spcPct val="100000"/>
              </a:lnSpc>
              <a:spcBef>
                <a:spcPts val="625"/>
              </a:spcBef>
            </a:pP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There</a:t>
            </a:r>
            <a:r>
              <a:rPr dirty="0" sz="1650" spc="-2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are</a:t>
            </a:r>
            <a:r>
              <a:rPr dirty="0" sz="1650" spc="-5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seven</a:t>
            </a:r>
            <a:r>
              <a:rPr dirty="0" sz="1650" spc="-1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main</a:t>
            </a:r>
            <a:r>
              <a:rPr dirty="0" sz="1650" spc="-25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rituals,</a:t>
            </a:r>
            <a:r>
              <a:rPr dirty="0" sz="1650" spc="-55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each</a:t>
            </a:r>
            <a:r>
              <a:rPr dirty="0" sz="1650" spc="-3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with</a:t>
            </a:r>
            <a:r>
              <a:rPr dirty="0" sz="1650" spc="-3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a</a:t>
            </a:r>
            <a:r>
              <a:rPr dirty="0" sz="1650" spc="-1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special</a:t>
            </a:r>
            <a:r>
              <a:rPr dirty="0" sz="1650" spc="-3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meaning</a:t>
            </a:r>
            <a:r>
              <a:rPr dirty="0" sz="1650" spc="-30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AFEF"/>
                </a:solidFill>
                <a:latin typeface="Trebuchet MS"/>
                <a:cs typeface="Trebuchet MS"/>
              </a:rPr>
              <a:t>and</a:t>
            </a:r>
            <a:r>
              <a:rPr dirty="0" sz="1650" spc="-25" b="1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AFEF"/>
                </a:solidFill>
                <a:latin typeface="Trebuchet MS"/>
                <a:cs typeface="Trebuchet MS"/>
              </a:rPr>
              <a:t>purpose.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1</a:t>
            </a:r>
            <a:r>
              <a:rPr dirty="0" u="sng" sz="1650" spc="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–</a:t>
            </a:r>
            <a:r>
              <a:rPr dirty="0" u="sng" sz="16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Ihram</a:t>
            </a:r>
            <a:r>
              <a:rPr dirty="0" u="sng" sz="1650" spc="-3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(State</a:t>
            </a:r>
            <a:r>
              <a:rPr dirty="0" u="sng" sz="1650" spc="-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6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Purity)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Definition:</a:t>
            </a:r>
            <a:r>
              <a:rPr dirty="0" sz="1450" spc="7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Entering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holy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state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purity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before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starting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Hajj.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How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Prepare:</a:t>
            </a:r>
            <a:endParaRPr sz="1450">
              <a:latin typeface="Trebuchet MS"/>
              <a:cs typeface="Trebuchet MS"/>
            </a:endParaRPr>
          </a:p>
          <a:p>
            <a:pPr marL="59690">
              <a:lnSpc>
                <a:spcPct val="100000"/>
              </a:lnSpc>
              <a:spcBef>
                <a:spcPts val="860"/>
              </a:spcBef>
            </a:pP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Men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wear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two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unstitched</a:t>
            </a:r>
            <a:r>
              <a:rPr dirty="0" sz="130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white</a:t>
            </a:r>
            <a:r>
              <a:rPr dirty="0" sz="130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cloths.</a:t>
            </a:r>
            <a:endParaRPr sz="1300">
              <a:latin typeface="Trebuchet MS"/>
              <a:cs typeface="Trebuchet MS"/>
            </a:endParaRPr>
          </a:p>
          <a:p>
            <a:pPr marL="59690">
              <a:lnSpc>
                <a:spcPct val="100000"/>
              </a:lnSpc>
              <a:spcBef>
                <a:spcPts val="850"/>
              </a:spcBef>
            </a:pP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Women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dress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modestly,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following</a:t>
            </a:r>
            <a:r>
              <a:rPr dirty="0" sz="130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130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guidelines.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Recitation: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Pilgrims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recite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Talbiyah: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308" y="4457700"/>
            <a:ext cx="6819899" cy="54101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77683" y="1565148"/>
            <a:ext cx="2514600" cy="261061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0314" y="1556387"/>
            <a:ext cx="3830954" cy="3301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1945" marR="252095" indent="859155">
              <a:lnSpc>
                <a:spcPct val="141800"/>
              </a:lnSpc>
              <a:spcBef>
                <a:spcPts val="100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2</a:t>
            </a:r>
            <a:r>
              <a:rPr dirty="0" u="sng" sz="1650" spc="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–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Tawaf</a:t>
            </a:r>
            <a:r>
              <a:rPr dirty="0" sz="165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(Circumambulation</a:t>
            </a:r>
            <a:r>
              <a:rPr dirty="0" u="sng" sz="1650" spc="-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650" spc="-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650" spc="-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Kaaba)</a:t>
            </a:r>
            <a:endParaRPr sz="1650">
              <a:latin typeface="Trebuchet MS"/>
              <a:cs typeface="Trebuchet MS"/>
            </a:endParaRPr>
          </a:p>
          <a:p>
            <a:pPr marL="12700" marR="74295">
              <a:lnSpc>
                <a:spcPct val="102099"/>
              </a:lnSpc>
              <a:spcBef>
                <a:spcPts val="83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Definition: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Walking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around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Kaaba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seven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times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counterclockwise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direction.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Importance: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84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Symbolizes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central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role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Kaaba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unity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86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How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Perform:</a:t>
            </a:r>
            <a:endParaRPr sz="1450">
              <a:latin typeface="Trebuchet MS"/>
              <a:cs typeface="Trebuchet MS"/>
            </a:endParaRPr>
          </a:p>
          <a:p>
            <a:pPr algn="just" marL="12700" marR="250190">
              <a:lnSpc>
                <a:spcPct val="102400"/>
              </a:lnSpc>
              <a:spcBef>
                <a:spcPts val="83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Start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Black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Stone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(Hajr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Aswad)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complete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seven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circuits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while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praying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supplicating.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260583" y="1556387"/>
            <a:ext cx="3773170" cy="330136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85240">
              <a:lnSpc>
                <a:spcPct val="100000"/>
              </a:lnSpc>
              <a:spcBef>
                <a:spcPts val="925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3</a:t>
            </a:r>
            <a:r>
              <a:rPr dirty="0" u="sng" sz="1650" spc="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–</a:t>
            </a:r>
            <a:r>
              <a:rPr dirty="0" u="sng" sz="1650" spc="-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2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Sa’i</a:t>
            </a:r>
            <a:endParaRPr sz="1650">
              <a:latin typeface="Trebuchet MS"/>
              <a:cs typeface="Trebuchet MS"/>
            </a:endParaRPr>
          </a:p>
          <a:p>
            <a:pPr marL="12700" indent="162560">
              <a:lnSpc>
                <a:spcPct val="100000"/>
              </a:lnSpc>
              <a:spcBef>
                <a:spcPts val="830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(Walking</a:t>
            </a:r>
            <a:r>
              <a:rPr dirty="0" u="sng" sz="1650" spc="-8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Between</a:t>
            </a:r>
            <a:r>
              <a:rPr dirty="0" u="sng" sz="1650" spc="-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Safa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650" spc="-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Marwah)</a:t>
            </a:r>
            <a:endParaRPr sz="1650">
              <a:latin typeface="Trebuchet MS"/>
              <a:cs typeface="Trebuchet MS"/>
            </a:endParaRPr>
          </a:p>
          <a:p>
            <a:pPr marL="12700" marR="19685">
              <a:lnSpc>
                <a:spcPct val="102099"/>
              </a:lnSpc>
              <a:spcBef>
                <a:spcPts val="83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Definition:</a:t>
            </a:r>
            <a:r>
              <a:rPr dirty="0" sz="1450" spc="5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Walking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back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forth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between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hills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Safa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Marwah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seven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times.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Importance: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83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Remembers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Hagar’s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search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water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her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son,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Ismail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(AS)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Allah’s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miracle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of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providing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Zamzam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water.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How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Perform:</a:t>
            </a:r>
            <a:endParaRPr sz="1450">
              <a:latin typeface="Trebuchet MS"/>
              <a:cs typeface="Trebuchet MS"/>
            </a:endParaRPr>
          </a:p>
          <a:p>
            <a:pPr marL="12700" marR="8890">
              <a:lnSpc>
                <a:spcPct val="102800"/>
              </a:lnSpc>
              <a:spcBef>
                <a:spcPts val="81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Begin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Safa,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move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Marwah,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repeat,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reciting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prayers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supplications.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0283" y="1556387"/>
            <a:ext cx="3830954" cy="3631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5680" marR="626110" indent="-299085">
              <a:lnSpc>
                <a:spcPct val="141800"/>
              </a:lnSpc>
              <a:spcBef>
                <a:spcPts val="100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4 – Wuquf</a:t>
            </a:r>
            <a:r>
              <a:rPr dirty="0" u="sng" sz="1650" spc="-5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at</a:t>
            </a:r>
            <a:r>
              <a:rPr dirty="0" u="sng" sz="1650" spc="-114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Arafat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(Standing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at</a:t>
            </a:r>
            <a:r>
              <a:rPr dirty="0" u="sng" sz="1650" spc="-114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Arafat)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Definition:</a:t>
            </a:r>
            <a:endParaRPr sz="1450">
              <a:latin typeface="Trebuchet MS"/>
              <a:cs typeface="Trebuchet MS"/>
            </a:endParaRPr>
          </a:p>
          <a:p>
            <a:pPr marL="295910" marR="57785" indent="-283845">
              <a:lnSpc>
                <a:spcPct val="102000"/>
              </a:lnSpc>
              <a:spcBef>
                <a:spcPts val="830"/>
              </a:spcBef>
              <a:buClr>
                <a:srgbClr val="90C126"/>
              </a:buClr>
              <a:buSzPct val="79310"/>
              <a:buFont typeface="Wingdings"/>
              <a:buChar char="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Walking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around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Kaaba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seven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times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in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1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counterclockwise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direction.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Importance: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83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Symbolizes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central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role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Kaaba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unity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87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How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Perform:</a:t>
            </a:r>
            <a:endParaRPr sz="1450">
              <a:latin typeface="Trebuchet MS"/>
              <a:cs typeface="Trebuchet MS"/>
            </a:endParaRPr>
          </a:p>
          <a:p>
            <a:pPr algn="just" marL="12700" marR="250190">
              <a:lnSpc>
                <a:spcPct val="102400"/>
              </a:lnSpc>
              <a:spcBef>
                <a:spcPts val="819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Start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Black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Stone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(Hajr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Aswad)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complete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seven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circuits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while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praying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and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supplicating.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260583" y="1556387"/>
            <a:ext cx="2972435" cy="1071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5360" marR="5080" indent="-43180">
              <a:lnSpc>
                <a:spcPct val="141800"/>
              </a:lnSpc>
              <a:spcBef>
                <a:spcPts val="100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650" spc="-3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5</a:t>
            </a:r>
            <a:r>
              <a:rPr dirty="0" u="sng" sz="1650" spc="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–</a:t>
            </a:r>
            <a:r>
              <a:rPr dirty="0" u="sng" sz="1650" spc="-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Muzdalifah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(Collecting</a:t>
            </a:r>
            <a:r>
              <a:rPr dirty="0" u="sng" sz="1650" spc="-6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Pebbles)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Definition: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60583" y="2706158"/>
            <a:ext cx="3893185" cy="81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910" marR="5080" indent="-283845">
              <a:lnSpc>
                <a:spcPct val="102000"/>
              </a:lnSpc>
              <a:spcBef>
                <a:spcPts val="100"/>
              </a:spcBef>
              <a:buClr>
                <a:srgbClr val="90C126"/>
              </a:buClr>
              <a:buSzPct val="79310"/>
              <a:buFont typeface="Wingdings"/>
              <a:buChar char="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After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sunset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Day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Arafat,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pilgrims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travel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Muzdalifah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Actions: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60611" y="3490686"/>
            <a:ext cx="3543300" cy="91440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955"/>
              </a:spcBef>
              <a:buClr>
                <a:srgbClr val="90C126"/>
              </a:buClr>
              <a:buSzPct val="79310"/>
              <a:buFont typeface="Wingdings"/>
              <a:buChar char="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Pray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Maghrib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Isha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together.</a:t>
            </a:r>
            <a:endParaRPr sz="1450">
              <a:latin typeface="Trebuchet MS"/>
              <a:cs typeface="Trebuchet MS"/>
            </a:endParaRPr>
          </a:p>
          <a:p>
            <a:pPr marL="295910" marR="5080" indent="-283845">
              <a:lnSpc>
                <a:spcPct val="102800"/>
              </a:lnSpc>
              <a:spcBef>
                <a:spcPts val="815"/>
              </a:spcBef>
              <a:buClr>
                <a:srgbClr val="90C126"/>
              </a:buClr>
              <a:buSzPct val="79310"/>
              <a:buFont typeface="Wingdings"/>
              <a:buChar char=""/>
              <a:tabLst>
                <a:tab pos="295910" algn="l"/>
              </a:tabLst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Collect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49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70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pebbles</a:t>
            </a:r>
            <a:r>
              <a:rPr dirty="0" sz="14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use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the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next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ritual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0283" y="1556387"/>
            <a:ext cx="3776345" cy="4084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8535" marR="544195" indent="-307975">
              <a:lnSpc>
                <a:spcPct val="141800"/>
              </a:lnSpc>
              <a:spcBef>
                <a:spcPts val="100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650" spc="-2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6</a:t>
            </a:r>
            <a:r>
              <a:rPr dirty="0" u="sng" sz="1650" spc="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–</a:t>
            </a:r>
            <a:r>
              <a:rPr dirty="0" u="sng" sz="1650" spc="-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Rami</a:t>
            </a:r>
            <a:r>
              <a:rPr dirty="0" u="sng" sz="1650" spc="-1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al-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Jamarat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(Stoning</a:t>
            </a:r>
            <a:r>
              <a:rPr dirty="0" u="sng" sz="1650" spc="-4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Pillars)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Definition:</a:t>
            </a:r>
            <a:endParaRPr sz="1450">
              <a:latin typeface="Trebuchet MS"/>
              <a:cs typeface="Trebuchet MS"/>
            </a:endParaRPr>
          </a:p>
          <a:p>
            <a:pPr marL="295910" marR="5080" indent="-283845">
              <a:lnSpc>
                <a:spcPct val="102000"/>
              </a:lnSpc>
              <a:spcBef>
                <a:spcPts val="830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Throwing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pebbles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three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pillars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Mina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represent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Satan’s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temptations.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How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Perform:</a:t>
            </a:r>
            <a:endParaRPr sz="1450">
              <a:latin typeface="Trebuchet MS"/>
              <a:cs typeface="Trebuchet MS"/>
            </a:endParaRPr>
          </a:p>
          <a:p>
            <a:pPr marL="295910" marR="36830" indent="-283845">
              <a:lnSpc>
                <a:spcPct val="102299"/>
              </a:lnSpc>
              <a:spcBef>
                <a:spcPts val="82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Begin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10th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Dhul-Hijjah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by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throwing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seven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pebbles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largest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pillar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(Jamarat</a:t>
            </a:r>
            <a:r>
              <a:rPr dirty="0" sz="1450" spc="1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al-Aqaba),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continue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other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pillars.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Importance:</a:t>
            </a:r>
            <a:endParaRPr sz="1450">
              <a:latin typeface="Trebuchet MS"/>
              <a:cs typeface="Trebuchet MS"/>
            </a:endParaRPr>
          </a:p>
          <a:p>
            <a:pPr marL="295910" marR="80645" indent="-283845">
              <a:lnSpc>
                <a:spcPct val="102400"/>
              </a:lnSpc>
              <a:spcBef>
                <a:spcPts val="82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act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symbolizes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rejection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evil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commitment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follow</a:t>
            </a:r>
            <a:r>
              <a:rPr dirty="0" sz="145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Allah’s guidance..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20944" y="1556387"/>
            <a:ext cx="1771014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 marR="5080" indent="-3175">
              <a:lnSpc>
                <a:spcPct val="141800"/>
              </a:lnSpc>
              <a:spcBef>
                <a:spcPts val="100"/>
              </a:spcBef>
            </a:pP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Ritual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7</a:t>
            </a:r>
            <a:r>
              <a:rPr dirty="0" u="sng" sz="1650" spc="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–</a:t>
            </a:r>
            <a:r>
              <a:rPr dirty="0" u="sng" sz="1650" spc="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Qurbani</a:t>
            </a:r>
            <a:r>
              <a:rPr dirty="0" sz="1650" spc="-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(Animal</a:t>
            </a:r>
            <a:r>
              <a:rPr dirty="0" u="sng" sz="1650" spc="-45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Sacrifice)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60257" y="2271480"/>
            <a:ext cx="3581400" cy="225361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Definition:</a:t>
            </a:r>
            <a:endParaRPr sz="1450">
              <a:latin typeface="Trebuchet MS"/>
              <a:cs typeface="Trebuchet MS"/>
            </a:endParaRPr>
          </a:p>
          <a:p>
            <a:pPr marL="295910" marR="8255" indent="-283845">
              <a:lnSpc>
                <a:spcPct val="102299"/>
              </a:lnSpc>
              <a:spcBef>
                <a:spcPts val="825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Sacrificing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animal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(such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sheep,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goat,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cow,</a:t>
            </a:r>
            <a:r>
              <a:rPr dirty="0" sz="14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camel)</a:t>
            </a:r>
            <a:r>
              <a:rPr dirty="0" sz="14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remember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Ibrahim’s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(AS)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willingness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to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sacrifice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son,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Ismail</a:t>
            </a:r>
            <a:r>
              <a:rPr dirty="0" sz="14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(AS).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Importance:</a:t>
            </a:r>
            <a:endParaRPr sz="1450">
              <a:latin typeface="Trebuchet MS"/>
              <a:cs typeface="Trebuchet MS"/>
            </a:endParaRPr>
          </a:p>
          <a:p>
            <a:pPr marL="295910" marR="5080" indent="-283845">
              <a:lnSpc>
                <a:spcPct val="102099"/>
              </a:lnSpc>
              <a:spcBef>
                <a:spcPts val="830"/>
              </a:spcBef>
              <a:tabLst>
                <a:tab pos="295910" algn="l"/>
              </a:tabLst>
            </a:pPr>
            <a:r>
              <a:rPr dirty="0" sz="1150" spc="-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150">
                <a:solidFill>
                  <a:srgbClr val="90C126"/>
                </a:solidFill>
                <a:latin typeface="Georgia"/>
                <a:cs typeface="Georgia"/>
              </a:rPr>
              <a:t>	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Shows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obedience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provides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meat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poor.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017" y="1777972"/>
            <a:ext cx="3954145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265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</a:rPr>
              <a:t>Additional</a:t>
            </a:r>
            <a:r>
              <a:rPr dirty="0" u="sng" sz="2650" spc="-95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</a:rPr>
              <a:t> </a:t>
            </a:r>
            <a:r>
              <a:rPr dirty="0" u="sng" sz="265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</a:rPr>
              <a:t>Rituals</a:t>
            </a:r>
            <a:r>
              <a:rPr dirty="0" u="sng" sz="2650" spc="-85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</a:rPr>
              <a:t> </a:t>
            </a:r>
            <a:r>
              <a:rPr dirty="0" u="sng" sz="265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</a:rPr>
              <a:t>of</a:t>
            </a:r>
            <a:r>
              <a:rPr dirty="0" u="sng" sz="2650" spc="-105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</a:rPr>
              <a:t> </a:t>
            </a:r>
            <a:r>
              <a:rPr dirty="0" u="sng" sz="2650" spc="-2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</a:rPr>
              <a:t>Hajj</a:t>
            </a:r>
            <a:endParaRPr sz="2650"/>
          </a:p>
        </p:txBody>
      </p:sp>
      <p:sp>
        <p:nvSpPr>
          <p:cNvPr id="3" name="object 3" descr=""/>
          <p:cNvSpPr txBox="1"/>
          <p:nvPr/>
        </p:nvSpPr>
        <p:spPr>
          <a:xfrm>
            <a:off x="865099" y="2186144"/>
            <a:ext cx="7108190" cy="246443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Tawaf</a:t>
            </a:r>
            <a:r>
              <a:rPr dirty="0" sz="1450" spc="-5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al-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Ifadah:</a:t>
            </a:r>
            <a:endParaRPr sz="1450">
              <a:latin typeface="Trebuchet MS"/>
              <a:cs typeface="Trebuchet MS"/>
            </a:endParaRPr>
          </a:p>
          <a:p>
            <a:pPr marL="295910" marR="807720" indent="-283845">
              <a:lnSpc>
                <a:spcPct val="102800"/>
              </a:lnSpc>
              <a:spcBef>
                <a:spcPts val="81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Another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circumambulation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Kaaba</a:t>
            </a:r>
            <a:r>
              <a:rPr dirty="0" sz="1450" spc="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performed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after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main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rituals,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symbolizing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spiritual</a:t>
            </a:r>
            <a:r>
              <a:rPr dirty="0" sz="1450" spc="1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cleansing.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Halq or</a:t>
            </a:r>
            <a:r>
              <a:rPr dirty="0" sz="145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Taqsir</a:t>
            </a:r>
            <a:r>
              <a:rPr dirty="0" sz="1450" spc="4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(Shaving</a:t>
            </a:r>
            <a:r>
              <a:rPr dirty="0" sz="1450" spc="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or Trimming</a:t>
            </a:r>
            <a:r>
              <a:rPr dirty="0" sz="1450" spc="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Hair):</a:t>
            </a:r>
            <a:endParaRPr sz="1450">
              <a:latin typeface="Trebuchet MS"/>
              <a:cs typeface="Trebuchet MS"/>
            </a:endParaRPr>
          </a:p>
          <a:p>
            <a:pPr marL="295910" marR="596900" indent="-283845">
              <a:lnSpc>
                <a:spcPct val="102800"/>
              </a:lnSpc>
              <a:spcBef>
                <a:spcPts val="815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Men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shave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trim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their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hair;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women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cut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small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portion. This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act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represents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humility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renewal.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Tawaf</a:t>
            </a:r>
            <a:r>
              <a:rPr dirty="0" sz="1450" spc="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al-Wada</a:t>
            </a:r>
            <a:r>
              <a:rPr dirty="0" sz="1450" spc="-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(Farewell</a:t>
            </a:r>
            <a:r>
              <a:rPr dirty="0" sz="1450" spc="-3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3F3F3F"/>
                </a:solidFill>
                <a:latin typeface="Trebuchet MS"/>
                <a:cs typeface="Trebuchet MS"/>
              </a:rPr>
              <a:t>Tawaf):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final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circumambulation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before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leaving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Makkah,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marking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450" spc="1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conclusion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Hajj.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Chapter-2 Five Pillars of Islam - 20-Mar-2025</dc:title>
  <dcterms:created xsi:type="dcterms:W3CDTF">2025-05-02T09:46:21Z</dcterms:created>
  <dcterms:modified xsi:type="dcterms:W3CDTF">2025-05-02T09:46:21Z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2025-03-20T00:00:00Z</vt:filetime>
  </property>
  <property fmtid="{D5CDD505-2E9C-101B-9397-08002B2CF9AE}" pid="3" name="LastSaved">
    <vt:filetime>2025-05-02T00:00:00Z</vt:filetime>
  </property>
  <property fmtid="{D5CDD505-2E9C-101B-9397-08002B2CF9AE}" pid="4" name="Producer">
    <vt:lpwstr>Microsoft: Print To PDF</vt:lpwstr>
  </property>
</Properties>
</file>