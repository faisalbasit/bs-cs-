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22542" y="2000535"/>
            <a:ext cx="3938904" cy="404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7117" y="1226258"/>
            <a:ext cx="9404164" cy="6235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2452" y="1782575"/>
            <a:ext cx="8340090" cy="4695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5" name="object 5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2742682" y="5269406"/>
            <a:ext cx="3413125" cy="7816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3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2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6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871380" y="1101497"/>
            <a:ext cx="3724275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none" sz="5450">
                <a:solidFill>
                  <a:srgbClr val="90C126"/>
                </a:solidFill>
              </a:rPr>
              <a:t>3</a:t>
            </a:r>
            <a:r>
              <a:rPr dirty="0" u="none" baseline="25462" sz="5400">
                <a:solidFill>
                  <a:srgbClr val="90C126"/>
                </a:solidFill>
              </a:rPr>
              <a:t>rd</a:t>
            </a:r>
            <a:r>
              <a:rPr dirty="0" u="none" baseline="25462" sz="5400" spc="839">
                <a:solidFill>
                  <a:srgbClr val="90C126"/>
                </a:solidFill>
              </a:rPr>
              <a:t> </a:t>
            </a:r>
            <a:r>
              <a:rPr dirty="0" u="none" sz="5450" spc="-10">
                <a:solidFill>
                  <a:srgbClr val="90C126"/>
                </a:solidFill>
              </a:rPr>
              <a:t>Chapter</a:t>
            </a:r>
            <a:endParaRPr sz="5450"/>
          </a:p>
        </p:txBody>
      </p:sp>
      <p:sp>
        <p:nvSpPr>
          <p:cNvPr id="13" name="object 13" descr=""/>
          <p:cNvSpPr/>
          <p:nvPr/>
        </p:nvSpPr>
        <p:spPr>
          <a:xfrm>
            <a:off x="2909316" y="1894332"/>
            <a:ext cx="3648710" cy="67310"/>
          </a:xfrm>
          <a:custGeom>
            <a:avLst/>
            <a:gdLst/>
            <a:ahLst/>
            <a:cxnLst/>
            <a:rect l="l" t="t" r="r" b="b"/>
            <a:pathLst>
              <a:path w="3648709" h="67310">
                <a:moveTo>
                  <a:pt x="3648455" y="67055"/>
                </a:moveTo>
                <a:lnTo>
                  <a:pt x="0" y="67055"/>
                </a:lnTo>
                <a:lnTo>
                  <a:pt x="0" y="0"/>
                </a:lnTo>
                <a:lnTo>
                  <a:pt x="3648455" y="0"/>
                </a:lnTo>
                <a:lnTo>
                  <a:pt x="3648455" y="67055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37518" y="1933312"/>
            <a:ext cx="8391525" cy="29952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5"/>
              </a:spcBef>
            </a:pPr>
            <a:r>
              <a:rPr dirty="0" u="sng" sz="495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4950" spc="-6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95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Noble</a:t>
            </a:r>
            <a:r>
              <a:rPr dirty="0" u="sng" sz="4950" spc="-5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95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Quran</a:t>
            </a:r>
            <a:endParaRPr sz="49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u="sng" sz="445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Revelation/Miracles/Compilation</a:t>
            </a:r>
            <a:endParaRPr sz="4450">
              <a:latin typeface="Trebuchet MS"/>
              <a:cs typeface="Trebuchet MS"/>
            </a:endParaRPr>
          </a:p>
          <a:p>
            <a:pPr marL="2025650" marR="2357120" indent="802640">
              <a:lnSpc>
                <a:spcPct val="141200"/>
              </a:lnSpc>
              <a:spcBef>
                <a:spcPts val="869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Revelation</a:t>
            </a:r>
            <a:r>
              <a:rPr dirty="0" u="sng" sz="1650" spc="-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65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its</a:t>
            </a:r>
            <a:r>
              <a:rPr dirty="0" u="sng" sz="1650" spc="-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types</a:t>
            </a:r>
            <a:r>
              <a:rPr dirty="0" sz="1650" spc="-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Excellence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and</a:t>
            </a:r>
            <a:r>
              <a:rPr dirty="0" sz="165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Importance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650" spc="-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Quran</a:t>
            </a:r>
            <a:endParaRPr sz="1650">
              <a:latin typeface="Arial"/>
              <a:cs typeface="Arial"/>
            </a:endParaRPr>
          </a:p>
          <a:p>
            <a:pPr algn="ctr" marR="328295">
              <a:lnSpc>
                <a:spcPct val="100000"/>
              </a:lnSpc>
              <a:spcBef>
                <a:spcPts val="82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Miracle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650" spc="-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Qur'an</a:t>
            </a:r>
            <a:endParaRPr sz="1650">
              <a:latin typeface="Arial"/>
              <a:cs typeface="Arial"/>
            </a:endParaRPr>
          </a:p>
          <a:p>
            <a:pPr algn="ctr" marR="330835">
              <a:lnSpc>
                <a:spcPct val="100000"/>
              </a:lnSpc>
              <a:spcBef>
                <a:spcPts val="83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Efforts</a:t>
            </a:r>
            <a:r>
              <a:rPr dirty="0" sz="165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in</a:t>
            </a:r>
            <a:r>
              <a:rPr dirty="0" sz="165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compilation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6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Holy</a:t>
            </a:r>
            <a:r>
              <a:rPr dirty="0" sz="1650" spc="-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Quran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4674" y="1326928"/>
            <a:ext cx="433641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Revelation</a:t>
            </a:r>
            <a:r>
              <a:rPr dirty="0" sz="2950" spc="-1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and</a:t>
            </a:r>
            <a:r>
              <a:rPr dirty="0" sz="2950" spc="3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its</a:t>
            </a:r>
            <a:r>
              <a:rPr dirty="0" sz="2950" spc="1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types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4693" y="1830153"/>
            <a:ext cx="8346440" cy="390525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Revelation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Its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Types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Definition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Purpose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Forms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Types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Revelation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Direct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Speech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(Without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Intermediary)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Revelation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Through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Angel</a:t>
            </a:r>
            <a:r>
              <a:rPr dirty="0" sz="19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(Most</a:t>
            </a:r>
            <a:r>
              <a:rPr dirty="0" sz="19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Commonly</a:t>
            </a:r>
            <a:r>
              <a:rPr dirty="0" sz="19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via</a:t>
            </a:r>
            <a:r>
              <a:rPr dirty="0" sz="19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Jibreel)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Direct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Speech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(Without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Intermediary)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True</a:t>
            </a:r>
            <a:r>
              <a:rPr dirty="0" sz="19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Dreams</a:t>
            </a:r>
            <a:r>
              <a:rPr dirty="0" sz="19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(Ru’ya</a:t>
            </a:r>
            <a:r>
              <a:rPr dirty="0" sz="19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al-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Sadiqa)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Veiled</a:t>
            </a:r>
            <a:r>
              <a:rPr dirty="0" sz="19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Communication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(Behind</a:t>
            </a:r>
            <a:r>
              <a:rPr dirty="0" sz="19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9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Veil)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Revelation</a:t>
            </a:r>
            <a:r>
              <a:rPr dirty="0" sz="19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Filling</a:t>
            </a:r>
            <a:r>
              <a:rPr dirty="0" sz="19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9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Prophet’s</a:t>
            </a:r>
            <a:r>
              <a:rPr dirty="0" sz="19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Heart</a:t>
            </a:r>
            <a:r>
              <a:rPr dirty="0" sz="19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(Wahy</a:t>
            </a:r>
            <a:r>
              <a:rPr dirty="0" sz="19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al-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Qalb)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125"/>
              </a:spcBef>
            </a:pPr>
            <a:r>
              <a:rPr dirty="0" sz="2950"/>
              <a:t>Introduction</a:t>
            </a:r>
            <a:r>
              <a:rPr dirty="0" sz="2950" spc="-50"/>
              <a:t> </a:t>
            </a:r>
            <a:r>
              <a:rPr dirty="0" sz="2950"/>
              <a:t>Revelation</a:t>
            </a:r>
            <a:r>
              <a:rPr dirty="0" sz="2950" spc="-20"/>
              <a:t> </a:t>
            </a:r>
            <a:r>
              <a:rPr dirty="0" sz="2950"/>
              <a:t>and</a:t>
            </a:r>
            <a:r>
              <a:rPr dirty="0" sz="2950" spc="20"/>
              <a:t> </a:t>
            </a:r>
            <a:r>
              <a:rPr dirty="0" sz="2950"/>
              <a:t>Its</a:t>
            </a:r>
            <a:r>
              <a:rPr dirty="0" sz="2950" spc="-55"/>
              <a:t> </a:t>
            </a:r>
            <a:r>
              <a:rPr dirty="0" sz="2950" spc="-10"/>
              <a:t>Types</a:t>
            </a:r>
            <a:endParaRPr sz="2950"/>
          </a:p>
        </p:txBody>
      </p:sp>
      <p:sp>
        <p:nvSpPr>
          <p:cNvPr id="5" name="object 5" descr=""/>
          <p:cNvSpPr txBox="1"/>
          <p:nvPr/>
        </p:nvSpPr>
        <p:spPr>
          <a:xfrm>
            <a:off x="622822" y="1970132"/>
            <a:ext cx="7192645" cy="23799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19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Font typeface="Wingdings"/>
              <a:buChar char=""/>
              <a:tabLst>
                <a:tab pos="295910" algn="l"/>
              </a:tabLst>
            </a:pP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Definition</a:t>
            </a:r>
            <a:r>
              <a:rPr dirty="0" u="sng" sz="195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950" spc="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Revelation</a:t>
            </a:r>
            <a:r>
              <a:rPr dirty="0" u="sng" sz="1950" spc="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(Wahi)</a:t>
            </a:r>
            <a:r>
              <a:rPr dirty="0" sz="1950" spc="-10" b="1">
                <a:latin typeface="Arial"/>
                <a:cs typeface="Arial"/>
              </a:rPr>
              <a:t>:</a:t>
            </a:r>
            <a:endParaRPr sz="1950">
              <a:latin typeface="Arial"/>
              <a:cs typeface="Arial"/>
            </a:endParaRPr>
          </a:p>
          <a:p>
            <a:pPr marL="295910" marR="65405">
              <a:lnSpc>
                <a:spcPct val="102400"/>
              </a:lnSpc>
              <a:spcBef>
                <a:spcPts val="15"/>
              </a:spcBef>
            </a:pP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Islam,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revelation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way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communicates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guidance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messages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to </a:t>
            </a:r>
            <a:r>
              <a:rPr dirty="0" sz="1450">
                <a:latin typeface="Arial MT"/>
                <a:cs typeface="Arial MT"/>
              </a:rPr>
              <a:t>humanity.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communication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given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chosen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through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different </a:t>
            </a:r>
            <a:r>
              <a:rPr dirty="0" sz="1450">
                <a:latin typeface="Arial MT"/>
                <a:cs typeface="Arial MT"/>
              </a:rPr>
              <a:t>forms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people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may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understand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follow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commands.</a:t>
            </a:r>
            <a:endParaRPr sz="1450">
              <a:latin typeface="Arial MT"/>
              <a:cs typeface="Arial MT"/>
            </a:endParaRPr>
          </a:p>
          <a:p>
            <a:pPr marL="295910" indent="-283210">
              <a:lnSpc>
                <a:spcPct val="100000"/>
              </a:lnSpc>
              <a:spcBef>
                <a:spcPts val="845"/>
              </a:spcBef>
              <a:buClr>
                <a:srgbClr val="90C126"/>
              </a:buClr>
              <a:buSzPct val="79487"/>
              <a:buFont typeface="Wingdings"/>
              <a:buChar char=""/>
              <a:tabLst>
                <a:tab pos="295910" algn="l"/>
              </a:tabLst>
            </a:pP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Purpose</a:t>
            </a:r>
            <a:r>
              <a:rPr dirty="0" sz="1950" spc="-10">
                <a:latin typeface="Arial MT"/>
                <a:cs typeface="Arial MT"/>
              </a:rPr>
              <a:t>:</a:t>
            </a:r>
            <a:endParaRPr sz="1950">
              <a:latin typeface="Arial MT"/>
              <a:cs typeface="Arial MT"/>
            </a:endParaRPr>
          </a:p>
          <a:p>
            <a:pPr marL="295910" marR="5080">
              <a:lnSpc>
                <a:spcPct val="102800"/>
              </a:lnSpc>
              <a:spcBef>
                <a:spcPts val="5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varied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forms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revelation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were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meant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suit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different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situations,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contexts,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and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nature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messages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being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delivered.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14680">
              <a:lnSpc>
                <a:spcPct val="100000"/>
              </a:lnSpc>
              <a:spcBef>
                <a:spcPts val="135"/>
              </a:spcBef>
            </a:pPr>
            <a:r>
              <a:rPr dirty="0" sz="3600"/>
              <a:t>Forms</a:t>
            </a:r>
            <a:r>
              <a:rPr dirty="0" sz="3600" spc="-75"/>
              <a:t> </a:t>
            </a:r>
            <a:r>
              <a:rPr dirty="0" sz="3600"/>
              <a:t>and</a:t>
            </a:r>
            <a:r>
              <a:rPr dirty="0" sz="3600" spc="-135"/>
              <a:t> </a:t>
            </a:r>
            <a:r>
              <a:rPr dirty="0" sz="3600" spc="-10"/>
              <a:t>Types</a:t>
            </a:r>
            <a:r>
              <a:rPr dirty="0" sz="3600" spc="-105"/>
              <a:t> </a:t>
            </a:r>
            <a:r>
              <a:rPr dirty="0" sz="3600"/>
              <a:t>of</a:t>
            </a:r>
            <a:r>
              <a:rPr dirty="0" sz="3600" spc="-65"/>
              <a:t> </a:t>
            </a:r>
            <a:r>
              <a:rPr dirty="0" sz="3600" spc="-10"/>
              <a:t>Revelation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47140" marR="374015" indent="-855344">
              <a:lnSpc>
                <a:spcPts val="1960"/>
              </a:lnSpc>
              <a:spcBef>
                <a:spcPts val="340"/>
              </a:spcBef>
            </a:pPr>
            <a:r>
              <a:rPr dirty="0" u="none">
                <a:solidFill>
                  <a:srgbClr val="0070BF"/>
                </a:solidFill>
              </a:rPr>
              <a:t>A.</a:t>
            </a:r>
            <a:r>
              <a:rPr dirty="0" u="none" spc="-15">
                <a:solidFill>
                  <a:srgbClr val="0070BF"/>
                </a:solidFill>
              </a:rPr>
              <a:t> </a:t>
            </a:r>
            <a:r>
              <a:rPr dirty="0"/>
              <a:t>Direct Speech</a:t>
            </a:r>
            <a:r>
              <a:rPr dirty="0" spc="-15"/>
              <a:t> </a:t>
            </a:r>
            <a:r>
              <a:rPr dirty="0"/>
              <a:t>(Without</a:t>
            </a:r>
            <a:r>
              <a:rPr dirty="0" spc="20"/>
              <a:t> </a:t>
            </a:r>
            <a:r>
              <a:rPr dirty="0" spc="-25"/>
              <a:t>an</a:t>
            </a:r>
            <a:r>
              <a:rPr dirty="0" u="none" spc="-25"/>
              <a:t> </a:t>
            </a:r>
            <a:r>
              <a:rPr dirty="0" spc="-10"/>
              <a:t>Intermediary)</a:t>
            </a:r>
          </a:p>
          <a:p>
            <a:pPr marL="12700">
              <a:lnSpc>
                <a:spcPts val="1595"/>
              </a:lnSpc>
            </a:pPr>
            <a:r>
              <a:rPr dirty="0" u="none" sz="1550"/>
              <a:t>What It</a:t>
            </a:r>
            <a:r>
              <a:rPr dirty="0" u="none" sz="1550" spc="40"/>
              <a:t> </a:t>
            </a:r>
            <a:r>
              <a:rPr dirty="0" u="none" sz="1550" spc="-25"/>
              <a:t>Is:</a:t>
            </a:r>
            <a:endParaRPr sz="1550"/>
          </a:p>
          <a:p>
            <a:pPr marL="12700" marR="222250">
              <a:lnSpc>
                <a:spcPct val="92100"/>
              </a:lnSpc>
              <a:spcBef>
                <a:spcPts val="70"/>
              </a:spcBef>
            </a:pPr>
            <a:r>
              <a:rPr dirty="0" u="none" sz="1450" b="0">
                <a:latin typeface="Arial MT"/>
                <a:cs typeface="Arial MT"/>
              </a:rPr>
              <a:t>In</a:t>
            </a:r>
            <a:r>
              <a:rPr dirty="0" u="none" sz="1450" spc="3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this</a:t>
            </a:r>
            <a:r>
              <a:rPr dirty="0" u="none" sz="1450" spc="5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rare</a:t>
            </a:r>
            <a:r>
              <a:rPr dirty="0" u="none" sz="1450" spc="3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form,</a:t>
            </a:r>
            <a:r>
              <a:rPr dirty="0" u="none" sz="1450" spc="-4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Allah</a:t>
            </a:r>
            <a:r>
              <a:rPr dirty="0" u="none" sz="1450" spc="2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speaks</a:t>
            </a:r>
            <a:r>
              <a:rPr dirty="0" u="none" sz="1450" spc="1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directly</a:t>
            </a:r>
            <a:r>
              <a:rPr dirty="0" u="none" sz="1450" spc="1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to</a:t>
            </a:r>
            <a:r>
              <a:rPr dirty="0" u="none" sz="1450" spc="55" b="0">
                <a:latin typeface="Arial MT"/>
                <a:cs typeface="Arial MT"/>
              </a:rPr>
              <a:t> </a:t>
            </a:r>
            <a:r>
              <a:rPr dirty="0" u="none" sz="1450" spc="-50" b="0">
                <a:latin typeface="Arial MT"/>
                <a:cs typeface="Arial MT"/>
              </a:rPr>
              <a:t>a </a:t>
            </a:r>
            <a:r>
              <a:rPr dirty="0" u="none" sz="1450" b="0">
                <a:latin typeface="Arial MT"/>
                <a:cs typeface="Arial MT"/>
              </a:rPr>
              <a:t>prophet</a:t>
            </a:r>
            <a:r>
              <a:rPr dirty="0" u="none" sz="1450" spc="3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without</a:t>
            </a:r>
            <a:r>
              <a:rPr dirty="0" u="none" sz="1450" spc="5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any</a:t>
            </a:r>
            <a:r>
              <a:rPr dirty="0" u="none" sz="1450" spc="4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intermediary</a:t>
            </a:r>
            <a:r>
              <a:rPr dirty="0" u="none" sz="1450" spc="2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such</a:t>
            </a:r>
            <a:r>
              <a:rPr dirty="0" u="none" sz="1450" spc="5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as</a:t>
            </a:r>
            <a:r>
              <a:rPr dirty="0" u="none" sz="1450" spc="45" b="0">
                <a:latin typeface="Arial MT"/>
                <a:cs typeface="Arial MT"/>
              </a:rPr>
              <a:t> </a:t>
            </a:r>
            <a:r>
              <a:rPr dirty="0" u="none" sz="1450" spc="-25" b="0">
                <a:latin typeface="Arial MT"/>
                <a:cs typeface="Arial MT"/>
              </a:rPr>
              <a:t>an </a:t>
            </a:r>
            <a:r>
              <a:rPr dirty="0" u="none" sz="1450" spc="-10" b="0">
                <a:latin typeface="Arial MT"/>
                <a:cs typeface="Arial MT"/>
              </a:rPr>
              <a:t>angel.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630"/>
              </a:lnSpc>
            </a:pPr>
            <a:r>
              <a:rPr dirty="0" u="none" sz="1550"/>
              <a:t>Examples:</a:t>
            </a:r>
            <a:r>
              <a:rPr dirty="0" u="none" sz="1550" spc="60"/>
              <a:t> </a:t>
            </a:r>
            <a:r>
              <a:rPr dirty="0" u="none" sz="1450" b="0">
                <a:latin typeface="Arial MT"/>
                <a:cs typeface="Arial MT"/>
              </a:rPr>
              <a:t>Prophet</a:t>
            </a:r>
            <a:r>
              <a:rPr dirty="0" u="none" sz="1450" spc="4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Musa</a:t>
            </a:r>
            <a:r>
              <a:rPr dirty="0" u="none" sz="1450" spc="60" b="0">
                <a:latin typeface="Arial MT"/>
                <a:cs typeface="Arial MT"/>
              </a:rPr>
              <a:t> </a:t>
            </a:r>
            <a:r>
              <a:rPr dirty="0" u="none" sz="1450" spc="-10" b="0">
                <a:latin typeface="Arial MT"/>
                <a:cs typeface="Arial MT"/>
              </a:rPr>
              <a:t>(Moses):Allah</a:t>
            </a:r>
            <a:endParaRPr sz="1450">
              <a:latin typeface="Arial MT"/>
              <a:cs typeface="Arial MT"/>
            </a:endParaRPr>
          </a:p>
          <a:p>
            <a:pPr marL="12700" marR="361950">
              <a:lnSpc>
                <a:spcPts val="1610"/>
              </a:lnSpc>
              <a:spcBef>
                <a:spcPts val="90"/>
              </a:spcBef>
            </a:pPr>
            <a:r>
              <a:rPr dirty="0" u="none" sz="1450" b="0">
                <a:latin typeface="Arial MT"/>
                <a:cs typeface="Arial MT"/>
              </a:rPr>
              <a:t>spoke</a:t>
            </a:r>
            <a:r>
              <a:rPr dirty="0" u="none" sz="1450" spc="4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directly</a:t>
            </a:r>
            <a:r>
              <a:rPr dirty="0" u="none" sz="1450" spc="3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to</a:t>
            </a:r>
            <a:r>
              <a:rPr dirty="0" u="none" sz="1450" spc="40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Musa</a:t>
            </a:r>
            <a:r>
              <a:rPr dirty="0" u="none" sz="1450" spc="4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at</a:t>
            </a:r>
            <a:r>
              <a:rPr dirty="0" u="none" sz="1450" spc="5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Mount</a:t>
            </a:r>
            <a:r>
              <a:rPr dirty="0" u="none" sz="1450" spc="25" b="0">
                <a:latin typeface="Arial MT"/>
                <a:cs typeface="Arial MT"/>
              </a:rPr>
              <a:t> </a:t>
            </a:r>
            <a:r>
              <a:rPr dirty="0" u="none" sz="1450" b="0">
                <a:latin typeface="Arial MT"/>
                <a:cs typeface="Arial MT"/>
              </a:rPr>
              <a:t>Sinai.</a:t>
            </a:r>
            <a:r>
              <a:rPr dirty="0" u="none" sz="1450" spc="-5" b="0">
                <a:latin typeface="Arial MT"/>
                <a:cs typeface="Arial MT"/>
              </a:rPr>
              <a:t> </a:t>
            </a:r>
            <a:r>
              <a:rPr dirty="0" u="none" sz="1450" spc="-25" b="0">
                <a:latin typeface="Arial MT"/>
                <a:cs typeface="Arial MT"/>
              </a:rPr>
              <a:t>The </a:t>
            </a:r>
            <a:r>
              <a:rPr dirty="0" u="none" sz="1450" b="0">
                <a:latin typeface="Arial MT"/>
                <a:cs typeface="Arial MT"/>
              </a:rPr>
              <a:t>Quran</a:t>
            </a:r>
            <a:r>
              <a:rPr dirty="0" u="none" sz="1450" spc="40" b="0">
                <a:latin typeface="Arial MT"/>
                <a:cs typeface="Arial MT"/>
              </a:rPr>
              <a:t> </a:t>
            </a:r>
            <a:r>
              <a:rPr dirty="0" u="none" sz="1450" spc="-10" b="0">
                <a:latin typeface="Arial MT"/>
                <a:cs typeface="Arial MT"/>
              </a:rPr>
              <a:t>mentions: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 MT"/>
              <a:cs typeface="Arial MT"/>
            </a:endParaRPr>
          </a:p>
          <a:p>
            <a:pPr marL="12700" marR="954405">
              <a:lnSpc>
                <a:spcPct val="90600"/>
              </a:lnSpc>
            </a:pPr>
            <a:r>
              <a:rPr dirty="0" u="none" sz="1550"/>
              <a:t>"And</a:t>
            </a:r>
            <a:r>
              <a:rPr dirty="0" u="none" sz="1550" spc="-35"/>
              <a:t> </a:t>
            </a:r>
            <a:r>
              <a:rPr dirty="0" u="none" sz="1550"/>
              <a:t>Allah</a:t>
            </a:r>
            <a:r>
              <a:rPr dirty="0" u="none" sz="1550" spc="40"/>
              <a:t> </a:t>
            </a:r>
            <a:r>
              <a:rPr dirty="0" u="none" sz="1550"/>
              <a:t>spoke to</a:t>
            </a:r>
            <a:r>
              <a:rPr dirty="0" u="none" sz="1550" spc="15"/>
              <a:t> </a:t>
            </a:r>
            <a:r>
              <a:rPr dirty="0" u="none" sz="1550" spc="-20"/>
              <a:t>Musa </a:t>
            </a:r>
            <a:r>
              <a:rPr dirty="0" u="none" sz="1550"/>
              <a:t>directly."(Surah</a:t>
            </a:r>
            <a:r>
              <a:rPr dirty="0" u="none" sz="1550" spc="-60"/>
              <a:t> </a:t>
            </a:r>
            <a:r>
              <a:rPr dirty="0" u="none" sz="1550" spc="-10"/>
              <a:t>An-</a:t>
            </a:r>
            <a:r>
              <a:rPr dirty="0" u="none" sz="1550"/>
              <a:t>Nisa,</a:t>
            </a:r>
            <a:r>
              <a:rPr dirty="0" u="none" sz="1550" spc="25"/>
              <a:t> </a:t>
            </a:r>
            <a:r>
              <a:rPr dirty="0" u="none" sz="1550" spc="-10"/>
              <a:t>4:164) </a:t>
            </a:r>
            <a:r>
              <a:rPr dirty="0" u="none" sz="1550"/>
              <a:t>Prophet</a:t>
            </a:r>
            <a:r>
              <a:rPr dirty="0" u="none" sz="1550" spc="45"/>
              <a:t> </a:t>
            </a:r>
            <a:r>
              <a:rPr dirty="0" u="none" sz="1550"/>
              <a:t>Muhammad</a:t>
            </a:r>
            <a:r>
              <a:rPr dirty="0" u="none" sz="1550" spc="30"/>
              <a:t> </a:t>
            </a:r>
            <a:r>
              <a:rPr dirty="0" u="none" sz="1550" spc="-10"/>
              <a:t>(Mi’raj):</a:t>
            </a:r>
            <a:endParaRPr sz="1550"/>
          </a:p>
          <a:p>
            <a:pPr marL="12700" marR="5080">
              <a:lnSpc>
                <a:spcPts val="1870"/>
              </a:lnSpc>
              <a:spcBef>
                <a:spcPts val="35"/>
              </a:spcBef>
            </a:pPr>
            <a:r>
              <a:rPr dirty="0" u="none" sz="1700" b="0">
                <a:latin typeface="Arial MT"/>
                <a:cs typeface="Arial MT"/>
              </a:rPr>
              <a:t>During</a:t>
            </a:r>
            <a:r>
              <a:rPr dirty="0" u="none" sz="1700" spc="3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the</a:t>
            </a:r>
            <a:r>
              <a:rPr dirty="0" u="none" sz="1700" spc="3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Night</a:t>
            </a:r>
            <a:r>
              <a:rPr dirty="0" u="none" sz="1700" spc="50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of</a:t>
            </a:r>
            <a:r>
              <a:rPr dirty="0" u="none" sz="1700" spc="-60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Ascension</a:t>
            </a:r>
            <a:r>
              <a:rPr dirty="0" u="none" sz="1700" spc="35" b="0">
                <a:latin typeface="Arial MT"/>
                <a:cs typeface="Arial MT"/>
              </a:rPr>
              <a:t> </a:t>
            </a:r>
            <a:r>
              <a:rPr dirty="0" u="none" sz="1700" spc="-10" b="0">
                <a:latin typeface="Arial MT"/>
                <a:cs typeface="Arial MT"/>
              </a:rPr>
              <a:t>(Mi’raj), </a:t>
            </a:r>
            <a:r>
              <a:rPr dirty="0" u="none" sz="1700" b="0">
                <a:latin typeface="Arial MT"/>
                <a:cs typeface="Arial MT"/>
              </a:rPr>
              <a:t>Allah</a:t>
            </a:r>
            <a:r>
              <a:rPr dirty="0" u="none" sz="1700" spc="6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directly</a:t>
            </a:r>
            <a:r>
              <a:rPr dirty="0" u="none" sz="1700" spc="5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communicated</a:t>
            </a:r>
            <a:r>
              <a:rPr dirty="0" u="none" sz="1700" spc="70" b="0">
                <a:latin typeface="Arial MT"/>
                <a:cs typeface="Arial MT"/>
              </a:rPr>
              <a:t> </a:t>
            </a:r>
            <a:r>
              <a:rPr dirty="0" u="none" sz="1700" spc="-20" b="0">
                <a:latin typeface="Arial MT"/>
                <a:cs typeface="Arial MT"/>
              </a:rPr>
              <a:t>with </a:t>
            </a:r>
            <a:r>
              <a:rPr dirty="0" u="none" sz="1700" b="0">
                <a:latin typeface="Arial MT"/>
                <a:cs typeface="Arial MT"/>
              </a:rPr>
              <a:t>Muhammad</a:t>
            </a:r>
            <a:r>
              <a:rPr dirty="0" u="none" sz="1700" spc="4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(peace</a:t>
            </a:r>
            <a:r>
              <a:rPr dirty="0" u="none" sz="1700" spc="2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be</a:t>
            </a:r>
            <a:r>
              <a:rPr dirty="0" u="none" sz="1700" spc="4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upon</a:t>
            </a:r>
            <a:r>
              <a:rPr dirty="0" u="none" sz="1700" spc="45" b="0">
                <a:latin typeface="Arial MT"/>
                <a:cs typeface="Arial MT"/>
              </a:rPr>
              <a:t> </a:t>
            </a:r>
            <a:r>
              <a:rPr dirty="0" u="none" sz="1700" spc="-10" b="0">
                <a:latin typeface="Arial MT"/>
                <a:cs typeface="Arial MT"/>
              </a:rPr>
              <a:t>him), </a:t>
            </a:r>
            <a:r>
              <a:rPr dirty="0" u="none" sz="1700" b="0">
                <a:latin typeface="Arial MT"/>
                <a:cs typeface="Arial MT"/>
              </a:rPr>
              <a:t>including</a:t>
            </a:r>
            <a:r>
              <a:rPr dirty="0" u="none" sz="1700" spc="30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the</a:t>
            </a:r>
            <a:r>
              <a:rPr dirty="0" u="none" sz="1700" spc="3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ordainment</a:t>
            </a:r>
            <a:r>
              <a:rPr dirty="0" u="none" sz="1700" spc="50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of</a:t>
            </a:r>
            <a:r>
              <a:rPr dirty="0" u="none" sz="1700" spc="50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the</a:t>
            </a:r>
            <a:r>
              <a:rPr dirty="0" u="none" sz="1700" spc="35" b="0">
                <a:latin typeface="Arial MT"/>
                <a:cs typeface="Arial MT"/>
              </a:rPr>
              <a:t> </a:t>
            </a:r>
            <a:r>
              <a:rPr dirty="0" u="none" sz="1700" b="0">
                <a:latin typeface="Arial MT"/>
                <a:cs typeface="Arial MT"/>
              </a:rPr>
              <a:t>five</a:t>
            </a:r>
            <a:r>
              <a:rPr dirty="0" u="none" sz="1700" spc="35" b="0">
                <a:latin typeface="Arial MT"/>
                <a:cs typeface="Arial MT"/>
              </a:rPr>
              <a:t> </a:t>
            </a:r>
            <a:r>
              <a:rPr dirty="0" u="none" sz="1700" spc="-10" b="0">
                <a:latin typeface="Arial MT"/>
                <a:cs typeface="Arial MT"/>
              </a:rPr>
              <a:t>daily prayers.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46515" y="2000535"/>
            <a:ext cx="4227830" cy="30657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899160" marR="5080" indent="-855344">
              <a:lnSpc>
                <a:spcPts val="1960"/>
              </a:lnSpc>
              <a:spcBef>
                <a:spcPts val="340"/>
              </a:spcBef>
            </a:pPr>
            <a:r>
              <a:rPr dirty="0" sz="1800" b="1">
                <a:solidFill>
                  <a:srgbClr val="0070BF"/>
                </a:solidFill>
                <a:latin typeface="Arial"/>
                <a:cs typeface="Arial"/>
              </a:rPr>
              <a:t>B.</a:t>
            </a:r>
            <a:r>
              <a:rPr dirty="0" sz="180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Revelation</a:t>
            </a:r>
            <a:r>
              <a:rPr dirty="0" u="sng" sz="1800" spc="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Through</a:t>
            </a:r>
            <a:r>
              <a:rPr dirty="0" u="sng" sz="180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</a:t>
            </a:r>
            <a:r>
              <a:rPr dirty="0" u="sng" sz="1800" spc="-8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Angel</a:t>
            </a:r>
            <a:r>
              <a:rPr dirty="0" u="sng" sz="180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(Most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Commonly</a:t>
            </a:r>
            <a:r>
              <a:rPr dirty="0" u="sng" sz="180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via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Jibreel)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50"/>
              </a:lnSpc>
            </a:pPr>
            <a:r>
              <a:rPr dirty="0" sz="1650" b="1">
                <a:latin typeface="Arial"/>
                <a:cs typeface="Arial"/>
              </a:rPr>
              <a:t>1.</a:t>
            </a:r>
            <a:r>
              <a:rPr dirty="0" sz="1650" spc="42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What</a:t>
            </a:r>
            <a:r>
              <a:rPr dirty="0" sz="1650" spc="-1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It Is: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most</a:t>
            </a:r>
            <a:r>
              <a:rPr dirty="0" sz="1450" spc="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common</a:t>
            </a:r>
            <a:r>
              <a:rPr dirty="0" sz="1450" spc="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way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prophets</a:t>
            </a:r>
            <a:endParaRPr sz="1450">
              <a:latin typeface="Arial MT"/>
              <a:cs typeface="Arial MT"/>
            </a:endParaRPr>
          </a:p>
          <a:p>
            <a:pPr marL="295910" marR="40005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received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revelation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was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through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angel,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usually</a:t>
            </a:r>
            <a:r>
              <a:rPr dirty="0" sz="1450" spc="-7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Angel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Jibreel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(Gabriel).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He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is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known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as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"messenger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messengers.“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 marR="8001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entire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was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revealed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Prophet </a:t>
            </a:r>
            <a:r>
              <a:rPr dirty="0" sz="1450">
                <a:latin typeface="Arial MT"/>
                <a:cs typeface="Arial MT"/>
              </a:rPr>
              <a:t>Muhammad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(peace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him)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through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Jibreel,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indicated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verse:</a:t>
            </a:r>
            <a:endParaRPr sz="1450">
              <a:latin typeface="Arial MT"/>
              <a:cs typeface="Arial MT"/>
            </a:endParaRPr>
          </a:p>
          <a:p>
            <a:pPr marL="12700" marR="106045">
              <a:lnSpc>
                <a:spcPts val="1789"/>
              </a:lnSpc>
              <a:spcBef>
                <a:spcPts val="5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"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Say,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[O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Muhammad],</a:t>
            </a:r>
            <a:r>
              <a:rPr dirty="0" sz="1450" spc="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'Whoever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enemy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Trebuchet MS"/>
                <a:cs typeface="Trebuchet MS"/>
              </a:rPr>
              <a:t>to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Gabriel...'"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i="1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450" spc="1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i="1">
                <a:solidFill>
                  <a:srgbClr val="3F3F3F"/>
                </a:solidFill>
                <a:latin typeface="Trebuchet MS"/>
                <a:cs typeface="Trebuchet MS"/>
              </a:rPr>
              <a:t>Al-Baqarah,</a:t>
            </a:r>
            <a:r>
              <a:rPr dirty="0" sz="1450" spc="8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i="1">
                <a:solidFill>
                  <a:srgbClr val="3F3F3F"/>
                </a:solidFill>
                <a:latin typeface="Trebuchet MS"/>
                <a:cs typeface="Trebuchet MS"/>
              </a:rPr>
              <a:t>2:97)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265" rIns="0" bIns="0" rtlCol="0" vert="horz">
            <a:spAutoFit/>
          </a:bodyPr>
          <a:lstStyle/>
          <a:p>
            <a:pPr marL="1312545">
              <a:lnSpc>
                <a:spcPct val="100000"/>
              </a:lnSpc>
              <a:spcBef>
                <a:spcPts val="125"/>
              </a:spcBef>
            </a:pPr>
            <a:r>
              <a:rPr dirty="0" sz="2950"/>
              <a:t>Forms</a:t>
            </a:r>
            <a:r>
              <a:rPr dirty="0" sz="2950" spc="-35"/>
              <a:t> </a:t>
            </a:r>
            <a:r>
              <a:rPr dirty="0" sz="2950"/>
              <a:t>of</a:t>
            </a:r>
            <a:r>
              <a:rPr dirty="0" sz="2950" spc="-204"/>
              <a:t> </a:t>
            </a:r>
            <a:r>
              <a:rPr dirty="0" sz="2950"/>
              <a:t>Angelic</a:t>
            </a:r>
            <a:r>
              <a:rPr dirty="0" sz="2950" spc="-65"/>
              <a:t> </a:t>
            </a:r>
            <a:r>
              <a:rPr dirty="0" sz="2950" spc="-10"/>
              <a:t>Revelation:</a:t>
            </a:r>
            <a:endParaRPr sz="2950"/>
          </a:p>
        </p:txBody>
      </p:sp>
      <p:sp>
        <p:nvSpPr>
          <p:cNvPr id="5" name="object 5" descr=""/>
          <p:cNvSpPr txBox="1"/>
          <p:nvPr/>
        </p:nvSpPr>
        <p:spPr>
          <a:xfrm>
            <a:off x="383522" y="2173963"/>
            <a:ext cx="7658100" cy="3421379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just" marL="236854" indent="-224154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236854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As</a:t>
            </a:r>
            <a:r>
              <a:rPr dirty="0" u="sng" sz="1450" spc="2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</a:t>
            </a:r>
            <a:r>
              <a:rPr dirty="0" u="sng" sz="1450" spc="4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Human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algn="just" marL="12700" marR="5080">
              <a:lnSpc>
                <a:spcPct val="1535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Sometimes,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Jibreel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appeared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man.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example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well-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Hadith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questioned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Islam, </a:t>
            </a:r>
            <a:r>
              <a:rPr dirty="0" sz="1450">
                <a:latin typeface="Trebuchet MS"/>
                <a:cs typeface="Trebuchet MS"/>
              </a:rPr>
              <a:t>Iman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(faith),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Ihsan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(excellence).</a:t>
            </a:r>
            <a:endParaRPr sz="1450">
              <a:latin typeface="Trebuchet MS"/>
              <a:cs typeface="Trebuchet MS"/>
            </a:endParaRPr>
          </a:p>
          <a:p>
            <a:pPr algn="just" marL="246379" indent="-233679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246379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Unseen</a:t>
            </a:r>
            <a:r>
              <a:rPr dirty="0" u="sng" sz="1450" spc="8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but</a:t>
            </a:r>
            <a:r>
              <a:rPr dirty="0" u="sng" sz="1450" spc="-3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Audible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565785">
              <a:lnSpc>
                <a:spcPct val="153800"/>
              </a:lnSpc>
            </a:pPr>
            <a:r>
              <a:rPr dirty="0" sz="1450">
                <a:latin typeface="Trebuchet MS"/>
                <a:cs typeface="Trebuchet MS"/>
              </a:rPr>
              <a:t>There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times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heard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Jibreel’s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voice,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him, </a:t>
            </a:r>
            <a:r>
              <a:rPr dirty="0" sz="1450">
                <a:latin typeface="Trebuchet MS"/>
                <a:cs typeface="Trebuchet MS"/>
              </a:rPr>
              <a:t>receiving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message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sound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resonance.</a:t>
            </a:r>
            <a:endParaRPr sz="1450">
              <a:latin typeface="Trebuchet MS"/>
              <a:cs typeface="Trebuchet MS"/>
            </a:endParaRPr>
          </a:p>
          <a:p>
            <a:pPr marL="244475" indent="-231775">
              <a:lnSpc>
                <a:spcPct val="100000"/>
              </a:lnSpc>
              <a:spcBef>
                <a:spcPts val="919"/>
              </a:spcBef>
              <a:buAutoNum type="arabicPeriod" startAt="3"/>
              <a:tabLst>
                <a:tab pos="244475" algn="l"/>
              </a:tabLst>
            </a:pPr>
            <a:r>
              <a:rPr dirty="0" u="sng" sz="1450" spc="-4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True</a:t>
            </a:r>
            <a:r>
              <a:rPr dirty="0" u="sng" sz="1450" spc="-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Angelic</a:t>
            </a:r>
            <a:r>
              <a:rPr dirty="0" u="sng" sz="1450" spc="6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Form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295910">
              <a:lnSpc>
                <a:spcPct val="153800"/>
              </a:lnSpc>
            </a:pP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couple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occasions,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Jibreel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appeared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displaying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majestic </a:t>
            </a:r>
            <a:r>
              <a:rPr dirty="0" sz="1450">
                <a:latin typeface="Trebuchet MS"/>
                <a:cs typeface="Trebuchet MS"/>
              </a:rPr>
              <a:t>presence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filled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entire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horizon.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1125" y="1424470"/>
            <a:ext cx="259524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69265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C.</a:t>
            </a:r>
            <a:r>
              <a:rPr dirty="0" u="sng" sz="1650" spc="-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Direct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Speech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(Without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Intermediary)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8430" y="2151424"/>
            <a:ext cx="3898265" cy="2792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What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It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Is: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50" spc="-10">
                <a:latin typeface="Arial MT"/>
                <a:cs typeface="Arial MT"/>
              </a:rPr>
              <a:t>Sometimes,</a:t>
            </a:r>
            <a:r>
              <a:rPr dirty="0" sz="1650" spc="-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Allah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directly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fills the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heart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of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prophet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with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divine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guidance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or </a:t>
            </a:r>
            <a:r>
              <a:rPr dirty="0" sz="1650">
                <a:latin typeface="Arial MT"/>
                <a:cs typeface="Arial MT"/>
              </a:rPr>
              <a:t>knowledge.</a:t>
            </a:r>
            <a:r>
              <a:rPr dirty="0" sz="1650" spc="-8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inner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inspiration,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known </a:t>
            </a:r>
            <a:r>
              <a:rPr dirty="0" sz="1650">
                <a:latin typeface="Arial MT"/>
                <a:cs typeface="Arial MT"/>
              </a:rPr>
              <a:t>as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Ilham,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does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not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involve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any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physical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or </a:t>
            </a:r>
            <a:r>
              <a:rPr dirty="0" sz="1650">
                <a:latin typeface="Arial MT"/>
                <a:cs typeface="Arial MT"/>
              </a:rPr>
              <a:t>audible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form.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50" spc="-10" b="1">
                <a:latin typeface="Arial"/>
                <a:cs typeface="Arial"/>
              </a:rPr>
              <a:t>Examples:</a:t>
            </a:r>
            <a:endParaRPr sz="1650">
              <a:latin typeface="Arial"/>
              <a:cs typeface="Arial"/>
            </a:endParaRPr>
          </a:p>
          <a:p>
            <a:pPr marL="12700" marR="25654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mother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Prophet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Musa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received </a:t>
            </a:r>
            <a:r>
              <a:rPr dirty="0" sz="1650">
                <a:latin typeface="Arial MT"/>
                <a:cs typeface="Arial MT"/>
              </a:rPr>
              <a:t>divine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guidance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instructing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her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place </a:t>
            </a:r>
            <a:r>
              <a:rPr dirty="0" sz="1650">
                <a:latin typeface="Arial MT"/>
                <a:cs typeface="Arial MT"/>
              </a:rPr>
              <a:t>her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baby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 a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basket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river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his </a:t>
            </a:r>
            <a:r>
              <a:rPr dirty="0" sz="1650" spc="-10">
                <a:latin typeface="Arial MT"/>
                <a:cs typeface="Arial MT"/>
              </a:rPr>
              <a:t>protection.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8430" y="5168917"/>
            <a:ext cx="3865879" cy="1032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""And</a:t>
            </a:r>
            <a:r>
              <a:rPr dirty="0" sz="1650" spc="-1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We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inspired</a:t>
            </a:r>
            <a:r>
              <a:rPr dirty="0" sz="1650" spc="-8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to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mother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of </a:t>
            </a:r>
            <a:r>
              <a:rPr dirty="0" sz="1650" b="1">
                <a:latin typeface="Arial"/>
                <a:cs typeface="Arial"/>
              </a:rPr>
              <a:t>Moses,</a:t>
            </a:r>
            <a:r>
              <a:rPr dirty="0" sz="1650" spc="-8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'Suckle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him;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but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when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you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fear </a:t>
            </a:r>
            <a:r>
              <a:rPr dirty="0" sz="1650" b="1">
                <a:latin typeface="Arial"/>
                <a:cs typeface="Arial"/>
              </a:rPr>
              <a:t>for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him,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cast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him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into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the </a:t>
            </a:r>
            <a:r>
              <a:rPr dirty="0" sz="1650" spc="-20" b="1">
                <a:latin typeface="Arial"/>
                <a:cs typeface="Arial"/>
              </a:rPr>
              <a:t>river...'"(Surah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Al-</a:t>
            </a:r>
            <a:r>
              <a:rPr dirty="0" sz="1650" b="1">
                <a:latin typeface="Arial"/>
                <a:cs typeface="Arial"/>
              </a:rPr>
              <a:t>Qasas,</a:t>
            </a:r>
            <a:r>
              <a:rPr dirty="0" sz="1650" spc="8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28:7)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133899" y="1401570"/>
            <a:ext cx="168465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D.</a:t>
            </a:r>
            <a:r>
              <a:rPr dirty="0" u="sng" sz="1650" spc="-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True</a:t>
            </a:r>
            <a:r>
              <a:rPr dirty="0" u="sng" sz="165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Dreams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(Ru’ya</a:t>
            </a:r>
            <a:r>
              <a:rPr dirty="0" u="sng" sz="16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al-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Sadiqa)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67252" y="2151424"/>
            <a:ext cx="4246245" cy="4175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What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It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Is:</a:t>
            </a:r>
            <a:endParaRPr sz="1650">
              <a:latin typeface="Arial"/>
              <a:cs typeface="Arial"/>
            </a:endParaRPr>
          </a:p>
          <a:p>
            <a:pPr marL="12700" marR="67945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True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dreams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are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special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form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revelation, </a:t>
            </a:r>
            <a:r>
              <a:rPr dirty="0" sz="1650">
                <a:latin typeface="Arial MT"/>
                <a:cs typeface="Arial MT"/>
              </a:rPr>
              <a:t>different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from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regular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dreams.</a:t>
            </a:r>
            <a:r>
              <a:rPr dirty="0" sz="1650" spc="-8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They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serve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as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way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prophets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receive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important messages.</a:t>
            </a:r>
            <a:endParaRPr sz="1650">
              <a:latin typeface="Arial MT"/>
              <a:cs typeface="Arial MT"/>
            </a:endParaRPr>
          </a:p>
          <a:p>
            <a:pPr marL="12700" marR="9779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Examples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1: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u="sng" sz="16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Prophet</a:t>
            </a:r>
            <a:r>
              <a:rPr dirty="0" u="sng" sz="1650" spc="-6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Ibrahim</a:t>
            </a:r>
            <a:r>
              <a:rPr dirty="0" u="sng" sz="1650" spc="-4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(Abraham):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saw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 a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dream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 must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sacrifice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his </a:t>
            </a:r>
            <a:r>
              <a:rPr dirty="0" sz="1650">
                <a:latin typeface="Arial MT"/>
                <a:cs typeface="Arial MT"/>
              </a:rPr>
              <a:t>son,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Ismail,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 command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from</a:t>
            </a:r>
            <a:r>
              <a:rPr dirty="0" sz="1650" spc="-114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Allah. </a:t>
            </a:r>
            <a:r>
              <a:rPr dirty="0" sz="1650" b="1">
                <a:latin typeface="Arial"/>
                <a:cs typeface="Arial"/>
              </a:rPr>
              <a:t>""And</a:t>
            </a:r>
            <a:r>
              <a:rPr dirty="0" sz="1650" spc="-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when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he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reached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with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him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[the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age </a:t>
            </a:r>
            <a:r>
              <a:rPr dirty="0" sz="1650" b="1">
                <a:latin typeface="Arial"/>
                <a:cs typeface="Arial"/>
              </a:rPr>
              <a:t>of]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exertion,</a:t>
            </a:r>
            <a:r>
              <a:rPr dirty="0" sz="1650" spc="-7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he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said,</a:t>
            </a:r>
            <a:r>
              <a:rPr dirty="0" sz="1650" spc="-7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'O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my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son,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indeed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spc="-50" b="1">
                <a:latin typeface="Arial"/>
                <a:cs typeface="Arial"/>
              </a:rPr>
              <a:t>I </a:t>
            </a:r>
            <a:r>
              <a:rPr dirty="0" sz="1650" b="1">
                <a:latin typeface="Arial"/>
                <a:cs typeface="Arial"/>
              </a:rPr>
              <a:t>have</a:t>
            </a:r>
            <a:r>
              <a:rPr dirty="0" sz="1650" spc="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seen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</a:t>
            </a:r>
            <a:r>
              <a:rPr dirty="0" sz="1650" spc="-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dream...'"(Surah</a:t>
            </a:r>
            <a:r>
              <a:rPr dirty="0" sz="1650" spc="-105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As-</a:t>
            </a:r>
            <a:r>
              <a:rPr dirty="0" sz="1650" spc="-10" b="1">
                <a:latin typeface="Arial"/>
                <a:cs typeface="Arial"/>
              </a:rPr>
              <a:t>Saffat, 37:102)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ts val="1789"/>
              </a:lnSpc>
              <a:spcBef>
                <a:spcPts val="50"/>
              </a:spcBef>
            </a:pPr>
            <a:r>
              <a:rPr dirty="0" sz="1450" b="1">
                <a:latin typeface="Arial"/>
                <a:cs typeface="Arial"/>
              </a:rPr>
              <a:t>Examples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2: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Prophet</a:t>
            </a:r>
            <a:r>
              <a:rPr dirty="0" u="sng" sz="1450" spc="4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Muhammad</a:t>
            </a:r>
            <a:r>
              <a:rPr dirty="0" u="sng" sz="1450" spc="5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(peace</a:t>
            </a:r>
            <a:r>
              <a:rPr dirty="0" u="sng" sz="1450" spc="4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be</a:t>
            </a:r>
            <a:r>
              <a:rPr dirty="0" u="sng" sz="1450" spc="5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upon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u="sng" sz="145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him):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705"/>
              </a:lnSpc>
            </a:pPr>
            <a:r>
              <a:rPr dirty="0" sz="1450">
                <a:latin typeface="Arial MT"/>
                <a:cs typeface="Arial MT"/>
              </a:rPr>
              <a:t>Early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prophethood,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began</a:t>
            </a:r>
            <a:endParaRPr sz="1450">
              <a:latin typeface="Arial MT"/>
              <a:cs typeface="Arial MT"/>
            </a:endParaRPr>
          </a:p>
          <a:p>
            <a:pPr marL="12700" marR="762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receiving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true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dreams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which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were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later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followed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by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angelic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revelation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Quran.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0729" y="1328453"/>
            <a:ext cx="3876675" cy="2633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08075" marR="815975" indent="-512445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E.</a:t>
            </a:r>
            <a:r>
              <a:rPr dirty="0" sz="165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Veiled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Communication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(Behind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</a:t>
            </a:r>
            <a:r>
              <a:rPr dirty="0" u="sng" sz="16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Veil)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</a:t>
            </a:r>
            <a:r>
              <a:rPr dirty="0" u="sng" sz="16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form,</a:t>
            </a:r>
            <a:r>
              <a:rPr dirty="0" sz="1650" spc="-1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Allah’s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communication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is </a:t>
            </a:r>
            <a:r>
              <a:rPr dirty="0" sz="1650">
                <a:latin typeface="Arial MT"/>
                <a:cs typeface="Arial MT"/>
              </a:rPr>
              <a:t>delivered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way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His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presence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is </a:t>
            </a:r>
            <a:r>
              <a:rPr dirty="0" sz="1650">
                <a:latin typeface="Arial MT"/>
                <a:cs typeface="Arial MT"/>
              </a:rPr>
              <a:t>not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directly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seen,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maintaining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respectful distance.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Examples:</a:t>
            </a:r>
            <a:endParaRPr sz="1650">
              <a:latin typeface="Arial"/>
              <a:cs typeface="Arial"/>
            </a:endParaRPr>
          </a:p>
          <a:p>
            <a:pPr marL="12700" marR="7493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When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Prophet</a:t>
            </a:r>
            <a:r>
              <a:rPr dirty="0" sz="1650" spc="-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Musa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encountered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the </a:t>
            </a:r>
            <a:r>
              <a:rPr dirty="0" sz="1650">
                <a:latin typeface="Arial MT"/>
                <a:cs typeface="Arial MT"/>
              </a:rPr>
              <a:t>burning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bush,</a:t>
            </a:r>
            <a:r>
              <a:rPr dirty="0" sz="1650" spc="-1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Allah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spoke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from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behind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it.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0729" y="4187492"/>
            <a:ext cx="3431540" cy="1032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"And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when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he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came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to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it,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he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was </a:t>
            </a:r>
            <a:r>
              <a:rPr dirty="0" sz="1650" b="1">
                <a:latin typeface="Arial"/>
                <a:cs typeface="Arial"/>
              </a:rPr>
              <a:t>called,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'O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Moses,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indeed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am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your </a:t>
            </a:r>
            <a:r>
              <a:rPr dirty="0" sz="1650" b="1">
                <a:latin typeface="Arial"/>
                <a:cs typeface="Arial"/>
              </a:rPr>
              <a:t>Lord,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so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remove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your </a:t>
            </a:r>
            <a:r>
              <a:rPr dirty="0" sz="1650" spc="-10" b="1">
                <a:latin typeface="Arial"/>
                <a:cs typeface="Arial"/>
              </a:rPr>
              <a:t>sandals...'"(Surah</a:t>
            </a:r>
            <a:r>
              <a:rPr dirty="0" sz="1650" spc="20" b="1">
                <a:latin typeface="Arial"/>
                <a:cs typeface="Arial"/>
              </a:rPr>
              <a:t> </a:t>
            </a:r>
            <a:r>
              <a:rPr dirty="0" sz="1650" spc="-55" b="1">
                <a:latin typeface="Arial"/>
                <a:cs typeface="Arial"/>
              </a:rPr>
              <a:t>Ta-</a:t>
            </a:r>
            <a:r>
              <a:rPr dirty="0" sz="1650" b="1">
                <a:latin typeface="Arial"/>
                <a:cs typeface="Arial"/>
              </a:rPr>
              <a:t>Ha,</a:t>
            </a:r>
            <a:r>
              <a:rPr dirty="0" sz="1650" spc="5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20:11-12)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14911" y="1311611"/>
            <a:ext cx="4107179" cy="4159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61745" marR="149860" indent="-1249680">
              <a:lnSpc>
                <a:spcPct val="100000"/>
              </a:lnSpc>
              <a:spcBef>
                <a:spcPts val="105"/>
              </a:spcBef>
            </a:pPr>
            <a:r>
              <a:rPr dirty="0" sz="1650" spc="-80" b="1">
                <a:solidFill>
                  <a:srgbClr val="0070BF"/>
                </a:solidFill>
                <a:latin typeface="Trebuchet MS"/>
                <a:cs typeface="Trebuchet MS"/>
              </a:rPr>
              <a:t>F.</a:t>
            </a:r>
            <a:r>
              <a:rPr dirty="0" sz="1650" spc="-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Revelation</a:t>
            </a:r>
            <a:r>
              <a:rPr dirty="0" u="sng" sz="1650" spc="-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Filling</a:t>
            </a:r>
            <a:r>
              <a:rPr dirty="0" u="sng" sz="165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Prophet’s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Heart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(Wahy</a:t>
            </a:r>
            <a:r>
              <a:rPr dirty="0" u="sng" sz="1650" spc="-9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al-</a:t>
            </a:r>
            <a:r>
              <a:rPr dirty="0" u="sng" sz="16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Qalb)</a:t>
            </a:r>
            <a:endParaRPr sz="1650">
              <a:latin typeface="Trebuchet MS"/>
              <a:cs typeface="Trebuchet MS"/>
            </a:endParaRPr>
          </a:p>
          <a:p>
            <a:pPr marL="113030">
              <a:lnSpc>
                <a:spcPct val="100000"/>
              </a:lnSpc>
              <a:spcBef>
                <a:spcPts val="865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</a:t>
            </a:r>
            <a:r>
              <a:rPr dirty="0" u="sng" sz="16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Is:</a:t>
            </a:r>
            <a:endParaRPr sz="1650">
              <a:latin typeface="Arial"/>
              <a:cs typeface="Arial"/>
            </a:endParaRPr>
          </a:p>
          <a:p>
            <a:pPr marL="113030" marR="18923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type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revelation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occurs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when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the </a:t>
            </a:r>
            <a:r>
              <a:rPr dirty="0" sz="1650">
                <a:latin typeface="Arial MT"/>
                <a:cs typeface="Arial MT"/>
              </a:rPr>
              <a:t>prophet’s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heart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filled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with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divine </a:t>
            </a:r>
            <a:r>
              <a:rPr dirty="0" sz="1650">
                <a:latin typeface="Arial MT"/>
                <a:cs typeface="Arial MT"/>
              </a:rPr>
              <a:t>knowledge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guidance.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internal </a:t>
            </a:r>
            <a:r>
              <a:rPr dirty="0" sz="1650">
                <a:latin typeface="Arial MT"/>
                <a:cs typeface="Arial MT"/>
              </a:rPr>
              <a:t>experience,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not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necessarily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linked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a </a:t>
            </a:r>
            <a:r>
              <a:rPr dirty="0" sz="1650">
                <a:latin typeface="Arial MT"/>
                <a:cs typeface="Arial MT"/>
              </a:rPr>
              <a:t>spoken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word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vision.</a:t>
            </a:r>
            <a:endParaRPr sz="1650">
              <a:latin typeface="Arial MT"/>
              <a:cs typeface="Arial MT"/>
            </a:endParaRPr>
          </a:p>
          <a:p>
            <a:pPr marL="113030">
              <a:lnSpc>
                <a:spcPct val="100000"/>
              </a:lnSpc>
            </a:pP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Examples:</a:t>
            </a:r>
            <a:endParaRPr sz="1650">
              <a:latin typeface="Arial"/>
              <a:cs typeface="Arial"/>
            </a:endParaRPr>
          </a:p>
          <a:p>
            <a:pPr marL="113030" marR="508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form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linked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comprehensive </a:t>
            </a:r>
            <a:r>
              <a:rPr dirty="0" sz="1650">
                <a:latin typeface="Arial MT"/>
                <a:cs typeface="Arial MT"/>
              </a:rPr>
              <a:t>guidance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filled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Prophet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Muhammad’s </a:t>
            </a:r>
            <a:r>
              <a:rPr dirty="0" sz="1650">
                <a:latin typeface="Arial MT"/>
                <a:cs typeface="Arial MT"/>
              </a:rPr>
              <a:t>(peace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upon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him)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heart.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Even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times </a:t>
            </a:r>
            <a:r>
              <a:rPr dirty="0" sz="1650">
                <a:latin typeface="Arial MT"/>
                <a:cs typeface="Arial MT"/>
              </a:rPr>
              <a:t>when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specific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verses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were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not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being </a:t>
            </a:r>
            <a:r>
              <a:rPr dirty="0" sz="1650">
                <a:latin typeface="Arial MT"/>
                <a:cs typeface="Arial MT"/>
              </a:rPr>
              <a:t>revealed,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his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heart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was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full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divine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insight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enabled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him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lead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provide guidance.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9222" y="5664138"/>
            <a:ext cx="8465185" cy="718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100"/>
              </a:spcBef>
            </a:pP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diverse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forms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of revelation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highlight</a:t>
            </a:r>
            <a:r>
              <a:rPr dirty="0" sz="900" spc="-2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unique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ways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Allah</a:t>
            </a:r>
            <a:r>
              <a:rPr dirty="0" sz="900" spc="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chose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to</a:t>
            </a:r>
            <a:r>
              <a:rPr dirty="0" sz="900" spc="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communicate</a:t>
            </a:r>
            <a:r>
              <a:rPr dirty="0" sz="900" spc="-3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with His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prophets.</a:t>
            </a:r>
            <a:r>
              <a:rPr dirty="0" sz="900" spc="-2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Whether it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was through</a:t>
            </a:r>
            <a:r>
              <a:rPr dirty="0" sz="900" spc="-3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direct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speech,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angelic</a:t>
            </a:r>
            <a:r>
              <a:rPr dirty="0" sz="900" spc="-15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messages, </a:t>
            </a:r>
            <a:r>
              <a:rPr dirty="0" sz="900">
                <a:latin typeface="Trebuchet MS"/>
                <a:cs typeface="Trebuchet MS"/>
              </a:rPr>
              <a:t>inner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inspiration,</a:t>
            </a:r>
            <a:r>
              <a:rPr dirty="0" sz="900" spc="-4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true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dreams,</a:t>
            </a:r>
            <a:r>
              <a:rPr dirty="0" sz="900" spc="-1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veiled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communication,</a:t>
            </a:r>
            <a:r>
              <a:rPr dirty="0" sz="900" spc="-2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or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filling the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heart,</a:t>
            </a:r>
            <a:r>
              <a:rPr dirty="0" sz="900" spc="-3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each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method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was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meant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to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suit</a:t>
            </a:r>
            <a:r>
              <a:rPr dirty="0" sz="900" spc="-1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specific needs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and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circumstances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of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 </a:t>
            </a:r>
            <a:r>
              <a:rPr dirty="0" sz="900" spc="-20">
                <a:latin typeface="Trebuchet MS"/>
                <a:cs typeface="Trebuchet MS"/>
              </a:rPr>
              <a:t>time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Trebuchet MS"/>
              <a:cs typeface="Trebuchet MS"/>
            </a:endParaRPr>
          </a:p>
          <a:p>
            <a:pPr marL="12700" marR="104775">
              <a:lnSpc>
                <a:spcPct val="100000"/>
              </a:lnSpc>
              <a:spcBef>
                <a:spcPts val="5"/>
              </a:spcBef>
            </a:pPr>
            <a:r>
              <a:rPr dirty="0" sz="900">
                <a:latin typeface="Trebuchet MS"/>
                <a:cs typeface="Trebuchet MS"/>
              </a:rPr>
              <a:t>Understanding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these</a:t>
            </a:r>
            <a:r>
              <a:rPr dirty="0" sz="900" spc="-3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forms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helps</a:t>
            </a:r>
            <a:r>
              <a:rPr dirty="0" sz="900" spc="2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us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appreciate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1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depth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and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variety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of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divine</a:t>
            </a:r>
            <a:r>
              <a:rPr dirty="0" sz="900" spc="-2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communication</a:t>
            </a:r>
            <a:r>
              <a:rPr dirty="0" sz="900" spc="-1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in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Islam,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and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it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reinforces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special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role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that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prophets</a:t>
            </a:r>
            <a:r>
              <a:rPr dirty="0" sz="900" spc="-1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played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 spc="-25">
                <a:latin typeface="Trebuchet MS"/>
                <a:cs typeface="Trebuchet MS"/>
              </a:rPr>
              <a:t>in </a:t>
            </a:r>
            <a:r>
              <a:rPr dirty="0" sz="900">
                <a:latin typeface="Trebuchet MS"/>
                <a:cs typeface="Trebuchet MS"/>
              </a:rPr>
              <a:t>guiding</a:t>
            </a:r>
            <a:r>
              <a:rPr dirty="0" sz="900" spc="-15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humanity.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518" y="1073914"/>
            <a:ext cx="7233284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Excellence</a:t>
            </a:r>
            <a:r>
              <a:rPr dirty="0" sz="2950" spc="-2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and</a:t>
            </a:r>
            <a:r>
              <a:rPr dirty="0" sz="2950" spc="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Importance</a:t>
            </a:r>
            <a:r>
              <a:rPr dirty="0" sz="2950" spc="-1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of</a:t>
            </a:r>
            <a:r>
              <a:rPr dirty="0" sz="2950" spc="3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5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Quran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166" y="1518532"/>
            <a:ext cx="5984240" cy="479742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7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50" spc="4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2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2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70"/>
              </a:spcBef>
            </a:pPr>
            <a:r>
              <a:rPr dirty="0" sz="15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00" spc="9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00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r>
              <a:rPr dirty="0" sz="19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9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3F3F3F"/>
                </a:solidFill>
                <a:latin typeface="Trebuchet MS"/>
                <a:cs typeface="Trebuchet MS"/>
              </a:rPr>
              <a:t>Why</a:t>
            </a:r>
            <a:r>
              <a:rPr dirty="0" sz="19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9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9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900" spc="-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3F3F3F"/>
                </a:solidFill>
                <a:latin typeface="Trebuchet MS"/>
                <a:cs typeface="Trebuchet MS"/>
              </a:rPr>
              <a:t>Special</a:t>
            </a:r>
            <a:endParaRPr sz="19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75"/>
              </a:spcBef>
            </a:pPr>
            <a:r>
              <a:rPr dirty="0" sz="15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00" spc="10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Quranic</a:t>
            </a:r>
            <a:r>
              <a:rPr dirty="0" u="sng" sz="1900" spc="-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Verses</a:t>
            </a:r>
            <a:r>
              <a:rPr dirty="0" u="sng" sz="1900" spc="-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on</a:t>
            </a:r>
            <a:r>
              <a:rPr dirty="0" u="sng" sz="1900" spc="-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900" spc="-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Importance</a:t>
            </a:r>
            <a:r>
              <a:rPr dirty="0" u="sng" sz="1900" spc="-7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900" spc="-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900" spc="-8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Quran</a:t>
            </a:r>
            <a:endParaRPr sz="19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Guidance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Light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6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Humanity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Clear</a:t>
            </a:r>
            <a:r>
              <a:rPr dirty="0" sz="16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Evidence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4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Healing</a:t>
            </a:r>
            <a:r>
              <a:rPr dirty="0" sz="16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6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Mercy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Reminder</a:t>
            </a:r>
            <a:r>
              <a:rPr dirty="0" sz="16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6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Mankind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Protection</a:t>
            </a:r>
            <a:r>
              <a:rPr dirty="0" sz="16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6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Preservation</a:t>
            </a:r>
            <a:r>
              <a:rPr dirty="0" sz="16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6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endParaRPr sz="1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60"/>
              </a:spcBef>
            </a:pPr>
            <a:r>
              <a:rPr dirty="0" sz="15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00" spc="10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Hadiths</a:t>
            </a:r>
            <a:r>
              <a:rPr dirty="0" u="sng" sz="1900" spc="-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on</a:t>
            </a:r>
            <a:r>
              <a:rPr dirty="0" u="sng" sz="1900" spc="-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900" spc="-8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Importance</a:t>
            </a:r>
            <a:r>
              <a:rPr dirty="0" u="sng" sz="1900" spc="-7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900" spc="-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900" spc="-7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Quran</a:t>
            </a:r>
            <a:endParaRPr sz="19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45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Superiority</a:t>
            </a:r>
            <a:r>
              <a:rPr dirty="0" sz="16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6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6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Intercession</a:t>
            </a:r>
            <a:r>
              <a:rPr dirty="0" sz="16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6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6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6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Judgment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2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Elevating</a:t>
            </a:r>
            <a:r>
              <a:rPr dirty="0" sz="165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Status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Paradise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4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Reward</a:t>
            </a:r>
            <a:r>
              <a:rPr dirty="0" sz="16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Reciting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Heart’s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Illumination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30"/>
              </a:spcBef>
              <a:buClr>
                <a:srgbClr val="90C126"/>
              </a:buClr>
              <a:buSzPct val="78787"/>
              <a:buAutoNum type="alphaUcPeriod"/>
              <a:tabLst>
                <a:tab pos="814069" algn="l"/>
              </a:tabLst>
            </a:pP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Guidance</a:t>
            </a:r>
            <a:r>
              <a:rPr dirty="0" sz="16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6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Relief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6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F3F3F"/>
                </a:solidFill>
                <a:latin typeface="Trebuchet MS"/>
                <a:cs typeface="Trebuchet MS"/>
              </a:rPr>
              <a:t>Darkness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1053" y="1888930"/>
            <a:ext cx="7506970" cy="243649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39395">
              <a:lnSpc>
                <a:spcPct val="100000"/>
              </a:lnSpc>
              <a:spcBef>
                <a:spcPts val="715"/>
              </a:spcBef>
            </a:pPr>
            <a:r>
              <a:rPr dirty="0" sz="1450" spc="-10" b="1">
                <a:latin typeface="Trebuchet MS"/>
                <a:cs typeface="Trebuchet MS"/>
              </a:rPr>
              <a:t>Introduction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99"/>
              </a:lnSpc>
              <a:spcBef>
                <a:spcPts val="580"/>
              </a:spcBef>
            </a:pP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lecture,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will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explore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unique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role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Holy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lives.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 will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see </a:t>
            </a:r>
            <a:r>
              <a:rPr dirty="0" sz="1450">
                <a:latin typeface="Arial MT"/>
                <a:cs typeface="Arial MT"/>
              </a:rPr>
              <a:t>how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excellence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importance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highlighted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both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itself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sayings </a:t>
            </a:r>
            <a:r>
              <a:rPr dirty="0" sz="1450">
                <a:latin typeface="Arial MT"/>
                <a:cs typeface="Arial MT"/>
              </a:rPr>
              <a:t>(Hadith)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Muhammad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(peace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him).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only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book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of </a:t>
            </a:r>
            <a:r>
              <a:rPr dirty="0" sz="1450">
                <a:latin typeface="Arial MT"/>
                <a:cs typeface="Arial MT"/>
              </a:rPr>
              <a:t>guidance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but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also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source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light,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healing,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protection.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Arial"/>
                <a:cs typeface="Arial"/>
              </a:rPr>
              <a:t>Why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is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Special: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regarded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final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revelation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from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offering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clear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evidence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His</a:t>
            </a:r>
            <a:endParaRPr sz="1450">
              <a:latin typeface="Arial MT"/>
              <a:cs typeface="Arial MT"/>
            </a:endParaRPr>
          </a:p>
          <a:p>
            <a:pPr marL="12700" marR="126364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mercy,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wisdom,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guidance.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shapes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morals,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spirituality,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relationship </a:t>
            </a:r>
            <a:r>
              <a:rPr dirty="0" sz="1450" spc="-20">
                <a:latin typeface="Arial MT"/>
                <a:cs typeface="Arial MT"/>
              </a:rPr>
              <a:t>with </a:t>
            </a:r>
            <a:r>
              <a:rPr dirty="0" sz="1450" spc="-10">
                <a:latin typeface="Arial MT"/>
                <a:cs typeface="Arial MT"/>
              </a:rPr>
              <a:t>Allah.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762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Quranic</a:t>
            </a:r>
            <a:r>
              <a:rPr dirty="0" spc="-95"/>
              <a:t> </a:t>
            </a:r>
            <a:r>
              <a:rPr dirty="0" spc="-20"/>
              <a:t>Verses</a:t>
            </a:r>
            <a:r>
              <a:rPr dirty="0" spc="-9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z="2300"/>
              <a:t>Importance</a:t>
            </a:r>
            <a:r>
              <a:rPr dirty="0" sz="2300" spc="15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10"/>
              <a:t>Quran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258611" y="2079746"/>
            <a:ext cx="3848100" cy="2896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 b="1">
                <a:latin typeface="Arial"/>
                <a:cs typeface="Arial"/>
              </a:rPr>
              <a:t>A.</a:t>
            </a:r>
            <a:r>
              <a:rPr dirty="0" sz="1650" b="1">
                <a:latin typeface="Arial"/>
                <a:cs typeface="Arial"/>
              </a:rPr>
              <a:t>	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Guidance</a:t>
            </a:r>
            <a:r>
              <a:rPr dirty="0" u="sng" sz="1650" spc="-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650" spc="-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Light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Humanity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Quran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Verse:</a:t>
            </a:r>
            <a:endParaRPr sz="1650">
              <a:latin typeface="Arial"/>
              <a:cs typeface="Arial"/>
            </a:endParaRPr>
          </a:p>
          <a:p>
            <a:pPr marL="12700" marR="32384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"This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is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Book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about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which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there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is </a:t>
            </a:r>
            <a:r>
              <a:rPr dirty="0" sz="1650" b="1">
                <a:latin typeface="Arial"/>
                <a:cs typeface="Arial"/>
              </a:rPr>
              <a:t>no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doubt,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guidance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for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those </a:t>
            </a:r>
            <a:r>
              <a:rPr dirty="0" sz="1650" b="1">
                <a:latin typeface="Arial"/>
                <a:cs typeface="Arial"/>
              </a:rPr>
              <a:t>conscious</a:t>
            </a:r>
            <a:r>
              <a:rPr dirty="0" sz="1650" spc="-8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of</a:t>
            </a:r>
            <a:r>
              <a:rPr dirty="0" sz="1650" spc="-12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Allah."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(Surah</a:t>
            </a:r>
            <a:r>
              <a:rPr dirty="0" sz="1650" spc="-114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Al-</a:t>
            </a:r>
            <a:r>
              <a:rPr dirty="0" sz="1650" b="1">
                <a:latin typeface="Arial"/>
                <a:cs typeface="Arial"/>
              </a:rPr>
              <a:t>Baqarah,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2:2)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5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verse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reminds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Quran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a </a:t>
            </a:r>
            <a:r>
              <a:rPr dirty="0" sz="1650">
                <a:latin typeface="Arial MT"/>
                <a:cs typeface="Arial MT"/>
              </a:rPr>
              <a:t>clear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source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guidance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all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believers, </a:t>
            </a:r>
            <a:r>
              <a:rPr dirty="0" sz="1650">
                <a:latin typeface="Arial MT"/>
                <a:cs typeface="Arial MT"/>
              </a:rPr>
              <a:t>leading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path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righteousness.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44007" y="2078164"/>
            <a:ext cx="213106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B.</a:t>
            </a:r>
            <a:r>
              <a:rPr dirty="0" sz="1950" spc="-1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Clear</a:t>
            </a:r>
            <a:r>
              <a:rPr dirty="0" u="sng" sz="19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Evidence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44038" y="2712223"/>
            <a:ext cx="3683635" cy="208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Quran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Verse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5"/>
              </a:spcBef>
            </a:pPr>
            <a:r>
              <a:rPr dirty="0" sz="1450" b="1">
                <a:latin typeface="Arial"/>
                <a:cs typeface="Arial"/>
              </a:rPr>
              <a:t>"O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mankind,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there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has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come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to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</a:t>
            </a:r>
            <a:r>
              <a:rPr dirty="0" sz="1450" spc="90" b="1">
                <a:latin typeface="Arial"/>
                <a:cs typeface="Arial"/>
              </a:rPr>
              <a:t> </a:t>
            </a:r>
            <a:r>
              <a:rPr dirty="0" sz="1450" spc="-50" b="1">
                <a:latin typeface="Arial"/>
                <a:cs typeface="Arial"/>
              </a:rPr>
              <a:t>a </a:t>
            </a:r>
            <a:r>
              <a:rPr dirty="0" sz="1450" b="1">
                <a:latin typeface="Arial"/>
                <a:cs typeface="Arial"/>
              </a:rPr>
              <a:t>conclusive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proof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from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your</a:t>
            </a:r>
            <a:r>
              <a:rPr dirty="0" sz="1450" spc="9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Lord,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and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we </a:t>
            </a:r>
            <a:r>
              <a:rPr dirty="0" sz="1450" b="1">
                <a:latin typeface="Arial"/>
                <a:cs typeface="Arial"/>
              </a:rPr>
              <a:t>have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sent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down</a:t>
            </a:r>
            <a:r>
              <a:rPr dirty="0" sz="1450" spc="-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to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clear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light." </a:t>
            </a:r>
            <a:r>
              <a:rPr dirty="0" sz="1450" b="1">
                <a:latin typeface="Arial"/>
                <a:cs typeface="Arial"/>
              </a:rPr>
              <a:t>(Surah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An-</a:t>
            </a:r>
            <a:r>
              <a:rPr dirty="0" sz="1450" b="1">
                <a:latin typeface="Arial"/>
                <a:cs typeface="Arial"/>
              </a:rPr>
              <a:t>Nisa,</a:t>
            </a:r>
            <a:r>
              <a:rPr dirty="0" sz="1450" spc="14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4:174)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450">
              <a:latin typeface="Arial"/>
              <a:cs typeface="Arial"/>
            </a:endParaRPr>
          </a:p>
          <a:p>
            <a:pPr marL="12700" marR="333375">
              <a:lnSpc>
                <a:spcPct val="102400"/>
              </a:lnSpc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acts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undeniable </a:t>
            </a:r>
            <a:r>
              <a:rPr dirty="0" sz="1450" spc="-10">
                <a:latin typeface="Arial MT"/>
                <a:cs typeface="Arial MT"/>
              </a:rPr>
              <a:t>evidence </a:t>
            </a:r>
            <a:r>
              <a:rPr dirty="0" sz="1450">
                <a:latin typeface="Arial MT"/>
                <a:cs typeface="Arial MT"/>
              </a:rPr>
              <a:t>from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Allah,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illuminating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truth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for </a:t>
            </a:r>
            <a:r>
              <a:rPr dirty="0" sz="1450" spc="-10">
                <a:latin typeface="Arial MT"/>
                <a:cs typeface="Arial MT"/>
              </a:rPr>
              <a:t>everyone.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6901" y="1200391"/>
            <a:ext cx="256540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none" sz="1950">
                <a:latin typeface="Arial"/>
                <a:cs typeface="Arial"/>
              </a:rPr>
              <a:t>C.</a:t>
            </a:r>
            <a:r>
              <a:rPr dirty="0" u="none" sz="1950" spc="45">
                <a:latin typeface="Arial"/>
                <a:cs typeface="Arial"/>
              </a:rPr>
              <a:t>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Healing</a:t>
            </a:r>
            <a:r>
              <a:rPr dirty="0" u="sng" sz="1950" spc="1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950" spc="3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2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Mercy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497" y="1592945"/>
            <a:ext cx="3894454" cy="137477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650" b="1">
                <a:latin typeface="Arial"/>
                <a:cs typeface="Arial"/>
              </a:rPr>
              <a:t>Quran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Verse: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60"/>
              </a:spcBef>
            </a:pPr>
            <a:r>
              <a:rPr dirty="0" sz="1650" b="1">
                <a:latin typeface="Arial"/>
                <a:cs typeface="Arial"/>
              </a:rPr>
              <a:t>""And</a:t>
            </a:r>
            <a:r>
              <a:rPr dirty="0" sz="1650" spc="-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we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send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down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from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Quran </a:t>
            </a:r>
            <a:r>
              <a:rPr dirty="0" sz="1650" b="1">
                <a:latin typeface="Arial"/>
                <a:cs typeface="Arial"/>
              </a:rPr>
              <a:t>that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which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is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healing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and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mercy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for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the </a:t>
            </a:r>
            <a:r>
              <a:rPr dirty="0" sz="1650" spc="-10" b="1">
                <a:latin typeface="Arial"/>
                <a:cs typeface="Arial"/>
              </a:rPr>
              <a:t>believers..."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(Surah</a:t>
            </a:r>
            <a:r>
              <a:rPr dirty="0" sz="1650" spc="-100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Al-</a:t>
            </a:r>
            <a:r>
              <a:rPr dirty="0" sz="1650" b="1">
                <a:latin typeface="Arial"/>
                <a:cs typeface="Arial"/>
              </a:rPr>
              <a:t>Isra,</a:t>
            </a:r>
            <a:r>
              <a:rPr dirty="0" sz="1650" spc="-10" b="1">
                <a:latin typeface="Arial"/>
                <a:cs typeface="Arial"/>
              </a:rPr>
              <a:t> 17:82)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497" y="3192307"/>
            <a:ext cx="3390900" cy="781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verse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explains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how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Quran </a:t>
            </a:r>
            <a:r>
              <a:rPr dirty="0" sz="1650">
                <a:latin typeface="Arial MT"/>
                <a:cs typeface="Arial MT"/>
              </a:rPr>
              <a:t>provides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spiritual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healing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shows </a:t>
            </a:r>
            <a:r>
              <a:rPr dirty="0" sz="1650">
                <a:latin typeface="Arial MT"/>
                <a:cs typeface="Arial MT"/>
              </a:rPr>
              <a:t>Allah's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mercy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all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who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believe.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38690" y="1038240"/>
            <a:ext cx="4058920" cy="182880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649605">
              <a:lnSpc>
                <a:spcPct val="100000"/>
              </a:lnSpc>
              <a:spcBef>
                <a:spcPts val="1405"/>
              </a:spcBef>
            </a:pP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D.</a:t>
            </a:r>
            <a:r>
              <a:rPr dirty="0" sz="1950" spc="-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Reminder</a:t>
            </a:r>
            <a:r>
              <a:rPr dirty="0" u="sng" sz="195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1950" spc="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Mankind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b="1">
                <a:latin typeface="Arial"/>
                <a:cs typeface="Arial"/>
              </a:rPr>
              <a:t>Quran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Verse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2400"/>
              </a:lnSpc>
              <a:spcBef>
                <a:spcPts val="365"/>
              </a:spcBef>
            </a:pPr>
            <a:r>
              <a:rPr dirty="0" sz="1450" b="1">
                <a:latin typeface="Arial"/>
                <a:cs typeface="Arial"/>
              </a:rPr>
              <a:t>"Indeed,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we have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sent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down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to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</a:t>
            </a:r>
            <a:r>
              <a:rPr dirty="0" sz="1450" spc="9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Book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in </a:t>
            </a:r>
            <a:r>
              <a:rPr dirty="0" sz="1450" b="1">
                <a:latin typeface="Arial"/>
                <a:cs typeface="Arial"/>
              </a:rPr>
              <a:t>which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is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your</a:t>
            </a:r>
            <a:r>
              <a:rPr dirty="0" sz="1450" spc="9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mention.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Then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will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</a:t>
            </a:r>
            <a:r>
              <a:rPr dirty="0" sz="1450" spc="105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not </a:t>
            </a:r>
            <a:r>
              <a:rPr dirty="0" sz="1450" spc="-10" b="1">
                <a:latin typeface="Arial"/>
                <a:cs typeface="Arial"/>
              </a:rPr>
              <a:t>reason?"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Arial"/>
                <a:cs typeface="Arial"/>
              </a:rPr>
              <a:t>(Surah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Al-</a:t>
            </a:r>
            <a:r>
              <a:rPr dirty="0" sz="1450" b="1">
                <a:latin typeface="Arial"/>
                <a:cs typeface="Arial"/>
              </a:rPr>
              <a:t>Anbiya,</a:t>
            </a:r>
            <a:r>
              <a:rPr dirty="0" sz="1450" spc="16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21:10)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138690" y="3067301"/>
            <a:ext cx="3896995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reminder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existence,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our </a:t>
            </a:r>
            <a:r>
              <a:rPr dirty="0" sz="1450">
                <a:latin typeface="Arial MT"/>
                <a:cs typeface="Arial MT"/>
              </a:rPr>
              <a:t>duties,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purpose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life,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prompting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to </a:t>
            </a:r>
            <a:r>
              <a:rPr dirty="0" sz="1450">
                <a:latin typeface="Arial MT"/>
                <a:cs typeface="Arial MT"/>
              </a:rPr>
              <a:t>think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reflect.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13152" y="4028302"/>
            <a:ext cx="5482590" cy="205613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414655">
              <a:lnSpc>
                <a:spcPct val="100000"/>
              </a:lnSpc>
              <a:spcBef>
                <a:spcPts val="1405"/>
              </a:spcBef>
            </a:pP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E.</a:t>
            </a:r>
            <a:r>
              <a:rPr dirty="0" sz="195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Protection</a:t>
            </a:r>
            <a:r>
              <a:rPr dirty="0" u="sng" sz="1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950" spc="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Preservation</a:t>
            </a:r>
            <a:r>
              <a:rPr dirty="0" u="sng" sz="1950" spc="8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by</a:t>
            </a:r>
            <a:r>
              <a:rPr dirty="0" u="sng" sz="19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Allah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b="1">
                <a:latin typeface="Arial"/>
                <a:cs typeface="Arial"/>
              </a:rPr>
              <a:t>Quran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Verse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840864" marR="80010" indent="-1713230">
              <a:lnSpc>
                <a:spcPct val="102099"/>
              </a:lnSpc>
              <a:spcBef>
                <a:spcPts val="370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"Indeed,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it</a:t>
            </a:r>
            <a:r>
              <a:rPr dirty="0" sz="1450" spc="6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we</a:t>
            </a:r>
            <a:r>
              <a:rPr dirty="0" sz="1450" spc="4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who</a:t>
            </a:r>
            <a:r>
              <a:rPr dirty="0" sz="1450" spc="1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sent</a:t>
            </a:r>
            <a:r>
              <a:rPr dirty="0" sz="1450" spc="6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down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Quran,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and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indeed,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We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will</a:t>
            </a:r>
            <a:r>
              <a:rPr dirty="0" sz="1450" spc="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be</a:t>
            </a:r>
            <a:r>
              <a:rPr dirty="0" sz="1450" spc="4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its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guardian."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(Surah</a:t>
            </a:r>
            <a:r>
              <a:rPr dirty="0" sz="1450" spc="-4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Arial"/>
                <a:cs typeface="Arial"/>
              </a:rPr>
              <a:t>Al-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Hijr,</a:t>
            </a:r>
            <a:r>
              <a:rPr dirty="0" sz="1450" spc="114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Arial"/>
                <a:cs typeface="Arial"/>
              </a:rPr>
              <a:t>15:9)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789"/>
              </a:lnSpc>
              <a:spcBef>
                <a:spcPts val="55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This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verse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assures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us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that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Allah</a:t>
            </a:r>
            <a:r>
              <a:rPr dirty="0" sz="1450" spc="9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protects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Quran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from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any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alteration,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preserving</a:t>
            </a:r>
            <a:r>
              <a:rPr dirty="0" sz="1450" spc="6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its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original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message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for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all</a:t>
            </a:r>
            <a:r>
              <a:rPr dirty="0" sz="1450" spc="7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time.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93" y="1310134"/>
            <a:ext cx="7074534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/>
              <a:t>Hadiths</a:t>
            </a:r>
            <a:r>
              <a:rPr dirty="0" sz="2950" spc="-10"/>
              <a:t> </a:t>
            </a:r>
            <a:r>
              <a:rPr dirty="0" sz="2950"/>
              <a:t>on</a:t>
            </a:r>
            <a:r>
              <a:rPr dirty="0" sz="2950" spc="-5"/>
              <a:t> </a:t>
            </a:r>
            <a:r>
              <a:rPr dirty="0" sz="2950"/>
              <a:t>the</a:t>
            </a:r>
            <a:r>
              <a:rPr dirty="0" sz="2950" spc="10"/>
              <a:t> </a:t>
            </a:r>
            <a:r>
              <a:rPr dirty="0" sz="2950"/>
              <a:t>Importance</a:t>
            </a:r>
            <a:r>
              <a:rPr dirty="0" sz="2950" spc="-20"/>
              <a:t> </a:t>
            </a:r>
            <a:r>
              <a:rPr dirty="0" sz="2950"/>
              <a:t>of</a:t>
            </a:r>
            <a:r>
              <a:rPr dirty="0" sz="2950" spc="-5"/>
              <a:t> </a:t>
            </a:r>
            <a:r>
              <a:rPr dirty="0" sz="2950"/>
              <a:t>the</a:t>
            </a:r>
            <a:r>
              <a:rPr dirty="0" sz="2950" spc="10"/>
              <a:t> </a:t>
            </a:r>
            <a:r>
              <a:rPr dirty="0" sz="2950" spc="-10"/>
              <a:t>Quran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273809" y="2141447"/>
            <a:ext cx="3695700" cy="293497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368935">
              <a:lnSpc>
                <a:spcPct val="100000"/>
              </a:lnSpc>
              <a:spcBef>
                <a:spcPts val="1405"/>
              </a:spcBef>
            </a:pP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A.</a:t>
            </a:r>
            <a:r>
              <a:rPr dirty="0" sz="195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Superiority</a:t>
            </a:r>
            <a:r>
              <a:rPr dirty="0" u="sng" sz="1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95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Quran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spc="-10" b="1">
                <a:latin typeface="Arial"/>
                <a:cs typeface="Arial"/>
              </a:rPr>
              <a:t>Hadith:</a:t>
            </a:r>
            <a:endParaRPr sz="1650">
              <a:latin typeface="Arial"/>
              <a:cs typeface="Arial"/>
            </a:endParaRPr>
          </a:p>
          <a:p>
            <a:pPr marL="12700" marR="207645">
              <a:lnSpc>
                <a:spcPct val="100000"/>
              </a:lnSpc>
              <a:spcBef>
                <a:spcPts val="360"/>
              </a:spcBef>
            </a:pP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Prophet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Muhammad</a:t>
            </a:r>
            <a:r>
              <a:rPr dirty="0" sz="1650" spc="-8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(peace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be </a:t>
            </a:r>
            <a:r>
              <a:rPr dirty="0" sz="1650" b="1">
                <a:latin typeface="Arial"/>
                <a:cs typeface="Arial"/>
              </a:rPr>
              <a:t>upon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him)</a:t>
            </a:r>
            <a:r>
              <a:rPr dirty="0" sz="1650" spc="-75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said: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"The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best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of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you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are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those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who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learn </a:t>
            </a: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Quran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and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teach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it."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(Sahih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al-Bukhari)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650">
              <a:latin typeface="Arial"/>
              <a:cs typeface="Arial"/>
            </a:endParaRPr>
          </a:p>
          <a:p>
            <a:pPr marL="12700" marR="8001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express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those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who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study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and </a:t>
            </a:r>
            <a:r>
              <a:rPr dirty="0" sz="1650">
                <a:latin typeface="Arial MT"/>
                <a:cs typeface="Arial MT"/>
              </a:rPr>
              <a:t>share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Quran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are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held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 high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honor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97535" y="2152767"/>
            <a:ext cx="4224655" cy="34531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7175" marR="364490" indent="-1120140">
              <a:lnSpc>
                <a:spcPct val="152300"/>
              </a:lnSpc>
              <a:spcBef>
                <a:spcPts val="95"/>
              </a:spcBef>
            </a:pP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B.</a:t>
            </a:r>
            <a:r>
              <a:rPr dirty="0" sz="1950" spc="-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Intercession</a:t>
            </a:r>
            <a:r>
              <a:rPr dirty="0" u="sng" sz="1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950" spc="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Day</a:t>
            </a:r>
            <a:r>
              <a:rPr dirty="0" u="sng" sz="1950" spc="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sz="1950" spc="-25" b="1"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Judgment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spc="-10" b="1">
                <a:latin typeface="Arial"/>
                <a:cs typeface="Arial"/>
              </a:rPr>
              <a:t>Hadith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 marR="167640">
              <a:lnSpc>
                <a:spcPct val="100000"/>
              </a:lnSpc>
              <a:spcBef>
                <a:spcPts val="359"/>
              </a:spcBef>
            </a:pP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Prophet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Muhammad</a:t>
            </a:r>
            <a:r>
              <a:rPr dirty="0" sz="1650" spc="-7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(peace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be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upon </a:t>
            </a:r>
            <a:r>
              <a:rPr dirty="0" sz="1650" b="1">
                <a:latin typeface="Arial"/>
                <a:cs typeface="Arial"/>
              </a:rPr>
              <a:t>him)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said:</a:t>
            </a:r>
            <a:endParaRPr sz="1650">
              <a:latin typeface="Arial"/>
              <a:cs typeface="Arial"/>
            </a:endParaRPr>
          </a:p>
          <a:p>
            <a:pPr algn="just" marL="12700" marR="902969">
              <a:lnSpc>
                <a:spcPct val="102400"/>
              </a:lnSpc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"Recite</a:t>
            </a:r>
            <a:r>
              <a:rPr dirty="0" sz="1450" spc="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Quran,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for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it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will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come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as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an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intercessor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for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its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reciters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on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Day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35">
                <a:solidFill>
                  <a:srgbClr val="3F3F3F"/>
                </a:solidFill>
                <a:latin typeface="Arial MT"/>
                <a:cs typeface="Arial MT"/>
              </a:rPr>
              <a:t>of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Resurrection."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(Sahih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Muslim)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Quran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will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advocate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for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its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readers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on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Day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Judgment,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highlighting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its</a:t>
            </a:r>
            <a:r>
              <a:rPr dirty="0" sz="1450" spc="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role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as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protector</a:t>
            </a:r>
            <a:r>
              <a:rPr dirty="0" sz="1450" spc="50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helper.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539" y="1265912"/>
            <a:ext cx="3552190" cy="314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1900">
                <a:latin typeface="Arial"/>
                <a:cs typeface="Arial"/>
              </a:rPr>
              <a:t>C.</a:t>
            </a:r>
            <a:r>
              <a:rPr dirty="0" u="none" sz="1900" spc="-55">
                <a:latin typeface="Arial"/>
                <a:cs typeface="Arial"/>
              </a:rPr>
              <a:t> </a:t>
            </a:r>
            <a:r>
              <a:rPr dirty="0" u="sng" sz="19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Elevating</a:t>
            </a:r>
            <a:r>
              <a:rPr dirty="0" u="sng" sz="1900" spc="-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Status</a:t>
            </a:r>
            <a:r>
              <a:rPr dirty="0" u="sng" sz="1900" spc="-6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1900" spc="-7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Paradise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52452" y="1793263"/>
            <a:ext cx="3938904" cy="3610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10" b="1">
                <a:latin typeface="Arial"/>
                <a:cs typeface="Arial"/>
              </a:rPr>
              <a:t>Hadith:</a:t>
            </a:r>
            <a:endParaRPr sz="1550">
              <a:latin typeface="Arial"/>
              <a:cs typeface="Arial"/>
            </a:endParaRPr>
          </a:p>
          <a:p>
            <a:pPr marL="12700" marR="267335">
              <a:lnSpc>
                <a:spcPct val="101299"/>
              </a:lnSpc>
            </a:pP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Prophet</a:t>
            </a:r>
            <a:r>
              <a:rPr dirty="0" sz="1550" spc="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Muhammad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(peace</a:t>
            </a:r>
            <a:r>
              <a:rPr dirty="0" sz="1550" spc="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be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upon </a:t>
            </a:r>
            <a:r>
              <a:rPr dirty="0" sz="1550">
                <a:latin typeface="Arial MT"/>
                <a:cs typeface="Arial MT"/>
              </a:rPr>
              <a:t>him)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said: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550">
              <a:latin typeface="Arial MT"/>
              <a:cs typeface="Arial MT"/>
            </a:endParaRPr>
          </a:p>
          <a:p>
            <a:pPr marL="12700" marR="5080">
              <a:lnSpc>
                <a:spcPct val="101000"/>
              </a:lnSpc>
            </a:pPr>
            <a:r>
              <a:rPr dirty="0" sz="1550" b="1">
                <a:latin typeface="Arial"/>
                <a:cs typeface="Arial"/>
              </a:rPr>
              <a:t>"It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will</a:t>
            </a:r>
            <a:r>
              <a:rPr dirty="0" sz="1550" spc="-1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be</a:t>
            </a:r>
            <a:r>
              <a:rPr dirty="0" sz="1550" spc="2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said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to</a:t>
            </a:r>
            <a:r>
              <a:rPr dirty="0" sz="1550" spc="2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the</a:t>
            </a:r>
            <a:r>
              <a:rPr dirty="0" sz="1550" spc="2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companion</a:t>
            </a:r>
            <a:r>
              <a:rPr dirty="0" sz="1550" spc="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of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the </a:t>
            </a:r>
            <a:r>
              <a:rPr dirty="0" sz="1550" b="1">
                <a:latin typeface="Arial"/>
                <a:cs typeface="Arial"/>
              </a:rPr>
              <a:t>Quran</a:t>
            </a:r>
            <a:r>
              <a:rPr dirty="0" sz="1550" spc="1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(one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who memorizes</a:t>
            </a:r>
            <a:r>
              <a:rPr dirty="0" sz="1550" spc="2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or</a:t>
            </a:r>
            <a:r>
              <a:rPr dirty="0" sz="1550" spc="40" b="1">
                <a:latin typeface="Arial"/>
                <a:cs typeface="Arial"/>
              </a:rPr>
              <a:t> </a:t>
            </a:r>
            <a:r>
              <a:rPr dirty="0" sz="1550" spc="-10" b="1">
                <a:latin typeface="Arial"/>
                <a:cs typeface="Arial"/>
              </a:rPr>
              <a:t>frequently </a:t>
            </a:r>
            <a:r>
              <a:rPr dirty="0" sz="1550" b="1">
                <a:latin typeface="Arial"/>
                <a:cs typeface="Arial"/>
              </a:rPr>
              <a:t>recites</a:t>
            </a:r>
            <a:r>
              <a:rPr dirty="0" sz="1550" spc="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the</a:t>
            </a:r>
            <a:r>
              <a:rPr dirty="0" sz="1550" spc="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Quran),</a:t>
            </a:r>
            <a:r>
              <a:rPr dirty="0" sz="1550" spc="1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'Recite</a:t>
            </a:r>
            <a:r>
              <a:rPr dirty="0" sz="1550" spc="4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and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ascend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(in </a:t>
            </a:r>
            <a:r>
              <a:rPr dirty="0" sz="1550" b="1">
                <a:latin typeface="Arial"/>
                <a:cs typeface="Arial"/>
              </a:rPr>
              <a:t>ranks),</a:t>
            </a:r>
            <a:r>
              <a:rPr dirty="0" sz="1550" spc="1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as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you</a:t>
            </a:r>
            <a:r>
              <a:rPr dirty="0" sz="1550" spc="6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used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to</a:t>
            </a:r>
            <a:r>
              <a:rPr dirty="0" sz="1550" spc="2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recite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when</a:t>
            </a:r>
            <a:r>
              <a:rPr dirty="0" sz="1550" spc="-5" b="1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you </a:t>
            </a:r>
            <a:r>
              <a:rPr dirty="0" sz="1550" b="1">
                <a:latin typeface="Arial"/>
                <a:cs typeface="Arial"/>
              </a:rPr>
              <a:t>were</a:t>
            </a:r>
            <a:r>
              <a:rPr dirty="0" sz="1550" spc="-2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in</a:t>
            </a:r>
            <a:r>
              <a:rPr dirty="0" sz="1550" spc="2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the</a:t>
            </a:r>
            <a:r>
              <a:rPr dirty="0" sz="1550" spc="-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world.</a:t>
            </a:r>
            <a:r>
              <a:rPr dirty="0" sz="1550" spc="-5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Your</a:t>
            </a:r>
            <a:r>
              <a:rPr dirty="0" sz="1550" spc="1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rank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will</a:t>
            </a:r>
            <a:r>
              <a:rPr dirty="0" sz="1550" spc="-2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be</a:t>
            </a:r>
            <a:r>
              <a:rPr dirty="0" sz="1550" spc="1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at</a:t>
            </a:r>
            <a:r>
              <a:rPr dirty="0" sz="1550" spc="15" b="1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the </a:t>
            </a:r>
            <a:r>
              <a:rPr dirty="0" sz="1550" b="1">
                <a:latin typeface="Arial"/>
                <a:cs typeface="Arial"/>
              </a:rPr>
              <a:t>last verse</a:t>
            </a:r>
            <a:r>
              <a:rPr dirty="0" sz="1550" spc="5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you</a:t>
            </a:r>
            <a:r>
              <a:rPr dirty="0" sz="1550" spc="25" b="1">
                <a:latin typeface="Arial"/>
                <a:cs typeface="Arial"/>
              </a:rPr>
              <a:t> </a:t>
            </a:r>
            <a:r>
              <a:rPr dirty="0" sz="1550" spc="-10" b="1">
                <a:latin typeface="Arial"/>
                <a:cs typeface="Arial"/>
              </a:rPr>
              <a:t>recite.'"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550" b="1">
                <a:latin typeface="Arial"/>
                <a:cs typeface="Arial"/>
              </a:rPr>
              <a:t>(Sunan</a:t>
            </a:r>
            <a:r>
              <a:rPr dirty="0" sz="1550" spc="-6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Abu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spc="-10" b="1">
                <a:latin typeface="Arial"/>
                <a:cs typeface="Arial"/>
              </a:rPr>
              <a:t>Dawood)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550">
              <a:latin typeface="Arial"/>
              <a:cs typeface="Arial"/>
            </a:endParaRPr>
          </a:p>
          <a:p>
            <a:pPr marL="12700" marR="357505">
              <a:lnSpc>
                <a:spcPct val="101000"/>
              </a:lnSpc>
              <a:spcBef>
                <a:spcPts val="5"/>
              </a:spcBef>
            </a:pPr>
            <a:r>
              <a:rPr dirty="0" sz="1550">
                <a:latin typeface="Arial MT"/>
                <a:cs typeface="Arial MT"/>
              </a:rPr>
              <a:t>This</a:t>
            </a:r>
            <a:r>
              <a:rPr dirty="0" sz="1550" spc="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hadith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shows</a:t>
            </a:r>
            <a:r>
              <a:rPr dirty="0" sz="1550" spc="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more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 spc="-25">
                <a:latin typeface="Arial MT"/>
                <a:cs typeface="Arial MT"/>
              </a:rPr>
              <a:t>one </a:t>
            </a:r>
            <a:r>
              <a:rPr dirty="0" sz="1550">
                <a:latin typeface="Arial MT"/>
                <a:cs typeface="Arial MT"/>
              </a:rPr>
              <a:t>engages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with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Quran,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higher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their </a:t>
            </a:r>
            <a:r>
              <a:rPr dirty="0" sz="1550">
                <a:latin typeface="Arial MT"/>
                <a:cs typeface="Arial MT"/>
              </a:rPr>
              <a:t>status</a:t>
            </a:r>
            <a:r>
              <a:rPr dirty="0" sz="1550" spc="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</a:t>
            </a:r>
            <a:r>
              <a:rPr dirty="0" sz="1550" spc="1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Paradise.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16070" y="1311628"/>
            <a:ext cx="248221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b="1">
                <a:solidFill>
                  <a:srgbClr val="0070BF"/>
                </a:solidFill>
                <a:latin typeface="Arial"/>
                <a:cs typeface="Arial"/>
              </a:rPr>
              <a:t>D.</a:t>
            </a:r>
            <a:r>
              <a:rPr dirty="0" sz="1800" spc="-8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Reward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180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Reciting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27666" y="1918211"/>
            <a:ext cx="4117975" cy="3070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latin typeface="Arial"/>
                <a:cs typeface="Arial"/>
              </a:rPr>
              <a:t>Hadith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 marR="6096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Prophet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Muhammad</a:t>
            </a:r>
            <a:r>
              <a:rPr dirty="0" sz="1650" spc="-7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(peace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be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upon </a:t>
            </a:r>
            <a:r>
              <a:rPr dirty="0" sz="1650" b="1">
                <a:latin typeface="Arial"/>
                <a:cs typeface="Arial"/>
              </a:rPr>
              <a:t>him)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said: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2400"/>
              </a:lnSpc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"Whoever</a:t>
            </a:r>
            <a:r>
              <a:rPr dirty="0" sz="1450" spc="4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recites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letter</a:t>
            </a:r>
            <a:r>
              <a:rPr dirty="0" sz="1450" spc="6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from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Book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of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Allah</a:t>
            </a:r>
            <a:r>
              <a:rPr dirty="0" sz="1450" spc="9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will</a:t>
            </a:r>
            <a:r>
              <a:rPr dirty="0" sz="1450" spc="2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receive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good</a:t>
            </a:r>
            <a:r>
              <a:rPr dirty="0" sz="1450" spc="1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deed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as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ten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times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its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like.</a:t>
            </a:r>
            <a:r>
              <a:rPr dirty="0" sz="1450" spc="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do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not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say</a:t>
            </a:r>
            <a:r>
              <a:rPr dirty="0" sz="1450" spc="4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that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Alif-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Laam-Meem</a:t>
            </a:r>
            <a:r>
              <a:rPr dirty="0" sz="1450" spc="8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dirty="0" sz="1450" spc="4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3F3F3F"/>
                </a:solidFill>
                <a:latin typeface="Arial"/>
                <a:cs typeface="Arial"/>
              </a:rPr>
              <a:t>a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letter,</a:t>
            </a:r>
            <a:r>
              <a:rPr dirty="0" sz="1450" spc="1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but</a:t>
            </a:r>
            <a:r>
              <a:rPr dirty="0" sz="1450" spc="-5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Alif</a:t>
            </a:r>
            <a:r>
              <a:rPr dirty="0" sz="1450" spc="4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dirty="0" sz="1450" spc="1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dirty="0" sz="1450" spc="-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letter, Laam</a:t>
            </a:r>
            <a:r>
              <a:rPr dirty="0" sz="1450" spc="-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is a</a:t>
            </a:r>
            <a:r>
              <a:rPr dirty="0" sz="1450" spc="-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letter, 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and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Meem</a:t>
            </a:r>
            <a:r>
              <a:rPr dirty="0" sz="1450" spc="2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is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dirty="0" sz="1450" spc="2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letter."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(Sunan</a:t>
            </a:r>
            <a:r>
              <a:rPr dirty="0" sz="1450" spc="3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At-Tirmidhi)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50">
              <a:latin typeface="Arial"/>
              <a:cs typeface="Arial"/>
            </a:endParaRPr>
          </a:p>
          <a:p>
            <a:pPr marL="12700" marR="288290">
              <a:lnSpc>
                <a:spcPct val="102800"/>
              </a:lnSpc>
              <a:spcBef>
                <a:spcPts val="5"/>
              </a:spcBef>
            </a:pP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This</a:t>
            </a:r>
            <a:r>
              <a:rPr dirty="0" sz="1450" spc="6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encourages</a:t>
            </a:r>
            <a:r>
              <a:rPr dirty="0" sz="1450" spc="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us</a:t>
            </a:r>
            <a:r>
              <a:rPr dirty="0" sz="1450" spc="4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dirty="0" sz="1450" spc="4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recite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the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Quran,</a:t>
            </a:r>
            <a:r>
              <a:rPr dirty="0" sz="1450" spc="3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Arial"/>
                <a:cs typeface="Arial"/>
              </a:rPr>
              <a:t>as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every</a:t>
            </a:r>
            <a:r>
              <a:rPr dirty="0" sz="1450" spc="6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letter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brings</a:t>
            </a:r>
            <a:r>
              <a:rPr dirty="0" sz="1450" spc="45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3F3F3F"/>
                </a:solidFill>
                <a:latin typeface="Arial"/>
                <a:cs typeface="Arial"/>
              </a:rPr>
              <a:t>immense</a:t>
            </a:r>
            <a:r>
              <a:rPr dirty="0" sz="1450" spc="50" b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rewards.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7583" y="1180624"/>
            <a:ext cx="265811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none" sz="1950">
                <a:latin typeface="Arial"/>
                <a:cs typeface="Arial"/>
              </a:rPr>
              <a:t>E.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Heart’s</a:t>
            </a:r>
            <a:r>
              <a:rPr dirty="0" u="sng" sz="1950" spc="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Illumination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1415" y="1684999"/>
            <a:ext cx="3854450" cy="730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880"/>
              </a:lnSpc>
              <a:spcBef>
                <a:spcPts val="105"/>
              </a:spcBef>
            </a:pPr>
            <a:r>
              <a:rPr dirty="0" sz="1650" spc="-10" b="1">
                <a:latin typeface="Arial"/>
                <a:cs typeface="Arial"/>
              </a:rPr>
              <a:t>Hadith: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ts val="1789"/>
              </a:lnSpc>
              <a:spcBef>
                <a:spcPts val="114"/>
              </a:spcBef>
            </a:pP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Prophet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Muhammad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(peace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upon </a:t>
            </a:r>
            <a:r>
              <a:rPr dirty="0" sz="1650">
                <a:latin typeface="Arial MT"/>
                <a:cs typeface="Arial MT"/>
              </a:rPr>
              <a:t>him)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said: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415" y="2590328"/>
            <a:ext cx="3698875" cy="73088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05"/>
              </a:spcBef>
            </a:pPr>
            <a:r>
              <a:rPr dirty="0" sz="1650" spc="-10" b="1">
                <a:latin typeface="Arial"/>
                <a:cs typeface="Arial"/>
              </a:rPr>
              <a:t>""Indeed,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one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who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does</a:t>
            </a:r>
            <a:r>
              <a:rPr dirty="0" sz="1650" spc="-4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not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have </a:t>
            </a:r>
            <a:r>
              <a:rPr dirty="0" sz="1650" b="1">
                <a:latin typeface="Arial"/>
                <a:cs typeface="Arial"/>
              </a:rPr>
              <a:t>anything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of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Quran</a:t>
            </a:r>
            <a:r>
              <a:rPr dirty="0" sz="1650" spc="-6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his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heart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is </a:t>
            </a:r>
            <a:r>
              <a:rPr dirty="0" sz="1650" b="1">
                <a:latin typeface="Arial"/>
                <a:cs typeface="Arial"/>
              </a:rPr>
              <a:t>like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ruined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house."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1415" y="3495556"/>
            <a:ext cx="196723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(Sunan</a:t>
            </a:r>
            <a:r>
              <a:rPr dirty="0" sz="1650" spc="-95" b="1">
                <a:latin typeface="Arial"/>
                <a:cs typeface="Arial"/>
              </a:rPr>
              <a:t> </a:t>
            </a:r>
            <a:r>
              <a:rPr dirty="0" sz="1650" spc="-25" b="1">
                <a:latin typeface="Arial"/>
                <a:cs typeface="Arial"/>
              </a:rPr>
              <a:t>At-</a:t>
            </a:r>
            <a:r>
              <a:rPr dirty="0" sz="1650" spc="-10" b="1">
                <a:latin typeface="Arial"/>
                <a:cs typeface="Arial"/>
              </a:rPr>
              <a:t>Tirmidhi)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1415" y="3948221"/>
            <a:ext cx="3867785" cy="73088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05"/>
              </a:spcBef>
            </a:pP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emphasizes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heart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filled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with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Quran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 like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well-maintained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home, </a:t>
            </a:r>
            <a:r>
              <a:rPr dirty="0" sz="1650">
                <a:latin typeface="Arial MT"/>
                <a:cs typeface="Arial MT"/>
              </a:rPr>
              <a:t>full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light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life.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96632" y="1162329"/>
            <a:ext cx="4062095" cy="135382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562100" marR="279400" indent="-1077595">
              <a:lnSpc>
                <a:spcPts val="2140"/>
              </a:lnSpc>
              <a:spcBef>
                <a:spcPts val="365"/>
              </a:spcBef>
            </a:pPr>
            <a:r>
              <a:rPr dirty="0" sz="1950" spc="-105" b="1">
                <a:solidFill>
                  <a:srgbClr val="0070BF"/>
                </a:solidFill>
                <a:latin typeface="Arial"/>
                <a:cs typeface="Arial"/>
              </a:rPr>
              <a:t>F.</a:t>
            </a:r>
            <a:r>
              <a:rPr dirty="0" sz="1950" spc="-1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Guidance</a:t>
            </a:r>
            <a:r>
              <a:rPr dirty="0" u="sng" sz="1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950" spc="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Relief</a:t>
            </a:r>
            <a:r>
              <a:rPr dirty="0" u="sng" sz="1950" spc="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from</a:t>
            </a:r>
            <a:r>
              <a:rPr dirty="0" sz="1950" spc="-20" b="1"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Darkness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ts val="1950"/>
              </a:lnSpc>
            </a:pPr>
            <a:r>
              <a:rPr dirty="0" sz="1650" spc="-10" b="1">
                <a:latin typeface="Arial"/>
                <a:cs typeface="Arial"/>
              </a:rPr>
              <a:t>Hadith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50" b="1">
                <a:latin typeface="Arial"/>
                <a:cs typeface="Arial"/>
              </a:rPr>
              <a:t>The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Prophet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Muhammad</a:t>
            </a:r>
            <a:r>
              <a:rPr dirty="0" sz="1650" spc="-7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(peace</a:t>
            </a:r>
            <a:r>
              <a:rPr dirty="0" sz="1650" spc="-6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be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upon </a:t>
            </a:r>
            <a:r>
              <a:rPr dirty="0" sz="1650" b="1">
                <a:latin typeface="Arial"/>
                <a:cs typeface="Arial"/>
              </a:rPr>
              <a:t>him)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said: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96638" y="2742682"/>
            <a:ext cx="4160520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latin typeface="Arial"/>
                <a:cs typeface="Arial"/>
              </a:rPr>
              <a:t>""I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leave</a:t>
            </a:r>
            <a:r>
              <a:rPr dirty="0" sz="1450" spc="8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behind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two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things: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and </a:t>
            </a:r>
            <a:r>
              <a:rPr dirty="0" sz="1450" b="1">
                <a:latin typeface="Arial"/>
                <a:cs typeface="Arial"/>
              </a:rPr>
              <a:t>my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Sunnah,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and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if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</a:t>
            </a:r>
            <a:r>
              <a:rPr dirty="0" sz="1450" spc="8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follow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these,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you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will </a:t>
            </a:r>
            <a:r>
              <a:rPr dirty="0" sz="1450" b="1">
                <a:latin typeface="Arial"/>
                <a:cs typeface="Arial"/>
              </a:rPr>
              <a:t>never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go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astray."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96638" y="3647979"/>
            <a:ext cx="142875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Arial"/>
                <a:cs typeface="Arial"/>
              </a:rPr>
              <a:t>(Muwatta</a:t>
            </a:r>
            <a:r>
              <a:rPr dirty="0" sz="1450" spc="7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Malik)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96638" y="4100581"/>
            <a:ext cx="4230370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latin typeface="Arial"/>
                <a:cs typeface="Arial"/>
              </a:rPr>
              <a:t>Following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and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Prophet’s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Sunnah </a:t>
            </a:r>
            <a:r>
              <a:rPr dirty="0" sz="1450" b="1">
                <a:latin typeface="Arial"/>
                <a:cs typeface="Arial"/>
              </a:rPr>
              <a:t>ensures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that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we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are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guided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correctly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and </a:t>
            </a:r>
            <a:r>
              <a:rPr dirty="0" sz="1450" b="1">
                <a:latin typeface="Arial"/>
                <a:cs typeface="Arial"/>
              </a:rPr>
              <a:t>protected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from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errors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of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life.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8873" y="5022579"/>
            <a:ext cx="8324850" cy="1610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Hadith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highlight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Quran’s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unmatched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excellence.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guide,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source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light, </a:t>
            </a:r>
            <a:r>
              <a:rPr dirty="0" sz="1450">
                <a:latin typeface="Arial MT"/>
                <a:cs typeface="Arial MT"/>
              </a:rPr>
              <a:t>healing,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protection,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carries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immense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rewards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those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read,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memorize,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it.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only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directs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daily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lives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but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also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offers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spiritual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intercession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elevates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our </a:t>
            </a:r>
            <a:r>
              <a:rPr dirty="0" sz="1450">
                <a:latin typeface="Arial MT"/>
                <a:cs typeface="Arial MT"/>
              </a:rPr>
              <a:t>status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hereafter.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Arial MT"/>
                <a:cs typeface="Arial MT"/>
              </a:rPr>
              <a:t>Embracing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teachings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brings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closer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Allah,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fills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hearts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wisdom,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and</a:t>
            </a:r>
            <a:endParaRPr sz="1450">
              <a:latin typeface="Arial MT"/>
              <a:cs typeface="Arial MT"/>
            </a:endParaRPr>
          </a:p>
          <a:p>
            <a:pPr marL="12700" marR="12065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prepares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eternal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life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Paradise. Let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strive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learn,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reflect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share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divine </a:t>
            </a:r>
            <a:r>
              <a:rPr dirty="0" sz="1450">
                <a:latin typeface="Arial MT"/>
                <a:cs typeface="Arial MT"/>
              </a:rPr>
              <a:t>message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contained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Holy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Quran.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518" y="1072437"/>
            <a:ext cx="3764279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Miracle</a:t>
            </a:r>
            <a:r>
              <a:rPr dirty="0" sz="2950" spc="-3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of</a:t>
            </a:r>
            <a:r>
              <a:rPr dirty="0" sz="2950" spc="3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2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Qur'an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077" y="1517824"/>
            <a:ext cx="8352155" cy="420687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624840" marR="5080" indent="-234950">
              <a:lnSpc>
                <a:spcPct val="100400"/>
              </a:lnSpc>
              <a:spcBef>
                <a:spcPts val="84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Usefulness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Miracle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Qur'an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Proof</a:t>
            </a:r>
            <a:r>
              <a:rPr dirty="0" sz="19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Divine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Origin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50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Source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Guidance</a:t>
            </a:r>
            <a:r>
              <a:rPr dirty="0" sz="19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9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Strong</a:t>
            </a:r>
            <a:r>
              <a:rPr dirty="0" sz="19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belief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Inspiration</a:t>
            </a:r>
            <a:r>
              <a:rPr dirty="0" sz="19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Reflection</a:t>
            </a:r>
            <a:r>
              <a:rPr dirty="0" sz="19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9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Study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Preservation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9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Arabic</a:t>
            </a:r>
            <a:r>
              <a:rPr dirty="0" sz="19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Language</a:t>
            </a:r>
            <a:r>
              <a:rPr dirty="0" sz="19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9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Culture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Moral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9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Motivation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50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Evidence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Prophethood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487"/>
              <a:buAutoNum type="alphaUcPeriod"/>
              <a:tabLst>
                <a:tab pos="814069" algn="l"/>
              </a:tabLst>
            </a:pP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Scientific</a:t>
            </a:r>
            <a:r>
              <a:rPr dirty="0" sz="19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I'jaz</a:t>
            </a:r>
            <a:r>
              <a:rPr dirty="0" sz="19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9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Encouragement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9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Knowledge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7410" y="1255242"/>
            <a:ext cx="6956425" cy="830580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309370" marR="5080" indent="-1297305">
              <a:lnSpc>
                <a:spcPts val="3170"/>
              </a:lnSpc>
              <a:spcBef>
                <a:spcPts val="195"/>
              </a:spcBef>
            </a:pPr>
            <a:r>
              <a:rPr dirty="0"/>
              <a:t>Introduction</a:t>
            </a:r>
            <a:r>
              <a:rPr dirty="0" spc="-125"/>
              <a:t> </a:t>
            </a:r>
            <a:r>
              <a:rPr dirty="0"/>
              <a:t>and</a:t>
            </a:r>
            <a:r>
              <a:rPr dirty="0" spc="-105"/>
              <a:t> </a:t>
            </a:r>
            <a:r>
              <a:rPr dirty="0"/>
              <a:t>Importance</a:t>
            </a:r>
            <a:r>
              <a:rPr dirty="0" spc="-13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Usefulness</a:t>
            </a:r>
            <a:r>
              <a:rPr dirty="0" u="none" spc="-1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Miracle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10"/>
              <a:t>Qur'an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33812" y="1933358"/>
            <a:ext cx="7769859" cy="148082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844"/>
              </a:spcBef>
            </a:pP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this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topic,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will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discuss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miracle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Qur'an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(I'jaz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al-Qur'an).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This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concept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highlights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Qur'an's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divine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origin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unique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qualities that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human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replicate.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serves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as </a:t>
            </a:r>
            <a:r>
              <a:rPr dirty="0" sz="1450">
                <a:latin typeface="Arial MT"/>
                <a:cs typeface="Arial MT"/>
              </a:rPr>
              <a:t>strong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evidence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-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Allah’s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revelation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Muhammad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(peace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him)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and </a:t>
            </a:r>
            <a:r>
              <a:rPr dirty="0" sz="1450">
                <a:latin typeface="Arial MT"/>
                <a:cs typeface="Arial MT"/>
              </a:rPr>
              <a:t>strengthens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faith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believers.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6151" y="3318907"/>
            <a:ext cx="2961005" cy="284226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300" b="1">
                <a:solidFill>
                  <a:srgbClr val="0070BF"/>
                </a:solidFill>
                <a:latin typeface="Arial"/>
                <a:cs typeface="Arial"/>
              </a:rPr>
              <a:t>A.</a:t>
            </a:r>
            <a:r>
              <a:rPr dirty="0" sz="13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Proof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Divine</a:t>
            </a:r>
            <a:r>
              <a:rPr dirty="0" u="sng" sz="180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Origin</a:t>
            </a:r>
            <a:endParaRPr sz="1800">
              <a:latin typeface="Arial"/>
              <a:cs typeface="Arial"/>
            </a:endParaRPr>
          </a:p>
          <a:p>
            <a:pPr marL="12700" marR="178435">
              <a:lnSpc>
                <a:spcPct val="80000"/>
              </a:lnSpc>
              <a:spcBef>
                <a:spcPts val="1055"/>
              </a:spcBef>
            </a:pP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miracle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Qur'an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shows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50">
                <a:latin typeface="Arial MT"/>
                <a:cs typeface="Arial MT"/>
              </a:rPr>
              <a:t>a </a:t>
            </a:r>
            <a:r>
              <a:rPr dirty="0" sz="1150">
                <a:latin typeface="Arial MT"/>
                <a:cs typeface="Arial MT"/>
              </a:rPr>
              <a:t>divine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revelation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from</a:t>
            </a:r>
            <a:r>
              <a:rPr dirty="0" sz="1150" spc="-8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Allah.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Its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language, </a:t>
            </a:r>
            <a:r>
              <a:rPr dirty="0" sz="1150">
                <a:latin typeface="Arial MT"/>
                <a:cs typeface="Arial MT"/>
              </a:rPr>
              <a:t>wisdom,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structure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are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unmatched.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240"/>
              </a:lnSpc>
              <a:spcBef>
                <a:spcPts val="840"/>
              </a:spcBef>
            </a:pPr>
            <a:r>
              <a:rPr dirty="0" sz="1150" b="1">
                <a:latin typeface="Arial"/>
                <a:cs typeface="Arial"/>
              </a:rPr>
              <a:t>Qur'anic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Challenge:</a:t>
            </a:r>
            <a:endParaRPr sz="1150">
              <a:latin typeface="Arial"/>
              <a:cs typeface="Arial"/>
            </a:endParaRPr>
          </a:p>
          <a:p>
            <a:pPr marL="12700" marR="144780">
              <a:lnSpc>
                <a:spcPct val="80300"/>
              </a:lnSpc>
              <a:spcBef>
                <a:spcPts val="135"/>
              </a:spcBef>
            </a:pPr>
            <a:r>
              <a:rPr dirty="0" sz="1150" b="1">
                <a:latin typeface="Arial"/>
                <a:cs typeface="Arial"/>
              </a:rPr>
              <a:t>Allah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challenges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doubters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by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saying: </a:t>
            </a:r>
            <a:r>
              <a:rPr dirty="0" sz="1150" b="1">
                <a:latin typeface="Arial"/>
                <a:cs typeface="Arial"/>
              </a:rPr>
              <a:t>“And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if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you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are in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doubt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about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what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We </a:t>
            </a:r>
            <a:r>
              <a:rPr dirty="0" sz="1150" b="1">
                <a:latin typeface="Arial"/>
                <a:cs typeface="Arial"/>
              </a:rPr>
              <a:t>have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sent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down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upon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Our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Servant,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then </a:t>
            </a:r>
            <a:r>
              <a:rPr dirty="0" sz="1150" b="1">
                <a:latin typeface="Arial"/>
                <a:cs typeface="Arial"/>
              </a:rPr>
              <a:t>produce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surah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like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thereof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call </a:t>
            </a:r>
            <a:r>
              <a:rPr dirty="0" sz="1150" b="1">
                <a:latin typeface="Arial"/>
                <a:cs typeface="Arial"/>
              </a:rPr>
              <a:t>upon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your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witnesses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other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than</a:t>
            </a:r>
            <a:r>
              <a:rPr dirty="0" sz="1150" spc="-8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Allah,</a:t>
            </a:r>
            <a:r>
              <a:rPr dirty="0" sz="1150" spc="-25" b="1">
                <a:latin typeface="Arial"/>
                <a:cs typeface="Arial"/>
              </a:rPr>
              <a:t> if </a:t>
            </a:r>
            <a:r>
              <a:rPr dirty="0" sz="1150" b="1">
                <a:latin typeface="Arial"/>
                <a:cs typeface="Arial"/>
              </a:rPr>
              <a:t>you should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be</a:t>
            </a:r>
            <a:r>
              <a:rPr dirty="0" sz="1150" spc="-10" b="1">
                <a:latin typeface="Arial"/>
                <a:cs typeface="Arial"/>
              </a:rPr>
              <a:t> truthful.”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980"/>
              </a:lnSpc>
            </a:pPr>
            <a:r>
              <a:rPr dirty="0" sz="1150" b="1">
                <a:latin typeface="Arial"/>
                <a:cs typeface="Arial"/>
              </a:rPr>
              <a:t>(Surah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Al-</a:t>
            </a:r>
            <a:r>
              <a:rPr dirty="0" sz="1150" b="1">
                <a:latin typeface="Arial"/>
                <a:cs typeface="Arial"/>
              </a:rPr>
              <a:t>Baqarah,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2:23)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110"/>
              </a:lnSpc>
            </a:pPr>
            <a:r>
              <a:rPr dirty="0" sz="1150" spc="-10">
                <a:latin typeface="Arial MT"/>
                <a:cs typeface="Arial MT"/>
              </a:rPr>
              <a:t>Explanation: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80000"/>
              </a:lnSpc>
              <a:spcBef>
                <a:spcPts val="145"/>
              </a:spcBef>
            </a:pPr>
            <a:r>
              <a:rPr dirty="0" sz="1150">
                <a:latin typeface="Arial MT"/>
                <a:cs typeface="Arial MT"/>
              </a:rPr>
              <a:t>This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challenge,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which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remains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unmet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for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over </a:t>
            </a:r>
            <a:r>
              <a:rPr dirty="0" sz="1150">
                <a:latin typeface="Arial MT"/>
                <a:cs typeface="Arial MT"/>
              </a:rPr>
              <a:t>1400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years,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confirms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Qur'an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is </a:t>
            </a:r>
            <a:r>
              <a:rPr dirty="0" sz="1150">
                <a:latin typeface="Arial MT"/>
                <a:cs typeface="Arial MT"/>
              </a:rPr>
              <a:t>beyond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human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ability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truly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from</a:t>
            </a:r>
            <a:r>
              <a:rPr dirty="0" sz="1150" spc="-9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Allah.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61153" y="3527588"/>
            <a:ext cx="2706370" cy="629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8309" marR="5080" indent="-436245">
              <a:lnSpc>
                <a:spcPct val="101499"/>
              </a:lnSpc>
              <a:spcBef>
                <a:spcPts val="95"/>
              </a:spcBef>
            </a:pPr>
            <a:r>
              <a:rPr dirty="0" sz="1900" b="1">
                <a:solidFill>
                  <a:srgbClr val="0070BF"/>
                </a:solidFill>
                <a:latin typeface="Arial"/>
                <a:cs typeface="Arial"/>
              </a:rPr>
              <a:t>B.</a:t>
            </a:r>
            <a:r>
              <a:rPr dirty="0" sz="19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Source of</a:t>
            </a:r>
            <a:r>
              <a:rPr dirty="0" u="sng" sz="1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Guidance</a:t>
            </a:r>
            <a:r>
              <a:rPr dirty="0" sz="1950" spc="-10" b="1"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Conviction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13328" y="4373348"/>
            <a:ext cx="2856230" cy="1609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1295">
              <a:lnSpc>
                <a:spcPct val="100400"/>
              </a:lnSpc>
              <a:spcBef>
                <a:spcPts val="95"/>
              </a:spcBef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miraculous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nature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of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Qur'an </a:t>
            </a:r>
            <a:r>
              <a:rPr dirty="0" sz="1150" b="1">
                <a:latin typeface="Arial"/>
                <a:cs typeface="Arial"/>
              </a:rPr>
              <a:t>reinforces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belief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conviction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of </a:t>
            </a:r>
            <a:r>
              <a:rPr dirty="0" sz="1150" spc="-10" b="1">
                <a:latin typeface="Arial"/>
                <a:cs typeface="Arial"/>
              </a:rPr>
              <a:t>Muslims.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 spc="-10" b="1">
                <a:latin typeface="Arial"/>
                <a:cs typeface="Arial"/>
              </a:rPr>
              <a:t>Explanation: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Arial"/>
                <a:cs typeface="Arial"/>
              </a:rPr>
              <a:t>Knowing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that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Qur'an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is a</a:t>
            </a:r>
            <a:r>
              <a:rPr dirty="0" sz="1150" spc="-10" b="1">
                <a:latin typeface="Arial"/>
                <a:cs typeface="Arial"/>
              </a:rPr>
              <a:t> divine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0299"/>
              </a:lnSpc>
              <a:spcBef>
                <a:spcPts val="10"/>
              </a:spcBef>
            </a:pPr>
            <a:r>
              <a:rPr dirty="0" sz="1150" b="1">
                <a:latin typeface="Arial"/>
                <a:cs typeface="Arial"/>
              </a:rPr>
              <a:t>miracle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helps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believers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appreciate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its </a:t>
            </a:r>
            <a:r>
              <a:rPr dirty="0" sz="1150" b="1">
                <a:latin typeface="Arial"/>
                <a:cs typeface="Arial"/>
              </a:rPr>
              <a:t>guidance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and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encourages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them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to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follow </a:t>
            </a:r>
            <a:r>
              <a:rPr dirty="0" sz="1150" b="1">
                <a:latin typeface="Arial"/>
                <a:cs typeface="Arial"/>
              </a:rPr>
              <a:t>its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teachings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sincerely,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knowing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that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its </a:t>
            </a:r>
            <a:r>
              <a:rPr dirty="0" sz="1150" b="1">
                <a:latin typeface="Arial"/>
                <a:cs typeface="Arial"/>
              </a:rPr>
              <a:t>wisdom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comes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directly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from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Allah.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765" y="1491509"/>
            <a:ext cx="3833495" cy="6292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68450" marR="5080" indent="-1556385">
              <a:lnSpc>
                <a:spcPct val="101499"/>
              </a:lnSpc>
              <a:spcBef>
                <a:spcPts val="95"/>
              </a:spcBef>
            </a:pPr>
            <a:r>
              <a:rPr dirty="0" u="none" sz="1950">
                <a:latin typeface="Arial"/>
                <a:cs typeface="Arial"/>
              </a:rPr>
              <a:t>C.</a:t>
            </a:r>
            <a:r>
              <a:rPr dirty="0" u="none" sz="1950" spc="55">
                <a:latin typeface="Arial"/>
                <a:cs typeface="Arial"/>
              </a:rPr>
              <a:t>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Inspiration</a:t>
            </a:r>
            <a:r>
              <a:rPr dirty="0" u="sng" sz="1950" spc="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1950" spc="6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Reflection</a:t>
            </a:r>
            <a:r>
              <a:rPr dirty="0" u="sng" sz="1950" spc="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none" sz="195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u="sng" sz="195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Study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7293" y="2347936"/>
            <a:ext cx="3834765" cy="2566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1877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miracle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Qur'an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inspires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both </a:t>
            </a:r>
            <a:r>
              <a:rPr dirty="0" sz="1450">
                <a:latin typeface="Arial MT"/>
                <a:cs typeface="Arial MT"/>
              </a:rPr>
              <a:t>scholars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ordinary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people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study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and </a:t>
            </a:r>
            <a:r>
              <a:rPr dirty="0" sz="1450">
                <a:latin typeface="Arial MT"/>
                <a:cs typeface="Arial MT"/>
              </a:rPr>
              <a:t>reflect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verses.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50" spc="-10" b="1">
                <a:latin typeface="Arial"/>
                <a:cs typeface="Arial"/>
              </a:rPr>
              <a:t>Explanation: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unique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language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deep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meanings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have </a:t>
            </a:r>
            <a:r>
              <a:rPr dirty="0" sz="1450">
                <a:latin typeface="Arial MT"/>
                <a:cs typeface="Arial MT"/>
              </a:rPr>
              <a:t>given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rise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fields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like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tafsir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(interpretation)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balagha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(eloquence).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This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constant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study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only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enriches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understanding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but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also </a:t>
            </a:r>
            <a:r>
              <a:rPr dirty="0" sz="1450">
                <a:latin typeface="Arial MT"/>
                <a:cs typeface="Arial MT"/>
              </a:rPr>
              <a:t>promotes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lifelong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learning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intellectual growth.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26271" y="1462532"/>
            <a:ext cx="3448685" cy="5988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398145" marR="5080" indent="-386080">
              <a:lnSpc>
                <a:spcPts val="2140"/>
              </a:lnSpc>
              <a:spcBef>
                <a:spcPts val="365"/>
              </a:spcBef>
            </a:pP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D.</a:t>
            </a:r>
            <a:r>
              <a:rPr dirty="0" sz="1950" spc="-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Preservation</a:t>
            </a:r>
            <a:r>
              <a:rPr dirty="0" u="sng" sz="1950" spc="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9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Arabic</a:t>
            </a:r>
            <a:r>
              <a:rPr dirty="0" sz="1950" spc="-10" b="1"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Language</a:t>
            </a:r>
            <a:r>
              <a:rPr dirty="0" u="sng" sz="1950" spc="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950" spc="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Culture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0970" y="2367774"/>
            <a:ext cx="4254500" cy="2338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9565">
              <a:lnSpc>
                <a:spcPct val="102099"/>
              </a:lnSpc>
              <a:spcBef>
                <a:spcPts val="100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Qur'an’s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linguistic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excellence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has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played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50">
                <a:latin typeface="Arial MT"/>
                <a:cs typeface="Arial MT"/>
              </a:rPr>
              <a:t>a </a:t>
            </a:r>
            <a:r>
              <a:rPr dirty="0" sz="1450">
                <a:latin typeface="Arial MT"/>
                <a:cs typeface="Arial MT"/>
              </a:rPr>
              <a:t>major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role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preserving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-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Arabic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language.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50" spc="-10" b="1">
                <a:latin typeface="Arial"/>
                <a:cs typeface="Arial"/>
              </a:rPr>
              <a:t>Explanation: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Its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smoothness,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structure,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poetic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style</a:t>
            </a:r>
            <a:r>
              <a:rPr dirty="0" sz="1450" spc="8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set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high</a:t>
            </a:r>
            <a:endParaRPr sz="1450">
              <a:latin typeface="Arial MT"/>
              <a:cs typeface="Arial MT"/>
            </a:endParaRPr>
          </a:p>
          <a:p>
            <a:pPr marL="12700" marR="14097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standards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in</a:t>
            </a:r>
            <a:r>
              <a:rPr dirty="0" sz="1450" spc="-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Arabic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literature.</a:t>
            </a:r>
            <a:r>
              <a:rPr dirty="0" sz="1450" spc="-7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As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result,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the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classical</a:t>
            </a:r>
            <a:r>
              <a:rPr dirty="0" sz="1450" spc="-6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Arabic</a:t>
            </a:r>
            <a:r>
              <a:rPr dirty="0" sz="1450" spc="7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language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remains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preserved</a:t>
            </a:r>
            <a:r>
              <a:rPr dirty="0" sz="1450" spc="7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and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continues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be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vital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part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dirty="0" sz="1450" spc="-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Arabic</a:t>
            </a:r>
            <a:r>
              <a:rPr dirty="0" sz="1450" spc="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culture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Arial MT"/>
                <a:cs typeface="Arial MT"/>
              </a:rPr>
              <a:t>and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heritage.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8417" y="1442765"/>
            <a:ext cx="39128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E.</a:t>
            </a:r>
            <a:r>
              <a:rPr dirty="0" sz="195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Moral</a:t>
            </a:r>
            <a:r>
              <a:rPr dirty="0" u="sng" sz="195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950" spc="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Spiritual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Motivation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1662" y="1997480"/>
            <a:ext cx="3787775" cy="1887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>
                <a:latin typeface="Arial MT"/>
                <a:cs typeface="Arial MT"/>
              </a:rPr>
              <a:t>Understanding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Qur'an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divine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miracle </a:t>
            </a:r>
            <a:r>
              <a:rPr dirty="0" sz="1450">
                <a:latin typeface="Arial MT"/>
                <a:cs typeface="Arial MT"/>
              </a:rPr>
              <a:t>motivates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Muslims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adhere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guidance.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50" spc="-10" b="1">
                <a:latin typeface="Arial"/>
                <a:cs typeface="Arial"/>
              </a:rPr>
              <a:t>Explanation:</a:t>
            </a:r>
            <a:endParaRPr sz="1650">
              <a:latin typeface="Arial"/>
              <a:cs typeface="Arial"/>
            </a:endParaRPr>
          </a:p>
          <a:p>
            <a:pPr marL="12700" marR="29209">
              <a:lnSpc>
                <a:spcPct val="102499"/>
              </a:lnSpc>
            </a:pPr>
            <a:r>
              <a:rPr dirty="0" sz="1450">
                <a:latin typeface="Arial MT"/>
                <a:cs typeface="Arial MT"/>
              </a:rPr>
              <a:t>Knowing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that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message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miraculous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and </a:t>
            </a:r>
            <a:r>
              <a:rPr dirty="0" sz="1450">
                <a:latin typeface="Arial MT"/>
                <a:cs typeface="Arial MT"/>
              </a:rPr>
              <a:t>divinely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prescribed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encourages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believers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to </a:t>
            </a:r>
            <a:r>
              <a:rPr dirty="0" sz="1450">
                <a:latin typeface="Arial MT"/>
                <a:cs typeface="Arial MT"/>
              </a:rPr>
              <a:t>follow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its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moral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teachings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dedication, </a:t>
            </a:r>
            <a:r>
              <a:rPr dirty="0" sz="1450">
                <a:latin typeface="Arial MT"/>
                <a:cs typeface="Arial MT"/>
              </a:rPr>
              <a:t>leading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fulfilling 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righteous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life.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03230" y="1413788"/>
            <a:ext cx="341630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none" sz="1950" spc="-105">
                <a:latin typeface="Arial"/>
                <a:cs typeface="Arial"/>
              </a:rPr>
              <a:t>F.</a:t>
            </a:r>
            <a:r>
              <a:rPr dirty="0" u="none" sz="1950" spc="-120">
                <a:latin typeface="Arial"/>
                <a:cs typeface="Arial"/>
              </a:rPr>
              <a:t>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Evidence</a:t>
            </a:r>
            <a:r>
              <a:rPr dirty="0" u="sng" sz="1950" spc="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1950" spc="2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Prophethood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03306" y="2047769"/>
            <a:ext cx="4217035" cy="2288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44704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miracle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Qur'an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serves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strong </a:t>
            </a:r>
            <a:r>
              <a:rPr dirty="0" sz="1450">
                <a:latin typeface="Arial MT"/>
                <a:cs typeface="Arial MT"/>
              </a:rPr>
              <a:t>argument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prophethood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Muhammad </a:t>
            </a:r>
            <a:r>
              <a:rPr dirty="0" sz="1450">
                <a:latin typeface="Arial MT"/>
                <a:cs typeface="Arial MT"/>
              </a:rPr>
              <a:t>(peace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him).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 spc="-10" b="1">
                <a:solidFill>
                  <a:srgbClr val="3F3F3F"/>
                </a:solidFill>
                <a:latin typeface="Arial"/>
                <a:cs typeface="Arial"/>
              </a:rPr>
              <a:t>Explanation: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Although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Prophet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Muhammad</a:t>
            </a:r>
            <a:r>
              <a:rPr dirty="0" sz="1450" spc="6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(peace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be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upon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him)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was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"unlettered"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(ummi)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did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not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know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how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to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read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or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write,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Qur'an’s</a:t>
            </a:r>
            <a:r>
              <a:rPr dirty="0" sz="1450" spc="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unmatched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beauty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and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depth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clearly</a:t>
            </a:r>
            <a:r>
              <a:rPr dirty="0" sz="1450" spc="2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indicate</a:t>
            </a:r>
            <a:r>
              <a:rPr dirty="0" sz="1450" spc="3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that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it</a:t>
            </a:r>
            <a:r>
              <a:rPr dirty="0" sz="1450" spc="4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must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Arial MT"/>
                <a:cs typeface="Arial MT"/>
              </a:rPr>
              <a:t>have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come</a:t>
            </a:r>
            <a:r>
              <a:rPr dirty="0" sz="1450" spc="5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from</a:t>
            </a:r>
            <a:r>
              <a:rPr dirty="0" sz="1450" spc="-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Allah,</a:t>
            </a:r>
            <a:r>
              <a:rPr dirty="0" sz="1450" spc="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thus</a:t>
            </a:r>
            <a:r>
              <a:rPr dirty="0" sz="1450" spc="5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confirming</a:t>
            </a:r>
            <a:r>
              <a:rPr dirty="0" sz="1450" spc="4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3F3F3F"/>
                </a:solidFill>
                <a:latin typeface="Arial MT"/>
                <a:cs typeface="Arial MT"/>
              </a:rPr>
              <a:t>his</a:t>
            </a:r>
            <a:r>
              <a:rPr dirty="0" sz="1450" spc="3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Arial MT"/>
                <a:cs typeface="Arial MT"/>
              </a:rPr>
              <a:t>prophethood.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72642" y="1265895"/>
            <a:ext cx="6120765" cy="3016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none" sz="1800">
                <a:latin typeface="Arial"/>
                <a:cs typeface="Arial"/>
              </a:rPr>
              <a:t>G.</a:t>
            </a:r>
            <a:r>
              <a:rPr dirty="0" u="none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Scientific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I'jaz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Encouragement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Knowledge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</a:pPr>
            <a:r>
              <a:rPr dirty="0"/>
              <a:t>Some</a:t>
            </a:r>
            <a:r>
              <a:rPr dirty="0" spc="35"/>
              <a:t> </a:t>
            </a:r>
            <a:r>
              <a:rPr dirty="0"/>
              <a:t>aspects</a:t>
            </a:r>
            <a:r>
              <a:rPr dirty="0" spc="4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55"/>
              <a:t> </a:t>
            </a:r>
            <a:r>
              <a:rPr dirty="0"/>
              <a:t>Qur'an</a:t>
            </a:r>
            <a:r>
              <a:rPr dirty="0" spc="35"/>
              <a:t> </a:t>
            </a:r>
            <a:r>
              <a:rPr dirty="0"/>
              <a:t>include</a:t>
            </a:r>
            <a:r>
              <a:rPr dirty="0" spc="15"/>
              <a:t> </a:t>
            </a:r>
            <a:r>
              <a:rPr dirty="0"/>
              <a:t>knowledge</a:t>
            </a:r>
            <a:r>
              <a:rPr dirty="0" spc="20"/>
              <a:t> </a:t>
            </a:r>
            <a:r>
              <a:rPr dirty="0"/>
              <a:t>about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50"/>
              <a:t> </a:t>
            </a:r>
            <a:r>
              <a:rPr dirty="0"/>
              <a:t>natural</a:t>
            </a:r>
            <a:r>
              <a:rPr dirty="0" spc="50"/>
              <a:t> </a:t>
            </a:r>
            <a:r>
              <a:rPr dirty="0"/>
              <a:t>world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/>
              <a:t>cosmic</a:t>
            </a:r>
            <a:r>
              <a:rPr dirty="0" spc="45"/>
              <a:t> </a:t>
            </a:r>
            <a:r>
              <a:rPr dirty="0"/>
              <a:t>phenomena</a:t>
            </a:r>
            <a:r>
              <a:rPr dirty="0" spc="20"/>
              <a:t> </a:t>
            </a:r>
            <a:r>
              <a:rPr dirty="0" spc="-20"/>
              <a:t>that </a:t>
            </a:r>
            <a:r>
              <a:rPr dirty="0"/>
              <a:t>were</a:t>
            </a:r>
            <a:r>
              <a:rPr dirty="0" spc="45"/>
              <a:t> </a:t>
            </a:r>
            <a:r>
              <a:rPr dirty="0"/>
              <a:t>unknown</a:t>
            </a:r>
            <a:r>
              <a:rPr dirty="0" spc="15"/>
              <a:t> </a:t>
            </a:r>
            <a:r>
              <a:rPr dirty="0"/>
              <a:t>at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time.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550" b="1">
                <a:latin typeface="Arial"/>
                <a:cs typeface="Arial"/>
              </a:rPr>
              <a:t>Qur'anic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spc="-10" b="1">
                <a:latin typeface="Arial"/>
                <a:cs typeface="Arial"/>
              </a:rPr>
              <a:t>Reference: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550">
              <a:latin typeface="Arial"/>
              <a:cs typeface="Arial"/>
            </a:endParaRPr>
          </a:p>
          <a:p>
            <a:pPr marL="12700" marR="158750">
              <a:lnSpc>
                <a:spcPct val="102099"/>
              </a:lnSpc>
            </a:pPr>
            <a:r>
              <a:rPr dirty="0"/>
              <a:t>“We</a:t>
            </a:r>
            <a:r>
              <a:rPr dirty="0" spc="20"/>
              <a:t> </a:t>
            </a:r>
            <a:r>
              <a:rPr dirty="0"/>
              <a:t>will</a:t>
            </a:r>
            <a:r>
              <a:rPr dirty="0" spc="55"/>
              <a:t> </a:t>
            </a:r>
            <a:r>
              <a:rPr dirty="0"/>
              <a:t>show them</a:t>
            </a:r>
            <a:r>
              <a:rPr dirty="0" spc="45"/>
              <a:t> </a:t>
            </a:r>
            <a:r>
              <a:rPr dirty="0"/>
              <a:t>Our</a:t>
            </a:r>
            <a:r>
              <a:rPr dirty="0" spc="45"/>
              <a:t> </a:t>
            </a:r>
            <a:r>
              <a:rPr dirty="0"/>
              <a:t>signs</a:t>
            </a:r>
            <a:r>
              <a:rPr dirty="0" spc="35"/>
              <a:t> </a:t>
            </a:r>
            <a:r>
              <a:rPr dirty="0"/>
              <a:t>in</a:t>
            </a:r>
            <a:r>
              <a:rPr dirty="0" spc="45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horizons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/>
              <a:t>within</a:t>
            </a:r>
            <a:r>
              <a:rPr dirty="0" spc="25"/>
              <a:t> </a:t>
            </a:r>
            <a:r>
              <a:rPr dirty="0"/>
              <a:t>themselves</a:t>
            </a:r>
            <a:r>
              <a:rPr dirty="0" spc="35"/>
              <a:t> </a:t>
            </a:r>
            <a:r>
              <a:rPr dirty="0"/>
              <a:t>until</a:t>
            </a:r>
            <a:r>
              <a:rPr dirty="0" spc="35"/>
              <a:t> </a:t>
            </a:r>
            <a:r>
              <a:rPr dirty="0"/>
              <a:t>it</a:t>
            </a:r>
            <a:r>
              <a:rPr dirty="0" spc="40"/>
              <a:t> </a:t>
            </a:r>
            <a:r>
              <a:rPr dirty="0"/>
              <a:t>becomes</a:t>
            </a:r>
            <a:r>
              <a:rPr dirty="0" spc="20"/>
              <a:t> </a:t>
            </a:r>
            <a:r>
              <a:rPr dirty="0"/>
              <a:t>clear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 spc="-20"/>
              <a:t>them </a:t>
            </a:r>
            <a:r>
              <a:rPr dirty="0"/>
              <a:t>that</a:t>
            </a:r>
            <a:r>
              <a:rPr dirty="0" spc="20"/>
              <a:t> </a:t>
            </a:r>
            <a:r>
              <a:rPr dirty="0"/>
              <a:t>it</a:t>
            </a:r>
            <a:r>
              <a:rPr dirty="0" spc="25"/>
              <a:t> </a:t>
            </a:r>
            <a:r>
              <a:rPr dirty="0"/>
              <a:t>is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10"/>
              <a:t>truth…”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(Surah</a:t>
            </a:r>
            <a:r>
              <a:rPr dirty="0" spc="70"/>
              <a:t> </a:t>
            </a:r>
            <a:r>
              <a:rPr dirty="0"/>
              <a:t>Fussilat,</a:t>
            </a:r>
            <a:r>
              <a:rPr dirty="0" spc="35"/>
              <a:t> </a:t>
            </a:r>
            <a:r>
              <a:rPr dirty="0" spc="-10"/>
              <a:t>41:53)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z="1550" spc="-10" b="1">
                <a:latin typeface="Arial"/>
                <a:cs typeface="Arial"/>
              </a:rPr>
              <a:t>Explanation:</a:t>
            </a:r>
            <a:endParaRPr sz="1550">
              <a:latin typeface="Arial"/>
              <a:cs typeface="Arial"/>
            </a:endParaRPr>
          </a:p>
          <a:p>
            <a:pPr marL="12700" marR="74930">
              <a:lnSpc>
                <a:spcPct val="102099"/>
              </a:lnSpc>
              <a:spcBef>
                <a:spcPts val="5"/>
              </a:spcBef>
            </a:pPr>
            <a:r>
              <a:rPr dirty="0"/>
              <a:t>These</a:t>
            </a:r>
            <a:r>
              <a:rPr dirty="0" spc="45"/>
              <a:t> </a:t>
            </a:r>
            <a:r>
              <a:rPr dirty="0"/>
              <a:t>references</a:t>
            </a:r>
            <a:r>
              <a:rPr dirty="0" spc="45"/>
              <a:t> </a:t>
            </a:r>
            <a:r>
              <a:rPr dirty="0"/>
              <a:t>encourage</a:t>
            </a:r>
            <a:r>
              <a:rPr dirty="0" spc="50"/>
              <a:t> </a:t>
            </a:r>
            <a:r>
              <a:rPr dirty="0"/>
              <a:t>Muslims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80"/>
              <a:t> </a:t>
            </a:r>
            <a:r>
              <a:rPr dirty="0"/>
              <a:t>pursue</a:t>
            </a:r>
            <a:r>
              <a:rPr dirty="0" spc="50"/>
              <a:t> </a:t>
            </a:r>
            <a:r>
              <a:rPr dirty="0"/>
              <a:t>scientific</a:t>
            </a:r>
            <a:r>
              <a:rPr dirty="0" spc="45"/>
              <a:t> </a:t>
            </a:r>
            <a:r>
              <a:rPr dirty="0"/>
              <a:t>research</a:t>
            </a:r>
            <a:r>
              <a:rPr dirty="0" spc="45"/>
              <a:t> </a:t>
            </a:r>
            <a:r>
              <a:rPr dirty="0"/>
              <a:t>and</a:t>
            </a:r>
            <a:r>
              <a:rPr dirty="0" spc="50"/>
              <a:t> </a:t>
            </a:r>
            <a:r>
              <a:rPr dirty="0"/>
              <a:t>knowledge.</a:t>
            </a:r>
            <a:r>
              <a:rPr dirty="0" spc="-5"/>
              <a:t> </a:t>
            </a:r>
            <a:r>
              <a:rPr dirty="0"/>
              <a:t>They</a:t>
            </a:r>
            <a:r>
              <a:rPr dirty="0" spc="45"/>
              <a:t> </a:t>
            </a:r>
            <a:r>
              <a:rPr dirty="0"/>
              <a:t>show</a:t>
            </a:r>
            <a:r>
              <a:rPr dirty="0" spc="60"/>
              <a:t> </a:t>
            </a:r>
            <a:r>
              <a:rPr dirty="0" spc="-20"/>
              <a:t>that </a:t>
            </a:r>
            <a:r>
              <a:rPr dirty="0"/>
              <a:t>faith</a:t>
            </a:r>
            <a:r>
              <a:rPr dirty="0" spc="40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/>
              <a:t>can</a:t>
            </a:r>
            <a:r>
              <a:rPr dirty="0" spc="40"/>
              <a:t> </a:t>
            </a:r>
            <a:r>
              <a:rPr dirty="0"/>
              <a:t>go</a:t>
            </a:r>
            <a:r>
              <a:rPr dirty="0" spc="40"/>
              <a:t> </a:t>
            </a:r>
            <a:r>
              <a:rPr dirty="0"/>
              <a:t>hand</a:t>
            </a:r>
            <a:r>
              <a:rPr dirty="0" spc="25"/>
              <a:t> </a:t>
            </a:r>
            <a:r>
              <a:rPr dirty="0"/>
              <a:t>in</a:t>
            </a:r>
            <a:r>
              <a:rPr dirty="0" spc="40"/>
              <a:t> </a:t>
            </a:r>
            <a:r>
              <a:rPr dirty="0"/>
              <a:t>hand,</a:t>
            </a:r>
            <a:r>
              <a:rPr dirty="0" spc="25"/>
              <a:t> </a:t>
            </a:r>
            <a:r>
              <a:rPr dirty="0"/>
              <a:t>inspiring</a:t>
            </a:r>
            <a:r>
              <a:rPr dirty="0" spc="10"/>
              <a:t> </a:t>
            </a:r>
            <a:r>
              <a:rPr dirty="0"/>
              <a:t>discovery</a:t>
            </a:r>
            <a:r>
              <a:rPr dirty="0" spc="3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/>
              <a:t>understanding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45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10"/>
              <a:t>world.</a:t>
            </a:r>
          </a:p>
          <a:p>
            <a:pPr>
              <a:lnSpc>
                <a:spcPct val="100000"/>
              </a:lnSpc>
              <a:spcBef>
                <a:spcPts val="1445"/>
              </a:spcBef>
            </a:pPr>
          </a:p>
          <a:p>
            <a:pPr marL="262255" marR="1148080">
              <a:lnSpc>
                <a:spcPct val="92200"/>
              </a:lnSpc>
            </a:pPr>
            <a:r>
              <a:rPr dirty="0"/>
              <a:t>The</a:t>
            </a:r>
            <a:r>
              <a:rPr dirty="0" spc="20"/>
              <a:t> </a:t>
            </a:r>
            <a:r>
              <a:rPr dirty="0"/>
              <a:t>miracle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/>
              <a:t>Qur'an</a:t>
            </a:r>
            <a:r>
              <a:rPr dirty="0" spc="20"/>
              <a:t> </a:t>
            </a:r>
            <a:r>
              <a:rPr dirty="0"/>
              <a:t>is</a:t>
            </a:r>
            <a:r>
              <a:rPr dirty="0" spc="35"/>
              <a:t> </a:t>
            </a:r>
            <a:r>
              <a:rPr dirty="0"/>
              <a:t>a</a:t>
            </a:r>
            <a:r>
              <a:rPr dirty="0" spc="35"/>
              <a:t> </a:t>
            </a:r>
            <a:r>
              <a:rPr dirty="0"/>
              <a:t>powerful</a:t>
            </a:r>
            <a:r>
              <a:rPr dirty="0" spc="45"/>
              <a:t> </a:t>
            </a:r>
            <a:r>
              <a:rPr dirty="0"/>
              <a:t>reminder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40"/>
              <a:t> </a:t>
            </a:r>
            <a:r>
              <a:rPr dirty="0"/>
              <a:t>its</a:t>
            </a:r>
            <a:r>
              <a:rPr dirty="0" spc="30"/>
              <a:t> </a:t>
            </a:r>
            <a:r>
              <a:rPr dirty="0"/>
              <a:t>divine</a:t>
            </a:r>
            <a:r>
              <a:rPr dirty="0" spc="20"/>
              <a:t> </a:t>
            </a:r>
            <a:r>
              <a:rPr dirty="0"/>
              <a:t>origin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/>
              <a:t>its</a:t>
            </a:r>
            <a:r>
              <a:rPr dirty="0" spc="30"/>
              <a:t> </a:t>
            </a:r>
            <a:r>
              <a:rPr dirty="0" spc="-10"/>
              <a:t>supreme </a:t>
            </a:r>
            <a:r>
              <a:rPr dirty="0"/>
              <a:t>excellence.</a:t>
            </a:r>
            <a:r>
              <a:rPr dirty="0" spc="30"/>
              <a:t> </a:t>
            </a:r>
            <a:r>
              <a:rPr dirty="0"/>
              <a:t>It</a:t>
            </a:r>
            <a:r>
              <a:rPr dirty="0" spc="65"/>
              <a:t> </a:t>
            </a:r>
            <a:r>
              <a:rPr dirty="0"/>
              <a:t>provides</a:t>
            </a:r>
            <a:r>
              <a:rPr dirty="0" spc="45"/>
              <a:t> </a:t>
            </a:r>
            <a:r>
              <a:rPr dirty="0"/>
              <a:t>clear</a:t>
            </a:r>
            <a:r>
              <a:rPr dirty="0" spc="40"/>
              <a:t> </a:t>
            </a:r>
            <a:r>
              <a:rPr dirty="0"/>
              <a:t>evidence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Allah’s</a:t>
            </a:r>
            <a:r>
              <a:rPr dirty="0" spc="45"/>
              <a:t> </a:t>
            </a:r>
            <a:r>
              <a:rPr dirty="0"/>
              <a:t>revelation,</a:t>
            </a:r>
            <a:r>
              <a:rPr dirty="0" spc="15"/>
              <a:t> </a:t>
            </a:r>
            <a:r>
              <a:rPr dirty="0"/>
              <a:t>strengthens</a:t>
            </a:r>
            <a:r>
              <a:rPr dirty="0" spc="45"/>
              <a:t> </a:t>
            </a:r>
            <a:r>
              <a:rPr dirty="0"/>
              <a:t>the</a:t>
            </a:r>
            <a:r>
              <a:rPr dirty="0" spc="50"/>
              <a:t> </a:t>
            </a:r>
            <a:r>
              <a:rPr dirty="0"/>
              <a:t>faith</a:t>
            </a:r>
            <a:r>
              <a:rPr dirty="0" spc="35"/>
              <a:t> </a:t>
            </a:r>
            <a:r>
              <a:rPr dirty="0" spc="-25"/>
              <a:t>of </a:t>
            </a:r>
            <a:r>
              <a:rPr dirty="0"/>
              <a:t>believers,</a:t>
            </a:r>
            <a:r>
              <a:rPr dirty="0" spc="40"/>
              <a:t> </a:t>
            </a:r>
            <a:r>
              <a:rPr dirty="0"/>
              <a:t>inspires</a:t>
            </a:r>
            <a:r>
              <a:rPr dirty="0" spc="40"/>
              <a:t> </a:t>
            </a:r>
            <a:r>
              <a:rPr dirty="0"/>
              <a:t>continuous</a:t>
            </a:r>
            <a:r>
              <a:rPr dirty="0" spc="35"/>
              <a:t> </a:t>
            </a:r>
            <a:r>
              <a:rPr dirty="0"/>
              <a:t>study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60"/>
              <a:t> </a:t>
            </a:r>
            <a:r>
              <a:rPr dirty="0"/>
              <a:t>reflection,</a:t>
            </a:r>
            <a:r>
              <a:rPr dirty="0" spc="30"/>
              <a:t> </a:t>
            </a:r>
            <a:r>
              <a:rPr dirty="0"/>
              <a:t>preserves</a:t>
            </a:r>
            <a:r>
              <a:rPr dirty="0" spc="7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Arabic</a:t>
            </a:r>
            <a:r>
              <a:rPr dirty="0" spc="55"/>
              <a:t> </a:t>
            </a:r>
            <a:r>
              <a:rPr dirty="0" spc="-10"/>
              <a:t>language, </a:t>
            </a:r>
            <a:r>
              <a:rPr dirty="0"/>
              <a:t>motivates</a:t>
            </a:r>
            <a:r>
              <a:rPr dirty="0" spc="35"/>
              <a:t> </a:t>
            </a:r>
            <a:r>
              <a:rPr dirty="0"/>
              <a:t>moral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/>
              <a:t>spiritual</a:t>
            </a:r>
            <a:r>
              <a:rPr dirty="0" spc="20"/>
              <a:t> </a:t>
            </a:r>
            <a:r>
              <a:rPr dirty="0"/>
              <a:t>behavior,</a:t>
            </a:r>
            <a:r>
              <a:rPr dirty="0" spc="25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/>
              <a:t>even</a:t>
            </a:r>
            <a:r>
              <a:rPr dirty="0" spc="40"/>
              <a:t> </a:t>
            </a:r>
            <a:r>
              <a:rPr dirty="0"/>
              <a:t>supports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scientific</a:t>
            </a:r>
            <a:r>
              <a:rPr dirty="0" spc="20"/>
              <a:t> </a:t>
            </a:r>
            <a:r>
              <a:rPr dirty="0"/>
              <a:t>quest</a:t>
            </a:r>
            <a:r>
              <a:rPr dirty="0" spc="25"/>
              <a:t> </a:t>
            </a:r>
            <a:r>
              <a:rPr dirty="0" spc="-25"/>
              <a:t>for </a:t>
            </a:r>
            <a:r>
              <a:rPr dirty="0" spc="-10"/>
              <a:t>knowledge.</a:t>
            </a:r>
          </a:p>
          <a:p>
            <a:pPr algn="just" marL="262255" marR="1092200">
              <a:lnSpc>
                <a:spcPts val="1610"/>
              </a:lnSpc>
              <a:spcBef>
                <a:spcPts val="844"/>
              </a:spcBef>
            </a:pPr>
            <a:r>
              <a:rPr dirty="0"/>
              <a:t>The</a:t>
            </a:r>
            <a:r>
              <a:rPr dirty="0" spc="15"/>
              <a:t> </a:t>
            </a:r>
            <a:r>
              <a:rPr dirty="0"/>
              <a:t>Qur'an</a:t>
            </a:r>
            <a:r>
              <a:rPr dirty="0" spc="40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/>
              <a:t>not</a:t>
            </a:r>
            <a:r>
              <a:rPr dirty="0" spc="35"/>
              <a:t> </a:t>
            </a:r>
            <a:r>
              <a:rPr dirty="0"/>
              <a:t>only a</a:t>
            </a:r>
            <a:r>
              <a:rPr dirty="0" spc="35"/>
              <a:t> </a:t>
            </a:r>
            <a:r>
              <a:rPr dirty="0"/>
              <a:t>book</a:t>
            </a:r>
            <a:r>
              <a:rPr dirty="0" spc="45"/>
              <a:t> </a:t>
            </a:r>
            <a:r>
              <a:rPr dirty="0"/>
              <a:t>of</a:t>
            </a:r>
            <a:r>
              <a:rPr dirty="0" spc="40"/>
              <a:t> </a:t>
            </a:r>
            <a:r>
              <a:rPr dirty="0"/>
              <a:t>guidance</a:t>
            </a:r>
            <a:r>
              <a:rPr dirty="0" spc="20"/>
              <a:t> </a:t>
            </a:r>
            <a:r>
              <a:rPr dirty="0"/>
              <a:t>but</a:t>
            </a:r>
            <a:r>
              <a:rPr dirty="0" spc="35"/>
              <a:t> </a:t>
            </a:r>
            <a:r>
              <a:rPr dirty="0"/>
              <a:t>also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35"/>
              <a:t> </a:t>
            </a:r>
            <a:r>
              <a:rPr dirty="0"/>
              <a:t>timeless</a:t>
            </a:r>
            <a:r>
              <a:rPr dirty="0" spc="30"/>
              <a:t> </a:t>
            </a:r>
            <a:r>
              <a:rPr dirty="0"/>
              <a:t>miracle</a:t>
            </a:r>
            <a:r>
              <a:rPr dirty="0" spc="20"/>
              <a:t> </a:t>
            </a:r>
            <a:r>
              <a:rPr dirty="0"/>
              <a:t>that</a:t>
            </a:r>
            <a:r>
              <a:rPr dirty="0" spc="35"/>
              <a:t> </a:t>
            </a:r>
            <a:r>
              <a:rPr dirty="0" spc="-10"/>
              <a:t>continues </a:t>
            </a:r>
            <a:r>
              <a:rPr dirty="0"/>
              <a:t>to</a:t>
            </a:r>
            <a:r>
              <a:rPr dirty="0" spc="35"/>
              <a:t> </a:t>
            </a:r>
            <a:r>
              <a:rPr dirty="0"/>
              <a:t>enrich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lives</a:t>
            </a:r>
            <a:r>
              <a:rPr dirty="0" spc="30"/>
              <a:t> </a:t>
            </a:r>
            <a:r>
              <a:rPr dirty="0"/>
              <a:t>of</a:t>
            </a:r>
            <a:r>
              <a:rPr dirty="0" spc="40"/>
              <a:t> </a:t>
            </a:r>
            <a:r>
              <a:rPr dirty="0"/>
              <a:t>Muslims around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world,</a:t>
            </a:r>
            <a:r>
              <a:rPr dirty="0" spc="40"/>
              <a:t> </a:t>
            </a:r>
            <a:r>
              <a:rPr dirty="0"/>
              <a:t>bridging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/>
              <a:t>gap</a:t>
            </a:r>
            <a:r>
              <a:rPr dirty="0" spc="25"/>
              <a:t> </a:t>
            </a:r>
            <a:r>
              <a:rPr dirty="0"/>
              <a:t>between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10"/>
              <a:t>divine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/>
              <a:t>human</a:t>
            </a:r>
            <a:r>
              <a:rPr dirty="0" spc="20"/>
              <a:t> </a:t>
            </a:r>
            <a:r>
              <a:rPr dirty="0" spc="-10"/>
              <a:t>understanding.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518" y="1072437"/>
            <a:ext cx="7233284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Efforts</a:t>
            </a:r>
            <a:r>
              <a:rPr dirty="0" sz="2950" spc="-3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in</a:t>
            </a:r>
            <a:r>
              <a:rPr dirty="0" sz="2950" spc="-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Compilation</a:t>
            </a:r>
            <a:r>
              <a:rPr dirty="0" sz="2950" spc="-4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of</a:t>
            </a:r>
            <a:r>
              <a:rPr dirty="0" sz="2950" spc="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the</a:t>
            </a:r>
            <a:r>
              <a:rPr dirty="0" sz="2950" spc="3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Holy</a:t>
            </a:r>
            <a:r>
              <a:rPr dirty="0" sz="2950" spc="4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Quran</a:t>
            </a:r>
            <a:endParaRPr sz="29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094" y="1524259"/>
            <a:ext cx="8495030" cy="465709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5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00" spc="35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19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1900">
              <a:latin typeface="Trebuchet MS"/>
              <a:cs typeface="Trebuchet MS"/>
            </a:endParaRPr>
          </a:p>
          <a:p>
            <a:pPr marL="624840" marR="461009" indent="-234950">
              <a:lnSpc>
                <a:spcPts val="1580"/>
              </a:lnSpc>
              <a:spcBef>
                <a:spcPts val="815"/>
              </a:spcBef>
            </a:pPr>
            <a:r>
              <a:rPr dirty="0" sz="13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300" spc="31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r>
              <a:rPr dirty="0" sz="16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Compilation</a:t>
            </a:r>
            <a:r>
              <a:rPr dirty="0" sz="1650" spc="-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During</a:t>
            </a:r>
            <a:r>
              <a:rPr dirty="0" sz="1650" spc="-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6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Lifetime</a:t>
            </a:r>
            <a:r>
              <a:rPr dirty="0" sz="1650" spc="-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6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650" spc="-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650" spc="-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(peace</a:t>
            </a:r>
            <a:r>
              <a:rPr dirty="0" sz="16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25">
                <a:solidFill>
                  <a:srgbClr val="3F3F3F"/>
                </a:solidFill>
                <a:latin typeface="Trebuchet MS"/>
                <a:cs typeface="Trebuchet MS"/>
              </a:rPr>
              <a:t>be </a:t>
            </a:r>
            <a:r>
              <a:rPr dirty="0" sz="1650">
                <a:solidFill>
                  <a:srgbClr val="3F3F3F"/>
                </a:solidFill>
                <a:latin typeface="Trebuchet MS"/>
                <a:cs typeface="Trebuchet MS"/>
              </a:rPr>
              <a:t>upon</a:t>
            </a:r>
            <a:r>
              <a:rPr dirty="0" sz="16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3F3F3F"/>
                </a:solidFill>
                <a:latin typeface="Trebuchet MS"/>
                <a:cs typeface="Trebuchet MS"/>
              </a:rPr>
              <a:t>him)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520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Oral</a:t>
            </a:r>
            <a:r>
              <a:rPr dirty="0" sz="14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Memorization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5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Written</a:t>
            </a:r>
            <a:r>
              <a:rPr dirty="0" sz="14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Recordings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0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Verification</a:t>
            </a:r>
            <a:r>
              <a:rPr dirty="0" sz="14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 Prophet</a:t>
            </a:r>
            <a:endParaRPr sz="1400">
              <a:latin typeface="Trebuchet MS"/>
              <a:cs typeface="Trebuchet MS"/>
            </a:endParaRPr>
          </a:p>
          <a:p>
            <a:pPr marL="814069">
              <a:lnSpc>
                <a:spcPts val="1780"/>
              </a:lnSpc>
              <a:spcBef>
                <a:spcPts val="42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Compilation</a:t>
            </a:r>
            <a:r>
              <a:rPr dirty="0" u="sng" sz="1650" spc="-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During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Caliphate</a:t>
            </a:r>
            <a:r>
              <a:rPr dirty="0" u="sng" sz="1650" spc="-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-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Abu</a:t>
            </a:r>
            <a:r>
              <a:rPr dirty="0" u="sng" sz="1650" spc="-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Bakr</a:t>
            </a:r>
            <a:r>
              <a:rPr dirty="0" u="sng" sz="1650" spc="-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(may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Allah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be</a:t>
            </a:r>
            <a:r>
              <a:rPr dirty="0" u="sng" sz="16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pleased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with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him)</a:t>
            </a:r>
            <a:endParaRPr sz="1650">
              <a:latin typeface="Trebuchet MS"/>
              <a:cs typeface="Trebuchet MS"/>
            </a:endParaRPr>
          </a:p>
          <a:p>
            <a:pPr marL="814069">
              <a:lnSpc>
                <a:spcPts val="1780"/>
              </a:lnSpc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-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Need</a:t>
            </a:r>
            <a:r>
              <a:rPr dirty="0" u="sng" sz="14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40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</a:t>
            </a:r>
            <a:r>
              <a:rPr dirty="0" u="sng" sz="140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0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Single</a:t>
            </a:r>
            <a:r>
              <a:rPr dirty="0" u="sng" sz="140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Book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0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Leadership</a:t>
            </a:r>
            <a:r>
              <a:rPr dirty="0" sz="14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Zaid</a:t>
            </a:r>
            <a:r>
              <a:rPr dirty="0" sz="14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ibn</a:t>
            </a:r>
            <a:r>
              <a:rPr dirty="0" sz="14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Thabit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5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Stringent</a:t>
            </a:r>
            <a:r>
              <a:rPr dirty="0" sz="14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Collection</a:t>
            </a:r>
            <a:r>
              <a:rPr dirty="0" sz="14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Process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0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Completion</a:t>
            </a:r>
            <a:r>
              <a:rPr dirty="0" sz="14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Mus’haf</a:t>
            </a:r>
            <a:endParaRPr sz="1400">
              <a:latin typeface="Trebuchet MS"/>
              <a:cs typeface="Trebuchet MS"/>
            </a:endParaRPr>
          </a:p>
          <a:p>
            <a:pPr marL="814069">
              <a:lnSpc>
                <a:spcPts val="1780"/>
              </a:lnSpc>
              <a:spcBef>
                <a:spcPts val="425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Compilation</a:t>
            </a:r>
            <a:r>
              <a:rPr dirty="0" u="sng" sz="1650" spc="-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During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Caliphate</a:t>
            </a:r>
            <a:r>
              <a:rPr dirty="0" u="sng" sz="1650" spc="-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-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Uthman</a:t>
            </a:r>
            <a:r>
              <a:rPr dirty="0" u="sng" sz="1650" spc="-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(may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Allah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be</a:t>
            </a:r>
            <a:r>
              <a:rPr dirty="0" u="sng" sz="16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pleased</a:t>
            </a:r>
            <a:r>
              <a:rPr dirty="0" u="sng" sz="1650" spc="-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with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him)</a:t>
            </a:r>
            <a:endParaRPr sz="1650">
              <a:latin typeface="Trebuchet MS"/>
              <a:cs typeface="Trebuchet MS"/>
            </a:endParaRPr>
          </a:p>
          <a:p>
            <a:pPr marL="814069">
              <a:lnSpc>
                <a:spcPts val="1780"/>
              </a:lnSpc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-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Need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650" spc="-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Standardization</a:t>
            </a:r>
            <a:endParaRPr sz="16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500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Formation</a:t>
            </a:r>
            <a:r>
              <a:rPr dirty="0" sz="14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Committee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0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Standardization</a:t>
            </a:r>
            <a:r>
              <a:rPr dirty="0" sz="14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Distribution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5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Preservation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Dialects</a:t>
            </a:r>
            <a:endParaRPr sz="14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490"/>
              </a:spcBef>
              <a:buClr>
                <a:srgbClr val="90C126"/>
              </a:buClr>
              <a:buSzPct val="78571"/>
              <a:buAutoNum type="alphaUcPeriod"/>
              <a:tabLst>
                <a:tab pos="814069" algn="l"/>
              </a:tabLst>
            </a:pP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14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Compilation</a:t>
            </a:r>
            <a:r>
              <a:rPr dirty="0" sz="14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F3F3F"/>
                </a:solidFill>
                <a:latin typeface="Trebuchet MS"/>
                <a:cs typeface="Trebuchet MS"/>
              </a:rPr>
              <a:t>Efforts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5053" y="1185151"/>
            <a:ext cx="6853555" cy="680720"/>
          </a:xfrm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1965960" marR="5080" indent="-1953895">
              <a:lnSpc>
                <a:spcPts val="2290"/>
              </a:lnSpc>
              <a:spcBef>
                <a:spcPts val="655"/>
              </a:spcBef>
            </a:pPr>
            <a:r>
              <a:rPr dirty="0" u="none" sz="2350">
                <a:latin typeface="Arial"/>
                <a:cs typeface="Arial"/>
              </a:rPr>
              <a:t>Introduction</a:t>
            </a:r>
            <a:r>
              <a:rPr dirty="0" u="none" sz="2350" spc="80">
                <a:latin typeface="Arial"/>
                <a:cs typeface="Arial"/>
              </a:rPr>
              <a:t> </a:t>
            </a:r>
            <a:r>
              <a:rPr dirty="0" u="none" sz="2350">
                <a:latin typeface="Arial"/>
                <a:cs typeface="Arial"/>
              </a:rPr>
              <a:t>Compilation</a:t>
            </a:r>
            <a:r>
              <a:rPr dirty="0" u="none" sz="2350" spc="90">
                <a:latin typeface="Arial"/>
                <a:cs typeface="Arial"/>
              </a:rPr>
              <a:t> </a:t>
            </a:r>
            <a:r>
              <a:rPr dirty="0" u="none" sz="2350">
                <a:latin typeface="Arial"/>
                <a:cs typeface="Arial"/>
              </a:rPr>
              <a:t>During</a:t>
            </a:r>
            <a:r>
              <a:rPr dirty="0" u="none" sz="2350" spc="90">
                <a:latin typeface="Arial"/>
                <a:cs typeface="Arial"/>
              </a:rPr>
              <a:t> </a:t>
            </a:r>
            <a:r>
              <a:rPr dirty="0" u="none" sz="2350">
                <a:latin typeface="Arial"/>
                <a:cs typeface="Arial"/>
              </a:rPr>
              <a:t>the</a:t>
            </a:r>
            <a:r>
              <a:rPr dirty="0" u="none" sz="2350" spc="100">
                <a:latin typeface="Arial"/>
                <a:cs typeface="Arial"/>
              </a:rPr>
              <a:t> </a:t>
            </a:r>
            <a:r>
              <a:rPr dirty="0" u="none" sz="2350">
                <a:latin typeface="Arial"/>
                <a:cs typeface="Arial"/>
              </a:rPr>
              <a:t>Lifetime</a:t>
            </a:r>
            <a:r>
              <a:rPr dirty="0" u="none" sz="2350" spc="80">
                <a:latin typeface="Arial"/>
                <a:cs typeface="Arial"/>
              </a:rPr>
              <a:t> </a:t>
            </a:r>
            <a:r>
              <a:rPr dirty="0" u="none" sz="2350" spc="-25">
                <a:latin typeface="Arial"/>
                <a:cs typeface="Arial"/>
              </a:rPr>
              <a:t>of </a:t>
            </a:r>
            <a:r>
              <a:rPr dirty="0" u="none" sz="2350">
                <a:latin typeface="Arial"/>
                <a:cs typeface="Arial"/>
              </a:rPr>
              <a:t>Prophet</a:t>
            </a:r>
            <a:r>
              <a:rPr dirty="0" u="none" sz="2350" spc="80">
                <a:latin typeface="Arial"/>
                <a:cs typeface="Arial"/>
              </a:rPr>
              <a:t> </a:t>
            </a:r>
            <a:r>
              <a:rPr dirty="0" u="none" sz="2350" spc="-10">
                <a:latin typeface="Arial"/>
                <a:cs typeface="Arial"/>
              </a:rPr>
              <a:t>Muhammad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2494" y="2020364"/>
            <a:ext cx="7407909" cy="70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Holy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revealed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gradually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over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23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years.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beginning,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special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care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taken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keep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words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safe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unchanged.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lesson,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will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learn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about</a:t>
            </a:r>
            <a:r>
              <a:rPr dirty="0" sz="1450" spc="500">
                <a:latin typeface="Trebuchet MS"/>
                <a:cs typeface="Trebuchet MS"/>
              </a:rPr>
              <a:t> 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three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stages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compilation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process.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66740" y="3079554"/>
            <a:ext cx="7741284" cy="6604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440305" marR="5080" indent="-2428240">
              <a:lnSpc>
                <a:spcPts val="2220"/>
              </a:lnSpc>
              <a:spcBef>
                <a:spcPts val="640"/>
              </a:spcBef>
            </a:pP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Compilation During</a:t>
            </a:r>
            <a:r>
              <a:rPr dirty="0" sz="23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230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Lifetime</a:t>
            </a:r>
            <a:r>
              <a:rPr dirty="0" sz="23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3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Prophet</a:t>
            </a:r>
            <a:r>
              <a:rPr dirty="0" sz="23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70BF"/>
                </a:solidFill>
                <a:latin typeface="Arial"/>
                <a:cs typeface="Arial"/>
              </a:rPr>
              <a:t>Muhammad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(peace</a:t>
            </a:r>
            <a:r>
              <a:rPr dirty="0" sz="23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be</a:t>
            </a:r>
            <a:r>
              <a:rPr dirty="0" sz="23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upon</a:t>
            </a:r>
            <a:r>
              <a:rPr dirty="0" sz="23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0070BF"/>
                </a:solidFill>
                <a:latin typeface="Arial"/>
                <a:cs typeface="Arial"/>
              </a:rPr>
              <a:t>him)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2512" y="4056422"/>
            <a:ext cx="7952740" cy="87121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300" spc="1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It</a:t>
            </a:r>
            <a:r>
              <a:rPr dirty="0" u="sng" sz="1300" spc="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Was</a:t>
            </a:r>
            <a:r>
              <a:rPr dirty="0" u="sng" sz="1300" spc="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Preserved</a:t>
            </a:r>
            <a:r>
              <a:rPr dirty="0" u="sng" sz="1300" spc="3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During</a:t>
            </a:r>
            <a:r>
              <a:rPr dirty="0" u="sng" sz="1300" spc="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300" spc="2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Prophet’s</a:t>
            </a:r>
            <a:r>
              <a:rPr dirty="0" u="sng" sz="1300" spc="-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Time: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410"/>
              </a:lnSpc>
              <a:spcBef>
                <a:spcPts val="980"/>
              </a:spcBef>
            </a:pPr>
            <a:r>
              <a:rPr dirty="0" sz="1300">
                <a:latin typeface="Arial MT"/>
                <a:cs typeface="Arial MT"/>
              </a:rPr>
              <a:t>The Quran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was</a:t>
            </a:r>
            <a:r>
              <a:rPr dirty="0" sz="1300" spc="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not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written</a:t>
            </a:r>
            <a:r>
              <a:rPr dirty="0" sz="1300" spc="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as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one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complete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book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during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Prophet's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lifetime.</a:t>
            </a:r>
            <a:endParaRPr sz="1300">
              <a:latin typeface="Arial MT"/>
              <a:cs typeface="Arial MT"/>
            </a:endParaRPr>
          </a:p>
          <a:p>
            <a:pPr marL="12700" marR="5080">
              <a:lnSpc>
                <a:spcPts val="1270"/>
              </a:lnSpc>
              <a:spcBef>
                <a:spcPts val="135"/>
              </a:spcBef>
            </a:pPr>
            <a:r>
              <a:rPr dirty="0" sz="1300">
                <a:latin typeface="Arial MT"/>
                <a:cs typeface="Arial MT"/>
              </a:rPr>
              <a:t>It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was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recorded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many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different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ways,</a:t>
            </a:r>
            <a:r>
              <a:rPr dirty="0" sz="1300" spc="6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including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being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memorized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by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companions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written</a:t>
            </a:r>
            <a:r>
              <a:rPr dirty="0" sz="1300" spc="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down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on </a:t>
            </a:r>
            <a:r>
              <a:rPr dirty="0" sz="1300">
                <a:latin typeface="Arial MT"/>
                <a:cs typeface="Arial MT"/>
              </a:rPr>
              <a:t>various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materials.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5121" y="1474723"/>
            <a:ext cx="2433955" cy="314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1900">
                <a:latin typeface="Arial"/>
                <a:cs typeface="Arial"/>
              </a:rPr>
              <a:t>A.</a:t>
            </a:r>
            <a:r>
              <a:rPr dirty="0" u="none" sz="1900" spc="-3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Oral</a:t>
            </a:r>
            <a:r>
              <a:rPr dirty="0" sz="1900" spc="-4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Memorization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96539" y="1764305"/>
            <a:ext cx="2884805" cy="1610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latin typeface="Arial MT"/>
                <a:cs typeface="Arial MT"/>
              </a:rPr>
              <a:t>Explanation: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Many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companions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Prophet </a:t>
            </a:r>
            <a:r>
              <a:rPr dirty="0" sz="1450">
                <a:latin typeface="Arial MT"/>
                <a:cs typeface="Arial MT"/>
              </a:rPr>
              <a:t>memorized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exactly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it </a:t>
            </a:r>
            <a:r>
              <a:rPr dirty="0" sz="1450">
                <a:latin typeface="Arial MT"/>
                <a:cs typeface="Arial MT"/>
              </a:rPr>
              <a:t>was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revealed. This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tradition,</a:t>
            </a:r>
            <a:r>
              <a:rPr dirty="0" sz="1450" spc="50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called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hifz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(memorization),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was </a:t>
            </a:r>
            <a:r>
              <a:rPr dirty="0" sz="1450">
                <a:latin typeface="Arial MT"/>
                <a:cs typeface="Arial MT"/>
              </a:rPr>
              <a:t>very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important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because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Arabs </a:t>
            </a:r>
            <a:r>
              <a:rPr dirty="0" sz="1450">
                <a:latin typeface="Arial MT"/>
                <a:cs typeface="Arial MT"/>
              </a:rPr>
              <a:t>had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strong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oral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tradition.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66612" y="1474723"/>
            <a:ext cx="2705100" cy="2127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0070BF"/>
                </a:solidFill>
                <a:latin typeface="Arial"/>
                <a:cs typeface="Arial"/>
              </a:rPr>
              <a:t>B.</a:t>
            </a:r>
            <a:r>
              <a:rPr dirty="0" sz="190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Written</a:t>
            </a:r>
            <a:r>
              <a:rPr dirty="0" u="sng" sz="1900" spc="-7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Recordings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-10">
                <a:latin typeface="Arial MT"/>
                <a:cs typeface="Arial MT"/>
              </a:rPr>
              <a:t>Explanation: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asked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scribes</a:t>
            </a:r>
            <a:r>
              <a:rPr dirty="0" sz="1450" spc="50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write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down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verses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on </a:t>
            </a:r>
            <a:r>
              <a:rPr dirty="0" sz="1450">
                <a:latin typeface="Arial MT"/>
                <a:cs typeface="Arial MT"/>
              </a:rPr>
              <a:t>different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materials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such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as </a:t>
            </a:r>
            <a:r>
              <a:rPr dirty="0" sz="1450">
                <a:latin typeface="Arial MT"/>
                <a:cs typeface="Arial MT"/>
              </a:rPr>
              <a:t>parchment,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leather,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stones,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and </a:t>
            </a:r>
            <a:r>
              <a:rPr dirty="0" sz="1450">
                <a:latin typeface="Arial MT"/>
                <a:cs typeface="Arial MT"/>
              </a:rPr>
              <a:t>bones.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These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writings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were </a:t>
            </a:r>
            <a:r>
              <a:rPr dirty="0" sz="1450">
                <a:latin typeface="Arial MT"/>
                <a:cs typeface="Arial MT"/>
              </a:rPr>
              <a:t>carefully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arranged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verses </a:t>
            </a:r>
            <a:r>
              <a:rPr dirty="0" sz="1450">
                <a:latin typeface="Arial MT"/>
                <a:cs typeface="Arial MT"/>
              </a:rPr>
              <a:t>were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revealed.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02580" y="4073098"/>
            <a:ext cx="4776470" cy="167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0070BF"/>
                </a:solidFill>
                <a:latin typeface="Arial"/>
                <a:cs typeface="Arial"/>
              </a:rPr>
              <a:t>C.</a:t>
            </a:r>
            <a:r>
              <a:rPr dirty="0" sz="190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0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Verification</a:t>
            </a:r>
            <a:r>
              <a:rPr dirty="0" u="sng" sz="190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by</a:t>
            </a:r>
            <a:r>
              <a:rPr dirty="0" u="sng" sz="190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90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Prophet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-10">
                <a:latin typeface="Arial MT"/>
                <a:cs typeface="Arial MT"/>
              </a:rPr>
              <a:t>Explanation: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Muhammad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(peace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him)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would </a:t>
            </a:r>
            <a:r>
              <a:rPr dirty="0" sz="1450">
                <a:latin typeface="Arial MT"/>
                <a:cs typeface="Arial MT"/>
              </a:rPr>
              <a:t>often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review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verses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Angel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Jibreel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(Gabriel).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In</a:t>
            </a:r>
            <a:r>
              <a:rPr dirty="0" sz="1450" spc="50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final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year,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conducted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final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review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called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“Al- </a:t>
            </a:r>
            <a:r>
              <a:rPr dirty="0" sz="1450">
                <a:latin typeface="Arial MT"/>
                <a:cs typeface="Arial MT"/>
              </a:rPr>
              <a:t>Ardah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al-Akhirah”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confirm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order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correctness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of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verses.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7117" y="1226258"/>
            <a:ext cx="6943725" cy="623570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80"/>
              </a:spcBef>
            </a:pPr>
            <a:r>
              <a:rPr dirty="0" sz="2050"/>
              <a:t>Compilation</a:t>
            </a:r>
            <a:r>
              <a:rPr dirty="0" sz="2050" spc="10"/>
              <a:t> </a:t>
            </a:r>
            <a:r>
              <a:rPr dirty="0" sz="2050"/>
              <a:t>During</a:t>
            </a:r>
            <a:r>
              <a:rPr dirty="0" sz="2050" spc="5"/>
              <a:t> </a:t>
            </a:r>
            <a:r>
              <a:rPr dirty="0" sz="2050"/>
              <a:t>the Caliphate of</a:t>
            </a:r>
            <a:r>
              <a:rPr dirty="0" sz="2050" spc="-114"/>
              <a:t> </a:t>
            </a:r>
            <a:r>
              <a:rPr dirty="0" sz="2050"/>
              <a:t>Abu</a:t>
            </a:r>
            <a:r>
              <a:rPr dirty="0" sz="2050" spc="-15"/>
              <a:t> </a:t>
            </a:r>
            <a:r>
              <a:rPr dirty="0" sz="2050"/>
              <a:t>Bakr</a:t>
            </a:r>
            <a:r>
              <a:rPr dirty="0" sz="2050" spc="-5"/>
              <a:t> </a:t>
            </a:r>
            <a:r>
              <a:rPr dirty="0" sz="2050"/>
              <a:t>(may</a:t>
            </a:r>
            <a:r>
              <a:rPr dirty="0" sz="2050" spc="-105"/>
              <a:t> </a:t>
            </a:r>
            <a:r>
              <a:rPr dirty="0" sz="2050" spc="-10"/>
              <a:t>Allah</a:t>
            </a:r>
            <a:r>
              <a:rPr dirty="0" u="none" sz="2050" spc="-10"/>
              <a:t> </a:t>
            </a:r>
            <a:r>
              <a:rPr dirty="0" sz="2050"/>
              <a:t>be</a:t>
            </a:r>
            <a:r>
              <a:rPr dirty="0" sz="2050" spc="-15"/>
              <a:t> </a:t>
            </a:r>
            <a:r>
              <a:rPr dirty="0" sz="2050"/>
              <a:t>pleased</a:t>
            </a:r>
            <a:r>
              <a:rPr dirty="0" sz="2050" spc="-15"/>
              <a:t> </a:t>
            </a:r>
            <a:r>
              <a:rPr dirty="0" sz="2050"/>
              <a:t>with</a:t>
            </a:r>
            <a:r>
              <a:rPr dirty="0" sz="2050" spc="5"/>
              <a:t> </a:t>
            </a:r>
            <a:r>
              <a:rPr dirty="0" sz="2050" spc="-20"/>
              <a:t>him)</a:t>
            </a:r>
            <a:endParaRPr sz="2050"/>
          </a:p>
        </p:txBody>
      </p:sp>
      <p:sp>
        <p:nvSpPr>
          <p:cNvPr id="5" name="object 5" descr=""/>
          <p:cNvSpPr txBox="1"/>
          <p:nvPr/>
        </p:nvSpPr>
        <p:spPr>
          <a:xfrm>
            <a:off x="252498" y="2020345"/>
            <a:ext cx="8455660" cy="66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dirty="0" sz="1400">
                <a:latin typeface="Trebuchet MS"/>
                <a:cs typeface="Trebuchet MS"/>
              </a:rPr>
              <a:t>Need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Single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Book:</a:t>
            </a:r>
            <a:r>
              <a:rPr dirty="0" sz="1400" spc="-10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After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Prophet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passed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away,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many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those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who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memorized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Quran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(huffaz) </a:t>
            </a:r>
            <a:r>
              <a:rPr dirty="0" sz="1400">
                <a:latin typeface="Trebuchet MS"/>
                <a:cs typeface="Trebuchet MS"/>
              </a:rPr>
              <a:t>were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martyred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 Battle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Yamama.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This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made it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urgent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collect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verses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into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one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written manuscript.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5667" y="2835636"/>
            <a:ext cx="3796029" cy="1221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0070BF"/>
                </a:solidFill>
                <a:latin typeface="Arial"/>
                <a:cs typeface="Arial"/>
              </a:rPr>
              <a:t>A.</a:t>
            </a:r>
            <a:r>
              <a:rPr dirty="0" sz="1900" spc="-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Leadership</a:t>
            </a:r>
            <a:r>
              <a:rPr dirty="0" u="sng" sz="1900" spc="-8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by</a:t>
            </a:r>
            <a:r>
              <a:rPr dirty="0" u="sng" sz="190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Zaid</a:t>
            </a:r>
            <a:r>
              <a:rPr dirty="0" u="sng" sz="190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ibn</a:t>
            </a:r>
            <a:r>
              <a:rPr dirty="0" u="sng" sz="190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Thabit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-10">
                <a:latin typeface="Arial MT"/>
                <a:cs typeface="Arial MT"/>
              </a:rPr>
              <a:t>Explanation:</a:t>
            </a:r>
            <a:endParaRPr sz="1450">
              <a:latin typeface="Arial MT"/>
              <a:cs typeface="Arial MT"/>
            </a:endParaRPr>
          </a:p>
          <a:p>
            <a:pPr marL="12700" marR="431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Caliph</a:t>
            </a:r>
            <a:r>
              <a:rPr dirty="0" sz="1450" spc="-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Abu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Bakr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appointed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Zaid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ibn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Thabit,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50">
                <a:latin typeface="Arial MT"/>
                <a:cs typeface="Arial MT"/>
              </a:rPr>
              <a:t>a </a:t>
            </a:r>
            <a:r>
              <a:rPr dirty="0" sz="1450">
                <a:latin typeface="Arial MT"/>
                <a:cs typeface="Arial MT"/>
              </a:rPr>
              <a:t>trusted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scribe,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collect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verses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because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deep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knowledge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Quran.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76387" y="2835636"/>
            <a:ext cx="3887470" cy="167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0070BF"/>
                </a:solidFill>
                <a:latin typeface="Arial"/>
                <a:cs typeface="Arial"/>
              </a:rPr>
              <a:t>B.</a:t>
            </a:r>
            <a:r>
              <a:rPr dirty="0" sz="190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Stringent</a:t>
            </a:r>
            <a:r>
              <a:rPr dirty="0" u="sng" sz="190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Collection</a:t>
            </a:r>
            <a:r>
              <a:rPr dirty="0" u="sng" sz="1900" spc="-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Process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-10">
                <a:latin typeface="Arial MT"/>
                <a:cs typeface="Arial MT"/>
              </a:rPr>
              <a:t>Explanation: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Zaid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gathered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written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pieces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from </a:t>
            </a:r>
            <a:r>
              <a:rPr dirty="0" sz="1450">
                <a:latin typeface="Arial MT"/>
                <a:cs typeface="Arial MT"/>
              </a:rPr>
              <a:t>various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sources.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checked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verse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several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witnesses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memorized</a:t>
            </a:r>
            <a:r>
              <a:rPr dirty="0" sz="1450" spc="50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make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sure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everything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was </a:t>
            </a:r>
            <a:r>
              <a:rPr dirty="0" sz="1450" spc="-10">
                <a:latin typeface="Arial MT"/>
                <a:cs typeface="Arial MT"/>
              </a:rPr>
              <a:t>correct.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02002" y="4676603"/>
            <a:ext cx="5121910" cy="144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55675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0070BF"/>
                </a:solidFill>
                <a:latin typeface="Arial"/>
                <a:cs typeface="Arial"/>
              </a:rPr>
              <a:t>C.</a:t>
            </a:r>
            <a:r>
              <a:rPr dirty="0" sz="1900" spc="-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Completion</a:t>
            </a:r>
            <a:r>
              <a:rPr dirty="0" u="sng" sz="1900" spc="-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90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90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Mus’haf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-10">
                <a:latin typeface="Arial MT"/>
                <a:cs typeface="Arial MT"/>
              </a:rPr>
              <a:t>Explanation:</a:t>
            </a:r>
            <a:endParaRPr sz="1450">
              <a:latin typeface="Arial MT"/>
              <a:cs typeface="Arial MT"/>
            </a:endParaRPr>
          </a:p>
          <a:p>
            <a:pPr marL="12700" marR="5080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After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careful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verification,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verses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were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organized </a:t>
            </a:r>
            <a:r>
              <a:rPr dirty="0" sz="1450" spc="-20">
                <a:latin typeface="Arial MT"/>
                <a:cs typeface="Arial MT"/>
              </a:rPr>
              <a:t>into </a:t>
            </a:r>
            <a:r>
              <a:rPr dirty="0" sz="1450">
                <a:latin typeface="Arial MT"/>
                <a:cs typeface="Arial MT"/>
              </a:rPr>
              <a:t>one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complete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book,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known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Mus’haf.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This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Mus’haf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was </a:t>
            </a:r>
            <a:r>
              <a:rPr dirty="0" sz="1450">
                <a:latin typeface="Arial MT"/>
                <a:cs typeface="Arial MT"/>
              </a:rPr>
              <a:t>first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kept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Caliph</a:t>
            </a:r>
            <a:r>
              <a:rPr dirty="0" sz="1450" spc="-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Abu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Bakr,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passed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Caliph </a:t>
            </a:r>
            <a:r>
              <a:rPr dirty="0" sz="1450" spc="-10">
                <a:latin typeface="Arial MT"/>
                <a:cs typeface="Arial MT"/>
              </a:rPr>
              <a:t>Umar,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later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Hafsa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bint-e-Umar,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Prophet’s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widows.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0339" y="1119641"/>
            <a:ext cx="7335520" cy="3403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/>
              <a:t>Compilation</a:t>
            </a:r>
            <a:r>
              <a:rPr dirty="0" sz="2050" spc="5"/>
              <a:t> </a:t>
            </a:r>
            <a:r>
              <a:rPr dirty="0" sz="2050"/>
              <a:t>During</a:t>
            </a:r>
            <a:r>
              <a:rPr dirty="0" sz="2050" spc="-5"/>
              <a:t> </a:t>
            </a:r>
            <a:r>
              <a:rPr dirty="0" sz="2050"/>
              <a:t>the</a:t>
            </a:r>
            <a:r>
              <a:rPr dirty="0" sz="2050" spc="-5"/>
              <a:t> </a:t>
            </a:r>
            <a:r>
              <a:rPr dirty="0" sz="2050"/>
              <a:t>Caliphate</a:t>
            </a:r>
            <a:r>
              <a:rPr dirty="0" sz="2050" spc="-5"/>
              <a:t> </a:t>
            </a:r>
            <a:r>
              <a:rPr dirty="0" sz="2050"/>
              <a:t>of</a:t>
            </a:r>
            <a:r>
              <a:rPr dirty="0" sz="2050" spc="10"/>
              <a:t> </a:t>
            </a:r>
            <a:r>
              <a:rPr dirty="0" sz="2050" spc="-10"/>
              <a:t>Uthman</a:t>
            </a:r>
            <a:r>
              <a:rPr dirty="0" sz="1000" spc="-10"/>
              <a:t>(may</a:t>
            </a:r>
            <a:r>
              <a:rPr dirty="0" sz="1000" spc="-85"/>
              <a:t> </a:t>
            </a:r>
            <a:r>
              <a:rPr dirty="0" sz="1000" spc="-10"/>
              <a:t>Allah</a:t>
            </a:r>
            <a:r>
              <a:rPr dirty="0" sz="1000" spc="-15"/>
              <a:t> </a:t>
            </a:r>
            <a:r>
              <a:rPr dirty="0" sz="1000"/>
              <a:t>be</a:t>
            </a:r>
            <a:r>
              <a:rPr dirty="0" sz="1000" spc="-10"/>
              <a:t> pleased</a:t>
            </a:r>
            <a:r>
              <a:rPr dirty="0" sz="1000" spc="-40"/>
              <a:t> </a:t>
            </a:r>
            <a:r>
              <a:rPr dirty="0" sz="1000"/>
              <a:t>with</a:t>
            </a:r>
            <a:r>
              <a:rPr dirty="0" sz="1000" spc="-20"/>
              <a:t> him)</a:t>
            </a:r>
            <a:endParaRPr sz="1000"/>
          </a:p>
        </p:txBody>
      </p:sp>
      <p:sp>
        <p:nvSpPr>
          <p:cNvPr id="5" name="object 5" descr=""/>
          <p:cNvSpPr txBox="1"/>
          <p:nvPr/>
        </p:nvSpPr>
        <p:spPr>
          <a:xfrm>
            <a:off x="240266" y="1437535"/>
            <a:ext cx="7818755" cy="4457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5440">
              <a:lnSpc>
                <a:spcPct val="148000"/>
              </a:lnSpc>
              <a:spcBef>
                <a:spcPts val="100"/>
              </a:spcBef>
            </a:pPr>
            <a:r>
              <a:rPr dirty="0" sz="1000" b="1">
                <a:latin typeface="Trebuchet MS"/>
                <a:cs typeface="Trebuchet MS"/>
              </a:rPr>
              <a:t>Need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for</a:t>
            </a:r>
            <a:r>
              <a:rPr dirty="0" sz="1000" spc="-15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Standardization: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As</a:t>
            </a:r>
            <a:r>
              <a:rPr dirty="0" sz="1000" spc="-1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Islam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spread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1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many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regions,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differences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dialects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started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10">
                <a:latin typeface="Trebuchet MS"/>
                <a:cs typeface="Trebuchet MS"/>
              </a:rPr>
              <a:t> appear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recitation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of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Quran. </a:t>
            </a:r>
            <a:r>
              <a:rPr dirty="0" sz="1000" spc="-75">
                <a:latin typeface="Trebuchet MS"/>
                <a:cs typeface="Trebuchet MS"/>
              </a:rPr>
              <a:t>To</a:t>
            </a:r>
            <a:r>
              <a:rPr dirty="0" sz="1000" spc="-1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avoid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confusion,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Caliph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Uthman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decided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1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create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</a:t>
            </a:r>
            <a:r>
              <a:rPr dirty="0" sz="1000" spc="-10">
                <a:latin typeface="Trebuchet MS"/>
                <a:cs typeface="Trebuchet MS"/>
              </a:rPr>
              <a:t> standard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copy.</a:t>
            </a:r>
            <a:endParaRPr sz="1000">
              <a:latin typeface="Trebuchet MS"/>
              <a:cs typeface="Trebuchet MS"/>
            </a:endParaRPr>
          </a:p>
          <a:p>
            <a:pPr marL="255904" indent="-243204">
              <a:lnSpc>
                <a:spcPct val="100000"/>
              </a:lnSpc>
              <a:spcBef>
                <a:spcPts val="484"/>
              </a:spcBef>
              <a:buAutoNum type="alphaUcPeriod"/>
              <a:tabLst>
                <a:tab pos="255904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Formation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Committee</a:t>
            </a:r>
            <a:endParaRPr sz="1450">
              <a:latin typeface="Trebuchet MS"/>
              <a:cs typeface="Trebuchet MS"/>
            </a:endParaRPr>
          </a:p>
          <a:p>
            <a:pPr marL="12700" marR="13970">
              <a:lnSpc>
                <a:spcPts val="960"/>
              </a:lnSpc>
              <a:spcBef>
                <a:spcPts val="825"/>
              </a:spcBef>
            </a:pPr>
            <a:r>
              <a:rPr dirty="0" sz="1000" spc="-10">
                <a:latin typeface="Trebuchet MS"/>
                <a:cs typeface="Trebuchet MS"/>
              </a:rPr>
              <a:t>Caliph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Uthman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formed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</a:t>
            </a:r>
            <a:r>
              <a:rPr dirty="0" sz="1000" spc="-1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committee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led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by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Zaid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ibn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Thabit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along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with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other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knowledgeable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companions.</a:t>
            </a:r>
            <a:r>
              <a:rPr dirty="0" sz="1000" spc="-7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Their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task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was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use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Mus’haf from</a:t>
            </a:r>
            <a:r>
              <a:rPr dirty="0" sz="1000" spc="-8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Abu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Bakr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as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base.</a:t>
            </a:r>
            <a:endParaRPr sz="1000">
              <a:latin typeface="Trebuchet MS"/>
              <a:cs typeface="Trebuchet MS"/>
            </a:endParaRPr>
          </a:p>
          <a:p>
            <a:pPr marL="249554" indent="-236854">
              <a:lnSpc>
                <a:spcPct val="100000"/>
              </a:lnSpc>
              <a:spcBef>
                <a:spcPts val="495"/>
              </a:spcBef>
              <a:buAutoNum type="alphaUcPeriod" startAt="2"/>
              <a:tabLst>
                <a:tab pos="249554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Standardization</a:t>
            </a:r>
            <a:r>
              <a:rPr dirty="0" u="sng" sz="1450" spc="1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450" spc="1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Distribution</a:t>
            </a:r>
            <a:endParaRPr sz="1450">
              <a:latin typeface="Trebuchet MS"/>
              <a:cs typeface="Trebuchet MS"/>
            </a:endParaRPr>
          </a:p>
          <a:p>
            <a:pPr marL="12700" marR="300355">
              <a:lnSpc>
                <a:spcPct val="79000"/>
              </a:lnSpc>
              <a:spcBef>
                <a:spcPts val="844"/>
              </a:spcBef>
            </a:pP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committee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produced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several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identical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copies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of</a:t>
            </a:r>
            <a:r>
              <a:rPr dirty="0" sz="1000" spc="-10">
                <a:latin typeface="Trebuchet MS"/>
                <a:cs typeface="Trebuchet MS"/>
              </a:rPr>
              <a:t> the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Quran,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known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as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Uthmanic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codices.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These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copies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were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sent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major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Islamic centers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like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Makkah,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Kufa,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Basra,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and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Damascus.</a:t>
            </a:r>
            <a:endParaRPr sz="1000">
              <a:latin typeface="Trebuchet MS"/>
              <a:cs typeface="Trebuchet MS"/>
            </a:endParaRPr>
          </a:p>
          <a:p>
            <a:pPr marL="251460" indent="-238760">
              <a:lnSpc>
                <a:spcPct val="100000"/>
              </a:lnSpc>
              <a:spcBef>
                <a:spcPts val="484"/>
              </a:spcBef>
              <a:buAutoNum type="alphaUcPeriod" startAt="3"/>
              <a:tabLst>
                <a:tab pos="251460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Preservation</a:t>
            </a:r>
            <a:r>
              <a:rPr dirty="0" u="sng" sz="145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7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Dialects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80000"/>
              </a:lnSpc>
              <a:spcBef>
                <a:spcPts val="865"/>
              </a:spcBef>
            </a:pP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standardized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text</a:t>
            </a:r>
            <a:r>
              <a:rPr dirty="0" sz="900" spc="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was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based on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 Quraish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dialect—</a:t>
            </a: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-3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same dialect</a:t>
            </a:r>
            <a:r>
              <a:rPr dirty="0" sz="900" spc="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spoken</a:t>
            </a:r>
            <a:r>
              <a:rPr dirty="0" sz="900" spc="-1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by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</a:t>
            </a:r>
            <a:r>
              <a:rPr dirty="0" sz="900" spc="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Prophet.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This</a:t>
            </a:r>
            <a:r>
              <a:rPr dirty="0" sz="900" spc="-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helped</a:t>
            </a:r>
            <a:r>
              <a:rPr dirty="0" sz="900" spc="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in</a:t>
            </a:r>
            <a:r>
              <a:rPr dirty="0" sz="900" spc="1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keeping</a:t>
            </a:r>
            <a:r>
              <a:rPr dirty="0" sz="900" spc="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the recitation</a:t>
            </a:r>
            <a:r>
              <a:rPr dirty="0" sz="900" spc="-3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uniform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for </a:t>
            </a:r>
            <a:r>
              <a:rPr dirty="0" sz="900" spc="-25">
                <a:latin typeface="Trebuchet MS"/>
                <a:cs typeface="Trebuchet MS"/>
              </a:rPr>
              <a:t>all </a:t>
            </a:r>
            <a:r>
              <a:rPr dirty="0" sz="900" spc="-10">
                <a:latin typeface="Trebuchet MS"/>
                <a:cs typeface="Trebuchet MS"/>
              </a:rPr>
              <a:t>Muslims.</a:t>
            </a:r>
            <a:endParaRPr sz="900">
              <a:latin typeface="Trebuchet MS"/>
              <a:cs typeface="Trebuchet MS"/>
            </a:endParaRPr>
          </a:p>
          <a:p>
            <a:pPr marL="259715" indent="-247015">
              <a:lnSpc>
                <a:spcPct val="100000"/>
              </a:lnSpc>
              <a:spcBef>
                <a:spcPts val="495"/>
              </a:spcBef>
              <a:buAutoNum type="alphaUcPeriod" startAt="4"/>
              <a:tabLst>
                <a:tab pos="259715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Importance</a:t>
            </a:r>
            <a:r>
              <a:rPr dirty="0" u="sng" sz="145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45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Compilation</a:t>
            </a:r>
            <a:r>
              <a:rPr dirty="0" u="sng" sz="14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Efforts</a:t>
            </a:r>
            <a:endParaRPr sz="1450">
              <a:latin typeface="Trebuchet MS"/>
              <a:cs typeface="Trebuchet MS"/>
            </a:endParaRPr>
          </a:p>
          <a:p>
            <a:pPr marL="12700" marR="11430">
              <a:lnSpc>
                <a:spcPct val="80000"/>
              </a:lnSpc>
              <a:spcBef>
                <a:spcPts val="830"/>
              </a:spcBef>
            </a:pPr>
            <a:r>
              <a:rPr dirty="0" sz="1000" spc="-10">
                <a:latin typeface="Trebuchet MS"/>
                <a:cs typeface="Trebuchet MS"/>
              </a:rPr>
              <a:t>These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careful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efforts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ensured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that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Quran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has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been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preserved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its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original,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unaltered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form.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 spc="-55">
                <a:latin typeface="Trebuchet MS"/>
                <a:cs typeface="Trebuchet MS"/>
              </a:rPr>
              <a:t>Today,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Muslims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around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1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world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read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25">
                <a:latin typeface="Trebuchet MS"/>
                <a:cs typeface="Trebuchet MS"/>
              </a:rPr>
              <a:t>and </a:t>
            </a:r>
            <a:r>
              <a:rPr dirty="0" sz="1000" spc="-10">
                <a:latin typeface="Trebuchet MS"/>
                <a:cs typeface="Trebuchet MS"/>
              </a:rPr>
              <a:t>memorize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same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text,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just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as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it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was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compiled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verified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early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days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of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Islam.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00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preservation</a:t>
            </a:r>
            <a:r>
              <a:rPr dirty="0" u="sng" sz="1000" spc="-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00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compilation</a:t>
            </a:r>
            <a:r>
              <a:rPr dirty="0" u="sng" sz="100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00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00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Quran</a:t>
            </a:r>
            <a:r>
              <a:rPr dirty="0" u="sng" sz="100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occurred</a:t>
            </a:r>
            <a:r>
              <a:rPr dirty="0" u="sng" sz="100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00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three</a:t>
            </a:r>
            <a:r>
              <a:rPr dirty="0" u="sng" sz="100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clear</a:t>
            </a:r>
            <a:r>
              <a:rPr dirty="0" u="sng" sz="100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stages: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-10">
                <a:latin typeface="Trebuchet MS"/>
                <a:cs typeface="Trebuchet MS"/>
              </a:rPr>
              <a:t>During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25">
                <a:latin typeface="Trebuchet MS"/>
                <a:cs typeface="Trebuchet MS"/>
              </a:rPr>
              <a:t>Prophet’s </a:t>
            </a:r>
            <a:r>
              <a:rPr dirty="0" sz="1000" spc="-10">
                <a:latin typeface="Trebuchet MS"/>
                <a:cs typeface="Trebuchet MS"/>
              </a:rPr>
              <a:t>Lifetime:</a:t>
            </a:r>
            <a:r>
              <a:rPr dirty="0" sz="1000" spc="-7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Through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memorization,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writing,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and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regular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verification.</a:t>
            </a:r>
            <a:endParaRPr sz="1000">
              <a:latin typeface="Trebuchet MS"/>
              <a:cs typeface="Trebuchet MS"/>
            </a:endParaRPr>
          </a:p>
          <a:p>
            <a:pPr marL="12700" marR="1649730">
              <a:lnSpc>
                <a:spcPct val="148000"/>
              </a:lnSpc>
            </a:pPr>
            <a:r>
              <a:rPr dirty="0" sz="1000" spc="-10">
                <a:latin typeface="Trebuchet MS"/>
                <a:cs typeface="Trebuchet MS"/>
              </a:rPr>
              <a:t>During</a:t>
            </a:r>
            <a:r>
              <a:rPr dirty="0" sz="1000" spc="-6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Caliph</a:t>
            </a:r>
            <a:r>
              <a:rPr dirty="0" sz="1000" spc="-11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Abu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Bakr’s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Time: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With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urgent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collection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led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by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Zaid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ibn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Thabit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after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many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huffaz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were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lost. During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Caliph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25">
                <a:latin typeface="Trebuchet MS"/>
                <a:cs typeface="Trebuchet MS"/>
              </a:rPr>
              <a:t>Uthman’s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Time: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By</a:t>
            </a:r>
            <a:r>
              <a:rPr dirty="0" sz="1000" spc="-1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standardizing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distributing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text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across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1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Muslim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world.</a:t>
            </a:r>
            <a:endParaRPr sz="1000">
              <a:latin typeface="Trebuchet MS"/>
              <a:cs typeface="Trebuchet MS"/>
            </a:endParaRPr>
          </a:p>
          <a:p>
            <a:pPr marL="12700" marR="189865">
              <a:lnSpc>
                <a:spcPct val="79000"/>
              </a:lnSpc>
              <a:spcBef>
                <a:spcPts val="830"/>
              </a:spcBef>
            </a:pPr>
            <a:r>
              <a:rPr dirty="0" sz="1000" spc="-10">
                <a:latin typeface="Trebuchet MS"/>
                <a:cs typeface="Trebuchet MS"/>
              </a:rPr>
              <a:t>These</a:t>
            </a:r>
            <a:r>
              <a:rPr dirty="0" sz="1000" spc="-6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efforts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show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great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care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dedication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early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Muslims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had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keeping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words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of</a:t>
            </a:r>
            <a:r>
              <a:rPr dirty="0" sz="1000" spc="-7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Allah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safe.</a:t>
            </a:r>
            <a:r>
              <a:rPr dirty="0" sz="1000" spc="-6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result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is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Quran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have </a:t>
            </a:r>
            <a:r>
              <a:rPr dirty="0" sz="1000" spc="-10">
                <a:latin typeface="Trebuchet MS"/>
                <a:cs typeface="Trebuchet MS"/>
              </a:rPr>
              <a:t>today—</a:t>
            </a:r>
            <a:r>
              <a:rPr dirty="0" sz="1000">
                <a:latin typeface="Trebuchet MS"/>
                <a:cs typeface="Trebuchet MS"/>
              </a:rPr>
              <a:t>a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timeless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accurate</a:t>
            </a:r>
            <a:r>
              <a:rPr dirty="0" sz="1000" spc="-6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guide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for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all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generations.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Waqas Naseem</dc:creator>
  <dc:title>Microsoft PowerPoint - Chapter-3 Holy Quran.pptx</dc:title>
  <dcterms:created xsi:type="dcterms:W3CDTF">2025-05-02T09:46:38Z</dcterms:created>
  <dcterms:modified xsi:type="dcterms:W3CDTF">2025-05-02T09:46:38Z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2025-03-28T00:00:00Z</vt:filetime>
  </property>
  <property fmtid="{D5CDD505-2E9C-101B-9397-08002B2CF9AE}" pid="3" name="LastSaved">
    <vt:filetime>2025-05-02T00:00:00Z</vt:filetime>
  </property>
  <property fmtid="{D5CDD505-2E9C-101B-9397-08002B2CF9AE}" pid="4" name="Producer">
    <vt:lpwstr>Microsoft: Print To PDF</vt:lpwstr>
  </property>
</Properties>
</file>