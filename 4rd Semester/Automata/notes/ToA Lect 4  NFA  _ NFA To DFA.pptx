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8"/>
  </p:notesMasterIdLst>
  <p:sldIdLst>
    <p:sldId id="257" r:id="rId2"/>
    <p:sldId id="390" r:id="rId3"/>
    <p:sldId id="406" r:id="rId4"/>
    <p:sldId id="393" r:id="rId5"/>
    <p:sldId id="410" r:id="rId6"/>
    <p:sldId id="412" r:id="rId7"/>
    <p:sldId id="414" r:id="rId8"/>
    <p:sldId id="415" r:id="rId9"/>
    <p:sldId id="417" r:id="rId10"/>
    <p:sldId id="418" r:id="rId11"/>
    <p:sldId id="419" r:id="rId12"/>
    <p:sldId id="454" r:id="rId13"/>
    <p:sldId id="457" r:id="rId14"/>
    <p:sldId id="458" r:id="rId15"/>
    <p:sldId id="456" r:id="rId16"/>
    <p:sldId id="459" r:id="rId17"/>
    <p:sldId id="460" r:id="rId18"/>
    <p:sldId id="420" r:id="rId19"/>
    <p:sldId id="421" r:id="rId20"/>
    <p:sldId id="422" r:id="rId21"/>
    <p:sldId id="423" r:id="rId22"/>
    <p:sldId id="424" r:id="rId23"/>
    <p:sldId id="425" r:id="rId24"/>
    <p:sldId id="426" r:id="rId25"/>
    <p:sldId id="427" r:id="rId26"/>
    <p:sldId id="428" r:id="rId27"/>
    <p:sldId id="437" r:id="rId28"/>
    <p:sldId id="429" r:id="rId29"/>
    <p:sldId id="430" r:id="rId30"/>
    <p:sldId id="431" r:id="rId31"/>
    <p:sldId id="432" r:id="rId32"/>
    <p:sldId id="433" r:id="rId33"/>
    <p:sldId id="434" r:id="rId34"/>
    <p:sldId id="435" r:id="rId35"/>
    <p:sldId id="436" r:id="rId36"/>
    <p:sldId id="438" r:id="rId37"/>
    <p:sldId id="447" r:id="rId38"/>
    <p:sldId id="446" r:id="rId39"/>
    <p:sldId id="448" r:id="rId40"/>
    <p:sldId id="440" r:id="rId41"/>
    <p:sldId id="450" r:id="rId42"/>
    <p:sldId id="441" r:id="rId43"/>
    <p:sldId id="451" r:id="rId44"/>
    <p:sldId id="442" r:id="rId45"/>
    <p:sldId id="452" r:id="rId46"/>
    <p:sldId id="443" r:id="rId47"/>
    <p:sldId id="444" r:id="rId48"/>
    <p:sldId id="445" r:id="rId49"/>
    <p:sldId id="453" r:id="rId50"/>
    <p:sldId id="462" r:id="rId51"/>
    <p:sldId id="463" r:id="rId52"/>
    <p:sldId id="464" r:id="rId53"/>
    <p:sldId id="465" r:id="rId54"/>
    <p:sldId id="466" r:id="rId55"/>
    <p:sldId id="467" r:id="rId56"/>
    <p:sldId id="468" r:id="rId57"/>
    <p:sldId id="469" r:id="rId58"/>
    <p:sldId id="470" r:id="rId59"/>
    <p:sldId id="471" r:id="rId60"/>
    <p:sldId id="472" r:id="rId61"/>
    <p:sldId id="473" r:id="rId62"/>
    <p:sldId id="474" r:id="rId63"/>
    <p:sldId id="475" r:id="rId64"/>
    <p:sldId id="476" r:id="rId65"/>
    <p:sldId id="477" r:id="rId66"/>
    <p:sldId id="478" r:id="rId67"/>
    <p:sldId id="479" r:id="rId68"/>
    <p:sldId id="480" r:id="rId69"/>
    <p:sldId id="481" r:id="rId70"/>
    <p:sldId id="484" r:id="rId71"/>
    <p:sldId id="482" r:id="rId72"/>
    <p:sldId id="485" r:id="rId73"/>
    <p:sldId id="483" r:id="rId74"/>
    <p:sldId id="486" r:id="rId75"/>
    <p:sldId id="487" r:id="rId76"/>
    <p:sldId id="491" r:id="rId77"/>
    <p:sldId id="488" r:id="rId78"/>
    <p:sldId id="489" r:id="rId79"/>
    <p:sldId id="490" r:id="rId80"/>
    <p:sldId id="492" r:id="rId81"/>
    <p:sldId id="493" r:id="rId82"/>
    <p:sldId id="494" r:id="rId83"/>
    <p:sldId id="495" r:id="rId84"/>
    <p:sldId id="497" r:id="rId85"/>
    <p:sldId id="498" r:id="rId86"/>
    <p:sldId id="499" r:id="rId87"/>
    <p:sldId id="500" r:id="rId88"/>
    <p:sldId id="501" r:id="rId89"/>
    <p:sldId id="502" r:id="rId90"/>
    <p:sldId id="503" r:id="rId91"/>
    <p:sldId id="504" r:id="rId92"/>
    <p:sldId id="505" r:id="rId93"/>
    <p:sldId id="506" r:id="rId94"/>
    <p:sldId id="507" r:id="rId95"/>
    <p:sldId id="508" r:id="rId96"/>
    <p:sldId id="509" r:id="rId97"/>
    <p:sldId id="510" r:id="rId98"/>
    <p:sldId id="511" r:id="rId99"/>
    <p:sldId id="512" r:id="rId100"/>
    <p:sldId id="513" r:id="rId101"/>
    <p:sldId id="514" r:id="rId102"/>
    <p:sldId id="515" r:id="rId103"/>
    <p:sldId id="516" r:id="rId104"/>
    <p:sldId id="517" r:id="rId105"/>
    <p:sldId id="518" r:id="rId106"/>
    <p:sldId id="519" r:id="rId107"/>
    <p:sldId id="520" r:id="rId108"/>
    <p:sldId id="521" r:id="rId109"/>
    <p:sldId id="522" r:id="rId110"/>
    <p:sldId id="523" r:id="rId111"/>
    <p:sldId id="524" r:id="rId112"/>
    <p:sldId id="525" r:id="rId113"/>
    <p:sldId id="526" r:id="rId114"/>
    <p:sldId id="527" r:id="rId115"/>
    <p:sldId id="528" r:id="rId116"/>
    <p:sldId id="529" r:id="rId1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43" autoAdjust="0"/>
    <p:restoredTop sz="94660"/>
  </p:normalViewPr>
  <p:slideViewPr>
    <p:cSldViewPr snapToGrid="0">
      <p:cViewPr varScale="1">
        <p:scale>
          <a:sx n="94" d="100"/>
          <a:sy n="94" d="100"/>
        </p:scale>
        <p:origin x="403" y="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13" Type="http://schemas.openxmlformats.org/officeDocument/2006/relationships/slide" Target="slides/slide112.xml"/><Relationship Id="rId11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11" Type="http://schemas.openxmlformats.org/officeDocument/2006/relationships/slide" Target="slides/slide11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14" Type="http://schemas.openxmlformats.org/officeDocument/2006/relationships/slide" Target="slides/slide113.xml"/><Relationship Id="rId119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79EBA8-DDA1-4AB3-B07E-8AA6C4D205AC}" type="datetimeFigureOut">
              <a:rPr lang="en-US" smtClean="0"/>
              <a:pPr/>
              <a:t>4/15/2024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464BAD-4C6F-4963-9982-EA3E7F549A2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0876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B22B-F392-4B25-AB04-0A5AAD448F9C}" type="datetime1">
              <a:rPr lang="en-US" smtClean="0"/>
              <a:pPr/>
              <a:t>4/15/2024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2672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DBD49-2BAF-4B95-86E0-118A92E5E563}" type="datetime1">
              <a:rPr lang="en-US" smtClean="0"/>
              <a:pPr/>
              <a:t>4/15/2024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7252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EE944-CDEE-4D0D-A847-C60B84B72808}" type="datetime1">
              <a:rPr lang="en-US" smtClean="0"/>
              <a:pPr/>
              <a:t>4/15/2024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504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EEAB84-7F29-494F-ADE2-A98E6EFD2F7B}" type="datetime1">
              <a:rPr lang="en-US" smtClean="0"/>
              <a:pPr/>
              <a:t>4/15/2024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4825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5F32E-3F89-4168-AFD8-A604666AC102}" type="datetime1">
              <a:rPr lang="en-US" smtClean="0"/>
              <a:pPr/>
              <a:t>4/15/2024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56485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E0857-0DE5-41E8-B03F-8919884F36FC}" type="datetime1">
              <a:rPr lang="en-US" smtClean="0"/>
              <a:pPr/>
              <a:t>4/15/2024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230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29B9F-4709-4E7A-A91A-C4C980098F49}" type="datetime1">
              <a:rPr lang="en-US" smtClean="0"/>
              <a:pPr/>
              <a:t>4/15/2024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8067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314C3-4346-4F5B-861E-A1A0641A9428}" type="datetime1">
              <a:rPr lang="en-US" smtClean="0"/>
              <a:pPr/>
              <a:t>4/15/2024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4076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17D17-787E-4508-8684-BE220DC9491E}" type="datetime1">
              <a:rPr lang="en-US" smtClean="0"/>
              <a:pPr/>
              <a:t>4/15/2024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1452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E8AF0-6F54-48F0-84DD-8981FD128CDC}" type="datetime1">
              <a:rPr lang="en-US" smtClean="0"/>
              <a:pPr/>
              <a:t>4/15/2024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3146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BAE74-0E77-4AF9-A65B-78E647684C61}" type="datetime1">
              <a:rPr lang="en-US" smtClean="0"/>
              <a:pPr/>
              <a:t>4/15/2024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1304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F2074-D7C2-4DFE-B201-6B2F5B874030}" type="datetime1">
              <a:rPr lang="en-US" smtClean="0"/>
              <a:pPr/>
              <a:t>4/15/2024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803463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2D29A-28BE-4E69-A65A-4D7B03795170}" type="datetime1">
              <a:rPr lang="en-US" smtClean="0"/>
              <a:pPr/>
              <a:t>4/15/2024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4479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53BE3-AD7C-4DFA-8E74-D64362321A0C}" type="datetime1">
              <a:rPr lang="en-US" smtClean="0"/>
              <a:pPr/>
              <a:t>4/15/2024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0480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E7AC6-8E32-4991-87BE-E815C5FC85F7}" type="datetime1">
              <a:rPr lang="en-US" smtClean="0"/>
              <a:pPr/>
              <a:t>4/15/2024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5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42D84-5099-469C-885E-3D9EDC2AB8E0}" type="datetime1">
              <a:rPr lang="en-US" smtClean="0"/>
              <a:pPr/>
              <a:t>4/15/2024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0528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467865-681A-43C5-AC62-12B2C76D9845}" type="datetime1">
              <a:rPr lang="en-US" smtClean="0"/>
              <a:pPr/>
              <a:t>4/15/2024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1975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1EC87C72-48BC-46D9-818F-5C441AA70BC9}" type="datetime1">
              <a:rPr lang="en-US" smtClean="0"/>
              <a:pPr/>
              <a:t>4/15/2024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403168-B5C7-47B0-92CD-29BB54F18D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44237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530FC02-A163-4881-AB92-5D58261BA5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00729" y="1192697"/>
            <a:ext cx="8825658" cy="4287050"/>
          </a:xfrm>
        </p:spPr>
        <p:txBody>
          <a:bodyPr/>
          <a:lstStyle/>
          <a:p>
            <a:pPr algn="ctr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Theory of Automata </a:t>
            </a:r>
            <a:b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</a:t>
            </a:r>
            <a:b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Formal Languages</a:t>
            </a:r>
            <a:b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5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CS-224</a:t>
            </a:r>
            <a:endParaRPr lang="en-US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97999725-D0CC-406C-B9E2-9CEA777B7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E9B36-69C9-4307-A67C-96598040E013}" type="slidenum">
              <a:rPr lang="en-US" smtClean="0"/>
              <a:pPr/>
              <a:t>1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95AAD019-5575-4FDF-9A25-A21EAAA04C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4" y="0"/>
            <a:ext cx="1562983" cy="156298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C6837D31-6D79-4AFC-9E3E-AE054EE8D669}"/>
              </a:ext>
            </a:extLst>
          </p:cNvPr>
          <p:cNvSpPr txBox="1"/>
          <p:nvPr/>
        </p:nvSpPr>
        <p:spPr>
          <a:xfrm>
            <a:off x="1603663" y="111063"/>
            <a:ext cx="76310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Sir Syed University of Engineering &amp; Technology, Karachi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7475DEA5-836A-4454-AEBE-DB7FDA57F650}"/>
              </a:ext>
            </a:extLst>
          </p:cNvPr>
          <p:cNvSpPr txBox="1"/>
          <p:nvPr/>
        </p:nvSpPr>
        <p:spPr>
          <a:xfrm>
            <a:off x="3347495" y="6210779"/>
            <a:ext cx="44133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i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</a:t>
            </a:r>
            <a:r>
              <a:rPr lang="en-US" sz="2400" b="1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Computer Science</a:t>
            </a:r>
          </a:p>
        </p:txBody>
      </p:sp>
    </p:spTree>
    <p:extLst>
      <p:ext uri="{BB962C8B-B14F-4D97-AF65-F5344CB8AC3E}">
        <p14:creationId xmlns:p14="http://schemas.microsoft.com/office/powerpoint/2010/main" val="40224694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4712044-9328-4052-BD33-996D8F7259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676" y="123069"/>
            <a:ext cx="6631369" cy="767686"/>
          </a:xfrm>
        </p:spPr>
        <p:txBody>
          <a:bodyPr/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Nondeterministic Finite Automata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2027775E-FA46-4C27-A931-97043C5CB9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5676" y="979795"/>
            <a:ext cx="11221550" cy="2360382"/>
          </a:xfrm>
        </p:spPr>
        <p:txBody>
          <a:bodyPr>
            <a:noAutofit/>
          </a:bodyPr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NFA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stands for 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deterministic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finite automata (NDFA). 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easy to construct an 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NFA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than DFA for a given regular language.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NFA there is no need to draw all paths from any state. Instead draw only valid paths</a:t>
            </a:r>
          </a:p>
          <a:p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L1 = All words having at least one and at most 3 character length are valid.</a:t>
            </a: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8F09D595-02EF-46C4-9D9F-2FE12CE64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2</a:t>
            </a:fld>
            <a:endParaRPr lang="en-US"/>
          </a:p>
        </p:txBody>
      </p:sp>
      <p:grpSp>
        <p:nvGrpSpPr>
          <p:cNvPr id="61" name="Group 60">
            <a:extLst>
              <a:ext uri="{FF2B5EF4-FFF2-40B4-BE49-F238E27FC236}">
                <a16:creationId xmlns="" xmlns:a16="http://schemas.microsoft.com/office/drawing/2014/main" id="{B6CEB5AF-0B2B-4895-BB68-33EC4709A514}"/>
              </a:ext>
            </a:extLst>
          </p:cNvPr>
          <p:cNvGrpSpPr/>
          <p:nvPr/>
        </p:nvGrpSpPr>
        <p:grpSpPr>
          <a:xfrm>
            <a:off x="5300867" y="3360847"/>
            <a:ext cx="6308634" cy="2939233"/>
            <a:chOff x="5300867" y="3360847"/>
            <a:chExt cx="6308634" cy="2939233"/>
          </a:xfrm>
        </p:grpSpPr>
        <p:sp>
          <p:nvSpPr>
            <p:cNvPr id="33" name="Oval 32">
              <a:extLst>
                <a:ext uri="{FF2B5EF4-FFF2-40B4-BE49-F238E27FC236}">
                  <a16:creationId xmlns="" xmlns:a16="http://schemas.microsoft.com/office/drawing/2014/main" id="{CC97C593-C923-4D67-9513-F5E0F9AC3201}"/>
                </a:ext>
              </a:extLst>
            </p:cNvPr>
            <p:cNvSpPr/>
            <p:nvPr/>
          </p:nvSpPr>
          <p:spPr>
            <a:xfrm>
              <a:off x="5880106" y="3580388"/>
              <a:ext cx="723331" cy="63914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x0</a:t>
              </a:r>
            </a:p>
          </p:txBody>
        </p:sp>
        <p:cxnSp>
          <p:nvCxnSpPr>
            <p:cNvPr id="34" name="Straight Arrow Connector 33">
              <a:extLst>
                <a:ext uri="{FF2B5EF4-FFF2-40B4-BE49-F238E27FC236}">
                  <a16:creationId xmlns="" xmlns:a16="http://schemas.microsoft.com/office/drawing/2014/main" id="{A7B69B25-287C-4B45-8356-046FB56F7FEC}"/>
                </a:ext>
              </a:extLst>
            </p:cNvPr>
            <p:cNvCxnSpPr>
              <a:cxnSpLocks/>
            </p:cNvCxnSpPr>
            <p:nvPr/>
          </p:nvCxnSpPr>
          <p:spPr>
            <a:xfrm>
              <a:off x="5300867" y="3895364"/>
              <a:ext cx="556591" cy="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5" name="Group 34">
              <a:extLst>
                <a:ext uri="{FF2B5EF4-FFF2-40B4-BE49-F238E27FC236}">
                  <a16:creationId xmlns="" xmlns:a16="http://schemas.microsoft.com/office/drawing/2014/main" id="{3BD640DA-FE26-4A84-AFF7-B19F9023DAF5}"/>
                </a:ext>
              </a:extLst>
            </p:cNvPr>
            <p:cNvGrpSpPr/>
            <p:nvPr/>
          </p:nvGrpSpPr>
          <p:grpSpPr>
            <a:xfrm>
              <a:off x="7433104" y="3417439"/>
              <a:ext cx="839021" cy="802091"/>
              <a:chOff x="10512625" y="1744747"/>
              <a:chExt cx="839021" cy="802091"/>
            </a:xfrm>
          </p:grpSpPr>
          <p:sp>
            <p:nvSpPr>
              <p:cNvPr id="36" name="Oval 35">
                <a:extLst>
                  <a:ext uri="{FF2B5EF4-FFF2-40B4-BE49-F238E27FC236}">
                    <a16:creationId xmlns="" xmlns:a16="http://schemas.microsoft.com/office/drawing/2014/main" id="{1B856871-166E-4589-B557-F3B069DA4A78}"/>
                  </a:ext>
                </a:extLst>
              </p:cNvPr>
              <p:cNvSpPr/>
              <p:nvPr/>
            </p:nvSpPr>
            <p:spPr>
              <a:xfrm>
                <a:off x="10512625" y="1744747"/>
                <a:ext cx="839021" cy="802091"/>
              </a:xfrm>
              <a:prstGeom prst="ellips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7" name="Oval 36">
                <a:extLst>
                  <a:ext uri="{FF2B5EF4-FFF2-40B4-BE49-F238E27FC236}">
                    <a16:creationId xmlns="" xmlns:a16="http://schemas.microsoft.com/office/drawing/2014/main" id="{065BB9B4-97F0-46FA-ACAA-7AFC84C3135D}"/>
                  </a:ext>
                </a:extLst>
              </p:cNvPr>
              <p:cNvSpPr/>
              <p:nvPr/>
            </p:nvSpPr>
            <p:spPr>
              <a:xfrm>
                <a:off x="10585318" y="1837172"/>
                <a:ext cx="681980" cy="628192"/>
              </a:xfrm>
              <a:prstGeom prst="ellips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x1</a:t>
                </a:r>
              </a:p>
            </p:txBody>
          </p:sp>
        </p:grpSp>
        <p:grpSp>
          <p:nvGrpSpPr>
            <p:cNvPr id="38" name="Group 37">
              <a:extLst>
                <a:ext uri="{FF2B5EF4-FFF2-40B4-BE49-F238E27FC236}">
                  <a16:creationId xmlns="" xmlns:a16="http://schemas.microsoft.com/office/drawing/2014/main" id="{E9EE438A-8A90-4037-9B21-0AAC173FA7EF}"/>
                </a:ext>
              </a:extLst>
            </p:cNvPr>
            <p:cNvGrpSpPr/>
            <p:nvPr/>
          </p:nvGrpSpPr>
          <p:grpSpPr>
            <a:xfrm>
              <a:off x="9101792" y="3417438"/>
              <a:ext cx="839021" cy="802091"/>
              <a:chOff x="10512625" y="1744747"/>
              <a:chExt cx="839021" cy="802091"/>
            </a:xfrm>
          </p:grpSpPr>
          <p:sp>
            <p:nvSpPr>
              <p:cNvPr id="39" name="Oval 38">
                <a:extLst>
                  <a:ext uri="{FF2B5EF4-FFF2-40B4-BE49-F238E27FC236}">
                    <a16:creationId xmlns="" xmlns:a16="http://schemas.microsoft.com/office/drawing/2014/main" id="{87257E78-699E-4514-8C35-4C6A79BEB878}"/>
                  </a:ext>
                </a:extLst>
              </p:cNvPr>
              <p:cNvSpPr/>
              <p:nvPr/>
            </p:nvSpPr>
            <p:spPr>
              <a:xfrm>
                <a:off x="10512625" y="1744747"/>
                <a:ext cx="839021" cy="802091"/>
              </a:xfrm>
              <a:prstGeom prst="ellips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0" name="Oval 39">
                <a:extLst>
                  <a:ext uri="{FF2B5EF4-FFF2-40B4-BE49-F238E27FC236}">
                    <a16:creationId xmlns="" xmlns:a16="http://schemas.microsoft.com/office/drawing/2014/main" id="{65B3B94F-0FB3-4E05-8672-36C45BB77F3B}"/>
                  </a:ext>
                </a:extLst>
              </p:cNvPr>
              <p:cNvSpPr/>
              <p:nvPr/>
            </p:nvSpPr>
            <p:spPr>
              <a:xfrm>
                <a:off x="10585318" y="1837172"/>
                <a:ext cx="681980" cy="628192"/>
              </a:xfrm>
              <a:prstGeom prst="ellips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x2</a:t>
                </a:r>
              </a:p>
            </p:txBody>
          </p:sp>
        </p:grpSp>
        <p:grpSp>
          <p:nvGrpSpPr>
            <p:cNvPr id="41" name="Group 40">
              <a:extLst>
                <a:ext uri="{FF2B5EF4-FFF2-40B4-BE49-F238E27FC236}">
                  <a16:creationId xmlns="" xmlns:a16="http://schemas.microsoft.com/office/drawing/2014/main" id="{0A4DCD06-5E4A-4583-A0B6-5C9E030EB8FA}"/>
                </a:ext>
              </a:extLst>
            </p:cNvPr>
            <p:cNvGrpSpPr/>
            <p:nvPr/>
          </p:nvGrpSpPr>
          <p:grpSpPr>
            <a:xfrm>
              <a:off x="10770480" y="3360847"/>
              <a:ext cx="839021" cy="802091"/>
              <a:chOff x="10512625" y="1744747"/>
              <a:chExt cx="839021" cy="802091"/>
            </a:xfrm>
          </p:grpSpPr>
          <p:sp>
            <p:nvSpPr>
              <p:cNvPr id="42" name="Oval 41">
                <a:extLst>
                  <a:ext uri="{FF2B5EF4-FFF2-40B4-BE49-F238E27FC236}">
                    <a16:creationId xmlns="" xmlns:a16="http://schemas.microsoft.com/office/drawing/2014/main" id="{54D920D1-5AAD-4853-8727-7331BDD216EC}"/>
                  </a:ext>
                </a:extLst>
              </p:cNvPr>
              <p:cNvSpPr/>
              <p:nvPr/>
            </p:nvSpPr>
            <p:spPr>
              <a:xfrm>
                <a:off x="10512625" y="1744747"/>
                <a:ext cx="839021" cy="802091"/>
              </a:xfrm>
              <a:prstGeom prst="ellips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3" name="Oval 42">
                <a:extLst>
                  <a:ext uri="{FF2B5EF4-FFF2-40B4-BE49-F238E27FC236}">
                    <a16:creationId xmlns="" xmlns:a16="http://schemas.microsoft.com/office/drawing/2014/main" id="{7F8D0F6A-4C0E-456C-A411-11D2FD2BB978}"/>
                  </a:ext>
                </a:extLst>
              </p:cNvPr>
              <p:cNvSpPr/>
              <p:nvPr/>
            </p:nvSpPr>
            <p:spPr>
              <a:xfrm>
                <a:off x="10585318" y="1837172"/>
                <a:ext cx="681980" cy="628192"/>
              </a:xfrm>
              <a:prstGeom prst="ellips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x3</a:t>
                </a:r>
              </a:p>
            </p:txBody>
          </p:sp>
        </p:grpSp>
        <p:grpSp>
          <p:nvGrpSpPr>
            <p:cNvPr id="44" name="Group 43">
              <a:extLst>
                <a:ext uri="{FF2B5EF4-FFF2-40B4-BE49-F238E27FC236}">
                  <a16:creationId xmlns="" xmlns:a16="http://schemas.microsoft.com/office/drawing/2014/main" id="{81D73235-B24A-4386-8FBE-83A82A7EB125}"/>
                </a:ext>
              </a:extLst>
            </p:cNvPr>
            <p:cNvGrpSpPr/>
            <p:nvPr/>
          </p:nvGrpSpPr>
          <p:grpSpPr>
            <a:xfrm>
              <a:off x="9967805" y="3435725"/>
              <a:ext cx="839021" cy="376763"/>
              <a:chOff x="7528817" y="3219973"/>
              <a:chExt cx="1162516" cy="376763"/>
            </a:xfrm>
          </p:grpSpPr>
          <p:cxnSp>
            <p:nvCxnSpPr>
              <p:cNvPr id="45" name="Straight Arrow Connector 44">
                <a:extLst>
                  <a:ext uri="{FF2B5EF4-FFF2-40B4-BE49-F238E27FC236}">
                    <a16:creationId xmlns="" xmlns:a16="http://schemas.microsoft.com/office/drawing/2014/main" id="{907ECAF9-D7B5-47A4-B964-09F141816134}"/>
                  </a:ext>
                </a:extLst>
              </p:cNvPr>
              <p:cNvCxnSpPr/>
              <p:nvPr/>
            </p:nvCxnSpPr>
            <p:spPr>
              <a:xfrm>
                <a:off x="7528817" y="3596736"/>
                <a:ext cx="1162516" cy="0"/>
              </a:xfrm>
              <a:prstGeom prst="straightConnector1">
                <a:avLst/>
              </a:prstGeom>
              <a:ln w="38100">
                <a:solidFill>
                  <a:schemeClr val="bg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6" name="TextBox 45">
                <a:extLst>
                  <a:ext uri="{FF2B5EF4-FFF2-40B4-BE49-F238E27FC236}">
                    <a16:creationId xmlns="" xmlns:a16="http://schemas.microsoft.com/office/drawing/2014/main" id="{61C26185-ECCA-49C3-983F-8B86705E55CF}"/>
                  </a:ext>
                </a:extLst>
              </p:cNvPr>
              <p:cNvSpPr txBox="1"/>
              <p:nvPr/>
            </p:nvSpPr>
            <p:spPr>
              <a:xfrm>
                <a:off x="7592139" y="3219973"/>
                <a:ext cx="93196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a/b</a:t>
                </a:r>
              </a:p>
            </p:txBody>
          </p:sp>
        </p:grpSp>
        <p:grpSp>
          <p:nvGrpSpPr>
            <p:cNvPr id="47" name="Group 46">
              <a:extLst>
                <a:ext uri="{FF2B5EF4-FFF2-40B4-BE49-F238E27FC236}">
                  <a16:creationId xmlns="" xmlns:a16="http://schemas.microsoft.com/office/drawing/2014/main" id="{35C16762-BFA1-4678-AEF4-4D0F7A9ADA42}"/>
                </a:ext>
              </a:extLst>
            </p:cNvPr>
            <p:cNvGrpSpPr/>
            <p:nvPr/>
          </p:nvGrpSpPr>
          <p:grpSpPr>
            <a:xfrm>
              <a:off x="6595031" y="3466320"/>
              <a:ext cx="839021" cy="376763"/>
              <a:chOff x="7528817" y="3219973"/>
              <a:chExt cx="1162516" cy="376763"/>
            </a:xfrm>
          </p:grpSpPr>
          <p:cxnSp>
            <p:nvCxnSpPr>
              <p:cNvPr id="48" name="Straight Arrow Connector 47">
                <a:extLst>
                  <a:ext uri="{FF2B5EF4-FFF2-40B4-BE49-F238E27FC236}">
                    <a16:creationId xmlns="" xmlns:a16="http://schemas.microsoft.com/office/drawing/2014/main" id="{669FAA64-AD47-489C-B83E-282D7BB48BFA}"/>
                  </a:ext>
                </a:extLst>
              </p:cNvPr>
              <p:cNvCxnSpPr/>
              <p:nvPr/>
            </p:nvCxnSpPr>
            <p:spPr>
              <a:xfrm>
                <a:off x="7528817" y="3596736"/>
                <a:ext cx="1162516" cy="0"/>
              </a:xfrm>
              <a:prstGeom prst="straightConnector1">
                <a:avLst/>
              </a:prstGeom>
              <a:ln w="38100">
                <a:solidFill>
                  <a:schemeClr val="bg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9" name="TextBox 48">
                <a:extLst>
                  <a:ext uri="{FF2B5EF4-FFF2-40B4-BE49-F238E27FC236}">
                    <a16:creationId xmlns="" xmlns:a16="http://schemas.microsoft.com/office/drawing/2014/main" id="{FB66E56F-3ED1-462C-AB82-AB43D634D5E7}"/>
                  </a:ext>
                </a:extLst>
              </p:cNvPr>
              <p:cNvSpPr txBox="1"/>
              <p:nvPr/>
            </p:nvSpPr>
            <p:spPr>
              <a:xfrm>
                <a:off x="7592139" y="3219973"/>
                <a:ext cx="93196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a/b</a:t>
                </a:r>
              </a:p>
            </p:txBody>
          </p:sp>
        </p:grpSp>
        <p:grpSp>
          <p:nvGrpSpPr>
            <p:cNvPr id="50" name="Group 49">
              <a:extLst>
                <a:ext uri="{FF2B5EF4-FFF2-40B4-BE49-F238E27FC236}">
                  <a16:creationId xmlns="" xmlns:a16="http://schemas.microsoft.com/office/drawing/2014/main" id="{3546EA2B-D444-4FFA-A37C-8E830D2E73CC}"/>
                </a:ext>
              </a:extLst>
            </p:cNvPr>
            <p:cNvGrpSpPr/>
            <p:nvPr/>
          </p:nvGrpSpPr>
          <p:grpSpPr>
            <a:xfrm>
              <a:off x="8276766" y="3435725"/>
              <a:ext cx="839021" cy="376763"/>
              <a:chOff x="7528817" y="3219973"/>
              <a:chExt cx="1162516" cy="376763"/>
            </a:xfrm>
          </p:grpSpPr>
          <p:cxnSp>
            <p:nvCxnSpPr>
              <p:cNvPr id="51" name="Straight Arrow Connector 50">
                <a:extLst>
                  <a:ext uri="{FF2B5EF4-FFF2-40B4-BE49-F238E27FC236}">
                    <a16:creationId xmlns="" xmlns:a16="http://schemas.microsoft.com/office/drawing/2014/main" id="{46D49F35-5341-44DF-99EA-F1A11A43B1A8}"/>
                  </a:ext>
                </a:extLst>
              </p:cNvPr>
              <p:cNvCxnSpPr/>
              <p:nvPr/>
            </p:nvCxnSpPr>
            <p:spPr>
              <a:xfrm>
                <a:off x="7528817" y="3596736"/>
                <a:ext cx="1162516" cy="0"/>
              </a:xfrm>
              <a:prstGeom prst="straightConnector1">
                <a:avLst/>
              </a:prstGeom>
              <a:ln w="38100">
                <a:solidFill>
                  <a:schemeClr val="bg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2" name="TextBox 51">
                <a:extLst>
                  <a:ext uri="{FF2B5EF4-FFF2-40B4-BE49-F238E27FC236}">
                    <a16:creationId xmlns="" xmlns:a16="http://schemas.microsoft.com/office/drawing/2014/main" id="{9790E594-251D-4489-9CE6-8AADDA575F44}"/>
                  </a:ext>
                </a:extLst>
              </p:cNvPr>
              <p:cNvSpPr txBox="1"/>
              <p:nvPr/>
            </p:nvSpPr>
            <p:spPr>
              <a:xfrm>
                <a:off x="7592139" y="3219973"/>
                <a:ext cx="93196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a/b</a:t>
                </a:r>
              </a:p>
            </p:txBody>
          </p:sp>
        </p:grpSp>
        <p:sp>
          <p:nvSpPr>
            <p:cNvPr id="53" name="Oval 52">
              <a:extLst>
                <a:ext uri="{FF2B5EF4-FFF2-40B4-BE49-F238E27FC236}">
                  <a16:creationId xmlns="" xmlns:a16="http://schemas.microsoft.com/office/drawing/2014/main" id="{F82F6BFE-4A95-4C9B-88AE-00932780661A}"/>
                </a:ext>
              </a:extLst>
            </p:cNvPr>
            <p:cNvSpPr/>
            <p:nvPr/>
          </p:nvSpPr>
          <p:spPr>
            <a:xfrm>
              <a:off x="9579147" y="5172071"/>
              <a:ext cx="723331" cy="63914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x4</a:t>
              </a:r>
            </a:p>
          </p:txBody>
        </p:sp>
        <p:grpSp>
          <p:nvGrpSpPr>
            <p:cNvPr id="54" name="Group 53">
              <a:extLst>
                <a:ext uri="{FF2B5EF4-FFF2-40B4-BE49-F238E27FC236}">
                  <a16:creationId xmlns="" xmlns:a16="http://schemas.microsoft.com/office/drawing/2014/main" id="{F69887C9-6ACB-47C3-B62A-5BD41C58EB7F}"/>
                </a:ext>
              </a:extLst>
            </p:cNvPr>
            <p:cNvGrpSpPr/>
            <p:nvPr/>
          </p:nvGrpSpPr>
          <p:grpSpPr>
            <a:xfrm>
              <a:off x="10204736" y="4184557"/>
              <a:ext cx="1041602" cy="1059560"/>
              <a:chOff x="10194887" y="4054287"/>
              <a:chExt cx="1041602" cy="1059560"/>
            </a:xfrm>
          </p:grpSpPr>
          <p:cxnSp>
            <p:nvCxnSpPr>
              <p:cNvPr id="55" name="Straight Arrow Connector 54">
                <a:extLst>
                  <a:ext uri="{FF2B5EF4-FFF2-40B4-BE49-F238E27FC236}">
                    <a16:creationId xmlns="" xmlns:a16="http://schemas.microsoft.com/office/drawing/2014/main" id="{EE0ABC1E-E140-45E7-A14A-43E50AB50F6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194887" y="4054287"/>
                <a:ext cx="734528" cy="1059560"/>
              </a:xfrm>
              <a:prstGeom prst="straightConnector1">
                <a:avLst/>
              </a:prstGeom>
              <a:ln w="38100">
                <a:solidFill>
                  <a:schemeClr val="bg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6" name="TextBox 55">
                <a:extLst>
                  <a:ext uri="{FF2B5EF4-FFF2-40B4-BE49-F238E27FC236}">
                    <a16:creationId xmlns="" xmlns:a16="http://schemas.microsoft.com/office/drawing/2014/main" id="{6A06ADAB-8997-47EF-A054-546F09DD85F3}"/>
                  </a:ext>
                </a:extLst>
              </p:cNvPr>
              <p:cNvSpPr txBox="1"/>
              <p:nvPr/>
            </p:nvSpPr>
            <p:spPr>
              <a:xfrm>
                <a:off x="10622340" y="4410372"/>
                <a:ext cx="614149" cy="3624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a/b</a:t>
                </a:r>
              </a:p>
            </p:txBody>
          </p:sp>
        </p:grpSp>
        <p:grpSp>
          <p:nvGrpSpPr>
            <p:cNvPr id="57" name="Group 56">
              <a:extLst>
                <a:ext uri="{FF2B5EF4-FFF2-40B4-BE49-F238E27FC236}">
                  <a16:creationId xmlns="" xmlns:a16="http://schemas.microsoft.com/office/drawing/2014/main" id="{CDE87A54-3942-4F67-8E23-D3ACEE084FF4}"/>
                </a:ext>
              </a:extLst>
            </p:cNvPr>
            <p:cNvGrpSpPr/>
            <p:nvPr/>
          </p:nvGrpSpPr>
          <p:grpSpPr>
            <a:xfrm rot="3146306">
              <a:off x="9370633" y="5205812"/>
              <a:ext cx="540585" cy="887105"/>
              <a:chOff x="1984650" y="2985447"/>
              <a:chExt cx="540585" cy="887105"/>
            </a:xfrm>
          </p:grpSpPr>
          <p:sp>
            <p:nvSpPr>
              <p:cNvPr id="58" name="Arc 57">
                <a:extLst>
                  <a:ext uri="{FF2B5EF4-FFF2-40B4-BE49-F238E27FC236}">
                    <a16:creationId xmlns="" xmlns:a16="http://schemas.microsoft.com/office/drawing/2014/main" id="{0F23AE9C-F3AD-487C-BA92-C0E9498BAF38}"/>
                  </a:ext>
                </a:extLst>
              </p:cNvPr>
              <p:cNvSpPr/>
              <p:nvPr/>
            </p:nvSpPr>
            <p:spPr>
              <a:xfrm rot="11054314">
                <a:off x="1985101" y="2985447"/>
                <a:ext cx="540134" cy="887105"/>
              </a:xfrm>
              <a:prstGeom prst="arc">
                <a:avLst>
                  <a:gd name="adj1" fmla="val 10711483"/>
                  <a:gd name="adj2" fmla="val 0"/>
                </a:avLst>
              </a:prstGeom>
              <a:ln w="254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9" name="Straight Arrow Connector 58">
                <a:extLst>
                  <a:ext uri="{FF2B5EF4-FFF2-40B4-BE49-F238E27FC236}">
                    <a16:creationId xmlns="" xmlns:a16="http://schemas.microsoft.com/office/drawing/2014/main" id="{E1F7050D-5AD4-4FE0-93C8-1DACDFECDE29}"/>
                  </a:ext>
                </a:extLst>
              </p:cNvPr>
              <p:cNvCxnSpPr/>
              <p:nvPr/>
            </p:nvCxnSpPr>
            <p:spPr>
              <a:xfrm rot="11054314">
                <a:off x="1984650" y="3331902"/>
                <a:ext cx="0" cy="95534"/>
              </a:xfrm>
              <a:prstGeom prst="straightConnector1">
                <a:avLst/>
              </a:prstGeom>
              <a:ln w="25400">
                <a:solidFill>
                  <a:schemeClr val="bg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0" name="TextBox 59">
              <a:extLst>
                <a:ext uri="{FF2B5EF4-FFF2-40B4-BE49-F238E27FC236}">
                  <a16:creationId xmlns="" xmlns:a16="http://schemas.microsoft.com/office/drawing/2014/main" id="{88D9DE6D-7C32-4133-A619-45E5E940ADF5}"/>
                </a:ext>
              </a:extLst>
            </p:cNvPr>
            <p:cNvSpPr txBox="1"/>
            <p:nvPr/>
          </p:nvSpPr>
          <p:spPr>
            <a:xfrm>
              <a:off x="9208181" y="5937676"/>
              <a:ext cx="614149" cy="3624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a/b</a:t>
              </a:r>
            </a:p>
          </p:txBody>
        </p:sp>
      </p:grpSp>
      <p:grpSp>
        <p:nvGrpSpPr>
          <p:cNvPr id="91" name="Group 90">
            <a:extLst>
              <a:ext uri="{FF2B5EF4-FFF2-40B4-BE49-F238E27FC236}">
                <a16:creationId xmlns="" xmlns:a16="http://schemas.microsoft.com/office/drawing/2014/main" id="{7D7ADBBA-FDC9-4B2E-AF40-FD055AA2BC1A}"/>
              </a:ext>
            </a:extLst>
          </p:cNvPr>
          <p:cNvGrpSpPr/>
          <p:nvPr/>
        </p:nvGrpSpPr>
        <p:grpSpPr>
          <a:xfrm>
            <a:off x="387951" y="4923907"/>
            <a:ext cx="6308634" cy="858683"/>
            <a:chOff x="428991" y="4482225"/>
            <a:chExt cx="6308634" cy="858683"/>
          </a:xfrm>
        </p:grpSpPr>
        <p:sp>
          <p:nvSpPr>
            <p:cNvPr id="63" name="Oval 62">
              <a:extLst>
                <a:ext uri="{FF2B5EF4-FFF2-40B4-BE49-F238E27FC236}">
                  <a16:creationId xmlns="" xmlns:a16="http://schemas.microsoft.com/office/drawing/2014/main" id="{5C988030-2BFA-466B-92B4-2814663FFAA3}"/>
                </a:ext>
              </a:extLst>
            </p:cNvPr>
            <p:cNvSpPr/>
            <p:nvPr/>
          </p:nvSpPr>
          <p:spPr>
            <a:xfrm>
              <a:off x="1008230" y="4701766"/>
              <a:ext cx="723331" cy="63914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x0</a:t>
              </a:r>
            </a:p>
          </p:txBody>
        </p:sp>
        <p:cxnSp>
          <p:nvCxnSpPr>
            <p:cNvPr id="64" name="Straight Arrow Connector 63">
              <a:extLst>
                <a:ext uri="{FF2B5EF4-FFF2-40B4-BE49-F238E27FC236}">
                  <a16:creationId xmlns="" xmlns:a16="http://schemas.microsoft.com/office/drawing/2014/main" id="{56F08B06-431F-4F2F-B2B2-658A2865D218}"/>
                </a:ext>
              </a:extLst>
            </p:cNvPr>
            <p:cNvCxnSpPr>
              <a:cxnSpLocks/>
            </p:cNvCxnSpPr>
            <p:nvPr/>
          </p:nvCxnSpPr>
          <p:spPr>
            <a:xfrm>
              <a:off x="428991" y="5016742"/>
              <a:ext cx="556591" cy="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5" name="Group 64">
              <a:extLst>
                <a:ext uri="{FF2B5EF4-FFF2-40B4-BE49-F238E27FC236}">
                  <a16:creationId xmlns="" xmlns:a16="http://schemas.microsoft.com/office/drawing/2014/main" id="{2ADAF4CB-F2B8-4D7B-A446-27A3C118F6DF}"/>
                </a:ext>
              </a:extLst>
            </p:cNvPr>
            <p:cNvGrpSpPr/>
            <p:nvPr/>
          </p:nvGrpSpPr>
          <p:grpSpPr>
            <a:xfrm>
              <a:off x="2561228" y="4538817"/>
              <a:ext cx="839021" cy="802091"/>
              <a:chOff x="10512625" y="1744747"/>
              <a:chExt cx="839021" cy="802091"/>
            </a:xfrm>
          </p:grpSpPr>
          <p:sp>
            <p:nvSpPr>
              <p:cNvPr id="89" name="Oval 88">
                <a:extLst>
                  <a:ext uri="{FF2B5EF4-FFF2-40B4-BE49-F238E27FC236}">
                    <a16:creationId xmlns="" xmlns:a16="http://schemas.microsoft.com/office/drawing/2014/main" id="{74544758-15D3-401F-A105-CA208B08DC2A}"/>
                  </a:ext>
                </a:extLst>
              </p:cNvPr>
              <p:cNvSpPr/>
              <p:nvPr/>
            </p:nvSpPr>
            <p:spPr>
              <a:xfrm>
                <a:off x="10512625" y="1744747"/>
                <a:ext cx="839021" cy="802091"/>
              </a:xfrm>
              <a:prstGeom prst="ellips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0" name="Oval 89">
                <a:extLst>
                  <a:ext uri="{FF2B5EF4-FFF2-40B4-BE49-F238E27FC236}">
                    <a16:creationId xmlns="" xmlns:a16="http://schemas.microsoft.com/office/drawing/2014/main" id="{8C41BFAE-9916-4FA9-B450-059808D7F9CD}"/>
                  </a:ext>
                </a:extLst>
              </p:cNvPr>
              <p:cNvSpPr/>
              <p:nvPr/>
            </p:nvSpPr>
            <p:spPr>
              <a:xfrm>
                <a:off x="10585318" y="1837172"/>
                <a:ext cx="681980" cy="628192"/>
              </a:xfrm>
              <a:prstGeom prst="ellips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x1</a:t>
                </a:r>
              </a:p>
            </p:txBody>
          </p:sp>
        </p:grpSp>
        <p:grpSp>
          <p:nvGrpSpPr>
            <p:cNvPr id="66" name="Group 65">
              <a:extLst>
                <a:ext uri="{FF2B5EF4-FFF2-40B4-BE49-F238E27FC236}">
                  <a16:creationId xmlns="" xmlns:a16="http://schemas.microsoft.com/office/drawing/2014/main" id="{0686C7DC-63EA-45FA-A4AD-375A26C68A70}"/>
                </a:ext>
              </a:extLst>
            </p:cNvPr>
            <p:cNvGrpSpPr/>
            <p:nvPr/>
          </p:nvGrpSpPr>
          <p:grpSpPr>
            <a:xfrm>
              <a:off x="4229916" y="4538816"/>
              <a:ext cx="839021" cy="802091"/>
              <a:chOff x="10512625" y="1744747"/>
              <a:chExt cx="839021" cy="802091"/>
            </a:xfrm>
          </p:grpSpPr>
          <p:sp>
            <p:nvSpPr>
              <p:cNvPr id="87" name="Oval 86">
                <a:extLst>
                  <a:ext uri="{FF2B5EF4-FFF2-40B4-BE49-F238E27FC236}">
                    <a16:creationId xmlns="" xmlns:a16="http://schemas.microsoft.com/office/drawing/2014/main" id="{2384BCDB-4573-4D87-8C60-389BA9C8FEC8}"/>
                  </a:ext>
                </a:extLst>
              </p:cNvPr>
              <p:cNvSpPr/>
              <p:nvPr/>
            </p:nvSpPr>
            <p:spPr>
              <a:xfrm>
                <a:off x="10512625" y="1744747"/>
                <a:ext cx="839021" cy="802091"/>
              </a:xfrm>
              <a:prstGeom prst="ellips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8" name="Oval 87">
                <a:extLst>
                  <a:ext uri="{FF2B5EF4-FFF2-40B4-BE49-F238E27FC236}">
                    <a16:creationId xmlns="" xmlns:a16="http://schemas.microsoft.com/office/drawing/2014/main" id="{C24589FC-BD2D-4604-8795-0E22CD28BD1A}"/>
                  </a:ext>
                </a:extLst>
              </p:cNvPr>
              <p:cNvSpPr/>
              <p:nvPr/>
            </p:nvSpPr>
            <p:spPr>
              <a:xfrm>
                <a:off x="10585318" y="1837172"/>
                <a:ext cx="681980" cy="628192"/>
              </a:xfrm>
              <a:prstGeom prst="ellips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x2</a:t>
                </a:r>
              </a:p>
            </p:txBody>
          </p:sp>
        </p:grpSp>
        <p:grpSp>
          <p:nvGrpSpPr>
            <p:cNvPr id="67" name="Group 66">
              <a:extLst>
                <a:ext uri="{FF2B5EF4-FFF2-40B4-BE49-F238E27FC236}">
                  <a16:creationId xmlns="" xmlns:a16="http://schemas.microsoft.com/office/drawing/2014/main" id="{5E8B750D-F446-4514-B496-4B77B4CC2EA3}"/>
                </a:ext>
              </a:extLst>
            </p:cNvPr>
            <p:cNvGrpSpPr/>
            <p:nvPr/>
          </p:nvGrpSpPr>
          <p:grpSpPr>
            <a:xfrm>
              <a:off x="5898604" y="4482225"/>
              <a:ext cx="839021" cy="802091"/>
              <a:chOff x="10512625" y="1744747"/>
              <a:chExt cx="839021" cy="802091"/>
            </a:xfrm>
          </p:grpSpPr>
          <p:sp>
            <p:nvSpPr>
              <p:cNvPr id="85" name="Oval 84">
                <a:extLst>
                  <a:ext uri="{FF2B5EF4-FFF2-40B4-BE49-F238E27FC236}">
                    <a16:creationId xmlns="" xmlns:a16="http://schemas.microsoft.com/office/drawing/2014/main" id="{B0E17E04-7953-47BA-B0FB-395F2D586815}"/>
                  </a:ext>
                </a:extLst>
              </p:cNvPr>
              <p:cNvSpPr/>
              <p:nvPr/>
            </p:nvSpPr>
            <p:spPr>
              <a:xfrm>
                <a:off x="10512625" y="1744747"/>
                <a:ext cx="839021" cy="802091"/>
              </a:xfrm>
              <a:prstGeom prst="ellips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6" name="Oval 85">
                <a:extLst>
                  <a:ext uri="{FF2B5EF4-FFF2-40B4-BE49-F238E27FC236}">
                    <a16:creationId xmlns="" xmlns:a16="http://schemas.microsoft.com/office/drawing/2014/main" id="{C1E6DAFA-1922-4B21-8F4D-5ECB16DF8969}"/>
                  </a:ext>
                </a:extLst>
              </p:cNvPr>
              <p:cNvSpPr/>
              <p:nvPr/>
            </p:nvSpPr>
            <p:spPr>
              <a:xfrm>
                <a:off x="10585318" y="1837172"/>
                <a:ext cx="681980" cy="628192"/>
              </a:xfrm>
              <a:prstGeom prst="ellips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x3</a:t>
                </a:r>
              </a:p>
            </p:txBody>
          </p:sp>
        </p:grpSp>
        <p:grpSp>
          <p:nvGrpSpPr>
            <p:cNvPr id="68" name="Group 67">
              <a:extLst>
                <a:ext uri="{FF2B5EF4-FFF2-40B4-BE49-F238E27FC236}">
                  <a16:creationId xmlns="" xmlns:a16="http://schemas.microsoft.com/office/drawing/2014/main" id="{96CCAD71-1DB5-4B22-863D-0F44D17E3D3B}"/>
                </a:ext>
              </a:extLst>
            </p:cNvPr>
            <p:cNvGrpSpPr/>
            <p:nvPr/>
          </p:nvGrpSpPr>
          <p:grpSpPr>
            <a:xfrm>
              <a:off x="5095929" y="4557103"/>
              <a:ext cx="839021" cy="376763"/>
              <a:chOff x="7528817" y="3219973"/>
              <a:chExt cx="1162516" cy="376763"/>
            </a:xfrm>
          </p:grpSpPr>
          <p:cxnSp>
            <p:nvCxnSpPr>
              <p:cNvPr id="83" name="Straight Arrow Connector 82">
                <a:extLst>
                  <a:ext uri="{FF2B5EF4-FFF2-40B4-BE49-F238E27FC236}">
                    <a16:creationId xmlns="" xmlns:a16="http://schemas.microsoft.com/office/drawing/2014/main" id="{17C3C5F0-72B7-440E-825C-4FD7C94753EA}"/>
                  </a:ext>
                </a:extLst>
              </p:cNvPr>
              <p:cNvCxnSpPr/>
              <p:nvPr/>
            </p:nvCxnSpPr>
            <p:spPr>
              <a:xfrm>
                <a:off x="7528817" y="3596736"/>
                <a:ext cx="1162516" cy="0"/>
              </a:xfrm>
              <a:prstGeom prst="straightConnector1">
                <a:avLst/>
              </a:prstGeom>
              <a:ln w="38100">
                <a:solidFill>
                  <a:schemeClr val="bg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4" name="TextBox 83">
                <a:extLst>
                  <a:ext uri="{FF2B5EF4-FFF2-40B4-BE49-F238E27FC236}">
                    <a16:creationId xmlns="" xmlns:a16="http://schemas.microsoft.com/office/drawing/2014/main" id="{871243FD-6736-4D2E-A59D-BB5005AD2CC4}"/>
                  </a:ext>
                </a:extLst>
              </p:cNvPr>
              <p:cNvSpPr txBox="1"/>
              <p:nvPr/>
            </p:nvSpPr>
            <p:spPr>
              <a:xfrm>
                <a:off x="7592139" y="3219973"/>
                <a:ext cx="93196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a/b</a:t>
                </a:r>
              </a:p>
            </p:txBody>
          </p:sp>
        </p:grpSp>
        <p:grpSp>
          <p:nvGrpSpPr>
            <p:cNvPr id="69" name="Group 68">
              <a:extLst>
                <a:ext uri="{FF2B5EF4-FFF2-40B4-BE49-F238E27FC236}">
                  <a16:creationId xmlns="" xmlns:a16="http://schemas.microsoft.com/office/drawing/2014/main" id="{9C7F3B1F-F146-44E0-8A94-DFC7204F4B47}"/>
                </a:ext>
              </a:extLst>
            </p:cNvPr>
            <p:cNvGrpSpPr/>
            <p:nvPr/>
          </p:nvGrpSpPr>
          <p:grpSpPr>
            <a:xfrm>
              <a:off x="1723155" y="4587698"/>
              <a:ext cx="839021" cy="376763"/>
              <a:chOff x="7528817" y="3219973"/>
              <a:chExt cx="1162516" cy="376763"/>
            </a:xfrm>
          </p:grpSpPr>
          <p:cxnSp>
            <p:nvCxnSpPr>
              <p:cNvPr id="81" name="Straight Arrow Connector 80">
                <a:extLst>
                  <a:ext uri="{FF2B5EF4-FFF2-40B4-BE49-F238E27FC236}">
                    <a16:creationId xmlns="" xmlns:a16="http://schemas.microsoft.com/office/drawing/2014/main" id="{E76FD75B-469A-495F-86F9-CF358F01AFB4}"/>
                  </a:ext>
                </a:extLst>
              </p:cNvPr>
              <p:cNvCxnSpPr/>
              <p:nvPr/>
            </p:nvCxnSpPr>
            <p:spPr>
              <a:xfrm>
                <a:off x="7528817" y="3596736"/>
                <a:ext cx="1162516" cy="0"/>
              </a:xfrm>
              <a:prstGeom prst="straightConnector1">
                <a:avLst/>
              </a:prstGeom>
              <a:ln w="38100">
                <a:solidFill>
                  <a:schemeClr val="bg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2" name="TextBox 81">
                <a:extLst>
                  <a:ext uri="{FF2B5EF4-FFF2-40B4-BE49-F238E27FC236}">
                    <a16:creationId xmlns="" xmlns:a16="http://schemas.microsoft.com/office/drawing/2014/main" id="{87785F6B-EF59-4252-9595-2F0A24AEEABE}"/>
                  </a:ext>
                </a:extLst>
              </p:cNvPr>
              <p:cNvSpPr txBox="1"/>
              <p:nvPr/>
            </p:nvSpPr>
            <p:spPr>
              <a:xfrm>
                <a:off x="7592139" y="3219973"/>
                <a:ext cx="93196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a/b</a:t>
                </a:r>
              </a:p>
            </p:txBody>
          </p:sp>
        </p:grpSp>
        <p:grpSp>
          <p:nvGrpSpPr>
            <p:cNvPr id="70" name="Group 69">
              <a:extLst>
                <a:ext uri="{FF2B5EF4-FFF2-40B4-BE49-F238E27FC236}">
                  <a16:creationId xmlns="" xmlns:a16="http://schemas.microsoft.com/office/drawing/2014/main" id="{C9E24909-1BE4-45EB-8B7B-D926C121E7B3}"/>
                </a:ext>
              </a:extLst>
            </p:cNvPr>
            <p:cNvGrpSpPr/>
            <p:nvPr/>
          </p:nvGrpSpPr>
          <p:grpSpPr>
            <a:xfrm>
              <a:off x="3404890" y="4557103"/>
              <a:ext cx="839021" cy="376763"/>
              <a:chOff x="7528817" y="3219973"/>
              <a:chExt cx="1162516" cy="376763"/>
            </a:xfrm>
          </p:grpSpPr>
          <p:cxnSp>
            <p:nvCxnSpPr>
              <p:cNvPr id="79" name="Straight Arrow Connector 78">
                <a:extLst>
                  <a:ext uri="{FF2B5EF4-FFF2-40B4-BE49-F238E27FC236}">
                    <a16:creationId xmlns="" xmlns:a16="http://schemas.microsoft.com/office/drawing/2014/main" id="{2A64AF20-9BB6-44DB-B3F9-B26841D4FFE1}"/>
                  </a:ext>
                </a:extLst>
              </p:cNvPr>
              <p:cNvCxnSpPr/>
              <p:nvPr/>
            </p:nvCxnSpPr>
            <p:spPr>
              <a:xfrm>
                <a:off x="7528817" y="3596736"/>
                <a:ext cx="1162516" cy="0"/>
              </a:xfrm>
              <a:prstGeom prst="straightConnector1">
                <a:avLst/>
              </a:prstGeom>
              <a:ln w="38100">
                <a:solidFill>
                  <a:schemeClr val="bg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0" name="TextBox 79">
                <a:extLst>
                  <a:ext uri="{FF2B5EF4-FFF2-40B4-BE49-F238E27FC236}">
                    <a16:creationId xmlns="" xmlns:a16="http://schemas.microsoft.com/office/drawing/2014/main" id="{B13F1DD0-6991-486F-A7CD-898A1B5B28FC}"/>
                  </a:ext>
                </a:extLst>
              </p:cNvPr>
              <p:cNvSpPr txBox="1"/>
              <p:nvPr/>
            </p:nvSpPr>
            <p:spPr>
              <a:xfrm>
                <a:off x="7592139" y="3219973"/>
                <a:ext cx="93196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a/b</a:t>
                </a:r>
              </a:p>
            </p:txBody>
          </p:sp>
        </p:grpSp>
      </p:grpSp>
      <p:sp>
        <p:nvSpPr>
          <p:cNvPr id="74" name="TextBox 73">
            <a:extLst>
              <a:ext uri="{FF2B5EF4-FFF2-40B4-BE49-F238E27FC236}">
                <a16:creationId xmlns="" xmlns:a16="http://schemas.microsoft.com/office/drawing/2014/main" id="{9B483A50-4CC3-4FD2-BC8D-EA46E1D61759}"/>
              </a:ext>
            </a:extLst>
          </p:cNvPr>
          <p:cNvSpPr txBox="1"/>
          <p:nvPr/>
        </p:nvSpPr>
        <p:spPr>
          <a:xfrm>
            <a:off x="4336305" y="7059054"/>
            <a:ext cx="614149" cy="3624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a/b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="" xmlns:a16="http://schemas.microsoft.com/office/drawing/2014/main" id="{024342AF-18CC-495A-A26F-7B8D4259D2A9}"/>
              </a:ext>
            </a:extLst>
          </p:cNvPr>
          <p:cNvSpPr txBox="1"/>
          <p:nvPr/>
        </p:nvSpPr>
        <p:spPr>
          <a:xfrm>
            <a:off x="768626" y="4386470"/>
            <a:ext cx="10601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NFA</a:t>
            </a:r>
          </a:p>
        </p:txBody>
      </p:sp>
    </p:spTree>
    <p:extLst>
      <p:ext uri="{BB962C8B-B14F-4D97-AF65-F5344CB8AC3E}">
        <p14:creationId xmlns:p14="http://schemas.microsoft.com/office/powerpoint/2010/main" val="16264361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9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4712044-9328-4052-BD33-996D8F7259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676" y="123069"/>
            <a:ext cx="6631369" cy="767686"/>
          </a:xfrm>
        </p:spPr>
        <p:txBody>
          <a:bodyPr/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Nondeterministic Finite Automata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2027775E-FA46-4C27-A931-97043C5CB9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5676" y="979795"/>
            <a:ext cx="11221550" cy="439706"/>
          </a:xfrm>
        </p:spPr>
        <p:txBody>
          <a:bodyPr>
            <a:no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L2 = All words that start with a and have at most 3 character length are valid.</a:t>
            </a: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8F09D595-02EF-46C4-9D9F-2FE12CE64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3</a:t>
            </a:fld>
            <a:endParaRPr lang="en-US"/>
          </a:p>
        </p:txBody>
      </p:sp>
      <p:grpSp>
        <p:nvGrpSpPr>
          <p:cNvPr id="61" name="Group 60">
            <a:extLst>
              <a:ext uri="{FF2B5EF4-FFF2-40B4-BE49-F238E27FC236}">
                <a16:creationId xmlns="" xmlns:a16="http://schemas.microsoft.com/office/drawing/2014/main" id="{B6CEB5AF-0B2B-4895-BB68-33EC4709A514}"/>
              </a:ext>
            </a:extLst>
          </p:cNvPr>
          <p:cNvGrpSpPr/>
          <p:nvPr/>
        </p:nvGrpSpPr>
        <p:grpSpPr>
          <a:xfrm>
            <a:off x="4882105" y="2087477"/>
            <a:ext cx="6308634" cy="2939233"/>
            <a:chOff x="5300867" y="3360847"/>
            <a:chExt cx="6308634" cy="2939233"/>
          </a:xfrm>
        </p:grpSpPr>
        <p:sp>
          <p:nvSpPr>
            <p:cNvPr id="33" name="Oval 32">
              <a:extLst>
                <a:ext uri="{FF2B5EF4-FFF2-40B4-BE49-F238E27FC236}">
                  <a16:creationId xmlns="" xmlns:a16="http://schemas.microsoft.com/office/drawing/2014/main" id="{CC97C593-C923-4D67-9513-F5E0F9AC3201}"/>
                </a:ext>
              </a:extLst>
            </p:cNvPr>
            <p:cNvSpPr/>
            <p:nvPr/>
          </p:nvSpPr>
          <p:spPr>
            <a:xfrm>
              <a:off x="5880106" y="3580388"/>
              <a:ext cx="723331" cy="63914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x0</a:t>
              </a:r>
            </a:p>
          </p:txBody>
        </p:sp>
        <p:cxnSp>
          <p:nvCxnSpPr>
            <p:cNvPr id="34" name="Straight Arrow Connector 33">
              <a:extLst>
                <a:ext uri="{FF2B5EF4-FFF2-40B4-BE49-F238E27FC236}">
                  <a16:creationId xmlns="" xmlns:a16="http://schemas.microsoft.com/office/drawing/2014/main" id="{A7B69B25-287C-4B45-8356-046FB56F7FEC}"/>
                </a:ext>
              </a:extLst>
            </p:cNvPr>
            <p:cNvCxnSpPr>
              <a:cxnSpLocks/>
            </p:cNvCxnSpPr>
            <p:nvPr/>
          </p:nvCxnSpPr>
          <p:spPr>
            <a:xfrm>
              <a:off x="5300867" y="3895364"/>
              <a:ext cx="556591" cy="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5" name="Group 34">
              <a:extLst>
                <a:ext uri="{FF2B5EF4-FFF2-40B4-BE49-F238E27FC236}">
                  <a16:creationId xmlns="" xmlns:a16="http://schemas.microsoft.com/office/drawing/2014/main" id="{3BD640DA-FE26-4A84-AFF7-B19F9023DAF5}"/>
                </a:ext>
              </a:extLst>
            </p:cNvPr>
            <p:cNvGrpSpPr/>
            <p:nvPr/>
          </p:nvGrpSpPr>
          <p:grpSpPr>
            <a:xfrm>
              <a:off x="7433104" y="3417439"/>
              <a:ext cx="839021" cy="802091"/>
              <a:chOff x="10512625" y="1744747"/>
              <a:chExt cx="839021" cy="802091"/>
            </a:xfrm>
          </p:grpSpPr>
          <p:sp>
            <p:nvSpPr>
              <p:cNvPr id="36" name="Oval 35">
                <a:extLst>
                  <a:ext uri="{FF2B5EF4-FFF2-40B4-BE49-F238E27FC236}">
                    <a16:creationId xmlns="" xmlns:a16="http://schemas.microsoft.com/office/drawing/2014/main" id="{1B856871-166E-4589-B557-F3B069DA4A78}"/>
                  </a:ext>
                </a:extLst>
              </p:cNvPr>
              <p:cNvSpPr/>
              <p:nvPr/>
            </p:nvSpPr>
            <p:spPr>
              <a:xfrm>
                <a:off x="10512625" y="1744747"/>
                <a:ext cx="839021" cy="802091"/>
              </a:xfrm>
              <a:prstGeom prst="ellips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7" name="Oval 36">
                <a:extLst>
                  <a:ext uri="{FF2B5EF4-FFF2-40B4-BE49-F238E27FC236}">
                    <a16:creationId xmlns="" xmlns:a16="http://schemas.microsoft.com/office/drawing/2014/main" id="{065BB9B4-97F0-46FA-ACAA-7AFC84C3135D}"/>
                  </a:ext>
                </a:extLst>
              </p:cNvPr>
              <p:cNvSpPr/>
              <p:nvPr/>
            </p:nvSpPr>
            <p:spPr>
              <a:xfrm>
                <a:off x="10585318" y="1837172"/>
                <a:ext cx="681980" cy="628192"/>
              </a:xfrm>
              <a:prstGeom prst="ellips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x1</a:t>
                </a:r>
              </a:p>
            </p:txBody>
          </p:sp>
        </p:grpSp>
        <p:grpSp>
          <p:nvGrpSpPr>
            <p:cNvPr id="38" name="Group 37">
              <a:extLst>
                <a:ext uri="{FF2B5EF4-FFF2-40B4-BE49-F238E27FC236}">
                  <a16:creationId xmlns="" xmlns:a16="http://schemas.microsoft.com/office/drawing/2014/main" id="{E9EE438A-8A90-4037-9B21-0AAC173FA7EF}"/>
                </a:ext>
              </a:extLst>
            </p:cNvPr>
            <p:cNvGrpSpPr/>
            <p:nvPr/>
          </p:nvGrpSpPr>
          <p:grpSpPr>
            <a:xfrm>
              <a:off x="9101792" y="3417438"/>
              <a:ext cx="839021" cy="802091"/>
              <a:chOff x="10512625" y="1744747"/>
              <a:chExt cx="839021" cy="802091"/>
            </a:xfrm>
          </p:grpSpPr>
          <p:sp>
            <p:nvSpPr>
              <p:cNvPr id="39" name="Oval 38">
                <a:extLst>
                  <a:ext uri="{FF2B5EF4-FFF2-40B4-BE49-F238E27FC236}">
                    <a16:creationId xmlns="" xmlns:a16="http://schemas.microsoft.com/office/drawing/2014/main" id="{87257E78-699E-4514-8C35-4C6A79BEB878}"/>
                  </a:ext>
                </a:extLst>
              </p:cNvPr>
              <p:cNvSpPr/>
              <p:nvPr/>
            </p:nvSpPr>
            <p:spPr>
              <a:xfrm>
                <a:off x="10512625" y="1744747"/>
                <a:ext cx="839021" cy="802091"/>
              </a:xfrm>
              <a:prstGeom prst="ellips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0" name="Oval 39">
                <a:extLst>
                  <a:ext uri="{FF2B5EF4-FFF2-40B4-BE49-F238E27FC236}">
                    <a16:creationId xmlns="" xmlns:a16="http://schemas.microsoft.com/office/drawing/2014/main" id="{65B3B94F-0FB3-4E05-8672-36C45BB77F3B}"/>
                  </a:ext>
                </a:extLst>
              </p:cNvPr>
              <p:cNvSpPr/>
              <p:nvPr/>
            </p:nvSpPr>
            <p:spPr>
              <a:xfrm>
                <a:off x="10585318" y="1837172"/>
                <a:ext cx="681980" cy="628192"/>
              </a:xfrm>
              <a:prstGeom prst="ellips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x2</a:t>
                </a:r>
              </a:p>
            </p:txBody>
          </p:sp>
        </p:grpSp>
        <p:grpSp>
          <p:nvGrpSpPr>
            <p:cNvPr id="41" name="Group 40">
              <a:extLst>
                <a:ext uri="{FF2B5EF4-FFF2-40B4-BE49-F238E27FC236}">
                  <a16:creationId xmlns="" xmlns:a16="http://schemas.microsoft.com/office/drawing/2014/main" id="{0A4DCD06-5E4A-4583-A0B6-5C9E030EB8FA}"/>
                </a:ext>
              </a:extLst>
            </p:cNvPr>
            <p:cNvGrpSpPr/>
            <p:nvPr/>
          </p:nvGrpSpPr>
          <p:grpSpPr>
            <a:xfrm>
              <a:off x="10770480" y="3360847"/>
              <a:ext cx="839021" cy="802091"/>
              <a:chOff x="10512625" y="1744747"/>
              <a:chExt cx="839021" cy="802091"/>
            </a:xfrm>
          </p:grpSpPr>
          <p:sp>
            <p:nvSpPr>
              <p:cNvPr id="42" name="Oval 41">
                <a:extLst>
                  <a:ext uri="{FF2B5EF4-FFF2-40B4-BE49-F238E27FC236}">
                    <a16:creationId xmlns="" xmlns:a16="http://schemas.microsoft.com/office/drawing/2014/main" id="{54D920D1-5AAD-4853-8727-7331BDD216EC}"/>
                  </a:ext>
                </a:extLst>
              </p:cNvPr>
              <p:cNvSpPr/>
              <p:nvPr/>
            </p:nvSpPr>
            <p:spPr>
              <a:xfrm>
                <a:off x="10512625" y="1744747"/>
                <a:ext cx="839021" cy="802091"/>
              </a:xfrm>
              <a:prstGeom prst="ellips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3" name="Oval 42">
                <a:extLst>
                  <a:ext uri="{FF2B5EF4-FFF2-40B4-BE49-F238E27FC236}">
                    <a16:creationId xmlns="" xmlns:a16="http://schemas.microsoft.com/office/drawing/2014/main" id="{7F8D0F6A-4C0E-456C-A411-11D2FD2BB978}"/>
                  </a:ext>
                </a:extLst>
              </p:cNvPr>
              <p:cNvSpPr/>
              <p:nvPr/>
            </p:nvSpPr>
            <p:spPr>
              <a:xfrm>
                <a:off x="10585318" y="1837172"/>
                <a:ext cx="681980" cy="628192"/>
              </a:xfrm>
              <a:prstGeom prst="ellips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x3</a:t>
                </a:r>
              </a:p>
            </p:txBody>
          </p:sp>
        </p:grpSp>
        <p:grpSp>
          <p:nvGrpSpPr>
            <p:cNvPr id="44" name="Group 43">
              <a:extLst>
                <a:ext uri="{FF2B5EF4-FFF2-40B4-BE49-F238E27FC236}">
                  <a16:creationId xmlns="" xmlns:a16="http://schemas.microsoft.com/office/drawing/2014/main" id="{81D73235-B24A-4386-8FBE-83A82A7EB125}"/>
                </a:ext>
              </a:extLst>
            </p:cNvPr>
            <p:cNvGrpSpPr/>
            <p:nvPr/>
          </p:nvGrpSpPr>
          <p:grpSpPr>
            <a:xfrm>
              <a:off x="9967805" y="3435725"/>
              <a:ext cx="839021" cy="376763"/>
              <a:chOff x="7528817" y="3219973"/>
              <a:chExt cx="1162516" cy="376763"/>
            </a:xfrm>
          </p:grpSpPr>
          <p:cxnSp>
            <p:nvCxnSpPr>
              <p:cNvPr id="45" name="Straight Arrow Connector 44">
                <a:extLst>
                  <a:ext uri="{FF2B5EF4-FFF2-40B4-BE49-F238E27FC236}">
                    <a16:creationId xmlns="" xmlns:a16="http://schemas.microsoft.com/office/drawing/2014/main" id="{907ECAF9-D7B5-47A4-B964-09F141816134}"/>
                  </a:ext>
                </a:extLst>
              </p:cNvPr>
              <p:cNvCxnSpPr/>
              <p:nvPr/>
            </p:nvCxnSpPr>
            <p:spPr>
              <a:xfrm>
                <a:off x="7528817" y="3596736"/>
                <a:ext cx="1162516" cy="0"/>
              </a:xfrm>
              <a:prstGeom prst="straightConnector1">
                <a:avLst/>
              </a:prstGeom>
              <a:ln w="38100">
                <a:solidFill>
                  <a:schemeClr val="bg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6" name="TextBox 45">
                <a:extLst>
                  <a:ext uri="{FF2B5EF4-FFF2-40B4-BE49-F238E27FC236}">
                    <a16:creationId xmlns="" xmlns:a16="http://schemas.microsoft.com/office/drawing/2014/main" id="{61C26185-ECCA-49C3-983F-8B86705E55CF}"/>
                  </a:ext>
                </a:extLst>
              </p:cNvPr>
              <p:cNvSpPr txBox="1"/>
              <p:nvPr/>
            </p:nvSpPr>
            <p:spPr>
              <a:xfrm>
                <a:off x="7592139" y="3219973"/>
                <a:ext cx="93196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a/b</a:t>
                </a:r>
              </a:p>
            </p:txBody>
          </p:sp>
        </p:grpSp>
        <p:grpSp>
          <p:nvGrpSpPr>
            <p:cNvPr id="47" name="Group 46">
              <a:extLst>
                <a:ext uri="{FF2B5EF4-FFF2-40B4-BE49-F238E27FC236}">
                  <a16:creationId xmlns="" xmlns:a16="http://schemas.microsoft.com/office/drawing/2014/main" id="{35C16762-BFA1-4678-AEF4-4D0F7A9ADA42}"/>
                </a:ext>
              </a:extLst>
            </p:cNvPr>
            <p:cNvGrpSpPr/>
            <p:nvPr/>
          </p:nvGrpSpPr>
          <p:grpSpPr>
            <a:xfrm>
              <a:off x="6660067" y="3473751"/>
              <a:ext cx="809389" cy="396226"/>
              <a:chOff x="7618922" y="3227404"/>
              <a:chExt cx="1121458" cy="396226"/>
            </a:xfrm>
          </p:grpSpPr>
          <p:cxnSp>
            <p:nvCxnSpPr>
              <p:cNvPr id="48" name="Straight Arrow Connector 47">
                <a:extLst>
                  <a:ext uri="{FF2B5EF4-FFF2-40B4-BE49-F238E27FC236}">
                    <a16:creationId xmlns="" xmlns:a16="http://schemas.microsoft.com/office/drawing/2014/main" id="{669FAA64-AD47-489C-B83E-282D7BB48BFA}"/>
                  </a:ext>
                </a:extLst>
              </p:cNvPr>
              <p:cNvCxnSpPr/>
              <p:nvPr/>
            </p:nvCxnSpPr>
            <p:spPr>
              <a:xfrm>
                <a:off x="7618922" y="3623630"/>
                <a:ext cx="1056832" cy="0"/>
              </a:xfrm>
              <a:prstGeom prst="straightConnector1">
                <a:avLst/>
              </a:prstGeom>
              <a:ln w="38100">
                <a:solidFill>
                  <a:schemeClr val="bg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9" name="TextBox 48">
                <a:extLst>
                  <a:ext uri="{FF2B5EF4-FFF2-40B4-BE49-F238E27FC236}">
                    <a16:creationId xmlns="" xmlns:a16="http://schemas.microsoft.com/office/drawing/2014/main" id="{FB66E56F-3ED1-462C-AB82-AB43D634D5E7}"/>
                  </a:ext>
                </a:extLst>
              </p:cNvPr>
              <p:cNvSpPr txBox="1"/>
              <p:nvPr/>
            </p:nvSpPr>
            <p:spPr>
              <a:xfrm>
                <a:off x="7808415" y="3227404"/>
                <a:ext cx="93196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a</a:t>
                </a:r>
              </a:p>
            </p:txBody>
          </p:sp>
        </p:grpSp>
        <p:grpSp>
          <p:nvGrpSpPr>
            <p:cNvPr id="50" name="Group 49">
              <a:extLst>
                <a:ext uri="{FF2B5EF4-FFF2-40B4-BE49-F238E27FC236}">
                  <a16:creationId xmlns="" xmlns:a16="http://schemas.microsoft.com/office/drawing/2014/main" id="{3546EA2B-D444-4FFA-A37C-8E830D2E73CC}"/>
                </a:ext>
              </a:extLst>
            </p:cNvPr>
            <p:cNvGrpSpPr/>
            <p:nvPr/>
          </p:nvGrpSpPr>
          <p:grpSpPr>
            <a:xfrm>
              <a:off x="8276766" y="3435725"/>
              <a:ext cx="839021" cy="376763"/>
              <a:chOff x="7528817" y="3219973"/>
              <a:chExt cx="1162516" cy="376763"/>
            </a:xfrm>
          </p:grpSpPr>
          <p:cxnSp>
            <p:nvCxnSpPr>
              <p:cNvPr id="51" name="Straight Arrow Connector 50">
                <a:extLst>
                  <a:ext uri="{FF2B5EF4-FFF2-40B4-BE49-F238E27FC236}">
                    <a16:creationId xmlns="" xmlns:a16="http://schemas.microsoft.com/office/drawing/2014/main" id="{46D49F35-5341-44DF-99EA-F1A11A43B1A8}"/>
                  </a:ext>
                </a:extLst>
              </p:cNvPr>
              <p:cNvCxnSpPr/>
              <p:nvPr/>
            </p:nvCxnSpPr>
            <p:spPr>
              <a:xfrm>
                <a:off x="7528817" y="3596736"/>
                <a:ext cx="1162516" cy="0"/>
              </a:xfrm>
              <a:prstGeom prst="straightConnector1">
                <a:avLst/>
              </a:prstGeom>
              <a:ln w="38100">
                <a:solidFill>
                  <a:schemeClr val="bg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2" name="TextBox 51">
                <a:extLst>
                  <a:ext uri="{FF2B5EF4-FFF2-40B4-BE49-F238E27FC236}">
                    <a16:creationId xmlns="" xmlns:a16="http://schemas.microsoft.com/office/drawing/2014/main" id="{9790E594-251D-4489-9CE6-8AADDA575F44}"/>
                  </a:ext>
                </a:extLst>
              </p:cNvPr>
              <p:cNvSpPr txBox="1"/>
              <p:nvPr/>
            </p:nvSpPr>
            <p:spPr>
              <a:xfrm>
                <a:off x="7592139" y="3219973"/>
                <a:ext cx="93196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a/b</a:t>
                </a:r>
              </a:p>
            </p:txBody>
          </p:sp>
        </p:grpSp>
        <p:sp>
          <p:nvSpPr>
            <p:cNvPr id="53" name="Oval 52">
              <a:extLst>
                <a:ext uri="{FF2B5EF4-FFF2-40B4-BE49-F238E27FC236}">
                  <a16:creationId xmlns="" xmlns:a16="http://schemas.microsoft.com/office/drawing/2014/main" id="{F82F6BFE-4A95-4C9B-88AE-00932780661A}"/>
                </a:ext>
              </a:extLst>
            </p:cNvPr>
            <p:cNvSpPr/>
            <p:nvPr/>
          </p:nvSpPr>
          <p:spPr>
            <a:xfrm>
              <a:off x="9579147" y="5172071"/>
              <a:ext cx="723331" cy="63914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x4</a:t>
              </a:r>
            </a:p>
          </p:txBody>
        </p:sp>
        <p:grpSp>
          <p:nvGrpSpPr>
            <p:cNvPr id="54" name="Group 53">
              <a:extLst>
                <a:ext uri="{FF2B5EF4-FFF2-40B4-BE49-F238E27FC236}">
                  <a16:creationId xmlns="" xmlns:a16="http://schemas.microsoft.com/office/drawing/2014/main" id="{F69887C9-6ACB-47C3-B62A-5BD41C58EB7F}"/>
                </a:ext>
              </a:extLst>
            </p:cNvPr>
            <p:cNvGrpSpPr/>
            <p:nvPr/>
          </p:nvGrpSpPr>
          <p:grpSpPr>
            <a:xfrm>
              <a:off x="10204736" y="4184557"/>
              <a:ext cx="1041602" cy="1059560"/>
              <a:chOff x="10194887" y="4054287"/>
              <a:chExt cx="1041602" cy="1059560"/>
            </a:xfrm>
          </p:grpSpPr>
          <p:cxnSp>
            <p:nvCxnSpPr>
              <p:cNvPr id="55" name="Straight Arrow Connector 54">
                <a:extLst>
                  <a:ext uri="{FF2B5EF4-FFF2-40B4-BE49-F238E27FC236}">
                    <a16:creationId xmlns="" xmlns:a16="http://schemas.microsoft.com/office/drawing/2014/main" id="{EE0ABC1E-E140-45E7-A14A-43E50AB50F6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194887" y="4054287"/>
                <a:ext cx="734528" cy="1059560"/>
              </a:xfrm>
              <a:prstGeom prst="straightConnector1">
                <a:avLst/>
              </a:prstGeom>
              <a:ln w="38100">
                <a:solidFill>
                  <a:schemeClr val="bg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6" name="TextBox 55">
                <a:extLst>
                  <a:ext uri="{FF2B5EF4-FFF2-40B4-BE49-F238E27FC236}">
                    <a16:creationId xmlns="" xmlns:a16="http://schemas.microsoft.com/office/drawing/2014/main" id="{6A06ADAB-8997-47EF-A054-546F09DD85F3}"/>
                  </a:ext>
                </a:extLst>
              </p:cNvPr>
              <p:cNvSpPr txBox="1"/>
              <p:nvPr/>
            </p:nvSpPr>
            <p:spPr>
              <a:xfrm>
                <a:off x="10622340" y="4410372"/>
                <a:ext cx="614149" cy="3624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a/b</a:t>
                </a:r>
              </a:p>
            </p:txBody>
          </p:sp>
        </p:grpSp>
        <p:grpSp>
          <p:nvGrpSpPr>
            <p:cNvPr id="57" name="Group 56">
              <a:extLst>
                <a:ext uri="{FF2B5EF4-FFF2-40B4-BE49-F238E27FC236}">
                  <a16:creationId xmlns="" xmlns:a16="http://schemas.microsoft.com/office/drawing/2014/main" id="{CDE87A54-3942-4F67-8E23-D3ACEE084FF4}"/>
                </a:ext>
              </a:extLst>
            </p:cNvPr>
            <p:cNvGrpSpPr/>
            <p:nvPr/>
          </p:nvGrpSpPr>
          <p:grpSpPr>
            <a:xfrm rot="3146306">
              <a:off x="9370633" y="5205812"/>
              <a:ext cx="540585" cy="887105"/>
              <a:chOff x="1984650" y="2985447"/>
              <a:chExt cx="540585" cy="887105"/>
            </a:xfrm>
          </p:grpSpPr>
          <p:sp>
            <p:nvSpPr>
              <p:cNvPr id="58" name="Arc 57">
                <a:extLst>
                  <a:ext uri="{FF2B5EF4-FFF2-40B4-BE49-F238E27FC236}">
                    <a16:creationId xmlns="" xmlns:a16="http://schemas.microsoft.com/office/drawing/2014/main" id="{0F23AE9C-F3AD-487C-BA92-C0E9498BAF38}"/>
                  </a:ext>
                </a:extLst>
              </p:cNvPr>
              <p:cNvSpPr/>
              <p:nvPr/>
            </p:nvSpPr>
            <p:spPr>
              <a:xfrm rot="11054314">
                <a:off x="1985101" y="2985447"/>
                <a:ext cx="540134" cy="887105"/>
              </a:xfrm>
              <a:prstGeom prst="arc">
                <a:avLst>
                  <a:gd name="adj1" fmla="val 10711483"/>
                  <a:gd name="adj2" fmla="val 0"/>
                </a:avLst>
              </a:prstGeom>
              <a:ln w="254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9" name="Straight Arrow Connector 58">
                <a:extLst>
                  <a:ext uri="{FF2B5EF4-FFF2-40B4-BE49-F238E27FC236}">
                    <a16:creationId xmlns="" xmlns:a16="http://schemas.microsoft.com/office/drawing/2014/main" id="{E1F7050D-5AD4-4FE0-93C8-1DACDFECDE29}"/>
                  </a:ext>
                </a:extLst>
              </p:cNvPr>
              <p:cNvCxnSpPr/>
              <p:nvPr/>
            </p:nvCxnSpPr>
            <p:spPr>
              <a:xfrm rot="11054314">
                <a:off x="1984650" y="3331902"/>
                <a:ext cx="0" cy="95534"/>
              </a:xfrm>
              <a:prstGeom prst="straightConnector1">
                <a:avLst/>
              </a:prstGeom>
              <a:ln w="25400">
                <a:solidFill>
                  <a:schemeClr val="bg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0" name="TextBox 59">
              <a:extLst>
                <a:ext uri="{FF2B5EF4-FFF2-40B4-BE49-F238E27FC236}">
                  <a16:creationId xmlns="" xmlns:a16="http://schemas.microsoft.com/office/drawing/2014/main" id="{88D9DE6D-7C32-4133-A619-45E5E940ADF5}"/>
                </a:ext>
              </a:extLst>
            </p:cNvPr>
            <p:cNvSpPr txBox="1"/>
            <p:nvPr/>
          </p:nvSpPr>
          <p:spPr>
            <a:xfrm>
              <a:off x="9208181" y="5937676"/>
              <a:ext cx="614149" cy="3624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a/b</a:t>
              </a:r>
            </a:p>
          </p:txBody>
        </p:sp>
      </p:grpSp>
      <p:grpSp>
        <p:nvGrpSpPr>
          <p:cNvPr id="91" name="Group 90">
            <a:extLst>
              <a:ext uri="{FF2B5EF4-FFF2-40B4-BE49-F238E27FC236}">
                <a16:creationId xmlns="" xmlns:a16="http://schemas.microsoft.com/office/drawing/2014/main" id="{7D7ADBBA-FDC9-4B2E-AF40-FD055AA2BC1A}"/>
              </a:ext>
            </a:extLst>
          </p:cNvPr>
          <p:cNvGrpSpPr/>
          <p:nvPr/>
        </p:nvGrpSpPr>
        <p:grpSpPr>
          <a:xfrm>
            <a:off x="387951" y="4923907"/>
            <a:ext cx="6308634" cy="858683"/>
            <a:chOff x="428991" y="4482225"/>
            <a:chExt cx="6308634" cy="858683"/>
          </a:xfrm>
        </p:grpSpPr>
        <p:sp>
          <p:nvSpPr>
            <p:cNvPr id="63" name="Oval 62">
              <a:extLst>
                <a:ext uri="{FF2B5EF4-FFF2-40B4-BE49-F238E27FC236}">
                  <a16:creationId xmlns="" xmlns:a16="http://schemas.microsoft.com/office/drawing/2014/main" id="{5C988030-2BFA-466B-92B4-2814663FFAA3}"/>
                </a:ext>
              </a:extLst>
            </p:cNvPr>
            <p:cNvSpPr/>
            <p:nvPr/>
          </p:nvSpPr>
          <p:spPr>
            <a:xfrm>
              <a:off x="1008230" y="4701766"/>
              <a:ext cx="723331" cy="63914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x0</a:t>
              </a:r>
            </a:p>
          </p:txBody>
        </p:sp>
        <p:cxnSp>
          <p:nvCxnSpPr>
            <p:cNvPr id="64" name="Straight Arrow Connector 63">
              <a:extLst>
                <a:ext uri="{FF2B5EF4-FFF2-40B4-BE49-F238E27FC236}">
                  <a16:creationId xmlns="" xmlns:a16="http://schemas.microsoft.com/office/drawing/2014/main" id="{56F08B06-431F-4F2F-B2B2-658A2865D218}"/>
                </a:ext>
              </a:extLst>
            </p:cNvPr>
            <p:cNvCxnSpPr>
              <a:cxnSpLocks/>
            </p:cNvCxnSpPr>
            <p:nvPr/>
          </p:nvCxnSpPr>
          <p:spPr>
            <a:xfrm>
              <a:off x="428991" y="5016742"/>
              <a:ext cx="556591" cy="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5" name="Group 64">
              <a:extLst>
                <a:ext uri="{FF2B5EF4-FFF2-40B4-BE49-F238E27FC236}">
                  <a16:creationId xmlns="" xmlns:a16="http://schemas.microsoft.com/office/drawing/2014/main" id="{2ADAF4CB-F2B8-4D7B-A446-27A3C118F6DF}"/>
                </a:ext>
              </a:extLst>
            </p:cNvPr>
            <p:cNvGrpSpPr/>
            <p:nvPr/>
          </p:nvGrpSpPr>
          <p:grpSpPr>
            <a:xfrm>
              <a:off x="2561228" y="4538817"/>
              <a:ext cx="839021" cy="802091"/>
              <a:chOff x="10512625" y="1744747"/>
              <a:chExt cx="839021" cy="802091"/>
            </a:xfrm>
          </p:grpSpPr>
          <p:sp>
            <p:nvSpPr>
              <p:cNvPr id="89" name="Oval 88">
                <a:extLst>
                  <a:ext uri="{FF2B5EF4-FFF2-40B4-BE49-F238E27FC236}">
                    <a16:creationId xmlns="" xmlns:a16="http://schemas.microsoft.com/office/drawing/2014/main" id="{74544758-15D3-401F-A105-CA208B08DC2A}"/>
                  </a:ext>
                </a:extLst>
              </p:cNvPr>
              <p:cNvSpPr/>
              <p:nvPr/>
            </p:nvSpPr>
            <p:spPr>
              <a:xfrm>
                <a:off x="10512625" y="1744747"/>
                <a:ext cx="839021" cy="802091"/>
              </a:xfrm>
              <a:prstGeom prst="ellips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0" name="Oval 89">
                <a:extLst>
                  <a:ext uri="{FF2B5EF4-FFF2-40B4-BE49-F238E27FC236}">
                    <a16:creationId xmlns="" xmlns:a16="http://schemas.microsoft.com/office/drawing/2014/main" id="{8C41BFAE-9916-4FA9-B450-059808D7F9CD}"/>
                  </a:ext>
                </a:extLst>
              </p:cNvPr>
              <p:cNvSpPr/>
              <p:nvPr/>
            </p:nvSpPr>
            <p:spPr>
              <a:xfrm>
                <a:off x="10585318" y="1837172"/>
                <a:ext cx="681980" cy="628192"/>
              </a:xfrm>
              <a:prstGeom prst="ellips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x1</a:t>
                </a:r>
              </a:p>
            </p:txBody>
          </p:sp>
        </p:grpSp>
        <p:grpSp>
          <p:nvGrpSpPr>
            <p:cNvPr id="66" name="Group 65">
              <a:extLst>
                <a:ext uri="{FF2B5EF4-FFF2-40B4-BE49-F238E27FC236}">
                  <a16:creationId xmlns="" xmlns:a16="http://schemas.microsoft.com/office/drawing/2014/main" id="{0686C7DC-63EA-45FA-A4AD-375A26C68A70}"/>
                </a:ext>
              </a:extLst>
            </p:cNvPr>
            <p:cNvGrpSpPr/>
            <p:nvPr/>
          </p:nvGrpSpPr>
          <p:grpSpPr>
            <a:xfrm>
              <a:off x="4229916" y="4538816"/>
              <a:ext cx="839021" cy="802091"/>
              <a:chOff x="10512625" y="1744747"/>
              <a:chExt cx="839021" cy="802091"/>
            </a:xfrm>
          </p:grpSpPr>
          <p:sp>
            <p:nvSpPr>
              <p:cNvPr id="87" name="Oval 86">
                <a:extLst>
                  <a:ext uri="{FF2B5EF4-FFF2-40B4-BE49-F238E27FC236}">
                    <a16:creationId xmlns="" xmlns:a16="http://schemas.microsoft.com/office/drawing/2014/main" id="{2384BCDB-4573-4D87-8C60-389BA9C8FEC8}"/>
                  </a:ext>
                </a:extLst>
              </p:cNvPr>
              <p:cNvSpPr/>
              <p:nvPr/>
            </p:nvSpPr>
            <p:spPr>
              <a:xfrm>
                <a:off x="10512625" y="1744747"/>
                <a:ext cx="839021" cy="802091"/>
              </a:xfrm>
              <a:prstGeom prst="ellips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8" name="Oval 87">
                <a:extLst>
                  <a:ext uri="{FF2B5EF4-FFF2-40B4-BE49-F238E27FC236}">
                    <a16:creationId xmlns="" xmlns:a16="http://schemas.microsoft.com/office/drawing/2014/main" id="{C24589FC-BD2D-4604-8795-0E22CD28BD1A}"/>
                  </a:ext>
                </a:extLst>
              </p:cNvPr>
              <p:cNvSpPr/>
              <p:nvPr/>
            </p:nvSpPr>
            <p:spPr>
              <a:xfrm>
                <a:off x="10585318" y="1837172"/>
                <a:ext cx="681980" cy="628192"/>
              </a:xfrm>
              <a:prstGeom prst="ellips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x2</a:t>
                </a:r>
              </a:p>
            </p:txBody>
          </p:sp>
        </p:grpSp>
        <p:grpSp>
          <p:nvGrpSpPr>
            <p:cNvPr id="67" name="Group 66">
              <a:extLst>
                <a:ext uri="{FF2B5EF4-FFF2-40B4-BE49-F238E27FC236}">
                  <a16:creationId xmlns="" xmlns:a16="http://schemas.microsoft.com/office/drawing/2014/main" id="{5E8B750D-F446-4514-B496-4B77B4CC2EA3}"/>
                </a:ext>
              </a:extLst>
            </p:cNvPr>
            <p:cNvGrpSpPr/>
            <p:nvPr/>
          </p:nvGrpSpPr>
          <p:grpSpPr>
            <a:xfrm>
              <a:off x="5898604" y="4482225"/>
              <a:ext cx="839021" cy="802091"/>
              <a:chOff x="10512625" y="1744747"/>
              <a:chExt cx="839021" cy="802091"/>
            </a:xfrm>
          </p:grpSpPr>
          <p:sp>
            <p:nvSpPr>
              <p:cNvPr id="85" name="Oval 84">
                <a:extLst>
                  <a:ext uri="{FF2B5EF4-FFF2-40B4-BE49-F238E27FC236}">
                    <a16:creationId xmlns="" xmlns:a16="http://schemas.microsoft.com/office/drawing/2014/main" id="{B0E17E04-7953-47BA-B0FB-395F2D586815}"/>
                  </a:ext>
                </a:extLst>
              </p:cNvPr>
              <p:cNvSpPr/>
              <p:nvPr/>
            </p:nvSpPr>
            <p:spPr>
              <a:xfrm>
                <a:off x="10512625" y="1744747"/>
                <a:ext cx="839021" cy="802091"/>
              </a:xfrm>
              <a:prstGeom prst="ellips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6" name="Oval 85">
                <a:extLst>
                  <a:ext uri="{FF2B5EF4-FFF2-40B4-BE49-F238E27FC236}">
                    <a16:creationId xmlns="" xmlns:a16="http://schemas.microsoft.com/office/drawing/2014/main" id="{C1E6DAFA-1922-4B21-8F4D-5ECB16DF8969}"/>
                  </a:ext>
                </a:extLst>
              </p:cNvPr>
              <p:cNvSpPr/>
              <p:nvPr/>
            </p:nvSpPr>
            <p:spPr>
              <a:xfrm>
                <a:off x="10585318" y="1837172"/>
                <a:ext cx="681980" cy="628192"/>
              </a:xfrm>
              <a:prstGeom prst="ellips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x3</a:t>
                </a:r>
              </a:p>
            </p:txBody>
          </p:sp>
        </p:grpSp>
        <p:grpSp>
          <p:nvGrpSpPr>
            <p:cNvPr id="68" name="Group 67">
              <a:extLst>
                <a:ext uri="{FF2B5EF4-FFF2-40B4-BE49-F238E27FC236}">
                  <a16:creationId xmlns="" xmlns:a16="http://schemas.microsoft.com/office/drawing/2014/main" id="{96CCAD71-1DB5-4B22-863D-0F44D17E3D3B}"/>
                </a:ext>
              </a:extLst>
            </p:cNvPr>
            <p:cNvGrpSpPr/>
            <p:nvPr/>
          </p:nvGrpSpPr>
          <p:grpSpPr>
            <a:xfrm>
              <a:off x="5095929" y="4557103"/>
              <a:ext cx="839021" cy="376763"/>
              <a:chOff x="7528817" y="3219973"/>
              <a:chExt cx="1162516" cy="376763"/>
            </a:xfrm>
          </p:grpSpPr>
          <p:cxnSp>
            <p:nvCxnSpPr>
              <p:cNvPr id="83" name="Straight Arrow Connector 82">
                <a:extLst>
                  <a:ext uri="{FF2B5EF4-FFF2-40B4-BE49-F238E27FC236}">
                    <a16:creationId xmlns="" xmlns:a16="http://schemas.microsoft.com/office/drawing/2014/main" id="{17C3C5F0-72B7-440E-825C-4FD7C94753EA}"/>
                  </a:ext>
                </a:extLst>
              </p:cNvPr>
              <p:cNvCxnSpPr/>
              <p:nvPr/>
            </p:nvCxnSpPr>
            <p:spPr>
              <a:xfrm>
                <a:off x="7528817" y="3596736"/>
                <a:ext cx="1162516" cy="0"/>
              </a:xfrm>
              <a:prstGeom prst="straightConnector1">
                <a:avLst/>
              </a:prstGeom>
              <a:ln w="38100">
                <a:solidFill>
                  <a:schemeClr val="bg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4" name="TextBox 83">
                <a:extLst>
                  <a:ext uri="{FF2B5EF4-FFF2-40B4-BE49-F238E27FC236}">
                    <a16:creationId xmlns="" xmlns:a16="http://schemas.microsoft.com/office/drawing/2014/main" id="{871243FD-6736-4D2E-A59D-BB5005AD2CC4}"/>
                  </a:ext>
                </a:extLst>
              </p:cNvPr>
              <p:cNvSpPr txBox="1"/>
              <p:nvPr/>
            </p:nvSpPr>
            <p:spPr>
              <a:xfrm>
                <a:off x="7592139" y="3219973"/>
                <a:ext cx="93196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a/b</a:t>
                </a:r>
              </a:p>
            </p:txBody>
          </p:sp>
        </p:grpSp>
        <p:grpSp>
          <p:nvGrpSpPr>
            <p:cNvPr id="69" name="Group 68">
              <a:extLst>
                <a:ext uri="{FF2B5EF4-FFF2-40B4-BE49-F238E27FC236}">
                  <a16:creationId xmlns="" xmlns:a16="http://schemas.microsoft.com/office/drawing/2014/main" id="{9C7F3B1F-F146-44E0-8A94-DFC7204F4B47}"/>
                </a:ext>
              </a:extLst>
            </p:cNvPr>
            <p:cNvGrpSpPr/>
            <p:nvPr/>
          </p:nvGrpSpPr>
          <p:grpSpPr>
            <a:xfrm>
              <a:off x="1723155" y="4647410"/>
              <a:ext cx="839021" cy="369332"/>
              <a:chOff x="7528817" y="3279685"/>
              <a:chExt cx="1162516" cy="369332"/>
            </a:xfrm>
          </p:grpSpPr>
          <p:cxnSp>
            <p:nvCxnSpPr>
              <p:cNvPr id="81" name="Straight Arrow Connector 80">
                <a:extLst>
                  <a:ext uri="{FF2B5EF4-FFF2-40B4-BE49-F238E27FC236}">
                    <a16:creationId xmlns="" xmlns:a16="http://schemas.microsoft.com/office/drawing/2014/main" id="{E76FD75B-469A-495F-86F9-CF358F01AFB4}"/>
                  </a:ext>
                </a:extLst>
              </p:cNvPr>
              <p:cNvCxnSpPr/>
              <p:nvPr/>
            </p:nvCxnSpPr>
            <p:spPr>
              <a:xfrm>
                <a:off x="7528817" y="3596736"/>
                <a:ext cx="1162516" cy="0"/>
              </a:xfrm>
              <a:prstGeom prst="straightConnector1">
                <a:avLst/>
              </a:prstGeom>
              <a:ln w="38100">
                <a:solidFill>
                  <a:schemeClr val="bg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2" name="TextBox 81">
                <a:extLst>
                  <a:ext uri="{FF2B5EF4-FFF2-40B4-BE49-F238E27FC236}">
                    <a16:creationId xmlns="" xmlns:a16="http://schemas.microsoft.com/office/drawing/2014/main" id="{87785F6B-EF59-4252-9595-2F0A24AEEABE}"/>
                  </a:ext>
                </a:extLst>
              </p:cNvPr>
              <p:cNvSpPr txBox="1"/>
              <p:nvPr/>
            </p:nvSpPr>
            <p:spPr>
              <a:xfrm>
                <a:off x="7889655" y="3279685"/>
                <a:ext cx="42536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a</a:t>
                </a:r>
              </a:p>
            </p:txBody>
          </p:sp>
        </p:grpSp>
        <p:grpSp>
          <p:nvGrpSpPr>
            <p:cNvPr id="70" name="Group 69">
              <a:extLst>
                <a:ext uri="{FF2B5EF4-FFF2-40B4-BE49-F238E27FC236}">
                  <a16:creationId xmlns="" xmlns:a16="http://schemas.microsoft.com/office/drawing/2014/main" id="{C9E24909-1BE4-45EB-8B7B-D926C121E7B3}"/>
                </a:ext>
              </a:extLst>
            </p:cNvPr>
            <p:cNvGrpSpPr/>
            <p:nvPr/>
          </p:nvGrpSpPr>
          <p:grpSpPr>
            <a:xfrm>
              <a:off x="3404890" y="4557103"/>
              <a:ext cx="839021" cy="376763"/>
              <a:chOff x="7528817" y="3219973"/>
              <a:chExt cx="1162516" cy="376763"/>
            </a:xfrm>
          </p:grpSpPr>
          <p:cxnSp>
            <p:nvCxnSpPr>
              <p:cNvPr id="79" name="Straight Arrow Connector 78">
                <a:extLst>
                  <a:ext uri="{FF2B5EF4-FFF2-40B4-BE49-F238E27FC236}">
                    <a16:creationId xmlns="" xmlns:a16="http://schemas.microsoft.com/office/drawing/2014/main" id="{2A64AF20-9BB6-44DB-B3F9-B26841D4FFE1}"/>
                  </a:ext>
                </a:extLst>
              </p:cNvPr>
              <p:cNvCxnSpPr/>
              <p:nvPr/>
            </p:nvCxnSpPr>
            <p:spPr>
              <a:xfrm>
                <a:off x="7528817" y="3596736"/>
                <a:ext cx="1162516" cy="0"/>
              </a:xfrm>
              <a:prstGeom prst="straightConnector1">
                <a:avLst/>
              </a:prstGeom>
              <a:ln w="38100">
                <a:solidFill>
                  <a:schemeClr val="bg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0" name="TextBox 79">
                <a:extLst>
                  <a:ext uri="{FF2B5EF4-FFF2-40B4-BE49-F238E27FC236}">
                    <a16:creationId xmlns="" xmlns:a16="http://schemas.microsoft.com/office/drawing/2014/main" id="{B13F1DD0-6991-486F-A7CD-898A1B5B28FC}"/>
                  </a:ext>
                </a:extLst>
              </p:cNvPr>
              <p:cNvSpPr txBox="1"/>
              <p:nvPr/>
            </p:nvSpPr>
            <p:spPr>
              <a:xfrm>
                <a:off x="7592139" y="3219973"/>
                <a:ext cx="93196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a/b</a:t>
                </a:r>
              </a:p>
            </p:txBody>
          </p:sp>
        </p:grpSp>
      </p:grpSp>
      <p:sp>
        <p:nvSpPr>
          <p:cNvPr id="74" name="TextBox 73">
            <a:extLst>
              <a:ext uri="{FF2B5EF4-FFF2-40B4-BE49-F238E27FC236}">
                <a16:creationId xmlns="" xmlns:a16="http://schemas.microsoft.com/office/drawing/2014/main" id="{9B483A50-4CC3-4FD2-BC8D-EA46E1D61759}"/>
              </a:ext>
            </a:extLst>
          </p:cNvPr>
          <p:cNvSpPr txBox="1"/>
          <p:nvPr/>
        </p:nvSpPr>
        <p:spPr>
          <a:xfrm>
            <a:off x="4336305" y="7059054"/>
            <a:ext cx="614149" cy="3624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a/b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="" xmlns:a16="http://schemas.microsoft.com/office/drawing/2014/main" id="{024342AF-18CC-495A-A26F-7B8D4259D2A9}"/>
              </a:ext>
            </a:extLst>
          </p:cNvPr>
          <p:cNvSpPr txBox="1"/>
          <p:nvPr/>
        </p:nvSpPr>
        <p:spPr>
          <a:xfrm>
            <a:off x="768626" y="4386470"/>
            <a:ext cx="10601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NFA</a:t>
            </a: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="" xmlns:a16="http://schemas.microsoft.com/office/drawing/2014/main" id="{161C7CFD-4429-4FE4-9857-B7A7F6CDC2D5}"/>
              </a:ext>
            </a:extLst>
          </p:cNvPr>
          <p:cNvCxnSpPr>
            <a:cxnSpLocks/>
          </p:cNvCxnSpPr>
          <p:nvPr/>
        </p:nvCxnSpPr>
        <p:spPr>
          <a:xfrm>
            <a:off x="6184675" y="2824344"/>
            <a:ext cx="2975710" cy="1240734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="" xmlns:a16="http://schemas.microsoft.com/office/drawing/2014/main" id="{E018D8B7-0704-4D17-8411-418443F79469}"/>
              </a:ext>
            </a:extLst>
          </p:cNvPr>
          <p:cNvSpPr txBox="1"/>
          <p:nvPr/>
        </p:nvSpPr>
        <p:spPr>
          <a:xfrm>
            <a:off x="7244308" y="3474070"/>
            <a:ext cx="6726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4283927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92" grpId="0"/>
      <p:bldP spid="7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149AD530-6C2A-44EA-A853-BAC2857EF1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6464" y="679573"/>
            <a:ext cx="4565143" cy="1670238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transition from a state is to a single particular next state for each input symbol. Hence it is called 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deterministic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E7E875E4-C02C-44AD-9251-3D0D7CDF2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26D1DE06-0720-4572-BF37-034426FE1CD7}"/>
              </a:ext>
            </a:extLst>
          </p:cNvPr>
          <p:cNvSpPr txBox="1"/>
          <p:nvPr/>
        </p:nvSpPr>
        <p:spPr>
          <a:xfrm>
            <a:off x="1529669" y="33241"/>
            <a:ext cx="1600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DFA</a:t>
            </a:r>
          </a:p>
        </p:txBody>
      </p:sp>
      <p:sp>
        <p:nvSpPr>
          <p:cNvPr id="8" name="Oval 7">
            <a:extLst>
              <a:ext uri="{FF2B5EF4-FFF2-40B4-BE49-F238E27FC236}">
                <a16:creationId xmlns="" xmlns:a16="http://schemas.microsoft.com/office/drawing/2014/main" id="{B23A1517-FB13-4E6A-AA56-49E53E996C19}"/>
              </a:ext>
            </a:extLst>
          </p:cNvPr>
          <p:cNvSpPr/>
          <p:nvPr/>
        </p:nvSpPr>
        <p:spPr>
          <a:xfrm>
            <a:off x="956372" y="3292905"/>
            <a:ext cx="665125" cy="546476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x0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="" xmlns:a16="http://schemas.microsoft.com/office/drawing/2014/main" id="{74322527-1F8A-49C6-A3C7-C293C9386B6C}"/>
              </a:ext>
            </a:extLst>
          </p:cNvPr>
          <p:cNvCxnSpPr>
            <a:cxnSpLocks/>
          </p:cNvCxnSpPr>
          <p:nvPr/>
        </p:nvCxnSpPr>
        <p:spPr>
          <a:xfrm>
            <a:off x="377133" y="3515215"/>
            <a:ext cx="511802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="" xmlns:a16="http://schemas.microsoft.com/office/drawing/2014/main" id="{24FCD4ED-B0A8-4CE1-A7A1-7861BD3930F2}"/>
              </a:ext>
            </a:extLst>
          </p:cNvPr>
          <p:cNvSpPr/>
          <p:nvPr/>
        </p:nvSpPr>
        <p:spPr>
          <a:xfrm>
            <a:off x="2374708" y="3255616"/>
            <a:ext cx="665125" cy="546476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x1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="" xmlns:a16="http://schemas.microsoft.com/office/drawing/2014/main" id="{3D8BA73E-6116-43CF-BA64-5C80DCF9F3D2}"/>
              </a:ext>
            </a:extLst>
          </p:cNvPr>
          <p:cNvCxnSpPr>
            <a:cxnSpLocks/>
          </p:cNvCxnSpPr>
          <p:nvPr/>
        </p:nvCxnSpPr>
        <p:spPr>
          <a:xfrm>
            <a:off x="1694024" y="3515215"/>
            <a:ext cx="680684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Group 32">
            <a:extLst>
              <a:ext uri="{FF2B5EF4-FFF2-40B4-BE49-F238E27FC236}">
                <a16:creationId xmlns="" xmlns:a16="http://schemas.microsoft.com/office/drawing/2014/main" id="{852A38C1-46F3-4AC7-ADDB-B99047BA9B58}"/>
              </a:ext>
            </a:extLst>
          </p:cNvPr>
          <p:cNvGrpSpPr/>
          <p:nvPr/>
        </p:nvGrpSpPr>
        <p:grpSpPr>
          <a:xfrm>
            <a:off x="1058145" y="2349811"/>
            <a:ext cx="591867" cy="905805"/>
            <a:chOff x="6924745" y="2274367"/>
            <a:chExt cx="591867" cy="936326"/>
          </a:xfrm>
        </p:grpSpPr>
        <p:sp>
          <p:nvSpPr>
            <p:cNvPr id="34" name="Arrow: Up 33">
              <a:extLst>
                <a:ext uri="{FF2B5EF4-FFF2-40B4-BE49-F238E27FC236}">
                  <a16:creationId xmlns="" xmlns:a16="http://schemas.microsoft.com/office/drawing/2014/main" id="{94060CFF-5200-4C99-9B9C-E78A4485A423}"/>
                </a:ext>
              </a:extLst>
            </p:cNvPr>
            <p:cNvSpPr/>
            <p:nvPr/>
          </p:nvSpPr>
          <p:spPr>
            <a:xfrm rot="10800000">
              <a:off x="7044865" y="2571551"/>
              <a:ext cx="191070" cy="639142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" name="TextBox 34">
              <a:extLst>
                <a:ext uri="{FF2B5EF4-FFF2-40B4-BE49-F238E27FC236}">
                  <a16:creationId xmlns="" xmlns:a16="http://schemas.microsoft.com/office/drawing/2014/main" id="{13437FA2-965C-43B4-9038-D35AE9E48A86}"/>
                </a:ext>
              </a:extLst>
            </p:cNvPr>
            <p:cNvSpPr txBox="1"/>
            <p:nvPr/>
          </p:nvSpPr>
          <p:spPr>
            <a:xfrm>
              <a:off x="6924745" y="2274367"/>
              <a:ext cx="5918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</a:t>
              </a:r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="" xmlns:a16="http://schemas.microsoft.com/office/drawing/2014/main" id="{9268D534-A659-4DD4-8E6F-651C9537AD75}"/>
              </a:ext>
            </a:extLst>
          </p:cNvPr>
          <p:cNvSpPr txBox="1"/>
          <p:nvPr/>
        </p:nvSpPr>
        <p:spPr>
          <a:xfrm>
            <a:off x="3129869" y="1661370"/>
            <a:ext cx="12438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  a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="" xmlns:a16="http://schemas.microsoft.com/office/drawing/2014/main" id="{08523742-604E-4249-AA6F-E6253712C5F3}"/>
              </a:ext>
            </a:extLst>
          </p:cNvPr>
          <p:cNvSpPr txBox="1"/>
          <p:nvPr/>
        </p:nvSpPr>
        <p:spPr>
          <a:xfrm>
            <a:off x="1778622" y="3104478"/>
            <a:ext cx="3439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28803482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8" grpId="0" animBg="1"/>
      <p:bldP spid="13" grpId="0" animBg="1"/>
      <p:bldP spid="36" grpId="0"/>
      <p:bldP spid="3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149AD530-6C2A-44EA-A853-BAC2857EF1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6464" y="679572"/>
            <a:ext cx="4565143" cy="5580529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transition from a state is to a single particular next state for each input symbol. Hence it is called 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deterministic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E7E875E4-C02C-44AD-9251-3D0D7CDF2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26D1DE06-0720-4572-BF37-034426FE1CD7}"/>
              </a:ext>
            </a:extLst>
          </p:cNvPr>
          <p:cNvSpPr txBox="1"/>
          <p:nvPr/>
        </p:nvSpPr>
        <p:spPr>
          <a:xfrm>
            <a:off x="1529669" y="33241"/>
            <a:ext cx="1600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DFA</a:t>
            </a:r>
          </a:p>
        </p:txBody>
      </p:sp>
      <p:sp>
        <p:nvSpPr>
          <p:cNvPr id="8" name="Oval 7">
            <a:extLst>
              <a:ext uri="{FF2B5EF4-FFF2-40B4-BE49-F238E27FC236}">
                <a16:creationId xmlns="" xmlns:a16="http://schemas.microsoft.com/office/drawing/2014/main" id="{B23A1517-FB13-4E6A-AA56-49E53E996C19}"/>
              </a:ext>
            </a:extLst>
          </p:cNvPr>
          <p:cNvSpPr/>
          <p:nvPr/>
        </p:nvSpPr>
        <p:spPr>
          <a:xfrm>
            <a:off x="956372" y="3292905"/>
            <a:ext cx="665125" cy="546476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x0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="" xmlns:a16="http://schemas.microsoft.com/office/drawing/2014/main" id="{74322527-1F8A-49C6-A3C7-C293C9386B6C}"/>
              </a:ext>
            </a:extLst>
          </p:cNvPr>
          <p:cNvCxnSpPr>
            <a:cxnSpLocks/>
          </p:cNvCxnSpPr>
          <p:nvPr/>
        </p:nvCxnSpPr>
        <p:spPr>
          <a:xfrm>
            <a:off x="377133" y="3515215"/>
            <a:ext cx="511802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="" xmlns:a16="http://schemas.microsoft.com/office/drawing/2014/main" id="{24FCD4ED-B0A8-4CE1-A7A1-7861BD3930F2}"/>
              </a:ext>
            </a:extLst>
          </p:cNvPr>
          <p:cNvSpPr/>
          <p:nvPr/>
        </p:nvSpPr>
        <p:spPr>
          <a:xfrm>
            <a:off x="2374708" y="3255616"/>
            <a:ext cx="665125" cy="546476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x1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="" xmlns:a16="http://schemas.microsoft.com/office/drawing/2014/main" id="{3D8BA73E-6116-43CF-BA64-5C80DCF9F3D2}"/>
              </a:ext>
            </a:extLst>
          </p:cNvPr>
          <p:cNvCxnSpPr>
            <a:cxnSpLocks/>
          </p:cNvCxnSpPr>
          <p:nvPr/>
        </p:nvCxnSpPr>
        <p:spPr>
          <a:xfrm>
            <a:off x="1694024" y="3515215"/>
            <a:ext cx="680684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Group 32">
            <a:extLst>
              <a:ext uri="{FF2B5EF4-FFF2-40B4-BE49-F238E27FC236}">
                <a16:creationId xmlns="" xmlns:a16="http://schemas.microsoft.com/office/drawing/2014/main" id="{852A38C1-46F3-4AC7-ADDB-B99047BA9B58}"/>
              </a:ext>
            </a:extLst>
          </p:cNvPr>
          <p:cNvGrpSpPr/>
          <p:nvPr/>
        </p:nvGrpSpPr>
        <p:grpSpPr>
          <a:xfrm>
            <a:off x="2478470" y="2309470"/>
            <a:ext cx="591867" cy="905805"/>
            <a:chOff x="6924745" y="2274367"/>
            <a:chExt cx="591867" cy="936326"/>
          </a:xfrm>
        </p:grpSpPr>
        <p:sp>
          <p:nvSpPr>
            <p:cNvPr id="34" name="Arrow: Up 33">
              <a:extLst>
                <a:ext uri="{FF2B5EF4-FFF2-40B4-BE49-F238E27FC236}">
                  <a16:creationId xmlns="" xmlns:a16="http://schemas.microsoft.com/office/drawing/2014/main" id="{94060CFF-5200-4C99-9B9C-E78A4485A423}"/>
                </a:ext>
              </a:extLst>
            </p:cNvPr>
            <p:cNvSpPr/>
            <p:nvPr/>
          </p:nvSpPr>
          <p:spPr>
            <a:xfrm rot="10800000">
              <a:off x="7044865" y="2571551"/>
              <a:ext cx="191070" cy="639142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" name="TextBox 34">
              <a:extLst>
                <a:ext uri="{FF2B5EF4-FFF2-40B4-BE49-F238E27FC236}">
                  <a16:creationId xmlns="" xmlns:a16="http://schemas.microsoft.com/office/drawing/2014/main" id="{13437FA2-965C-43B4-9038-D35AE9E48A86}"/>
                </a:ext>
              </a:extLst>
            </p:cNvPr>
            <p:cNvSpPr txBox="1"/>
            <p:nvPr/>
          </p:nvSpPr>
          <p:spPr>
            <a:xfrm>
              <a:off x="6924745" y="2274367"/>
              <a:ext cx="5918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</a:t>
              </a:r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="" xmlns:a16="http://schemas.microsoft.com/office/drawing/2014/main" id="{9268D534-A659-4DD4-8E6F-651C9537AD75}"/>
              </a:ext>
            </a:extLst>
          </p:cNvPr>
          <p:cNvSpPr txBox="1"/>
          <p:nvPr/>
        </p:nvSpPr>
        <p:spPr>
          <a:xfrm>
            <a:off x="3129869" y="1661370"/>
            <a:ext cx="12438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  a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="" xmlns:a16="http://schemas.microsoft.com/office/drawing/2014/main" id="{08523742-604E-4249-AA6F-E6253712C5F3}"/>
              </a:ext>
            </a:extLst>
          </p:cNvPr>
          <p:cNvSpPr txBox="1"/>
          <p:nvPr/>
        </p:nvSpPr>
        <p:spPr>
          <a:xfrm>
            <a:off x="1778622" y="3104478"/>
            <a:ext cx="3439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2622393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149AD530-6C2A-44EA-A853-BAC2857EF1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6464" y="679572"/>
            <a:ext cx="4565143" cy="5580529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transition from a state is to a single particular next state for each input symbol. Hence it is called 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deterministic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E7E875E4-C02C-44AD-9251-3D0D7CDF2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26D1DE06-0720-4572-BF37-034426FE1CD7}"/>
              </a:ext>
            </a:extLst>
          </p:cNvPr>
          <p:cNvSpPr txBox="1"/>
          <p:nvPr/>
        </p:nvSpPr>
        <p:spPr>
          <a:xfrm>
            <a:off x="1529669" y="33241"/>
            <a:ext cx="1600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DFA</a:t>
            </a:r>
          </a:p>
        </p:txBody>
      </p:sp>
      <p:sp>
        <p:nvSpPr>
          <p:cNvPr id="8" name="Oval 7">
            <a:extLst>
              <a:ext uri="{FF2B5EF4-FFF2-40B4-BE49-F238E27FC236}">
                <a16:creationId xmlns="" xmlns:a16="http://schemas.microsoft.com/office/drawing/2014/main" id="{B23A1517-FB13-4E6A-AA56-49E53E996C19}"/>
              </a:ext>
            </a:extLst>
          </p:cNvPr>
          <p:cNvSpPr/>
          <p:nvPr/>
        </p:nvSpPr>
        <p:spPr>
          <a:xfrm>
            <a:off x="956372" y="3292905"/>
            <a:ext cx="665125" cy="546476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x0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="" xmlns:a16="http://schemas.microsoft.com/office/drawing/2014/main" id="{74322527-1F8A-49C6-A3C7-C293C9386B6C}"/>
              </a:ext>
            </a:extLst>
          </p:cNvPr>
          <p:cNvCxnSpPr>
            <a:cxnSpLocks/>
          </p:cNvCxnSpPr>
          <p:nvPr/>
        </p:nvCxnSpPr>
        <p:spPr>
          <a:xfrm>
            <a:off x="377133" y="3515215"/>
            <a:ext cx="511802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="" xmlns:a16="http://schemas.microsoft.com/office/drawing/2014/main" id="{24FCD4ED-B0A8-4CE1-A7A1-7861BD3930F2}"/>
              </a:ext>
            </a:extLst>
          </p:cNvPr>
          <p:cNvSpPr/>
          <p:nvPr/>
        </p:nvSpPr>
        <p:spPr>
          <a:xfrm>
            <a:off x="2374708" y="3255616"/>
            <a:ext cx="665125" cy="546476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x1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="" xmlns:a16="http://schemas.microsoft.com/office/drawing/2014/main" id="{3D8BA73E-6116-43CF-BA64-5C80DCF9F3D2}"/>
              </a:ext>
            </a:extLst>
          </p:cNvPr>
          <p:cNvCxnSpPr>
            <a:cxnSpLocks/>
          </p:cNvCxnSpPr>
          <p:nvPr/>
        </p:nvCxnSpPr>
        <p:spPr>
          <a:xfrm>
            <a:off x="1694024" y="3515215"/>
            <a:ext cx="680684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Group 32">
            <a:extLst>
              <a:ext uri="{FF2B5EF4-FFF2-40B4-BE49-F238E27FC236}">
                <a16:creationId xmlns="" xmlns:a16="http://schemas.microsoft.com/office/drawing/2014/main" id="{852A38C1-46F3-4AC7-ADDB-B99047BA9B58}"/>
              </a:ext>
            </a:extLst>
          </p:cNvPr>
          <p:cNvGrpSpPr/>
          <p:nvPr/>
        </p:nvGrpSpPr>
        <p:grpSpPr>
          <a:xfrm>
            <a:off x="2478470" y="2309470"/>
            <a:ext cx="591867" cy="905805"/>
            <a:chOff x="6924745" y="2274367"/>
            <a:chExt cx="591867" cy="936326"/>
          </a:xfrm>
        </p:grpSpPr>
        <p:sp>
          <p:nvSpPr>
            <p:cNvPr id="34" name="Arrow: Up 33">
              <a:extLst>
                <a:ext uri="{FF2B5EF4-FFF2-40B4-BE49-F238E27FC236}">
                  <a16:creationId xmlns="" xmlns:a16="http://schemas.microsoft.com/office/drawing/2014/main" id="{94060CFF-5200-4C99-9B9C-E78A4485A423}"/>
                </a:ext>
              </a:extLst>
            </p:cNvPr>
            <p:cNvSpPr/>
            <p:nvPr/>
          </p:nvSpPr>
          <p:spPr>
            <a:xfrm rot="10800000">
              <a:off x="7044865" y="2571551"/>
              <a:ext cx="191070" cy="639142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" name="TextBox 34">
              <a:extLst>
                <a:ext uri="{FF2B5EF4-FFF2-40B4-BE49-F238E27FC236}">
                  <a16:creationId xmlns="" xmlns:a16="http://schemas.microsoft.com/office/drawing/2014/main" id="{13437FA2-965C-43B4-9038-D35AE9E48A86}"/>
                </a:ext>
              </a:extLst>
            </p:cNvPr>
            <p:cNvSpPr txBox="1"/>
            <p:nvPr/>
          </p:nvSpPr>
          <p:spPr>
            <a:xfrm>
              <a:off x="6924745" y="2274367"/>
              <a:ext cx="5918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</a:t>
              </a:r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="" xmlns:a16="http://schemas.microsoft.com/office/drawing/2014/main" id="{9268D534-A659-4DD4-8E6F-651C9537AD75}"/>
              </a:ext>
            </a:extLst>
          </p:cNvPr>
          <p:cNvSpPr txBox="1"/>
          <p:nvPr/>
        </p:nvSpPr>
        <p:spPr>
          <a:xfrm>
            <a:off x="3129869" y="1661370"/>
            <a:ext cx="12438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  a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="" xmlns:a16="http://schemas.microsoft.com/office/drawing/2014/main" id="{08523742-604E-4249-AA6F-E6253712C5F3}"/>
              </a:ext>
            </a:extLst>
          </p:cNvPr>
          <p:cNvSpPr txBox="1"/>
          <p:nvPr/>
        </p:nvSpPr>
        <p:spPr>
          <a:xfrm>
            <a:off x="1778622" y="3104478"/>
            <a:ext cx="3439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="" xmlns:a16="http://schemas.microsoft.com/office/drawing/2014/main" id="{7665C398-D317-488D-AFE1-EE722DAB6865}"/>
              </a:ext>
            </a:extLst>
          </p:cNvPr>
          <p:cNvSpPr txBox="1">
            <a:spLocks/>
          </p:cNvSpPr>
          <p:nvPr/>
        </p:nvSpPr>
        <p:spPr>
          <a:xfrm>
            <a:off x="5451994" y="650505"/>
            <a:ext cx="4565144" cy="52848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457200" indent="-457200">
              <a:buFont typeface="+mj-lt"/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transition from a state can be to multiple next states for each input symbol. Hence it is called 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non-deterministic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  </a:t>
            </a:r>
          </a:p>
        </p:txBody>
      </p:sp>
      <p:sp>
        <p:nvSpPr>
          <p:cNvPr id="17" name="Oval 16">
            <a:extLst>
              <a:ext uri="{FF2B5EF4-FFF2-40B4-BE49-F238E27FC236}">
                <a16:creationId xmlns="" xmlns:a16="http://schemas.microsoft.com/office/drawing/2014/main" id="{C81A7D88-E334-4658-8B22-F5B1542B4255}"/>
              </a:ext>
            </a:extLst>
          </p:cNvPr>
          <p:cNvSpPr/>
          <p:nvPr/>
        </p:nvSpPr>
        <p:spPr>
          <a:xfrm>
            <a:off x="6343424" y="3197251"/>
            <a:ext cx="665125" cy="546476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x0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="" xmlns:a16="http://schemas.microsoft.com/office/drawing/2014/main" id="{BFBA9223-E97B-4E18-AE78-921A8ED98025}"/>
              </a:ext>
            </a:extLst>
          </p:cNvPr>
          <p:cNvCxnSpPr>
            <a:cxnSpLocks/>
          </p:cNvCxnSpPr>
          <p:nvPr/>
        </p:nvCxnSpPr>
        <p:spPr>
          <a:xfrm>
            <a:off x="5817973" y="3473349"/>
            <a:ext cx="511802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="" xmlns:a16="http://schemas.microsoft.com/office/drawing/2014/main" id="{65F6B743-96B6-4740-A593-76CD0D2CE3C4}"/>
              </a:ext>
            </a:extLst>
          </p:cNvPr>
          <p:cNvSpPr/>
          <p:nvPr/>
        </p:nvSpPr>
        <p:spPr>
          <a:xfrm>
            <a:off x="7761760" y="3159962"/>
            <a:ext cx="665125" cy="546476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="" xmlns:a16="http://schemas.microsoft.com/office/drawing/2014/main" id="{FE8602C3-CD55-4F77-A95C-59A245C9D920}"/>
              </a:ext>
            </a:extLst>
          </p:cNvPr>
          <p:cNvSpPr txBox="1"/>
          <p:nvPr/>
        </p:nvSpPr>
        <p:spPr>
          <a:xfrm>
            <a:off x="6855759" y="0"/>
            <a:ext cx="1600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NDFA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="" xmlns:a16="http://schemas.microsoft.com/office/drawing/2014/main" id="{F5B46580-26AB-41E0-91B9-FEBA58147388}"/>
              </a:ext>
            </a:extLst>
          </p:cNvPr>
          <p:cNvGrpSpPr/>
          <p:nvPr/>
        </p:nvGrpSpPr>
        <p:grpSpPr>
          <a:xfrm>
            <a:off x="6219406" y="2309470"/>
            <a:ext cx="789143" cy="905805"/>
            <a:chOff x="6924745" y="2274367"/>
            <a:chExt cx="789143" cy="936326"/>
          </a:xfrm>
        </p:grpSpPr>
        <p:sp>
          <p:nvSpPr>
            <p:cNvPr id="39" name="Arrow: Up 38">
              <a:extLst>
                <a:ext uri="{FF2B5EF4-FFF2-40B4-BE49-F238E27FC236}">
                  <a16:creationId xmlns="" xmlns:a16="http://schemas.microsoft.com/office/drawing/2014/main" id="{092EA5B0-796E-468B-A5D2-55D4F4D57782}"/>
                </a:ext>
              </a:extLst>
            </p:cNvPr>
            <p:cNvSpPr/>
            <p:nvPr/>
          </p:nvSpPr>
          <p:spPr>
            <a:xfrm rot="10800000">
              <a:off x="7044865" y="2571551"/>
              <a:ext cx="191070" cy="639142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" name="TextBox 39">
              <a:extLst>
                <a:ext uri="{FF2B5EF4-FFF2-40B4-BE49-F238E27FC236}">
                  <a16:creationId xmlns="" xmlns:a16="http://schemas.microsoft.com/office/drawing/2014/main" id="{CC41A589-9E7A-49D8-A1A5-16DC7FC55188}"/>
                </a:ext>
              </a:extLst>
            </p:cNvPr>
            <p:cNvSpPr txBox="1"/>
            <p:nvPr/>
          </p:nvSpPr>
          <p:spPr>
            <a:xfrm>
              <a:off x="6924745" y="2274367"/>
              <a:ext cx="789143" cy="381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CS-1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09847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2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149AD530-6C2A-44EA-A853-BAC2857EF1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6464" y="679572"/>
            <a:ext cx="4565143" cy="5580529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transition from a state is to a single particular next state for each input symbol. Hence it is called 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deterministic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E7E875E4-C02C-44AD-9251-3D0D7CDF2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26D1DE06-0720-4572-BF37-034426FE1CD7}"/>
              </a:ext>
            </a:extLst>
          </p:cNvPr>
          <p:cNvSpPr txBox="1"/>
          <p:nvPr/>
        </p:nvSpPr>
        <p:spPr>
          <a:xfrm>
            <a:off x="1529669" y="33241"/>
            <a:ext cx="1600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DFA</a:t>
            </a:r>
          </a:p>
        </p:txBody>
      </p:sp>
      <p:sp>
        <p:nvSpPr>
          <p:cNvPr id="8" name="Oval 7">
            <a:extLst>
              <a:ext uri="{FF2B5EF4-FFF2-40B4-BE49-F238E27FC236}">
                <a16:creationId xmlns="" xmlns:a16="http://schemas.microsoft.com/office/drawing/2014/main" id="{B23A1517-FB13-4E6A-AA56-49E53E996C19}"/>
              </a:ext>
            </a:extLst>
          </p:cNvPr>
          <p:cNvSpPr/>
          <p:nvPr/>
        </p:nvSpPr>
        <p:spPr>
          <a:xfrm>
            <a:off x="956372" y="3292905"/>
            <a:ext cx="665125" cy="546476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x0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="" xmlns:a16="http://schemas.microsoft.com/office/drawing/2014/main" id="{74322527-1F8A-49C6-A3C7-C293C9386B6C}"/>
              </a:ext>
            </a:extLst>
          </p:cNvPr>
          <p:cNvCxnSpPr>
            <a:cxnSpLocks/>
          </p:cNvCxnSpPr>
          <p:nvPr/>
        </p:nvCxnSpPr>
        <p:spPr>
          <a:xfrm>
            <a:off x="377133" y="3515215"/>
            <a:ext cx="511802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="" xmlns:a16="http://schemas.microsoft.com/office/drawing/2014/main" id="{24FCD4ED-B0A8-4CE1-A7A1-7861BD3930F2}"/>
              </a:ext>
            </a:extLst>
          </p:cNvPr>
          <p:cNvSpPr/>
          <p:nvPr/>
        </p:nvSpPr>
        <p:spPr>
          <a:xfrm>
            <a:off x="2374708" y="3255616"/>
            <a:ext cx="665125" cy="546476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x1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="" xmlns:a16="http://schemas.microsoft.com/office/drawing/2014/main" id="{3D8BA73E-6116-43CF-BA64-5C80DCF9F3D2}"/>
              </a:ext>
            </a:extLst>
          </p:cNvPr>
          <p:cNvCxnSpPr>
            <a:cxnSpLocks/>
          </p:cNvCxnSpPr>
          <p:nvPr/>
        </p:nvCxnSpPr>
        <p:spPr>
          <a:xfrm>
            <a:off x="1694024" y="3515215"/>
            <a:ext cx="680684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Group 32">
            <a:extLst>
              <a:ext uri="{FF2B5EF4-FFF2-40B4-BE49-F238E27FC236}">
                <a16:creationId xmlns="" xmlns:a16="http://schemas.microsoft.com/office/drawing/2014/main" id="{852A38C1-46F3-4AC7-ADDB-B99047BA9B58}"/>
              </a:ext>
            </a:extLst>
          </p:cNvPr>
          <p:cNvGrpSpPr/>
          <p:nvPr/>
        </p:nvGrpSpPr>
        <p:grpSpPr>
          <a:xfrm>
            <a:off x="2478470" y="2309470"/>
            <a:ext cx="591867" cy="905805"/>
            <a:chOff x="6924745" y="2274367"/>
            <a:chExt cx="591867" cy="936326"/>
          </a:xfrm>
        </p:grpSpPr>
        <p:sp>
          <p:nvSpPr>
            <p:cNvPr id="34" name="Arrow: Up 33">
              <a:extLst>
                <a:ext uri="{FF2B5EF4-FFF2-40B4-BE49-F238E27FC236}">
                  <a16:creationId xmlns="" xmlns:a16="http://schemas.microsoft.com/office/drawing/2014/main" id="{94060CFF-5200-4C99-9B9C-E78A4485A423}"/>
                </a:ext>
              </a:extLst>
            </p:cNvPr>
            <p:cNvSpPr/>
            <p:nvPr/>
          </p:nvSpPr>
          <p:spPr>
            <a:xfrm rot="10800000">
              <a:off x="7044865" y="2571551"/>
              <a:ext cx="191070" cy="639142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" name="TextBox 34">
              <a:extLst>
                <a:ext uri="{FF2B5EF4-FFF2-40B4-BE49-F238E27FC236}">
                  <a16:creationId xmlns="" xmlns:a16="http://schemas.microsoft.com/office/drawing/2014/main" id="{13437FA2-965C-43B4-9038-D35AE9E48A86}"/>
                </a:ext>
              </a:extLst>
            </p:cNvPr>
            <p:cNvSpPr txBox="1"/>
            <p:nvPr/>
          </p:nvSpPr>
          <p:spPr>
            <a:xfrm>
              <a:off x="6924745" y="2274367"/>
              <a:ext cx="5918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</a:t>
              </a:r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="" xmlns:a16="http://schemas.microsoft.com/office/drawing/2014/main" id="{9268D534-A659-4DD4-8E6F-651C9537AD75}"/>
              </a:ext>
            </a:extLst>
          </p:cNvPr>
          <p:cNvSpPr txBox="1"/>
          <p:nvPr/>
        </p:nvSpPr>
        <p:spPr>
          <a:xfrm>
            <a:off x="3129869" y="1661370"/>
            <a:ext cx="12438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  a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="" xmlns:a16="http://schemas.microsoft.com/office/drawing/2014/main" id="{08523742-604E-4249-AA6F-E6253712C5F3}"/>
              </a:ext>
            </a:extLst>
          </p:cNvPr>
          <p:cNvSpPr txBox="1"/>
          <p:nvPr/>
        </p:nvSpPr>
        <p:spPr>
          <a:xfrm>
            <a:off x="1778622" y="3104478"/>
            <a:ext cx="3439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="" xmlns:a16="http://schemas.microsoft.com/office/drawing/2014/main" id="{7665C398-D317-488D-AFE1-EE722DAB6865}"/>
              </a:ext>
            </a:extLst>
          </p:cNvPr>
          <p:cNvSpPr txBox="1">
            <a:spLocks/>
          </p:cNvSpPr>
          <p:nvPr/>
        </p:nvSpPr>
        <p:spPr>
          <a:xfrm>
            <a:off x="5451994" y="650505"/>
            <a:ext cx="4565144" cy="52848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457200" indent="-457200">
              <a:buFont typeface="+mj-lt"/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transition from a state can be to multiple next states for each input symbol. Hence it is called 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non-deterministic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 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="" xmlns:a16="http://schemas.microsoft.com/office/drawing/2014/main" id="{48486245-EF1C-4388-B1DB-3BF2B87072A9}"/>
              </a:ext>
            </a:extLst>
          </p:cNvPr>
          <p:cNvSpPr txBox="1"/>
          <p:nvPr/>
        </p:nvSpPr>
        <p:spPr>
          <a:xfrm>
            <a:off x="8688610" y="1629258"/>
            <a:ext cx="12438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  a</a:t>
            </a:r>
          </a:p>
        </p:txBody>
      </p:sp>
      <p:sp>
        <p:nvSpPr>
          <p:cNvPr id="17" name="Oval 16">
            <a:extLst>
              <a:ext uri="{FF2B5EF4-FFF2-40B4-BE49-F238E27FC236}">
                <a16:creationId xmlns="" xmlns:a16="http://schemas.microsoft.com/office/drawing/2014/main" id="{C81A7D88-E334-4658-8B22-F5B1542B4255}"/>
              </a:ext>
            </a:extLst>
          </p:cNvPr>
          <p:cNvSpPr/>
          <p:nvPr/>
        </p:nvSpPr>
        <p:spPr>
          <a:xfrm>
            <a:off x="6343424" y="3197251"/>
            <a:ext cx="665125" cy="546476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x0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="" xmlns:a16="http://schemas.microsoft.com/office/drawing/2014/main" id="{BFBA9223-E97B-4E18-AE78-921A8ED98025}"/>
              </a:ext>
            </a:extLst>
          </p:cNvPr>
          <p:cNvCxnSpPr>
            <a:cxnSpLocks/>
          </p:cNvCxnSpPr>
          <p:nvPr/>
        </p:nvCxnSpPr>
        <p:spPr>
          <a:xfrm>
            <a:off x="5817973" y="3473349"/>
            <a:ext cx="511802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="" xmlns:a16="http://schemas.microsoft.com/office/drawing/2014/main" id="{65F6B743-96B6-4740-A593-76CD0D2CE3C4}"/>
              </a:ext>
            </a:extLst>
          </p:cNvPr>
          <p:cNvSpPr/>
          <p:nvPr/>
        </p:nvSpPr>
        <p:spPr>
          <a:xfrm>
            <a:off x="7761760" y="3159962"/>
            <a:ext cx="665125" cy="546476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x1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="" xmlns:a16="http://schemas.microsoft.com/office/drawing/2014/main" id="{09A472FB-3E72-4E06-B2F8-2B3943B75AB7}"/>
              </a:ext>
            </a:extLst>
          </p:cNvPr>
          <p:cNvCxnSpPr>
            <a:cxnSpLocks/>
          </p:cNvCxnSpPr>
          <p:nvPr/>
        </p:nvCxnSpPr>
        <p:spPr>
          <a:xfrm>
            <a:off x="7040735" y="3487680"/>
            <a:ext cx="680684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="" xmlns:a16="http://schemas.microsoft.com/office/drawing/2014/main" id="{202720A0-019C-479A-B24B-7F7326F3FD80}"/>
              </a:ext>
            </a:extLst>
          </p:cNvPr>
          <p:cNvSpPr/>
          <p:nvPr/>
        </p:nvSpPr>
        <p:spPr>
          <a:xfrm>
            <a:off x="9673305" y="2685841"/>
            <a:ext cx="665125" cy="546476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x0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="" xmlns:a16="http://schemas.microsoft.com/office/drawing/2014/main" id="{BFF53B32-FDBA-4423-8B5F-7D7796FEF8C0}"/>
              </a:ext>
            </a:extLst>
          </p:cNvPr>
          <p:cNvCxnSpPr>
            <a:cxnSpLocks/>
          </p:cNvCxnSpPr>
          <p:nvPr/>
        </p:nvCxnSpPr>
        <p:spPr>
          <a:xfrm>
            <a:off x="9094066" y="2908151"/>
            <a:ext cx="511802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Oval 26">
            <a:extLst>
              <a:ext uri="{FF2B5EF4-FFF2-40B4-BE49-F238E27FC236}">
                <a16:creationId xmlns="" xmlns:a16="http://schemas.microsoft.com/office/drawing/2014/main" id="{DE41C43F-E569-4D3A-912A-B766733C4890}"/>
              </a:ext>
            </a:extLst>
          </p:cNvPr>
          <p:cNvSpPr/>
          <p:nvPr/>
        </p:nvSpPr>
        <p:spPr>
          <a:xfrm>
            <a:off x="11091641" y="2648552"/>
            <a:ext cx="665125" cy="546476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x1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="" xmlns:a16="http://schemas.microsoft.com/office/drawing/2014/main" id="{5A4B8388-BED9-49A2-8F02-6938E3A66FAE}"/>
              </a:ext>
            </a:extLst>
          </p:cNvPr>
          <p:cNvCxnSpPr>
            <a:cxnSpLocks/>
          </p:cNvCxnSpPr>
          <p:nvPr/>
        </p:nvCxnSpPr>
        <p:spPr>
          <a:xfrm>
            <a:off x="10370616" y="2976270"/>
            <a:ext cx="680684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Oval 28">
            <a:extLst>
              <a:ext uri="{FF2B5EF4-FFF2-40B4-BE49-F238E27FC236}">
                <a16:creationId xmlns="" xmlns:a16="http://schemas.microsoft.com/office/drawing/2014/main" id="{CFCC558A-66D5-42D0-A1A7-A1CA65E78BA1}"/>
              </a:ext>
            </a:extLst>
          </p:cNvPr>
          <p:cNvSpPr/>
          <p:nvPr/>
        </p:nvSpPr>
        <p:spPr>
          <a:xfrm>
            <a:off x="11091641" y="3847687"/>
            <a:ext cx="665125" cy="546476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x2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="" xmlns:a16="http://schemas.microsoft.com/office/drawing/2014/main" id="{8F918229-DE98-4F1B-8585-6A5A6AB4B632}"/>
              </a:ext>
            </a:extLst>
          </p:cNvPr>
          <p:cNvCxnSpPr>
            <a:cxnSpLocks/>
            <a:endCxn id="29" idx="2"/>
          </p:cNvCxnSpPr>
          <p:nvPr/>
        </p:nvCxnSpPr>
        <p:spPr>
          <a:xfrm>
            <a:off x="10095644" y="3245956"/>
            <a:ext cx="995997" cy="874969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="" xmlns:a16="http://schemas.microsoft.com/office/drawing/2014/main" id="{FE8602C3-CD55-4F77-A95C-59A245C9D920}"/>
              </a:ext>
            </a:extLst>
          </p:cNvPr>
          <p:cNvSpPr txBox="1"/>
          <p:nvPr/>
        </p:nvSpPr>
        <p:spPr>
          <a:xfrm>
            <a:off x="6855759" y="0"/>
            <a:ext cx="1600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NDFA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="" xmlns:a16="http://schemas.microsoft.com/office/drawing/2014/main" id="{F5B46580-26AB-41E0-91B9-FEBA58147388}"/>
              </a:ext>
            </a:extLst>
          </p:cNvPr>
          <p:cNvGrpSpPr/>
          <p:nvPr/>
        </p:nvGrpSpPr>
        <p:grpSpPr>
          <a:xfrm>
            <a:off x="6219406" y="2309470"/>
            <a:ext cx="591867" cy="905805"/>
            <a:chOff x="6924745" y="2274367"/>
            <a:chExt cx="591867" cy="936326"/>
          </a:xfrm>
        </p:grpSpPr>
        <p:sp>
          <p:nvSpPr>
            <p:cNvPr id="39" name="Arrow: Up 38">
              <a:extLst>
                <a:ext uri="{FF2B5EF4-FFF2-40B4-BE49-F238E27FC236}">
                  <a16:creationId xmlns="" xmlns:a16="http://schemas.microsoft.com/office/drawing/2014/main" id="{092EA5B0-796E-468B-A5D2-55D4F4D57782}"/>
                </a:ext>
              </a:extLst>
            </p:cNvPr>
            <p:cNvSpPr/>
            <p:nvPr/>
          </p:nvSpPr>
          <p:spPr>
            <a:xfrm rot="10800000">
              <a:off x="7044865" y="2571551"/>
              <a:ext cx="191070" cy="639142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" name="TextBox 39">
              <a:extLst>
                <a:ext uri="{FF2B5EF4-FFF2-40B4-BE49-F238E27FC236}">
                  <a16:creationId xmlns="" xmlns:a16="http://schemas.microsoft.com/office/drawing/2014/main" id="{CC41A589-9E7A-49D8-A1A5-16DC7FC55188}"/>
                </a:ext>
              </a:extLst>
            </p:cNvPr>
            <p:cNvSpPr txBox="1"/>
            <p:nvPr/>
          </p:nvSpPr>
          <p:spPr>
            <a:xfrm>
              <a:off x="6924745" y="2274367"/>
              <a:ext cx="5918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</a:t>
              </a:r>
            </a:p>
          </p:txBody>
        </p:sp>
      </p:grpSp>
      <p:sp>
        <p:nvSpPr>
          <p:cNvPr id="41" name="TextBox 40">
            <a:extLst>
              <a:ext uri="{FF2B5EF4-FFF2-40B4-BE49-F238E27FC236}">
                <a16:creationId xmlns="" xmlns:a16="http://schemas.microsoft.com/office/drawing/2014/main" id="{691EA572-6641-4289-B858-7EDFF669A7FE}"/>
              </a:ext>
            </a:extLst>
          </p:cNvPr>
          <p:cNvSpPr txBox="1"/>
          <p:nvPr/>
        </p:nvSpPr>
        <p:spPr>
          <a:xfrm>
            <a:off x="7180301" y="3100504"/>
            <a:ext cx="618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42" name="Arc 41">
            <a:extLst>
              <a:ext uri="{FF2B5EF4-FFF2-40B4-BE49-F238E27FC236}">
                <a16:creationId xmlns="" xmlns:a16="http://schemas.microsoft.com/office/drawing/2014/main" id="{FB49FF09-5691-4EDE-86F7-F4C274BE43C3}"/>
              </a:ext>
            </a:extLst>
          </p:cNvPr>
          <p:cNvSpPr/>
          <p:nvPr/>
        </p:nvSpPr>
        <p:spPr>
          <a:xfrm rot="1162700">
            <a:off x="6514495" y="2812063"/>
            <a:ext cx="540134" cy="887105"/>
          </a:xfrm>
          <a:prstGeom prst="arc">
            <a:avLst>
              <a:gd name="adj1" fmla="val 10711483"/>
              <a:gd name="adj2" fmla="val 0"/>
            </a:avLst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="" xmlns:a16="http://schemas.microsoft.com/office/drawing/2014/main" id="{564EA0C2-FB44-4B81-92E4-DE3F4EB90253}"/>
              </a:ext>
            </a:extLst>
          </p:cNvPr>
          <p:cNvSpPr txBox="1"/>
          <p:nvPr/>
        </p:nvSpPr>
        <p:spPr>
          <a:xfrm>
            <a:off x="6827938" y="2511266"/>
            <a:ext cx="3398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="" xmlns:a16="http://schemas.microsoft.com/office/drawing/2014/main" id="{0559F2A3-E389-4D8C-A256-27B5FA6F1DBE}"/>
              </a:ext>
            </a:extLst>
          </p:cNvPr>
          <p:cNvGrpSpPr/>
          <p:nvPr/>
        </p:nvGrpSpPr>
        <p:grpSpPr>
          <a:xfrm>
            <a:off x="7864547" y="2224428"/>
            <a:ext cx="734255" cy="905805"/>
            <a:chOff x="6924745" y="2274367"/>
            <a:chExt cx="734255" cy="936326"/>
          </a:xfrm>
        </p:grpSpPr>
        <p:sp>
          <p:nvSpPr>
            <p:cNvPr id="45" name="Arrow: Up 44">
              <a:extLst>
                <a:ext uri="{FF2B5EF4-FFF2-40B4-BE49-F238E27FC236}">
                  <a16:creationId xmlns="" xmlns:a16="http://schemas.microsoft.com/office/drawing/2014/main" id="{F50DBBD6-4024-403C-98D9-FF0BB6F76EBD}"/>
                </a:ext>
              </a:extLst>
            </p:cNvPr>
            <p:cNvSpPr/>
            <p:nvPr/>
          </p:nvSpPr>
          <p:spPr>
            <a:xfrm rot="10800000">
              <a:off x="7044865" y="2571551"/>
              <a:ext cx="191070" cy="639142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6" name="TextBox 45">
              <a:extLst>
                <a:ext uri="{FF2B5EF4-FFF2-40B4-BE49-F238E27FC236}">
                  <a16:creationId xmlns="" xmlns:a16="http://schemas.microsoft.com/office/drawing/2014/main" id="{7D290B0C-061D-4520-8693-896D9B0012FD}"/>
                </a:ext>
              </a:extLst>
            </p:cNvPr>
            <p:cNvSpPr txBox="1"/>
            <p:nvPr/>
          </p:nvSpPr>
          <p:spPr>
            <a:xfrm>
              <a:off x="6924745" y="2274367"/>
              <a:ext cx="734255" cy="381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CS-2</a:t>
              </a: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="" xmlns:a16="http://schemas.microsoft.com/office/drawing/2014/main" id="{51E658DB-E8B7-47C2-BAA6-E7902BB4466E}"/>
              </a:ext>
            </a:extLst>
          </p:cNvPr>
          <p:cNvGrpSpPr/>
          <p:nvPr/>
        </p:nvGrpSpPr>
        <p:grpSpPr>
          <a:xfrm>
            <a:off x="9761545" y="1760958"/>
            <a:ext cx="734255" cy="905805"/>
            <a:chOff x="6924745" y="2274367"/>
            <a:chExt cx="734255" cy="936326"/>
          </a:xfrm>
        </p:grpSpPr>
        <p:sp>
          <p:nvSpPr>
            <p:cNvPr id="48" name="Arrow: Up 47">
              <a:extLst>
                <a:ext uri="{FF2B5EF4-FFF2-40B4-BE49-F238E27FC236}">
                  <a16:creationId xmlns="" xmlns:a16="http://schemas.microsoft.com/office/drawing/2014/main" id="{EB4754B5-94C1-4DA9-84E9-B9A959B65248}"/>
                </a:ext>
              </a:extLst>
            </p:cNvPr>
            <p:cNvSpPr/>
            <p:nvPr/>
          </p:nvSpPr>
          <p:spPr>
            <a:xfrm rot="10800000">
              <a:off x="7044865" y="2571551"/>
              <a:ext cx="191070" cy="639142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9" name="TextBox 48">
              <a:extLst>
                <a:ext uri="{FF2B5EF4-FFF2-40B4-BE49-F238E27FC236}">
                  <a16:creationId xmlns="" xmlns:a16="http://schemas.microsoft.com/office/drawing/2014/main" id="{F3E062A3-049E-4724-8FAD-6081F8DD53D1}"/>
                </a:ext>
              </a:extLst>
            </p:cNvPr>
            <p:cNvSpPr txBox="1"/>
            <p:nvPr/>
          </p:nvSpPr>
          <p:spPr>
            <a:xfrm>
              <a:off x="6924745" y="2274367"/>
              <a:ext cx="734255" cy="381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CS-1</a:t>
              </a: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="" xmlns:a16="http://schemas.microsoft.com/office/drawing/2014/main" id="{1F1E92E3-9C48-42AB-9EF2-80D908D7051E}"/>
              </a:ext>
            </a:extLst>
          </p:cNvPr>
          <p:cNvSpPr txBox="1"/>
          <p:nvPr/>
        </p:nvSpPr>
        <p:spPr>
          <a:xfrm>
            <a:off x="10417544" y="2446479"/>
            <a:ext cx="618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="" xmlns:a16="http://schemas.microsoft.com/office/drawing/2014/main" id="{8EEEBDA4-CAB6-4976-80BD-9555F2BFAF69}"/>
              </a:ext>
            </a:extLst>
          </p:cNvPr>
          <p:cNvSpPr txBox="1"/>
          <p:nvPr/>
        </p:nvSpPr>
        <p:spPr>
          <a:xfrm>
            <a:off x="10249665" y="3528854"/>
            <a:ext cx="618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1651695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4" grpId="0" animBg="1"/>
      <p:bldP spid="27" grpId="0" animBg="1"/>
      <p:bldP spid="29" grpId="0" animBg="1"/>
      <p:bldP spid="41" grpId="0"/>
      <p:bldP spid="50" grpId="0"/>
      <p:bldP spid="5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149AD530-6C2A-44EA-A853-BAC2857EF1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6464" y="679572"/>
            <a:ext cx="4565143" cy="5580529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transition from a state is to a single particular next state for each input symbol. Hence it is called 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deterministic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E7E875E4-C02C-44AD-9251-3D0D7CDF2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26D1DE06-0720-4572-BF37-034426FE1CD7}"/>
              </a:ext>
            </a:extLst>
          </p:cNvPr>
          <p:cNvSpPr txBox="1"/>
          <p:nvPr/>
        </p:nvSpPr>
        <p:spPr>
          <a:xfrm>
            <a:off x="1529669" y="33241"/>
            <a:ext cx="1600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DFA</a:t>
            </a:r>
          </a:p>
        </p:txBody>
      </p:sp>
      <p:sp>
        <p:nvSpPr>
          <p:cNvPr id="8" name="Oval 7">
            <a:extLst>
              <a:ext uri="{FF2B5EF4-FFF2-40B4-BE49-F238E27FC236}">
                <a16:creationId xmlns="" xmlns:a16="http://schemas.microsoft.com/office/drawing/2014/main" id="{B23A1517-FB13-4E6A-AA56-49E53E996C19}"/>
              </a:ext>
            </a:extLst>
          </p:cNvPr>
          <p:cNvSpPr/>
          <p:nvPr/>
        </p:nvSpPr>
        <p:spPr>
          <a:xfrm>
            <a:off x="956372" y="3292905"/>
            <a:ext cx="665125" cy="546476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x0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="" xmlns:a16="http://schemas.microsoft.com/office/drawing/2014/main" id="{74322527-1F8A-49C6-A3C7-C293C9386B6C}"/>
              </a:ext>
            </a:extLst>
          </p:cNvPr>
          <p:cNvCxnSpPr>
            <a:cxnSpLocks/>
          </p:cNvCxnSpPr>
          <p:nvPr/>
        </p:nvCxnSpPr>
        <p:spPr>
          <a:xfrm>
            <a:off x="404027" y="3555556"/>
            <a:ext cx="511802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="" xmlns:a16="http://schemas.microsoft.com/office/drawing/2014/main" id="{24FCD4ED-B0A8-4CE1-A7A1-7861BD3930F2}"/>
              </a:ext>
            </a:extLst>
          </p:cNvPr>
          <p:cNvSpPr/>
          <p:nvPr/>
        </p:nvSpPr>
        <p:spPr>
          <a:xfrm>
            <a:off x="2374708" y="3255616"/>
            <a:ext cx="665125" cy="546476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x1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="" xmlns:a16="http://schemas.microsoft.com/office/drawing/2014/main" id="{3D8BA73E-6116-43CF-BA64-5C80DCF9F3D2}"/>
              </a:ext>
            </a:extLst>
          </p:cNvPr>
          <p:cNvCxnSpPr>
            <a:cxnSpLocks/>
          </p:cNvCxnSpPr>
          <p:nvPr/>
        </p:nvCxnSpPr>
        <p:spPr>
          <a:xfrm>
            <a:off x="1694024" y="3515215"/>
            <a:ext cx="680684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Group 32">
            <a:extLst>
              <a:ext uri="{FF2B5EF4-FFF2-40B4-BE49-F238E27FC236}">
                <a16:creationId xmlns="" xmlns:a16="http://schemas.microsoft.com/office/drawing/2014/main" id="{852A38C1-46F3-4AC7-ADDB-B99047BA9B58}"/>
              </a:ext>
            </a:extLst>
          </p:cNvPr>
          <p:cNvGrpSpPr/>
          <p:nvPr/>
        </p:nvGrpSpPr>
        <p:grpSpPr>
          <a:xfrm>
            <a:off x="2478470" y="2309470"/>
            <a:ext cx="591867" cy="905805"/>
            <a:chOff x="6924745" y="2274367"/>
            <a:chExt cx="591867" cy="936326"/>
          </a:xfrm>
        </p:grpSpPr>
        <p:sp>
          <p:nvSpPr>
            <p:cNvPr id="34" name="Arrow: Up 33">
              <a:extLst>
                <a:ext uri="{FF2B5EF4-FFF2-40B4-BE49-F238E27FC236}">
                  <a16:creationId xmlns="" xmlns:a16="http://schemas.microsoft.com/office/drawing/2014/main" id="{94060CFF-5200-4C99-9B9C-E78A4485A423}"/>
                </a:ext>
              </a:extLst>
            </p:cNvPr>
            <p:cNvSpPr/>
            <p:nvPr/>
          </p:nvSpPr>
          <p:spPr>
            <a:xfrm rot="10800000">
              <a:off x="7044865" y="2571551"/>
              <a:ext cx="191070" cy="639142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" name="TextBox 34">
              <a:extLst>
                <a:ext uri="{FF2B5EF4-FFF2-40B4-BE49-F238E27FC236}">
                  <a16:creationId xmlns="" xmlns:a16="http://schemas.microsoft.com/office/drawing/2014/main" id="{13437FA2-965C-43B4-9038-D35AE9E48A86}"/>
                </a:ext>
              </a:extLst>
            </p:cNvPr>
            <p:cNvSpPr txBox="1"/>
            <p:nvPr/>
          </p:nvSpPr>
          <p:spPr>
            <a:xfrm>
              <a:off x="6924745" y="2274367"/>
              <a:ext cx="5918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</a:t>
              </a:r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="" xmlns:a16="http://schemas.microsoft.com/office/drawing/2014/main" id="{9268D534-A659-4DD4-8E6F-651C9537AD75}"/>
              </a:ext>
            </a:extLst>
          </p:cNvPr>
          <p:cNvSpPr txBox="1"/>
          <p:nvPr/>
        </p:nvSpPr>
        <p:spPr>
          <a:xfrm>
            <a:off x="3129869" y="1661370"/>
            <a:ext cx="12438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  a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="" xmlns:a16="http://schemas.microsoft.com/office/drawing/2014/main" id="{08523742-604E-4249-AA6F-E6253712C5F3}"/>
              </a:ext>
            </a:extLst>
          </p:cNvPr>
          <p:cNvSpPr txBox="1"/>
          <p:nvPr/>
        </p:nvSpPr>
        <p:spPr>
          <a:xfrm>
            <a:off x="1778622" y="3104478"/>
            <a:ext cx="3439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="" xmlns:a16="http://schemas.microsoft.com/office/drawing/2014/main" id="{7665C398-D317-488D-AFE1-EE722DAB6865}"/>
              </a:ext>
            </a:extLst>
          </p:cNvPr>
          <p:cNvSpPr txBox="1">
            <a:spLocks/>
          </p:cNvSpPr>
          <p:nvPr/>
        </p:nvSpPr>
        <p:spPr>
          <a:xfrm>
            <a:off x="5451994" y="650505"/>
            <a:ext cx="4565144" cy="52848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457200" indent="-457200">
              <a:buFont typeface="+mj-lt"/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transition from a state can be to multiple next states for each input symbol. Hence it is called 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non-deterministic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 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="" xmlns:a16="http://schemas.microsoft.com/office/drawing/2014/main" id="{48486245-EF1C-4388-B1DB-3BF2B87072A9}"/>
              </a:ext>
            </a:extLst>
          </p:cNvPr>
          <p:cNvSpPr txBox="1"/>
          <p:nvPr/>
        </p:nvSpPr>
        <p:spPr>
          <a:xfrm>
            <a:off x="8688610" y="1650007"/>
            <a:ext cx="12438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  a</a:t>
            </a:r>
          </a:p>
        </p:txBody>
      </p:sp>
      <p:sp>
        <p:nvSpPr>
          <p:cNvPr id="17" name="Oval 16">
            <a:extLst>
              <a:ext uri="{FF2B5EF4-FFF2-40B4-BE49-F238E27FC236}">
                <a16:creationId xmlns="" xmlns:a16="http://schemas.microsoft.com/office/drawing/2014/main" id="{C81A7D88-E334-4658-8B22-F5B1542B4255}"/>
              </a:ext>
            </a:extLst>
          </p:cNvPr>
          <p:cNvSpPr/>
          <p:nvPr/>
        </p:nvSpPr>
        <p:spPr>
          <a:xfrm>
            <a:off x="6343424" y="3197251"/>
            <a:ext cx="665125" cy="546476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x0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="" xmlns:a16="http://schemas.microsoft.com/office/drawing/2014/main" id="{BFBA9223-E97B-4E18-AE78-921A8ED98025}"/>
              </a:ext>
            </a:extLst>
          </p:cNvPr>
          <p:cNvCxnSpPr>
            <a:cxnSpLocks/>
          </p:cNvCxnSpPr>
          <p:nvPr/>
        </p:nvCxnSpPr>
        <p:spPr>
          <a:xfrm>
            <a:off x="5817973" y="3473349"/>
            <a:ext cx="511802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="" xmlns:a16="http://schemas.microsoft.com/office/drawing/2014/main" id="{65F6B743-96B6-4740-A593-76CD0D2CE3C4}"/>
              </a:ext>
            </a:extLst>
          </p:cNvPr>
          <p:cNvSpPr/>
          <p:nvPr/>
        </p:nvSpPr>
        <p:spPr>
          <a:xfrm>
            <a:off x="7761760" y="3159962"/>
            <a:ext cx="665125" cy="546476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x1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="" xmlns:a16="http://schemas.microsoft.com/office/drawing/2014/main" id="{09A472FB-3E72-4E06-B2F8-2B3943B75AB7}"/>
              </a:ext>
            </a:extLst>
          </p:cNvPr>
          <p:cNvCxnSpPr>
            <a:cxnSpLocks/>
          </p:cNvCxnSpPr>
          <p:nvPr/>
        </p:nvCxnSpPr>
        <p:spPr>
          <a:xfrm>
            <a:off x="7040735" y="3487680"/>
            <a:ext cx="680684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="" xmlns:a16="http://schemas.microsoft.com/office/drawing/2014/main" id="{202720A0-019C-479A-B24B-7F7326F3FD80}"/>
              </a:ext>
            </a:extLst>
          </p:cNvPr>
          <p:cNvSpPr/>
          <p:nvPr/>
        </p:nvSpPr>
        <p:spPr>
          <a:xfrm>
            <a:off x="9673305" y="2685841"/>
            <a:ext cx="665125" cy="546476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x0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="" xmlns:a16="http://schemas.microsoft.com/office/drawing/2014/main" id="{BFF53B32-FDBA-4423-8B5F-7D7796FEF8C0}"/>
              </a:ext>
            </a:extLst>
          </p:cNvPr>
          <p:cNvCxnSpPr>
            <a:cxnSpLocks/>
          </p:cNvCxnSpPr>
          <p:nvPr/>
        </p:nvCxnSpPr>
        <p:spPr>
          <a:xfrm>
            <a:off x="9134407" y="3015727"/>
            <a:ext cx="511802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Oval 26">
            <a:extLst>
              <a:ext uri="{FF2B5EF4-FFF2-40B4-BE49-F238E27FC236}">
                <a16:creationId xmlns="" xmlns:a16="http://schemas.microsoft.com/office/drawing/2014/main" id="{DE41C43F-E569-4D3A-912A-B766733C4890}"/>
              </a:ext>
            </a:extLst>
          </p:cNvPr>
          <p:cNvSpPr/>
          <p:nvPr/>
        </p:nvSpPr>
        <p:spPr>
          <a:xfrm>
            <a:off x="11091641" y="2648552"/>
            <a:ext cx="665125" cy="546476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x1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="" xmlns:a16="http://schemas.microsoft.com/office/drawing/2014/main" id="{5A4B8388-BED9-49A2-8F02-6938E3A66FAE}"/>
              </a:ext>
            </a:extLst>
          </p:cNvPr>
          <p:cNvCxnSpPr>
            <a:cxnSpLocks/>
          </p:cNvCxnSpPr>
          <p:nvPr/>
        </p:nvCxnSpPr>
        <p:spPr>
          <a:xfrm>
            <a:off x="10370616" y="2976270"/>
            <a:ext cx="680684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Oval 28">
            <a:extLst>
              <a:ext uri="{FF2B5EF4-FFF2-40B4-BE49-F238E27FC236}">
                <a16:creationId xmlns="" xmlns:a16="http://schemas.microsoft.com/office/drawing/2014/main" id="{CFCC558A-66D5-42D0-A1A7-A1CA65E78BA1}"/>
              </a:ext>
            </a:extLst>
          </p:cNvPr>
          <p:cNvSpPr/>
          <p:nvPr/>
        </p:nvSpPr>
        <p:spPr>
          <a:xfrm>
            <a:off x="11091641" y="3847687"/>
            <a:ext cx="665125" cy="546476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x2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="" xmlns:a16="http://schemas.microsoft.com/office/drawing/2014/main" id="{8F918229-DE98-4F1B-8585-6A5A6AB4B632}"/>
              </a:ext>
            </a:extLst>
          </p:cNvPr>
          <p:cNvCxnSpPr>
            <a:cxnSpLocks/>
            <a:endCxn id="29" idx="2"/>
          </p:cNvCxnSpPr>
          <p:nvPr/>
        </p:nvCxnSpPr>
        <p:spPr>
          <a:xfrm>
            <a:off x="10095644" y="3245956"/>
            <a:ext cx="995997" cy="874969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="" xmlns:a16="http://schemas.microsoft.com/office/drawing/2014/main" id="{FE8602C3-CD55-4F77-A95C-59A245C9D920}"/>
              </a:ext>
            </a:extLst>
          </p:cNvPr>
          <p:cNvSpPr txBox="1"/>
          <p:nvPr/>
        </p:nvSpPr>
        <p:spPr>
          <a:xfrm>
            <a:off x="6855759" y="0"/>
            <a:ext cx="1600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NDFA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="" xmlns:a16="http://schemas.microsoft.com/office/drawing/2014/main" id="{F5B46580-26AB-41E0-91B9-FEBA58147388}"/>
              </a:ext>
            </a:extLst>
          </p:cNvPr>
          <p:cNvGrpSpPr/>
          <p:nvPr/>
        </p:nvGrpSpPr>
        <p:grpSpPr>
          <a:xfrm>
            <a:off x="6219406" y="2309470"/>
            <a:ext cx="686471" cy="905805"/>
            <a:chOff x="6924745" y="2274367"/>
            <a:chExt cx="686471" cy="936326"/>
          </a:xfrm>
        </p:grpSpPr>
        <p:sp>
          <p:nvSpPr>
            <p:cNvPr id="39" name="Arrow: Up 38">
              <a:extLst>
                <a:ext uri="{FF2B5EF4-FFF2-40B4-BE49-F238E27FC236}">
                  <a16:creationId xmlns="" xmlns:a16="http://schemas.microsoft.com/office/drawing/2014/main" id="{092EA5B0-796E-468B-A5D2-55D4F4D57782}"/>
                </a:ext>
              </a:extLst>
            </p:cNvPr>
            <p:cNvSpPr/>
            <p:nvPr/>
          </p:nvSpPr>
          <p:spPr>
            <a:xfrm rot="10800000">
              <a:off x="7044865" y="2571551"/>
              <a:ext cx="191070" cy="639142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" name="TextBox 39">
              <a:extLst>
                <a:ext uri="{FF2B5EF4-FFF2-40B4-BE49-F238E27FC236}">
                  <a16:creationId xmlns="" xmlns:a16="http://schemas.microsoft.com/office/drawing/2014/main" id="{CC41A589-9E7A-49D8-A1A5-16DC7FC55188}"/>
                </a:ext>
              </a:extLst>
            </p:cNvPr>
            <p:cNvSpPr txBox="1"/>
            <p:nvPr/>
          </p:nvSpPr>
          <p:spPr>
            <a:xfrm>
              <a:off x="6924745" y="2274367"/>
              <a:ext cx="686471" cy="381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CS-1</a:t>
              </a:r>
            </a:p>
          </p:txBody>
        </p:sp>
      </p:grpSp>
      <p:sp>
        <p:nvSpPr>
          <p:cNvPr id="41" name="TextBox 40">
            <a:extLst>
              <a:ext uri="{FF2B5EF4-FFF2-40B4-BE49-F238E27FC236}">
                <a16:creationId xmlns="" xmlns:a16="http://schemas.microsoft.com/office/drawing/2014/main" id="{691EA572-6641-4289-B858-7EDFF669A7FE}"/>
              </a:ext>
            </a:extLst>
          </p:cNvPr>
          <p:cNvSpPr txBox="1"/>
          <p:nvPr/>
        </p:nvSpPr>
        <p:spPr>
          <a:xfrm>
            <a:off x="7180301" y="3100504"/>
            <a:ext cx="618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42" name="Arc 41">
            <a:extLst>
              <a:ext uri="{FF2B5EF4-FFF2-40B4-BE49-F238E27FC236}">
                <a16:creationId xmlns="" xmlns:a16="http://schemas.microsoft.com/office/drawing/2014/main" id="{FB49FF09-5691-4EDE-86F7-F4C274BE43C3}"/>
              </a:ext>
            </a:extLst>
          </p:cNvPr>
          <p:cNvSpPr/>
          <p:nvPr/>
        </p:nvSpPr>
        <p:spPr>
          <a:xfrm rot="1162700">
            <a:off x="6514495" y="2812063"/>
            <a:ext cx="540134" cy="887105"/>
          </a:xfrm>
          <a:prstGeom prst="arc">
            <a:avLst>
              <a:gd name="adj1" fmla="val 10711483"/>
              <a:gd name="adj2" fmla="val 0"/>
            </a:avLst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="" xmlns:a16="http://schemas.microsoft.com/office/drawing/2014/main" id="{564EA0C2-FB44-4B81-92E4-DE3F4EB90253}"/>
              </a:ext>
            </a:extLst>
          </p:cNvPr>
          <p:cNvSpPr txBox="1"/>
          <p:nvPr/>
        </p:nvSpPr>
        <p:spPr>
          <a:xfrm>
            <a:off x="6827938" y="2511266"/>
            <a:ext cx="3398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="" xmlns:a16="http://schemas.microsoft.com/office/drawing/2014/main" id="{0559F2A3-E389-4D8C-A256-27B5FA6F1DBE}"/>
              </a:ext>
            </a:extLst>
          </p:cNvPr>
          <p:cNvGrpSpPr/>
          <p:nvPr/>
        </p:nvGrpSpPr>
        <p:grpSpPr>
          <a:xfrm>
            <a:off x="7864547" y="2224428"/>
            <a:ext cx="734255" cy="905805"/>
            <a:chOff x="6924745" y="2274367"/>
            <a:chExt cx="734255" cy="936326"/>
          </a:xfrm>
        </p:grpSpPr>
        <p:sp>
          <p:nvSpPr>
            <p:cNvPr id="45" name="Arrow: Up 44">
              <a:extLst>
                <a:ext uri="{FF2B5EF4-FFF2-40B4-BE49-F238E27FC236}">
                  <a16:creationId xmlns="" xmlns:a16="http://schemas.microsoft.com/office/drawing/2014/main" id="{F50DBBD6-4024-403C-98D9-FF0BB6F76EBD}"/>
                </a:ext>
              </a:extLst>
            </p:cNvPr>
            <p:cNvSpPr/>
            <p:nvPr/>
          </p:nvSpPr>
          <p:spPr>
            <a:xfrm rot="10800000">
              <a:off x="7044865" y="2571551"/>
              <a:ext cx="191070" cy="639142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6" name="TextBox 45">
              <a:extLst>
                <a:ext uri="{FF2B5EF4-FFF2-40B4-BE49-F238E27FC236}">
                  <a16:creationId xmlns="" xmlns:a16="http://schemas.microsoft.com/office/drawing/2014/main" id="{7D290B0C-061D-4520-8693-896D9B0012FD}"/>
                </a:ext>
              </a:extLst>
            </p:cNvPr>
            <p:cNvSpPr txBox="1"/>
            <p:nvPr/>
          </p:nvSpPr>
          <p:spPr>
            <a:xfrm>
              <a:off x="6924745" y="2274367"/>
              <a:ext cx="734255" cy="381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CS-2</a:t>
              </a: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="" xmlns:a16="http://schemas.microsoft.com/office/drawing/2014/main" id="{51E658DB-E8B7-47C2-BAA6-E7902BB4466E}"/>
              </a:ext>
            </a:extLst>
          </p:cNvPr>
          <p:cNvGrpSpPr/>
          <p:nvPr/>
        </p:nvGrpSpPr>
        <p:grpSpPr>
          <a:xfrm rot="14675448">
            <a:off x="10298758" y="3838065"/>
            <a:ext cx="414265" cy="1226131"/>
            <a:chOff x="7044865" y="1943248"/>
            <a:chExt cx="414265" cy="1267445"/>
          </a:xfrm>
        </p:grpSpPr>
        <p:sp>
          <p:nvSpPr>
            <p:cNvPr id="48" name="Arrow: Up 47">
              <a:extLst>
                <a:ext uri="{FF2B5EF4-FFF2-40B4-BE49-F238E27FC236}">
                  <a16:creationId xmlns="" xmlns:a16="http://schemas.microsoft.com/office/drawing/2014/main" id="{EB4754B5-94C1-4DA9-84E9-B9A959B65248}"/>
                </a:ext>
              </a:extLst>
            </p:cNvPr>
            <p:cNvSpPr/>
            <p:nvPr/>
          </p:nvSpPr>
          <p:spPr>
            <a:xfrm rot="10800000">
              <a:off x="7044865" y="2571551"/>
              <a:ext cx="191070" cy="639142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9" name="TextBox 48">
              <a:extLst>
                <a:ext uri="{FF2B5EF4-FFF2-40B4-BE49-F238E27FC236}">
                  <a16:creationId xmlns="" xmlns:a16="http://schemas.microsoft.com/office/drawing/2014/main" id="{F3E062A3-049E-4724-8FAD-6081F8DD53D1}"/>
                </a:ext>
              </a:extLst>
            </p:cNvPr>
            <p:cNvSpPr txBox="1"/>
            <p:nvPr/>
          </p:nvSpPr>
          <p:spPr>
            <a:xfrm rot="6924552">
              <a:off x="6915220" y="2117826"/>
              <a:ext cx="7184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CS-2</a:t>
              </a: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="" xmlns:a16="http://schemas.microsoft.com/office/drawing/2014/main" id="{1F1E92E3-9C48-42AB-9EF2-80D908D7051E}"/>
              </a:ext>
            </a:extLst>
          </p:cNvPr>
          <p:cNvSpPr txBox="1"/>
          <p:nvPr/>
        </p:nvSpPr>
        <p:spPr>
          <a:xfrm>
            <a:off x="10417544" y="2446479"/>
            <a:ext cx="618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="" xmlns:a16="http://schemas.microsoft.com/office/drawing/2014/main" id="{8EEEBDA4-CAB6-4976-80BD-9555F2BFAF69}"/>
              </a:ext>
            </a:extLst>
          </p:cNvPr>
          <p:cNvSpPr txBox="1"/>
          <p:nvPr/>
        </p:nvSpPr>
        <p:spPr>
          <a:xfrm>
            <a:off x="10249665" y="3528854"/>
            <a:ext cx="618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grpSp>
        <p:nvGrpSpPr>
          <p:cNvPr id="52" name="Group 51">
            <a:extLst>
              <a:ext uri="{FF2B5EF4-FFF2-40B4-BE49-F238E27FC236}">
                <a16:creationId xmlns="" xmlns:a16="http://schemas.microsoft.com/office/drawing/2014/main" id="{49D99FF1-2EC4-43EE-BC9B-16BB690E0223}"/>
              </a:ext>
            </a:extLst>
          </p:cNvPr>
          <p:cNvGrpSpPr/>
          <p:nvPr/>
        </p:nvGrpSpPr>
        <p:grpSpPr>
          <a:xfrm>
            <a:off x="11190739" y="1680155"/>
            <a:ext cx="724797" cy="905805"/>
            <a:chOff x="6924745" y="2274367"/>
            <a:chExt cx="724797" cy="936326"/>
          </a:xfrm>
        </p:grpSpPr>
        <p:sp>
          <p:nvSpPr>
            <p:cNvPr id="53" name="Arrow: Up 52">
              <a:extLst>
                <a:ext uri="{FF2B5EF4-FFF2-40B4-BE49-F238E27FC236}">
                  <a16:creationId xmlns="" xmlns:a16="http://schemas.microsoft.com/office/drawing/2014/main" id="{E6433352-9692-4E2E-97FA-2C08780AA5E0}"/>
                </a:ext>
              </a:extLst>
            </p:cNvPr>
            <p:cNvSpPr/>
            <p:nvPr/>
          </p:nvSpPr>
          <p:spPr>
            <a:xfrm rot="10800000">
              <a:off x="7044865" y="2571551"/>
              <a:ext cx="191070" cy="639142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4" name="TextBox 53">
              <a:extLst>
                <a:ext uri="{FF2B5EF4-FFF2-40B4-BE49-F238E27FC236}">
                  <a16:creationId xmlns="" xmlns:a16="http://schemas.microsoft.com/office/drawing/2014/main" id="{4AC2F1B8-FB5A-42B4-8740-47E8BC89FD89}"/>
                </a:ext>
              </a:extLst>
            </p:cNvPr>
            <p:cNvSpPr txBox="1"/>
            <p:nvPr/>
          </p:nvSpPr>
          <p:spPr>
            <a:xfrm>
              <a:off x="6924745" y="2274367"/>
              <a:ext cx="724797" cy="381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CS-1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21737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149AD530-6C2A-44EA-A853-BAC2857EF1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904" y="858413"/>
            <a:ext cx="4565143" cy="5580529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Empty string transitions are not seen in DFA.</a:t>
            </a:r>
          </a:p>
          <a:p>
            <a:pPr marL="457200" indent="-457200">
              <a:buFont typeface="+mj-lt"/>
              <a:buAutoNum type="arabicPeriod" startAt="2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E7E875E4-C02C-44AD-9251-3D0D7CDF2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26D1DE06-0720-4572-BF37-034426FE1CD7}"/>
              </a:ext>
            </a:extLst>
          </p:cNvPr>
          <p:cNvSpPr txBox="1"/>
          <p:nvPr/>
        </p:nvSpPr>
        <p:spPr>
          <a:xfrm>
            <a:off x="1529669" y="33241"/>
            <a:ext cx="1600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DFA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="" xmlns:a16="http://schemas.microsoft.com/office/drawing/2014/main" id="{7D659041-649F-4D29-85D5-F22DB2D1156C}"/>
              </a:ext>
            </a:extLst>
          </p:cNvPr>
          <p:cNvCxnSpPr>
            <a:cxnSpLocks/>
          </p:cNvCxnSpPr>
          <p:nvPr/>
        </p:nvCxnSpPr>
        <p:spPr>
          <a:xfrm>
            <a:off x="282486" y="5491686"/>
            <a:ext cx="556591" cy="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" name="Group 28">
            <a:extLst>
              <a:ext uri="{FF2B5EF4-FFF2-40B4-BE49-F238E27FC236}">
                <a16:creationId xmlns="" xmlns:a16="http://schemas.microsoft.com/office/drawing/2014/main" id="{21BDFBF6-3737-498B-B845-A23145FE5D0C}"/>
              </a:ext>
            </a:extLst>
          </p:cNvPr>
          <p:cNvGrpSpPr/>
          <p:nvPr/>
        </p:nvGrpSpPr>
        <p:grpSpPr>
          <a:xfrm>
            <a:off x="2558296" y="5097415"/>
            <a:ext cx="839021" cy="802091"/>
            <a:chOff x="10458837" y="1785088"/>
            <a:chExt cx="839021" cy="802091"/>
          </a:xfrm>
        </p:grpSpPr>
        <p:sp>
          <p:nvSpPr>
            <p:cNvPr id="30" name="Oval 29">
              <a:extLst>
                <a:ext uri="{FF2B5EF4-FFF2-40B4-BE49-F238E27FC236}">
                  <a16:creationId xmlns="" xmlns:a16="http://schemas.microsoft.com/office/drawing/2014/main" id="{AEC12217-3F4B-40DA-9B86-78D6E8BF993D}"/>
                </a:ext>
              </a:extLst>
            </p:cNvPr>
            <p:cNvSpPr/>
            <p:nvPr/>
          </p:nvSpPr>
          <p:spPr>
            <a:xfrm>
              <a:off x="10458837" y="1785088"/>
              <a:ext cx="839021" cy="802091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" name="Oval 30">
              <a:extLst>
                <a:ext uri="{FF2B5EF4-FFF2-40B4-BE49-F238E27FC236}">
                  <a16:creationId xmlns="" xmlns:a16="http://schemas.microsoft.com/office/drawing/2014/main" id="{C4C249AF-D7E6-419B-988D-D41D419ADA3D}"/>
                </a:ext>
              </a:extLst>
            </p:cNvPr>
            <p:cNvSpPr/>
            <p:nvPr/>
          </p:nvSpPr>
          <p:spPr>
            <a:xfrm>
              <a:off x="10544977" y="1877513"/>
              <a:ext cx="681980" cy="62819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x1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="" xmlns:a16="http://schemas.microsoft.com/office/drawing/2014/main" id="{902C3A67-4AB9-4662-8F1C-815FBE9E5772}"/>
              </a:ext>
            </a:extLst>
          </p:cNvPr>
          <p:cNvGrpSpPr/>
          <p:nvPr/>
        </p:nvGrpSpPr>
        <p:grpSpPr>
          <a:xfrm>
            <a:off x="4280772" y="5057073"/>
            <a:ext cx="839021" cy="802091"/>
            <a:chOff x="10512625" y="1744747"/>
            <a:chExt cx="839021" cy="802091"/>
          </a:xfrm>
        </p:grpSpPr>
        <p:sp>
          <p:nvSpPr>
            <p:cNvPr id="33" name="Oval 32">
              <a:extLst>
                <a:ext uri="{FF2B5EF4-FFF2-40B4-BE49-F238E27FC236}">
                  <a16:creationId xmlns="" xmlns:a16="http://schemas.microsoft.com/office/drawing/2014/main" id="{654C964B-B210-4402-9FC6-3A475B2507F0}"/>
                </a:ext>
              </a:extLst>
            </p:cNvPr>
            <p:cNvSpPr/>
            <p:nvPr/>
          </p:nvSpPr>
          <p:spPr>
            <a:xfrm>
              <a:off x="10512625" y="1744747"/>
              <a:ext cx="839021" cy="802091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Oval 33">
              <a:extLst>
                <a:ext uri="{FF2B5EF4-FFF2-40B4-BE49-F238E27FC236}">
                  <a16:creationId xmlns="" xmlns:a16="http://schemas.microsoft.com/office/drawing/2014/main" id="{690B9038-E591-48DB-8D9E-BEA65AE2CA8E}"/>
                </a:ext>
              </a:extLst>
            </p:cNvPr>
            <p:cNvSpPr/>
            <p:nvPr/>
          </p:nvSpPr>
          <p:spPr>
            <a:xfrm>
              <a:off x="10585318" y="1837172"/>
              <a:ext cx="681980" cy="62819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x2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="" xmlns:a16="http://schemas.microsoft.com/office/drawing/2014/main" id="{1759F2FC-6A06-4B49-BB1C-A4B869BB7D7F}"/>
              </a:ext>
            </a:extLst>
          </p:cNvPr>
          <p:cNvGrpSpPr/>
          <p:nvPr/>
        </p:nvGrpSpPr>
        <p:grpSpPr>
          <a:xfrm>
            <a:off x="1706776" y="5173190"/>
            <a:ext cx="839021" cy="369332"/>
            <a:chOff x="7435657" y="3287208"/>
            <a:chExt cx="1162516" cy="369332"/>
          </a:xfrm>
        </p:grpSpPr>
        <p:cxnSp>
          <p:nvCxnSpPr>
            <p:cNvPr id="36" name="Straight Arrow Connector 35">
              <a:extLst>
                <a:ext uri="{FF2B5EF4-FFF2-40B4-BE49-F238E27FC236}">
                  <a16:creationId xmlns="" xmlns:a16="http://schemas.microsoft.com/office/drawing/2014/main" id="{A1F69A51-BF29-4F8B-829E-CE0E65915941}"/>
                </a:ext>
              </a:extLst>
            </p:cNvPr>
            <p:cNvCxnSpPr/>
            <p:nvPr/>
          </p:nvCxnSpPr>
          <p:spPr>
            <a:xfrm>
              <a:off x="7435657" y="3623630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>
              <a:extLst>
                <a:ext uri="{FF2B5EF4-FFF2-40B4-BE49-F238E27FC236}">
                  <a16:creationId xmlns="" xmlns:a16="http://schemas.microsoft.com/office/drawing/2014/main" id="{DA8C129A-F994-4515-8930-855F02A7AD28}"/>
                </a:ext>
              </a:extLst>
            </p:cNvPr>
            <p:cNvSpPr txBox="1"/>
            <p:nvPr/>
          </p:nvSpPr>
          <p:spPr>
            <a:xfrm>
              <a:off x="7554876" y="3287208"/>
              <a:ext cx="93196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a/b</a:t>
              </a: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="" xmlns:a16="http://schemas.microsoft.com/office/drawing/2014/main" id="{5F8E4A51-BBB0-4F22-9F33-52AFB1CF1B77}"/>
              </a:ext>
            </a:extLst>
          </p:cNvPr>
          <p:cNvGrpSpPr/>
          <p:nvPr/>
        </p:nvGrpSpPr>
        <p:grpSpPr>
          <a:xfrm>
            <a:off x="3428852" y="5115701"/>
            <a:ext cx="839021" cy="376763"/>
            <a:chOff x="7491553" y="3260314"/>
            <a:chExt cx="1162516" cy="376763"/>
          </a:xfrm>
        </p:grpSpPr>
        <p:cxnSp>
          <p:nvCxnSpPr>
            <p:cNvPr id="39" name="Straight Arrow Connector 38">
              <a:extLst>
                <a:ext uri="{FF2B5EF4-FFF2-40B4-BE49-F238E27FC236}">
                  <a16:creationId xmlns="" xmlns:a16="http://schemas.microsoft.com/office/drawing/2014/main" id="{1863340D-83A7-454C-8884-67F4279D6ACF}"/>
                </a:ext>
              </a:extLst>
            </p:cNvPr>
            <p:cNvCxnSpPr/>
            <p:nvPr/>
          </p:nvCxnSpPr>
          <p:spPr>
            <a:xfrm>
              <a:off x="7491553" y="3637077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TextBox 39">
              <a:extLst>
                <a:ext uri="{FF2B5EF4-FFF2-40B4-BE49-F238E27FC236}">
                  <a16:creationId xmlns="" xmlns:a16="http://schemas.microsoft.com/office/drawing/2014/main" id="{3BED651A-1442-41C3-A692-6EF76089924F}"/>
                </a:ext>
              </a:extLst>
            </p:cNvPr>
            <p:cNvSpPr txBox="1"/>
            <p:nvPr/>
          </p:nvSpPr>
          <p:spPr>
            <a:xfrm>
              <a:off x="7554876" y="3260314"/>
              <a:ext cx="93196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a/b</a:t>
              </a: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="" xmlns:a16="http://schemas.microsoft.com/office/drawing/2014/main" id="{7F496128-87E5-4061-9F8E-A4E9AC2C8A2F}"/>
              </a:ext>
            </a:extLst>
          </p:cNvPr>
          <p:cNvGrpSpPr/>
          <p:nvPr/>
        </p:nvGrpSpPr>
        <p:grpSpPr>
          <a:xfrm>
            <a:off x="845628" y="5091286"/>
            <a:ext cx="839021" cy="802091"/>
            <a:chOff x="10512625" y="1744747"/>
            <a:chExt cx="839021" cy="802091"/>
          </a:xfrm>
        </p:grpSpPr>
        <p:sp>
          <p:nvSpPr>
            <p:cNvPr id="42" name="Oval 41">
              <a:extLst>
                <a:ext uri="{FF2B5EF4-FFF2-40B4-BE49-F238E27FC236}">
                  <a16:creationId xmlns="" xmlns:a16="http://schemas.microsoft.com/office/drawing/2014/main" id="{9B6BE869-6D99-48F8-817C-D903F081BEFB}"/>
                </a:ext>
              </a:extLst>
            </p:cNvPr>
            <p:cNvSpPr/>
            <p:nvPr/>
          </p:nvSpPr>
          <p:spPr>
            <a:xfrm>
              <a:off x="10512625" y="1744747"/>
              <a:ext cx="839021" cy="802091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3" name="Oval 42">
              <a:extLst>
                <a:ext uri="{FF2B5EF4-FFF2-40B4-BE49-F238E27FC236}">
                  <a16:creationId xmlns="" xmlns:a16="http://schemas.microsoft.com/office/drawing/2014/main" id="{4789EE9C-F7E5-4DFE-969D-8DDD4AF4B4A9}"/>
                </a:ext>
              </a:extLst>
            </p:cNvPr>
            <p:cNvSpPr/>
            <p:nvPr/>
          </p:nvSpPr>
          <p:spPr>
            <a:xfrm>
              <a:off x="10585318" y="1837172"/>
              <a:ext cx="681980" cy="62819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x0</a:t>
              </a:r>
            </a:p>
          </p:txBody>
        </p:sp>
      </p:grpSp>
      <p:sp>
        <p:nvSpPr>
          <p:cNvPr id="44" name="Oval 43">
            <a:extLst>
              <a:ext uri="{FF2B5EF4-FFF2-40B4-BE49-F238E27FC236}">
                <a16:creationId xmlns="" xmlns:a16="http://schemas.microsoft.com/office/drawing/2014/main" id="{2F8AC0DC-CB2C-41F4-86A0-1B2179B98F03}"/>
              </a:ext>
            </a:extLst>
          </p:cNvPr>
          <p:cNvSpPr/>
          <p:nvPr/>
        </p:nvSpPr>
        <p:spPr>
          <a:xfrm>
            <a:off x="7488696" y="2610278"/>
            <a:ext cx="665125" cy="546476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x0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="" xmlns:a16="http://schemas.microsoft.com/office/drawing/2014/main" id="{4ED94321-EC8D-47E8-B1C4-A1183E65D1D4}"/>
              </a:ext>
            </a:extLst>
          </p:cNvPr>
          <p:cNvCxnSpPr>
            <a:cxnSpLocks/>
          </p:cNvCxnSpPr>
          <p:nvPr/>
        </p:nvCxnSpPr>
        <p:spPr>
          <a:xfrm>
            <a:off x="6949798" y="2940164"/>
            <a:ext cx="511802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Oval 45">
            <a:extLst>
              <a:ext uri="{FF2B5EF4-FFF2-40B4-BE49-F238E27FC236}">
                <a16:creationId xmlns="" xmlns:a16="http://schemas.microsoft.com/office/drawing/2014/main" id="{5DF5953E-B986-4B7C-B688-CAB63D1C0BF8}"/>
              </a:ext>
            </a:extLst>
          </p:cNvPr>
          <p:cNvSpPr/>
          <p:nvPr/>
        </p:nvSpPr>
        <p:spPr>
          <a:xfrm>
            <a:off x="8907032" y="2572989"/>
            <a:ext cx="665125" cy="546476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x1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="" xmlns:a16="http://schemas.microsoft.com/office/drawing/2014/main" id="{A070CF6C-C892-43CE-97BC-ADEE3BF638CC}"/>
              </a:ext>
            </a:extLst>
          </p:cNvPr>
          <p:cNvCxnSpPr>
            <a:cxnSpLocks/>
          </p:cNvCxnSpPr>
          <p:nvPr/>
        </p:nvCxnSpPr>
        <p:spPr>
          <a:xfrm>
            <a:off x="8186007" y="2900707"/>
            <a:ext cx="680684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="" xmlns:a16="http://schemas.microsoft.com/office/drawing/2014/main" id="{DEDC641C-F775-4A1F-86E8-ECA48D51C1A8}"/>
              </a:ext>
            </a:extLst>
          </p:cNvPr>
          <p:cNvSpPr txBox="1"/>
          <p:nvPr/>
        </p:nvSpPr>
        <p:spPr>
          <a:xfrm>
            <a:off x="6855759" y="0"/>
            <a:ext cx="1600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NDFA</a:t>
            </a:r>
          </a:p>
        </p:txBody>
      </p:sp>
      <p:sp>
        <p:nvSpPr>
          <p:cNvPr id="50" name="Content Placeholder 2">
            <a:extLst>
              <a:ext uri="{FF2B5EF4-FFF2-40B4-BE49-F238E27FC236}">
                <a16:creationId xmlns="" xmlns:a16="http://schemas.microsoft.com/office/drawing/2014/main" id="{4BC9451E-7A47-401A-A903-20E228779627}"/>
              </a:ext>
            </a:extLst>
          </p:cNvPr>
          <p:cNvSpPr txBox="1">
            <a:spLocks/>
          </p:cNvSpPr>
          <p:nvPr/>
        </p:nvSpPr>
        <p:spPr>
          <a:xfrm>
            <a:off x="5537633" y="793270"/>
            <a:ext cx="4565144" cy="91450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457200" indent="-457200">
              <a:buFont typeface="+mj-lt"/>
              <a:buAutoNum type="arabicPeriod" startAt="2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NDFA permits empty string transitions.</a:t>
            </a:r>
          </a:p>
          <a:p>
            <a:pPr>
              <a:buFont typeface="+mj-lt"/>
              <a:buAutoNum type="arabicPeriod" startAt="2"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1" name="Group 50">
            <a:extLst>
              <a:ext uri="{FF2B5EF4-FFF2-40B4-BE49-F238E27FC236}">
                <a16:creationId xmlns="" xmlns:a16="http://schemas.microsoft.com/office/drawing/2014/main" id="{E9E08B4D-2B9C-47B2-8A98-9A4E2B6C7C67}"/>
              </a:ext>
            </a:extLst>
          </p:cNvPr>
          <p:cNvGrpSpPr/>
          <p:nvPr/>
        </p:nvGrpSpPr>
        <p:grpSpPr>
          <a:xfrm>
            <a:off x="1028336" y="4173559"/>
            <a:ext cx="591867" cy="905805"/>
            <a:chOff x="6924745" y="2274367"/>
            <a:chExt cx="591867" cy="936326"/>
          </a:xfrm>
        </p:grpSpPr>
        <p:sp>
          <p:nvSpPr>
            <p:cNvPr id="52" name="Arrow: Up 51">
              <a:extLst>
                <a:ext uri="{FF2B5EF4-FFF2-40B4-BE49-F238E27FC236}">
                  <a16:creationId xmlns="" xmlns:a16="http://schemas.microsoft.com/office/drawing/2014/main" id="{69058EAB-3E8A-411D-871F-F97C100E736A}"/>
                </a:ext>
              </a:extLst>
            </p:cNvPr>
            <p:cNvSpPr/>
            <p:nvPr/>
          </p:nvSpPr>
          <p:spPr>
            <a:xfrm rot="10800000">
              <a:off x="7044865" y="2571551"/>
              <a:ext cx="191070" cy="639142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3" name="TextBox 52">
              <a:extLst>
                <a:ext uri="{FF2B5EF4-FFF2-40B4-BE49-F238E27FC236}">
                  <a16:creationId xmlns="" xmlns:a16="http://schemas.microsoft.com/office/drawing/2014/main" id="{A951844F-C2C6-4DDF-9F21-04565B7BEEA9}"/>
                </a:ext>
              </a:extLst>
            </p:cNvPr>
            <p:cNvSpPr txBox="1"/>
            <p:nvPr/>
          </p:nvSpPr>
          <p:spPr>
            <a:xfrm>
              <a:off x="6924745" y="2274367"/>
              <a:ext cx="5918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</a:t>
              </a:r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="" xmlns:a16="http://schemas.microsoft.com/office/drawing/2014/main" id="{752FEB1C-6360-4556-83B8-27D81FE9D7C1}"/>
              </a:ext>
            </a:extLst>
          </p:cNvPr>
          <p:cNvGrpSpPr/>
          <p:nvPr/>
        </p:nvGrpSpPr>
        <p:grpSpPr>
          <a:xfrm>
            <a:off x="9089597" y="1644938"/>
            <a:ext cx="672626" cy="905805"/>
            <a:chOff x="6924745" y="2274367"/>
            <a:chExt cx="672626" cy="936326"/>
          </a:xfrm>
        </p:grpSpPr>
        <p:sp>
          <p:nvSpPr>
            <p:cNvPr id="55" name="Arrow: Up 54">
              <a:extLst>
                <a:ext uri="{FF2B5EF4-FFF2-40B4-BE49-F238E27FC236}">
                  <a16:creationId xmlns="" xmlns:a16="http://schemas.microsoft.com/office/drawing/2014/main" id="{ADD007C3-9F1D-4C3C-A641-BCF728050686}"/>
                </a:ext>
              </a:extLst>
            </p:cNvPr>
            <p:cNvSpPr/>
            <p:nvPr/>
          </p:nvSpPr>
          <p:spPr>
            <a:xfrm rot="10800000">
              <a:off x="7044865" y="2571551"/>
              <a:ext cx="191070" cy="639142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6" name="TextBox 55">
              <a:extLst>
                <a:ext uri="{FF2B5EF4-FFF2-40B4-BE49-F238E27FC236}">
                  <a16:creationId xmlns="" xmlns:a16="http://schemas.microsoft.com/office/drawing/2014/main" id="{B8B9C6C7-CF78-4063-9769-00A40ED2E376}"/>
                </a:ext>
              </a:extLst>
            </p:cNvPr>
            <p:cNvSpPr txBox="1"/>
            <p:nvPr/>
          </p:nvSpPr>
          <p:spPr>
            <a:xfrm>
              <a:off x="6924745" y="2274367"/>
              <a:ext cx="672626" cy="381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CS-2</a:t>
              </a:r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="" xmlns:a16="http://schemas.microsoft.com/office/drawing/2014/main" id="{4CBB83FE-F277-41E5-8DCB-AE43A9635FE7}"/>
              </a:ext>
            </a:extLst>
          </p:cNvPr>
          <p:cNvGrpSpPr/>
          <p:nvPr/>
        </p:nvGrpSpPr>
        <p:grpSpPr>
          <a:xfrm>
            <a:off x="7561954" y="1667184"/>
            <a:ext cx="706342" cy="905805"/>
            <a:chOff x="6924745" y="2274367"/>
            <a:chExt cx="706342" cy="936326"/>
          </a:xfrm>
        </p:grpSpPr>
        <p:sp>
          <p:nvSpPr>
            <p:cNvPr id="58" name="Arrow: Up 57">
              <a:extLst>
                <a:ext uri="{FF2B5EF4-FFF2-40B4-BE49-F238E27FC236}">
                  <a16:creationId xmlns="" xmlns:a16="http://schemas.microsoft.com/office/drawing/2014/main" id="{DF2C82C1-00D3-4BF5-B1F2-C82648F11A84}"/>
                </a:ext>
              </a:extLst>
            </p:cNvPr>
            <p:cNvSpPr/>
            <p:nvPr/>
          </p:nvSpPr>
          <p:spPr>
            <a:xfrm rot="10800000">
              <a:off x="7044865" y="2571551"/>
              <a:ext cx="191070" cy="639142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9" name="TextBox 58">
              <a:extLst>
                <a:ext uri="{FF2B5EF4-FFF2-40B4-BE49-F238E27FC236}">
                  <a16:creationId xmlns="" xmlns:a16="http://schemas.microsoft.com/office/drawing/2014/main" id="{8FC6C410-F17D-4F4F-981D-93E3AA6AF3D4}"/>
                </a:ext>
              </a:extLst>
            </p:cNvPr>
            <p:cNvSpPr txBox="1"/>
            <p:nvPr/>
          </p:nvSpPr>
          <p:spPr>
            <a:xfrm>
              <a:off x="6924745" y="2274367"/>
              <a:ext cx="706342" cy="381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CS-1</a:t>
              </a:r>
            </a:p>
          </p:txBody>
        </p:sp>
      </p:grpSp>
      <p:sp>
        <p:nvSpPr>
          <p:cNvPr id="60" name="TextBox 59">
            <a:extLst>
              <a:ext uri="{FF2B5EF4-FFF2-40B4-BE49-F238E27FC236}">
                <a16:creationId xmlns="" xmlns:a16="http://schemas.microsoft.com/office/drawing/2014/main" id="{E54307C2-6037-4422-84D8-931A6A150CC8}"/>
              </a:ext>
            </a:extLst>
          </p:cNvPr>
          <p:cNvSpPr txBox="1"/>
          <p:nvPr/>
        </p:nvSpPr>
        <p:spPr>
          <a:xfrm>
            <a:off x="8268296" y="2474600"/>
            <a:ext cx="6185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^</a:t>
            </a:r>
          </a:p>
        </p:txBody>
      </p:sp>
      <p:sp>
        <p:nvSpPr>
          <p:cNvPr id="62" name="Oval 61">
            <a:extLst>
              <a:ext uri="{FF2B5EF4-FFF2-40B4-BE49-F238E27FC236}">
                <a16:creationId xmlns="" xmlns:a16="http://schemas.microsoft.com/office/drawing/2014/main" id="{6F378CE0-9451-48A3-8422-0863CC703327}"/>
              </a:ext>
            </a:extLst>
          </p:cNvPr>
          <p:cNvSpPr/>
          <p:nvPr/>
        </p:nvSpPr>
        <p:spPr>
          <a:xfrm>
            <a:off x="7497038" y="4130932"/>
            <a:ext cx="665125" cy="546476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x2</a:t>
            </a:r>
          </a:p>
        </p:txBody>
      </p:sp>
      <p:sp>
        <p:nvSpPr>
          <p:cNvPr id="64" name="Oval 63">
            <a:extLst>
              <a:ext uri="{FF2B5EF4-FFF2-40B4-BE49-F238E27FC236}">
                <a16:creationId xmlns="" xmlns:a16="http://schemas.microsoft.com/office/drawing/2014/main" id="{A6A33E05-B10B-49E1-892D-603CCBF32AA9}"/>
              </a:ext>
            </a:extLst>
          </p:cNvPr>
          <p:cNvSpPr/>
          <p:nvPr/>
        </p:nvSpPr>
        <p:spPr>
          <a:xfrm>
            <a:off x="8915374" y="4093643"/>
            <a:ext cx="665125" cy="546476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x3</a:t>
            </a: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="" xmlns:a16="http://schemas.microsoft.com/office/drawing/2014/main" id="{FA696AA6-2FC6-4B9C-B44F-4CFC5E85CFA4}"/>
              </a:ext>
            </a:extLst>
          </p:cNvPr>
          <p:cNvCxnSpPr>
            <a:cxnSpLocks/>
            <a:endCxn id="62" idx="0"/>
          </p:cNvCxnSpPr>
          <p:nvPr/>
        </p:nvCxnSpPr>
        <p:spPr>
          <a:xfrm flipH="1">
            <a:off x="7829601" y="3229816"/>
            <a:ext cx="16064" cy="901116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="" xmlns:a16="http://schemas.microsoft.com/office/drawing/2014/main" id="{032430B4-2905-4B36-B797-556BB9A0E834}"/>
              </a:ext>
            </a:extLst>
          </p:cNvPr>
          <p:cNvCxnSpPr>
            <a:cxnSpLocks/>
          </p:cNvCxnSpPr>
          <p:nvPr/>
        </p:nvCxnSpPr>
        <p:spPr>
          <a:xfrm flipH="1">
            <a:off x="9231872" y="3155996"/>
            <a:ext cx="16064" cy="901116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="" xmlns:a16="http://schemas.microsoft.com/office/drawing/2014/main" id="{57DD894C-7D6F-4C21-943F-0C5388BAEF79}"/>
              </a:ext>
            </a:extLst>
          </p:cNvPr>
          <p:cNvSpPr txBox="1"/>
          <p:nvPr/>
        </p:nvSpPr>
        <p:spPr>
          <a:xfrm>
            <a:off x="9247936" y="3399709"/>
            <a:ext cx="6726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a/b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="" xmlns:a16="http://schemas.microsoft.com/office/drawing/2014/main" id="{C1A72D2C-10F8-483A-84FB-7FA933F14E88}"/>
              </a:ext>
            </a:extLst>
          </p:cNvPr>
          <p:cNvSpPr txBox="1"/>
          <p:nvPr/>
        </p:nvSpPr>
        <p:spPr>
          <a:xfrm>
            <a:off x="7225641" y="3413156"/>
            <a:ext cx="6726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a/b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50369" y="1178169"/>
            <a:ext cx="2198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Input  a / b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="" xmlns:a16="http://schemas.microsoft.com/office/drawing/2014/main" id="{7D659041-649F-4D29-85D5-F22DB2D1156C}"/>
              </a:ext>
            </a:extLst>
          </p:cNvPr>
          <p:cNvCxnSpPr>
            <a:cxnSpLocks/>
          </p:cNvCxnSpPr>
          <p:nvPr/>
        </p:nvCxnSpPr>
        <p:spPr>
          <a:xfrm>
            <a:off x="686934" y="2977086"/>
            <a:ext cx="556591" cy="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5" name="Group 28">
            <a:extLst>
              <a:ext uri="{FF2B5EF4-FFF2-40B4-BE49-F238E27FC236}">
                <a16:creationId xmlns="" xmlns:a16="http://schemas.microsoft.com/office/drawing/2014/main" id="{21BDFBF6-3737-498B-B845-A23145FE5D0C}"/>
              </a:ext>
            </a:extLst>
          </p:cNvPr>
          <p:cNvGrpSpPr/>
          <p:nvPr/>
        </p:nvGrpSpPr>
        <p:grpSpPr>
          <a:xfrm>
            <a:off x="2989120" y="2556439"/>
            <a:ext cx="839021" cy="802091"/>
            <a:chOff x="10458837" y="1785088"/>
            <a:chExt cx="839021" cy="802091"/>
          </a:xfrm>
        </p:grpSpPr>
        <p:sp>
          <p:nvSpPr>
            <p:cNvPr id="83" name="Oval 82">
              <a:extLst>
                <a:ext uri="{FF2B5EF4-FFF2-40B4-BE49-F238E27FC236}">
                  <a16:creationId xmlns="" xmlns:a16="http://schemas.microsoft.com/office/drawing/2014/main" id="{AEC12217-3F4B-40DA-9B86-78D6E8BF993D}"/>
                </a:ext>
              </a:extLst>
            </p:cNvPr>
            <p:cNvSpPr/>
            <p:nvPr/>
          </p:nvSpPr>
          <p:spPr>
            <a:xfrm>
              <a:off x="10458837" y="1785088"/>
              <a:ext cx="839021" cy="802091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4" name="Oval 83">
              <a:extLst>
                <a:ext uri="{FF2B5EF4-FFF2-40B4-BE49-F238E27FC236}">
                  <a16:creationId xmlns="" xmlns:a16="http://schemas.microsoft.com/office/drawing/2014/main" id="{C4C249AF-D7E6-419B-988D-D41D419ADA3D}"/>
                </a:ext>
              </a:extLst>
            </p:cNvPr>
            <p:cNvSpPr/>
            <p:nvPr/>
          </p:nvSpPr>
          <p:spPr>
            <a:xfrm>
              <a:off x="10544977" y="1877513"/>
              <a:ext cx="681980" cy="62819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x1</a:t>
              </a:r>
            </a:p>
          </p:txBody>
        </p:sp>
      </p:grpSp>
      <p:grpSp>
        <p:nvGrpSpPr>
          <p:cNvPr id="67" name="Group 31">
            <a:extLst>
              <a:ext uri="{FF2B5EF4-FFF2-40B4-BE49-F238E27FC236}">
                <a16:creationId xmlns="" xmlns:a16="http://schemas.microsoft.com/office/drawing/2014/main" id="{902C3A67-4AB9-4662-8F1C-815FBE9E5772}"/>
              </a:ext>
            </a:extLst>
          </p:cNvPr>
          <p:cNvGrpSpPr/>
          <p:nvPr/>
        </p:nvGrpSpPr>
        <p:grpSpPr>
          <a:xfrm>
            <a:off x="4711596" y="2516097"/>
            <a:ext cx="839021" cy="802091"/>
            <a:chOff x="10512625" y="1744747"/>
            <a:chExt cx="839021" cy="802091"/>
          </a:xfrm>
        </p:grpSpPr>
        <p:sp>
          <p:nvSpPr>
            <p:cNvPr id="81" name="Oval 80">
              <a:extLst>
                <a:ext uri="{FF2B5EF4-FFF2-40B4-BE49-F238E27FC236}">
                  <a16:creationId xmlns="" xmlns:a16="http://schemas.microsoft.com/office/drawing/2014/main" id="{654C964B-B210-4402-9FC6-3A475B2507F0}"/>
                </a:ext>
              </a:extLst>
            </p:cNvPr>
            <p:cNvSpPr/>
            <p:nvPr/>
          </p:nvSpPr>
          <p:spPr>
            <a:xfrm>
              <a:off x="10512625" y="1744747"/>
              <a:ext cx="839021" cy="802091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2" name="Oval 81">
              <a:extLst>
                <a:ext uri="{FF2B5EF4-FFF2-40B4-BE49-F238E27FC236}">
                  <a16:creationId xmlns="" xmlns:a16="http://schemas.microsoft.com/office/drawing/2014/main" id="{690B9038-E591-48DB-8D9E-BEA65AE2CA8E}"/>
                </a:ext>
              </a:extLst>
            </p:cNvPr>
            <p:cNvSpPr/>
            <p:nvPr/>
          </p:nvSpPr>
          <p:spPr>
            <a:xfrm>
              <a:off x="10585318" y="1837172"/>
              <a:ext cx="681980" cy="62819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x2</a:t>
              </a:r>
            </a:p>
          </p:txBody>
        </p:sp>
      </p:grpSp>
      <p:grpSp>
        <p:nvGrpSpPr>
          <p:cNvPr id="68" name="Group 34">
            <a:extLst>
              <a:ext uri="{FF2B5EF4-FFF2-40B4-BE49-F238E27FC236}">
                <a16:creationId xmlns="" xmlns:a16="http://schemas.microsoft.com/office/drawing/2014/main" id="{1759F2FC-6A06-4B49-BB1C-A4B869BB7D7F}"/>
              </a:ext>
            </a:extLst>
          </p:cNvPr>
          <p:cNvGrpSpPr/>
          <p:nvPr/>
        </p:nvGrpSpPr>
        <p:grpSpPr>
          <a:xfrm>
            <a:off x="2137600" y="2632214"/>
            <a:ext cx="839021" cy="369332"/>
            <a:chOff x="7435657" y="3287208"/>
            <a:chExt cx="1162516" cy="369332"/>
          </a:xfrm>
        </p:grpSpPr>
        <p:cxnSp>
          <p:nvCxnSpPr>
            <p:cNvPr id="79" name="Straight Arrow Connector 78">
              <a:extLst>
                <a:ext uri="{FF2B5EF4-FFF2-40B4-BE49-F238E27FC236}">
                  <a16:creationId xmlns="" xmlns:a16="http://schemas.microsoft.com/office/drawing/2014/main" id="{A1F69A51-BF29-4F8B-829E-CE0E65915941}"/>
                </a:ext>
              </a:extLst>
            </p:cNvPr>
            <p:cNvCxnSpPr/>
            <p:nvPr/>
          </p:nvCxnSpPr>
          <p:spPr>
            <a:xfrm>
              <a:off x="7435657" y="3623630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TextBox 79">
              <a:extLst>
                <a:ext uri="{FF2B5EF4-FFF2-40B4-BE49-F238E27FC236}">
                  <a16:creationId xmlns="" xmlns:a16="http://schemas.microsoft.com/office/drawing/2014/main" id="{DA8C129A-F994-4515-8930-855F02A7AD28}"/>
                </a:ext>
              </a:extLst>
            </p:cNvPr>
            <p:cNvSpPr txBox="1"/>
            <p:nvPr/>
          </p:nvSpPr>
          <p:spPr>
            <a:xfrm>
              <a:off x="7554876" y="3287208"/>
              <a:ext cx="93196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a/b</a:t>
              </a:r>
            </a:p>
          </p:txBody>
        </p:sp>
      </p:grpSp>
      <p:grpSp>
        <p:nvGrpSpPr>
          <p:cNvPr id="72" name="Group 37">
            <a:extLst>
              <a:ext uri="{FF2B5EF4-FFF2-40B4-BE49-F238E27FC236}">
                <a16:creationId xmlns="" xmlns:a16="http://schemas.microsoft.com/office/drawing/2014/main" id="{5F8E4A51-BBB0-4F22-9F33-52AFB1CF1B77}"/>
              </a:ext>
            </a:extLst>
          </p:cNvPr>
          <p:cNvGrpSpPr/>
          <p:nvPr/>
        </p:nvGrpSpPr>
        <p:grpSpPr>
          <a:xfrm>
            <a:off x="3859676" y="2574725"/>
            <a:ext cx="839021" cy="376763"/>
            <a:chOff x="7491553" y="3260314"/>
            <a:chExt cx="1162516" cy="376763"/>
          </a:xfrm>
        </p:grpSpPr>
        <p:cxnSp>
          <p:nvCxnSpPr>
            <p:cNvPr id="77" name="Straight Arrow Connector 76">
              <a:extLst>
                <a:ext uri="{FF2B5EF4-FFF2-40B4-BE49-F238E27FC236}">
                  <a16:creationId xmlns="" xmlns:a16="http://schemas.microsoft.com/office/drawing/2014/main" id="{1863340D-83A7-454C-8884-67F4279D6ACF}"/>
                </a:ext>
              </a:extLst>
            </p:cNvPr>
            <p:cNvCxnSpPr/>
            <p:nvPr/>
          </p:nvCxnSpPr>
          <p:spPr>
            <a:xfrm>
              <a:off x="7491553" y="3637077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TextBox 77">
              <a:extLst>
                <a:ext uri="{FF2B5EF4-FFF2-40B4-BE49-F238E27FC236}">
                  <a16:creationId xmlns="" xmlns:a16="http://schemas.microsoft.com/office/drawing/2014/main" id="{3BED651A-1442-41C3-A692-6EF76089924F}"/>
                </a:ext>
              </a:extLst>
            </p:cNvPr>
            <p:cNvSpPr txBox="1"/>
            <p:nvPr/>
          </p:nvSpPr>
          <p:spPr>
            <a:xfrm>
              <a:off x="7554876" y="3260314"/>
              <a:ext cx="93196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a/b</a:t>
              </a:r>
            </a:p>
          </p:txBody>
        </p:sp>
      </p:grpSp>
      <p:grpSp>
        <p:nvGrpSpPr>
          <p:cNvPr id="73" name="Group 50">
            <a:extLst>
              <a:ext uri="{FF2B5EF4-FFF2-40B4-BE49-F238E27FC236}">
                <a16:creationId xmlns="" xmlns:a16="http://schemas.microsoft.com/office/drawing/2014/main" id="{E9E08B4D-2B9C-47B2-8A98-9A4E2B6C7C67}"/>
              </a:ext>
            </a:extLst>
          </p:cNvPr>
          <p:cNvGrpSpPr/>
          <p:nvPr/>
        </p:nvGrpSpPr>
        <p:grpSpPr>
          <a:xfrm>
            <a:off x="1467952" y="1571036"/>
            <a:ext cx="591867" cy="905805"/>
            <a:chOff x="6924745" y="2274367"/>
            <a:chExt cx="591867" cy="936326"/>
          </a:xfrm>
        </p:grpSpPr>
        <p:sp>
          <p:nvSpPr>
            <p:cNvPr id="75" name="Arrow: Up 51">
              <a:extLst>
                <a:ext uri="{FF2B5EF4-FFF2-40B4-BE49-F238E27FC236}">
                  <a16:creationId xmlns="" xmlns:a16="http://schemas.microsoft.com/office/drawing/2014/main" id="{69058EAB-3E8A-411D-871F-F97C100E736A}"/>
                </a:ext>
              </a:extLst>
            </p:cNvPr>
            <p:cNvSpPr/>
            <p:nvPr/>
          </p:nvSpPr>
          <p:spPr>
            <a:xfrm rot="10800000">
              <a:off x="7044865" y="2571551"/>
              <a:ext cx="191070" cy="639142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6" name="TextBox 75">
              <a:extLst>
                <a:ext uri="{FF2B5EF4-FFF2-40B4-BE49-F238E27FC236}">
                  <a16:creationId xmlns="" xmlns:a16="http://schemas.microsoft.com/office/drawing/2014/main" id="{A951844F-C2C6-4DDF-9F21-04565B7BEEA9}"/>
                </a:ext>
              </a:extLst>
            </p:cNvPr>
            <p:cNvSpPr txBox="1"/>
            <p:nvPr/>
          </p:nvSpPr>
          <p:spPr>
            <a:xfrm>
              <a:off x="6924745" y="2274367"/>
              <a:ext cx="5918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</a:t>
              </a:r>
            </a:p>
          </p:txBody>
        </p:sp>
      </p:grpSp>
      <p:sp>
        <p:nvSpPr>
          <p:cNvPr id="74" name="Oval 73">
            <a:extLst>
              <a:ext uri="{FF2B5EF4-FFF2-40B4-BE49-F238E27FC236}">
                <a16:creationId xmlns="" xmlns:a16="http://schemas.microsoft.com/office/drawing/2014/main" id="{2F8AC0DC-CB2C-41F4-86A0-1B2179B98F03}"/>
              </a:ext>
            </a:extLst>
          </p:cNvPr>
          <p:cNvSpPr/>
          <p:nvPr/>
        </p:nvSpPr>
        <p:spPr>
          <a:xfrm>
            <a:off x="1337011" y="2648377"/>
            <a:ext cx="665125" cy="546476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x0</a:t>
            </a:r>
          </a:p>
        </p:txBody>
      </p:sp>
    </p:spTree>
    <p:extLst>
      <p:ext uri="{BB962C8B-B14F-4D97-AF65-F5344CB8AC3E}">
        <p14:creationId xmlns:p14="http://schemas.microsoft.com/office/powerpoint/2010/main" val="3092483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4" grpId="0" animBg="1"/>
      <p:bldP spid="46" grpId="0" animBg="1"/>
      <p:bldP spid="49" grpId="0"/>
      <p:bldP spid="50" grpId="0"/>
      <p:bldP spid="60" grpId="0"/>
      <p:bldP spid="62" grpId="0" animBg="1"/>
      <p:bldP spid="64" grpId="0" animBg="1"/>
      <p:bldP spid="70" grpId="0"/>
      <p:bldP spid="71" grpId="0"/>
      <p:bldP spid="48" grpId="0"/>
      <p:bldP spid="7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149AD530-6C2A-44EA-A853-BAC2857EF1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904" y="858413"/>
            <a:ext cx="4565143" cy="5580529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Empty string transitions are not seen in DFA.</a:t>
            </a:r>
          </a:p>
          <a:p>
            <a:pPr marL="457200" indent="-457200">
              <a:buFont typeface="+mj-lt"/>
              <a:buAutoNum type="arabicPeriod" startAt="2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E7E875E4-C02C-44AD-9251-3D0D7CDF2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26D1DE06-0720-4572-BF37-034426FE1CD7}"/>
              </a:ext>
            </a:extLst>
          </p:cNvPr>
          <p:cNvSpPr txBox="1"/>
          <p:nvPr/>
        </p:nvSpPr>
        <p:spPr>
          <a:xfrm>
            <a:off x="1529669" y="33241"/>
            <a:ext cx="1600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DFA</a:t>
            </a:r>
          </a:p>
        </p:txBody>
      </p:sp>
      <p:grpSp>
        <p:nvGrpSpPr>
          <p:cNvPr id="48" name="Group 47">
            <a:extLst>
              <a:ext uri="{FF2B5EF4-FFF2-40B4-BE49-F238E27FC236}">
                <a16:creationId xmlns="" xmlns:a16="http://schemas.microsoft.com/office/drawing/2014/main" id="{9D048F72-2EF8-4A23-803D-BDDDCF71620B}"/>
              </a:ext>
            </a:extLst>
          </p:cNvPr>
          <p:cNvGrpSpPr/>
          <p:nvPr/>
        </p:nvGrpSpPr>
        <p:grpSpPr>
          <a:xfrm>
            <a:off x="6949798" y="2572989"/>
            <a:ext cx="2622359" cy="583765"/>
            <a:chOff x="9134407" y="2648552"/>
            <a:chExt cx="2622359" cy="583765"/>
          </a:xfrm>
        </p:grpSpPr>
        <p:sp>
          <p:nvSpPr>
            <p:cNvPr id="44" name="Oval 43">
              <a:extLst>
                <a:ext uri="{FF2B5EF4-FFF2-40B4-BE49-F238E27FC236}">
                  <a16:creationId xmlns="" xmlns:a16="http://schemas.microsoft.com/office/drawing/2014/main" id="{2F8AC0DC-CB2C-41F4-86A0-1B2179B98F03}"/>
                </a:ext>
              </a:extLst>
            </p:cNvPr>
            <p:cNvSpPr/>
            <p:nvPr/>
          </p:nvSpPr>
          <p:spPr>
            <a:xfrm>
              <a:off x="9673305" y="2685841"/>
              <a:ext cx="665125" cy="546476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x0</a:t>
              </a:r>
            </a:p>
          </p:txBody>
        </p:sp>
        <p:cxnSp>
          <p:nvCxnSpPr>
            <p:cNvPr id="45" name="Straight Arrow Connector 44">
              <a:extLst>
                <a:ext uri="{FF2B5EF4-FFF2-40B4-BE49-F238E27FC236}">
                  <a16:creationId xmlns="" xmlns:a16="http://schemas.microsoft.com/office/drawing/2014/main" id="{4ED94321-EC8D-47E8-B1C4-A1183E65D1D4}"/>
                </a:ext>
              </a:extLst>
            </p:cNvPr>
            <p:cNvCxnSpPr>
              <a:cxnSpLocks/>
            </p:cNvCxnSpPr>
            <p:nvPr/>
          </p:nvCxnSpPr>
          <p:spPr>
            <a:xfrm>
              <a:off x="9134407" y="3015727"/>
              <a:ext cx="511802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Oval 45">
              <a:extLst>
                <a:ext uri="{FF2B5EF4-FFF2-40B4-BE49-F238E27FC236}">
                  <a16:creationId xmlns="" xmlns:a16="http://schemas.microsoft.com/office/drawing/2014/main" id="{5DF5953E-B986-4B7C-B688-CAB63D1C0BF8}"/>
                </a:ext>
              </a:extLst>
            </p:cNvPr>
            <p:cNvSpPr/>
            <p:nvPr/>
          </p:nvSpPr>
          <p:spPr>
            <a:xfrm>
              <a:off x="11091641" y="2648552"/>
              <a:ext cx="665125" cy="546476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x1</a:t>
              </a:r>
            </a:p>
          </p:txBody>
        </p:sp>
        <p:cxnSp>
          <p:nvCxnSpPr>
            <p:cNvPr id="47" name="Straight Arrow Connector 46">
              <a:extLst>
                <a:ext uri="{FF2B5EF4-FFF2-40B4-BE49-F238E27FC236}">
                  <a16:creationId xmlns="" xmlns:a16="http://schemas.microsoft.com/office/drawing/2014/main" id="{A070CF6C-C892-43CE-97BC-ADEE3BF638CC}"/>
                </a:ext>
              </a:extLst>
            </p:cNvPr>
            <p:cNvCxnSpPr>
              <a:cxnSpLocks/>
            </p:cNvCxnSpPr>
            <p:nvPr/>
          </p:nvCxnSpPr>
          <p:spPr>
            <a:xfrm>
              <a:off x="10370616" y="2976270"/>
              <a:ext cx="680684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9" name="TextBox 48">
            <a:extLst>
              <a:ext uri="{FF2B5EF4-FFF2-40B4-BE49-F238E27FC236}">
                <a16:creationId xmlns="" xmlns:a16="http://schemas.microsoft.com/office/drawing/2014/main" id="{DEDC641C-F775-4A1F-86E8-ECA48D51C1A8}"/>
              </a:ext>
            </a:extLst>
          </p:cNvPr>
          <p:cNvSpPr txBox="1"/>
          <p:nvPr/>
        </p:nvSpPr>
        <p:spPr>
          <a:xfrm>
            <a:off x="6855759" y="0"/>
            <a:ext cx="1600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NDFA</a:t>
            </a:r>
          </a:p>
        </p:txBody>
      </p:sp>
      <p:sp>
        <p:nvSpPr>
          <p:cNvPr id="50" name="Content Placeholder 2">
            <a:extLst>
              <a:ext uri="{FF2B5EF4-FFF2-40B4-BE49-F238E27FC236}">
                <a16:creationId xmlns="" xmlns:a16="http://schemas.microsoft.com/office/drawing/2014/main" id="{4BC9451E-7A47-401A-A903-20E228779627}"/>
              </a:ext>
            </a:extLst>
          </p:cNvPr>
          <p:cNvSpPr txBox="1">
            <a:spLocks/>
          </p:cNvSpPr>
          <p:nvPr/>
        </p:nvSpPr>
        <p:spPr>
          <a:xfrm>
            <a:off x="5537633" y="793270"/>
            <a:ext cx="4565144" cy="91450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457200" indent="-457200">
              <a:buFont typeface="+mj-lt"/>
              <a:buAutoNum type="arabicPeriod" startAt="2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NDFA permits empty string transitions.</a:t>
            </a:r>
          </a:p>
          <a:p>
            <a:pPr>
              <a:buFont typeface="+mj-lt"/>
              <a:buAutoNum type="arabicPeriod" startAt="2"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5" name="Group 54"/>
          <p:cNvGrpSpPr/>
          <p:nvPr/>
        </p:nvGrpSpPr>
        <p:grpSpPr>
          <a:xfrm>
            <a:off x="238526" y="4199937"/>
            <a:ext cx="4863683" cy="1787494"/>
            <a:chOff x="317657" y="1861183"/>
            <a:chExt cx="4863683" cy="1787494"/>
          </a:xfrm>
        </p:grpSpPr>
        <p:grpSp>
          <p:nvGrpSpPr>
            <p:cNvPr id="2" name="Group 1">
              <a:extLst>
                <a:ext uri="{FF2B5EF4-FFF2-40B4-BE49-F238E27FC236}">
                  <a16:creationId xmlns="" xmlns:a16="http://schemas.microsoft.com/office/drawing/2014/main" id="{3407459D-8EE9-45D0-962B-F34BC30F2FAA}"/>
                </a:ext>
              </a:extLst>
            </p:cNvPr>
            <p:cNvGrpSpPr/>
            <p:nvPr/>
          </p:nvGrpSpPr>
          <p:grpSpPr>
            <a:xfrm>
              <a:off x="317657" y="2806244"/>
              <a:ext cx="4863683" cy="842433"/>
              <a:chOff x="4931358" y="2304257"/>
              <a:chExt cx="4863683" cy="842433"/>
            </a:xfrm>
          </p:grpSpPr>
          <p:cxnSp>
            <p:nvCxnSpPr>
              <p:cNvPr id="28" name="Straight Arrow Connector 27">
                <a:extLst>
                  <a:ext uri="{FF2B5EF4-FFF2-40B4-BE49-F238E27FC236}">
                    <a16:creationId xmlns="" xmlns:a16="http://schemas.microsoft.com/office/drawing/2014/main" id="{7D659041-649F-4D29-85D5-F22DB2D1156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31358" y="2765246"/>
                <a:ext cx="556591" cy="1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9" name="Group 28">
                <a:extLst>
                  <a:ext uri="{FF2B5EF4-FFF2-40B4-BE49-F238E27FC236}">
                    <a16:creationId xmlns="" xmlns:a16="http://schemas.microsoft.com/office/drawing/2014/main" id="{21BDFBF6-3737-498B-B845-A23145FE5D0C}"/>
                  </a:ext>
                </a:extLst>
              </p:cNvPr>
              <p:cNvGrpSpPr/>
              <p:nvPr/>
            </p:nvGrpSpPr>
            <p:grpSpPr>
              <a:xfrm>
                <a:off x="7233544" y="2344599"/>
                <a:ext cx="839021" cy="802091"/>
                <a:chOff x="10458837" y="1785088"/>
                <a:chExt cx="839021" cy="802091"/>
              </a:xfrm>
            </p:grpSpPr>
            <p:sp>
              <p:nvSpPr>
                <p:cNvPr id="30" name="Oval 29">
                  <a:extLst>
                    <a:ext uri="{FF2B5EF4-FFF2-40B4-BE49-F238E27FC236}">
                      <a16:creationId xmlns="" xmlns:a16="http://schemas.microsoft.com/office/drawing/2014/main" id="{AEC12217-3F4B-40DA-9B86-78D6E8BF993D}"/>
                    </a:ext>
                  </a:extLst>
                </p:cNvPr>
                <p:cNvSpPr/>
                <p:nvPr/>
              </p:nvSpPr>
              <p:spPr>
                <a:xfrm>
                  <a:off x="10458837" y="1785088"/>
                  <a:ext cx="839021" cy="802091"/>
                </a:xfrm>
                <a:prstGeom prst="ellips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1" name="Oval 30">
                  <a:extLst>
                    <a:ext uri="{FF2B5EF4-FFF2-40B4-BE49-F238E27FC236}">
                      <a16:creationId xmlns="" xmlns:a16="http://schemas.microsoft.com/office/drawing/2014/main" id="{C4C249AF-D7E6-419B-988D-D41D419ADA3D}"/>
                    </a:ext>
                  </a:extLst>
                </p:cNvPr>
                <p:cNvSpPr/>
                <p:nvPr/>
              </p:nvSpPr>
              <p:spPr>
                <a:xfrm>
                  <a:off x="10544977" y="1877513"/>
                  <a:ext cx="681980" cy="628192"/>
                </a:xfrm>
                <a:prstGeom prst="ellips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x1</a:t>
                  </a:r>
                </a:p>
              </p:txBody>
            </p:sp>
          </p:grpSp>
          <p:grpSp>
            <p:nvGrpSpPr>
              <p:cNvPr id="32" name="Group 31">
                <a:extLst>
                  <a:ext uri="{FF2B5EF4-FFF2-40B4-BE49-F238E27FC236}">
                    <a16:creationId xmlns="" xmlns:a16="http://schemas.microsoft.com/office/drawing/2014/main" id="{902C3A67-4AB9-4662-8F1C-815FBE9E5772}"/>
                  </a:ext>
                </a:extLst>
              </p:cNvPr>
              <p:cNvGrpSpPr/>
              <p:nvPr/>
            </p:nvGrpSpPr>
            <p:grpSpPr>
              <a:xfrm>
                <a:off x="8956020" y="2304257"/>
                <a:ext cx="839021" cy="802091"/>
                <a:chOff x="10512625" y="1744747"/>
                <a:chExt cx="839021" cy="802091"/>
              </a:xfrm>
            </p:grpSpPr>
            <p:sp>
              <p:nvSpPr>
                <p:cNvPr id="33" name="Oval 32">
                  <a:extLst>
                    <a:ext uri="{FF2B5EF4-FFF2-40B4-BE49-F238E27FC236}">
                      <a16:creationId xmlns="" xmlns:a16="http://schemas.microsoft.com/office/drawing/2014/main" id="{654C964B-B210-4402-9FC6-3A475B2507F0}"/>
                    </a:ext>
                  </a:extLst>
                </p:cNvPr>
                <p:cNvSpPr/>
                <p:nvPr/>
              </p:nvSpPr>
              <p:spPr>
                <a:xfrm>
                  <a:off x="10512625" y="1744747"/>
                  <a:ext cx="839021" cy="802091"/>
                </a:xfrm>
                <a:prstGeom prst="ellips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4" name="Oval 33">
                  <a:extLst>
                    <a:ext uri="{FF2B5EF4-FFF2-40B4-BE49-F238E27FC236}">
                      <a16:creationId xmlns="" xmlns:a16="http://schemas.microsoft.com/office/drawing/2014/main" id="{690B9038-E591-48DB-8D9E-BEA65AE2CA8E}"/>
                    </a:ext>
                  </a:extLst>
                </p:cNvPr>
                <p:cNvSpPr/>
                <p:nvPr/>
              </p:nvSpPr>
              <p:spPr>
                <a:xfrm>
                  <a:off x="10585318" y="1837172"/>
                  <a:ext cx="681980" cy="628192"/>
                </a:xfrm>
                <a:prstGeom prst="ellips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x2</a:t>
                  </a:r>
                </a:p>
              </p:txBody>
            </p:sp>
          </p:grpSp>
          <p:grpSp>
            <p:nvGrpSpPr>
              <p:cNvPr id="35" name="Group 34">
                <a:extLst>
                  <a:ext uri="{FF2B5EF4-FFF2-40B4-BE49-F238E27FC236}">
                    <a16:creationId xmlns="" xmlns:a16="http://schemas.microsoft.com/office/drawing/2014/main" id="{1759F2FC-6A06-4B49-BB1C-A4B869BB7D7F}"/>
                  </a:ext>
                </a:extLst>
              </p:cNvPr>
              <p:cNvGrpSpPr/>
              <p:nvPr/>
            </p:nvGrpSpPr>
            <p:grpSpPr>
              <a:xfrm>
                <a:off x="6382024" y="2420374"/>
                <a:ext cx="839021" cy="369332"/>
                <a:chOff x="7435657" y="3287208"/>
                <a:chExt cx="1162516" cy="369332"/>
              </a:xfrm>
            </p:grpSpPr>
            <p:cxnSp>
              <p:nvCxnSpPr>
                <p:cNvPr id="36" name="Straight Arrow Connector 35">
                  <a:extLst>
                    <a:ext uri="{FF2B5EF4-FFF2-40B4-BE49-F238E27FC236}">
                      <a16:creationId xmlns="" xmlns:a16="http://schemas.microsoft.com/office/drawing/2014/main" id="{A1F69A51-BF29-4F8B-829E-CE0E65915941}"/>
                    </a:ext>
                  </a:extLst>
                </p:cNvPr>
                <p:cNvCxnSpPr/>
                <p:nvPr/>
              </p:nvCxnSpPr>
              <p:spPr>
                <a:xfrm>
                  <a:off x="7435657" y="3623630"/>
                  <a:ext cx="1162516" cy="0"/>
                </a:xfrm>
                <a:prstGeom prst="straightConnector1">
                  <a:avLst/>
                </a:prstGeom>
                <a:ln w="38100">
                  <a:solidFill>
                    <a:schemeClr val="bg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7" name="TextBox 36">
                  <a:extLst>
                    <a:ext uri="{FF2B5EF4-FFF2-40B4-BE49-F238E27FC236}">
                      <a16:creationId xmlns="" xmlns:a16="http://schemas.microsoft.com/office/drawing/2014/main" id="{DA8C129A-F994-4515-8930-855F02A7AD28}"/>
                    </a:ext>
                  </a:extLst>
                </p:cNvPr>
                <p:cNvSpPr txBox="1"/>
                <p:nvPr/>
              </p:nvSpPr>
              <p:spPr>
                <a:xfrm>
                  <a:off x="7554876" y="3287208"/>
                  <a:ext cx="93196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a/b</a:t>
                  </a:r>
                </a:p>
              </p:txBody>
            </p:sp>
          </p:grpSp>
          <p:grpSp>
            <p:nvGrpSpPr>
              <p:cNvPr id="38" name="Group 37">
                <a:extLst>
                  <a:ext uri="{FF2B5EF4-FFF2-40B4-BE49-F238E27FC236}">
                    <a16:creationId xmlns="" xmlns:a16="http://schemas.microsoft.com/office/drawing/2014/main" id="{5F8E4A51-BBB0-4F22-9F33-52AFB1CF1B77}"/>
                  </a:ext>
                </a:extLst>
              </p:cNvPr>
              <p:cNvGrpSpPr/>
              <p:nvPr/>
            </p:nvGrpSpPr>
            <p:grpSpPr>
              <a:xfrm>
                <a:off x="8104100" y="2362885"/>
                <a:ext cx="839021" cy="376763"/>
                <a:chOff x="7491553" y="3260314"/>
                <a:chExt cx="1162516" cy="376763"/>
              </a:xfrm>
            </p:grpSpPr>
            <p:cxnSp>
              <p:nvCxnSpPr>
                <p:cNvPr id="39" name="Straight Arrow Connector 38">
                  <a:extLst>
                    <a:ext uri="{FF2B5EF4-FFF2-40B4-BE49-F238E27FC236}">
                      <a16:creationId xmlns="" xmlns:a16="http://schemas.microsoft.com/office/drawing/2014/main" id="{1863340D-83A7-454C-8884-67F4279D6ACF}"/>
                    </a:ext>
                  </a:extLst>
                </p:cNvPr>
                <p:cNvCxnSpPr/>
                <p:nvPr/>
              </p:nvCxnSpPr>
              <p:spPr>
                <a:xfrm>
                  <a:off x="7491553" y="3637077"/>
                  <a:ext cx="1162516" cy="0"/>
                </a:xfrm>
                <a:prstGeom prst="straightConnector1">
                  <a:avLst/>
                </a:prstGeom>
                <a:ln w="38100">
                  <a:solidFill>
                    <a:schemeClr val="bg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0" name="TextBox 39">
                  <a:extLst>
                    <a:ext uri="{FF2B5EF4-FFF2-40B4-BE49-F238E27FC236}">
                      <a16:creationId xmlns="" xmlns:a16="http://schemas.microsoft.com/office/drawing/2014/main" id="{3BED651A-1442-41C3-A692-6EF76089924F}"/>
                    </a:ext>
                  </a:extLst>
                </p:cNvPr>
                <p:cNvSpPr txBox="1"/>
                <p:nvPr/>
              </p:nvSpPr>
              <p:spPr>
                <a:xfrm>
                  <a:off x="7554876" y="3260314"/>
                  <a:ext cx="93196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a/b</a:t>
                  </a:r>
                </a:p>
              </p:txBody>
            </p:sp>
          </p:grpSp>
          <p:grpSp>
            <p:nvGrpSpPr>
              <p:cNvPr id="41" name="Group 40">
                <a:extLst>
                  <a:ext uri="{FF2B5EF4-FFF2-40B4-BE49-F238E27FC236}">
                    <a16:creationId xmlns="" xmlns:a16="http://schemas.microsoft.com/office/drawing/2014/main" id="{7F496128-87E5-4061-9F8E-A4E9AC2C8A2F}"/>
                  </a:ext>
                </a:extLst>
              </p:cNvPr>
              <p:cNvGrpSpPr/>
              <p:nvPr/>
            </p:nvGrpSpPr>
            <p:grpSpPr>
              <a:xfrm>
                <a:off x="5520876" y="2338470"/>
                <a:ext cx="839021" cy="802091"/>
                <a:chOff x="10512625" y="1744747"/>
                <a:chExt cx="839021" cy="802091"/>
              </a:xfrm>
            </p:grpSpPr>
            <p:sp>
              <p:nvSpPr>
                <p:cNvPr id="42" name="Oval 41">
                  <a:extLst>
                    <a:ext uri="{FF2B5EF4-FFF2-40B4-BE49-F238E27FC236}">
                      <a16:creationId xmlns="" xmlns:a16="http://schemas.microsoft.com/office/drawing/2014/main" id="{9B6BE869-6D99-48F8-817C-D903F081BEFB}"/>
                    </a:ext>
                  </a:extLst>
                </p:cNvPr>
                <p:cNvSpPr/>
                <p:nvPr/>
              </p:nvSpPr>
              <p:spPr>
                <a:xfrm>
                  <a:off x="10512625" y="1744747"/>
                  <a:ext cx="839021" cy="802091"/>
                </a:xfrm>
                <a:prstGeom prst="ellips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3" name="Oval 42">
                  <a:extLst>
                    <a:ext uri="{FF2B5EF4-FFF2-40B4-BE49-F238E27FC236}">
                      <a16:creationId xmlns="" xmlns:a16="http://schemas.microsoft.com/office/drawing/2014/main" id="{4789EE9C-F7E5-4DFE-969D-8DDD4AF4B4A9}"/>
                    </a:ext>
                  </a:extLst>
                </p:cNvPr>
                <p:cNvSpPr/>
                <p:nvPr/>
              </p:nvSpPr>
              <p:spPr>
                <a:xfrm>
                  <a:off x="10585318" y="1837172"/>
                  <a:ext cx="681980" cy="628192"/>
                </a:xfrm>
                <a:prstGeom prst="ellips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x0</a:t>
                  </a:r>
                </a:p>
              </p:txBody>
            </p:sp>
          </p:grpSp>
        </p:grpSp>
        <p:grpSp>
          <p:nvGrpSpPr>
            <p:cNvPr id="51" name="Group 50">
              <a:extLst>
                <a:ext uri="{FF2B5EF4-FFF2-40B4-BE49-F238E27FC236}">
                  <a16:creationId xmlns="" xmlns:a16="http://schemas.microsoft.com/office/drawing/2014/main" id="{E9E08B4D-2B9C-47B2-8A98-9A4E2B6C7C67}"/>
                </a:ext>
              </a:extLst>
            </p:cNvPr>
            <p:cNvGrpSpPr/>
            <p:nvPr/>
          </p:nvGrpSpPr>
          <p:grpSpPr>
            <a:xfrm>
              <a:off x="1098675" y="1861183"/>
              <a:ext cx="591867" cy="905805"/>
              <a:chOff x="6924745" y="2274367"/>
              <a:chExt cx="591867" cy="936326"/>
            </a:xfrm>
          </p:grpSpPr>
          <p:sp>
            <p:nvSpPr>
              <p:cNvPr id="52" name="Arrow: Up 51">
                <a:extLst>
                  <a:ext uri="{FF2B5EF4-FFF2-40B4-BE49-F238E27FC236}">
                    <a16:creationId xmlns="" xmlns:a16="http://schemas.microsoft.com/office/drawing/2014/main" id="{69058EAB-3E8A-411D-871F-F97C100E736A}"/>
                  </a:ext>
                </a:extLst>
              </p:cNvPr>
              <p:cNvSpPr/>
              <p:nvPr/>
            </p:nvSpPr>
            <p:spPr>
              <a:xfrm rot="10800000">
                <a:off x="7044865" y="2571551"/>
                <a:ext cx="191070" cy="639142"/>
              </a:xfrm>
              <a:prstGeom prst="upArrow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="" xmlns:a16="http://schemas.microsoft.com/office/drawing/2014/main" id="{A951844F-C2C6-4DDF-9F21-04565B7BEEA9}"/>
                  </a:ext>
                </a:extLst>
              </p:cNvPr>
              <p:cNvSpPr txBox="1"/>
              <p:nvPr/>
            </p:nvSpPr>
            <p:spPr>
              <a:xfrm>
                <a:off x="6924745" y="2274367"/>
                <a:ext cx="59186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solidFill>
                      <a:schemeClr val="accent3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CS</a:t>
                </a:r>
              </a:p>
            </p:txBody>
          </p:sp>
        </p:grpSp>
      </p:grpSp>
      <p:grpSp>
        <p:nvGrpSpPr>
          <p:cNvPr id="57" name="Group 56">
            <a:extLst>
              <a:ext uri="{FF2B5EF4-FFF2-40B4-BE49-F238E27FC236}">
                <a16:creationId xmlns="" xmlns:a16="http://schemas.microsoft.com/office/drawing/2014/main" id="{4CBB83FE-F277-41E5-8DCB-AE43A9635FE7}"/>
              </a:ext>
            </a:extLst>
          </p:cNvPr>
          <p:cNvGrpSpPr/>
          <p:nvPr/>
        </p:nvGrpSpPr>
        <p:grpSpPr>
          <a:xfrm rot="10800000">
            <a:off x="7484618" y="4756670"/>
            <a:ext cx="718089" cy="1114750"/>
            <a:chOff x="6744113" y="2331309"/>
            <a:chExt cx="718089" cy="879384"/>
          </a:xfrm>
        </p:grpSpPr>
        <p:sp>
          <p:nvSpPr>
            <p:cNvPr id="58" name="Arrow: Up 57">
              <a:extLst>
                <a:ext uri="{FF2B5EF4-FFF2-40B4-BE49-F238E27FC236}">
                  <a16:creationId xmlns="" xmlns:a16="http://schemas.microsoft.com/office/drawing/2014/main" id="{DF2C82C1-00D3-4BF5-B1F2-C82648F11A84}"/>
                </a:ext>
              </a:extLst>
            </p:cNvPr>
            <p:cNvSpPr/>
            <p:nvPr/>
          </p:nvSpPr>
          <p:spPr>
            <a:xfrm rot="10800000">
              <a:off x="7044865" y="2571551"/>
              <a:ext cx="191070" cy="639142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9" name="TextBox 58">
              <a:extLst>
                <a:ext uri="{FF2B5EF4-FFF2-40B4-BE49-F238E27FC236}">
                  <a16:creationId xmlns="" xmlns:a16="http://schemas.microsoft.com/office/drawing/2014/main" id="{8FC6C410-F17D-4F4F-981D-93E3AA6AF3D4}"/>
                </a:ext>
              </a:extLst>
            </p:cNvPr>
            <p:cNvSpPr txBox="1"/>
            <p:nvPr/>
          </p:nvSpPr>
          <p:spPr>
            <a:xfrm rot="10800000">
              <a:off x="6744113" y="2331309"/>
              <a:ext cx="718089" cy="2913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CS-1</a:t>
              </a:r>
            </a:p>
          </p:txBody>
        </p:sp>
      </p:grpSp>
      <p:sp>
        <p:nvSpPr>
          <p:cNvPr id="60" name="TextBox 59">
            <a:extLst>
              <a:ext uri="{FF2B5EF4-FFF2-40B4-BE49-F238E27FC236}">
                <a16:creationId xmlns="" xmlns:a16="http://schemas.microsoft.com/office/drawing/2014/main" id="{E54307C2-6037-4422-84D8-931A6A150CC8}"/>
              </a:ext>
            </a:extLst>
          </p:cNvPr>
          <p:cNvSpPr txBox="1"/>
          <p:nvPr/>
        </p:nvSpPr>
        <p:spPr>
          <a:xfrm>
            <a:off x="8269320" y="2513856"/>
            <a:ext cx="6185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^</a:t>
            </a:r>
          </a:p>
        </p:txBody>
      </p:sp>
      <p:grpSp>
        <p:nvGrpSpPr>
          <p:cNvPr id="61" name="Group 60">
            <a:extLst>
              <a:ext uri="{FF2B5EF4-FFF2-40B4-BE49-F238E27FC236}">
                <a16:creationId xmlns="" xmlns:a16="http://schemas.microsoft.com/office/drawing/2014/main" id="{1BEFD925-43F2-40C7-90DC-6B66E21F74C8}"/>
              </a:ext>
            </a:extLst>
          </p:cNvPr>
          <p:cNvGrpSpPr/>
          <p:nvPr/>
        </p:nvGrpSpPr>
        <p:grpSpPr>
          <a:xfrm>
            <a:off x="7484618" y="4093643"/>
            <a:ext cx="2083461" cy="583765"/>
            <a:chOff x="9673305" y="2648552"/>
            <a:chExt cx="2083461" cy="583765"/>
          </a:xfrm>
        </p:grpSpPr>
        <p:sp>
          <p:nvSpPr>
            <p:cNvPr id="62" name="Oval 61">
              <a:extLst>
                <a:ext uri="{FF2B5EF4-FFF2-40B4-BE49-F238E27FC236}">
                  <a16:creationId xmlns="" xmlns:a16="http://schemas.microsoft.com/office/drawing/2014/main" id="{6F378CE0-9451-48A3-8422-0863CC703327}"/>
                </a:ext>
              </a:extLst>
            </p:cNvPr>
            <p:cNvSpPr/>
            <p:nvPr/>
          </p:nvSpPr>
          <p:spPr>
            <a:xfrm>
              <a:off x="9673305" y="2685841"/>
              <a:ext cx="665125" cy="546476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x2</a:t>
              </a:r>
            </a:p>
          </p:txBody>
        </p:sp>
        <p:sp>
          <p:nvSpPr>
            <p:cNvPr id="64" name="Oval 63">
              <a:extLst>
                <a:ext uri="{FF2B5EF4-FFF2-40B4-BE49-F238E27FC236}">
                  <a16:creationId xmlns="" xmlns:a16="http://schemas.microsoft.com/office/drawing/2014/main" id="{A6A33E05-B10B-49E1-892D-603CCBF32AA9}"/>
                </a:ext>
              </a:extLst>
            </p:cNvPr>
            <p:cNvSpPr/>
            <p:nvPr/>
          </p:nvSpPr>
          <p:spPr>
            <a:xfrm>
              <a:off x="11091641" y="2648552"/>
              <a:ext cx="665125" cy="546476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x3</a:t>
              </a:r>
            </a:p>
          </p:txBody>
        </p:sp>
      </p:grpSp>
      <p:cxnSp>
        <p:nvCxnSpPr>
          <p:cNvPr id="66" name="Straight Arrow Connector 65">
            <a:extLst>
              <a:ext uri="{FF2B5EF4-FFF2-40B4-BE49-F238E27FC236}">
                <a16:creationId xmlns="" xmlns:a16="http://schemas.microsoft.com/office/drawing/2014/main" id="{FA696AA6-2FC6-4B9C-B44F-4CFC5E85CFA4}"/>
              </a:ext>
            </a:extLst>
          </p:cNvPr>
          <p:cNvCxnSpPr>
            <a:cxnSpLocks/>
            <a:endCxn id="62" idx="0"/>
          </p:cNvCxnSpPr>
          <p:nvPr/>
        </p:nvCxnSpPr>
        <p:spPr>
          <a:xfrm flipH="1">
            <a:off x="7817181" y="3229816"/>
            <a:ext cx="16064" cy="901116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="" xmlns:a16="http://schemas.microsoft.com/office/drawing/2014/main" id="{032430B4-2905-4B36-B797-556BB9A0E834}"/>
              </a:ext>
            </a:extLst>
          </p:cNvPr>
          <p:cNvCxnSpPr>
            <a:cxnSpLocks/>
          </p:cNvCxnSpPr>
          <p:nvPr/>
        </p:nvCxnSpPr>
        <p:spPr>
          <a:xfrm flipH="1">
            <a:off x="9231872" y="3155996"/>
            <a:ext cx="16064" cy="901116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="" xmlns:a16="http://schemas.microsoft.com/office/drawing/2014/main" id="{57DD894C-7D6F-4C21-943F-0C5388BAEF79}"/>
              </a:ext>
            </a:extLst>
          </p:cNvPr>
          <p:cNvSpPr txBox="1"/>
          <p:nvPr/>
        </p:nvSpPr>
        <p:spPr>
          <a:xfrm>
            <a:off x="9247936" y="3399709"/>
            <a:ext cx="6726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a/b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="" xmlns:a16="http://schemas.microsoft.com/office/drawing/2014/main" id="{C1A72D2C-10F8-483A-84FB-7FA933F14E88}"/>
              </a:ext>
            </a:extLst>
          </p:cNvPr>
          <p:cNvSpPr txBox="1"/>
          <p:nvPr/>
        </p:nvSpPr>
        <p:spPr>
          <a:xfrm>
            <a:off x="7225641" y="3413156"/>
            <a:ext cx="6726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a/b</a:t>
            </a:r>
          </a:p>
        </p:txBody>
      </p:sp>
      <p:grpSp>
        <p:nvGrpSpPr>
          <p:cNvPr id="68" name="Group 67">
            <a:extLst>
              <a:ext uri="{FF2B5EF4-FFF2-40B4-BE49-F238E27FC236}">
                <a16:creationId xmlns="" xmlns:a16="http://schemas.microsoft.com/office/drawing/2014/main" id="{299E5E86-E816-4B3B-B35B-FFD898AB5382}"/>
              </a:ext>
            </a:extLst>
          </p:cNvPr>
          <p:cNvGrpSpPr/>
          <p:nvPr/>
        </p:nvGrpSpPr>
        <p:grpSpPr>
          <a:xfrm>
            <a:off x="9089597" y="1644938"/>
            <a:ext cx="672626" cy="905805"/>
            <a:chOff x="6924745" y="2274367"/>
            <a:chExt cx="672626" cy="936326"/>
          </a:xfrm>
        </p:grpSpPr>
        <p:sp>
          <p:nvSpPr>
            <p:cNvPr id="72" name="Arrow: Up 71">
              <a:extLst>
                <a:ext uri="{FF2B5EF4-FFF2-40B4-BE49-F238E27FC236}">
                  <a16:creationId xmlns="" xmlns:a16="http://schemas.microsoft.com/office/drawing/2014/main" id="{3B9A2971-990F-4819-B366-AF7E6E00602A}"/>
                </a:ext>
              </a:extLst>
            </p:cNvPr>
            <p:cNvSpPr/>
            <p:nvPr/>
          </p:nvSpPr>
          <p:spPr>
            <a:xfrm rot="10800000">
              <a:off x="7044865" y="2571551"/>
              <a:ext cx="191070" cy="639142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3" name="TextBox 72">
              <a:extLst>
                <a:ext uri="{FF2B5EF4-FFF2-40B4-BE49-F238E27FC236}">
                  <a16:creationId xmlns="" xmlns:a16="http://schemas.microsoft.com/office/drawing/2014/main" id="{99B4B416-300E-4D16-9688-0291E7A57DB3}"/>
                </a:ext>
              </a:extLst>
            </p:cNvPr>
            <p:cNvSpPr txBox="1"/>
            <p:nvPr/>
          </p:nvSpPr>
          <p:spPr>
            <a:xfrm>
              <a:off x="6924745" y="2274367"/>
              <a:ext cx="672626" cy="381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CS-2</a:t>
              </a:r>
            </a:p>
          </p:txBody>
        </p:sp>
      </p:grpSp>
      <p:sp>
        <p:nvSpPr>
          <p:cNvPr id="54" name="TextBox 53"/>
          <p:cNvSpPr txBox="1"/>
          <p:nvPr/>
        </p:nvSpPr>
        <p:spPr>
          <a:xfrm>
            <a:off x="7350369" y="1178169"/>
            <a:ext cx="2198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Input  a / b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56" name="Group 55"/>
          <p:cNvGrpSpPr/>
          <p:nvPr/>
        </p:nvGrpSpPr>
        <p:grpSpPr>
          <a:xfrm>
            <a:off x="308865" y="1869975"/>
            <a:ext cx="4863683" cy="1787494"/>
            <a:chOff x="317657" y="1861183"/>
            <a:chExt cx="4863683" cy="1787494"/>
          </a:xfrm>
        </p:grpSpPr>
        <p:cxnSp>
          <p:nvCxnSpPr>
            <p:cNvPr id="63" name="Straight Arrow Connector 62">
              <a:extLst>
                <a:ext uri="{FF2B5EF4-FFF2-40B4-BE49-F238E27FC236}">
                  <a16:creationId xmlns="" xmlns:a16="http://schemas.microsoft.com/office/drawing/2014/main" id="{7D659041-649F-4D29-85D5-F22DB2D1156C}"/>
                </a:ext>
              </a:extLst>
            </p:cNvPr>
            <p:cNvCxnSpPr>
              <a:cxnSpLocks/>
            </p:cNvCxnSpPr>
            <p:nvPr/>
          </p:nvCxnSpPr>
          <p:spPr>
            <a:xfrm>
              <a:off x="317657" y="3267233"/>
              <a:ext cx="556591" cy="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5" name="Group 28">
              <a:extLst>
                <a:ext uri="{FF2B5EF4-FFF2-40B4-BE49-F238E27FC236}">
                  <a16:creationId xmlns="" xmlns:a16="http://schemas.microsoft.com/office/drawing/2014/main" id="{21BDFBF6-3737-498B-B845-A23145FE5D0C}"/>
                </a:ext>
              </a:extLst>
            </p:cNvPr>
            <p:cNvGrpSpPr/>
            <p:nvPr/>
          </p:nvGrpSpPr>
          <p:grpSpPr>
            <a:xfrm>
              <a:off x="2619843" y="2846586"/>
              <a:ext cx="839021" cy="802091"/>
              <a:chOff x="10458837" y="1785088"/>
              <a:chExt cx="839021" cy="802091"/>
            </a:xfrm>
          </p:grpSpPr>
          <p:sp>
            <p:nvSpPr>
              <p:cNvPr id="86" name="Oval 85">
                <a:extLst>
                  <a:ext uri="{FF2B5EF4-FFF2-40B4-BE49-F238E27FC236}">
                    <a16:creationId xmlns="" xmlns:a16="http://schemas.microsoft.com/office/drawing/2014/main" id="{AEC12217-3F4B-40DA-9B86-78D6E8BF993D}"/>
                  </a:ext>
                </a:extLst>
              </p:cNvPr>
              <p:cNvSpPr/>
              <p:nvPr/>
            </p:nvSpPr>
            <p:spPr>
              <a:xfrm>
                <a:off x="10458837" y="1785088"/>
                <a:ext cx="839021" cy="802091"/>
              </a:xfrm>
              <a:prstGeom prst="ellips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7" name="Oval 86">
                <a:extLst>
                  <a:ext uri="{FF2B5EF4-FFF2-40B4-BE49-F238E27FC236}">
                    <a16:creationId xmlns="" xmlns:a16="http://schemas.microsoft.com/office/drawing/2014/main" id="{C4C249AF-D7E6-419B-988D-D41D419ADA3D}"/>
                  </a:ext>
                </a:extLst>
              </p:cNvPr>
              <p:cNvSpPr/>
              <p:nvPr/>
            </p:nvSpPr>
            <p:spPr>
              <a:xfrm>
                <a:off x="10544977" y="1877513"/>
                <a:ext cx="681980" cy="628192"/>
              </a:xfrm>
              <a:prstGeom prst="ellips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x1</a:t>
                </a:r>
              </a:p>
            </p:txBody>
          </p:sp>
        </p:grpSp>
        <p:grpSp>
          <p:nvGrpSpPr>
            <p:cNvPr id="67" name="Group 31">
              <a:extLst>
                <a:ext uri="{FF2B5EF4-FFF2-40B4-BE49-F238E27FC236}">
                  <a16:creationId xmlns="" xmlns:a16="http://schemas.microsoft.com/office/drawing/2014/main" id="{902C3A67-4AB9-4662-8F1C-815FBE9E5772}"/>
                </a:ext>
              </a:extLst>
            </p:cNvPr>
            <p:cNvGrpSpPr/>
            <p:nvPr/>
          </p:nvGrpSpPr>
          <p:grpSpPr>
            <a:xfrm>
              <a:off x="4342319" y="2806244"/>
              <a:ext cx="839021" cy="802091"/>
              <a:chOff x="10512625" y="1744747"/>
              <a:chExt cx="839021" cy="802091"/>
            </a:xfrm>
          </p:grpSpPr>
          <p:sp>
            <p:nvSpPr>
              <p:cNvPr id="84" name="Oval 83">
                <a:extLst>
                  <a:ext uri="{FF2B5EF4-FFF2-40B4-BE49-F238E27FC236}">
                    <a16:creationId xmlns="" xmlns:a16="http://schemas.microsoft.com/office/drawing/2014/main" id="{654C964B-B210-4402-9FC6-3A475B2507F0}"/>
                  </a:ext>
                </a:extLst>
              </p:cNvPr>
              <p:cNvSpPr/>
              <p:nvPr/>
            </p:nvSpPr>
            <p:spPr>
              <a:xfrm>
                <a:off x="10512625" y="1744747"/>
                <a:ext cx="839021" cy="802091"/>
              </a:xfrm>
              <a:prstGeom prst="ellips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5" name="Oval 84">
                <a:extLst>
                  <a:ext uri="{FF2B5EF4-FFF2-40B4-BE49-F238E27FC236}">
                    <a16:creationId xmlns="" xmlns:a16="http://schemas.microsoft.com/office/drawing/2014/main" id="{690B9038-E591-48DB-8D9E-BEA65AE2CA8E}"/>
                  </a:ext>
                </a:extLst>
              </p:cNvPr>
              <p:cNvSpPr/>
              <p:nvPr/>
            </p:nvSpPr>
            <p:spPr>
              <a:xfrm>
                <a:off x="10585318" y="1837172"/>
                <a:ext cx="681980" cy="628192"/>
              </a:xfrm>
              <a:prstGeom prst="ellips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x2</a:t>
                </a:r>
              </a:p>
            </p:txBody>
          </p:sp>
        </p:grpSp>
        <p:grpSp>
          <p:nvGrpSpPr>
            <p:cNvPr id="74" name="Group 34">
              <a:extLst>
                <a:ext uri="{FF2B5EF4-FFF2-40B4-BE49-F238E27FC236}">
                  <a16:creationId xmlns="" xmlns:a16="http://schemas.microsoft.com/office/drawing/2014/main" id="{1759F2FC-6A06-4B49-BB1C-A4B869BB7D7F}"/>
                </a:ext>
              </a:extLst>
            </p:cNvPr>
            <p:cNvGrpSpPr/>
            <p:nvPr/>
          </p:nvGrpSpPr>
          <p:grpSpPr>
            <a:xfrm>
              <a:off x="1768323" y="2922361"/>
              <a:ext cx="839021" cy="369332"/>
              <a:chOff x="7435657" y="3287208"/>
              <a:chExt cx="1162516" cy="369332"/>
            </a:xfrm>
          </p:grpSpPr>
          <p:cxnSp>
            <p:nvCxnSpPr>
              <p:cNvPr id="82" name="Straight Arrow Connector 81">
                <a:extLst>
                  <a:ext uri="{FF2B5EF4-FFF2-40B4-BE49-F238E27FC236}">
                    <a16:creationId xmlns="" xmlns:a16="http://schemas.microsoft.com/office/drawing/2014/main" id="{A1F69A51-BF29-4F8B-829E-CE0E65915941}"/>
                  </a:ext>
                </a:extLst>
              </p:cNvPr>
              <p:cNvCxnSpPr/>
              <p:nvPr/>
            </p:nvCxnSpPr>
            <p:spPr>
              <a:xfrm>
                <a:off x="7435657" y="3623630"/>
                <a:ext cx="1162516" cy="0"/>
              </a:xfrm>
              <a:prstGeom prst="straightConnector1">
                <a:avLst/>
              </a:prstGeom>
              <a:ln w="38100">
                <a:solidFill>
                  <a:schemeClr val="bg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3" name="TextBox 82">
                <a:extLst>
                  <a:ext uri="{FF2B5EF4-FFF2-40B4-BE49-F238E27FC236}">
                    <a16:creationId xmlns="" xmlns:a16="http://schemas.microsoft.com/office/drawing/2014/main" id="{DA8C129A-F994-4515-8930-855F02A7AD28}"/>
                  </a:ext>
                </a:extLst>
              </p:cNvPr>
              <p:cNvSpPr txBox="1"/>
              <p:nvPr/>
            </p:nvSpPr>
            <p:spPr>
              <a:xfrm>
                <a:off x="7554876" y="3287208"/>
                <a:ext cx="93196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a/b</a:t>
                </a:r>
              </a:p>
            </p:txBody>
          </p:sp>
        </p:grpSp>
        <p:grpSp>
          <p:nvGrpSpPr>
            <p:cNvPr id="75" name="Group 37">
              <a:extLst>
                <a:ext uri="{FF2B5EF4-FFF2-40B4-BE49-F238E27FC236}">
                  <a16:creationId xmlns="" xmlns:a16="http://schemas.microsoft.com/office/drawing/2014/main" id="{5F8E4A51-BBB0-4F22-9F33-52AFB1CF1B77}"/>
                </a:ext>
              </a:extLst>
            </p:cNvPr>
            <p:cNvGrpSpPr/>
            <p:nvPr/>
          </p:nvGrpSpPr>
          <p:grpSpPr>
            <a:xfrm>
              <a:off x="3490399" y="2864872"/>
              <a:ext cx="839021" cy="376763"/>
              <a:chOff x="7491553" y="3260314"/>
              <a:chExt cx="1162516" cy="376763"/>
            </a:xfrm>
          </p:grpSpPr>
          <p:cxnSp>
            <p:nvCxnSpPr>
              <p:cNvPr id="80" name="Straight Arrow Connector 79">
                <a:extLst>
                  <a:ext uri="{FF2B5EF4-FFF2-40B4-BE49-F238E27FC236}">
                    <a16:creationId xmlns="" xmlns:a16="http://schemas.microsoft.com/office/drawing/2014/main" id="{1863340D-83A7-454C-8884-67F4279D6ACF}"/>
                  </a:ext>
                </a:extLst>
              </p:cNvPr>
              <p:cNvCxnSpPr/>
              <p:nvPr/>
            </p:nvCxnSpPr>
            <p:spPr>
              <a:xfrm>
                <a:off x="7491553" y="3637077"/>
                <a:ext cx="1162516" cy="0"/>
              </a:xfrm>
              <a:prstGeom prst="straightConnector1">
                <a:avLst/>
              </a:prstGeom>
              <a:ln w="38100">
                <a:solidFill>
                  <a:schemeClr val="bg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1" name="TextBox 80">
                <a:extLst>
                  <a:ext uri="{FF2B5EF4-FFF2-40B4-BE49-F238E27FC236}">
                    <a16:creationId xmlns="" xmlns:a16="http://schemas.microsoft.com/office/drawing/2014/main" id="{3BED651A-1442-41C3-A692-6EF76089924F}"/>
                  </a:ext>
                </a:extLst>
              </p:cNvPr>
              <p:cNvSpPr txBox="1"/>
              <p:nvPr/>
            </p:nvSpPr>
            <p:spPr>
              <a:xfrm>
                <a:off x="7554876" y="3260314"/>
                <a:ext cx="93196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a/b</a:t>
                </a:r>
              </a:p>
            </p:txBody>
          </p:sp>
        </p:grpSp>
        <p:grpSp>
          <p:nvGrpSpPr>
            <p:cNvPr id="76" name="Group 50">
              <a:extLst>
                <a:ext uri="{FF2B5EF4-FFF2-40B4-BE49-F238E27FC236}">
                  <a16:creationId xmlns="" xmlns:a16="http://schemas.microsoft.com/office/drawing/2014/main" id="{E9E08B4D-2B9C-47B2-8A98-9A4E2B6C7C67}"/>
                </a:ext>
              </a:extLst>
            </p:cNvPr>
            <p:cNvGrpSpPr/>
            <p:nvPr/>
          </p:nvGrpSpPr>
          <p:grpSpPr>
            <a:xfrm>
              <a:off x="1098675" y="1861183"/>
              <a:ext cx="591867" cy="905805"/>
              <a:chOff x="6924745" y="2274367"/>
              <a:chExt cx="591867" cy="936326"/>
            </a:xfrm>
          </p:grpSpPr>
          <p:sp>
            <p:nvSpPr>
              <p:cNvPr id="78" name="Arrow: Up 51">
                <a:extLst>
                  <a:ext uri="{FF2B5EF4-FFF2-40B4-BE49-F238E27FC236}">
                    <a16:creationId xmlns="" xmlns:a16="http://schemas.microsoft.com/office/drawing/2014/main" id="{69058EAB-3E8A-411D-871F-F97C100E736A}"/>
                  </a:ext>
                </a:extLst>
              </p:cNvPr>
              <p:cNvSpPr/>
              <p:nvPr/>
            </p:nvSpPr>
            <p:spPr>
              <a:xfrm rot="10800000">
                <a:off x="7044865" y="2571551"/>
                <a:ext cx="191070" cy="639142"/>
              </a:xfrm>
              <a:prstGeom prst="upArrow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9" name="TextBox 78">
                <a:extLst>
                  <a:ext uri="{FF2B5EF4-FFF2-40B4-BE49-F238E27FC236}">
                    <a16:creationId xmlns="" xmlns:a16="http://schemas.microsoft.com/office/drawing/2014/main" id="{A951844F-C2C6-4DDF-9F21-04565B7BEEA9}"/>
                  </a:ext>
                </a:extLst>
              </p:cNvPr>
              <p:cNvSpPr txBox="1"/>
              <p:nvPr/>
            </p:nvSpPr>
            <p:spPr>
              <a:xfrm>
                <a:off x="6924745" y="2274367"/>
                <a:ext cx="59186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solidFill>
                      <a:schemeClr val="accent3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CS</a:t>
                </a:r>
              </a:p>
            </p:txBody>
          </p:sp>
        </p:grpSp>
        <p:sp>
          <p:nvSpPr>
            <p:cNvPr id="77" name="Oval 76">
              <a:extLst>
                <a:ext uri="{FF2B5EF4-FFF2-40B4-BE49-F238E27FC236}">
                  <a16:creationId xmlns="" xmlns:a16="http://schemas.microsoft.com/office/drawing/2014/main" id="{2F8AC0DC-CB2C-41F4-86A0-1B2179B98F03}"/>
                </a:ext>
              </a:extLst>
            </p:cNvPr>
            <p:cNvSpPr/>
            <p:nvPr/>
          </p:nvSpPr>
          <p:spPr>
            <a:xfrm>
              <a:off x="967734" y="2938524"/>
              <a:ext cx="665125" cy="546476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494792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149AD530-6C2A-44EA-A853-BAC2857EF1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904" y="858413"/>
            <a:ext cx="4565143" cy="5580529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Empty string transitions are not seen in DFA.</a:t>
            </a:r>
          </a:p>
          <a:p>
            <a:pPr marL="457200" indent="-457200">
              <a:buFont typeface="+mj-lt"/>
              <a:buAutoNum type="arabicPeriod" startAt="2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E7E875E4-C02C-44AD-9251-3D0D7CDF2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26D1DE06-0720-4572-BF37-034426FE1CD7}"/>
              </a:ext>
            </a:extLst>
          </p:cNvPr>
          <p:cNvSpPr txBox="1"/>
          <p:nvPr/>
        </p:nvSpPr>
        <p:spPr>
          <a:xfrm>
            <a:off x="1529669" y="33241"/>
            <a:ext cx="1600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DFA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="" xmlns:a16="http://schemas.microsoft.com/office/drawing/2014/main" id="{3407459D-8EE9-45D0-962B-F34BC30F2FAA}"/>
              </a:ext>
            </a:extLst>
          </p:cNvPr>
          <p:cNvGrpSpPr/>
          <p:nvPr/>
        </p:nvGrpSpPr>
        <p:grpSpPr>
          <a:xfrm>
            <a:off x="317657" y="2806244"/>
            <a:ext cx="4863683" cy="842433"/>
            <a:chOff x="4931358" y="2304257"/>
            <a:chExt cx="4863683" cy="842433"/>
          </a:xfrm>
        </p:grpSpPr>
        <p:cxnSp>
          <p:nvCxnSpPr>
            <p:cNvPr id="28" name="Straight Arrow Connector 27">
              <a:extLst>
                <a:ext uri="{FF2B5EF4-FFF2-40B4-BE49-F238E27FC236}">
                  <a16:creationId xmlns="" xmlns:a16="http://schemas.microsoft.com/office/drawing/2014/main" id="{7D659041-649F-4D29-85D5-F22DB2D1156C}"/>
                </a:ext>
              </a:extLst>
            </p:cNvPr>
            <p:cNvCxnSpPr>
              <a:cxnSpLocks/>
            </p:cNvCxnSpPr>
            <p:nvPr/>
          </p:nvCxnSpPr>
          <p:spPr>
            <a:xfrm>
              <a:off x="4931358" y="2765246"/>
              <a:ext cx="556591" cy="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9" name="Group 28">
              <a:extLst>
                <a:ext uri="{FF2B5EF4-FFF2-40B4-BE49-F238E27FC236}">
                  <a16:creationId xmlns="" xmlns:a16="http://schemas.microsoft.com/office/drawing/2014/main" id="{21BDFBF6-3737-498B-B845-A23145FE5D0C}"/>
                </a:ext>
              </a:extLst>
            </p:cNvPr>
            <p:cNvGrpSpPr/>
            <p:nvPr/>
          </p:nvGrpSpPr>
          <p:grpSpPr>
            <a:xfrm>
              <a:off x="7233544" y="2344599"/>
              <a:ext cx="839021" cy="802091"/>
              <a:chOff x="10458837" y="1785088"/>
              <a:chExt cx="839021" cy="802091"/>
            </a:xfrm>
          </p:grpSpPr>
          <p:sp>
            <p:nvSpPr>
              <p:cNvPr id="30" name="Oval 29">
                <a:extLst>
                  <a:ext uri="{FF2B5EF4-FFF2-40B4-BE49-F238E27FC236}">
                    <a16:creationId xmlns="" xmlns:a16="http://schemas.microsoft.com/office/drawing/2014/main" id="{AEC12217-3F4B-40DA-9B86-78D6E8BF993D}"/>
                  </a:ext>
                </a:extLst>
              </p:cNvPr>
              <p:cNvSpPr/>
              <p:nvPr/>
            </p:nvSpPr>
            <p:spPr>
              <a:xfrm>
                <a:off x="10458837" y="1785088"/>
                <a:ext cx="839021" cy="802091"/>
              </a:xfrm>
              <a:prstGeom prst="ellips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="" xmlns:a16="http://schemas.microsoft.com/office/drawing/2014/main" id="{C4C249AF-D7E6-419B-988D-D41D419ADA3D}"/>
                  </a:ext>
                </a:extLst>
              </p:cNvPr>
              <p:cNvSpPr/>
              <p:nvPr/>
            </p:nvSpPr>
            <p:spPr>
              <a:xfrm>
                <a:off x="10544977" y="1877513"/>
                <a:ext cx="681980" cy="628192"/>
              </a:xfrm>
              <a:prstGeom prst="ellips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x1</a:t>
                </a:r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="" xmlns:a16="http://schemas.microsoft.com/office/drawing/2014/main" id="{902C3A67-4AB9-4662-8F1C-815FBE9E5772}"/>
                </a:ext>
              </a:extLst>
            </p:cNvPr>
            <p:cNvGrpSpPr/>
            <p:nvPr/>
          </p:nvGrpSpPr>
          <p:grpSpPr>
            <a:xfrm>
              <a:off x="8956020" y="2304257"/>
              <a:ext cx="839021" cy="802091"/>
              <a:chOff x="10512625" y="1744747"/>
              <a:chExt cx="839021" cy="802091"/>
            </a:xfrm>
          </p:grpSpPr>
          <p:sp>
            <p:nvSpPr>
              <p:cNvPr id="33" name="Oval 32">
                <a:extLst>
                  <a:ext uri="{FF2B5EF4-FFF2-40B4-BE49-F238E27FC236}">
                    <a16:creationId xmlns="" xmlns:a16="http://schemas.microsoft.com/office/drawing/2014/main" id="{654C964B-B210-4402-9FC6-3A475B2507F0}"/>
                  </a:ext>
                </a:extLst>
              </p:cNvPr>
              <p:cNvSpPr/>
              <p:nvPr/>
            </p:nvSpPr>
            <p:spPr>
              <a:xfrm>
                <a:off x="10512625" y="1744747"/>
                <a:ext cx="839021" cy="802091"/>
              </a:xfrm>
              <a:prstGeom prst="ellips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4" name="Oval 33">
                <a:extLst>
                  <a:ext uri="{FF2B5EF4-FFF2-40B4-BE49-F238E27FC236}">
                    <a16:creationId xmlns="" xmlns:a16="http://schemas.microsoft.com/office/drawing/2014/main" id="{690B9038-E591-48DB-8D9E-BEA65AE2CA8E}"/>
                  </a:ext>
                </a:extLst>
              </p:cNvPr>
              <p:cNvSpPr/>
              <p:nvPr/>
            </p:nvSpPr>
            <p:spPr>
              <a:xfrm>
                <a:off x="10585318" y="1837172"/>
                <a:ext cx="681980" cy="628192"/>
              </a:xfrm>
              <a:prstGeom prst="ellips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x2</a:t>
                </a:r>
              </a:p>
            </p:txBody>
          </p:sp>
        </p:grpSp>
        <p:grpSp>
          <p:nvGrpSpPr>
            <p:cNvPr id="35" name="Group 34">
              <a:extLst>
                <a:ext uri="{FF2B5EF4-FFF2-40B4-BE49-F238E27FC236}">
                  <a16:creationId xmlns="" xmlns:a16="http://schemas.microsoft.com/office/drawing/2014/main" id="{1759F2FC-6A06-4B49-BB1C-A4B869BB7D7F}"/>
                </a:ext>
              </a:extLst>
            </p:cNvPr>
            <p:cNvGrpSpPr/>
            <p:nvPr/>
          </p:nvGrpSpPr>
          <p:grpSpPr>
            <a:xfrm>
              <a:off x="6382024" y="2420374"/>
              <a:ext cx="839021" cy="369332"/>
              <a:chOff x="7435657" y="3287208"/>
              <a:chExt cx="1162516" cy="369332"/>
            </a:xfrm>
          </p:grpSpPr>
          <p:cxnSp>
            <p:nvCxnSpPr>
              <p:cNvPr id="36" name="Straight Arrow Connector 35">
                <a:extLst>
                  <a:ext uri="{FF2B5EF4-FFF2-40B4-BE49-F238E27FC236}">
                    <a16:creationId xmlns="" xmlns:a16="http://schemas.microsoft.com/office/drawing/2014/main" id="{A1F69A51-BF29-4F8B-829E-CE0E65915941}"/>
                  </a:ext>
                </a:extLst>
              </p:cNvPr>
              <p:cNvCxnSpPr/>
              <p:nvPr/>
            </p:nvCxnSpPr>
            <p:spPr>
              <a:xfrm>
                <a:off x="7435657" y="3623630"/>
                <a:ext cx="1162516" cy="0"/>
              </a:xfrm>
              <a:prstGeom prst="straightConnector1">
                <a:avLst/>
              </a:prstGeom>
              <a:ln w="38100">
                <a:solidFill>
                  <a:schemeClr val="bg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7" name="TextBox 36">
                <a:extLst>
                  <a:ext uri="{FF2B5EF4-FFF2-40B4-BE49-F238E27FC236}">
                    <a16:creationId xmlns="" xmlns:a16="http://schemas.microsoft.com/office/drawing/2014/main" id="{DA8C129A-F994-4515-8930-855F02A7AD28}"/>
                  </a:ext>
                </a:extLst>
              </p:cNvPr>
              <p:cNvSpPr txBox="1"/>
              <p:nvPr/>
            </p:nvSpPr>
            <p:spPr>
              <a:xfrm>
                <a:off x="7554876" y="3287208"/>
                <a:ext cx="93196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a/b</a:t>
                </a:r>
              </a:p>
            </p:txBody>
          </p:sp>
        </p:grpSp>
        <p:grpSp>
          <p:nvGrpSpPr>
            <p:cNvPr id="38" name="Group 37">
              <a:extLst>
                <a:ext uri="{FF2B5EF4-FFF2-40B4-BE49-F238E27FC236}">
                  <a16:creationId xmlns="" xmlns:a16="http://schemas.microsoft.com/office/drawing/2014/main" id="{5F8E4A51-BBB0-4F22-9F33-52AFB1CF1B77}"/>
                </a:ext>
              </a:extLst>
            </p:cNvPr>
            <p:cNvGrpSpPr/>
            <p:nvPr/>
          </p:nvGrpSpPr>
          <p:grpSpPr>
            <a:xfrm>
              <a:off x="8104100" y="2362885"/>
              <a:ext cx="839021" cy="376763"/>
              <a:chOff x="7491553" y="3260314"/>
              <a:chExt cx="1162516" cy="376763"/>
            </a:xfrm>
          </p:grpSpPr>
          <p:cxnSp>
            <p:nvCxnSpPr>
              <p:cNvPr id="39" name="Straight Arrow Connector 38">
                <a:extLst>
                  <a:ext uri="{FF2B5EF4-FFF2-40B4-BE49-F238E27FC236}">
                    <a16:creationId xmlns="" xmlns:a16="http://schemas.microsoft.com/office/drawing/2014/main" id="{1863340D-83A7-454C-8884-67F4279D6ACF}"/>
                  </a:ext>
                </a:extLst>
              </p:cNvPr>
              <p:cNvCxnSpPr/>
              <p:nvPr/>
            </p:nvCxnSpPr>
            <p:spPr>
              <a:xfrm>
                <a:off x="7491553" y="3637077"/>
                <a:ext cx="1162516" cy="0"/>
              </a:xfrm>
              <a:prstGeom prst="straightConnector1">
                <a:avLst/>
              </a:prstGeom>
              <a:ln w="38100">
                <a:solidFill>
                  <a:schemeClr val="bg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0" name="TextBox 39">
                <a:extLst>
                  <a:ext uri="{FF2B5EF4-FFF2-40B4-BE49-F238E27FC236}">
                    <a16:creationId xmlns="" xmlns:a16="http://schemas.microsoft.com/office/drawing/2014/main" id="{3BED651A-1442-41C3-A692-6EF76089924F}"/>
                  </a:ext>
                </a:extLst>
              </p:cNvPr>
              <p:cNvSpPr txBox="1"/>
              <p:nvPr/>
            </p:nvSpPr>
            <p:spPr>
              <a:xfrm>
                <a:off x="7554876" y="3260314"/>
                <a:ext cx="93196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a/b</a:t>
                </a:r>
              </a:p>
            </p:txBody>
          </p:sp>
        </p:grpSp>
        <p:sp>
          <p:nvSpPr>
            <p:cNvPr id="43" name="Oval 42">
              <a:extLst>
                <a:ext uri="{FF2B5EF4-FFF2-40B4-BE49-F238E27FC236}">
                  <a16:creationId xmlns="" xmlns:a16="http://schemas.microsoft.com/office/drawing/2014/main" id="{4789EE9C-F7E5-4DFE-969D-8DDD4AF4B4A9}"/>
                </a:ext>
              </a:extLst>
            </p:cNvPr>
            <p:cNvSpPr/>
            <p:nvPr/>
          </p:nvSpPr>
          <p:spPr>
            <a:xfrm>
              <a:off x="5593569" y="2430895"/>
              <a:ext cx="681980" cy="62819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x0</a:t>
              </a: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="" xmlns:a16="http://schemas.microsoft.com/office/drawing/2014/main" id="{9D048F72-2EF8-4A23-803D-BDDDCF71620B}"/>
              </a:ext>
            </a:extLst>
          </p:cNvPr>
          <p:cNvGrpSpPr/>
          <p:nvPr/>
        </p:nvGrpSpPr>
        <p:grpSpPr>
          <a:xfrm>
            <a:off x="6949798" y="2572989"/>
            <a:ext cx="2622359" cy="583765"/>
            <a:chOff x="9134407" y="2648552"/>
            <a:chExt cx="2622359" cy="583765"/>
          </a:xfrm>
        </p:grpSpPr>
        <p:sp>
          <p:nvSpPr>
            <p:cNvPr id="44" name="Oval 43">
              <a:extLst>
                <a:ext uri="{FF2B5EF4-FFF2-40B4-BE49-F238E27FC236}">
                  <a16:creationId xmlns="" xmlns:a16="http://schemas.microsoft.com/office/drawing/2014/main" id="{2F8AC0DC-CB2C-41F4-86A0-1B2179B98F03}"/>
                </a:ext>
              </a:extLst>
            </p:cNvPr>
            <p:cNvSpPr/>
            <p:nvPr/>
          </p:nvSpPr>
          <p:spPr>
            <a:xfrm>
              <a:off x="9673305" y="2685841"/>
              <a:ext cx="665125" cy="546476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x0</a:t>
              </a:r>
            </a:p>
          </p:txBody>
        </p:sp>
        <p:cxnSp>
          <p:nvCxnSpPr>
            <p:cNvPr id="45" name="Straight Arrow Connector 44">
              <a:extLst>
                <a:ext uri="{FF2B5EF4-FFF2-40B4-BE49-F238E27FC236}">
                  <a16:creationId xmlns="" xmlns:a16="http://schemas.microsoft.com/office/drawing/2014/main" id="{4ED94321-EC8D-47E8-B1C4-A1183E65D1D4}"/>
                </a:ext>
              </a:extLst>
            </p:cNvPr>
            <p:cNvCxnSpPr>
              <a:cxnSpLocks/>
            </p:cNvCxnSpPr>
            <p:nvPr/>
          </p:nvCxnSpPr>
          <p:spPr>
            <a:xfrm>
              <a:off x="9134407" y="3015727"/>
              <a:ext cx="511802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Oval 45">
              <a:extLst>
                <a:ext uri="{FF2B5EF4-FFF2-40B4-BE49-F238E27FC236}">
                  <a16:creationId xmlns="" xmlns:a16="http://schemas.microsoft.com/office/drawing/2014/main" id="{5DF5953E-B986-4B7C-B688-CAB63D1C0BF8}"/>
                </a:ext>
              </a:extLst>
            </p:cNvPr>
            <p:cNvSpPr/>
            <p:nvPr/>
          </p:nvSpPr>
          <p:spPr>
            <a:xfrm>
              <a:off x="11091641" y="2648552"/>
              <a:ext cx="665125" cy="546476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x1</a:t>
              </a:r>
            </a:p>
          </p:txBody>
        </p:sp>
        <p:cxnSp>
          <p:nvCxnSpPr>
            <p:cNvPr id="47" name="Straight Arrow Connector 46">
              <a:extLst>
                <a:ext uri="{FF2B5EF4-FFF2-40B4-BE49-F238E27FC236}">
                  <a16:creationId xmlns="" xmlns:a16="http://schemas.microsoft.com/office/drawing/2014/main" id="{A070CF6C-C892-43CE-97BC-ADEE3BF638CC}"/>
                </a:ext>
              </a:extLst>
            </p:cNvPr>
            <p:cNvCxnSpPr>
              <a:cxnSpLocks/>
            </p:cNvCxnSpPr>
            <p:nvPr/>
          </p:nvCxnSpPr>
          <p:spPr>
            <a:xfrm>
              <a:off x="10370616" y="2976270"/>
              <a:ext cx="680684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9" name="TextBox 48">
            <a:extLst>
              <a:ext uri="{FF2B5EF4-FFF2-40B4-BE49-F238E27FC236}">
                <a16:creationId xmlns="" xmlns:a16="http://schemas.microsoft.com/office/drawing/2014/main" id="{DEDC641C-F775-4A1F-86E8-ECA48D51C1A8}"/>
              </a:ext>
            </a:extLst>
          </p:cNvPr>
          <p:cNvSpPr txBox="1"/>
          <p:nvPr/>
        </p:nvSpPr>
        <p:spPr>
          <a:xfrm>
            <a:off x="6855759" y="0"/>
            <a:ext cx="1600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NDFA</a:t>
            </a:r>
          </a:p>
        </p:txBody>
      </p:sp>
      <p:sp>
        <p:nvSpPr>
          <p:cNvPr id="50" name="Content Placeholder 2">
            <a:extLst>
              <a:ext uri="{FF2B5EF4-FFF2-40B4-BE49-F238E27FC236}">
                <a16:creationId xmlns="" xmlns:a16="http://schemas.microsoft.com/office/drawing/2014/main" id="{4BC9451E-7A47-401A-A903-20E228779627}"/>
              </a:ext>
            </a:extLst>
          </p:cNvPr>
          <p:cNvSpPr txBox="1">
            <a:spLocks/>
          </p:cNvSpPr>
          <p:nvPr/>
        </p:nvSpPr>
        <p:spPr>
          <a:xfrm>
            <a:off x="5537633" y="793270"/>
            <a:ext cx="4565144" cy="91450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457200" indent="-457200">
              <a:buFont typeface="+mj-lt"/>
              <a:buAutoNum type="arabicPeriod" startAt="2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NDFA permits empty string transitions.</a:t>
            </a:r>
          </a:p>
          <a:p>
            <a:pPr>
              <a:buFont typeface="+mj-lt"/>
              <a:buAutoNum type="arabicPeriod" startAt="2"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1" name="Group 50">
            <a:extLst>
              <a:ext uri="{FF2B5EF4-FFF2-40B4-BE49-F238E27FC236}">
                <a16:creationId xmlns="" xmlns:a16="http://schemas.microsoft.com/office/drawing/2014/main" id="{E9E08B4D-2B9C-47B2-8A98-9A4E2B6C7C67}"/>
              </a:ext>
            </a:extLst>
          </p:cNvPr>
          <p:cNvGrpSpPr/>
          <p:nvPr/>
        </p:nvGrpSpPr>
        <p:grpSpPr>
          <a:xfrm>
            <a:off x="1098675" y="1861183"/>
            <a:ext cx="591867" cy="905805"/>
            <a:chOff x="6924745" y="2274367"/>
            <a:chExt cx="591867" cy="936326"/>
          </a:xfrm>
        </p:grpSpPr>
        <p:sp>
          <p:nvSpPr>
            <p:cNvPr id="52" name="Arrow: Up 51">
              <a:extLst>
                <a:ext uri="{FF2B5EF4-FFF2-40B4-BE49-F238E27FC236}">
                  <a16:creationId xmlns="" xmlns:a16="http://schemas.microsoft.com/office/drawing/2014/main" id="{69058EAB-3E8A-411D-871F-F97C100E736A}"/>
                </a:ext>
              </a:extLst>
            </p:cNvPr>
            <p:cNvSpPr/>
            <p:nvPr/>
          </p:nvSpPr>
          <p:spPr>
            <a:xfrm rot="10800000">
              <a:off x="7044865" y="2571551"/>
              <a:ext cx="191070" cy="639142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3" name="TextBox 52">
              <a:extLst>
                <a:ext uri="{FF2B5EF4-FFF2-40B4-BE49-F238E27FC236}">
                  <a16:creationId xmlns="" xmlns:a16="http://schemas.microsoft.com/office/drawing/2014/main" id="{A951844F-C2C6-4DDF-9F21-04565B7BEEA9}"/>
                </a:ext>
              </a:extLst>
            </p:cNvPr>
            <p:cNvSpPr txBox="1"/>
            <p:nvPr/>
          </p:nvSpPr>
          <p:spPr>
            <a:xfrm>
              <a:off x="6924745" y="2274367"/>
              <a:ext cx="5918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</a:t>
              </a:r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="" xmlns:a16="http://schemas.microsoft.com/office/drawing/2014/main" id="{4CBB83FE-F277-41E5-8DCB-AE43A9635FE7}"/>
              </a:ext>
            </a:extLst>
          </p:cNvPr>
          <p:cNvGrpSpPr/>
          <p:nvPr/>
        </p:nvGrpSpPr>
        <p:grpSpPr>
          <a:xfrm rot="10800000">
            <a:off x="7551231" y="4756669"/>
            <a:ext cx="680684" cy="1128422"/>
            <a:chOff x="6714905" y="2320524"/>
            <a:chExt cx="680684" cy="890169"/>
          </a:xfrm>
        </p:grpSpPr>
        <p:sp>
          <p:nvSpPr>
            <p:cNvPr id="58" name="Arrow: Up 57">
              <a:extLst>
                <a:ext uri="{FF2B5EF4-FFF2-40B4-BE49-F238E27FC236}">
                  <a16:creationId xmlns="" xmlns:a16="http://schemas.microsoft.com/office/drawing/2014/main" id="{DF2C82C1-00D3-4BF5-B1F2-C82648F11A84}"/>
                </a:ext>
              </a:extLst>
            </p:cNvPr>
            <p:cNvSpPr/>
            <p:nvPr/>
          </p:nvSpPr>
          <p:spPr>
            <a:xfrm rot="10800000">
              <a:off x="7044865" y="2571551"/>
              <a:ext cx="191070" cy="639142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9" name="TextBox 58">
              <a:extLst>
                <a:ext uri="{FF2B5EF4-FFF2-40B4-BE49-F238E27FC236}">
                  <a16:creationId xmlns="" xmlns:a16="http://schemas.microsoft.com/office/drawing/2014/main" id="{8FC6C410-F17D-4F4F-981D-93E3AA6AF3D4}"/>
                </a:ext>
              </a:extLst>
            </p:cNvPr>
            <p:cNvSpPr txBox="1"/>
            <p:nvPr/>
          </p:nvSpPr>
          <p:spPr>
            <a:xfrm rot="10800000">
              <a:off x="6714905" y="2320524"/>
              <a:ext cx="680684" cy="2913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CS-1</a:t>
              </a:r>
            </a:p>
          </p:txBody>
        </p:sp>
      </p:grpSp>
      <p:sp>
        <p:nvSpPr>
          <p:cNvPr id="60" name="TextBox 59">
            <a:extLst>
              <a:ext uri="{FF2B5EF4-FFF2-40B4-BE49-F238E27FC236}">
                <a16:creationId xmlns="" xmlns:a16="http://schemas.microsoft.com/office/drawing/2014/main" id="{E54307C2-6037-4422-84D8-931A6A150CC8}"/>
              </a:ext>
            </a:extLst>
          </p:cNvPr>
          <p:cNvSpPr txBox="1"/>
          <p:nvPr/>
        </p:nvSpPr>
        <p:spPr>
          <a:xfrm>
            <a:off x="8269320" y="2513856"/>
            <a:ext cx="6185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^</a:t>
            </a:r>
          </a:p>
        </p:txBody>
      </p:sp>
      <p:grpSp>
        <p:nvGrpSpPr>
          <p:cNvPr id="61" name="Group 60">
            <a:extLst>
              <a:ext uri="{FF2B5EF4-FFF2-40B4-BE49-F238E27FC236}">
                <a16:creationId xmlns="" xmlns:a16="http://schemas.microsoft.com/office/drawing/2014/main" id="{1BEFD925-43F2-40C7-90DC-6B66E21F74C8}"/>
              </a:ext>
            </a:extLst>
          </p:cNvPr>
          <p:cNvGrpSpPr/>
          <p:nvPr/>
        </p:nvGrpSpPr>
        <p:grpSpPr>
          <a:xfrm>
            <a:off x="7484618" y="4093643"/>
            <a:ext cx="2083461" cy="583765"/>
            <a:chOff x="9673305" y="2648552"/>
            <a:chExt cx="2083461" cy="583765"/>
          </a:xfrm>
        </p:grpSpPr>
        <p:sp>
          <p:nvSpPr>
            <p:cNvPr id="62" name="Oval 61">
              <a:extLst>
                <a:ext uri="{FF2B5EF4-FFF2-40B4-BE49-F238E27FC236}">
                  <a16:creationId xmlns="" xmlns:a16="http://schemas.microsoft.com/office/drawing/2014/main" id="{6F378CE0-9451-48A3-8422-0863CC703327}"/>
                </a:ext>
              </a:extLst>
            </p:cNvPr>
            <p:cNvSpPr/>
            <p:nvPr/>
          </p:nvSpPr>
          <p:spPr>
            <a:xfrm>
              <a:off x="9673305" y="2685841"/>
              <a:ext cx="665125" cy="546476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x2</a:t>
              </a:r>
            </a:p>
          </p:txBody>
        </p:sp>
        <p:sp>
          <p:nvSpPr>
            <p:cNvPr id="64" name="Oval 63">
              <a:extLst>
                <a:ext uri="{FF2B5EF4-FFF2-40B4-BE49-F238E27FC236}">
                  <a16:creationId xmlns="" xmlns:a16="http://schemas.microsoft.com/office/drawing/2014/main" id="{A6A33E05-B10B-49E1-892D-603CCBF32AA9}"/>
                </a:ext>
              </a:extLst>
            </p:cNvPr>
            <p:cNvSpPr/>
            <p:nvPr/>
          </p:nvSpPr>
          <p:spPr>
            <a:xfrm>
              <a:off x="11091641" y="2648552"/>
              <a:ext cx="665125" cy="546476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x3</a:t>
              </a:r>
            </a:p>
          </p:txBody>
        </p:sp>
      </p:grpSp>
      <p:cxnSp>
        <p:nvCxnSpPr>
          <p:cNvPr id="66" name="Straight Arrow Connector 65">
            <a:extLst>
              <a:ext uri="{FF2B5EF4-FFF2-40B4-BE49-F238E27FC236}">
                <a16:creationId xmlns="" xmlns:a16="http://schemas.microsoft.com/office/drawing/2014/main" id="{FA696AA6-2FC6-4B9C-B44F-4CFC5E85CFA4}"/>
              </a:ext>
            </a:extLst>
          </p:cNvPr>
          <p:cNvCxnSpPr>
            <a:cxnSpLocks/>
            <a:endCxn id="62" idx="0"/>
          </p:cNvCxnSpPr>
          <p:nvPr/>
        </p:nvCxnSpPr>
        <p:spPr>
          <a:xfrm flipH="1">
            <a:off x="7817181" y="3229816"/>
            <a:ext cx="16064" cy="901116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="" xmlns:a16="http://schemas.microsoft.com/office/drawing/2014/main" id="{032430B4-2905-4B36-B797-556BB9A0E834}"/>
              </a:ext>
            </a:extLst>
          </p:cNvPr>
          <p:cNvCxnSpPr>
            <a:cxnSpLocks/>
          </p:cNvCxnSpPr>
          <p:nvPr/>
        </p:nvCxnSpPr>
        <p:spPr>
          <a:xfrm flipH="1">
            <a:off x="9231872" y="3155996"/>
            <a:ext cx="16064" cy="901116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="" xmlns:a16="http://schemas.microsoft.com/office/drawing/2014/main" id="{57DD894C-7D6F-4C21-943F-0C5388BAEF79}"/>
              </a:ext>
            </a:extLst>
          </p:cNvPr>
          <p:cNvSpPr txBox="1"/>
          <p:nvPr/>
        </p:nvSpPr>
        <p:spPr>
          <a:xfrm>
            <a:off x="9247936" y="3399709"/>
            <a:ext cx="6726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a/b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="" xmlns:a16="http://schemas.microsoft.com/office/drawing/2014/main" id="{C1A72D2C-10F8-483A-84FB-7FA933F14E88}"/>
              </a:ext>
            </a:extLst>
          </p:cNvPr>
          <p:cNvSpPr txBox="1"/>
          <p:nvPr/>
        </p:nvSpPr>
        <p:spPr>
          <a:xfrm>
            <a:off x="7225641" y="3413156"/>
            <a:ext cx="6726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a/b</a:t>
            </a:r>
          </a:p>
        </p:txBody>
      </p:sp>
      <p:grpSp>
        <p:nvGrpSpPr>
          <p:cNvPr id="63" name="Group 62">
            <a:extLst>
              <a:ext uri="{FF2B5EF4-FFF2-40B4-BE49-F238E27FC236}">
                <a16:creationId xmlns="" xmlns:a16="http://schemas.microsoft.com/office/drawing/2014/main" id="{6EF55038-BE1F-4E78-8B1C-748061971E6D}"/>
              </a:ext>
            </a:extLst>
          </p:cNvPr>
          <p:cNvGrpSpPr/>
          <p:nvPr/>
        </p:nvGrpSpPr>
        <p:grpSpPr>
          <a:xfrm rot="10800000">
            <a:off x="8992382" y="4721374"/>
            <a:ext cx="680684" cy="1128422"/>
            <a:chOff x="6714905" y="2320524"/>
            <a:chExt cx="680684" cy="890169"/>
          </a:xfrm>
        </p:grpSpPr>
        <p:sp>
          <p:nvSpPr>
            <p:cNvPr id="65" name="Arrow: Up 64">
              <a:extLst>
                <a:ext uri="{FF2B5EF4-FFF2-40B4-BE49-F238E27FC236}">
                  <a16:creationId xmlns="" xmlns:a16="http://schemas.microsoft.com/office/drawing/2014/main" id="{175B9AE7-7A76-4151-A706-0B0CCD7A67DC}"/>
                </a:ext>
              </a:extLst>
            </p:cNvPr>
            <p:cNvSpPr/>
            <p:nvPr/>
          </p:nvSpPr>
          <p:spPr>
            <a:xfrm rot="10800000">
              <a:off x="7044865" y="2571551"/>
              <a:ext cx="191070" cy="639142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7" name="TextBox 66">
              <a:extLst>
                <a:ext uri="{FF2B5EF4-FFF2-40B4-BE49-F238E27FC236}">
                  <a16:creationId xmlns="" xmlns:a16="http://schemas.microsoft.com/office/drawing/2014/main" id="{BE30AB7E-9217-4FE1-988D-0A8BE92A4C7B}"/>
                </a:ext>
              </a:extLst>
            </p:cNvPr>
            <p:cNvSpPr txBox="1"/>
            <p:nvPr/>
          </p:nvSpPr>
          <p:spPr>
            <a:xfrm rot="10800000">
              <a:off x="6714905" y="2320524"/>
              <a:ext cx="680684" cy="2913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CS-2</a:t>
              </a:r>
            </a:p>
          </p:txBody>
        </p:sp>
      </p:grpSp>
      <p:sp>
        <p:nvSpPr>
          <p:cNvPr id="54" name="TextBox 53"/>
          <p:cNvSpPr txBox="1"/>
          <p:nvPr/>
        </p:nvSpPr>
        <p:spPr>
          <a:xfrm>
            <a:off x="7350369" y="1178169"/>
            <a:ext cx="2198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Input  a / b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55" name="Group 54"/>
          <p:cNvGrpSpPr/>
          <p:nvPr/>
        </p:nvGrpSpPr>
        <p:grpSpPr>
          <a:xfrm>
            <a:off x="238526" y="4199937"/>
            <a:ext cx="4863683" cy="1787494"/>
            <a:chOff x="317657" y="1861183"/>
            <a:chExt cx="4863683" cy="1787494"/>
          </a:xfrm>
        </p:grpSpPr>
        <p:grpSp>
          <p:nvGrpSpPr>
            <p:cNvPr id="56" name="Group 1">
              <a:extLst>
                <a:ext uri="{FF2B5EF4-FFF2-40B4-BE49-F238E27FC236}">
                  <a16:creationId xmlns="" xmlns:a16="http://schemas.microsoft.com/office/drawing/2014/main" id="{3407459D-8EE9-45D0-962B-F34BC30F2FAA}"/>
                </a:ext>
              </a:extLst>
            </p:cNvPr>
            <p:cNvGrpSpPr/>
            <p:nvPr/>
          </p:nvGrpSpPr>
          <p:grpSpPr>
            <a:xfrm>
              <a:off x="317657" y="2806244"/>
              <a:ext cx="4863683" cy="842433"/>
              <a:chOff x="4931358" y="2304257"/>
              <a:chExt cx="4863683" cy="842433"/>
            </a:xfrm>
          </p:grpSpPr>
          <p:cxnSp>
            <p:nvCxnSpPr>
              <p:cNvPr id="74" name="Straight Arrow Connector 73">
                <a:extLst>
                  <a:ext uri="{FF2B5EF4-FFF2-40B4-BE49-F238E27FC236}">
                    <a16:creationId xmlns="" xmlns:a16="http://schemas.microsoft.com/office/drawing/2014/main" id="{7D659041-649F-4D29-85D5-F22DB2D1156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31358" y="2765246"/>
                <a:ext cx="556591" cy="1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75" name="Group 28">
                <a:extLst>
                  <a:ext uri="{FF2B5EF4-FFF2-40B4-BE49-F238E27FC236}">
                    <a16:creationId xmlns="" xmlns:a16="http://schemas.microsoft.com/office/drawing/2014/main" id="{21BDFBF6-3737-498B-B845-A23145FE5D0C}"/>
                  </a:ext>
                </a:extLst>
              </p:cNvPr>
              <p:cNvGrpSpPr/>
              <p:nvPr/>
            </p:nvGrpSpPr>
            <p:grpSpPr>
              <a:xfrm>
                <a:off x="7233544" y="2344599"/>
                <a:ext cx="839021" cy="802091"/>
                <a:chOff x="10458837" y="1785088"/>
                <a:chExt cx="839021" cy="802091"/>
              </a:xfrm>
            </p:grpSpPr>
            <p:sp>
              <p:nvSpPr>
                <p:cNvPr id="88" name="Oval 87">
                  <a:extLst>
                    <a:ext uri="{FF2B5EF4-FFF2-40B4-BE49-F238E27FC236}">
                      <a16:creationId xmlns="" xmlns:a16="http://schemas.microsoft.com/office/drawing/2014/main" id="{AEC12217-3F4B-40DA-9B86-78D6E8BF993D}"/>
                    </a:ext>
                  </a:extLst>
                </p:cNvPr>
                <p:cNvSpPr/>
                <p:nvPr/>
              </p:nvSpPr>
              <p:spPr>
                <a:xfrm>
                  <a:off x="10458837" y="1785088"/>
                  <a:ext cx="839021" cy="802091"/>
                </a:xfrm>
                <a:prstGeom prst="ellips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89" name="Oval 88">
                  <a:extLst>
                    <a:ext uri="{FF2B5EF4-FFF2-40B4-BE49-F238E27FC236}">
                      <a16:creationId xmlns="" xmlns:a16="http://schemas.microsoft.com/office/drawing/2014/main" id="{C4C249AF-D7E6-419B-988D-D41D419ADA3D}"/>
                    </a:ext>
                  </a:extLst>
                </p:cNvPr>
                <p:cNvSpPr/>
                <p:nvPr/>
              </p:nvSpPr>
              <p:spPr>
                <a:xfrm>
                  <a:off x="10544977" y="1877513"/>
                  <a:ext cx="681980" cy="628192"/>
                </a:xfrm>
                <a:prstGeom prst="ellips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x1</a:t>
                  </a:r>
                </a:p>
              </p:txBody>
            </p:sp>
          </p:grpSp>
          <p:grpSp>
            <p:nvGrpSpPr>
              <p:cNvPr id="76" name="Group 31">
                <a:extLst>
                  <a:ext uri="{FF2B5EF4-FFF2-40B4-BE49-F238E27FC236}">
                    <a16:creationId xmlns="" xmlns:a16="http://schemas.microsoft.com/office/drawing/2014/main" id="{902C3A67-4AB9-4662-8F1C-815FBE9E5772}"/>
                  </a:ext>
                </a:extLst>
              </p:cNvPr>
              <p:cNvGrpSpPr/>
              <p:nvPr/>
            </p:nvGrpSpPr>
            <p:grpSpPr>
              <a:xfrm>
                <a:off x="8956020" y="2304257"/>
                <a:ext cx="839021" cy="802091"/>
                <a:chOff x="10512625" y="1744747"/>
                <a:chExt cx="839021" cy="802091"/>
              </a:xfrm>
            </p:grpSpPr>
            <p:sp>
              <p:nvSpPr>
                <p:cNvPr id="86" name="Oval 85">
                  <a:extLst>
                    <a:ext uri="{FF2B5EF4-FFF2-40B4-BE49-F238E27FC236}">
                      <a16:creationId xmlns="" xmlns:a16="http://schemas.microsoft.com/office/drawing/2014/main" id="{654C964B-B210-4402-9FC6-3A475B2507F0}"/>
                    </a:ext>
                  </a:extLst>
                </p:cNvPr>
                <p:cNvSpPr/>
                <p:nvPr/>
              </p:nvSpPr>
              <p:spPr>
                <a:xfrm>
                  <a:off x="10512625" y="1744747"/>
                  <a:ext cx="839021" cy="802091"/>
                </a:xfrm>
                <a:prstGeom prst="ellips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87" name="Oval 86">
                  <a:extLst>
                    <a:ext uri="{FF2B5EF4-FFF2-40B4-BE49-F238E27FC236}">
                      <a16:creationId xmlns="" xmlns:a16="http://schemas.microsoft.com/office/drawing/2014/main" id="{690B9038-E591-48DB-8D9E-BEA65AE2CA8E}"/>
                    </a:ext>
                  </a:extLst>
                </p:cNvPr>
                <p:cNvSpPr/>
                <p:nvPr/>
              </p:nvSpPr>
              <p:spPr>
                <a:xfrm>
                  <a:off x="10585318" y="1837172"/>
                  <a:ext cx="681980" cy="628192"/>
                </a:xfrm>
                <a:prstGeom prst="ellips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x2</a:t>
                  </a:r>
                </a:p>
              </p:txBody>
            </p:sp>
          </p:grpSp>
          <p:grpSp>
            <p:nvGrpSpPr>
              <p:cNvPr id="77" name="Group 34">
                <a:extLst>
                  <a:ext uri="{FF2B5EF4-FFF2-40B4-BE49-F238E27FC236}">
                    <a16:creationId xmlns="" xmlns:a16="http://schemas.microsoft.com/office/drawing/2014/main" id="{1759F2FC-6A06-4B49-BB1C-A4B869BB7D7F}"/>
                  </a:ext>
                </a:extLst>
              </p:cNvPr>
              <p:cNvGrpSpPr/>
              <p:nvPr/>
            </p:nvGrpSpPr>
            <p:grpSpPr>
              <a:xfrm>
                <a:off x="6382024" y="2420374"/>
                <a:ext cx="839021" cy="369332"/>
                <a:chOff x="7435657" y="3287208"/>
                <a:chExt cx="1162516" cy="369332"/>
              </a:xfrm>
            </p:grpSpPr>
            <p:cxnSp>
              <p:nvCxnSpPr>
                <p:cNvPr id="84" name="Straight Arrow Connector 83">
                  <a:extLst>
                    <a:ext uri="{FF2B5EF4-FFF2-40B4-BE49-F238E27FC236}">
                      <a16:creationId xmlns="" xmlns:a16="http://schemas.microsoft.com/office/drawing/2014/main" id="{A1F69A51-BF29-4F8B-829E-CE0E65915941}"/>
                    </a:ext>
                  </a:extLst>
                </p:cNvPr>
                <p:cNvCxnSpPr/>
                <p:nvPr/>
              </p:nvCxnSpPr>
              <p:spPr>
                <a:xfrm>
                  <a:off x="7435657" y="3623630"/>
                  <a:ext cx="1162516" cy="0"/>
                </a:xfrm>
                <a:prstGeom prst="straightConnector1">
                  <a:avLst/>
                </a:prstGeom>
                <a:ln w="38100">
                  <a:solidFill>
                    <a:schemeClr val="bg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85" name="TextBox 84">
                  <a:extLst>
                    <a:ext uri="{FF2B5EF4-FFF2-40B4-BE49-F238E27FC236}">
                      <a16:creationId xmlns="" xmlns:a16="http://schemas.microsoft.com/office/drawing/2014/main" id="{DA8C129A-F994-4515-8930-855F02A7AD28}"/>
                    </a:ext>
                  </a:extLst>
                </p:cNvPr>
                <p:cNvSpPr txBox="1"/>
                <p:nvPr/>
              </p:nvSpPr>
              <p:spPr>
                <a:xfrm>
                  <a:off x="7554876" y="3287208"/>
                  <a:ext cx="93196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a/b</a:t>
                  </a:r>
                </a:p>
              </p:txBody>
            </p:sp>
          </p:grpSp>
          <p:grpSp>
            <p:nvGrpSpPr>
              <p:cNvPr id="78" name="Group 37">
                <a:extLst>
                  <a:ext uri="{FF2B5EF4-FFF2-40B4-BE49-F238E27FC236}">
                    <a16:creationId xmlns="" xmlns:a16="http://schemas.microsoft.com/office/drawing/2014/main" id="{5F8E4A51-BBB0-4F22-9F33-52AFB1CF1B77}"/>
                  </a:ext>
                </a:extLst>
              </p:cNvPr>
              <p:cNvGrpSpPr/>
              <p:nvPr/>
            </p:nvGrpSpPr>
            <p:grpSpPr>
              <a:xfrm>
                <a:off x="8104100" y="2362885"/>
                <a:ext cx="839021" cy="376763"/>
                <a:chOff x="7491553" y="3260314"/>
                <a:chExt cx="1162516" cy="376763"/>
              </a:xfrm>
            </p:grpSpPr>
            <p:cxnSp>
              <p:nvCxnSpPr>
                <p:cNvPr id="82" name="Straight Arrow Connector 81">
                  <a:extLst>
                    <a:ext uri="{FF2B5EF4-FFF2-40B4-BE49-F238E27FC236}">
                      <a16:creationId xmlns="" xmlns:a16="http://schemas.microsoft.com/office/drawing/2014/main" id="{1863340D-83A7-454C-8884-67F4279D6ACF}"/>
                    </a:ext>
                  </a:extLst>
                </p:cNvPr>
                <p:cNvCxnSpPr/>
                <p:nvPr/>
              </p:nvCxnSpPr>
              <p:spPr>
                <a:xfrm>
                  <a:off x="7491553" y="3637077"/>
                  <a:ext cx="1162516" cy="0"/>
                </a:xfrm>
                <a:prstGeom prst="straightConnector1">
                  <a:avLst/>
                </a:prstGeom>
                <a:ln w="38100">
                  <a:solidFill>
                    <a:schemeClr val="bg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83" name="TextBox 82">
                  <a:extLst>
                    <a:ext uri="{FF2B5EF4-FFF2-40B4-BE49-F238E27FC236}">
                      <a16:creationId xmlns="" xmlns:a16="http://schemas.microsoft.com/office/drawing/2014/main" id="{3BED651A-1442-41C3-A692-6EF76089924F}"/>
                    </a:ext>
                  </a:extLst>
                </p:cNvPr>
                <p:cNvSpPr txBox="1"/>
                <p:nvPr/>
              </p:nvSpPr>
              <p:spPr>
                <a:xfrm>
                  <a:off x="7554876" y="3260314"/>
                  <a:ext cx="93196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a/b</a:t>
                  </a:r>
                </a:p>
              </p:txBody>
            </p:sp>
          </p:grpSp>
          <p:grpSp>
            <p:nvGrpSpPr>
              <p:cNvPr id="79" name="Group 40">
                <a:extLst>
                  <a:ext uri="{FF2B5EF4-FFF2-40B4-BE49-F238E27FC236}">
                    <a16:creationId xmlns="" xmlns:a16="http://schemas.microsoft.com/office/drawing/2014/main" id="{7F496128-87E5-4061-9F8E-A4E9AC2C8A2F}"/>
                  </a:ext>
                </a:extLst>
              </p:cNvPr>
              <p:cNvGrpSpPr/>
              <p:nvPr/>
            </p:nvGrpSpPr>
            <p:grpSpPr>
              <a:xfrm>
                <a:off x="5520876" y="2338470"/>
                <a:ext cx="839021" cy="802091"/>
                <a:chOff x="10512625" y="1744747"/>
                <a:chExt cx="839021" cy="802091"/>
              </a:xfrm>
            </p:grpSpPr>
            <p:sp>
              <p:nvSpPr>
                <p:cNvPr id="80" name="Oval 79">
                  <a:extLst>
                    <a:ext uri="{FF2B5EF4-FFF2-40B4-BE49-F238E27FC236}">
                      <a16:creationId xmlns="" xmlns:a16="http://schemas.microsoft.com/office/drawing/2014/main" id="{9B6BE869-6D99-48F8-817C-D903F081BEFB}"/>
                    </a:ext>
                  </a:extLst>
                </p:cNvPr>
                <p:cNvSpPr/>
                <p:nvPr/>
              </p:nvSpPr>
              <p:spPr>
                <a:xfrm>
                  <a:off x="10512625" y="1744747"/>
                  <a:ext cx="839021" cy="802091"/>
                </a:xfrm>
                <a:prstGeom prst="ellips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81" name="Oval 80">
                  <a:extLst>
                    <a:ext uri="{FF2B5EF4-FFF2-40B4-BE49-F238E27FC236}">
                      <a16:creationId xmlns="" xmlns:a16="http://schemas.microsoft.com/office/drawing/2014/main" id="{4789EE9C-F7E5-4DFE-969D-8DDD4AF4B4A9}"/>
                    </a:ext>
                  </a:extLst>
                </p:cNvPr>
                <p:cNvSpPr/>
                <p:nvPr/>
              </p:nvSpPr>
              <p:spPr>
                <a:xfrm>
                  <a:off x="10585318" y="1837172"/>
                  <a:ext cx="681980" cy="628192"/>
                </a:xfrm>
                <a:prstGeom prst="ellips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x0</a:t>
                  </a:r>
                </a:p>
              </p:txBody>
            </p:sp>
          </p:grpSp>
        </p:grpSp>
        <p:grpSp>
          <p:nvGrpSpPr>
            <p:cNvPr id="68" name="Group 50">
              <a:extLst>
                <a:ext uri="{FF2B5EF4-FFF2-40B4-BE49-F238E27FC236}">
                  <a16:creationId xmlns="" xmlns:a16="http://schemas.microsoft.com/office/drawing/2014/main" id="{E9E08B4D-2B9C-47B2-8A98-9A4E2B6C7C67}"/>
                </a:ext>
              </a:extLst>
            </p:cNvPr>
            <p:cNvGrpSpPr/>
            <p:nvPr/>
          </p:nvGrpSpPr>
          <p:grpSpPr>
            <a:xfrm>
              <a:off x="1098675" y="1861183"/>
              <a:ext cx="591867" cy="905805"/>
              <a:chOff x="6924745" y="2274367"/>
              <a:chExt cx="591867" cy="936326"/>
            </a:xfrm>
          </p:grpSpPr>
          <p:sp>
            <p:nvSpPr>
              <p:cNvPr id="72" name="Arrow: Up 51">
                <a:extLst>
                  <a:ext uri="{FF2B5EF4-FFF2-40B4-BE49-F238E27FC236}">
                    <a16:creationId xmlns="" xmlns:a16="http://schemas.microsoft.com/office/drawing/2014/main" id="{69058EAB-3E8A-411D-871F-F97C100E736A}"/>
                  </a:ext>
                </a:extLst>
              </p:cNvPr>
              <p:cNvSpPr/>
              <p:nvPr/>
            </p:nvSpPr>
            <p:spPr>
              <a:xfrm rot="10800000">
                <a:off x="7044865" y="2571551"/>
                <a:ext cx="191070" cy="639142"/>
              </a:xfrm>
              <a:prstGeom prst="upArrow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3" name="TextBox 72">
                <a:extLst>
                  <a:ext uri="{FF2B5EF4-FFF2-40B4-BE49-F238E27FC236}">
                    <a16:creationId xmlns="" xmlns:a16="http://schemas.microsoft.com/office/drawing/2014/main" id="{A951844F-C2C6-4DDF-9F21-04565B7BEEA9}"/>
                  </a:ext>
                </a:extLst>
              </p:cNvPr>
              <p:cNvSpPr txBox="1"/>
              <p:nvPr/>
            </p:nvSpPr>
            <p:spPr>
              <a:xfrm>
                <a:off x="6924745" y="2274367"/>
                <a:ext cx="59186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solidFill>
                      <a:schemeClr val="accent3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2129803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149AD530-6C2A-44EA-A853-BAC2857EF1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904" y="858413"/>
            <a:ext cx="4565143" cy="5580529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Empty string transitions are not seen in DFA.</a:t>
            </a:r>
          </a:p>
          <a:p>
            <a:pPr marL="457200" indent="-457200">
              <a:buFont typeface="+mj-lt"/>
              <a:buAutoNum type="arabicPeriod" startAt="2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E7E875E4-C02C-44AD-9251-3D0D7CDF2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26D1DE06-0720-4572-BF37-034426FE1CD7}"/>
              </a:ext>
            </a:extLst>
          </p:cNvPr>
          <p:cNvSpPr txBox="1"/>
          <p:nvPr/>
        </p:nvSpPr>
        <p:spPr>
          <a:xfrm>
            <a:off x="1529669" y="33241"/>
            <a:ext cx="1600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DFA</a:t>
            </a:r>
          </a:p>
        </p:txBody>
      </p:sp>
      <p:sp>
        <p:nvSpPr>
          <p:cNvPr id="44" name="Oval 43">
            <a:extLst>
              <a:ext uri="{FF2B5EF4-FFF2-40B4-BE49-F238E27FC236}">
                <a16:creationId xmlns="" xmlns:a16="http://schemas.microsoft.com/office/drawing/2014/main" id="{2F8AC0DC-CB2C-41F4-86A0-1B2179B98F03}"/>
              </a:ext>
            </a:extLst>
          </p:cNvPr>
          <p:cNvSpPr/>
          <p:nvPr/>
        </p:nvSpPr>
        <p:spPr>
          <a:xfrm>
            <a:off x="7488696" y="2610278"/>
            <a:ext cx="665125" cy="546476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x0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="" xmlns:a16="http://schemas.microsoft.com/office/drawing/2014/main" id="{4ED94321-EC8D-47E8-B1C4-A1183E65D1D4}"/>
              </a:ext>
            </a:extLst>
          </p:cNvPr>
          <p:cNvCxnSpPr>
            <a:cxnSpLocks/>
          </p:cNvCxnSpPr>
          <p:nvPr/>
        </p:nvCxnSpPr>
        <p:spPr>
          <a:xfrm>
            <a:off x="6949798" y="2940164"/>
            <a:ext cx="511802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Oval 45">
            <a:extLst>
              <a:ext uri="{FF2B5EF4-FFF2-40B4-BE49-F238E27FC236}">
                <a16:creationId xmlns="" xmlns:a16="http://schemas.microsoft.com/office/drawing/2014/main" id="{5DF5953E-B986-4B7C-B688-CAB63D1C0BF8}"/>
              </a:ext>
            </a:extLst>
          </p:cNvPr>
          <p:cNvSpPr/>
          <p:nvPr/>
        </p:nvSpPr>
        <p:spPr>
          <a:xfrm>
            <a:off x="8907032" y="2572989"/>
            <a:ext cx="665125" cy="546476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x1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="" xmlns:a16="http://schemas.microsoft.com/office/drawing/2014/main" id="{A070CF6C-C892-43CE-97BC-ADEE3BF638CC}"/>
              </a:ext>
            </a:extLst>
          </p:cNvPr>
          <p:cNvCxnSpPr>
            <a:cxnSpLocks/>
          </p:cNvCxnSpPr>
          <p:nvPr/>
        </p:nvCxnSpPr>
        <p:spPr>
          <a:xfrm>
            <a:off x="8186007" y="2900707"/>
            <a:ext cx="680684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="" xmlns:a16="http://schemas.microsoft.com/office/drawing/2014/main" id="{DEDC641C-F775-4A1F-86E8-ECA48D51C1A8}"/>
              </a:ext>
            </a:extLst>
          </p:cNvPr>
          <p:cNvSpPr txBox="1"/>
          <p:nvPr/>
        </p:nvSpPr>
        <p:spPr>
          <a:xfrm>
            <a:off x="6855759" y="0"/>
            <a:ext cx="1600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NDFA</a:t>
            </a:r>
          </a:p>
        </p:txBody>
      </p:sp>
      <p:sp>
        <p:nvSpPr>
          <p:cNvPr id="50" name="Content Placeholder 2">
            <a:extLst>
              <a:ext uri="{FF2B5EF4-FFF2-40B4-BE49-F238E27FC236}">
                <a16:creationId xmlns="" xmlns:a16="http://schemas.microsoft.com/office/drawing/2014/main" id="{4BC9451E-7A47-401A-A903-20E228779627}"/>
              </a:ext>
            </a:extLst>
          </p:cNvPr>
          <p:cNvSpPr txBox="1">
            <a:spLocks/>
          </p:cNvSpPr>
          <p:nvPr/>
        </p:nvSpPr>
        <p:spPr>
          <a:xfrm>
            <a:off x="5537633" y="793270"/>
            <a:ext cx="4565144" cy="91450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457200" indent="-457200">
              <a:buFont typeface="+mj-lt"/>
              <a:buAutoNum type="arabicPeriod" startAt="2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NDFA permits empty string transitions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   Input a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+mj-lt"/>
              <a:buAutoNum type="arabicPeriod" startAt="2"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1" name="Group 53">
            <a:extLst>
              <a:ext uri="{FF2B5EF4-FFF2-40B4-BE49-F238E27FC236}">
                <a16:creationId xmlns="" xmlns:a16="http://schemas.microsoft.com/office/drawing/2014/main" id="{752FEB1C-6360-4556-83B8-27D81FE9D7C1}"/>
              </a:ext>
            </a:extLst>
          </p:cNvPr>
          <p:cNvGrpSpPr/>
          <p:nvPr/>
        </p:nvGrpSpPr>
        <p:grpSpPr>
          <a:xfrm>
            <a:off x="9089597" y="1644938"/>
            <a:ext cx="672626" cy="905805"/>
            <a:chOff x="6924745" y="2274367"/>
            <a:chExt cx="672626" cy="936326"/>
          </a:xfrm>
        </p:grpSpPr>
        <p:sp>
          <p:nvSpPr>
            <p:cNvPr id="55" name="Arrow: Up 54">
              <a:extLst>
                <a:ext uri="{FF2B5EF4-FFF2-40B4-BE49-F238E27FC236}">
                  <a16:creationId xmlns="" xmlns:a16="http://schemas.microsoft.com/office/drawing/2014/main" id="{ADD007C3-9F1D-4C3C-A641-BCF728050686}"/>
                </a:ext>
              </a:extLst>
            </p:cNvPr>
            <p:cNvSpPr/>
            <p:nvPr/>
          </p:nvSpPr>
          <p:spPr>
            <a:xfrm rot="10800000">
              <a:off x="7044865" y="2571551"/>
              <a:ext cx="191070" cy="639142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6" name="TextBox 55">
              <a:extLst>
                <a:ext uri="{FF2B5EF4-FFF2-40B4-BE49-F238E27FC236}">
                  <a16:creationId xmlns="" xmlns:a16="http://schemas.microsoft.com/office/drawing/2014/main" id="{B8B9C6C7-CF78-4063-9769-00A40ED2E376}"/>
                </a:ext>
              </a:extLst>
            </p:cNvPr>
            <p:cNvSpPr txBox="1"/>
            <p:nvPr/>
          </p:nvSpPr>
          <p:spPr>
            <a:xfrm>
              <a:off x="6924745" y="2274367"/>
              <a:ext cx="672626" cy="381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CS-2</a:t>
              </a:r>
            </a:p>
          </p:txBody>
        </p:sp>
      </p:grpSp>
      <p:grpSp>
        <p:nvGrpSpPr>
          <p:cNvPr id="12" name="Group 56">
            <a:extLst>
              <a:ext uri="{FF2B5EF4-FFF2-40B4-BE49-F238E27FC236}">
                <a16:creationId xmlns="" xmlns:a16="http://schemas.microsoft.com/office/drawing/2014/main" id="{4CBB83FE-F277-41E5-8DCB-AE43A9635FE7}"/>
              </a:ext>
            </a:extLst>
          </p:cNvPr>
          <p:cNvGrpSpPr/>
          <p:nvPr/>
        </p:nvGrpSpPr>
        <p:grpSpPr>
          <a:xfrm>
            <a:off x="7561954" y="1667184"/>
            <a:ext cx="706342" cy="905805"/>
            <a:chOff x="6924745" y="2274367"/>
            <a:chExt cx="706342" cy="936326"/>
          </a:xfrm>
        </p:grpSpPr>
        <p:sp>
          <p:nvSpPr>
            <p:cNvPr id="58" name="Arrow: Up 57">
              <a:extLst>
                <a:ext uri="{FF2B5EF4-FFF2-40B4-BE49-F238E27FC236}">
                  <a16:creationId xmlns="" xmlns:a16="http://schemas.microsoft.com/office/drawing/2014/main" id="{DF2C82C1-00D3-4BF5-B1F2-C82648F11A84}"/>
                </a:ext>
              </a:extLst>
            </p:cNvPr>
            <p:cNvSpPr/>
            <p:nvPr/>
          </p:nvSpPr>
          <p:spPr>
            <a:xfrm rot="10800000">
              <a:off x="7044865" y="2571551"/>
              <a:ext cx="191070" cy="639142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9" name="TextBox 58">
              <a:extLst>
                <a:ext uri="{FF2B5EF4-FFF2-40B4-BE49-F238E27FC236}">
                  <a16:creationId xmlns="" xmlns:a16="http://schemas.microsoft.com/office/drawing/2014/main" id="{8FC6C410-F17D-4F4F-981D-93E3AA6AF3D4}"/>
                </a:ext>
              </a:extLst>
            </p:cNvPr>
            <p:cNvSpPr txBox="1"/>
            <p:nvPr/>
          </p:nvSpPr>
          <p:spPr>
            <a:xfrm>
              <a:off x="6924745" y="2274367"/>
              <a:ext cx="706342" cy="381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CS-1</a:t>
              </a:r>
            </a:p>
          </p:txBody>
        </p:sp>
      </p:grpSp>
      <p:sp>
        <p:nvSpPr>
          <p:cNvPr id="60" name="TextBox 59">
            <a:extLst>
              <a:ext uri="{FF2B5EF4-FFF2-40B4-BE49-F238E27FC236}">
                <a16:creationId xmlns="" xmlns:a16="http://schemas.microsoft.com/office/drawing/2014/main" id="{E54307C2-6037-4422-84D8-931A6A150CC8}"/>
              </a:ext>
            </a:extLst>
          </p:cNvPr>
          <p:cNvSpPr txBox="1"/>
          <p:nvPr/>
        </p:nvSpPr>
        <p:spPr>
          <a:xfrm>
            <a:off x="8268296" y="2474600"/>
            <a:ext cx="6185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^</a:t>
            </a:r>
          </a:p>
        </p:txBody>
      </p:sp>
      <p:sp>
        <p:nvSpPr>
          <p:cNvPr id="62" name="Oval 61">
            <a:extLst>
              <a:ext uri="{FF2B5EF4-FFF2-40B4-BE49-F238E27FC236}">
                <a16:creationId xmlns="" xmlns:a16="http://schemas.microsoft.com/office/drawing/2014/main" id="{6F378CE0-9451-48A3-8422-0863CC703327}"/>
              </a:ext>
            </a:extLst>
          </p:cNvPr>
          <p:cNvSpPr/>
          <p:nvPr/>
        </p:nvSpPr>
        <p:spPr>
          <a:xfrm>
            <a:off x="7497038" y="4130932"/>
            <a:ext cx="665125" cy="546476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x2</a:t>
            </a:r>
          </a:p>
        </p:txBody>
      </p:sp>
      <p:sp>
        <p:nvSpPr>
          <p:cNvPr id="64" name="Oval 63">
            <a:extLst>
              <a:ext uri="{FF2B5EF4-FFF2-40B4-BE49-F238E27FC236}">
                <a16:creationId xmlns="" xmlns:a16="http://schemas.microsoft.com/office/drawing/2014/main" id="{A6A33E05-B10B-49E1-892D-603CCBF32AA9}"/>
              </a:ext>
            </a:extLst>
          </p:cNvPr>
          <p:cNvSpPr/>
          <p:nvPr/>
        </p:nvSpPr>
        <p:spPr>
          <a:xfrm>
            <a:off x="8915374" y="4093643"/>
            <a:ext cx="665125" cy="546476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x3</a:t>
            </a: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="" xmlns:a16="http://schemas.microsoft.com/office/drawing/2014/main" id="{FA696AA6-2FC6-4B9C-B44F-4CFC5E85CFA4}"/>
              </a:ext>
            </a:extLst>
          </p:cNvPr>
          <p:cNvCxnSpPr>
            <a:cxnSpLocks/>
            <a:endCxn id="62" idx="0"/>
          </p:cNvCxnSpPr>
          <p:nvPr/>
        </p:nvCxnSpPr>
        <p:spPr>
          <a:xfrm flipH="1">
            <a:off x="7829601" y="3229816"/>
            <a:ext cx="16064" cy="901116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="" xmlns:a16="http://schemas.microsoft.com/office/drawing/2014/main" id="{032430B4-2905-4B36-B797-556BB9A0E834}"/>
              </a:ext>
            </a:extLst>
          </p:cNvPr>
          <p:cNvCxnSpPr>
            <a:cxnSpLocks/>
          </p:cNvCxnSpPr>
          <p:nvPr/>
        </p:nvCxnSpPr>
        <p:spPr>
          <a:xfrm flipH="1">
            <a:off x="9231872" y="3155996"/>
            <a:ext cx="16064" cy="901116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="" xmlns:a16="http://schemas.microsoft.com/office/drawing/2014/main" id="{57DD894C-7D6F-4C21-943F-0C5388BAEF79}"/>
              </a:ext>
            </a:extLst>
          </p:cNvPr>
          <p:cNvSpPr txBox="1"/>
          <p:nvPr/>
        </p:nvSpPr>
        <p:spPr>
          <a:xfrm>
            <a:off x="9247936" y="3399709"/>
            <a:ext cx="3356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</a:t>
            </a:r>
            <a:endParaRPr lang="en-US" dirty="0"/>
          </a:p>
        </p:txBody>
      </p:sp>
      <p:sp>
        <p:nvSpPr>
          <p:cNvPr id="71" name="TextBox 70">
            <a:extLst>
              <a:ext uri="{FF2B5EF4-FFF2-40B4-BE49-F238E27FC236}">
                <a16:creationId xmlns="" xmlns:a16="http://schemas.microsoft.com/office/drawing/2014/main" id="{C1A72D2C-10F8-483A-84FB-7FA933F14E88}"/>
              </a:ext>
            </a:extLst>
          </p:cNvPr>
          <p:cNvSpPr txBox="1"/>
          <p:nvPr/>
        </p:nvSpPr>
        <p:spPr>
          <a:xfrm>
            <a:off x="7225641" y="3413156"/>
            <a:ext cx="6726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a/b</a:t>
            </a:r>
            <a:endParaRPr lang="en-US" dirty="0"/>
          </a:p>
        </p:txBody>
      </p:sp>
      <p:sp>
        <p:nvSpPr>
          <p:cNvPr id="48" name="Oval 47">
            <a:extLst>
              <a:ext uri="{FF2B5EF4-FFF2-40B4-BE49-F238E27FC236}">
                <a16:creationId xmlns="" xmlns:a16="http://schemas.microsoft.com/office/drawing/2014/main" id="{A6A33E05-B10B-49E1-892D-603CCBF32AA9}"/>
              </a:ext>
            </a:extLst>
          </p:cNvPr>
          <p:cNvSpPr/>
          <p:nvPr/>
        </p:nvSpPr>
        <p:spPr>
          <a:xfrm>
            <a:off x="10439374" y="3401981"/>
            <a:ext cx="665125" cy="546476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x4</a:t>
            </a:r>
            <a:endParaRPr lang="en-US" dirty="0"/>
          </a:p>
        </p:txBody>
      </p:sp>
      <p:sp>
        <p:nvSpPr>
          <p:cNvPr id="51" name="TextBox 50">
            <a:extLst>
              <a:ext uri="{FF2B5EF4-FFF2-40B4-BE49-F238E27FC236}">
                <a16:creationId xmlns="" xmlns:a16="http://schemas.microsoft.com/office/drawing/2014/main" id="{57DD894C-7D6F-4C21-943F-0C5388BAEF79}"/>
              </a:ext>
            </a:extLst>
          </p:cNvPr>
          <p:cNvSpPr txBox="1"/>
          <p:nvPr/>
        </p:nvSpPr>
        <p:spPr>
          <a:xfrm>
            <a:off x="10015797" y="2875102"/>
            <a:ext cx="3356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b</a:t>
            </a:r>
            <a:endParaRPr lang="en-US" dirty="0"/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="" xmlns:a16="http://schemas.microsoft.com/office/drawing/2014/main" id="{032430B4-2905-4B36-B797-556BB9A0E834}"/>
              </a:ext>
            </a:extLst>
          </p:cNvPr>
          <p:cNvCxnSpPr>
            <a:cxnSpLocks/>
            <a:endCxn id="48" idx="2"/>
          </p:cNvCxnSpPr>
          <p:nvPr/>
        </p:nvCxnSpPr>
        <p:spPr>
          <a:xfrm>
            <a:off x="9620144" y="2991872"/>
            <a:ext cx="819230" cy="683347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7" name="Group 56"/>
          <p:cNvGrpSpPr/>
          <p:nvPr/>
        </p:nvGrpSpPr>
        <p:grpSpPr>
          <a:xfrm>
            <a:off x="238526" y="4199937"/>
            <a:ext cx="4863683" cy="1787494"/>
            <a:chOff x="317657" y="1861183"/>
            <a:chExt cx="4863683" cy="1787494"/>
          </a:xfrm>
        </p:grpSpPr>
        <p:grpSp>
          <p:nvGrpSpPr>
            <p:cNvPr id="61" name="Group 1">
              <a:extLst>
                <a:ext uri="{FF2B5EF4-FFF2-40B4-BE49-F238E27FC236}">
                  <a16:creationId xmlns="" xmlns:a16="http://schemas.microsoft.com/office/drawing/2014/main" id="{3407459D-8EE9-45D0-962B-F34BC30F2FAA}"/>
                </a:ext>
              </a:extLst>
            </p:cNvPr>
            <p:cNvGrpSpPr/>
            <p:nvPr/>
          </p:nvGrpSpPr>
          <p:grpSpPr>
            <a:xfrm>
              <a:off x="317657" y="2806244"/>
              <a:ext cx="4863683" cy="842433"/>
              <a:chOff x="4931358" y="2304257"/>
              <a:chExt cx="4863683" cy="842433"/>
            </a:xfrm>
          </p:grpSpPr>
          <p:cxnSp>
            <p:nvCxnSpPr>
              <p:cNvPr id="68" name="Straight Arrow Connector 67">
                <a:extLst>
                  <a:ext uri="{FF2B5EF4-FFF2-40B4-BE49-F238E27FC236}">
                    <a16:creationId xmlns="" xmlns:a16="http://schemas.microsoft.com/office/drawing/2014/main" id="{7D659041-649F-4D29-85D5-F22DB2D1156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31358" y="2765246"/>
                <a:ext cx="556591" cy="1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72" name="Group 28">
                <a:extLst>
                  <a:ext uri="{FF2B5EF4-FFF2-40B4-BE49-F238E27FC236}">
                    <a16:creationId xmlns="" xmlns:a16="http://schemas.microsoft.com/office/drawing/2014/main" id="{21BDFBF6-3737-498B-B845-A23145FE5D0C}"/>
                  </a:ext>
                </a:extLst>
              </p:cNvPr>
              <p:cNvGrpSpPr/>
              <p:nvPr/>
            </p:nvGrpSpPr>
            <p:grpSpPr>
              <a:xfrm>
                <a:off x="7233544" y="2344599"/>
                <a:ext cx="839021" cy="802091"/>
                <a:chOff x="10458837" y="1785088"/>
                <a:chExt cx="839021" cy="802091"/>
              </a:xfrm>
            </p:grpSpPr>
            <p:sp>
              <p:nvSpPr>
                <p:cNvPr id="85" name="Oval 84">
                  <a:extLst>
                    <a:ext uri="{FF2B5EF4-FFF2-40B4-BE49-F238E27FC236}">
                      <a16:creationId xmlns="" xmlns:a16="http://schemas.microsoft.com/office/drawing/2014/main" id="{AEC12217-3F4B-40DA-9B86-78D6E8BF993D}"/>
                    </a:ext>
                  </a:extLst>
                </p:cNvPr>
                <p:cNvSpPr/>
                <p:nvPr/>
              </p:nvSpPr>
              <p:spPr>
                <a:xfrm>
                  <a:off x="10458837" y="1785088"/>
                  <a:ext cx="839021" cy="802091"/>
                </a:xfrm>
                <a:prstGeom prst="ellips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86" name="Oval 85">
                  <a:extLst>
                    <a:ext uri="{FF2B5EF4-FFF2-40B4-BE49-F238E27FC236}">
                      <a16:creationId xmlns="" xmlns:a16="http://schemas.microsoft.com/office/drawing/2014/main" id="{C4C249AF-D7E6-419B-988D-D41D419ADA3D}"/>
                    </a:ext>
                  </a:extLst>
                </p:cNvPr>
                <p:cNvSpPr/>
                <p:nvPr/>
              </p:nvSpPr>
              <p:spPr>
                <a:xfrm>
                  <a:off x="10544977" y="1877513"/>
                  <a:ext cx="681980" cy="628192"/>
                </a:xfrm>
                <a:prstGeom prst="ellips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x1</a:t>
                  </a:r>
                </a:p>
              </p:txBody>
            </p:sp>
          </p:grpSp>
          <p:grpSp>
            <p:nvGrpSpPr>
              <p:cNvPr id="73" name="Group 31">
                <a:extLst>
                  <a:ext uri="{FF2B5EF4-FFF2-40B4-BE49-F238E27FC236}">
                    <a16:creationId xmlns="" xmlns:a16="http://schemas.microsoft.com/office/drawing/2014/main" id="{902C3A67-4AB9-4662-8F1C-815FBE9E5772}"/>
                  </a:ext>
                </a:extLst>
              </p:cNvPr>
              <p:cNvGrpSpPr/>
              <p:nvPr/>
            </p:nvGrpSpPr>
            <p:grpSpPr>
              <a:xfrm>
                <a:off x="8956020" y="2304257"/>
                <a:ext cx="839021" cy="802091"/>
                <a:chOff x="10512625" y="1744747"/>
                <a:chExt cx="839021" cy="802091"/>
              </a:xfrm>
            </p:grpSpPr>
            <p:sp>
              <p:nvSpPr>
                <p:cNvPr id="83" name="Oval 82">
                  <a:extLst>
                    <a:ext uri="{FF2B5EF4-FFF2-40B4-BE49-F238E27FC236}">
                      <a16:creationId xmlns="" xmlns:a16="http://schemas.microsoft.com/office/drawing/2014/main" id="{654C964B-B210-4402-9FC6-3A475B2507F0}"/>
                    </a:ext>
                  </a:extLst>
                </p:cNvPr>
                <p:cNvSpPr/>
                <p:nvPr/>
              </p:nvSpPr>
              <p:spPr>
                <a:xfrm>
                  <a:off x="10512625" y="1744747"/>
                  <a:ext cx="839021" cy="802091"/>
                </a:xfrm>
                <a:prstGeom prst="ellips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84" name="Oval 83">
                  <a:extLst>
                    <a:ext uri="{FF2B5EF4-FFF2-40B4-BE49-F238E27FC236}">
                      <a16:creationId xmlns="" xmlns:a16="http://schemas.microsoft.com/office/drawing/2014/main" id="{690B9038-E591-48DB-8D9E-BEA65AE2CA8E}"/>
                    </a:ext>
                  </a:extLst>
                </p:cNvPr>
                <p:cNvSpPr/>
                <p:nvPr/>
              </p:nvSpPr>
              <p:spPr>
                <a:xfrm>
                  <a:off x="10585318" y="1837172"/>
                  <a:ext cx="681980" cy="628192"/>
                </a:xfrm>
                <a:prstGeom prst="ellips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x2</a:t>
                  </a:r>
                </a:p>
              </p:txBody>
            </p:sp>
          </p:grpSp>
          <p:grpSp>
            <p:nvGrpSpPr>
              <p:cNvPr id="74" name="Group 34">
                <a:extLst>
                  <a:ext uri="{FF2B5EF4-FFF2-40B4-BE49-F238E27FC236}">
                    <a16:creationId xmlns="" xmlns:a16="http://schemas.microsoft.com/office/drawing/2014/main" id="{1759F2FC-6A06-4B49-BB1C-A4B869BB7D7F}"/>
                  </a:ext>
                </a:extLst>
              </p:cNvPr>
              <p:cNvGrpSpPr/>
              <p:nvPr/>
            </p:nvGrpSpPr>
            <p:grpSpPr>
              <a:xfrm>
                <a:off x="6382024" y="2420374"/>
                <a:ext cx="839021" cy="369332"/>
                <a:chOff x="7435657" y="3287208"/>
                <a:chExt cx="1162516" cy="369332"/>
              </a:xfrm>
            </p:grpSpPr>
            <p:cxnSp>
              <p:nvCxnSpPr>
                <p:cNvPr id="81" name="Straight Arrow Connector 80">
                  <a:extLst>
                    <a:ext uri="{FF2B5EF4-FFF2-40B4-BE49-F238E27FC236}">
                      <a16:creationId xmlns="" xmlns:a16="http://schemas.microsoft.com/office/drawing/2014/main" id="{A1F69A51-BF29-4F8B-829E-CE0E65915941}"/>
                    </a:ext>
                  </a:extLst>
                </p:cNvPr>
                <p:cNvCxnSpPr/>
                <p:nvPr/>
              </p:nvCxnSpPr>
              <p:spPr>
                <a:xfrm>
                  <a:off x="7435657" y="3623630"/>
                  <a:ext cx="1162516" cy="0"/>
                </a:xfrm>
                <a:prstGeom prst="straightConnector1">
                  <a:avLst/>
                </a:prstGeom>
                <a:ln w="38100">
                  <a:solidFill>
                    <a:schemeClr val="bg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82" name="TextBox 81">
                  <a:extLst>
                    <a:ext uri="{FF2B5EF4-FFF2-40B4-BE49-F238E27FC236}">
                      <a16:creationId xmlns="" xmlns:a16="http://schemas.microsoft.com/office/drawing/2014/main" id="{DA8C129A-F994-4515-8930-855F02A7AD28}"/>
                    </a:ext>
                  </a:extLst>
                </p:cNvPr>
                <p:cNvSpPr txBox="1"/>
                <p:nvPr/>
              </p:nvSpPr>
              <p:spPr>
                <a:xfrm>
                  <a:off x="7554876" y="3287208"/>
                  <a:ext cx="93196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a/b</a:t>
                  </a:r>
                </a:p>
              </p:txBody>
            </p:sp>
          </p:grpSp>
          <p:grpSp>
            <p:nvGrpSpPr>
              <p:cNvPr id="75" name="Group 37">
                <a:extLst>
                  <a:ext uri="{FF2B5EF4-FFF2-40B4-BE49-F238E27FC236}">
                    <a16:creationId xmlns="" xmlns:a16="http://schemas.microsoft.com/office/drawing/2014/main" id="{5F8E4A51-BBB0-4F22-9F33-52AFB1CF1B77}"/>
                  </a:ext>
                </a:extLst>
              </p:cNvPr>
              <p:cNvGrpSpPr/>
              <p:nvPr/>
            </p:nvGrpSpPr>
            <p:grpSpPr>
              <a:xfrm>
                <a:off x="8104100" y="2362885"/>
                <a:ext cx="839021" cy="376763"/>
                <a:chOff x="7491553" y="3260314"/>
                <a:chExt cx="1162516" cy="376763"/>
              </a:xfrm>
            </p:grpSpPr>
            <p:cxnSp>
              <p:nvCxnSpPr>
                <p:cNvPr id="79" name="Straight Arrow Connector 78">
                  <a:extLst>
                    <a:ext uri="{FF2B5EF4-FFF2-40B4-BE49-F238E27FC236}">
                      <a16:creationId xmlns="" xmlns:a16="http://schemas.microsoft.com/office/drawing/2014/main" id="{1863340D-83A7-454C-8884-67F4279D6ACF}"/>
                    </a:ext>
                  </a:extLst>
                </p:cNvPr>
                <p:cNvCxnSpPr/>
                <p:nvPr/>
              </p:nvCxnSpPr>
              <p:spPr>
                <a:xfrm>
                  <a:off x="7491553" y="3637077"/>
                  <a:ext cx="1162516" cy="0"/>
                </a:xfrm>
                <a:prstGeom prst="straightConnector1">
                  <a:avLst/>
                </a:prstGeom>
                <a:ln w="38100">
                  <a:solidFill>
                    <a:schemeClr val="bg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80" name="TextBox 79">
                  <a:extLst>
                    <a:ext uri="{FF2B5EF4-FFF2-40B4-BE49-F238E27FC236}">
                      <a16:creationId xmlns="" xmlns:a16="http://schemas.microsoft.com/office/drawing/2014/main" id="{3BED651A-1442-41C3-A692-6EF76089924F}"/>
                    </a:ext>
                  </a:extLst>
                </p:cNvPr>
                <p:cNvSpPr txBox="1"/>
                <p:nvPr/>
              </p:nvSpPr>
              <p:spPr>
                <a:xfrm>
                  <a:off x="7554876" y="3260314"/>
                  <a:ext cx="93196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a/b</a:t>
                  </a:r>
                </a:p>
              </p:txBody>
            </p:sp>
          </p:grpSp>
          <p:grpSp>
            <p:nvGrpSpPr>
              <p:cNvPr id="76" name="Group 40">
                <a:extLst>
                  <a:ext uri="{FF2B5EF4-FFF2-40B4-BE49-F238E27FC236}">
                    <a16:creationId xmlns="" xmlns:a16="http://schemas.microsoft.com/office/drawing/2014/main" id="{7F496128-87E5-4061-9F8E-A4E9AC2C8A2F}"/>
                  </a:ext>
                </a:extLst>
              </p:cNvPr>
              <p:cNvGrpSpPr/>
              <p:nvPr/>
            </p:nvGrpSpPr>
            <p:grpSpPr>
              <a:xfrm>
                <a:off x="5520876" y="2338470"/>
                <a:ext cx="839021" cy="802091"/>
                <a:chOff x="10512625" y="1744747"/>
                <a:chExt cx="839021" cy="802091"/>
              </a:xfrm>
            </p:grpSpPr>
            <p:sp>
              <p:nvSpPr>
                <p:cNvPr id="77" name="Oval 76">
                  <a:extLst>
                    <a:ext uri="{FF2B5EF4-FFF2-40B4-BE49-F238E27FC236}">
                      <a16:creationId xmlns="" xmlns:a16="http://schemas.microsoft.com/office/drawing/2014/main" id="{9B6BE869-6D99-48F8-817C-D903F081BEFB}"/>
                    </a:ext>
                  </a:extLst>
                </p:cNvPr>
                <p:cNvSpPr/>
                <p:nvPr/>
              </p:nvSpPr>
              <p:spPr>
                <a:xfrm>
                  <a:off x="10512625" y="1744747"/>
                  <a:ext cx="839021" cy="802091"/>
                </a:xfrm>
                <a:prstGeom prst="ellips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78" name="Oval 77">
                  <a:extLst>
                    <a:ext uri="{FF2B5EF4-FFF2-40B4-BE49-F238E27FC236}">
                      <a16:creationId xmlns="" xmlns:a16="http://schemas.microsoft.com/office/drawing/2014/main" id="{4789EE9C-F7E5-4DFE-969D-8DDD4AF4B4A9}"/>
                    </a:ext>
                  </a:extLst>
                </p:cNvPr>
                <p:cNvSpPr/>
                <p:nvPr/>
              </p:nvSpPr>
              <p:spPr>
                <a:xfrm>
                  <a:off x="10585318" y="1837172"/>
                  <a:ext cx="681980" cy="628192"/>
                </a:xfrm>
                <a:prstGeom prst="ellips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x0</a:t>
                  </a:r>
                </a:p>
              </p:txBody>
            </p:sp>
          </p:grpSp>
        </p:grpSp>
        <p:grpSp>
          <p:nvGrpSpPr>
            <p:cNvPr id="63" name="Group 50">
              <a:extLst>
                <a:ext uri="{FF2B5EF4-FFF2-40B4-BE49-F238E27FC236}">
                  <a16:creationId xmlns="" xmlns:a16="http://schemas.microsoft.com/office/drawing/2014/main" id="{E9E08B4D-2B9C-47B2-8A98-9A4E2B6C7C67}"/>
                </a:ext>
              </a:extLst>
            </p:cNvPr>
            <p:cNvGrpSpPr/>
            <p:nvPr/>
          </p:nvGrpSpPr>
          <p:grpSpPr>
            <a:xfrm>
              <a:off x="1098675" y="1861183"/>
              <a:ext cx="591867" cy="905805"/>
              <a:chOff x="6924745" y="2274367"/>
              <a:chExt cx="591867" cy="936326"/>
            </a:xfrm>
          </p:grpSpPr>
          <p:sp>
            <p:nvSpPr>
              <p:cNvPr id="65" name="Arrow: Up 51">
                <a:extLst>
                  <a:ext uri="{FF2B5EF4-FFF2-40B4-BE49-F238E27FC236}">
                    <a16:creationId xmlns="" xmlns:a16="http://schemas.microsoft.com/office/drawing/2014/main" id="{69058EAB-3E8A-411D-871F-F97C100E736A}"/>
                  </a:ext>
                </a:extLst>
              </p:cNvPr>
              <p:cNvSpPr/>
              <p:nvPr/>
            </p:nvSpPr>
            <p:spPr>
              <a:xfrm rot="10800000">
                <a:off x="7044865" y="2571551"/>
                <a:ext cx="191070" cy="639142"/>
              </a:xfrm>
              <a:prstGeom prst="upArrow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="" xmlns:a16="http://schemas.microsoft.com/office/drawing/2014/main" id="{A951844F-C2C6-4DDF-9F21-04565B7BEEA9}"/>
                  </a:ext>
                </a:extLst>
              </p:cNvPr>
              <p:cNvSpPr txBox="1"/>
              <p:nvPr/>
            </p:nvSpPr>
            <p:spPr>
              <a:xfrm>
                <a:off x="6924745" y="2274367"/>
                <a:ext cx="59186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solidFill>
                      <a:schemeClr val="accent3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CS</a:t>
                </a:r>
              </a:p>
            </p:txBody>
          </p:sp>
        </p:grpSp>
      </p:grpSp>
      <p:grpSp>
        <p:nvGrpSpPr>
          <p:cNvPr id="88" name="Group 87"/>
          <p:cNvGrpSpPr/>
          <p:nvPr/>
        </p:nvGrpSpPr>
        <p:grpSpPr>
          <a:xfrm>
            <a:off x="308865" y="1869975"/>
            <a:ext cx="4863683" cy="1787494"/>
            <a:chOff x="317657" y="1861183"/>
            <a:chExt cx="4863683" cy="1787494"/>
          </a:xfrm>
        </p:grpSpPr>
        <p:cxnSp>
          <p:nvCxnSpPr>
            <p:cNvPr id="28" name="Straight Arrow Connector 27">
              <a:extLst>
                <a:ext uri="{FF2B5EF4-FFF2-40B4-BE49-F238E27FC236}">
                  <a16:creationId xmlns="" xmlns:a16="http://schemas.microsoft.com/office/drawing/2014/main" id="{7D659041-649F-4D29-85D5-F22DB2D1156C}"/>
                </a:ext>
              </a:extLst>
            </p:cNvPr>
            <p:cNvCxnSpPr>
              <a:cxnSpLocks/>
            </p:cNvCxnSpPr>
            <p:nvPr/>
          </p:nvCxnSpPr>
          <p:spPr>
            <a:xfrm>
              <a:off x="317657" y="3267233"/>
              <a:ext cx="556591" cy="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" name="Group 28">
              <a:extLst>
                <a:ext uri="{FF2B5EF4-FFF2-40B4-BE49-F238E27FC236}">
                  <a16:creationId xmlns="" xmlns:a16="http://schemas.microsoft.com/office/drawing/2014/main" id="{21BDFBF6-3737-498B-B845-A23145FE5D0C}"/>
                </a:ext>
              </a:extLst>
            </p:cNvPr>
            <p:cNvGrpSpPr/>
            <p:nvPr/>
          </p:nvGrpSpPr>
          <p:grpSpPr>
            <a:xfrm>
              <a:off x="2619843" y="2846586"/>
              <a:ext cx="839021" cy="802091"/>
              <a:chOff x="10458837" y="1785088"/>
              <a:chExt cx="839021" cy="802091"/>
            </a:xfrm>
          </p:grpSpPr>
          <p:sp>
            <p:nvSpPr>
              <p:cNvPr id="30" name="Oval 29">
                <a:extLst>
                  <a:ext uri="{FF2B5EF4-FFF2-40B4-BE49-F238E27FC236}">
                    <a16:creationId xmlns="" xmlns:a16="http://schemas.microsoft.com/office/drawing/2014/main" id="{AEC12217-3F4B-40DA-9B86-78D6E8BF993D}"/>
                  </a:ext>
                </a:extLst>
              </p:cNvPr>
              <p:cNvSpPr/>
              <p:nvPr/>
            </p:nvSpPr>
            <p:spPr>
              <a:xfrm>
                <a:off x="10458837" y="1785088"/>
                <a:ext cx="839021" cy="802091"/>
              </a:xfrm>
              <a:prstGeom prst="ellips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="" xmlns:a16="http://schemas.microsoft.com/office/drawing/2014/main" id="{C4C249AF-D7E6-419B-988D-D41D419ADA3D}"/>
                  </a:ext>
                </a:extLst>
              </p:cNvPr>
              <p:cNvSpPr/>
              <p:nvPr/>
            </p:nvSpPr>
            <p:spPr>
              <a:xfrm>
                <a:off x="10544977" y="1877513"/>
                <a:ext cx="681980" cy="628192"/>
              </a:xfrm>
              <a:prstGeom prst="ellips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x1</a:t>
                </a:r>
              </a:p>
            </p:txBody>
          </p:sp>
        </p:grpSp>
        <p:grpSp>
          <p:nvGrpSpPr>
            <p:cNvPr id="5" name="Group 31">
              <a:extLst>
                <a:ext uri="{FF2B5EF4-FFF2-40B4-BE49-F238E27FC236}">
                  <a16:creationId xmlns="" xmlns:a16="http://schemas.microsoft.com/office/drawing/2014/main" id="{902C3A67-4AB9-4662-8F1C-815FBE9E5772}"/>
                </a:ext>
              </a:extLst>
            </p:cNvPr>
            <p:cNvGrpSpPr/>
            <p:nvPr/>
          </p:nvGrpSpPr>
          <p:grpSpPr>
            <a:xfrm>
              <a:off x="4342319" y="2806244"/>
              <a:ext cx="839021" cy="802091"/>
              <a:chOff x="10512625" y="1744747"/>
              <a:chExt cx="839021" cy="802091"/>
            </a:xfrm>
          </p:grpSpPr>
          <p:sp>
            <p:nvSpPr>
              <p:cNvPr id="33" name="Oval 32">
                <a:extLst>
                  <a:ext uri="{FF2B5EF4-FFF2-40B4-BE49-F238E27FC236}">
                    <a16:creationId xmlns="" xmlns:a16="http://schemas.microsoft.com/office/drawing/2014/main" id="{654C964B-B210-4402-9FC6-3A475B2507F0}"/>
                  </a:ext>
                </a:extLst>
              </p:cNvPr>
              <p:cNvSpPr/>
              <p:nvPr/>
            </p:nvSpPr>
            <p:spPr>
              <a:xfrm>
                <a:off x="10512625" y="1744747"/>
                <a:ext cx="839021" cy="802091"/>
              </a:xfrm>
              <a:prstGeom prst="ellips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4" name="Oval 33">
                <a:extLst>
                  <a:ext uri="{FF2B5EF4-FFF2-40B4-BE49-F238E27FC236}">
                    <a16:creationId xmlns="" xmlns:a16="http://schemas.microsoft.com/office/drawing/2014/main" id="{690B9038-E591-48DB-8D9E-BEA65AE2CA8E}"/>
                  </a:ext>
                </a:extLst>
              </p:cNvPr>
              <p:cNvSpPr/>
              <p:nvPr/>
            </p:nvSpPr>
            <p:spPr>
              <a:xfrm>
                <a:off x="10585318" y="1837172"/>
                <a:ext cx="681980" cy="628192"/>
              </a:xfrm>
              <a:prstGeom prst="ellips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x2</a:t>
                </a:r>
              </a:p>
            </p:txBody>
          </p:sp>
        </p:grpSp>
        <p:grpSp>
          <p:nvGrpSpPr>
            <p:cNvPr id="7" name="Group 34">
              <a:extLst>
                <a:ext uri="{FF2B5EF4-FFF2-40B4-BE49-F238E27FC236}">
                  <a16:creationId xmlns="" xmlns:a16="http://schemas.microsoft.com/office/drawing/2014/main" id="{1759F2FC-6A06-4B49-BB1C-A4B869BB7D7F}"/>
                </a:ext>
              </a:extLst>
            </p:cNvPr>
            <p:cNvGrpSpPr/>
            <p:nvPr/>
          </p:nvGrpSpPr>
          <p:grpSpPr>
            <a:xfrm>
              <a:off x="1768323" y="2922361"/>
              <a:ext cx="839021" cy="369332"/>
              <a:chOff x="7435657" y="3287208"/>
              <a:chExt cx="1162516" cy="369332"/>
            </a:xfrm>
          </p:grpSpPr>
          <p:cxnSp>
            <p:nvCxnSpPr>
              <p:cNvPr id="36" name="Straight Arrow Connector 35">
                <a:extLst>
                  <a:ext uri="{FF2B5EF4-FFF2-40B4-BE49-F238E27FC236}">
                    <a16:creationId xmlns="" xmlns:a16="http://schemas.microsoft.com/office/drawing/2014/main" id="{A1F69A51-BF29-4F8B-829E-CE0E65915941}"/>
                  </a:ext>
                </a:extLst>
              </p:cNvPr>
              <p:cNvCxnSpPr/>
              <p:nvPr/>
            </p:nvCxnSpPr>
            <p:spPr>
              <a:xfrm>
                <a:off x="7435657" y="3623630"/>
                <a:ext cx="1162516" cy="0"/>
              </a:xfrm>
              <a:prstGeom prst="straightConnector1">
                <a:avLst/>
              </a:prstGeom>
              <a:ln w="38100">
                <a:solidFill>
                  <a:schemeClr val="bg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7" name="TextBox 36">
                <a:extLst>
                  <a:ext uri="{FF2B5EF4-FFF2-40B4-BE49-F238E27FC236}">
                    <a16:creationId xmlns="" xmlns:a16="http://schemas.microsoft.com/office/drawing/2014/main" id="{DA8C129A-F994-4515-8930-855F02A7AD28}"/>
                  </a:ext>
                </a:extLst>
              </p:cNvPr>
              <p:cNvSpPr txBox="1"/>
              <p:nvPr/>
            </p:nvSpPr>
            <p:spPr>
              <a:xfrm>
                <a:off x="7554876" y="3287208"/>
                <a:ext cx="93196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a/b</a:t>
                </a:r>
              </a:p>
            </p:txBody>
          </p:sp>
        </p:grpSp>
        <p:grpSp>
          <p:nvGrpSpPr>
            <p:cNvPr id="8" name="Group 37">
              <a:extLst>
                <a:ext uri="{FF2B5EF4-FFF2-40B4-BE49-F238E27FC236}">
                  <a16:creationId xmlns="" xmlns:a16="http://schemas.microsoft.com/office/drawing/2014/main" id="{5F8E4A51-BBB0-4F22-9F33-52AFB1CF1B77}"/>
                </a:ext>
              </a:extLst>
            </p:cNvPr>
            <p:cNvGrpSpPr/>
            <p:nvPr/>
          </p:nvGrpSpPr>
          <p:grpSpPr>
            <a:xfrm>
              <a:off x="3490399" y="2864872"/>
              <a:ext cx="839021" cy="376763"/>
              <a:chOff x="7491553" y="3260314"/>
              <a:chExt cx="1162516" cy="376763"/>
            </a:xfrm>
          </p:grpSpPr>
          <p:cxnSp>
            <p:nvCxnSpPr>
              <p:cNvPr id="39" name="Straight Arrow Connector 38">
                <a:extLst>
                  <a:ext uri="{FF2B5EF4-FFF2-40B4-BE49-F238E27FC236}">
                    <a16:creationId xmlns="" xmlns:a16="http://schemas.microsoft.com/office/drawing/2014/main" id="{1863340D-83A7-454C-8884-67F4279D6ACF}"/>
                  </a:ext>
                </a:extLst>
              </p:cNvPr>
              <p:cNvCxnSpPr/>
              <p:nvPr/>
            </p:nvCxnSpPr>
            <p:spPr>
              <a:xfrm>
                <a:off x="7491553" y="3637077"/>
                <a:ext cx="1162516" cy="0"/>
              </a:xfrm>
              <a:prstGeom prst="straightConnector1">
                <a:avLst/>
              </a:prstGeom>
              <a:ln w="38100">
                <a:solidFill>
                  <a:schemeClr val="bg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0" name="TextBox 39">
                <a:extLst>
                  <a:ext uri="{FF2B5EF4-FFF2-40B4-BE49-F238E27FC236}">
                    <a16:creationId xmlns="" xmlns:a16="http://schemas.microsoft.com/office/drawing/2014/main" id="{3BED651A-1442-41C3-A692-6EF76089924F}"/>
                  </a:ext>
                </a:extLst>
              </p:cNvPr>
              <p:cNvSpPr txBox="1"/>
              <p:nvPr/>
            </p:nvSpPr>
            <p:spPr>
              <a:xfrm>
                <a:off x="7554876" y="3260314"/>
                <a:ext cx="93196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a/b</a:t>
                </a:r>
              </a:p>
            </p:txBody>
          </p:sp>
        </p:grpSp>
        <p:grpSp>
          <p:nvGrpSpPr>
            <p:cNvPr id="10" name="Group 50">
              <a:extLst>
                <a:ext uri="{FF2B5EF4-FFF2-40B4-BE49-F238E27FC236}">
                  <a16:creationId xmlns="" xmlns:a16="http://schemas.microsoft.com/office/drawing/2014/main" id="{E9E08B4D-2B9C-47B2-8A98-9A4E2B6C7C67}"/>
                </a:ext>
              </a:extLst>
            </p:cNvPr>
            <p:cNvGrpSpPr/>
            <p:nvPr/>
          </p:nvGrpSpPr>
          <p:grpSpPr>
            <a:xfrm>
              <a:off x="1098675" y="1861183"/>
              <a:ext cx="591867" cy="905805"/>
              <a:chOff x="6924745" y="2274367"/>
              <a:chExt cx="591867" cy="936326"/>
            </a:xfrm>
          </p:grpSpPr>
          <p:sp>
            <p:nvSpPr>
              <p:cNvPr id="52" name="Arrow: Up 51">
                <a:extLst>
                  <a:ext uri="{FF2B5EF4-FFF2-40B4-BE49-F238E27FC236}">
                    <a16:creationId xmlns="" xmlns:a16="http://schemas.microsoft.com/office/drawing/2014/main" id="{69058EAB-3E8A-411D-871F-F97C100E736A}"/>
                  </a:ext>
                </a:extLst>
              </p:cNvPr>
              <p:cNvSpPr/>
              <p:nvPr/>
            </p:nvSpPr>
            <p:spPr>
              <a:xfrm rot="10800000">
                <a:off x="7044865" y="2571551"/>
                <a:ext cx="191070" cy="639142"/>
              </a:xfrm>
              <a:prstGeom prst="upArrow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="" xmlns:a16="http://schemas.microsoft.com/office/drawing/2014/main" id="{A951844F-C2C6-4DDF-9F21-04565B7BEEA9}"/>
                  </a:ext>
                </a:extLst>
              </p:cNvPr>
              <p:cNvSpPr txBox="1"/>
              <p:nvPr/>
            </p:nvSpPr>
            <p:spPr>
              <a:xfrm>
                <a:off x="6924745" y="2274367"/>
                <a:ext cx="59186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solidFill>
                      <a:schemeClr val="accent3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CS</a:t>
                </a:r>
              </a:p>
            </p:txBody>
          </p:sp>
        </p:grpSp>
        <p:sp>
          <p:nvSpPr>
            <p:cNvPr id="87" name="Oval 86">
              <a:extLst>
                <a:ext uri="{FF2B5EF4-FFF2-40B4-BE49-F238E27FC236}">
                  <a16:creationId xmlns="" xmlns:a16="http://schemas.microsoft.com/office/drawing/2014/main" id="{2F8AC0DC-CB2C-41F4-86A0-1B2179B98F03}"/>
                </a:ext>
              </a:extLst>
            </p:cNvPr>
            <p:cNvSpPr/>
            <p:nvPr/>
          </p:nvSpPr>
          <p:spPr>
            <a:xfrm>
              <a:off x="967734" y="2938524"/>
              <a:ext cx="665125" cy="546476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92483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149AD530-6C2A-44EA-A853-BAC2857EF1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904" y="858413"/>
            <a:ext cx="4565143" cy="5580529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Empty string transitions are not seen in DFA.</a:t>
            </a:r>
          </a:p>
          <a:p>
            <a:pPr marL="457200" indent="-457200">
              <a:buFont typeface="+mj-lt"/>
              <a:buAutoNum type="arabicPeriod" startAt="2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E7E875E4-C02C-44AD-9251-3D0D7CDF2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26D1DE06-0720-4572-BF37-034426FE1CD7}"/>
              </a:ext>
            </a:extLst>
          </p:cNvPr>
          <p:cNvSpPr txBox="1"/>
          <p:nvPr/>
        </p:nvSpPr>
        <p:spPr>
          <a:xfrm>
            <a:off x="1529669" y="33241"/>
            <a:ext cx="1600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DFA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="" xmlns:a16="http://schemas.microsoft.com/office/drawing/2014/main" id="{7D659041-649F-4D29-85D5-F22DB2D1156C}"/>
              </a:ext>
            </a:extLst>
          </p:cNvPr>
          <p:cNvCxnSpPr>
            <a:cxnSpLocks/>
          </p:cNvCxnSpPr>
          <p:nvPr/>
        </p:nvCxnSpPr>
        <p:spPr>
          <a:xfrm>
            <a:off x="317657" y="3267233"/>
            <a:ext cx="556591" cy="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28">
            <a:extLst>
              <a:ext uri="{FF2B5EF4-FFF2-40B4-BE49-F238E27FC236}">
                <a16:creationId xmlns="" xmlns:a16="http://schemas.microsoft.com/office/drawing/2014/main" id="{21BDFBF6-3737-498B-B845-A23145FE5D0C}"/>
              </a:ext>
            </a:extLst>
          </p:cNvPr>
          <p:cNvGrpSpPr/>
          <p:nvPr/>
        </p:nvGrpSpPr>
        <p:grpSpPr>
          <a:xfrm>
            <a:off x="2619843" y="2846586"/>
            <a:ext cx="839021" cy="802091"/>
            <a:chOff x="10458837" y="1785088"/>
            <a:chExt cx="839021" cy="802091"/>
          </a:xfrm>
        </p:grpSpPr>
        <p:sp>
          <p:nvSpPr>
            <p:cNvPr id="30" name="Oval 29">
              <a:extLst>
                <a:ext uri="{FF2B5EF4-FFF2-40B4-BE49-F238E27FC236}">
                  <a16:creationId xmlns="" xmlns:a16="http://schemas.microsoft.com/office/drawing/2014/main" id="{AEC12217-3F4B-40DA-9B86-78D6E8BF993D}"/>
                </a:ext>
              </a:extLst>
            </p:cNvPr>
            <p:cNvSpPr/>
            <p:nvPr/>
          </p:nvSpPr>
          <p:spPr>
            <a:xfrm>
              <a:off x="10458837" y="1785088"/>
              <a:ext cx="839021" cy="802091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" name="Oval 30">
              <a:extLst>
                <a:ext uri="{FF2B5EF4-FFF2-40B4-BE49-F238E27FC236}">
                  <a16:creationId xmlns="" xmlns:a16="http://schemas.microsoft.com/office/drawing/2014/main" id="{C4C249AF-D7E6-419B-988D-D41D419ADA3D}"/>
                </a:ext>
              </a:extLst>
            </p:cNvPr>
            <p:cNvSpPr/>
            <p:nvPr/>
          </p:nvSpPr>
          <p:spPr>
            <a:xfrm>
              <a:off x="10544977" y="1877513"/>
              <a:ext cx="681980" cy="62819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x1</a:t>
              </a:r>
            </a:p>
          </p:txBody>
        </p:sp>
      </p:grpSp>
      <p:grpSp>
        <p:nvGrpSpPr>
          <p:cNvPr id="5" name="Group 31">
            <a:extLst>
              <a:ext uri="{FF2B5EF4-FFF2-40B4-BE49-F238E27FC236}">
                <a16:creationId xmlns="" xmlns:a16="http://schemas.microsoft.com/office/drawing/2014/main" id="{902C3A67-4AB9-4662-8F1C-815FBE9E5772}"/>
              </a:ext>
            </a:extLst>
          </p:cNvPr>
          <p:cNvGrpSpPr/>
          <p:nvPr/>
        </p:nvGrpSpPr>
        <p:grpSpPr>
          <a:xfrm>
            <a:off x="4342319" y="2806244"/>
            <a:ext cx="839021" cy="802091"/>
            <a:chOff x="10512625" y="1744747"/>
            <a:chExt cx="839021" cy="802091"/>
          </a:xfrm>
        </p:grpSpPr>
        <p:sp>
          <p:nvSpPr>
            <p:cNvPr id="33" name="Oval 32">
              <a:extLst>
                <a:ext uri="{FF2B5EF4-FFF2-40B4-BE49-F238E27FC236}">
                  <a16:creationId xmlns="" xmlns:a16="http://schemas.microsoft.com/office/drawing/2014/main" id="{654C964B-B210-4402-9FC6-3A475B2507F0}"/>
                </a:ext>
              </a:extLst>
            </p:cNvPr>
            <p:cNvSpPr/>
            <p:nvPr/>
          </p:nvSpPr>
          <p:spPr>
            <a:xfrm>
              <a:off x="10512625" y="1744747"/>
              <a:ext cx="839021" cy="802091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Oval 33">
              <a:extLst>
                <a:ext uri="{FF2B5EF4-FFF2-40B4-BE49-F238E27FC236}">
                  <a16:creationId xmlns="" xmlns:a16="http://schemas.microsoft.com/office/drawing/2014/main" id="{690B9038-E591-48DB-8D9E-BEA65AE2CA8E}"/>
                </a:ext>
              </a:extLst>
            </p:cNvPr>
            <p:cNvSpPr/>
            <p:nvPr/>
          </p:nvSpPr>
          <p:spPr>
            <a:xfrm>
              <a:off x="10585318" y="1837172"/>
              <a:ext cx="681980" cy="62819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x2</a:t>
              </a:r>
            </a:p>
          </p:txBody>
        </p:sp>
      </p:grpSp>
      <p:grpSp>
        <p:nvGrpSpPr>
          <p:cNvPr id="7" name="Group 34">
            <a:extLst>
              <a:ext uri="{FF2B5EF4-FFF2-40B4-BE49-F238E27FC236}">
                <a16:creationId xmlns="" xmlns:a16="http://schemas.microsoft.com/office/drawing/2014/main" id="{1759F2FC-6A06-4B49-BB1C-A4B869BB7D7F}"/>
              </a:ext>
            </a:extLst>
          </p:cNvPr>
          <p:cNvGrpSpPr/>
          <p:nvPr/>
        </p:nvGrpSpPr>
        <p:grpSpPr>
          <a:xfrm>
            <a:off x="1768323" y="2922361"/>
            <a:ext cx="839021" cy="369332"/>
            <a:chOff x="7435657" y="3287208"/>
            <a:chExt cx="1162516" cy="369332"/>
          </a:xfrm>
        </p:grpSpPr>
        <p:cxnSp>
          <p:nvCxnSpPr>
            <p:cNvPr id="36" name="Straight Arrow Connector 35">
              <a:extLst>
                <a:ext uri="{FF2B5EF4-FFF2-40B4-BE49-F238E27FC236}">
                  <a16:creationId xmlns="" xmlns:a16="http://schemas.microsoft.com/office/drawing/2014/main" id="{A1F69A51-BF29-4F8B-829E-CE0E65915941}"/>
                </a:ext>
              </a:extLst>
            </p:cNvPr>
            <p:cNvCxnSpPr/>
            <p:nvPr/>
          </p:nvCxnSpPr>
          <p:spPr>
            <a:xfrm>
              <a:off x="7435657" y="3623630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>
              <a:extLst>
                <a:ext uri="{FF2B5EF4-FFF2-40B4-BE49-F238E27FC236}">
                  <a16:creationId xmlns="" xmlns:a16="http://schemas.microsoft.com/office/drawing/2014/main" id="{DA8C129A-F994-4515-8930-855F02A7AD28}"/>
                </a:ext>
              </a:extLst>
            </p:cNvPr>
            <p:cNvSpPr txBox="1"/>
            <p:nvPr/>
          </p:nvSpPr>
          <p:spPr>
            <a:xfrm>
              <a:off x="7554876" y="3287208"/>
              <a:ext cx="93196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a/b</a:t>
              </a:r>
            </a:p>
          </p:txBody>
        </p:sp>
      </p:grpSp>
      <p:grpSp>
        <p:nvGrpSpPr>
          <p:cNvPr id="8" name="Group 37">
            <a:extLst>
              <a:ext uri="{FF2B5EF4-FFF2-40B4-BE49-F238E27FC236}">
                <a16:creationId xmlns="" xmlns:a16="http://schemas.microsoft.com/office/drawing/2014/main" id="{5F8E4A51-BBB0-4F22-9F33-52AFB1CF1B77}"/>
              </a:ext>
            </a:extLst>
          </p:cNvPr>
          <p:cNvGrpSpPr/>
          <p:nvPr/>
        </p:nvGrpSpPr>
        <p:grpSpPr>
          <a:xfrm>
            <a:off x="3490399" y="2864872"/>
            <a:ext cx="839021" cy="376763"/>
            <a:chOff x="7491553" y="3260314"/>
            <a:chExt cx="1162516" cy="376763"/>
          </a:xfrm>
        </p:grpSpPr>
        <p:cxnSp>
          <p:nvCxnSpPr>
            <p:cNvPr id="39" name="Straight Arrow Connector 38">
              <a:extLst>
                <a:ext uri="{FF2B5EF4-FFF2-40B4-BE49-F238E27FC236}">
                  <a16:creationId xmlns="" xmlns:a16="http://schemas.microsoft.com/office/drawing/2014/main" id="{1863340D-83A7-454C-8884-67F4279D6ACF}"/>
                </a:ext>
              </a:extLst>
            </p:cNvPr>
            <p:cNvCxnSpPr/>
            <p:nvPr/>
          </p:nvCxnSpPr>
          <p:spPr>
            <a:xfrm>
              <a:off x="7491553" y="3637077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TextBox 39">
              <a:extLst>
                <a:ext uri="{FF2B5EF4-FFF2-40B4-BE49-F238E27FC236}">
                  <a16:creationId xmlns="" xmlns:a16="http://schemas.microsoft.com/office/drawing/2014/main" id="{3BED651A-1442-41C3-A692-6EF76089924F}"/>
                </a:ext>
              </a:extLst>
            </p:cNvPr>
            <p:cNvSpPr txBox="1"/>
            <p:nvPr/>
          </p:nvSpPr>
          <p:spPr>
            <a:xfrm>
              <a:off x="7554876" y="3260314"/>
              <a:ext cx="93196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a/b</a:t>
              </a:r>
            </a:p>
          </p:txBody>
        </p:sp>
      </p:grpSp>
      <p:sp>
        <p:nvSpPr>
          <p:cNvPr id="44" name="Oval 43">
            <a:extLst>
              <a:ext uri="{FF2B5EF4-FFF2-40B4-BE49-F238E27FC236}">
                <a16:creationId xmlns="" xmlns:a16="http://schemas.microsoft.com/office/drawing/2014/main" id="{2F8AC0DC-CB2C-41F4-86A0-1B2179B98F03}"/>
              </a:ext>
            </a:extLst>
          </p:cNvPr>
          <p:cNvSpPr/>
          <p:nvPr/>
        </p:nvSpPr>
        <p:spPr>
          <a:xfrm>
            <a:off x="7488696" y="2610278"/>
            <a:ext cx="665125" cy="546476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x0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="" xmlns:a16="http://schemas.microsoft.com/office/drawing/2014/main" id="{4ED94321-EC8D-47E8-B1C4-A1183E65D1D4}"/>
              </a:ext>
            </a:extLst>
          </p:cNvPr>
          <p:cNvCxnSpPr>
            <a:cxnSpLocks/>
          </p:cNvCxnSpPr>
          <p:nvPr/>
        </p:nvCxnSpPr>
        <p:spPr>
          <a:xfrm>
            <a:off x="6949798" y="2940164"/>
            <a:ext cx="511802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Oval 45">
            <a:extLst>
              <a:ext uri="{FF2B5EF4-FFF2-40B4-BE49-F238E27FC236}">
                <a16:creationId xmlns="" xmlns:a16="http://schemas.microsoft.com/office/drawing/2014/main" id="{5DF5953E-B986-4B7C-B688-CAB63D1C0BF8}"/>
              </a:ext>
            </a:extLst>
          </p:cNvPr>
          <p:cNvSpPr/>
          <p:nvPr/>
        </p:nvSpPr>
        <p:spPr>
          <a:xfrm>
            <a:off x="8907032" y="2572989"/>
            <a:ext cx="665125" cy="546476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x1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="" xmlns:a16="http://schemas.microsoft.com/office/drawing/2014/main" id="{A070CF6C-C892-43CE-97BC-ADEE3BF638CC}"/>
              </a:ext>
            </a:extLst>
          </p:cNvPr>
          <p:cNvCxnSpPr>
            <a:cxnSpLocks/>
          </p:cNvCxnSpPr>
          <p:nvPr/>
        </p:nvCxnSpPr>
        <p:spPr>
          <a:xfrm>
            <a:off x="8186007" y="2900707"/>
            <a:ext cx="680684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="" xmlns:a16="http://schemas.microsoft.com/office/drawing/2014/main" id="{DEDC641C-F775-4A1F-86E8-ECA48D51C1A8}"/>
              </a:ext>
            </a:extLst>
          </p:cNvPr>
          <p:cNvSpPr txBox="1"/>
          <p:nvPr/>
        </p:nvSpPr>
        <p:spPr>
          <a:xfrm>
            <a:off x="6855759" y="0"/>
            <a:ext cx="1600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NDFA</a:t>
            </a:r>
          </a:p>
        </p:txBody>
      </p:sp>
      <p:sp>
        <p:nvSpPr>
          <p:cNvPr id="50" name="Content Placeholder 2">
            <a:extLst>
              <a:ext uri="{FF2B5EF4-FFF2-40B4-BE49-F238E27FC236}">
                <a16:creationId xmlns="" xmlns:a16="http://schemas.microsoft.com/office/drawing/2014/main" id="{4BC9451E-7A47-401A-A903-20E228779627}"/>
              </a:ext>
            </a:extLst>
          </p:cNvPr>
          <p:cNvSpPr txBox="1">
            <a:spLocks/>
          </p:cNvSpPr>
          <p:nvPr/>
        </p:nvSpPr>
        <p:spPr>
          <a:xfrm>
            <a:off x="5537633" y="793270"/>
            <a:ext cx="4565144" cy="91450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457200" indent="-457200">
              <a:buFont typeface="+mj-lt"/>
              <a:buAutoNum type="arabicPeriod" startAt="2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NDFA permits empty string transitions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   Input a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+mj-lt"/>
              <a:buAutoNum type="arabicPeriod" startAt="2"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0" name="Group 50">
            <a:extLst>
              <a:ext uri="{FF2B5EF4-FFF2-40B4-BE49-F238E27FC236}">
                <a16:creationId xmlns="" xmlns:a16="http://schemas.microsoft.com/office/drawing/2014/main" id="{E9E08B4D-2B9C-47B2-8A98-9A4E2B6C7C67}"/>
              </a:ext>
            </a:extLst>
          </p:cNvPr>
          <p:cNvGrpSpPr/>
          <p:nvPr/>
        </p:nvGrpSpPr>
        <p:grpSpPr>
          <a:xfrm>
            <a:off x="1098675" y="1861183"/>
            <a:ext cx="591867" cy="905805"/>
            <a:chOff x="6924745" y="2274367"/>
            <a:chExt cx="591867" cy="936326"/>
          </a:xfrm>
        </p:grpSpPr>
        <p:sp>
          <p:nvSpPr>
            <p:cNvPr id="52" name="Arrow: Up 51">
              <a:extLst>
                <a:ext uri="{FF2B5EF4-FFF2-40B4-BE49-F238E27FC236}">
                  <a16:creationId xmlns="" xmlns:a16="http://schemas.microsoft.com/office/drawing/2014/main" id="{69058EAB-3E8A-411D-871F-F97C100E736A}"/>
                </a:ext>
              </a:extLst>
            </p:cNvPr>
            <p:cNvSpPr/>
            <p:nvPr/>
          </p:nvSpPr>
          <p:spPr>
            <a:xfrm rot="10800000">
              <a:off x="7044865" y="2571551"/>
              <a:ext cx="191070" cy="639142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3" name="TextBox 52">
              <a:extLst>
                <a:ext uri="{FF2B5EF4-FFF2-40B4-BE49-F238E27FC236}">
                  <a16:creationId xmlns="" xmlns:a16="http://schemas.microsoft.com/office/drawing/2014/main" id="{A951844F-C2C6-4DDF-9F21-04565B7BEEA9}"/>
                </a:ext>
              </a:extLst>
            </p:cNvPr>
            <p:cNvSpPr txBox="1"/>
            <p:nvPr/>
          </p:nvSpPr>
          <p:spPr>
            <a:xfrm>
              <a:off x="6924745" y="2274367"/>
              <a:ext cx="5918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</a:t>
              </a:r>
            </a:p>
          </p:txBody>
        </p:sp>
      </p:grpSp>
      <p:grpSp>
        <p:nvGrpSpPr>
          <p:cNvPr id="11" name="Group 53">
            <a:extLst>
              <a:ext uri="{FF2B5EF4-FFF2-40B4-BE49-F238E27FC236}">
                <a16:creationId xmlns="" xmlns:a16="http://schemas.microsoft.com/office/drawing/2014/main" id="{752FEB1C-6360-4556-83B8-27D81FE9D7C1}"/>
              </a:ext>
            </a:extLst>
          </p:cNvPr>
          <p:cNvGrpSpPr/>
          <p:nvPr/>
        </p:nvGrpSpPr>
        <p:grpSpPr>
          <a:xfrm>
            <a:off x="9089597" y="1644938"/>
            <a:ext cx="672626" cy="905805"/>
            <a:chOff x="6924745" y="2274367"/>
            <a:chExt cx="672626" cy="936326"/>
          </a:xfrm>
        </p:grpSpPr>
        <p:sp>
          <p:nvSpPr>
            <p:cNvPr id="55" name="Arrow: Up 54">
              <a:extLst>
                <a:ext uri="{FF2B5EF4-FFF2-40B4-BE49-F238E27FC236}">
                  <a16:creationId xmlns="" xmlns:a16="http://schemas.microsoft.com/office/drawing/2014/main" id="{ADD007C3-9F1D-4C3C-A641-BCF728050686}"/>
                </a:ext>
              </a:extLst>
            </p:cNvPr>
            <p:cNvSpPr/>
            <p:nvPr/>
          </p:nvSpPr>
          <p:spPr>
            <a:xfrm rot="10800000">
              <a:off x="7044865" y="2571551"/>
              <a:ext cx="191070" cy="639142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6" name="TextBox 55">
              <a:extLst>
                <a:ext uri="{FF2B5EF4-FFF2-40B4-BE49-F238E27FC236}">
                  <a16:creationId xmlns="" xmlns:a16="http://schemas.microsoft.com/office/drawing/2014/main" id="{B8B9C6C7-CF78-4063-9769-00A40ED2E376}"/>
                </a:ext>
              </a:extLst>
            </p:cNvPr>
            <p:cNvSpPr txBox="1"/>
            <p:nvPr/>
          </p:nvSpPr>
          <p:spPr>
            <a:xfrm>
              <a:off x="6924745" y="2274367"/>
              <a:ext cx="672626" cy="381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CS-2</a:t>
              </a:r>
            </a:p>
          </p:txBody>
        </p:sp>
      </p:grpSp>
      <p:grpSp>
        <p:nvGrpSpPr>
          <p:cNvPr id="12" name="Group 56">
            <a:extLst>
              <a:ext uri="{FF2B5EF4-FFF2-40B4-BE49-F238E27FC236}">
                <a16:creationId xmlns="" xmlns:a16="http://schemas.microsoft.com/office/drawing/2014/main" id="{4CBB83FE-F277-41E5-8DCB-AE43A9635FE7}"/>
              </a:ext>
            </a:extLst>
          </p:cNvPr>
          <p:cNvGrpSpPr/>
          <p:nvPr/>
        </p:nvGrpSpPr>
        <p:grpSpPr>
          <a:xfrm rot="16711821">
            <a:off x="6659587" y="3808295"/>
            <a:ext cx="369332" cy="1228641"/>
            <a:chOff x="6936747" y="1940653"/>
            <a:chExt cx="369332" cy="1270040"/>
          </a:xfrm>
        </p:grpSpPr>
        <p:sp>
          <p:nvSpPr>
            <p:cNvPr id="58" name="Arrow: Up 57">
              <a:extLst>
                <a:ext uri="{FF2B5EF4-FFF2-40B4-BE49-F238E27FC236}">
                  <a16:creationId xmlns="" xmlns:a16="http://schemas.microsoft.com/office/drawing/2014/main" id="{DF2C82C1-00D3-4BF5-B1F2-C82648F11A84}"/>
                </a:ext>
              </a:extLst>
            </p:cNvPr>
            <p:cNvSpPr/>
            <p:nvPr/>
          </p:nvSpPr>
          <p:spPr>
            <a:xfrm rot="10800000">
              <a:off x="7044865" y="2571551"/>
              <a:ext cx="191070" cy="639142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9" name="TextBox 58">
              <a:extLst>
                <a:ext uri="{FF2B5EF4-FFF2-40B4-BE49-F238E27FC236}">
                  <a16:creationId xmlns="" xmlns:a16="http://schemas.microsoft.com/office/drawing/2014/main" id="{8FC6C410-F17D-4F4F-981D-93E3AA6AF3D4}"/>
                </a:ext>
              </a:extLst>
            </p:cNvPr>
            <p:cNvSpPr txBox="1"/>
            <p:nvPr/>
          </p:nvSpPr>
          <p:spPr>
            <a:xfrm rot="4731226">
              <a:off x="6756342" y="2121058"/>
              <a:ext cx="73014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CS-1</a:t>
              </a:r>
            </a:p>
          </p:txBody>
        </p:sp>
      </p:grpSp>
      <p:sp>
        <p:nvSpPr>
          <p:cNvPr id="60" name="TextBox 59">
            <a:extLst>
              <a:ext uri="{FF2B5EF4-FFF2-40B4-BE49-F238E27FC236}">
                <a16:creationId xmlns="" xmlns:a16="http://schemas.microsoft.com/office/drawing/2014/main" id="{E54307C2-6037-4422-84D8-931A6A150CC8}"/>
              </a:ext>
            </a:extLst>
          </p:cNvPr>
          <p:cNvSpPr txBox="1"/>
          <p:nvPr/>
        </p:nvSpPr>
        <p:spPr>
          <a:xfrm>
            <a:off x="8268296" y="2474600"/>
            <a:ext cx="6185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^</a:t>
            </a:r>
          </a:p>
        </p:txBody>
      </p:sp>
      <p:sp>
        <p:nvSpPr>
          <p:cNvPr id="62" name="Oval 61">
            <a:extLst>
              <a:ext uri="{FF2B5EF4-FFF2-40B4-BE49-F238E27FC236}">
                <a16:creationId xmlns="" xmlns:a16="http://schemas.microsoft.com/office/drawing/2014/main" id="{6F378CE0-9451-48A3-8422-0863CC703327}"/>
              </a:ext>
            </a:extLst>
          </p:cNvPr>
          <p:cNvSpPr/>
          <p:nvPr/>
        </p:nvSpPr>
        <p:spPr>
          <a:xfrm>
            <a:off x="7497038" y="4130932"/>
            <a:ext cx="665125" cy="546476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x2</a:t>
            </a:r>
          </a:p>
        </p:txBody>
      </p:sp>
      <p:sp>
        <p:nvSpPr>
          <p:cNvPr id="64" name="Oval 63">
            <a:extLst>
              <a:ext uri="{FF2B5EF4-FFF2-40B4-BE49-F238E27FC236}">
                <a16:creationId xmlns="" xmlns:a16="http://schemas.microsoft.com/office/drawing/2014/main" id="{A6A33E05-B10B-49E1-892D-603CCBF32AA9}"/>
              </a:ext>
            </a:extLst>
          </p:cNvPr>
          <p:cNvSpPr/>
          <p:nvPr/>
        </p:nvSpPr>
        <p:spPr>
          <a:xfrm>
            <a:off x="8915374" y="4093643"/>
            <a:ext cx="665125" cy="546476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x3</a:t>
            </a: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="" xmlns:a16="http://schemas.microsoft.com/office/drawing/2014/main" id="{FA696AA6-2FC6-4B9C-B44F-4CFC5E85CFA4}"/>
              </a:ext>
            </a:extLst>
          </p:cNvPr>
          <p:cNvCxnSpPr>
            <a:cxnSpLocks/>
            <a:endCxn id="62" idx="0"/>
          </p:cNvCxnSpPr>
          <p:nvPr/>
        </p:nvCxnSpPr>
        <p:spPr>
          <a:xfrm flipH="1">
            <a:off x="7829601" y="3229816"/>
            <a:ext cx="16064" cy="901116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="" xmlns:a16="http://schemas.microsoft.com/office/drawing/2014/main" id="{032430B4-2905-4B36-B797-556BB9A0E834}"/>
              </a:ext>
            </a:extLst>
          </p:cNvPr>
          <p:cNvCxnSpPr>
            <a:cxnSpLocks/>
          </p:cNvCxnSpPr>
          <p:nvPr/>
        </p:nvCxnSpPr>
        <p:spPr>
          <a:xfrm flipH="1">
            <a:off x="9231872" y="3155996"/>
            <a:ext cx="16064" cy="901116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="" xmlns:a16="http://schemas.microsoft.com/office/drawing/2014/main" id="{57DD894C-7D6F-4C21-943F-0C5388BAEF79}"/>
              </a:ext>
            </a:extLst>
          </p:cNvPr>
          <p:cNvSpPr txBox="1"/>
          <p:nvPr/>
        </p:nvSpPr>
        <p:spPr>
          <a:xfrm>
            <a:off x="9247936" y="3399709"/>
            <a:ext cx="3356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</a:t>
            </a:r>
            <a:endParaRPr lang="en-US" dirty="0"/>
          </a:p>
        </p:txBody>
      </p:sp>
      <p:sp>
        <p:nvSpPr>
          <p:cNvPr id="71" name="TextBox 70">
            <a:extLst>
              <a:ext uri="{FF2B5EF4-FFF2-40B4-BE49-F238E27FC236}">
                <a16:creationId xmlns="" xmlns:a16="http://schemas.microsoft.com/office/drawing/2014/main" id="{C1A72D2C-10F8-483A-84FB-7FA933F14E88}"/>
              </a:ext>
            </a:extLst>
          </p:cNvPr>
          <p:cNvSpPr txBox="1"/>
          <p:nvPr/>
        </p:nvSpPr>
        <p:spPr>
          <a:xfrm>
            <a:off x="7225641" y="3413156"/>
            <a:ext cx="6726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a/b</a:t>
            </a:r>
            <a:endParaRPr lang="en-US" dirty="0"/>
          </a:p>
        </p:txBody>
      </p:sp>
      <p:sp>
        <p:nvSpPr>
          <p:cNvPr id="48" name="Oval 47">
            <a:extLst>
              <a:ext uri="{FF2B5EF4-FFF2-40B4-BE49-F238E27FC236}">
                <a16:creationId xmlns="" xmlns:a16="http://schemas.microsoft.com/office/drawing/2014/main" id="{A6A33E05-B10B-49E1-892D-603CCBF32AA9}"/>
              </a:ext>
            </a:extLst>
          </p:cNvPr>
          <p:cNvSpPr/>
          <p:nvPr/>
        </p:nvSpPr>
        <p:spPr>
          <a:xfrm>
            <a:off x="10439374" y="3401981"/>
            <a:ext cx="665125" cy="546476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x4</a:t>
            </a:r>
            <a:endParaRPr lang="en-US" dirty="0"/>
          </a:p>
        </p:txBody>
      </p:sp>
      <p:sp>
        <p:nvSpPr>
          <p:cNvPr id="51" name="TextBox 50">
            <a:extLst>
              <a:ext uri="{FF2B5EF4-FFF2-40B4-BE49-F238E27FC236}">
                <a16:creationId xmlns="" xmlns:a16="http://schemas.microsoft.com/office/drawing/2014/main" id="{57DD894C-7D6F-4C21-943F-0C5388BAEF79}"/>
              </a:ext>
            </a:extLst>
          </p:cNvPr>
          <p:cNvSpPr txBox="1"/>
          <p:nvPr/>
        </p:nvSpPr>
        <p:spPr>
          <a:xfrm>
            <a:off x="10015797" y="2875102"/>
            <a:ext cx="3356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b</a:t>
            </a:r>
            <a:endParaRPr lang="en-US" dirty="0"/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="" xmlns:a16="http://schemas.microsoft.com/office/drawing/2014/main" id="{032430B4-2905-4B36-B797-556BB9A0E834}"/>
              </a:ext>
            </a:extLst>
          </p:cNvPr>
          <p:cNvCxnSpPr>
            <a:cxnSpLocks/>
            <a:endCxn id="48" idx="2"/>
          </p:cNvCxnSpPr>
          <p:nvPr/>
        </p:nvCxnSpPr>
        <p:spPr>
          <a:xfrm>
            <a:off x="9620144" y="2991872"/>
            <a:ext cx="819230" cy="683347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7" name="Group 56"/>
          <p:cNvGrpSpPr/>
          <p:nvPr/>
        </p:nvGrpSpPr>
        <p:grpSpPr>
          <a:xfrm>
            <a:off x="238526" y="4199937"/>
            <a:ext cx="4863683" cy="1787494"/>
            <a:chOff x="317657" y="1861183"/>
            <a:chExt cx="4863683" cy="1787494"/>
          </a:xfrm>
        </p:grpSpPr>
        <p:grpSp>
          <p:nvGrpSpPr>
            <p:cNvPr id="61" name="Group 1">
              <a:extLst>
                <a:ext uri="{FF2B5EF4-FFF2-40B4-BE49-F238E27FC236}">
                  <a16:creationId xmlns="" xmlns:a16="http://schemas.microsoft.com/office/drawing/2014/main" id="{3407459D-8EE9-45D0-962B-F34BC30F2FAA}"/>
                </a:ext>
              </a:extLst>
            </p:cNvPr>
            <p:cNvGrpSpPr/>
            <p:nvPr/>
          </p:nvGrpSpPr>
          <p:grpSpPr>
            <a:xfrm>
              <a:off x="317657" y="2806244"/>
              <a:ext cx="4863683" cy="842433"/>
              <a:chOff x="4931358" y="2304257"/>
              <a:chExt cx="4863683" cy="842433"/>
            </a:xfrm>
          </p:grpSpPr>
          <p:cxnSp>
            <p:nvCxnSpPr>
              <p:cNvPr id="68" name="Straight Arrow Connector 67">
                <a:extLst>
                  <a:ext uri="{FF2B5EF4-FFF2-40B4-BE49-F238E27FC236}">
                    <a16:creationId xmlns="" xmlns:a16="http://schemas.microsoft.com/office/drawing/2014/main" id="{7D659041-649F-4D29-85D5-F22DB2D1156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31358" y="2765246"/>
                <a:ext cx="556591" cy="1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72" name="Group 28">
                <a:extLst>
                  <a:ext uri="{FF2B5EF4-FFF2-40B4-BE49-F238E27FC236}">
                    <a16:creationId xmlns="" xmlns:a16="http://schemas.microsoft.com/office/drawing/2014/main" id="{21BDFBF6-3737-498B-B845-A23145FE5D0C}"/>
                  </a:ext>
                </a:extLst>
              </p:cNvPr>
              <p:cNvGrpSpPr/>
              <p:nvPr/>
            </p:nvGrpSpPr>
            <p:grpSpPr>
              <a:xfrm>
                <a:off x="7233544" y="2344599"/>
                <a:ext cx="839021" cy="802091"/>
                <a:chOff x="10458837" y="1785088"/>
                <a:chExt cx="839021" cy="802091"/>
              </a:xfrm>
            </p:grpSpPr>
            <p:sp>
              <p:nvSpPr>
                <p:cNvPr id="85" name="Oval 84">
                  <a:extLst>
                    <a:ext uri="{FF2B5EF4-FFF2-40B4-BE49-F238E27FC236}">
                      <a16:creationId xmlns="" xmlns:a16="http://schemas.microsoft.com/office/drawing/2014/main" id="{AEC12217-3F4B-40DA-9B86-78D6E8BF993D}"/>
                    </a:ext>
                  </a:extLst>
                </p:cNvPr>
                <p:cNvSpPr/>
                <p:nvPr/>
              </p:nvSpPr>
              <p:spPr>
                <a:xfrm>
                  <a:off x="10458837" y="1785088"/>
                  <a:ext cx="839021" cy="802091"/>
                </a:xfrm>
                <a:prstGeom prst="ellips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86" name="Oval 85">
                  <a:extLst>
                    <a:ext uri="{FF2B5EF4-FFF2-40B4-BE49-F238E27FC236}">
                      <a16:creationId xmlns="" xmlns:a16="http://schemas.microsoft.com/office/drawing/2014/main" id="{C4C249AF-D7E6-419B-988D-D41D419ADA3D}"/>
                    </a:ext>
                  </a:extLst>
                </p:cNvPr>
                <p:cNvSpPr/>
                <p:nvPr/>
              </p:nvSpPr>
              <p:spPr>
                <a:xfrm>
                  <a:off x="10544977" y="1877513"/>
                  <a:ext cx="681980" cy="628192"/>
                </a:xfrm>
                <a:prstGeom prst="ellips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x1</a:t>
                  </a:r>
                </a:p>
              </p:txBody>
            </p:sp>
          </p:grpSp>
          <p:grpSp>
            <p:nvGrpSpPr>
              <p:cNvPr id="73" name="Group 31">
                <a:extLst>
                  <a:ext uri="{FF2B5EF4-FFF2-40B4-BE49-F238E27FC236}">
                    <a16:creationId xmlns="" xmlns:a16="http://schemas.microsoft.com/office/drawing/2014/main" id="{902C3A67-4AB9-4662-8F1C-815FBE9E5772}"/>
                  </a:ext>
                </a:extLst>
              </p:cNvPr>
              <p:cNvGrpSpPr/>
              <p:nvPr/>
            </p:nvGrpSpPr>
            <p:grpSpPr>
              <a:xfrm>
                <a:off x="8956020" y="2304257"/>
                <a:ext cx="839021" cy="802091"/>
                <a:chOff x="10512625" y="1744747"/>
                <a:chExt cx="839021" cy="802091"/>
              </a:xfrm>
            </p:grpSpPr>
            <p:sp>
              <p:nvSpPr>
                <p:cNvPr id="83" name="Oval 82">
                  <a:extLst>
                    <a:ext uri="{FF2B5EF4-FFF2-40B4-BE49-F238E27FC236}">
                      <a16:creationId xmlns="" xmlns:a16="http://schemas.microsoft.com/office/drawing/2014/main" id="{654C964B-B210-4402-9FC6-3A475B2507F0}"/>
                    </a:ext>
                  </a:extLst>
                </p:cNvPr>
                <p:cNvSpPr/>
                <p:nvPr/>
              </p:nvSpPr>
              <p:spPr>
                <a:xfrm>
                  <a:off x="10512625" y="1744747"/>
                  <a:ext cx="839021" cy="802091"/>
                </a:xfrm>
                <a:prstGeom prst="ellips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84" name="Oval 83">
                  <a:extLst>
                    <a:ext uri="{FF2B5EF4-FFF2-40B4-BE49-F238E27FC236}">
                      <a16:creationId xmlns="" xmlns:a16="http://schemas.microsoft.com/office/drawing/2014/main" id="{690B9038-E591-48DB-8D9E-BEA65AE2CA8E}"/>
                    </a:ext>
                  </a:extLst>
                </p:cNvPr>
                <p:cNvSpPr/>
                <p:nvPr/>
              </p:nvSpPr>
              <p:spPr>
                <a:xfrm>
                  <a:off x="10585318" y="1837172"/>
                  <a:ext cx="681980" cy="628192"/>
                </a:xfrm>
                <a:prstGeom prst="ellips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x2</a:t>
                  </a:r>
                </a:p>
              </p:txBody>
            </p:sp>
          </p:grpSp>
          <p:grpSp>
            <p:nvGrpSpPr>
              <p:cNvPr id="74" name="Group 34">
                <a:extLst>
                  <a:ext uri="{FF2B5EF4-FFF2-40B4-BE49-F238E27FC236}">
                    <a16:creationId xmlns="" xmlns:a16="http://schemas.microsoft.com/office/drawing/2014/main" id="{1759F2FC-6A06-4B49-BB1C-A4B869BB7D7F}"/>
                  </a:ext>
                </a:extLst>
              </p:cNvPr>
              <p:cNvGrpSpPr/>
              <p:nvPr/>
            </p:nvGrpSpPr>
            <p:grpSpPr>
              <a:xfrm>
                <a:off x="6382024" y="2420374"/>
                <a:ext cx="839021" cy="369332"/>
                <a:chOff x="7435657" y="3287208"/>
                <a:chExt cx="1162516" cy="369332"/>
              </a:xfrm>
            </p:grpSpPr>
            <p:cxnSp>
              <p:nvCxnSpPr>
                <p:cNvPr id="81" name="Straight Arrow Connector 80">
                  <a:extLst>
                    <a:ext uri="{FF2B5EF4-FFF2-40B4-BE49-F238E27FC236}">
                      <a16:creationId xmlns="" xmlns:a16="http://schemas.microsoft.com/office/drawing/2014/main" id="{A1F69A51-BF29-4F8B-829E-CE0E65915941}"/>
                    </a:ext>
                  </a:extLst>
                </p:cNvPr>
                <p:cNvCxnSpPr/>
                <p:nvPr/>
              </p:nvCxnSpPr>
              <p:spPr>
                <a:xfrm>
                  <a:off x="7435657" y="3623630"/>
                  <a:ext cx="1162516" cy="0"/>
                </a:xfrm>
                <a:prstGeom prst="straightConnector1">
                  <a:avLst/>
                </a:prstGeom>
                <a:ln w="38100">
                  <a:solidFill>
                    <a:schemeClr val="bg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82" name="TextBox 81">
                  <a:extLst>
                    <a:ext uri="{FF2B5EF4-FFF2-40B4-BE49-F238E27FC236}">
                      <a16:creationId xmlns="" xmlns:a16="http://schemas.microsoft.com/office/drawing/2014/main" id="{DA8C129A-F994-4515-8930-855F02A7AD28}"/>
                    </a:ext>
                  </a:extLst>
                </p:cNvPr>
                <p:cNvSpPr txBox="1"/>
                <p:nvPr/>
              </p:nvSpPr>
              <p:spPr>
                <a:xfrm>
                  <a:off x="7554876" y="3287208"/>
                  <a:ext cx="93196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a/b</a:t>
                  </a:r>
                </a:p>
              </p:txBody>
            </p:sp>
          </p:grpSp>
          <p:grpSp>
            <p:nvGrpSpPr>
              <p:cNvPr id="75" name="Group 37">
                <a:extLst>
                  <a:ext uri="{FF2B5EF4-FFF2-40B4-BE49-F238E27FC236}">
                    <a16:creationId xmlns="" xmlns:a16="http://schemas.microsoft.com/office/drawing/2014/main" id="{5F8E4A51-BBB0-4F22-9F33-52AFB1CF1B77}"/>
                  </a:ext>
                </a:extLst>
              </p:cNvPr>
              <p:cNvGrpSpPr/>
              <p:nvPr/>
            </p:nvGrpSpPr>
            <p:grpSpPr>
              <a:xfrm>
                <a:off x="8104100" y="2362885"/>
                <a:ext cx="839021" cy="376763"/>
                <a:chOff x="7491553" y="3260314"/>
                <a:chExt cx="1162516" cy="376763"/>
              </a:xfrm>
            </p:grpSpPr>
            <p:cxnSp>
              <p:nvCxnSpPr>
                <p:cNvPr id="79" name="Straight Arrow Connector 78">
                  <a:extLst>
                    <a:ext uri="{FF2B5EF4-FFF2-40B4-BE49-F238E27FC236}">
                      <a16:creationId xmlns="" xmlns:a16="http://schemas.microsoft.com/office/drawing/2014/main" id="{1863340D-83A7-454C-8884-67F4279D6ACF}"/>
                    </a:ext>
                  </a:extLst>
                </p:cNvPr>
                <p:cNvCxnSpPr/>
                <p:nvPr/>
              </p:nvCxnSpPr>
              <p:spPr>
                <a:xfrm>
                  <a:off x="7491553" y="3637077"/>
                  <a:ext cx="1162516" cy="0"/>
                </a:xfrm>
                <a:prstGeom prst="straightConnector1">
                  <a:avLst/>
                </a:prstGeom>
                <a:ln w="38100">
                  <a:solidFill>
                    <a:schemeClr val="bg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80" name="TextBox 79">
                  <a:extLst>
                    <a:ext uri="{FF2B5EF4-FFF2-40B4-BE49-F238E27FC236}">
                      <a16:creationId xmlns="" xmlns:a16="http://schemas.microsoft.com/office/drawing/2014/main" id="{3BED651A-1442-41C3-A692-6EF76089924F}"/>
                    </a:ext>
                  </a:extLst>
                </p:cNvPr>
                <p:cNvSpPr txBox="1"/>
                <p:nvPr/>
              </p:nvSpPr>
              <p:spPr>
                <a:xfrm>
                  <a:off x="7554876" y="3260314"/>
                  <a:ext cx="93196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a/b</a:t>
                  </a:r>
                </a:p>
              </p:txBody>
            </p:sp>
          </p:grpSp>
          <p:grpSp>
            <p:nvGrpSpPr>
              <p:cNvPr id="76" name="Group 40">
                <a:extLst>
                  <a:ext uri="{FF2B5EF4-FFF2-40B4-BE49-F238E27FC236}">
                    <a16:creationId xmlns="" xmlns:a16="http://schemas.microsoft.com/office/drawing/2014/main" id="{7F496128-87E5-4061-9F8E-A4E9AC2C8A2F}"/>
                  </a:ext>
                </a:extLst>
              </p:cNvPr>
              <p:cNvGrpSpPr/>
              <p:nvPr/>
            </p:nvGrpSpPr>
            <p:grpSpPr>
              <a:xfrm>
                <a:off x="5520876" y="2338470"/>
                <a:ext cx="839021" cy="802091"/>
                <a:chOff x="10512625" y="1744747"/>
                <a:chExt cx="839021" cy="802091"/>
              </a:xfrm>
            </p:grpSpPr>
            <p:sp>
              <p:nvSpPr>
                <p:cNvPr id="77" name="Oval 76">
                  <a:extLst>
                    <a:ext uri="{FF2B5EF4-FFF2-40B4-BE49-F238E27FC236}">
                      <a16:creationId xmlns="" xmlns:a16="http://schemas.microsoft.com/office/drawing/2014/main" id="{9B6BE869-6D99-48F8-817C-D903F081BEFB}"/>
                    </a:ext>
                  </a:extLst>
                </p:cNvPr>
                <p:cNvSpPr/>
                <p:nvPr/>
              </p:nvSpPr>
              <p:spPr>
                <a:xfrm>
                  <a:off x="10512625" y="1744747"/>
                  <a:ext cx="839021" cy="802091"/>
                </a:xfrm>
                <a:prstGeom prst="ellips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78" name="Oval 77">
                  <a:extLst>
                    <a:ext uri="{FF2B5EF4-FFF2-40B4-BE49-F238E27FC236}">
                      <a16:creationId xmlns="" xmlns:a16="http://schemas.microsoft.com/office/drawing/2014/main" id="{4789EE9C-F7E5-4DFE-969D-8DDD4AF4B4A9}"/>
                    </a:ext>
                  </a:extLst>
                </p:cNvPr>
                <p:cNvSpPr/>
                <p:nvPr/>
              </p:nvSpPr>
              <p:spPr>
                <a:xfrm>
                  <a:off x="10585318" y="1837172"/>
                  <a:ext cx="681980" cy="628192"/>
                </a:xfrm>
                <a:prstGeom prst="ellips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x0</a:t>
                  </a:r>
                </a:p>
              </p:txBody>
            </p:sp>
          </p:grpSp>
        </p:grpSp>
        <p:grpSp>
          <p:nvGrpSpPr>
            <p:cNvPr id="63" name="Group 50">
              <a:extLst>
                <a:ext uri="{FF2B5EF4-FFF2-40B4-BE49-F238E27FC236}">
                  <a16:creationId xmlns="" xmlns:a16="http://schemas.microsoft.com/office/drawing/2014/main" id="{E9E08B4D-2B9C-47B2-8A98-9A4E2B6C7C67}"/>
                </a:ext>
              </a:extLst>
            </p:cNvPr>
            <p:cNvGrpSpPr/>
            <p:nvPr/>
          </p:nvGrpSpPr>
          <p:grpSpPr>
            <a:xfrm>
              <a:off x="1098675" y="1861183"/>
              <a:ext cx="591867" cy="905805"/>
              <a:chOff x="6924745" y="2274367"/>
              <a:chExt cx="591867" cy="936326"/>
            </a:xfrm>
          </p:grpSpPr>
          <p:sp>
            <p:nvSpPr>
              <p:cNvPr id="65" name="Arrow: Up 51">
                <a:extLst>
                  <a:ext uri="{FF2B5EF4-FFF2-40B4-BE49-F238E27FC236}">
                    <a16:creationId xmlns="" xmlns:a16="http://schemas.microsoft.com/office/drawing/2014/main" id="{69058EAB-3E8A-411D-871F-F97C100E736A}"/>
                  </a:ext>
                </a:extLst>
              </p:cNvPr>
              <p:cNvSpPr/>
              <p:nvPr/>
            </p:nvSpPr>
            <p:spPr>
              <a:xfrm rot="10800000">
                <a:off x="7044865" y="2571551"/>
                <a:ext cx="191070" cy="639142"/>
              </a:xfrm>
              <a:prstGeom prst="upArrow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="" xmlns:a16="http://schemas.microsoft.com/office/drawing/2014/main" id="{A951844F-C2C6-4DDF-9F21-04565B7BEEA9}"/>
                  </a:ext>
                </a:extLst>
              </p:cNvPr>
              <p:cNvSpPr txBox="1"/>
              <p:nvPr/>
            </p:nvSpPr>
            <p:spPr>
              <a:xfrm>
                <a:off x="6924745" y="2274367"/>
                <a:ext cx="59186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solidFill>
                      <a:schemeClr val="accent3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CS</a:t>
                </a:r>
              </a:p>
            </p:txBody>
          </p:sp>
        </p:grpSp>
      </p:grpSp>
      <p:sp>
        <p:nvSpPr>
          <p:cNvPr id="87" name="Oval 86">
            <a:extLst>
              <a:ext uri="{FF2B5EF4-FFF2-40B4-BE49-F238E27FC236}">
                <a16:creationId xmlns="" xmlns:a16="http://schemas.microsoft.com/office/drawing/2014/main" id="{2F8AC0DC-CB2C-41F4-86A0-1B2179B98F03}"/>
              </a:ext>
            </a:extLst>
          </p:cNvPr>
          <p:cNvSpPr/>
          <p:nvPr/>
        </p:nvSpPr>
        <p:spPr>
          <a:xfrm>
            <a:off x="967734" y="2938524"/>
            <a:ext cx="665125" cy="546476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x0</a:t>
            </a:r>
          </a:p>
        </p:txBody>
      </p:sp>
    </p:spTree>
    <p:extLst>
      <p:ext uri="{BB962C8B-B14F-4D97-AF65-F5344CB8AC3E}">
        <p14:creationId xmlns:p14="http://schemas.microsoft.com/office/powerpoint/2010/main" val="3092483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149AD530-6C2A-44EA-A853-BAC2857EF1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904" y="858413"/>
            <a:ext cx="4565143" cy="5580529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Empty string transitions are not seen in DFA.</a:t>
            </a:r>
          </a:p>
          <a:p>
            <a:pPr marL="457200" indent="-457200">
              <a:buFont typeface="+mj-lt"/>
              <a:buAutoNum type="arabicPeriod" startAt="2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E7E875E4-C02C-44AD-9251-3D0D7CDF2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26D1DE06-0720-4572-BF37-034426FE1CD7}"/>
              </a:ext>
            </a:extLst>
          </p:cNvPr>
          <p:cNvSpPr txBox="1"/>
          <p:nvPr/>
        </p:nvSpPr>
        <p:spPr>
          <a:xfrm>
            <a:off x="1529669" y="33241"/>
            <a:ext cx="1600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DFA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="" xmlns:a16="http://schemas.microsoft.com/office/drawing/2014/main" id="{7D659041-649F-4D29-85D5-F22DB2D1156C}"/>
              </a:ext>
            </a:extLst>
          </p:cNvPr>
          <p:cNvCxnSpPr>
            <a:cxnSpLocks/>
          </p:cNvCxnSpPr>
          <p:nvPr/>
        </p:nvCxnSpPr>
        <p:spPr>
          <a:xfrm>
            <a:off x="317657" y="3267233"/>
            <a:ext cx="556591" cy="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28">
            <a:extLst>
              <a:ext uri="{FF2B5EF4-FFF2-40B4-BE49-F238E27FC236}">
                <a16:creationId xmlns="" xmlns:a16="http://schemas.microsoft.com/office/drawing/2014/main" id="{21BDFBF6-3737-498B-B845-A23145FE5D0C}"/>
              </a:ext>
            </a:extLst>
          </p:cNvPr>
          <p:cNvGrpSpPr/>
          <p:nvPr/>
        </p:nvGrpSpPr>
        <p:grpSpPr>
          <a:xfrm>
            <a:off x="2619843" y="2846586"/>
            <a:ext cx="839021" cy="802091"/>
            <a:chOff x="10458837" y="1785088"/>
            <a:chExt cx="839021" cy="802091"/>
          </a:xfrm>
        </p:grpSpPr>
        <p:sp>
          <p:nvSpPr>
            <p:cNvPr id="30" name="Oval 29">
              <a:extLst>
                <a:ext uri="{FF2B5EF4-FFF2-40B4-BE49-F238E27FC236}">
                  <a16:creationId xmlns="" xmlns:a16="http://schemas.microsoft.com/office/drawing/2014/main" id="{AEC12217-3F4B-40DA-9B86-78D6E8BF993D}"/>
                </a:ext>
              </a:extLst>
            </p:cNvPr>
            <p:cNvSpPr/>
            <p:nvPr/>
          </p:nvSpPr>
          <p:spPr>
            <a:xfrm>
              <a:off x="10458837" y="1785088"/>
              <a:ext cx="839021" cy="802091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" name="Oval 30">
              <a:extLst>
                <a:ext uri="{FF2B5EF4-FFF2-40B4-BE49-F238E27FC236}">
                  <a16:creationId xmlns="" xmlns:a16="http://schemas.microsoft.com/office/drawing/2014/main" id="{C4C249AF-D7E6-419B-988D-D41D419ADA3D}"/>
                </a:ext>
              </a:extLst>
            </p:cNvPr>
            <p:cNvSpPr/>
            <p:nvPr/>
          </p:nvSpPr>
          <p:spPr>
            <a:xfrm>
              <a:off x="10544977" y="1877513"/>
              <a:ext cx="681980" cy="62819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x1</a:t>
              </a:r>
            </a:p>
          </p:txBody>
        </p:sp>
      </p:grpSp>
      <p:grpSp>
        <p:nvGrpSpPr>
          <p:cNvPr id="5" name="Group 31">
            <a:extLst>
              <a:ext uri="{FF2B5EF4-FFF2-40B4-BE49-F238E27FC236}">
                <a16:creationId xmlns="" xmlns:a16="http://schemas.microsoft.com/office/drawing/2014/main" id="{902C3A67-4AB9-4662-8F1C-815FBE9E5772}"/>
              </a:ext>
            </a:extLst>
          </p:cNvPr>
          <p:cNvGrpSpPr/>
          <p:nvPr/>
        </p:nvGrpSpPr>
        <p:grpSpPr>
          <a:xfrm>
            <a:off x="4342319" y="2806244"/>
            <a:ext cx="839021" cy="802091"/>
            <a:chOff x="10512625" y="1744747"/>
            <a:chExt cx="839021" cy="802091"/>
          </a:xfrm>
        </p:grpSpPr>
        <p:sp>
          <p:nvSpPr>
            <p:cNvPr id="33" name="Oval 32">
              <a:extLst>
                <a:ext uri="{FF2B5EF4-FFF2-40B4-BE49-F238E27FC236}">
                  <a16:creationId xmlns="" xmlns:a16="http://schemas.microsoft.com/office/drawing/2014/main" id="{654C964B-B210-4402-9FC6-3A475B2507F0}"/>
                </a:ext>
              </a:extLst>
            </p:cNvPr>
            <p:cNvSpPr/>
            <p:nvPr/>
          </p:nvSpPr>
          <p:spPr>
            <a:xfrm>
              <a:off x="10512625" y="1744747"/>
              <a:ext cx="839021" cy="802091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Oval 33">
              <a:extLst>
                <a:ext uri="{FF2B5EF4-FFF2-40B4-BE49-F238E27FC236}">
                  <a16:creationId xmlns="" xmlns:a16="http://schemas.microsoft.com/office/drawing/2014/main" id="{690B9038-E591-48DB-8D9E-BEA65AE2CA8E}"/>
                </a:ext>
              </a:extLst>
            </p:cNvPr>
            <p:cNvSpPr/>
            <p:nvPr/>
          </p:nvSpPr>
          <p:spPr>
            <a:xfrm>
              <a:off x="10585318" y="1837172"/>
              <a:ext cx="681980" cy="62819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x2</a:t>
              </a:r>
            </a:p>
          </p:txBody>
        </p:sp>
      </p:grpSp>
      <p:grpSp>
        <p:nvGrpSpPr>
          <p:cNvPr id="7" name="Group 34">
            <a:extLst>
              <a:ext uri="{FF2B5EF4-FFF2-40B4-BE49-F238E27FC236}">
                <a16:creationId xmlns="" xmlns:a16="http://schemas.microsoft.com/office/drawing/2014/main" id="{1759F2FC-6A06-4B49-BB1C-A4B869BB7D7F}"/>
              </a:ext>
            </a:extLst>
          </p:cNvPr>
          <p:cNvGrpSpPr/>
          <p:nvPr/>
        </p:nvGrpSpPr>
        <p:grpSpPr>
          <a:xfrm>
            <a:off x="1768323" y="2922361"/>
            <a:ext cx="839021" cy="369332"/>
            <a:chOff x="7435657" y="3287208"/>
            <a:chExt cx="1162516" cy="369332"/>
          </a:xfrm>
        </p:grpSpPr>
        <p:cxnSp>
          <p:nvCxnSpPr>
            <p:cNvPr id="36" name="Straight Arrow Connector 35">
              <a:extLst>
                <a:ext uri="{FF2B5EF4-FFF2-40B4-BE49-F238E27FC236}">
                  <a16:creationId xmlns="" xmlns:a16="http://schemas.microsoft.com/office/drawing/2014/main" id="{A1F69A51-BF29-4F8B-829E-CE0E65915941}"/>
                </a:ext>
              </a:extLst>
            </p:cNvPr>
            <p:cNvCxnSpPr/>
            <p:nvPr/>
          </p:nvCxnSpPr>
          <p:spPr>
            <a:xfrm>
              <a:off x="7435657" y="3623630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>
              <a:extLst>
                <a:ext uri="{FF2B5EF4-FFF2-40B4-BE49-F238E27FC236}">
                  <a16:creationId xmlns="" xmlns:a16="http://schemas.microsoft.com/office/drawing/2014/main" id="{DA8C129A-F994-4515-8930-855F02A7AD28}"/>
                </a:ext>
              </a:extLst>
            </p:cNvPr>
            <p:cNvSpPr txBox="1"/>
            <p:nvPr/>
          </p:nvSpPr>
          <p:spPr>
            <a:xfrm>
              <a:off x="7554876" y="3287208"/>
              <a:ext cx="93196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a/b</a:t>
              </a:r>
            </a:p>
          </p:txBody>
        </p:sp>
      </p:grpSp>
      <p:grpSp>
        <p:nvGrpSpPr>
          <p:cNvPr id="8" name="Group 37">
            <a:extLst>
              <a:ext uri="{FF2B5EF4-FFF2-40B4-BE49-F238E27FC236}">
                <a16:creationId xmlns="" xmlns:a16="http://schemas.microsoft.com/office/drawing/2014/main" id="{5F8E4A51-BBB0-4F22-9F33-52AFB1CF1B77}"/>
              </a:ext>
            </a:extLst>
          </p:cNvPr>
          <p:cNvGrpSpPr/>
          <p:nvPr/>
        </p:nvGrpSpPr>
        <p:grpSpPr>
          <a:xfrm>
            <a:off x="3490399" y="2864872"/>
            <a:ext cx="839021" cy="376763"/>
            <a:chOff x="7491553" y="3260314"/>
            <a:chExt cx="1162516" cy="376763"/>
          </a:xfrm>
        </p:grpSpPr>
        <p:cxnSp>
          <p:nvCxnSpPr>
            <p:cNvPr id="39" name="Straight Arrow Connector 38">
              <a:extLst>
                <a:ext uri="{FF2B5EF4-FFF2-40B4-BE49-F238E27FC236}">
                  <a16:creationId xmlns="" xmlns:a16="http://schemas.microsoft.com/office/drawing/2014/main" id="{1863340D-83A7-454C-8884-67F4279D6ACF}"/>
                </a:ext>
              </a:extLst>
            </p:cNvPr>
            <p:cNvCxnSpPr/>
            <p:nvPr/>
          </p:nvCxnSpPr>
          <p:spPr>
            <a:xfrm>
              <a:off x="7491553" y="3637077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TextBox 39">
              <a:extLst>
                <a:ext uri="{FF2B5EF4-FFF2-40B4-BE49-F238E27FC236}">
                  <a16:creationId xmlns="" xmlns:a16="http://schemas.microsoft.com/office/drawing/2014/main" id="{3BED651A-1442-41C3-A692-6EF76089924F}"/>
                </a:ext>
              </a:extLst>
            </p:cNvPr>
            <p:cNvSpPr txBox="1"/>
            <p:nvPr/>
          </p:nvSpPr>
          <p:spPr>
            <a:xfrm>
              <a:off x="7554876" y="3260314"/>
              <a:ext cx="93196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a/b</a:t>
              </a:r>
            </a:p>
          </p:txBody>
        </p:sp>
      </p:grpSp>
      <p:sp>
        <p:nvSpPr>
          <p:cNvPr id="44" name="Oval 43">
            <a:extLst>
              <a:ext uri="{FF2B5EF4-FFF2-40B4-BE49-F238E27FC236}">
                <a16:creationId xmlns="" xmlns:a16="http://schemas.microsoft.com/office/drawing/2014/main" id="{2F8AC0DC-CB2C-41F4-86A0-1B2179B98F03}"/>
              </a:ext>
            </a:extLst>
          </p:cNvPr>
          <p:cNvSpPr/>
          <p:nvPr/>
        </p:nvSpPr>
        <p:spPr>
          <a:xfrm>
            <a:off x="7488696" y="2610278"/>
            <a:ext cx="665125" cy="546476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x0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="" xmlns:a16="http://schemas.microsoft.com/office/drawing/2014/main" id="{4ED94321-EC8D-47E8-B1C4-A1183E65D1D4}"/>
              </a:ext>
            </a:extLst>
          </p:cNvPr>
          <p:cNvCxnSpPr>
            <a:cxnSpLocks/>
          </p:cNvCxnSpPr>
          <p:nvPr/>
        </p:nvCxnSpPr>
        <p:spPr>
          <a:xfrm>
            <a:off x="6949798" y="2940164"/>
            <a:ext cx="511802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Oval 45">
            <a:extLst>
              <a:ext uri="{FF2B5EF4-FFF2-40B4-BE49-F238E27FC236}">
                <a16:creationId xmlns="" xmlns:a16="http://schemas.microsoft.com/office/drawing/2014/main" id="{5DF5953E-B986-4B7C-B688-CAB63D1C0BF8}"/>
              </a:ext>
            </a:extLst>
          </p:cNvPr>
          <p:cNvSpPr/>
          <p:nvPr/>
        </p:nvSpPr>
        <p:spPr>
          <a:xfrm>
            <a:off x="8907032" y="2572989"/>
            <a:ext cx="665125" cy="546476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x1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="" xmlns:a16="http://schemas.microsoft.com/office/drawing/2014/main" id="{A070CF6C-C892-43CE-97BC-ADEE3BF638CC}"/>
              </a:ext>
            </a:extLst>
          </p:cNvPr>
          <p:cNvCxnSpPr>
            <a:cxnSpLocks/>
          </p:cNvCxnSpPr>
          <p:nvPr/>
        </p:nvCxnSpPr>
        <p:spPr>
          <a:xfrm>
            <a:off x="8186007" y="2900707"/>
            <a:ext cx="680684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="" xmlns:a16="http://schemas.microsoft.com/office/drawing/2014/main" id="{DEDC641C-F775-4A1F-86E8-ECA48D51C1A8}"/>
              </a:ext>
            </a:extLst>
          </p:cNvPr>
          <p:cNvSpPr txBox="1"/>
          <p:nvPr/>
        </p:nvSpPr>
        <p:spPr>
          <a:xfrm>
            <a:off x="6855759" y="0"/>
            <a:ext cx="1600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NDFA</a:t>
            </a:r>
          </a:p>
        </p:txBody>
      </p:sp>
      <p:sp>
        <p:nvSpPr>
          <p:cNvPr id="50" name="Content Placeholder 2">
            <a:extLst>
              <a:ext uri="{FF2B5EF4-FFF2-40B4-BE49-F238E27FC236}">
                <a16:creationId xmlns="" xmlns:a16="http://schemas.microsoft.com/office/drawing/2014/main" id="{4BC9451E-7A47-401A-A903-20E228779627}"/>
              </a:ext>
            </a:extLst>
          </p:cNvPr>
          <p:cNvSpPr txBox="1">
            <a:spLocks/>
          </p:cNvSpPr>
          <p:nvPr/>
        </p:nvSpPr>
        <p:spPr>
          <a:xfrm>
            <a:off x="5537633" y="793270"/>
            <a:ext cx="4565144" cy="91450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457200" indent="-457200">
              <a:buFont typeface="+mj-lt"/>
              <a:buAutoNum type="arabicPeriod" startAt="2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NDFA permits empty string transitions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   Input a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+mj-lt"/>
              <a:buAutoNum type="arabicPeriod" startAt="2"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0" name="Group 50">
            <a:extLst>
              <a:ext uri="{FF2B5EF4-FFF2-40B4-BE49-F238E27FC236}">
                <a16:creationId xmlns="" xmlns:a16="http://schemas.microsoft.com/office/drawing/2014/main" id="{E9E08B4D-2B9C-47B2-8A98-9A4E2B6C7C67}"/>
              </a:ext>
            </a:extLst>
          </p:cNvPr>
          <p:cNvGrpSpPr/>
          <p:nvPr/>
        </p:nvGrpSpPr>
        <p:grpSpPr>
          <a:xfrm>
            <a:off x="1098675" y="1861183"/>
            <a:ext cx="591867" cy="905805"/>
            <a:chOff x="6924745" y="2274367"/>
            <a:chExt cx="591867" cy="936326"/>
          </a:xfrm>
        </p:grpSpPr>
        <p:sp>
          <p:nvSpPr>
            <p:cNvPr id="52" name="Arrow: Up 51">
              <a:extLst>
                <a:ext uri="{FF2B5EF4-FFF2-40B4-BE49-F238E27FC236}">
                  <a16:creationId xmlns="" xmlns:a16="http://schemas.microsoft.com/office/drawing/2014/main" id="{69058EAB-3E8A-411D-871F-F97C100E736A}"/>
                </a:ext>
              </a:extLst>
            </p:cNvPr>
            <p:cNvSpPr/>
            <p:nvPr/>
          </p:nvSpPr>
          <p:spPr>
            <a:xfrm rot="10800000">
              <a:off x="7044865" y="2571551"/>
              <a:ext cx="191070" cy="639142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3" name="TextBox 52">
              <a:extLst>
                <a:ext uri="{FF2B5EF4-FFF2-40B4-BE49-F238E27FC236}">
                  <a16:creationId xmlns="" xmlns:a16="http://schemas.microsoft.com/office/drawing/2014/main" id="{A951844F-C2C6-4DDF-9F21-04565B7BEEA9}"/>
                </a:ext>
              </a:extLst>
            </p:cNvPr>
            <p:cNvSpPr txBox="1"/>
            <p:nvPr/>
          </p:nvSpPr>
          <p:spPr>
            <a:xfrm>
              <a:off x="6924745" y="2274367"/>
              <a:ext cx="5918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</a:t>
              </a:r>
            </a:p>
          </p:txBody>
        </p:sp>
      </p:grpSp>
      <p:grpSp>
        <p:nvGrpSpPr>
          <p:cNvPr id="11" name="Group 53">
            <a:extLst>
              <a:ext uri="{FF2B5EF4-FFF2-40B4-BE49-F238E27FC236}">
                <a16:creationId xmlns="" xmlns:a16="http://schemas.microsoft.com/office/drawing/2014/main" id="{752FEB1C-6360-4556-83B8-27D81FE9D7C1}"/>
              </a:ext>
            </a:extLst>
          </p:cNvPr>
          <p:cNvGrpSpPr/>
          <p:nvPr/>
        </p:nvGrpSpPr>
        <p:grpSpPr>
          <a:xfrm rot="2482526">
            <a:off x="9669889" y="3473738"/>
            <a:ext cx="672626" cy="905805"/>
            <a:chOff x="6924745" y="2274367"/>
            <a:chExt cx="672626" cy="936326"/>
          </a:xfrm>
        </p:grpSpPr>
        <p:sp>
          <p:nvSpPr>
            <p:cNvPr id="55" name="Arrow: Up 54">
              <a:extLst>
                <a:ext uri="{FF2B5EF4-FFF2-40B4-BE49-F238E27FC236}">
                  <a16:creationId xmlns="" xmlns:a16="http://schemas.microsoft.com/office/drawing/2014/main" id="{ADD007C3-9F1D-4C3C-A641-BCF728050686}"/>
                </a:ext>
              </a:extLst>
            </p:cNvPr>
            <p:cNvSpPr/>
            <p:nvPr/>
          </p:nvSpPr>
          <p:spPr>
            <a:xfrm rot="10800000">
              <a:off x="7044865" y="2571551"/>
              <a:ext cx="191070" cy="639142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6" name="TextBox 55">
              <a:extLst>
                <a:ext uri="{FF2B5EF4-FFF2-40B4-BE49-F238E27FC236}">
                  <a16:creationId xmlns="" xmlns:a16="http://schemas.microsoft.com/office/drawing/2014/main" id="{B8B9C6C7-CF78-4063-9769-00A40ED2E376}"/>
                </a:ext>
              </a:extLst>
            </p:cNvPr>
            <p:cNvSpPr txBox="1"/>
            <p:nvPr/>
          </p:nvSpPr>
          <p:spPr>
            <a:xfrm>
              <a:off x="6924745" y="2274367"/>
              <a:ext cx="672626" cy="381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CS-2</a:t>
              </a:r>
            </a:p>
          </p:txBody>
        </p:sp>
      </p:grpSp>
      <p:grpSp>
        <p:nvGrpSpPr>
          <p:cNvPr id="12" name="Group 56">
            <a:extLst>
              <a:ext uri="{FF2B5EF4-FFF2-40B4-BE49-F238E27FC236}">
                <a16:creationId xmlns="" xmlns:a16="http://schemas.microsoft.com/office/drawing/2014/main" id="{4CBB83FE-F277-41E5-8DCB-AE43A9635FE7}"/>
              </a:ext>
            </a:extLst>
          </p:cNvPr>
          <p:cNvGrpSpPr/>
          <p:nvPr/>
        </p:nvGrpSpPr>
        <p:grpSpPr>
          <a:xfrm rot="16711821">
            <a:off x="6659587" y="3808295"/>
            <a:ext cx="369332" cy="1228641"/>
            <a:chOff x="6936747" y="1940653"/>
            <a:chExt cx="369332" cy="1270040"/>
          </a:xfrm>
        </p:grpSpPr>
        <p:sp>
          <p:nvSpPr>
            <p:cNvPr id="58" name="Arrow: Up 57">
              <a:extLst>
                <a:ext uri="{FF2B5EF4-FFF2-40B4-BE49-F238E27FC236}">
                  <a16:creationId xmlns="" xmlns:a16="http://schemas.microsoft.com/office/drawing/2014/main" id="{DF2C82C1-00D3-4BF5-B1F2-C82648F11A84}"/>
                </a:ext>
              </a:extLst>
            </p:cNvPr>
            <p:cNvSpPr/>
            <p:nvPr/>
          </p:nvSpPr>
          <p:spPr>
            <a:xfrm rot="10800000">
              <a:off x="7044865" y="2571551"/>
              <a:ext cx="191070" cy="639142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9" name="TextBox 58">
              <a:extLst>
                <a:ext uri="{FF2B5EF4-FFF2-40B4-BE49-F238E27FC236}">
                  <a16:creationId xmlns="" xmlns:a16="http://schemas.microsoft.com/office/drawing/2014/main" id="{8FC6C410-F17D-4F4F-981D-93E3AA6AF3D4}"/>
                </a:ext>
              </a:extLst>
            </p:cNvPr>
            <p:cNvSpPr txBox="1"/>
            <p:nvPr/>
          </p:nvSpPr>
          <p:spPr>
            <a:xfrm rot="4731226">
              <a:off x="6756342" y="2121058"/>
              <a:ext cx="73014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CS-1</a:t>
              </a:r>
            </a:p>
          </p:txBody>
        </p:sp>
      </p:grpSp>
      <p:sp>
        <p:nvSpPr>
          <p:cNvPr id="60" name="TextBox 59">
            <a:extLst>
              <a:ext uri="{FF2B5EF4-FFF2-40B4-BE49-F238E27FC236}">
                <a16:creationId xmlns="" xmlns:a16="http://schemas.microsoft.com/office/drawing/2014/main" id="{E54307C2-6037-4422-84D8-931A6A150CC8}"/>
              </a:ext>
            </a:extLst>
          </p:cNvPr>
          <p:cNvSpPr txBox="1"/>
          <p:nvPr/>
        </p:nvSpPr>
        <p:spPr>
          <a:xfrm>
            <a:off x="8268296" y="2474600"/>
            <a:ext cx="6185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^</a:t>
            </a:r>
          </a:p>
        </p:txBody>
      </p:sp>
      <p:sp>
        <p:nvSpPr>
          <p:cNvPr id="62" name="Oval 61">
            <a:extLst>
              <a:ext uri="{FF2B5EF4-FFF2-40B4-BE49-F238E27FC236}">
                <a16:creationId xmlns="" xmlns:a16="http://schemas.microsoft.com/office/drawing/2014/main" id="{6F378CE0-9451-48A3-8422-0863CC703327}"/>
              </a:ext>
            </a:extLst>
          </p:cNvPr>
          <p:cNvSpPr/>
          <p:nvPr/>
        </p:nvSpPr>
        <p:spPr>
          <a:xfrm>
            <a:off x="7497038" y="4130932"/>
            <a:ext cx="665125" cy="546476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x2</a:t>
            </a:r>
          </a:p>
        </p:txBody>
      </p:sp>
      <p:sp>
        <p:nvSpPr>
          <p:cNvPr id="64" name="Oval 63">
            <a:extLst>
              <a:ext uri="{FF2B5EF4-FFF2-40B4-BE49-F238E27FC236}">
                <a16:creationId xmlns="" xmlns:a16="http://schemas.microsoft.com/office/drawing/2014/main" id="{A6A33E05-B10B-49E1-892D-603CCBF32AA9}"/>
              </a:ext>
            </a:extLst>
          </p:cNvPr>
          <p:cNvSpPr/>
          <p:nvPr/>
        </p:nvSpPr>
        <p:spPr>
          <a:xfrm>
            <a:off x="8915374" y="4093643"/>
            <a:ext cx="665125" cy="546476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x3</a:t>
            </a: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="" xmlns:a16="http://schemas.microsoft.com/office/drawing/2014/main" id="{FA696AA6-2FC6-4B9C-B44F-4CFC5E85CFA4}"/>
              </a:ext>
            </a:extLst>
          </p:cNvPr>
          <p:cNvCxnSpPr>
            <a:cxnSpLocks/>
            <a:endCxn id="62" idx="0"/>
          </p:cNvCxnSpPr>
          <p:nvPr/>
        </p:nvCxnSpPr>
        <p:spPr>
          <a:xfrm flipH="1">
            <a:off x="7829601" y="3229816"/>
            <a:ext cx="16064" cy="901116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="" xmlns:a16="http://schemas.microsoft.com/office/drawing/2014/main" id="{032430B4-2905-4B36-B797-556BB9A0E834}"/>
              </a:ext>
            </a:extLst>
          </p:cNvPr>
          <p:cNvCxnSpPr>
            <a:cxnSpLocks/>
          </p:cNvCxnSpPr>
          <p:nvPr/>
        </p:nvCxnSpPr>
        <p:spPr>
          <a:xfrm flipH="1">
            <a:off x="9231872" y="3155996"/>
            <a:ext cx="16064" cy="901116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="" xmlns:a16="http://schemas.microsoft.com/office/drawing/2014/main" id="{57DD894C-7D6F-4C21-943F-0C5388BAEF79}"/>
              </a:ext>
            </a:extLst>
          </p:cNvPr>
          <p:cNvSpPr txBox="1"/>
          <p:nvPr/>
        </p:nvSpPr>
        <p:spPr>
          <a:xfrm>
            <a:off x="9247936" y="3399709"/>
            <a:ext cx="3356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</a:t>
            </a:r>
            <a:endParaRPr lang="en-US" dirty="0"/>
          </a:p>
        </p:txBody>
      </p:sp>
      <p:sp>
        <p:nvSpPr>
          <p:cNvPr id="71" name="TextBox 70">
            <a:extLst>
              <a:ext uri="{FF2B5EF4-FFF2-40B4-BE49-F238E27FC236}">
                <a16:creationId xmlns="" xmlns:a16="http://schemas.microsoft.com/office/drawing/2014/main" id="{C1A72D2C-10F8-483A-84FB-7FA933F14E88}"/>
              </a:ext>
            </a:extLst>
          </p:cNvPr>
          <p:cNvSpPr txBox="1"/>
          <p:nvPr/>
        </p:nvSpPr>
        <p:spPr>
          <a:xfrm>
            <a:off x="7225641" y="3413156"/>
            <a:ext cx="6726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a/b</a:t>
            </a:r>
            <a:endParaRPr lang="en-US" dirty="0"/>
          </a:p>
        </p:txBody>
      </p:sp>
      <p:sp>
        <p:nvSpPr>
          <p:cNvPr id="48" name="Oval 47">
            <a:extLst>
              <a:ext uri="{FF2B5EF4-FFF2-40B4-BE49-F238E27FC236}">
                <a16:creationId xmlns="" xmlns:a16="http://schemas.microsoft.com/office/drawing/2014/main" id="{A6A33E05-B10B-49E1-892D-603CCBF32AA9}"/>
              </a:ext>
            </a:extLst>
          </p:cNvPr>
          <p:cNvSpPr/>
          <p:nvPr/>
        </p:nvSpPr>
        <p:spPr>
          <a:xfrm>
            <a:off x="10439374" y="3401981"/>
            <a:ext cx="665125" cy="546476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x4</a:t>
            </a:r>
            <a:endParaRPr lang="en-US" dirty="0"/>
          </a:p>
        </p:txBody>
      </p:sp>
      <p:sp>
        <p:nvSpPr>
          <p:cNvPr id="51" name="TextBox 50">
            <a:extLst>
              <a:ext uri="{FF2B5EF4-FFF2-40B4-BE49-F238E27FC236}">
                <a16:creationId xmlns="" xmlns:a16="http://schemas.microsoft.com/office/drawing/2014/main" id="{57DD894C-7D6F-4C21-943F-0C5388BAEF79}"/>
              </a:ext>
            </a:extLst>
          </p:cNvPr>
          <p:cNvSpPr txBox="1"/>
          <p:nvPr/>
        </p:nvSpPr>
        <p:spPr>
          <a:xfrm>
            <a:off x="10015797" y="2875102"/>
            <a:ext cx="3356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b</a:t>
            </a:r>
            <a:endParaRPr lang="en-US" dirty="0"/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="" xmlns:a16="http://schemas.microsoft.com/office/drawing/2014/main" id="{032430B4-2905-4B36-B797-556BB9A0E834}"/>
              </a:ext>
            </a:extLst>
          </p:cNvPr>
          <p:cNvCxnSpPr>
            <a:cxnSpLocks/>
            <a:endCxn id="48" idx="2"/>
          </p:cNvCxnSpPr>
          <p:nvPr/>
        </p:nvCxnSpPr>
        <p:spPr>
          <a:xfrm>
            <a:off x="9620144" y="2991872"/>
            <a:ext cx="819230" cy="683347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7" name="Group 56"/>
          <p:cNvGrpSpPr/>
          <p:nvPr/>
        </p:nvGrpSpPr>
        <p:grpSpPr>
          <a:xfrm>
            <a:off x="238526" y="4199937"/>
            <a:ext cx="4863683" cy="1787494"/>
            <a:chOff x="317657" y="1861183"/>
            <a:chExt cx="4863683" cy="1787494"/>
          </a:xfrm>
        </p:grpSpPr>
        <p:grpSp>
          <p:nvGrpSpPr>
            <p:cNvPr id="61" name="Group 1">
              <a:extLst>
                <a:ext uri="{FF2B5EF4-FFF2-40B4-BE49-F238E27FC236}">
                  <a16:creationId xmlns="" xmlns:a16="http://schemas.microsoft.com/office/drawing/2014/main" id="{3407459D-8EE9-45D0-962B-F34BC30F2FAA}"/>
                </a:ext>
              </a:extLst>
            </p:cNvPr>
            <p:cNvGrpSpPr/>
            <p:nvPr/>
          </p:nvGrpSpPr>
          <p:grpSpPr>
            <a:xfrm>
              <a:off x="317657" y="2806244"/>
              <a:ext cx="4863683" cy="842433"/>
              <a:chOff x="4931358" y="2304257"/>
              <a:chExt cx="4863683" cy="842433"/>
            </a:xfrm>
          </p:grpSpPr>
          <p:cxnSp>
            <p:nvCxnSpPr>
              <p:cNvPr id="68" name="Straight Arrow Connector 67">
                <a:extLst>
                  <a:ext uri="{FF2B5EF4-FFF2-40B4-BE49-F238E27FC236}">
                    <a16:creationId xmlns="" xmlns:a16="http://schemas.microsoft.com/office/drawing/2014/main" id="{7D659041-649F-4D29-85D5-F22DB2D1156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31358" y="2765246"/>
                <a:ext cx="556591" cy="1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72" name="Group 28">
                <a:extLst>
                  <a:ext uri="{FF2B5EF4-FFF2-40B4-BE49-F238E27FC236}">
                    <a16:creationId xmlns="" xmlns:a16="http://schemas.microsoft.com/office/drawing/2014/main" id="{21BDFBF6-3737-498B-B845-A23145FE5D0C}"/>
                  </a:ext>
                </a:extLst>
              </p:cNvPr>
              <p:cNvGrpSpPr/>
              <p:nvPr/>
            </p:nvGrpSpPr>
            <p:grpSpPr>
              <a:xfrm>
                <a:off x="7233544" y="2344599"/>
                <a:ext cx="839021" cy="802091"/>
                <a:chOff x="10458837" y="1785088"/>
                <a:chExt cx="839021" cy="802091"/>
              </a:xfrm>
            </p:grpSpPr>
            <p:sp>
              <p:nvSpPr>
                <p:cNvPr id="85" name="Oval 84">
                  <a:extLst>
                    <a:ext uri="{FF2B5EF4-FFF2-40B4-BE49-F238E27FC236}">
                      <a16:creationId xmlns="" xmlns:a16="http://schemas.microsoft.com/office/drawing/2014/main" id="{AEC12217-3F4B-40DA-9B86-78D6E8BF993D}"/>
                    </a:ext>
                  </a:extLst>
                </p:cNvPr>
                <p:cNvSpPr/>
                <p:nvPr/>
              </p:nvSpPr>
              <p:spPr>
                <a:xfrm>
                  <a:off x="10458837" y="1785088"/>
                  <a:ext cx="839021" cy="802091"/>
                </a:xfrm>
                <a:prstGeom prst="ellips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86" name="Oval 85">
                  <a:extLst>
                    <a:ext uri="{FF2B5EF4-FFF2-40B4-BE49-F238E27FC236}">
                      <a16:creationId xmlns="" xmlns:a16="http://schemas.microsoft.com/office/drawing/2014/main" id="{C4C249AF-D7E6-419B-988D-D41D419ADA3D}"/>
                    </a:ext>
                  </a:extLst>
                </p:cNvPr>
                <p:cNvSpPr/>
                <p:nvPr/>
              </p:nvSpPr>
              <p:spPr>
                <a:xfrm>
                  <a:off x="10544977" y="1877513"/>
                  <a:ext cx="681980" cy="628192"/>
                </a:xfrm>
                <a:prstGeom prst="ellips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x1</a:t>
                  </a:r>
                </a:p>
              </p:txBody>
            </p:sp>
          </p:grpSp>
          <p:grpSp>
            <p:nvGrpSpPr>
              <p:cNvPr id="73" name="Group 31">
                <a:extLst>
                  <a:ext uri="{FF2B5EF4-FFF2-40B4-BE49-F238E27FC236}">
                    <a16:creationId xmlns="" xmlns:a16="http://schemas.microsoft.com/office/drawing/2014/main" id="{902C3A67-4AB9-4662-8F1C-815FBE9E5772}"/>
                  </a:ext>
                </a:extLst>
              </p:cNvPr>
              <p:cNvGrpSpPr/>
              <p:nvPr/>
            </p:nvGrpSpPr>
            <p:grpSpPr>
              <a:xfrm>
                <a:off x="8956020" y="2304257"/>
                <a:ext cx="839021" cy="802091"/>
                <a:chOff x="10512625" y="1744747"/>
                <a:chExt cx="839021" cy="802091"/>
              </a:xfrm>
            </p:grpSpPr>
            <p:sp>
              <p:nvSpPr>
                <p:cNvPr id="83" name="Oval 82">
                  <a:extLst>
                    <a:ext uri="{FF2B5EF4-FFF2-40B4-BE49-F238E27FC236}">
                      <a16:creationId xmlns="" xmlns:a16="http://schemas.microsoft.com/office/drawing/2014/main" id="{654C964B-B210-4402-9FC6-3A475B2507F0}"/>
                    </a:ext>
                  </a:extLst>
                </p:cNvPr>
                <p:cNvSpPr/>
                <p:nvPr/>
              </p:nvSpPr>
              <p:spPr>
                <a:xfrm>
                  <a:off x="10512625" y="1744747"/>
                  <a:ext cx="839021" cy="802091"/>
                </a:xfrm>
                <a:prstGeom prst="ellips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84" name="Oval 83">
                  <a:extLst>
                    <a:ext uri="{FF2B5EF4-FFF2-40B4-BE49-F238E27FC236}">
                      <a16:creationId xmlns="" xmlns:a16="http://schemas.microsoft.com/office/drawing/2014/main" id="{690B9038-E591-48DB-8D9E-BEA65AE2CA8E}"/>
                    </a:ext>
                  </a:extLst>
                </p:cNvPr>
                <p:cNvSpPr/>
                <p:nvPr/>
              </p:nvSpPr>
              <p:spPr>
                <a:xfrm>
                  <a:off x="10585318" y="1837172"/>
                  <a:ext cx="681980" cy="628192"/>
                </a:xfrm>
                <a:prstGeom prst="ellips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x2</a:t>
                  </a:r>
                </a:p>
              </p:txBody>
            </p:sp>
          </p:grpSp>
          <p:grpSp>
            <p:nvGrpSpPr>
              <p:cNvPr id="74" name="Group 34">
                <a:extLst>
                  <a:ext uri="{FF2B5EF4-FFF2-40B4-BE49-F238E27FC236}">
                    <a16:creationId xmlns="" xmlns:a16="http://schemas.microsoft.com/office/drawing/2014/main" id="{1759F2FC-6A06-4B49-BB1C-A4B869BB7D7F}"/>
                  </a:ext>
                </a:extLst>
              </p:cNvPr>
              <p:cNvGrpSpPr/>
              <p:nvPr/>
            </p:nvGrpSpPr>
            <p:grpSpPr>
              <a:xfrm>
                <a:off x="6382024" y="2420374"/>
                <a:ext cx="839021" cy="369332"/>
                <a:chOff x="7435657" y="3287208"/>
                <a:chExt cx="1162516" cy="369332"/>
              </a:xfrm>
            </p:grpSpPr>
            <p:cxnSp>
              <p:nvCxnSpPr>
                <p:cNvPr id="81" name="Straight Arrow Connector 80">
                  <a:extLst>
                    <a:ext uri="{FF2B5EF4-FFF2-40B4-BE49-F238E27FC236}">
                      <a16:creationId xmlns="" xmlns:a16="http://schemas.microsoft.com/office/drawing/2014/main" id="{A1F69A51-BF29-4F8B-829E-CE0E65915941}"/>
                    </a:ext>
                  </a:extLst>
                </p:cNvPr>
                <p:cNvCxnSpPr/>
                <p:nvPr/>
              </p:nvCxnSpPr>
              <p:spPr>
                <a:xfrm>
                  <a:off x="7435657" y="3623630"/>
                  <a:ext cx="1162516" cy="0"/>
                </a:xfrm>
                <a:prstGeom prst="straightConnector1">
                  <a:avLst/>
                </a:prstGeom>
                <a:ln w="38100">
                  <a:solidFill>
                    <a:schemeClr val="bg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82" name="TextBox 81">
                  <a:extLst>
                    <a:ext uri="{FF2B5EF4-FFF2-40B4-BE49-F238E27FC236}">
                      <a16:creationId xmlns="" xmlns:a16="http://schemas.microsoft.com/office/drawing/2014/main" id="{DA8C129A-F994-4515-8930-855F02A7AD28}"/>
                    </a:ext>
                  </a:extLst>
                </p:cNvPr>
                <p:cNvSpPr txBox="1"/>
                <p:nvPr/>
              </p:nvSpPr>
              <p:spPr>
                <a:xfrm>
                  <a:off x="7554876" y="3287208"/>
                  <a:ext cx="93196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a/b</a:t>
                  </a:r>
                </a:p>
              </p:txBody>
            </p:sp>
          </p:grpSp>
          <p:grpSp>
            <p:nvGrpSpPr>
              <p:cNvPr id="75" name="Group 37">
                <a:extLst>
                  <a:ext uri="{FF2B5EF4-FFF2-40B4-BE49-F238E27FC236}">
                    <a16:creationId xmlns="" xmlns:a16="http://schemas.microsoft.com/office/drawing/2014/main" id="{5F8E4A51-BBB0-4F22-9F33-52AFB1CF1B77}"/>
                  </a:ext>
                </a:extLst>
              </p:cNvPr>
              <p:cNvGrpSpPr/>
              <p:nvPr/>
            </p:nvGrpSpPr>
            <p:grpSpPr>
              <a:xfrm>
                <a:off x="8104100" y="2362885"/>
                <a:ext cx="839021" cy="376763"/>
                <a:chOff x="7491553" y="3260314"/>
                <a:chExt cx="1162516" cy="376763"/>
              </a:xfrm>
            </p:grpSpPr>
            <p:cxnSp>
              <p:nvCxnSpPr>
                <p:cNvPr id="79" name="Straight Arrow Connector 78">
                  <a:extLst>
                    <a:ext uri="{FF2B5EF4-FFF2-40B4-BE49-F238E27FC236}">
                      <a16:creationId xmlns="" xmlns:a16="http://schemas.microsoft.com/office/drawing/2014/main" id="{1863340D-83A7-454C-8884-67F4279D6ACF}"/>
                    </a:ext>
                  </a:extLst>
                </p:cNvPr>
                <p:cNvCxnSpPr/>
                <p:nvPr/>
              </p:nvCxnSpPr>
              <p:spPr>
                <a:xfrm>
                  <a:off x="7491553" y="3637077"/>
                  <a:ext cx="1162516" cy="0"/>
                </a:xfrm>
                <a:prstGeom prst="straightConnector1">
                  <a:avLst/>
                </a:prstGeom>
                <a:ln w="38100">
                  <a:solidFill>
                    <a:schemeClr val="bg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80" name="TextBox 79">
                  <a:extLst>
                    <a:ext uri="{FF2B5EF4-FFF2-40B4-BE49-F238E27FC236}">
                      <a16:creationId xmlns="" xmlns:a16="http://schemas.microsoft.com/office/drawing/2014/main" id="{3BED651A-1442-41C3-A692-6EF76089924F}"/>
                    </a:ext>
                  </a:extLst>
                </p:cNvPr>
                <p:cNvSpPr txBox="1"/>
                <p:nvPr/>
              </p:nvSpPr>
              <p:spPr>
                <a:xfrm>
                  <a:off x="7554876" y="3260314"/>
                  <a:ext cx="93196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a/b</a:t>
                  </a:r>
                </a:p>
              </p:txBody>
            </p:sp>
          </p:grpSp>
          <p:grpSp>
            <p:nvGrpSpPr>
              <p:cNvPr id="76" name="Group 40">
                <a:extLst>
                  <a:ext uri="{FF2B5EF4-FFF2-40B4-BE49-F238E27FC236}">
                    <a16:creationId xmlns="" xmlns:a16="http://schemas.microsoft.com/office/drawing/2014/main" id="{7F496128-87E5-4061-9F8E-A4E9AC2C8A2F}"/>
                  </a:ext>
                </a:extLst>
              </p:cNvPr>
              <p:cNvGrpSpPr/>
              <p:nvPr/>
            </p:nvGrpSpPr>
            <p:grpSpPr>
              <a:xfrm>
                <a:off x="5520876" y="2338470"/>
                <a:ext cx="839021" cy="802091"/>
                <a:chOff x="10512625" y="1744747"/>
                <a:chExt cx="839021" cy="802091"/>
              </a:xfrm>
            </p:grpSpPr>
            <p:sp>
              <p:nvSpPr>
                <p:cNvPr id="77" name="Oval 76">
                  <a:extLst>
                    <a:ext uri="{FF2B5EF4-FFF2-40B4-BE49-F238E27FC236}">
                      <a16:creationId xmlns="" xmlns:a16="http://schemas.microsoft.com/office/drawing/2014/main" id="{9B6BE869-6D99-48F8-817C-D903F081BEFB}"/>
                    </a:ext>
                  </a:extLst>
                </p:cNvPr>
                <p:cNvSpPr/>
                <p:nvPr/>
              </p:nvSpPr>
              <p:spPr>
                <a:xfrm>
                  <a:off x="10512625" y="1744747"/>
                  <a:ext cx="839021" cy="802091"/>
                </a:xfrm>
                <a:prstGeom prst="ellips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78" name="Oval 77">
                  <a:extLst>
                    <a:ext uri="{FF2B5EF4-FFF2-40B4-BE49-F238E27FC236}">
                      <a16:creationId xmlns="" xmlns:a16="http://schemas.microsoft.com/office/drawing/2014/main" id="{4789EE9C-F7E5-4DFE-969D-8DDD4AF4B4A9}"/>
                    </a:ext>
                  </a:extLst>
                </p:cNvPr>
                <p:cNvSpPr/>
                <p:nvPr/>
              </p:nvSpPr>
              <p:spPr>
                <a:xfrm>
                  <a:off x="10585318" y="1837172"/>
                  <a:ext cx="681980" cy="628192"/>
                </a:xfrm>
                <a:prstGeom prst="ellips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x0</a:t>
                  </a:r>
                </a:p>
              </p:txBody>
            </p:sp>
          </p:grpSp>
        </p:grpSp>
        <p:grpSp>
          <p:nvGrpSpPr>
            <p:cNvPr id="63" name="Group 50">
              <a:extLst>
                <a:ext uri="{FF2B5EF4-FFF2-40B4-BE49-F238E27FC236}">
                  <a16:creationId xmlns="" xmlns:a16="http://schemas.microsoft.com/office/drawing/2014/main" id="{E9E08B4D-2B9C-47B2-8A98-9A4E2B6C7C67}"/>
                </a:ext>
              </a:extLst>
            </p:cNvPr>
            <p:cNvGrpSpPr/>
            <p:nvPr/>
          </p:nvGrpSpPr>
          <p:grpSpPr>
            <a:xfrm>
              <a:off x="1098675" y="1861183"/>
              <a:ext cx="591867" cy="905805"/>
              <a:chOff x="6924745" y="2274367"/>
              <a:chExt cx="591867" cy="936326"/>
            </a:xfrm>
          </p:grpSpPr>
          <p:sp>
            <p:nvSpPr>
              <p:cNvPr id="65" name="Arrow: Up 51">
                <a:extLst>
                  <a:ext uri="{FF2B5EF4-FFF2-40B4-BE49-F238E27FC236}">
                    <a16:creationId xmlns="" xmlns:a16="http://schemas.microsoft.com/office/drawing/2014/main" id="{69058EAB-3E8A-411D-871F-F97C100E736A}"/>
                  </a:ext>
                </a:extLst>
              </p:cNvPr>
              <p:cNvSpPr/>
              <p:nvPr/>
            </p:nvSpPr>
            <p:spPr>
              <a:xfrm rot="10800000">
                <a:off x="7044865" y="2571551"/>
                <a:ext cx="191070" cy="639142"/>
              </a:xfrm>
              <a:prstGeom prst="upArrow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="" xmlns:a16="http://schemas.microsoft.com/office/drawing/2014/main" id="{A951844F-C2C6-4DDF-9F21-04565B7BEEA9}"/>
                  </a:ext>
                </a:extLst>
              </p:cNvPr>
              <p:cNvSpPr txBox="1"/>
              <p:nvPr/>
            </p:nvSpPr>
            <p:spPr>
              <a:xfrm>
                <a:off x="6924745" y="2274367"/>
                <a:ext cx="59186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solidFill>
                      <a:schemeClr val="accent3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CS</a:t>
                </a:r>
              </a:p>
            </p:txBody>
          </p:sp>
        </p:grpSp>
      </p:grpSp>
      <p:sp>
        <p:nvSpPr>
          <p:cNvPr id="87" name="Oval 86">
            <a:extLst>
              <a:ext uri="{FF2B5EF4-FFF2-40B4-BE49-F238E27FC236}">
                <a16:creationId xmlns="" xmlns:a16="http://schemas.microsoft.com/office/drawing/2014/main" id="{2F8AC0DC-CB2C-41F4-86A0-1B2179B98F03}"/>
              </a:ext>
            </a:extLst>
          </p:cNvPr>
          <p:cNvSpPr/>
          <p:nvPr/>
        </p:nvSpPr>
        <p:spPr>
          <a:xfrm>
            <a:off x="967734" y="2973693"/>
            <a:ext cx="665125" cy="546476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x0</a:t>
            </a:r>
          </a:p>
        </p:txBody>
      </p:sp>
    </p:spTree>
    <p:extLst>
      <p:ext uri="{BB962C8B-B14F-4D97-AF65-F5344CB8AC3E}">
        <p14:creationId xmlns:p14="http://schemas.microsoft.com/office/powerpoint/2010/main" val="3092483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149AD530-6C2A-44EA-A853-BAC2857EF1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904" y="858413"/>
            <a:ext cx="4565143" cy="5580529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Empty string transitions are not seen in DFA.</a:t>
            </a:r>
          </a:p>
          <a:p>
            <a:pPr marL="457200" indent="-457200">
              <a:buFont typeface="+mj-lt"/>
              <a:buAutoNum type="arabicPeriod" startAt="2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E7E875E4-C02C-44AD-9251-3D0D7CDF2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26D1DE06-0720-4572-BF37-034426FE1CD7}"/>
              </a:ext>
            </a:extLst>
          </p:cNvPr>
          <p:cNvSpPr txBox="1"/>
          <p:nvPr/>
        </p:nvSpPr>
        <p:spPr>
          <a:xfrm>
            <a:off x="1529669" y="33241"/>
            <a:ext cx="1600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DFA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="" xmlns:a16="http://schemas.microsoft.com/office/drawing/2014/main" id="{7D659041-649F-4D29-85D5-F22DB2D1156C}"/>
              </a:ext>
            </a:extLst>
          </p:cNvPr>
          <p:cNvCxnSpPr>
            <a:cxnSpLocks/>
          </p:cNvCxnSpPr>
          <p:nvPr/>
        </p:nvCxnSpPr>
        <p:spPr>
          <a:xfrm>
            <a:off x="317657" y="3267233"/>
            <a:ext cx="556591" cy="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28">
            <a:extLst>
              <a:ext uri="{FF2B5EF4-FFF2-40B4-BE49-F238E27FC236}">
                <a16:creationId xmlns="" xmlns:a16="http://schemas.microsoft.com/office/drawing/2014/main" id="{21BDFBF6-3737-498B-B845-A23145FE5D0C}"/>
              </a:ext>
            </a:extLst>
          </p:cNvPr>
          <p:cNvGrpSpPr/>
          <p:nvPr/>
        </p:nvGrpSpPr>
        <p:grpSpPr>
          <a:xfrm>
            <a:off x="2619843" y="2846586"/>
            <a:ext cx="839021" cy="802091"/>
            <a:chOff x="10458837" y="1785088"/>
            <a:chExt cx="839021" cy="802091"/>
          </a:xfrm>
        </p:grpSpPr>
        <p:sp>
          <p:nvSpPr>
            <p:cNvPr id="30" name="Oval 29">
              <a:extLst>
                <a:ext uri="{FF2B5EF4-FFF2-40B4-BE49-F238E27FC236}">
                  <a16:creationId xmlns="" xmlns:a16="http://schemas.microsoft.com/office/drawing/2014/main" id="{AEC12217-3F4B-40DA-9B86-78D6E8BF993D}"/>
                </a:ext>
              </a:extLst>
            </p:cNvPr>
            <p:cNvSpPr/>
            <p:nvPr/>
          </p:nvSpPr>
          <p:spPr>
            <a:xfrm>
              <a:off x="10458837" y="1785088"/>
              <a:ext cx="839021" cy="802091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" name="Oval 30">
              <a:extLst>
                <a:ext uri="{FF2B5EF4-FFF2-40B4-BE49-F238E27FC236}">
                  <a16:creationId xmlns="" xmlns:a16="http://schemas.microsoft.com/office/drawing/2014/main" id="{C4C249AF-D7E6-419B-988D-D41D419ADA3D}"/>
                </a:ext>
              </a:extLst>
            </p:cNvPr>
            <p:cNvSpPr/>
            <p:nvPr/>
          </p:nvSpPr>
          <p:spPr>
            <a:xfrm>
              <a:off x="10544977" y="1877513"/>
              <a:ext cx="681980" cy="62819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x1</a:t>
              </a:r>
            </a:p>
          </p:txBody>
        </p:sp>
      </p:grpSp>
      <p:grpSp>
        <p:nvGrpSpPr>
          <p:cNvPr id="5" name="Group 31">
            <a:extLst>
              <a:ext uri="{FF2B5EF4-FFF2-40B4-BE49-F238E27FC236}">
                <a16:creationId xmlns="" xmlns:a16="http://schemas.microsoft.com/office/drawing/2014/main" id="{902C3A67-4AB9-4662-8F1C-815FBE9E5772}"/>
              </a:ext>
            </a:extLst>
          </p:cNvPr>
          <p:cNvGrpSpPr/>
          <p:nvPr/>
        </p:nvGrpSpPr>
        <p:grpSpPr>
          <a:xfrm>
            <a:off x="4342319" y="2806244"/>
            <a:ext cx="839021" cy="802091"/>
            <a:chOff x="10512625" y="1744747"/>
            <a:chExt cx="839021" cy="802091"/>
          </a:xfrm>
        </p:grpSpPr>
        <p:sp>
          <p:nvSpPr>
            <p:cNvPr id="33" name="Oval 32">
              <a:extLst>
                <a:ext uri="{FF2B5EF4-FFF2-40B4-BE49-F238E27FC236}">
                  <a16:creationId xmlns="" xmlns:a16="http://schemas.microsoft.com/office/drawing/2014/main" id="{654C964B-B210-4402-9FC6-3A475B2507F0}"/>
                </a:ext>
              </a:extLst>
            </p:cNvPr>
            <p:cNvSpPr/>
            <p:nvPr/>
          </p:nvSpPr>
          <p:spPr>
            <a:xfrm>
              <a:off x="10512625" y="1744747"/>
              <a:ext cx="839021" cy="802091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Oval 33">
              <a:extLst>
                <a:ext uri="{FF2B5EF4-FFF2-40B4-BE49-F238E27FC236}">
                  <a16:creationId xmlns="" xmlns:a16="http://schemas.microsoft.com/office/drawing/2014/main" id="{690B9038-E591-48DB-8D9E-BEA65AE2CA8E}"/>
                </a:ext>
              </a:extLst>
            </p:cNvPr>
            <p:cNvSpPr/>
            <p:nvPr/>
          </p:nvSpPr>
          <p:spPr>
            <a:xfrm>
              <a:off x="10585318" y="1837172"/>
              <a:ext cx="681980" cy="62819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x2</a:t>
              </a:r>
            </a:p>
          </p:txBody>
        </p:sp>
      </p:grpSp>
      <p:grpSp>
        <p:nvGrpSpPr>
          <p:cNvPr id="7" name="Group 34">
            <a:extLst>
              <a:ext uri="{FF2B5EF4-FFF2-40B4-BE49-F238E27FC236}">
                <a16:creationId xmlns="" xmlns:a16="http://schemas.microsoft.com/office/drawing/2014/main" id="{1759F2FC-6A06-4B49-BB1C-A4B869BB7D7F}"/>
              </a:ext>
            </a:extLst>
          </p:cNvPr>
          <p:cNvGrpSpPr/>
          <p:nvPr/>
        </p:nvGrpSpPr>
        <p:grpSpPr>
          <a:xfrm>
            <a:off x="1768323" y="2922361"/>
            <a:ext cx="839021" cy="369332"/>
            <a:chOff x="7435657" y="3287208"/>
            <a:chExt cx="1162516" cy="369332"/>
          </a:xfrm>
        </p:grpSpPr>
        <p:cxnSp>
          <p:nvCxnSpPr>
            <p:cNvPr id="36" name="Straight Arrow Connector 35">
              <a:extLst>
                <a:ext uri="{FF2B5EF4-FFF2-40B4-BE49-F238E27FC236}">
                  <a16:creationId xmlns="" xmlns:a16="http://schemas.microsoft.com/office/drawing/2014/main" id="{A1F69A51-BF29-4F8B-829E-CE0E65915941}"/>
                </a:ext>
              </a:extLst>
            </p:cNvPr>
            <p:cNvCxnSpPr/>
            <p:nvPr/>
          </p:nvCxnSpPr>
          <p:spPr>
            <a:xfrm>
              <a:off x="7435657" y="3623630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>
              <a:extLst>
                <a:ext uri="{FF2B5EF4-FFF2-40B4-BE49-F238E27FC236}">
                  <a16:creationId xmlns="" xmlns:a16="http://schemas.microsoft.com/office/drawing/2014/main" id="{DA8C129A-F994-4515-8930-855F02A7AD28}"/>
                </a:ext>
              </a:extLst>
            </p:cNvPr>
            <p:cNvSpPr txBox="1"/>
            <p:nvPr/>
          </p:nvSpPr>
          <p:spPr>
            <a:xfrm>
              <a:off x="7554876" y="3287208"/>
              <a:ext cx="93196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a/b</a:t>
              </a:r>
            </a:p>
          </p:txBody>
        </p:sp>
      </p:grpSp>
      <p:grpSp>
        <p:nvGrpSpPr>
          <p:cNvPr id="8" name="Group 37">
            <a:extLst>
              <a:ext uri="{FF2B5EF4-FFF2-40B4-BE49-F238E27FC236}">
                <a16:creationId xmlns="" xmlns:a16="http://schemas.microsoft.com/office/drawing/2014/main" id="{5F8E4A51-BBB0-4F22-9F33-52AFB1CF1B77}"/>
              </a:ext>
            </a:extLst>
          </p:cNvPr>
          <p:cNvGrpSpPr/>
          <p:nvPr/>
        </p:nvGrpSpPr>
        <p:grpSpPr>
          <a:xfrm>
            <a:off x="3490399" y="2864872"/>
            <a:ext cx="839021" cy="376763"/>
            <a:chOff x="7491553" y="3260314"/>
            <a:chExt cx="1162516" cy="376763"/>
          </a:xfrm>
        </p:grpSpPr>
        <p:cxnSp>
          <p:nvCxnSpPr>
            <p:cNvPr id="39" name="Straight Arrow Connector 38">
              <a:extLst>
                <a:ext uri="{FF2B5EF4-FFF2-40B4-BE49-F238E27FC236}">
                  <a16:creationId xmlns="" xmlns:a16="http://schemas.microsoft.com/office/drawing/2014/main" id="{1863340D-83A7-454C-8884-67F4279D6ACF}"/>
                </a:ext>
              </a:extLst>
            </p:cNvPr>
            <p:cNvCxnSpPr/>
            <p:nvPr/>
          </p:nvCxnSpPr>
          <p:spPr>
            <a:xfrm>
              <a:off x="7491553" y="3637077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TextBox 39">
              <a:extLst>
                <a:ext uri="{FF2B5EF4-FFF2-40B4-BE49-F238E27FC236}">
                  <a16:creationId xmlns="" xmlns:a16="http://schemas.microsoft.com/office/drawing/2014/main" id="{3BED651A-1442-41C3-A692-6EF76089924F}"/>
                </a:ext>
              </a:extLst>
            </p:cNvPr>
            <p:cNvSpPr txBox="1"/>
            <p:nvPr/>
          </p:nvSpPr>
          <p:spPr>
            <a:xfrm>
              <a:off x="7554876" y="3260314"/>
              <a:ext cx="93196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a/b</a:t>
              </a:r>
            </a:p>
          </p:txBody>
        </p:sp>
      </p:grpSp>
      <p:sp>
        <p:nvSpPr>
          <p:cNvPr id="44" name="Oval 43">
            <a:extLst>
              <a:ext uri="{FF2B5EF4-FFF2-40B4-BE49-F238E27FC236}">
                <a16:creationId xmlns="" xmlns:a16="http://schemas.microsoft.com/office/drawing/2014/main" id="{2F8AC0DC-CB2C-41F4-86A0-1B2179B98F03}"/>
              </a:ext>
            </a:extLst>
          </p:cNvPr>
          <p:cNvSpPr/>
          <p:nvPr/>
        </p:nvSpPr>
        <p:spPr>
          <a:xfrm>
            <a:off x="7488696" y="2610278"/>
            <a:ext cx="665125" cy="546476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x0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="" xmlns:a16="http://schemas.microsoft.com/office/drawing/2014/main" id="{4ED94321-EC8D-47E8-B1C4-A1183E65D1D4}"/>
              </a:ext>
            </a:extLst>
          </p:cNvPr>
          <p:cNvCxnSpPr>
            <a:cxnSpLocks/>
          </p:cNvCxnSpPr>
          <p:nvPr/>
        </p:nvCxnSpPr>
        <p:spPr>
          <a:xfrm>
            <a:off x="6949798" y="2940164"/>
            <a:ext cx="511802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Oval 45">
            <a:extLst>
              <a:ext uri="{FF2B5EF4-FFF2-40B4-BE49-F238E27FC236}">
                <a16:creationId xmlns="" xmlns:a16="http://schemas.microsoft.com/office/drawing/2014/main" id="{5DF5953E-B986-4B7C-B688-CAB63D1C0BF8}"/>
              </a:ext>
            </a:extLst>
          </p:cNvPr>
          <p:cNvSpPr/>
          <p:nvPr/>
        </p:nvSpPr>
        <p:spPr>
          <a:xfrm>
            <a:off x="8907032" y="2572989"/>
            <a:ext cx="665125" cy="546476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x1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="" xmlns:a16="http://schemas.microsoft.com/office/drawing/2014/main" id="{A070CF6C-C892-43CE-97BC-ADEE3BF638CC}"/>
              </a:ext>
            </a:extLst>
          </p:cNvPr>
          <p:cNvCxnSpPr>
            <a:cxnSpLocks/>
          </p:cNvCxnSpPr>
          <p:nvPr/>
        </p:nvCxnSpPr>
        <p:spPr>
          <a:xfrm>
            <a:off x="8186007" y="2900707"/>
            <a:ext cx="680684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="" xmlns:a16="http://schemas.microsoft.com/office/drawing/2014/main" id="{DEDC641C-F775-4A1F-86E8-ECA48D51C1A8}"/>
              </a:ext>
            </a:extLst>
          </p:cNvPr>
          <p:cNvSpPr txBox="1"/>
          <p:nvPr/>
        </p:nvSpPr>
        <p:spPr>
          <a:xfrm>
            <a:off x="6855759" y="0"/>
            <a:ext cx="1600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NDFA</a:t>
            </a:r>
          </a:p>
        </p:txBody>
      </p:sp>
      <p:sp>
        <p:nvSpPr>
          <p:cNvPr id="50" name="Content Placeholder 2">
            <a:extLst>
              <a:ext uri="{FF2B5EF4-FFF2-40B4-BE49-F238E27FC236}">
                <a16:creationId xmlns="" xmlns:a16="http://schemas.microsoft.com/office/drawing/2014/main" id="{4BC9451E-7A47-401A-A903-20E228779627}"/>
              </a:ext>
            </a:extLst>
          </p:cNvPr>
          <p:cNvSpPr txBox="1">
            <a:spLocks/>
          </p:cNvSpPr>
          <p:nvPr/>
        </p:nvSpPr>
        <p:spPr>
          <a:xfrm>
            <a:off x="5537633" y="793270"/>
            <a:ext cx="4565144" cy="91450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457200" indent="-457200">
              <a:buFont typeface="+mj-lt"/>
              <a:buAutoNum type="arabicPeriod" startAt="2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NDFA permits empty string transitions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   Input b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+mj-lt"/>
              <a:buAutoNum type="arabicPeriod" startAt="2"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0" name="Group 50">
            <a:extLst>
              <a:ext uri="{FF2B5EF4-FFF2-40B4-BE49-F238E27FC236}">
                <a16:creationId xmlns="" xmlns:a16="http://schemas.microsoft.com/office/drawing/2014/main" id="{E9E08B4D-2B9C-47B2-8A98-9A4E2B6C7C67}"/>
              </a:ext>
            </a:extLst>
          </p:cNvPr>
          <p:cNvGrpSpPr/>
          <p:nvPr/>
        </p:nvGrpSpPr>
        <p:grpSpPr>
          <a:xfrm>
            <a:off x="1098675" y="1861183"/>
            <a:ext cx="591867" cy="905805"/>
            <a:chOff x="6924745" y="2274367"/>
            <a:chExt cx="591867" cy="936326"/>
          </a:xfrm>
        </p:grpSpPr>
        <p:sp>
          <p:nvSpPr>
            <p:cNvPr id="52" name="Arrow: Up 51">
              <a:extLst>
                <a:ext uri="{FF2B5EF4-FFF2-40B4-BE49-F238E27FC236}">
                  <a16:creationId xmlns="" xmlns:a16="http://schemas.microsoft.com/office/drawing/2014/main" id="{69058EAB-3E8A-411D-871F-F97C100E736A}"/>
                </a:ext>
              </a:extLst>
            </p:cNvPr>
            <p:cNvSpPr/>
            <p:nvPr/>
          </p:nvSpPr>
          <p:spPr>
            <a:xfrm rot="10800000">
              <a:off x="7044865" y="2571551"/>
              <a:ext cx="191070" cy="639142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3" name="TextBox 52">
              <a:extLst>
                <a:ext uri="{FF2B5EF4-FFF2-40B4-BE49-F238E27FC236}">
                  <a16:creationId xmlns="" xmlns:a16="http://schemas.microsoft.com/office/drawing/2014/main" id="{A951844F-C2C6-4DDF-9F21-04565B7BEEA9}"/>
                </a:ext>
              </a:extLst>
            </p:cNvPr>
            <p:cNvSpPr txBox="1"/>
            <p:nvPr/>
          </p:nvSpPr>
          <p:spPr>
            <a:xfrm>
              <a:off x="6924745" y="2274367"/>
              <a:ext cx="5918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</a:t>
              </a:r>
            </a:p>
          </p:txBody>
        </p:sp>
      </p:grpSp>
      <p:grpSp>
        <p:nvGrpSpPr>
          <p:cNvPr id="11" name="Group 53">
            <a:extLst>
              <a:ext uri="{FF2B5EF4-FFF2-40B4-BE49-F238E27FC236}">
                <a16:creationId xmlns="" xmlns:a16="http://schemas.microsoft.com/office/drawing/2014/main" id="{752FEB1C-6360-4556-83B8-27D81FE9D7C1}"/>
              </a:ext>
            </a:extLst>
          </p:cNvPr>
          <p:cNvGrpSpPr/>
          <p:nvPr/>
        </p:nvGrpSpPr>
        <p:grpSpPr>
          <a:xfrm>
            <a:off x="9045635" y="1618561"/>
            <a:ext cx="672626" cy="905805"/>
            <a:chOff x="6924745" y="2274367"/>
            <a:chExt cx="672626" cy="936326"/>
          </a:xfrm>
        </p:grpSpPr>
        <p:sp>
          <p:nvSpPr>
            <p:cNvPr id="55" name="Arrow: Up 54">
              <a:extLst>
                <a:ext uri="{FF2B5EF4-FFF2-40B4-BE49-F238E27FC236}">
                  <a16:creationId xmlns="" xmlns:a16="http://schemas.microsoft.com/office/drawing/2014/main" id="{ADD007C3-9F1D-4C3C-A641-BCF728050686}"/>
                </a:ext>
              </a:extLst>
            </p:cNvPr>
            <p:cNvSpPr/>
            <p:nvPr/>
          </p:nvSpPr>
          <p:spPr>
            <a:xfrm rot="10800000">
              <a:off x="7044865" y="2571551"/>
              <a:ext cx="191070" cy="639142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6" name="TextBox 55">
              <a:extLst>
                <a:ext uri="{FF2B5EF4-FFF2-40B4-BE49-F238E27FC236}">
                  <a16:creationId xmlns="" xmlns:a16="http://schemas.microsoft.com/office/drawing/2014/main" id="{B8B9C6C7-CF78-4063-9769-00A40ED2E376}"/>
                </a:ext>
              </a:extLst>
            </p:cNvPr>
            <p:cNvSpPr txBox="1"/>
            <p:nvPr/>
          </p:nvSpPr>
          <p:spPr>
            <a:xfrm>
              <a:off x="6924745" y="2274367"/>
              <a:ext cx="672626" cy="381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CS-2</a:t>
              </a:r>
            </a:p>
          </p:txBody>
        </p:sp>
      </p:grpSp>
      <p:grpSp>
        <p:nvGrpSpPr>
          <p:cNvPr id="12" name="Group 56">
            <a:extLst>
              <a:ext uri="{FF2B5EF4-FFF2-40B4-BE49-F238E27FC236}">
                <a16:creationId xmlns="" xmlns:a16="http://schemas.microsoft.com/office/drawing/2014/main" id="{4CBB83FE-F277-41E5-8DCB-AE43A9635FE7}"/>
              </a:ext>
            </a:extLst>
          </p:cNvPr>
          <p:cNvGrpSpPr/>
          <p:nvPr/>
        </p:nvGrpSpPr>
        <p:grpSpPr>
          <a:xfrm>
            <a:off x="7597124" y="1684769"/>
            <a:ext cx="706342" cy="905805"/>
            <a:chOff x="6924745" y="2274367"/>
            <a:chExt cx="706342" cy="936326"/>
          </a:xfrm>
        </p:grpSpPr>
        <p:sp>
          <p:nvSpPr>
            <p:cNvPr id="58" name="Arrow: Up 57">
              <a:extLst>
                <a:ext uri="{FF2B5EF4-FFF2-40B4-BE49-F238E27FC236}">
                  <a16:creationId xmlns="" xmlns:a16="http://schemas.microsoft.com/office/drawing/2014/main" id="{DF2C82C1-00D3-4BF5-B1F2-C82648F11A84}"/>
                </a:ext>
              </a:extLst>
            </p:cNvPr>
            <p:cNvSpPr/>
            <p:nvPr/>
          </p:nvSpPr>
          <p:spPr>
            <a:xfrm rot="10800000">
              <a:off x="7044865" y="2571551"/>
              <a:ext cx="191070" cy="639142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9" name="TextBox 58">
              <a:extLst>
                <a:ext uri="{FF2B5EF4-FFF2-40B4-BE49-F238E27FC236}">
                  <a16:creationId xmlns="" xmlns:a16="http://schemas.microsoft.com/office/drawing/2014/main" id="{8FC6C410-F17D-4F4F-981D-93E3AA6AF3D4}"/>
                </a:ext>
              </a:extLst>
            </p:cNvPr>
            <p:cNvSpPr txBox="1"/>
            <p:nvPr/>
          </p:nvSpPr>
          <p:spPr>
            <a:xfrm>
              <a:off x="6924745" y="2274367"/>
              <a:ext cx="706342" cy="381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CS-1</a:t>
              </a:r>
            </a:p>
          </p:txBody>
        </p:sp>
      </p:grpSp>
      <p:sp>
        <p:nvSpPr>
          <p:cNvPr id="60" name="TextBox 59">
            <a:extLst>
              <a:ext uri="{FF2B5EF4-FFF2-40B4-BE49-F238E27FC236}">
                <a16:creationId xmlns="" xmlns:a16="http://schemas.microsoft.com/office/drawing/2014/main" id="{E54307C2-6037-4422-84D8-931A6A150CC8}"/>
              </a:ext>
            </a:extLst>
          </p:cNvPr>
          <p:cNvSpPr txBox="1"/>
          <p:nvPr/>
        </p:nvSpPr>
        <p:spPr>
          <a:xfrm>
            <a:off x="8268296" y="2474600"/>
            <a:ext cx="6185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^</a:t>
            </a:r>
          </a:p>
        </p:txBody>
      </p:sp>
      <p:sp>
        <p:nvSpPr>
          <p:cNvPr id="62" name="Oval 61">
            <a:extLst>
              <a:ext uri="{FF2B5EF4-FFF2-40B4-BE49-F238E27FC236}">
                <a16:creationId xmlns="" xmlns:a16="http://schemas.microsoft.com/office/drawing/2014/main" id="{6F378CE0-9451-48A3-8422-0863CC703327}"/>
              </a:ext>
            </a:extLst>
          </p:cNvPr>
          <p:cNvSpPr/>
          <p:nvPr/>
        </p:nvSpPr>
        <p:spPr>
          <a:xfrm>
            <a:off x="7497038" y="4130932"/>
            <a:ext cx="665125" cy="546476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x2</a:t>
            </a:r>
          </a:p>
        </p:txBody>
      </p:sp>
      <p:sp>
        <p:nvSpPr>
          <p:cNvPr id="64" name="Oval 63">
            <a:extLst>
              <a:ext uri="{FF2B5EF4-FFF2-40B4-BE49-F238E27FC236}">
                <a16:creationId xmlns="" xmlns:a16="http://schemas.microsoft.com/office/drawing/2014/main" id="{A6A33E05-B10B-49E1-892D-603CCBF32AA9}"/>
              </a:ext>
            </a:extLst>
          </p:cNvPr>
          <p:cNvSpPr/>
          <p:nvPr/>
        </p:nvSpPr>
        <p:spPr>
          <a:xfrm>
            <a:off x="8915374" y="4093643"/>
            <a:ext cx="665125" cy="546476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x3</a:t>
            </a: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="" xmlns:a16="http://schemas.microsoft.com/office/drawing/2014/main" id="{FA696AA6-2FC6-4B9C-B44F-4CFC5E85CFA4}"/>
              </a:ext>
            </a:extLst>
          </p:cNvPr>
          <p:cNvCxnSpPr>
            <a:cxnSpLocks/>
            <a:endCxn id="62" idx="0"/>
          </p:cNvCxnSpPr>
          <p:nvPr/>
        </p:nvCxnSpPr>
        <p:spPr>
          <a:xfrm flipH="1">
            <a:off x="7829601" y="3229816"/>
            <a:ext cx="16064" cy="901116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="" xmlns:a16="http://schemas.microsoft.com/office/drawing/2014/main" id="{032430B4-2905-4B36-B797-556BB9A0E834}"/>
              </a:ext>
            </a:extLst>
          </p:cNvPr>
          <p:cNvCxnSpPr>
            <a:cxnSpLocks/>
          </p:cNvCxnSpPr>
          <p:nvPr/>
        </p:nvCxnSpPr>
        <p:spPr>
          <a:xfrm flipH="1">
            <a:off x="9231872" y="3155996"/>
            <a:ext cx="16064" cy="901116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="" xmlns:a16="http://schemas.microsoft.com/office/drawing/2014/main" id="{57DD894C-7D6F-4C21-943F-0C5388BAEF79}"/>
              </a:ext>
            </a:extLst>
          </p:cNvPr>
          <p:cNvSpPr txBox="1"/>
          <p:nvPr/>
        </p:nvSpPr>
        <p:spPr>
          <a:xfrm>
            <a:off x="9247936" y="3399709"/>
            <a:ext cx="3356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</a:t>
            </a:r>
            <a:endParaRPr lang="en-US" dirty="0"/>
          </a:p>
        </p:txBody>
      </p:sp>
      <p:sp>
        <p:nvSpPr>
          <p:cNvPr id="71" name="TextBox 70">
            <a:extLst>
              <a:ext uri="{FF2B5EF4-FFF2-40B4-BE49-F238E27FC236}">
                <a16:creationId xmlns="" xmlns:a16="http://schemas.microsoft.com/office/drawing/2014/main" id="{C1A72D2C-10F8-483A-84FB-7FA933F14E88}"/>
              </a:ext>
            </a:extLst>
          </p:cNvPr>
          <p:cNvSpPr txBox="1"/>
          <p:nvPr/>
        </p:nvSpPr>
        <p:spPr>
          <a:xfrm>
            <a:off x="7225641" y="3413156"/>
            <a:ext cx="6726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a/b</a:t>
            </a:r>
            <a:endParaRPr lang="en-US" dirty="0"/>
          </a:p>
        </p:txBody>
      </p:sp>
      <p:sp>
        <p:nvSpPr>
          <p:cNvPr id="48" name="Oval 47">
            <a:extLst>
              <a:ext uri="{FF2B5EF4-FFF2-40B4-BE49-F238E27FC236}">
                <a16:creationId xmlns="" xmlns:a16="http://schemas.microsoft.com/office/drawing/2014/main" id="{A6A33E05-B10B-49E1-892D-603CCBF32AA9}"/>
              </a:ext>
            </a:extLst>
          </p:cNvPr>
          <p:cNvSpPr/>
          <p:nvPr/>
        </p:nvSpPr>
        <p:spPr>
          <a:xfrm>
            <a:off x="10439374" y="3401981"/>
            <a:ext cx="665125" cy="546476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x4</a:t>
            </a:r>
            <a:endParaRPr lang="en-US" dirty="0"/>
          </a:p>
        </p:txBody>
      </p:sp>
      <p:sp>
        <p:nvSpPr>
          <p:cNvPr id="51" name="TextBox 50">
            <a:extLst>
              <a:ext uri="{FF2B5EF4-FFF2-40B4-BE49-F238E27FC236}">
                <a16:creationId xmlns="" xmlns:a16="http://schemas.microsoft.com/office/drawing/2014/main" id="{57DD894C-7D6F-4C21-943F-0C5388BAEF79}"/>
              </a:ext>
            </a:extLst>
          </p:cNvPr>
          <p:cNvSpPr txBox="1"/>
          <p:nvPr/>
        </p:nvSpPr>
        <p:spPr>
          <a:xfrm>
            <a:off x="10015797" y="2875102"/>
            <a:ext cx="3356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b</a:t>
            </a:r>
            <a:endParaRPr lang="en-US" dirty="0"/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="" xmlns:a16="http://schemas.microsoft.com/office/drawing/2014/main" id="{032430B4-2905-4B36-B797-556BB9A0E834}"/>
              </a:ext>
            </a:extLst>
          </p:cNvPr>
          <p:cNvCxnSpPr>
            <a:cxnSpLocks/>
            <a:endCxn id="48" idx="2"/>
          </p:cNvCxnSpPr>
          <p:nvPr/>
        </p:nvCxnSpPr>
        <p:spPr>
          <a:xfrm>
            <a:off x="9620144" y="2991872"/>
            <a:ext cx="819230" cy="683347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1" name="Group 60"/>
          <p:cNvGrpSpPr/>
          <p:nvPr/>
        </p:nvGrpSpPr>
        <p:grpSpPr>
          <a:xfrm>
            <a:off x="238526" y="4199937"/>
            <a:ext cx="4863683" cy="1787494"/>
            <a:chOff x="317657" y="1861183"/>
            <a:chExt cx="4863683" cy="1787494"/>
          </a:xfrm>
        </p:grpSpPr>
        <p:grpSp>
          <p:nvGrpSpPr>
            <p:cNvPr id="63" name="Group 1">
              <a:extLst>
                <a:ext uri="{FF2B5EF4-FFF2-40B4-BE49-F238E27FC236}">
                  <a16:creationId xmlns="" xmlns:a16="http://schemas.microsoft.com/office/drawing/2014/main" id="{3407459D-8EE9-45D0-962B-F34BC30F2FAA}"/>
                </a:ext>
              </a:extLst>
            </p:cNvPr>
            <p:cNvGrpSpPr/>
            <p:nvPr/>
          </p:nvGrpSpPr>
          <p:grpSpPr>
            <a:xfrm>
              <a:off x="317657" y="2806244"/>
              <a:ext cx="4863683" cy="842433"/>
              <a:chOff x="4931358" y="2304257"/>
              <a:chExt cx="4863683" cy="842433"/>
            </a:xfrm>
          </p:grpSpPr>
          <p:cxnSp>
            <p:nvCxnSpPr>
              <p:cNvPr id="72" name="Straight Arrow Connector 71">
                <a:extLst>
                  <a:ext uri="{FF2B5EF4-FFF2-40B4-BE49-F238E27FC236}">
                    <a16:creationId xmlns="" xmlns:a16="http://schemas.microsoft.com/office/drawing/2014/main" id="{7D659041-649F-4D29-85D5-F22DB2D1156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31358" y="2765246"/>
                <a:ext cx="556591" cy="1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73" name="Group 28">
                <a:extLst>
                  <a:ext uri="{FF2B5EF4-FFF2-40B4-BE49-F238E27FC236}">
                    <a16:creationId xmlns="" xmlns:a16="http://schemas.microsoft.com/office/drawing/2014/main" id="{21BDFBF6-3737-498B-B845-A23145FE5D0C}"/>
                  </a:ext>
                </a:extLst>
              </p:cNvPr>
              <p:cNvGrpSpPr/>
              <p:nvPr/>
            </p:nvGrpSpPr>
            <p:grpSpPr>
              <a:xfrm>
                <a:off x="7233544" y="2344599"/>
                <a:ext cx="839021" cy="802091"/>
                <a:chOff x="10458837" y="1785088"/>
                <a:chExt cx="839021" cy="802091"/>
              </a:xfrm>
            </p:grpSpPr>
            <p:sp>
              <p:nvSpPr>
                <p:cNvPr id="86" name="Oval 85">
                  <a:extLst>
                    <a:ext uri="{FF2B5EF4-FFF2-40B4-BE49-F238E27FC236}">
                      <a16:creationId xmlns="" xmlns:a16="http://schemas.microsoft.com/office/drawing/2014/main" id="{AEC12217-3F4B-40DA-9B86-78D6E8BF993D}"/>
                    </a:ext>
                  </a:extLst>
                </p:cNvPr>
                <p:cNvSpPr/>
                <p:nvPr/>
              </p:nvSpPr>
              <p:spPr>
                <a:xfrm>
                  <a:off x="10458837" y="1785088"/>
                  <a:ext cx="839021" cy="802091"/>
                </a:xfrm>
                <a:prstGeom prst="ellips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87" name="Oval 86">
                  <a:extLst>
                    <a:ext uri="{FF2B5EF4-FFF2-40B4-BE49-F238E27FC236}">
                      <a16:creationId xmlns="" xmlns:a16="http://schemas.microsoft.com/office/drawing/2014/main" id="{C4C249AF-D7E6-419B-988D-D41D419ADA3D}"/>
                    </a:ext>
                  </a:extLst>
                </p:cNvPr>
                <p:cNvSpPr/>
                <p:nvPr/>
              </p:nvSpPr>
              <p:spPr>
                <a:xfrm>
                  <a:off x="10544977" y="1877513"/>
                  <a:ext cx="681980" cy="628192"/>
                </a:xfrm>
                <a:prstGeom prst="ellips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x1</a:t>
                  </a:r>
                </a:p>
              </p:txBody>
            </p:sp>
          </p:grpSp>
          <p:grpSp>
            <p:nvGrpSpPr>
              <p:cNvPr id="74" name="Group 31">
                <a:extLst>
                  <a:ext uri="{FF2B5EF4-FFF2-40B4-BE49-F238E27FC236}">
                    <a16:creationId xmlns="" xmlns:a16="http://schemas.microsoft.com/office/drawing/2014/main" id="{902C3A67-4AB9-4662-8F1C-815FBE9E5772}"/>
                  </a:ext>
                </a:extLst>
              </p:cNvPr>
              <p:cNvGrpSpPr/>
              <p:nvPr/>
            </p:nvGrpSpPr>
            <p:grpSpPr>
              <a:xfrm>
                <a:off x="8956020" y="2304257"/>
                <a:ext cx="839021" cy="802091"/>
                <a:chOff x="10512625" y="1744747"/>
                <a:chExt cx="839021" cy="802091"/>
              </a:xfrm>
            </p:grpSpPr>
            <p:sp>
              <p:nvSpPr>
                <p:cNvPr id="84" name="Oval 83">
                  <a:extLst>
                    <a:ext uri="{FF2B5EF4-FFF2-40B4-BE49-F238E27FC236}">
                      <a16:creationId xmlns="" xmlns:a16="http://schemas.microsoft.com/office/drawing/2014/main" id="{654C964B-B210-4402-9FC6-3A475B2507F0}"/>
                    </a:ext>
                  </a:extLst>
                </p:cNvPr>
                <p:cNvSpPr/>
                <p:nvPr/>
              </p:nvSpPr>
              <p:spPr>
                <a:xfrm>
                  <a:off x="10512625" y="1744747"/>
                  <a:ext cx="839021" cy="802091"/>
                </a:xfrm>
                <a:prstGeom prst="ellips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85" name="Oval 84">
                  <a:extLst>
                    <a:ext uri="{FF2B5EF4-FFF2-40B4-BE49-F238E27FC236}">
                      <a16:creationId xmlns="" xmlns:a16="http://schemas.microsoft.com/office/drawing/2014/main" id="{690B9038-E591-48DB-8D9E-BEA65AE2CA8E}"/>
                    </a:ext>
                  </a:extLst>
                </p:cNvPr>
                <p:cNvSpPr/>
                <p:nvPr/>
              </p:nvSpPr>
              <p:spPr>
                <a:xfrm>
                  <a:off x="10585318" y="1837172"/>
                  <a:ext cx="681980" cy="628192"/>
                </a:xfrm>
                <a:prstGeom prst="ellips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x2</a:t>
                  </a:r>
                </a:p>
              </p:txBody>
            </p:sp>
          </p:grpSp>
          <p:grpSp>
            <p:nvGrpSpPr>
              <p:cNvPr id="75" name="Group 34">
                <a:extLst>
                  <a:ext uri="{FF2B5EF4-FFF2-40B4-BE49-F238E27FC236}">
                    <a16:creationId xmlns="" xmlns:a16="http://schemas.microsoft.com/office/drawing/2014/main" id="{1759F2FC-6A06-4B49-BB1C-A4B869BB7D7F}"/>
                  </a:ext>
                </a:extLst>
              </p:cNvPr>
              <p:cNvGrpSpPr/>
              <p:nvPr/>
            </p:nvGrpSpPr>
            <p:grpSpPr>
              <a:xfrm>
                <a:off x="6382024" y="2420374"/>
                <a:ext cx="839021" cy="369332"/>
                <a:chOff x="7435657" y="3287208"/>
                <a:chExt cx="1162516" cy="369332"/>
              </a:xfrm>
            </p:grpSpPr>
            <p:cxnSp>
              <p:nvCxnSpPr>
                <p:cNvPr id="82" name="Straight Arrow Connector 81">
                  <a:extLst>
                    <a:ext uri="{FF2B5EF4-FFF2-40B4-BE49-F238E27FC236}">
                      <a16:creationId xmlns="" xmlns:a16="http://schemas.microsoft.com/office/drawing/2014/main" id="{A1F69A51-BF29-4F8B-829E-CE0E65915941}"/>
                    </a:ext>
                  </a:extLst>
                </p:cNvPr>
                <p:cNvCxnSpPr/>
                <p:nvPr/>
              </p:nvCxnSpPr>
              <p:spPr>
                <a:xfrm>
                  <a:off x="7435657" y="3623630"/>
                  <a:ext cx="1162516" cy="0"/>
                </a:xfrm>
                <a:prstGeom prst="straightConnector1">
                  <a:avLst/>
                </a:prstGeom>
                <a:ln w="38100">
                  <a:solidFill>
                    <a:schemeClr val="bg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83" name="TextBox 82">
                  <a:extLst>
                    <a:ext uri="{FF2B5EF4-FFF2-40B4-BE49-F238E27FC236}">
                      <a16:creationId xmlns="" xmlns:a16="http://schemas.microsoft.com/office/drawing/2014/main" id="{DA8C129A-F994-4515-8930-855F02A7AD28}"/>
                    </a:ext>
                  </a:extLst>
                </p:cNvPr>
                <p:cNvSpPr txBox="1"/>
                <p:nvPr/>
              </p:nvSpPr>
              <p:spPr>
                <a:xfrm>
                  <a:off x="7554876" y="3287208"/>
                  <a:ext cx="93196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a/b</a:t>
                  </a:r>
                </a:p>
              </p:txBody>
            </p:sp>
          </p:grpSp>
          <p:grpSp>
            <p:nvGrpSpPr>
              <p:cNvPr id="76" name="Group 37">
                <a:extLst>
                  <a:ext uri="{FF2B5EF4-FFF2-40B4-BE49-F238E27FC236}">
                    <a16:creationId xmlns="" xmlns:a16="http://schemas.microsoft.com/office/drawing/2014/main" id="{5F8E4A51-BBB0-4F22-9F33-52AFB1CF1B77}"/>
                  </a:ext>
                </a:extLst>
              </p:cNvPr>
              <p:cNvGrpSpPr/>
              <p:nvPr/>
            </p:nvGrpSpPr>
            <p:grpSpPr>
              <a:xfrm>
                <a:off x="8104100" y="2362885"/>
                <a:ext cx="839021" cy="376763"/>
                <a:chOff x="7491553" y="3260314"/>
                <a:chExt cx="1162516" cy="376763"/>
              </a:xfrm>
            </p:grpSpPr>
            <p:cxnSp>
              <p:nvCxnSpPr>
                <p:cNvPr id="80" name="Straight Arrow Connector 79">
                  <a:extLst>
                    <a:ext uri="{FF2B5EF4-FFF2-40B4-BE49-F238E27FC236}">
                      <a16:creationId xmlns="" xmlns:a16="http://schemas.microsoft.com/office/drawing/2014/main" id="{1863340D-83A7-454C-8884-67F4279D6ACF}"/>
                    </a:ext>
                  </a:extLst>
                </p:cNvPr>
                <p:cNvCxnSpPr/>
                <p:nvPr/>
              </p:nvCxnSpPr>
              <p:spPr>
                <a:xfrm>
                  <a:off x="7491553" y="3637077"/>
                  <a:ext cx="1162516" cy="0"/>
                </a:xfrm>
                <a:prstGeom prst="straightConnector1">
                  <a:avLst/>
                </a:prstGeom>
                <a:ln w="38100">
                  <a:solidFill>
                    <a:schemeClr val="bg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81" name="TextBox 80">
                  <a:extLst>
                    <a:ext uri="{FF2B5EF4-FFF2-40B4-BE49-F238E27FC236}">
                      <a16:creationId xmlns="" xmlns:a16="http://schemas.microsoft.com/office/drawing/2014/main" id="{3BED651A-1442-41C3-A692-6EF76089924F}"/>
                    </a:ext>
                  </a:extLst>
                </p:cNvPr>
                <p:cNvSpPr txBox="1"/>
                <p:nvPr/>
              </p:nvSpPr>
              <p:spPr>
                <a:xfrm>
                  <a:off x="7554876" y="3260314"/>
                  <a:ext cx="93196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a/b</a:t>
                  </a:r>
                </a:p>
              </p:txBody>
            </p:sp>
          </p:grpSp>
          <p:grpSp>
            <p:nvGrpSpPr>
              <p:cNvPr id="77" name="Group 40">
                <a:extLst>
                  <a:ext uri="{FF2B5EF4-FFF2-40B4-BE49-F238E27FC236}">
                    <a16:creationId xmlns="" xmlns:a16="http://schemas.microsoft.com/office/drawing/2014/main" id="{7F496128-87E5-4061-9F8E-A4E9AC2C8A2F}"/>
                  </a:ext>
                </a:extLst>
              </p:cNvPr>
              <p:cNvGrpSpPr/>
              <p:nvPr/>
            </p:nvGrpSpPr>
            <p:grpSpPr>
              <a:xfrm>
                <a:off x="5520876" y="2338470"/>
                <a:ext cx="839021" cy="802091"/>
                <a:chOff x="10512625" y="1744747"/>
                <a:chExt cx="839021" cy="802091"/>
              </a:xfrm>
            </p:grpSpPr>
            <p:sp>
              <p:nvSpPr>
                <p:cNvPr id="78" name="Oval 77">
                  <a:extLst>
                    <a:ext uri="{FF2B5EF4-FFF2-40B4-BE49-F238E27FC236}">
                      <a16:creationId xmlns="" xmlns:a16="http://schemas.microsoft.com/office/drawing/2014/main" id="{9B6BE869-6D99-48F8-817C-D903F081BEFB}"/>
                    </a:ext>
                  </a:extLst>
                </p:cNvPr>
                <p:cNvSpPr/>
                <p:nvPr/>
              </p:nvSpPr>
              <p:spPr>
                <a:xfrm>
                  <a:off x="10512625" y="1744747"/>
                  <a:ext cx="839021" cy="802091"/>
                </a:xfrm>
                <a:prstGeom prst="ellips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79" name="Oval 78">
                  <a:extLst>
                    <a:ext uri="{FF2B5EF4-FFF2-40B4-BE49-F238E27FC236}">
                      <a16:creationId xmlns="" xmlns:a16="http://schemas.microsoft.com/office/drawing/2014/main" id="{4789EE9C-F7E5-4DFE-969D-8DDD4AF4B4A9}"/>
                    </a:ext>
                  </a:extLst>
                </p:cNvPr>
                <p:cNvSpPr/>
                <p:nvPr/>
              </p:nvSpPr>
              <p:spPr>
                <a:xfrm>
                  <a:off x="10585318" y="1837172"/>
                  <a:ext cx="681980" cy="628192"/>
                </a:xfrm>
                <a:prstGeom prst="ellips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x0</a:t>
                  </a:r>
                </a:p>
              </p:txBody>
            </p:sp>
          </p:grpSp>
        </p:grpSp>
        <p:grpSp>
          <p:nvGrpSpPr>
            <p:cNvPr id="65" name="Group 50">
              <a:extLst>
                <a:ext uri="{FF2B5EF4-FFF2-40B4-BE49-F238E27FC236}">
                  <a16:creationId xmlns="" xmlns:a16="http://schemas.microsoft.com/office/drawing/2014/main" id="{E9E08B4D-2B9C-47B2-8A98-9A4E2B6C7C67}"/>
                </a:ext>
              </a:extLst>
            </p:cNvPr>
            <p:cNvGrpSpPr/>
            <p:nvPr/>
          </p:nvGrpSpPr>
          <p:grpSpPr>
            <a:xfrm>
              <a:off x="1098675" y="1861183"/>
              <a:ext cx="591867" cy="905805"/>
              <a:chOff x="6924745" y="2274367"/>
              <a:chExt cx="591867" cy="936326"/>
            </a:xfrm>
          </p:grpSpPr>
          <p:sp>
            <p:nvSpPr>
              <p:cNvPr id="67" name="Arrow: Up 51">
                <a:extLst>
                  <a:ext uri="{FF2B5EF4-FFF2-40B4-BE49-F238E27FC236}">
                    <a16:creationId xmlns="" xmlns:a16="http://schemas.microsoft.com/office/drawing/2014/main" id="{69058EAB-3E8A-411D-871F-F97C100E736A}"/>
                  </a:ext>
                </a:extLst>
              </p:cNvPr>
              <p:cNvSpPr/>
              <p:nvPr/>
            </p:nvSpPr>
            <p:spPr>
              <a:xfrm rot="10800000">
                <a:off x="7044865" y="2571551"/>
                <a:ext cx="191070" cy="639142"/>
              </a:xfrm>
              <a:prstGeom prst="upArrow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8" name="TextBox 67">
                <a:extLst>
                  <a:ext uri="{FF2B5EF4-FFF2-40B4-BE49-F238E27FC236}">
                    <a16:creationId xmlns="" xmlns:a16="http://schemas.microsoft.com/office/drawing/2014/main" id="{A951844F-C2C6-4DDF-9F21-04565B7BEEA9}"/>
                  </a:ext>
                </a:extLst>
              </p:cNvPr>
              <p:cNvSpPr txBox="1"/>
              <p:nvPr/>
            </p:nvSpPr>
            <p:spPr>
              <a:xfrm>
                <a:off x="6924745" y="2274367"/>
                <a:ext cx="59186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solidFill>
                      <a:schemeClr val="accent3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CS</a:t>
                </a:r>
              </a:p>
            </p:txBody>
          </p:sp>
        </p:grpSp>
      </p:grpSp>
      <p:sp>
        <p:nvSpPr>
          <p:cNvPr id="88" name="Oval 87">
            <a:extLst>
              <a:ext uri="{FF2B5EF4-FFF2-40B4-BE49-F238E27FC236}">
                <a16:creationId xmlns="" xmlns:a16="http://schemas.microsoft.com/office/drawing/2014/main" id="{2F8AC0DC-CB2C-41F4-86A0-1B2179B98F03}"/>
              </a:ext>
            </a:extLst>
          </p:cNvPr>
          <p:cNvSpPr/>
          <p:nvPr/>
        </p:nvSpPr>
        <p:spPr>
          <a:xfrm>
            <a:off x="1020488" y="2964901"/>
            <a:ext cx="665125" cy="546476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x0</a:t>
            </a:r>
          </a:p>
        </p:txBody>
      </p:sp>
    </p:spTree>
    <p:extLst>
      <p:ext uri="{BB962C8B-B14F-4D97-AF65-F5344CB8AC3E}">
        <p14:creationId xmlns:p14="http://schemas.microsoft.com/office/powerpoint/2010/main" val="3092483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149AD530-6C2A-44EA-A853-BAC2857EF1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904" y="858413"/>
            <a:ext cx="4565143" cy="5580529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Empty string transitions are not seen in DFA.</a:t>
            </a:r>
          </a:p>
          <a:p>
            <a:pPr marL="457200" indent="-457200">
              <a:buNone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E7E875E4-C02C-44AD-9251-3D0D7CDF2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26D1DE06-0720-4572-BF37-034426FE1CD7}"/>
              </a:ext>
            </a:extLst>
          </p:cNvPr>
          <p:cNvSpPr txBox="1"/>
          <p:nvPr/>
        </p:nvSpPr>
        <p:spPr>
          <a:xfrm>
            <a:off x="1529669" y="33241"/>
            <a:ext cx="1600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DFA</a:t>
            </a:r>
          </a:p>
        </p:txBody>
      </p:sp>
      <p:sp>
        <p:nvSpPr>
          <p:cNvPr id="44" name="Oval 43">
            <a:extLst>
              <a:ext uri="{FF2B5EF4-FFF2-40B4-BE49-F238E27FC236}">
                <a16:creationId xmlns="" xmlns:a16="http://schemas.microsoft.com/office/drawing/2014/main" id="{2F8AC0DC-CB2C-41F4-86A0-1B2179B98F03}"/>
              </a:ext>
            </a:extLst>
          </p:cNvPr>
          <p:cNvSpPr/>
          <p:nvPr/>
        </p:nvSpPr>
        <p:spPr>
          <a:xfrm>
            <a:off x="7488696" y="2610278"/>
            <a:ext cx="665125" cy="546476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x0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="" xmlns:a16="http://schemas.microsoft.com/office/drawing/2014/main" id="{4ED94321-EC8D-47E8-B1C4-A1183E65D1D4}"/>
              </a:ext>
            </a:extLst>
          </p:cNvPr>
          <p:cNvCxnSpPr>
            <a:cxnSpLocks/>
          </p:cNvCxnSpPr>
          <p:nvPr/>
        </p:nvCxnSpPr>
        <p:spPr>
          <a:xfrm>
            <a:off x="6949798" y="2940164"/>
            <a:ext cx="511802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Oval 45">
            <a:extLst>
              <a:ext uri="{FF2B5EF4-FFF2-40B4-BE49-F238E27FC236}">
                <a16:creationId xmlns="" xmlns:a16="http://schemas.microsoft.com/office/drawing/2014/main" id="{5DF5953E-B986-4B7C-B688-CAB63D1C0BF8}"/>
              </a:ext>
            </a:extLst>
          </p:cNvPr>
          <p:cNvSpPr/>
          <p:nvPr/>
        </p:nvSpPr>
        <p:spPr>
          <a:xfrm>
            <a:off x="8907032" y="2572989"/>
            <a:ext cx="665125" cy="546476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x1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="" xmlns:a16="http://schemas.microsoft.com/office/drawing/2014/main" id="{A070CF6C-C892-43CE-97BC-ADEE3BF638CC}"/>
              </a:ext>
            </a:extLst>
          </p:cNvPr>
          <p:cNvCxnSpPr>
            <a:cxnSpLocks/>
          </p:cNvCxnSpPr>
          <p:nvPr/>
        </p:nvCxnSpPr>
        <p:spPr>
          <a:xfrm>
            <a:off x="8186007" y="2900707"/>
            <a:ext cx="680684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="" xmlns:a16="http://schemas.microsoft.com/office/drawing/2014/main" id="{DEDC641C-F775-4A1F-86E8-ECA48D51C1A8}"/>
              </a:ext>
            </a:extLst>
          </p:cNvPr>
          <p:cNvSpPr txBox="1"/>
          <p:nvPr/>
        </p:nvSpPr>
        <p:spPr>
          <a:xfrm>
            <a:off x="6855759" y="0"/>
            <a:ext cx="1600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NDFA</a:t>
            </a:r>
          </a:p>
        </p:txBody>
      </p:sp>
      <p:sp>
        <p:nvSpPr>
          <p:cNvPr id="50" name="Content Placeholder 2">
            <a:extLst>
              <a:ext uri="{FF2B5EF4-FFF2-40B4-BE49-F238E27FC236}">
                <a16:creationId xmlns="" xmlns:a16="http://schemas.microsoft.com/office/drawing/2014/main" id="{4BC9451E-7A47-401A-A903-20E228779627}"/>
              </a:ext>
            </a:extLst>
          </p:cNvPr>
          <p:cNvSpPr txBox="1">
            <a:spLocks/>
          </p:cNvSpPr>
          <p:nvPr/>
        </p:nvSpPr>
        <p:spPr>
          <a:xfrm>
            <a:off x="5537633" y="793270"/>
            <a:ext cx="4565144" cy="91450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457200" indent="-457200">
              <a:buFont typeface="+mj-lt"/>
              <a:buAutoNum type="arabicPeriod" startAt="2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NDFA permits empty string transitions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   Input b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+mj-lt"/>
              <a:buAutoNum type="arabicPeriod" startAt="2"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1" name="Group 53">
            <a:extLst>
              <a:ext uri="{FF2B5EF4-FFF2-40B4-BE49-F238E27FC236}">
                <a16:creationId xmlns="" xmlns:a16="http://schemas.microsoft.com/office/drawing/2014/main" id="{752FEB1C-6360-4556-83B8-27D81FE9D7C1}"/>
              </a:ext>
            </a:extLst>
          </p:cNvPr>
          <p:cNvGrpSpPr/>
          <p:nvPr/>
        </p:nvGrpSpPr>
        <p:grpSpPr>
          <a:xfrm>
            <a:off x="9045635" y="1618561"/>
            <a:ext cx="672626" cy="905805"/>
            <a:chOff x="6924745" y="2274367"/>
            <a:chExt cx="672626" cy="936326"/>
          </a:xfrm>
        </p:grpSpPr>
        <p:sp>
          <p:nvSpPr>
            <p:cNvPr id="55" name="Arrow: Up 54">
              <a:extLst>
                <a:ext uri="{FF2B5EF4-FFF2-40B4-BE49-F238E27FC236}">
                  <a16:creationId xmlns="" xmlns:a16="http://schemas.microsoft.com/office/drawing/2014/main" id="{ADD007C3-9F1D-4C3C-A641-BCF728050686}"/>
                </a:ext>
              </a:extLst>
            </p:cNvPr>
            <p:cNvSpPr/>
            <p:nvPr/>
          </p:nvSpPr>
          <p:spPr>
            <a:xfrm rot="10800000">
              <a:off x="7044865" y="2571551"/>
              <a:ext cx="191070" cy="639142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6" name="TextBox 55">
              <a:extLst>
                <a:ext uri="{FF2B5EF4-FFF2-40B4-BE49-F238E27FC236}">
                  <a16:creationId xmlns="" xmlns:a16="http://schemas.microsoft.com/office/drawing/2014/main" id="{B8B9C6C7-CF78-4063-9769-00A40ED2E376}"/>
                </a:ext>
              </a:extLst>
            </p:cNvPr>
            <p:cNvSpPr txBox="1"/>
            <p:nvPr/>
          </p:nvSpPr>
          <p:spPr>
            <a:xfrm>
              <a:off x="6924745" y="2274367"/>
              <a:ext cx="672626" cy="381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CS-2</a:t>
              </a:r>
            </a:p>
          </p:txBody>
        </p:sp>
      </p:grpSp>
      <p:grpSp>
        <p:nvGrpSpPr>
          <p:cNvPr id="12" name="Group 56">
            <a:extLst>
              <a:ext uri="{FF2B5EF4-FFF2-40B4-BE49-F238E27FC236}">
                <a16:creationId xmlns="" xmlns:a16="http://schemas.microsoft.com/office/drawing/2014/main" id="{4CBB83FE-F277-41E5-8DCB-AE43A9635FE7}"/>
              </a:ext>
            </a:extLst>
          </p:cNvPr>
          <p:cNvGrpSpPr/>
          <p:nvPr/>
        </p:nvGrpSpPr>
        <p:grpSpPr>
          <a:xfrm rot="16570989">
            <a:off x="6689625" y="3690065"/>
            <a:ext cx="369332" cy="1218389"/>
            <a:chOff x="6953834" y="1951251"/>
            <a:chExt cx="369332" cy="1259442"/>
          </a:xfrm>
        </p:grpSpPr>
        <p:sp>
          <p:nvSpPr>
            <p:cNvPr id="58" name="Arrow: Up 57">
              <a:extLst>
                <a:ext uri="{FF2B5EF4-FFF2-40B4-BE49-F238E27FC236}">
                  <a16:creationId xmlns="" xmlns:a16="http://schemas.microsoft.com/office/drawing/2014/main" id="{DF2C82C1-00D3-4BF5-B1F2-C82648F11A84}"/>
                </a:ext>
              </a:extLst>
            </p:cNvPr>
            <p:cNvSpPr/>
            <p:nvPr/>
          </p:nvSpPr>
          <p:spPr>
            <a:xfrm rot="10800000">
              <a:off x="7044865" y="2571551"/>
              <a:ext cx="191070" cy="639142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9" name="TextBox 58">
              <a:extLst>
                <a:ext uri="{FF2B5EF4-FFF2-40B4-BE49-F238E27FC236}">
                  <a16:creationId xmlns="" xmlns:a16="http://schemas.microsoft.com/office/drawing/2014/main" id="{8FC6C410-F17D-4F4F-981D-93E3AA6AF3D4}"/>
                </a:ext>
              </a:extLst>
            </p:cNvPr>
            <p:cNvSpPr txBox="1"/>
            <p:nvPr/>
          </p:nvSpPr>
          <p:spPr>
            <a:xfrm rot="5029011">
              <a:off x="6773429" y="2131656"/>
              <a:ext cx="73014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CS-1</a:t>
              </a:r>
            </a:p>
          </p:txBody>
        </p:sp>
      </p:grpSp>
      <p:sp>
        <p:nvSpPr>
          <p:cNvPr id="60" name="TextBox 59">
            <a:extLst>
              <a:ext uri="{FF2B5EF4-FFF2-40B4-BE49-F238E27FC236}">
                <a16:creationId xmlns="" xmlns:a16="http://schemas.microsoft.com/office/drawing/2014/main" id="{E54307C2-6037-4422-84D8-931A6A150CC8}"/>
              </a:ext>
            </a:extLst>
          </p:cNvPr>
          <p:cNvSpPr txBox="1"/>
          <p:nvPr/>
        </p:nvSpPr>
        <p:spPr>
          <a:xfrm>
            <a:off x="8268296" y="2474600"/>
            <a:ext cx="6185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^</a:t>
            </a:r>
          </a:p>
        </p:txBody>
      </p:sp>
      <p:sp>
        <p:nvSpPr>
          <p:cNvPr id="62" name="Oval 61">
            <a:extLst>
              <a:ext uri="{FF2B5EF4-FFF2-40B4-BE49-F238E27FC236}">
                <a16:creationId xmlns="" xmlns:a16="http://schemas.microsoft.com/office/drawing/2014/main" id="{6F378CE0-9451-48A3-8422-0863CC703327}"/>
              </a:ext>
            </a:extLst>
          </p:cNvPr>
          <p:cNvSpPr/>
          <p:nvPr/>
        </p:nvSpPr>
        <p:spPr>
          <a:xfrm>
            <a:off x="7497038" y="4130932"/>
            <a:ext cx="665125" cy="546476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x2</a:t>
            </a:r>
          </a:p>
        </p:txBody>
      </p:sp>
      <p:sp>
        <p:nvSpPr>
          <p:cNvPr id="64" name="Oval 63">
            <a:extLst>
              <a:ext uri="{FF2B5EF4-FFF2-40B4-BE49-F238E27FC236}">
                <a16:creationId xmlns="" xmlns:a16="http://schemas.microsoft.com/office/drawing/2014/main" id="{A6A33E05-B10B-49E1-892D-603CCBF32AA9}"/>
              </a:ext>
            </a:extLst>
          </p:cNvPr>
          <p:cNvSpPr/>
          <p:nvPr/>
        </p:nvSpPr>
        <p:spPr>
          <a:xfrm>
            <a:off x="8915374" y="4093643"/>
            <a:ext cx="665125" cy="546476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x3</a:t>
            </a: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="" xmlns:a16="http://schemas.microsoft.com/office/drawing/2014/main" id="{FA696AA6-2FC6-4B9C-B44F-4CFC5E85CFA4}"/>
              </a:ext>
            </a:extLst>
          </p:cNvPr>
          <p:cNvCxnSpPr>
            <a:cxnSpLocks/>
            <a:endCxn id="62" idx="0"/>
          </p:cNvCxnSpPr>
          <p:nvPr/>
        </p:nvCxnSpPr>
        <p:spPr>
          <a:xfrm flipH="1">
            <a:off x="7829601" y="3229816"/>
            <a:ext cx="16064" cy="901116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="" xmlns:a16="http://schemas.microsoft.com/office/drawing/2014/main" id="{032430B4-2905-4B36-B797-556BB9A0E834}"/>
              </a:ext>
            </a:extLst>
          </p:cNvPr>
          <p:cNvCxnSpPr>
            <a:cxnSpLocks/>
          </p:cNvCxnSpPr>
          <p:nvPr/>
        </p:nvCxnSpPr>
        <p:spPr>
          <a:xfrm flipH="1">
            <a:off x="9231872" y="3155996"/>
            <a:ext cx="16064" cy="901116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="" xmlns:a16="http://schemas.microsoft.com/office/drawing/2014/main" id="{57DD894C-7D6F-4C21-943F-0C5388BAEF79}"/>
              </a:ext>
            </a:extLst>
          </p:cNvPr>
          <p:cNvSpPr txBox="1"/>
          <p:nvPr/>
        </p:nvSpPr>
        <p:spPr>
          <a:xfrm>
            <a:off x="9247936" y="3399709"/>
            <a:ext cx="3356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</a:t>
            </a:r>
            <a:endParaRPr lang="en-US" dirty="0"/>
          </a:p>
        </p:txBody>
      </p:sp>
      <p:sp>
        <p:nvSpPr>
          <p:cNvPr id="71" name="TextBox 70">
            <a:extLst>
              <a:ext uri="{FF2B5EF4-FFF2-40B4-BE49-F238E27FC236}">
                <a16:creationId xmlns="" xmlns:a16="http://schemas.microsoft.com/office/drawing/2014/main" id="{C1A72D2C-10F8-483A-84FB-7FA933F14E88}"/>
              </a:ext>
            </a:extLst>
          </p:cNvPr>
          <p:cNvSpPr txBox="1"/>
          <p:nvPr/>
        </p:nvSpPr>
        <p:spPr>
          <a:xfrm>
            <a:off x="7225641" y="3413156"/>
            <a:ext cx="6726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a/b</a:t>
            </a:r>
            <a:endParaRPr lang="en-US" dirty="0"/>
          </a:p>
        </p:txBody>
      </p:sp>
      <p:sp>
        <p:nvSpPr>
          <p:cNvPr id="48" name="Oval 47">
            <a:extLst>
              <a:ext uri="{FF2B5EF4-FFF2-40B4-BE49-F238E27FC236}">
                <a16:creationId xmlns="" xmlns:a16="http://schemas.microsoft.com/office/drawing/2014/main" id="{A6A33E05-B10B-49E1-892D-603CCBF32AA9}"/>
              </a:ext>
            </a:extLst>
          </p:cNvPr>
          <p:cNvSpPr/>
          <p:nvPr/>
        </p:nvSpPr>
        <p:spPr>
          <a:xfrm>
            <a:off x="10439374" y="3401981"/>
            <a:ext cx="665125" cy="546476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x4</a:t>
            </a:r>
            <a:endParaRPr lang="en-US" dirty="0"/>
          </a:p>
        </p:txBody>
      </p:sp>
      <p:sp>
        <p:nvSpPr>
          <p:cNvPr id="51" name="TextBox 50">
            <a:extLst>
              <a:ext uri="{FF2B5EF4-FFF2-40B4-BE49-F238E27FC236}">
                <a16:creationId xmlns="" xmlns:a16="http://schemas.microsoft.com/office/drawing/2014/main" id="{57DD894C-7D6F-4C21-943F-0C5388BAEF79}"/>
              </a:ext>
            </a:extLst>
          </p:cNvPr>
          <p:cNvSpPr txBox="1"/>
          <p:nvPr/>
        </p:nvSpPr>
        <p:spPr>
          <a:xfrm>
            <a:off x="10015797" y="2875102"/>
            <a:ext cx="3356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b</a:t>
            </a:r>
            <a:endParaRPr lang="en-US" dirty="0"/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="" xmlns:a16="http://schemas.microsoft.com/office/drawing/2014/main" id="{032430B4-2905-4B36-B797-556BB9A0E834}"/>
              </a:ext>
            </a:extLst>
          </p:cNvPr>
          <p:cNvCxnSpPr>
            <a:cxnSpLocks/>
            <a:endCxn id="48" idx="2"/>
          </p:cNvCxnSpPr>
          <p:nvPr/>
        </p:nvCxnSpPr>
        <p:spPr>
          <a:xfrm>
            <a:off x="9620144" y="2991872"/>
            <a:ext cx="819230" cy="683347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7" name="Group 56"/>
          <p:cNvGrpSpPr/>
          <p:nvPr/>
        </p:nvGrpSpPr>
        <p:grpSpPr>
          <a:xfrm>
            <a:off x="238526" y="4199937"/>
            <a:ext cx="4863683" cy="1787494"/>
            <a:chOff x="317657" y="1861183"/>
            <a:chExt cx="4863683" cy="1787494"/>
          </a:xfrm>
        </p:grpSpPr>
        <p:grpSp>
          <p:nvGrpSpPr>
            <p:cNvPr id="61" name="Group 1">
              <a:extLst>
                <a:ext uri="{FF2B5EF4-FFF2-40B4-BE49-F238E27FC236}">
                  <a16:creationId xmlns="" xmlns:a16="http://schemas.microsoft.com/office/drawing/2014/main" id="{3407459D-8EE9-45D0-962B-F34BC30F2FAA}"/>
                </a:ext>
              </a:extLst>
            </p:cNvPr>
            <p:cNvGrpSpPr/>
            <p:nvPr/>
          </p:nvGrpSpPr>
          <p:grpSpPr>
            <a:xfrm>
              <a:off x="317657" y="2806244"/>
              <a:ext cx="4863683" cy="842433"/>
              <a:chOff x="4931358" y="2304257"/>
              <a:chExt cx="4863683" cy="842433"/>
            </a:xfrm>
          </p:grpSpPr>
          <p:cxnSp>
            <p:nvCxnSpPr>
              <p:cNvPr id="68" name="Straight Arrow Connector 67">
                <a:extLst>
                  <a:ext uri="{FF2B5EF4-FFF2-40B4-BE49-F238E27FC236}">
                    <a16:creationId xmlns="" xmlns:a16="http://schemas.microsoft.com/office/drawing/2014/main" id="{7D659041-649F-4D29-85D5-F22DB2D1156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31358" y="2765246"/>
                <a:ext cx="556591" cy="1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72" name="Group 28">
                <a:extLst>
                  <a:ext uri="{FF2B5EF4-FFF2-40B4-BE49-F238E27FC236}">
                    <a16:creationId xmlns="" xmlns:a16="http://schemas.microsoft.com/office/drawing/2014/main" id="{21BDFBF6-3737-498B-B845-A23145FE5D0C}"/>
                  </a:ext>
                </a:extLst>
              </p:cNvPr>
              <p:cNvGrpSpPr/>
              <p:nvPr/>
            </p:nvGrpSpPr>
            <p:grpSpPr>
              <a:xfrm>
                <a:off x="7233544" y="2344599"/>
                <a:ext cx="839021" cy="802091"/>
                <a:chOff x="10458837" y="1785088"/>
                <a:chExt cx="839021" cy="802091"/>
              </a:xfrm>
            </p:grpSpPr>
            <p:sp>
              <p:nvSpPr>
                <p:cNvPr id="85" name="Oval 84">
                  <a:extLst>
                    <a:ext uri="{FF2B5EF4-FFF2-40B4-BE49-F238E27FC236}">
                      <a16:creationId xmlns="" xmlns:a16="http://schemas.microsoft.com/office/drawing/2014/main" id="{AEC12217-3F4B-40DA-9B86-78D6E8BF993D}"/>
                    </a:ext>
                  </a:extLst>
                </p:cNvPr>
                <p:cNvSpPr/>
                <p:nvPr/>
              </p:nvSpPr>
              <p:spPr>
                <a:xfrm>
                  <a:off x="10458837" y="1785088"/>
                  <a:ext cx="839021" cy="802091"/>
                </a:xfrm>
                <a:prstGeom prst="ellips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86" name="Oval 85">
                  <a:extLst>
                    <a:ext uri="{FF2B5EF4-FFF2-40B4-BE49-F238E27FC236}">
                      <a16:creationId xmlns="" xmlns:a16="http://schemas.microsoft.com/office/drawing/2014/main" id="{C4C249AF-D7E6-419B-988D-D41D419ADA3D}"/>
                    </a:ext>
                  </a:extLst>
                </p:cNvPr>
                <p:cNvSpPr/>
                <p:nvPr/>
              </p:nvSpPr>
              <p:spPr>
                <a:xfrm>
                  <a:off x="10544977" y="1877513"/>
                  <a:ext cx="681980" cy="628192"/>
                </a:xfrm>
                <a:prstGeom prst="ellips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x1</a:t>
                  </a:r>
                </a:p>
              </p:txBody>
            </p:sp>
          </p:grpSp>
          <p:grpSp>
            <p:nvGrpSpPr>
              <p:cNvPr id="73" name="Group 31">
                <a:extLst>
                  <a:ext uri="{FF2B5EF4-FFF2-40B4-BE49-F238E27FC236}">
                    <a16:creationId xmlns="" xmlns:a16="http://schemas.microsoft.com/office/drawing/2014/main" id="{902C3A67-4AB9-4662-8F1C-815FBE9E5772}"/>
                  </a:ext>
                </a:extLst>
              </p:cNvPr>
              <p:cNvGrpSpPr/>
              <p:nvPr/>
            </p:nvGrpSpPr>
            <p:grpSpPr>
              <a:xfrm>
                <a:off x="8956020" y="2304257"/>
                <a:ext cx="839021" cy="802091"/>
                <a:chOff x="10512625" y="1744747"/>
                <a:chExt cx="839021" cy="802091"/>
              </a:xfrm>
            </p:grpSpPr>
            <p:sp>
              <p:nvSpPr>
                <p:cNvPr id="83" name="Oval 82">
                  <a:extLst>
                    <a:ext uri="{FF2B5EF4-FFF2-40B4-BE49-F238E27FC236}">
                      <a16:creationId xmlns="" xmlns:a16="http://schemas.microsoft.com/office/drawing/2014/main" id="{654C964B-B210-4402-9FC6-3A475B2507F0}"/>
                    </a:ext>
                  </a:extLst>
                </p:cNvPr>
                <p:cNvSpPr/>
                <p:nvPr/>
              </p:nvSpPr>
              <p:spPr>
                <a:xfrm>
                  <a:off x="10512625" y="1744747"/>
                  <a:ext cx="839021" cy="802091"/>
                </a:xfrm>
                <a:prstGeom prst="ellips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84" name="Oval 83">
                  <a:extLst>
                    <a:ext uri="{FF2B5EF4-FFF2-40B4-BE49-F238E27FC236}">
                      <a16:creationId xmlns="" xmlns:a16="http://schemas.microsoft.com/office/drawing/2014/main" id="{690B9038-E591-48DB-8D9E-BEA65AE2CA8E}"/>
                    </a:ext>
                  </a:extLst>
                </p:cNvPr>
                <p:cNvSpPr/>
                <p:nvPr/>
              </p:nvSpPr>
              <p:spPr>
                <a:xfrm>
                  <a:off x="10585318" y="1837172"/>
                  <a:ext cx="681980" cy="628192"/>
                </a:xfrm>
                <a:prstGeom prst="ellips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x2</a:t>
                  </a:r>
                </a:p>
              </p:txBody>
            </p:sp>
          </p:grpSp>
          <p:grpSp>
            <p:nvGrpSpPr>
              <p:cNvPr id="74" name="Group 34">
                <a:extLst>
                  <a:ext uri="{FF2B5EF4-FFF2-40B4-BE49-F238E27FC236}">
                    <a16:creationId xmlns="" xmlns:a16="http://schemas.microsoft.com/office/drawing/2014/main" id="{1759F2FC-6A06-4B49-BB1C-A4B869BB7D7F}"/>
                  </a:ext>
                </a:extLst>
              </p:cNvPr>
              <p:cNvGrpSpPr/>
              <p:nvPr/>
            </p:nvGrpSpPr>
            <p:grpSpPr>
              <a:xfrm>
                <a:off x="6382024" y="2420374"/>
                <a:ext cx="839021" cy="369332"/>
                <a:chOff x="7435657" y="3287208"/>
                <a:chExt cx="1162516" cy="369332"/>
              </a:xfrm>
            </p:grpSpPr>
            <p:cxnSp>
              <p:nvCxnSpPr>
                <p:cNvPr id="81" name="Straight Arrow Connector 80">
                  <a:extLst>
                    <a:ext uri="{FF2B5EF4-FFF2-40B4-BE49-F238E27FC236}">
                      <a16:creationId xmlns="" xmlns:a16="http://schemas.microsoft.com/office/drawing/2014/main" id="{A1F69A51-BF29-4F8B-829E-CE0E65915941}"/>
                    </a:ext>
                  </a:extLst>
                </p:cNvPr>
                <p:cNvCxnSpPr/>
                <p:nvPr/>
              </p:nvCxnSpPr>
              <p:spPr>
                <a:xfrm>
                  <a:off x="7435657" y="3623630"/>
                  <a:ext cx="1162516" cy="0"/>
                </a:xfrm>
                <a:prstGeom prst="straightConnector1">
                  <a:avLst/>
                </a:prstGeom>
                <a:ln w="38100">
                  <a:solidFill>
                    <a:schemeClr val="bg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82" name="TextBox 81">
                  <a:extLst>
                    <a:ext uri="{FF2B5EF4-FFF2-40B4-BE49-F238E27FC236}">
                      <a16:creationId xmlns="" xmlns:a16="http://schemas.microsoft.com/office/drawing/2014/main" id="{DA8C129A-F994-4515-8930-855F02A7AD28}"/>
                    </a:ext>
                  </a:extLst>
                </p:cNvPr>
                <p:cNvSpPr txBox="1"/>
                <p:nvPr/>
              </p:nvSpPr>
              <p:spPr>
                <a:xfrm>
                  <a:off x="7554876" y="3287208"/>
                  <a:ext cx="93196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a/b</a:t>
                  </a:r>
                </a:p>
              </p:txBody>
            </p:sp>
          </p:grpSp>
          <p:grpSp>
            <p:nvGrpSpPr>
              <p:cNvPr id="75" name="Group 37">
                <a:extLst>
                  <a:ext uri="{FF2B5EF4-FFF2-40B4-BE49-F238E27FC236}">
                    <a16:creationId xmlns="" xmlns:a16="http://schemas.microsoft.com/office/drawing/2014/main" id="{5F8E4A51-BBB0-4F22-9F33-52AFB1CF1B77}"/>
                  </a:ext>
                </a:extLst>
              </p:cNvPr>
              <p:cNvGrpSpPr/>
              <p:nvPr/>
            </p:nvGrpSpPr>
            <p:grpSpPr>
              <a:xfrm>
                <a:off x="8104100" y="2362885"/>
                <a:ext cx="839021" cy="376763"/>
                <a:chOff x="7491553" y="3260314"/>
                <a:chExt cx="1162516" cy="376763"/>
              </a:xfrm>
            </p:grpSpPr>
            <p:cxnSp>
              <p:nvCxnSpPr>
                <p:cNvPr id="79" name="Straight Arrow Connector 78">
                  <a:extLst>
                    <a:ext uri="{FF2B5EF4-FFF2-40B4-BE49-F238E27FC236}">
                      <a16:creationId xmlns="" xmlns:a16="http://schemas.microsoft.com/office/drawing/2014/main" id="{1863340D-83A7-454C-8884-67F4279D6ACF}"/>
                    </a:ext>
                  </a:extLst>
                </p:cNvPr>
                <p:cNvCxnSpPr/>
                <p:nvPr/>
              </p:nvCxnSpPr>
              <p:spPr>
                <a:xfrm>
                  <a:off x="7491553" y="3637077"/>
                  <a:ext cx="1162516" cy="0"/>
                </a:xfrm>
                <a:prstGeom prst="straightConnector1">
                  <a:avLst/>
                </a:prstGeom>
                <a:ln w="38100">
                  <a:solidFill>
                    <a:schemeClr val="bg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80" name="TextBox 79">
                  <a:extLst>
                    <a:ext uri="{FF2B5EF4-FFF2-40B4-BE49-F238E27FC236}">
                      <a16:creationId xmlns="" xmlns:a16="http://schemas.microsoft.com/office/drawing/2014/main" id="{3BED651A-1442-41C3-A692-6EF76089924F}"/>
                    </a:ext>
                  </a:extLst>
                </p:cNvPr>
                <p:cNvSpPr txBox="1"/>
                <p:nvPr/>
              </p:nvSpPr>
              <p:spPr>
                <a:xfrm>
                  <a:off x="7554876" y="3260314"/>
                  <a:ext cx="93196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a/b</a:t>
                  </a:r>
                </a:p>
              </p:txBody>
            </p:sp>
          </p:grpSp>
          <p:grpSp>
            <p:nvGrpSpPr>
              <p:cNvPr id="76" name="Group 40">
                <a:extLst>
                  <a:ext uri="{FF2B5EF4-FFF2-40B4-BE49-F238E27FC236}">
                    <a16:creationId xmlns="" xmlns:a16="http://schemas.microsoft.com/office/drawing/2014/main" id="{7F496128-87E5-4061-9F8E-A4E9AC2C8A2F}"/>
                  </a:ext>
                </a:extLst>
              </p:cNvPr>
              <p:cNvGrpSpPr/>
              <p:nvPr/>
            </p:nvGrpSpPr>
            <p:grpSpPr>
              <a:xfrm>
                <a:off x="5520876" y="2338470"/>
                <a:ext cx="839021" cy="802091"/>
                <a:chOff x="10512625" y="1744747"/>
                <a:chExt cx="839021" cy="802091"/>
              </a:xfrm>
            </p:grpSpPr>
            <p:sp>
              <p:nvSpPr>
                <p:cNvPr id="77" name="Oval 76">
                  <a:extLst>
                    <a:ext uri="{FF2B5EF4-FFF2-40B4-BE49-F238E27FC236}">
                      <a16:creationId xmlns="" xmlns:a16="http://schemas.microsoft.com/office/drawing/2014/main" id="{9B6BE869-6D99-48F8-817C-D903F081BEFB}"/>
                    </a:ext>
                  </a:extLst>
                </p:cNvPr>
                <p:cNvSpPr/>
                <p:nvPr/>
              </p:nvSpPr>
              <p:spPr>
                <a:xfrm>
                  <a:off x="10512625" y="1744747"/>
                  <a:ext cx="839021" cy="802091"/>
                </a:xfrm>
                <a:prstGeom prst="ellips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78" name="Oval 77">
                  <a:extLst>
                    <a:ext uri="{FF2B5EF4-FFF2-40B4-BE49-F238E27FC236}">
                      <a16:creationId xmlns="" xmlns:a16="http://schemas.microsoft.com/office/drawing/2014/main" id="{4789EE9C-F7E5-4DFE-969D-8DDD4AF4B4A9}"/>
                    </a:ext>
                  </a:extLst>
                </p:cNvPr>
                <p:cNvSpPr/>
                <p:nvPr/>
              </p:nvSpPr>
              <p:spPr>
                <a:xfrm>
                  <a:off x="10585318" y="1837172"/>
                  <a:ext cx="681980" cy="628192"/>
                </a:xfrm>
                <a:prstGeom prst="ellips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x0</a:t>
                  </a:r>
                </a:p>
              </p:txBody>
            </p:sp>
          </p:grpSp>
        </p:grpSp>
        <p:grpSp>
          <p:nvGrpSpPr>
            <p:cNvPr id="63" name="Group 50">
              <a:extLst>
                <a:ext uri="{FF2B5EF4-FFF2-40B4-BE49-F238E27FC236}">
                  <a16:creationId xmlns="" xmlns:a16="http://schemas.microsoft.com/office/drawing/2014/main" id="{E9E08B4D-2B9C-47B2-8A98-9A4E2B6C7C67}"/>
                </a:ext>
              </a:extLst>
            </p:cNvPr>
            <p:cNvGrpSpPr/>
            <p:nvPr/>
          </p:nvGrpSpPr>
          <p:grpSpPr>
            <a:xfrm>
              <a:off x="1098675" y="1861183"/>
              <a:ext cx="591867" cy="905805"/>
              <a:chOff x="6924745" y="2274367"/>
              <a:chExt cx="591867" cy="936326"/>
            </a:xfrm>
          </p:grpSpPr>
          <p:sp>
            <p:nvSpPr>
              <p:cNvPr id="65" name="Arrow: Up 51">
                <a:extLst>
                  <a:ext uri="{FF2B5EF4-FFF2-40B4-BE49-F238E27FC236}">
                    <a16:creationId xmlns="" xmlns:a16="http://schemas.microsoft.com/office/drawing/2014/main" id="{69058EAB-3E8A-411D-871F-F97C100E736A}"/>
                  </a:ext>
                </a:extLst>
              </p:cNvPr>
              <p:cNvSpPr/>
              <p:nvPr/>
            </p:nvSpPr>
            <p:spPr>
              <a:xfrm rot="10800000">
                <a:off x="7044865" y="2571551"/>
                <a:ext cx="191070" cy="639142"/>
              </a:xfrm>
              <a:prstGeom prst="upArrow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="" xmlns:a16="http://schemas.microsoft.com/office/drawing/2014/main" id="{A951844F-C2C6-4DDF-9F21-04565B7BEEA9}"/>
                  </a:ext>
                </a:extLst>
              </p:cNvPr>
              <p:cNvSpPr txBox="1"/>
              <p:nvPr/>
            </p:nvSpPr>
            <p:spPr>
              <a:xfrm>
                <a:off x="6924745" y="2274367"/>
                <a:ext cx="59186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solidFill>
                      <a:schemeClr val="accent3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CS</a:t>
                </a:r>
              </a:p>
            </p:txBody>
          </p:sp>
        </p:grpSp>
      </p:grpSp>
      <p:cxnSp>
        <p:nvCxnSpPr>
          <p:cNvPr id="87" name="Straight Arrow Connector 86">
            <a:extLst>
              <a:ext uri="{FF2B5EF4-FFF2-40B4-BE49-F238E27FC236}">
                <a16:creationId xmlns="" xmlns:a16="http://schemas.microsoft.com/office/drawing/2014/main" id="{7D659041-649F-4D29-85D5-F22DB2D1156C}"/>
              </a:ext>
            </a:extLst>
          </p:cNvPr>
          <p:cNvCxnSpPr>
            <a:cxnSpLocks/>
          </p:cNvCxnSpPr>
          <p:nvPr/>
        </p:nvCxnSpPr>
        <p:spPr>
          <a:xfrm>
            <a:off x="317657" y="3267233"/>
            <a:ext cx="556591" cy="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8" name="Group 28">
            <a:extLst>
              <a:ext uri="{FF2B5EF4-FFF2-40B4-BE49-F238E27FC236}">
                <a16:creationId xmlns="" xmlns:a16="http://schemas.microsoft.com/office/drawing/2014/main" id="{21BDFBF6-3737-498B-B845-A23145FE5D0C}"/>
              </a:ext>
            </a:extLst>
          </p:cNvPr>
          <p:cNvGrpSpPr/>
          <p:nvPr/>
        </p:nvGrpSpPr>
        <p:grpSpPr>
          <a:xfrm>
            <a:off x="2619843" y="2846586"/>
            <a:ext cx="839021" cy="802091"/>
            <a:chOff x="10458837" y="1785088"/>
            <a:chExt cx="839021" cy="802091"/>
          </a:xfrm>
        </p:grpSpPr>
        <p:sp>
          <p:nvSpPr>
            <p:cNvPr id="89" name="Oval 88">
              <a:extLst>
                <a:ext uri="{FF2B5EF4-FFF2-40B4-BE49-F238E27FC236}">
                  <a16:creationId xmlns="" xmlns:a16="http://schemas.microsoft.com/office/drawing/2014/main" id="{AEC12217-3F4B-40DA-9B86-78D6E8BF993D}"/>
                </a:ext>
              </a:extLst>
            </p:cNvPr>
            <p:cNvSpPr/>
            <p:nvPr/>
          </p:nvSpPr>
          <p:spPr>
            <a:xfrm>
              <a:off x="10458837" y="1785088"/>
              <a:ext cx="839021" cy="802091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0" name="Oval 89">
              <a:extLst>
                <a:ext uri="{FF2B5EF4-FFF2-40B4-BE49-F238E27FC236}">
                  <a16:creationId xmlns="" xmlns:a16="http://schemas.microsoft.com/office/drawing/2014/main" id="{C4C249AF-D7E6-419B-988D-D41D419ADA3D}"/>
                </a:ext>
              </a:extLst>
            </p:cNvPr>
            <p:cNvSpPr/>
            <p:nvPr/>
          </p:nvSpPr>
          <p:spPr>
            <a:xfrm>
              <a:off x="10544977" y="1877513"/>
              <a:ext cx="681980" cy="62819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x1</a:t>
              </a:r>
            </a:p>
          </p:txBody>
        </p:sp>
      </p:grpSp>
      <p:grpSp>
        <p:nvGrpSpPr>
          <p:cNvPr id="91" name="Group 31">
            <a:extLst>
              <a:ext uri="{FF2B5EF4-FFF2-40B4-BE49-F238E27FC236}">
                <a16:creationId xmlns="" xmlns:a16="http://schemas.microsoft.com/office/drawing/2014/main" id="{902C3A67-4AB9-4662-8F1C-815FBE9E5772}"/>
              </a:ext>
            </a:extLst>
          </p:cNvPr>
          <p:cNvGrpSpPr/>
          <p:nvPr/>
        </p:nvGrpSpPr>
        <p:grpSpPr>
          <a:xfrm>
            <a:off x="4342319" y="2806244"/>
            <a:ext cx="839021" cy="802091"/>
            <a:chOff x="10512625" y="1744747"/>
            <a:chExt cx="839021" cy="802091"/>
          </a:xfrm>
        </p:grpSpPr>
        <p:sp>
          <p:nvSpPr>
            <p:cNvPr id="92" name="Oval 91">
              <a:extLst>
                <a:ext uri="{FF2B5EF4-FFF2-40B4-BE49-F238E27FC236}">
                  <a16:creationId xmlns="" xmlns:a16="http://schemas.microsoft.com/office/drawing/2014/main" id="{654C964B-B210-4402-9FC6-3A475B2507F0}"/>
                </a:ext>
              </a:extLst>
            </p:cNvPr>
            <p:cNvSpPr/>
            <p:nvPr/>
          </p:nvSpPr>
          <p:spPr>
            <a:xfrm>
              <a:off x="10512625" y="1744747"/>
              <a:ext cx="839021" cy="802091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3" name="Oval 92">
              <a:extLst>
                <a:ext uri="{FF2B5EF4-FFF2-40B4-BE49-F238E27FC236}">
                  <a16:creationId xmlns="" xmlns:a16="http://schemas.microsoft.com/office/drawing/2014/main" id="{690B9038-E591-48DB-8D9E-BEA65AE2CA8E}"/>
                </a:ext>
              </a:extLst>
            </p:cNvPr>
            <p:cNvSpPr/>
            <p:nvPr/>
          </p:nvSpPr>
          <p:spPr>
            <a:xfrm>
              <a:off x="10585318" y="1837172"/>
              <a:ext cx="681980" cy="62819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x2</a:t>
              </a:r>
            </a:p>
          </p:txBody>
        </p:sp>
      </p:grpSp>
      <p:grpSp>
        <p:nvGrpSpPr>
          <p:cNvPr id="94" name="Group 34">
            <a:extLst>
              <a:ext uri="{FF2B5EF4-FFF2-40B4-BE49-F238E27FC236}">
                <a16:creationId xmlns="" xmlns:a16="http://schemas.microsoft.com/office/drawing/2014/main" id="{1759F2FC-6A06-4B49-BB1C-A4B869BB7D7F}"/>
              </a:ext>
            </a:extLst>
          </p:cNvPr>
          <p:cNvGrpSpPr/>
          <p:nvPr/>
        </p:nvGrpSpPr>
        <p:grpSpPr>
          <a:xfrm>
            <a:off x="1768323" y="2922361"/>
            <a:ext cx="839021" cy="369332"/>
            <a:chOff x="7435657" y="3287208"/>
            <a:chExt cx="1162516" cy="369332"/>
          </a:xfrm>
        </p:grpSpPr>
        <p:cxnSp>
          <p:nvCxnSpPr>
            <p:cNvPr id="95" name="Straight Arrow Connector 94">
              <a:extLst>
                <a:ext uri="{FF2B5EF4-FFF2-40B4-BE49-F238E27FC236}">
                  <a16:creationId xmlns="" xmlns:a16="http://schemas.microsoft.com/office/drawing/2014/main" id="{A1F69A51-BF29-4F8B-829E-CE0E65915941}"/>
                </a:ext>
              </a:extLst>
            </p:cNvPr>
            <p:cNvCxnSpPr/>
            <p:nvPr/>
          </p:nvCxnSpPr>
          <p:spPr>
            <a:xfrm>
              <a:off x="7435657" y="3623630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6" name="TextBox 95">
              <a:extLst>
                <a:ext uri="{FF2B5EF4-FFF2-40B4-BE49-F238E27FC236}">
                  <a16:creationId xmlns="" xmlns:a16="http://schemas.microsoft.com/office/drawing/2014/main" id="{DA8C129A-F994-4515-8930-855F02A7AD28}"/>
                </a:ext>
              </a:extLst>
            </p:cNvPr>
            <p:cNvSpPr txBox="1"/>
            <p:nvPr/>
          </p:nvSpPr>
          <p:spPr>
            <a:xfrm>
              <a:off x="7554876" y="3287208"/>
              <a:ext cx="93196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a/b</a:t>
              </a:r>
            </a:p>
          </p:txBody>
        </p:sp>
      </p:grpSp>
      <p:grpSp>
        <p:nvGrpSpPr>
          <p:cNvPr id="97" name="Group 37">
            <a:extLst>
              <a:ext uri="{FF2B5EF4-FFF2-40B4-BE49-F238E27FC236}">
                <a16:creationId xmlns="" xmlns:a16="http://schemas.microsoft.com/office/drawing/2014/main" id="{5F8E4A51-BBB0-4F22-9F33-52AFB1CF1B77}"/>
              </a:ext>
            </a:extLst>
          </p:cNvPr>
          <p:cNvGrpSpPr/>
          <p:nvPr/>
        </p:nvGrpSpPr>
        <p:grpSpPr>
          <a:xfrm>
            <a:off x="3490399" y="2864872"/>
            <a:ext cx="839021" cy="376763"/>
            <a:chOff x="7491553" y="3260314"/>
            <a:chExt cx="1162516" cy="376763"/>
          </a:xfrm>
        </p:grpSpPr>
        <p:cxnSp>
          <p:nvCxnSpPr>
            <p:cNvPr id="98" name="Straight Arrow Connector 97">
              <a:extLst>
                <a:ext uri="{FF2B5EF4-FFF2-40B4-BE49-F238E27FC236}">
                  <a16:creationId xmlns="" xmlns:a16="http://schemas.microsoft.com/office/drawing/2014/main" id="{1863340D-83A7-454C-8884-67F4279D6ACF}"/>
                </a:ext>
              </a:extLst>
            </p:cNvPr>
            <p:cNvCxnSpPr/>
            <p:nvPr/>
          </p:nvCxnSpPr>
          <p:spPr>
            <a:xfrm>
              <a:off x="7491553" y="3637077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9" name="TextBox 98">
              <a:extLst>
                <a:ext uri="{FF2B5EF4-FFF2-40B4-BE49-F238E27FC236}">
                  <a16:creationId xmlns="" xmlns:a16="http://schemas.microsoft.com/office/drawing/2014/main" id="{3BED651A-1442-41C3-A692-6EF76089924F}"/>
                </a:ext>
              </a:extLst>
            </p:cNvPr>
            <p:cNvSpPr txBox="1"/>
            <p:nvPr/>
          </p:nvSpPr>
          <p:spPr>
            <a:xfrm>
              <a:off x="7554876" y="3260314"/>
              <a:ext cx="93196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a/b</a:t>
              </a:r>
            </a:p>
          </p:txBody>
        </p:sp>
      </p:grpSp>
      <p:grpSp>
        <p:nvGrpSpPr>
          <p:cNvPr id="100" name="Group 50">
            <a:extLst>
              <a:ext uri="{FF2B5EF4-FFF2-40B4-BE49-F238E27FC236}">
                <a16:creationId xmlns="" xmlns:a16="http://schemas.microsoft.com/office/drawing/2014/main" id="{E9E08B4D-2B9C-47B2-8A98-9A4E2B6C7C67}"/>
              </a:ext>
            </a:extLst>
          </p:cNvPr>
          <p:cNvGrpSpPr/>
          <p:nvPr/>
        </p:nvGrpSpPr>
        <p:grpSpPr>
          <a:xfrm>
            <a:off x="1098675" y="1861183"/>
            <a:ext cx="591867" cy="905805"/>
            <a:chOff x="6924745" y="2274367"/>
            <a:chExt cx="591867" cy="936326"/>
          </a:xfrm>
        </p:grpSpPr>
        <p:sp>
          <p:nvSpPr>
            <p:cNvPr id="101" name="Arrow: Up 51">
              <a:extLst>
                <a:ext uri="{FF2B5EF4-FFF2-40B4-BE49-F238E27FC236}">
                  <a16:creationId xmlns="" xmlns:a16="http://schemas.microsoft.com/office/drawing/2014/main" id="{69058EAB-3E8A-411D-871F-F97C100E736A}"/>
                </a:ext>
              </a:extLst>
            </p:cNvPr>
            <p:cNvSpPr/>
            <p:nvPr/>
          </p:nvSpPr>
          <p:spPr>
            <a:xfrm rot="10800000">
              <a:off x="7044865" y="2571551"/>
              <a:ext cx="191070" cy="639142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2" name="TextBox 101">
              <a:extLst>
                <a:ext uri="{FF2B5EF4-FFF2-40B4-BE49-F238E27FC236}">
                  <a16:creationId xmlns="" xmlns:a16="http://schemas.microsoft.com/office/drawing/2014/main" id="{A951844F-C2C6-4DDF-9F21-04565B7BEEA9}"/>
                </a:ext>
              </a:extLst>
            </p:cNvPr>
            <p:cNvSpPr txBox="1"/>
            <p:nvPr/>
          </p:nvSpPr>
          <p:spPr>
            <a:xfrm>
              <a:off x="6924745" y="2274367"/>
              <a:ext cx="5918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</a:t>
              </a:r>
            </a:p>
          </p:txBody>
        </p:sp>
      </p:grpSp>
      <p:sp>
        <p:nvSpPr>
          <p:cNvPr id="103" name="Oval 102">
            <a:extLst>
              <a:ext uri="{FF2B5EF4-FFF2-40B4-BE49-F238E27FC236}">
                <a16:creationId xmlns="" xmlns:a16="http://schemas.microsoft.com/office/drawing/2014/main" id="{2F8AC0DC-CB2C-41F4-86A0-1B2179B98F03}"/>
              </a:ext>
            </a:extLst>
          </p:cNvPr>
          <p:cNvSpPr/>
          <p:nvPr/>
        </p:nvSpPr>
        <p:spPr>
          <a:xfrm>
            <a:off x="1002904" y="2947316"/>
            <a:ext cx="665125" cy="546476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x0</a:t>
            </a:r>
          </a:p>
        </p:txBody>
      </p:sp>
    </p:spTree>
    <p:extLst>
      <p:ext uri="{BB962C8B-B14F-4D97-AF65-F5344CB8AC3E}">
        <p14:creationId xmlns:p14="http://schemas.microsoft.com/office/powerpoint/2010/main" val="3092483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149AD530-6C2A-44EA-A853-BAC2857EF1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904" y="858413"/>
            <a:ext cx="4565143" cy="5580529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Empty string transitions are not seen in DFA.</a:t>
            </a:r>
          </a:p>
          <a:p>
            <a:pPr marL="457200" indent="-457200">
              <a:buFont typeface="+mj-lt"/>
              <a:buAutoNum type="arabicPeriod" startAt="2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E7E875E4-C02C-44AD-9251-3D0D7CDF2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26D1DE06-0720-4572-BF37-034426FE1CD7}"/>
              </a:ext>
            </a:extLst>
          </p:cNvPr>
          <p:cNvSpPr txBox="1"/>
          <p:nvPr/>
        </p:nvSpPr>
        <p:spPr>
          <a:xfrm>
            <a:off x="1529669" y="33241"/>
            <a:ext cx="1600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DFA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="" xmlns:a16="http://schemas.microsoft.com/office/drawing/2014/main" id="{7D659041-649F-4D29-85D5-F22DB2D1156C}"/>
              </a:ext>
            </a:extLst>
          </p:cNvPr>
          <p:cNvCxnSpPr>
            <a:cxnSpLocks/>
          </p:cNvCxnSpPr>
          <p:nvPr/>
        </p:nvCxnSpPr>
        <p:spPr>
          <a:xfrm>
            <a:off x="317657" y="3267233"/>
            <a:ext cx="556591" cy="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28">
            <a:extLst>
              <a:ext uri="{FF2B5EF4-FFF2-40B4-BE49-F238E27FC236}">
                <a16:creationId xmlns="" xmlns:a16="http://schemas.microsoft.com/office/drawing/2014/main" id="{21BDFBF6-3737-498B-B845-A23145FE5D0C}"/>
              </a:ext>
            </a:extLst>
          </p:cNvPr>
          <p:cNvGrpSpPr/>
          <p:nvPr/>
        </p:nvGrpSpPr>
        <p:grpSpPr>
          <a:xfrm>
            <a:off x="2619843" y="2846586"/>
            <a:ext cx="839021" cy="802091"/>
            <a:chOff x="10458837" y="1785088"/>
            <a:chExt cx="839021" cy="802091"/>
          </a:xfrm>
        </p:grpSpPr>
        <p:sp>
          <p:nvSpPr>
            <p:cNvPr id="30" name="Oval 29">
              <a:extLst>
                <a:ext uri="{FF2B5EF4-FFF2-40B4-BE49-F238E27FC236}">
                  <a16:creationId xmlns="" xmlns:a16="http://schemas.microsoft.com/office/drawing/2014/main" id="{AEC12217-3F4B-40DA-9B86-78D6E8BF993D}"/>
                </a:ext>
              </a:extLst>
            </p:cNvPr>
            <p:cNvSpPr/>
            <p:nvPr/>
          </p:nvSpPr>
          <p:spPr>
            <a:xfrm>
              <a:off x="10458837" y="1785088"/>
              <a:ext cx="839021" cy="802091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" name="Oval 30">
              <a:extLst>
                <a:ext uri="{FF2B5EF4-FFF2-40B4-BE49-F238E27FC236}">
                  <a16:creationId xmlns="" xmlns:a16="http://schemas.microsoft.com/office/drawing/2014/main" id="{C4C249AF-D7E6-419B-988D-D41D419ADA3D}"/>
                </a:ext>
              </a:extLst>
            </p:cNvPr>
            <p:cNvSpPr/>
            <p:nvPr/>
          </p:nvSpPr>
          <p:spPr>
            <a:xfrm>
              <a:off x="10544977" y="1877513"/>
              <a:ext cx="681980" cy="62819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x1</a:t>
              </a:r>
            </a:p>
          </p:txBody>
        </p:sp>
      </p:grpSp>
      <p:grpSp>
        <p:nvGrpSpPr>
          <p:cNvPr id="5" name="Group 31">
            <a:extLst>
              <a:ext uri="{FF2B5EF4-FFF2-40B4-BE49-F238E27FC236}">
                <a16:creationId xmlns="" xmlns:a16="http://schemas.microsoft.com/office/drawing/2014/main" id="{902C3A67-4AB9-4662-8F1C-815FBE9E5772}"/>
              </a:ext>
            </a:extLst>
          </p:cNvPr>
          <p:cNvGrpSpPr/>
          <p:nvPr/>
        </p:nvGrpSpPr>
        <p:grpSpPr>
          <a:xfrm>
            <a:off x="4342319" y="2806244"/>
            <a:ext cx="839021" cy="802091"/>
            <a:chOff x="10512625" y="1744747"/>
            <a:chExt cx="839021" cy="802091"/>
          </a:xfrm>
        </p:grpSpPr>
        <p:sp>
          <p:nvSpPr>
            <p:cNvPr id="33" name="Oval 32">
              <a:extLst>
                <a:ext uri="{FF2B5EF4-FFF2-40B4-BE49-F238E27FC236}">
                  <a16:creationId xmlns="" xmlns:a16="http://schemas.microsoft.com/office/drawing/2014/main" id="{654C964B-B210-4402-9FC6-3A475B2507F0}"/>
                </a:ext>
              </a:extLst>
            </p:cNvPr>
            <p:cNvSpPr/>
            <p:nvPr/>
          </p:nvSpPr>
          <p:spPr>
            <a:xfrm>
              <a:off x="10512625" y="1744747"/>
              <a:ext cx="839021" cy="802091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Oval 33">
              <a:extLst>
                <a:ext uri="{FF2B5EF4-FFF2-40B4-BE49-F238E27FC236}">
                  <a16:creationId xmlns="" xmlns:a16="http://schemas.microsoft.com/office/drawing/2014/main" id="{690B9038-E591-48DB-8D9E-BEA65AE2CA8E}"/>
                </a:ext>
              </a:extLst>
            </p:cNvPr>
            <p:cNvSpPr/>
            <p:nvPr/>
          </p:nvSpPr>
          <p:spPr>
            <a:xfrm>
              <a:off x="10585318" y="1837172"/>
              <a:ext cx="681980" cy="62819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x2</a:t>
              </a:r>
            </a:p>
          </p:txBody>
        </p:sp>
      </p:grpSp>
      <p:grpSp>
        <p:nvGrpSpPr>
          <p:cNvPr id="7" name="Group 34">
            <a:extLst>
              <a:ext uri="{FF2B5EF4-FFF2-40B4-BE49-F238E27FC236}">
                <a16:creationId xmlns="" xmlns:a16="http://schemas.microsoft.com/office/drawing/2014/main" id="{1759F2FC-6A06-4B49-BB1C-A4B869BB7D7F}"/>
              </a:ext>
            </a:extLst>
          </p:cNvPr>
          <p:cNvGrpSpPr/>
          <p:nvPr/>
        </p:nvGrpSpPr>
        <p:grpSpPr>
          <a:xfrm>
            <a:off x="1768323" y="2922361"/>
            <a:ext cx="839021" cy="369332"/>
            <a:chOff x="7435657" y="3287208"/>
            <a:chExt cx="1162516" cy="369332"/>
          </a:xfrm>
        </p:grpSpPr>
        <p:cxnSp>
          <p:nvCxnSpPr>
            <p:cNvPr id="36" name="Straight Arrow Connector 35">
              <a:extLst>
                <a:ext uri="{FF2B5EF4-FFF2-40B4-BE49-F238E27FC236}">
                  <a16:creationId xmlns="" xmlns:a16="http://schemas.microsoft.com/office/drawing/2014/main" id="{A1F69A51-BF29-4F8B-829E-CE0E65915941}"/>
                </a:ext>
              </a:extLst>
            </p:cNvPr>
            <p:cNvCxnSpPr/>
            <p:nvPr/>
          </p:nvCxnSpPr>
          <p:spPr>
            <a:xfrm>
              <a:off x="7435657" y="3623630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>
              <a:extLst>
                <a:ext uri="{FF2B5EF4-FFF2-40B4-BE49-F238E27FC236}">
                  <a16:creationId xmlns="" xmlns:a16="http://schemas.microsoft.com/office/drawing/2014/main" id="{DA8C129A-F994-4515-8930-855F02A7AD28}"/>
                </a:ext>
              </a:extLst>
            </p:cNvPr>
            <p:cNvSpPr txBox="1"/>
            <p:nvPr/>
          </p:nvSpPr>
          <p:spPr>
            <a:xfrm>
              <a:off x="7554876" y="3287208"/>
              <a:ext cx="93196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a/b</a:t>
              </a:r>
            </a:p>
          </p:txBody>
        </p:sp>
      </p:grpSp>
      <p:grpSp>
        <p:nvGrpSpPr>
          <p:cNvPr id="8" name="Group 37">
            <a:extLst>
              <a:ext uri="{FF2B5EF4-FFF2-40B4-BE49-F238E27FC236}">
                <a16:creationId xmlns="" xmlns:a16="http://schemas.microsoft.com/office/drawing/2014/main" id="{5F8E4A51-BBB0-4F22-9F33-52AFB1CF1B77}"/>
              </a:ext>
            </a:extLst>
          </p:cNvPr>
          <p:cNvGrpSpPr/>
          <p:nvPr/>
        </p:nvGrpSpPr>
        <p:grpSpPr>
          <a:xfrm>
            <a:off x="3490399" y="2864872"/>
            <a:ext cx="839021" cy="376763"/>
            <a:chOff x="7491553" y="3260314"/>
            <a:chExt cx="1162516" cy="376763"/>
          </a:xfrm>
        </p:grpSpPr>
        <p:cxnSp>
          <p:nvCxnSpPr>
            <p:cNvPr id="39" name="Straight Arrow Connector 38">
              <a:extLst>
                <a:ext uri="{FF2B5EF4-FFF2-40B4-BE49-F238E27FC236}">
                  <a16:creationId xmlns="" xmlns:a16="http://schemas.microsoft.com/office/drawing/2014/main" id="{1863340D-83A7-454C-8884-67F4279D6ACF}"/>
                </a:ext>
              </a:extLst>
            </p:cNvPr>
            <p:cNvCxnSpPr/>
            <p:nvPr/>
          </p:nvCxnSpPr>
          <p:spPr>
            <a:xfrm>
              <a:off x="7491553" y="3637077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TextBox 39">
              <a:extLst>
                <a:ext uri="{FF2B5EF4-FFF2-40B4-BE49-F238E27FC236}">
                  <a16:creationId xmlns="" xmlns:a16="http://schemas.microsoft.com/office/drawing/2014/main" id="{3BED651A-1442-41C3-A692-6EF76089924F}"/>
                </a:ext>
              </a:extLst>
            </p:cNvPr>
            <p:cNvSpPr txBox="1"/>
            <p:nvPr/>
          </p:nvSpPr>
          <p:spPr>
            <a:xfrm>
              <a:off x="7554876" y="3260314"/>
              <a:ext cx="93196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a/b</a:t>
              </a:r>
            </a:p>
          </p:txBody>
        </p:sp>
      </p:grpSp>
      <p:sp>
        <p:nvSpPr>
          <p:cNvPr id="44" name="Oval 43">
            <a:extLst>
              <a:ext uri="{FF2B5EF4-FFF2-40B4-BE49-F238E27FC236}">
                <a16:creationId xmlns="" xmlns:a16="http://schemas.microsoft.com/office/drawing/2014/main" id="{2F8AC0DC-CB2C-41F4-86A0-1B2179B98F03}"/>
              </a:ext>
            </a:extLst>
          </p:cNvPr>
          <p:cNvSpPr/>
          <p:nvPr/>
        </p:nvSpPr>
        <p:spPr>
          <a:xfrm>
            <a:off x="7488696" y="2610278"/>
            <a:ext cx="665125" cy="546476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x0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="" xmlns:a16="http://schemas.microsoft.com/office/drawing/2014/main" id="{4ED94321-EC8D-47E8-B1C4-A1183E65D1D4}"/>
              </a:ext>
            </a:extLst>
          </p:cNvPr>
          <p:cNvCxnSpPr>
            <a:cxnSpLocks/>
          </p:cNvCxnSpPr>
          <p:nvPr/>
        </p:nvCxnSpPr>
        <p:spPr>
          <a:xfrm>
            <a:off x="6949798" y="2940164"/>
            <a:ext cx="511802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Oval 45">
            <a:extLst>
              <a:ext uri="{FF2B5EF4-FFF2-40B4-BE49-F238E27FC236}">
                <a16:creationId xmlns="" xmlns:a16="http://schemas.microsoft.com/office/drawing/2014/main" id="{5DF5953E-B986-4B7C-B688-CAB63D1C0BF8}"/>
              </a:ext>
            </a:extLst>
          </p:cNvPr>
          <p:cNvSpPr/>
          <p:nvPr/>
        </p:nvSpPr>
        <p:spPr>
          <a:xfrm>
            <a:off x="8907032" y="2572989"/>
            <a:ext cx="665125" cy="546476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x1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="" xmlns:a16="http://schemas.microsoft.com/office/drawing/2014/main" id="{A070CF6C-C892-43CE-97BC-ADEE3BF638CC}"/>
              </a:ext>
            </a:extLst>
          </p:cNvPr>
          <p:cNvCxnSpPr>
            <a:cxnSpLocks/>
          </p:cNvCxnSpPr>
          <p:nvPr/>
        </p:nvCxnSpPr>
        <p:spPr>
          <a:xfrm>
            <a:off x="8186007" y="2900707"/>
            <a:ext cx="680684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="" xmlns:a16="http://schemas.microsoft.com/office/drawing/2014/main" id="{DEDC641C-F775-4A1F-86E8-ECA48D51C1A8}"/>
              </a:ext>
            </a:extLst>
          </p:cNvPr>
          <p:cNvSpPr txBox="1"/>
          <p:nvPr/>
        </p:nvSpPr>
        <p:spPr>
          <a:xfrm>
            <a:off x="6855759" y="0"/>
            <a:ext cx="1600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NDFA</a:t>
            </a:r>
          </a:p>
        </p:txBody>
      </p:sp>
      <p:sp>
        <p:nvSpPr>
          <p:cNvPr id="50" name="Content Placeholder 2">
            <a:extLst>
              <a:ext uri="{FF2B5EF4-FFF2-40B4-BE49-F238E27FC236}">
                <a16:creationId xmlns="" xmlns:a16="http://schemas.microsoft.com/office/drawing/2014/main" id="{4BC9451E-7A47-401A-A903-20E228779627}"/>
              </a:ext>
            </a:extLst>
          </p:cNvPr>
          <p:cNvSpPr txBox="1">
            <a:spLocks/>
          </p:cNvSpPr>
          <p:nvPr/>
        </p:nvSpPr>
        <p:spPr>
          <a:xfrm>
            <a:off x="5537633" y="793270"/>
            <a:ext cx="4565144" cy="91450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457200" indent="-457200">
              <a:buFont typeface="+mj-lt"/>
              <a:buAutoNum type="arabicPeriod" startAt="2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NDFA permits empty string transitions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   Input b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+mj-lt"/>
              <a:buAutoNum type="arabicPeriod" startAt="2"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0" name="Group 50">
            <a:extLst>
              <a:ext uri="{FF2B5EF4-FFF2-40B4-BE49-F238E27FC236}">
                <a16:creationId xmlns="" xmlns:a16="http://schemas.microsoft.com/office/drawing/2014/main" id="{E9E08B4D-2B9C-47B2-8A98-9A4E2B6C7C67}"/>
              </a:ext>
            </a:extLst>
          </p:cNvPr>
          <p:cNvGrpSpPr/>
          <p:nvPr/>
        </p:nvGrpSpPr>
        <p:grpSpPr>
          <a:xfrm>
            <a:off x="1098675" y="1861183"/>
            <a:ext cx="591867" cy="905805"/>
            <a:chOff x="6924745" y="2274367"/>
            <a:chExt cx="591867" cy="936326"/>
          </a:xfrm>
        </p:grpSpPr>
        <p:sp>
          <p:nvSpPr>
            <p:cNvPr id="52" name="Arrow: Up 51">
              <a:extLst>
                <a:ext uri="{FF2B5EF4-FFF2-40B4-BE49-F238E27FC236}">
                  <a16:creationId xmlns="" xmlns:a16="http://schemas.microsoft.com/office/drawing/2014/main" id="{69058EAB-3E8A-411D-871F-F97C100E736A}"/>
                </a:ext>
              </a:extLst>
            </p:cNvPr>
            <p:cNvSpPr/>
            <p:nvPr/>
          </p:nvSpPr>
          <p:spPr>
            <a:xfrm rot="10800000">
              <a:off x="7044865" y="2571551"/>
              <a:ext cx="191070" cy="639142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3" name="TextBox 52">
              <a:extLst>
                <a:ext uri="{FF2B5EF4-FFF2-40B4-BE49-F238E27FC236}">
                  <a16:creationId xmlns="" xmlns:a16="http://schemas.microsoft.com/office/drawing/2014/main" id="{A951844F-C2C6-4DDF-9F21-04565B7BEEA9}"/>
                </a:ext>
              </a:extLst>
            </p:cNvPr>
            <p:cNvSpPr txBox="1"/>
            <p:nvPr/>
          </p:nvSpPr>
          <p:spPr>
            <a:xfrm>
              <a:off x="6924745" y="2274367"/>
              <a:ext cx="5918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</a:t>
              </a:r>
            </a:p>
          </p:txBody>
        </p:sp>
      </p:grpSp>
      <p:grpSp>
        <p:nvGrpSpPr>
          <p:cNvPr id="11" name="Group 53">
            <a:extLst>
              <a:ext uri="{FF2B5EF4-FFF2-40B4-BE49-F238E27FC236}">
                <a16:creationId xmlns="" xmlns:a16="http://schemas.microsoft.com/office/drawing/2014/main" id="{752FEB1C-6360-4556-83B8-27D81FE9D7C1}"/>
              </a:ext>
            </a:extLst>
          </p:cNvPr>
          <p:cNvGrpSpPr/>
          <p:nvPr/>
        </p:nvGrpSpPr>
        <p:grpSpPr>
          <a:xfrm>
            <a:off x="10601873" y="2436246"/>
            <a:ext cx="672626" cy="905805"/>
            <a:chOff x="6924745" y="2274367"/>
            <a:chExt cx="672626" cy="936326"/>
          </a:xfrm>
        </p:grpSpPr>
        <p:sp>
          <p:nvSpPr>
            <p:cNvPr id="55" name="Arrow: Up 54">
              <a:extLst>
                <a:ext uri="{FF2B5EF4-FFF2-40B4-BE49-F238E27FC236}">
                  <a16:creationId xmlns="" xmlns:a16="http://schemas.microsoft.com/office/drawing/2014/main" id="{ADD007C3-9F1D-4C3C-A641-BCF728050686}"/>
                </a:ext>
              </a:extLst>
            </p:cNvPr>
            <p:cNvSpPr/>
            <p:nvPr/>
          </p:nvSpPr>
          <p:spPr>
            <a:xfrm rot="10800000">
              <a:off x="7044865" y="2571551"/>
              <a:ext cx="191070" cy="639142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6" name="TextBox 55">
              <a:extLst>
                <a:ext uri="{FF2B5EF4-FFF2-40B4-BE49-F238E27FC236}">
                  <a16:creationId xmlns="" xmlns:a16="http://schemas.microsoft.com/office/drawing/2014/main" id="{B8B9C6C7-CF78-4063-9769-00A40ED2E376}"/>
                </a:ext>
              </a:extLst>
            </p:cNvPr>
            <p:cNvSpPr txBox="1"/>
            <p:nvPr/>
          </p:nvSpPr>
          <p:spPr>
            <a:xfrm>
              <a:off x="6924745" y="2274367"/>
              <a:ext cx="672626" cy="381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CS-2</a:t>
              </a:r>
            </a:p>
          </p:txBody>
        </p:sp>
      </p:grpSp>
      <p:grpSp>
        <p:nvGrpSpPr>
          <p:cNvPr id="12" name="Group 56">
            <a:extLst>
              <a:ext uri="{FF2B5EF4-FFF2-40B4-BE49-F238E27FC236}">
                <a16:creationId xmlns="" xmlns:a16="http://schemas.microsoft.com/office/drawing/2014/main" id="{4CBB83FE-F277-41E5-8DCB-AE43A9635FE7}"/>
              </a:ext>
            </a:extLst>
          </p:cNvPr>
          <p:cNvGrpSpPr/>
          <p:nvPr/>
        </p:nvGrpSpPr>
        <p:grpSpPr>
          <a:xfrm rot="16570989">
            <a:off x="6689625" y="3690065"/>
            <a:ext cx="369332" cy="1218389"/>
            <a:chOff x="6953834" y="1951251"/>
            <a:chExt cx="369332" cy="1259442"/>
          </a:xfrm>
        </p:grpSpPr>
        <p:sp>
          <p:nvSpPr>
            <p:cNvPr id="58" name="Arrow: Up 57">
              <a:extLst>
                <a:ext uri="{FF2B5EF4-FFF2-40B4-BE49-F238E27FC236}">
                  <a16:creationId xmlns="" xmlns:a16="http://schemas.microsoft.com/office/drawing/2014/main" id="{DF2C82C1-00D3-4BF5-B1F2-C82648F11A84}"/>
                </a:ext>
              </a:extLst>
            </p:cNvPr>
            <p:cNvSpPr/>
            <p:nvPr/>
          </p:nvSpPr>
          <p:spPr>
            <a:xfrm rot="10800000">
              <a:off x="7044865" y="2571551"/>
              <a:ext cx="191070" cy="639142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9" name="TextBox 58">
              <a:extLst>
                <a:ext uri="{FF2B5EF4-FFF2-40B4-BE49-F238E27FC236}">
                  <a16:creationId xmlns="" xmlns:a16="http://schemas.microsoft.com/office/drawing/2014/main" id="{8FC6C410-F17D-4F4F-981D-93E3AA6AF3D4}"/>
                </a:ext>
              </a:extLst>
            </p:cNvPr>
            <p:cNvSpPr txBox="1"/>
            <p:nvPr/>
          </p:nvSpPr>
          <p:spPr>
            <a:xfrm rot="5029011">
              <a:off x="6773429" y="2131656"/>
              <a:ext cx="73014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CS-1</a:t>
              </a:r>
            </a:p>
          </p:txBody>
        </p:sp>
      </p:grpSp>
      <p:sp>
        <p:nvSpPr>
          <p:cNvPr id="60" name="TextBox 59">
            <a:extLst>
              <a:ext uri="{FF2B5EF4-FFF2-40B4-BE49-F238E27FC236}">
                <a16:creationId xmlns="" xmlns:a16="http://schemas.microsoft.com/office/drawing/2014/main" id="{E54307C2-6037-4422-84D8-931A6A150CC8}"/>
              </a:ext>
            </a:extLst>
          </p:cNvPr>
          <p:cNvSpPr txBox="1"/>
          <p:nvPr/>
        </p:nvSpPr>
        <p:spPr>
          <a:xfrm>
            <a:off x="8268296" y="2474600"/>
            <a:ext cx="6185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^</a:t>
            </a:r>
          </a:p>
        </p:txBody>
      </p:sp>
      <p:sp>
        <p:nvSpPr>
          <p:cNvPr id="62" name="Oval 61">
            <a:extLst>
              <a:ext uri="{FF2B5EF4-FFF2-40B4-BE49-F238E27FC236}">
                <a16:creationId xmlns="" xmlns:a16="http://schemas.microsoft.com/office/drawing/2014/main" id="{6F378CE0-9451-48A3-8422-0863CC703327}"/>
              </a:ext>
            </a:extLst>
          </p:cNvPr>
          <p:cNvSpPr/>
          <p:nvPr/>
        </p:nvSpPr>
        <p:spPr>
          <a:xfrm>
            <a:off x="7497038" y="4130932"/>
            <a:ext cx="665125" cy="546476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x2</a:t>
            </a:r>
          </a:p>
        </p:txBody>
      </p:sp>
      <p:sp>
        <p:nvSpPr>
          <p:cNvPr id="64" name="Oval 63">
            <a:extLst>
              <a:ext uri="{FF2B5EF4-FFF2-40B4-BE49-F238E27FC236}">
                <a16:creationId xmlns="" xmlns:a16="http://schemas.microsoft.com/office/drawing/2014/main" id="{A6A33E05-B10B-49E1-892D-603CCBF32AA9}"/>
              </a:ext>
            </a:extLst>
          </p:cNvPr>
          <p:cNvSpPr/>
          <p:nvPr/>
        </p:nvSpPr>
        <p:spPr>
          <a:xfrm>
            <a:off x="8915374" y="4093643"/>
            <a:ext cx="665125" cy="546476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x3</a:t>
            </a: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="" xmlns:a16="http://schemas.microsoft.com/office/drawing/2014/main" id="{FA696AA6-2FC6-4B9C-B44F-4CFC5E85CFA4}"/>
              </a:ext>
            </a:extLst>
          </p:cNvPr>
          <p:cNvCxnSpPr>
            <a:cxnSpLocks/>
            <a:endCxn id="62" idx="0"/>
          </p:cNvCxnSpPr>
          <p:nvPr/>
        </p:nvCxnSpPr>
        <p:spPr>
          <a:xfrm flipH="1">
            <a:off x="7829601" y="3229816"/>
            <a:ext cx="16064" cy="901116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="" xmlns:a16="http://schemas.microsoft.com/office/drawing/2014/main" id="{032430B4-2905-4B36-B797-556BB9A0E834}"/>
              </a:ext>
            </a:extLst>
          </p:cNvPr>
          <p:cNvCxnSpPr>
            <a:cxnSpLocks/>
          </p:cNvCxnSpPr>
          <p:nvPr/>
        </p:nvCxnSpPr>
        <p:spPr>
          <a:xfrm flipH="1">
            <a:off x="9231872" y="3155996"/>
            <a:ext cx="16064" cy="901116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="" xmlns:a16="http://schemas.microsoft.com/office/drawing/2014/main" id="{57DD894C-7D6F-4C21-943F-0C5388BAEF79}"/>
              </a:ext>
            </a:extLst>
          </p:cNvPr>
          <p:cNvSpPr txBox="1"/>
          <p:nvPr/>
        </p:nvSpPr>
        <p:spPr>
          <a:xfrm>
            <a:off x="9247936" y="3399709"/>
            <a:ext cx="3356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</a:t>
            </a:r>
            <a:endParaRPr lang="en-US" dirty="0"/>
          </a:p>
        </p:txBody>
      </p:sp>
      <p:sp>
        <p:nvSpPr>
          <p:cNvPr id="71" name="TextBox 70">
            <a:extLst>
              <a:ext uri="{FF2B5EF4-FFF2-40B4-BE49-F238E27FC236}">
                <a16:creationId xmlns="" xmlns:a16="http://schemas.microsoft.com/office/drawing/2014/main" id="{C1A72D2C-10F8-483A-84FB-7FA933F14E88}"/>
              </a:ext>
            </a:extLst>
          </p:cNvPr>
          <p:cNvSpPr txBox="1"/>
          <p:nvPr/>
        </p:nvSpPr>
        <p:spPr>
          <a:xfrm>
            <a:off x="7225641" y="3413156"/>
            <a:ext cx="6726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a/b</a:t>
            </a:r>
            <a:endParaRPr lang="en-US" dirty="0"/>
          </a:p>
        </p:txBody>
      </p:sp>
      <p:sp>
        <p:nvSpPr>
          <p:cNvPr id="48" name="Oval 47">
            <a:extLst>
              <a:ext uri="{FF2B5EF4-FFF2-40B4-BE49-F238E27FC236}">
                <a16:creationId xmlns="" xmlns:a16="http://schemas.microsoft.com/office/drawing/2014/main" id="{A6A33E05-B10B-49E1-892D-603CCBF32AA9}"/>
              </a:ext>
            </a:extLst>
          </p:cNvPr>
          <p:cNvSpPr/>
          <p:nvPr/>
        </p:nvSpPr>
        <p:spPr>
          <a:xfrm>
            <a:off x="10439374" y="3401981"/>
            <a:ext cx="665125" cy="546476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x4</a:t>
            </a:r>
            <a:endParaRPr lang="en-US" dirty="0"/>
          </a:p>
        </p:txBody>
      </p:sp>
      <p:sp>
        <p:nvSpPr>
          <p:cNvPr id="51" name="TextBox 50">
            <a:extLst>
              <a:ext uri="{FF2B5EF4-FFF2-40B4-BE49-F238E27FC236}">
                <a16:creationId xmlns="" xmlns:a16="http://schemas.microsoft.com/office/drawing/2014/main" id="{57DD894C-7D6F-4C21-943F-0C5388BAEF79}"/>
              </a:ext>
            </a:extLst>
          </p:cNvPr>
          <p:cNvSpPr txBox="1"/>
          <p:nvPr/>
        </p:nvSpPr>
        <p:spPr>
          <a:xfrm>
            <a:off x="10015797" y="2875102"/>
            <a:ext cx="3356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b</a:t>
            </a:r>
            <a:endParaRPr lang="en-US" dirty="0"/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="" xmlns:a16="http://schemas.microsoft.com/office/drawing/2014/main" id="{032430B4-2905-4B36-B797-556BB9A0E834}"/>
              </a:ext>
            </a:extLst>
          </p:cNvPr>
          <p:cNvCxnSpPr>
            <a:cxnSpLocks/>
            <a:endCxn id="48" idx="2"/>
          </p:cNvCxnSpPr>
          <p:nvPr/>
        </p:nvCxnSpPr>
        <p:spPr>
          <a:xfrm>
            <a:off x="9620144" y="2991872"/>
            <a:ext cx="819230" cy="683347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7" name="Group 56"/>
          <p:cNvGrpSpPr/>
          <p:nvPr/>
        </p:nvGrpSpPr>
        <p:grpSpPr>
          <a:xfrm>
            <a:off x="238526" y="4199937"/>
            <a:ext cx="4863683" cy="1787494"/>
            <a:chOff x="317657" y="1861183"/>
            <a:chExt cx="4863683" cy="1787494"/>
          </a:xfrm>
        </p:grpSpPr>
        <p:grpSp>
          <p:nvGrpSpPr>
            <p:cNvPr id="61" name="Group 1">
              <a:extLst>
                <a:ext uri="{FF2B5EF4-FFF2-40B4-BE49-F238E27FC236}">
                  <a16:creationId xmlns="" xmlns:a16="http://schemas.microsoft.com/office/drawing/2014/main" id="{3407459D-8EE9-45D0-962B-F34BC30F2FAA}"/>
                </a:ext>
              </a:extLst>
            </p:cNvPr>
            <p:cNvGrpSpPr/>
            <p:nvPr/>
          </p:nvGrpSpPr>
          <p:grpSpPr>
            <a:xfrm>
              <a:off x="317657" y="2806244"/>
              <a:ext cx="4863683" cy="842433"/>
              <a:chOff x="4931358" y="2304257"/>
              <a:chExt cx="4863683" cy="842433"/>
            </a:xfrm>
          </p:grpSpPr>
          <p:cxnSp>
            <p:nvCxnSpPr>
              <p:cNvPr id="68" name="Straight Arrow Connector 67">
                <a:extLst>
                  <a:ext uri="{FF2B5EF4-FFF2-40B4-BE49-F238E27FC236}">
                    <a16:creationId xmlns="" xmlns:a16="http://schemas.microsoft.com/office/drawing/2014/main" id="{7D659041-649F-4D29-85D5-F22DB2D1156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31358" y="2765246"/>
                <a:ext cx="556591" cy="1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72" name="Group 28">
                <a:extLst>
                  <a:ext uri="{FF2B5EF4-FFF2-40B4-BE49-F238E27FC236}">
                    <a16:creationId xmlns="" xmlns:a16="http://schemas.microsoft.com/office/drawing/2014/main" id="{21BDFBF6-3737-498B-B845-A23145FE5D0C}"/>
                  </a:ext>
                </a:extLst>
              </p:cNvPr>
              <p:cNvGrpSpPr/>
              <p:nvPr/>
            </p:nvGrpSpPr>
            <p:grpSpPr>
              <a:xfrm>
                <a:off x="7233544" y="2344599"/>
                <a:ext cx="839021" cy="802091"/>
                <a:chOff x="10458837" y="1785088"/>
                <a:chExt cx="839021" cy="802091"/>
              </a:xfrm>
            </p:grpSpPr>
            <p:sp>
              <p:nvSpPr>
                <p:cNvPr id="85" name="Oval 84">
                  <a:extLst>
                    <a:ext uri="{FF2B5EF4-FFF2-40B4-BE49-F238E27FC236}">
                      <a16:creationId xmlns="" xmlns:a16="http://schemas.microsoft.com/office/drawing/2014/main" id="{AEC12217-3F4B-40DA-9B86-78D6E8BF993D}"/>
                    </a:ext>
                  </a:extLst>
                </p:cNvPr>
                <p:cNvSpPr/>
                <p:nvPr/>
              </p:nvSpPr>
              <p:spPr>
                <a:xfrm>
                  <a:off x="10458837" y="1785088"/>
                  <a:ext cx="839021" cy="802091"/>
                </a:xfrm>
                <a:prstGeom prst="ellips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86" name="Oval 85">
                  <a:extLst>
                    <a:ext uri="{FF2B5EF4-FFF2-40B4-BE49-F238E27FC236}">
                      <a16:creationId xmlns="" xmlns:a16="http://schemas.microsoft.com/office/drawing/2014/main" id="{C4C249AF-D7E6-419B-988D-D41D419ADA3D}"/>
                    </a:ext>
                  </a:extLst>
                </p:cNvPr>
                <p:cNvSpPr/>
                <p:nvPr/>
              </p:nvSpPr>
              <p:spPr>
                <a:xfrm>
                  <a:off x="10544977" y="1877513"/>
                  <a:ext cx="681980" cy="628192"/>
                </a:xfrm>
                <a:prstGeom prst="ellips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x1</a:t>
                  </a:r>
                </a:p>
              </p:txBody>
            </p:sp>
          </p:grpSp>
          <p:grpSp>
            <p:nvGrpSpPr>
              <p:cNvPr id="73" name="Group 31">
                <a:extLst>
                  <a:ext uri="{FF2B5EF4-FFF2-40B4-BE49-F238E27FC236}">
                    <a16:creationId xmlns="" xmlns:a16="http://schemas.microsoft.com/office/drawing/2014/main" id="{902C3A67-4AB9-4662-8F1C-815FBE9E5772}"/>
                  </a:ext>
                </a:extLst>
              </p:cNvPr>
              <p:cNvGrpSpPr/>
              <p:nvPr/>
            </p:nvGrpSpPr>
            <p:grpSpPr>
              <a:xfrm>
                <a:off x="8956020" y="2304257"/>
                <a:ext cx="839021" cy="802091"/>
                <a:chOff x="10512625" y="1744747"/>
                <a:chExt cx="839021" cy="802091"/>
              </a:xfrm>
            </p:grpSpPr>
            <p:sp>
              <p:nvSpPr>
                <p:cNvPr id="83" name="Oval 82">
                  <a:extLst>
                    <a:ext uri="{FF2B5EF4-FFF2-40B4-BE49-F238E27FC236}">
                      <a16:creationId xmlns="" xmlns:a16="http://schemas.microsoft.com/office/drawing/2014/main" id="{654C964B-B210-4402-9FC6-3A475B2507F0}"/>
                    </a:ext>
                  </a:extLst>
                </p:cNvPr>
                <p:cNvSpPr/>
                <p:nvPr/>
              </p:nvSpPr>
              <p:spPr>
                <a:xfrm>
                  <a:off x="10512625" y="1744747"/>
                  <a:ext cx="839021" cy="802091"/>
                </a:xfrm>
                <a:prstGeom prst="ellips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84" name="Oval 83">
                  <a:extLst>
                    <a:ext uri="{FF2B5EF4-FFF2-40B4-BE49-F238E27FC236}">
                      <a16:creationId xmlns="" xmlns:a16="http://schemas.microsoft.com/office/drawing/2014/main" id="{690B9038-E591-48DB-8D9E-BEA65AE2CA8E}"/>
                    </a:ext>
                  </a:extLst>
                </p:cNvPr>
                <p:cNvSpPr/>
                <p:nvPr/>
              </p:nvSpPr>
              <p:spPr>
                <a:xfrm>
                  <a:off x="10585318" y="1837172"/>
                  <a:ext cx="681980" cy="628192"/>
                </a:xfrm>
                <a:prstGeom prst="ellips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x2</a:t>
                  </a:r>
                </a:p>
              </p:txBody>
            </p:sp>
          </p:grpSp>
          <p:grpSp>
            <p:nvGrpSpPr>
              <p:cNvPr id="74" name="Group 34">
                <a:extLst>
                  <a:ext uri="{FF2B5EF4-FFF2-40B4-BE49-F238E27FC236}">
                    <a16:creationId xmlns="" xmlns:a16="http://schemas.microsoft.com/office/drawing/2014/main" id="{1759F2FC-6A06-4B49-BB1C-A4B869BB7D7F}"/>
                  </a:ext>
                </a:extLst>
              </p:cNvPr>
              <p:cNvGrpSpPr/>
              <p:nvPr/>
            </p:nvGrpSpPr>
            <p:grpSpPr>
              <a:xfrm>
                <a:off x="6382024" y="2420374"/>
                <a:ext cx="839021" cy="369332"/>
                <a:chOff x="7435657" y="3287208"/>
                <a:chExt cx="1162516" cy="369332"/>
              </a:xfrm>
            </p:grpSpPr>
            <p:cxnSp>
              <p:nvCxnSpPr>
                <p:cNvPr id="81" name="Straight Arrow Connector 80">
                  <a:extLst>
                    <a:ext uri="{FF2B5EF4-FFF2-40B4-BE49-F238E27FC236}">
                      <a16:creationId xmlns="" xmlns:a16="http://schemas.microsoft.com/office/drawing/2014/main" id="{A1F69A51-BF29-4F8B-829E-CE0E65915941}"/>
                    </a:ext>
                  </a:extLst>
                </p:cNvPr>
                <p:cNvCxnSpPr/>
                <p:nvPr/>
              </p:nvCxnSpPr>
              <p:spPr>
                <a:xfrm>
                  <a:off x="7435657" y="3623630"/>
                  <a:ext cx="1162516" cy="0"/>
                </a:xfrm>
                <a:prstGeom prst="straightConnector1">
                  <a:avLst/>
                </a:prstGeom>
                <a:ln w="38100">
                  <a:solidFill>
                    <a:schemeClr val="bg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82" name="TextBox 81">
                  <a:extLst>
                    <a:ext uri="{FF2B5EF4-FFF2-40B4-BE49-F238E27FC236}">
                      <a16:creationId xmlns="" xmlns:a16="http://schemas.microsoft.com/office/drawing/2014/main" id="{DA8C129A-F994-4515-8930-855F02A7AD28}"/>
                    </a:ext>
                  </a:extLst>
                </p:cNvPr>
                <p:cNvSpPr txBox="1"/>
                <p:nvPr/>
              </p:nvSpPr>
              <p:spPr>
                <a:xfrm>
                  <a:off x="7554876" y="3287208"/>
                  <a:ext cx="93196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a/b</a:t>
                  </a:r>
                </a:p>
              </p:txBody>
            </p:sp>
          </p:grpSp>
          <p:grpSp>
            <p:nvGrpSpPr>
              <p:cNvPr id="75" name="Group 37">
                <a:extLst>
                  <a:ext uri="{FF2B5EF4-FFF2-40B4-BE49-F238E27FC236}">
                    <a16:creationId xmlns="" xmlns:a16="http://schemas.microsoft.com/office/drawing/2014/main" id="{5F8E4A51-BBB0-4F22-9F33-52AFB1CF1B77}"/>
                  </a:ext>
                </a:extLst>
              </p:cNvPr>
              <p:cNvGrpSpPr/>
              <p:nvPr/>
            </p:nvGrpSpPr>
            <p:grpSpPr>
              <a:xfrm>
                <a:off x="8104100" y="2362885"/>
                <a:ext cx="839021" cy="376763"/>
                <a:chOff x="7491553" y="3260314"/>
                <a:chExt cx="1162516" cy="376763"/>
              </a:xfrm>
            </p:grpSpPr>
            <p:cxnSp>
              <p:nvCxnSpPr>
                <p:cNvPr id="79" name="Straight Arrow Connector 78">
                  <a:extLst>
                    <a:ext uri="{FF2B5EF4-FFF2-40B4-BE49-F238E27FC236}">
                      <a16:creationId xmlns="" xmlns:a16="http://schemas.microsoft.com/office/drawing/2014/main" id="{1863340D-83A7-454C-8884-67F4279D6ACF}"/>
                    </a:ext>
                  </a:extLst>
                </p:cNvPr>
                <p:cNvCxnSpPr/>
                <p:nvPr/>
              </p:nvCxnSpPr>
              <p:spPr>
                <a:xfrm>
                  <a:off x="7491553" y="3637077"/>
                  <a:ext cx="1162516" cy="0"/>
                </a:xfrm>
                <a:prstGeom prst="straightConnector1">
                  <a:avLst/>
                </a:prstGeom>
                <a:ln w="38100">
                  <a:solidFill>
                    <a:schemeClr val="bg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80" name="TextBox 79">
                  <a:extLst>
                    <a:ext uri="{FF2B5EF4-FFF2-40B4-BE49-F238E27FC236}">
                      <a16:creationId xmlns="" xmlns:a16="http://schemas.microsoft.com/office/drawing/2014/main" id="{3BED651A-1442-41C3-A692-6EF76089924F}"/>
                    </a:ext>
                  </a:extLst>
                </p:cNvPr>
                <p:cNvSpPr txBox="1"/>
                <p:nvPr/>
              </p:nvSpPr>
              <p:spPr>
                <a:xfrm>
                  <a:off x="7554876" y="3260314"/>
                  <a:ext cx="93196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a/b</a:t>
                  </a:r>
                </a:p>
              </p:txBody>
            </p:sp>
          </p:grpSp>
          <p:grpSp>
            <p:nvGrpSpPr>
              <p:cNvPr id="76" name="Group 40">
                <a:extLst>
                  <a:ext uri="{FF2B5EF4-FFF2-40B4-BE49-F238E27FC236}">
                    <a16:creationId xmlns="" xmlns:a16="http://schemas.microsoft.com/office/drawing/2014/main" id="{7F496128-87E5-4061-9F8E-A4E9AC2C8A2F}"/>
                  </a:ext>
                </a:extLst>
              </p:cNvPr>
              <p:cNvGrpSpPr/>
              <p:nvPr/>
            </p:nvGrpSpPr>
            <p:grpSpPr>
              <a:xfrm>
                <a:off x="5520876" y="2338470"/>
                <a:ext cx="839021" cy="802091"/>
                <a:chOff x="10512625" y="1744747"/>
                <a:chExt cx="839021" cy="802091"/>
              </a:xfrm>
            </p:grpSpPr>
            <p:sp>
              <p:nvSpPr>
                <p:cNvPr id="77" name="Oval 76">
                  <a:extLst>
                    <a:ext uri="{FF2B5EF4-FFF2-40B4-BE49-F238E27FC236}">
                      <a16:creationId xmlns="" xmlns:a16="http://schemas.microsoft.com/office/drawing/2014/main" id="{9B6BE869-6D99-48F8-817C-D903F081BEFB}"/>
                    </a:ext>
                  </a:extLst>
                </p:cNvPr>
                <p:cNvSpPr/>
                <p:nvPr/>
              </p:nvSpPr>
              <p:spPr>
                <a:xfrm>
                  <a:off x="10512625" y="1744747"/>
                  <a:ext cx="839021" cy="802091"/>
                </a:xfrm>
                <a:prstGeom prst="ellips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78" name="Oval 77">
                  <a:extLst>
                    <a:ext uri="{FF2B5EF4-FFF2-40B4-BE49-F238E27FC236}">
                      <a16:creationId xmlns="" xmlns:a16="http://schemas.microsoft.com/office/drawing/2014/main" id="{4789EE9C-F7E5-4DFE-969D-8DDD4AF4B4A9}"/>
                    </a:ext>
                  </a:extLst>
                </p:cNvPr>
                <p:cNvSpPr/>
                <p:nvPr/>
              </p:nvSpPr>
              <p:spPr>
                <a:xfrm>
                  <a:off x="10585318" y="1837172"/>
                  <a:ext cx="681980" cy="628192"/>
                </a:xfrm>
                <a:prstGeom prst="ellips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x0</a:t>
                  </a:r>
                </a:p>
              </p:txBody>
            </p:sp>
          </p:grpSp>
        </p:grpSp>
        <p:grpSp>
          <p:nvGrpSpPr>
            <p:cNvPr id="63" name="Group 50">
              <a:extLst>
                <a:ext uri="{FF2B5EF4-FFF2-40B4-BE49-F238E27FC236}">
                  <a16:creationId xmlns="" xmlns:a16="http://schemas.microsoft.com/office/drawing/2014/main" id="{E9E08B4D-2B9C-47B2-8A98-9A4E2B6C7C67}"/>
                </a:ext>
              </a:extLst>
            </p:cNvPr>
            <p:cNvGrpSpPr/>
            <p:nvPr/>
          </p:nvGrpSpPr>
          <p:grpSpPr>
            <a:xfrm>
              <a:off x="1098675" y="1861183"/>
              <a:ext cx="591867" cy="905805"/>
              <a:chOff x="6924745" y="2274367"/>
              <a:chExt cx="591867" cy="936326"/>
            </a:xfrm>
          </p:grpSpPr>
          <p:sp>
            <p:nvSpPr>
              <p:cNvPr id="65" name="Arrow: Up 51">
                <a:extLst>
                  <a:ext uri="{FF2B5EF4-FFF2-40B4-BE49-F238E27FC236}">
                    <a16:creationId xmlns="" xmlns:a16="http://schemas.microsoft.com/office/drawing/2014/main" id="{69058EAB-3E8A-411D-871F-F97C100E736A}"/>
                  </a:ext>
                </a:extLst>
              </p:cNvPr>
              <p:cNvSpPr/>
              <p:nvPr/>
            </p:nvSpPr>
            <p:spPr>
              <a:xfrm rot="10800000">
                <a:off x="7044865" y="2571551"/>
                <a:ext cx="191070" cy="639142"/>
              </a:xfrm>
              <a:prstGeom prst="upArrow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="" xmlns:a16="http://schemas.microsoft.com/office/drawing/2014/main" id="{A951844F-C2C6-4DDF-9F21-04565B7BEEA9}"/>
                  </a:ext>
                </a:extLst>
              </p:cNvPr>
              <p:cNvSpPr txBox="1"/>
              <p:nvPr/>
            </p:nvSpPr>
            <p:spPr>
              <a:xfrm>
                <a:off x="6924745" y="2274367"/>
                <a:ext cx="59186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solidFill>
                      <a:schemeClr val="accent3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CS</a:t>
                </a:r>
              </a:p>
            </p:txBody>
          </p:sp>
        </p:grpSp>
      </p:grpSp>
      <p:sp>
        <p:nvSpPr>
          <p:cNvPr id="87" name="Oval 86">
            <a:extLst>
              <a:ext uri="{FF2B5EF4-FFF2-40B4-BE49-F238E27FC236}">
                <a16:creationId xmlns="" xmlns:a16="http://schemas.microsoft.com/office/drawing/2014/main" id="{2F8AC0DC-CB2C-41F4-86A0-1B2179B98F03}"/>
              </a:ext>
            </a:extLst>
          </p:cNvPr>
          <p:cNvSpPr/>
          <p:nvPr/>
        </p:nvSpPr>
        <p:spPr>
          <a:xfrm>
            <a:off x="1002904" y="2947316"/>
            <a:ext cx="665125" cy="546476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x0</a:t>
            </a:r>
          </a:p>
        </p:txBody>
      </p:sp>
    </p:spTree>
    <p:extLst>
      <p:ext uri="{BB962C8B-B14F-4D97-AF65-F5344CB8AC3E}">
        <p14:creationId xmlns:p14="http://schemas.microsoft.com/office/powerpoint/2010/main" val="3092483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149AD530-6C2A-44EA-A853-BAC2857EF1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904" y="858414"/>
            <a:ext cx="4876872" cy="460871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Backtracking is allowed in DFA.</a:t>
            </a:r>
          </a:p>
          <a:p>
            <a:pPr marL="457200" indent="-457200">
              <a:buFont typeface="+mj-lt"/>
              <a:buAutoNum type="arabicPeriod" startAt="3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E7E875E4-C02C-44AD-9251-3D0D7CDF2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26D1DE06-0720-4572-BF37-034426FE1CD7}"/>
              </a:ext>
            </a:extLst>
          </p:cNvPr>
          <p:cNvSpPr txBox="1"/>
          <p:nvPr/>
        </p:nvSpPr>
        <p:spPr>
          <a:xfrm>
            <a:off x="1529669" y="33241"/>
            <a:ext cx="1600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DFA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="" xmlns:a16="http://schemas.microsoft.com/office/drawing/2014/main" id="{E13E761C-7E8C-455A-B10F-FF97B9D81750}"/>
              </a:ext>
            </a:extLst>
          </p:cNvPr>
          <p:cNvGrpSpPr/>
          <p:nvPr/>
        </p:nvGrpSpPr>
        <p:grpSpPr>
          <a:xfrm>
            <a:off x="389769" y="1761566"/>
            <a:ext cx="5586961" cy="1860226"/>
            <a:chOff x="470451" y="2429960"/>
            <a:chExt cx="6403942" cy="1860226"/>
          </a:xfrm>
        </p:grpSpPr>
        <p:sp>
          <p:nvSpPr>
            <p:cNvPr id="8" name="Oval 7">
              <a:extLst>
                <a:ext uri="{FF2B5EF4-FFF2-40B4-BE49-F238E27FC236}">
                  <a16:creationId xmlns="" xmlns:a16="http://schemas.microsoft.com/office/drawing/2014/main" id="{EDD2A173-63F4-4A80-96B9-79D5A7A31D1C}"/>
                </a:ext>
              </a:extLst>
            </p:cNvPr>
            <p:cNvSpPr/>
            <p:nvPr/>
          </p:nvSpPr>
          <p:spPr>
            <a:xfrm>
              <a:off x="1130579" y="3333906"/>
              <a:ext cx="723331" cy="63914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x0</a:t>
              </a: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="" xmlns:a16="http://schemas.microsoft.com/office/drawing/2014/main" id="{B167B8FE-18DA-468D-9F34-C584DF4C213E}"/>
                </a:ext>
              </a:extLst>
            </p:cNvPr>
            <p:cNvCxnSpPr/>
            <p:nvPr/>
          </p:nvCxnSpPr>
          <p:spPr>
            <a:xfrm>
              <a:off x="470451" y="3673964"/>
              <a:ext cx="573062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Oval 9">
              <a:extLst>
                <a:ext uri="{FF2B5EF4-FFF2-40B4-BE49-F238E27FC236}">
                  <a16:creationId xmlns="" xmlns:a16="http://schemas.microsoft.com/office/drawing/2014/main" id="{F032099B-FB70-499B-B9CB-2153679670AF}"/>
                </a:ext>
              </a:extLst>
            </p:cNvPr>
            <p:cNvSpPr/>
            <p:nvPr/>
          </p:nvSpPr>
          <p:spPr>
            <a:xfrm>
              <a:off x="2765510" y="3333906"/>
              <a:ext cx="723331" cy="63914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x1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="" xmlns:a16="http://schemas.microsoft.com/office/drawing/2014/main" id="{A46E03FE-0352-4BA0-94CE-3CBBC1232E6A}"/>
                </a:ext>
              </a:extLst>
            </p:cNvPr>
            <p:cNvSpPr/>
            <p:nvPr/>
          </p:nvSpPr>
          <p:spPr>
            <a:xfrm>
              <a:off x="4400441" y="3307012"/>
              <a:ext cx="723331" cy="63914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x2</a:t>
              </a: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="" xmlns:a16="http://schemas.microsoft.com/office/drawing/2014/main" id="{49347AD5-0329-4828-BEAA-DE17AA128978}"/>
                </a:ext>
              </a:extLst>
            </p:cNvPr>
            <p:cNvGrpSpPr/>
            <p:nvPr/>
          </p:nvGrpSpPr>
          <p:grpSpPr>
            <a:xfrm>
              <a:off x="6035372" y="3170957"/>
              <a:ext cx="839021" cy="802091"/>
              <a:chOff x="10512625" y="1744747"/>
              <a:chExt cx="839021" cy="802091"/>
            </a:xfrm>
          </p:grpSpPr>
          <p:sp>
            <p:nvSpPr>
              <p:cNvPr id="13" name="Oval 12">
                <a:extLst>
                  <a:ext uri="{FF2B5EF4-FFF2-40B4-BE49-F238E27FC236}">
                    <a16:creationId xmlns="" xmlns:a16="http://schemas.microsoft.com/office/drawing/2014/main" id="{06A6A055-73AA-42D4-81CF-0021044FCC67}"/>
                  </a:ext>
                </a:extLst>
              </p:cNvPr>
              <p:cNvSpPr/>
              <p:nvPr/>
            </p:nvSpPr>
            <p:spPr>
              <a:xfrm>
                <a:off x="10512625" y="1744747"/>
                <a:ext cx="839021" cy="802091"/>
              </a:xfrm>
              <a:prstGeom prst="ellips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4" name="Oval 13">
                <a:extLst>
                  <a:ext uri="{FF2B5EF4-FFF2-40B4-BE49-F238E27FC236}">
                    <a16:creationId xmlns="" xmlns:a16="http://schemas.microsoft.com/office/drawing/2014/main" id="{B0C94D19-8E49-4955-8F65-F2A1695D3938}"/>
                  </a:ext>
                </a:extLst>
              </p:cNvPr>
              <p:cNvSpPr/>
              <p:nvPr/>
            </p:nvSpPr>
            <p:spPr>
              <a:xfrm>
                <a:off x="10585318" y="1837172"/>
                <a:ext cx="681980" cy="628192"/>
              </a:xfrm>
              <a:prstGeom prst="ellips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x3</a:t>
                </a:r>
              </a:p>
            </p:txBody>
          </p:sp>
        </p:grpSp>
        <p:cxnSp>
          <p:nvCxnSpPr>
            <p:cNvPr id="15" name="Straight Arrow Connector 14">
              <a:extLst>
                <a:ext uri="{FF2B5EF4-FFF2-40B4-BE49-F238E27FC236}">
                  <a16:creationId xmlns="" xmlns:a16="http://schemas.microsoft.com/office/drawing/2014/main" id="{CF3E0BDF-810B-4F55-B7EA-0389F91D35A4}"/>
                </a:ext>
              </a:extLst>
            </p:cNvPr>
            <p:cNvCxnSpPr/>
            <p:nvPr/>
          </p:nvCxnSpPr>
          <p:spPr>
            <a:xfrm>
              <a:off x="1914097" y="3662038"/>
              <a:ext cx="839021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="" xmlns:a16="http://schemas.microsoft.com/office/drawing/2014/main" id="{21D2F5CA-FBDF-414C-838D-0A9B5FC4430A}"/>
                </a:ext>
              </a:extLst>
            </p:cNvPr>
            <p:cNvCxnSpPr/>
            <p:nvPr/>
          </p:nvCxnSpPr>
          <p:spPr>
            <a:xfrm>
              <a:off x="3534916" y="3639972"/>
              <a:ext cx="839021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="" xmlns:a16="http://schemas.microsoft.com/office/drawing/2014/main" id="{AA1CBC00-C8B1-44E9-8B2A-D774D4C8057E}"/>
                </a:ext>
              </a:extLst>
            </p:cNvPr>
            <p:cNvCxnSpPr/>
            <p:nvPr/>
          </p:nvCxnSpPr>
          <p:spPr>
            <a:xfrm>
              <a:off x="5169847" y="3639972"/>
              <a:ext cx="839021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="" xmlns:a16="http://schemas.microsoft.com/office/drawing/2014/main" id="{7FCBCE34-8F1D-4494-B37C-ABE96FD57666}"/>
                </a:ext>
              </a:extLst>
            </p:cNvPr>
            <p:cNvSpPr txBox="1"/>
            <p:nvPr/>
          </p:nvSpPr>
          <p:spPr>
            <a:xfrm>
              <a:off x="2089212" y="3191812"/>
              <a:ext cx="3117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="" xmlns:a16="http://schemas.microsoft.com/office/drawing/2014/main" id="{CC77AC81-ED5E-47AC-A744-914483C03C0C}"/>
                </a:ext>
              </a:extLst>
            </p:cNvPr>
            <p:cNvSpPr txBox="1"/>
            <p:nvPr/>
          </p:nvSpPr>
          <p:spPr>
            <a:xfrm>
              <a:off x="3697547" y="3212299"/>
              <a:ext cx="3117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="" xmlns:a16="http://schemas.microsoft.com/office/drawing/2014/main" id="{8E3BF89E-56F8-4EB4-AD82-9142DBD6A27C}"/>
                </a:ext>
              </a:extLst>
            </p:cNvPr>
            <p:cNvSpPr txBox="1"/>
            <p:nvPr/>
          </p:nvSpPr>
          <p:spPr>
            <a:xfrm>
              <a:off x="5358816" y="3172033"/>
              <a:ext cx="3117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="" xmlns:a16="http://schemas.microsoft.com/office/drawing/2014/main" id="{A9C0D6FE-F7E5-434B-BABF-3049C2B33D69}"/>
                </a:ext>
              </a:extLst>
            </p:cNvPr>
            <p:cNvGrpSpPr/>
            <p:nvPr/>
          </p:nvGrpSpPr>
          <p:grpSpPr>
            <a:xfrm rot="10370240">
              <a:off x="1185958" y="2890353"/>
              <a:ext cx="540585" cy="887105"/>
              <a:chOff x="1984650" y="2985447"/>
              <a:chExt cx="540585" cy="887105"/>
            </a:xfrm>
          </p:grpSpPr>
          <p:sp>
            <p:nvSpPr>
              <p:cNvPr id="22" name="Arc 21">
                <a:extLst>
                  <a:ext uri="{FF2B5EF4-FFF2-40B4-BE49-F238E27FC236}">
                    <a16:creationId xmlns="" xmlns:a16="http://schemas.microsoft.com/office/drawing/2014/main" id="{177ECB2A-EFAE-4453-93C0-A41752FCEBB3}"/>
                  </a:ext>
                </a:extLst>
              </p:cNvPr>
              <p:cNvSpPr/>
              <p:nvPr/>
            </p:nvSpPr>
            <p:spPr>
              <a:xfrm rot="11054314">
                <a:off x="1985101" y="2985447"/>
                <a:ext cx="540134" cy="887105"/>
              </a:xfrm>
              <a:prstGeom prst="arc">
                <a:avLst>
                  <a:gd name="adj1" fmla="val 10711483"/>
                  <a:gd name="adj2" fmla="val 0"/>
                </a:avLst>
              </a:prstGeom>
              <a:ln w="254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3" name="Straight Arrow Connector 22">
                <a:extLst>
                  <a:ext uri="{FF2B5EF4-FFF2-40B4-BE49-F238E27FC236}">
                    <a16:creationId xmlns="" xmlns:a16="http://schemas.microsoft.com/office/drawing/2014/main" id="{F995BD76-CADF-4733-ACDA-E945D5FED785}"/>
                  </a:ext>
                </a:extLst>
              </p:cNvPr>
              <p:cNvCxnSpPr/>
              <p:nvPr/>
            </p:nvCxnSpPr>
            <p:spPr>
              <a:xfrm rot="11054314">
                <a:off x="1984650" y="3331902"/>
                <a:ext cx="0" cy="95534"/>
              </a:xfrm>
              <a:prstGeom prst="straightConnector1">
                <a:avLst/>
              </a:prstGeom>
              <a:ln w="25400">
                <a:solidFill>
                  <a:schemeClr val="bg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4" name="TextBox 23">
              <a:extLst>
                <a:ext uri="{FF2B5EF4-FFF2-40B4-BE49-F238E27FC236}">
                  <a16:creationId xmlns="" xmlns:a16="http://schemas.microsoft.com/office/drawing/2014/main" id="{9FF65C04-6E36-440B-8DB3-19D0DD25E1D5}"/>
                </a:ext>
              </a:extLst>
            </p:cNvPr>
            <p:cNvSpPr txBox="1"/>
            <p:nvPr/>
          </p:nvSpPr>
          <p:spPr>
            <a:xfrm>
              <a:off x="1180516" y="2457327"/>
              <a:ext cx="3117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  <p:grpSp>
          <p:nvGrpSpPr>
            <p:cNvPr id="25" name="Group 24">
              <a:extLst>
                <a:ext uri="{FF2B5EF4-FFF2-40B4-BE49-F238E27FC236}">
                  <a16:creationId xmlns="" xmlns:a16="http://schemas.microsoft.com/office/drawing/2014/main" id="{95283B76-D290-48F4-882C-4B73696475FC}"/>
                </a:ext>
              </a:extLst>
            </p:cNvPr>
            <p:cNvGrpSpPr/>
            <p:nvPr/>
          </p:nvGrpSpPr>
          <p:grpSpPr>
            <a:xfrm rot="10370240">
              <a:off x="2836093" y="2873340"/>
              <a:ext cx="540585" cy="887105"/>
              <a:chOff x="1984650" y="2985447"/>
              <a:chExt cx="540585" cy="887105"/>
            </a:xfrm>
          </p:grpSpPr>
          <p:sp>
            <p:nvSpPr>
              <p:cNvPr id="26" name="Arc 25">
                <a:extLst>
                  <a:ext uri="{FF2B5EF4-FFF2-40B4-BE49-F238E27FC236}">
                    <a16:creationId xmlns="" xmlns:a16="http://schemas.microsoft.com/office/drawing/2014/main" id="{43BB7691-F2E4-46BF-906F-C4CCEF7D55D9}"/>
                  </a:ext>
                </a:extLst>
              </p:cNvPr>
              <p:cNvSpPr/>
              <p:nvPr/>
            </p:nvSpPr>
            <p:spPr>
              <a:xfrm rot="11054314">
                <a:off x="1985101" y="2985447"/>
                <a:ext cx="540134" cy="887105"/>
              </a:xfrm>
              <a:prstGeom prst="arc">
                <a:avLst>
                  <a:gd name="adj1" fmla="val 10711483"/>
                  <a:gd name="adj2" fmla="val 0"/>
                </a:avLst>
              </a:prstGeom>
              <a:ln w="254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7" name="Straight Arrow Connector 26">
                <a:extLst>
                  <a:ext uri="{FF2B5EF4-FFF2-40B4-BE49-F238E27FC236}">
                    <a16:creationId xmlns="" xmlns:a16="http://schemas.microsoft.com/office/drawing/2014/main" id="{7D03CC14-B08B-467F-A77E-2F642111408F}"/>
                  </a:ext>
                </a:extLst>
              </p:cNvPr>
              <p:cNvCxnSpPr/>
              <p:nvPr/>
            </p:nvCxnSpPr>
            <p:spPr>
              <a:xfrm rot="11054314">
                <a:off x="1984650" y="3331902"/>
                <a:ext cx="0" cy="95534"/>
              </a:xfrm>
              <a:prstGeom prst="straightConnector1">
                <a:avLst/>
              </a:prstGeom>
              <a:ln w="25400">
                <a:solidFill>
                  <a:schemeClr val="bg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8" name="TextBox 27">
              <a:extLst>
                <a:ext uri="{FF2B5EF4-FFF2-40B4-BE49-F238E27FC236}">
                  <a16:creationId xmlns="" xmlns:a16="http://schemas.microsoft.com/office/drawing/2014/main" id="{624BB0EE-6A5B-4B02-82D4-235316C7D61D}"/>
                </a:ext>
              </a:extLst>
            </p:cNvPr>
            <p:cNvSpPr txBox="1"/>
            <p:nvPr/>
          </p:nvSpPr>
          <p:spPr>
            <a:xfrm>
              <a:off x="2906302" y="2429960"/>
              <a:ext cx="3117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29" name="Arrow: Curved Down 28">
              <a:extLst>
                <a:ext uri="{FF2B5EF4-FFF2-40B4-BE49-F238E27FC236}">
                  <a16:creationId xmlns="" xmlns:a16="http://schemas.microsoft.com/office/drawing/2014/main" id="{941EC0F0-A84F-48C9-87D0-10CEDCA8CD61}"/>
                </a:ext>
              </a:extLst>
            </p:cNvPr>
            <p:cNvSpPr/>
            <p:nvPr/>
          </p:nvSpPr>
          <p:spPr>
            <a:xfrm rot="10800000">
              <a:off x="1659826" y="3958135"/>
              <a:ext cx="2908196" cy="256814"/>
            </a:xfrm>
            <a:prstGeom prst="curvedDownArrow">
              <a:avLst>
                <a:gd name="adj1" fmla="val 11615"/>
                <a:gd name="adj2" fmla="val 50000"/>
                <a:gd name="adj3" fmla="val 25000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="" xmlns:a16="http://schemas.microsoft.com/office/drawing/2014/main" id="{4ED6617C-6176-4E5A-97A8-7060AB131E68}"/>
                </a:ext>
              </a:extLst>
            </p:cNvPr>
            <p:cNvSpPr txBox="1"/>
            <p:nvPr/>
          </p:nvSpPr>
          <p:spPr>
            <a:xfrm>
              <a:off x="3306612" y="3828521"/>
              <a:ext cx="3117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31" name="Arrow: Curved Down 30">
              <a:extLst>
                <a:ext uri="{FF2B5EF4-FFF2-40B4-BE49-F238E27FC236}">
                  <a16:creationId xmlns="" xmlns:a16="http://schemas.microsoft.com/office/drawing/2014/main" id="{164BCBA0-BA6D-4830-A4C7-0273A3ACF31A}"/>
                </a:ext>
              </a:extLst>
            </p:cNvPr>
            <p:cNvSpPr/>
            <p:nvPr/>
          </p:nvSpPr>
          <p:spPr>
            <a:xfrm rot="10800000">
              <a:off x="5046391" y="3906855"/>
              <a:ext cx="1049609" cy="203318"/>
            </a:xfrm>
            <a:prstGeom prst="curvedDownArrow">
              <a:avLst>
                <a:gd name="adj1" fmla="val 11615"/>
                <a:gd name="adj2" fmla="val 50000"/>
                <a:gd name="adj3" fmla="val 25000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="" xmlns:a16="http://schemas.microsoft.com/office/drawing/2014/main" id="{D1B5F6D8-B479-4A51-8B85-C90FEF56C3B4}"/>
                </a:ext>
              </a:extLst>
            </p:cNvPr>
            <p:cNvSpPr txBox="1"/>
            <p:nvPr/>
          </p:nvSpPr>
          <p:spPr>
            <a:xfrm>
              <a:off x="5418452" y="3735245"/>
              <a:ext cx="3117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33" name="Arrow: Curved Up 32">
              <a:extLst>
                <a:ext uri="{FF2B5EF4-FFF2-40B4-BE49-F238E27FC236}">
                  <a16:creationId xmlns="" xmlns:a16="http://schemas.microsoft.com/office/drawing/2014/main" id="{883BCDAA-DF6B-4CE1-A7DF-CEA9CF6A7531}"/>
                </a:ext>
              </a:extLst>
            </p:cNvPr>
            <p:cNvSpPr/>
            <p:nvPr/>
          </p:nvSpPr>
          <p:spPr>
            <a:xfrm rot="10601653">
              <a:off x="3340408" y="2885646"/>
              <a:ext cx="2898449" cy="392783"/>
            </a:xfrm>
            <a:prstGeom prst="curvedUpArrow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="" xmlns:a16="http://schemas.microsoft.com/office/drawing/2014/main" id="{C5839F56-250D-47CC-877C-BC0884BC986F}"/>
                </a:ext>
              </a:extLst>
            </p:cNvPr>
            <p:cNvSpPr txBox="1"/>
            <p:nvPr/>
          </p:nvSpPr>
          <p:spPr>
            <a:xfrm>
              <a:off x="4689579" y="2463044"/>
              <a:ext cx="3117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</p:grpSp>
      <p:sp>
        <p:nvSpPr>
          <p:cNvPr id="35" name="Content Placeholder 2">
            <a:extLst>
              <a:ext uri="{FF2B5EF4-FFF2-40B4-BE49-F238E27FC236}">
                <a16:creationId xmlns="" xmlns:a16="http://schemas.microsoft.com/office/drawing/2014/main" id="{F97922DE-7782-4701-9A67-30B071D7E716}"/>
              </a:ext>
            </a:extLst>
          </p:cNvPr>
          <p:cNvSpPr txBox="1">
            <a:spLocks/>
          </p:cNvSpPr>
          <p:nvPr/>
        </p:nvSpPr>
        <p:spPr>
          <a:xfrm>
            <a:off x="5373287" y="786600"/>
            <a:ext cx="4565144" cy="52848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457200" indent="-457200">
              <a:buFont typeface="+mj-lt"/>
              <a:buAutoNum type="arabicPeriod" startAt="3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NDFA, backtracking is not always possible.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="" xmlns:a16="http://schemas.microsoft.com/office/drawing/2014/main" id="{B34E8F8C-167C-49A9-BB01-50B5E361FCC7}"/>
              </a:ext>
            </a:extLst>
          </p:cNvPr>
          <p:cNvSpPr txBox="1"/>
          <p:nvPr/>
        </p:nvSpPr>
        <p:spPr>
          <a:xfrm>
            <a:off x="6855759" y="0"/>
            <a:ext cx="1600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NDFA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="" xmlns:a16="http://schemas.microsoft.com/office/drawing/2014/main" id="{CD207AB7-FD5D-45DA-A74B-31F2314C78DA}"/>
              </a:ext>
            </a:extLst>
          </p:cNvPr>
          <p:cNvSpPr txBox="1"/>
          <p:nvPr/>
        </p:nvSpPr>
        <p:spPr>
          <a:xfrm>
            <a:off x="645082" y="1255327"/>
            <a:ext cx="476304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All words that ends with aba.</a:t>
            </a:r>
            <a:endParaRPr lang="en-US" sz="2200" dirty="0"/>
          </a:p>
        </p:txBody>
      </p:sp>
      <p:sp>
        <p:nvSpPr>
          <p:cNvPr id="38" name="TextBox 37">
            <a:extLst>
              <a:ext uri="{FF2B5EF4-FFF2-40B4-BE49-F238E27FC236}">
                <a16:creationId xmlns="" xmlns:a16="http://schemas.microsoft.com/office/drawing/2014/main" id="{F98FFA43-7618-4602-828A-9E9802F87148}"/>
              </a:ext>
            </a:extLst>
          </p:cNvPr>
          <p:cNvSpPr txBox="1"/>
          <p:nvPr/>
        </p:nvSpPr>
        <p:spPr>
          <a:xfrm>
            <a:off x="5793306" y="1470770"/>
            <a:ext cx="47630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Example: All words that ends with aba.</a:t>
            </a:r>
            <a:r>
              <a:rPr 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en-US" sz="3600" dirty="0"/>
          </a:p>
        </p:txBody>
      </p:sp>
      <p:sp>
        <p:nvSpPr>
          <p:cNvPr id="39" name="Oval 38">
            <a:extLst>
              <a:ext uri="{FF2B5EF4-FFF2-40B4-BE49-F238E27FC236}">
                <a16:creationId xmlns="" xmlns:a16="http://schemas.microsoft.com/office/drawing/2014/main" id="{C04827AB-DD9A-4ED6-85A1-B6B5EA8D74CE}"/>
              </a:ext>
            </a:extLst>
          </p:cNvPr>
          <p:cNvSpPr/>
          <p:nvPr/>
        </p:nvSpPr>
        <p:spPr>
          <a:xfrm>
            <a:off x="6486746" y="3963569"/>
            <a:ext cx="697006" cy="712694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x0</a:t>
            </a:r>
          </a:p>
        </p:txBody>
      </p:sp>
      <p:sp>
        <p:nvSpPr>
          <p:cNvPr id="40" name="Oval 39">
            <a:extLst>
              <a:ext uri="{FF2B5EF4-FFF2-40B4-BE49-F238E27FC236}">
                <a16:creationId xmlns="" xmlns:a16="http://schemas.microsoft.com/office/drawing/2014/main" id="{CA0A025A-21AA-4275-B28C-53DF98FBBD62}"/>
              </a:ext>
            </a:extLst>
          </p:cNvPr>
          <p:cNvSpPr/>
          <p:nvPr/>
        </p:nvSpPr>
        <p:spPr>
          <a:xfrm>
            <a:off x="7941653" y="3950317"/>
            <a:ext cx="697006" cy="712694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x1</a:t>
            </a:r>
          </a:p>
        </p:txBody>
      </p:sp>
      <p:sp>
        <p:nvSpPr>
          <p:cNvPr id="41" name="Oval 40">
            <a:extLst>
              <a:ext uri="{FF2B5EF4-FFF2-40B4-BE49-F238E27FC236}">
                <a16:creationId xmlns="" xmlns:a16="http://schemas.microsoft.com/office/drawing/2014/main" id="{232661FD-3231-48C1-A2C5-6DC574BF9AAE}"/>
              </a:ext>
            </a:extLst>
          </p:cNvPr>
          <p:cNvSpPr/>
          <p:nvPr/>
        </p:nvSpPr>
        <p:spPr>
          <a:xfrm>
            <a:off x="9411634" y="3937065"/>
            <a:ext cx="697006" cy="712694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x2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="" xmlns:a16="http://schemas.microsoft.com/office/drawing/2014/main" id="{C3D49387-B6BD-4C8C-8B72-4994398480E7}"/>
              </a:ext>
            </a:extLst>
          </p:cNvPr>
          <p:cNvCxnSpPr/>
          <p:nvPr/>
        </p:nvCxnSpPr>
        <p:spPr>
          <a:xfrm>
            <a:off x="5989984" y="4319916"/>
            <a:ext cx="48354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6" name="Group 45">
            <a:extLst>
              <a:ext uri="{FF2B5EF4-FFF2-40B4-BE49-F238E27FC236}">
                <a16:creationId xmlns="" xmlns:a16="http://schemas.microsoft.com/office/drawing/2014/main" id="{B1BA9B08-4F24-41E4-BBCB-8849CA4AEFEC}"/>
              </a:ext>
            </a:extLst>
          </p:cNvPr>
          <p:cNvGrpSpPr/>
          <p:nvPr/>
        </p:nvGrpSpPr>
        <p:grpSpPr>
          <a:xfrm>
            <a:off x="10899171" y="3875484"/>
            <a:ext cx="803344" cy="835855"/>
            <a:chOff x="5184749" y="4682255"/>
            <a:chExt cx="803344" cy="835855"/>
          </a:xfrm>
        </p:grpSpPr>
        <p:sp>
          <p:nvSpPr>
            <p:cNvPr id="44" name="Oval 43">
              <a:extLst>
                <a:ext uri="{FF2B5EF4-FFF2-40B4-BE49-F238E27FC236}">
                  <a16:creationId xmlns="" xmlns:a16="http://schemas.microsoft.com/office/drawing/2014/main" id="{8F9CDE5C-96FF-4D40-8E35-EF044400A0D6}"/>
                </a:ext>
              </a:extLst>
            </p:cNvPr>
            <p:cNvSpPr/>
            <p:nvPr/>
          </p:nvSpPr>
          <p:spPr>
            <a:xfrm>
              <a:off x="5184749" y="4682255"/>
              <a:ext cx="803344" cy="835855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5" name="Oval 44">
              <a:extLst>
                <a:ext uri="{FF2B5EF4-FFF2-40B4-BE49-F238E27FC236}">
                  <a16:creationId xmlns="" xmlns:a16="http://schemas.microsoft.com/office/drawing/2014/main" id="{3F768F3B-81D9-4CAF-AF6E-D9F095B52C67}"/>
                </a:ext>
              </a:extLst>
            </p:cNvPr>
            <p:cNvSpPr/>
            <p:nvPr/>
          </p:nvSpPr>
          <p:spPr>
            <a:xfrm>
              <a:off x="5241993" y="4745149"/>
              <a:ext cx="697006" cy="712694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x3</a:t>
              </a:r>
            </a:p>
          </p:txBody>
        </p:sp>
      </p:grpSp>
      <p:cxnSp>
        <p:nvCxnSpPr>
          <p:cNvPr id="47" name="Straight Arrow Connector 46">
            <a:extLst>
              <a:ext uri="{FF2B5EF4-FFF2-40B4-BE49-F238E27FC236}">
                <a16:creationId xmlns="" xmlns:a16="http://schemas.microsoft.com/office/drawing/2014/main" id="{70450A69-B259-4D3C-979E-FA0A2CFE43C1}"/>
              </a:ext>
            </a:extLst>
          </p:cNvPr>
          <p:cNvCxnSpPr/>
          <p:nvPr/>
        </p:nvCxnSpPr>
        <p:spPr>
          <a:xfrm>
            <a:off x="8665163" y="4293412"/>
            <a:ext cx="731983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="" xmlns:a16="http://schemas.microsoft.com/office/drawing/2014/main" id="{E925179F-02E3-405F-935C-31689533E68E}"/>
              </a:ext>
            </a:extLst>
          </p:cNvPr>
          <p:cNvCxnSpPr/>
          <p:nvPr/>
        </p:nvCxnSpPr>
        <p:spPr>
          <a:xfrm>
            <a:off x="7210256" y="4306664"/>
            <a:ext cx="731983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="" xmlns:a16="http://schemas.microsoft.com/office/drawing/2014/main" id="{30719D9B-9EE0-4E4C-9F3C-DAE990982348}"/>
              </a:ext>
            </a:extLst>
          </p:cNvPr>
          <p:cNvCxnSpPr/>
          <p:nvPr/>
        </p:nvCxnSpPr>
        <p:spPr>
          <a:xfrm>
            <a:off x="10157495" y="4286152"/>
            <a:ext cx="731983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="" xmlns:a16="http://schemas.microsoft.com/office/drawing/2014/main" id="{DAD597C4-9FEB-467A-9A23-42F3D849E432}"/>
              </a:ext>
            </a:extLst>
          </p:cNvPr>
          <p:cNvSpPr txBox="1"/>
          <p:nvPr/>
        </p:nvSpPr>
        <p:spPr>
          <a:xfrm>
            <a:off x="7323732" y="3858527"/>
            <a:ext cx="2719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="" xmlns:a16="http://schemas.microsoft.com/office/drawing/2014/main" id="{82B3A5BA-A96E-47A4-9B2A-8E43F1CDC92F}"/>
              </a:ext>
            </a:extLst>
          </p:cNvPr>
          <p:cNvSpPr txBox="1"/>
          <p:nvPr/>
        </p:nvSpPr>
        <p:spPr>
          <a:xfrm>
            <a:off x="10318246" y="3858251"/>
            <a:ext cx="2719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="" xmlns:a16="http://schemas.microsoft.com/office/drawing/2014/main" id="{466F6746-AB92-4F07-84C5-D86BB87BBBF0}"/>
              </a:ext>
            </a:extLst>
          </p:cNvPr>
          <p:cNvSpPr txBox="1"/>
          <p:nvPr/>
        </p:nvSpPr>
        <p:spPr>
          <a:xfrm>
            <a:off x="8813526" y="3875484"/>
            <a:ext cx="2719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55" name="Arc 54">
            <a:extLst>
              <a:ext uri="{FF2B5EF4-FFF2-40B4-BE49-F238E27FC236}">
                <a16:creationId xmlns="" xmlns:a16="http://schemas.microsoft.com/office/drawing/2014/main" id="{849113FD-8B93-49B4-9FEC-B701B2B20C6B}"/>
              </a:ext>
            </a:extLst>
          </p:cNvPr>
          <p:cNvSpPr/>
          <p:nvPr/>
        </p:nvSpPr>
        <p:spPr>
          <a:xfrm>
            <a:off x="6586120" y="3539957"/>
            <a:ext cx="471227" cy="887105"/>
          </a:xfrm>
          <a:prstGeom prst="arc">
            <a:avLst>
              <a:gd name="adj1" fmla="val 10711483"/>
              <a:gd name="adj2" fmla="val 0"/>
            </a:avLst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="" xmlns:a16="http://schemas.microsoft.com/office/drawing/2014/main" id="{FCEFE45B-CEA6-4498-8008-059E264EE9F2}"/>
              </a:ext>
            </a:extLst>
          </p:cNvPr>
          <p:cNvSpPr txBox="1"/>
          <p:nvPr/>
        </p:nvSpPr>
        <p:spPr>
          <a:xfrm>
            <a:off x="6548410" y="3109287"/>
            <a:ext cx="5657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a/b</a:t>
            </a:r>
          </a:p>
        </p:txBody>
      </p:sp>
      <p:grpSp>
        <p:nvGrpSpPr>
          <p:cNvPr id="57" name="Group 56">
            <a:extLst>
              <a:ext uri="{FF2B5EF4-FFF2-40B4-BE49-F238E27FC236}">
                <a16:creationId xmlns="" xmlns:a16="http://schemas.microsoft.com/office/drawing/2014/main" id="{8D3C0EC3-1E6A-436B-B406-38A549AC7268}"/>
              </a:ext>
            </a:extLst>
          </p:cNvPr>
          <p:cNvGrpSpPr/>
          <p:nvPr/>
        </p:nvGrpSpPr>
        <p:grpSpPr>
          <a:xfrm rot="18867934">
            <a:off x="5859721" y="3063598"/>
            <a:ext cx="369332" cy="1269596"/>
            <a:chOff x="7006424" y="2209157"/>
            <a:chExt cx="369332" cy="1001536"/>
          </a:xfrm>
        </p:grpSpPr>
        <p:sp>
          <p:nvSpPr>
            <p:cNvPr id="58" name="Arrow: Up 57">
              <a:extLst>
                <a:ext uri="{FF2B5EF4-FFF2-40B4-BE49-F238E27FC236}">
                  <a16:creationId xmlns="" xmlns:a16="http://schemas.microsoft.com/office/drawing/2014/main" id="{E93022AA-FD9E-4354-A4A7-DF5F91C23E96}"/>
                </a:ext>
              </a:extLst>
            </p:cNvPr>
            <p:cNvSpPr/>
            <p:nvPr/>
          </p:nvSpPr>
          <p:spPr>
            <a:xfrm rot="10800000">
              <a:off x="7044865" y="2571551"/>
              <a:ext cx="191070" cy="639142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9" name="TextBox 58">
              <a:extLst>
                <a:ext uri="{FF2B5EF4-FFF2-40B4-BE49-F238E27FC236}">
                  <a16:creationId xmlns="" xmlns:a16="http://schemas.microsoft.com/office/drawing/2014/main" id="{BAF74065-B1AC-4D5B-9613-553AA58A4378}"/>
                </a:ext>
              </a:extLst>
            </p:cNvPr>
            <p:cNvSpPr txBox="1"/>
            <p:nvPr/>
          </p:nvSpPr>
          <p:spPr>
            <a:xfrm rot="2732066">
              <a:off x="6925364" y="2290217"/>
              <a:ext cx="5314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CS-1</a:t>
              </a:r>
            </a:p>
          </p:txBody>
        </p:sp>
      </p:grpSp>
      <p:sp>
        <p:nvSpPr>
          <p:cNvPr id="60" name="TextBox 59">
            <a:extLst>
              <a:ext uri="{FF2B5EF4-FFF2-40B4-BE49-F238E27FC236}">
                <a16:creationId xmlns="" xmlns:a16="http://schemas.microsoft.com/office/drawing/2014/main" id="{CD834B06-C56B-4FE5-AE97-CF6C3F7E518A}"/>
              </a:ext>
            </a:extLst>
          </p:cNvPr>
          <p:cNvSpPr txBox="1"/>
          <p:nvPr/>
        </p:nvSpPr>
        <p:spPr>
          <a:xfrm>
            <a:off x="7160848" y="1951978"/>
            <a:ext cx="47630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aababa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051438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5" grpId="0"/>
      <p:bldP spid="36" grpId="0"/>
      <p:bldP spid="37" grpId="0"/>
      <p:bldP spid="38" grpId="0"/>
      <p:bldP spid="39" grpId="0" animBg="1"/>
      <p:bldP spid="40" grpId="0" animBg="1"/>
      <p:bldP spid="41" grpId="0" animBg="1"/>
      <p:bldP spid="52" grpId="0"/>
      <p:bldP spid="53" grpId="0"/>
      <p:bldP spid="54" grpId="0"/>
      <p:bldP spid="55" grpId="0" animBg="1"/>
      <p:bldP spid="56" grpId="0"/>
      <p:bldP spid="6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149AD530-6C2A-44EA-A853-BAC2857EF1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904" y="858414"/>
            <a:ext cx="4876872" cy="460871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Backtracking is allowed in DFA.</a:t>
            </a:r>
          </a:p>
          <a:p>
            <a:pPr marL="457200" indent="-457200">
              <a:buFont typeface="+mj-lt"/>
              <a:buAutoNum type="arabicPeriod" startAt="3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E7E875E4-C02C-44AD-9251-3D0D7CDF2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26D1DE06-0720-4572-BF37-034426FE1CD7}"/>
              </a:ext>
            </a:extLst>
          </p:cNvPr>
          <p:cNvSpPr txBox="1"/>
          <p:nvPr/>
        </p:nvSpPr>
        <p:spPr>
          <a:xfrm>
            <a:off x="1529669" y="33241"/>
            <a:ext cx="1600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DFA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="" xmlns:a16="http://schemas.microsoft.com/office/drawing/2014/main" id="{E13E761C-7E8C-455A-B10F-FF97B9D81750}"/>
              </a:ext>
            </a:extLst>
          </p:cNvPr>
          <p:cNvGrpSpPr/>
          <p:nvPr/>
        </p:nvGrpSpPr>
        <p:grpSpPr>
          <a:xfrm>
            <a:off x="389769" y="1761566"/>
            <a:ext cx="5586961" cy="1860226"/>
            <a:chOff x="470451" y="2429960"/>
            <a:chExt cx="6403942" cy="1860226"/>
          </a:xfrm>
        </p:grpSpPr>
        <p:sp>
          <p:nvSpPr>
            <p:cNvPr id="8" name="Oval 7">
              <a:extLst>
                <a:ext uri="{FF2B5EF4-FFF2-40B4-BE49-F238E27FC236}">
                  <a16:creationId xmlns="" xmlns:a16="http://schemas.microsoft.com/office/drawing/2014/main" id="{EDD2A173-63F4-4A80-96B9-79D5A7A31D1C}"/>
                </a:ext>
              </a:extLst>
            </p:cNvPr>
            <p:cNvSpPr/>
            <p:nvPr/>
          </p:nvSpPr>
          <p:spPr>
            <a:xfrm>
              <a:off x="1130579" y="3333906"/>
              <a:ext cx="723331" cy="63914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x0</a:t>
              </a: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="" xmlns:a16="http://schemas.microsoft.com/office/drawing/2014/main" id="{B167B8FE-18DA-468D-9F34-C584DF4C213E}"/>
                </a:ext>
              </a:extLst>
            </p:cNvPr>
            <p:cNvCxnSpPr/>
            <p:nvPr/>
          </p:nvCxnSpPr>
          <p:spPr>
            <a:xfrm>
              <a:off x="470451" y="3673964"/>
              <a:ext cx="573062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Oval 9">
              <a:extLst>
                <a:ext uri="{FF2B5EF4-FFF2-40B4-BE49-F238E27FC236}">
                  <a16:creationId xmlns="" xmlns:a16="http://schemas.microsoft.com/office/drawing/2014/main" id="{F032099B-FB70-499B-B9CB-2153679670AF}"/>
                </a:ext>
              </a:extLst>
            </p:cNvPr>
            <p:cNvSpPr/>
            <p:nvPr/>
          </p:nvSpPr>
          <p:spPr>
            <a:xfrm>
              <a:off x="2765510" y="3333906"/>
              <a:ext cx="723331" cy="63914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x1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="" xmlns:a16="http://schemas.microsoft.com/office/drawing/2014/main" id="{A46E03FE-0352-4BA0-94CE-3CBBC1232E6A}"/>
                </a:ext>
              </a:extLst>
            </p:cNvPr>
            <p:cNvSpPr/>
            <p:nvPr/>
          </p:nvSpPr>
          <p:spPr>
            <a:xfrm>
              <a:off x="4400441" y="3307012"/>
              <a:ext cx="723331" cy="63914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x2</a:t>
              </a: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="" xmlns:a16="http://schemas.microsoft.com/office/drawing/2014/main" id="{49347AD5-0329-4828-BEAA-DE17AA128978}"/>
                </a:ext>
              </a:extLst>
            </p:cNvPr>
            <p:cNvGrpSpPr/>
            <p:nvPr/>
          </p:nvGrpSpPr>
          <p:grpSpPr>
            <a:xfrm>
              <a:off x="6035372" y="3170957"/>
              <a:ext cx="839021" cy="802091"/>
              <a:chOff x="10512625" y="1744747"/>
              <a:chExt cx="839021" cy="802091"/>
            </a:xfrm>
          </p:grpSpPr>
          <p:sp>
            <p:nvSpPr>
              <p:cNvPr id="13" name="Oval 12">
                <a:extLst>
                  <a:ext uri="{FF2B5EF4-FFF2-40B4-BE49-F238E27FC236}">
                    <a16:creationId xmlns="" xmlns:a16="http://schemas.microsoft.com/office/drawing/2014/main" id="{06A6A055-73AA-42D4-81CF-0021044FCC67}"/>
                  </a:ext>
                </a:extLst>
              </p:cNvPr>
              <p:cNvSpPr/>
              <p:nvPr/>
            </p:nvSpPr>
            <p:spPr>
              <a:xfrm>
                <a:off x="10512625" y="1744747"/>
                <a:ext cx="839021" cy="802091"/>
              </a:xfrm>
              <a:prstGeom prst="ellips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4" name="Oval 13">
                <a:extLst>
                  <a:ext uri="{FF2B5EF4-FFF2-40B4-BE49-F238E27FC236}">
                    <a16:creationId xmlns="" xmlns:a16="http://schemas.microsoft.com/office/drawing/2014/main" id="{B0C94D19-8E49-4955-8F65-F2A1695D3938}"/>
                  </a:ext>
                </a:extLst>
              </p:cNvPr>
              <p:cNvSpPr/>
              <p:nvPr/>
            </p:nvSpPr>
            <p:spPr>
              <a:xfrm>
                <a:off x="10585318" y="1837172"/>
                <a:ext cx="681980" cy="628192"/>
              </a:xfrm>
              <a:prstGeom prst="ellips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x3</a:t>
                </a:r>
              </a:p>
            </p:txBody>
          </p:sp>
        </p:grpSp>
        <p:cxnSp>
          <p:nvCxnSpPr>
            <p:cNvPr id="15" name="Straight Arrow Connector 14">
              <a:extLst>
                <a:ext uri="{FF2B5EF4-FFF2-40B4-BE49-F238E27FC236}">
                  <a16:creationId xmlns="" xmlns:a16="http://schemas.microsoft.com/office/drawing/2014/main" id="{CF3E0BDF-810B-4F55-B7EA-0389F91D35A4}"/>
                </a:ext>
              </a:extLst>
            </p:cNvPr>
            <p:cNvCxnSpPr/>
            <p:nvPr/>
          </p:nvCxnSpPr>
          <p:spPr>
            <a:xfrm>
              <a:off x="1914097" y="3662038"/>
              <a:ext cx="839021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="" xmlns:a16="http://schemas.microsoft.com/office/drawing/2014/main" id="{21D2F5CA-FBDF-414C-838D-0A9B5FC4430A}"/>
                </a:ext>
              </a:extLst>
            </p:cNvPr>
            <p:cNvCxnSpPr/>
            <p:nvPr/>
          </p:nvCxnSpPr>
          <p:spPr>
            <a:xfrm>
              <a:off x="3534916" y="3639972"/>
              <a:ext cx="839021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="" xmlns:a16="http://schemas.microsoft.com/office/drawing/2014/main" id="{AA1CBC00-C8B1-44E9-8B2A-D774D4C8057E}"/>
                </a:ext>
              </a:extLst>
            </p:cNvPr>
            <p:cNvCxnSpPr/>
            <p:nvPr/>
          </p:nvCxnSpPr>
          <p:spPr>
            <a:xfrm>
              <a:off x="5169847" y="3639972"/>
              <a:ext cx="839021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="" xmlns:a16="http://schemas.microsoft.com/office/drawing/2014/main" id="{7FCBCE34-8F1D-4494-B37C-ABE96FD57666}"/>
                </a:ext>
              </a:extLst>
            </p:cNvPr>
            <p:cNvSpPr txBox="1"/>
            <p:nvPr/>
          </p:nvSpPr>
          <p:spPr>
            <a:xfrm>
              <a:off x="2089212" y="3191812"/>
              <a:ext cx="3117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="" xmlns:a16="http://schemas.microsoft.com/office/drawing/2014/main" id="{CC77AC81-ED5E-47AC-A744-914483C03C0C}"/>
                </a:ext>
              </a:extLst>
            </p:cNvPr>
            <p:cNvSpPr txBox="1"/>
            <p:nvPr/>
          </p:nvSpPr>
          <p:spPr>
            <a:xfrm>
              <a:off x="3697547" y="3212299"/>
              <a:ext cx="3117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="" xmlns:a16="http://schemas.microsoft.com/office/drawing/2014/main" id="{8E3BF89E-56F8-4EB4-AD82-9142DBD6A27C}"/>
                </a:ext>
              </a:extLst>
            </p:cNvPr>
            <p:cNvSpPr txBox="1"/>
            <p:nvPr/>
          </p:nvSpPr>
          <p:spPr>
            <a:xfrm>
              <a:off x="5358816" y="3172033"/>
              <a:ext cx="3117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="" xmlns:a16="http://schemas.microsoft.com/office/drawing/2014/main" id="{A9C0D6FE-F7E5-434B-BABF-3049C2B33D69}"/>
                </a:ext>
              </a:extLst>
            </p:cNvPr>
            <p:cNvGrpSpPr/>
            <p:nvPr/>
          </p:nvGrpSpPr>
          <p:grpSpPr>
            <a:xfrm rot="10370240">
              <a:off x="1185958" y="2890353"/>
              <a:ext cx="540585" cy="887105"/>
              <a:chOff x="1984650" y="2985447"/>
              <a:chExt cx="540585" cy="887105"/>
            </a:xfrm>
          </p:grpSpPr>
          <p:sp>
            <p:nvSpPr>
              <p:cNvPr id="22" name="Arc 21">
                <a:extLst>
                  <a:ext uri="{FF2B5EF4-FFF2-40B4-BE49-F238E27FC236}">
                    <a16:creationId xmlns="" xmlns:a16="http://schemas.microsoft.com/office/drawing/2014/main" id="{177ECB2A-EFAE-4453-93C0-A41752FCEBB3}"/>
                  </a:ext>
                </a:extLst>
              </p:cNvPr>
              <p:cNvSpPr/>
              <p:nvPr/>
            </p:nvSpPr>
            <p:spPr>
              <a:xfrm rot="11054314">
                <a:off x="1985101" y="2985447"/>
                <a:ext cx="540134" cy="887105"/>
              </a:xfrm>
              <a:prstGeom prst="arc">
                <a:avLst>
                  <a:gd name="adj1" fmla="val 10711483"/>
                  <a:gd name="adj2" fmla="val 0"/>
                </a:avLst>
              </a:prstGeom>
              <a:ln w="254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3" name="Straight Arrow Connector 22">
                <a:extLst>
                  <a:ext uri="{FF2B5EF4-FFF2-40B4-BE49-F238E27FC236}">
                    <a16:creationId xmlns="" xmlns:a16="http://schemas.microsoft.com/office/drawing/2014/main" id="{F995BD76-CADF-4733-ACDA-E945D5FED785}"/>
                  </a:ext>
                </a:extLst>
              </p:cNvPr>
              <p:cNvCxnSpPr/>
              <p:nvPr/>
            </p:nvCxnSpPr>
            <p:spPr>
              <a:xfrm rot="11054314">
                <a:off x="1984650" y="3331902"/>
                <a:ext cx="0" cy="95534"/>
              </a:xfrm>
              <a:prstGeom prst="straightConnector1">
                <a:avLst/>
              </a:prstGeom>
              <a:ln w="25400">
                <a:solidFill>
                  <a:schemeClr val="bg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4" name="TextBox 23">
              <a:extLst>
                <a:ext uri="{FF2B5EF4-FFF2-40B4-BE49-F238E27FC236}">
                  <a16:creationId xmlns="" xmlns:a16="http://schemas.microsoft.com/office/drawing/2014/main" id="{9FF65C04-6E36-440B-8DB3-19D0DD25E1D5}"/>
                </a:ext>
              </a:extLst>
            </p:cNvPr>
            <p:cNvSpPr txBox="1"/>
            <p:nvPr/>
          </p:nvSpPr>
          <p:spPr>
            <a:xfrm>
              <a:off x="1180516" y="2457327"/>
              <a:ext cx="3117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  <p:grpSp>
          <p:nvGrpSpPr>
            <p:cNvPr id="25" name="Group 24">
              <a:extLst>
                <a:ext uri="{FF2B5EF4-FFF2-40B4-BE49-F238E27FC236}">
                  <a16:creationId xmlns="" xmlns:a16="http://schemas.microsoft.com/office/drawing/2014/main" id="{95283B76-D290-48F4-882C-4B73696475FC}"/>
                </a:ext>
              </a:extLst>
            </p:cNvPr>
            <p:cNvGrpSpPr/>
            <p:nvPr/>
          </p:nvGrpSpPr>
          <p:grpSpPr>
            <a:xfrm rot="10370240">
              <a:off x="2836093" y="2873340"/>
              <a:ext cx="540585" cy="887105"/>
              <a:chOff x="1984650" y="2985447"/>
              <a:chExt cx="540585" cy="887105"/>
            </a:xfrm>
          </p:grpSpPr>
          <p:sp>
            <p:nvSpPr>
              <p:cNvPr id="26" name="Arc 25">
                <a:extLst>
                  <a:ext uri="{FF2B5EF4-FFF2-40B4-BE49-F238E27FC236}">
                    <a16:creationId xmlns="" xmlns:a16="http://schemas.microsoft.com/office/drawing/2014/main" id="{43BB7691-F2E4-46BF-906F-C4CCEF7D55D9}"/>
                  </a:ext>
                </a:extLst>
              </p:cNvPr>
              <p:cNvSpPr/>
              <p:nvPr/>
            </p:nvSpPr>
            <p:spPr>
              <a:xfrm rot="11054314">
                <a:off x="1985101" y="2985447"/>
                <a:ext cx="540134" cy="887105"/>
              </a:xfrm>
              <a:prstGeom prst="arc">
                <a:avLst>
                  <a:gd name="adj1" fmla="val 10711483"/>
                  <a:gd name="adj2" fmla="val 0"/>
                </a:avLst>
              </a:prstGeom>
              <a:ln w="254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7" name="Straight Arrow Connector 26">
                <a:extLst>
                  <a:ext uri="{FF2B5EF4-FFF2-40B4-BE49-F238E27FC236}">
                    <a16:creationId xmlns="" xmlns:a16="http://schemas.microsoft.com/office/drawing/2014/main" id="{7D03CC14-B08B-467F-A77E-2F642111408F}"/>
                  </a:ext>
                </a:extLst>
              </p:cNvPr>
              <p:cNvCxnSpPr/>
              <p:nvPr/>
            </p:nvCxnSpPr>
            <p:spPr>
              <a:xfrm rot="11054314">
                <a:off x="1984650" y="3331902"/>
                <a:ext cx="0" cy="95534"/>
              </a:xfrm>
              <a:prstGeom prst="straightConnector1">
                <a:avLst/>
              </a:prstGeom>
              <a:ln w="25400">
                <a:solidFill>
                  <a:schemeClr val="bg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8" name="TextBox 27">
              <a:extLst>
                <a:ext uri="{FF2B5EF4-FFF2-40B4-BE49-F238E27FC236}">
                  <a16:creationId xmlns="" xmlns:a16="http://schemas.microsoft.com/office/drawing/2014/main" id="{624BB0EE-6A5B-4B02-82D4-235316C7D61D}"/>
                </a:ext>
              </a:extLst>
            </p:cNvPr>
            <p:cNvSpPr txBox="1"/>
            <p:nvPr/>
          </p:nvSpPr>
          <p:spPr>
            <a:xfrm>
              <a:off x="2906302" y="2429960"/>
              <a:ext cx="3117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29" name="Arrow: Curved Down 28">
              <a:extLst>
                <a:ext uri="{FF2B5EF4-FFF2-40B4-BE49-F238E27FC236}">
                  <a16:creationId xmlns="" xmlns:a16="http://schemas.microsoft.com/office/drawing/2014/main" id="{941EC0F0-A84F-48C9-87D0-10CEDCA8CD61}"/>
                </a:ext>
              </a:extLst>
            </p:cNvPr>
            <p:cNvSpPr/>
            <p:nvPr/>
          </p:nvSpPr>
          <p:spPr>
            <a:xfrm rot="10800000">
              <a:off x="1659826" y="3958135"/>
              <a:ext cx="2908196" cy="256814"/>
            </a:xfrm>
            <a:prstGeom prst="curvedDownArrow">
              <a:avLst>
                <a:gd name="adj1" fmla="val 11615"/>
                <a:gd name="adj2" fmla="val 50000"/>
                <a:gd name="adj3" fmla="val 25000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="" xmlns:a16="http://schemas.microsoft.com/office/drawing/2014/main" id="{4ED6617C-6176-4E5A-97A8-7060AB131E68}"/>
                </a:ext>
              </a:extLst>
            </p:cNvPr>
            <p:cNvSpPr txBox="1"/>
            <p:nvPr/>
          </p:nvSpPr>
          <p:spPr>
            <a:xfrm>
              <a:off x="3306612" y="3828521"/>
              <a:ext cx="3117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31" name="Arrow: Curved Down 30">
              <a:extLst>
                <a:ext uri="{FF2B5EF4-FFF2-40B4-BE49-F238E27FC236}">
                  <a16:creationId xmlns="" xmlns:a16="http://schemas.microsoft.com/office/drawing/2014/main" id="{164BCBA0-BA6D-4830-A4C7-0273A3ACF31A}"/>
                </a:ext>
              </a:extLst>
            </p:cNvPr>
            <p:cNvSpPr/>
            <p:nvPr/>
          </p:nvSpPr>
          <p:spPr>
            <a:xfrm rot="10800000">
              <a:off x="5046391" y="3906855"/>
              <a:ext cx="1049609" cy="203318"/>
            </a:xfrm>
            <a:prstGeom prst="curvedDownArrow">
              <a:avLst>
                <a:gd name="adj1" fmla="val 11615"/>
                <a:gd name="adj2" fmla="val 50000"/>
                <a:gd name="adj3" fmla="val 25000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="" xmlns:a16="http://schemas.microsoft.com/office/drawing/2014/main" id="{D1B5F6D8-B479-4A51-8B85-C90FEF56C3B4}"/>
                </a:ext>
              </a:extLst>
            </p:cNvPr>
            <p:cNvSpPr txBox="1"/>
            <p:nvPr/>
          </p:nvSpPr>
          <p:spPr>
            <a:xfrm>
              <a:off x="5418452" y="3735245"/>
              <a:ext cx="3117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33" name="Arrow: Curved Up 32">
              <a:extLst>
                <a:ext uri="{FF2B5EF4-FFF2-40B4-BE49-F238E27FC236}">
                  <a16:creationId xmlns="" xmlns:a16="http://schemas.microsoft.com/office/drawing/2014/main" id="{883BCDAA-DF6B-4CE1-A7DF-CEA9CF6A7531}"/>
                </a:ext>
              </a:extLst>
            </p:cNvPr>
            <p:cNvSpPr/>
            <p:nvPr/>
          </p:nvSpPr>
          <p:spPr>
            <a:xfrm rot="10601653">
              <a:off x="3340408" y="2885646"/>
              <a:ext cx="2898449" cy="392783"/>
            </a:xfrm>
            <a:prstGeom prst="curvedUpArrow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="" xmlns:a16="http://schemas.microsoft.com/office/drawing/2014/main" id="{C5839F56-250D-47CC-877C-BC0884BC986F}"/>
                </a:ext>
              </a:extLst>
            </p:cNvPr>
            <p:cNvSpPr txBox="1"/>
            <p:nvPr/>
          </p:nvSpPr>
          <p:spPr>
            <a:xfrm>
              <a:off x="4689579" y="2463044"/>
              <a:ext cx="3117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</p:grpSp>
      <p:sp>
        <p:nvSpPr>
          <p:cNvPr id="35" name="Content Placeholder 2">
            <a:extLst>
              <a:ext uri="{FF2B5EF4-FFF2-40B4-BE49-F238E27FC236}">
                <a16:creationId xmlns="" xmlns:a16="http://schemas.microsoft.com/office/drawing/2014/main" id="{F97922DE-7782-4701-9A67-30B071D7E716}"/>
              </a:ext>
            </a:extLst>
          </p:cNvPr>
          <p:cNvSpPr txBox="1">
            <a:spLocks/>
          </p:cNvSpPr>
          <p:nvPr/>
        </p:nvSpPr>
        <p:spPr>
          <a:xfrm>
            <a:off x="5373287" y="786600"/>
            <a:ext cx="4565144" cy="52848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457200" indent="-457200">
              <a:buFont typeface="+mj-lt"/>
              <a:buAutoNum type="arabicPeriod" startAt="3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NDFA, backtracking is not always possible.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="" xmlns:a16="http://schemas.microsoft.com/office/drawing/2014/main" id="{B34E8F8C-167C-49A9-BB01-50B5E361FCC7}"/>
              </a:ext>
            </a:extLst>
          </p:cNvPr>
          <p:cNvSpPr txBox="1"/>
          <p:nvPr/>
        </p:nvSpPr>
        <p:spPr>
          <a:xfrm>
            <a:off x="6855759" y="0"/>
            <a:ext cx="1600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NDFA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="" xmlns:a16="http://schemas.microsoft.com/office/drawing/2014/main" id="{CD207AB7-FD5D-45DA-A74B-31F2314C78DA}"/>
              </a:ext>
            </a:extLst>
          </p:cNvPr>
          <p:cNvSpPr txBox="1"/>
          <p:nvPr/>
        </p:nvSpPr>
        <p:spPr>
          <a:xfrm>
            <a:off x="645082" y="1255327"/>
            <a:ext cx="476304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All words that ends with aba.</a:t>
            </a:r>
            <a:endParaRPr lang="en-US" sz="2200" dirty="0"/>
          </a:p>
        </p:txBody>
      </p:sp>
      <p:sp>
        <p:nvSpPr>
          <p:cNvPr id="38" name="TextBox 37">
            <a:extLst>
              <a:ext uri="{FF2B5EF4-FFF2-40B4-BE49-F238E27FC236}">
                <a16:creationId xmlns="" xmlns:a16="http://schemas.microsoft.com/office/drawing/2014/main" id="{F98FFA43-7618-4602-828A-9E9802F87148}"/>
              </a:ext>
            </a:extLst>
          </p:cNvPr>
          <p:cNvSpPr txBox="1"/>
          <p:nvPr/>
        </p:nvSpPr>
        <p:spPr>
          <a:xfrm>
            <a:off x="5793306" y="1470770"/>
            <a:ext cx="4763046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All words that ends with aba.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sz="3600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ababa</a:t>
            </a:r>
            <a:endParaRPr lang="en-US" sz="3600" dirty="0"/>
          </a:p>
        </p:txBody>
      </p:sp>
      <p:sp>
        <p:nvSpPr>
          <p:cNvPr id="39" name="Oval 38">
            <a:extLst>
              <a:ext uri="{FF2B5EF4-FFF2-40B4-BE49-F238E27FC236}">
                <a16:creationId xmlns="" xmlns:a16="http://schemas.microsoft.com/office/drawing/2014/main" id="{C04827AB-DD9A-4ED6-85A1-B6B5EA8D74CE}"/>
              </a:ext>
            </a:extLst>
          </p:cNvPr>
          <p:cNvSpPr/>
          <p:nvPr/>
        </p:nvSpPr>
        <p:spPr>
          <a:xfrm>
            <a:off x="6486746" y="3963569"/>
            <a:ext cx="697006" cy="712694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x0</a:t>
            </a:r>
          </a:p>
        </p:txBody>
      </p:sp>
      <p:sp>
        <p:nvSpPr>
          <p:cNvPr id="40" name="Oval 39">
            <a:extLst>
              <a:ext uri="{FF2B5EF4-FFF2-40B4-BE49-F238E27FC236}">
                <a16:creationId xmlns="" xmlns:a16="http://schemas.microsoft.com/office/drawing/2014/main" id="{CA0A025A-21AA-4275-B28C-53DF98FBBD62}"/>
              </a:ext>
            </a:extLst>
          </p:cNvPr>
          <p:cNvSpPr/>
          <p:nvPr/>
        </p:nvSpPr>
        <p:spPr>
          <a:xfrm>
            <a:off x="7941653" y="3950317"/>
            <a:ext cx="697006" cy="712694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x1</a:t>
            </a:r>
          </a:p>
        </p:txBody>
      </p:sp>
      <p:sp>
        <p:nvSpPr>
          <p:cNvPr id="41" name="Oval 40">
            <a:extLst>
              <a:ext uri="{FF2B5EF4-FFF2-40B4-BE49-F238E27FC236}">
                <a16:creationId xmlns="" xmlns:a16="http://schemas.microsoft.com/office/drawing/2014/main" id="{232661FD-3231-48C1-A2C5-6DC574BF9AAE}"/>
              </a:ext>
            </a:extLst>
          </p:cNvPr>
          <p:cNvSpPr/>
          <p:nvPr/>
        </p:nvSpPr>
        <p:spPr>
          <a:xfrm>
            <a:off x="9411634" y="3937065"/>
            <a:ext cx="697006" cy="712694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x2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="" xmlns:a16="http://schemas.microsoft.com/office/drawing/2014/main" id="{C3D49387-B6BD-4C8C-8B72-4994398480E7}"/>
              </a:ext>
            </a:extLst>
          </p:cNvPr>
          <p:cNvCxnSpPr/>
          <p:nvPr/>
        </p:nvCxnSpPr>
        <p:spPr>
          <a:xfrm>
            <a:off x="5989984" y="4319916"/>
            <a:ext cx="48354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6" name="Group 45">
            <a:extLst>
              <a:ext uri="{FF2B5EF4-FFF2-40B4-BE49-F238E27FC236}">
                <a16:creationId xmlns="" xmlns:a16="http://schemas.microsoft.com/office/drawing/2014/main" id="{B1BA9B08-4F24-41E4-BBCB-8849CA4AEFEC}"/>
              </a:ext>
            </a:extLst>
          </p:cNvPr>
          <p:cNvGrpSpPr/>
          <p:nvPr/>
        </p:nvGrpSpPr>
        <p:grpSpPr>
          <a:xfrm>
            <a:off x="10899171" y="3875484"/>
            <a:ext cx="803344" cy="835855"/>
            <a:chOff x="5184749" y="4682255"/>
            <a:chExt cx="803344" cy="835855"/>
          </a:xfrm>
        </p:grpSpPr>
        <p:sp>
          <p:nvSpPr>
            <p:cNvPr id="44" name="Oval 43">
              <a:extLst>
                <a:ext uri="{FF2B5EF4-FFF2-40B4-BE49-F238E27FC236}">
                  <a16:creationId xmlns="" xmlns:a16="http://schemas.microsoft.com/office/drawing/2014/main" id="{8F9CDE5C-96FF-4D40-8E35-EF044400A0D6}"/>
                </a:ext>
              </a:extLst>
            </p:cNvPr>
            <p:cNvSpPr/>
            <p:nvPr/>
          </p:nvSpPr>
          <p:spPr>
            <a:xfrm>
              <a:off x="5184749" y="4682255"/>
              <a:ext cx="803344" cy="835855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5" name="Oval 44">
              <a:extLst>
                <a:ext uri="{FF2B5EF4-FFF2-40B4-BE49-F238E27FC236}">
                  <a16:creationId xmlns="" xmlns:a16="http://schemas.microsoft.com/office/drawing/2014/main" id="{3F768F3B-81D9-4CAF-AF6E-D9F095B52C67}"/>
                </a:ext>
              </a:extLst>
            </p:cNvPr>
            <p:cNvSpPr/>
            <p:nvPr/>
          </p:nvSpPr>
          <p:spPr>
            <a:xfrm>
              <a:off x="5241993" y="4745149"/>
              <a:ext cx="697006" cy="712694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x3</a:t>
              </a:r>
            </a:p>
          </p:txBody>
        </p:sp>
      </p:grpSp>
      <p:cxnSp>
        <p:nvCxnSpPr>
          <p:cNvPr id="47" name="Straight Arrow Connector 46">
            <a:extLst>
              <a:ext uri="{FF2B5EF4-FFF2-40B4-BE49-F238E27FC236}">
                <a16:creationId xmlns="" xmlns:a16="http://schemas.microsoft.com/office/drawing/2014/main" id="{70450A69-B259-4D3C-979E-FA0A2CFE43C1}"/>
              </a:ext>
            </a:extLst>
          </p:cNvPr>
          <p:cNvCxnSpPr/>
          <p:nvPr/>
        </p:nvCxnSpPr>
        <p:spPr>
          <a:xfrm>
            <a:off x="8665163" y="4293412"/>
            <a:ext cx="731983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="" xmlns:a16="http://schemas.microsoft.com/office/drawing/2014/main" id="{E925179F-02E3-405F-935C-31689533E68E}"/>
              </a:ext>
            </a:extLst>
          </p:cNvPr>
          <p:cNvCxnSpPr/>
          <p:nvPr/>
        </p:nvCxnSpPr>
        <p:spPr>
          <a:xfrm>
            <a:off x="7210256" y="4306664"/>
            <a:ext cx="731983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="" xmlns:a16="http://schemas.microsoft.com/office/drawing/2014/main" id="{30719D9B-9EE0-4E4C-9F3C-DAE990982348}"/>
              </a:ext>
            </a:extLst>
          </p:cNvPr>
          <p:cNvCxnSpPr/>
          <p:nvPr/>
        </p:nvCxnSpPr>
        <p:spPr>
          <a:xfrm>
            <a:off x="10157495" y="4286152"/>
            <a:ext cx="731983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="" xmlns:a16="http://schemas.microsoft.com/office/drawing/2014/main" id="{DAD597C4-9FEB-467A-9A23-42F3D849E432}"/>
              </a:ext>
            </a:extLst>
          </p:cNvPr>
          <p:cNvSpPr txBox="1"/>
          <p:nvPr/>
        </p:nvSpPr>
        <p:spPr>
          <a:xfrm>
            <a:off x="7323732" y="3858527"/>
            <a:ext cx="2719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="" xmlns:a16="http://schemas.microsoft.com/office/drawing/2014/main" id="{82B3A5BA-A96E-47A4-9B2A-8E43F1CDC92F}"/>
              </a:ext>
            </a:extLst>
          </p:cNvPr>
          <p:cNvSpPr txBox="1"/>
          <p:nvPr/>
        </p:nvSpPr>
        <p:spPr>
          <a:xfrm>
            <a:off x="10318246" y="3858251"/>
            <a:ext cx="2719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="" xmlns:a16="http://schemas.microsoft.com/office/drawing/2014/main" id="{466F6746-AB92-4F07-84C5-D86BB87BBBF0}"/>
              </a:ext>
            </a:extLst>
          </p:cNvPr>
          <p:cNvSpPr txBox="1"/>
          <p:nvPr/>
        </p:nvSpPr>
        <p:spPr>
          <a:xfrm>
            <a:off x="8813526" y="3875484"/>
            <a:ext cx="2719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55" name="Arc 54">
            <a:extLst>
              <a:ext uri="{FF2B5EF4-FFF2-40B4-BE49-F238E27FC236}">
                <a16:creationId xmlns="" xmlns:a16="http://schemas.microsoft.com/office/drawing/2014/main" id="{849113FD-8B93-49B4-9FEC-B701B2B20C6B}"/>
              </a:ext>
            </a:extLst>
          </p:cNvPr>
          <p:cNvSpPr/>
          <p:nvPr/>
        </p:nvSpPr>
        <p:spPr>
          <a:xfrm>
            <a:off x="6586120" y="3539957"/>
            <a:ext cx="471227" cy="887105"/>
          </a:xfrm>
          <a:prstGeom prst="arc">
            <a:avLst>
              <a:gd name="adj1" fmla="val 10711483"/>
              <a:gd name="adj2" fmla="val 0"/>
            </a:avLst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="" xmlns:a16="http://schemas.microsoft.com/office/drawing/2014/main" id="{FCEFE45B-CEA6-4498-8008-059E264EE9F2}"/>
              </a:ext>
            </a:extLst>
          </p:cNvPr>
          <p:cNvSpPr txBox="1"/>
          <p:nvPr/>
        </p:nvSpPr>
        <p:spPr>
          <a:xfrm>
            <a:off x="6548410" y="3109287"/>
            <a:ext cx="5657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a/b</a:t>
            </a:r>
          </a:p>
        </p:txBody>
      </p:sp>
      <p:grpSp>
        <p:nvGrpSpPr>
          <p:cNvPr id="57" name="Group 56">
            <a:extLst>
              <a:ext uri="{FF2B5EF4-FFF2-40B4-BE49-F238E27FC236}">
                <a16:creationId xmlns="" xmlns:a16="http://schemas.microsoft.com/office/drawing/2014/main" id="{8D3C0EC3-1E6A-436B-B406-38A549AC7268}"/>
              </a:ext>
            </a:extLst>
          </p:cNvPr>
          <p:cNvGrpSpPr/>
          <p:nvPr/>
        </p:nvGrpSpPr>
        <p:grpSpPr>
          <a:xfrm rot="18867934">
            <a:off x="5863168" y="3057005"/>
            <a:ext cx="369332" cy="1272137"/>
            <a:chOff x="7012637" y="2207153"/>
            <a:chExt cx="369332" cy="1003540"/>
          </a:xfrm>
        </p:grpSpPr>
        <p:sp>
          <p:nvSpPr>
            <p:cNvPr id="58" name="Arrow: Up 57">
              <a:extLst>
                <a:ext uri="{FF2B5EF4-FFF2-40B4-BE49-F238E27FC236}">
                  <a16:creationId xmlns="" xmlns:a16="http://schemas.microsoft.com/office/drawing/2014/main" id="{E93022AA-FD9E-4354-A4A7-DF5F91C23E96}"/>
                </a:ext>
              </a:extLst>
            </p:cNvPr>
            <p:cNvSpPr/>
            <p:nvPr/>
          </p:nvSpPr>
          <p:spPr>
            <a:xfrm rot="10800000">
              <a:off x="7044865" y="2571551"/>
              <a:ext cx="191070" cy="639142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9" name="TextBox 58">
              <a:extLst>
                <a:ext uri="{FF2B5EF4-FFF2-40B4-BE49-F238E27FC236}">
                  <a16:creationId xmlns="" xmlns:a16="http://schemas.microsoft.com/office/drawing/2014/main" id="{BAF74065-B1AC-4D5B-9613-553AA58A4378}"/>
                </a:ext>
              </a:extLst>
            </p:cNvPr>
            <p:cNvSpPr txBox="1"/>
            <p:nvPr/>
          </p:nvSpPr>
          <p:spPr>
            <a:xfrm rot="2732066">
              <a:off x="6924579" y="2295211"/>
              <a:ext cx="54544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CS-1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294301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149AD530-6C2A-44EA-A853-BAC2857EF1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904" y="858414"/>
            <a:ext cx="4876872" cy="460871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Backtracking is allowed in DFA.</a:t>
            </a:r>
          </a:p>
          <a:p>
            <a:pPr marL="457200" indent="-457200">
              <a:buFont typeface="+mj-lt"/>
              <a:buAutoNum type="arabicPeriod" startAt="3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E7E875E4-C02C-44AD-9251-3D0D7CDF2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26D1DE06-0720-4572-BF37-034426FE1CD7}"/>
              </a:ext>
            </a:extLst>
          </p:cNvPr>
          <p:cNvSpPr txBox="1"/>
          <p:nvPr/>
        </p:nvSpPr>
        <p:spPr>
          <a:xfrm>
            <a:off x="1529669" y="33241"/>
            <a:ext cx="1600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DFA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="" xmlns:a16="http://schemas.microsoft.com/office/drawing/2014/main" id="{E13E761C-7E8C-455A-B10F-FF97B9D81750}"/>
              </a:ext>
            </a:extLst>
          </p:cNvPr>
          <p:cNvGrpSpPr/>
          <p:nvPr/>
        </p:nvGrpSpPr>
        <p:grpSpPr>
          <a:xfrm>
            <a:off x="389769" y="1761566"/>
            <a:ext cx="5586961" cy="1860226"/>
            <a:chOff x="470451" y="2429960"/>
            <a:chExt cx="6403942" cy="1860226"/>
          </a:xfrm>
        </p:grpSpPr>
        <p:sp>
          <p:nvSpPr>
            <p:cNvPr id="8" name="Oval 7">
              <a:extLst>
                <a:ext uri="{FF2B5EF4-FFF2-40B4-BE49-F238E27FC236}">
                  <a16:creationId xmlns="" xmlns:a16="http://schemas.microsoft.com/office/drawing/2014/main" id="{EDD2A173-63F4-4A80-96B9-79D5A7A31D1C}"/>
                </a:ext>
              </a:extLst>
            </p:cNvPr>
            <p:cNvSpPr/>
            <p:nvPr/>
          </p:nvSpPr>
          <p:spPr>
            <a:xfrm>
              <a:off x="1130579" y="3333906"/>
              <a:ext cx="723331" cy="63914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x0</a:t>
              </a: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="" xmlns:a16="http://schemas.microsoft.com/office/drawing/2014/main" id="{B167B8FE-18DA-468D-9F34-C584DF4C213E}"/>
                </a:ext>
              </a:extLst>
            </p:cNvPr>
            <p:cNvCxnSpPr/>
            <p:nvPr/>
          </p:nvCxnSpPr>
          <p:spPr>
            <a:xfrm>
              <a:off x="470451" y="3673964"/>
              <a:ext cx="573062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Oval 9">
              <a:extLst>
                <a:ext uri="{FF2B5EF4-FFF2-40B4-BE49-F238E27FC236}">
                  <a16:creationId xmlns="" xmlns:a16="http://schemas.microsoft.com/office/drawing/2014/main" id="{F032099B-FB70-499B-B9CB-2153679670AF}"/>
                </a:ext>
              </a:extLst>
            </p:cNvPr>
            <p:cNvSpPr/>
            <p:nvPr/>
          </p:nvSpPr>
          <p:spPr>
            <a:xfrm>
              <a:off x="2765510" y="3333906"/>
              <a:ext cx="723331" cy="63914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x1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="" xmlns:a16="http://schemas.microsoft.com/office/drawing/2014/main" id="{A46E03FE-0352-4BA0-94CE-3CBBC1232E6A}"/>
                </a:ext>
              </a:extLst>
            </p:cNvPr>
            <p:cNvSpPr/>
            <p:nvPr/>
          </p:nvSpPr>
          <p:spPr>
            <a:xfrm>
              <a:off x="4400441" y="3307012"/>
              <a:ext cx="723331" cy="63914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x2</a:t>
              </a: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="" xmlns:a16="http://schemas.microsoft.com/office/drawing/2014/main" id="{49347AD5-0329-4828-BEAA-DE17AA128978}"/>
                </a:ext>
              </a:extLst>
            </p:cNvPr>
            <p:cNvGrpSpPr/>
            <p:nvPr/>
          </p:nvGrpSpPr>
          <p:grpSpPr>
            <a:xfrm>
              <a:off x="6035372" y="3170957"/>
              <a:ext cx="839021" cy="802091"/>
              <a:chOff x="10512625" y="1744747"/>
              <a:chExt cx="839021" cy="802091"/>
            </a:xfrm>
          </p:grpSpPr>
          <p:sp>
            <p:nvSpPr>
              <p:cNvPr id="13" name="Oval 12">
                <a:extLst>
                  <a:ext uri="{FF2B5EF4-FFF2-40B4-BE49-F238E27FC236}">
                    <a16:creationId xmlns="" xmlns:a16="http://schemas.microsoft.com/office/drawing/2014/main" id="{06A6A055-73AA-42D4-81CF-0021044FCC67}"/>
                  </a:ext>
                </a:extLst>
              </p:cNvPr>
              <p:cNvSpPr/>
              <p:nvPr/>
            </p:nvSpPr>
            <p:spPr>
              <a:xfrm>
                <a:off x="10512625" y="1744747"/>
                <a:ext cx="839021" cy="802091"/>
              </a:xfrm>
              <a:prstGeom prst="ellips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4" name="Oval 13">
                <a:extLst>
                  <a:ext uri="{FF2B5EF4-FFF2-40B4-BE49-F238E27FC236}">
                    <a16:creationId xmlns="" xmlns:a16="http://schemas.microsoft.com/office/drawing/2014/main" id="{B0C94D19-8E49-4955-8F65-F2A1695D3938}"/>
                  </a:ext>
                </a:extLst>
              </p:cNvPr>
              <p:cNvSpPr/>
              <p:nvPr/>
            </p:nvSpPr>
            <p:spPr>
              <a:xfrm>
                <a:off x="10585318" y="1837172"/>
                <a:ext cx="681980" cy="628192"/>
              </a:xfrm>
              <a:prstGeom prst="ellips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x3</a:t>
                </a:r>
              </a:p>
            </p:txBody>
          </p:sp>
        </p:grpSp>
        <p:cxnSp>
          <p:nvCxnSpPr>
            <p:cNvPr id="15" name="Straight Arrow Connector 14">
              <a:extLst>
                <a:ext uri="{FF2B5EF4-FFF2-40B4-BE49-F238E27FC236}">
                  <a16:creationId xmlns="" xmlns:a16="http://schemas.microsoft.com/office/drawing/2014/main" id="{CF3E0BDF-810B-4F55-B7EA-0389F91D35A4}"/>
                </a:ext>
              </a:extLst>
            </p:cNvPr>
            <p:cNvCxnSpPr/>
            <p:nvPr/>
          </p:nvCxnSpPr>
          <p:spPr>
            <a:xfrm>
              <a:off x="1914097" y="3662038"/>
              <a:ext cx="839021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="" xmlns:a16="http://schemas.microsoft.com/office/drawing/2014/main" id="{21D2F5CA-FBDF-414C-838D-0A9B5FC4430A}"/>
                </a:ext>
              </a:extLst>
            </p:cNvPr>
            <p:cNvCxnSpPr/>
            <p:nvPr/>
          </p:nvCxnSpPr>
          <p:spPr>
            <a:xfrm>
              <a:off x="3534916" y="3639972"/>
              <a:ext cx="839021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="" xmlns:a16="http://schemas.microsoft.com/office/drawing/2014/main" id="{AA1CBC00-C8B1-44E9-8B2A-D774D4C8057E}"/>
                </a:ext>
              </a:extLst>
            </p:cNvPr>
            <p:cNvCxnSpPr/>
            <p:nvPr/>
          </p:nvCxnSpPr>
          <p:spPr>
            <a:xfrm>
              <a:off x="5169847" y="3639972"/>
              <a:ext cx="839021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="" xmlns:a16="http://schemas.microsoft.com/office/drawing/2014/main" id="{7FCBCE34-8F1D-4494-B37C-ABE96FD57666}"/>
                </a:ext>
              </a:extLst>
            </p:cNvPr>
            <p:cNvSpPr txBox="1"/>
            <p:nvPr/>
          </p:nvSpPr>
          <p:spPr>
            <a:xfrm>
              <a:off x="2089212" y="3191812"/>
              <a:ext cx="3117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="" xmlns:a16="http://schemas.microsoft.com/office/drawing/2014/main" id="{CC77AC81-ED5E-47AC-A744-914483C03C0C}"/>
                </a:ext>
              </a:extLst>
            </p:cNvPr>
            <p:cNvSpPr txBox="1"/>
            <p:nvPr/>
          </p:nvSpPr>
          <p:spPr>
            <a:xfrm>
              <a:off x="3697547" y="3212299"/>
              <a:ext cx="3117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="" xmlns:a16="http://schemas.microsoft.com/office/drawing/2014/main" id="{8E3BF89E-56F8-4EB4-AD82-9142DBD6A27C}"/>
                </a:ext>
              </a:extLst>
            </p:cNvPr>
            <p:cNvSpPr txBox="1"/>
            <p:nvPr/>
          </p:nvSpPr>
          <p:spPr>
            <a:xfrm>
              <a:off x="5358816" y="3172033"/>
              <a:ext cx="3117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="" xmlns:a16="http://schemas.microsoft.com/office/drawing/2014/main" id="{A9C0D6FE-F7E5-434B-BABF-3049C2B33D69}"/>
                </a:ext>
              </a:extLst>
            </p:cNvPr>
            <p:cNvGrpSpPr/>
            <p:nvPr/>
          </p:nvGrpSpPr>
          <p:grpSpPr>
            <a:xfrm rot="10370240">
              <a:off x="1185958" y="2890353"/>
              <a:ext cx="540585" cy="887105"/>
              <a:chOff x="1984650" y="2985447"/>
              <a:chExt cx="540585" cy="887105"/>
            </a:xfrm>
          </p:grpSpPr>
          <p:sp>
            <p:nvSpPr>
              <p:cNvPr id="22" name="Arc 21">
                <a:extLst>
                  <a:ext uri="{FF2B5EF4-FFF2-40B4-BE49-F238E27FC236}">
                    <a16:creationId xmlns="" xmlns:a16="http://schemas.microsoft.com/office/drawing/2014/main" id="{177ECB2A-EFAE-4453-93C0-A41752FCEBB3}"/>
                  </a:ext>
                </a:extLst>
              </p:cNvPr>
              <p:cNvSpPr/>
              <p:nvPr/>
            </p:nvSpPr>
            <p:spPr>
              <a:xfrm rot="11054314">
                <a:off x="1985101" y="2985447"/>
                <a:ext cx="540134" cy="887105"/>
              </a:xfrm>
              <a:prstGeom prst="arc">
                <a:avLst>
                  <a:gd name="adj1" fmla="val 10711483"/>
                  <a:gd name="adj2" fmla="val 0"/>
                </a:avLst>
              </a:prstGeom>
              <a:ln w="254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3" name="Straight Arrow Connector 22">
                <a:extLst>
                  <a:ext uri="{FF2B5EF4-FFF2-40B4-BE49-F238E27FC236}">
                    <a16:creationId xmlns="" xmlns:a16="http://schemas.microsoft.com/office/drawing/2014/main" id="{F995BD76-CADF-4733-ACDA-E945D5FED785}"/>
                  </a:ext>
                </a:extLst>
              </p:cNvPr>
              <p:cNvCxnSpPr/>
              <p:nvPr/>
            </p:nvCxnSpPr>
            <p:spPr>
              <a:xfrm rot="11054314">
                <a:off x="1984650" y="3331902"/>
                <a:ext cx="0" cy="95534"/>
              </a:xfrm>
              <a:prstGeom prst="straightConnector1">
                <a:avLst/>
              </a:prstGeom>
              <a:ln w="25400">
                <a:solidFill>
                  <a:schemeClr val="bg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4" name="TextBox 23">
              <a:extLst>
                <a:ext uri="{FF2B5EF4-FFF2-40B4-BE49-F238E27FC236}">
                  <a16:creationId xmlns="" xmlns:a16="http://schemas.microsoft.com/office/drawing/2014/main" id="{9FF65C04-6E36-440B-8DB3-19D0DD25E1D5}"/>
                </a:ext>
              </a:extLst>
            </p:cNvPr>
            <p:cNvSpPr txBox="1"/>
            <p:nvPr/>
          </p:nvSpPr>
          <p:spPr>
            <a:xfrm>
              <a:off x="1180516" y="2457327"/>
              <a:ext cx="3117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  <p:grpSp>
          <p:nvGrpSpPr>
            <p:cNvPr id="25" name="Group 24">
              <a:extLst>
                <a:ext uri="{FF2B5EF4-FFF2-40B4-BE49-F238E27FC236}">
                  <a16:creationId xmlns="" xmlns:a16="http://schemas.microsoft.com/office/drawing/2014/main" id="{95283B76-D290-48F4-882C-4B73696475FC}"/>
                </a:ext>
              </a:extLst>
            </p:cNvPr>
            <p:cNvGrpSpPr/>
            <p:nvPr/>
          </p:nvGrpSpPr>
          <p:grpSpPr>
            <a:xfrm rot="10370240">
              <a:off x="2836093" y="2873340"/>
              <a:ext cx="540585" cy="887105"/>
              <a:chOff x="1984650" y="2985447"/>
              <a:chExt cx="540585" cy="887105"/>
            </a:xfrm>
          </p:grpSpPr>
          <p:sp>
            <p:nvSpPr>
              <p:cNvPr id="26" name="Arc 25">
                <a:extLst>
                  <a:ext uri="{FF2B5EF4-FFF2-40B4-BE49-F238E27FC236}">
                    <a16:creationId xmlns="" xmlns:a16="http://schemas.microsoft.com/office/drawing/2014/main" id="{43BB7691-F2E4-46BF-906F-C4CCEF7D55D9}"/>
                  </a:ext>
                </a:extLst>
              </p:cNvPr>
              <p:cNvSpPr/>
              <p:nvPr/>
            </p:nvSpPr>
            <p:spPr>
              <a:xfrm rot="11054314">
                <a:off x="1985101" y="2985447"/>
                <a:ext cx="540134" cy="887105"/>
              </a:xfrm>
              <a:prstGeom prst="arc">
                <a:avLst>
                  <a:gd name="adj1" fmla="val 10711483"/>
                  <a:gd name="adj2" fmla="val 0"/>
                </a:avLst>
              </a:prstGeom>
              <a:ln w="254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7" name="Straight Arrow Connector 26">
                <a:extLst>
                  <a:ext uri="{FF2B5EF4-FFF2-40B4-BE49-F238E27FC236}">
                    <a16:creationId xmlns="" xmlns:a16="http://schemas.microsoft.com/office/drawing/2014/main" id="{7D03CC14-B08B-467F-A77E-2F642111408F}"/>
                  </a:ext>
                </a:extLst>
              </p:cNvPr>
              <p:cNvCxnSpPr/>
              <p:nvPr/>
            </p:nvCxnSpPr>
            <p:spPr>
              <a:xfrm rot="11054314">
                <a:off x="1984650" y="3331902"/>
                <a:ext cx="0" cy="95534"/>
              </a:xfrm>
              <a:prstGeom prst="straightConnector1">
                <a:avLst/>
              </a:prstGeom>
              <a:ln w="25400">
                <a:solidFill>
                  <a:schemeClr val="bg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8" name="TextBox 27">
              <a:extLst>
                <a:ext uri="{FF2B5EF4-FFF2-40B4-BE49-F238E27FC236}">
                  <a16:creationId xmlns="" xmlns:a16="http://schemas.microsoft.com/office/drawing/2014/main" id="{624BB0EE-6A5B-4B02-82D4-235316C7D61D}"/>
                </a:ext>
              </a:extLst>
            </p:cNvPr>
            <p:cNvSpPr txBox="1"/>
            <p:nvPr/>
          </p:nvSpPr>
          <p:spPr>
            <a:xfrm>
              <a:off x="2906302" y="2429960"/>
              <a:ext cx="3117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29" name="Arrow: Curved Down 28">
              <a:extLst>
                <a:ext uri="{FF2B5EF4-FFF2-40B4-BE49-F238E27FC236}">
                  <a16:creationId xmlns="" xmlns:a16="http://schemas.microsoft.com/office/drawing/2014/main" id="{941EC0F0-A84F-48C9-87D0-10CEDCA8CD61}"/>
                </a:ext>
              </a:extLst>
            </p:cNvPr>
            <p:cNvSpPr/>
            <p:nvPr/>
          </p:nvSpPr>
          <p:spPr>
            <a:xfrm rot="10800000">
              <a:off x="1659826" y="3958135"/>
              <a:ext cx="2908196" cy="256814"/>
            </a:xfrm>
            <a:prstGeom prst="curvedDownArrow">
              <a:avLst>
                <a:gd name="adj1" fmla="val 11615"/>
                <a:gd name="adj2" fmla="val 50000"/>
                <a:gd name="adj3" fmla="val 25000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="" xmlns:a16="http://schemas.microsoft.com/office/drawing/2014/main" id="{4ED6617C-6176-4E5A-97A8-7060AB131E68}"/>
                </a:ext>
              </a:extLst>
            </p:cNvPr>
            <p:cNvSpPr txBox="1"/>
            <p:nvPr/>
          </p:nvSpPr>
          <p:spPr>
            <a:xfrm>
              <a:off x="3306612" y="3828521"/>
              <a:ext cx="3117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31" name="Arrow: Curved Down 30">
              <a:extLst>
                <a:ext uri="{FF2B5EF4-FFF2-40B4-BE49-F238E27FC236}">
                  <a16:creationId xmlns="" xmlns:a16="http://schemas.microsoft.com/office/drawing/2014/main" id="{164BCBA0-BA6D-4830-A4C7-0273A3ACF31A}"/>
                </a:ext>
              </a:extLst>
            </p:cNvPr>
            <p:cNvSpPr/>
            <p:nvPr/>
          </p:nvSpPr>
          <p:spPr>
            <a:xfrm rot="10800000">
              <a:off x="5046391" y="3906855"/>
              <a:ext cx="1049609" cy="203318"/>
            </a:xfrm>
            <a:prstGeom prst="curvedDownArrow">
              <a:avLst>
                <a:gd name="adj1" fmla="val 11615"/>
                <a:gd name="adj2" fmla="val 50000"/>
                <a:gd name="adj3" fmla="val 25000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="" xmlns:a16="http://schemas.microsoft.com/office/drawing/2014/main" id="{D1B5F6D8-B479-4A51-8B85-C90FEF56C3B4}"/>
                </a:ext>
              </a:extLst>
            </p:cNvPr>
            <p:cNvSpPr txBox="1"/>
            <p:nvPr/>
          </p:nvSpPr>
          <p:spPr>
            <a:xfrm>
              <a:off x="5418452" y="3735245"/>
              <a:ext cx="3117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33" name="Arrow: Curved Up 32">
              <a:extLst>
                <a:ext uri="{FF2B5EF4-FFF2-40B4-BE49-F238E27FC236}">
                  <a16:creationId xmlns="" xmlns:a16="http://schemas.microsoft.com/office/drawing/2014/main" id="{883BCDAA-DF6B-4CE1-A7DF-CEA9CF6A7531}"/>
                </a:ext>
              </a:extLst>
            </p:cNvPr>
            <p:cNvSpPr/>
            <p:nvPr/>
          </p:nvSpPr>
          <p:spPr>
            <a:xfrm rot="10601653">
              <a:off x="3340408" y="2885646"/>
              <a:ext cx="2898449" cy="392783"/>
            </a:xfrm>
            <a:prstGeom prst="curvedUpArrow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="" xmlns:a16="http://schemas.microsoft.com/office/drawing/2014/main" id="{C5839F56-250D-47CC-877C-BC0884BC986F}"/>
                </a:ext>
              </a:extLst>
            </p:cNvPr>
            <p:cNvSpPr txBox="1"/>
            <p:nvPr/>
          </p:nvSpPr>
          <p:spPr>
            <a:xfrm>
              <a:off x="4689579" y="2463044"/>
              <a:ext cx="3117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</p:grpSp>
      <p:sp>
        <p:nvSpPr>
          <p:cNvPr id="35" name="Content Placeholder 2">
            <a:extLst>
              <a:ext uri="{FF2B5EF4-FFF2-40B4-BE49-F238E27FC236}">
                <a16:creationId xmlns="" xmlns:a16="http://schemas.microsoft.com/office/drawing/2014/main" id="{F97922DE-7782-4701-9A67-30B071D7E716}"/>
              </a:ext>
            </a:extLst>
          </p:cNvPr>
          <p:cNvSpPr txBox="1">
            <a:spLocks/>
          </p:cNvSpPr>
          <p:nvPr/>
        </p:nvSpPr>
        <p:spPr>
          <a:xfrm>
            <a:off x="5373287" y="786600"/>
            <a:ext cx="4565144" cy="52848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457200" indent="-457200">
              <a:buFont typeface="+mj-lt"/>
              <a:buAutoNum type="arabicPeriod" startAt="3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NDFA, backtracking is not always possible.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="" xmlns:a16="http://schemas.microsoft.com/office/drawing/2014/main" id="{B34E8F8C-167C-49A9-BB01-50B5E361FCC7}"/>
              </a:ext>
            </a:extLst>
          </p:cNvPr>
          <p:cNvSpPr txBox="1"/>
          <p:nvPr/>
        </p:nvSpPr>
        <p:spPr>
          <a:xfrm>
            <a:off x="6855759" y="0"/>
            <a:ext cx="1600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NDFA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="" xmlns:a16="http://schemas.microsoft.com/office/drawing/2014/main" id="{CD207AB7-FD5D-45DA-A74B-31F2314C78DA}"/>
              </a:ext>
            </a:extLst>
          </p:cNvPr>
          <p:cNvSpPr txBox="1"/>
          <p:nvPr/>
        </p:nvSpPr>
        <p:spPr>
          <a:xfrm>
            <a:off x="645082" y="1255327"/>
            <a:ext cx="476304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All words that ends with aba.</a:t>
            </a:r>
            <a:endParaRPr lang="en-US" sz="2200" dirty="0"/>
          </a:p>
        </p:txBody>
      </p:sp>
      <p:sp>
        <p:nvSpPr>
          <p:cNvPr id="38" name="TextBox 37">
            <a:extLst>
              <a:ext uri="{FF2B5EF4-FFF2-40B4-BE49-F238E27FC236}">
                <a16:creationId xmlns="" xmlns:a16="http://schemas.microsoft.com/office/drawing/2014/main" id="{F98FFA43-7618-4602-828A-9E9802F87148}"/>
              </a:ext>
            </a:extLst>
          </p:cNvPr>
          <p:cNvSpPr txBox="1"/>
          <p:nvPr/>
        </p:nvSpPr>
        <p:spPr>
          <a:xfrm>
            <a:off x="5793306" y="1470770"/>
            <a:ext cx="4763046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All words that ends with aba.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sz="3600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ababa</a:t>
            </a:r>
            <a:endParaRPr lang="en-US" sz="3600" dirty="0"/>
          </a:p>
        </p:txBody>
      </p:sp>
      <p:sp>
        <p:nvSpPr>
          <p:cNvPr id="39" name="Oval 38">
            <a:extLst>
              <a:ext uri="{FF2B5EF4-FFF2-40B4-BE49-F238E27FC236}">
                <a16:creationId xmlns="" xmlns:a16="http://schemas.microsoft.com/office/drawing/2014/main" id="{C04827AB-DD9A-4ED6-85A1-B6B5EA8D74CE}"/>
              </a:ext>
            </a:extLst>
          </p:cNvPr>
          <p:cNvSpPr/>
          <p:nvPr/>
        </p:nvSpPr>
        <p:spPr>
          <a:xfrm>
            <a:off x="6486746" y="3963569"/>
            <a:ext cx="697006" cy="712694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x0</a:t>
            </a:r>
          </a:p>
        </p:txBody>
      </p:sp>
      <p:sp>
        <p:nvSpPr>
          <p:cNvPr id="40" name="Oval 39">
            <a:extLst>
              <a:ext uri="{FF2B5EF4-FFF2-40B4-BE49-F238E27FC236}">
                <a16:creationId xmlns="" xmlns:a16="http://schemas.microsoft.com/office/drawing/2014/main" id="{CA0A025A-21AA-4275-B28C-53DF98FBBD62}"/>
              </a:ext>
            </a:extLst>
          </p:cNvPr>
          <p:cNvSpPr/>
          <p:nvPr/>
        </p:nvSpPr>
        <p:spPr>
          <a:xfrm>
            <a:off x="7941653" y="3950317"/>
            <a:ext cx="697006" cy="712694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x1</a:t>
            </a:r>
          </a:p>
        </p:txBody>
      </p:sp>
      <p:sp>
        <p:nvSpPr>
          <p:cNvPr id="41" name="Oval 40">
            <a:extLst>
              <a:ext uri="{FF2B5EF4-FFF2-40B4-BE49-F238E27FC236}">
                <a16:creationId xmlns="" xmlns:a16="http://schemas.microsoft.com/office/drawing/2014/main" id="{232661FD-3231-48C1-A2C5-6DC574BF9AAE}"/>
              </a:ext>
            </a:extLst>
          </p:cNvPr>
          <p:cNvSpPr/>
          <p:nvPr/>
        </p:nvSpPr>
        <p:spPr>
          <a:xfrm>
            <a:off x="9411634" y="3937065"/>
            <a:ext cx="697006" cy="712694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x2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="" xmlns:a16="http://schemas.microsoft.com/office/drawing/2014/main" id="{C3D49387-B6BD-4C8C-8B72-4994398480E7}"/>
              </a:ext>
            </a:extLst>
          </p:cNvPr>
          <p:cNvCxnSpPr/>
          <p:nvPr/>
        </p:nvCxnSpPr>
        <p:spPr>
          <a:xfrm>
            <a:off x="5989984" y="4319916"/>
            <a:ext cx="48354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6" name="Group 45">
            <a:extLst>
              <a:ext uri="{FF2B5EF4-FFF2-40B4-BE49-F238E27FC236}">
                <a16:creationId xmlns="" xmlns:a16="http://schemas.microsoft.com/office/drawing/2014/main" id="{B1BA9B08-4F24-41E4-BBCB-8849CA4AEFEC}"/>
              </a:ext>
            </a:extLst>
          </p:cNvPr>
          <p:cNvGrpSpPr/>
          <p:nvPr/>
        </p:nvGrpSpPr>
        <p:grpSpPr>
          <a:xfrm>
            <a:off x="10899171" y="3875484"/>
            <a:ext cx="803344" cy="835855"/>
            <a:chOff x="5184749" y="4682255"/>
            <a:chExt cx="803344" cy="835855"/>
          </a:xfrm>
        </p:grpSpPr>
        <p:sp>
          <p:nvSpPr>
            <p:cNvPr id="44" name="Oval 43">
              <a:extLst>
                <a:ext uri="{FF2B5EF4-FFF2-40B4-BE49-F238E27FC236}">
                  <a16:creationId xmlns="" xmlns:a16="http://schemas.microsoft.com/office/drawing/2014/main" id="{8F9CDE5C-96FF-4D40-8E35-EF044400A0D6}"/>
                </a:ext>
              </a:extLst>
            </p:cNvPr>
            <p:cNvSpPr/>
            <p:nvPr/>
          </p:nvSpPr>
          <p:spPr>
            <a:xfrm>
              <a:off x="5184749" y="4682255"/>
              <a:ext cx="803344" cy="835855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5" name="Oval 44">
              <a:extLst>
                <a:ext uri="{FF2B5EF4-FFF2-40B4-BE49-F238E27FC236}">
                  <a16:creationId xmlns="" xmlns:a16="http://schemas.microsoft.com/office/drawing/2014/main" id="{3F768F3B-81D9-4CAF-AF6E-D9F095B52C67}"/>
                </a:ext>
              </a:extLst>
            </p:cNvPr>
            <p:cNvSpPr/>
            <p:nvPr/>
          </p:nvSpPr>
          <p:spPr>
            <a:xfrm>
              <a:off x="5241993" y="4745149"/>
              <a:ext cx="697006" cy="712694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x3</a:t>
              </a:r>
            </a:p>
          </p:txBody>
        </p:sp>
      </p:grpSp>
      <p:cxnSp>
        <p:nvCxnSpPr>
          <p:cNvPr id="47" name="Straight Arrow Connector 46">
            <a:extLst>
              <a:ext uri="{FF2B5EF4-FFF2-40B4-BE49-F238E27FC236}">
                <a16:creationId xmlns="" xmlns:a16="http://schemas.microsoft.com/office/drawing/2014/main" id="{70450A69-B259-4D3C-979E-FA0A2CFE43C1}"/>
              </a:ext>
            </a:extLst>
          </p:cNvPr>
          <p:cNvCxnSpPr/>
          <p:nvPr/>
        </p:nvCxnSpPr>
        <p:spPr>
          <a:xfrm>
            <a:off x="8665163" y="4293412"/>
            <a:ext cx="731983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="" xmlns:a16="http://schemas.microsoft.com/office/drawing/2014/main" id="{E925179F-02E3-405F-935C-31689533E68E}"/>
              </a:ext>
            </a:extLst>
          </p:cNvPr>
          <p:cNvCxnSpPr/>
          <p:nvPr/>
        </p:nvCxnSpPr>
        <p:spPr>
          <a:xfrm>
            <a:off x="7210256" y="4306664"/>
            <a:ext cx="731983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="" xmlns:a16="http://schemas.microsoft.com/office/drawing/2014/main" id="{30719D9B-9EE0-4E4C-9F3C-DAE990982348}"/>
              </a:ext>
            </a:extLst>
          </p:cNvPr>
          <p:cNvCxnSpPr/>
          <p:nvPr/>
        </p:nvCxnSpPr>
        <p:spPr>
          <a:xfrm>
            <a:off x="10157495" y="4286152"/>
            <a:ext cx="731983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="" xmlns:a16="http://schemas.microsoft.com/office/drawing/2014/main" id="{DAD597C4-9FEB-467A-9A23-42F3D849E432}"/>
              </a:ext>
            </a:extLst>
          </p:cNvPr>
          <p:cNvSpPr txBox="1"/>
          <p:nvPr/>
        </p:nvSpPr>
        <p:spPr>
          <a:xfrm>
            <a:off x="7323732" y="3858527"/>
            <a:ext cx="2719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="" xmlns:a16="http://schemas.microsoft.com/office/drawing/2014/main" id="{82B3A5BA-A96E-47A4-9B2A-8E43F1CDC92F}"/>
              </a:ext>
            </a:extLst>
          </p:cNvPr>
          <p:cNvSpPr txBox="1"/>
          <p:nvPr/>
        </p:nvSpPr>
        <p:spPr>
          <a:xfrm>
            <a:off x="10318246" y="3858251"/>
            <a:ext cx="2719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="" xmlns:a16="http://schemas.microsoft.com/office/drawing/2014/main" id="{466F6746-AB92-4F07-84C5-D86BB87BBBF0}"/>
              </a:ext>
            </a:extLst>
          </p:cNvPr>
          <p:cNvSpPr txBox="1"/>
          <p:nvPr/>
        </p:nvSpPr>
        <p:spPr>
          <a:xfrm>
            <a:off x="8813526" y="3875484"/>
            <a:ext cx="2719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55" name="Arc 54">
            <a:extLst>
              <a:ext uri="{FF2B5EF4-FFF2-40B4-BE49-F238E27FC236}">
                <a16:creationId xmlns="" xmlns:a16="http://schemas.microsoft.com/office/drawing/2014/main" id="{849113FD-8B93-49B4-9FEC-B701B2B20C6B}"/>
              </a:ext>
            </a:extLst>
          </p:cNvPr>
          <p:cNvSpPr/>
          <p:nvPr/>
        </p:nvSpPr>
        <p:spPr>
          <a:xfrm>
            <a:off x="6586120" y="3539957"/>
            <a:ext cx="471227" cy="887105"/>
          </a:xfrm>
          <a:prstGeom prst="arc">
            <a:avLst>
              <a:gd name="adj1" fmla="val 10711483"/>
              <a:gd name="adj2" fmla="val 0"/>
            </a:avLst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="" xmlns:a16="http://schemas.microsoft.com/office/drawing/2014/main" id="{FCEFE45B-CEA6-4498-8008-059E264EE9F2}"/>
              </a:ext>
            </a:extLst>
          </p:cNvPr>
          <p:cNvSpPr txBox="1"/>
          <p:nvPr/>
        </p:nvSpPr>
        <p:spPr>
          <a:xfrm>
            <a:off x="6548410" y="3109287"/>
            <a:ext cx="5657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a/b</a:t>
            </a:r>
          </a:p>
        </p:txBody>
      </p:sp>
      <p:grpSp>
        <p:nvGrpSpPr>
          <p:cNvPr id="57" name="Group 56">
            <a:extLst>
              <a:ext uri="{FF2B5EF4-FFF2-40B4-BE49-F238E27FC236}">
                <a16:creationId xmlns="" xmlns:a16="http://schemas.microsoft.com/office/drawing/2014/main" id="{8D3C0EC3-1E6A-436B-B406-38A549AC7268}"/>
              </a:ext>
            </a:extLst>
          </p:cNvPr>
          <p:cNvGrpSpPr/>
          <p:nvPr/>
        </p:nvGrpSpPr>
        <p:grpSpPr>
          <a:xfrm rot="18867934">
            <a:off x="5867045" y="3049583"/>
            <a:ext cx="369332" cy="1274995"/>
            <a:chOff x="7019630" y="2204898"/>
            <a:chExt cx="369332" cy="1005795"/>
          </a:xfrm>
        </p:grpSpPr>
        <p:sp>
          <p:nvSpPr>
            <p:cNvPr id="58" name="Arrow: Up 57">
              <a:extLst>
                <a:ext uri="{FF2B5EF4-FFF2-40B4-BE49-F238E27FC236}">
                  <a16:creationId xmlns="" xmlns:a16="http://schemas.microsoft.com/office/drawing/2014/main" id="{E93022AA-FD9E-4354-A4A7-DF5F91C23E96}"/>
                </a:ext>
              </a:extLst>
            </p:cNvPr>
            <p:cNvSpPr/>
            <p:nvPr/>
          </p:nvSpPr>
          <p:spPr>
            <a:xfrm rot="10800000">
              <a:off x="7044865" y="2571551"/>
              <a:ext cx="191070" cy="639142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9" name="TextBox 58">
              <a:extLst>
                <a:ext uri="{FF2B5EF4-FFF2-40B4-BE49-F238E27FC236}">
                  <a16:creationId xmlns="" xmlns:a16="http://schemas.microsoft.com/office/drawing/2014/main" id="{BAF74065-B1AC-4D5B-9613-553AA58A4378}"/>
                </a:ext>
              </a:extLst>
            </p:cNvPr>
            <p:cNvSpPr txBox="1"/>
            <p:nvPr/>
          </p:nvSpPr>
          <p:spPr>
            <a:xfrm rot="2732066">
              <a:off x="6923696" y="2300832"/>
              <a:ext cx="5611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CS-1</a:t>
              </a:r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="" xmlns:a16="http://schemas.microsoft.com/office/drawing/2014/main" id="{A4408DF0-7997-4CAC-95C5-24019670C1DF}"/>
              </a:ext>
            </a:extLst>
          </p:cNvPr>
          <p:cNvGrpSpPr/>
          <p:nvPr/>
        </p:nvGrpSpPr>
        <p:grpSpPr>
          <a:xfrm>
            <a:off x="8006009" y="2747895"/>
            <a:ext cx="686790" cy="1161419"/>
            <a:chOff x="6884230" y="2294494"/>
            <a:chExt cx="686790" cy="916199"/>
          </a:xfrm>
        </p:grpSpPr>
        <p:sp>
          <p:nvSpPr>
            <p:cNvPr id="61" name="Arrow: Up 60">
              <a:extLst>
                <a:ext uri="{FF2B5EF4-FFF2-40B4-BE49-F238E27FC236}">
                  <a16:creationId xmlns="" xmlns:a16="http://schemas.microsoft.com/office/drawing/2014/main" id="{152B876B-71B4-4B01-A581-2002720A6D35}"/>
                </a:ext>
              </a:extLst>
            </p:cNvPr>
            <p:cNvSpPr/>
            <p:nvPr/>
          </p:nvSpPr>
          <p:spPr>
            <a:xfrm rot="10800000">
              <a:off x="7044865" y="2571551"/>
              <a:ext cx="191070" cy="639142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2" name="TextBox 61">
              <a:extLst>
                <a:ext uri="{FF2B5EF4-FFF2-40B4-BE49-F238E27FC236}">
                  <a16:creationId xmlns="" xmlns:a16="http://schemas.microsoft.com/office/drawing/2014/main" id="{38F81B43-BF2D-48D7-A1D0-F0B3CDE205E7}"/>
                </a:ext>
              </a:extLst>
            </p:cNvPr>
            <p:cNvSpPr txBox="1"/>
            <p:nvPr/>
          </p:nvSpPr>
          <p:spPr>
            <a:xfrm>
              <a:off x="6884230" y="2294494"/>
              <a:ext cx="686790" cy="2913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CS-2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880762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149AD530-6C2A-44EA-A853-BAC2857EF1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904" y="858414"/>
            <a:ext cx="4876872" cy="460871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Backtracking is allowed in DFA.</a:t>
            </a:r>
          </a:p>
          <a:p>
            <a:pPr marL="457200" indent="-457200">
              <a:buFont typeface="+mj-lt"/>
              <a:buAutoNum type="arabicPeriod" startAt="3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E7E875E4-C02C-44AD-9251-3D0D7CDF2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26D1DE06-0720-4572-BF37-034426FE1CD7}"/>
              </a:ext>
            </a:extLst>
          </p:cNvPr>
          <p:cNvSpPr txBox="1"/>
          <p:nvPr/>
        </p:nvSpPr>
        <p:spPr>
          <a:xfrm>
            <a:off x="1529669" y="33241"/>
            <a:ext cx="1600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DFA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="" xmlns:a16="http://schemas.microsoft.com/office/drawing/2014/main" id="{E13E761C-7E8C-455A-B10F-FF97B9D81750}"/>
              </a:ext>
            </a:extLst>
          </p:cNvPr>
          <p:cNvGrpSpPr/>
          <p:nvPr/>
        </p:nvGrpSpPr>
        <p:grpSpPr>
          <a:xfrm>
            <a:off x="389769" y="1761566"/>
            <a:ext cx="5586961" cy="1860226"/>
            <a:chOff x="470451" y="2429960"/>
            <a:chExt cx="6403942" cy="1860226"/>
          </a:xfrm>
        </p:grpSpPr>
        <p:sp>
          <p:nvSpPr>
            <p:cNvPr id="8" name="Oval 7">
              <a:extLst>
                <a:ext uri="{FF2B5EF4-FFF2-40B4-BE49-F238E27FC236}">
                  <a16:creationId xmlns="" xmlns:a16="http://schemas.microsoft.com/office/drawing/2014/main" id="{EDD2A173-63F4-4A80-96B9-79D5A7A31D1C}"/>
                </a:ext>
              </a:extLst>
            </p:cNvPr>
            <p:cNvSpPr/>
            <p:nvPr/>
          </p:nvSpPr>
          <p:spPr>
            <a:xfrm>
              <a:off x="1130579" y="3333906"/>
              <a:ext cx="723331" cy="63914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x0</a:t>
              </a: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="" xmlns:a16="http://schemas.microsoft.com/office/drawing/2014/main" id="{B167B8FE-18DA-468D-9F34-C584DF4C213E}"/>
                </a:ext>
              </a:extLst>
            </p:cNvPr>
            <p:cNvCxnSpPr/>
            <p:nvPr/>
          </p:nvCxnSpPr>
          <p:spPr>
            <a:xfrm>
              <a:off x="470451" y="3673964"/>
              <a:ext cx="573062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Oval 9">
              <a:extLst>
                <a:ext uri="{FF2B5EF4-FFF2-40B4-BE49-F238E27FC236}">
                  <a16:creationId xmlns="" xmlns:a16="http://schemas.microsoft.com/office/drawing/2014/main" id="{F032099B-FB70-499B-B9CB-2153679670AF}"/>
                </a:ext>
              </a:extLst>
            </p:cNvPr>
            <p:cNvSpPr/>
            <p:nvPr/>
          </p:nvSpPr>
          <p:spPr>
            <a:xfrm>
              <a:off x="2765510" y="3333906"/>
              <a:ext cx="723331" cy="63914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x1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="" xmlns:a16="http://schemas.microsoft.com/office/drawing/2014/main" id="{A46E03FE-0352-4BA0-94CE-3CBBC1232E6A}"/>
                </a:ext>
              </a:extLst>
            </p:cNvPr>
            <p:cNvSpPr/>
            <p:nvPr/>
          </p:nvSpPr>
          <p:spPr>
            <a:xfrm>
              <a:off x="4400441" y="3307012"/>
              <a:ext cx="723331" cy="63914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x2</a:t>
              </a: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="" xmlns:a16="http://schemas.microsoft.com/office/drawing/2014/main" id="{49347AD5-0329-4828-BEAA-DE17AA128978}"/>
                </a:ext>
              </a:extLst>
            </p:cNvPr>
            <p:cNvGrpSpPr/>
            <p:nvPr/>
          </p:nvGrpSpPr>
          <p:grpSpPr>
            <a:xfrm>
              <a:off x="6035372" y="3170957"/>
              <a:ext cx="839021" cy="802091"/>
              <a:chOff x="10512625" y="1744747"/>
              <a:chExt cx="839021" cy="802091"/>
            </a:xfrm>
          </p:grpSpPr>
          <p:sp>
            <p:nvSpPr>
              <p:cNvPr id="13" name="Oval 12">
                <a:extLst>
                  <a:ext uri="{FF2B5EF4-FFF2-40B4-BE49-F238E27FC236}">
                    <a16:creationId xmlns="" xmlns:a16="http://schemas.microsoft.com/office/drawing/2014/main" id="{06A6A055-73AA-42D4-81CF-0021044FCC67}"/>
                  </a:ext>
                </a:extLst>
              </p:cNvPr>
              <p:cNvSpPr/>
              <p:nvPr/>
            </p:nvSpPr>
            <p:spPr>
              <a:xfrm>
                <a:off x="10512625" y="1744747"/>
                <a:ext cx="839021" cy="802091"/>
              </a:xfrm>
              <a:prstGeom prst="ellips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4" name="Oval 13">
                <a:extLst>
                  <a:ext uri="{FF2B5EF4-FFF2-40B4-BE49-F238E27FC236}">
                    <a16:creationId xmlns="" xmlns:a16="http://schemas.microsoft.com/office/drawing/2014/main" id="{B0C94D19-8E49-4955-8F65-F2A1695D3938}"/>
                  </a:ext>
                </a:extLst>
              </p:cNvPr>
              <p:cNvSpPr/>
              <p:nvPr/>
            </p:nvSpPr>
            <p:spPr>
              <a:xfrm>
                <a:off x="10585318" y="1837172"/>
                <a:ext cx="681980" cy="628192"/>
              </a:xfrm>
              <a:prstGeom prst="ellips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x3</a:t>
                </a:r>
              </a:p>
            </p:txBody>
          </p:sp>
        </p:grpSp>
        <p:cxnSp>
          <p:nvCxnSpPr>
            <p:cNvPr id="15" name="Straight Arrow Connector 14">
              <a:extLst>
                <a:ext uri="{FF2B5EF4-FFF2-40B4-BE49-F238E27FC236}">
                  <a16:creationId xmlns="" xmlns:a16="http://schemas.microsoft.com/office/drawing/2014/main" id="{CF3E0BDF-810B-4F55-B7EA-0389F91D35A4}"/>
                </a:ext>
              </a:extLst>
            </p:cNvPr>
            <p:cNvCxnSpPr/>
            <p:nvPr/>
          </p:nvCxnSpPr>
          <p:spPr>
            <a:xfrm>
              <a:off x="1914097" y="3662038"/>
              <a:ext cx="839021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="" xmlns:a16="http://schemas.microsoft.com/office/drawing/2014/main" id="{21D2F5CA-FBDF-414C-838D-0A9B5FC4430A}"/>
                </a:ext>
              </a:extLst>
            </p:cNvPr>
            <p:cNvCxnSpPr/>
            <p:nvPr/>
          </p:nvCxnSpPr>
          <p:spPr>
            <a:xfrm>
              <a:off x="3534916" y="3639972"/>
              <a:ext cx="839021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="" xmlns:a16="http://schemas.microsoft.com/office/drawing/2014/main" id="{AA1CBC00-C8B1-44E9-8B2A-D774D4C8057E}"/>
                </a:ext>
              </a:extLst>
            </p:cNvPr>
            <p:cNvCxnSpPr/>
            <p:nvPr/>
          </p:nvCxnSpPr>
          <p:spPr>
            <a:xfrm>
              <a:off x="5169847" y="3639972"/>
              <a:ext cx="839021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="" xmlns:a16="http://schemas.microsoft.com/office/drawing/2014/main" id="{7FCBCE34-8F1D-4494-B37C-ABE96FD57666}"/>
                </a:ext>
              </a:extLst>
            </p:cNvPr>
            <p:cNvSpPr txBox="1"/>
            <p:nvPr/>
          </p:nvSpPr>
          <p:spPr>
            <a:xfrm>
              <a:off x="2089212" y="3191812"/>
              <a:ext cx="3117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="" xmlns:a16="http://schemas.microsoft.com/office/drawing/2014/main" id="{CC77AC81-ED5E-47AC-A744-914483C03C0C}"/>
                </a:ext>
              </a:extLst>
            </p:cNvPr>
            <p:cNvSpPr txBox="1"/>
            <p:nvPr/>
          </p:nvSpPr>
          <p:spPr>
            <a:xfrm>
              <a:off x="3697547" y="3212299"/>
              <a:ext cx="3117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="" xmlns:a16="http://schemas.microsoft.com/office/drawing/2014/main" id="{8E3BF89E-56F8-4EB4-AD82-9142DBD6A27C}"/>
                </a:ext>
              </a:extLst>
            </p:cNvPr>
            <p:cNvSpPr txBox="1"/>
            <p:nvPr/>
          </p:nvSpPr>
          <p:spPr>
            <a:xfrm>
              <a:off x="5358816" y="3172033"/>
              <a:ext cx="3117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="" xmlns:a16="http://schemas.microsoft.com/office/drawing/2014/main" id="{A9C0D6FE-F7E5-434B-BABF-3049C2B33D69}"/>
                </a:ext>
              </a:extLst>
            </p:cNvPr>
            <p:cNvGrpSpPr/>
            <p:nvPr/>
          </p:nvGrpSpPr>
          <p:grpSpPr>
            <a:xfrm rot="10370240">
              <a:off x="1185958" y="2890353"/>
              <a:ext cx="540585" cy="887105"/>
              <a:chOff x="1984650" y="2985447"/>
              <a:chExt cx="540585" cy="887105"/>
            </a:xfrm>
          </p:grpSpPr>
          <p:sp>
            <p:nvSpPr>
              <p:cNvPr id="22" name="Arc 21">
                <a:extLst>
                  <a:ext uri="{FF2B5EF4-FFF2-40B4-BE49-F238E27FC236}">
                    <a16:creationId xmlns="" xmlns:a16="http://schemas.microsoft.com/office/drawing/2014/main" id="{177ECB2A-EFAE-4453-93C0-A41752FCEBB3}"/>
                  </a:ext>
                </a:extLst>
              </p:cNvPr>
              <p:cNvSpPr/>
              <p:nvPr/>
            </p:nvSpPr>
            <p:spPr>
              <a:xfrm rot="11054314">
                <a:off x="1985101" y="2985447"/>
                <a:ext cx="540134" cy="887105"/>
              </a:xfrm>
              <a:prstGeom prst="arc">
                <a:avLst>
                  <a:gd name="adj1" fmla="val 10711483"/>
                  <a:gd name="adj2" fmla="val 0"/>
                </a:avLst>
              </a:prstGeom>
              <a:ln w="254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3" name="Straight Arrow Connector 22">
                <a:extLst>
                  <a:ext uri="{FF2B5EF4-FFF2-40B4-BE49-F238E27FC236}">
                    <a16:creationId xmlns="" xmlns:a16="http://schemas.microsoft.com/office/drawing/2014/main" id="{F995BD76-CADF-4733-ACDA-E945D5FED785}"/>
                  </a:ext>
                </a:extLst>
              </p:cNvPr>
              <p:cNvCxnSpPr/>
              <p:nvPr/>
            </p:nvCxnSpPr>
            <p:spPr>
              <a:xfrm rot="11054314">
                <a:off x="1984650" y="3331902"/>
                <a:ext cx="0" cy="95534"/>
              </a:xfrm>
              <a:prstGeom prst="straightConnector1">
                <a:avLst/>
              </a:prstGeom>
              <a:ln w="25400">
                <a:solidFill>
                  <a:schemeClr val="bg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4" name="TextBox 23">
              <a:extLst>
                <a:ext uri="{FF2B5EF4-FFF2-40B4-BE49-F238E27FC236}">
                  <a16:creationId xmlns="" xmlns:a16="http://schemas.microsoft.com/office/drawing/2014/main" id="{9FF65C04-6E36-440B-8DB3-19D0DD25E1D5}"/>
                </a:ext>
              </a:extLst>
            </p:cNvPr>
            <p:cNvSpPr txBox="1"/>
            <p:nvPr/>
          </p:nvSpPr>
          <p:spPr>
            <a:xfrm>
              <a:off x="1180516" y="2457327"/>
              <a:ext cx="3117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  <p:grpSp>
          <p:nvGrpSpPr>
            <p:cNvPr id="25" name="Group 24">
              <a:extLst>
                <a:ext uri="{FF2B5EF4-FFF2-40B4-BE49-F238E27FC236}">
                  <a16:creationId xmlns="" xmlns:a16="http://schemas.microsoft.com/office/drawing/2014/main" id="{95283B76-D290-48F4-882C-4B73696475FC}"/>
                </a:ext>
              </a:extLst>
            </p:cNvPr>
            <p:cNvGrpSpPr/>
            <p:nvPr/>
          </p:nvGrpSpPr>
          <p:grpSpPr>
            <a:xfrm rot="10370240">
              <a:off x="2836093" y="2873340"/>
              <a:ext cx="540585" cy="887105"/>
              <a:chOff x="1984650" y="2985447"/>
              <a:chExt cx="540585" cy="887105"/>
            </a:xfrm>
          </p:grpSpPr>
          <p:sp>
            <p:nvSpPr>
              <p:cNvPr id="26" name="Arc 25">
                <a:extLst>
                  <a:ext uri="{FF2B5EF4-FFF2-40B4-BE49-F238E27FC236}">
                    <a16:creationId xmlns="" xmlns:a16="http://schemas.microsoft.com/office/drawing/2014/main" id="{43BB7691-F2E4-46BF-906F-C4CCEF7D55D9}"/>
                  </a:ext>
                </a:extLst>
              </p:cNvPr>
              <p:cNvSpPr/>
              <p:nvPr/>
            </p:nvSpPr>
            <p:spPr>
              <a:xfrm rot="11054314">
                <a:off x="1985101" y="2985447"/>
                <a:ext cx="540134" cy="887105"/>
              </a:xfrm>
              <a:prstGeom prst="arc">
                <a:avLst>
                  <a:gd name="adj1" fmla="val 10711483"/>
                  <a:gd name="adj2" fmla="val 0"/>
                </a:avLst>
              </a:prstGeom>
              <a:ln w="254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7" name="Straight Arrow Connector 26">
                <a:extLst>
                  <a:ext uri="{FF2B5EF4-FFF2-40B4-BE49-F238E27FC236}">
                    <a16:creationId xmlns="" xmlns:a16="http://schemas.microsoft.com/office/drawing/2014/main" id="{7D03CC14-B08B-467F-A77E-2F642111408F}"/>
                  </a:ext>
                </a:extLst>
              </p:cNvPr>
              <p:cNvCxnSpPr/>
              <p:nvPr/>
            </p:nvCxnSpPr>
            <p:spPr>
              <a:xfrm rot="11054314">
                <a:off x="1984650" y="3331902"/>
                <a:ext cx="0" cy="95534"/>
              </a:xfrm>
              <a:prstGeom prst="straightConnector1">
                <a:avLst/>
              </a:prstGeom>
              <a:ln w="25400">
                <a:solidFill>
                  <a:schemeClr val="bg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8" name="TextBox 27">
              <a:extLst>
                <a:ext uri="{FF2B5EF4-FFF2-40B4-BE49-F238E27FC236}">
                  <a16:creationId xmlns="" xmlns:a16="http://schemas.microsoft.com/office/drawing/2014/main" id="{624BB0EE-6A5B-4B02-82D4-235316C7D61D}"/>
                </a:ext>
              </a:extLst>
            </p:cNvPr>
            <p:cNvSpPr txBox="1"/>
            <p:nvPr/>
          </p:nvSpPr>
          <p:spPr>
            <a:xfrm>
              <a:off x="2906302" y="2429960"/>
              <a:ext cx="3117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29" name="Arrow: Curved Down 28">
              <a:extLst>
                <a:ext uri="{FF2B5EF4-FFF2-40B4-BE49-F238E27FC236}">
                  <a16:creationId xmlns="" xmlns:a16="http://schemas.microsoft.com/office/drawing/2014/main" id="{941EC0F0-A84F-48C9-87D0-10CEDCA8CD61}"/>
                </a:ext>
              </a:extLst>
            </p:cNvPr>
            <p:cNvSpPr/>
            <p:nvPr/>
          </p:nvSpPr>
          <p:spPr>
            <a:xfrm rot="10800000">
              <a:off x="1659826" y="3958135"/>
              <a:ext cx="2908196" cy="256814"/>
            </a:xfrm>
            <a:prstGeom prst="curvedDownArrow">
              <a:avLst>
                <a:gd name="adj1" fmla="val 11615"/>
                <a:gd name="adj2" fmla="val 50000"/>
                <a:gd name="adj3" fmla="val 25000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="" xmlns:a16="http://schemas.microsoft.com/office/drawing/2014/main" id="{4ED6617C-6176-4E5A-97A8-7060AB131E68}"/>
                </a:ext>
              </a:extLst>
            </p:cNvPr>
            <p:cNvSpPr txBox="1"/>
            <p:nvPr/>
          </p:nvSpPr>
          <p:spPr>
            <a:xfrm>
              <a:off x="3306612" y="3828521"/>
              <a:ext cx="3117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31" name="Arrow: Curved Down 30">
              <a:extLst>
                <a:ext uri="{FF2B5EF4-FFF2-40B4-BE49-F238E27FC236}">
                  <a16:creationId xmlns="" xmlns:a16="http://schemas.microsoft.com/office/drawing/2014/main" id="{164BCBA0-BA6D-4830-A4C7-0273A3ACF31A}"/>
                </a:ext>
              </a:extLst>
            </p:cNvPr>
            <p:cNvSpPr/>
            <p:nvPr/>
          </p:nvSpPr>
          <p:spPr>
            <a:xfrm rot="10800000">
              <a:off x="5046391" y="3906855"/>
              <a:ext cx="1049609" cy="203318"/>
            </a:xfrm>
            <a:prstGeom prst="curvedDownArrow">
              <a:avLst>
                <a:gd name="adj1" fmla="val 11615"/>
                <a:gd name="adj2" fmla="val 50000"/>
                <a:gd name="adj3" fmla="val 25000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="" xmlns:a16="http://schemas.microsoft.com/office/drawing/2014/main" id="{D1B5F6D8-B479-4A51-8B85-C90FEF56C3B4}"/>
                </a:ext>
              </a:extLst>
            </p:cNvPr>
            <p:cNvSpPr txBox="1"/>
            <p:nvPr/>
          </p:nvSpPr>
          <p:spPr>
            <a:xfrm>
              <a:off x="5418452" y="3735245"/>
              <a:ext cx="3117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33" name="Arrow: Curved Up 32">
              <a:extLst>
                <a:ext uri="{FF2B5EF4-FFF2-40B4-BE49-F238E27FC236}">
                  <a16:creationId xmlns="" xmlns:a16="http://schemas.microsoft.com/office/drawing/2014/main" id="{883BCDAA-DF6B-4CE1-A7DF-CEA9CF6A7531}"/>
                </a:ext>
              </a:extLst>
            </p:cNvPr>
            <p:cNvSpPr/>
            <p:nvPr/>
          </p:nvSpPr>
          <p:spPr>
            <a:xfrm rot="10601653">
              <a:off x="3340408" y="2885646"/>
              <a:ext cx="2898449" cy="392783"/>
            </a:xfrm>
            <a:prstGeom prst="curvedUpArrow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="" xmlns:a16="http://schemas.microsoft.com/office/drawing/2014/main" id="{C5839F56-250D-47CC-877C-BC0884BC986F}"/>
                </a:ext>
              </a:extLst>
            </p:cNvPr>
            <p:cNvSpPr txBox="1"/>
            <p:nvPr/>
          </p:nvSpPr>
          <p:spPr>
            <a:xfrm>
              <a:off x="4689579" y="2463044"/>
              <a:ext cx="3117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</p:grpSp>
      <p:sp>
        <p:nvSpPr>
          <p:cNvPr id="35" name="Content Placeholder 2">
            <a:extLst>
              <a:ext uri="{FF2B5EF4-FFF2-40B4-BE49-F238E27FC236}">
                <a16:creationId xmlns="" xmlns:a16="http://schemas.microsoft.com/office/drawing/2014/main" id="{F97922DE-7782-4701-9A67-30B071D7E716}"/>
              </a:ext>
            </a:extLst>
          </p:cNvPr>
          <p:cNvSpPr txBox="1">
            <a:spLocks/>
          </p:cNvSpPr>
          <p:nvPr/>
        </p:nvSpPr>
        <p:spPr>
          <a:xfrm>
            <a:off x="5373287" y="786600"/>
            <a:ext cx="4565144" cy="52848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457200" indent="-457200">
              <a:buFont typeface="+mj-lt"/>
              <a:buAutoNum type="arabicPeriod" startAt="3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NDFA, backtracking is not always possible.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="" xmlns:a16="http://schemas.microsoft.com/office/drawing/2014/main" id="{B34E8F8C-167C-49A9-BB01-50B5E361FCC7}"/>
              </a:ext>
            </a:extLst>
          </p:cNvPr>
          <p:cNvSpPr txBox="1"/>
          <p:nvPr/>
        </p:nvSpPr>
        <p:spPr>
          <a:xfrm>
            <a:off x="6855759" y="0"/>
            <a:ext cx="1600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NDFA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="" xmlns:a16="http://schemas.microsoft.com/office/drawing/2014/main" id="{CD207AB7-FD5D-45DA-A74B-31F2314C78DA}"/>
              </a:ext>
            </a:extLst>
          </p:cNvPr>
          <p:cNvSpPr txBox="1"/>
          <p:nvPr/>
        </p:nvSpPr>
        <p:spPr>
          <a:xfrm>
            <a:off x="645082" y="1255327"/>
            <a:ext cx="476304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All words that ends with aba.</a:t>
            </a:r>
            <a:endParaRPr lang="en-US" sz="2200" dirty="0"/>
          </a:p>
        </p:txBody>
      </p:sp>
      <p:sp>
        <p:nvSpPr>
          <p:cNvPr id="38" name="TextBox 37">
            <a:extLst>
              <a:ext uri="{FF2B5EF4-FFF2-40B4-BE49-F238E27FC236}">
                <a16:creationId xmlns="" xmlns:a16="http://schemas.microsoft.com/office/drawing/2014/main" id="{F98FFA43-7618-4602-828A-9E9802F87148}"/>
              </a:ext>
            </a:extLst>
          </p:cNvPr>
          <p:cNvSpPr txBox="1"/>
          <p:nvPr/>
        </p:nvSpPr>
        <p:spPr>
          <a:xfrm>
            <a:off x="5793306" y="1470770"/>
            <a:ext cx="4763046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All words that ends with aba.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3600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baba</a:t>
            </a:r>
            <a:endParaRPr lang="en-US" sz="3600" dirty="0"/>
          </a:p>
        </p:txBody>
      </p:sp>
      <p:sp>
        <p:nvSpPr>
          <p:cNvPr id="39" name="Oval 38">
            <a:extLst>
              <a:ext uri="{FF2B5EF4-FFF2-40B4-BE49-F238E27FC236}">
                <a16:creationId xmlns="" xmlns:a16="http://schemas.microsoft.com/office/drawing/2014/main" id="{C04827AB-DD9A-4ED6-85A1-B6B5EA8D74CE}"/>
              </a:ext>
            </a:extLst>
          </p:cNvPr>
          <p:cNvSpPr/>
          <p:nvPr/>
        </p:nvSpPr>
        <p:spPr>
          <a:xfrm>
            <a:off x="6486746" y="3963569"/>
            <a:ext cx="697006" cy="712694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x0</a:t>
            </a:r>
          </a:p>
        </p:txBody>
      </p:sp>
      <p:sp>
        <p:nvSpPr>
          <p:cNvPr id="40" name="Oval 39">
            <a:extLst>
              <a:ext uri="{FF2B5EF4-FFF2-40B4-BE49-F238E27FC236}">
                <a16:creationId xmlns="" xmlns:a16="http://schemas.microsoft.com/office/drawing/2014/main" id="{CA0A025A-21AA-4275-B28C-53DF98FBBD62}"/>
              </a:ext>
            </a:extLst>
          </p:cNvPr>
          <p:cNvSpPr/>
          <p:nvPr/>
        </p:nvSpPr>
        <p:spPr>
          <a:xfrm>
            <a:off x="7941653" y="3950317"/>
            <a:ext cx="697006" cy="712694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x1</a:t>
            </a:r>
          </a:p>
        </p:txBody>
      </p:sp>
      <p:sp>
        <p:nvSpPr>
          <p:cNvPr id="41" name="Oval 40">
            <a:extLst>
              <a:ext uri="{FF2B5EF4-FFF2-40B4-BE49-F238E27FC236}">
                <a16:creationId xmlns="" xmlns:a16="http://schemas.microsoft.com/office/drawing/2014/main" id="{232661FD-3231-48C1-A2C5-6DC574BF9AAE}"/>
              </a:ext>
            </a:extLst>
          </p:cNvPr>
          <p:cNvSpPr/>
          <p:nvPr/>
        </p:nvSpPr>
        <p:spPr>
          <a:xfrm>
            <a:off x="9411634" y="3937065"/>
            <a:ext cx="697006" cy="712694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x2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="" xmlns:a16="http://schemas.microsoft.com/office/drawing/2014/main" id="{C3D49387-B6BD-4C8C-8B72-4994398480E7}"/>
              </a:ext>
            </a:extLst>
          </p:cNvPr>
          <p:cNvCxnSpPr/>
          <p:nvPr/>
        </p:nvCxnSpPr>
        <p:spPr>
          <a:xfrm>
            <a:off x="5989984" y="4319916"/>
            <a:ext cx="48354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6" name="Group 45">
            <a:extLst>
              <a:ext uri="{FF2B5EF4-FFF2-40B4-BE49-F238E27FC236}">
                <a16:creationId xmlns="" xmlns:a16="http://schemas.microsoft.com/office/drawing/2014/main" id="{B1BA9B08-4F24-41E4-BBCB-8849CA4AEFEC}"/>
              </a:ext>
            </a:extLst>
          </p:cNvPr>
          <p:cNvGrpSpPr/>
          <p:nvPr/>
        </p:nvGrpSpPr>
        <p:grpSpPr>
          <a:xfrm>
            <a:off x="10899171" y="3875484"/>
            <a:ext cx="803344" cy="835855"/>
            <a:chOff x="5184749" y="4682255"/>
            <a:chExt cx="803344" cy="835855"/>
          </a:xfrm>
        </p:grpSpPr>
        <p:sp>
          <p:nvSpPr>
            <p:cNvPr id="44" name="Oval 43">
              <a:extLst>
                <a:ext uri="{FF2B5EF4-FFF2-40B4-BE49-F238E27FC236}">
                  <a16:creationId xmlns="" xmlns:a16="http://schemas.microsoft.com/office/drawing/2014/main" id="{8F9CDE5C-96FF-4D40-8E35-EF044400A0D6}"/>
                </a:ext>
              </a:extLst>
            </p:cNvPr>
            <p:cNvSpPr/>
            <p:nvPr/>
          </p:nvSpPr>
          <p:spPr>
            <a:xfrm>
              <a:off x="5184749" y="4682255"/>
              <a:ext cx="803344" cy="835855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5" name="Oval 44">
              <a:extLst>
                <a:ext uri="{FF2B5EF4-FFF2-40B4-BE49-F238E27FC236}">
                  <a16:creationId xmlns="" xmlns:a16="http://schemas.microsoft.com/office/drawing/2014/main" id="{3F768F3B-81D9-4CAF-AF6E-D9F095B52C67}"/>
                </a:ext>
              </a:extLst>
            </p:cNvPr>
            <p:cNvSpPr/>
            <p:nvPr/>
          </p:nvSpPr>
          <p:spPr>
            <a:xfrm>
              <a:off x="5241993" y="4745149"/>
              <a:ext cx="697006" cy="712694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x3</a:t>
              </a:r>
            </a:p>
          </p:txBody>
        </p:sp>
      </p:grpSp>
      <p:cxnSp>
        <p:nvCxnSpPr>
          <p:cNvPr id="47" name="Straight Arrow Connector 46">
            <a:extLst>
              <a:ext uri="{FF2B5EF4-FFF2-40B4-BE49-F238E27FC236}">
                <a16:creationId xmlns="" xmlns:a16="http://schemas.microsoft.com/office/drawing/2014/main" id="{70450A69-B259-4D3C-979E-FA0A2CFE43C1}"/>
              </a:ext>
            </a:extLst>
          </p:cNvPr>
          <p:cNvCxnSpPr/>
          <p:nvPr/>
        </p:nvCxnSpPr>
        <p:spPr>
          <a:xfrm>
            <a:off x="8665163" y="4293412"/>
            <a:ext cx="731983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="" xmlns:a16="http://schemas.microsoft.com/office/drawing/2014/main" id="{E925179F-02E3-405F-935C-31689533E68E}"/>
              </a:ext>
            </a:extLst>
          </p:cNvPr>
          <p:cNvCxnSpPr/>
          <p:nvPr/>
        </p:nvCxnSpPr>
        <p:spPr>
          <a:xfrm>
            <a:off x="7210256" y="4306664"/>
            <a:ext cx="731983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="" xmlns:a16="http://schemas.microsoft.com/office/drawing/2014/main" id="{30719D9B-9EE0-4E4C-9F3C-DAE990982348}"/>
              </a:ext>
            </a:extLst>
          </p:cNvPr>
          <p:cNvCxnSpPr/>
          <p:nvPr/>
        </p:nvCxnSpPr>
        <p:spPr>
          <a:xfrm>
            <a:off x="10157495" y="4286152"/>
            <a:ext cx="731983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="" xmlns:a16="http://schemas.microsoft.com/office/drawing/2014/main" id="{DAD597C4-9FEB-467A-9A23-42F3D849E432}"/>
              </a:ext>
            </a:extLst>
          </p:cNvPr>
          <p:cNvSpPr txBox="1"/>
          <p:nvPr/>
        </p:nvSpPr>
        <p:spPr>
          <a:xfrm>
            <a:off x="7323732" y="3858527"/>
            <a:ext cx="2719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="" xmlns:a16="http://schemas.microsoft.com/office/drawing/2014/main" id="{82B3A5BA-A96E-47A4-9B2A-8E43F1CDC92F}"/>
              </a:ext>
            </a:extLst>
          </p:cNvPr>
          <p:cNvSpPr txBox="1"/>
          <p:nvPr/>
        </p:nvSpPr>
        <p:spPr>
          <a:xfrm>
            <a:off x="10318246" y="3858251"/>
            <a:ext cx="2719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="" xmlns:a16="http://schemas.microsoft.com/office/drawing/2014/main" id="{466F6746-AB92-4F07-84C5-D86BB87BBBF0}"/>
              </a:ext>
            </a:extLst>
          </p:cNvPr>
          <p:cNvSpPr txBox="1"/>
          <p:nvPr/>
        </p:nvSpPr>
        <p:spPr>
          <a:xfrm>
            <a:off x="8813526" y="3875484"/>
            <a:ext cx="2719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55" name="Arc 54">
            <a:extLst>
              <a:ext uri="{FF2B5EF4-FFF2-40B4-BE49-F238E27FC236}">
                <a16:creationId xmlns="" xmlns:a16="http://schemas.microsoft.com/office/drawing/2014/main" id="{849113FD-8B93-49B4-9FEC-B701B2B20C6B}"/>
              </a:ext>
            </a:extLst>
          </p:cNvPr>
          <p:cNvSpPr/>
          <p:nvPr/>
        </p:nvSpPr>
        <p:spPr>
          <a:xfrm>
            <a:off x="6586120" y="3539957"/>
            <a:ext cx="471227" cy="887105"/>
          </a:xfrm>
          <a:prstGeom prst="arc">
            <a:avLst>
              <a:gd name="adj1" fmla="val 10711483"/>
              <a:gd name="adj2" fmla="val 0"/>
            </a:avLst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="" xmlns:a16="http://schemas.microsoft.com/office/drawing/2014/main" id="{FCEFE45B-CEA6-4498-8008-059E264EE9F2}"/>
              </a:ext>
            </a:extLst>
          </p:cNvPr>
          <p:cNvSpPr txBox="1"/>
          <p:nvPr/>
        </p:nvSpPr>
        <p:spPr>
          <a:xfrm>
            <a:off x="6548410" y="3109287"/>
            <a:ext cx="5657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a/b</a:t>
            </a:r>
          </a:p>
        </p:txBody>
      </p:sp>
      <p:grpSp>
        <p:nvGrpSpPr>
          <p:cNvPr id="57" name="Group 56">
            <a:extLst>
              <a:ext uri="{FF2B5EF4-FFF2-40B4-BE49-F238E27FC236}">
                <a16:creationId xmlns="" xmlns:a16="http://schemas.microsoft.com/office/drawing/2014/main" id="{8D3C0EC3-1E6A-436B-B406-38A549AC7268}"/>
              </a:ext>
            </a:extLst>
          </p:cNvPr>
          <p:cNvGrpSpPr/>
          <p:nvPr/>
        </p:nvGrpSpPr>
        <p:grpSpPr>
          <a:xfrm rot="18867934">
            <a:off x="5867045" y="3049583"/>
            <a:ext cx="369332" cy="1274995"/>
            <a:chOff x="7019630" y="2204898"/>
            <a:chExt cx="369332" cy="1005795"/>
          </a:xfrm>
        </p:grpSpPr>
        <p:sp>
          <p:nvSpPr>
            <p:cNvPr id="58" name="Arrow: Up 57">
              <a:extLst>
                <a:ext uri="{FF2B5EF4-FFF2-40B4-BE49-F238E27FC236}">
                  <a16:creationId xmlns="" xmlns:a16="http://schemas.microsoft.com/office/drawing/2014/main" id="{E93022AA-FD9E-4354-A4A7-DF5F91C23E96}"/>
                </a:ext>
              </a:extLst>
            </p:cNvPr>
            <p:cNvSpPr/>
            <p:nvPr/>
          </p:nvSpPr>
          <p:spPr>
            <a:xfrm rot="10800000">
              <a:off x="7044865" y="2571551"/>
              <a:ext cx="191070" cy="639142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9" name="TextBox 58">
              <a:extLst>
                <a:ext uri="{FF2B5EF4-FFF2-40B4-BE49-F238E27FC236}">
                  <a16:creationId xmlns="" xmlns:a16="http://schemas.microsoft.com/office/drawing/2014/main" id="{BAF74065-B1AC-4D5B-9613-553AA58A4378}"/>
                </a:ext>
              </a:extLst>
            </p:cNvPr>
            <p:cNvSpPr txBox="1"/>
            <p:nvPr/>
          </p:nvSpPr>
          <p:spPr>
            <a:xfrm rot="2732066">
              <a:off x="6923696" y="2300832"/>
              <a:ext cx="5611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CS-1</a:t>
              </a:r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="" xmlns:a16="http://schemas.microsoft.com/office/drawing/2014/main" id="{A4408DF0-7997-4CAC-95C5-24019670C1DF}"/>
              </a:ext>
            </a:extLst>
          </p:cNvPr>
          <p:cNvGrpSpPr/>
          <p:nvPr/>
        </p:nvGrpSpPr>
        <p:grpSpPr>
          <a:xfrm>
            <a:off x="8006009" y="2747895"/>
            <a:ext cx="686790" cy="1161419"/>
            <a:chOff x="6884230" y="2294494"/>
            <a:chExt cx="686790" cy="916199"/>
          </a:xfrm>
        </p:grpSpPr>
        <p:sp>
          <p:nvSpPr>
            <p:cNvPr id="61" name="Arrow: Up 60">
              <a:extLst>
                <a:ext uri="{FF2B5EF4-FFF2-40B4-BE49-F238E27FC236}">
                  <a16:creationId xmlns="" xmlns:a16="http://schemas.microsoft.com/office/drawing/2014/main" id="{152B876B-71B4-4B01-A581-2002720A6D35}"/>
                </a:ext>
              </a:extLst>
            </p:cNvPr>
            <p:cNvSpPr/>
            <p:nvPr/>
          </p:nvSpPr>
          <p:spPr>
            <a:xfrm rot="10800000">
              <a:off x="7044865" y="2571551"/>
              <a:ext cx="191070" cy="639142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2" name="TextBox 61">
              <a:extLst>
                <a:ext uri="{FF2B5EF4-FFF2-40B4-BE49-F238E27FC236}">
                  <a16:creationId xmlns="" xmlns:a16="http://schemas.microsoft.com/office/drawing/2014/main" id="{38F81B43-BF2D-48D7-A1D0-F0B3CDE205E7}"/>
                </a:ext>
              </a:extLst>
            </p:cNvPr>
            <p:cNvSpPr txBox="1"/>
            <p:nvPr/>
          </p:nvSpPr>
          <p:spPr>
            <a:xfrm>
              <a:off x="6884230" y="2294494"/>
              <a:ext cx="686790" cy="2913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CS-2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04756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149AD530-6C2A-44EA-A853-BAC2857EF1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904" y="858414"/>
            <a:ext cx="4876872" cy="460871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Backtracking is allowed in DFA.</a:t>
            </a:r>
          </a:p>
          <a:p>
            <a:pPr marL="457200" indent="-457200">
              <a:buFont typeface="+mj-lt"/>
              <a:buAutoNum type="arabicPeriod" startAt="3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E7E875E4-C02C-44AD-9251-3D0D7CDF2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26D1DE06-0720-4572-BF37-034426FE1CD7}"/>
              </a:ext>
            </a:extLst>
          </p:cNvPr>
          <p:cNvSpPr txBox="1"/>
          <p:nvPr/>
        </p:nvSpPr>
        <p:spPr>
          <a:xfrm>
            <a:off x="1529669" y="33241"/>
            <a:ext cx="1600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DFA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="" xmlns:a16="http://schemas.microsoft.com/office/drawing/2014/main" id="{E13E761C-7E8C-455A-B10F-FF97B9D81750}"/>
              </a:ext>
            </a:extLst>
          </p:cNvPr>
          <p:cNvGrpSpPr/>
          <p:nvPr/>
        </p:nvGrpSpPr>
        <p:grpSpPr>
          <a:xfrm>
            <a:off x="389769" y="1761566"/>
            <a:ext cx="5586961" cy="1860226"/>
            <a:chOff x="470451" y="2429960"/>
            <a:chExt cx="6403942" cy="1860226"/>
          </a:xfrm>
        </p:grpSpPr>
        <p:sp>
          <p:nvSpPr>
            <p:cNvPr id="8" name="Oval 7">
              <a:extLst>
                <a:ext uri="{FF2B5EF4-FFF2-40B4-BE49-F238E27FC236}">
                  <a16:creationId xmlns="" xmlns:a16="http://schemas.microsoft.com/office/drawing/2014/main" id="{EDD2A173-63F4-4A80-96B9-79D5A7A31D1C}"/>
                </a:ext>
              </a:extLst>
            </p:cNvPr>
            <p:cNvSpPr/>
            <p:nvPr/>
          </p:nvSpPr>
          <p:spPr>
            <a:xfrm>
              <a:off x="1130579" y="3333906"/>
              <a:ext cx="723331" cy="63914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x0</a:t>
              </a: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="" xmlns:a16="http://schemas.microsoft.com/office/drawing/2014/main" id="{B167B8FE-18DA-468D-9F34-C584DF4C213E}"/>
                </a:ext>
              </a:extLst>
            </p:cNvPr>
            <p:cNvCxnSpPr/>
            <p:nvPr/>
          </p:nvCxnSpPr>
          <p:spPr>
            <a:xfrm>
              <a:off x="470451" y="3673964"/>
              <a:ext cx="573062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Oval 9">
              <a:extLst>
                <a:ext uri="{FF2B5EF4-FFF2-40B4-BE49-F238E27FC236}">
                  <a16:creationId xmlns="" xmlns:a16="http://schemas.microsoft.com/office/drawing/2014/main" id="{F032099B-FB70-499B-B9CB-2153679670AF}"/>
                </a:ext>
              </a:extLst>
            </p:cNvPr>
            <p:cNvSpPr/>
            <p:nvPr/>
          </p:nvSpPr>
          <p:spPr>
            <a:xfrm>
              <a:off x="2765510" y="3333906"/>
              <a:ext cx="723331" cy="63914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x1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="" xmlns:a16="http://schemas.microsoft.com/office/drawing/2014/main" id="{A46E03FE-0352-4BA0-94CE-3CBBC1232E6A}"/>
                </a:ext>
              </a:extLst>
            </p:cNvPr>
            <p:cNvSpPr/>
            <p:nvPr/>
          </p:nvSpPr>
          <p:spPr>
            <a:xfrm>
              <a:off x="4400441" y="3307012"/>
              <a:ext cx="723331" cy="63914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x2</a:t>
              </a: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="" xmlns:a16="http://schemas.microsoft.com/office/drawing/2014/main" id="{49347AD5-0329-4828-BEAA-DE17AA128978}"/>
                </a:ext>
              </a:extLst>
            </p:cNvPr>
            <p:cNvGrpSpPr/>
            <p:nvPr/>
          </p:nvGrpSpPr>
          <p:grpSpPr>
            <a:xfrm>
              <a:off x="6035372" y="3170957"/>
              <a:ext cx="839021" cy="802091"/>
              <a:chOff x="10512625" y="1744747"/>
              <a:chExt cx="839021" cy="802091"/>
            </a:xfrm>
          </p:grpSpPr>
          <p:sp>
            <p:nvSpPr>
              <p:cNvPr id="13" name="Oval 12">
                <a:extLst>
                  <a:ext uri="{FF2B5EF4-FFF2-40B4-BE49-F238E27FC236}">
                    <a16:creationId xmlns="" xmlns:a16="http://schemas.microsoft.com/office/drawing/2014/main" id="{06A6A055-73AA-42D4-81CF-0021044FCC67}"/>
                  </a:ext>
                </a:extLst>
              </p:cNvPr>
              <p:cNvSpPr/>
              <p:nvPr/>
            </p:nvSpPr>
            <p:spPr>
              <a:xfrm>
                <a:off x="10512625" y="1744747"/>
                <a:ext cx="839021" cy="802091"/>
              </a:xfrm>
              <a:prstGeom prst="ellips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4" name="Oval 13">
                <a:extLst>
                  <a:ext uri="{FF2B5EF4-FFF2-40B4-BE49-F238E27FC236}">
                    <a16:creationId xmlns="" xmlns:a16="http://schemas.microsoft.com/office/drawing/2014/main" id="{B0C94D19-8E49-4955-8F65-F2A1695D3938}"/>
                  </a:ext>
                </a:extLst>
              </p:cNvPr>
              <p:cNvSpPr/>
              <p:nvPr/>
            </p:nvSpPr>
            <p:spPr>
              <a:xfrm>
                <a:off x="10585318" y="1837172"/>
                <a:ext cx="681980" cy="628192"/>
              </a:xfrm>
              <a:prstGeom prst="ellips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x3</a:t>
                </a:r>
              </a:p>
            </p:txBody>
          </p:sp>
        </p:grpSp>
        <p:cxnSp>
          <p:nvCxnSpPr>
            <p:cNvPr id="15" name="Straight Arrow Connector 14">
              <a:extLst>
                <a:ext uri="{FF2B5EF4-FFF2-40B4-BE49-F238E27FC236}">
                  <a16:creationId xmlns="" xmlns:a16="http://schemas.microsoft.com/office/drawing/2014/main" id="{CF3E0BDF-810B-4F55-B7EA-0389F91D35A4}"/>
                </a:ext>
              </a:extLst>
            </p:cNvPr>
            <p:cNvCxnSpPr/>
            <p:nvPr/>
          </p:nvCxnSpPr>
          <p:spPr>
            <a:xfrm>
              <a:off x="1914097" y="3662038"/>
              <a:ext cx="839021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="" xmlns:a16="http://schemas.microsoft.com/office/drawing/2014/main" id="{21D2F5CA-FBDF-414C-838D-0A9B5FC4430A}"/>
                </a:ext>
              </a:extLst>
            </p:cNvPr>
            <p:cNvCxnSpPr/>
            <p:nvPr/>
          </p:nvCxnSpPr>
          <p:spPr>
            <a:xfrm>
              <a:off x="3534916" y="3639972"/>
              <a:ext cx="839021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="" xmlns:a16="http://schemas.microsoft.com/office/drawing/2014/main" id="{AA1CBC00-C8B1-44E9-8B2A-D774D4C8057E}"/>
                </a:ext>
              </a:extLst>
            </p:cNvPr>
            <p:cNvCxnSpPr/>
            <p:nvPr/>
          </p:nvCxnSpPr>
          <p:spPr>
            <a:xfrm>
              <a:off x="5169847" y="3639972"/>
              <a:ext cx="839021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="" xmlns:a16="http://schemas.microsoft.com/office/drawing/2014/main" id="{7FCBCE34-8F1D-4494-B37C-ABE96FD57666}"/>
                </a:ext>
              </a:extLst>
            </p:cNvPr>
            <p:cNvSpPr txBox="1"/>
            <p:nvPr/>
          </p:nvSpPr>
          <p:spPr>
            <a:xfrm>
              <a:off x="2089212" y="3191812"/>
              <a:ext cx="3117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="" xmlns:a16="http://schemas.microsoft.com/office/drawing/2014/main" id="{CC77AC81-ED5E-47AC-A744-914483C03C0C}"/>
                </a:ext>
              </a:extLst>
            </p:cNvPr>
            <p:cNvSpPr txBox="1"/>
            <p:nvPr/>
          </p:nvSpPr>
          <p:spPr>
            <a:xfrm>
              <a:off x="3697547" y="3212299"/>
              <a:ext cx="3117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="" xmlns:a16="http://schemas.microsoft.com/office/drawing/2014/main" id="{8E3BF89E-56F8-4EB4-AD82-9142DBD6A27C}"/>
                </a:ext>
              </a:extLst>
            </p:cNvPr>
            <p:cNvSpPr txBox="1"/>
            <p:nvPr/>
          </p:nvSpPr>
          <p:spPr>
            <a:xfrm>
              <a:off x="5358816" y="3172033"/>
              <a:ext cx="3117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="" xmlns:a16="http://schemas.microsoft.com/office/drawing/2014/main" id="{A9C0D6FE-F7E5-434B-BABF-3049C2B33D69}"/>
                </a:ext>
              </a:extLst>
            </p:cNvPr>
            <p:cNvGrpSpPr/>
            <p:nvPr/>
          </p:nvGrpSpPr>
          <p:grpSpPr>
            <a:xfrm rot="10370240">
              <a:off x="1185958" y="2890353"/>
              <a:ext cx="540585" cy="887105"/>
              <a:chOff x="1984650" y="2985447"/>
              <a:chExt cx="540585" cy="887105"/>
            </a:xfrm>
          </p:grpSpPr>
          <p:sp>
            <p:nvSpPr>
              <p:cNvPr id="22" name="Arc 21">
                <a:extLst>
                  <a:ext uri="{FF2B5EF4-FFF2-40B4-BE49-F238E27FC236}">
                    <a16:creationId xmlns="" xmlns:a16="http://schemas.microsoft.com/office/drawing/2014/main" id="{177ECB2A-EFAE-4453-93C0-A41752FCEBB3}"/>
                  </a:ext>
                </a:extLst>
              </p:cNvPr>
              <p:cNvSpPr/>
              <p:nvPr/>
            </p:nvSpPr>
            <p:spPr>
              <a:xfrm rot="11054314">
                <a:off x="1985101" y="2985447"/>
                <a:ext cx="540134" cy="887105"/>
              </a:xfrm>
              <a:prstGeom prst="arc">
                <a:avLst>
                  <a:gd name="adj1" fmla="val 10711483"/>
                  <a:gd name="adj2" fmla="val 0"/>
                </a:avLst>
              </a:prstGeom>
              <a:ln w="254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3" name="Straight Arrow Connector 22">
                <a:extLst>
                  <a:ext uri="{FF2B5EF4-FFF2-40B4-BE49-F238E27FC236}">
                    <a16:creationId xmlns="" xmlns:a16="http://schemas.microsoft.com/office/drawing/2014/main" id="{F995BD76-CADF-4733-ACDA-E945D5FED785}"/>
                  </a:ext>
                </a:extLst>
              </p:cNvPr>
              <p:cNvCxnSpPr/>
              <p:nvPr/>
            </p:nvCxnSpPr>
            <p:spPr>
              <a:xfrm rot="11054314">
                <a:off x="1984650" y="3331902"/>
                <a:ext cx="0" cy="95534"/>
              </a:xfrm>
              <a:prstGeom prst="straightConnector1">
                <a:avLst/>
              </a:prstGeom>
              <a:ln w="25400">
                <a:solidFill>
                  <a:schemeClr val="bg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4" name="TextBox 23">
              <a:extLst>
                <a:ext uri="{FF2B5EF4-FFF2-40B4-BE49-F238E27FC236}">
                  <a16:creationId xmlns="" xmlns:a16="http://schemas.microsoft.com/office/drawing/2014/main" id="{9FF65C04-6E36-440B-8DB3-19D0DD25E1D5}"/>
                </a:ext>
              </a:extLst>
            </p:cNvPr>
            <p:cNvSpPr txBox="1"/>
            <p:nvPr/>
          </p:nvSpPr>
          <p:spPr>
            <a:xfrm>
              <a:off x="1180516" y="2457327"/>
              <a:ext cx="3117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  <p:grpSp>
          <p:nvGrpSpPr>
            <p:cNvPr id="25" name="Group 24">
              <a:extLst>
                <a:ext uri="{FF2B5EF4-FFF2-40B4-BE49-F238E27FC236}">
                  <a16:creationId xmlns="" xmlns:a16="http://schemas.microsoft.com/office/drawing/2014/main" id="{95283B76-D290-48F4-882C-4B73696475FC}"/>
                </a:ext>
              </a:extLst>
            </p:cNvPr>
            <p:cNvGrpSpPr/>
            <p:nvPr/>
          </p:nvGrpSpPr>
          <p:grpSpPr>
            <a:xfrm rot="10370240">
              <a:off x="2836093" y="2873340"/>
              <a:ext cx="540585" cy="887105"/>
              <a:chOff x="1984650" y="2985447"/>
              <a:chExt cx="540585" cy="887105"/>
            </a:xfrm>
          </p:grpSpPr>
          <p:sp>
            <p:nvSpPr>
              <p:cNvPr id="26" name="Arc 25">
                <a:extLst>
                  <a:ext uri="{FF2B5EF4-FFF2-40B4-BE49-F238E27FC236}">
                    <a16:creationId xmlns="" xmlns:a16="http://schemas.microsoft.com/office/drawing/2014/main" id="{43BB7691-F2E4-46BF-906F-C4CCEF7D55D9}"/>
                  </a:ext>
                </a:extLst>
              </p:cNvPr>
              <p:cNvSpPr/>
              <p:nvPr/>
            </p:nvSpPr>
            <p:spPr>
              <a:xfrm rot="11054314">
                <a:off x="1985101" y="2985447"/>
                <a:ext cx="540134" cy="887105"/>
              </a:xfrm>
              <a:prstGeom prst="arc">
                <a:avLst>
                  <a:gd name="adj1" fmla="val 10711483"/>
                  <a:gd name="adj2" fmla="val 0"/>
                </a:avLst>
              </a:prstGeom>
              <a:ln w="254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7" name="Straight Arrow Connector 26">
                <a:extLst>
                  <a:ext uri="{FF2B5EF4-FFF2-40B4-BE49-F238E27FC236}">
                    <a16:creationId xmlns="" xmlns:a16="http://schemas.microsoft.com/office/drawing/2014/main" id="{7D03CC14-B08B-467F-A77E-2F642111408F}"/>
                  </a:ext>
                </a:extLst>
              </p:cNvPr>
              <p:cNvCxnSpPr/>
              <p:nvPr/>
            </p:nvCxnSpPr>
            <p:spPr>
              <a:xfrm rot="11054314">
                <a:off x="1984650" y="3331902"/>
                <a:ext cx="0" cy="95534"/>
              </a:xfrm>
              <a:prstGeom prst="straightConnector1">
                <a:avLst/>
              </a:prstGeom>
              <a:ln w="25400">
                <a:solidFill>
                  <a:schemeClr val="bg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8" name="TextBox 27">
              <a:extLst>
                <a:ext uri="{FF2B5EF4-FFF2-40B4-BE49-F238E27FC236}">
                  <a16:creationId xmlns="" xmlns:a16="http://schemas.microsoft.com/office/drawing/2014/main" id="{624BB0EE-6A5B-4B02-82D4-235316C7D61D}"/>
                </a:ext>
              </a:extLst>
            </p:cNvPr>
            <p:cNvSpPr txBox="1"/>
            <p:nvPr/>
          </p:nvSpPr>
          <p:spPr>
            <a:xfrm>
              <a:off x="2906302" y="2429960"/>
              <a:ext cx="3117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29" name="Arrow: Curved Down 28">
              <a:extLst>
                <a:ext uri="{FF2B5EF4-FFF2-40B4-BE49-F238E27FC236}">
                  <a16:creationId xmlns="" xmlns:a16="http://schemas.microsoft.com/office/drawing/2014/main" id="{941EC0F0-A84F-48C9-87D0-10CEDCA8CD61}"/>
                </a:ext>
              </a:extLst>
            </p:cNvPr>
            <p:cNvSpPr/>
            <p:nvPr/>
          </p:nvSpPr>
          <p:spPr>
            <a:xfrm rot="10800000">
              <a:off x="1659826" y="3958135"/>
              <a:ext cx="2908196" cy="256814"/>
            </a:xfrm>
            <a:prstGeom prst="curvedDownArrow">
              <a:avLst>
                <a:gd name="adj1" fmla="val 11615"/>
                <a:gd name="adj2" fmla="val 50000"/>
                <a:gd name="adj3" fmla="val 25000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="" xmlns:a16="http://schemas.microsoft.com/office/drawing/2014/main" id="{4ED6617C-6176-4E5A-97A8-7060AB131E68}"/>
                </a:ext>
              </a:extLst>
            </p:cNvPr>
            <p:cNvSpPr txBox="1"/>
            <p:nvPr/>
          </p:nvSpPr>
          <p:spPr>
            <a:xfrm>
              <a:off x="3306612" y="3828521"/>
              <a:ext cx="3117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31" name="Arrow: Curved Down 30">
              <a:extLst>
                <a:ext uri="{FF2B5EF4-FFF2-40B4-BE49-F238E27FC236}">
                  <a16:creationId xmlns="" xmlns:a16="http://schemas.microsoft.com/office/drawing/2014/main" id="{164BCBA0-BA6D-4830-A4C7-0273A3ACF31A}"/>
                </a:ext>
              </a:extLst>
            </p:cNvPr>
            <p:cNvSpPr/>
            <p:nvPr/>
          </p:nvSpPr>
          <p:spPr>
            <a:xfrm rot="10800000">
              <a:off x="5046391" y="3906855"/>
              <a:ext cx="1049609" cy="203318"/>
            </a:xfrm>
            <a:prstGeom prst="curvedDownArrow">
              <a:avLst>
                <a:gd name="adj1" fmla="val 11615"/>
                <a:gd name="adj2" fmla="val 50000"/>
                <a:gd name="adj3" fmla="val 25000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="" xmlns:a16="http://schemas.microsoft.com/office/drawing/2014/main" id="{D1B5F6D8-B479-4A51-8B85-C90FEF56C3B4}"/>
                </a:ext>
              </a:extLst>
            </p:cNvPr>
            <p:cNvSpPr txBox="1"/>
            <p:nvPr/>
          </p:nvSpPr>
          <p:spPr>
            <a:xfrm>
              <a:off x="5418452" y="3735245"/>
              <a:ext cx="3117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33" name="Arrow: Curved Up 32">
              <a:extLst>
                <a:ext uri="{FF2B5EF4-FFF2-40B4-BE49-F238E27FC236}">
                  <a16:creationId xmlns="" xmlns:a16="http://schemas.microsoft.com/office/drawing/2014/main" id="{883BCDAA-DF6B-4CE1-A7DF-CEA9CF6A7531}"/>
                </a:ext>
              </a:extLst>
            </p:cNvPr>
            <p:cNvSpPr/>
            <p:nvPr/>
          </p:nvSpPr>
          <p:spPr>
            <a:xfrm rot="10601653">
              <a:off x="3340408" y="2885646"/>
              <a:ext cx="2898449" cy="392783"/>
            </a:xfrm>
            <a:prstGeom prst="curvedUpArrow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="" xmlns:a16="http://schemas.microsoft.com/office/drawing/2014/main" id="{C5839F56-250D-47CC-877C-BC0884BC986F}"/>
                </a:ext>
              </a:extLst>
            </p:cNvPr>
            <p:cNvSpPr txBox="1"/>
            <p:nvPr/>
          </p:nvSpPr>
          <p:spPr>
            <a:xfrm>
              <a:off x="4689579" y="2463044"/>
              <a:ext cx="3117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</p:grpSp>
      <p:sp>
        <p:nvSpPr>
          <p:cNvPr id="35" name="Content Placeholder 2">
            <a:extLst>
              <a:ext uri="{FF2B5EF4-FFF2-40B4-BE49-F238E27FC236}">
                <a16:creationId xmlns="" xmlns:a16="http://schemas.microsoft.com/office/drawing/2014/main" id="{F97922DE-7782-4701-9A67-30B071D7E716}"/>
              </a:ext>
            </a:extLst>
          </p:cNvPr>
          <p:cNvSpPr txBox="1">
            <a:spLocks/>
          </p:cNvSpPr>
          <p:nvPr/>
        </p:nvSpPr>
        <p:spPr>
          <a:xfrm>
            <a:off x="5373287" y="786600"/>
            <a:ext cx="4565144" cy="52848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457200" indent="-457200">
              <a:buFont typeface="+mj-lt"/>
              <a:buAutoNum type="arabicPeriod" startAt="3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NDFA, backtracking is not always possible.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="" xmlns:a16="http://schemas.microsoft.com/office/drawing/2014/main" id="{B34E8F8C-167C-49A9-BB01-50B5E361FCC7}"/>
              </a:ext>
            </a:extLst>
          </p:cNvPr>
          <p:cNvSpPr txBox="1"/>
          <p:nvPr/>
        </p:nvSpPr>
        <p:spPr>
          <a:xfrm>
            <a:off x="6855759" y="0"/>
            <a:ext cx="1600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NDFA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="" xmlns:a16="http://schemas.microsoft.com/office/drawing/2014/main" id="{CD207AB7-FD5D-45DA-A74B-31F2314C78DA}"/>
              </a:ext>
            </a:extLst>
          </p:cNvPr>
          <p:cNvSpPr txBox="1"/>
          <p:nvPr/>
        </p:nvSpPr>
        <p:spPr>
          <a:xfrm>
            <a:off x="645082" y="1255327"/>
            <a:ext cx="476304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All words that ends with aba.</a:t>
            </a:r>
            <a:endParaRPr lang="en-US" sz="2200" dirty="0"/>
          </a:p>
        </p:txBody>
      </p:sp>
      <p:sp>
        <p:nvSpPr>
          <p:cNvPr id="38" name="TextBox 37">
            <a:extLst>
              <a:ext uri="{FF2B5EF4-FFF2-40B4-BE49-F238E27FC236}">
                <a16:creationId xmlns="" xmlns:a16="http://schemas.microsoft.com/office/drawing/2014/main" id="{F98FFA43-7618-4602-828A-9E9802F87148}"/>
              </a:ext>
            </a:extLst>
          </p:cNvPr>
          <p:cNvSpPr txBox="1"/>
          <p:nvPr/>
        </p:nvSpPr>
        <p:spPr>
          <a:xfrm>
            <a:off x="5793306" y="1470770"/>
            <a:ext cx="4763046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All words that ends with aba.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3600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baba</a:t>
            </a:r>
            <a:endParaRPr lang="en-US" sz="3600" dirty="0"/>
          </a:p>
        </p:txBody>
      </p:sp>
      <p:sp>
        <p:nvSpPr>
          <p:cNvPr id="39" name="Oval 38">
            <a:extLst>
              <a:ext uri="{FF2B5EF4-FFF2-40B4-BE49-F238E27FC236}">
                <a16:creationId xmlns="" xmlns:a16="http://schemas.microsoft.com/office/drawing/2014/main" id="{C04827AB-DD9A-4ED6-85A1-B6B5EA8D74CE}"/>
              </a:ext>
            </a:extLst>
          </p:cNvPr>
          <p:cNvSpPr/>
          <p:nvPr/>
        </p:nvSpPr>
        <p:spPr>
          <a:xfrm>
            <a:off x="6486746" y="3963569"/>
            <a:ext cx="697006" cy="712694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x0</a:t>
            </a:r>
          </a:p>
        </p:txBody>
      </p:sp>
      <p:sp>
        <p:nvSpPr>
          <p:cNvPr id="40" name="Oval 39">
            <a:extLst>
              <a:ext uri="{FF2B5EF4-FFF2-40B4-BE49-F238E27FC236}">
                <a16:creationId xmlns="" xmlns:a16="http://schemas.microsoft.com/office/drawing/2014/main" id="{CA0A025A-21AA-4275-B28C-53DF98FBBD62}"/>
              </a:ext>
            </a:extLst>
          </p:cNvPr>
          <p:cNvSpPr/>
          <p:nvPr/>
        </p:nvSpPr>
        <p:spPr>
          <a:xfrm>
            <a:off x="7941653" y="3950317"/>
            <a:ext cx="697006" cy="712694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x1</a:t>
            </a:r>
          </a:p>
        </p:txBody>
      </p:sp>
      <p:sp>
        <p:nvSpPr>
          <p:cNvPr id="41" name="Oval 40">
            <a:extLst>
              <a:ext uri="{FF2B5EF4-FFF2-40B4-BE49-F238E27FC236}">
                <a16:creationId xmlns="" xmlns:a16="http://schemas.microsoft.com/office/drawing/2014/main" id="{232661FD-3231-48C1-A2C5-6DC574BF9AAE}"/>
              </a:ext>
            </a:extLst>
          </p:cNvPr>
          <p:cNvSpPr/>
          <p:nvPr/>
        </p:nvSpPr>
        <p:spPr>
          <a:xfrm>
            <a:off x="9411634" y="3937065"/>
            <a:ext cx="697006" cy="712694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x2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="" xmlns:a16="http://schemas.microsoft.com/office/drawing/2014/main" id="{C3D49387-B6BD-4C8C-8B72-4994398480E7}"/>
              </a:ext>
            </a:extLst>
          </p:cNvPr>
          <p:cNvCxnSpPr/>
          <p:nvPr/>
        </p:nvCxnSpPr>
        <p:spPr>
          <a:xfrm>
            <a:off x="5989984" y="4319916"/>
            <a:ext cx="48354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6" name="Group 45">
            <a:extLst>
              <a:ext uri="{FF2B5EF4-FFF2-40B4-BE49-F238E27FC236}">
                <a16:creationId xmlns="" xmlns:a16="http://schemas.microsoft.com/office/drawing/2014/main" id="{B1BA9B08-4F24-41E4-BBCB-8849CA4AEFEC}"/>
              </a:ext>
            </a:extLst>
          </p:cNvPr>
          <p:cNvGrpSpPr/>
          <p:nvPr/>
        </p:nvGrpSpPr>
        <p:grpSpPr>
          <a:xfrm>
            <a:off x="10899171" y="3875484"/>
            <a:ext cx="803344" cy="835855"/>
            <a:chOff x="5184749" y="4682255"/>
            <a:chExt cx="803344" cy="835855"/>
          </a:xfrm>
        </p:grpSpPr>
        <p:sp>
          <p:nvSpPr>
            <p:cNvPr id="44" name="Oval 43">
              <a:extLst>
                <a:ext uri="{FF2B5EF4-FFF2-40B4-BE49-F238E27FC236}">
                  <a16:creationId xmlns="" xmlns:a16="http://schemas.microsoft.com/office/drawing/2014/main" id="{8F9CDE5C-96FF-4D40-8E35-EF044400A0D6}"/>
                </a:ext>
              </a:extLst>
            </p:cNvPr>
            <p:cNvSpPr/>
            <p:nvPr/>
          </p:nvSpPr>
          <p:spPr>
            <a:xfrm>
              <a:off x="5184749" y="4682255"/>
              <a:ext cx="803344" cy="835855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5" name="Oval 44">
              <a:extLst>
                <a:ext uri="{FF2B5EF4-FFF2-40B4-BE49-F238E27FC236}">
                  <a16:creationId xmlns="" xmlns:a16="http://schemas.microsoft.com/office/drawing/2014/main" id="{3F768F3B-81D9-4CAF-AF6E-D9F095B52C67}"/>
                </a:ext>
              </a:extLst>
            </p:cNvPr>
            <p:cNvSpPr/>
            <p:nvPr/>
          </p:nvSpPr>
          <p:spPr>
            <a:xfrm>
              <a:off x="5241993" y="4745149"/>
              <a:ext cx="697006" cy="712694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x3</a:t>
              </a:r>
            </a:p>
          </p:txBody>
        </p:sp>
      </p:grpSp>
      <p:cxnSp>
        <p:nvCxnSpPr>
          <p:cNvPr id="47" name="Straight Arrow Connector 46">
            <a:extLst>
              <a:ext uri="{FF2B5EF4-FFF2-40B4-BE49-F238E27FC236}">
                <a16:creationId xmlns="" xmlns:a16="http://schemas.microsoft.com/office/drawing/2014/main" id="{70450A69-B259-4D3C-979E-FA0A2CFE43C1}"/>
              </a:ext>
            </a:extLst>
          </p:cNvPr>
          <p:cNvCxnSpPr/>
          <p:nvPr/>
        </p:nvCxnSpPr>
        <p:spPr>
          <a:xfrm>
            <a:off x="8665163" y="4293412"/>
            <a:ext cx="731983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="" xmlns:a16="http://schemas.microsoft.com/office/drawing/2014/main" id="{E925179F-02E3-405F-935C-31689533E68E}"/>
              </a:ext>
            </a:extLst>
          </p:cNvPr>
          <p:cNvCxnSpPr/>
          <p:nvPr/>
        </p:nvCxnSpPr>
        <p:spPr>
          <a:xfrm>
            <a:off x="7210256" y="4306664"/>
            <a:ext cx="731983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="" xmlns:a16="http://schemas.microsoft.com/office/drawing/2014/main" id="{30719D9B-9EE0-4E4C-9F3C-DAE990982348}"/>
              </a:ext>
            </a:extLst>
          </p:cNvPr>
          <p:cNvCxnSpPr/>
          <p:nvPr/>
        </p:nvCxnSpPr>
        <p:spPr>
          <a:xfrm>
            <a:off x="10157495" y="4286152"/>
            <a:ext cx="731983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="" xmlns:a16="http://schemas.microsoft.com/office/drawing/2014/main" id="{DAD597C4-9FEB-467A-9A23-42F3D849E432}"/>
              </a:ext>
            </a:extLst>
          </p:cNvPr>
          <p:cNvSpPr txBox="1"/>
          <p:nvPr/>
        </p:nvSpPr>
        <p:spPr>
          <a:xfrm>
            <a:off x="7323732" y="3858527"/>
            <a:ext cx="2719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="" xmlns:a16="http://schemas.microsoft.com/office/drawing/2014/main" id="{82B3A5BA-A96E-47A4-9B2A-8E43F1CDC92F}"/>
              </a:ext>
            </a:extLst>
          </p:cNvPr>
          <p:cNvSpPr txBox="1"/>
          <p:nvPr/>
        </p:nvSpPr>
        <p:spPr>
          <a:xfrm>
            <a:off x="10318246" y="3858251"/>
            <a:ext cx="2719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="" xmlns:a16="http://schemas.microsoft.com/office/drawing/2014/main" id="{466F6746-AB92-4F07-84C5-D86BB87BBBF0}"/>
              </a:ext>
            </a:extLst>
          </p:cNvPr>
          <p:cNvSpPr txBox="1"/>
          <p:nvPr/>
        </p:nvSpPr>
        <p:spPr>
          <a:xfrm>
            <a:off x="8813526" y="3875484"/>
            <a:ext cx="2719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55" name="Arc 54">
            <a:extLst>
              <a:ext uri="{FF2B5EF4-FFF2-40B4-BE49-F238E27FC236}">
                <a16:creationId xmlns="" xmlns:a16="http://schemas.microsoft.com/office/drawing/2014/main" id="{849113FD-8B93-49B4-9FEC-B701B2B20C6B}"/>
              </a:ext>
            </a:extLst>
          </p:cNvPr>
          <p:cNvSpPr/>
          <p:nvPr/>
        </p:nvSpPr>
        <p:spPr>
          <a:xfrm>
            <a:off x="6586120" y="3539957"/>
            <a:ext cx="471227" cy="887105"/>
          </a:xfrm>
          <a:prstGeom prst="arc">
            <a:avLst>
              <a:gd name="adj1" fmla="val 10711483"/>
              <a:gd name="adj2" fmla="val 0"/>
            </a:avLst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="" xmlns:a16="http://schemas.microsoft.com/office/drawing/2014/main" id="{FCEFE45B-CEA6-4498-8008-059E264EE9F2}"/>
              </a:ext>
            </a:extLst>
          </p:cNvPr>
          <p:cNvSpPr txBox="1"/>
          <p:nvPr/>
        </p:nvSpPr>
        <p:spPr>
          <a:xfrm>
            <a:off x="6548410" y="3109287"/>
            <a:ext cx="5657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a/b</a:t>
            </a:r>
          </a:p>
        </p:txBody>
      </p:sp>
      <p:grpSp>
        <p:nvGrpSpPr>
          <p:cNvPr id="57" name="Group 56">
            <a:extLst>
              <a:ext uri="{FF2B5EF4-FFF2-40B4-BE49-F238E27FC236}">
                <a16:creationId xmlns="" xmlns:a16="http://schemas.microsoft.com/office/drawing/2014/main" id="{8D3C0EC3-1E6A-436B-B406-38A549AC7268}"/>
              </a:ext>
            </a:extLst>
          </p:cNvPr>
          <p:cNvGrpSpPr/>
          <p:nvPr/>
        </p:nvGrpSpPr>
        <p:grpSpPr>
          <a:xfrm rot="18867934">
            <a:off x="5867045" y="3049583"/>
            <a:ext cx="369332" cy="1274995"/>
            <a:chOff x="7019630" y="2204898"/>
            <a:chExt cx="369332" cy="1005795"/>
          </a:xfrm>
        </p:grpSpPr>
        <p:sp>
          <p:nvSpPr>
            <p:cNvPr id="58" name="Arrow: Up 57">
              <a:extLst>
                <a:ext uri="{FF2B5EF4-FFF2-40B4-BE49-F238E27FC236}">
                  <a16:creationId xmlns="" xmlns:a16="http://schemas.microsoft.com/office/drawing/2014/main" id="{E93022AA-FD9E-4354-A4A7-DF5F91C23E96}"/>
                </a:ext>
              </a:extLst>
            </p:cNvPr>
            <p:cNvSpPr/>
            <p:nvPr/>
          </p:nvSpPr>
          <p:spPr>
            <a:xfrm rot="10800000">
              <a:off x="7044865" y="2571551"/>
              <a:ext cx="191070" cy="639142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9" name="TextBox 58">
              <a:extLst>
                <a:ext uri="{FF2B5EF4-FFF2-40B4-BE49-F238E27FC236}">
                  <a16:creationId xmlns="" xmlns:a16="http://schemas.microsoft.com/office/drawing/2014/main" id="{BAF74065-B1AC-4D5B-9613-553AA58A4378}"/>
                </a:ext>
              </a:extLst>
            </p:cNvPr>
            <p:cNvSpPr txBox="1"/>
            <p:nvPr/>
          </p:nvSpPr>
          <p:spPr>
            <a:xfrm rot="2732066">
              <a:off x="6923696" y="2300832"/>
              <a:ext cx="5611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CS-1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095522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149AD530-6C2A-44EA-A853-BAC2857EF1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904" y="858414"/>
            <a:ext cx="4876872" cy="460871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Backtracking is allowed in DFA.</a:t>
            </a:r>
          </a:p>
          <a:p>
            <a:pPr marL="457200" indent="-457200">
              <a:buFont typeface="+mj-lt"/>
              <a:buAutoNum type="arabicPeriod" startAt="3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E7E875E4-C02C-44AD-9251-3D0D7CDF2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26D1DE06-0720-4572-BF37-034426FE1CD7}"/>
              </a:ext>
            </a:extLst>
          </p:cNvPr>
          <p:cNvSpPr txBox="1"/>
          <p:nvPr/>
        </p:nvSpPr>
        <p:spPr>
          <a:xfrm>
            <a:off x="1529669" y="33241"/>
            <a:ext cx="1600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DFA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="" xmlns:a16="http://schemas.microsoft.com/office/drawing/2014/main" id="{E13E761C-7E8C-455A-B10F-FF97B9D81750}"/>
              </a:ext>
            </a:extLst>
          </p:cNvPr>
          <p:cNvGrpSpPr/>
          <p:nvPr/>
        </p:nvGrpSpPr>
        <p:grpSpPr>
          <a:xfrm>
            <a:off x="389769" y="1761566"/>
            <a:ext cx="5586961" cy="1860226"/>
            <a:chOff x="470451" y="2429960"/>
            <a:chExt cx="6403942" cy="1860226"/>
          </a:xfrm>
        </p:grpSpPr>
        <p:sp>
          <p:nvSpPr>
            <p:cNvPr id="8" name="Oval 7">
              <a:extLst>
                <a:ext uri="{FF2B5EF4-FFF2-40B4-BE49-F238E27FC236}">
                  <a16:creationId xmlns="" xmlns:a16="http://schemas.microsoft.com/office/drawing/2014/main" id="{EDD2A173-63F4-4A80-96B9-79D5A7A31D1C}"/>
                </a:ext>
              </a:extLst>
            </p:cNvPr>
            <p:cNvSpPr/>
            <p:nvPr/>
          </p:nvSpPr>
          <p:spPr>
            <a:xfrm>
              <a:off x="1130579" y="3333906"/>
              <a:ext cx="723331" cy="63914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x0</a:t>
              </a: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="" xmlns:a16="http://schemas.microsoft.com/office/drawing/2014/main" id="{B167B8FE-18DA-468D-9F34-C584DF4C213E}"/>
                </a:ext>
              </a:extLst>
            </p:cNvPr>
            <p:cNvCxnSpPr/>
            <p:nvPr/>
          </p:nvCxnSpPr>
          <p:spPr>
            <a:xfrm>
              <a:off x="470451" y="3673964"/>
              <a:ext cx="573062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Oval 9">
              <a:extLst>
                <a:ext uri="{FF2B5EF4-FFF2-40B4-BE49-F238E27FC236}">
                  <a16:creationId xmlns="" xmlns:a16="http://schemas.microsoft.com/office/drawing/2014/main" id="{F032099B-FB70-499B-B9CB-2153679670AF}"/>
                </a:ext>
              </a:extLst>
            </p:cNvPr>
            <p:cNvSpPr/>
            <p:nvPr/>
          </p:nvSpPr>
          <p:spPr>
            <a:xfrm>
              <a:off x="2765510" y="3333906"/>
              <a:ext cx="723331" cy="63914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x1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="" xmlns:a16="http://schemas.microsoft.com/office/drawing/2014/main" id="{A46E03FE-0352-4BA0-94CE-3CBBC1232E6A}"/>
                </a:ext>
              </a:extLst>
            </p:cNvPr>
            <p:cNvSpPr/>
            <p:nvPr/>
          </p:nvSpPr>
          <p:spPr>
            <a:xfrm>
              <a:off x="4400441" y="3307012"/>
              <a:ext cx="723331" cy="63914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x2</a:t>
              </a: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="" xmlns:a16="http://schemas.microsoft.com/office/drawing/2014/main" id="{49347AD5-0329-4828-BEAA-DE17AA128978}"/>
                </a:ext>
              </a:extLst>
            </p:cNvPr>
            <p:cNvGrpSpPr/>
            <p:nvPr/>
          </p:nvGrpSpPr>
          <p:grpSpPr>
            <a:xfrm>
              <a:off x="6035372" y="3170957"/>
              <a:ext cx="839021" cy="802091"/>
              <a:chOff x="10512625" y="1744747"/>
              <a:chExt cx="839021" cy="802091"/>
            </a:xfrm>
          </p:grpSpPr>
          <p:sp>
            <p:nvSpPr>
              <p:cNvPr id="13" name="Oval 12">
                <a:extLst>
                  <a:ext uri="{FF2B5EF4-FFF2-40B4-BE49-F238E27FC236}">
                    <a16:creationId xmlns="" xmlns:a16="http://schemas.microsoft.com/office/drawing/2014/main" id="{06A6A055-73AA-42D4-81CF-0021044FCC67}"/>
                  </a:ext>
                </a:extLst>
              </p:cNvPr>
              <p:cNvSpPr/>
              <p:nvPr/>
            </p:nvSpPr>
            <p:spPr>
              <a:xfrm>
                <a:off x="10512625" y="1744747"/>
                <a:ext cx="839021" cy="802091"/>
              </a:xfrm>
              <a:prstGeom prst="ellips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4" name="Oval 13">
                <a:extLst>
                  <a:ext uri="{FF2B5EF4-FFF2-40B4-BE49-F238E27FC236}">
                    <a16:creationId xmlns="" xmlns:a16="http://schemas.microsoft.com/office/drawing/2014/main" id="{B0C94D19-8E49-4955-8F65-F2A1695D3938}"/>
                  </a:ext>
                </a:extLst>
              </p:cNvPr>
              <p:cNvSpPr/>
              <p:nvPr/>
            </p:nvSpPr>
            <p:spPr>
              <a:xfrm>
                <a:off x="10585318" y="1837172"/>
                <a:ext cx="681980" cy="628192"/>
              </a:xfrm>
              <a:prstGeom prst="ellips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x3</a:t>
                </a:r>
              </a:p>
            </p:txBody>
          </p:sp>
        </p:grpSp>
        <p:cxnSp>
          <p:nvCxnSpPr>
            <p:cNvPr id="15" name="Straight Arrow Connector 14">
              <a:extLst>
                <a:ext uri="{FF2B5EF4-FFF2-40B4-BE49-F238E27FC236}">
                  <a16:creationId xmlns="" xmlns:a16="http://schemas.microsoft.com/office/drawing/2014/main" id="{CF3E0BDF-810B-4F55-B7EA-0389F91D35A4}"/>
                </a:ext>
              </a:extLst>
            </p:cNvPr>
            <p:cNvCxnSpPr/>
            <p:nvPr/>
          </p:nvCxnSpPr>
          <p:spPr>
            <a:xfrm>
              <a:off x="1914097" y="3662038"/>
              <a:ext cx="839021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="" xmlns:a16="http://schemas.microsoft.com/office/drawing/2014/main" id="{21D2F5CA-FBDF-414C-838D-0A9B5FC4430A}"/>
                </a:ext>
              </a:extLst>
            </p:cNvPr>
            <p:cNvCxnSpPr/>
            <p:nvPr/>
          </p:nvCxnSpPr>
          <p:spPr>
            <a:xfrm>
              <a:off x="3534916" y="3639972"/>
              <a:ext cx="839021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="" xmlns:a16="http://schemas.microsoft.com/office/drawing/2014/main" id="{AA1CBC00-C8B1-44E9-8B2A-D774D4C8057E}"/>
                </a:ext>
              </a:extLst>
            </p:cNvPr>
            <p:cNvCxnSpPr/>
            <p:nvPr/>
          </p:nvCxnSpPr>
          <p:spPr>
            <a:xfrm>
              <a:off x="5169847" y="3639972"/>
              <a:ext cx="839021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="" xmlns:a16="http://schemas.microsoft.com/office/drawing/2014/main" id="{7FCBCE34-8F1D-4494-B37C-ABE96FD57666}"/>
                </a:ext>
              </a:extLst>
            </p:cNvPr>
            <p:cNvSpPr txBox="1"/>
            <p:nvPr/>
          </p:nvSpPr>
          <p:spPr>
            <a:xfrm>
              <a:off x="2089212" y="3191812"/>
              <a:ext cx="3117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="" xmlns:a16="http://schemas.microsoft.com/office/drawing/2014/main" id="{CC77AC81-ED5E-47AC-A744-914483C03C0C}"/>
                </a:ext>
              </a:extLst>
            </p:cNvPr>
            <p:cNvSpPr txBox="1"/>
            <p:nvPr/>
          </p:nvSpPr>
          <p:spPr>
            <a:xfrm>
              <a:off x="3697547" y="3212299"/>
              <a:ext cx="3117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="" xmlns:a16="http://schemas.microsoft.com/office/drawing/2014/main" id="{8E3BF89E-56F8-4EB4-AD82-9142DBD6A27C}"/>
                </a:ext>
              </a:extLst>
            </p:cNvPr>
            <p:cNvSpPr txBox="1"/>
            <p:nvPr/>
          </p:nvSpPr>
          <p:spPr>
            <a:xfrm>
              <a:off x="5358816" y="3172033"/>
              <a:ext cx="3117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="" xmlns:a16="http://schemas.microsoft.com/office/drawing/2014/main" id="{A9C0D6FE-F7E5-434B-BABF-3049C2B33D69}"/>
                </a:ext>
              </a:extLst>
            </p:cNvPr>
            <p:cNvGrpSpPr/>
            <p:nvPr/>
          </p:nvGrpSpPr>
          <p:grpSpPr>
            <a:xfrm rot="10370240">
              <a:off x="1185958" y="2890353"/>
              <a:ext cx="540585" cy="887105"/>
              <a:chOff x="1984650" y="2985447"/>
              <a:chExt cx="540585" cy="887105"/>
            </a:xfrm>
          </p:grpSpPr>
          <p:sp>
            <p:nvSpPr>
              <p:cNvPr id="22" name="Arc 21">
                <a:extLst>
                  <a:ext uri="{FF2B5EF4-FFF2-40B4-BE49-F238E27FC236}">
                    <a16:creationId xmlns="" xmlns:a16="http://schemas.microsoft.com/office/drawing/2014/main" id="{177ECB2A-EFAE-4453-93C0-A41752FCEBB3}"/>
                  </a:ext>
                </a:extLst>
              </p:cNvPr>
              <p:cNvSpPr/>
              <p:nvPr/>
            </p:nvSpPr>
            <p:spPr>
              <a:xfrm rot="11054314">
                <a:off x="1985101" y="2985447"/>
                <a:ext cx="540134" cy="887105"/>
              </a:xfrm>
              <a:prstGeom prst="arc">
                <a:avLst>
                  <a:gd name="adj1" fmla="val 10711483"/>
                  <a:gd name="adj2" fmla="val 0"/>
                </a:avLst>
              </a:prstGeom>
              <a:ln w="254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3" name="Straight Arrow Connector 22">
                <a:extLst>
                  <a:ext uri="{FF2B5EF4-FFF2-40B4-BE49-F238E27FC236}">
                    <a16:creationId xmlns="" xmlns:a16="http://schemas.microsoft.com/office/drawing/2014/main" id="{F995BD76-CADF-4733-ACDA-E945D5FED785}"/>
                  </a:ext>
                </a:extLst>
              </p:cNvPr>
              <p:cNvCxnSpPr/>
              <p:nvPr/>
            </p:nvCxnSpPr>
            <p:spPr>
              <a:xfrm rot="11054314">
                <a:off x="1984650" y="3331902"/>
                <a:ext cx="0" cy="95534"/>
              </a:xfrm>
              <a:prstGeom prst="straightConnector1">
                <a:avLst/>
              </a:prstGeom>
              <a:ln w="25400">
                <a:solidFill>
                  <a:schemeClr val="bg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4" name="TextBox 23">
              <a:extLst>
                <a:ext uri="{FF2B5EF4-FFF2-40B4-BE49-F238E27FC236}">
                  <a16:creationId xmlns="" xmlns:a16="http://schemas.microsoft.com/office/drawing/2014/main" id="{9FF65C04-6E36-440B-8DB3-19D0DD25E1D5}"/>
                </a:ext>
              </a:extLst>
            </p:cNvPr>
            <p:cNvSpPr txBox="1"/>
            <p:nvPr/>
          </p:nvSpPr>
          <p:spPr>
            <a:xfrm>
              <a:off x="1180516" y="2457327"/>
              <a:ext cx="3117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  <p:grpSp>
          <p:nvGrpSpPr>
            <p:cNvPr id="25" name="Group 24">
              <a:extLst>
                <a:ext uri="{FF2B5EF4-FFF2-40B4-BE49-F238E27FC236}">
                  <a16:creationId xmlns="" xmlns:a16="http://schemas.microsoft.com/office/drawing/2014/main" id="{95283B76-D290-48F4-882C-4B73696475FC}"/>
                </a:ext>
              </a:extLst>
            </p:cNvPr>
            <p:cNvGrpSpPr/>
            <p:nvPr/>
          </p:nvGrpSpPr>
          <p:grpSpPr>
            <a:xfrm rot="10370240">
              <a:off x="2836093" y="2873340"/>
              <a:ext cx="540585" cy="887105"/>
              <a:chOff x="1984650" y="2985447"/>
              <a:chExt cx="540585" cy="887105"/>
            </a:xfrm>
          </p:grpSpPr>
          <p:sp>
            <p:nvSpPr>
              <p:cNvPr id="26" name="Arc 25">
                <a:extLst>
                  <a:ext uri="{FF2B5EF4-FFF2-40B4-BE49-F238E27FC236}">
                    <a16:creationId xmlns="" xmlns:a16="http://schemas.microsoft.com/office/drawing/2014/main" id="{43BB7691-F2E4-46BF-906F-C4CCEF7D55D9}"/>
                  </a:ext>
                </a:extLst>
              </p:cNvPr>
              <p:cNvSpPr/>
              <p:nvPr/>
            </p:nvSpPr>
            <p:spPr>
              <a:xfrm rot="11054314">
                <a:off x="1985101" y="2985447"/>
                <a:ext cx="540134" cy="887105"/>
              </a:xfrm>
              <a:prstGeom prst="arc">
                <a:avLst>
                  <a:gd name="adj1" fmla="val 10711483"/>
                  <a:gd name="adj2" fmla="val 0"/>
                </a:avLst>
              </a:prstGeom>
              <a:ln w="254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7" name="Straight Arrow Connector 26">
                <a:extLst>
                  <a:ext uri="{FF2B5EF4-FFF2-40B4-BE49-F238E27FC236}">
                    <a16:creationId xmlns="" xmlns:a16="http://schemas.microsoft.com/office/drawing/2014/main" id="{7D03CC14-B08B-467F-A77E-2F642111408F}"/>
                  </a:ext>
                </a:extLst>
              </p:cNvPr>
              <p:cNvCxnSpPr/>
              <p:nvPr/>
            </p:nvCxnSpPr>
            <p:spPr>
              <a:xfrm rot="11054314">
                <a:off x="1984650" y="3331902"/>
                <a:ext cx="0" cy="95534"/>
              </a:xfrm>
              <a:prstGeom prst="straightConnector1">
                <a:avLst/>
              </a:prstGeom>
              <a:ln w="25400">
                <a:solidFill>
                  <a:schemeClr val="bg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8" name="TextBox 27">
              <a:extLst>
                <a:ext uri="{FF2B5EF4-FFF2-40B4-BE49-F238E27FC236}">
                  <a16:creationId xmlns="" xmlns:a16="http://schemas.microsoft.com/office/drawing/2014/main" id="{624BB0EE-6A5B-4B02-82D4-235316C7D61D}"/>
                </a:ext>
              </a:extLst>
            </p:cNvPr>
            <p:cNvSpPr txBox="1"/>
            <p:nvPr/>
          </p:nvSpPr>
          <p:spPr>
            <a:xfrm>
              <a:off x="2906302" y="2429960"/>
              <a:ext cx="3117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29" name="Arrow: Curved Down 28">
              <a:extLst>
                <a:ext uri="{FF2B5EF4-FFF2-40B4-BE49-F238E27FC236}">
                  <a16:creationId xmlns="" xmlns:a16="http://schemas.microsoft.com/office/drawing/2014/main" id="{941EC0F0-A84F-48C9-87D0-10CEDCA8CD61}"/>
                </a:ext>
              </a:extLst>
            </p:cNvPr>
            <p:cNvSpPr/>
            <p:nvPr/>
          </p:nvSpPr>
          <p:spPr>
            <a:xfrm rot="10800000">
              <a:off x="1659826" y="3958135"/>
              <a:ext cx="2908196" cy="256814"/>
            </a:xfrm>
            <a:prstGeom prst="curvedDownArrow">
              <a:avLst>
                <a:gd name="adj1" fmla="val 11615"/>
                <a:gd name="adj2" fmla="val 50000"/>
                <a:gd name="adj3" fmla="val 25000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="" xmlns:a16="http://schemas.microsoft.com/office/drawing/2014/main" id="{4ED6617C-6176-4E5A-97A8-7060AB131E68}"/>
                </a:ext>
              </a:extLst>
            </p:cNvPr>
            <p:cNvSpPr txBox="1"/>
            <p:nvPr/>
          </p:nvSpPr>
          <p:spPr>
            <a:xfrm>
              <a:off x="3306612" y="3828521"/>
              <a:ext cx="3117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31" name="Arrow: Curved Down 30">
              <a:extLst>
                <a:ext uri="{FF2B5EF4-FFF2-40B4-BE49-F238E27FC236}">
                  <a16:creationId xmlns="" xmlns:a16="http://schemas.microsoft.com/office/drawing/2014/main" id="{164BCBA0-BA6D-4830-A4C7-0273A3ACF31A}"/>
                </a:ext>
              </a:extLst>
            </p:cNvPr>
            <p:cNvSpPr/>
            <p:nvPr/>
          </p:nvSpPr>
          <p:spPr>
            <a:xfrm rot="10800000">
              <a:off x="5046391" y="3906855"/>
              <a:ext cx="1049609" cy="203318"/>
            </a:xfrm>
            <a:prstGeom prst="curvedDownArrow">
              <a:avLst>
                <a:gd name="adj1" fmla="val 11615"/>
                <a:gd name="adj2" fmla="val 50000"/>
                <a:gd name="adj3" fmla="val 25000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="" xmlns:a16="http://schemas.microsoft.com/office/drawing/2014/main" id="{D1B5F6D8-B479-4A51-8B85-C90FEF56C3B4}"/>
                </a:ext>
              </a:extLst>
            </p:cNvPr>
            <p:cNvSpPr txBox="1"/>
            <p:nvPr/>
          </p:nvSpPr>
          <p:spPr>
            <a:xfrm>
              <a:off x="5418452" y="3735245"/>
              <a:ext cx="3117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33" name="Arrow: Curved Up 32">
              <a:extLst>
                <a:ext uri="{FF2B5EF4-FFF2-40B4-BE49-F238E27FC236}">
                  <a16:creationId xmlns="" xmlns:a16="http://schemas.microsoft.com/office/drawing/2014/main" id="{883BCDAA-DF6B-4CE1-A7DF-CEA9CF6A7531}"/>
                </a:ext>
              </a:extLst>
            </p:cNvPr>
            <p:cNvSpPr/>
            <p:nvPr/>
          </p:nvSpPr>
          <p:spPr>
            <a:xfrm rot="10601653">
              <a:off x="3340408" y="2885646"/>
              <a:ext cx="2898449" cy="392783"/>
            </a:xfrm>
            <a:prstGeom prst="curvedUpArrow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="" xmlns:a16="http://schemas.microsoft.com/office/drawing/2014/main" id="{C5839F56-250D-47CC-877C-BC0884BC986F}"/>
                </a:ext>
              </a:extLst>
            </p:cNvPr>
            <p:cNvSpPr txBox="1"/>
            <p:nvPr/>
          </p:nvSpPr>
          <p:spPr>
            <a:xfrm>
              <a:off x="4689579" y="2463044"/>
              <a:ext cx="3117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</p:grpSp>
      <p:sp>
        <p:nvSpPr>
          <p:cNvPr id="35" name="Content Placeholder 2">
            <a:extLst>
              <a:ext uri="{FF2B5EF4-FFF2-40B4-BE49-F238E27FC236}">
                <a16:creationId xmlns="" xmlns:a16="http://schemas.microsoft.com/office/drawing/2014/main" id="{F97922DE-7782-4701-9A67-30B071D7E716}"/>
              </a:ext>
            </a:extLst>
          </p:cNvPr>
          <p:cNvSpPr txBox="1">
            <a:spLocks/>
          </p:cNvSpPr>
          <p:nvPr/>
        </p:nvSpPr>
        <p:spPr>
          <a:xfrm>
            <a:off x="5373287" y="786600"/>
            <a:ext cx="4565144" cy="52848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457200" indent="-457200">
              <a:buFont typeface="+mj-lt"/>
              <a:buAutoNum type="arabicPeriod" startAt="3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NDFA, backtracking is not always possible.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="" xmlns:a16="http://schemas.microsoft.com/office/drawing/2014/main" id="{B34E8F8C-167C-49A9-BB01-50B5E361FCC7}"/>
              </a:ext>
            </a:extLst>
          </p:cNvPr>
          <p:cNvSpPr txBox="1"/>
          <p:nvPr/>
        </p:nvSpPr>
        <p:spPr>
          <a:xfrm>
            <a:off x="6855759" y="0"/>
            <a:ext cx="1600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NDFA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="" xmlns:a16="http://schemas.microsoft.com/office/drawing/2014/main" id="{CD207AB7-FD5D-45DA-A74B-31F2314C78DA}"/>
              </a:ext>
            </a:extLst>
          </p:cNvPr>
          <p:cNvSpPr txBox="1"/>
          <p:nvPr/>
        </p:nvSpPr>
        <p:spPr>
          <a:xfrm>
            <a:off x="645082" y="1255327"/>
            <a:ext cx="476304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All words that ends with aba.</a:t>
            </a:r>
            <a:endParaRPr lang="en-US" sz="2200" dirty="0"/>
          </a:p>
        </p:txBody>
      </p:sp>
      <p:sp>
        <p:nvSpPr>
          <p:cNvPr id="38" name="TextBox 37">
            <a:extLst>
              <a:ext uri="{FF2B5EF4-FFF2-40B4-BE49-F238E27FC236}">
                <a16:creationId xmlns="" xmlns:a16="http://schemas.microsoft.com/office/drawing/2014/main" id="{F98FFA43-7618-4602-828A-9E9802F87148}"/>
              </a:ext>
            </a:extLst>
          </p:cNvPr>
          <p:cNvSpPr txBox="1"/>
          <p:nvPr/>
        </p:nvSpPr>
        <p:spPr>
          <a:xfrm>
            <a:off x="5908633" y="1471149"/>
            <a:ext cx="4763046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All words that ends with aba.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3600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baba</a:t>
            </a:r>
            <a:endParaRPr lang="en-US" sz="3600" dirty="0"/>
          </a:p>
        </p:txBody>
      </p:sp>
      <p:sp>
        <p:nvSpPr>
          <p:cNvPr id="39" name="Oval 38">
            <a:extLst>
              <a:ext uri="{FF2B5EF4-FFF2-40B4-BE49-F238E27FC236}">
                <a16:creationId xmlns="" xmlns:a16="http://schemas.microsoft.com/office/drawing/2014/main" id="{C04827AB-DD9A-4ED6-85A1-B6B5EA8D74CE}"/>
              </a:ext>
            </a:extLst>
          </p:cNvPr>
          <p:cNvSpPr/>
          <p:nvPr/>
        </p:nvSpPr>
        <p:spPr>
          <a:xfrm>
            <a:off x="6486746" y="3963569"/>
            <a:ext cx="697006" cy="712694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x0</a:t>
            </a:r>
          </a:p>
        </p:txBody>
      </p:sp>
      <p:sp>
        <p:nvSpPr>
          <p:cNvPr id="40" name="Oval 39">
            <a:extLst>
              <a:ext uri="{FF2B5EF4-FFF2-40B4-BE49-F238E27FC236}">
                <a16:creationId xmlns="" xmlns:a16="http://schemas.microsoft.com/office/drawing/2014/main" id="{CA0A025A-21AA-4275-B28C-53DF98FBBD62}"/>
              </a:ext>
            </a:extLst>
          </p:cNvPr>
          <p:cNvSpPr/>
          <p:nvPr/>
        </p:nvSpPr>
        <p:spPr>
          <a:xfrm>
            <a:off x="7941653" y="3950317"/>
            <a:ext cx="697006" cy="712694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x1</a:t>
            </a:r>
          </a:p>
        </p:txBody>
      </p:sp>
      <p:sp>
        <p:nvSpPr>
          <p:cNvPr id="41" name="Oval 40">
            <a:extLst>
              <a:ext uri="{FF2B5EF4-FFF2-40B4-BE49-F238E27FC236}">
                <a16:creationId xmlns="" xmlns:a16="http://schemas.microsoft.com/office/drawing/2014/main" id="{232661FD-3231-48C1-A2C5-6DC574BF9AAE}"/>
              </a:ext>
            </a:extLst>
          </p:cNvPr>
          <p:cNvSpPr/>
          <p:nvPr/>
        </p:nvSpPr>
        <p:spPr>
          <a:xfrm>
            <a:off x="9411634" y="3937065"/>
            <a:ext cx="697006" cy="712694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x2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="" xmlns:a16="http://schemas.microsoft.com/office/drawing/2014/main" id="{C3D49387-B6BD-4C8C-8B72-4994398480E7}"/>
              </a:ext>
            </a:extLst>
          </p:cNvPr>
          <p:cNvCxnSpPr/>
          <p:nvPr/>
        </p:nvCxnSpPr>
        <p:spPr>
          <a:xfrm>
            <a:off x="5989984" y="4319916"/>
            <a:ext cx="48354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6" name="Group 45">
            <a:extLst>
              <a:ext uri="{FF2B5EF4-FFF2-40B4-BE49-F238E27FC236}">
                <a16:creationId xmlns="" xmlns:a16="http://schemas.microsoft.com/office/drawing/2014/main" id="{B1BA9B08-4F24-41E4-BBCB-8849CA4AEFEC}"/>
              </a:ext>
            </a:extLst>
          </p:cNvPr>
          <p:cNvGrpSpPr/>
          <p:nvPr/>
        </p:nvGrpSpPr>
        <p:grpSpPr>
          <a:xfrm>
            <a:off x="10899171" y="3875484"/>
            <a:ext cx="803344" cy="835855"/>
            <a:chOff x="5184749" y="4682255"/>
            <a:chExt cx="803344" cy="835855"/>
          </a:xfrm>
        </p:grpSpPr>
        <p:sp>
          <p:nvSpPr>
            <p:cNvPr id="44" name="Oval 43">
              <a:extLst>
                <a:ext uri="{FF2B5EF4-FFF2-40B4-BE49-F238E27FC236}">
                  <a16:creationId xmlns="" xmlns:a16="http://schemas.microsoft.com/office/drawing/2014/main" id="{8F9CDE5C-96FF-4D40-8E35-EF044400A0D6}"/>
                </a:ext>
              </a:extLst>
            </p:cNvPr>
            <p:cNvSpPr/>
            <p:nvPr/>
          </p:nvSpPr>
          <p:spPr>
            <a:xfrm>
              <a:off x="5184749" y="4682255"/>
              <a:ext cx="803344" cy="835855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5" name="Oval 44">
              <a:extLst>
                <a:ext uri="{FF2B5EF4-FFF2-40B4-BE49-F238E27FC236}">
                  <a16:creationId xmlns="" xmlns:a16="http://schemas.microsoft.com/office/drawing/2014/main" id="{3F768F3B-81D9-4CAF-AF6E-D9F095B52C67}"/>
                </a:ext>
              </a:extLst>
            </p:cNvPr>
            <p:cNvSpPr/>
            <p:nvPr/>
          </p:nvSpPr>
          <p:spPr>
            <a:xfrm>
              <a:off x="5241993" y="4745149"/>
              <a:ext cx="697006" cy="712694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x3</a:t>
              </a:r>
            </a:p>
          </p:txBody>
        </p:sp>
      </p:grpSp>
      <p:cxnSp>
        <p:nvCxnSpPr>
          <p:cNvPr id="47" name="Straight Arrow Connector 46">
            <a:extLst>
              <a:ext uri="{FF2B5EF4-FFF2-40B4-BE49-F238E27FC236}">
                <a16:creationId xmlns="" xmlns:a16="http://schemas.microsoft.com/office/drawing/2014/main" id="{70450A69-B259-4D3C-979E-FA0A2CFE43C1}"/>
              </a:ext>
            </a:extLst>
          </p:cNvPr>
          <p:cNvCxnSpPr/>
          <p:nvPr/>
        </p:nvCxnSpPr>
        <p:spPr>
          <a:xfrm>
            <a:off x="8665163" y="4293412"/>
            <a:ext cx="731983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="" xmlns:a16="http://schemas.microsoft.com/office/drawing/2014/main" id="{E925179F-02E3-405F-935C-31689533E68E}"/>
              </a:ext>
            </a:extLst>
          </p:cNvPr>
          <p:cNvCxnSpPr/>
          <p:nvPr/>
        </p:nvCxnSpPr>
        <p:spPr>
          <a:xfrm>
            <a:off x="7210256" y="4306664"/>
            <a:ext cx="731983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="" xmlns:a16="http://schemas.microsoft.com/office/drawing/2014/main" id="{30719D9B-9EE0-4E4C-9F3C-DAE990982348}"/>
              </a:ext>
            </a:extLst>
          </p:cNvPr>
          <p:cNvCxnSpPr/>
          <p:nvPr/>
        </p:nvCxnSpPr>
        <p:spPr>
          <a:xfrm>
            <a:off x="10157495" y="4286152"/>
            <a:ext cx="731983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="" xmlns:a16="http://schemas.microsoft.com/office/drawing/2014/main" id="{DAD597C4-9FEB-467A-9A23-42F3D849E432}"/>
              </a:ext>
            </a:extLst>
          </p:cNvPr>
          <p:cNvSpPr txBox="1"/>
          <p:nvPr/>
        </p:nvSpPr>
        <p:spPr>
          <a:xfrm>
            <a:off x="7323732" y="3858527"/>
            <a:ext cx="2719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="" xmlns:a16="http://schemas.microsoft.com/office/drawing/2014/main" id="{82B3A5BA-A96E-47A4-9B2A-8E43F1CDC92F}"/>
              </a:ext>
            </a:extLst>
          </p:cNvPr>
          <p:cNvSpPr txBox="1"/>
          <p:nvPr/>
        </p:nvSpPr>
        <p:spPr>
          <a:xfrm>
            <a:off x="10318246" y="3858251"/>
            <a:ext cx="2719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="" xmlns:a16="http://schemas.microsoft.com/office/drawing/2014/main" id="{466F6746-AB92-4F07-84C5-D86BB87BBBF0}"/>
              </a:ext>
            </a:extLst>
          </p:cNvPr>
          <p:cNvSpPr txBox="1"/>
          <p:nvPr/>
        </p:nvSpPr>
        <p:spPr>
          <a:xfrm>
            <a:off x="8813526" y="3875484"/>
            <a:ext cx="2719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55" name="Arc 54">
            <a:extLst>
              <a:ext uri="{FF2B5EF4-FFF2-40B4-BE49-F238E27FC236}">
                <a16:creationId xmlns="" xmlns:a16="http://schemas.microsoft.com/office/drawing/2014/main" id="{849113FD-8B93-49B4-9FEC-B701B2B20C6B}"/>
              </a:ext>
            </a:extLst>
          </p:cNvPr>
          <p:cNvSpPr/>
          <p:nvPr/>
        </p:nvSpPr>
        <p:spPr>
          <a:xfrm>
            <a:off x="6586120" y="3539957"/>
            <a:ext cx="471227" cy="887105"/>
          </a:xfrm>
          <a:prstGeom prst="arc">
            <a:avLst>
              <a:gd name="adj1" fmla="val 10711483"/>
              <a:gd name="adj2" fmla="val 0"/>
            </a:avLst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="" xmlns:a16="http://schemas.microsoft.com/office/drawing/2014/main" id="{FCEFE45B-CEA6-4498-8008-059E264EE9F2}"/>
              </a:ext>
            </a:extLst>
          </p:cNvPr>
          <p:cNvSpPr txBox="1"/>
          <p:nvPr/>
        </p:nvSpPr>
        <p:spPr>
          <a:xfrm>
            <a:off x="6548410" y="3109287"/>
            <a:ext cx="5657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a/b</a:t>
            </a:r>
          </a:p>
        </p:txBody>
      </p:sp>
      <p:grpSp>
        <p:nvGrpSpPr>
          <p:cNvPr id="57" name="Group 56">
            <a:extLst>
              <a:ext uri="{FF2B5EF4-FFF2-40B4-BE49-F238E27FC236}">
                <a16:creationId xmlns="" xmlns:a16="http://schemas.microsoft.com/office/drawing/2014/main" id="{8D3C0EC3-1E6A-436B-B406-38A549AC7268}"/>
              </a:ext>
            </a:extLst>
          </p:cNvPr>
          <p:cNvGrpSpPr/>
          <p:nvPr/>
        </p:nvGrpSpPr>
        <p:grpSpPr>
          <a:xfrm rot="18867934">
            <a:off x="5867045" y="3049583"/>
            <a:ext cx="369332" cy="1274995"/>
            <a:chOff x="7019630" y="2204898"/>
            <a:chExt cx="369332" cy="1005795"/>
          </a:xfrm>
        </p:grpSpPr>
        <p:sp>
          <p:nvSpPr>
            <p:cNvPr id="58" name="Arrow: Up 57">
              <a:extLst>
                <a:ext uri="{FF2B5EF4-FFF2-40B4-BE49-F238E27FC236}">
                  <a16:creationId xmlns="" xmlns:a16="http://schemas.microsoft.com/office/drawing/2014/main" id="{E93022AA-FD9E-4354-A4A7-DF5F91C23E96}"/>
                </a:ext>
              </a:extLst>
            </p:cNvPr>
            <p:cNvSpPr/>
            <p:nvPr/>
          </p:nvSpPr>
          <p:spPr>
            <a:xfrm rot="10800000">
              <a:off x="7044865" y="2571551"/>
              <a:ext cx="191070" cy="639142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9" name="TextBox 58">
              <a:extLst>
                <a:ext uri="{FF2B5EF4-FFF2-40B4-BE49-F238E27FC236}">
                  <a16:creationId xmlns="" xmlns:a16="http://schemas.microsoft.com/office/drawing/2014/main" id="{BAF74065-B1AC-4D5B-9613-553AA58A4378}"/>
                </a:ext>
              </a:extLst>
            </p:cNvPr>
            <p:cNvSpPr txBox="1"/>
            <p:nvPr/>
          </p:nvSpPr>
          <p:spPr>
            <a:xfrm rot="2732066">
              <a:off x="6923696" y="2300832"/>
              <a:ext cx="5611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CS-1</a:t>
              </a: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="" xmlns:a16="http://schemas.microsoft.com/office/drawing/2014/main" id="{A07A9414-AC5B-4369-AC6A-00609C53E664}"/>
              </a:ext>
            </a:extLst>
          </p:cNvPr>
          <p:cNvGrpSpPr/>
          <p:nvPr/>
        </p:nvGrpSpPr>
        <p:grpSpPr>
          <a:xfrm>
            <a:off x="8022274" y="2764318"/>
            <a:ext cx="686790" cy="1161419"/>
            <a:chOff x="6884230" y="2294494"/>
            <a:chExt cx="686790" cy="916199"/>
          </a:xfrm>
        </p:grpSpPr>
        <p:sp>
          <p:nvSpPr>
            <p:cNvPr id="64" name="Arrow: Up 63">
              <a:extLst>
                <a:ext uri="{FF2B5EF4-FFF2-40B4-BE49-F238E27FC236}">
                  <a16:creationId xmlns="" xmlns:a16="http://schemas.microsoft.com/office/drawing/2014/main" id="{D2C981A1-EDB1-46C9-B578-9C61753C3ADB}"/>
                </a:ext>
              </a:extLst>
            </p:cNvPr>
            <p:cNvSpPr/>
            <p:nvPr/>
          </p:nvSpPr>
          <p:spPr>
            <a:xfrm rot="10800000">
              <a:off x="7044865" y="2571551"/>
              <a:ext cx="191070" cy="639142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5" name="TextBox 64">
              <a:extLst>
                <a:ext uri="{FF2B5EF4-FFF2-40B4-BE49-F238E27FC236}">
                  <a16:creationId xmlns="" xmlns:a16="http://schemas.microsoft.com/office/drawing/2014/main" id="{19C23E79-AF52-4EE2-8B1E-AFA079E785CF}"/>
                </a:ext>
              </a:extLst>
            </p:cNvPr>
            <p:cNvSpPr txBox="1"/>
            <p:nvPr/>
          </p:nvSpPr>
          <p:spPr>
            <a:xfrm>
              <a:off x="6884230" y="2294494"/>
              <a:ext cx="686790" cy="2913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CS-3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430405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149AD530-6C2A-44EA-A853-BAC2857EF1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904" y="858414"/>
            <a:ext cx="4876872" cy="460871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Backtracking is allowed in DFA.</a:t>
            </a:r>
          </a:p>
          <a:p>
            <a:pPr marL="457200" indent="-457200">
              <a:buFont typeface="+mj-lt"/>
              <a:buAutoNum type="arabicPeriod" startAt="3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E7E875E4-C02C-44AD-9251-3D0D7CDF2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26D1DE06-0720-4572-BF37-034426FE1CD7}"/>
              </a:ext>
            </a:extLst>
          </p:cNvPr>
          <p:cNvSpPr txBox="1"/>
          <p:nvPr/>
        </p:nvSpPr>
        <p:spPr>
          <a:xfrm>
            <a:off x="1529669" y="33241"/>
            <a:ext cx="1600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DFA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="" xmlns:a16="http://schemas.microsoft.com/office/drawing/2014/main" id="{E13E761C-7E8C-455A-B10F-FF97B9D81750}"/>
              </a:ext>
            </a:extLst>
          </p:cNvPr>
          <p:cNvGrpSpPr/>
          <p:nvPr/>
        </p:nvGrpSpPr>
        <p:grpSpPr>
          <a:xfrm>
            <a:off x="389769" y="1761566"/>
            <a:ext cx="5586961" cy="1860226"/>
            <a:chOff x="470451" y="2429960"/>
            <a:chExt cx="6403942" cy="1860226"/>
          </a:xfrm>
        </p:grpSpPr>
        <p:sp>
          <p:nvSpPr>
            <p:cNvPr id="8" name="Oval 7">
              <a:extLst>
                <a:ext uri="{FF2B5EF4-FFF2-40B4-BE49-F238E27FC236}">
                  <a16:creationId xmlns="" xmlns:a16="http://schemas.microsoft.com/office/drawing/2014/main" id="{EDD2A173-63F4-4A80-96B9-79D5A7A31D1C}"/>
                </a:ext>
              </a:extLst>
            </p:cNvPr>
            <p:cNvSpPr/>
            <p:nvPr/>
          </p:nvSpPr>
          <p:spPr>
            <a:xfrm>
              <a:off x="1130579" y="3333906"/>
              <a:ext cx="723331" cy="63914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x0</a:t>
              </a: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="" xmlns:a16="http://schemas.microsoft.com/office/drawing/2014/main" id="{B167B8FE-18DA-468D-9F34-C584DF4C213E}"/>
                </a:ext>
              </a:extLst>
            </p:cNvPr>
            <p:cNvCxnSpPr/>
            <p:nvPr/>
          </p:nvCxnSpPr>
          <p:spPr>
            <a:xfrm>
              <a:off x="470451" y="3673964"/>
              <a:ext cx="573062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Oval 9">
              <a:extLst>
                <a:ext uri="{FF2B5EF4-FFF2-40B4-BE49-F238E27FC236}">
                  <a16:creationId xmlns="" xmlns:a16="http://schemas.microsoft.com/office/drawing/2014/main" id="{F032099B-FB70-499B-B9CB-2153679670AF}"/>
                </a:ext>
              </a:extLst>
            </p:cNvPr>
            <p:cNvSpPr/>
            <p:nvPr/>
          </p:nvSpPr>
          <p:spPr>
            <a:xfrm>
              <a:off x="2765510" y="3333906"/>
              <a:ext cx="723331" cy="63914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x1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="" xmlns:a16="http://schemas.microsoft.com/office/drawing/2014/main" id="{A46E03FE-0352-4BA0-94CE-3CBBC1232E6A}"/>
                </a:ext>
              </a:extLst>
            </p:cNvPr>
            <p:cNvSpPr/>
            <p:nvPr/>
          </p:nvSpPr>
          <p:spPr>
            <a:xfrm>
              <a:off x="4400441" y="3307012"/>
              <a:ext cx="723331" cy="63914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x2</a:t>
              </a: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="" xmlns:a16="http://schemas.microsoft.com/office/drawing/2014/main" id="{49347AD5-0329-4828-BEAA-DE17AA128978}"/>
                </a:ext>
              </a:extLst>
            </p:cNvPr>
            <p:cNvGrpSpPr/>
            <p:nvPr/>
          </p:nvGrpSpPr>
          <p:grpSpPr>
            <a:xfrm>
              <a:off x="6035372" y="3170957"/>
              <a:ext cx="839021" cy="802091"/>
              <a:chOff x="10512625" y="1744747"/>
              <a:chExt cx="839021" cy="802091"/>
            </a:xfrm>
          </p:grpSpPr>
          <p:sp>
            <p:nvSpPr>
              <p:cNvPr id="13" name="Oval 12">
                <a:extLst>
                  <a:ext uri="{FF2B5EF4-FFF2-40B4-BE49-F238E27FC236}">
                    <a16:creationId xmlns="" xmlns:a16="http://schemas.microsoft.com/office/drawing/2014/main" id="{06A6A055-73AA-42D4-81CF-0021044FCC67}"/>
                  </a:ext>
                </a:extLst>
              </p:cNvPr>
              <p:cNvSpPr/>
              <p:nvPr/>
            </p:nvSpPr>
            <p:spPr>
              <a:xfrm>
                <a:off x="10512625" y="1744747"/>
                <a:ext cx="839021" cy="802091"/>
              </a:xfrm>
              <a:prstGeom prst="ellips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4" name="Oval 13">
                <a:extLst>
                  <a:ext uri="{FF2B5EF4-FFF2-40B4-BE49-F238E27FC236}">
                    <a16:creationId xmlns="" xmlns:a16="http://schemas.microsoft.com/office/drawing/2014/main" id="{B0C94D19-8E49-4955-8F65-F2A1695D3938}"/>
                  </a:ext>
                </a:extLst>
              </p:cNvPr>
              <p:cNvSpPr/>
              <p:nvPr/>
            </p:nvSpPr>
            <p:spPr>
              <a:xfrm>
                <a:off x="10585318" y="1837172"/>
                <a:ext cx="681980" cy="628192"/>
              </a:xfrm>
              <a:prstGeom prst="ellips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x3</a:t>
                </a:r>
              </a:p>
            </p:txBody>
          </p:sp>
        </p:grpSp>
        <p:cxnSp>
          <p:nvCxnSpPr>
            <p:cNvPr id="15" name="Straight Arrow Connector 14">
              <a:extLst>
                <a:ext uri="{FF2B5EF4-FFF2-40B4-BE49-F238E27FC236}">
                  <a16:creationId xmlns="" xmlns:a16="http://schemas.microsoft.com/office/drawing/2014/main" id="{CF3E0BDF-810B-4F55-B7EA-0389F91D35A4}"/>
                </a:ext>
              </a:extLst>
            </p:cNvPr>
            <p:cNvCxnSpPr/>
            <p:nvPr/>
          </p:nvCxnSpPr>
          <p:spPr>
            <a:xfrm>
              <a:off x="1914097" y="3662038"/>
              <a:ext cx="839021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="" xmlns:a16="http://schemas.microsoft.com/office/drawing/2014/main" id="{21D2F5CA-FBDF-414C-838D-0A9B5FC4430A}"/>
                </a:ext>
              </a:extLst>
            </p:cNvPr>
            <p:cNvCxnSpPr/>
            <p:nvPr/>
          </p:nvCxnSpPr>
          <p:spPr>
            <a:xfrm>
              <a:off x="3534916" y="3639972"/>
              <a:ext cx="839021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="" xmlns:a16="http://schemas.microsoft.com/office/drawing/2014/main" id="{AA1CBC00-C8B1-44E9-8B2A-D774D4C8057E}"/>
                </a:ext>
              </a:extLst>
            </p:cNvPr>
            <p:cNvCxnSpPr/>
            <p:nvPr/>
          </p:nvCxnSpPr>
          <p:spPr>
            <a:xfrm>
              <a:off x="5169847" y="3639972"/>
              <a:ext cx="839021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="" xmlns:a16="http://schemas.microsoft.com/office/drawing/2014/main" id="{7FCBCE34-8F1D-4494-B37C-ABE96FD57666}"/>
                </a:ext>
              </a:extLst>
            </p:cNvPr>
            <p:cNvSpPr txBox="1"/>
            <p:nvPr/>
          </p:nvSpPr>
          <p:spPr>
            <a:xfrm>
              <a:off x="2089212" y="3191812"/>
              <a:ext cx="3117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="" xmlns:a16="http://schemas.microsoft.com/office/drawing/2014/main" id="{CC77AC81-ED5E-47AC-A744-914483C03C0C}"/>
                </a:ext>
              </a:extLst>
            </p:cNvPr>
            <p:cNvSpPr txBox="1"/>
            <p:nvPr/>
          </p:nvSpPr>
          <p:spPr>
            <a:xfrm>
              <a:off x="3697547" y="3212299"/>
              <a:ext cx="3117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="" xmlns:a16="http://schemas.microsoft.com/office/drawing/2014/main" id="{8E3BF89E-56F8-4EB4-AD82-9142DBD6A27C}"/>
                </a:ext>
              </a:extLst>
            </p:cNvPr>
            <p:cNvSpPr txBox="1"/>
            <p:nvPr/>
          </p:nvSpPr>
          <p:spPr>
            <a:xfrm>
              <a:off x="5358816" y="3172033"/>
              <a:ext cx="3117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="" xmlns:a16="http://schemas.microsoft.com/office/drawing/2014/main" id="{A9C0D6FE-F7E5-434B-BABF-3049C2B33D69}"/>
                </a:ext>
              </a:extLst>
            </p:cNvPr>
            <p:cNvGrpSpPr/>
            <p:nvPr/>
          </p:nvGrpSpPr>
          <p:grpSpPr>
            <a:xfrm rot="10370240">
              <a:off x="1185958" y="2890353"/>
              <a:ext cx="540585" cy="887105"/>
              <a:chOff x="1984650" y="2985447"/>
              <a:chExt cx="540585" cy="887105"/>
            </a:xfrm>
          </p:grpSpPr>
          <p:sp>
            <p:nvSpPr>
              <p:cNvPr id="22" name="Arc 21">
                <a:extLst>
                  <a:ext uri="{FF2B5EF4-FFF2-40B4-BE49-F238E27FC236}">
                    <a16:creationId xmlns="" xmlns:a16="http://schemas.microsoft.com/office/drawing/2014/main" id="{177ECB2A-EFAE-4453-93C0-A41752FCEBB3}"/>
                  </a:ext>
                </a:extLst>
              </p:cNvPr>
              <p:cNvSpPr/>
              <p:nvPr/>
            </p:nvSpPr>
            <p:spPr>
              <a:xfrm rot="11054314">
                <a:off x="1985101" y="2985447"/>
                <a:ext cx="540134" cy="887105"/>
              </a:xfrm>
              <a:prstGeom prst="arc">
                <a:avLst>
                  <a:gd name="adj1" fmla="val 10711483"/>
                  <a:gd name="adj2" fmla="val 0"/>
                </a:avLst>
              </a:prstGeom>
              <a:ln w="254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3" name="Straight Arrow Connector 22">
                <a:extLst>
                  <a:ext uri="{FF2B5EF4-FFF2-40B4-BE49-F238E27FC236}">
                    <a16:creationId xmlns="" xmlns:a16="http://schemas.microsoft.com/office/drawing/2014/main" id="{F995BD76-CADF-4733-ACDA-E945D5FED785}"/>
                  </a:ext>
                </a:extLst>
              </p:cNvPr>
              <p:cNvCxnSpPr/>
              <p:nvPr/>
            </p:nvCxnSpPr>
            <p:spPr>
              <a:xfrm rot="11054314">
                <a:off x="1984650" y="3331902"/>
                <a:ext cx="0" cy="95534"/>
              </a:xfrm>
              <a:prstGeom prst="straightConnector1">
                <a:avLst/>
              </a:prstGeom>
              <a:ln w="25400">
                <a:solidFill>
                  <a:schemeClr val="bg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4" name="TextBox 23">
              <a:extLst>
                <a:ext uri="{FF2B5EF4-FFF2-40B4-BE49-F238E27FC236}">
                  <a16:creationId xmlns="" xmlns:a16="http://schemas.microsoft.com/office/drawing/2014/main" id="{9FF65C04-6E36-440B-8DB3-19D0DD25E1D5}"/>
                </a:ext>
              </a:extLst>
            </p:cNvPr>
            <p:cNvSpPr txBox="1"/>
            <p:nvPr/>
          </p:nvSpPr>
          <p:spPr>
            <a:xfrm>
              <a:off x="1180516" y="2457327"/>
              <a:ext cx="3117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  <p:grpSp>
          <p:nvGrpSpPr>
            <p:cNvPr id="25" name="Group 24">
              <a:extLst>
                <a:ext uri="{FF2B5EF4-FFF2-40B4-BE49-F238E27FC236}">
                  <a16:creationId xmlns="" xmlns:a16="http://schemas.microsoft.com/office/drawing/2014/main" id="{95283B76-D290-48F4-882C-4B73696475FC}"/>
                </a:ext>
              </a:extLst>
            </p:cNvPr>
            <p:cNvGrpSpPr/>
            <p:nvPr/>
          </p:nvGrpSpPr>
          <p:grpSpPr>
            <a:xfrm rot="10370240">
              <a:off x="2836093" y="2873340"/>
              <a:ext cx="540585" cy="887105"/>
              <a:chOff x="1984650" y="2985447"/>
              <a:chExt cx="540585" cy="887105"/>
            </a:xfrm>
          </p:grpSpPr>
          <p:sp>
            <p:nvSpPr>
              <p:cNvPr id="26" name="Arc 25">
                <a:extLst>
                  <a:ext uri="{FF2B5EF4-FFF2-40B4-BE49-F238E27FC236}">
                    <a16:creationId xmlns="" xmlns:a16="http://schemas.microsoft.com/office/drawing/2014/main" id="{43BB7691-F2E4-46BF-906F-C4CCEF7D55D9}"/>
                  </a:ext>
                </a:extLst>
              </p:cNvPr>
              <p:cNvSpPr/>
              <p:nvPr/>
            </p:nvSpPr>
            <p:spPr>
              <a:xfrm rot="11054314">
                <a:off x="1985101" y="2985447"/>
                <a:ext cx="540134" cy="887105"/>
              </a:xfrm>
              <a:prstGeom prst="arc">
                <a:avLst>
                  <a:gd name="adj1" fmla="val 10711483"/>
                  <a:gd name="adj2" fmla="val 0"/>
                </a:avLst>
              </a:prstGeom>
              <a:ln w="254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7" name="Straight Arrow Connector 26">
                <a:extLst>
                  <a:ext uri="{FF2B5EF4-FFF2-40B4-BE49-F238E27FC236}">
                    <a16:creationId xmlns="" xmlns:a16="http://schemas.microsoft.com/office/drawing/2014/main" id="{7D03CC14-B08B-467F-A77E-2F642111408F}"/>
                  </a:ext>
                </a:extLst>
              </p:cNvPr>
              <p:cNvCxnSpPr/>
              <p:nvPr/>
            </p:nvCxnSpPr>
            <p:spPr>
              <a:xfrm rot="11054314">
                <a:off x="1984650" y="3331902"/>
                <a:ext cx="0" cy="95534"/>
              </a:xfrm>
              <a:prstGeom prst="straightConnector1">
                <a:avLst/>
              </a:prstGeom>
              <a:ln w="25400">
                <a:solidFill>
                  <a:schemeClr val="bg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8" name="TextBox 27">
              <a:extLst>
                <a:ext uri="{FF2B5EF4-FFF2-40B4-BE49-F238E27FC236}">
                  <a16:creationId xmlns="" xmlns:a16="http://schemas.microsoft.com/office/drawing/2014/main" id="{624BB0EE-6A5B-4B02-82D4-235316C7D61D}"/>
                </a:ext>
              </a:extLst>
            </p:cNvPr>
            <p:cNvSpPr txBox="1"/>
            <p:nvPr/>
          </p:nvSpPr>
          <p:spPr>
            <a:xfrm>
              <a:off x="2906302" y="2429960"/>
              <a:ext cx="3117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29" name="Arrow: Curved Down 28">
              <a:extLst>
                <a:ext uri="{FF2B5EF4-FFF2-40B4-BE49-F238E27FC236}">
                  <a16:creationId xmlns="" xmlns:a16="http://schemas.microsoft.com/office/drawing/2014/main" id="{941EC0F0-A84F-48C9-87D0-10CEDCA8CD61}"/>
                </a:ext>
              </a:extLst>
            </p:cNvPr>
            <p:cNvSpPr/>
            <p:nvPr/>
          </p:nvSpPr>
          <p:spPr>
            <a:xfrm rot="10800000">
              <a:off x="1659826" y="3958135"/>
              <a:ext cx="2908196" cy="256814"/>
            </a:xfrm>
            <a:prstGeom prst="curvedDownArrow">
              <a:avLst>
                <a:gd name="adj1" fmla="val 11615"/>
                <a:gd name="adj2" fmla="val 50000"/>
                <a:gd name="adj3" fmla="val 25000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="" xmlns:a16="http://schemas.microsoft.com/office/drawing/2014/main" id="{4ED6617C-6176-4E5A-97A8-7060AB131E68}"/>
                </a:ext>
              </a:extLst>
            </p:cNvPr>
            <p:cNvSpPr txBox="1"/>
            <p:nvPr/>
          </p:nvSpPr>
          <p:spPr>
            <a:xfrm>
              <a:off x="3306612" y="3828521"/>
              <a:ext cx="3117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31" name="Arrow: Curved Down 30">
              <a:extLst>
                <a:ext uri="{FF2B5EF4-FFF2-40B4-BE49-F238E27FC236}">
                  <a16:creationId xmlns="" xmlns:a16="http://schemas.microsoft.com/office/drawing/2014/main" id="{164BCBA0-BA6D-4830-A4C7-0273A3ACF31A}"/>
                </a:ext>
              </a:extLst>
            </p:cNvPr>
            <p:cNvSpPr/>
            <p:nvPr/>
          </p:nvSpPr>
          <p:spPr>
            <a:xfrm rot="10800000">
              <a:off x="5046391" y="3906855"/>
              <a:ext cx="1049609" cy="203318"/>
            </a:xfrm>
            <a:prstGeom prst="curvedDownArrow">
              <a:avLst>
                <a:gd name="adj1" fmla="val 11615"/>
                <a:gd name="adj2" fmla="val 50000"/>
                <a:gd name="adj3" fmla="val 25000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="" xmlns:a16="http://schemas.microsoft.com/office/drawing/2014/main" id="{D1B5F6D8-B479-4A51-8B85-C90FEF56C3B4}"/>
                </a:ext>
              </a:extLst>
            </p:cNvPr>
            <p:cNvSpPr txBox="1"/>
            <p:nvPr/>
          </p:nvSpPr>
          <p:spPr>
            <a:xfrm>
              <a:off x="5418452" y="3735245"/>
              <a:ext cx="3117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33" name="Arrow: Curved Up 32">
              <a:extLst>
                <a:ext uri="{FF2B5EF4-FFF2-40B4-BE49-F238E27FC236}">
                  <a16:creationId xmlns="" xmlns:a16="http://schemas.microsoft.com/office/drawing/2014/main" id="{883BCDAA-DF6B-4CE1-A7DF-CEA9CF6A7531}"/>
                </a:ext>
              </a:extLst>
            </p:cNvPr>
            <p:cNvSpPr/>
            <p:nvPr/>
          </p:nvSpPr>
          <p:spPr>
            <a:xfrm rot="10601653">
              <a:off x="3340408" y="2885646"/>
              <a:ext cx="2898449" cy="392783"/>
            </a:xfrm>
            <a:prstGeom prst="curvedUpArrow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="" xmlns:a16="http://schemas.microsoft.com/office/drawing/2014/main" id="{C5839F56-250D-47CC-877C-BC0884BC986F}"/>
                </a:ext>
              </a:extLst>
            </p:cNvPr>
            <p:cNvSpPr txBox="1"/>
            <p:nvPr/>
          </p:nvSpPr>
          <p:spPr>
            <a:xfrm>
              <a:off x="4689579" y="2463044"/>
              <a:ext cx="3117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</p:grpSp>
      <p:sp>
        <p:nvSpPr>
          <p:cNvPr id="35" name="Content Placeholder 2">
            <a:extLst>
              <a:ext uri="{FF2B5EF4-FFF2-40B4-BE49-F238E27FC236}">
                <a16:creationId xmlns="" xmlns:a16="http://schemas.microsoft.com/office/drawing/2014/main" id="{F97922DE-7782-4701-9A67-30B071D7E716}"/>
              </a:ext>
            </a:extLst>
          </p:cNvPr>
          <p:cNvSpPr txBox="1">
            <a:spLocks/>
          </p:cNvSpPr>
          <p:nvPr/>
        </p:nvSpPr>
        <p:spPr>
          <a:xfrm>
            <a:off x="5373287" y="786600"/>
            <a:ext cx="4565144" cy="52848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457200" indent="-457200">
              <a:buFont typeface="+mj-lt"/>
              <a:buAutoNum type="arabicPeriod" startAt="3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NDFA, backtracking is not always possible.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="" xmlns:a16="http://schemas.microsoft.com/office/drawing/2014/main" id="{B34E8F8C-167C-49A9-BB01-50B5E361FCC7}"/>
              </a:ext>
            </a:extLst>
          </p:cNvPr>
          <p:cNvSpPr txBox="1"/>
          <p:nvPr/>
        </p:nvSpPr>
        <p:spPr>
          <a:xfrm>
            <a:off x="6855759" y="0"/>
            <a:ext cx="1600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NDFA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="" xmlns:a16="http://schemas.microsoft.com/office/drawing/2014/main" id="{CD207AB7-FD5D-45DA-A74B-31F2314C78DA}"/>
              </a:ext>
            </a:extLst>
          </p:cNvPr>
          <p:cNvSpPr txBox="1"/>
          <p:nvPr/>
        </p:nvSpPr>
        <p:spPr>
          <a:xfrm>
            <a:off x="645082" y="1255327"/>
            <a:ext cx="476304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All words that ends with aba.</a:t>
            </a:r>
            <a:endParaRPr lang="en-US" sz="2200" dirty="0"/>
          </a:p>
        </p:txBody>
      </p:sp>
      <p:sp>
        <p:nvSpPr>
          <p:cNvPr id="38" name="TextBox 37">
            <a:extLst>
              <a:ext uri="{FF2B5EF4-FFF2-40B4-BE49-F238E27FC236}">
                <a16:creationId xmlns="" xmlns:a16="http://schemas.microsoft.com/office/drawing/2014/main" id="{F98FFA43-7618-4602-828A-9E9802F87148}"/>
              </a:ext>
            </a:extLst>
          </p:cNvPr>
          <p:cNvSpPr txBox="1"/>
          <p:nvPr/>
        </p:nvSpPr>
        <p:spPr>
          <a:xfrm>
            <a:off x="5793306" y="1470770"/>
            <a:ext cx="4763046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All words that ends with aba.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</a:t>
            </a:r>
            <a:r>
              <a:rPr lang="en-US" sz="3600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aba</a:t>
            </a:r>
            <a:endParaRPr lang="en-US" sz="3600" dirty="0"/>
          </a:p>
        </p:txBody>
      </p:sp>
      <p:sp>
        <p:nvSpPr>
          <p:cNvPr id="39" name="Oval 38">
            <a:extLst>
              <a:ext uri="{FF2B5EF4-FFF2-40B4-BE49-F238E27FC236}">
                <a16:creationId xmlns="" xmlns:a16="http://schemas.microsoft.com/office/drawing/2014/main" id="{C04827AB-DD9A-4ED6-85A1-B6B5EA8D74CE}"/>
              </a:ext>
            </a:extLst>
          </p:cNvPr>
          <p:cNvSpPr/>
          <p:nvPr/>
        </p:nvSpPr>
        <p:spPr>
          <a:xfrm>
            <a:off x="6486746" y="3963569"/>
            <a:ext cx="697006" cy="712694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x0</a:t>
            </a:r>
          </a:p>
        </p:txBody>
      </p:sp>
      <p:sp>
        <p:nvSpPr>
          <p:cNvPr id="40" name="Oval 39">
            <a:extLst>
              <a:ext uri="{FF2B5EF4-FFF2-40B4-BE49-F238E27FC236}">
                <a16:creationId xmlns="" xmlns:a16="http://schemas.microsoft.com/office/drawing/2014/main" id="{CA0A025A-21AA-4275-B28C-53DF98FBBD62}"/>
              </a:ext>
            </a:extLst>
          </p:cNvPr>
          <p:cNvSpPr/>
          <p:nvPr/>
        </p:nvSpPr>
        <p:spPr>
          <a:xfrm>
            <a:off x="7941653" y="3950317"/>
            <a:ext cx="697006" cy="712694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x1</a:t>
            </a:r>
          </a:p>
        </p:txBody>
      </p:sp>
      <p:sp>
        <p:nvSpPr>
          <p:cNvPr id="41" name="Oval 40">
            <a:extLst>
              <a:ext uri="{FF2B5EF4-FFF2-40B4-BE49-F238E27FC236}">
                <a16:creationId xmlns="" xmlns:a16="http://schemas.microsoft.com/office/drawing/2014/main" id="{232661FD-3231-48C1-A2C5-6DC574BF9AAE}"/>
              </a:ext>
            </a:extLst>
          </p:cNvPr>
          <p:cNvSpPr/>
          <p:nvPr/>
        </p:nvSpPr>
        <p:spPr>
          <a:xfrm>
            <a:off x="9411634" y="3937065"/>
            <a:ext cx="697006" cy="712694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x2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="" xmlns:a16="http://schemas.microsoft.com/office/drawing/2014/main" id="{C3D49387-B6BD-4C8C-8B72-4994398480E7}"/>
              </a:ext>
            </a:extLst>
          </p:cNvPr>
          <p:cNvCxnSpPr/>
          <p:nvPr/>
        </p:nvCxnSpPr>
        <p:spPr>
          <a:xfrm>
            <a:off x="5989984" y="4319916"/>
            <a:ext cx="48354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6" name="Group 45">
            <a:extLst>
              <a:ext uri="{FF2B5EF4-FFF2-40B4-BE49-F238E27FC236}">
                <a16:creationId xmlns="" xmlns:a16="http://schemas.microsoft.com/office/drawing/2014/main" id="{B1BA9B08-4F24-41E4-BBCB-8849CA4AEFEC}"/>
              </a:ext>
            </a:extLst>
          </p:cNvPr>
          <p:cNvGrpSpPr/>
          <p:nvPr/>
        </p:nvGrpSpPr>
        <p:grpSpPr>
          <a:xfrm>
            <a:off x="10899171" y="3875484"/>
            <a:ext cx="803344" cy="835855"/>
            <a:chOff x="5184749" y="4682255"/>
            <a:chExt cx="803344" cy="835855"/>
          </a:xfrm>
        </p:grpSpPr>
        <p:sp>
          <p:nvSpPr>
            <p:cNvPr id="44" name="Oval 43">
              <a:extLst>
                <a:ext uri="{FF2B5EF4-FFF2-40B4-BE49-F238E27FC236}">
                  <a16:creationId xmlns="" xmlns:a16="http://schemas.microsoft.com/office/drawing/2014/main" id="{8F9CDE5C-96FF-4D40-8E35-EF044400A0D6}"/>
                </a:ext>
              </a:extLst>
            </p:cNvPr>
            <p:cNvSpPr/>
            <p:nvPr/>
          </p:nvSpPr>
          <p:spPr>
            <a:xfrm>
              <a:off x="5184749" y="4682255"/>
              <a:ext cx="803344" cy="835855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5" name="Oval 44">
              <a:extLst>
                <a:ext uri="{FF2B5EF4-FFF2-40B4-BE49-F238E27FC236}">
                  <a16:creationId xmlns="" xmlns:a16="http://schemas.microsoft.com/office/drawing/2014/main" id="{3F768F3B-81D9-4CAF-AF6E-D9F095B52C67}"/>
                </a:ext>
              </a:extLst>
            </p:cNvPr>
            <p:cNvSpPr/>
            <p:nvPr/>
          </p:nvSpPr>
          <p:spPr>
            <a:xfrm>
              <a:off x="5241993" y="4745149"/>
              <a:ext cx="697006" cy="712694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x3</a:t>
              </a:r>
            </a:p>
          </p:txBody>
        </p:sp>
      </p:grpSp>
      <p:cxnSp>
        <p:nvCxnSpPr>
          <p:cNvPr id="47" name="Straight Arrow Connector 46">
            <a:extLst>
              <a:ext uri="{FF2B5EF4-FFF2-40B4-BE49-F238E27FC236}">
                <a16:creationId xmlns="" xmlns:a16="http://schemas.microsoft.com/office/drawing/2014/main" id="{70450A69-B259-4D3C-979E-FA0A2CFE43C1}"/>
              </a:ext>
            </a:extLst>
          </p:cNvPr>
          <p:cNvCxnSpPr/>
          <p:nvPr/>
        </p:nvCxnSpPr>
        <p:spPr>
          <a:xfrm>
            <a:off x="8665163" y="4293412"/>
            <a:ext cx="731983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="" xmlns:a16="http://schemas.microsoft.com/office/drawing/2014/main" id="{E925179F-02E3-405F-935C-31689533E68E}"/>
              </a:ext>
            </a:extLst>
          </p:cNvPr>
          <p:cNvCxnSpPr/>
          <p:nvPr/>
        </p:nvCxnSpPr>
        <p:spPr>
          <a:xfrm>
            <a:off x="7210256" y="4306664"/>
            <a:ext cx="731983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="" xmlns:a16="http://schemas.microsoft.com/office/drawing/2014/main" id="{30719D9B-9EE0-4E4C-9F3C-DAE990982348}"/>
              </a:ext>
            </a:extLst>
          </p:cNvPr>
          <p:cNvCxnSpPr/>
          <p:nvPr/>
        </p:nvCxnSpPr>
        <p:spPr>
          <a:xfrm>
            <a:off x="10157495" y="4286152"/>
            <a:ext cx="731983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="" xmlns:a16="http://schemas.microsoft.com/office/drawing/2014/main" id="{DAD597C4-9FEB-467A-9A23-42F3D849E432}"/>
              </a:ext>
            </a:extLst>
          </p:cNvPr>
          <p:cNvSpPr txBox="1"/>
          <p:nvPr/>
        </p:nvSpPr>
        <p:spPr>
          <a:xfrm>
            <a:off x="7323732" y="3858527"/>
            <a:ext cx="2719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="" xmlns:a16="http://schemas.microsoft.com/office/drawing/2014/main" id="{82B3A5BA-A96E-47A4-9B2A-8E43F1CDC92F}"/>
              </a:ext>
            </a:extLst>
          </p:cNvPr>
          <p:cNvSpPr txBox="1"/>
          <p:nvPr/>
        </p:nvSpPr>
        <p:spPr>
          <a:xfrm>
            <a:off x="10318246" y="3858251"/>
            <a:ext cx="2719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="" xmlns:a16="http://schemas.microsoft.com/office/drawing/2014/main" id="{466F6746-AB92-4F07-84C5-D86BB87BBBF0}"/>
              </a:ext>
            </a:extLst>
          </p:cNvPr>
          <p:cNvSpPr txBox="1"/>
          <p:nvPr/>
        </p:nvSpPr>
        <p:spPr>
          <a:xfrm>
            <a:off x="8813526" y="3875484"/>
            <a:ext cx="2719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55" name="Arc 54">
            <a:extLst>
              <a:ext uri="{FF2B5EF4-FFF2-40B4-BE49-F238E27FC236}">
                <a16:creationId xmlns="" xmlns:a16="http://schemas.microsoft.com/office/drawing/2014/main" id="{849113FD-8B93-49B4-9FEC-B701B2B20C6B}"/>
              </a:ext>
            </a:extLst>
          </p:cNvPr>
          <p:cNvSpPr/>
          <p:nvPr/>
        </p:nvSpPr>
        <p:spPr>
          <a:xfrm>
            <a:off x="6586120" y="3539957"/>
            <a:ext cx="471227" cy="887105"/>
          </a:xfrm>
          <a:prstGeom prst="arc">
            <a:avLst>
              <a:gd name="adj1" fmla="val 10711483"/>
              <a:gd name="adj2" fmla="val 0"/>
            </a:avLst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="" xmlns:a16="http://schemas.microsoft.com/office/drawing/2014/main" id="{FCEFE45B-CEA6-4498-8008-059E264EE9F2}"/>
              </a:ext>
            </a:extLst>
          </p:cNvPr>
          <p:cNvSpPr txBox="1"/>
          <p:nvPr/>
        </p:nvSpPr>
        <p:spPr>
          <a:xfrm>
            <a:off x="6548410" y="3109287"/>
            <a:ext cx="5657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a/b</a:t>
            </a:r>
          </a:p>
        </p:txBody>
      </p:sp>
      <p:grpSp>
        <p:nvGrpSpPr>
          <p:cNvPr id="57" name="Group 56">
            <a:extLst>
              <a:ext uri="{FF2B5EF4-FFF2-40B4-BE49-F238E27FC236}">
                <a16:creationId xmlns="" xmlns:a16="http://schemas.microsoft.com/office/drawing/2014/main" id="{8D3C0EC3-1E6A-436B-B406-38A549AC7268}"/>
              </a:ext>
            </a:extLst>
          </p:cNvPr>
          <p:cNvGrpSpPr/>
          <p:nvPr/>
        </p:nvGrpSpPr>
        <p:grpSpPr>
          <a:xfrm rot="18867934">
            <a:off x="5867045" y="3049583"/>
            <a:ext cx="369332" cy="1274995"/>
            <a:chOff x="7019630" y="2204898"/>
            <a:chExt cx="369332" cy="1005795"/>
          </a:xfrm>
        </p:grpSpPr>
        <p:sp>
          <p:nvSpPr>
            <p:cNvPr id="58" name="Arrow: Up 57">
              <a:extLst>
                <a:ext uri="{FF2B5EF4-FFF2-40B4-BE49-F238E27FC236}">
                  <a16:creationId xmlns="" xmlns:a16="http://schemas.microsoft.com/office/drawing/2014/main" id="{E93022AA-FD9E-4354-A4A7-DF5F91C23E96}"/>
                </a:ext>
              </a:extLst>
            </p:cNvPr>
            <p:cNvSpPr/>
            <p:nvPr/>
          </p:nvSpPr>
          <p:spPr>
            <a:xfrm rot="10800000">
              <a:off x="7044865" y="2571551"/>
              <a:ext cx="191070" cy="639142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9" name="TextBox 58">
              <a:extLst>
                <a:ext uri="{FF2B5EF4-FFF2-40B4-BE49-F238E27FC236}">
                  <a16:creationId xmlns="" xmlns:a16="http://schemas.microsoft.com/office/drawing/2014/main" id="{BAF74065-B1AC-4D5B-9613-553AA58A4378}"/>
                </a:ext>
              </a:extLst>
            </p:cNvPr>
            <p:cNvSpPr txBox="1"/>
            <p:nvPr/>
          </p:nvSpPr>
          <p:spPr>
            <a:xfrm rot="2732066">
              <a:off x="6923696" y="2300832"/>
              <a:ext cx="5611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CS-1</a:t>
              </a: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="" xmlns:a16="http://schemas.microsoft.com/office/drawing/2014/main" id="{A07A9414-AC5B-4369-AC6A-00609C53E664}"/>
              </a:ext>
            </a:extLst>
          </p:cNvPr>
          <p:cNvGrpSpPr/>
          <p:nvPr/>
        </p:nvGrpSpPr>
        <p:grpSpPr>
          <a:xfrm>
            <a:off x="8010416" y="2734050"/>
            <a:ext cx="686790" cy="1161419"/>
            <a:chOff x="6884230" y="2294494"/>
            <a:chExt cx="686790" cy="916199"/>
          </a:xfrm>
        </p:grpSpPr>
        <p:sp>
          <p:nvSpPr>
            <p:cNvPr id="64" name="Arrow: Up 63">
              <a:extLst>
                <a:ext uri="{FF2B5EF4-FFF2-40B4-BE49-F238E27FC236}">
                  <a16:creationId xmlns="" xmlns:a16="http://schemas.microsoft.com/office/drawing/2014/main" id="{D2C981A1-EDB1-46C9-B578-9C61753C3ADB}"/>
                </a:ext>
              </a:extLst>
            </p:cNvPr>
            <p:cNvSpPr/>
            <p:nvPr/>
          </p:nvSpPr>
          <p:spPr>
            <a:xfrm rot="10800000">
              <a:off x="7044865" y="2571551"/>
              <a:ext cx="191070" cy="639142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5" name="TextBox 64">
              <a:extLst>
                <a:ext uri="{FF2B5EF4-FFF2-40B4-BE49-F238E27FC236}">
                  <a16:creationId xmlns="" xmlns:a16="http://schemas.microsoft.com/office/drawing/2014/main" id="{19C23E79-AF52-4EE2-8B1E-AFA079E785CF}"/>
                </a:ext>
              </a:extLst>
            </p:cNvPr>
            <p:cNvSpPr txBox="1"/>
            <p:nvPr/>
          </p:nvSpPr>
          <p:spPr>
            <a:xfrm>
              <a:off x="6884230" y="2294494"/>
              <a:ext cx="686790" cy="2913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CS-3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098671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149AD530-6C2A-44EA-A853-BAC2857EF1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904" y="858414"/>
            <a:ext cx="4876872" cy="460871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Backtracking is allowed in DFA.</a:t>
            </a:r>
          </a:p>
          <a:p>
            <a:pPr marL="457200" indent="-457200">
              <a:buFont typeface="+mj-lt"/>
              <a:buAutoNum type="arabicPeriod" startAt="3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E7E875E4-C02C-44AD-9251-3D0D7CDF2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26D1DE06-0720-4572-BF37-034426FE1CD7}"/>
              </a:ext>
            </a:extLst>
          </p:cNvPr>
          <p:cNvSpPr txBox="1"/>
          <p:nvPr/>
        </p:nvSpPr>
        <p:spPr>
          <a:xfrm>
            <a:off x="1529669" y="33241"/>
            <a:ext cx="1600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DFA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="" xmlns:a16="http://schemas.microsoft.com/office/drawing/2014/main" id="{E13E761C-7E8C-455A-B10F-FF97B9D81750}"/>
              </a:ext>
            </a:extLst>
          </p:cNvPr>
          <p:cNvGrpSpPr/>
          <p:nvPr/>
        </p:nvGrpSpPr>
        <p:grpSpPr>
          <a:xfrm>
            <a:off x="389769" y="1761566"/>
            <a:ext cx="5586961" cy="1860226"/>
            <a:chOff x="470451" y="2429960"/>
            <a:chExt cx="6403942" cy="1860226"/>
          </a:xfrm>
        </p:grpSpPr>
        <p:sp>
          <p:nvSpPr>
            <p:cNvPr id="8" name="Oval 7">
              <a:extLst>
                <a:ext uri="{FF2B5EF4-FFF2-40B4-BE49-F238E27FC236}">
                  <a16:creationId xmlns="" xmlns:a16="http://schemas.microsoft.com/office/drawing/2014/main" id="{EDD2A173-63F4-4A80-96B9-79D5A7A31D1C}"/>
                </a:ext>
              </a:extLst>
            </p:cNvPr>
            <p:cNvSpPr/>
            <p:nvPr/>
          </p:nvSpPr>
          <p:spPr>
            <a:xfrm>
              <a:off x="1130579" y="3333906"/>
              <a:ext cx="723331" cy="63914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x0</a:t>
              </a: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="" xmlns:a16="http://schemas.microsoft.com/office/drawing/2014/main" id="{B167B8FE-18DA-468D-9F34-C584DF4C213E}"/>
                </a:ext>
              </a:extLst>
            </p:cNvPr>
            <p:cNvCxnSpPr/>
            <p:nvPr/>
          </p:nvCxnSpPr>
          <p:spPr>
            <a:xfrm>
              <a:off x="470451" y="3673964"/>
              <a:ext cx="573062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Oval 9">
              <a:extLst>
                <a:ext uri="{FF2B5EF4-FFF2-40B4-BE49-F238E27FC236}">
                  <a16:creationId xmlns="" xmlns:a16="http://schemas.microsoft.com/office/drawing/2014/main" id="{F032099B-FB70-499B-B9CB-2153679670AF}"/>
                </a:ext>
              </a:extLst>
            </p:cNvPr>
            <p:cNvSpPr/>
            <p:nvPr/>
          </p:nvSpPr>
          <p:spPr>
            <a:xfrm>
              <a:off x="2765510" y="3333906"/>
              <a:ext cx="723331" cy="63914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x1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="" xmlns:a16="http://schemas.microsoft.com/office/drawing/2014/main" id="{A46E03FE-0352-4BA0-94CE-3CBBC1232E6A}"/>
                </a:ext>
              </a:extLst>
            </p:cNvPr>
            <p:cNvSpPr/>
            <p:nvPr/>
          </p:nvSpPr>
          <p:spPr>
            <a:xfrm>
              <a:off x="4400441" y="3307012"/>
              <a:ext cx="723331" cy="63914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x2</a:t>
              </a: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="" xmlns:a16="http://schemas.microsoft.com/office/drawing/2014/main" id="{49347AD5-0329-4828-BEAA-DE17AA128978}"/>
                </a:ext>
              </a:extLst>
            </p:cNvPr>
            <p:cNvGrpSpPr/>
            <p:nvPr/>
          </p:nvGrpSpPr>
          <p:grpSpPr>
            <a:xfrm>
              <a:off x="6035372" y="3170957"/>
              <a:ext cx="839021" cy="802091"/>
              <a:chOff x="10512625" y="1744747"/>
              <a:chExt cx="839021" cy="802091"/>
            </a:xfrm>
          </p:grpSpPr>
          <p:sp>
            <p:nvSpPr>
              <p:cNvPr id="13" name="Oval 12">
                <a:extLst>
                  <a:ext uri="{FF2B5EF4-FFF2-40B4-BE49-F238E27FC236}">
                    <a16:creationId xmlns="" xmlns:a16="http://schemas.microsoft.com/office/drawing/2014/main" id="{06A6A055-73AA-42D4-81CF-0021044FCC67}"/>
                  </a:ext>
                </a:extLst>
              </p:cNvPr>
              <p:cNvSpPr/>
              <p:nvPr/>
            </p:nvSpPr>
            <p:spPr>
              <a:xfrm>
                <a:off x="10512625" y="1744747"/>
                <a:ext cx="839021" cy="802091"/>
              </a:xfrm>
              <a:prstGeom prst="ellips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4" name="Oval 13">
                <a:extLst>
                  <a:ext uri="{FF2B5EF4-FFF2-40B4-BE49-F238E27FC236}">
                    <a16:creationId xmlns="" xmlns:a16="http://schemas.microsoft.com/office/drawing/2014/main" id="{B0C94D19-8E49-4955-8F65-F2A1695D3938}"/>
                  </a:ext>
                </a:extLst>
              </p:cNvPr>
              <p:cNvSpPr/>
              <p:nvPr/>
            </p:nvSpPr>
            <p:spPr>
              <a:xfrm>
                <a:off x="10585318" y="1837172"/>
                <a:ext cx="681980" cy="628192"/>
              </a:xfrm>
              <a:prstGeom prst="ellips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x3</a:t>
                </a:r>
              </a:p>
            </p:txBody>
          </p:sp>
        </p:grpSp>
        <p:cxnSp>
          <p:nvCxnSpPr>
            <p:cNvPr id="15" name="Straight Arrow Connector 14">
              <a:extLst>
                <a:ext uri="{FF2B5EF4-FFF2-40B4-BE49-F238E27FC236}">
                  <a16:creationId xmlns="" xmlns:a16="http://schemas.microsoft.com/office/drawing/2014/main" id="{CF3E0BDF-810B-4F55-B7EA-0389F91D35A4}"/>
                </a:ext>
              </a:extLst>
            </p:cNvPr>
            <p:cNvCxnSpPr/>
            <p:nvPr/>
          </p:nvCxnSpPr>
          <p:spPr>
            <a:xfrm>
              <a:off x="1914097" y="3662038"/>
              <a:ext cx="839021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="" xmlns:a16="http://schemas.microsoft.com/office/drawing/2014/main" id="{21D2F5CA-FBDF-414C-838D-0A9B5FC4430A}"/>
                </a:ext>
              </a:extLst>
            </p:cNvPr>
            <p:cNvCxnSpPr/>
            <p:nvPr/>
          </p:nvCxnSpPr>
          <p:spPr>
            <a:xfrm>
              <a:off x="3534916" y="3639972"/>
              <a:ext cx="839021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="" xmlns:a16="http://schemas.microsoft.com/office/drawing/2014/main" id="{AA1CBC00-C8B1-44E9-8B2A-D774D4C8057E}"/>
                </a:ext>
              </a:extLst>
            </p:cNvPr>
            <p:cNvCxnSpPr/>
            <p:nvPr/>
          </p:nvCxnSpPr>
          <p:spPr>
            <a:xfrm>
              <a:off x="5169847" y="3639972"/>
              <a:ext cx="839021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="" xmlns:a16="http://schemas.microsoft.com/office/drawing/2014/main" id="{7FCBCE34-8F1D-4494-B37C-ABE96FD57666}"/>
                </a:ext>
              </a:extLst>
            </p:cNvPr>
            <p:cNvSpPr txBox="1"/>
            <p:nvPr/>
          </p:nvSpPr>
          <p:spPr>
            <a:xfrm>
              <a:off x="2089212" y="3191812"/>
              <a:ext cx="3117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="" xmlns:a16="http://schemas.microsoft.com/office/drawing/2014/main" id="{CC77AC81-ED5E-47AC-A744-914483C03C0C}"/>
                </a:ext>
              </a:extLst>
            </p:cNvPr>
            <p:cNvSpPr txBox="1"/>
            <p:nvPr/>
          </p:nvSpPr>
          <p:spPr>
            <a:xfrm>
              <a:off x="3697547" y="3212299"/>
              <a:ext cx="3117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="" xmlns:a16="http://schemas.microsoft.com/office/drawing/2014/main" id="{8E3BF89E-56F8-4EB4-AD82-9142DBD6A27C}"/>
                </a:ext>
              </a:extLst>
            </p:cNvPr>
            <p:cNvSpPr txBox="1"/>
            <p:nvPr/>
          </p:nvSpPr>
          <p:spPr>
            <a:xfrm>
              <a:off x="5358816" y="3172033"/>
              <a:ext cx="3117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="" xmlns:a16="http://schemas.microsoft.com/office/drawing/2014/main" id="{A9C0D6FE-F7E5-434B-BABF-3049C2B33D69}"/>
                </a:ext>
              </a:extLst>
            </p:cNvPr>
            <p:cNvGrpSpPr/>
            <p:nvPr/>
          </p:nvGrpSpPr>
          <p:grpSpPr>
            <a:xfrm rot="10370240">
              <a:off x="1185958" y="2890353"/>
              <a:ext cx="540585" cy="887105"/>
              <a:chOff x="1984650" y="2985447"/>
              <a:chExt cx="540585" cy="887105"/>
            </a:xfrm>
          </p:grpSpPr>
          <p:sp>
            <p:nvSpPr>
              <p:cNvPr id="22" name="Arc 21">
                <a:extLst>
                  <a:ext uri="{FF2B5EF4-FFF2-40B4-BE49-F238E27FC236}">
                    <a16:creationId xmlns="" xmlns:a16="http://schemas.microsoft.com/office/drawing/2014/main" id="{177ECB2A-EFAE-4453-93C0-A41752FCEBB3}"/>
                  </a:ext>
                </a:extLst>
              </p:cNvPr>
              <p:cNvSpPr/>
              <p:nvPr/>
            </p:nvSpPr>
            <p:spPr>
              <a:xfrm rot="11054314">
                <a:off x="1985101" y="2985447"/>
                <a:ext cx="540134" cy="887105"/>
              </a:xfrm>
              <a:prstGeom prst="arc">
                <a:avLst>
                  <a:gd name="adj1" fmla="val 10711483"/>
                  <a:gd name="adj2" fmla="val 0"/>
                </a:avLst>
              </a:prstGeom>
              <a:ln w="254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3" name="Straight Arrow Connector 22">
                <a:extLst>
                  <a:ext uri="{FF2B5EF4-FFF2-40B4-BE49-F238E27FC236}">
                    <a16:creationId xmlns="" xmlns:a16="http://schemas.microsoft.com/office/drawing/2014/main" id="{F995BD76-CADF-4733-ACDA-E945D5FED785}"/>
                  </a:ext>
                </a:extLst>
              </p:cNvPr>
              <p:cNvCxnSpPr/>
              <p:nvPr/>
            </p:nvCxnSpPr>
            <p:spPr>
              <a:xfrm rot="11054314">
                <a:off x="1984650" y="3331902"/>
                <a:ext cx="0" cy="95534"/>
              </a:xfrm>
              <a:prstGeom prst="straightConnector1">
                <a:avLst/>
              </a:prstGeom>
              <a:ln w="25400">
                <a:solidFill>
                  <a:schemeClr val="bg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4" name="TextBox 23">
              <a:extLst>
                <a:ext uri="{FF2B5EF4-FFF2-40B4-BE49-F238E27FC236}">
                  <a16:creationId xmlns="" xmlns:a16="http://schemas.microsoft.com/office/drawing/2014/main" id="{9FF65C04-6E36-440B-8DB3-19D0DD25E1D5}"/>
                </a:ext>
              </a:extLst>
            </p:cNvPr>
            <p:cNvSpPr txBox="1"/>
            <p:nvPr/>
          </p:nvSpPr>
          <p:spPr>
            <a:xfrm>
              <a:off x="1180516" y="2457327"/>
              <a:ext cx="3117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  <p:grpSp>
          <p:nvGrpSpPr>
            <p:cNvPr id="25" name="Group 24">
              <a:extLst>
                <a:ext uri="{FF2B5EF4-FFF2-40B4-BE49-F238E27FC236}">
                  <a16:creationId xmlns="" xmlns:a16="http://schemas.microsoft.com/office/drawing/2014/main" id="{95283B76-D290-48F4-882C-4B73696475FC}"/>
                </a:ext>
              </a:extLst>
            </p:cNvPr>
            <p:cNvGrpSpPr/>
            <p:nvPr/>
          </p:nvGrpSpPr>
          <p:grpSpPr>
            <a:xfrm rot="10370240">
              <a:off x="2836093" y="2873340"/>
              <a:ext cx="540585" cy="887105"/>
              <a:chOff x="1984650" y="2985447"/>
              <a:chExt cx="540585" cy="887105"/>
            </a:xfrm>
          </p:grpSpPr>
          <p:sp>
            <p:nvSpPr>
              <p:cNvPr id="26" name="Arc 25">
                <a:extLst>
                  <a:ext uri="{FF2B5EF4-FFF2-40B4-BE49-F238E27FC236}">
                    <a16:creationId xmlns="" xmlns:a16="http://schemas.microsoft.com/office/drawing/2014/main" id="{43BB7691-F2E4-46BF-906F-C4CCEF7D55D9}"/>
                  </a:ext>
                </a:extLst>
              </p:cNvPr>
              <p:cNvSpPr/>
              <p:nvPr/>
            </p:nvSpPr>
            <p:spPr>
              <a:xfrm rot="11054314">
                <a:off x="1985101" y="2985447"/>
                <a:ext cx="540134" cy="887105"/>
              </a:xfrm>
              <a:prstGeom prst="arc">
                <a:avLst>
                  <a:gd name="adj1" fmla="val 10711483"/>
                  <a:gd name="adj2" fmla="val 0"/>
                </a:avLst>
              </a:prstGeom>
              <a:ln w="254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7" name="Straight Arrow Connector 26">
                <a:extLst>
                  <a:ext uri="{FF2B5EF4-FFF2-40B4-BE49-F238E27FC236}">
                    <a16:creationId xmlns="" xmlns:a16="http://schemas.microsoft.com/office/drawing/2014/main" id="{7D03CC14-B08B-467F-A77E-2F642111408F}"/>
                  </a:ext>
                </a:extLst>
              </p:cNvPr>
              <p:cNvCxnSpPr/>
              <p:nvPr/>
            </p:nvCxnSpPr>
            <p:spPr>
              <a:xfrm rot="11054314">
                <a:off x="1984650" y="3331902"/>
                <a:ext cx="0" cy="95534"/>
              </a:xfrm>
              <a:prstGeom prst="straightConnector1">
                <a:avLst/>
              </a:prstGeom>
              <a:ln w="25400">
                <a:solidFill>
                  <a:schemeClr val="bg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8" name="TextBox 27">
              <a:extLst>
                <a:ext uri="{FF2B5EF4-FFF2-40B4-BE49-F238E27FC236}">
                  <a16:creationId xmlns="" xmlns:a16="http://schemas.microsoft.com/office/drawing/2014/main" id="{624BB0EE-6A5B-4B02-82D4-235316C7D61D}"/>
                </a:ext>
              </a:extLst>
            </p:cNvPr>
            <p:cNvSpPr txBox="1"/>
            <p:nvPr/>
          </p:nvSpPr>
          <p:spPr>
            <a:xfrm>
              <a:off x="2906302" y="2429960"/>
              <a:ext cx="3117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29" name="Arrow: Curved Down 28">
              <a:extLst>
                <a:ext uri="{FF2B5EF4-FFF2-40B4-BE49-F238E27FC236}">
                  <a16:creationId xmlns="" xmlns:a16="http://schemas.microsoft.com/office/drawing/2014/main" id="{941EC0F0-A84F-48C9-87D0-10CEDCA8CD61}"/>
                </a:ext>
              </a:extLst>
            </p:cNvPr>
            <p:cNvSpPr/>
            <p:nvPr/>
          </p:nvSpPr>
          <p:spPr>
            <a:xfrm rot="10800000">
              <a:off x="1659826" y="3958135"/>
              <a:ext cx="2908196" cy="256814"/>
            </a:xfrm>
            <a:prstGeom prst="curvedDownArrow">
              <a:avLst>
                <a:gd name="adj1" fmla="val 11615"/>
                <a:gd name="adj2" fmla="val 50000"/>
                <a:gd name="adj3" fmla="val 25000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="" xmlns:a16="http://schemas.microsoft.com/office/drawing/2014/main" id="{4ED6617C-6176-4E5A-97A8-7060AB131E68}"/>
                </a:ext>
              </a:extLst>
            </p:cNvPr>
            <p:cNvSpPr txBox="1"/>
            <p:nvPr/>
          </p:nvSpPr>
          <p:spPr>
            <a:xfrm>
              <a:off x="3306612" y="3828521"/>
              <a:ext cx="3117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31" name="Arrow: Curved Down 30">
              <a:extLst>
                <a:ext uri="{FF2B5EF4-FFF2-40B4-BE49-F238E27FC236}">
                  <a16:creationId xmlns="" xmlns:a16="http://schemas.microsoft.com/office/drawing/2014/main" id="{164BCBA0-BA6D-4830-A4C7-0273A3ACF31A}"/>
                </a:ext>
              </a:extLst>
            </p:cNvPr>
            <p:cNvSpPr/>
            <p:nvPr/>
          </p:nvSpPr>
          <p:spPr>
            <a:xfrm rot="10800000">
              <a:off x="5046391" y="3906855"/>
              <a:ext cx="1049609" cy="203318"/>
            </a:xfrm>
            <a:prstGeom prst="curvedDownArrow">
              <a:avLst>
                <a:gd name="adj1" fmla="val 11615"/>
                <a:gd name="adj2" fmla="val 50000"/>
                <a:gd name="adj3" fmla="val 25000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="" xmlns:a16="http://schemas.microsoft.com/office/drawing/2014/main" id="{D1B5F6D8-B479-4A51-8B85-C90FEF56C3B4}"/>
                </a:ext>
              </a:extLst>
            </p:cNvPr>
            <p:cNvSpPr txBox="1"/>
            <p:nvPr/>
          </p:nvSpPr>
          <p:spPr>
            <a:xfrm>
              <a:off x="5418452" y="3735245"/>
              <a:ext cx="3117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33" name="Arrow: Curved Up 32">
              <a:extLst>
                <a:ext uri="{FF2B5EF4-FFF2-40B4-BE49-F238E27FC236}">
                  <a16:creationId xmlns="" xmlns:a16="http://schemas.microsoft.com/office/drawing/2014/main" id="{883BCDAA-DF6B-4CE1-A7DF-CEA9CF6A7531}"/>
                </a:ext>
              </a:extLst>
            </p:cNvPr>
            <p:cNvSpPr/>
            <p:nvPr/>
          </p:nvSpPr>
          <p:spPr>
            <a:xfrm rot="10601653">
              <a:off x="3340408" y="2885646"/>
              <a:ext cx="2898449" cy="392783"/>
            </a:xfrm>
            <a:prstGeom prst="curvedUpArrow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="" xmlns:a16="http://schemas.microsoft.com/office/drawing/2014/main" id="{C5839F56-250D-47CC-877C-BC0884BC986F}"/>
                </a:ext>
              </a:extLst>
            </p:cNvPr>
            <p:cNvSpPr txBox="1"/>
            <p:nvPr/>
          </p:nvSpPr>
          <p:spPr>
            <a:xfrm>
              <a:off x="4689579" y="2463044"/>
              <a:ext cx="3117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</p:grpSp>
      <p:sp>
        <p:nvSpPr>
          <p:cNvPr id="35" name="Content Placeholder 2">
            <a:extLst>
              <a:ext uri="{FF2B5EF4-FFF2-40B4-BE49-F238E27FC236}">
                <a16:creationId xmlns="" xmlns:a16="http://schemas.microsoft.com/office/drawing/2014/main" id="{F97922DE-7782-4701-9A67-30B071D7E716}"/>
              </a:ext>
            </a:extLst>
          </p:cNvPr>
          <p:cNvSpPr txBox="1">
            <a:spLocks/>
          </p:cNvSpPr>
          <p:nvPr/>
        </p:nvSpPr>
        <p:spPr>
          <a:xfrm>
            <a:off x="5373287" y="786600"/>
            <a:ext cx="4565144" cy="52848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457200" indent="-457200">
              <a:buFont typeface="+mj-lt"/>
              <a:buAutoNum type="arabicPeriod" startAt="3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NDFA, backtracking is not always possible.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="" xmlns:a16="http://schemas.microsoft.com/office/drawing/2014/main" id="{B34E8F8C-167C-49A9-BB01-50B5E361FCC7}"/>
              </a:ext>
            </a:extLst>
          </p:cNvPr>
          <p:cNvSpPr txBox="1"/>
          <p:nvPr/>
        </p:nvSpPr>
        <p:spPr>
          <a:xfrm>
            <a:off x="6855759" y="0"/>
            <a:ext cx="1600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NDFA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="" xmlns:a16="http://schemas.microsoft.com/office/drawing/2014/main" id="{CD207AB7-FD5D-45DA-A74B-31F2314C78DA}"/>
              </a:ext>
            </a:extLst>
          </p:cNvPr>
          <p:cNvSpPr txBox="1"/>
          <p:nvPr/>
        </p:nvSpPr>
        <p:spPr>
          <a:xfrm>
            <a:off x="645082" y="1255327"/>
            <a:ext cx="476304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All words that ends with aba.</a:t>
            </a:r>
            <a:endParaRPr lang="en-US" sz="2200" dirty="0"/>
          </a:p>
        </p:txBody>
      </p:sp>
      <p:sp>
        <p:nvSpPr>
          <p:cNvPr id="38" name="TextBox 37">
            <a:extLst>
              <a:ext uri="{FF2B5EF4-FFF2-40B4-BE49-F238E27FC236}">
                <a16:creationId xmlns="" xmlns:a16="http://schemas.microsoft.com/office/drawing/2014/main" id="{F98FFA43-7618-4602-828A-9E9802F87148}"/>
              </a:ext>
            </a:extLst>
          </p:cNvPr>
          <p:cNvSpPr txBox="1"/>
          <p:nvPr/>
        </p:nvSpPr>
        <p:spPr>
          <a:xfrm>
            <a:off x="5793306" y="1470770"/>
            <a:ext cx="4763046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All words that ends with aba.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</a:t>
            </a:r>
            <a:r>
              <a:rPr lang="en-US" sz="3600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aba</a:t>
            </a:r>
            <a:endParaRPr lang="en-US" sz="3600" dirty="0"/>
          </a:p>
        </p:txBody>
      </p:sp>
      <p:sp>
        <p:nvSpPr>
          <p:cNvPr id="39" name="Oval 38">
            <a:extLst>
              <a:ext uri="{FF2B5EF4-FFF2-40B4-BE49-F238E27FC236}">
                <a16:creationId xmlns="" xmlns:a16="http://schemas.microsoft.com/office/drawing/2014/main" id="{C04827AB-DD9A-4ED6-85A1-B6B5EA8D74CE}"/>
              </a:ext>
            </a:extLst>
          </p:cNvPr>
          <p:cNvSpPr/>
          <p:nvPr/>
        </p:nvSpPr>
        <p:spPr>
          <a:xfrm>
            <a:off x="6486746" y="3963569"/>
            <a:ext cx="697006" cy="712694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x0</a:t>
            </a:r>
          </a:p>
        </p:txBody>
      </p:sp>
      <p:sp>
        <p:nvSpPr>
          <p:cNvPr id="40" name="Oval 39">
            <a:extLst>
              <a:ext uri="{FF2B5EF4-FFF2-40B4-BE49-F238E27FC236}">
                <a16:creationId xmlns="" xmlns:a16="http://schemas.microsoft.com/office/drawing/2014/main" id="{CA0A025A-21AA-4275-B28C-53DF98FBBD62}"/>
              </a:ext>
            </a:extLst>
          </p:cNvPr>
          <p:cNvSpPr/>
          <p:nvPr/>
        </p:nvSpPr>
        <p:spPr>
          <a:xfrm>
            <a:off x="7941653" y="3950317"/>
            <a:ext cx="697006" cy="712694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x1</a:t>
            </a:r>
          </a:p>
        </p:txBody>
      </p:sp>
      <p:sp>
        <p:nvSpPr>
          <p:cNvPr id="41" name="Oval 40">
            <a:extLst>
              <a:ext uri="{FF2B5EF4-FFF2-40B4-BE49-F238E27FC236}">
                <a16:creationId xmlns="" xmlns:a16="http://schemas.microsoft.com/office/drawing/2014/main" id="{232661FD-3231-48C1-A2C5-6DC574BF9AAE}"/>
              </a:ext>
            </a:extLst>
          </p:cNvPr>
          <p:cNvSpPr/>
          <p:nvPr/>
        </p:nvSpPr>
        <p:spPr>
          <a:xfrm>
            <a:off x="9411634" y="3937065"/>
            <a:ext cx="697006" cy="712694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x2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="" xmlns:a16="http://schemas.microsoft.com/office/drawing/2014/main" id="{C3D49387-B6BD-4C8C-8B72-4994398480E7}"/>
              </a:ext>
            </a:extLst>
          </p:cNvPr>
          <p:cNvCxnSpPr/>
          <p:nvPr/>
        </p:nvCxnSpPr>
        <p:spPr>
          <a:xfrm>
            <a:off x="5989984" y="4319916"/>
            <a:ext cx="48354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6" name="Group 45">
            <a:extLst>
              <a:ext uri="{FF2B5EF4-FFF2-40B4-BE49-F238E27FC236}">
                <a16:creationId xmlns="" xmlns:a16="http://schemas.microsoft.com/office/drawing/2014/main" id="{B1BA9B08-4F24-41E4-BBCB-8849CA4AEFEC}"/>
              </a:ext>
            </a:extLst>
          </p:cNvPr>
          <p:cNvGrpSpPr/>
          <p:nvPr/>
        </p:nvGrpSpPr>
        <p:grpSpPr>
          <a:xfrm>
            <a:off x="10899171" y="3875484"/>
            <a:ext cx="803344" cy="835855"/>
            <a:chOff x="5184749" y="4682255"/>
            <a:chExt cx="803344" cy="835855"/>
          </a:xfrm>
        </p:grpSpPr>
        <p:sp>
          <p:nvSpPr>
            <p:cNvPr id="44" name="Oval 43">
              <a:extLst>
                <a:ext uri="{FF2B5EF4-FFF2-40B4-BE49-F238E27FC236}">
                  <a16:creationId xmlns="" xmlns:a16="http://schemas.microsoft.com/office/drawing/2014/main" id="{8F9CDE5C-96FF-4D40-8E35-EF044400A0D6}"/>
                </a:ext>
              </a:extLst>
            </p:cNvPr>
            <p:cNvSpPr/>
            <p:nvPr/>
          </p:nvSpPr>
          <p:spPr>
            <a:xfrm>
              <a:off x="5184749" y="4682255"/>
              <a:ext cx="803344" cy="835855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5" name="Oval 44">
              <a:extLst>
                <a:ext uri="{FF2B5EF4-FFF2-40B4-BE49-F238E27FC236}">
                  <a16:creationId xmlns="" xmlns:a16="http://schemas.microsoft.com/office/drawing/2014/main" id="{3F768F3B-81D9-4CAF-AF6E-D9F095B52C67}"/>
                </a:ext>
              </a:extLst>
            </p:cNvPr>
            <p:cNvSpPr/>
            <p:nvPr/>
          </p:nvSpPr>
          <p:spPr>
            <a:xfrm>
              <a:off x="5241993" y="4745149"/>
              <a:ext cx="697006" cy="712694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x3</a:t>
              </a:r>
            </a:p>
          </p:txBody>
        </p:sp>
      </p:grpSp>
      <p:cxnSp>
        <p:nvCxnSpPr>
          <p:cNvPr id="47" name="Straight Arrow Connector 46">
            <a:extLst>
              <a:ext uri="{FF2B5EF4-FFF2-40B4-BE49-F238E27FC236}">
                <a16:creationId xmlns="" xmlns:a16="http://schemas.microsoft.com/office/drawing/2014/main" id="{70450A69-B259-4D3C-979E-FA0A2CFE43C1}"/>
              </a:ext>
            </a:extLst>
          </p:cNvPr>
          <p:cNvCxnSpPr/>
          <p:nvPr/>
        </p:nvCxnSpPr>
        <p:spPr>
          <a:xfrm>
            <a:off x="8665163" y="4293412"/>
            <a:ext cx="731983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="" xmlns:a16="http://schemas.microsoft.com/office/drawing/2014/main" id="{E925179F-02E3-405F-935C-31689533E68E}"/>
              </a:ext>
            </a:extLst>
          </p:cNvPr>
          <p:cNvCxnSpPr/>
          <p:nvPr/>
        </p:nvCxnSpPr>
        <p:spPr>
          <a:xfrm>
            <a:off x="7210256" y="4306664"/>
            <a:ext cx="731983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="" xmlns:a16="http://schemas.microsoft.com/office/drawing/2014/main" id="{30719D9B-9EE0-4E4C-9F3C-DAE990982348}"/>
              </a:ext>
            </a:extLst>
          </p:cNvPr>
          <p:cNvCxnSpPr/>
          <p:nvPr/>
        </p:nvCxnSpPr>
        <p:spPr>
          <a:xfrm>
            <a:off x="10157495" y="4286152"/>
            <a:ext cx="731983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="" xmlns:a16="http://schemas.microsoft.com/office/drawing/2014/main" id="{DAD597C4-9FEB-467A-9A23-42F3D849E432}"/>
              </a:ext>
            </a:extLst>
          </p:cNvPr>
          <p:cNvSpPr txBox="1"/>
          <p:nvPr/>
        </p:nvSpPr>
        <p:spPr>
          <a:xfrm>
            <a:off x="7323732" y="3858527"/>
            <a:ext cx="2719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="" xmlns:a16="http://schemas.microsoft.com/office/drawing/2014/main" id="{82B3A5BA-A96E-47A4-9B2A-8E43F1CDC92F}"/>
              </a:ext>
            </a:extLst>
          </p:cNvPr>
          <p:cNvSpPr txBox="1"/>
          <p:nvPr/>
        </p:nvSpPr>
        <p:spPr>
          <a:xfrm>
            <a:off x="10318246" y="3858251"/>
            <a:ext cx="2719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="" xmlns:a16="http://schemas.microsoft.com/office/drawing/2014/main" id="{466F6746-AB92-4F07-84C5-D86BB87BBBF0}"/>
              </a:ext>
            </a:extLst>
          </p:cNvPr>
          <p:cNvSpPr txBox="1"/>
          <p:nvPr/>
        </p:nvSpPr>
        <p:spPr>
          <a:xfrm>
            <a:off x="8813526" y="3875484"/>
            <a:ext cx="2719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55" name="Arc 54">
            <a:extLst>
              <a:ext uri="{FF2B5EF4-FFF2-40B4-BE49-F238E27FC236}">
                <a16:creationId xmlns="" xmlns:a16="http://schemas.microsoft.com/office/drawing/2014/main" id="{849113FD-8B93-49B4-9FEC-B701B2B20C6B}"/>
              </a:ext>
            </a:extLst>
          </p:cNvPr>
          <p:cNvSpPr/>
          <p:nvPr/>
        </p:nvSpPr>
        <p:spPr>
          <a:xfrm>
            <a:off x="6586120" y="3539957"/>
            <a:ext cx="471227" cy="887105"/>
          </a:xfrm>
          <a:prstGeom prst="arc">
            <a:avLst>
              <a:gd name="adj1" fmla="val 10711483"/>
              <a:gd name="adj2" fmla="val 0"/>
            </a:avLst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="" xmlns:a16="http://schemas.microsoft.com/office/drawing/2014/main" id="{FCEFE45B-CEA6-4498-8008-059E264EE9F2}"/>
              </a:ext>
            </a:extLst>
          </p:cNvPr>
          <p:cNvSpPr txBox="1"/>
          <p:nvPr/>
        </p:nvSpPr>
        <p:spPr>
          <a:xfrm>
            <a:off x="6548410" y="3109287"/>
            <a:ext cx="5657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a/b</a:t>
            </a:r>
          </a:p>
        </p:txBody>
      </p:sp>
      <p:grpSp>
        <p:nvGrpSpPr>
          <p:cNvPr id="57" name="Group 56">
            <a:extLst>
              <a:ext uri="{FF2B5EF4-FFF2-40B4-BE49-F238E27FC236}">
                <a16:creationId xmlns="" xmlns:a16="http://schemas.microsoft.com/office/drawing/2014/main" id="{8D3C0EC3-1E6A-436B-B406-38A549AC7268}"/>
              </a:ext>
            </a:extLst>
          </p:cNvPr>
          <p:cNvGrpSpPr/>
          <p:nvPr/>
        </p:nvGrpSpPr>
        <p:grpSpPr>
          <a:xfrm rot="18867934">
            <a:off x="5867045" y="3049583"/>
            <a:ext cx="369332" cy="1274995"/>
            <a:chOff x="7019630" y="2204898"/>
            <a:chExt cx="369332" cy="1005795"/>
          </a:xfrm>
        </p:grpSpPr>
        <p:sp>
          <p:nvSpPr>
            <p:cNvPr id="58" name="Arrow: Up 57">
              <a:extLst>
                <a:ext uri="{FF2B5EF4-FFF2-40B4-BE49-F238E27FC236}">
                  <a16:creationId xmlns="" xmlns:a16="http://schemas.microsoft.com/office/drawing/2014/main" id="{E93022AA-FD9E-4354-A4A7-DF5F91C23E96}"/>
                </a:ext>
              </a:extLst>
            </p:cNvPr>
            <p:cNvSpPr/>
            <p:nvPr/>
          </p:nvSpPr>
          <p:spPr>
            <a:xfrm rot="10800000">
              <a:off x="7044865" y="2571551"/>
              <a:ext cx="191070" cy="639142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9" name="TextBox 58">
              <a:extLst>
                <a:ext uri="{FF2B5EF4-FFF2-40B4-BE49-F238E27FC236}">
                  <a16:creationId xmlns="" xmlns:a16="http://schemas.microsoft.com/office/drawing/2014/main" id="{BAF74065-B1AC-4D5B-9613-553AA58A4378}"/>
                </a:ext>
              </a:extLst>
            </p:cNvPr>
            <p:cNvSpPr txBox="1"/>
            <p:nvPr/>
          </p:nvSpPr>
          <p:spPr>
            <a:xfrm rot="2732066">
              <a:off x="6923696" y="2300832"/>
              <a:ext cx="5611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CS-1</a:t>
              </a: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="" xmlns:a16="http://schemas.microsoft.com/office/drawing/2014/main" id="{A07A9414-AC5B-4369-AC6A-00609C53E664}"/>
              </a:ext>
            </a:extLst>
          </p:cNvPr>
          <p:cNvGrpSpPr/>
          <p:nvPr/>
        </p:nvGrpSpPr>
        <p:grpSpPr>
          <a:xfrm>
            <a:off x="9477490" y="2723944"/>
            <a:ext cx="686790" cy="1161419"/>
            <a:chOff x="6884230" y="2294494"/>
            <a:chExt cx="686790" cy="916199"/>
          </a:xfrm>
        </p:grpSpPr>
        <p:sp>
          <p:nvSpPr>
            <p:cNvPr id="64" name="Arrow: Up 63">
              <a:extLst>
                <a:ext uri="{FF2B5EF4-FFF2-40B4-BE49-F238E27FC236}">
                  <a16:creationId xmlns="" xmlns:a16="http://schemas.microsoft.com/office/drawing/2014/main" id="{D2C981A1-EDB1-46C9-B578-9C61753C3ADB}"/>
                </a:ext>
              </a:extLst>
            </p:cNvPr>
            <p:cNvSpPr/>
            <p:nvPr/>
          </p:nvSpPr>
          <p:spPr>
            <a:xfrm rot="10800000">
              <a:off x="7044865" y="2571551"/>
              <a:ext cx="191070" cy="639142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5" name="TextBox 64">
              <a:extLst>
                <a:ext uri="{FF2B5EF4-FFF2-40B4-BE49-F238E27FC236}">
                  <a16:creationId xmlns="" xmlns:a16="http://schemas.microsoft.com/office/drawing/2014/main" id="{19C23E79-AF52-4EE2-8B1E-AFA079E785CF}"/>
                </a:ext>
              </a:extLst>
            </p:cNvPr>
            <p:cNvSpPr txBox="1"/>
            <p:nvPr/>
          </p:nvSpPr>
          <p:spPr>
            <a:xfrm>
              <a:off x="6884230" y="2294494"/>
              <a:ext cx="686790" cy="2913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CS-3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170537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149AD530-6C2A-44EA-A853-BAC2857EF1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904" y="858414"/>
            <a:ext cx="4876872" cy="460871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Backtracking is allowed in DFA.</a:t>
            </a:r>
          </a:p>
          <a:p>
            <a:pPr marL="457200" indent="-457200">
              <a:buFont typeface="+mj-lt"/>
              <a:buAutoNum type="arabicPeriod" startAt="3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E7E875E4-C02C-44AD-9251-3D0D7CDF2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26D1DE06-0720-4572-BF37-034426FE1CD7}"/>
              </a:ext>
            </a:extLst>
          </p:cNvPr>
          <p:cNvSpPr txBox="1"/>
          <p:nvPr/>
        </p:nvSpPr>
        <p:spPr>
          <a:xfrm>
            <a:off x="1529669" y="33241"/>
            <a:ext cx="1600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DFA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="" xmlns:a16="http://schemas.microsoft.com/office/drawing/2014/main" id="{E13E761C-7E8C-455A-B10F-FF97B9D81750}"/>
              </a:ext>
            </a:extLst>
          </p:cNvPr>
          <p:cNvGrpSpPr/>
          <p:nvPr/>
        </p:nvGrpSpPr>
        <p:grpSpPr>
          <a:xfrm>
            <a:off x="389769" y="1761566"/>
            <a:ext cx="5586961" cy="1860226"/>
            <a:chOff x="470451" y="2429960"/>
            <a:chExt cx="6403942" cy="1860226"/>
          </a:xfrm>
        </p:grpSpPr>
        <p:sp>
          <p:nvSpPr>
            <p:cNvPr id="8" name="Oval 7">
              <a:extLst>
                <a:ext uri="{FF2B5EF4-FFF2-40B4-BE49-F238E27FC236}">
                  <a16:creationId xmlns="" xmlns:a16="http://schemas.microsoft.com/office/drawing/2014/main" id="{EDD2A173-63F4-4A80-96B9-79D5A7A31D1C}"/>
                </a:ext>
              </a:extLst>
            </p:cNvPr>
            <p:cNvSpPr/>
            <p:nvPr/>
          </p:nvSpPr>
          <p:spPr>
            <a:xfrm>
              <a:off x="1130579" y="3333906"/>
              <a:ext cx="723331" cy="63914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x0</a:t>
              </a: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="" xmlns:a16="http://schemas.microsoft.com/office/drawing/2014/main" id="{B167B8FE-18DA-468D-9F34-C584DF4C213E}"/>
                </a:ext>
              </a:extLst>
            </p:cNvPr>
            <p:cNvCxnSpPr/>
            <p:nvPr/>
          </p:nvCxnSpPr>
          <p:spPr>
            <a:xfrm>
              <a:off x="470451" y="3673964"/>
              <a:ext cx="573062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Oval 9">
              <a:extLst>
                <a:ext uri="{FF2B5EF4-FFF2-40B4-BE49-F238E27FC236}">
                  <a16:creationId xmlns="" xmlns:a16="http://schemas.microsoft.com/office/drawing/2014/main" id="{F032099B-FB70-499B-B9CB-2153679670AF}"/>
                </a:ext>
              </a:extLst>
            </p:cNvPr>
            <p:cNvSpPr/>
            <p:nvPr/>
          </p:nvSpPr>
          <p:spPr>
            <a:xfrm>
              <a:off x="2765510" y="3333906"/>
              <a:ext cx="723331" cy="63914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x1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="" xmlns:a16="http://schemas.microsoft.com/office/drawing/2014/main" id="{A46E03FE-0352-4BA0-94CE-3CBBC1232E6A}"/>
                </a:ext>
              </a:extLst>
            </p:cNvPr>
            <p:cNvSpPr/>
            <p:nvPr/>
          </p:nvSpPr>
          <p:spPr>
            <a:xfrm>
              <a:off x="4400441" y="3307012"/>
              <a:ext cx="723331" cy="63914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x2</a:t>
              </a: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="" xmlns:a16="http://schemas.microsoft.com/office/drawing/2014/main" id="{49347AD5-0329-4828-BEAA-DE17AA128978}"/>
                </a:ext>
              </a:extLst>
            </p:cNvPr>
            <p:cNvGrpSpPr/>
            <p:nvPr/>
          </p:nvGrpSpPr>
          <p:grpSpPr>
            <a:xfrm>
              <a:off x="6035372" y="3170957"/>
              <a:ext cx="839021" cy="802091"/>
              <a:chOff x="10512625" y="1744747"/>
              <a:chExt cx="839021" cy="802091"/>
            </a:xfrm>
          </p:grpSpPr>
          <p:sp>
            <p:nvSpPr>
              <p:cNvPr id="13" name="Oval 12">
                <a:extLst>
                  <a:ext uri="{FF2B5EF4-FFF2-40B4-BE49-F238E27FC236}">
                    <a16:creationId xmlns="" xmlns:a16="http://schemas.microsoft.com/office/drawing/2014/main" id="{06A6A055-73AA-42D4-81CF-0021044FCC67}"/>
                  </a:ext>
                </a:extLst>
              </p:cNvPr>
              <p:cNvSpPr/>
              <p:nvPr/>
            </p:nvSpPr>
            <p:spPr>
              <a:xfrm>
                <a:off x="10512625" y="1744747"/>
                <a:ext cx="839021" cy="802091"/>
              </a:xfrm>
              <a:prstGeom prst="ellips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4" name="Oval 13">
                <a:extLst>
                  <a:ext uri="{FF2B5EF4-FFF2-40B4-BE49-F238E27FC236}">
                    <a16:creationId xmlns="" xmlns:a16="http://schemas.microsoft.com/office/drawing/2014/main" id="{B0C94D19-8E49-4955-8F65-F2A1695D3938}"/>
                  </a:ext>
                </a:extLst>
              </p:cNvPr>
              <p:cNvSpPr/>
              <p:nvPr/>
            </p:nvSpPr>
            <p:spPr>
              <a:xfrm>
                <a:off x="10585318" y="1837172"/>
                <a:ext cx="681980" cy="628192"/>
              </a:xfrm>
              <a:prstGeom prst="ellips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x3</a:t>
                </a:r>
              </a:p>
            </p:txBody>
          </p:sp>
        </p:grpSp>
        <p:cxnSp>
          <p:nvCxnSpPr>
            <p:cNvPr id="15" name="Straight Arrow Connector 14">
              <a:extLst>
                <a:ext uri="{FF2B5EF4-FFF2-40B4-BE49-F238E27FC236}">
                  <a16:creationId xmlns="" xmlns:a16="http://schemas.microsoft.com/office/drawing/2014/main" id="{CF3E0BDF-810B-4F55-B7EA-0389F91D35A4}"/>
                </a:ext>
              </a:extLst>
            </p:cNvPr>
            <p:cNvCxnSpPr/>
            <p:nvPr/>
          </p:nvCxnSpPr>
          <p:spPr>
            <a:xfrm>
              <a:off x="1914097" y="3662038"/>
              <a:ext cx="839021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="" xmlns:a16="http://schemas.microsoft.com/office/drawing/2014/main" id="{21D2F5CA-FBDF-414C-838D-0A9B5FC4430A}"/>
                </a:ext>
              </a:extLst>
            </p:cNvPr>
            <p:cNvCxnSpPr/>
            <p:nvPr/>
          </p:nvCxnSpPr>
          <p:spPr>
            <a:xfrm>
              <a:off x="3534916" y="3639972"/>
              <a:ext cx="839021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="" xmlns:a16="http://schemas.microsoft.com/office/drawing/2014/main" id="{AA1CBC00-C8B1-44E9-8B2A-D774D4C8057E}"/>
                </a:ext>
              </a:extLst>
            </p:cNvPr>
            <p:cNvCxnSpPr/>
            <p:nvPr/>
          </p:nvCxnSpPr>
          <p:spPr>
            <a:xfrm>
              <a:off x="5169847" y="3639972"/>
              <a:ext cx="839021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="" xmlns:a16="http://schemas.microsoft.com/office/drawing/2014/main" id="{7FCBCE34-8F1D-4494-B37C-ABE96FD57666}"/>
                </a:ext>
              </a:extLst>
            </p:cNvPr>
            <p:cNvSpPr txBox="1"/>
            <p:nvPr/>
          </p:nvSpPr>
          <p:spPr>
            <a:xfrm>
              <a:off x="2089212" y="3191812"/>
              <a:ext cx="3117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="" xmlns:a16="http://schemas.microsoft.com/office/drawing/2014/main" id="{CC77AC81-ED5E-47AC-A744-914483C03C0C}"/>
                </a:ext>
              </a:extLst>
            </p:cNvPr>
            <p:cNvSpPr txBox="1"/>
            <p:nvPr/>
          </p:nvSpPr>
          <p:spPr>
            <a:xfrm>
              <a:off x="3697547" y="3212299"/>
              <a:ext cx="3117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="" xmlns:a16="http://schemas.microsoft.com/office/drawing/2014/main" id="{8E3BF89E-56F8-4EB4-AD82-9142DBD6A27C}"/>
                </a:ext>
              </a:extLst>
            </p:cNvPr>
            <p:cNvSpPr txBox="1"/>
            <p:nvPr/>
          </p:nvSpPr>
          <p:spPr>
            <a:xfrm>
              <a:off x="5358816" y="3172033"/>
              <a:ext cx="3117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="" xmlns:a16="http://schemas.microsoft.com/office/drawing/2014/main" id="{A9C0D6FE-F7E5-434B-BABF-3049C2B33D69}"/>
                </a:ext>
              </a:extLst>
            </p:cNvPr>
            <p:cNvGrpSpPr/>
            <p:nvPr/>
          </p:nvGrpSpPr>
          <p:grpSpPr>
            <a:xfrm rot="10370240">
              <a:off x="1185958" y="2890353"/>
              <a:ext cx="540585" cy="887105"/>
              <a:chOff x="1984650" y="2985447"/>
              <a:chExt cx="540585" cy="887105"/>
            </a:xfrm>
          </p:grpSpPr>
          <p:sp>
            <p:nvSpPr>
              <p:cNvPr id="22" name="Arc 21">
                <a:extLst>
                  <a:ext uri="{FF2B5EF4-FFF2-40B4-BE49-F238E27FC236}">
                    <a16:creationId xmlns="" xmlns:a16="http://schemas.microsoft.com/office/drawing/2014/main" id="{177ECB2A-EFAE-4453-93C0-A41752FCEBB3}"/>
                  </a:ext>
                </a:extLst>
              </p:cNvPr>
              <p:cNvSpPr/>
              <p:nvPr/>
            </p:nvSpPr>
            <p:spPr>
              <a:xfrm rot="11054314">
                <a:off x="1985101" y="2985447"/>
                <a:ext cx="540134" cy="887105"/>
              </a:xfrm>
              <a:prstGeom prst="arc">
                <a:avLst>
                  <a:gd name="adj1" fmla="val 10711483"/>
                  <a:gd name="adj2" fmla="val 0"/>
                </a:avLst>
              </a:prstGeom>
              <a:ln w="254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3" name="Straight Arrow Connector 22">
                <a:extLst>
                  <a:ext uri="{FF2B5EF4-FFF2-40B4-BE49-F238E27FC236}">
                    <a16:creationId xmlns="" xmlns:a16="http://schemas.microsoft.com/office/drawing/2014/main" id="{F995BD76-CADF-4733-ACDA-E945D5FED785}"/>
                  </a:ext>
                </a:extLst>
              </p:cNvPr>
              <p:cNvCxnSpPr/>
              <p:nvPr/>
            </p:nvCxnSpPr>
            <p:spPr>
              <a:xfrm rot="11054314">
                <a:off x="1984650" y="3331902"/>
                <a:ext cx="0" cy="95534"/>
              </a:xfrm>
              <a:prstGeom prst="straightConnector1">
                <a:avLst/>
              </a:prstGeom>
              <a:ln w="25400">
                <a:solidFill>
                  <a:schemeClr val="bg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4" name="TextBox 23">
              <a:extLst>
                <a:ext uri="{FF2B5EF4-FFF2-40B4-BE49-F238E27FC236}">
                  <a16:creationId xmlns="" xmlns:a16="http://schemas.microsoft.com/office/drawing/2014/main" id="{9FF65C04-6E36-440B-8DB3-19D0DD25E1D5}"/>
                </a:ext>
              </a:extLst>
            </p:cNvPr>
            <p:cNvSpPr txBox="1"/>
            <p:nvPr/>
          </p:nvSpPr>
          <p:spPr>
            <a:xfrm>
              <a:off x="1180516" y="2457327"/>
              <a:ext cx="3117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  <p:grpSp>
          <p:nvGrpSpPr>
            <p:cNvPr id="25" name="Group 24">
              <a:extLst>
                <a:ext uri="{FF2B5EF4-FFF2-40B4-BE49-F238E27FC236}">
                  <a16:creationId xmlns="" xmlns:a16="http://schemas.microsoft.com/office/drawing/2014/main" id="{95283B76-D290-48F4-882C-4B73696475FC}"/>
                </a:ext>
              </a:extLst>
            </p:cNvPr>
            <p:cNvGrpSpPr/>
            <p:nvPr/>
          </p:nvGrpSpPr>
          <p:grpSpPr>
            <a:xfrm rot="10370240">
              <a:off x="2836093" y="2873340"/>
              <a:ext cx="540585" cy="887105"/>
              <a:chOff x="1984650" y="2985447"/>
              <a:chExt cx="540585" cy="887105"/>
            </a:xfrm>
          </p:grpSpPr>
          <p:sp>
            <p:nvSpPr>
              <p:cNvPr id="26" name="Arc 25">
                <a:extLst>
                  <a:ext uri="{FF2B5EF4-FFF2-40B4-BE49-F238E27FC236}">
                    <a16:creationId xmlns="" xmlns:a16="http://schemas.microsoft.com/office/drawing/2014/main" id="{43BB7691-F2E4-46BF-906F-C4CCEF7D55D9}"/>
                  </a:ext>
                </a:extLst>
              </p:cNvPr>
              <p:cNvSpPr/>
              <p:nvPr/>
            </p:nvSpPr>
            <p:spPr>
              <a:xfrm rot="11054314">
                <a:off x="1985101" y="2985447"/>
                <a:ext cx="540134" cy="887105"/>
              </a:xfrm>
              <a:prstGeom prst="arc">
                <a:avLst>
                  <a:gd name="adj1" fmla="val 10711483"/>
                  <a:gd name="adj2" fmla="val 0"/>
                </a:avLst>
              </a:prstGeom>
              <a:ln w="254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7" name="Straight Arrow Connector 26">
                <a:extLst>
                  <a:ext uri="{FF2B5EF4-FFF2-40B4-BE49-F238E27FC236}">
                    <a16:creationId xmlns="" xmlns:a16="http://schemas.microsoft.com/office/drawing/2014/main" id="{7D03CC14-B08B-467F-A77E-2F642111408F}"/>
                  </a:ext>
                </a:extLst>
              </p:cNvPr>
              <p:cNvCxnSpPr/>
              <p:nvPr/>
            </p:nvCxnSpPr>
            <p:spPr>
              <a:xfrm rot="11054314">
                <a:off x="1984650" y="3331902"/>
                <a:ext cx="0" cy="95534"/>
              </a:xfrm>
              <a:prstGeom prst="straightConnector1">
                <a:avLst/>
              </a:prstGeom>
              <a:ln w="25400">
                <a:solidFill>
                  <a:schemeClr val="bg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8" name="TextBox 27">
              <a:extLst>
                <a:ext uri="{FF2B5EF4-FFF2-40B4-BE49-F238E27FC236}">
                  <a16:creationId xmlns="" xmlns:a16="http://schemas.microsoft.com/office/drawing/2014/main" id="{624BB0EE-6A5B-4B02-82D4-235316C7D61D}"/>
                </a:ext>
              </a:extLst>
            </p:cNvPr>
            <p:cNvSpPr txBox="1"/>
            <p:nvPr/>
          </p:nvSpPr>
          <p:spPr>
            <a:xfrm>
              <a:off x="2906302" y="2429960"/>
              <a:ext cx="3117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29" name="Arrow: Curved Down 28">
              <a:extLst>
                <a:ext uri="{FF2B5EF4-FFF2-40B4-BE49-F238E27FC236}">
                  <a16:creationId xmlns="" xmlns:a16="http://schemas.microsoft.com/office/drawing/2014/main" id="{941EC0F0-A84F-48C9-87D0-10CEDCA8CD61}"/>
                </a:ext>
              </a:extLst>
            </p:cNvPr>
            <p:cNvSpPr/>
            <p:nvPr/>
          </p:nvSpPr>
          <p:spPr>
            <a:xfrm rot="10800000">
              <a:off x="1659826" y="3958135"/>
              <a:ext cx="2908196" cy="256814"/>
            </a:xfrm>
            <a:prstGeom prst="curvedDownArrow">
              <a:avLst>
                <a:gd name="adj1" fmla="val 11615"/>
                <a:gd name="adj2" fmla="val 50000"/>
                <a:gd name="adj3" fmla="val 25000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="" xmlns:a16="http://schemas.microsoft.com/office/drawing/2014/main" id="{4ED6617C-6176-4E5A-97A8-7060AB131E68}"/>
                </a:ext>
              </a:extLst>
            </p:cNvPr>
            <p:cNvSpPr txBox="1"/>
            <p:nvPr/>
          </p:nvSpPr>
          <p:spPr>
            <a:xfrm>
              <a:off x="3306612" y="3828521"/>
              <a:ext cx="3117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31" name="Arrow: Curved Down 30">
              <a:extLst>
                <a:ext uri="{FF2B5EF4-FFF2-40B4-BE49-F238E27FC236}">
                  <a16:creationId xmlns="" xmlns:a16="http://schemas.microsoft.com/office/drawing/2014/main" id="{164BCBA0-BA6D-4830-A4C7-0273A3ACF31A}"/>
                </a:ext>
              </a:extLst>
            </p:cNvPr>
            <p:cNvSpPr/>
            <p:nvPr/>
          </p:nvSpPr>
          <p:spPr>
            <a:xfrm rot="10800000">
              <a:off x="5046391" y="3906855"/>
              <a:ext cx="1049609" cy="203318"/>
            </a:xfrm>
            <a:prstGeom prst="curvedDownArrow">
              <a:avLst>
                <a:gd name="adj1" fmla="val 11615"/>
                <a:gd name="adj2" fmla="val 50000"/>
                <a:gd name="adj3" fmla="val 25000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="" xmlns:a16="http://schemas.microsoft.com/office/drawing/2014/main" id="{D1B5F6D8-B479-4A51-8B85-C90FEF56C3B4}"/>
                </a:ext>
              </a:extLst>
            </p:cNvPr>
            <p:cNvSpPr txBox="1"/>
            <p:nvPr/>
          </p:nvSpPr>
          <p:spPr>
            <a:xfrm>
              <a:off x="5418452" y="3735245"/>
              <a:ext cx="3117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33" name="Arrow: Curved Up 32">
              <a:extLst>
                <a:ext uri="{FF2B5EF4-FFF2-40B4-BE49-F238E27FC236}">
                  <a16:creationId xmlns="" xmlns:a16="http://schemas.microsoft.com/office/drawing/2014/main" id="{883BCDAA-DF6B-4CE1-A7DF-CEA9CF6A7531}"/>
                </a:ext>
              </a:extLst>
            </p:cNvPr>
            <p:cNvSpPr/>
            <p:nvPr/>
          </p:nvSpPr>
          <p:spPr>
            <a:xfrm rot="10601653">
              <a:off x="3340408" y="2885646"/>
              <a:ext cx="2898449" cy="392783"/>
            </a:xfrm>
            <a:prstGeom prst="curvedUpArrow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="" xmlns:a16="http://schemas.microsoft.com/office/drawing/2014/main" id="{C5839F56-250D-47CC-877C-BC0884BC986F}"/>
                </a:ext>
              </a:extLst>
            </p:cNvPr>
            <p:cNvSpPr txBox="1"/>
            <p:nvPr/>
          </p:nvSpPr>
          <p:spPr>
            <a:xfrm>
              <a:off x="4689579" y="2463044"/>
              <a:ext cx="3117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</p:grpSp>
      <p:sp>
        <p:nvSpPr>
          <p:cNvPr id="35" name="Content Placeholder 2">
            <a:extLst>
              <a:ext uri="{FF2B5EF4-FFF2-40B4-BE49-F238E27FC236}">
                <a16:creationId xmlns="" xmlns:a16="http://schemas.microsoft.com/office/drawing/2014/main" id="{F97922DE-7782-4701-9A67-30B071D7E716}"/>
              </a:ext>
            </a:extLst>
          </p:cNvPr>
          <p:cNvSpPr txBox="1">
            <a:spLocks/>
          </p:cNvSpPr>
          <p:nvPr/>
        </p:nvSpPr>
        <p:spPr>
          <a:xfrm>
            <a:off x="5373287" y="786600"/>
            <a:ext cx="4565144" cy="17566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457200" indent="-457200">
              <a:buFont typeface="+mj-lt"/>
              <a:buAutoNum type="arabicPeriod" startAt="3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NDFA, backtracking is not always possible.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="" xmlns:a16="http://schemas.microsoft.com/office/drawing/2014/main" id="{B34E8F8C-167C-49A9-BB01-50B5E361FCC7}"/>
              </a:ext>
            </a:extLst>
          </p:cNvPr>
          <p:cNvSpPr txBox="1"/>
          <p:nvPr/>
        </p:nvSpPr>
        <p:spPr>
          <a:xfrm>
            <a:off x="6855759" y="0"/>
            <a:ext cx="1600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NDFA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="" xmlns:a16="http://schemas.microsoft.com/office/drawing/2014/main" id="{CD207AB7-FD5D-45DA-A74B-31F2314C78DA}"/>
              </a:ext>
            </a:extLst>
          </p:cNvPr>
          <p:cNvSpPr txBox="1"/>
          <p:nvPr/>
        </p:nvSpPr>
        <p:spPr>
          <a:xfrm>
            <a:off x="645082" y="1255327"/>
            <a:ext cx="476304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All words that ends with aba.</a:t>
            </a:r>
            <a:endParaRPr lang="en-US" sz="2200" dirty="0"/>
          </a:p>
        </p:txBody>
      </p:sp>
      <p:sp>
        <p:nvSpPr>
          <p:cNvPr id="38" name="TextBox 37">
            <a:extLst>
              <a:ext uri="{FF2B5EF4-FFF2-40B4-BE49-F238E27FC236}">
                <a16:creationId xmlns="" xmlns:a16="http://schemas.microsoft.com/office/drawing/2014/main" id="{F98FFA43-7618-4602-828A-9E9802F87148}"/>
              </a:ext>
            </a:extLst>
          </p:cNvPr>
          <p:cNvSpPr txBox="1"/>
          <p:nvPr/>
        </p:nvSpPr>
        <p:spPr>
          <a:xfrm>
            <a:off x="5793306" y="1470770"/>
            <a:ext cx="4763046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All words that ends with aba.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</a:t>
            </a:r>
            <a:r>
              <a:rPr lang="en-US" sz="3600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</a:t>
            </a:r>
            <a:endParaRPr lang="en-US" sz="3600" dirty="0"/>
          </a:p>
        </p:txBody>
      </p:sp>
      <p:sp>
        <p:nvSpPr>
          <p:cNvPr id="39" name="Oval 38">
            <a:extLst>
              <a:ext uri="{FF2B5EF4-FFF2-40B4-BE49-F238E27FC236}">
                <a16:creationId xmlns="" xmlns:a16="http://schemas.microsoft.com/office/drawing/2014/main" id="{C04827AB-DD9A-4ED6-85A1-B6B5EA8D74CE}"/>
              </a:ext>
            </a:extLst>
          </p:cNvPr>
          <p:cNvSpPr/>
          <p:nvPr/>
        </p:nvSpPr>
        <p:spPr>
          <a:xfrm>
            <a:off x="6486746" y="3963569"/>
            <a:ext cx="697006" cy="712694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x0</a:t>
            </a:r>
          </a:p>
        </p:txBody>
      </p:sp>
      <p:sp>
        <p:nvSpPr>
          <p:cNvPr id="40" name="Oval 39">
            <a:extLst>
              <a:ext uri="{FF2B5EF4-FFF2-40B4-BE49-F238E27FC236}">
                <a16:creationId xmlns="" xmlns:a16="http://schemas.microsoft.com/office/drawing/2014/main" id="{CA0A025A-21AA-4275-B28C-53DF98FBBD62}"/>
              </a:ext>
            </a:extLst>
          </p:cNvPr>
          <p:cNvSpPr/>
          <p:nvPr/>
        </p:nvSpPr>
        <p:spPr>
          <a:xfrm>
            <a:off x="7941653" y="3950317"/>
            <a:ext cx="697006" cy="712694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x1</a:t>
            </a:r>
          </a:p>
        </p:txBody>
      </p:sp>
      <p:sp>
        <p:nvSpPr>
          <p:cNvPr id="41" name="Oval 40">
            <a:extLst>
              <a:ext uri="{FF2B5EF4-FFF2-40B4-BE49-F238E27FC236}">
                <a16:creationId xmlns="" xmlns:a16="http://schemas.microsoft.com/office/drawing/2014/main" id="{232661FD-3231-48C1-A2C5-6DC574BF9AAE}"/>
              </a:ext>
            </a:extLst>
          </p:cNvPr>
          <p:cNvSpPr/>
          <p:nvPr/>
        </p:nvSpPr>
        <p:spPr>
          <a:xfrm>
            <a:off x="9411634" y="3937065"/>
            <a:ext cx="697006" cy="712694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x2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="" xmlns:a16="http://schemas.microsoft.com/office/drawing/2014/main" id="{C3D49387-B6BD-4C8C-8B72-4994398480E7}"/>
              </a:ext>
            </a:extLst>
          </p:cNvPr>
          <p:cNvCxnSpPr/>
          <p:nvPr/>
        </p:nvCxnSpPr>
        <p:spPr>
          <a:xfrm>
            <a:off x="5989984" y="4319916"/>
            <a:ext cx="48354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6" name="Group 45">
            <a:extLst>
              <a:ext uri="{FF2B5EF4-FFF2-40B4-BE49-F238E27FC236}">
                <a16:creationId xmlns="" xmlns:a16="http://schemas.microsoft.com/office/drawing/2014/main" id="{B1BA9B08-4F24-41E4-BBCB-8849CA4AEFEC}"/>
              </a:ext>
            </a:extLst>
          </p:cNvPr>
          <p:cNvGrpSpPr/>
          <p:nvPr/>
        </p:nvGrpSpPr>
        <p:grpSpPr>
          <a:xfrm>
            <a:off x="10899171" y="3875484"/>
            <a:ext cx="803344" cy="835855"/>
            <a:chOff x="5184749" y="4682255"/>
            <a:chExt cx="803344" cy="835855"/>
          </a:xfrm>
        </p:grpSpPr>
        <p:sp>
          <p:nvSpPr>
            <p:cNvPr id="44" name="Oval 43">
              <a:extLst>
                <a:ext uri="{FF2B5EF4-FFF2-40B4-BE49-F238E27FC236}">
                  <a16:creationId xmlns="" xmlns:a16="http://schemas.microsoft.com/office/drawing/2014/main" id="{8F9CDE5C-96FF-4D40-8E35-EF044400A0D6}"/>
                </a:ext>
              </a:extLst>
            </p:cNvPr>
            <p:cNvSpPr/>
            <p:nvPr/>
          </p:nvSpPr>
          <p:spPr>
            <a:xfrm>
              <a:off x="5184749" y="4682255"/>
              <a:ext cx="803344" cy="835855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5" name="Oval 44">
              <a:extLst>
                <a:ext uri="{FF2B5EF4-FFF2-40B4-BE49-F238E27FC236}">
                  <a16:creationId xmlns="" xmlns:a16="http://schemas.microsoft.com/office/drawing/2014/main" id="{3F768F3B-81D9-4CAF-AF6E-D9F095B52C67}"/>
                </a:ext>
              </a:extLst>
            </p:cNvPr>
            <p:cNvSpPr/>
            <p:nvPr/>
          </p:nvSpPr>
          <p:spPr>
            <a:xfrm>
              <a:off x="5241993" y="4745149"/>
              <a:ext cx="697006" cy="712694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x3</a:t>
              </a:r>
            </a:p>
          </p:txBody>
        </p:sp>
      </p:grpSp>
      <p:cxnSp>
        <p:nvCxnSpPr>
          <p:cNvPr id="47" name="Straight Arrow Connector 46">
            <a:extLst>
              <a:ext uri="{FF2B5EF4-FFF2-40B4-BE49-F238E27FC236}">
                <a16:creationId xmlns="" xmlns:a16="http://schemas.microsoft.com/office/drawing/2014/main" id="{70450A69-B259-4D3C-979E-FA0A2CFE43C1}"/>
              </a:ext>
            </a:extLst>
          </p:cNvPr>
          <p:cNvCxnSpPr/>
          <p:nvPr/>
        </p:nvCxnSpPr>
        <p:spPr>
          <a:xfrm>
            <a:off x="8665163" y="4293412"/>
            <a:ext cx="731983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="" xmlns:a16="http://schemas.microsoft.com/office/drawing/2014/main" id="{E925179F-02E3-405F-935C-31689533E68E}"/>
              </a:ext>
            </a:extLst>
          </p:cNvPr>
          <p:cNvCxnSpPr/>
          <p:nvPr/>
        </p:nvCxnSpPr>
        <p:spPr>
          <a:xfrm>
            <a:off x="7210256" y="4306664"/>
            <a:ext cx="731983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="" xmlns:a16="http://schemas.microsoft.com/office/drawing/2014/main" id="{30719D9B-9EE0-4E4C-9F3C-DAE990982348}"/>
              </a:ext>
            </a:extLst>
          </p:cNvPr>
          <p:cNvCxnSpPr/>
          <p:nvPr/>
        </p:nvCxnSpPr>
        <p:spPr>
          <a:xfrm>
            <a:off x="10157495" y="4286152"/>
            <a:ext cx="731983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="" xmlns:a16="http://schemas.microsoft.com/office/drawing/2014/main" id="{DAD597C4-9FEB-467A-9A23-42F3D849E432}"/>
              </a:ext>
            </a:extLst>
          </p:cNvPr>
          <p:cNvSpPr txBox="1"/>
          <p:nvPr/>
        </p:nvSpPr>
        <p:spPr>
          <a:xfrm>
            <a:off x="7323732" y="3858527"/>
            <a:ext cx="2719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="" xmlns:a16="http://schemas.microsoft.com/office/drawing/2014/main" id="{82B3A5BA-A96E-47A4-9B2A-8E43F1CDC92F}"/>
              </a:ext>
            </a:extLst>
          </p:cNvPr>
          <p:cNvSpPr txBox="1"/>
          <p:nvPr/>
        </p:nvSpPr>
        <p:spPr>
          <a:xfrm>
            <a:off x="10318246" y="3858251"/>
            <a:ext cx="2719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="" xmlns:a16="http://schemas.microsoft.com/office/drawing/2014/main" id="{466F6746-AB92-4F07-84C5-D86BB87BBBF0}"/>
              </a:ext>
            </a:extLst>
          </p:cNvPr>
          <p:cNvSpPr txBox="1"/>
          <p:nvPr/>
        </p:nvSpPr>
        <p:spPr>
          <a:xfrm>
            <a:off x="8813526" y="3875484"/>
            <a:ext cx="2719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55" name="Arc 54">
            <a:extLst>
              <a:ext uri="{FF2B5EF4-FFF2-40B4-BE49-F238E27FC236}">
                <a16:creationId xmlns="" xmlns:a16="http://schemas.microsoft.com/office/drawing/2014/main" id="{849113FD-8B93-49B4-9FEC-B701B2B20C6B}"/>
              </a:ext>
            </a:extLst>
          </p:cNvPr>
          <p:cNvSpPr/>
          <p:nvPr/>
        </p:nvSpPr>
        <p:spPr>
          <a:xfrm>
            <a:off x="6586120" y="3539957"/>
            <a:ext cx="471227" cy="887105"/>
          </a:xfrm>
          <a:prstGeom prst="arc">
            <a:avLst>
              <a:gd name="adj1" fmla="val 10711483"/>
              <a:gd name="adj2" fmla="val 0"/>
            </a:avLst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="" xmlns:a16="http://schemas.microsoft.com/office/drawing/2014/main" id="{FCEFE45B-CEA6-4498-8008-059E264EE9F2}"/>
              </a:ext>
            </a:extLst>
          </p:cNvPr>
          <p:cNvSpPr txBox="1"/>
          <p:nvPr/>
        </p:nvSpPr>
        <p:spPr>
          <a:xfrm>
            <a:off x="6548410" y="3109287"/>
            <a:ext cx="5657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a/b</a:t>
            </a:r>
          </a:p>
        </p:txBody>
      </p:sp>
      <p:grpSp>
        <p:nvGrpSpPr>
          <p:cNvPr id="57" name="Group 56">
            <a:extLst>
              <a:ext uri="{FF2B5EF4-FFF2-40B4-BE49-F238E27FC236}">
                <a16:creationId xmlns="" xmlns:a16="http://schemas.microsoft.com/office/drawing/2014/main" id="{8D3C0EC3-1E6A-436B-B406-38A549AC7268}"/>
              </a:ext>
            </a:extLst>
          </p:cNvPr>
          <p:cNvGrpSpPr/>
          <p:nvPr/>
        </p:nvGrpSpPr>
        <p:grpSpPr>
          <a:xfrm rot="18867934">
            <a:off x="5867045" y="3049583"/>
            <a:ext cx="369332" cy="1274995"/>
            <a:chOff x="7019630" y="2204898"/>
            <a:chExt cx="369332" cy="1005795"/>
          </a:xfrm>
        </p:grpSpPr>
        <p:sp>
          <p:nvSpPr>
            <p:cNvPr id="58" name="Arrow: Up 57">
              <a:extLst>
                <a:ext uri="{FF2B5EF4-FFF2-40B4-BE49-F238E27FC236}">
                  <a16:creationId xmlns="" xmlns:a16="http://schemas.microsoft.com/office/drawing/2014/main" id="{E93022AA-FD9E-4354-A4A7-DF5F91C23E96}"/>
                </a:ext>
              </a:extLst>
            </p:cNvPr>
            <p:cNvSpPr/>
            <p:nvPr/>
          </p:nvSpPr>
          <p:spPr>
            <a:xfrm rot="10800000">
              <a:off x="7044865" y="2571551"/>
              <a:ext cx="191070" cy="639142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9" name="TextBox 58">
              <a:extLst>
                <a:ext uri="{FF2B5EF4-FFF2-40B4-BE49-F238E27FC236}">
                  <a16:creationId xmlns="" xmlns:a16="http://schemas.microsoft.com/office/drawing/2014/main" id="{BAF74065-B1AC-4D5B-9613-553AA58A4378}"/>
                </a:ext>
              </a:extLst>
            </p:cNvPr>
            <p:cNvSpPr txBox="1"/>
            <p:nvPr/>
          </p:nvSpPr>
          <p:spPr>
            <a:xfrm rot="2732066">
              <a:off x="6923696" y="2300832"/>
              <a:ext cx="5611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CS-1</a:t>
              </a: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="" xmlns:a16="http://schemas.microsoft.com/office/drawing/2014/main" id="{A07A9414-AC5B-4369-AC6A-00609C53E664}"/>
              </a:ext>
            </a:extLst>
          </p:cNvPr>
          <p:cNvGrpSpPr/>
          <p:nvPr/>
        </p:nvGrpSpPr>
        <p:grpSpPr>
          <a:xfrm>
            <a:off x="9477490" y="2723944"/>
            <a:ext cx="686790" cy="1161419"/>
            <a:chOff x="6884230" y="2294494"/>
            <a:chExt cx="686790" cy="916199"/>
          </a:xfrm>
        </p:grpSpPr>
        <p:sp>
          <p:nvSpPr>
            <p:cNvPr id="64" name="Arrow: Up 63">
              <a:extLst>
                <a:ext uri="{FF2B5EF4-FFF2-40B4-BE49-F238E27FC236}">
                  <a16:creationId xmlns="" xmlns:a16="http://schemas.microsoft.com/office/drawing/2014/main" id="{D2C981A1-EDB1-46C9-B578-9C61753C3ADB}"/>
                </a:ext>
              </a:extLst>
            </p:cNvPr>
            <p:cNvSpPr/>
            <p:nvPr/>
          </p:nvSpPr>
          <p:spPr>
            <a:xfrm rot="10800000">
              <a:off x="7044865" y="2571551"/>
              <a:ext cx="191070" cy="639142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5" name="TextBox 64">
              <a:extLst>
                <a:ext uri="{FF2B5EF4-FFF2-40B4-BE49-F238E27FC236}">
                  <a16:creationId xmlns="" xmlns:a16="http://schemas.microsoft.com/office/drawing/2014/main" id="{19C23E79-AF52-4EE2-8B1E-AFA079E785CF}"/>
                </a:ext>
              </a:extLst>
            </p:cNvPr>
            <p:cNvSpPr txBox="1"/>
            <p:nvPr/>
          </p:nvSpPr>
          <p:spPr>
            <a:xfrm>
              <a:off x="6884230" y="2294494"/>
              <a:ext cx="686790" cy="2913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CS-3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846220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149AD530-6C2A-44EA-A853-BAC2857EF1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904" y="858414"/>
            <a:ext cx="4876872" cy="460871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Backtracking is allowed in DFA.</a:t>
            </a:r>
          </a:p>
          <a:p>
            <a:pPr marL="457200" indent="-457200">
              <a:buFont typeface="+mj-lt"/>
              <a:buAutoNum type="arabicPeriod" startAt="3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E7E875E4-C02C-44AD-9251-3D0D7CDF2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26D1DE06-0720-4572-BF37-034426FE1CD7}"/>
              </a:ext>
            </a:extLst>
          </p:cNvPr>
          <p:cNvSpPr txBox="1"/>
          <p:nvPr/>
        </p:nvSpPr>
        <p:spPr>
          <a:xfrm>
            <a:off x="1529669" y="33241"/>
            <a:ext cx="1600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DFA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="" xmlns:a16="http://schemas.microsoft.com/office/drawing/2014/main" id="{E13E761C-7E8C-455A-B10F-FF97B9D81750}"/>
              </a:ext>
            </a:extLst>
          </p:cNvPr>
          <p:cNvGrpSpPr/>
          <p:nvPr/>
        </p:nvGrpSpPr>
        <p:grpSpPr>
          <a:xfrm>
            <a:off x="389769" y="1787943"/>
            <a:ext cx="5586961" cy="1860226"/>
            <a:chOff x="470451" y="2429960"/>
            <a:chExt cx="6403942" cy="1860226"/>
          </a:xfrm>
        </p:grpSpPr>
        <p:sp>
          <p:nvSpPr>
            <p:cNvPr id="8" name="Oval 7">
              <a:extLst>
                <a:ext uri="{FF2B5EF4-FFF2-40B4-BE49-F238E27FC236}">
                  <a16:creationId xmlns="" xmlns:a16="http://schemas.microsoft.com/office/drawing/2014/main" id="{EDD2A173-63F4-4A80-96B9-79D5A7A31D1C}"/>
                </a:ext>
              </a:extLst>
            </p:cNvPr>
            <p:cNvSpPr/>
            <p:nvPr/>
          </p:nvSpPr>
          <p:spPr>
            <a:xfrm>
              <a:off x="1130579" y="3333906"/>
              <a:ext cx="723331" cy="63914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x0</a:t>
              </a: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="" xmlns:a16="http://schemas.microsoft.com/office/drawing/2014/main" id="{B167B8FE-18DA-468D-9F34-C584DF4C213E}"/>
                </a:ext>
              </a:extLst>
            </p:cNvPr>
            <p:cNvCxnSpPr/>
            <p:nvPr/>
          </p:nvCxnSpPr>
          <p:spPr>
            <a:xfrm>
              <a:off x="470451" y="3673964"/>
              <a:ext cx="573062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Oval 9">
              <a:extLst>
                <a:ext uri="{FF2B5EF4-FFF2-40B4-BE49-F238E27FC236}">
                  <a16:creationId xmlns="" xmlns:a16="http://schemas.microsoft.com/office/drawing/2014/main" id="{F032099B-FB70-499B-B9CB-2153679670AF}"/>
                </a:ext>
              </a:extLst>
            </p:cNvPr>
            <p:cNvSpPr/>
            <p:nvPr/>
          </p:nvSpPr>
          <p:spPr>
            <a:xfrm>
              <a:off x="2765510" y="3333906"/>
              <a:ext cx="723331" cy="63914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x1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="" xmlns:a16="http://schemas.microsoft.com/office/drawing/2014/main" id="{A46E03FE-0352-4BA0-94CE-3CBBC1232E6A}"/>
                </a:ext>
              </a:extLst>
            </p:cNvPr>
            <p:cNvSpPr/>
            <p:nvPr/>
          </p:nvSpPr>
          <p:spPr>
            <a:xfrm>
              <a:off x="4400441" y="3307012"/>
              <a:ext cx="723331" cy="63914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x2</a:t>
              </a: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="" xmlns:a16="http://schemas.microsoft.com/office/drawing/2014/main" id="{49347AD5-0329-4828-BEAA-DE17AA128978}"/>
                </a:ext>
              </a:extLst>
            </p:cNvPr>
            <p:cNvGrpSpPr/>
            <p:nvPr/>
          </p:nvGrpSpPr>
          <p:grpSpPr>
            <a:xfrm>
              <a:off x="6035372" y="3170957"/>
              <a:ext cx="839021" cy="802091"/>
              <a:chOff x="10512625" y="1744747"/>
              <a:chExt cx="839021" cy="802091"/>
            </a:xfrm>
          </p:grpSpPr>
          <p:sp>
            <p:nvSpPr>
              <p:cNvPr id="13" name="Oval 12">
                <a:extLst>
                  <a:ext uri="{FF2B5EF4-FFF2-40B4-BE49-F238E27FC236}">
                    <a16:creationId xmlns="" xmlns:a16="http://schemas.microsoft.com/office/drawing/2014/main" id="{06A6A055-73AA-42D4-81CF-0021044FCC67}"/>
                  </a:ext>
                </a:extLst>
              </p:cNvPr>
              <p:cNvSpPr/>
              <p:nvPr/>
            </p:nvSpPr>
            <p:spPr>
              <a:xfrm>
                <a:off x="10512625" y="1744747"/>
                <a:ext cx="839021" cy="802091"/>
              </a:xfrm>
              <a:prstGeom prst="ellips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4" name="Oval 13">
                <a:extLst>
                  <a:ext uri="{FF2B5EF4-FFF2-40B4-BE49-F238E27FC236}">
                    <a16:creationId xmlns="" xmlns:a16="http://schemas.microsoft.com/office/drawing/2014/main" id="{B0C94D19-8E49-4955-8F65-F2A1695D3938}"/>
                  </a:ext>
                </a:extLst>
              </p:cNvPr>
              <p:cNvSpPr/>
              <p:nvPr/>
            </p:nvSpPr>
            <p:spPr>
              <a:xfrm>
                <a:off x="10585318" y="1837172"/>
                <a:ext cx="681980" cy="628192"/>
              </a:xfrm>
              <a:prstGeom prst="ellips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x3</a:t>
                </a:r>
              </a:p>
            </p:txBody>
          </p:sp>
        </p:grpSp>
        <p:cxnSp>
          <p:nvCxnSpPr>
            <p:cNvPr id="15" name="Straight Arrow Connector 14">
              <a:extLst>
                <a:ext uri="{FF2B5EF4-FFF2-40B4-BE49-F238E27FC236}">
                  <a16:creationId xmlns="" xmlns:a16="http://schemas.microsoft.com/office/drawing/2014/main" id="{CF3E0BDF-810B-4F55-B7EA-0389F91D35A4}"/>
                </a:ext>
              </a:extLst>
            </p:cNvPr>
            <p:cNvCxnSpPr/>
            <p:nvPr/>
          </p:nvCxnSpPr>
          <p:spPr>
            <a:xfrm>
              <a:off x="1914097" y="3662038"/>
              <a:ext cx="839021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="" xmlns:a16="http://schemas.microsoft.com/office/drawing/2014/main" id="{21D2F5CA-FBDF-414C-838D-0A9B5FC4430A}"/>
                </a:ext>
              </a:extLst>
            </p:cNvPr>
            <p:cNvCxnSpPr/>
            <p:nvPr/>
          </p:nvCxnSpPr>
          <p:spPr>
            <a:xfrm>
              <a:off x="3534916" y="3639972"/>
              <a:ext cx="839021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="" xmlns:a16="http://schemas.microsoft.com/office/drawing/2014/main" id="{AA1CBC00-C8B1-44E9-8B2A-D774D4C8057E}"/>
                </a:ext>
              </a:extLst>
            </p:cNvPr>
            <p:cNvCxnSpPr/>
            <p:nvPr/>
          </p:nvCxnSpPr>
          <p:spPr>
            <a:xfrm>
              <a:off x="5169847" y="3639972"/>
              <a:ext cx="839021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="" xmlns:a16="http://schemas.microsoft.com/office/drawing/2014/main" id="{7FCBCE34-8F1D-4494-B37C-ABE96FD57666}"/>
                </a:ext>
              </a:extLst>
            </p:cNvPr>
            <p:cNvSpPr txBox="1"/>
            <p:nvPr/>
          </p:nvSpPr>
          <p:spPr>
            <a:xfrm>
              <a:off x="2089212" y="3191812"/>
              <a:ext cx="3117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="" xmlns:a16="http://schemas.microsoft.com/office/drawing/2014/main" id="{CC77AC81-ED5E-47AC-A744-914483C03C0C}"/>
                </a:ext>
              </a:extLst>
            </p:cNvPr>
            <p:cNvSpPr txBox="1"/>
            <p:nvPr/>
          </p:nvSpPr>
          <p:spPr>
            <a:xfrm>
              <a:off x="3697547" y="3212299"/>
              <a:ext cx="3117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="" xmlns:a16="http://schemas.microsoft.com/office/drawing/2014/main" id="{8E3BF89E-56F8-4EB4-AD82-9142DBD6A27C}"/>
                </a:ext>
              </a:extLst>
            </p:cNvPr>
            <p:cNvSpPr txBox="1"/>
            <p:nvPr/>
          </p:nvSpPr>
          <p:spPr>
            <a:xfrm>
              <a:off x="5358816" y="3172033"/>
              <a:ext cx="3117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="" xmlns:a16="http://schemas.microsoft.com/office/drawing/2014/main" id="{A9C0D6FE-F7E5-434B-BABF-3049C2B33D69}"/>
                </a:ext>
              </a:extLst>
            </p:cNvPr>
            <p:cNvGrpSpPr/>
            <p:nvPr/>
          </p:nvGrpSpPr>
          <p:grpSpPr>
            <a:xfrm rot="10370240">
              <a:off x="1185958" y="2890353"/>
              <a:ext cx="540585" cy="887105"/>
              <a:chOff x="1984650" y="2985447"/>
              <a:chExt cx="540585" cy="887105"/>
            </a:xfrm>
          </p:grpSpPr>
          <p:sp>
            <p:nvSpPr>
              <p:cNvPr id="22" name="Arc 21">
                <a:extLst>
                  <a:ext uri="{FF2B5EF4-FFF2-40B4-BE49-F238E27FC236}">
                    <a16:creationId xmlns="" xmlns:a16="http://schemas.microsoft.com/office/drawing/2014/main" id="{177ECB2A-EFAE-4453-93C0-A41752FCEBB3}"/>
                  </a:ext>
                </a:extLst>
              </p:cNvPr>
              <p:cNvSpPr/>
              <p:nvPr/>
            </p:nvSpPr>
            <p:spPr>
              <a:xfrm rot="11054314">
                <a:off x="1985101" y="2985447"/>
                <a:ext cx="540134" cy="887105"/>
              </a:xfrm>
              <a:prstGeom prst="arc">
                <a:avLst>
                  <a:gd name="adj1" fmla="val 10711483"/>
                  <a:gd name="adj2" fmla="val 0"/>
                </a:avLst>
              </a:prstGeom>
              <a:ln w="254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3" name="Straight Arrow Connector 22">
                <a:extLst>
                  <a:ext uri="{FF2B5EF4-FFF2-40B4-BE49-F238E27FC236}">
                    <a16:creationId xmlns="" xmlns:a16="http://schemas.microsoft.com/office/drawing/2014/main" id="{F995BD76-CADF-4733-ACDA-E945D5FED785}"/>
                  </a:ext>
                </a:extLst>
              </p:cNvPr>
              <p:cNvCxnSpPr/>
              <p:nvPr/>
            </p:nvCxnSpPr>
            <p:spPr>
              <a:xfrm rot="11054314">
                <a:off x="1984650" y="3331902"/>
                <a:ext cx="0" cy="95534"/>
              </a:xfrm>
              <a:prstGeom prst="straightConnector1">
                <a:avLst/>
              </a:prstGeom>
              <a:ln w="25400">
                <a:solidFill>
                  <a:schemeClr val="bg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4" name="TextBox 23">
              <a:extLst>
                <a:ext uri="{FF2B5EF4-FFF2-40B4-BE49-F238E27FC236}">
                  <a16:creationId xmlns="" xmlns:a16="http://schemas.microsoft.com/office/drawing/2014/main" id="{9FF65C04-6E36-440B-8DB3-19D0DD25E1D5}"/>
                </a:ext>
              </a:extLst>
            </p:cNvPr>
            <p:cNvSpPr txBox="1"/>
            <p:nvPr/>
          </p:nvSpPr>
          <p:spPr>
            <a:xfrm>
              <a:off x="1180516" y="2457327"/>
              <a:ext cx="3117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  <p:grpSp>
          <p:nvGrpSpPr>
            <p:cNvPr id="25" name="Group 24">
              <a:extLst>
                <a:ext uri="{FF2B5EF4-FFF2-40B4-BE49-F238E27FC236}">
                  <a16:creationId xmlns="" xmlns:a16="http://schemas.microsoft.com/office/drawing/2014/main" id="{95283B76-D290-48F4-882C-4B73696475FC}"/>
                </a:ext>
              </a:extLst>
            </p:cNvPr>
            <p:cNvGrpSpPr/>
            <p:nvPr/>
          </p:nvGrpSpPr>
          <p:grpSpPr>
            <a:xfrm rot="10370240">
              <a:off x="2836093" y="2873340"/>
              <a:ext cx="540585" cy="887105"/>
              <a:chOff x="1984650" y="2985447"/>
              <a:chExt cx="540585" cy="887105"/>
            </a:xfrm>
          </p:grpSpPr>
          <p:sp>
            <p:nvSpPr>
              <p:cNvPr id="26" name="Arc 25">
                <a:extLst>
                  <a:ext uri="{FF2B5EF4-FFF2-40B4-BE49-F238E27FC236}">
                    <a16:creationId xmlns="" xmlns:a16="http://schemas.microsoft.com/office/drawing/2014/main" id="{43BB7691-F2E4-46BF-906F-C4CCEF7D55D9}"/>
                  </a:ext>
                </a:extLst>
              </p:cNvPr>
              <p:cNvSpPr/>
              <p:nvPr/>
            </p:nvSpPr>
            <p:spPr>
              <a:xfrm rot="11054314">
                <a:off x="1985101" y="2985447"/>
                <a:ext cx="540134" cy="887105"/>
              </a:xfrm>
              <a:prstGeom prst="arc">
                <a:avLst>
                  <a:gd name="adj1" fmla="val 10711483"/>
                  <a:gd name="adj2" fmla="val 0"/>
                </a:avLst>
              </a:prstGeom>
              <a:ln w="254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7" name="Straight Arrow Connector 26">
                <a:extLst>
                  <a:ext uri="{FF2B5EF4-FFF2-40B4-BE49-F238E27FC236}">
                    <a16:creationId xmlns="" xmlns:a16="http://schemas.microsoft.com/office/drawing/2014/main" id="{7D03CC14-B08B-467F-A77E-2F642111408F}"/>
                  </a:ext>
                </a:extLst>
              </p:cNvPr>
              <p:cNvCxnSpPr/>
              <p:nvPr/>
            </p:nvCxnSpPr>
            <p:spPr>
              <a:xfrm rot="11054314">
                <a:off x="1984650" y="3331902"/>
                <a:ext cx="0" cy="95534"/>
              </a:xfrm>
              <a:prstGeom prst="straightConnector1">
                <a:avLst/>
              </a:prstGeom>
              <a:ln w="25400">
                <a:solidFill>
                  <a:schemeClr val="bg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8" name="TextBox 27">
              <a:extLst>
                <a:ext uri="{FF2B5EF4-FFF2-40B4-BE49-F238E27FC236}">
                  <a16:creationId xmlns="" xmlns:a16="http://schemas.microsoft.com/office/drawing/2014/main" id="{624BB0EE-6A5B-4B02-82D4-235316C7D61D}"/>
                </a:ext>
              </a:extLst>
            </p:cNvPr>
            <p:cNvSpPr txBox="1"/>
            <p:nvPr/>
          </p:nvSpPr>
          <p:spPr>
            <a:xfrm>
              <a:off x="2906302" y="2429960"/>
              <a:ext cx="3117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29" name="Arrow: Curved Down 28">
              <a:extLst>
                <a:ext uri="{FF2B5EF4-FFF2-40B4-BE49-F238E27FC236}">
                  <a16:creationId xmlns="" xmlns:a16="http://schemas.microsoft.com/office/drawing/2014/main" id="{941EC0F0-A84F-48C9-87D0-10CEDCA8CD61}"/>
                </a:ext>
              </a:extLst>
            </p:cNvPr>
            <p:cNvSpPr/>
            <p:nvPr/>
          </p:nvSpPr>
          <p:spPr>
            <a:xfrm rot="10800000">
              <a:off x="1659826" y="3958135"/>
              <a:ext cx="2908196" cy="256814"/>
            </a:xfrm>
            <a:prstGeom prst="curvedDownArrow">
              <a:avLst>
                <a:gd name="adj1" fmla="val 11615"/>
                <a:gd name="adj2" fmla="val 50000"/>
                <a:gd name="adj3" fmla="val 25000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="" xmlns:a16="http://schemas.microsoft.com/office/drawing/2014/main" id="{4ED6617C-6176-4E5A-97A8-7060AB131E68}"/>
                </a:ext>
              </a:extLst>
            </p:cNvPr>
            <p:cNvSpPr txBox="1"/>
            <p:nvPr/>
          </p:nvSpPr>
          <p:spPr>
            <a:xfrm>
              <a:off x="3306612" y="3828521"/>
              <a:ext cx="3117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31" name="Arrow: Curved Down 30">
              <a:extLst>
                <a:ext uri="{FF2B5EF4-FFF2-40B4-BE49-F238E27FC236}">
                  <a16:creationId xmlns="" xmlns:a16="http://schemas.microsoft.com/office/drawing/2014/main" id="{164BCBA0-BA6D-4830-A4C7-0273A3ACF31A}"/>
                </a:ext>
              </a:extLst>
            </p:cNvPr>
            <p:cNvSpPr/>
            <p:nvPr/>
          </p:nvSpPr>
          <p:spPr>
            <a:xfrm rot="10800000">
              <a:off x="5046391" y="3906855"/>
              <a:ext cx="1049609" cy="203318"/>
            </a:xfrm>
            <a:prstGeom prst="curvedDownArrow">
              <a:avLst>
                <a:gd name="adj1" fmla="val 11615"/>
                <a:gd name="adj2" fmla="val 50000"/>
                <a:gd name="adj3" fmla="val 25000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="" xmlns:a16="http://schemas.microsoft.com/office/drawing/2014/main" id="{D1B5F6D8-B479-4A51-8B85-C90FEF56C3B4}"/>
                </a:ext>
              </a:extLst>
            </p:cNvPr>
            <p:cNvSpPr txBox="1"/>
            <p:nvPr/>
          </p:nvSpPr>
          <p:spPr>
            <a:xfrm>
              <a:off x="5418452" y="3735245"/>
              <a:ext cx="3117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33" name="Arrow: Curved Up 32">
              <a:extLst>
                <a:ext uri="{FF2B5EF4-FFF2-40B4-BE49-F238E27FC236}">
                  <a16:creationId xmlns="" xmlns:a16="http://schemas.microsoft.com/office/drawing/2014/main" id="{883BCDAA-DF6B-4CE1-A7DF-CEA9CF6A7531}"/>
                </a:ext>
              </a:extLst>
            </p:cNvPr>
            <p:cNvSpPr/>
            <p:nvPr/>
          </p:nvSpPr>
          <p:spPr>
            <a:xfrm rot="10601653">
              <a:off x="3340408" y="2885646"/>
              <a:ext cx="2898449" cy="392783"/>
            </a:xfrm>
            <a:prstGeom prst="curvedUpArrow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="" xmlns:a16="http://schemas.microsoft.com/office/drawing/2014/main" id="{C5839F56-250D-47CC-877C-BC0884BC986F}"/>
                </a:ext>
              </a:extLst>
            </p:cNvPr>
            <p:cNvSpPr txBox="1"/>
            <p:nvPr/>
          </p:nvSpPr>
          <p:spPr>
            <a:xfrm>
              <a:off x="4689579" y="2463044"/>
              <a:ext cx="3117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</p:grpSp>
      <p:sp>
        <p:nvSpPr>
          <p:cNvPr id="35" name="Content Placeholder 2">
            <a:extLst>
              <a:ext uri="{FF2B5EF4-FFF2-40B4-BE49-F238E27FC236}">
                <a16:creationId xmlns="" xmlns:a16="http://schemas.microsoft.com/office/drawing/2014/main" id="{F97922DE-7782-4701-9A67-30B071D7E716}"/>
              </a:ext>
            </a:extLst>
          </p:cNvPr>
          <p:cNvSpPr txBox="1">
            <a:spLocks/>
          </p:cNvSpPr>
          <p:nvPr/>
        </p:nvSpPr>
        <p:spPr>
          <a:xfrm>
            <a:off x="5373287" y="786600"/>
            <a:ext cx="4565144" cy="7850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457200" indent="-457200">
              <a:buFont typeface="+mj-lt"/>
              <a:buAutoNum type="arabicPeriod" startAt="3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NDFA, backtracking is not always possible.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="" xmlns:a16="http://schemas.microsoft.com/office/drawing/2014/main" id="{B34E8F8C-167C-49A9-BB01-50B5E361FCC7}"/>
              </a:ext>
            </a:extLst>
          </p:cNvPr>
          <p:cNvSpPr txBox="1"/>
          <p:nvPr/>
        </p:nvSpPr>
        <p:spPr>
          <a:xfrm>
            <a:off x="6855759" y="0"/>
            <a:ext cx="1600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NDFA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="" xmlns:a16="http://schemas.microsoft.com/office/drawing/2014/main" id="{CD207AB7-FD5D-45DA-A74B-31F2314C78DA}"/>
              </a:ext>
            </a:extLst>
          </p:cNvPr>
          <p:cNvSpPr txBox="1"/>
          <p:nvPr/>
        </p:nvSpPr>
        <p:spPr>
          <a:xfrm>
            <a:off x="645082" y="1255327"/>
            <a:ext cx="476304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All words that ends with aba.</a:t>
            </a:r>
            <a:endParaRPr lang="en-US" sz="2200" dirty="0"/>
          </a:p>
        </p:txBody>
      </p:sp>
      <p:sp>
        <p:nvSpPr>
          <p:cNvPr id="38" name="TextBox 37">
            <a:extLst>
              <a:ext uri="{FF2B5EF4-FFF2-40B4-BE49-F238E27FC236}">
                <a16:creationId xmlns="" xmlns:a16="http://schemas.microsoft.com/office/drawing/2014/main" id="{F98FFA43-7618-4602-828A-9E9802F87148}"/>
              </a:ext>
            </a:extLst>
          </p:cNvPr>
          <p:cNvSpPr txBox="1"/>
          <p:nvPr/>
        </p:nvSpPr>
        <p:spPr>
          <a:xfrm>
            <a:off x="5793306" y="1470770"/>
            <a:ext cx="4763046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All words that ends with aba.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</a:t>
            </a:r>
            <a:r>
              <a:rPr lang="en-US" sz="3600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</a:t>
            </a:r>
            <a:endParaRPr lang="en-US" sz="3600" dirty="0"/>
          </a:p>
        </p:txBody>
      </p:sp>
      <p:sp>
        <p:nvSpPr>
          <p:cNvPr id="39" name="Oval 38">
            <a:extLst>
              <a:ext uri="{FF2B5EF4-FFF2-40B4-BE49-F238E27FC236}">
                <a16:creationId xmlns="" xmlns:a16="http://schemas.microsoft.com/office/drawing/2014/main" id="{C04827AB-DD9A-4ED6-85A1-B6B5EA8D74CE}"/>
              </a:ext>
            </a:extLst>
          </p:cNvPr>
          <p:cNvSpPr/>
          <p:nvPr/>
        </p:nvSpPr>
        <p:spPr>
          <a:xfrm>
            <a:off x="6486746" y="3963569"/>
            <a:ext cx="697006" cy="712694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x0</a:t>
            </a:r>
          </a:p>
        </p:txBody>
      </p:sp>
      <p:sp>
        <p:nvSpPr>
          <p:cNvPr id="40" name="Oval 39">
            <a:extLst>
              <a:ext uri="{FF2B5EF4-FFF2-40B4-BE49-F238E27FC236}">
                <a16:creationId xmlns="" xmlns:a16="http://schemas.microsoft.com/office/drawing/2014/main" id="{CA0A025A-21AA-4275-B28C-53DF98FBBD62}"/>
              </a:ext>
            </a:extLst>
          </p:cNvPr>
          <p:cNvSpPr/>
          <p:nvPr/>
        </p:nvSpPr>
        <p:spPr>
          <a:xfrm>
            <a:off x="7941653" y="3950317"/>
            <a:ext cx="697006" cy="712694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x1</a:t>
            </a:r>
          </a:p>
        </p:txBody>
      </p:sp>
      <p:sp>
        <p:nvSpPr>
          <p:cNvPr id="41" name="Oval 40">
            <a:extLst>
              <a:ext uri="{FF2B5EF4-FFF2-40B4-BE49-F238E27FC236}">
                <a16:creationId xmlns="" xmlns:a16="http://schemas.microsoft.com/office/drawing/2014/main" id="{232661FD-3231-48C1-A2C5-6DC574BF9AAE}"/>
              </a:ext>
            </a:extLst>
          </p:cNvPr>
          <p:cNvSpPr/>
          <p:nvPr/>
        </p:nvSpPr>
        <p:spPr>
          <a:xfrm>
            <a:off x="9411634" y="3937065"/>
            <a:ext cx="697006" cy="712694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x2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="" xmlns:a16="http://schemas.microsoft.com/office/drawing/2014/main" id="{C3D49387-B6BD-4C8C-8B72-4994398480E7}"/>
              </a:ext>
            </a:extLst>
          </p:cNvPr>
          <p:cNvCxnSpPr/>
          <p:nvPr/>
        </p:nvCxnSpPr>
        <p:spPr>
          <a:xfrm>
            <a:off x="5989984" y="4319916"/>
            <a:ext cx="48354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6" name="Group 45">
            <a:extLst>
              <a:ext uri="{FF2B5EF4-FFF2-40B4-BE49-F238E27FC236}">
                <a16:creationId xmlns="" xmlns:a16="http://schemas.microsoft.com/office/drawing/2014/main" id="{B1BA9B08-4F24-41E4-BBCB-8849CA4AEFEC}"/>
              </a:ext>
            </a:extLst>
          </p:cNvPr>
          <p:cNvGrpSpPr/>
          <p:nvPr/>
        </p:nvGrpSpPr>
        <p:grpSpPr>
          <a:xfrm>
            <a:off x="10899171" y="3875484"/>
            <a:ext cx="803344" cy="835855"/>
            <a:chOff x="5184749" y="4682255"/>
            <a:chExt cx="803344" cy="835855"/>
          </a:xfrm>
        </p:grpSpPr>
        <p:sp>
          <p:nvSpPr>
            <p:cNvPr id="44" name="Oval 43">
              <a:extLst>
                <a:ext uri="{FF2B5EF4-FFF2-40B4-BE49-F238E27FC236}">
                  <a16:creationId xmlns="" xmlns:a16="http://schemas.microsoft.com/office/drawing/2014/main" id="{8F9CDE5C-96FF-4D40-8E35-EF044400A0D6}"/>
                </a:ext>
              </a:extLst>
            </p:cNvPr>
            <p:cNvSpPr/>
            <p:nvPr/>
          </p:nvSpPr>
          <p:spPr>
            <a:xfrm>
              <a:off x="5184749" y="4682255"/>
              <a:ext cx="803344" cy="835855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5" name="Oval 44">
              <a:extLst>
                <a:ext uri="{FF2B5EF4-FFF2-40B4-BE49-F238E27FC236}">
                  <a16:creationId xmlns="" xmlns:a16="http://schemas.microsoft.com/office/drawing/2014/main" id="{3F768F3B-81D9-4CAF-AF6E-D9F095B52C67}"/>
                </a:ext>
              </a:extLst>
            </p:cNvPr>
            <p:cNvSpPr/>
            <p:nvPr/>
          </p:nvSpPr>
          <p:spPr>
            <a:xfrm>
              <a:off x="5241993" y="4745149"/>
              <a:ext cx="697006" cy="712694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x3</a:t>
              </a:r>
            </a:p>
          </p:txBody>
        </p:sp>
      </p:grpSp>
      <p:cxnSp>
        <p:nvCxnSpPr>
          <p:cNvPr id="47" name="Straight Arrow Connector 46">
            <a:extLst>
              <a:ext uri="{FF2B5EF4-FFF2-40B4-BE49-F238E27FC236}">
                <a16:creationId xmlns="" xmlns:a16="http://schemas.microsoft.com/office/drawing/2014/main" id="{70450A69-B259-4D3C-979E-FA0A2CFE43C1}"/>
              </a:ext>
            </a:extLst>
          </p:cNvPr>
          <p:cNvCxnSpPr/>
          <p:nvPr/>
        </p:nvCxnSpPr>
        <p:spPr>
          <a:xfrm>
            <a:off x="8665163" y="4293412"/>
            <a:ext cx="731983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="" xmlns:a16="http://schemas.microsoft.com/office/drawing/2014/main" id="{E925179F-02E3-405F-935C-31689533E68E}"/>
              </a:ext>
            </a:extLst>
          </p:cNvPr>
          <p:cNvCxnSpPr/>
          <p:nvPr/>
        </p:nvCxnSpPr>
        <p:spPr>
          <a:xfrm>
            <a:off x="7210256" y="4306664"/>
            <a:ext cx="731983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="" xmlns:a16="http://schemas.microsoft.com/office/drawing/2014/main" id="{30719D9B-9EE0-4E4C-9F3C-DAE990982348}"/>
              </a:ext>
            </a:extLst>
          </p:cNvPr>
          <p:cNvCxnSpPr/>
          <p:nvPr/>
        </p:nvCxnSpPr>
        <p:spPr>
          <a:xfrm>
            <a:off x="10157495" y="4286152"/>
            <a:ext cx="731983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="" xmlns:a16="http://schemas.microsoft.com/office/drawing/2014/main" id="{DAD597C4-9FEB-467A-9A23-42F3D849E432}"/>
              </a:ext>
            </a:extLst>
          </p:cNvPr>
          <p:cNvSpPr txBox="1"/>
          <p:nvPr/>
        </p:nvSpPr>
        <p:spPr>
          <a:xfrm>
            <a:off x="7323732" y="3858527"/>
            <a:ext cx="2719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="" xmlns:a16="http://schemas.microsoft.com/office/drawing/2014/main" id="{82B3A5BA-A96E-47A4-9B2A-8E43F1CDC92F}"/>
              </a:ext>
            </a:extLst>
          </p:cNvPr>
          <p:cNvSpPr txBox="1"/>
          <p:nvPr/>
        </p:nvSpPr>
        <p:spPr>
          <a:xfrm>
            <a:off x="10318246" y="3858251"/>
            <a:ext cx="2719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="" xmlns:a16="http://schemas.microsoft.com/office/drawing/2014/main" id="{466F6746-AB92-4F07-84C5-D86BB87BBBF0}"/>
              </a:ext>
            </a:extLst>
          </p:cNvPr>
          <p:cNvSpPr txBox="1"/>
          <p:nvPr/>
        </p:nvSpPr>
        <p:spPr>
          <a:xfrm>
            <a:off x="8813526" y="3875484"/>
            <a:ext cx="2719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55" name="Arc 54">
            <a:extLst>
              <a:ext uri="{FF2B5EF4-FFF2-40B4-BE49-F238E27FC236}">
                <a16:creationId xmlns="" xmlns:a16="http://schemas.microsoft.com/office/drawing/2014/main" id="{849113FD-8B93-49B4-9FEC-B701B2B20C6B}"/>
              </a:ext>
            </a:extLst>
          </p:cNvPr>
          <p:cNvSpPr/>
          <p:nvPr/>
        </p:nvSpPr>
        <p:spPr>
          <a:xfrm>
            <a:off x="6586120" y="3539957"/>
            <a:ext cx="471227" cy="887105"/>
          </a:xfrm>
          <a:prstGeom prst="arc">
            <a:avLst>
              <a:gd name="adj1" fmla="val 10711483"/>
              <a:gd name="adj2" fmla="val 0"/>
            </a:avLst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="" xmlns:a16="http://schemas.microsoft.com/office/drawing/2014/main" id="{FCEFE45B-CEA6-4498-8008-059E264EE9F2}"/>
              </a:ext>
            </a:extLst>
          </p:cNvPr>
          <p:cNvSpPr txBox="1"/>
          <p:nvPr/>
        </p:nvSpPr>
        <p:spPr>
          <a:xfrm>
            <a:off x="6548410" y="3109287"/>
            <a:ext cx="5657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a/b</a:t>
            </a:r>
          </a:p>
        </p:txBody>
      </p:sp>
      <p:grpSp>
        <p:nvGrpSpPr>
          <p:cNvPr id="57" name="Group 56">
            <a:extLst>
              <a:ext uri="{FF2B5EF4-FFF2-40B4-BE49-F238E27FC236}">
                <a16:creationId xmlns="" xmlns:a16="http://schemas.microsoft.com/office/drawing/2014/main" id="{8D3C0EC3-1E6A-436B-B406-38A549AC7268}"/>
              </a:ext>
            </a:extLst>
          </p:cNvPr>
          <p:cNvGrpSpPr/>
          <p:nvPr/>
        </p:nvGrpSpPr>
        <p:grpSpPr>
          <a:xfrm rot="18867934">
            <a:off x="5867045" y="3049583"/>
            <a:ext cx="369332" cy="1274995"/>
            <a:chOff x="7019630" y="2204898"/>
            <a:chExt cx="369332" cy="1005795"/>
          </a:xfrm>
        </p:grpSpPr>
        <p:sp>
          <p:nvSpPr>
            <p:cNvPr id="58" name="Arrow: Up 57">
              <a:extLst>
                <a:ext uri="{FF2B5EF4-FFF2-40B4-BE49-F238E27FC236}">
                  <a16:creationId xmlns="" xmlns:a16="http://schemas.microsoft.com/office/drawing/2014/main" id="{E93022AA-FD9E-4354-A4A7-DF5F91C23E96}"/>
                </a:ext>
              </a:extLst>
            </p:cNvPr>
            <p:cNvSpPr/>
            <p:nvPr/>
          </p:nvSpPr>
          <p:spPr>
            <a:xfrm rot="10800000">
              <a:off x="7044865" y="2571551"/>
              <a:ext cx="191070" cy="639142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9" name="TextBox 58">
              <a:extLst>
                <a:ext uri="{FF2B5EF4-FFF2-40B4-BE49-F238E27FC236}">
                  <a16:creationId xmlns="" xmlns:a16="http://schemas.microsoft.com/office/drawing/2014/main" id="{BAF74065-B1AC-4D5B-9613-553AA58A4378}"/>
                </a:ext>
              </a:extLst>
            </p:cNvPr>
            <p:cNvSpPr txBox="1"/>
            <p:nvPr/>
          </p:nvSpPr>
          <p:spPr>
            <a:xfrm rot="2732066">
              <a:off x="6923696" y="2300832"/>
              <a:ext cx="5611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CS-1</a:t>
              </a: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="" xmlns:a16="http://schemas.microsoft.com/office/drawing/2014/main" id="{A07A9414-AC5B-4369-AC6A-00609C53E664}"/>
              </a:ext>
            </a:extLst>
          </p:cNvPr>
          <p:cNvGrpSpPr/>
          <p:nvPr/>
        </p:nvGrpSpPr>
        <p:grpSpPr>
          <a:xfrm>
            <a:off x="9477490" y="2723944"/>
            <a:ext cx="686790" cy="1161419"/>
            <a:chOff x="6884230" y="2294494"/>
            <a:chExt cx="686790" cy="916199"/>
          </a:xfrm>
        </p:grpSpPr>
        <p:sp>
          <p:nvSpPr>
            <p:cNvPr id="64" name="Arrow: Up 63">
              <a:extLst>
                <a:ext uri="{FF2B5EF4-FFF2-40B4-BE49-F238E27FC236}">
                  <a16:creationId xmlns="" xmlns:a16="http://schemas.microsoft.com/office/drawing/2014/main" id="{D2C981A1-EDB1-46C9-B578-9C61753C3ADB}"/>
                </a:ext>
              </a:extLst>
            </p:cNvPr>
            <p:cNvSpPr/>
            <p:nvPr/>
          </p:nvSpPr>
          <p:spPr>
            <a:xfrm rot="10800000">
              <a:off x="7044865" y="2571551"/>
              <a:ext cx="191070" cy="639142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5" name="TextBox 64">
              <a:extLst>
                <a:ext uri="{FF2B5EF4-FFF2-40B4-BE49-F238E27FC236}">
                  <a16:creationId xmlns="" xmlns:a16="http://schemas.microsoft.com/office/drawing/2014/main" id="{19C23E79-AF52-4EE2-8B1E-AFA079E785CF}"/>
                </a:ext>
              </a:extLst>
            </p:cNvPr>
            <p:cNvSpPr txBox="1"/>
            <p:nvPr/>
          </p:nvSpPr>
          <p:spPr>
            <a:xfrm>
              <a:off x="6884230" y="2294494"/>
              <a:ext cx="686790" cy="2913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CS-3</a:t>
              </a:r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="" xmlns:a16="http://schemas.microsoft.com/office/drawing/2014/main" id="{CE8B48B9-F314-4344-B805-06B540012D7F}"/>
              </a:ext>
            </a:extLst>
          </p:cNvPr>
          <p:cNvGrpSpPr/>
          <p:nvPr/>
        </p:nvGrpSpPr>
        <p:grpSpPr>
          <a:xfrm>
            <a:off x="7989761" y="2754250"/>
            <a:ext cx="686790" cy="1161419"/>
            <a:chOff x="6884230" y="2294494"/>
            <a:chExt cx="686790" cy="916199"/>
          </a:xfrm>
        </p:grpSpPr>
        <p:sp>
          <p:nvSpPr>
            <p:cNvPr id="61" name="Arrow: Up 60">
              <a:extLst>
                <a:ext uri="{FF2B5EF4-FFF2-40B4-BE49-F238E27FC236}">
                  <a16:creationId xmlns="" xmlns:a16="http://schemas.microsoft.com/office/drawing/2014/main" id="{457D60D8-CB9B-4BC7-B044-50D3DC04C948}"/>
                </a:ext>
              </a:extLst>
            </p:cNvPr>
            <p:cNvSpPr/>
            <p:nvPr/>
          </p:nvSpPr>
          <p:spPr>
            <a:xfrm rot="10800000">
              <a:off x="7044865" y="2571551"/>
              <a:ext cx="191070" cy="639142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2" name="TextBox 61">
              <a:extLst>
                <a:ext uri="{FF2B5EF4-FFF2-40B4-BE49-F238E27FC236}">
                  <a16:creationId xmlns="" xmlns:a16="http://schemas.microsoft.com/office/drawing/2014/main" id="{9FB39D47-08D0-4DC8-ACE5-6046829826C5}"/>
                </a:ext>
              </a:extLst>
            </p:cNvPr>
            <p:cNvSpPr txBox="1"/>
            <p:nvPr/>
          </p:nvSpPr>
          <p:spPr>
            <a:xfrm>
              <a:off x="6884230" y="2294494"/>
              <a:ext cx="686790" cy="2913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CS-4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963316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149AD530-6C2A-44EA-A853-BAC2857EF1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904" y="858414"/>
            <a:ext cx="4876872" cy="460871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Backtracking is allowed in DFA.</a:t>
            </a:r>
          </a:p>
          <a:p>
            <a:pPr marL="457200" indent="-457200">
              <a:buFont typeface="+mj-lt"/>
              <a:buAutoNum type="arabicPeriod" startAt="3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E7E875E4-C02C-44AD-9251-3D0D7CDF2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26D1DE06-0720-4572-BF37-034426FE1CD7}"/>
              </a:ext>
            </a:extLst>
          </p:cNvPr>
          <p:cNvSpPr txBox="1"/>
          <p:nvPr/>
        </p:nvSpPr>
        <p:spPr>
          <a:xfrm>
            <a:off x="1529669" y="33241"/>
            <a:ext cx="1600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DFA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="" xmlns:a16="http://schemas.microsoft.com/office/drawing/2014/main" id="{E13E761C-7E8C-455A-B10F-FF97B9D81750}"/>
              </a:ext>
            </a:extLst>
          </p:cNvPr>
          <p:cNvGrpSpPr/>
          <p:nvPr/>
        </p:nvGrpSpPr>
        <p:grpSpPr>
          <a:xfrm>
            <a:off x="389769" y="1761566"/>
            <a:ext cx="5586961" cy="1860226"/>
            <a:chOff x="470451" y="2429960"/>
            <a:chExt cx="6403942" cy="1860226"/>
          </a:xfrm>
        </p:grpSpPr>
        <p:sp>
          <p:nvSpPr>
            <p:cNvPr id="8" name="Oval 7">
              <a:extLst>
                <a:ext uri="{FF2B5EF4-FFF2-40B4-BE49-F238E27FC236}">
                  <a16:creationId xmlns="" xmlns:a16="http://schemas.microsoft.com/office/drawing/2014/main" id="{EDD2A173-63F4-4A80-96B9-79D5A7A31D1C}"/>
                </a:ext>
              </a:extLst>
            </p:cNvPr>
            <p:cNvSpPr/>
            <p:nvPr/>
          </p:nvSpPr>
          <p:spPr>
            <a:xfrm>
              <a:off x="1130579" y="3333906"/>
              <a:ext cx="723331" cy="63914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x0</a:t>
              </a: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="" xmlns:a16="http://schemas.microsoft.com/office/drawing/2014/main" id="{B167B8FE-18DA-468D-9F34-C584DF4C213E}"/>
                </a:ext>
              </a:extLst>
            </p:cNvPr>
            <p:cNvCxnSpPr/>
            <p:nvPr/>
          </p:nvCxnSpPr>
          <p:spPr>
            <a:xfrm>
              <a:off x="470451" y="3673964"/>
              <a:ext cx="573062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Oval 9">
              <a:extLst>
                <a:ext uri="{FF2B5EF4-FFF2-40B4-BE49-F238E27FC236}">
                  <a16:creationId xmlns="" xmlns:a16="http://schemas.microsoft.com/office/drawing/2014/main" id="{F032099B-FB70-499B-B9CB-2153679670AF}"/>
                </a:ext>
              </a:extLst>
            </p:cNvPr>
            <p:cNvSpPr/>
            <p:nvPr/>
          </p:nvSpPr>
          <p:spPr>
            <a:xfrm>
              <a:off x="2765510" y="3333906"/>
              <a:ext cx="723331" cy="63914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x1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="" xmlns:a16="http://schemas.microsoft.com/office/drawing/2014/main" id="{A46E03FE-0352-4BA0-94CE-3CBBC1232E6A}"/>
                </a:ext>
              </a:extLst>
            </p:cNvPr>
            <p:cNvSpPr/>
            <p:nvPr/>
          </p:nvSpPr>
          <p:spPr>
            <a:xfrm>
              <a:off x="4400441" y="3307012"/>
              <a:ext cx="723331" cy="63914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x2</a:t>
              </a: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="" xmlns:a16="http://schemas.microsoft.com/office/drawing/2014/main" id="{49347AD5-0329-4828-BEAA-DE17AA128978}"/>
                </a:ext>
              </a:extLst>
            </p:cNvPr>
            <p:cNvGrpSpPr/>
            <p:nvPr/>
          </p:nvGrpSpPr>
          <p:grpSpPr>
            <a:xfrm>
              <a:off x="6035372" y="3170957"/>
              <a:ext cx="839021" cy="802091"/>
              <a:chOff x="10512625" y="1744747"/>
              <a:chExt cx="839021" cy="802091"/>
            </a:xfrm>
          </p:grpSpPr>
          <p:sp>
            <p:nvSpPr>
              <p:cNvPr id="13" name="Oval 12">
                <a:extLst>
                  <a:ext uri="{FF2B5EF4-FFF2-40B4-BE49-F238E27FC236}">
                    <a16:creationId xmlns="" xmlns:a16="http://schemas.microsoft.com/office/drawing/2014/main" id="{06A6A055-73AA-42D4-81CF-0021044FCC67}"/>
                  </a:ext>
                </a:extLst>
              </p:cNvPr>
              <p:cNvSpPr/>
              <p:nvPr/>
            </p:nvSpPr>
            <p:spPr>
              <a:xfrm>
                <a:off x="10512625" y="1744747"/>
                <a:ext cx="839021" cy="802091"/>
              </a:xfrm>
              <a:prstGeom prst="ellips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4" name="Oval 13">
                <a:extLst>
                  <a:ext uri="{FF2B5EF4-FFF2-40B4-BE49-F238E27FC236}">
                    <a16:creationId xmlns="" xmlns:a16="http://schemas.microsoft.com/office/drawing/2014/main" id="{B0C94D19-8E49-4955-8F65-F2A1695D3938}"/>
                  </a:ext>
                </a:extLst>
              </p:cNvPr>
              <p:cNvSpPr/>
              <p:nvPr/>
            </p:nvSpPr>
            <p:spPr>
              <a:xfrm>
                <a:off x="10585318" y="1837172"/>
                <a:ext cx="681980" cy="628192"/>
              </a:xfrm>
              <a:prstGeom prst="ellips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x3</a:t>
                </a:r>
              </a:p>
            </p:txBody>
          </p:sp>
        </p:grpSp>
        <p:cxnSp>
          <p:nvCxnSpPr>
            <p:cNvPr id="15" name="Straight Arrow Connector 14">
              <a:extLst>
                <a:ext uri="{FF2B5EF4-FFF2-40B4-BE49-F238E27FC236}">
                  <a16:creationId xmlns="" xmlns:a16="http://schemas.microsoft.com/office/drawing/2014/main" id="{CF3E0BDF-810B-4F55-B7EA-0389F91D35A4}"/>
                </a:ext>
              </a:extLst>
            </p:cNvPr>
            <p:cNvCxnSpPr/>
            <p:nvPr/>
          </p:nvCxnSpPr>
          <p:spPr>
            <a:xfrm>
              <a:off x="1914097" y="3662038"/>
              <a:ext cx="839021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="" xmlns:a16="http://schemas.microsoft.com/office/drawing/2014/main" id="{21D2F5CA-FBDF-414C-838D-0A9B5FC4430A}"/>
                </a:ext>
              </a:extLst>
            </p:cNvPr>
            <p:cNvCxnSpPr/>
            <p:nvPr/>
          </p:nvCxnSpPr>
          <p:spPr>
            <a:xfrm>
              <a:off x="3534916" y="3639972"/>
              <a:ext cx="839021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="" xmlns:a16="http://schemas.microsoft.com/office/drawing/2014/main" id="{AA1CBC00-C8B1-44E9-8B2A-D774D4C8057E}"/>
                </a:ext>
              </a:extLst>
            </p:cNvPr>
            <p:cNvCxnSpPr/>
            <p:nvPr/>
          </p:nvCxnSpPr>
          <p:spPr>
            <a:xfrm>
              <a:off x="5169847" y="3639972"/>
              <a:ext cx="839021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="" xmlns:a16="http://schemas.microsoft.com/office/drawing/2014/main" id="{7FCBCE34-8F1D-4494-B37C-ABE96FD57666}"/>
                </a:ext>
              </a:extLst>
            </p:cNvPr>
            <p:cNvSpPr txBox="1"/>
            <p:nvPr/>
          </p:nvSpPr>
          <p:spPr>
            <a:xfrm>
              <a:off x="2089212" y="3191812"/>
              <a:ext cx="3117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="" xmlns:a16="http://schemas.microsoft.com/office/drawing/2014/main" id="{CC77AC81-ED5E-47AC-A744-914483C03C0C}"/>
                </a:ext>
              </a:extLst>
            </p:cNvPr>
            <p:cNvSpPr txBox="1"/>
            <p:nvPr/>
          </p:nvSpPr>
          <p:spPr>
            <a:xfrm>
              <a:off x="3697547" y="3212299"/>
              <a:ext cx="3117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="" xmlns:a16="http://schemas.microsoft.com/office/drawing/2014/main" id="{8E3BF89E-56F8-4EB4-AD82-9142DBD6A27C}"/>
                </a:ext>
              </a:extLst>
            </p:cNvPr>
            <p:cNvSpPr txBox="1"/>
            <p:nvPr/>
          </p:nvSpPr>
          <p:spPr>
            <a:xfrm>
              <a:off x="5358816" y="3172033"/>
              <a:ext cx="3117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="" xmlns:a16="http://schemas.microsoft.com/office/drawing/2014/main" id="{A9C0D6FE-F7E5-434B-BABF-3049C2B33D69}"/>
                </a:ext>
              </a:extLst>
            </p:cNvPr>
            <p:cNvGrpSpPr/>
            <p:nvPr/>
          </p:nvGrpSpPr>
          <p:grpSpPr>
            <a:xfrm rot="10370240">
              <a:off x="1185958" y="2890353"/>
              <a:ext cx="540585" cy="887105"/>
              <a:chOff x="1984650" y="2985447"/>
              <a:chExt cx="540585" cy="887105"/>
            </a:xfrm>
          </p:grpSpPr>
          <p:sp>
            <p:nvSpPr>
              <p:cNvPr id="22" name="Arc 21">
                <a:extLst>
                  <a:ext uri="{FF2B5EF4-FFF2-40B4-BE49-F238E27FC236}">
                    <a16:creationId xmlns="" xmlns:a16="http://schemas.microsoft.com/office/drawing/2014/main" id="{177ECB2A-EFAE-4453-93C0-A41752FCEBB3}"/>
                  </a:ext>
                </a:extLst>
              </p:cNvPr>
              <p:cNvSpPr/>
              <p:nvPr/>
            </p:nvSpPr>
            <p:spPr>
              <a:xfrm rot="11054314">
                <a:off x="1985101" y="2985447"/>
                <a:ext cx="540134" cy="887105"/>
              </a:xfrm>
              <a:prstGeom prst="arc">
                <a:avLst>
                  <a:gd name="adj1" fmla="val 10711483"/>
                  <a:gd name="adj2" fmla="val 0"/>
                </a:avLst>
              </a:prstGeom>
              <a:ln w="254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3" name="Straight Arrow Connector 22">
                <a:extLst>
                  <a:ext uri="{FF2B5EF4-FFF2-40B4-BE49-F238E27FC236}">
                    <a16:creationId xmlns="" xmlns:a16="http://schemas.microsoft.com/office/drawing/2014/main" id="{F995BD76-CADF-4733-ACDA-E945D5FED785}"/>
                  </a:ext>
                </a:extLst>
              </p:cNvPr>
              <p:cNvCxnSpPr/>
              <p:nvPr/>
            </p:nvCxnSpPr>
            <p:spPr>
              <a:xfrm rot="11054314">
                <a:off x="1984650" y="3331902"/>
                <a:ext cx="0" cy="95534"/>
              </a:xfrm>
              <a:prstGeom prst="straightConnector1">
                <a:avLst/>
              </a:prstGeom>
              <a:ln w="25400">
                <a:solidFill>
                  <a:schemeClr val="bg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4" name="TextBox 23">
              <a:extLst>
                <a:ext uri="{FF2B5EF4-FFF2-40B4-BE49-F238E27FC236}">
                  <a16:creationId xmlns="" xmlns:a16="http://schemas.microsoft.com/office/drawing/2014/main" id="{9FF65C04-6E36-440B-8DB3-19D0DD25E1D5}"/>
                </a:ext>
              </a:extLst>
            </p:cNvPr>
            <p:cNvSpPr txBox="1"/>
            <p:nvPr/>
          </p:nvSpPr>
          <p:spPr>
            <a:xfrm>
              <a:off x="1180516" y="2457327"/>
              <a:ext cx="3117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  <p:grpSp>
          <p:nvGrpSpPr>
            <p:cNvPr id="25" name="Group 24">
              <a:extLst>
                <a:ext uri="{FF2B5EF4-FFF2-40B4-BE49-F238E27FC236}">
                  <a16:creationId xmlns="" xmlns:a16="http://schemas.microsoft.com/office/drawing/2014/main" id="{95283B76-D290-48F4-882C-4B73696475FC}"/>
                </a:ext>
              </a:extLst>
            </p:cNvPr>
            <p:cNvGrpSpPr/>
            <p:nvPr/>
          </p:nvGrpSpPr>
          <p:grpSpPr>
            <a:xfrm rot="10370240">
              <a:off x="2836093" y="2873340"/>
              <a:ext cx="540585" cy="887105"/>
              <a:chOff x="1984650" y="2985447"/>
              <a:chExt cx="540585" cy="887105"/>
            </a:xfrm>
          </p:grpSpPr>
          <p:sp>
            <p:nvSpPr>
              <p:cNvPr id="26" name="Arc 25">
                <a:extLst>
                  <a:ext uri="{FF2B5EF4-FFF2-40B4-BE49-F238E27FC236}">
                    <a16:creationId xmlns="" xmlns:a16="http://schemas.microsoft.com/office/drawing/2014/main" id="{43BB7691-F2E4-46BF-906F-C4CCEF7D55D9}"/>
                  </a:ext>
                </a:extLst>
              </p:cNvPr>
              <p:cNvSpPr/>
              <p:nvPr/>
            </p:nvSpPr>
            <p:spPr>
              <a:xfrm rot="11054314">
                <a:off x="1985101" y="2985447"/>
                <a:ext cx="540134" cy="887105"/>
              </a:xfrm>
              <a:prstGeom prst="arc">
                <a:avLst>
                  <a:gd name="adj1" fmla="val 10711483"/>
                  <a:gd name="adj2" fmla="val 0"/>
                </a:avLst>
              </a:prstGeom>
              <a:ln w="254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7" name="Straight Arrow Connector 26">
                <a:extLst>
                  <a:ext uri="{FF2B5EF4-FFF2-40B4-BE49-F238E27FC236}">
                    <a16:creationId xmlns="" xmlns:a16="http://schemas.microsoft.com/office/drawing/2014/main" id="{7D03CC14-B08B-467F-A77E-2F642111408F}"/>
                  </a:ext>
                </a:extLst>
              </p:cNvPr>
              <p:cNvCxnSpPr/>
              <p:nvPr/>
            </p:nvCxnSpPr>
            <p:spPr>
              <a:xfrm rot="11054314">
                <a:off x="1984650" y="3331902"/>
                <a:ext cx="0" cy="95534"/>
              </a:xfrm>
              <a:prstGeom prst="straightConnector1">
                <a:avLst/>
              </a:prstGeom>
              <a:ln w="25400">
                <a:solidFill>
                  <a:schemeClr val="bg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8" name="TextBox 27">
              <a:extLst>
                <a:ext uri="{FF2B5EF4-FFF2-40B4-BE49-F238E27FC236}">
                  <a16:creationId xmlns="" xmlns:a16="http://schemas.microsoft.com/office/drawing/2014/main" id="{624BB0EE-6A5B-4B02-82D4-235316C7D61D}"/>
                </a:ext>
              </a:extLst>
            </p:cNvPr>
            <p:cNvSpPr txBox="1"/>
            <p:nvPr/>
          </p:nvSpPr>
          <p:spPr>
            <a:xfrm>
              <a:off x="2906302" y="2429960"/>
              <a:ext cx="3117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29" name="Arrow: Curved Down 28">
              <a:extLst>
                <a:ext uri="{FF2B5EF4-FFF2-40B4-BE49-F238E27FC236}">
                  <a16:creationId xmlns="" xmlns:a16="http://schemas.microsoft.com/office/drawing/2014/main" id="{941EC0F0-A84F-48C9-87D0-10CEDCA8CD61}"/>
                </a:ext>
              </a:extLst>
            </p:cNvPr>
            <p:cNvSpPr/>
            <p:nvPr/>
          </p:nvSpPr>
          <p:spPr>
            <a:xfrm rot="10800000">
              <a:off x="1659826" y="3958135"/>
              <a:ext cx="2908196" cy="256814"/>
            </a:xfrm>
            <a:prstGeom prst="curvedDownArrow">
              <a:avLst>
                <a:gd name="adj1" fmla="val 11615"/>
                <a:gd name="adj2" fmla="val 50000"/>
                <a:gd name="adj3" fmla="val 25000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="" xmlns:a16="http://schemas.microsoft.com/office/drawing/2014/main" id="{4ED6617C-6176-4E5A-97A8-7060AB131E68}"/>
                </a:ext>
              </a:extLst>
            </p:cNvPr>
            <p:cNvSpPr txBox="1"/>
            <p:nvPr/>
          </p:nvSpPr>
          <p:spPr>
            <a:xfrm>
              <a:off x="3306612" y="3828521"/>
              <a:ext cx="3117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31" name="Arrow: Curved Down 30">
              <a:extLst>
                <a:ext uri="{FF2B5EF4-FFF2-40B4-BE49-F238E27FC236}">
                  <a16:creationId xmlns="" xmlns:a16="http://schemas.microsoft.com/office/drawing/2014/main" id="{164BCBA0-BA6D-4830-A4C7-0273A3ACF31A}"/>
                </a:ext>
              </a:extLst>
            </p:cNvPr>
            <p:cNvSpPr/>
            <p:nvPr/>
          </p:nvSpPr>
          <p:spPr>
            <a:xfrm rot="10800000">
              <a:off x="5046391" y="3906855"/>
              <a:ext cx="1049609" cy="203318"/>
            </a:xfrm>
            <a:prstGeom prst="curvedDownArrow">
              <a:avLst>
                <a:gd name="adj1" fmla="val 11615"/>
                <a:gd name="adj2" fmla="val 50000"/>
                <a:gd name="adj3" fmla="val 25000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="" xmlns:a16="http://schemas.microsoft.com/office/drawing/2014/main" id="{D1B5F6D8-B479-4A51-8B85-C90FEF56C3B4}"/>
                </a:ext>
              </a:extLst>
            </p:cNvPr>
            <p:cNvSpPr txBox="1"/>
            <p:nvPr/>
          </p:nvSpPr>
          <p:spPr>
            <a:xfrm>
              <a:off x="5418452" y="3735245"/>
              <a:ext cx="3117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33" name="Arrow: Curved Up 32">
              <a:extLst>
                <a:ext uri="{FF2B5EF4-FFF2-40B4-BE49-F238E27FC236}">
                  <a16:creationId xmlns="" xmlns:a16="http://schemas.microsoft.com/office/drawing/2014/main" id="{883BCDAA-DF6B-4CE1-A7DF-CEA9CF6A7531}"/>
                </a:ext>
              </a:extLst>
            </p:cNvPr>
            <p:cNvSpPr/>
            <p:nvPr/>
          </p:nvSpPr>
          <p:spPr>
            <a:xfrm rot="10601653">
              <a:off x="3340408" y="2885646"/>
              <a:ext cx="2898449" cy="392783"/>
            </a:xfrm>
            <a:prstGeom prst="curvedUpArrow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="" xmlns:a16="http://schemas.microsoft.com/office/drawing/2014/main" id="{C5839F56-250D-47CC-877C-BC0884BC986F}"/>
                </a:ext>
              </a:extLst>
            </p:cNvPr>
            <p:cNvSpPr txBox="1"/>
            <p:nvPr/>
          </p:nvSpPr>
          <p:spPr>
            <a:xfrm>
              <a:off x="4689579" y="2463044"/>
              <a:ext cx="3117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</p:grpSp>
      <p:sp>
        <p:nvSpPr>
          <p:cNvPr id="35" name="Content Placeholder 2">
            <a:extLst>
              <a:ext uri="{FF2B5EF4-FFF2-40B4-BE49-F238E27FC236}">
                <a16:creationId xmlns="" xmlns:a16="http://schemas.microsoft.com/office/drawing/2014/main" id="{F97922DE-7782-4701-9A67-30B071D7E716}"/>
              </a:ext>
            </a:extLst>
          </p:cNvPr>
          <p:cNvSpPr txBox="1">
            <a:spLocks/>
          </p:cNvSpPr>
          <p:nvPr/>
        </p:nvSpPr>
        <p:spPr>
          <a:xfrm>
            <a:off x="5373287" y="786600"/>
            <a:ext cx="4565144" cy="52848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457200" indent="-457200">
              <a:buFont typeface="+mj-lt"/>
              <a:buAutoNum type="arabicPeriod" startAt="3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NDFA, backtracking is not always possible.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="" xmlns:a16="http://schemas.microsoft.com/office/drawing/2014/main" id="{B34E8F8C-167C-49A9-BB01-50B5E361FCC7}"/>
              </a:ext>
            </a:extLst>
          </p:cNvPr>
          <p:cNvSpPr txBox="1"/>
          <p:nvPr/>
        </p:nvSpPr>
        <p:spPr>
          <a:xfrm>
            <a:off x="6855759" y="0"/>
            <a:ext cx="1600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NDFA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="" xmlns:a16="http://schemas.microsoft.com/office/drawing/2014/main" id="{CD207AB7-FD5D-45DA-A74B-31F2314C78DA}"/>
              </a:ext>
            </a:extLst>
          </p:cNvPr>
          <p:cNvSpPr txBox="1"/>
          <p:nvPr/>
        </p:nvSpPr>
        <p:spPr>
          <a:xfrm>
            <a:off x="645082" y="1255327"/>
            <a:ext cx="476304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All words that ends with aba.</a:t>
            </a:r>
            <a:endParaRPr lang="en-US" sz="2200" dirty="0"/>
          </a:p>
        </p:txBody>
      </p:sp>
      <p:sp>
        <p:nvSpPr>
          <p:cNvPr id="38" name="TextBox 37">
            <a:extLst>
              <a:ext uri="{FF2B5EF4-FFF2-40B4-BE49-F238E27FC236}">
                <a16:creationId xmlns="" xmlns:a16="http://schemas.microsoft.com/office/drawing/2014/main" id="{F98FFA43-7618-4602-828A-9E9802F87148}"/>
              </a:ext>
            </a:extLst>
          </p:cNvPr>
          <p:cNvSpPr txBox="1"/>
          <p:nvPr/>
        </p:nvSpPr>
        <p:spPr>
          <a:xfrm>
            <a:off x="5793306" y="1470770"/>
            <a:ext cx="4763046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All words that ends with aba.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</a:t>
            </a:r>
            <a:r>
              <a:rPr lang="en-US" sz="3600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</a:t>
            </a:r>
            <a:endParaRPr lang="en-US" sz="3600" dirty="0"/>
          </a:p>
        </p:txBody>
      </p:sp>
      <p:sp>
        <p:nvSpPr>
          <p:cNvPr id="39" name="Oval 38">
            <a:extLst>
              <a:ext uri="{FF2B5EF4-FFF2-40B4-BE49-F238E27FC236}">
                <a16:creationId xmlns="" xmlns:a16="http://schemas.microsoft.com/office/drawing/2014/main" id="{C04827AB-DD9A-4ED6-85A1-B6B5EA8D74CE}"/>
              </a:ext>
            </a:extLst>
          </p:cNvPr>
          <p:cNvSpPr/>
          <p:nvPr/>
        </p:nvSpPr>
        <p:spPr>
          <a:xfrm>
            <a:off x="6486746" y="3963569"/>
            <a:ext cx="697006" cy="712694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x0</a:t>
            </a:r>
          </a:p>
        </p:txBody>
      </p:sp>
      <p:sp>
        <p:nvSpPr>
          <p:cNvPr id="40" name="Oval 39">
            <a:extLst>
              <a:ext uri="{FF2B5EF4-FFF2-40B4-BE49-F238E27FC236}">
                <a16:creationId xmlns="" xmlns:a16="http://schemas.microsoft.com/office/drawing/2014/main" id="{CA0A025A-21AA-4275-B28C-53DF98FBBD62}"/>
              </a:ext>
            </a:extLst>
          </p:cNvPr>
          <p:cNvSpPr/>
          <p:nvPr/>
        </p:nvSpPr>
        <p:spPr>
          <a:xfrm>
            <a:off x="7941653" y="3950317"/>
            <a:ext cx="697006" cy="712694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x1</a:t>
            </a:r>
          </a:p>
        </p:txBody>
      </p:sp>
      <p:sp>
        <p:nvSpPr>
          <p:cNvPr id="41" name="Oval 40">
            <a:extLst>
              <a:ext uri="{FF2B5EF4-FFF2-40B4-BE49-F238E27FC236}">
                <a16:creationId xmlns="" xmlns:a16="http://schemas.microsoft.com/office/drawing/2014/main" id="{232661FD-3231-48C1-A2C5-6DC574BF9AAE}"/>
              </a:ext>
            </a:extLst>
          </p:cNvPr>
          <p:cNvSpPr/>
          <p:nvPr/>
        </p:nvSpPr>
        <p:spPr>
          <a:xfrm>
            <a:off x="9411634" y="3937065"/>
            <a:ext cx="697006" cy="712694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x2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="" xmlns:a16="http://schemas.microsoft.com/office/drawing/2014/main" id="{C3D49387-B6BD-4C8C-8B72-4994398480E7}"/>
              </a:ext>
            </a:extLst>
          </p:cNvPr>
          <p:cNvCxnSpPr/>
          <p:nvPr/>
        </p:nvCxnSpPr>
        <p:spPr>
          <a:xfrm>
            <a:off x="5989984" y="4319916"/>
            <a:ext cx="48354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6" name="Group 45">
            <a:extLst>
              <a:ext uri="{FF2B5EF4-FFF2-40B4-BE49-F238E27FC236}">
                <a16:creationId xmlns="" xmlns:a16="http://schemas.microsoft.com/office/drawing/2014/main" id="{B1BA9B08-4F24-41E4-BBCB-8849CA4AEFEC}"/>
              </a:ext>
            </a:extLst>
          </p:cNvPr>
          <p:cNvGrpSpPr/>
          <p:nvPr/>
        </p:nvGrpSpPr>
        <p:grpSpPr>
          <a:xfrm>
            <a:off x="10899171" y="3875484"/>
            <a:ext cx="803344" cy="835855"/>
            <a:chOff x="5184749" y="4682255"/>
            <a:chExt cx="803344" cy="835855"/>
          </a:xfrm>
        </p:grpSpPr>
        <p:sp>
          <p:nvSpPr>
            <p:cNvPr id="44" name="Oval 43">
              <a:extLst>
                <a:ext uri="{FF2B5EF4-FFF2-40B4-BE49-F238E27FC236}">
                  <a16:creationId xmlns="" xmlns:a16="http://schemas.microsoft.com/office/drawing/2014/main" id="{8F9CDE5C-96FF-4D40-8E35-EF044400A0D6}"/>
                </a:ext>
              </a:extLst>
            </p:cNvPr>
            <p:cNvSpPr/>
            <p:nvPr/>
          </p:nvSpPr>
          <p:spPr>
            <a:xfrm>
              <a:off x="5184749" y="4682255"/>
              <a:ext cx="803344" cy="835855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5" name="Oval 44">
              <a:extLst>
                <a:ext uri="{FF2B5EF4-FFF2-40B4-BE49-F238E27FC236}">
                  <a16:creationId xmlns="" xmlns:a16="http://schemas.microsoft.com/office/drawing/2014/main" id="{3F768F3B-81D9-4CAF-AF6E-D9F095B52C67}"/>
                </a:ext>
              </a:extLst>
            </p:cNvPr>
            <p:cNvSpPr/>
            <p:nvPr/>
          </p:nvSpPr>
          <p:spPr>
            <a:xfrm>
              <a:off x="5241993" y="4745149"/>
              <a:ext cx="697006" cy="712694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x3</a:t>
              </a:r>
            </a:p>
          </p:txBody>
        </p:sp>
      </p:grpSp>
      <p:cxnSp>
        <p:nvCxnSpPr>
          <p:cNvPr id="47" name="Straight Arrow Connector 46">
            <a:extLst>
              <a:ext uri="{FF2B5EF4-FFF2-40B4-BE49-F238E27FC236}">
                <a16:creationId xmlns="" xmlns:a16="http://schemas.microsoft.com/office/drawing/2014/main" id="{70450A69-B259-4D3C-979E-FA0A2CFE43C1}"/>
              </a:ext>
            </a:extLst>
          </p:cNvPr>
          <p:cNvCxnSpPr/>
          <p:nvPr/>
        </p:nvCxnSpPr>
        <p:spPr>
          <a:xfrm>
            <a:off x="8665163" y="4293412"/>
            <a:ext cx="731983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="" xmlns:a16="http://schemas.microsoft.com/office/drawing/2014/main" id="{E925179F-02E3-405F-935C-31689533E68E}"/>
              </a:ext>
            </a:extLst>
          </p:cNvPr>
          <p:cNvCxnSpPr/>
          <p:nvPr/>
        </p:nvCxnSpPr>
        <p:spPr>
          <a:xfrm>
            <a:off x="7210256" y="4306664"/>
            <a:ext cx="731983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="" xmlns:a16="http://schemas.microsoft.com/office/drawing/2014/main" id="{30719D9B-9EE0-4E4C-9F3C-DAE990982348}"/>
              </a:ext>
            </a:extLst>
          </p:cNvPr>
          <p:cNvCxnSpPr/>
          <p:nvPr/>
        </p:nvCxnSpPr>
        <p:spPr>
          <a:xfrm>
            <a:off x="10157495" y="4286152"/>
            <a:ext cx="731983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="" xmlns:a16="http://schemas.microsoft.com/office/drawing/2014/main" id="{DAD597C4-9FEB-467A-9A23-42F3D849E432}"/>
              </a:ext>
            </a:extLst>
          </p:cNvPr>
          <p:cNvSpPr txBox="1"/>
          <p:nvPr/>
        </p:nvSpPr>
        <p:spPr>
          <a:xfrm>
            <a:off x="7323732" y="3858527"/>
            <a:ext cx="2719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="" xmlns:a16="http://schemas.microsoft.com/office/drawing/2014/main" id="{82B3A5BA-A96E-47A4-9B2A-8E43F1CDC92F}"/>
              </a:ext>
            </a:extLst>
          </p:cNvPr>
          <p:cNvSpPr txBox="1"/>
          <p:nvPr/>
        </p:nvSpPr>
        <p:spPr>
          <a:xfrm>
            <a:off x="10318246" y="3858251"/>
            <a:ext cx="2719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="" xmlns:a16="http://schemas.microsoft.com/office/drawing/2014/main" id="{466F6746-AB92-4F07-84C5-D86BB87BBBF0}"/>
              </a:ext>
            </a:extLst>
          </p:cNvPr>
          <p:cNvSpPr txBox="1"/>
          <p:nvPr/>
        </p:nvSpPr>
        <p:spPr>
          <a:xfrm>
            <a:off x="8813526" y="3875484"/>
            <a:ext cx="2719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55" name="Arc 54">
            <a:extLst>
              <a:ext uri="{FF2B5EF4-FFF2-40B4-BE49-F238E27FC236}">
                <a16:creationId xmlns="" xmlns:a16="http://schemas.microsoft.com/office/drawing/2014/main" id="{849113FD-8B93-49B4-9FEC-B701B2B20C6B}"/>
              </a:ext>
            </a:extLst>
          </p:cNvPr>
          <p:cNvSpPr/>
          <p:nvPr/>
        </p:nvSpPr>
        <p:spPr>
          <a:xfrm>
            <a:off x="6586120" y="3539957"/>
            <a:ext cx="471227" cy="887105"/>
          </a:xfrm>
          <a:prstGeom prst="arc">
            <a:avLst>
              <a:gd name="adj1" fmla="val 10711483"/>
              <a:gd name="adj2" fmla="val 0"/>
            </a:avLst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="" xmlns:a16="http://schemas.microsoft.com/office/drawing/2014/main" id="{FCEFE45B-CEA6-4498-8008-059E264EE9F2}"/>
              </a:ext>
            </a:extLst>
          </p:cNvPr>
          <p:cNvSpPr txBox="1"/>
          <p:nvPr/>
        </p:nvSpPr>
        <p:spPr>
          <a:xfrm>
            <a:off x="6548410" y="3109287"/>
            <a:ext cx="5657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a/b</a:t>
            </a:r>
          </a:p>
        </p:txBody>
      </p:sp>
      <p:grpSp>
        <p:nvGrpSpPr>
          <p:cNvPr id="57" name="Group 56">
            <a:extLst>
              <a:ext uri="{FF2B5EF4-FFF2-40B4-BE49-F238E27FC236}">
                <a16:creationId xmlns="" xmlns:a16="http://schemas.microsoft.com/office/drawing/2014/main" id="{8D3C0EC3-1E6A-436B-B406-38A549AC7268}"/>
              </a:ext>
            </a:extLst>
          </p:cNvPr>
          <p:cNvGrpSpPr/>
          <p:nvPr/>
        </p:nvGrpSpPr>
        <p:grpSpPr>
          <a:xfrm rot="18867934">
            <a:off x="5867045" y="3049583"/>
            <a:ext cx="369332" cy="1274995"/>
            <a:chOff x="7019630" y="2204898"/>
            <a:chExt cx="369332" cy="1005795"/>
          </a:xfrm>
        </p:grpSpPr>
        <p:sp>
          <p:nvSpPr>
            <p:cNvPr id="58" name="Arrow: Up 57">
              <a:extLst>
                <a:ext uri="{FF2B5EF4-FFF2-40B4-BE49-F238E27FC236}">
                  <a16:creationId xmlns="" xmlns:a16="http://schemas.microsoft.com/office/drawing/2014/main" id="{E93022AA-FD9E-4354-A4A7-DF5F91C23E96}"/>
                </a:ext>
              </a:extLst>
            </p:cNvPr>
            <p:cNvSpPr/>
            <p:nvPr/>
          </p:nvSpPr>
          <p:spPr>
            <a:xfrm rot="10800000">
              <a:off x="7044865" y="2571551"/>
              <a:ext cx="191070" cy="639142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9" name="TextBox 58">
              <a:extLst>
                <a:ext uri="{FF2B5EF4-FFF2-40B4-BE49-F238E27FC236}">
                  <a16:creationId xmlns="" xmlns:a16="http://schemas.microsoft.com/office/drawing/2014/main" id="{BAF74065-B1AC-4D5B-9613-553AA58A4378}"/>
                </a:ext>
              </a:extLst>
            </p:cNvPr>
            <p:cNvSpPr txBox="1"/>
            <p:nvPr/>
          </p:nvSpPr>
          <p:spPr>
            <a:xfrm rot="2732066">
              <a:off x="6923696" y="2300832"/>
              <a:ext cx="5611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CS-1</a:t>
              </a: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="" xmlns:a16="http://schemas.microsoft.com/office/drawing/2014/main" id="{A07A9414-AC5B-4369-AC6A-00609C53E664}"/>
              </a:ext>
            </a:extLst>
          </p:cNvPr>
          <p:cNvGrpSpPr/>
          <p:nvPr/>
        </p:nvGrpSpPr>
        <p:grpSpPr>
          <a:xfrm>
            <a:off x="11003729" y="2697050"/>
            <a:ext cx="686790" cy="1161419"/>
            <a:chOff x="6884230" y="2294494"/>
            <a:chExt cx="686790" cy="916199"/>
          </a:xfrm>
        </p:grpSpPr>
        <p:sp>
          <p:nvSpPr>
            <p:cNvPr id="64" name="Arrow: Up 63">
              <a:extLst>
                <a:ext uri="{FF2B5EF4-FFF2-40B4-BE49-F238E27FC236}">
                  <a16:creationId xmlns="" xmlns:a16="http://schemas.microsoft.com/office/drawing/2014/main" id="{D2C981A1-EDB1-46C9-B578-9C61753C3ADB}"/>
                </a:ext>
              </a:extLst>
            </p:cNvPr>
            <p:cNvSpPr/>
            <p:nvPr/>
          </p:nvSpPr>
          <p:spPr>
            <a:xfrm rot="10800000">
              <a:off x="7044865" y="2571551"/>
              <a:ext cx="191070" cy="639142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5" name="TextBox 64">
              <a:extLst>
                <a:ext uri="{FF2B5EF4-FFF2-40B4-BE49-F238E27FC236}">
                  <a16:creationId xmlns="" xmlns:a16="http://schemas.microsoft.com/office/drawing/2014/main" id="{19C23E79-AF52-4EE2-8B1E-AFA079E785CF}"/>
                </a:ext>
              </a:extLst>
            </p:cNvPr>
            <p:cNvSpPr txBox="1"/>
            <p:nvPr/>
          </p:nvSpPr>
          <p:spPr>
            <a:xfrm>
              <a:off x="6884230" y="2294494"/>
              <a:ext cx="686790" cy="2913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CS-3</a:t>
              </a:r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="" xmlns:a16="http://schemas.microsoft.com/office/drawing/2014/main" id="{8B950F8F-FFA3-4241-B5C7-916C60ACD0E7}"/>
              </a:ext>
            </a:extLst>
          </p:cNvPr>
          <p:cNvGrpSpPr/>
          <p:nvPr/>
        </p:nvGrpSpPr>
        <p:grpSpPr>
          <a:xfrm>
            <a:off x="7989761" y="2756796"/>
            <a:ext cx="686790" cy="1161419"/>
            <a:chOff x="6884230" y="2294494"/>
            <a:chExt cx="686790" cy="916199"/>
          </a:xfrm>
        </p:grpSpPr>
        <p:sp>
          <p:nvSpPr>
            <p:cNvPr id="61" name="Arrow: Up 60">
              <a:extLst>
                <a:ext uri="{FF2B5EF4-FFF2-40B4-BE49-F238E27FC236}">
                  <a16:creationId xmlns="" xmlns:a16="http://schemas.microsoft.com/office/drawing/2014/main" id="{402C2F1D-AAC2-4767-9023-5775882DD153}"/>
                </a:ext>
              </a:extLst>
            </p:cNvPr>
            <p:cNvSpPr/>
            <p:nvPr/>
          </p:nvSpPr>
          <p:spPr>
            <a:xfrm rot="10800000">
              <a:off x="7044865" y="2571551"/>
              <a:ext cx="191070" cy="639142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2" name="TextBox 61">
              <a:extLst>
                <a:ext uri="{FF2B5EF4-FFF2-40B4-BE49-F238E27FC236}">
                  <a16:creationId xmlns="" xmlns:a16="http://schemas.microsoft.com/office/drawing/2014/main" id="{A8994434-A9F1-484A-9BEA-B32161E9CDBB}"/>
                </a:ext>
              </a:extLst>
            </p:cNvPr>
            <p:cNvSpPr txBox="1"/>
            <p:nvPr/>
          </p:nvSpPr>
          <p:spPr>
            <a:xfrm>
              <a:off x="6884230" y="2294494"/>
              <a:ext cx="686790" cy="2913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CS-4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49164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149AD530-6C2A-44EA-A853-BAC2857EF1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904" y="858414"/>
            <a:ext cx="4876872" cy="460871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Backtracking is allowed in DFA.</a:t>
            </a:r>
          </a:p>
          <a:p>
            <a:pPr marL="457200" indent="-457200">
              <a:buFont typeface="+mj-lt"/>
              <a:buAutoNum type="arabicPeriod" startAt="3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E7E875E4-C02C-44AD-9251-3D0D7CDF2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26D1DE06-0720-4572-BF37-034426FE1CD7}"/>
              </a:ext>
            </a:extLst>
          </p:cNvPr>
          <p:cNvSpPr txBox="1"/>
          <p:nvPr/>
        </p:nvSpPr>
        <p:spPr>
          <a:xfrm>
            <a:off x="1529669" y="33241"/>
            <a:ext cx="1600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DFA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="" xmlns:a16="http://schemas.microsoft.com/office/drawing/2014/main" id="{E13E761C-7E8C-455A-B10F-FF97B9D81750}"/>
              </a:ext>
            </a:extLst>
          </p:cNvPr>
          <p:cNvGrpSpPr/>
          <p:nvPr/>
        </p:nvGrpSpPr>
        <p:grpSpPr>
          <a:xfrm>
            <a:off x="389769" y="1761566"/>
            <a:ext cx="5586961" cy="1860226"/>
            <a:chOff x="470451" y="2429960"/>
            <a:chExt cx="6403942" cy="1860226"/>
          </a:xfrm>
        </p:grpSpPr>
        <p:sp>
          <p:nvSpPr>
            <p:cNvPr id="8" name="Oval 7">
              <a:extLst>
                <a:ext uri="{FF2B5EF4-FFF2-40B4-BE49-F238E27FC236}">
                  <a16:creationId xmlns="" xmlns:a16="http://schemas.microsoft.com/office/drawing/2014/main" id="{EDD2A173-63F4-4A80-96B9-79D5A7A31D1C}"/>
                </a:ext>
              </a:extLst>
            </p:cNvPr>
            <p:cNvSpPr/>
            <p:nvPr/>
          </p:nvSpPr>
          <p:spPr>
            <a:xfrm>
              <a:off x="1130579" y="3333906"/>
              <a:ext cx="723331" cy="63914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x0</a:t>
              </a: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="" xmlns:a16="http://schemas.microsoft.com/office/drawing/2014/main" id="{B167B8FE-18DA-468D-9F34-C584DF4C213E}"/>
                </a:ext>
              </a:extLst>
            </p:cNvPr>
            <p:cNvCxnSpPr/>
            <p:nvPr/>
          </p:nvCxnSpPr>
          <p:spPr>
            <a:xfrm>
              <a:off x="470451" y="3673964"/>
              <a:ext cx="573062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Oval 9">
              <a:extLst>
                <a:ext uri="{FF2B5EF4-FFF2-40B4-BE49-F238E27FC236}">
                  <a16:creationId xmlns="" xmlns:a16="http://schemas.microsoft.com/office/drawing/2014/main" id="{F032099B-FB70-499B-B9CB-2153679670AF}"/>
                </a:ext>
              </a:extLst>
            </p:cNvPr>
            <p:cNvSpPr/>
            <p:nvPr/>
          </p:nvSpPr>
          <p:spPr>
            <a:xfrm>
              <a:off x="2765510" y="3333906"/>
              <a:ext cx="723331" cy="63914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x1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="" xmlns:a16="http://schemas.microsoft.com/office/drawing/2014/main" id="{A46E03FE-0352-4BA0-94CE-3CBBC1232E6A}"/>
                </a:ext>
              </a:extLst>
            </p:cNvPr>
            <p:cNvSpPr/>
            <p:nvPr/>
          </p:nvSpPr>
          <p:spPr>
            <a:xfrm>
              <a:off x="4400441" y="3307012"/>
              <a:ext cx="723331" cy="63914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x2</a:t>
              </a: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="" xmlns:a16="http://schemas.microsoft.com/office/drawing/2014/main" id="{49347AD5-0329-4828-BEAA-DE17AA128978}"/>
                </a:ext>
              </a:extLst>
            </p:cNvPr>
            <p:cNvGrpSpPr/>
            <p:nvPr/>
          </p:nvGrpSpPr>
          <p:grpSpPr>
            <a:xfrm>
              <a:off x="6035372" y="3170957"/>
              <a:ext cx="839021" cy="802091"/>
              <a:chOff x="10512625" y="1744747"/>
              <a:chExt cx="839021" cy="802091"/>
            </a:xfrm>
          </p:grpSpPr>
          <p:sp>
            <p:nvSpPr>
              <p:cNvPr id="13" name="Oval 12">
                <a:extLst>
                  <a:ext uri="{FF2B5EF4-FFF2-40B4-BE49-F238E27FC236}">
                    <a16:creationId xmlns="" xmlns:a16="http://schemas.microsoft.com/office/drawing/2014/main" id="{06A6A055-73AA-42D4-81CF-0021044FCC67}"/>
                  </a:ext>
                </a:extLst>
              </p:cNvPr>
              <p:cNvSpPr/>
              <p:nvPr/>
            </p:nvSpPr>
            <p:spPr>
              <a:xfrm>
                <a:off x="10512625" y="1744747"/>
                <a:ext cx="839021" cy="802091"/>
              </a:xfrm>
              <a:prstGeom prst="ellips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4" name="Oval 13">
                <a:extLst>
                  <a:ext uri="{FF2B5EF4-FFF2-40B4-BE49-F238E27FC236}">
                    <a16:creationId xmlns="" xmlns:a16="http://schemas.microsoft.com/office/drawing/2014/main" id="{B0C94D19-8E49-4955-8F65-F2A1695D3938}"/>
                  </a:ext>
                </a:extLst>
              </p:cNvPr>
              <p:cNvSpPr/>
              <p:nvPr/>
            </p:nvSpPr>
            <p:spPr>
              <a:xfrm>
                <a:off x="10585318" y="1837172"/>
                <a:ext cx="681980" cy="628192"/>
              </a:xfrm>
              <a:prstGeom prst="ellips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x3</a:t>
                </a:r>
              </a:p>
            </p:txBody>
          </p:sp>
        </p:grpSp>
        <p:cxnSp>
          <p:nvCxnSpPr>
            <p:cNvPr id="15" name="Straight Arrow Connector 14">
              <a:extLst>
                <a:ext uri="{FF2B5EF4-FFF2-40B4-BE49-F238E27FC236}">
                  <a16:creationId xmlns="" xmlns:a16="http://schemas.microsoft.com/office/drawing/2014/main" id="{CF3E0BDF-810B-4F55-B7EA-0389F91D35A4}"/>
                </a:ext>
              </a:extLst>
            </p:cNvPr>
            <p:cNvCxnSpPr/>
            <p:nvPr/>
          </p:nvCxnSpPr>
          <p:spPr>
            <a:xfrm>
              <a:off x="1914097" y="3662038"/>
              <a:ext cx="839021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="" xmlns:a16="http://schemas.microsoft.com/office/drawing/2014/main" id="{21D2F5CA-FBDF-414C-838D-0A9B5FC4430A}"/>
                </a:ext>
              </a:extLst>
            </p:cNvPr>
            <p:cNvCxnSpPr/>
            <p:nvPr/>
          </p:nvCxnSpPr>
          <p:spPr>
            <a:xfrm>
              <a:off x="3534916" y="3639972"/>
              <a:ext cx="839021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="" xmlns:a16="http://schemas.microsoft.com/office/drawing/2014/main" id="{AA1CBC00-C8B1-44E9-8B2A-D774D4C8057E}"/>
                </a:ext>
              </a:extLst>
            </p:cNvPr>
            <p:cNvCxnSpPr/>
            <p:nvPr/>
          </p:nvCxnSpPr>
          <p:spPr>
            <a:xfrm>
              <a:off x="5169847" y="3639972"/>
              <a:ext cx="839021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="" xmlns:a16="http://schemas.microsoft.com/office/drawing/2014/main" id="{7FCBCE34-8F1D-4494-B37C-ABE96FD57666}"/>
                </a:ext>
              </a:extLst>
            </p:cNvPr>
            <p:cNvSpPr txBox="1"/>
            <p:nvPr/>
          </p:nvSpPr>
          <p:spPr>
            <a:xfrm>
              <a:off x="2089212" y="3191812"/>
              <a:ext cx="3117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="" xmlns:a16="http://schemas.microsoft.com/office/drawing/2014/main" id="{CC77AC81-ED5E-47AC-A744-914483C03C0C}"/>
                </a:ext>
              </a:extLst>
            </p:cNvPr>
            <p:cNvSpPr txBox="1"/>
            <p:nvPr/>
          </p:nvSpPr>
          <p:spPr>
            <a:xfrm>
              <a:off x="3697547" y="3212299"/>
              <a:ext cx="3117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="" xmlns:a16="http://schemas.microsoft.com/office/drawing/2014/main" id="{8E3BF89E-56F8-4EB4-AD82-9142DBD6A27C}"/>
                </a:ext>
              </a:extLst>
            </p:cNvPr>
            <p:cNvSpPr txBox="1"/>
            <p:nvPr/>
          </p:nvSpPr>
          <p:spPr>
            <a:xfrm>
              <a:off x="5358816" y="3172033"/>
              <a:ext cx="3117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="" xmlns:a16="http://schemas.microsoft.com/office/drawing/2014/main" id="{A9C0D6FE-F7E5-434B-BABF-3049C2B33D69}"/>
                </a:ext>
              </a:extLst>
            </p:cNvPr>
            <p:cNvGrpSpPr/>
            <p:nvPr/>
          </p:nvGrpSpPr>
          <p:grpSpPr>
            <a:xfrm rot="10370240">
              <a:off x="1185958" y="2890353"/>
              <a:ext cx="540585" cy="887105"/>
              <a:chOff x="1984650" y="2985447"/>
              <a:chExt cx="540585" cy="887105"/>
            </a:xfrm>
          </p:grpSpPr>
          <p:sp>
            <p:nvSpPr>
              <p:cNvPr id="22" name="Arc 21">
                <a:extLst>
                  <a:ext uri="{FF2B5EF4-FFF2-40B4-BE49-F238E27FC236}">
                    <a16:creationId xmlns="" xmlns:a16="http://schemas.microsoft.com/office/drawing/2014/main" id="{177ECB2A-EFAE-4453-93C0-A41752FCEBB3}"/>
                  </a:ext>
                </a:extLst>
              </p:cNvPr>
              <p:cNvSpPr/>
              <p:nvPr/>
            </p:nvSpPr>
            <p:spPr>
              <a:xfrm rot="11054314">
                <a:off x="1985101" y="2985447"/>
                <a:ext cx="540134" cy="887105"/>
              </a:xfrm>
              <a:prstGeom prst="arc">
                <a:avLst>
                  <a:gd name="adj1" fmla="val 10711483"/>
                  <a:gd name="adj2" fmla="val 0"/>
                </a:avLst>
              </a:prstGeom>
              <a:ln w="254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3" name="Straight Arrow Connector 22">
                <a:extLst>
                  <a:ext uri="{FF2B5EF4-FFF2-40B4-BE49-F238E27FC236}">
                    <a16:creationId xmlns="" xmlns:a16="http://schemas.microsoft.com/office/drawing/2014/main" id="{F995BD76-CADF-4733-ACDA-E945D5FED785}"/>
                  </a:ext>
                </a:extLst>
              </p:cNvPr>
              <p:cNvCxnSpPr/>
              <p:nvPr/>
            </p:nvCxnSpPr>
            <p:spPr>
              <a:xfrm rot="11054314">
                <a:off x="1984650" y="3331902"/>
                <a:ext cx="0" cy="95534"/>
              </a:xfrm>
              <a:prstGeom prst="straightConnector1">
                <a:avLst/>
              </a:prstGeom>
              <a:ln w="25400">
                <a:solidFill>
                  <a:schemeClr val="bg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4" name="TextBox 23">
              <a:extLst>
                <a:ext uri="{FF2B5EF4-FFF2-40B4-BE49-F238E27FC236}">
                  <a16:creationId xmlns="" xmlns:a16="http://schemas.microsoft.com/office/drawing/2014/main" id="{9FF65C04-6E36-440B-8DB3-19D0DD25E1D5}"/>
                </a:ext>
              </a:extLst>
            </p:cNvPr>
            <p:cNvSpPr txBox="1"/>
            <p:nvPr/>
          </p:nvSpPr>
          <p:spPr>
            <a:xfrm>
              <a:off x="1180516" y="2457327"/>
              <a:ext cx="3117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  <p:grpSp>
          <p:nvGrpSpPr>
            <p:cNvPr id="25" name="Group 24">
              <a:extLst>
                <a:ext uri="{FF2B5EF4-FFF2-40B4-BE49-F238E27FC236}">
                  <a16:creationId xmlns="" xmlns:a16="http://schemas.microsoft.com/office/drawing/2014/main" id="{95283B76-D290-48F4-882C-4B73696475FC}"/>
                </a:ext>
              </a:extLst>
            </p:cNvPr>
            <p:cNvGrpSpPr/>
            <p:nvPr/>
          </p:nvGrpSpPr>
          <p:grpSpPr>
            <a:xfrm rot="10370240">
              <a:off x="2836093" y="2873340"/>
              <a:ext cx="540585" cy="887105"/>
              <a:chOff x="1984650" y="2985447"/>
              <a:chExt cx="540585" cy="887105"/>
            </a:xfrm>
          </p:grpSpPr>
          <p:sp>
            <p:nvSpPr>
              <p:cNvPr id="26" name="Arc 25">
                <a:extLst>
                  <a:ext uri="{FF2B5EF4-FFF2-40B4-BE49-F238E27FC236}">
                    <a16:creationId xmlns="" xmlns:a16="http://schemas.microsoft.com/office/drawing/2014/main" id="{43BB7691-F2E4-46BF-906F-C4CCEF7D55D9}"/>
                  </a:ext>
                </a:extLst>
              </p:cNvPr>
              <p:cNvSpPr/>
              <p:nvPr/>
            </p:nvSpPr>
            <p:spPr>
              <a:xfrm rot="11054314">
                <a:off x="1985101" y="2985447"/>
                <a:ext cx="540134" cy="887105"/>
              </a:xfrm>
              <a:prstGeom prst="arc">
                <a:avLst>
                  <a:gd name="adj1" fmla="val 10711483"/>
                  <a:gd name="adj2" fmla="val 0"/>
                </a:avLst>
              </a:prstGeom>
              <a:ln w="254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7" name="Straight Arrow Connector 26">
                <a:extLst>
                  <a:ext uri="{FF2B5EF4-FFF2-40B4-BE49-F238E27FC236}">
                    <a16:creationId xmlns="" xmlns:a16="http://schemas.microsoft.com/office/drawing/2014/main" id="{7D03CC14-B08B-467F-A77E-2F642111408F}"/>
                  </a:ext>
                </a:extLst>
              </p:cNvPr>
              <p:cNvCxnSpPr/>
              <p:nvPr/>
            </p:nvCxnSpPr>
            <p:spPr>
              <a:xfrm rot="11054314">
                <a:off x="1984650" y="3331902"/>
                <a:ext cx="0" cy="95534"/>
              </a:xfrm>
              <a:prstGeom prst="straightConnector1">
                <a:avLst/>
              </a:prstGeom>
              <a:ln w="25400">
                <a:solidFill>
                  <a:schemeClr val="bg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8" name="TextBox 27">
              <a:extLst>
                <a:ext uri="{FF2B5EF4-FFF2-40B4-BE49-F238E27FC236}">
                  <a16:creationId xmlns="" xmlns:a16="http://schemas.microsoft.com/office/drawing/2014/main" id="{624BB0EE-6A5B-4B02-82D4-235316C7D61D}"/>
                </a:ext>
              </a:extLst>
            </p:cNvPr>
            <p:cNvSpPr txBox="1"/>
            <p:nvPr/>
          </p:nvSpPr>
          <p:spPr>
            <a:xfrm>
              <a:off x="2906302" y="2429960"/>
              <a:ext cx="3117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29" name="Arrow: Curved Down 28">
              <a:extLst>
                <a:ext uri="{FF2B5EF4-FFF2-40B4-BE49-F238E27FC236}">
                  <a16:creationId xmlns="" xmlns:a16="http://schemas.microsoft.com/office/drawing/2014/main" id="{941EC0F0-A84F-48C9-87D0-10CEDCA8CD61}"/>
                </a:ext>
              </a:extLst>
            </p:cNvPr>
            <p:cNvSpPr/>
            <p:nvPr/>
          </p:nvSpPr>
          <p:spPr>
            <a:xfrm rot="10800000">
              <a:off x="1659826" y="3958135"/>
              <a:ext cx="2908196" cy="256814"/>
            </a:xfrm>
            <a:prstGeom prst="curvedDownArrow">
              <a:avLst>
                <a:gd name="adj1" fmla="val 11615"/>
                <a:gd name="adj2" fmla="val 50000"/>
                <a:gd name="adj3" fmla="val 25000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="" xmlns:a16="http://schemas.microsoft.com/office/drawing/2014/main" id="{4ED6617C-6176-4E5A-97A8-7060AB131E68}"/>
                </a:ext>
              </a:extLst>
            </p:cNvPr>
            <p:cNvSpPr txBox="1"/>
            <p:nvPr/>
          </p:nvSpPr>
          <p:spPr>
            <a:xfrm>
              <a:off x="3306612" y="3828521"/>
              <a:ext cx="3117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31" name="Arrow: Curved Down 30">
              <a:extLst>
                <a:ext uri="{FF2B5EF4-FFF2-40B4-BE49-F238E27FC236}">
                  <a16:creationId xmlns="" xmlns:a16="http://schemas.microsoft.com/office/drawing/2014/main" id="{164BCBA0-BA6D-4830-A4C7-0273A3ACF31A}"/>
                </a:ext>
              </a:extLst>
            </p:cNvPr>
            <p:cNvSpPr/>
            <p:nvPr/>
          </p:nvSpPr>
          <p:spPr>
            <a:xfrm rot="10800000">
              <a:off x="5046391" y="3906855"/>
              <a:ext cx="1049609" cy="203318"/>
            </a:xfrm>
            <a:prstGeom prst="curvedDownArrow">
              <a:avLst>
                <a:gd name="adj1" fmla="val 11615"/>
                <a:gd name="adj2" fmla="val 50000"/>
                <a:gd name="adj3" fmla="val 25000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="" xmlns:a16="http://schemas.microsoft.com/office/drawing/2014/main" id="{D1B5F6D8-B479-4A51-8B85-C90FEF56C3B4}"/>
                </a:ext>
              </a:extLst>
            </p:cNvPr>
            <p:cNvSpPr txBox="1"/>
            <p:nvPr/>
          </p:nvSpPr>
          <p:spPr>
            <a:xfrm>
              <a:off x="5418452" y="3735245"/>
              <a:ext cx="3117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33" name="Arrow: Curved Up 32">
              <a:extLst>
                <a:ext uri="{FF2B5EF4-FFF2-40B4-BE49-F238E27FC236}">
                  <a16:creationId xmlns="" xmlns:a16="http://schemas.microsoft.com/office/drawing/2014/main" id="{883BCDAA-DF6B-4CE1-A7DF-CEA9CF6A7531}"/>
                </a:ext>
              </a:extLst>
            </p:cNvPr>
            <p:cNvSpPr/>
            <p:nvPr/>
          </p:nvSpPr>
          <p:spPr>
            <a:xfrm rot="10601653">
              <a:off x="3340408" y="2885646"/>
              <a:ext cx="2898449" cy="392783"/>
            </a:xfrm>
            <a:prstGeom prst="curvedUpArrow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="" xmlns:a16="http://schemas.microsoft.com/office/drawing/2014/main" id="{C5839F56-250D-47CC-877C-BC0884BC986F}"/>
                </a:ext>
              </a:extLst>
            </p:cNvPr>
            <p:cNvSpPr txBox="1"/>
            <p:nvPr/>
          </p:nvSpPr>
          <p:spPr>
            <a:xfrm>
              <a:off x="4689579" y="2463044"/>
              <a:ext cx="3117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</p:grpSp>
      <p:sp>
        <p:nvSpPr>
          <p:cNvPr id="35" name="Content Placeholder 2">
            <a:extLst>
              <a:ext uri="{FF2B5EF4-FFF2-40B4-BE49-F238E27FC236}">
                <a16:creationId xmlns="" xmlns:a16="http://schemas.microsoft.com/office/drawing/2014/main" id="{F97922DE-7782-4701-9A67-30B071D7E716}"/>
              </a:ext>
            </a:extLst>
          </p:cNvPr>
          <p:cNvSpPr txBox="1">
            <a:spLocks/>
          </p:cNvSpPr>
          <p:nvPr/>
        </p:nvSpPr>
        <p:spPr>
          <a:xfrm>
            <a:off x="5373287" y="786600"/>
            <a:ext cx="4565144" cy="52848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457200" indent="-457200">
              <a:buFont typeface="+mj-lt"/>
              <a:buAutoNum type="arabicPeriod" startAt="3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NDFA, backtracking is not always possible.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="" xmlns:a16="http://schemas.microsoft.com/office/drawing/2014/main" id="{B34E8F8C-167C-49A9-BB01-50B5E361FCC7}"/>
              </a:ext>
            </a:extLst>
          </p:cNvPr>
          <p:cNvSpPr txBox="1"/>
          <p:nvPr/>
        </p:nvSpPr>
        <p:spPr>
          <a:xfrm>
            <a:off x="6855759" y="0"/>
            <a:ext cx="1600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NDFA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="" xmlns:a16="http://schemas.microsoft.com/office/drawing/2014/main" id="{CD207AB7-FD5D-45DA-A74B-31F2314C78DA}"/>
              </a:ext>
            </a:extLst>
          </p:cNvPr>
          <p:cNvSpPr txBox="1"/>
          <p:nvPr/>
        </p:nvSpPr>
        <p:spPr>
          <a:xfrm>
            <a:off x="645082" y="1255327"/>
            <a:ext cx="476304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All words that ends with aba.</a:t>
            </a:r>
            <a:endParaRPr lang="en-US" sz="2200" dirty="0"/>
          </a:p>
        </p:txBody>
      </p:sp>
      <p:sp>
        <p:nvSpPr>
          <p:cNvPr id="38" name="TextBox 37">
            <a:extLst>
              <a:ext uri="{FF2B5EF4-FFF2-40B4-BE49-F238E27FC236}">
                <a16:creationId xmlns="" xmlns:a16="http://schemas.microsoft.com/office/drawing/2014/main" id="{F98FFA43-7618-4602-828A-9E9802F87148}"/>
              </a:ext>
            </a:extLst>
          </p:cNvPr>
          <p:cNvSpPr txBox="1"/>
          <p:nvPr/>
        </p:nvSpPr>
        <p:spPr>
          <a:xfrm>
            <a:off x="5793306" y="1470770"/>
            <a:ext cx="4763046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All words that ends with aba.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aaba</a:t>
            </a:r>
            <a:r>
              <a:rPr lang="en-US" sz="3600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en-US" sz="3600" dirty="0"/>
          </a:p>
        </p:txBody>
      </p:sp>
      <p:sp>
        <p:nvSpPr>
          <p:cNvPr id="39" name="Oval 38">
            <a:extLst>
              <a:ext uri="{FF2B5EF4-FFF2-40B4-BE49-F238E27FC236}">
                <a16:creationId xmlns="" xmlns:a16="http://schemas.microsoft.com/office/drawing/2014/main" id="{C04827AB-DD9A-4ED6-85A1-B6B5EA8D74CE}"/>
              </a:ext>
            </a:extLst>
          </p:cNvPr>
          <p:cNvSpPr/>
          <p:nvPr/>
        </p:nvSpPr>
        <p:spPr>
          <a:xfrm>
            <a:off x="6486746" y="3963569"/>
            <a:ext cx="697006" cy="712694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x0</a:t>
            </a:r>
          </a:p>
        </p:txBody>
      </p:sp>
      <p:sp>
        <p:nvSpPr>
          <p:cNvPr id="40" name="Oval 39">
            <a:extLst>
              <a:ext uri="{FF2B5EF4-FFF2-40B4-BE49-F238E27FC236}">
                <a16:creationId xmlns="" xmlns:a16="http://schemas.microsoft.com/office/drawing/2014/main" id="{CA0A025A-21AA-4275-B28C-53DF98FBBD62}"/>
              </a:ext>
            </a:extLst>
          </p:cNvPr>
          <p:cNvSpPr/>
          <p:nvPr/>
        </p:nvSpPr>
        <p:spPr>
          <a:xfrm>
            <a:off x="7941653" y="3950317"/>
            <a:ext cx="697006" cy="712694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x1</a:t>
            </a:r>
          </a:p>
        </p:txBody>
      </p:sp>
      <p:sp>
        <p:nvSpPr>
          <p:cNvPr id="41" name="Oval 40">
            <a:extLst>
              <a:ext uri="{FF2B5EF4-FFF2-40B4-BE49-F238E27FC236}">
                <a16:creationId xmlns="" xmlns:a16="http://schemas.microsoft.com/office/drawing/2014/main" id="{232661FD-3231-48C1-A2C5-6DC574BF9AAE}"/>
              </a:ext>
            </a:extLst>
          </p:cNvPr>
          <p:cNvSpPr/>
          <p:nvPr/>
        </p:nvSpPr>
        <p:spPr>
          <a:xfrm>
            <a:off x="9411634" y="3937065"/>
            <a:ext cx="697006" cy="712694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x2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="" xmlns:a16="http://schemas.microsoft.com/office/drawing/2014/main" id="{C3D49387-B6BD-4C8C-8B72-4994398480E7}"/>
              </a:ext>
            </a:extLst>
          </p:cNvPr>
          <p:cNvCxnSpPr/>
          <p:nvPr/>
        </p:nvCxnSpPr>
        <p:spPr>
          <a:xfrm>
            <a:off x="5989984" y="4319916"/>
            <a:ext cx="48354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6" name="Group 45">
            <a:extLst>
              <a:ext uri="{FF2B5EF4-FFF2-40B4-BE49-F238E27FC236}">
                <a16:creationId xmlns="" xmlns:a16="http://schemas.microsoft.com/office/drawing/2014/main" id="{B1BA9B08-4F24-41E4-BBCB-8849CA4AEFEC}"/>
              </a:ext>
            </a:extLst>
          </p:cNvPr>
          <p:cNvGrpSpPr/>
          <p:nvPr/>
        </p:nvGrpSpPr>
        <p:grpSpPr>
          <a:xfrm>
            <a:off x="10899171" y="3875484"/>
            <a:ext cx="803344" cy="835855"/>
            <a:chOff x="5184749" y="4682255"/>
            <a:chExt cx="803344" cy="835855"/>
          </a:xfrm>
        </p:grpSpPr>
        <p:sp>
          <p:nvSpPr>
            <p:cNvPr id="44" name="Oval 43">
              <a:extLst>
                <a:ext uri="{FF2B5EF4-FFF2-40B4-BE49-F238E27FC236}">
                  <a16:creationId xmlns="" xmlns:a16="http://schemas.microsoft.com/office/drawing/2014/main" id="{8F9CDE5C-96FF-4D40-8E35-EF044400A0D6}"/>
                </a:ext>
              </a:extLst>
            </p:cNvPr>
            <p:cNvSpPr/>
            <p:nvPr/>
          </p:nvSpPr>
          <p:spPr>
            <a:xfrm>
              <a:off x="5184749" y="4682255"/>
              <a:ext cx="803344" cy="835855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5" name="Oval 44">
              <a:extLst>
                <a:ext uri="{FF2B5EF4-FFF2-40B4-BE49-F238E27FC236}">
                  <a16:creationId xmlns="" xmlns:a16="http://schemas.microsoft.com/office/drawing/2014/main" id="{3F768F3B-81D9-4CAF-AF6E-D9F095B52C67}"/>
                </a:ext>
              </a:extLst>
            </p:cNvPr>
            <p:cNvSpPr/>
            <p:nvPr/>
          </p:nvSpPr>
          <p:spPr>
            <a:xfrm>
              <a:off x="5241993" y="4745149"/>
              <a:ext cx="697006" cy="712694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x3</a:t>
              </a:r>
            </a:p>
          </p:txBody>
        </p:sp>
      </p:grpSp>
      <p:cxnSp>
        <p:nvCxnSpPr>
          <p:cNvPr id="47" name="Straight Arrow Connector 46">
            <a:extLst>
              <a:ext uri="{FF2B5EF4-FFF2-40B4-BE49-F238E27FC236}">
                <a16:creationId xmlns="" xmlns:a16="http://schemas.microsoft.com/office/drawing/2014/main" id="{70450A69-B259-4D3C-979E-FA0A2CFE43C1}"/>
              </a:ext>
            </a:extLst>
          </p:cNvPr>
          <p:cNvCxnSpPr/>
          <p:nvPr/>
        </p:nvCxnSpPr>
        <p:spPr>
          <a:xfrm>
            <a:off x="8665163" y="4293412"/>
            <a:ext cx="731983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="" xmlns:a16="http://schemas.microsoft.com/office/drawing/2014/main" id="{E925179F-02E3-405F-935C-31689533E68E}"/>
              </a:ext>
            </a:extLst>
          </p:cNvPr>
          <p:cNvCxnSpPr/>
          <p:nvPr/>
        </p:nvCxnSpPr>
        <p:spPr>
          <a:xfrm>
            <a:off x="7210256" y="4306664"/>
            <a:ext cx="731983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="" xmlns:a16="http://schemas.microsoft.com/office/drawing/2014/main" id="{30719D9B-9EE0-4E4C-9F3C-DAE990982348}"/>
              </a:ext>
            </a:extLst>
          </p:cNvPr>
          <p:cNvCxnSpPr/>
          <p:nvPr/>
        </p:nvCxnSpPr>
        <p:spPr>
          <a:xfrm>
            <a:off x="10157495" y="4286152"/>
            <a:ext cx="731983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="" xmlns:a16="http://schemas.microsoft.com/office/drawing/2014/main" id="{DAD597C4-9FEB-467A-9A23-42F3D849E432}"/>
              </a:ext>
            </a:extLst>
          </p:cNvPr>
          <p:cNvSpPr txBox="1"/>
          <p:nvPr/>
        </p:nvSpPr>
        <p:spPr>
          <a:xfrm>
            <a:off x="7323732" y="3858527"/>
            <a:ext cx="2719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="" xmlns:a16="http://schemas.microsoft.com/office/drawing/2014/main" id="{82B3A5BA-A96E-47A4-9B2A-8E43F1CDC92F}"/>
              </a:ext>
            </a:extLst>
          </p:cNvPr>
          <p:cNvSpPr txBox="1"/>
          <p:nvPr/>
        </p:nvSpPr>
        <p:spPr>
          <a:xfrm>
            <a:off x="10318246" y="3858251"/>
            <a:ext cx="2719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="" xmlns:a16="http://schemas.microsoft.com/office/drawing/2014/main" id="{466F6746-AB92-4F07-84C5-D86BB87BBBF0}"/>
              </a:ext>
            </a:extLst>
          </p:cNvPr>
          <p:cNvSpPr txBox="1"/>
          <p:nvPr/>
        </p:nvSpPr>
        <p:spPr>
          <a:xfrm>
            <a:off x="8813526" y="3875484"/>
            <a:ext cx="2719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55" name="Arc 54">
            <a:extLst>
              <a:ext uri="{FF2B5EF4-FFF2-40B4-BE49-F238E27FC236}">
                <a16:creationId xmlns="" xmlns:a16="http://schemas.microsoft.com/office/drawing/2014/main" id="{849113FD-8B93-49B4-9FEC-B701B2B20C6B}"/>
              </a:ext>
            </a:extLst>
          </p:cNvPr>
          <p:cNvSpPr/>
          <p:nvPr/>
        </p:nvSpPr>
        <p:spPr>
          <a:xfrm>
            <a:off x="6586120" y="3539957"/>
            <a:ext cx="471227" cy="887105"/>
          </a:xfrm>
          <a:prstGeom prst="arc">
            <a:avLst>
              <a:gd name="adj1" fmla="val 10711483"/>
              <a:gd name="adj2" fmla="val 0"/>
            </a:avLst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="" xmlns:a16="http://schemas.microsoft.com/office/drawing/2014/main" id="{FCEFE45B-CEA6-4498-8008-059E264EE9F2}"/>
              </a:ext>
            </a:extLst>
          </p:cNvPr>
          <p:cNvSpPr txBox="1"/>
          <p:nvPr/>
        </p:nvSpPr>
        <p:spPr>
          <a:xfrm>
            <a:off x="6548410" y="3109287"/>
            <a:ext cx="5657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a/b</a:t>
            </a:r>
          </a:p>
        </p:txBody>
      </p:sp>
      <p:grpSp>
        <p:nvGrpSpPr>
          <p:cNvPr id="57" name="Group 56">
            <a:extLst>
              <a:ext uri="{FF2B5EF4-FFF2-40B4-BE49-F238E27FC236}">
                <a16:creationId xmlns="" xmlns:a16="http://schemas.microsoft.com/office/drawing/2014/main" id="{8D3C0EC3-1E6A-436B-B406-38A549AC7268}"/>
              </a:ext>
            </a:extLst>
          </p:cNvPr>
          <p:cNvGrpSpPr/>
          <p:nvPr/>
        </p:nvGrpSpPr>
        <p:grpSpPr>
          <a:xfrm rot="18867934">
            <a:off x="5867045" y="3049583"/>
            <a:ext cx="369332" cy="1274995"/>
            <a:chOff x="7019630" y="2204898"/>
            <a:chExt cx="369332" cy="1005795"/>
          </a:xfrm>
        </p:grpSpPr>
        <p:sp>
          <p:nvSpPr>
            <p:cNvPr id="58" name="Arrow: Up 57">
              <a:extLst>
                <a:ext uri="{FF2B5EF4-FFF2-40B4-BE49-F238E27FC236}">
                  <a16:creationId xmlns="" xmlns:a16="http://schemas.microsoft.com/office/drawing/2014/main" id="{E93022AA-FD9E-4354-A4A7-DF5F91C23E96}"/>
                </a:ext>
              </a:extLst>
            </p:cNvPr>
            <p:cNvSpPr/>
            <p:nvPr/>
          </p:nvSpPr>
          <p:spPr>
            <a:xfrm rot="10800000">
              <a:off x="7044865" y="2571551"/>
              <a:ext cx="191070" cy="639142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9" name="TextBox 58">
              <a:extLst>
                <a:ext uri="{FF2B5EF4-FFF2-40B4-BE49-F238E27FC236}">
                  <a16:creationId xmlns="" xmlns:a16="http://schemas.microsoft.com/office/drawing/2014/main" id="{BAF74065-B1AC-4D5B-9613-553AA58A4378}"/>
                </a:ext>
              </a:extLst>
            </p:cNvPr>
            <p:cNvSpPr txBox="1"/>
            <p:nvPr/>
          </p:nvSpPr>
          <p:spPr>
            <a:xfrm rot="2732066">
              <a:off x="6923696" y="2300832"/>
              <a:ext cx="5611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CS-1</a:t>
              </a: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="" xmlns:a16="http://schemas.microsoft.com/office/drawing/2014/main" id="{A07A9414-AC5B-4369-AC6A-00609C53E664}"/>
              </a:ext>
            </a:extLst>
          </p:cNvPr>
          <p:cNvGrpSpPr/>
          <p:nvPr/>
        </p:nvGrpSpPr>
        <p:grpSpPr>
          <a:xfrm>
            <a:off x="11003729" y="2697050"/>
            <a:ext cx="686790" cy="1161419"/>
            <a:chOff x="6884230" y="2294494"/>
            <a:chExt cx="686790" cy="916199"/>
          </a:xfrm>
        </p:grpSpPr>
        <p:sp>
          <p:nvSpPr>
            <p:cNvPr id="64" name="Arrow: Up 63">
              <a:extLst>
                <a:ext uri="{FF2B5EF4-FFF2-40B4-BE49-F238E27FC236}">
                  <a16:creationId xmlns="" xmlns:a16="http://schemas.microsoft.com/office/drawing/2014/main" id="{D2C981A1-EDB1-46C9-B578-9C61753C3ADB}"/>
                </a:ext>
              </a:extLst>
            </p:cNvPr>
            <p:cNvSpPr/>
            <p:nvPr/>
          </p:nvSpPr>
          <p:spPr>
            <a:xfrm rot="10800000">
              <a:off x="7044865" y="2571551"/>
              <a:ext cx="191070" cy="639142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5" name="TextBox 64">
              <a:extLst>
                <a:ext uri="{FF2B5EF4-FFF2-40B4-BE49-F238E27FC236}">
                  <a16:creationId xmlns="" xmlns:a16="http://schemas.microsoft.com/office/drawing/2014/main" id="{19C23E79-AF52-4EE2-8B1E-AFA079E785CF}"/>
                </a:ext>
              </a:extLst>
            </p:cNvPr>
            <p:cNvSpPr txBox="1"/>
            <p:nvPr/>
          </p:nvSpPr>
          <p:spPr>
            <a:xfrm>
              <a:off x="6884230" y="2294494"/>
              <a:ext cx="686790" cy="2913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CS-3</a:t>
              </a:r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="" xmlns:a16="http://schemas.microsoft.com/office/drawing/2014/main" id="{8B950F8F-FFA3-4241-B5C7-916C60ACD0E7}"/>
              </a:ext>
            </a:extLst>
          </p:cNvPr>
          <p:cNvGrpSpPr/>
          <p:nvPr/>
        </p:nvGrpSpPr>
        <p:grpSpPr>
          <a:xfrm>
            <a:off x="7989761" y="2756796"/>
            <a:ext cx="686790" cy="1161419"/>
            <a:chOff x="6884230" y="2294494"/>
            <a:chExt cx="686790" cy="916199"/>
          </a:xfrm>
        </p:grpSpPr>
        <p:sp>
          <p:nvSpPr>
            <p:cNvPr id="61" name="Arrow: Up 60">
              <a:extLst>
                <a:ext uri="{FF2B5EF4-FFF2-40B4-BE49-F238E27FC236}">
                  <a16:creationId xmlns="" xmlns:a16="http://schemas.microsoft.com/office/drawing/2014/main" id="{402C2F1D-AAC2-4767-9023-5775882DD153}"/>
                </a:ext>
              </a:extLst>
            </p:cNvPr>
            <p:cNvSpPr/>
            <p:nvPr/>
          </p:nvSpPr>
          <p:spPr>
            <a:xfrm rot="10800000">
              <a:off x="7044865" y="2571551"/>
              <a:ext cx="191070" cy="639142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2" name="TextBox 61">
              <a:extLst>
                <a:ext uri="{FF2B5EF4-FFF2-40B4-BE49-F238E27FC236}">
                  <a16:creationId xmlns="" xmlns:a16="http://schemas.microsoft.com/office/drawing/2014/main" id="{A8994434-A9F1-484A-9BEA-B32161E9CDBB}"/>
                </a:ext>
              </a:extLst>
            </p:cNvPr>
            <p:cNvSpPr txBox="1"/>
            <p:nvPr/>
          </p:nvSpPr>
          <p:spPr>
            <a:xfrm>
              <a:off x="6884230" y="2294494"/>
              <a:ext cx="686790" cy="2913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CS-4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13290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149AD530-6C2A-44EA-A853-BAC2857EF1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904" y="858414"/>
            <a:ext cx="4876872" cy="460871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Backtracking is allowed in DFA.</a:t>
            </a:r>
          </a:p>
          <a:p>
            <a:pPr marL="457200" indent="-457200">
              <a:buFont typeface="+mj-lt"/>
              <a:buAutoNum type="arabicPeriod" startAt="3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E7E875E4-C02C-44AD-9251-3D0D7CDF2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26D1DE06-0720-4572-BF37-034426FE1CD7}"/>
              </a:ext>
            </a:extLst>
          </p:cNvPr>
          <p:cNvSpPr txBox="1"/>
          <p:nvPr/>
        </p:nvSpPr>
        <p:spPr>
          <a:xfrm>
            <a:off x="1529669" y="33241"/>
            <a:ext cx="1600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DFA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="" xmlns:a16="http://schemas.microsoft.com/office/drawing/2014/main" id="{E13E761C-7E8C-455A-B10F-FF97B9D81750}"/>
              </a:ext>
            </a:extLst>
          </p:cNvPr>
          <p:cNvGrpSpPr/>
          <p:nvPr/>
        </p:nvGrpSpPr>
        <p:grpSpPr>
          <a:xfrm>
            <a:off x="389769" y="1761566"/>
            <a:ext cx="5586961" cy="1860226"/>
            <a:chOff x="470451" y="2429960"/>
            <a:chExt cx="6403942" cy="1860226"/>
          </a:xfrm>
        </p:grpSpPr>
        <p:sp>
          <p:nvSpPr>
            <p:cNvPr id="8" name="Oval 7">
              <a:extLst>
                <a:ext uri="{FF2B5EF4-FFF2-40B4-BE49-F238E27FC236}">
                  <a16:creationId xmlns="" xmlns:a16="http://schemas.microsoft.com/office/drawing/2014/main" id="{EDD2A173-63F4-4A80-96B9-79D5A7A31D1C}"/>
                </a:ext>
              </a:extLst>
            </p:cNvPr>
            <p:cNvSpPr/>
            <p:nvPr/>
          </p:nvSpPr>
          <p:spPr>
            <a:xfrm>
              <a:off x="1130579" y="3333906"/>
              <a:ext cx="723331" cy="63914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x0</a:t>
              </a: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="" xmlns:a16="http://schemas.microsoft.com/office/drawing/2014/main" id="{B167B8FE-18DA-468D-9F34-C584DF4C213E}"/>
                </a:ext>
              </a:extLst>
            </p:cNvPr>
            <p:cNvCxnSpPr/>
            <p:nvPr/>
          </p:nvCxnSpPr>
          <p:spPr>
            <a:xfrm>
              <a:off x="470451" y="3673964"/>
              <a:ext cx="573062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Oval 9">
              <a:extLst>
                <a:ext uri="{FF2B5EF4-FFF2-40B4-BE49-F238E27FC236}">
                  <a16:creationId xmlns="" xmlns:a16="http://schemas.microsoft.com/office/drawing/2014/main" id="{F032099B-FB70-499B-B9CB-2153679670AF}"/>
                </a:ext>
              </a:extLst>
            </p:cNvPr>
            <p:cNvSpPr/>
            <p:nvPr/>
          </p:nvSpPr>
          <p:spPr>
            <a:xfrm>
              <a:off x="2765510" y="3333906"/>
              <a:ext cx="723331" cy="63914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x1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="" xmlns:a16="http://schemas.microsoft.com/office/drawing/2014/main" id="{A46E03FE-0352-4BA0-94CE-3CBBC1232E6A}"/>
                </a:ext>
              </a:extLst>
            </p:cNvPr>
            <p:cNvSpPr/>
            <p:nvPr/>
          </p:nvSpPr>
          <p:spPr>
            <a:xfrm>
              <a:off x="4400441" y="3307012"/>
              <a:ext cx="723331" cy="63914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x2</a:t>
              </a: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="" xmlns:a16="http://schemas.microsoft.com/office/drawing/2014/main" id="{49347AD5-0329-4828-BEAA-DE17AA128978}"/>
                </a:ext>
              </a:extLst>
            </p:cNvPr>
            <p:cNvGrpSpPr/>
            <p:nvPr/>
          </p:nvGrpSpPr>
          <p:grpSpPr>
            <a:xfrm>
              <a:off x="6035372" y="3170957"/>
              <a:ext cx="839021" cy="802091"/>
              <a:chOff x="10512625" y="1744747"/>
              <a:chExt cx="839021" cy="802091"/>
            </a:xfrm>
          </p:grpSpPr>
          <p:sp>
            <p:nvSpPr>
              <p:cNvPr id="13" name="Oval 12">
                <a:extLst>
                  <a:ext uri="{FF2B5EF4-FFF2-40B4-BE49-F238E27FC236}">
                    <a16:creationId xmlns="" xmlns:a16="http://schemas.microsoft.com/office/drawing/2014/main" id="{06A6A055-73AA-42D4-81CF-0021044FCC67}"/>
                  </a:ext>
                </a:extLst>
              </p:cNvPr>
              <p:cNvSpPr/>
              <p:nvPr/>
            </p:nvSpPr>
            <p:spPr>
              <a:xfrm>
                <a:off x="10512625" y="1744747"/>
                <a:ext cx="839021" cy="802091"/>
              </a:xfrm>
              <a:prstGeom prst="ellips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4" name="Oval 13">
                <a:extLst>
                  <a:ext uri="{FF2B5EF4-FFF2-40B4-BE49-F238E27FC236}">
                    <a16:creationId xmlns="" xmlns:a16="http://schemas.microsoft.com/office/drawing/2014/main" id="{B0C94D19-8E49-4955-8F65-F2A1695D3938}"/>
                  </a:ext>
                </a:extLst>
              </p:cNvPr>
              <p:cNvSpPr/>
              <p:nvPr/>
            </p:nvSpPr>
            <p:spPr>
              <a:xfrm>
                <a:off x="10585318" y="1837172"/>
                <a:ext cx="681980" cy="628192"/>
              </a:xfrm>
              <a:prstGeom prst="ellips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x3</a:t>
                </a:r>
              </a:p>
            </p:txBody>
          </p:sp>
        </p:grpSp>
        <p:cxnSp>
          <p:nvCxnSpPr>
            <p:cNvPr id="15" name="Straight Arrow Connector 14">
              <a:extLst>
                <a:ext uri="{FF2B5EF4-FFF2-40B4-BE49-F238E27FC236}">
                  <a16:creationId xmlns="" xmlns:a16="http://schemas.microsoft.com/office/drawing/2014/main" id="{CF3E0BDF-810B-4F55-B7EA-0389F91D35A4}"/>
                </a:ext>
              </a:extLst>
            </p:cNvPr>
            <p:cNvCxnSpPr/>
            <p:nvPr/>
          </p:nvCxnSpPr>
          <p:spPr>
            <a:xfrm>
              <a:off x="1914097" y="3662038"/>
              <a:ext cx="839021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="" xmlns:a16="http://schemas.microsoft.com/office/drawing/2014/main" id="{21D2F5CA-FBDF-414C-838D-0A9B5FC4430A}"/>
                </a:ext>
              </a:extLst>
            </p:cNvPr>
            <p:cNvCxnSpPr/>
            <p:nvPr/>
          </p:nvCxnSpPr>
          <p:spPr>
            <a:xfrm>
              <a:off x="3534916" y="3639972"/>
              <a:ext cx="839021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="" xmlns:a16="http://schemas.microsoft.com/office/drawing/2014/main" id="{AA1CBC00-C8B1-44E9-8B2A-D774D4C8057E}"/>
                </a:ext>
              </a:extLst>
            </p:cNvPr>
            <p:cNvCxnSpPr/>
            <p:nvPr/>
          </p:nvCxnSpPr>
          <p:spPr>
            <a:xfrm>
              <a:off x="5169847" y="3639972"/>
              <a:ext cx="839021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="" xmlns:a16="http://schemas.microsoft.com/office/drawing/2014/main" id="{7FCBCE34-8F1D-4494-B37C-ABE96FD57666}"/>
                </a:ext>
              </a:extLst>
            </p:cNvPr>
            <p:cNvSpPr txBox="1"/>
            <p:nvPr/>
          </p:nvSpPr>
          <p:spPr>
            <a:xfrm>
              <a:off x="2089212" y="3191812"/>
              <a:ext cx="3117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="" xmlns:a16="http://schemas.microsoft.com/office/drawing/2014/main" id="{CC77AC81-ED5E-47AC-A744-914483C03C0C}"/>
                </a:ext>
              </a:extLst>
            </p:cNvPr>
            <p:cNvSpPr txBox="1"/>
            <p:nvPr/>
          </p:nvSpPr>
          <p:spPr>
            <a:xfrm>
              <a:off x="3697547" y="3212299"/>
              <a:ext cx="3117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="" xmlns:a16="http://schemas.microsoft.com/office/drawing/2014/main" id="{8E3BF89E-56F8-4EB4-AD82-9142DBD6A27C}"/>
                </a:ext>
              </a:extLst>
            </p:cNvPr>
            <p:cNvSpPr txBox="1"/>
            <p:nvPr/>
          </p:nvSpPr>
          <p:spPr>
            <a:xfrm>
              <a:off x="5358816" y="3172033"/>
              <a:ext cx="3117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="" xmlns:a16="http://schemas.microsoft.com/office/drawing/2014/main" id="{A9C0D6FE-F7E5-434B-BABF-3049C2B33D69}"/>
                </a:ext>
              </a:extLst>
            </p:cNvPr>
            <p:cNvGrpSpPr/>
            <p:nvPr/>
          </p:nvGrpSpPr>
          <p:grpSpPr>
            <a:xfrm rot="10370240">
              <a:off x="1185958" y="2890353"/>
              <a:ext cx="540585" cy="887105"/>
              <a:chOff x="1984650" y="2985447"/>
              <a:chExt cx="540585" cy="887105"/>
            </a:xfrm>
          </p:grpSpPr>
          <p:sp>
            <p:nvSpPr>
              <p:cNvPr id="22" name="Arc 21">
                <a:extLst>
                  <a:ext uri="{FF2B5EF4-FFF2-40B4-BE49-F238E27FC236}">
                    <a16:creationId xmlns="" xmlns:a16="http://schemas.microsoft.com/office/drawing/2014/main" id="{177ECB2A-EFAE-4453-93C0-A41752FCEBB3}"/>
                  </a:ext>
                </a:extLst>
              </p:cNvPr>
              <p:cNvSpPr/>
              <p:nvPr/>
            </p:nvSpPr>
            <p:spPr>
              <a:xfrm rot="11054314">
                <a:off x="1985101" y="2985447"/>
                <a:ext cx="540134" cy="887105"/>
              </a:xfrm>
              <a:prstGeom prst="arc">
                <a:avLst>
                  <a:gd name="adj1" fmla="val 10711483"/>
                  <a:gd name="adj2" fmla="val 0"/>
                </a:avLst>
              </a:prstGeom>
              <a:ln w="254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3" name="Straight Arrow Connector 22">
                <a:extLst>
                  <a:ext uri="{FF2B5EF4-FFF2-40B4-BE49-F238E27FC236}">
                    <a16:creationId xmlns="" xmlns:a16="http://schemas.microsoft.com/office/drawing/2014/main" id="{F995BD76-CADF-4733-ACDA-E945D5FED785}"/>
                  </a:ext>
                </a:extLst>
              </p:cNvPr>
              <p:cNvCxnSpPr/>
              <p:nvPr/>
            </p:nvCxnSpPr>
            <p:spPr>
              <a:xfrm rot="11054314">
                <a:off x="1984650" y="3331902"/>
                <a:ext cx="0" cy="95534"/>
              </a:xfrm>
              <a:prstGeom prst="straightConnector1">
                <a:avLst/>
              </a:prstGeom>
              <a:ln w="25400">
                <a:solidFill>
                  <a:schemeClr val="bg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4" name="TextBox 23">
              <a:extLst>
                <a:ext uri="{FF2B5EF4-FFF2-40B4-BE49-F238E27FC236}">
                  <a16:creationId xmlns="" xmlns:a16="http://schemas.microsoft.com/office/drawing/2014/main" id="{9FF65C04-6E36-440B-8DB3-19D0DD25E1D5}"/>
                </a:ext>
              </a:extLst>
            </p:cNvPr>
            <p:cNvSpPr txBox="1"/>
            <p:nvPr/>
          </p:nvSpPr>
          <p:spPr>
            <a:xfrm>
              <a:off x="1180516" y="2457327"/>
              <a:ext cx="3117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  <p:grpSp>
          <p:nvGrpSpPr>
            <p:cNvPr id="25" name="Group 24">
              <a:extLst>
                <a:ext uri="{FF2B5EF4-FFF2-40B4-BE49-F238E27FC236}">
                  <a16:creationId xmlns="" xmlns:a16="http://schemas.microsoft.com/office/drawing/2014/main" id="{95283B76-D290-48F4-882C-4B73696475FC}"/>
                </a:ext>
              </a:extLst>
            </p:cNvPr>
            <p:cNvGrpSpPr/>
            <p:nvPr/>
          </p:nvGrpSpPr>
          <p:grpSpPr>
            <a:xfrm rot="10370240">
              <a:off x="2836093" y="2873340"/>
              <a:ext cx="540585" cy="887105"/>
              <a:chOff x="1984650" y="2985447"/>
              <a:chExt cx="540585" cy="887105"/>
            </a:xfrm>
          </p:grpSpPr>
          <p:sp>
            <p:nvSpPr>
              <p:cNvPr id="26" name="Arc 25">
                <a:extLst>
                  <a:ext uri="{FF2B5EF4-FFF2-40B4-BE49-F238E27FC236}">
                    <a16:creationId xmlns="" xmlns:a16="http://schemas.microsoft.com/office/drawing/2014/main" id="{43BB7691-F2E4-46BF-906F-C4CCEF7D55D9}"/>
                  </a:ext>
                </a:extLst>
              </p:cNvPr>
              <p:cNvSpPr/>
              <p:nvPr/>
            </p:nvSpPr>
            <p:spPr>
              <a:xfrm rot="11054314">
                <a:off x="1985101" y="2985447"/>
                <a:ext cx="540134" cy="887105"/>
              </a:xfrm>
              <a:prstGeom prst="arc">
                <a:avLst>
                  <a:gd name="adj1" fmla="val 10711483"/>
                  <a:gd name="adj2" fmla="val 0"/>
                </a:avLst>
              </a:prstGeom>
              <a:ln w="254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7" name="Straight Arrow Connector 26">
                <a:extLst>
                  <a:ext uri="{FF2B5EF4-FFF2-40B4-BE49-F238E27FC236}">
                    <a16:creationId xmlns="" xmlns:a16="http://schemas.microsoft.com/office/drawing/2014/main" id="{7D03CC14-B08B-467F-A77E-2F642111408F}"/>
                  </a:ext>
                </a:extLst>
              </p:cNvPr>
              <p:cNvCxnSpPr/>
              <p:nvPr/>
            </p:nvCxnSpPr>
            <p:spPr>
              <a:xfrm rot="11054314">
                <a:off x="1984650" y="3331902"/>
                <a:ext cx="0" cy="95534"/>
              </a:xfrm>
              <a:prstGeom prst="straightConnector1">
                <a:avLst/>
              </a:prstGeom>
              <a:ln w="25400">
                <a:solidFill>
                  <a:schemeClr val="bg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8" name="TextBox 27">
              <a:extLst>
                <a:ext uri="{FF2B5EF4-FFF2-40B4-BE49-F238E27FC236}">
                  <a16:creationId xmlns="" xmlns:a16="http://schemas.microsoft.com/office/drawing/2014/main" id="{624BB0EE-6A5B-4B02-82D4-235316C7D61D}"/>
                </a:ext>
              </a:extLst>
            </p:cNvPr>
            <p:cNvSpPr txBox="1"/>
            <p:nvPr/>
          </p:nvSpPr>
          <p:spPr>
            <a:xfrm>
              <a:off x="2906302" y="2429960"/>
              <a:ext cx="3117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29" name="Arrow: Curved Down 28">
              <a:extLst>
                <a:ext uri="{FF2B5EF4-FFF2-40B4-BE49-F238E27FC236}">
                  <a16:creationId xmlns="" xmlns:a16="http://schemas.microsoft.com/office/drawing/2014/main" id="{941EC0F0-A84F-48C9-87D0-10CEDCA8CD61}"/>
                </a:ext>
              </a:extLst>
            </p:cNvPr>
            <p:cNvSpPr/>
            <p:nvPr/>
          </p:nvSpPr>
          <p:spPr>
            <a:xfrm rot="10800000">
              <a:off x="1659826" y="3958135"/>
              <a:ext cx="2908196" cy="256814"/>
            </a:xfrm>
            <a:prstGeom prst="curvedDownArrow">
              <a:avLst>
                <a:gd name="adj1" fmla="val 11615"/>
                <a:gd name="adj2" fmla="val 50000"/>
                <a:gd name="adj3" fmla="val 25000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="" xmlns:a16="http://schemas.microsoft.com/office/drawing/2014/main" id="{4ED6617C-6176-4E5A-97A8-7060AB131E68}"/>
                </a:ext>
              </a:extLst>
            </p:cNvPr>
            <p:cNvSpPr txBox="1"/>
            <p:nvPr/>
          </p:nvSpPr>
          <p:spPr>
            <a:xfrm>
              <a:off x="3306612" y="3828521"/>
              <a:ext cx="3117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31" name="Arrow: Curved Down 30">
              <a:extLst>
                <a:ext uri="{FF2B5EF4-FFF2-40B4-BE49-F238E27FC236}">
                  <a16:creationId xmlns="" xmlns:a16="http://schemas.microsoft.com/office/drawing/2014/main" id="{164BCBA0-BA6D-4830-A4C7-0273A3ACF31A}"/>
                </a:ext>
              </a:extLst>
            </p:cNvPr>
            <p:cNvSpPr/>
            <p:nvPr/>
          </p:nvSpPr>
          <p:spPr>
            <a:xfrm rot="10800000">
              <a:off x="5046391" y="3906855"/>
              <a:ext cx="1049609" cy="203318"/>
            </a:xfrm>
            <a:prstGeom prst="curvedDownArrow">
              <a:avLst>
                <a:gd name="adj1" fmla="val 11615"/>
                <a:gd name="adj2" fmla="val 50000"/>
                <a:gd name="adj3" fmla="val 25000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="" xmlns:a16="http://schemas.microsoft.com/office/drawing/2014/main" id="{D1B5F6D8-B479-4A51-8B85-C90FEF56C3B4}"/>
                </a:ext>
              </a:extLst>
            </p:cNvPr>
            <p:cNvSpPr txBox="1"/>
            <p:nvPr/>
          </p:nvSpPr>
          <p:spPr>
            <a:xfrm>
              <a:off x="5418452" y="3735245"/>
              <a:ext cx="3117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33" name="Arrow: Curved Up 32">
              <a:extLst>
                <a:ext uri="{FF2B5EF4-FFF2-40B4-BE49-F238E27FC236}">
                  <a16:creationId xmlns="" xmlns:a16="http://schemas.microsoft.com/office/drawing/2014/main" id="{883BCDAA-DF6B-4CE1-A7DF-CEA9CF6A7531}"/>
                </a:ext>
              </a:extLst>
            </p:cNvPr>
            <p:cNvSpPr/>
            <p:nvPr/>
          </p:nvSpPr>
          <p:spPr>
            <a:xfrm rot="10601653">
              <a:off x="3340408" y="2885646"/>
              <a:ext cx="2898449" cy="392783"/>
            </a:xfrm>
            <a:prstGeom prst="curvedUpArrow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="" xmlns:a16="http://schemas.microsoft.com/office/drawing/2014/main" id="{C5839F56-250D-47CC-877C-BC0884BC986F}"/>
                </a:ext>
              </a:extLst>
            </p:cNvPr>
            <p:cNvSpPr txBox="1"/>
            <p:nvPr/>
          </p:nvSpPr>
          <p:spPr>
            <a:xfrm>
              <a:off x="4689579" y="2463044"/>
              <a:ext cx="3117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</p:grpSp>
      <p:sp>
        <p:nvSpPr>
          <p:cNvPr id="35" name="Content Placeholder 2">
            <a:extLst>
              <a:ext uri="{FF2B5EF4-FFF2-40B4-BE49-F238E27FC236}">
                <a16:creationId xmlns="" xmlns:a16="http://schemas.microsoft.com/office/drawing/2014/main" id="{F97922DE-7782-4701-9A67-30B071D7E716}"/>
              </a:ext>
            </a:extLst>
          </p:cNvPr>
          <p:cNvSpPr txBox="1">
            <a:spLocks/>
          </p:cNvSpPr>
          <p:nvPr/>
        </p:nvSpPr>
        <p:spPr>
          <a:xfrm>
            <a:off x="5373287" y="786600"/>
            <a:ext cx="4565144" cy="52848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457200" indent="-457200">
              <a:buFont typeface="+mj-lt"/>
              <a:buAutoNum type="arabicPeriod" startAt="3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NDFA, backtracking is not always possible.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="" xmlns:a16="http://schemas.microsoft.com/office/drawing/2014/main" id="{B34E8F8C-167C-49A9-BB01-50B5E361FCC7}"/>
              </a:ext>
            </a:extLst>
          </p:cNvPr>
          <p:cNvSpPr txBox="1"/>
          <p:nvPr/>
        </p:nvSpPr>
        <p:spPr>
          <a:xfrm>
            <a:off x="6855759" y="0"/>
            <a:ext cx="1600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NDFA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="" xmlns:a16="http://schemas.microsoft.com/office/drawing/2014/main" id="{CD207AB7-FD5D-45DA-A74B-31F2314C78DA}"/>
              </a:ext>
            </a:extLst>
          </p:cNvPr>
          <p:cNvSpPr txBox="1"/>
          <p:nvPr/>
        </p:nvSpPr>
        <p:spPr>
          <a:xfrm>
            <a:off x="645082" y="1255327"/>
            <a:ext cx="476304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All words that ends with aba.</a:t>
            </a:r>
            <a:endParaRPr lang="en-US" sz="2200" dirty="0"/>
          </a:p>
        </p:txBody>
      </p:sp>
      <p:sp>
        <p:nvSpPr>
          <p:cNvPr id="38" name="TextBox 37">
            <a:extLst>
              <a:ext uri="{FF2B5EF4-FFF2-40B4-BE49-F238E27FC236}">
                <a16:creationId xmlns="" xmlns:a16="http://schemas.microsoft.com/office/drawing/2014/main" id="{F98FFA43-7618-4602-828A-9E9802F87148}"/>
              </a:ext>
            </a:extLst>
          </p:cNvPr>
          <p:cNvSpPr txBox="1"/>
          <p:nvPr/>
        </p:nvSpPr>
        <p:spPr>
          <a:xfrm>
            <a:off x="5793306" y="1470770"/>
            <a:ext cx="4763046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All words that ends with aba.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aaba</a:t>
            </a:r>
            <a:r>
              <a:rPr lang="en-US" sz="3600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en-US" sz="3600" dirty="0"/>
          </a:p>
        </p:txBody>
      </p:sp>
      <p:sp>
        <p:nvSpPr>
          <p:cNvPr id="39" name="Oval 38">
            <a:extLst>
              <a:ext uri="{FF2B5EF4-FFF2-40B4-BE49-F238E27FC236}">
                <a16:creationId xmlns="" xmlns:a16="http://schemas.microsoft.com/office/drawing/2014/main" id="{C04827AB-DD9A-4ED6-85A1-B6B5EA8D74CE}"/>
              </a:ext>
            </a:extLst>
          </p:cNvPr>
          <p:cNvSpPr/>
          <p:nvPr/>
        </p:nvSpPr>
        <p:spPr>
          <a:xfrm>
            <a:off x="6486746" y="3963569"/>
            <a:ext cx="697006" cy="712694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x0</a:t>
            </a:r>
          </a:p>
        </p:txBody>
      </p:sp>
      <p:sp>
        <p:nvSpPr>
          <p:cNvPr id="40" name="Oval 39">
            <a:extLst>
              <a:ext uri="{FF2B5EF4-FFF2-40B4-BE49-F238E27FC236}">
                <a16:creationId xmlns="" xmlns:a16="http://schemas.microsoft.com/office/drawing/2014/main" id="{CA0A025A-21AA-4275-B28C-53DF98FBBD62}"/>
              </a:ext>
            </a:extLst>
          </p:cNvPr>
          <p:cNvSpPr/>
          <p:nvPr/>
        </p:nvSpPr>
        <p:spPr>
          <a:xfrm>
            <a:off x="7941653" y="3950317"/>
            <a:ext cx="697006" cy="712694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x1</a:t>
            </a:r>
          </a:p>
        </p:txBody>
      </p:sp>
      <p:sp>
        <p:nvSpPr>
          <p:cNvPr id="41" name="Oval 40">
            <a:extLst>
              <a:ext uri="{FF2B5EF4-FFF2-40B4-BE49-F238E27FC236}">
                <a16:creationId xmlns="" xmlns:a16="http://schemas.microsoft.com/office/drawing/2014/main" id="{232661FD-3231-48C1-A2C5-6DC574BF9AAE}"/>
              </a:ext>
            </a:extLst>
          </p:cNvPr>
          <p:cNvSpPr/>
          <p:nvPr/>
        </p:nvSpPr>
        <p:spPr>
          <a:xfrm>
            <a:off x="9411634" y="3937065"/>
            <a:ext cx="697006" cy="712694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x2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="" xmlns:a16="http://schemas.microsoft.com/office/drawing/2014/main" id="{C3D49387-B6BD-4C8C-8B72-4994398480E7}"/>
              </a:ext>
            </a:extLst>
          </p:cNvPr>
          <p:cNvCxnSpPr/>
          <p:nvPr/>
        </p:nvCxnSpPr>
        <p:spPr>
          <a:xfrm>
            <a:off x="5989984" y="4319916"/>
            <a:ext cx="48354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6" name="Group 45">
            <a:extLst>
              <a:ext uri="{FF2B5EF4-FFF2-40B4-BE49-F238E27FC236}">
                <a16:creationId xmlns="" xmlns:a16="http://schemas.microsoft.com/office/drawing/2014/main" id="{B1BA9B08-4F24-41E4-BBCB-8849CA4AEFEC}"/>
              </a:ext>
            </a:extLst>
          </p:cNvPr>
          <p:cNvGrpSpPr/>
          <p:nvPr/>
        </p:nvGrpSpPr>
        <p:grpSpPr>
          <a:xfrm>
            <a:off x="10899171" y="3875484"/>
            <a:ext cx="803344" cy="835855"/>
            <a:chOff x="5184749" y="4682255"/>
            <a:chExt cx="803344" cy="835855"/>
          </a:xfrm>
        </p:grpSpPr>
        <p:sp>
          <p:nvSpPr>
            <p:cNvPr id="44" name="Oval 43">
              <a:extLst>
                <a:ext uri="{FF2B5EF4-FFF2-40B4-BE49-F238E27FC236}">
                  <a16:creationId xmlns="" xmlns:a16="http://schemas.microsoft.com/office/drawing/2014/main" id="{8F9CDE5C-96FF-4D40-8E35-EF044400A0D6}"/>
                </a:ext>
              </a:extLst>
            </p:cNvPr>
            <p:cNvSpPr/>
            <p:nvPr/>
          </p:nvSpPr>
          <p:spPr>
            <a:xfrm>
              <a:off x="5184749" y="4682255"/>
              <a:ext cx="803344" cy="835855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5" name="Oval 44">
              <a:extLst>
                <a:ext uri="{FF2B5EF4-FFF2-40B4-BE49-F238E27FC236}">
                  <a16:creationId xmlns="" xmlns:a16="http://schemas.microsoft.com/office/drawing/2014/main" id="{3F768F3B-81D9-4CAF-AF6E-D9F095B52C67}"/>
                </a:ext>
              </a:extLst>
            </p:cNvPr>
            <p:cNvSpPr/>
            <p:nvPr/>
          </p:nvSpPr>
          <p:spPr>
            <a:xfrm>
              <a:off x="5241993" y="4745149"/>
              <a:ext cx="697006" cy="712694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x3</a:t>
              </a:r>
            </a:p>
          </p:txBody>
        </p:sp>
      </p:grpSp>
      <p:cxnSp>
        <p:nvCxnSpPr>
          <p:cNvPr id="47" name="Straight Arrow Connector 46">
            <a:extLst>
              <a:ext uri="{FF2B5EF4-FFF2-40B4-BE49-F238E27FC236}">
                <a16:creationId xmlns="" xmlns:a16="http://schemas.microsoft.com/office/drawing/2014/main" id="{70450A69-B259-4D3C-979E-FA0A2CFE43C1}"/>
              </a:ext>
            </a:extLst>
          </p:cNvPr>
          <p:cNvCxnSpPr/>
          <p:nvPr/>
        </p:nvCxnSpPr>
        <p:spPr>
          <a:xfrm>
            <a:off x="8665163" y="4293412"/>
            <a:ext cx="731983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="" xmlns:a16="http://schemas.microsoft.com/office/drawing/2014/main" id="{E925179F-02E3-405F-935C-31689533E68E}"/>
              </a:ext>
            </a:extLst>
          </p:cNvPr>
          <p:cNvCxnSpPr/>
          <p:nvPr/>
        </p:nvCxnSpPr>
        <p:spPr>
          <a:xfrm>
            <a:off x="7210256" y="4306664"/>
            <a:ext cx="731983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="" xmlns:a16="http://schemas.microsoft.com/office/drawing/2014/main" id="{30719D9B-9EE0-4E4C-9F3C-DAE990982348}"/>
              </a:ext>
            </a:extLst>
          </p:cNvPr>
          <p:cNvCxnSpPr/>
          <p:nvPr/>
        </p:nvCxnSpPr>
        <p:spPr>
          <a:xfrm>
            <a:off x="10157495" y="4286152"/>
            <a:ext cx="731983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="" xmlns:a16="http://schemas.microsoft.com/office/drawing/2014/main" id="{DAD597C4-9FEB-467A-9A23-42F3D849E432}"/>
              </a:ext>
            </a:extLst>
          </p:cNvPr>
          <p:cNvSpPr txBox="1"/>
          <p:nvPr/>
        </p:nvSpPr>
        <p:spPr>
          <a:xfrm>
            <a:off x="7323732" y="3858527"/>
            <a:ext cx="2719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="" xmlns:a16="http://schemas.microsoft.com/office/drawing/2014/main" id="{82B3A5BA-A96E-47A4-9B2A-8E43F1CDC92F}"/>
              </a:ext>
            </a:extLst>
          </p:cNvPr>
          <p:cNvSpPr txBox="1"/>
          <p:nvPr/>
        </p:nvSpPr>
        <p:spPr>
          <a:xfrm>
            <a:off x="10318246" y="3858251"/>
            <a:ext cx="2719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="" xmlns:a16="http://schemas.microsoft.com/office/drawing/2014/main" id="{466F6746-AB92-4F07-84C5-D86BB87BBBF0}"/>
              </a:ext>
            </a:extLst>
          </p:cNvPr>
          <p:cNvSpPr txBox="1"/>
          <p:nvPr/>
        </p:nvSpPr>
        <p:spPr>
          <a:xfrm>
            <a:off x="8813526" y="3875484"/>
            <a:ext cx="2719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55" name="Arc 54">
            <a:extLst>
              <a:ext uri="{FF2B5EF4-FFF2-40B4-BE49-F238E27FC236}">
                <a16:creationId xmlns="" xmlns:a16="http://schemas.microsoft.com/office/drawing/2014/main" id="{849113FD-8B93-49B4-9FEC-B701B2B20C6B}"/>
              </a:ext>
            </a:extLst>
          </p:cNvPr>
          <p:cNvSpPr/>
          <p:nvPr/>
        </p:nvSpPr>
        <p:spPr>
          <a:xfrm>
            <a:off x="6586120" y="3539957"/>
            <a:ext cx="471227" cy="887105"/>
          </a:xfrm>
          <a:prstGeom prst="arc">
            <a:avLst>
              <a:gd name="adj1" fmla="val 10711483"/>
              <a:gd name="adj2" fmla="val 0"/>
            </a:avLst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="" xmlns:a16="http://schemas.microsoft.com/office/drawing/2014/main" id="{FCEFE45B-CEA6-4498-8008-059E264EE9F2}"/>
              </a:ext>
            </a:extLst>
          </p:cNvPr>
          <p:cNvSpPr txBox="1"/>
          <p:nvPr/>
        </p:nvSpPr>
        <p:spPr>
          <a:xfrm>
            <a:off x="6548410" y="3109287"/>
            <a:ext cx="5657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a/b</a:t>
            </a:r>
          </a:p>
        </p:txBody>
      </p:sp>
      <p:grpSp>
        <p:nvGrpSpPr>
          <p:cNvPr id="57" name="Group 56">
            <a:extLst>
              <a:ext uri="{FF2B5EF4-FFF2-40B4-BE49-F238E27FC236}">
                <a16:creationId xmlns="" xmlns:a16="http://schemas.microsoft.com/office/drawing/2014/main" id="{8D3C0EC3-1E6A-436B-B406-38A549AC7268}"/>
              </a:ext>
            </a:extLst>
          </p:cNvPr>
          <p:cNvGrpSpPr/>
          <p:nvPr/>
        </p:nvGrpSpPr>
        <p:grpSpPr>
          <a:xfrm rot="18867934">
            <a:off x="5867045" y="3049583"/>
            <a:ext cx="369332" cy="1274995"/>
            <a:chOff x="7019630" y="2204898"/>
            <a:chExt cx="369332" cy="1005795"/>
          </a:xfrm>
        </p:grpSpPr>
        <p:sp>
          <p:nvSpPr>
            <p:cNvPr id="58" name="Arrow: Up 57">
              <a:extLst>
                <a:ext uri="{FF2B5EF4-FFF2-40B4-BE49-F238E27FC236}">
                  <a16:creationId xmlns="" xmlns:a16="http://schemas.microsoft.com/office/drawing/2014/main" id="{E93022AA-FD9E-4354-A4A7-DF5F91C23E96}"/>
                </a:ext>
              </a:extLst>
            </p:cNvPr>
            <p:cNvSpPr/>
            <p:nvPr/>
          </p:nvSpPr>
          <p:spPr>
            <a:xfrm rot="10800000">
              <a:off x="7044865" y="2571551"/>
              <a:ext cx="191070" cy="639142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9" name="TextBox 58">
              <a:extLst>
                <a:ext uri="{FF2B5EF4-FFF2-40B4-BE49-F238E27FC236}">
                  <a16:creationId xmlns="" xmlns:a16="http://schemas.microsoft.com/office/drawing/2014/main" id="{BAF74065-B1AC-4D5B-9613-553AA58A4378}"/>
                </a:ext>
              </a:extLst>
            </p:cNvPr>
            <p:cNvSpPr txBox="1"/>
            <p:nvPr/>
          </p:nvSpPr>
          <p:spPr>
            <a:xfrm rot="2732066">
              <a:off x="6923696" y="2300832"/>
              <a:ext cx="5611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CS-1</a:t>
              </a: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="" xmlns:a16="http://schemas.microsoft.com/office/drawing/2014/main" id="{A07A9414-AC5B-4369-AC6A-00609C53E664}"/>
              </a:ext>
            </a:extLst>
          </p:cNvPr>
          <p:cNvGrpSpPr/>
          <p:nvPr/>
        </p:nvGrpSpPr>
        <p:grpSpPr>
          <a:xfrm>
            <a:off x="11003729" y="2697050"/>
            <a:ext cx="686790" cy="1161419"/>
            <a:chOff x="6884230" y="2294494"/>
            <a:chExt cx="686790" cy="916199"/>
          </a:xfrm>
        </p:grpSpPr>
        <p:sp>
          <p:nvSpPr>
            <p:cNvPr id="64" name="Arrow: Up 63">
              <a:extLst>
                <a:ext uri="{FF2B5EF4-FFF2-40B4-BE49-F238E27FC236}">
                  <a16:creationId xmlns="" xmlns:a16="http://schemas.microsoft.com/office/drawing/2014/main" id="{D2C981A1-EDB1-46C9-B578-9C61753C3ADB}"/>
                </a:ext>
              </a:extLst>
            </p:cNvPr>
            <p:cNvSpPr/>
            <p:nvPr/>
          </p:nvSpPr>
          <p:spPr>
            <a:xfrm rot="10800000">
              <a:off x="7044865" y="2571551"/>
              <a:ext cx="191070" cy="639142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5" name="TextBox 64">
              <a:extLst>
                <a:ext uri="{FF2B5EF4-FFF2-40B4-BE49-F238E27FC236}">
                  <a16:creationId xmlns="" xmlns:a16="http://schemas.microsoft.com/office/drawing/2014/main" id="{19C23E79-AF52-4EE2-8B1E-AFA079E785CF}"/>
                </a:ext>
              </a:extLst>
            </p:cNvPr>
            <p:cNvSpPr txBox="1"/>
            <p:nvPr/>
          </p:nvSpPr>
          <p:spPr>
            <a:xfrm>
              <a:off x="6884230" y="2294494"/>
              <a:ext cx="686790" cy="2913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CS-3</a:t>
              </a:r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="" xmlns:a16="http://schemas.microsoft.com/office/drawing/2014/main" id="{8B950F8F-FFA3-4241-B5C7-916C60ACD0E7}"/>
              </a:ext>
            </a:extLst>
          </p:cNvPr>
          <p:cNvGrpSpPr/>
          <p:nvPr/>
        </p:nvGrpSpPr>
        <p:grpSpPr>
          <a:xfrm>
            <a:off x="9498040" y="2767524"/>
            <a:ext cx="686790" cy="1161419"/>
            <a:chOff x="6884230" y="2294494"/>
            <a:chExt cx="686790" cy="916199"/>
          </a:xfrm>
        </p:grpSpPr>
        <p:sp>
          <p:nvSpPr>
            <p:cNvPr id="61" name="Arrow: Up 60">
              <a:extLst>
                <a:ext uri="{FF2B5EF4-FFF2-40B4-BE49-F238E27FC236}">
                  <a16:creationId xmlns="" xmlns:a16="http://schemas.microsoft.com/office/drawing/2014/main" id="{402C2F1D-AAC2-4767-9023-5775882DD153}"/>
                </a:ext>
              </a:extLst>
            </p:cNvPr>
            <p:cNvSpPr/>
            <p:nvPr/>
          </p:nvSpPr>
          <p:spPr>
            <a:xfrm rot="10800000">
              <a:off x="7044865" y="2571551"/>
              <a:ext cx="191070" cy="639142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2" name="TextBox 61">
              <a:extLst>
                <a:ext uri="{FF2B5EF4-FFF2-40B4-BE49-F238E27FC236}">
                  <a16:creationId xmlns="" xmlns:a16="http://schemas.microsoft.com/office/drawing/2014/main" id="{A8994434-A9F1-484A-9BEA-B32161E9CDBB}"/>
                </a:ext>
              </a:extLst>
            </p:cNvPr>
            <p:cNvSpPr txBox="1"/>
            <p:nvPr/>
          </p:nvSpPr>
          <p:spPr>
            <a:xfrm>
              <a:off x="6884230" y="2294494"/>
              <a:ext cx="686790" cy="2913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CS-4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025488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149AD530-6C2A-44EA-A853-BAC2857EF1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904" y="858414"/>
            <a:ext cx="4876872" cy="460871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Backtracking is allowed in DFA.</a:t>
            </a:r>
          </a:p>
          <a:p>
            <a:pPr marL="457200" indent="-457200">
              <a:buFont typeface="+mj-lt"/>
              <a:buAutoNum type="arabicPeriod" startAt="3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E7E875E4-C02C-44AD-9251-3D0D7CDF2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26D1DE06-0720-4572-BF37-034426FE1CD7}"/>
              </a:ext>
            </a:extLst>
          </p:cNvPr>
          <p:cNvSpPr txBox="1"/>
          <p:nvPr/>
        </p:nvSpPr>
        <p:spPr>
          <a:xfrm>
            <a:off x="1529669" y="33241"/>
            <a:ext cx="1600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DFA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="" xmlns:a16="http://schemas.microsoft.com/office/drawing/2014/main" id="{E13E761C-7E8C-455A-B10F-FF97B9D81750}"/>
              </a:ext>
            </a:extLst>
          </p:cNvPr>
          <p:cNvGrpSpPr/>
          <p:nvPr/>
        </p:nvGrpSpPr>
        <p:grpSpPr>
          <a:xfrm>
            <a:off x="389769" y="1761566"/>
            <a:ext cx="5586961" cy="1860226"/>
            <a:chOff x="470451" y="2429960"/>
            <a:chExt cx="6403942" cy="1860226"/>
          </a:xfrm>
        </p:grpSpPr>
        <p:sp>
          <p:nvSpPr>
            <p:cNvPr id="8" name="Oval 7">
              <a:extLst>
                <a:ext uri="{FF2B5EF4-FFF2-40B4-BE49-F238E27FC236}">
                  <a16:creationId xmlns="" xmlns:a16="http://schemas.microsoft.com/office/drawing/2014/main" id="{EDD2A173-63F4-4A80-96B9-79D5A7A31D1C}"/>
                </a:ext>
              </a:extLst>
            </p:cNvPr>
            <p:cNvSpPr/>
            <p:nvPr/>
          </p:nvSpPr>
          <p:spPr>
            <a:xfrm>
              <a:off x="1130579" y="3333906"/>
              <a:ext cx="723331" cy="63914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x0</a:t>
              </a: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="" xmlns:a16="http://schemas.microsoft.com/office/drawing/2014/main" id="{B167B8FE-18DA-468D-9F34-C584DF4C213E}"/>
                </a:ext>
              </a:extLst>
            </p:cNvPr>
            <p:cNvCxnSpPr/>
            <p:nvPr/>
          </p:nvCxnSpPr>
          <p:spPr>
            <a:xfrm>
              <a:off x="470451" y="3673964"/>
              <a:ext cx="573062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Oval 9">
              <a:extLst>
                <a:ext uri="{FF2B5EF4-FFF2-40B4-BE49-F238E27FC236}">
                  <a16:creationId xmlns="" xmlns:a16="http://schemas.microsoft.com/office/drawing/2014/main" id="{F032099B-FB70-499B-B9CB-2153679670AF}"/>
                </a:ext>
              </a:extLst>
            </p:cNvPr>
            <p:cNvSpPr/>
            <p:nvPr/>
          </p:nvSpPr>
          <p:spPr>
            <a:xfrm>
              <a:off x="2765510" y="3333906"/>
              <a:ext cx="723331" cy="63914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x1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="" xmlns:a16="http://schemas.microsoft.com/office/drawing/2014/main" id="{A46E03FE-0352-4BA0-94CE-3CBBC1232E6A}"/>
                </a:ext>
              </a:extLst>
            </p:cNvPr>
            <p:cNvSpPr/>
            <p:nvPr/>
          </p:nvSpPr>
          <p:spPr>
            <a:xfrm>
              <a:off x="4400441" y="3307012"/>
              <a:ext cx="723331" cy="63914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x2</a:t>
              </a: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="" xmlns:a16="http://schemas.microsoft.com/office/drawing/2014/main" id="{49347AD5-0329-4828-BEAA-DE17AA128978}"/>
                </a:ext>
              </a:extLst>
            </p:cNvPr>
            <p:cNvGrpSpPr/>
            <p:nvPr/>
          </p:nvGrpSpPr>
          <p:grpSpPr>
            <a:xfrm>
              <a:off x="6035372" y="3170957"/>
              <a:ext cx="839021" cy="802091"/>
              <a:chOff x="10512625" y="1744747"/>
              <a:chExt cx="839021" cy="802091"/>
            </a:xfrm>
          </p:grpSpPr>
          <p:sp>
            <p:nvSpPr>
              <p:cNvPr id="13" name="Oval 12">
                <a:extLst>
                  <a:ext uri="{FF2B5EF4-FFF2-40B4-BE49-F238E27FC236}">
                    <a16:creationId xmlns="" xmlns:a16="http://schemas.microsoft.com/office/drawing/2014/main" id="{06A6A055-73AA-42D4-81CF-0021044FCC67}"/>
                  </a:ext>
                </a:extLst>
              </p:cNvPr>
              <p:cNvSpPr/>
              <p:nvPr/>
            </p:nvSpPr>
            <p:spPr>
              <a:xfrm>
                <a:off x="10512625" y="1744747"/>
                <a:ext cx="839021" cy="802091"/>
              </a:xfrm>
              <a:prstGeom prst="ellips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4" name="Oval 13">
                <a:extLst>
                  <a:ext uri="{FF2B5EF4-FFF2-40B4-BE49-F238E27FC236}">
                    <a16:creationId xmlns="" xmlns:a16="http://schemas.microsoft.com/office/drawing/2014/main" id="{B0C94D19-8E49-4955-8F65-F2A1695D3938}"/>
                  </a:ext>
                </a:extLst>
              </p:cNvPr>
              <p:cNvSpPr/>
              <p:nvPr/>
            </p:nvSpPr>
            <p:spPr>
              <a:xfrm>
                <a:off x="10585318" y="1837172"/>
                <a:ext cx="681980" cy="628192"/>
              </a:xfrm>
              <a:prstGeom prst="ellips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x3</a:t>
                </a:r>
              </a:p>
            </p:txBody>
          </p:sp>
        </p:grpSp>
        <p:cxnSp>
          <p:nvCxnSpPr>
            <p:cNvPr id="15" name="Straight Arrow Connector 14">
              <a:extLst>
                <a:ext uri="{FF2B5EF4-FFF2-40B4-BE49-F238E27FC236}">
                  <a16:creationId xmlns="" xmlns:a16="http://schemas.microsoft.com/office/drawing/2014/main" id="{CF3E0BDF-810B-4F55-B7EA-0389F91D35A4}"/>
                </a:ext>
              </a:extLst>
            </p:cNvPr>
            <p:cNvCxnSpPr/>
            <p:nvPr/>
          </p:nvCxnSpPr>
          <p:spPr>
            <a:xfrm>
              <a:off x="1914097" y="3662038"/>
              <a:ext cx="839021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="" xmlns:a16="http://schemas.microsoft.com/office/drawing/2014/main" id="{21D2F5CA-FBDF-414C-838D-0A9B5FC4430A}"/>
                </a:ext>
              </a:extLst>
            </p:cNvPr>
            <p:cNvCxnSpPr/>
            <p:nvPr/>
          </p:nvCxnSpPr>
          <p:spPr>
            <a:xfrm>
              <a:off x="3534916" y="3639972"/>
              <a:ext cx="839021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="" xmlns:a16="http://schemas.microsoft.com/office/drawing/2014/main" id="{AA1CBC00-C8B1-44E9-8B2A-D774D4C8057E}"/>
                </a:ext>
              </a:extLst>
            </p:cNvPr>
            <p:cNvCxnSpPr/>
            <p:nvPr/>
          </p:nvCxnSpPr>
          <p:spPr>
            <a:xfrm>
              <a:off x="5169847" y="3639972"/>
              <a:ext cx="839021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="" xmlns:a16="http://schemas.microsoft.com/office/drawing/2014/main" id="{7FCBCE34-8F1D-4494-B37C-ABE96FD57666}"/>
                </a:ext>
              </a:extLst>
            </p:cNvPr>
            <p:cNvSpPr txBox="1"/>
            <p:nvPr/>
          </p:nvSpPr>
          <p:spPr>
            <a:xfrm>
              <a:off x="2089212" y="3191812"/>
              <a:ext cx="3117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="" xmlns:a16="http://schemas.microsoft.com/office/drawing/2014/main" id="{CC77AC81-ED5E-47AC-A744-914483C03C0C}"/>
                </a:ext>
              </a:extLst>
            </p:cNvPr>
            <p:cNvSpPr txBox="1"/>
            <p:nvPr/>
          </p:nvSpPr>
          <p:spPr>
            <a:xfrm>
              <a:off x="3697547" y="3212299"/>
              <a:ext cx="3117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="" xmlns:a16="http://schemas.microsoft.com/office/drawing/2014/main" id="{8E3BF89E-56F8-4EB4-AD82-9142DBD6A27C}"/>
                </a:ext>
              </a:extLst>
            </p:cNvPr>
            <p:cNvSpPr txBox="1"/>
            <p:nvPr/>
          </p:nvSpPr>
          <p:spPr>
            <a:xfrm>
              <a:off x="5358816" y="3172033"/>
              <a:ext cx="3117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="" xmlns:a16="http://schemas.microsoft.com/office/drawing/2014/main" id="{A9C0D6FE-F7E5-434B-BABF-3049C2B33D69}"/>
                </a:ext>
              </a:extLst>
            </p:cNvPr>
            <p:cNvGrpSpPr/>
            <p:nvPr/>
          </p:nvGrpSpPr>
          <p:grpSpPr>
            <a:xfrm rot="10370240">
              <a:off x="1185958" y="2890353"/>
              <a:ext cx="540585" cy="887105"/>
              <a:chOff x="1984650" y="2985447"/>
              <a:chExt cx="540585" cy="887105"/>
            </a:xfrm>
          </p:grpSpPr>
          <p:sp>
            <p:nvSpPr>
              <p:cNvPr id="22" name="Arc 21">
                <a:extLst>
                  <a:ext uri="{FF2B5EF4-FFF2-40B4-BE49-F238E27FC236}">
                    <a16:creationId xmlns="" xmlns:a16="http://schemas.microsoft.com/office/drawing/2014/main" id="{177ECB2A-EFAE-4453-93C0-A41752FCEBB3}"/>
                  </a:ext>
                </a:extLst>
              </p:cNvPr>
              <p:cNvSpPr/>
              <p:nvPr/>
            </p:nvSpPr>
            <p:spPr>
              <a:xfrm rot="11054314">
                <a:off x="1985101" y="2985447"/>
                <a:ext cx="540134" cy="887105"/>
              </a:xfrm>
              <a:prstGeom prst="arc">
                <a:avLst>
                  <a:gd name="adj1" fmla="val 10711483"/>
                  <a:gd name="adj2" fmla="val 0"/>
                </a:avLst>
              </a:prstGeom>
              <a:ln w="254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3" name="Straight Arrow Connector 22">
                <a:extLst>
                  <a:ext uri="{FF2B5EF4-FFF2-40B4-BE49-F238E27FC236}">
                    <a16:creationId xmlns="" xmlns:a16="http://schemas.microsoft.com/office/drawing/2014/main" id="{F995BD76-CADF-4733-ACDA-E945D5FED785}"/>
                  </a:ext>
                </a:extLst>
              </p:cNvPr>
              <p:cNvCxnSpPr/>
              <p:nvPr/>
            </p:nvCxnSpPr>
            <p:spPr>
              <a:xfrm rot="11054314">
                <a:off x="1984650" y="3331902"/>
                <a:ext cx="0" cy="95534"/>
              </a:xfrm>
              <a:prstGeom prst="straightConnector1">
                <a:avLst/>
              </a:prstGeom>
              <a:ln w="25400">
                <a:solidFill>
                  <a:schemeClr val="bg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4" name="TextBox 23">
              <a:extLst>
                <a:ext uri="{FF2B5EF4-FFF2-40B4-BE49-F238E27FC236}">
                  <a16:creationId xmlns="" xmlns:a16="http://schemas.microsoft.com/office/drawing/2014/main" id="{9FF65C04-6E36-440B-8DB3-19D0DD25E1D5}"/>
                </a:ext>
              </a:extLst>
            </p:cNvPr>
            <p:cNvSpPr txBox="1"/>
            <p:nvPr/>
          </p:nvSpPr>
          <p:spPr>
            <a:xfrm>
              <a:off x="1180516" y="2457327"/>
              <a:ext cx="3117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  <p:grpSp>
          <p:nvGrpSpPr>
            <p:cNvPr id="25" name="Group 24">
              <a:extLst>
                <a:ext uri="{FF2B5EF4-FFF2-40B4-BE49-F238E27FC236}">
                  <a16:creationId xmlns="" xmlns:a16="http://schemas.microsoft.com/office/drawing/2014/main" id="{95283B76-D290-48F4-882C-4B73696475FC}"/>
                </a:ext>
              </a:extLst>
            </p:cNvPr>
            <p:cNvGrpSpPr/>
            <p:nvPr/>
          </p:nvGrpSpPr>
          <p:grpSpPr>
            <a:xfrm rot="10370240">
              <a:off x="2836093" y="2873340"/>
              <a:ext cx="540585" cy="887105"/>
              <a:chOff x="1984650" y="2985447"/>
              <a:chExt cx="540585" cy="887105"/>
            </a:xfrm>
          </p:grpSpPr>
          <p:sp>
            <p:nvSpPr>
              <p:cNvPr id="26" name="Arc 25">
                <a:extLst>
                  <a:ext uri="{FF2B5EF4-FFF2-40B4-BE49-F238E27FC236}">
                    <a16:creationId xmlns="" xmlns:a16="http://schemas.microsoft.com/office/drawing/2014/main" id="{43BB7691-F2E4-46BF-906F-C4CCEF7D55D9}"/>
                  </a:ext>
                </a:extLst>
              </p:cNvPr>
              <p:cNvSpPr/>
              <p:nvPr/>
            </p:nvSpPr>
            <p:spPr>
              <a:xfrm rot="11054314">
                <a:off x="1985101" y="2985447"/>
                <a:ext cx="540134" cy="887105"/>
              </a:xfrm>
              <a:prstGeom prst="arc">
                <a:avLst>
                  <a:gd name="adj1" fmla="val 10711483"/>
                  <a:gd name="adj2" fmla="val 0"/>
                </a:avLst>
              </a:prstGeom>
              <a:ln w="254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7" name="Straight Arrow Connector 26">
                <a:extLst>
                  <a:ext uri="{FF2B5EF4-FFF2-40B4-BE49-F238E27FC236}">
                    <a16:creationId xmlns="" xmlns:a16="http://schemas.microsoft.com/office/drawing/2014/main" id="{7D03CC14-B08B-467F-A77E-2F642111408F}"/>
                  </a:ext>
                </a:extLst>
              </p:cNvPr>
              <p:cNvCxnSpPr/>
              <p:nvPr/>
            </p:nvCxnSpPr>
            <p:spPr>
              <a:xfrm rot="11054314">
                <a:off x="1984650" y="3331902"/>
                <a:ext cx="0" cy="95534"/>
              </a:xfrm>
              <a:prstGeom prst="straightConnector1">
                <a:avLst/>
              </a:prstGeom>
              <a:ln w="25400">
                <a:solidFill>
                  <a:schemeClr val="bg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8" name="TextBox 27">
              <a:extLst>
                <a:ext uri="{FF2B5EF4-FFF2-40B4-BE49-F238E27FC236}">
                  <a16:creationId xmlns="" xmlns:a16="http://schemas.microsoft.com/office/drawing/2014/main" id="{624BB0EE-6A5B-4B02-82D4-235316C7D61D}"/>
                </a:ext>
              </a:extLst>
            </p:cNvPr>
            <p:cNvSpPr txBox="1"/>
            <p:nvPr/>
          </p:nvSpPr>
          <p:spPr>
            <a:xfrm>
              <a:off x="2906302" y="2429960"/>
              <a:ext cx="3117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29" name="Arrow: Curved Down 28">
              <a:extLst>
                <a:ext uri="{FF2B5EF4-FFF2-40B4-BE49-F238E27FC236}">
                  <a16:creationId xmlns="" xmlns:a16="http://schemas.microsoft.com/office/drawing/2014/main" id="{941EC0F0-A84F-48C9-87D0-10CEDCA8CD61}"/>
                </a:ext>
              </a:extLst>
            </p:cNvPr>
            <p:cNvSpPr/>
            <p:nvPr/>
          </p:nvSpPr>
          <p:spPr>
            <a:xfrm rot="10800000">
              <a:off x="1659826" y="3958135"/>
              <a:ext cx="2908196" cy="256814"/>
            </a:xfrm>
            <a:prstGeom prst="curvedDownArrow">
              <a:avLst>
                <a:gd name="adj1" fmla="val 11615"/>
                <a:gd name="adj2" fmla="val 50000"/>
                <a:gd name="adj3" fmla="val 25000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="" xmlns:a16="http://schemas.microsoft.com/office/drawing/2014/main" id="{4ED6617C-6176-4E5A-97A8-7060AB131E68}"/>
                </a:ext>
              </a:extLst>
            </p:cNvPr>
            <p:cNvSpPr txBox="1"/>
            <p:nvPr/>
          </p:nvSpPr>
          <p:spPr>
            <a:xfrm>
              <a:off x="3306612" y="3828521"/>
              <a:ext cx="3117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31" name="Arrow: Curved Down 30">
              <a:extLst>
                <a:ext uri="{FF2B5EF4-FFF2-40B4-BE49-F238E27FC236}">
                  <a16:creationId xmlns="" xmlns:a16="http://schemas.microsoft.com/office/drawing/2014/main" id="{164BCBA0-BA6D-4830-A4C7-0273A3ACF31A}"/>
                </a:ext>
              </a:extLst>
            </p:cNvPr>
            <p:cNvSpPr/>
            <p:nvPr/>
          </p:nvSpPr>
          <p:spPr>
            <a:xfrm rot="10800000">
              <a:off x="5046391" y="3906855"/>
              <a:ext cx="1049609" cy="203318"/>
            </a:xfrm>
            <a:prstGeom prst="curvedDownArrow">
              <a:avLst>
                <a:gd name="adj1" fmla="val 11615"/>
                <a:gd name="adj2" fmla="val 50000"/>
                <a:gd name="adj3" fmla="val 25000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="" xmlns:a16="http://schemas.microsoft.com/office/drawing/2014/main" id="{D1B5F6D8-B479-4A51-8B85-C90FEF56C3B4}"/>
                </a:ext>
              </a:extLst>
            </p:cNvPr>
            <p:cNvSpPr txBox="1"/>
            <p:nvPr/>
          </p:nvSpPr>
          <p:spPr>
            <a:xfrm>
              <a:off x="5418452" y="3735245"/>
              <a:ext cx="3117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33" name="Arrow: Curved Up 32">
              <a:extLst>
                <a:ext uri="{FF2B5EF4-FFF2-40B4-BE49-F238E27FC236}">
                  <a16:creationId xmlns="" xmlns:a16="http://schemas.microsoft.com/office/drawing/2014/main" id="{883BCDAA-DF6B-4CE1-A7DF-CEA9CF6A7531}"/>
                </a:ext>
              </a:extLst>
            </p:cNvPr>
            <p:cNvSpPr/>
            <p:nvPr/>
          </p:nvSpPr>
          <p:spPr>
            <a:xfrm rot="10601653">
              <a:off x="3340408" y="2885646"/>
              <a:ext cx="2898449" cy="392783"/>
            </a:xfrm>
            <a:prstGeom prst="curvedUpArrow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="" xmlns:a16="http://schemas.microsoft.com/office/drawing/2014/main" id="{C5839F56-250D-47CC-877C-BC0884BC986F}"/>
                </a:ext>
              </a:extLst>
            </p:cNvPr>
            <p:cNvSpPr txBox="1"/>
            <p:nvPr/>
          </p:nvSpPr>
          <p:spPr>
            <a:xfrm>
              <a:off x="4689579" y="2463044"/>
              <a:ext cx="3117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</p:grpSp>
      <p:sp>
        <p:nvSpPr>
          <p:cNvPr id="35" name="Content Placeholder 2">
            <a:extLst>
              <a:ext uri="{FF2B5EF4-FFF2-40B4-BE49-F238E27FC236}">
                <a16:creationId xmlns="" xmlns:a16="http://schemas.microsoft.com/office/drawing/2014/main" id="{F97922DE-7782-4701-9A67-30B071D7E716}"/>
              </a:ext>
            </a:extLst>
          </p:cNvPr>
          <p:cNvSpPr txBox="1">
            <a:spLocks/>
          </p:cNvSpPr>
          <p:nvPr/>
        </p:nvSpPr>
        <p:spPr>
          <a:xfrm>
            <a:off x="5373287" y="786600"/>
            <a:ext cx="4565144" cy="52848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457200" indent="-457200">
              <a:buFont typeface="+mj-lt"/>
              <a:buAutoNum type="arabicPeriod" startAt="3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NDFA, backtracking is not always possible.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="" xmlns:a16="http://schemas.microsoft.com/office/drawing/2014/main" id="{B34E8F8C-167C-49A9-BB01-50B5E361FCC7}"/>
              </a:ext>
            </a:extLst>
          </p:cNvPr>
          <p:cNvSpPr txBox="1"/>
          <p:nvPr/>
        </p:nvSpPr>
        <p:spPr>
          <a:xfrm>
            <a:off x="6855759" y="0"/>
            <a:ext cx="1600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NDFA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="" xmlns:a16="http://schemas.microsoft.com/office/drawing/2014/main" id="{CD207AB7-FD5D-45DA-A74B-31F2314C78DA}"/>
              </a:ext>
            </a:extLst>
          </p:cNvPr>
          <p:cNvSpPr txBox="1"/>
          <p:nvPr/>
        </p:nvSpPr>
        <p:spPr>
          <a:xfrm>
            <a:off x="645082" y="1255327"/>
            <a:ext cx="476304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All words that ends with aba.</a:t>
            </a:r>
            <a:endParaRPr lang="en-US" sz="2200" dirty="0"/>
          </a:p>
        </p:txBody>
      </p:sp>
      <p:sp>
        <p:nvSpPr>
          <p:cNvPr id="38" name="TextBox 37">
            <a:extLst>
              <a:ext uri="{FF2B5EF4-FFF2-40B4-BE49-F238E27FC236}">
                <a16:creationId xmlns="" xmlns:a16="http://schemas.microsoft.com/office/drawing/2014/main" id="{F98FFA43-7618-4602-828A-9E9802F87148}"/>
              </a:ext>
            </a:extLst>
          </p:cNvPr>
          <p:cNvSpPr txBox="1"/>
          <p:nvPr/>
        </p:nvSpPr>
        <p:spPr>
          <a:xfrm>
            <a:off x="5793306" y="1470770"/>
            <a:ext cx="4763046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All words that ends with aba.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aaba</a:t>
            </a:r>
            <a:r>
              <a:rPr lang="en-US" sz="3600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en-US" sz="3600" dirty="0"/>
          </a:p>
        </p:txBody>
      </p:sp>
      <p:sp>
        <p:nvSpPr>
          <p:cNvPr id="39" name="Oval 38">
            <a:extLst>
              <a:ext uri="{FF2B5EF4-FFF2-40B4-BE49-F238E27FC236}">
                <a16:creationId xmlns="" xmlns:a16="http://schemas.microsoft.com/office/drawing/2014/main" id="{C04827AB-DD9A-4ED6-85A1-B6B5EA8D74CE}"/>
              </a:ext>
            </a:extLst>
          </p:cNvPr>
          <p:cNvSpPr/>
          <p:nvPr/>
        </p:nvSpPr>
        <p:spPr>
          <a:xfrm>
            <a:off x="6486746" y="3963569"/>
            <a:ext cx="697006" cy="712694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x0</a:t>
            </a:r>
          </a:p>
        </p:txBody>
      </p:sp>
      <p:sp>
        <p:nvSpPr>
          <p:cNvPr id="40" name="Oval 39">
            <a:extLst>
              <a:ext uri="{FF2B5EF4-FFF2-40B4-BE49-F238E27FC236}">
                <a16:creationId xmlns="" xmlns:a16="http://schemas.microsoft.com/office/drawing/2014/main" id="{CA0A025A-21AA-4275-B28C-53DF98FBBD62}"/>
              </a:ext>
            </a:extLst>
          </p:cNvPr>
          <p:cNvSpPr/>
          <p:nvPr/>
        </p:nvSpPr>
        <p:spPr>
          <a:xfrm>
            <a:off x="7941653" y="3950317"/>
            <a:ext cx="697006" cy="712694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x1</a:t>
            </a:r>
          </a:p>
        </p:txBody>
      </p:sp>
      <p:sp>
        <p:nvSpPr>
          <p:cNvPr id="41" name="Oval 40">
            <a:extLst>
              <a:ext uri="{FF2B5EF4-FFF2-40B4-BE49-F238E27FC236}">
                <a16:creationId xmlns="" xmlns:a16="http://schemas.microsoft.com/office/drawing/2014/main" id="{232661FD-3231-48C1-A2C5-6DC574BF9AAE}"/>
              </a:ext>
            </a:extLst>
          </p:cNvPr>
          <p:cNvSpPr/>
          <p:nvPr/>
        </p:nvSpPr>
        <p:spPr>
          <a:xfrm>
            <a:off x="9411634" y="3937065"/>
            <a:ext cx="697006" cy="712694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x2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="" xmlns:a16="http://schemas.microsoft.com/office/drawing/2014/main" id="{C3D49387-B6BD-4C8C-8B72-4994398480E7}"/>
              </a:ext>
            </a:extLst>
          </p:cNvPr>
          <p:cNvCxnSpPr/>
          <p:nvPr/>
        </p:nvCxnSpPr>
        <p:spPr>
          <a:xfrm>
            <a:off x="5989984" y="4319916"/>
            <a:ext cx="48354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6" name="Group 45">
            <a:extLst>
              <a:ext uri="{FF2B5EF4-FFF2-40B4-BE49-F238E27FC236}">
                <a16:creationId xmlns="" xmlns:a16="http://schemas.microsoft.com/office/drawing/2014/main" id="{B1BA9B08-4F24-41E4-BBCB-8849CA4AEFEC}"/>
              </a:ext>
            </a:extLst>
          </p:cNvPr>
          <p:cNvGrpSpPr/>
          <p:nvPr/>
        </p:nvGrpSpPr>
        <p:grpSpPr>
          <a:xfrm>
            <a:off x="10899171" y="3875484"/>
            <a:ext cx="803344" cy="835855"/>
            <a:chOff x="5184749" y="4682255"/>
            <a:chExt cx="803344" cy="835855"/>
          </a:xfrm>
        </p:grpSpPr>
        <p:sp>
          <p:nvSpPr>
            <p:cNvPr id="44" name="Oval 43">
              <a:extLst>
                <a:ext uri="{FF2B5EF4-FFF2-40B4-BE49-F238E27FC236}">
                  <a16:creationId xmlns="" xmlns:a16="http://schemas.microsoft.com/office/drawing/2014/main" id="{8F9CDE5C-96FF-4D40-8E35-EF044400A0D6}"/>
                </a:ext>
              </a:extLst>
            </p:cNvPr>
            <p:cNvSpPr/>
            <p:nvPr/>
          </p:nvSpPr>
          <p:spPr>
            <a:xfrm>
              <a:off x="5184749" y="4682255"/>
              <a:ext cx="803344" cy="835855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5" name="Oval 44">
              <a:extLst>
                <a:ext uri="{FF2B5EF4-FFF2-40B4-BE49-F238E27FC236}">
                  <a16:creationId xmlns="" xmlns:a16="http://schemas.microsoft.com/office/drawing/2014/main" id="{3F768F3B-81D9-4CAF-AF6E-D9F095B52C67}"/>
                </a:ext>
              </a:extLst>
            </p:cNvPr>
            <p:cNvSpPr/>
            <p:nvPr/>
          </p:nvSpPr>
          <p:spPr>
            <a:xfrm>
              <a:off x="5241993" y="4745149"/>
              <a:ext cx="697006" cy="712694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x3</a:t>
              </a:r>
            </a:p>
          </p:txBody>
        </p:sp>
      </p:grpSp>
      <p:cxnSp>
        <p:nvCxnSpPr>
          <p:cNvPr id="47" name="Straight Arrow Connector 46">
            <a:extLst>
              <a:ext uri="{FF2B5EF4-FFF2-40B4-BE49-F238E27FC236}">
                <a16:creationId xmlns="" xmlns:a16="http://schemas.microsoft.com/office/drawing/2014/main" id="{70450A69-B259-4D3C-979E-FA0A2CFE43C1}"/>
              </a:ext>
            </a:extLst>
          </p:cNvPr>
          <p:cNvCxnSpPr/>
          <p:nvPr/>
        </p:nvCxnSpPr>
        <p:spPr>
          <a:xfrm>
            <a:off x="8665163" y="4293412"/>
            <a:ext cx="731983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="" xmlns:a16="http://schemas.microsoft.com/office/drawing/2014/main" id="{E925179F-02E3-405F-935C-31689533E68E}"/>
              </a:ext>
            </a:extLst>
          </p:cNvPr>
          <p:cNvCxnSpPr/>
          <p:nvPr/>
        </p:nvCxnSpPr>
        <p:spPr>
          <a:xfrm>
            <a:off x="7210256" y="4306664"/>
            <a:ext cx="731983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="" xmlns:a16="http://schemas.microsoft.com/office/drawing/2014/main" id="{30719D9B-9EE0-4E4C-9F3C-DAE990982348}"/>
              </a:ext>
            </a:extLst>
          </p:cNvPr>
          <p:cNvCxnSpPr/>
          <p:nvPr/>
        </p:nvCxnSpPr>
        <p:spPr>
          <a:xfrm>
            <a:off x="10157495" y="4286152"/>
            <a:ext cx="731983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="" xmlns:a16="http://schemas.microsoft.com/office/drawing/2014/main" id="{DAD597C4-9FEB-467A-9A23-42F3D849E432}"/>
              </a:ext>
            </a:extLst>
          </p:cNvPr>
          <p:cNvSpPr txBox="1"/>
          <p:nvPr/>
        </p:nvSpPr>
        <p:spPr>
          <a:xfrm>
            <a:off x="7323732" y="3858527"/>
            <a:ext cx="2719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="" xmlns:a16="http://schemas.microsoft.com/office/drawing/2014/main" id="{82B3A5BA-A96E-47A4-9B2A-8E43F1CDC92F}"/>
              </a:ext>
            </a:extLst>
          </p:cNvPr>
          <p:cNvSpPr txBox="1"/>
          <p:nvPr/>
        </p:nvSpPr>
        <p:spPr>
          <a:xfrm>
            <a:off x="10318246" y="3858251"/>
            <a:ext cx="2719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="" xmlns:a16="http://schemas.microsoft.com/office/drawing/2014/main" id="{466F6746-AB92-4F07-84C5-D86BB87BBBF0}"/>
              </a:ext>
            </a:extLst>
          </p:cNvPr>
          <p:cNvSpPr txBox="1"/>
          <p:nvPr/>
        </p:nvSpPr>
        <p:spPr>
          <a:xfrm>
            <a:off x="8813526" y="3875484"/>
            <a:ext cx="2719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55" name="Arc 54">
            <a:extLst>
              <a:ext uri="{FF2B5EF4-FFF2-40B4-BE49-F238E27FC236}">
                <a16:creationId xmlns="" xmlns:a16="http://schemas.microsoft.com/office/drawing/2014/main" id="{849113FD-8B93-49B4-9FEC-B701B2B20C6B}"/>
              </a:ext>
            </a:extLst>
          </p:cNvPr>
          <p:cNvSpPr/>
          <p:nvPr/>
        </p:nvSpPr>
        <p:spPr>
          <a:xfrm>
            <a:off x="6586120" y="3539957"/>
            <a:ext cx="471227" cy="887105"/>
          </a:xfrm>
          <a:prstGeom prst="arc">
            <a:avLst>
              <a:gd name="adj1" fmla="val 10711483"/>
              <a:gd name="adj2" fmla="val 0"/>
            </a:avLst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="" xmlns:a16="http://schemas.microsoft.com/office/drawing/2014/main" id="{FCEFE45B-CEA6-4498-8008-059E264EE9F2}"/>
              </a:ext>
            </a:extLst>
          </p:cNvPr>
          <p:cNvSpPr txBox="1"/>
          <p:nvPr/>
        </p:nvSpPr>
        <p:spPr>
          <a:xfrm>
            <a:off x="6548410" y="3109287"/>
            <a:ext cx="5657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a/b</a:t>
            </a:r>
          </a:p>
        </p:txBody>
      </p:sp>
      <p:grpSp>
        <p:nvGrpSpPr>
          <p:cNvPr id="57" name="Group 56">
            <a:extLst>
              <a:ext uri="{FF2B5EF4-FFF2-40B4-BE49-F238E27FC236}">
                <a16:creationId xmlns="" xmlns:a16="http://schemas.microsoft.com/office/drawing/2014/main" id="{8D3C0EC3-1E6A-436B-B406-38A549AC7268}"/>
              </a:ext>
            </a:extLst>
          </p:cNvPr>
          <p:cNvGrpSpPr/>
          <p:nvPr/>
        </p:nvGrpSpPr>
        <p:grpSpPr>
          <a:xfrm rot="18867934">
            <a:off x="5867045" y="3049583"/>
            <a:ext cx="369332" cy="1274995"/>
            <a:chOff x="7019630" y="2204898"/>
            <a:chExt cx="369332" cy="1005795"/>
          </a:xfrm>
        </p:grpSpPr>
        <p:sp>
          <p:nvSpPr>
            <p:cNvPr id="58" name="Arrow: Up 57">
              <a:extLst>
                <a:ext uri="{FF2B5EF4-FFF2-40B4-BE49-F238E27FC236}">
                  <a16:creationId xmlns="" xmlns:a16="http://schemas.microsoft.com/office/drawing/2014/main" id="{E93022AA-FD9E-4354-A4A7-DF5F91C23E96}"/>
                </a:ext>
              </a:extLst>
            </p:cNvPr>
            <p:cNvSpPr/>
            <p:nvPr/>
          </p:nvSpPr>
          <p:spPr>
            <a:xfrm rot="10800000">
              <a:off x="7044865" y="2571551"/>
              <a:ext cx="191070" cy="639142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9" name="TextBox 58">
              <a:extLst>
                <a:ext uri="{FF2B5EF4-FFF2-40B4-BE49-F238E27FC236}">
                  <a16:creationId xmlns="" xmlns:a16="http://schemas.microsoft.com/office/drawing/2014/main" id="{BAF74065-B1AC-4D5B-9613-553AA58A4378}"/>
                </a:ext>
              </a:extLst>
            </p:cNvPr>
            <p:cNvSpPr txBox="1"/>
            <p:nvPr/>
          </p:nvSpPr>
          <p:spPr>
            <a:xfrm rot="2732066">
              <a:off x="6923696" y="2300832"/>
              <a:ext cx="5611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CS-1</a:t>
              </a:r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="" xmlns:a16="http://schemas.microsoft.com/office/drawing/2014/main" id="{8B950F8F-FFA3-4241-B5C7-916C60ACD0E7}"/>
              </a:ext>
            </a:extLst>
          </p:cNvPr>
          <p:cNvGrpSpPr/>
          <p:nvPr/>
        </p:nvGrpSpPr>
        <p:grpSpPr>
          <a:xfrm>
            <a:off x="9498040" y="2767524"/>
            <a:ext cx="686790" cy="1161419"/>
            <a:chOff x="6884230" y="2294494"/>
            <a:chExt cx="686790" cy="916199"/>
          </a:xfrm>
        </p:grpSpPr>
        <p:sp>
          <p:nvSpPr>
            <p:cNvPr id="61" name="Arrow: Up 60">
              <a:extLst>
                <a:ext uri="{FF2B5EF4-FFF2-40B4-BE49-F238E27FC236}">
                  <a16:creationId xmlns="" xmlns:a16="http://schemas.microsoft.com/office/drawing/2014/main" id="{402C2F1D-AAC2-4767-9023-5775882DD153}"/>
                </a:ext>
              </a:extLst>
            </p:cNvPr>
            <p:cNvSpPr/>
            <p:nvPr/>
          </p:nvSpPr>
          <p:spPr>
            <a:xfrm rot="10800000">
              <a:off x="7044865" y="2571551"/>
              <a:ext cx="191070" cy="639142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2" name="TextBox 61">
              <a:extLst>
                <a:ext uri="{FF2B5EF4-FFF2-40B4-BE49-F238E27FC236}">
                  <a16:creationId xmlns="" xmlns:a16="http://schemas.microsoft.com/office/drawing/2014/main" id="{A8994434-A9F1-484A-9BEA-B32161E9CDBB}"/>
                </a:ext>
              </a:extLst>
            </p:cNvPr>
            <p:cNvSpPr txBox="1"/>
            <p:nvPr/>
          </p:nvSpPr>
          <p:spPr>
            <a:xfrm>
              <a:off x="6884230" y="2294494"/>
              <a:ext cx="686790" cy="2913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CS-4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086473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149AD530-6C2A-44EA-A853-BAC2857EF1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904" y="858414"/>
            <a:ext cx="4876872" cy="460871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Backtracking is allowed in DFA.</a:t>
            </a:r>
          </a:p>
          <a:p>
            <a:pPr marL="457200" indent="-457200">
              <a:buFont typeface="+mj-lt"/>
              <a:buAutoNum type="arabicPeriod" startAt="3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E7E875E4-C02C-44AD-9251-3D0D7CDF2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26D1DE06-0720-4572-BF37-034426FE1CD7}"/>
              </a:ext>
            </a:extLst>
          </p:cNvPr>
          <p:cNvSpPr txBox="1"/>
          <p:nvPr/>
        </p:nvSpPr>
        <p:spPr>
          <a:xfrm>
            <a:off x="1529669" y="33241"/>
            <a:ext cx="1600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DFA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="" xmlns:a16="http://schemas.microsoft.com/office/drawing/2014/main" id="{E13E761C-7E8C-455A-B10F-FF97B9D81750}"/>
              </a:ext>
            </a:extLst>
          </p:cNvPr>
          <p:cNvGrpSpPr/>
          <p:nvPr/>
        </p:nvGrpSpPr>
        <p:grpSpPr>
          <a:xfrm>
            <a:off x="389769" y="1761566"/>
            <a:ext cx="5586961" cy="1860226"/>
            <a:chOff x="470451" y="2429960"/>
            <a:chExt cx="6403942" cy="1860226"/>
          </a:xfrm>
        </p:grpSpPr>
        <p:sp>
          <p:nvSpPr>
            <p:cNvPr id="8" name="Oval 7">
              <a:extLst>
                <a:ext uri="{FF2B5EF4-FFF2-40B4-BE49-F238E27FC236}">
                  <a16:creationId xmlns="" xmlns:a16="http://schemas.microsoft.com/office/drawing/2014/main" id="{EDD2A173-63F4-4A80-96B9-79D5A7A31D1C}"/>
                </a:ext>
              </a:extLst>
            </p:cNvPr>
            <p:cNvSpPr/>
            <p:nvPr/>
          </p:nvSpPr>
          <p:spPr>
            <a:xfrm>
              <a:off x="1130579" y="3333906"/>
              <a:ext cx="723331" cy="63914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x0</a:t>
              </a: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="" xmlns:a16="http://schemas.microsoft.com/office/drawing/2014/main" id="{B167B8FE-18DA-468D-9F34-C584DF4C213E}"/>
                </a:ext>
              </a:extLst>
            </p:cNvPr>
            <p:cNvCxnSpPr/>
            <p:nvPr/>
          </p:nvCxnSpPr>
          <p:spPr>
            <a:xfrm>
              <a:off x="470451" y="3673964"/>
              <a:ext cx="573062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Oval 9">
              <a:extLst>
                <a:ext uri="{FF2B5EF4-FFF2-40B4-BE49-F238E27FC236}">
                  <a16:creationId xmlns="" xmlns:a16="http://schemas.microsoft.com/office/drawing/2014/main" id="{F032099B-FB70-499B-B9CB-2153679670AF}"/>
                </a:ext>
              </a:extLst>
            </p:cNvPr>
            <p:cNvSpPr/>
            <p:nvPr/>
          </p:nvSpPr>
          <p:spPr>
            <a:xfrm>
              <a:off x="2765510" y="3333906"/>
              <a:ext cx="723331" cy="63914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x1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="" xmlns:a16="http://schemas.microsoft.com/office/drawing/2014/main" id="{A46E03FE-0352-4BA0-94CE-3CBBC1232E6A}"/>
                </a:ext>
              </a:extLst>
            </p:cNvPr>
            <p:cNvSpPr/>
            <p:nvPr/>
          </p:nvSpPr>
          <p:spPr>
            <a:xfrm>
              <a:off x="4400441" y="3307012"/>
              <a:ext cx="723331" cy="63914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x2</a:t>
              </a: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="" xmlns:a16="http://schemas.microsoft.com/office/drawing/2014/main" id="{49347AD5-0329-4828-BEAA-DE17AA128978}"/>
                </a:ext>
              </a:extLst>
            </p:cNvPr>
            <p:cNvGrpSpPr/>
            <p:nvPr/>
          </p:nvGrpSpPr>
          <p:grpSpPr>
            <a:xfrm>
              <a:off x="6035372" y="3170957"/>
              <a:ext cx="839021" cy="802091"/>
              <a:chOff x="10512625" y="1744747"/>
              <a:chExt cx="839021" cy="802091"/>
            </a:xfrm>
          </p:grpSpPr>
          <p:sp>
            <p:nvSpPr>
              <p:cNvPr id="13" name="Oval 12">
                <a:extLst>
                  <a:ext uri="{FF2B5EF4-FFF2-40B4-BE49-F238E27FC236}">
                    <a16:creationId xmlns="" xmlns:a16="http://schemas.microsoft.com/office/drawing/2014/main" id="{06A6A055-73AA-42D4-81CF-0021044FCC67}"/>
                  </a:ext>
                </a:extLst>
              </p:cNvPr>
              <p:cNvSpPr/>
              <p:nvPr/>
            </p:nvSpPr>
            <p:spPr>
              <a:xfrm>
                <a:off x="10512625" y="1744747"/>
                <a:ext cx="839021" cy="802091"/>
              </a:xfrm>
              <a:prstGeom prst="ellips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4" name="Oval 13">
                <a:extLst>
                  <a:ext uri="{FF2B5EF4-FFF2-40B4-BE49-F238E27FC236}">
                    <a16:creationId xmlns="" xmlns:a16="http://schemas.microsoft.com/office/drawing/2014/main" id="{B0C94D19-8E49-4955-8F65-F2A1695D3938}"/>
                  </a:ext>
                </a:extLst>
              </p:cNvPr>
              <p:cNvSpPr/>
              <p:nvPr/>
            </p:nvSpPr>
            <p:spPr>
              <a:xfrm>
                <a:off x="10585318" y="1837172"/>
                <a:ext cx="681980" cy="628192"/>
              </a:xfrm>
              <a:prstGeom prst="ellips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x3</a:t>
                </a:r>
              </a:p>
            </p:txBody>
          </p:sp>
        </p:grpSp>
        <p:cxnSp>
          <p:nvCxnSpPr>
            <p:cNvPr id="15" name="Straight Arrow Connector 14">
              <a:extLst>
                <a:ext uri="{FF2B5EF4-FFF2-40B4-BE49-F238E27FC236}">
                  <a16:creationId xmlns="" xmlns:a16="http://schemas.microsoft.com/office/drawing/2014/main" id="{CF3E0BDF-810B-4F55-B7EA-0389F91D35A4}"/>
                </a:ext>
              </a:extLst>
            </p:cNvPr>
            <p:cNvCxnSpPr/>
            <p:nvPr/>
          </p:nvCxnSpPr>
          <p:spPr>
            <a:xfrm>
              <a:off x="1914097" y="3662038"/>
              <a:ext cx="839021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="" xmlns:a16="http://schemas.microsoft.com/office/drawing/2014/main" id="{21D2F5CA-FBDF-414C-838D-0A9B5FC4430A}"/>
                </a:ext>
              </a:extLst>
            </p:cNvPr>
            <p:cNvCxnSpPr/>
            <p:nvPr/>
          </p:nvCxnSpPr>
          <p:spPr>
            <a:xfrm>
              <a:off x="3534916" y="3639972"/>
              <a:ext cx="839021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="" xmlns:a16="http://schemas.microsoft.com/office/drawing/2014/main" id="{AA1CBC00-C8B1-44E9-8B2A-D774D4C8057E}"/>
                </a:ext>
              </a:extLst>
            </p:cNvPr>
            <p:cNvCxnSpPr/>
            <p:nvPr/>
          </p:nvCxnSpPr>
          <p:spPr>
            <a:xfrm>
              <a:off x="5169847" y="3639972"/>
              <a:ext cx="839021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="" xmlns:a16="http://schemas.microsoft.com/office/drawing/2014/main" id="{7FCBCE34-8F1D-4494-B37C-ABE96FD57666}"/>
                </a:ext>
              </a:extLst>
            </p:cNvPr>
            <p:cNvSpPr txBox="1"/>
            <p:nvPr/>
          </p:nvSpPr>
          <p:spPr>
            <a:xfrm>
              <a:off x="2089212" y="3191812"/>
              <a:ext cx="3117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="" xmlns:a16="http://schemas.microsoft.com/office/drawing/2014/main" id="{CC77AC81-ED5E-47AC-A744-914483C03C0C}"/>
                </a:ext>
              </a:extLst>
            </p:cNvPr>
            <p:cNvSpPr txBox="1"/>
            <p:nvPr/>
          </p:nvSpPr>
          <p:spPr>
            <a:xfrm>
              <a:off x="3697547" y="3212299"/>
              <a:ext cx="3117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="" xmlns:a16="http://schemas.microsoft.com/office/drawing/2014/main" id="{8E3BF89E-56F8-4EB4-AD82-9142DBD6A27C}"/>
                </a:ext>
              </a:extLst>
            </p:cNvPr>
            <p:cNvSpPr txBox="1"/>
            <p:nvPr/>
          </p:nvSpPr>
          <p:spPr>
            <a:xfrm>
              <a:off x="5358816" y="3172033"/>
              <a:ext cx="3117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="" xmlns:a16="http://schemas.microsoft.com/office/drawing/2014/main" id="{A9C0D6FE-F7E5-434B-BABF-3049C2B33D69}"/>
                </a:ext>
              </a:extLst>
            </p:cNvPr>
            <p:cNvGrpSpPr/>
            <p:nvPr/>
          </p:nvGrpSpPr>
          <p:grpSpPr>
            <a:xfrm rot="10370240">
              <a:off x="1185958" y="2890353"/>
              <a:ext cx="540585" cy="887105"/>
              <a:chOff x="1984650" y="2985447"/>
              <a:chExt cx="540585" cy="887105"/>
            </a:xfrm>
          </p:grpSpPr>
          <p:sp>
            <p:nvSpPr>
              <p:cNvPr id="22" name="Arc 21">
                <a:extLst>
                  <a:ext uri="{FF2B5EF4-FFF2-40B4-BE49-F238E27FC236}">
                    <a16:creationId xmlns="" xmlns:a16="http://schemas.microsoft.com/office/drawing/2014/main" id="{177ECB2A-EFAE-4453-93C0-A41752FCEBB3}"/>
                  </a:ext>
                </a:extLst>
              </p:cNvPr>
              <p:cNvSpPr/>
              <p:nvPr/>
            </p:nvSpPr>
            <p:spPr>
              <a:xfrm rot="11054314">
                <a:off x="1985101" y="2985447"/>
                <a:ext cx="540134" cy="887105"/>
              </a:xfrm>
              <a:prstGeom prst="arc">
                <a:avLst>
                  <a:gd name="adj1" fmla="val 10711483"/>
                  <a:gd name="adj2" fmla="val 0"/>
                </a:avLst>
              </a:prstGeom>
              <a:ln w="254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3" name="Straight Arrow Connector 22">
                <a:extLst>
                  <a:ext uri="{FF2B5EF4-FFF2-40B4-BE49-F238E27FC236}">
                    <a16:creationId xmlns="" xmlns:a16="http://schemas.microsoft.com/office/drawing/2014/main" id="{F995BD76-CADF-4733-ACDA-E945D5FED785}"/>
                  </a:ext>
                </a:extLst>
              </p:cNvPr>
              <p:cNvCxnSpPr/>
              <p:nvPr/>
            </p:nvCxnSpPr>
            <p:spPr>
              <a:xfrm rot="11054314">
                <a:off x="1984650" y="3331902"/>
                <a:ext cx="0" cy="95534"/>
              </a:xfrm>
              <a:prstGeom prst="straightConnector1">
                <a:avLst/>
              </a:prstGeom>
              <a:ln w="25400">
                <a:solidFill>
                  <a:schemeClr val="bg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4" name="TextBox 23">
              <a:extLst>
                <a:ext uri="{FF2B5EF4-FFF2-40B4-BE49-F238E27FC236}">
                  <a16:creationId xmlns="" xmlns:a16="http://schemas.microsoft.com/office/drawing/2014/main" id="{9FF65C04-6E36-440B-8DB3-19D0DD25E1D5}"/>
                </a:ext>
              </a:extLst>
            </p:cNvPr>
            <p:cNvSpPr txBox="1"/>
            <p:nvPr/>
          </p:nvSpPr>
          <p:spPr>
            <a:xfrm>
              <a:off x="1180516" y="2457327"/>
              <a:ext cx="3117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  <p:grpSp>
          <p:nvGrpSpPr>
            <p:cNvPr id="25" name="Group 24">
              <a:extLst>
                <a:ext uri="{FF2B5EF4-FFF2-40B4-BE49-F238E27FC236}">
                  <a16:creationId xmlns="" xmlns:a16="http://schemas.microsoft.com/office/drawing/2014/main" id="{95283B76-D290-48F4-882C-4B73696475FC}"/>
                </a:ext>
              </a:extLst>
            </p:cNvPr>
            <p:cNvGrpSpPr/>
            <p:nvPr/>
          </p:nvGrpSpPr>
          <p:grpSpPr>
            <a:xfrm rot="10370240">
              <a:off x="2836093" y="2873340"/>
              <a:ext cx="540585" cy="887105"/>
              <a:chOff x="1984650" y="2985447"/>
              <a:chExt cx="540585" cy="887105"/>
            </a:xfrm>
          </p:grpSpPr>
          <p:sp>
            <p:nvSpPr>
              <p:cNvPr id="26" name="Arc 25">
                <a:extLst>
                  <a:ext uri="{FF2B5EF4-FFF2-40B4-BE49-F238E27FC236}">
                    <a16:creationId xmlns="" xmlns:a16="http://schemas.microsoft.com/office/drawing/2014/main" id="{43BB7691-F2E4-46BF-906F-C4CCEF7D55D9}"/>
                  </a:ext>
                </a:extLst>
              </p:cNvPr>
              <p:cNvSpPr/>
              <p:nvPr/>
            </p:nvSpPr>
            <p:spPr>
              <a:xfrm rot="11054314">
                <a:off x="1985101" y="2985447"/>
                <a:ext cx="540134" cy="887105"/>
              </a:xfrm>
              <a:prstGeom prst="arc">
                <a:avLst>
                  <a:gd name="adj1" fmla="val 10711483"/>
                  <a:gd name="adj2" fmla="val 0"/>
                </a:avLst>
              </a:prstGeom>
              <a:ln w="254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7" name="Straight Arrow Connector 26">
                <a:extLst>
                  <a:ext uri="{FF2B5EF4-FFF2-40B4-BE49-F238E27FC236}">
                    <a16:creationId xmlns="" xmlns:a16="http://schemas.microsoft.com/office/drawing/2014/main" id="{7D03CC14-B08B-467F-A77E-2F642111408F}"/>
                  </a:ext>
                </a:extLst>
              </p:cNvPr>
              <p:cNvCxnSpPr/>
              <p:nvPr/>
            </p:nvCxnSpPr>
            <p:spPr>
              <a:xfrm rot="11054314">
                <a:off x="1984650" y="3331902"/>
                <a:ext cx="0" cy="95534"/>
              </a:xfrm>
              <a:prstGeom prst="straightConnector1">
                <a:avLst/>
              </a:prstGeom>
              <a:ln w="25400">
                <a:solidFill>
                  <a:schemeClr val="bg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8" name="TextBox 27">
              <a:extLst>
                <a:ext uri="{FF2B5EF4-FFF2-40B4-BE49-F238E27FC236}">
                  <a16:creationId xmlns="" xmlns:a16="http://schemas.microsoft.com/office/drawing/2014/main" id="{624BB0EE-6A5B-4B02-82D4-235316C7D61D}"/>
                </a:ext>
              </a:extLst>
            </p:cNvPr>
            <p:cNvSpPr txBox="1"/>
            <p:nvPr/>
          </p:nvSpPr>
          <p:spPr>
            <a:xfrm>
              <a:off x="2906302" y="2429960"/>
              <a:ext cx="3117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29" name="Arrow: Curved Down 28">
              <a:extLst>
                <a:ext uri="{FF2B5EF4-FFF2-40B4-BE49-F238E27FC236}">
                  <a16:creationId xmlns="" xmlns:a16="http://schemas.microsoft.com/office/drawing/2014/main" id="{941EC0F0-A84F-48C9-87D0-10CEDCA8CD61}"/>
                </a:ext>
              </a:extLst>
            </p:cNvPr>
            <p:cNvSpPr/>
            <p:nvPr/>
          </p:nvSpPr>
          <p:spPr>
            <a:xfrm rot="10800000">
              <a:off x="1659826" y="3958135"/>
              <a:ext cx="2908196" cy="256814"/>
            </a:xfrm>
            <a:prstGeom prst="curvedDownArrow">
              <a:avLst>
                <a:gd name="adj1" fmla="val 11615"/>
                <a:gd name="adj2" fmla="val 50000"/>
                <a:gd name="adj3" fmla="val 25000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="" xmlns:a16="http://schemas.microsoft.com/office/drawing/2014/main" id="{4ED6617C-6176-4E5A-97A8-7060AB131E68}"/>
                </a:ext>
              </a:extLst>
            </p:cNvPr>
            <p:cNvSpPr txBox="1"/>
            <p:nvPr/>
          </p:nvSpPr>
          <p:spPr>
            <a:xfrm>
              <a:off x="3306612" y="3828521"/>
              <a:ext cx="3117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31" name="Arrow: Curved Down 30">
              <a:extLst>
                <a:ext uri="{FF2B5EF4-FFF2-40B4-BE49-F238E27FC236}">
                  <a16:creationId xmlns="" xmlns:a16="http://schemas.microsoft.com/office/drawing/2014/main" id="{164BCBA0-BA6D-4830-A4C7-0273A3ACF31A}"/>
                </a:ext>
              </a:extLst>
            </p:cNvPr>
            <p:cNvSpPr/>
            <p:nvPr/>
          </p:nvSpPr>
          <p:spPr>
            <a:xfrm rot="10800000">
              <a:off x="5046391" y="3906855"/>
              <a:ext cx="1049609" cy="203318"/>
            </a:xfrm>
            <a:prstGeom prst="curvedDownArrow">
              <a:avLst>
                <a:gd name="adj1" fmla="val 11615"/>
                <a:gd name="adj2" fmla="val 50000"/>
                <a:gd name="adj3" fmla="val 25000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="" xmlns:a16="http://schemas.microsoft.com/office/drawing/2014/main" id="{D1B5F6D8-B479-4A51-8B85-C90FEF56C3B4}"/>
                </a:ext>
              </a:extLst>
            </p:cNvPr>
            <p:cNvSpPr txBox="1"/>
            <p:nvPr/>
          </p:nvSpPr>
          <p:spPr>
            <a:xfrm>
              <a:off x="5418452" y="3735245"/>
              <a:ext cx="3117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33" name="Arrow: Curved Up 32">
              <a:extLst>
                <a:ext uri="{FF2B5EF4-FFF2-40B4-BE49-F238E27FC236}">
                  <a16:creationId xmlns="" xmlns:a16="http://schemas.microsoft.com/office/drawing/2014/main" id="{883BCDAA-DF6B-4CE1-A7DF-CEA9CF6A7531}"/>
                </a:ext>
              </a:extLst>
            </p:cNvPr>
            <p:cNvSpPr/>
            <p:nvPr/>
          </p:nvSpPr>
          <p:spPr>
            <a:xfrm rot="10601653">
              <a:off x="3340408" y="2885646"/>
              <a:ext cx="2898449" cy="392783"/>
            </a:xfrm>
            <a:prstGeom prst="curvedUpArrow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="" xmlns:a16="http://schemas.microsoft.com/office/drawing/2014/main" id="{C5839F56-250D-47CC-877C-BC0884BC986F}"/>
                </a:ext>
              </a:extLst>
            </p:cNvPr>
            <p:cNvSpPr txBox="1"/>
            <p:nvPr/>
          </p:nvSpPr>
          <p:spPr>
            <a:xfrm>
              <a:off x="4689579" y="2463044"/>
              <a:ext cx="3117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</p:grpSp>
      <p:sp>
        <p:nvSpPr>
          <p:cNvPr id="35" name="Content Placeholder 2">
            <a:extLst>
              <a:ext uri="{FF2B5EF4-FFF2-40B4-BE49-F238E27FC236}">
                <a16:creationId xmlns="" xmlns:a16="http://schemas.microsoft.com/office/drawing/2014/main" id="{F97922DE-7782-4701-9A67-30B071D7E716}"/>
              </a:ext>
            </a:extLst>
          </p:cNvPr>
          <p:cNvSpPr txBox="1">
            <a:spLocks/>
          </p:cNvSpPr>
          <p:nvPr/>
        </p:nvSpPr>
        <p:spPr>
          <a:xfrm>
            <a:off x="5373287" y="786600"/>
            <a:ext cx="4565144" cy="52848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457200" indent="-457200">
              <a:buFont typeface="+mj-lt"/>
              <a:buAutoNum type="arabicPeriod" startAt="3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NDFA, backtracking is not always possible.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="" xmlns:a16="http://schemas.microsoft.com/office/drawing/2014/main" id="{B34E8F8C-167C-49A9-BB01-50B5E361FCC7}"/>
              </a:ext>
            </a:extLst>
          </p:cNvPr>
          <p:cNvSpPr txBox="1"/>
          <p:nvPr/>
        </p:nvSpPr>
        <p:spPr>
          <a:xfrm>
            <a:off x="6855759" y="0"/>
            <a:ext cx="1600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NDFA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="" xmlns:a16="http://schemas.microsoft.com/office/drawing/2014/main" id="{CD207AB7-FD5D-45DA-A74B-31F2314C78DA}"/>
              </a:ext>
            </a:extLst>
          </p:cNvPr>
          <p:cNvSpPr txBox="1"/>
          <p:nvPr/>
        </p:nvSpPr>
        <p:spPr>
          <a:xfrm>
            <a:off x="645082" y="1255327"/>
            <a:ext cx="476304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All words that ends with aba.</a:t>
            </a:r>
            <a:endParaRPr lang="en-US" sz="2200" dirty="0"/>
          </a:p>
        </p:txBody>
      </p:sp>
      <p:sp>
        <p:nvSpPr>
          <p:cNvPr id="38" name="TextBox 37">
            <a:extLst>
              <a:ext uri="{FF2B5EF4-FFF2-40B4-BE49-F238E27FC236}">
                <a16:creationId xmlns="" xmlns:a16="http://schemas.microsoft.com/office/drawing/2014/main" id="{F98FFA43-7618-4602-828A-9E9802F87148}"/>
              </a:ext>
            </a:extLst>
          </p:cNvPr>
          <p:cNvSpPr txBox="1"/>
          <p:nvPr/>
        </p:nvSpPr>
        <p:spPr>
          <a:xfrm>
            <a:off x="5793306" y="1470770"/>
            <a:ext cx="4763046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All words that ends with aba.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aabab</a:t>
            </a:r>
            <a:r>
              <a:rPr lang="en-US" sz="3600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en-US" sz="360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9" name="Oval 38">
            <a:extLst>
              <a:ext uri="{FF2B5EF4-FFF2-40B4-BE49-F238E27FC236}">
                <a16:creationId xmlns="" xmlns:a16="http://schemas.microsoft.com/office/drawing/2014/main" id="{C04827AB-DD9A-4ED6-85A1-B6B5EA8D74CE}"/>
              </a:ext>
            </a:extLst>
          </p:cNvPr>
          <p:cNvSpPr/>
          <p:nvPr/>
        </p:nvSpPr>
        <p:spPr>
          <a:xfrm>
            <a:off x="6486746" y="3963569"/>
            <a:ext cx="697006" cy="712694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x0</a:t>
            </a:r>
          </a:p>
        </p:txBody>
      </p:sp>
      <p:sp>
        <p:nvSpPr>
          <p:cNvPr id="40" name="Oval 39">
            <a:extLst>
              <a:ext uri="{FF2B5EF4-FFF2-40B4-BE49-F238E27FC236}">
                <a16:creationId xmlns="" xmlns:a16="http://schemas.microsoft.com/office/drawing/2014/main" id="{CA0A025A-21AA-4275-B28C-53DF98FBBD62}"/>
              </a:ext>
            </a:extLst>
          </p:cNvPr>
          <p:cNvSpPr/>
          <p:nvPr/>
        </p:nvSpPr>
        <p:spPr>
          <a:xfrm>
            <a:off x="7941653" y="3950317"/>
            <a:ext cx="697006" cy="712694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x1</a:t>
            </a:r>
          </a:p>
        </p:txBody>
      </p:sp>
      <p:sp>
        <p:nvSpPr>
          <p:cNvPr id="41" name="Oval 40">
            <a:extLst>
              <a:ext uri="{FF2B5EF4-FFF2-40B4-BE49-F238E27FC236}">
                <a16:creationId xmlns="" xmlns:a16="http://schemas.microsoft.com/office/drawing/2014/main" id="{232661FD-3231-48C1-A2C5-6DC574BF9AAE}"/>
              </a:ext>
            </a:extLst>
          </p:cNvPr>
          <p:cNvSpPr/>
          <p:nvPr/>
        </p:nvSpPr>
        <p:spPr>
          <a:xfrm>
            <a:off x="9411634" y="3937065"/>
            <a:ext cx="697006" cy="712694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x2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="" xmlns:a16="http://schemas.microsoft.com/office/drawing/2014/main" id="{C3D49387-B6BD-4C8C-8B72-4994398480E7}"/>
              </a:ext>
            </a:extLst>
          </p:cNvPr>
          <p:cNvCxnSpPr/>
          <p:nvPr/>
        </p:nvCxnSpPr>
        <p:spPr>
          <a:xfrm>
            <a:off x="5989984" y="4319916"/>
            <a:ext cx="48354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6" name="Group 45">
            <a:extLst>
              <a:ext uri="{FF2B5EF4-FFF2-40B4-BE49-F238E27FC236}">
                <a16:creationId xmlns="" xmlns:a16="http://schemas.microsoft.com/office/drawing/2014/main" id="{B1BA9B08-4F24-41E4-BBCB-8849CA4AEFEC}"/>
              </a:ext>
            </a:extLst>
          </p:cNvPr>
          <p:cNvGrpSpPr/>
          <p:nvPr/>
        </p:nvGrpSpPr>
        <p:grpSpPr>
          <a:xfrm>
            <a:off x="10899171" y="3875484"/>
            <a:ext cx="803344" cy="835855"/>
            <a:chOff x="5184749" y="4682255"/>
            <a:chExt cx="803344" cy="835855"/>
          </a:xfrm>
        </p:grpSpPr>
        <p:sp>
          <p:nvSpPr>
            <p:cNvPr id="44" name="Oval 43">
              <a:extLst>
                <a:ext uri="{FF2B5EF4-FFF2-40B4-BE49-F238E27FC236}">
                  <a16:creationId xmlns="" xmlns:a16="http://schemas.microsoft.com/office/drawing/2014/main" id="{8F9CDE5C-96FF-4D40-8E35-EF044400A0D6}"/>
                </a:ext>
              </a:extLst>
            </p:cNvPr>
            <p:cNvSpPr/>
            <p:nvPr/>
          </p:nvSpPr>
          <p:spPr>
            <a:xfrm>
              <a:off x="5184749" y="4682255"/>
              <a:ext cx="803344" cy="835855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5" name="Oval 44">
              <a:extLst>
                <a:ext uri="{FF2B5EF4-FFF2-40B4-BE49-F238E27FC236}">
                  <a16:creationId xmlns="" xmlns:a16="http://schemas.microsoft.com/office/drawing/2014/main" id="{3F768F3B-81D9-4CAF-AF6E-D9F095B52C67}"/>
                </a:ext>
              </a:extLst>
            </p:cNvPr>
            <p:cNvSpPr/>
            <p:nvPr/>
          </p:nvSpPr>
          <p:spPr>
            <a:xfrm>
              <a:off x="5241993" y="4745149"/>
              <a:ext cx="697006" cy="712694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x3</a:t>
              </a:r>
            </a:p>
          </p:txBody>
        </p:sp>
      </p:grpSp>
      <p:cxnSp>
        <p:nvCxnSpPr>
          <p:cNvPr id="47" name="Straight Arrow Connector 46">
            <a:extLst>
              <a:ext uri="{FF2B5EF4-FFF2-40B4-BE49-F238E27FC236}">
                <a16:creationId xmlns="" xmlns:a16="http://schemas.microsoft.com/office/drawing/2014/main" id="{70450A69-B259-4D3C-979E-FA0A2CFE43C1}"/>
              </a:ext>
            </a:extLst>
          </p:cNvPr>
          <p:cNvCxnSpPr/>
          <p:nvPr/>
        </p:nvCxnSpPr>
        <p:spPr>
          <a:xfrm>
            <a:off x="8665163" y="4293412"/>
            <a:ext cx="731983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="" xmlns:a16="http://schemas.microsoft.com/office/drawing/2014/main" id="{E925179F-02E3-405F-935C-31689533E68E}"/>
              </a:ext>
            </a:extLst>
          </p:cNvPr>
          <p:cNvCxnSpPr/>
          <p:nvPr/>
        </p:nvCxnSpPr>
        <p:spPr>
          <a:xfrm>
            <a:off x="7210256" y="4306664"/>
            <a:ext cx="731983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="" xmlns:a16="http://schemas.microsoft.com/office/drawing/2014/main" id="{30719D9B-9EE0-4E4C-9F3C-DAE990982348}"/>
              </a:ext>
            </a:extLst>
          </p:cNvPr>
          <p:cNvCxnSpPr/>
          <p:nvPr/>
        </p:nvCxnSpPr>
        <p:spPr>
          <a:xfrm>
            <a:off x="10157495" y="4286152"/>
            <a:ext cx="731983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="" xmlns:a16="http://schemas.microsoft.com/office/drawing/2014/main" id="{DAD597C4-9FEB-467A-9A23-42F3D849E432}"/>
              </a:ext>
            </a:extLst>
          </p:cNvPr>
          <p:cNvSpPr txBox="1"/>
          <p:nvPr/>
        </p:nvSpPr>
        <p:spPr>
          <a:xfrm>
            <a:off x="7323732" y="3858527"/>
            <a:ext cx="2719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="" xmlns:a16="http://schemas.microsoft.com/office/drawing/2014/main" id="{82B3A5BA-A96E-47A4-9B2A-8E43F1CDC92F}"/>
              </a:ext>
            </a:extLst>
          </p:cNvPr>
          <p:cNvSpPr txBox="1"/>
          <p:nvPr/>
        </p:nvSpPr>
        <p:spPr>
          <a:xfrm>
            <a:off x="10318246" y="3858251"/>
            <a:ext cx="2719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="" xmlns:a16="http://schemas.microsoft.com/office/drawing/2014/main" id="{466F6746-AB92-4F07-84C5-D86BB87BBBF0}"/>
              </a:ext>
            </a:extLst>
          </p:cNvPr>
          <p:cNvSpPr txBox="1"/>
          <p:nvPr/>
        </p:nvSpPr>
        <p:spPr>
          <a:xfrm>
            <a:off x="8813526" y="3875484"/>
            <a:ext cx="2719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55" name="Arc 54">
            <a:extLst>
              <a:ext uri="{FF2B5EF4-FFF2-40B4-BE49-F238E27FC236}">
                <a16:creationId xmlns="" xmlns:a16="http://schemas.microsoft.com/office/drawing/2014/main" id="{849113FD-8B93-49B4-9FEC-B701B2B20C6B}"/>
              </a:ext>
            </a:extLst>
          </p:cNvPr>
          <p:cNvSpPr/>
          <p:nvPr/>
        </p:nvSpPr>
        <p:spPr>
          <a:xfrm>
            <a:off x="6586120" y="3539957"/>
            <a:ext cx="471227" cy="887105"/>
          </a:xfrm>
          <a:prstGeom prst="arc">
            <a:avLst>
              <a:gd name="adj1" fmla="val 10711483"/>
              <a:gd name="adj2" fmla="val 0"/>
            </a:avLst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="" xmlns:a16="http://schemas.microsoft.com/office/drawing/2014/main" id="{FCEFE45B-CEA6-4498-8008-059E264EE9F2}"/>
              </a:ext>
            </a:extLst>
          </p:cNvPr>
          <p:cNvSpPr txBox="1"/>
          <p:nvPr/>
        </p:nvSpPr>
        <p:spPr>
          <a:xfrm>
            <a:off x="6548410" y="3109287"/>
            <a:ext cx="5657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a/b</a:t>
            </a:r>
          </a:p>
        </p:txBody>
      </p:sp>
      <p:grpSp>
        <p:nvGrpSpPr>
          <p:cNvPr id="57" name="Group 56">
            <a:extLst>
              <a:ext uri="{FF2B5EF4-FFF2-40B4-BE49-F238E27FC236}">
                <a16:creationId xmlns="" xmlns:a16="http://schemas.microsoft.com/office/drawing/2014/main" id="{8D3C0EC3-1E6A-436B-B406-38A549AC7268}"/>
              </a:ext>
            </a:extLst>
          </p:cNvPr>
          <p:cNvGrpSpPr/>
          <p:nvPr/>
        </p:nvGrpSpPr>
        <p:grpSpPr>
          <a:xfrm rot="18867934">
            <a:off x="5867045" y="3049583"/>
            <a:ext cx="369332" cy="1274995"/>
            <a:chOff x="7019630" y="2204898"/>
            <a:chExt cx="369332" cy="1005795"/>
          </a:xfrm>
        </p:grpSpPr>
        <p:sp>
          <p:nvSpPr>
            <p:cNvPr id="58" name="Arrow: Up 57">
              <a:extLst>
                <a:ext uri="{FF2B5EF4-FFF2-40B4-BE49-F238E27FC236}">
                  <a16:creationId xmlns="" xmlns:a16="http://schemas.microsoft.com/office/drawing/2014/main" id="{E93022AA-FD9E-4354-A4A7-DF5F91C23E96}"/>
                </a:ext>
              </a:extLst>
            </p:cNvPr>
            <p:cNvSpPr/>
            <p:nvPr/>
          </p:nvSpPr>
          <p:spPr>
            <a:xfrm rot="10800000">
              <a:off x="7044865" y="2571551"/>
              <a:ext cx="191070" cy="639142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9" name="TextBox 58">
              <a:extLst>
                <a:ext uri="{FF2B5EF4-FFF2-40B4-BE49-F238E27FC236}">
                  <a16:creationId xmlns="" xmlns:a16="http://schemas.microsoft.com/office/drawing/2014/main" id="{BAF74065-B1AC-4D5B-9613-553AA58A4378}"/>
                </a:ext>
              </a:extLst>
            </p:cNvPr>
            <p:cNvSpPr txBox="1"/>
            <p:nvPr/>
          </p:nvSpPr>
          <p:spPr>
            <a:xfrm rot="2732066">
              <a:off x="6923696" y="2300832"/>
              <a:ext cx="5611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CS-1</a:t>
              </a:r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="" xmlns:a16="http://schemas.microsoft.com/office/drawing/2014/main" id="{8B950F8F-FFA3-4241-B5C7-916C60ACD0E7}"/>
              </a:ext>
            </a:extLst>
          </p:cNvPr>
          <p:cNvGrpSpPr/>
          <p:nvPr/>
        </p:nvGrpSpPr>
        <p:grpSpPr>
          <a:xfrm>
            <a:off x="9498040" y="2767524"/>
            <a:ext cx="686790" cy="1161419"/>
            <a:chOff x="6884230" y="2294494"/>
            <a:chExt cx="686790" cy="916199"/>
          </a:xfrm>
        </p:grpSpPr>
        <p:sp>
          <p:nvSpPr>
            <p:cNvPr id="61" name="Arrow: Up 60">
              <a:extLst>
                <a:ext uri="{FF2B5EF4-FFF2-40B4-BE49-F238E27FC236}">
                  <a16:creationId xmlns="" xmlns:a16="http://schemas.microsoft.com/office/drawing/2014/main" id="{402C2F1D-AAC2-4767-9023-5775882DD153}"/>
                </a:ext>
              </a:extLst>
            </p:cNvPr>
            <p:cNvSpPr/>
            <p:nvPr/>
          </p:nvSpPr>
          <p:spPr>
            <a:xfrm rot="10800000">
              <a:off x="7044865" y="2571551"/>
              <a:ext cx="191070" cy="639142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2" name="TextBox 61">
              <a:extLst>
                <a:ext uri="{FF2B5EF4-FFF2-40B4-BE49-F238E27FC236}">
                  <a16:creationId xmlns="" xmlns:a16="http://schemas.microsoft.com/office/drawing/2014/main" id="{A8994434-A9F1-484A-9BEA-B32161E9CDBB}"/>
                </a:ext>
              </a:extLst>
            </p:cNvPr>
            <p:cNvSpPr txBox="1"/>
            <p:nvPr/>
          </p:nvSpPr>
          <p:spPr>
            <a:xfrm>
              <a:off x="6884230" y="2294494"/>
              <a:ext cx="686790" cy="2913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CS-4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998107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149AD530-6C2A-44EA-A853-BAC2857EF1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904" y="858414"/>
            <a:ext cx="4876872" cy="460871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Backtracking is allowed in DFA.</a:t>
            </a:r>
          </a:p>
          <a:p>
            <a:pPr marL="457200" indent="-457200">
              <a:buFont typeface="+mj-lt"/>
              <a:buAutoNum type="arabicPeriod" startAt="3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E7E875E4-C02C-44AD-9251-3D0D7CDF2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26D1DE06-0720-4572-BF37-034426FE1CD7}"/>
              </a:ext>
            </a:extLst>
          </p:cNvPr>
          <p:cNvSpPr txBox="1"/>
          <p:nvPr/>
        </p:nvSpPr>
        <p:spPr>
          <a:xfrm>
            <a:off x="1529669" y="33241"/>
            <a:ext cx="1600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DFA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="" xmlns:a16="http://schemas.microsoft.com/office/drawing/2014/main" id="{E13E761C-7E8C-455A-B10F-FF97B9D81750}"/>
              </a:ext>
            </a:extLst>
          </p:cNvPr>
          <p:cNvGrpSpPr/>
          <p:nvPr/>
        </p:nvGrpSpPr>
        <p:grpSpPr>
          <a:xfrm>
            <a:off x="389769" y="1761566"/>
            <a:ext cx="5586961" cy="1860226"/>
            <a:chOff x="470451" y="2429960"/>
            <a:chExt cx="6403942" cy="1860226"/>
          </a:xfrm>
        </p:grpSpPr>
        <p:sp>
          <p:nvSpPr>
            <p:cNvPr id="8" name="Oval 7">
              <a:extLst>
                <a:ext uri="{FF2B5EF4-FFF2-40B4-BE49-F238E27FC236}">
                  <a16:creationId xmlns="" xmlns:a16="http://schemas.microsoft.com/office/drawing/2014/main" id="{EDD2A173-63F4-4A80-96B9-79D5A7A31D1C}"/>
                </a:ext>
              </a:extLst>
            </p:cNvPr>
            <p:cNvSpPr/>
            <p:nvPr/>
          </p:nvSpPr>
          <p:spPr>
            <a:xfrm>
              <a:off x="1130579" y="3333906"/>
              <a:ext cx="723331" cy="63914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x0</a:t>
              </a: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="" xmlns:a16="http://schemas.microsoft.com/office/drawing/2014/main" id="{B167B8FE-18DA-468D-9F34-C584DF4C213E}"/>
                </a:ext>
              </a:extLst>
            </p:cNvPr>
            <p:cNvCxnSpPr/>
            <p:nvPr/>
          </p:nvCxnSpPr>
          <p:spPr>
            <a:xfrm>
              <a:off x="470451" y="3673964"/>
              <a:ext cx="573062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Oval 9">
              <a:extLst>
                <a:ext uri="{FF2B5EF4-FFF2-40B4-BE49-F238E27FC236}">
                  <a16:creationId xmlns="" xmlns:a16="http://schemas.microsoft.com/office/drawing/2014/main" id="{F032099B-FB70-499B-B9CB-2153679670AF}"/>
                </a:ext>
              </a:extLst>
            </p:cNvPr>
            <p:cNvSpPr/>
            <p:nvPr/>
          </p:nvSpPr>
          <p:spPr>
            <a:xfrm>
              <a:off x="2765510" y="3333906"/>
              <a:ext cx="723331" cy="63914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x1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="" xmlns:a16="http://schemas.microsoft.com/office/drawing/2014/main" id="{A46E03FE-0352-4BA0-94CE-3CBBC1232E6A}"/>
                </a:ext>
              </a:extLst>
            </p:cNvPr>
            <p:cNvSpPr/>
            <p:nvPr/>
          </p:nvSpPr>
          <p:spPr>
            <a:xfrm>
              <a:off x="4400441" y="3307012"/>
              <a:ext cx="723331" cy="63914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x2</a:t>
              </a: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="" xmlns:a16="http://schemas.microsoft.com/office/drawing/2014/main" id="{49347AD5-0329-4828-BEAA-DE17AA128978}"/>
                </a:ext>
              </a:extLst>
            </p:cNvPr>
            <p:cNvGrpSpPr/>
            <p:nvPr/>
          </p:nvGrpSpPr>
          <p:grpSpPr>
            <a:xfrm>
              <a:off x="6035372" y="3170957"/>
              <a:ext cx="839021" cy="802091"/>
              <a:chOff x="10512625" y="1744747"/>
              <a:chExt cx="839021" cy="802091"/>
            </a:xfrm>
          </p:grpSpPr>
          <p:sp>
            <p:nvSpPr>
              <p:cNvPr id="13" name="Oval 12">
                <a:extLst>
                  <a:ext uri="{FF2B5EF4-FFF2-40B4-BE49-F238E27FC236}">
                    <a16:creationId xmlns="" xmlns:a16="http://schemas.microsoft.com/office/drawing/2014/main" id="{06A6A055-73AA-42D4-81CF-0021044FCC67}"/>
                  </a:ext>
                </a:extLst>
              </p:cNvPr>
              <p:cNvSpPr/>
              <p:nvPr/>
            </p:nvSpPr>
            <p:spPr>
              <a:xfrm>
                <a:off x="10512625" y="1744747"/>
                <a:ext cx="839021" cy="802091"/>
              </a:xfrm>
              <a:prstGeom prst="ellips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4" name="Oval 13">
                <a:extLst>
                  <a:ext uri="{FF2B5EF4-FFF2-40B4-BE49-F238E27FC236}">
                    <a16:creationId xmlns="" xmlns:a16="http://schemas.microsoft.com/office/drawing/2014/main" id="{B0C94D19-8E49-4955-8F65-F2A1695D3938}"/>
                  </a:ext>
                </a:extLst>
              </p:cNvPr>
              <p:cNvSpPr/>
              <p:nvPr/>
            </p:nvSpPr>
            <p:spPr>
              <a:xfrm>
                <a:off x="10585318" y="1837172"/>
                <a:ext cx="681980" cy="628192"/>
              </a:xfrm>
              <a:prstGeom prst="ellips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x3</a:t>
                </a:r>
              </a:p>
            </p:txBody>
          </p:sp>
        </p:grpSp>
        <p:cxnSp>
          <p:nvCxnSpPr>
            <p:cNvPr id="15" name="Straight Arrow Connector 14">
              <a:extLst>
                <a:ext uri="{FF2B5EF4-FFF2-40B4-BE49-F238E27FC236}">
                  <a16:creationId xmlns="" xmlns:a16="http://schemas.microsoft.com/office/drawing/2014/main" id="{CF3E0BDF-810B-4F55-B7EA-0389F91D35A4}"/>
                </a:ext>
              </a:extLst>
            </p:cNvPr>
            <p:cNvCxnSpPr/>
            <p:nvPr/>
          </p:nvCxnSpPr>
          <p:spPr>
            <a:xfrm>
              <a:off x="1914097" y="3662038"/>
              <a:ext cx="839021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="" xmlns:a16="http://schemas.microsoft.com/office/drawing/2014/main" id="{21D2F5CA-FBDF-414C-838D-0A9B5FC4430A}"/>
                </a:ext>
              </a:extLst>
            </p:cNvPr>
            <p:cNvCxnSpPr/>
            <p:nvPr/>
          </p:nvCxnSpPr>
          <p:spPr>
            <a:xfrm>
              <a:off x="3534916" y="3639972"/>
              <a:ext cx="839021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="" xmlns:a16="http://schemas.microsoft.com/office/drawing/2014/main" id="{AA1CBC00-C8B1-44E9-8B2A-D774D4C8057E}"/>
                </a:ext>
              </a:extLst>
            </p:cNvPr>
            <p:cNvCxnSpPr/>
            <p:nvPr/>
          </p:nvCxnSpPr>
          <p:spPr>
            <a:xfrm>
              <a:off x="5169847" y="3639972"/>
              <a:ext cx="839021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="" xmlns:a16="http://schemas.microsoft.com/office/drawing/2014/main" id="{7FCBCE34-8F1D-4494-B37C-ABE96FD57666}"/>
                </a:ext>
              </a:extLst>
            </p:cNvPr>
            <p:cNvSpPr txBox="1"/>
            <p:nvPr/>
          </p:nvSpPr>
          <p:spPr>
            <a:xfrm>
              <a:off x="2089212" y="3191812"/>
              <a:ext cx="3117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="" xmlns:a16="http://schemas.microsoft.com/office/drawing/2014/main" id="{CC77AC81-ED5E-47AC-A744-914483C03C0C}"/>
                </a:ext>
              </a:extLst>
            </p:cNvPr>
            <p:cNvSpPr txBox="1"/>
            <p:nvPr/>
          </p:nvSpPr>
          <p:spPr>
            <a:xfrm>
              <a:off x="3697547" y="3212299"/>
              <a:ext cx="3117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="" xmlns:a16="http://schemas.microsoft.com/office/drawing/2014/main" id="{8E3BF89E-56F8-4EB4-AD82-9142DBD6A27C}"/>
                </a:ext>
              </a:extLst>
            </p:cNvPr>
            <p:cNvSpPr txBox="1"/>
            <p:nvPr/>
          </p:nvSpPr>
          <p:spPr>
            <a:xfrm>
              <a:off x="5358816" y="3172033"/>
              <a:ext cx="3117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="" xmlns:a16="http://schemas.microsoft.com/office/drawing/2014/main" id="{A9C0D6FE-F7E5-434B-BABF-3049C2B33D69}"/>
                </a:ext>
              </a:extLst>
            </p:cNvPr>
            <p:cNvGrpSpPr/>
            <p:nvPr/>
          </p:nvGrpSpPr>
          <p:grpSpPr>
            <a:xfrm rot="10370240">
              <a:off x="1185958" y="2890353"/>
              <a:ext cx="540585" cy="887105"/>
              <a:chOff x="1984650" y="2985447"/>
              <a:chExt cx="540585" cy="887105"/>
            </a:xfrm>
          </p:grpSpPr>
          <p:sp>
            <p:nvSpPr>
              <p:cNvPr id="22" name="Arc 21">
                <a:extLst>
                  <a:ext uri="{FF2B5EF4-FFF2-40B4-BE49-F238E27FC236}">
                    <a16:creationId xmlns="" xmlns:a16="http://schemas.microsoft.com/office/drawing/2014/main" id="{177ECB2A-EFAE-4453-93C0-A41752FCEBB3}"/>
                  </a:ext>
                </a:extLst>
              </p:cNvPr>
              <p:cNvSpPr/>
              <p:nvPr/>
            </p:nvSpPr>
            <p:spPr>
              <a:xfrm rot="11054314">
                <a:off x="1985101" y="2985447"/>
                <a:ext cx="540134" cy="887105"/>
              </a:xfrm>
              <a:prstGeom prst="arc">
                <a:avLst>
                  <a:gd name="adj1" fmla="val 10711483"/>
                  <a:gd name="adj2" fmla="val 0"/>
                </a:avLst>
              </a:prstGeom>
              <a:ln w="254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3" name="Straight Arrow Connector 22">
                <a:extLst>
                  <a:ext uri="{FF2B5EF4-FFF2-40B4-BE49-F238E27FC236}">
                    <a16:creationId xmlns="" xmlns:a16="http://schemas.microsoft.com/office/drawing/2014/main" id="{F995BD76-CADF-4733-ACDA-E945D5FED785}"/>
                  </a:ext>
                </a:extLst>
              </p:cNvPr>
              <p:cNvCxnSpPr/>
              <p:nvPr/>
            </p:nvCxnSpPr>
            <p:spPr>
              <a:xfrm rot="11054314">
                <a:off x="1984650" y="3331902"/>
                <a:ext cx="0" cy="95534"/>
              </a:xfrm>
              <a:prstGeom prst="straightConnector1">
                <a:avLst/>
              </a:prstGeom>
              <a:ln w="25400">
                <a:solidFill>
                  <a:schemeClr val="bg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4" name="TextBox 23">
              <a:extLst>
                <a:ext uri="{FF2B5EF4-FFF2-40B4-BE49-F238E27FC236}">
                  <a16:creationId xmlns="" xmlns:a16="http://schemas.microsoft.com/office/drawing/2014/main" id="{9FF65C04-6E36-440B-8DB3-19D0DD25E1D5}"/>
                </a:ext>
              </a:extLst>
            </p:cNvPr>
            <p:cNvSpPr txBox="1"/>
            <p:nvPr/>
          </p:nvSpPr>
          <p:spPr>
            <a:xfrm>
              <a:off x="1180516" y="2457327"/>
              <a:ext cx="3117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  <p:grpSp>
          <p:nvGrpSpPr>
            <p:cNvPr id="25" name="Group 24">
              <a:extLst>
                <a:ext uri="{FF2B5EF4-FFF2-40B4-BE49-F238E27FC236}">
                  <a16:creationId xmlns="" xmlns:a16="http://schemas.microsoft.com/office/drawing/2014/main" id="{95283B76-D290-48F4-882C-4B73696475FC}"/>
                </a:ext>
              </a:extLst>
            </p:cNvPr>
            <p:cNvGrpSpPr/>
            <p:nvPr/>
          </p:nvGrpSpPr>
          <p:grpSpPr>
            <a:xfrm rot="10370240">
              <a:off x="2836093" y="2873340"/>
              <a:ext cx="540585" cy="887105"/>
              <a:chOff x="1984650" y="2985447"/>
              <a:chExt cx="540585" cy="887105"/>
            </a:xfrm>
          </p:grpSpPr>
          <p:sp>
            <p:nvSpPr>
              <p:cNvPr id="26" name="Arc 25">
                <a:extLst>
                  <a:ext uri="{FF2B5EF4-FFF2-40B4-BE49-F238E27FC236}">
                    <a16:creationId xmlns="" xmlns:a16="http://schemas.microsoft.com/office/drawing/2014/main" id="{43BB7691-F2E4-46BF-906F-C4CCEF7D55D9}"/>
                  </a:ext>
                </a:extLst>
              </p:cNvPr>
              <p:cNvSpPr/>
              <p:nvPr/>
            </p:nvSpPr>
            <p:spPr>
              <a:xfrm rot="11054314">
                <a:off x="1985101" y="2985447"/>
                <a:ext cx="540134" cy="887105"/>
              </a:xfrm>
              <a:prstGeom prst="arc">
                <a:avLst>
                  <a:gd name="adj1" fmla="val 10711483"/>
                  <a:gd name="adj2" fmla="val 0"/>
                </a:avLst>
              </a:prstGeom>
              <a:ln w="254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7" name="Straight Arrow Connector 26">
                <a:extLst>
                  <a:ext uri="{FF2B5EF4-FFF2-40B4-BE49-F238E27FC236}">
                    <a16:creationId xmlns="" xmlns:a16="http://schemas.microsoft.com/office/drawing/2014/main" id="{7D03CC14-B08B-467F-A77E-2F642111408F}"/>
                  </a:ext>
                </a:extLst>
              </p:cNvPr>
              <p:cNvCxnSpPr/>
              <p:nvPr/>
            </p:nvCxnSpPr>
            <p:spPr>
              <a:xfrm rot="11054314">
                <a:off x="1984650" y="3331902"/>
                <a:ext cx="0" cy="95534"/>
              </a:xfrm>
              <a:prstGeom prst="straightConnector1">
                <a:avLst/>
              </a:prstGeom>
              <a:ln w="25400">
                <a:solidFill>
                  <a:schemeClr val="bg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8" name="TextBox 27">
              <a:extLst>
                <a:ext uri="{FF2B5EF4-FFF2-40B4-BE49-F238E27FC236}">
                  <a16:creationId xmlns="" xmlns:a16="http://schemas.microsoft.com/office/drawing/2014/main" id="{624BB0EE-6A5B-4B02-82D4-235316C7D61D}"/>
                </a:ext>
              </a:extLst>
            </p:cNvPr>
            <p:cNvSpPr txBox="1"/>
            <p:nvPr/>
          </p:nvSpPr>
          <p:spPr>
            <a:xfrm>
              <a:off x="2906302" y="2429960"/>
              <a:ext cx="3117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29" name="Arrow: Curved Down 28">
              <a:extLst>
                <a:ext uri="{FF2B5EF4-FFF2-40B4-BE49-F238E27FC236}">
                  <a16:creationId xmlns="" xmlns:a16="http://schemas.microsoft.com/office/drawing/2014/main" id="{941EC0F0-A84F-48C9-87D0-10CEDCA8CD61}"/>
                </a:ext>
              </a:extLst>
            </p:cNvPr>
            <p:cNvSpPr/>
            <p:nvPr/>
          </p:nvSpPr>
          <p:spPr>
            <a:xfrm rot="10800000">
              <a:off x="1659826" y="3958135"/>
              <a:ext cx="2908196" cy="256814"/>
            </a:xfrm>
            <a:prstGeom prst="curvedDownArrow">
              <a:avLst>
                <a:gd name="adj1" fmla="val 11615"/>
                <a:gd name="adj2" fmla="val 50000"/>
                <a:gd name="adj3" fmla="val 25000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="" xmlns:a16="http://schemas.microsoft.com/office/drawing/2014/main" id="{4ED6617C-6176-4E5A-97A8-7060AB131E68}"/>
                </a:ext>
              </a:extLst>
            </p:cNvPr>
            <p:cNvSpPr txBox="1"/>
            <p:nvPr/>
          </p:nvSpPr>
          <p:spPr>
            <a:xfrm>
              <a:off x="3306612" y="3828521"/>
              <a:ext cx="3117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31" name="Arrow: Curved Down 30">
              <a:extLst>
                <a:ext uri="{FF2B5EF4-FFF2-40B4-BE49-F238E27FC236}">
                  <a16:creationId xmlns="" xmlns:a16="http://schemas.microsoft.com/office/drawing/2014/main" id="{164BCBA0-BA6D-4830-A4C7-0273A3ACF31A}"/>
                </a:ext>
              </a:extLst>
            </p:cNvPr>
            <p:cNvSpPr/>
            <p:nvPr/>
          </p:nvSpPr>
          <p:spPr>
            <a:xfrm rot="10800000">
              <a:off x="5046391" y="3906855"/>
              <a:ext cx="1049609" cy="203318"/>
            </a:xfrm>
            <a:prstGeom prst="curvedDownArrow">
              <a:avLst>
                <a:gd name="adj1" fmla="val 11615"/>
                <a:gd name="adj2" fmla="val 50000"/>
                <a:gd name="adj3" fmla="val 25000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="" xmlns:a16="http://schemas.microsoft.com/office/drawing/2014/main" id="{D1B5F6D8-B479-4A51-8B85-C90FEF56C3B4}"/>
                </a:ext>
              </a:extLst>
            </p:cNvPr>
            <p:cNvSpPr txBox="1"/>
            <p:nvPr/>
          </p:nvSpPr>
          <p:spPr>
            <a:xfrm>
              <a:off x="5418452" y="3735245"/>
              <a:ext cx="3117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33" name="Arrow: Curved Up 32">
              <a:extLst>
                <a:ext uri="{FF2B5EF4-FFF2-40B4-BE49-F238E27FC236}">
                  <a16:creationId xmlns="" xmlns:a16="http://schemas.microsoft.com/office/drawing/2014/main" id="{883BCDAA-DF6B-4CE1-A7DF-CEA9CF6A7531}"/>
                </a:ext>
              </a:extLst>
            </p:cNvPr>
            <p:cNvSpPr/>
            <p:nvPr/>
          </p:nvSpPr>
          <p:spPr>
            <a:xfrm rot="10601653">
              <a:off x="3340408" y="2885646"/>
              <a:ext cx="2898449" cy="392783"/>
            </a:xfrm>
            <a:prstGeom prst="curvedUpArrow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="" xmlns:a16="http://schemas.microsoft.com/office/drawing/2014/main" id="{C5839F56-250D-47CC-877C-BC0884BC986F}"/>
                </a:ext>
              </a:extLst>
            </p:cNvPr>
            <p:cNvSpPr txBox="1"/>
            <p:nvPr/>
          </p:nvSpPr>
          <p:spPr>
            <a:xfrm>
              <a:off x="4689579" y="2463044"/>
              <a:ext cx="3117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</p:grpSp>
      <p:sp>
        <p:nvSpPr>
          <p:cNvPr id="35" name="Content Placeholder 2">
            <a:extLst>
              <a:ext uri="{FF2B5EF4-FFF2-40B4-BE49-F238E27FC236}">
                <a16:creationId xmlns="" xmlns:a16="http://schemas.microsoft.com/office/drawing/2014/main" id="{F97922DE-7782-4701-9A67-30B071D7E716}"/>
              </a:ext>
            </a:extLst>
          </p:cNvPr>
          <p:cNvSpPr txBox="1">
            <a:spLocks/>
          </p:cNvSpPr>
          <p:nvPr/>
        </p:nvSpPr>
        <p:spPr>
          <a:xfrm>
            <a:off x="5373287" y="786600"/>
            <a:ext cx="4565144" cy="52848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457200" indent="-457200">
              <a:buFont typeface="+mj-lt"/>
              <a:buAutoNum type="arabicPeriod" startAt="3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NDFA, backtracking is not always possible.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="" xmlns:a16="http://schemas.microsoft.com/office/drawing/2014/main" id="{B34E8F8C-167C-49A9-BB01-50B5E361FCC7}"/>
              </a:ext>
            </a:extLst>
          </p:cNvPr>
          <p:cNvSpPr txBox="1"/>
          <p:nvPr/>
        </p:nvSpPr>
        <p:spPr>
          <a:xfrm>
            <a:off x="6855759" y="0"/>
            <a:ext cx="1600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NDFA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="" xmlns:a16="http://schemas.microsoft.com/office/drawing/2014/main" id="{CD207AB7-FD5D-45DA-A74B-31F2314C78DA}"/>
              </a:ext>
            </a:extLst>
          </p:cNvPr>
          <p:cNvSpPr txBox="1"/>
          <p:nvPr/>
        </p:nvSpPr>
        <p:spPr>
          <a:xfrm>
            <a:off x="645082" y="1255327"/>
            <a:ext cx="476304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All words that ends with aba.</a:t>
            </a:r>
            <a:endParaRPr lang="en-US" sz="2200" dirty="0"/>
          </a:p>
        </p:txBody>
      </p:sp>
      <p:sp>
        <p:nvSpPr>
          <p:cNvPr id="38" name="TextBox 37">
            <a:extLst>
              <a:ext uri="{FF2B5EF4-FFF2-40B4-BE49-F238E27FC236}">
                <a16:creationId xmlns="" xmlns:a16="http://schemas.microsoft.com/office/drawing/2014/main" id="{F98FFA43-7618-4602-828A-9E9802F87148}"/>
              </a:ext>
            </a:extLst>
          </p:cNvPr>
          <p:cNvSpPr txBox="1"/>
          <p:nvPr/>
        </p:nvSpPr>
        <p:spPr>
          <a:xfrm>
            <a:off x="5793306" y="1470770"/>
            <a:ext cx="4763046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All words that ends with aba.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aabab</a:t>
            </a:r>
            <a:r>
              <a:rPr lang="en-US" sz="3600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en-US" sz="360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9" name="Oval 38">
            <a:extLst>
              <a:ext uri="{FF2B5EF4-FFF2-40B4-BE49-F238E27FC236}">
                <a16:creationId xmlns="" xmlns:a16="http://schemas.microsoft.com/office/drawing/2014/main" id="{C04827AB-DD9A-4ED6-85A1-B6B5EA8D74CE}"/>
              </a:ext>
            </a:extLst>
          </p:cNvPr>
          <p:cNvSpPr/>
          <p:nvPr/>
        </p:nvSpPr>
        <p:spPr>
          <a:xfrm>
            <a:off x="6486746" y="3963569"/>
            <a:ext cx="697006" cy="712694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x0</a:t>
            </a:r>
          </a:p>
        </p:txBody>
      </p:sp>
      <p:sp>
        <p:nvSpPr>
          <p:cNvPr id="40" name="Oval 39">
            <a:extLst>
              <a:ext uri="{FF2B5EF4-FFF2-40B4-BE49-F238E27FC236}">
                <a16:creationId xmlns="" xmlns:a16="http://schemas.microsoft.com/office/drawing/2014/main" id="{CA0A025A-21AA-4275-B28C-53DF98FBBD62}"/>
              </a:ext>
            </a:extLst>
          </p:cNvPr>
          <p:cNvSpPr/>
          <p:nvPr/>
        </p:nvSpPr>
        <p:spPr>
          <a:xfrm>
            <a:off x="7941653" y="3950317"/>
            <a:ext cx="697006" cy="712694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x1</a:t>
            </a:r>
          </a:p>
        </p:txBody>
      </p:sp>
      <p:sp>
        <p:nvSpPr>
          <p:cNvPr id="41" name="Oval 40">
            <a:extLst>
              <a:ext uri="{FF2B5EF4-FFF2-40B4-BE49-F238E27FC236}">
                <a16:creationId xmlns="" xmlns:a16="http://schemas.microsoft.com/office/drawing/2014/main" id="{232661FD-3231-48C1-A2C5-6DC574BF9AAE}"/>
              </a:ext>
            </a:extLst>
          </p:cNvPr>
          <p:cNvSpPr/>
          <p:nvPr/>
        </p:nvSpPr>
        <p:spPr>
          <a:xfrm>
            <a:off x="9411634" y="3937065"/>
            <a:ext cx="697006" cy="712694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x2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="" xmlns:a16="http://schemas.microsoft.com/office/drawing/2014/main" id="{C3D49387-B6BD-4C8C-8B72-4994398480E7}"/>
              </a:ext>
            </a:extLst>
          </p:cNvPr>
          <p:cNvCxnSpPr/>
          <p:nvPr/>
        </p:nvCxnSpPr>
        <p:spPr>
          <a:xfrm>
            <a:off x="5989984" y="4319916"/>
            <a:ext cx="48354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6" name="Group 45">
            <a:extLst>
              <a:ext uri="{FF2B5EF4-FFF2-40B4-BE49-F238E27FC236}">
                <a16:creationId xmlns="" xmlns:a16="http://schemas.microsoft.com/office/drawing/2014/main" id="{B1BA9B08-4F24-41E4-BBCB-8849CA4AEFEC}"/>
              </a:ext>
            </a:extLst>
          </p:cNvPr>
          <p:cNvGrpSpPr/>
          <p:nvPr/>
        </p:nvGrpSpPr>
        <p:grpSpPr>
          <a:xfrm>
            <a:off x="10899171" y="3875484"/>
            <a:ext cx="803344" cy="835855"/>
            <a:chOff x="5184749" y="4682255"/>
            <a:chExt cx="803344" cy="835855"/>
          </a:xfrm>
        </p:grpSpPr>
        <p:sp>
          <p:nvSpPr>
            <p:cNvPr id="44" name="Oval 43">
              <a:extLst>
                <a:ext uri="{FF2B5EF4-FFF2-40B4-BE49-F238E27FC236}">
                  <a16:creationId xmlns="" xmlns:a16="http://schemas.microsoft.com/office/drawing/2014/main" id="{8F9CDE5C-96FF-4D40-8E35-EF044400A0D6}"/>
                </a:ext>
              </a:extLst>
            </p:cNvPr>
            <p:cNvSpPr/>
            <p:nvPr/>
          </p:nvSpPr>
          <p:spPr>
            <a:xfrm>
              <a:off x="5184749" y="4682255"/>
              <a:ext cx="803344" cy="835855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5" name="Oval 44">
              <a:extLst>
                <a:ext uri="{FF2B5EF4-FFF2-40B4-BE49-F238E27FC236}">
                  <a16:creationId xmlns="" xmlns:a16="http://schemas.microsoft.com/office/drawing/2014/main" id="{3F768F3B-81D9-4CAF-AF6E-D9F095B52C67}"/>
                </a:ext>
              </a:extLst>
            </p:cNvPr>
            <p:cNvSpPr/>
            <p:nvPr/>
          </p:nvSpPr>
          <p:spPr>
            <a:xfrm>
              <a:off x="5241993" y="4745149"/>
              <a:ext cx="697006" cy="712694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x3</a:t>
              </a:r>
            </a:p>
          </p:txBody>
        </p:sp>
      </p:grpSp>
      <p:cxnSp>
        <p:nvCxnSpPr>
          <p:cNvPr id="47" name="Straight Arrow Connector 46">
            <a:extLst>
              <a:ext uri="{FF2B5EF4-FFF2-40B4-BE49-F238E27FC236}">
                <a16:creationId xmlns="" xmlns:a16="http://schemas.microsoft.com/office/drawing/2014/main" id="{70450A69-B259-4D3C-979E-FA0A2CFE43C1}"/>
              </a:ext>
            </a:extLst>
          </p:cNvPr>
          <p:cNvCxnSpPr/>
          <p:nvPr/>
        </p:nvCxnSpPr>
        <p:spPr>
          <a:xfrm>
            <a:off x="8665163" y="4293412"/>
            <a:ext cx="731983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="" xmlns:a16="http://schemas.microsoft.com/office/drawing/2014/main" id="{E925179F-02E3-405F-935C-31689533E68E}"/>
              </a:ext>
            </a:extLst>
          </p:cNvPr>
          <p:cNvCxnSpPr/>
          <p:nvPr/>
        </p:nvCxnSpPr>
        <p:spPr>
          <a:xfrm>
            <a:off x="7210256" y="4306664"/>
            <a:ext cx="731983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="" xmlns:a16="http://schemas.microsoft.com/office/drawing/2014/main" id="{30719D9B-9EE0-4E4C-9F3C-DAE990982348}"/>
              </a:ext>
            </a:extLst>
          </p:cNvPr>
          <p:cNvCxnSpPr/>
          <p:nvPr/>
        </p:nvCxnSpPr>
        <p:spPr>
          <a:xfrm>
            <a:off x="10157495" y="4286152"/>
            <a:ext cx="731983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="" xmlns:a16="http://schemas.microsoft.com/office/drawing/2014/main" id="{DAD597C4-9FEB-467A-9A23-42F3D849E432}"/>
              </a:ext>
            </a:extLst>
          </p:cNvPr>
          <p:cNvSpPr txBox="1"/>
          <p:nvPr/>
        </p:nvSpPr>
        <p:spPr>
          <a:xfrm>
            <a:off x="7323732" y="3858527"/>
            <a:ext cx="2719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="" xmlns:a16="http://schemas.microsoft.com/office/drawing/2014/main" id="{82B3A5BA-A96E-47A4-9B2A-8E43F1CDC92F}"/>
              </a:ext>
            </a:extLst>
          </p:cNvPr>
          <p:cNvSpPr txBox="1"/>
          <p:nvPr/>
        </p:nvSpPr>
        <p:spPr>
          <a:xfrm>
            <a:off x="10318246" y="3858251"/>
            <a:ext cx="2719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="" xmlns:a16="http://schemas.microsoft.com/office/drawing/2014/main" id="{466F6746-AB92-4F07-84C5-D86BB87BBBF0}"/>
              </a:ext>
            </a:extLst>
          </p:cNvPr>
          <p:cNvSpPr txBox="1"/>
          <p:nvPr/>
        </p:nvSpPr>
        <p:spPr>
          <a:xfrm>
            <a:off x="8813526" y="3875484"/>
            <a:ext cx="2719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55" name="Arc 54">
            <a:extLst>
              <a:ext uri="{FF2B5EF4-FFF2-40B4-BE49-F238E27FC236}">
                <a16:creationId xmlns="" xmlns:a16="http://schemas.microsoft.com/office/drawing/2014/main" id="{849113FD-8B93-49B4-9FEC-B701B2B20C6B}"/>
              </a:ext>
            </a:extLst>
          </p:cNvPr>
          <p:cNvSpPr/>
          <p:nvPr/>
        </p:nvSpPr>
        <p:spPr>
          <a:xfrm>
            <a:off x="6586120" y="3539957"/>
            <a:ext cx="471227" cy="887105"/>
          </a:xfrm>
          <a:prstGeom prst="arc">
            <a:avLst>
              <a:gd name="adj1" fmla="val 10711483"/>
              <a:gd name="adj2" fmla="val 0"/>
            </a:avLst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="" xmlns:a16="http://schemas.microsoft.com/office/drawing/2014/main" id="{FCEFE45B-CEA6-4498-8008-059E264EE9F2}"/>
              </a:ext>
            </a:extLst>
          </p:cNvPr>
          <p:cNvSpPr txBox="1"/>
          <p:nvPr/>
        </p:nvSpPr>
        <p:spPr>
          <a:xfrm>
            <a:off x="6548410" y="3109287"/>
            <a:ext cx="5657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a/b</a:t>
            </a:r>
          </a:p>
        </p:txBody>
      </p:sp>
      <p:grpSp>
        <p:nvGrpSpPr>
          <p:cNvPr id="57" name="Group 56">
            <a:extLst>
              <a:ext uri="{FF2B5EF4-FFF2-40B4-BE49-F238E27FC236}">
                <a16:creationId xmlns="" xmlns:a16="http://schemas.microsoft.com/office/drawing/2014/main" id="{8D3C0EC3-1E6A-436B-B406-38A549AC7268}"/>
              </a:ext>
            </a:extLst>
          </p:cNvPr>
          <p:cNvGrpSpPr/>
          <p:nvPr/>
        </p:nvGrpSpPr>
        <p:grpSpPr>
          <a:xfrm rot="18867934">
            <a:off x="5867045" y="3049583"/>
            <a:ext cx="369332" cy="1274995"/>
            <a:chOff x="7019630" y="2204898"/>
            <a:chExt cx="369332" cy="1005795"/>
          </a:xfrm>
        </p:grpSpPr>
        <p:sp>
          <p:nvSpPr>
            <p:cNvPr id="58" name="Arrow: Up 57">
              <a:extLst>
                <a:ext uri="{FF2B5EF4-FFF2-40B4-BE49-F238E27FC236}">
                  <a16:creationId xmlns="" xmlns:a16="http://schemas.microsoft.com/office/drawing/2014/main" id="{E93022AA-FD9E-4354-A4A7-DF5F91C23E96}"/>
                </a:ext>
              </a:extLst>
            </p:cNvPr>
            <p:cNvSpPr/>
            <p:nvPr/>
          </p:nvSpPr>
          <p:spPr>
            <a:xfrm rot="10800000">
              <a:off x="7044865" y="2571551"/>
              <a:ext cx="191070" cy="639142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9" name="TextBox 58">
              <a:extLst>
                <a:ext uri="{FF2B5EF4-FFF2-40B4-BE49-F238E27FC236}">
                  <a16:creationId xmlns="" xmlns:a16="http://schemas.microsoft.com/office/drawing/2014/main" id="{BAF74065-B1AC-4D5B-9613-553AA58A4378}"/>
                </a:ext>
              </a:extLst>
            </p:cNvPr>
            <p:cNvSpPr txBox="1"/>
            <p:nvPr/>
          </p:nvSpPr>
          <p:spPr>
            <a:xfrm rot="2732066">
              <a:off x="6923696" y="2300832"/>
              <a:ext cx="5611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CS-1</a:t>
              </a:r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="" xmlns:a16="http://schemas.microsoft.com/office/drawing/2014/main" id="{8B950F8F-FFA3-4241-B5C7-916C60ACD0E7}"/>
              </a:ext>
            </a:extLst>
          </p:cNvPr>
          <p:cNvGrpSpPr/>
          <p:nvPr/>
        </p:nvGrpSpPr>
        <p:grpSpPr>
          <a:xfrm>
            <a:off x="9551081" y="2754250"/>
            <a:ext cx="686790" cy="1161419"/>
            <a:chOff x="6884230" y="2294494"/>
            <a:chExt cx="686790" cy="916199"/>
          </a:xfrm>
        </p:grpSpPr>
        <p:sp>
          <p:nvSpPr>
            <p:cNvPr id="61" name="Arrow: Up 60">
              <a:extLst>
                <a:ext uri="{FF2B5EF4-FFF2-40B4-BE49-F238E27FC236}">
                  <a16:creationId xmlns="" xmlns:a16="http://schemas.microsoft.com/office/drawing/2014/main" id="{402C2F1D-AAC2-4767-9023-5775882DD153}"/>
                </a:ext>
              </a:extLst>
            </p:cNvPr>
            <p:cNvSpPr/>
            <p:nvPr/>
          </p:nvSpPr>
          <p:spPr>
            <a:xfrm rot="10800000">
              <a:off x="7044865" y="2571551"/>
              <a:ext cx="191070" cy="639142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2" name="TextBox 61">
              <a:extLst>
                <a:ext uri="{FF2B5EF4-FFF2-40B4-BE49-F238E27FC236}">
                  <a16:creationId xmlns="" xmlns:a16="http://schemas.microsoft.com/office/drawing/2014/main" id="{A8994434-A9F1-484A-9BEA-B32161E9CDBB}"/>
                </a:ext>
              </a:extLst>
            </p:cNvPr>
            <p:cNvSpPr txBox="1"/>
            <p:nvPr/>
          </p:nvSpPr>
          <p:spPr>
            <a:xfrm>
              <a:off x="6884230" y="2294494"/>
              <a:ext cx="686790" cy="2913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CS-4</a:t>
              </a: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="" xmlns:a16="http://schemas.microsoft.com/office/drawing/2014/main" id="{07B9E3CC-EBA9-4E72-B8CC-541722F510C8}"/>
              </a:ext>
            </a:extLst>
          </p:cNvPr>
          <p:cNvGrpSpPr/>
          <p:nvPr/>
        </p:nvGrpSpPr>
        <p:grpSpPr>
          <a:xfrm>
            <a:off x="7996702" y="2745162"/>
            <a:ext cx="686790" cy="1161419"/>
            <a:chOff x="6884230" y="2294494"/>
            <a:chExt cx="686790" cy="916199"/>
          </a:xfrm>
        </p:grpSpPr>
        <p:sp>
          <p:nvSpPr>
            <p:cNvPr id="64" name="Arrow: Up 63">
              <a:extLst>
                <a:ext uri="{FF2B5EF4-FFF2-40B4-BE49-F238E27FC236}">
                  <a16:creationId xmlns="" xmlns:a16="http://schemas.microsoft.com/office/drawing/2014/main" id="{4E6881D0-6EC2-45C3-A583-48C26D256CE2}"/>
                </a:ext>
              </a:extLst>
            </p:cNvPr>
            <p:cNvSpPr/>
            <p:nvPr/>
          </p:nvSpPr>
          <p:spPr>
            <a:xfrm rot="10800000">
              <a:off x="7044865" y="2571551"/>
              <a:ext cx="191070" cy="639142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5" name="TextBox 64">
              <a:extLst>
                <a:ext uri="{FF2B5EF4-FFF2-40B4-BE49-F238E27FC236}">
                  <a16:creationId xmlns="" xmlns:a16="http://schemas.microsoft.com/office/drawing/2014/main" id="{1BDF20A9-E0A8-4518-A70D-8D4591A9D06C}"/>
                </a:ext>
              </a:extLst>
            </p:cNvPr>
            <p:cNvSpPr txBox="1"/>
            <p:nvPr/>
          </p:nvSpPr>
          <p:spPr>
            <a:xfrm>
              <a:off x="6884230" y="2294494"/>
              <a:ext cx="686790" cy="2913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CS-5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558355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149AD530-6C2A-44EA-A853-BAC2857EF1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904" y="858414"/>
            <a:ext cx="4876872" cy="460871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Backtracking is allowed in DFA.</a:t>
            </a:r>
          </a:p>
          <a:p>
            <a:pPr marL="457200" indent="-457200">
              <a:buFont typeface="+mj-lt"/>
              <a:buAutoNum type="arabicPeriod" startAt="3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E7E875E4-C02C-44AD-9251-3D0D7CDF2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26D1DE06-0720-4572-BF37-034426FE1CD7}"/>
              </a:ext>
            </a:extLst>
          </p:cNvPr>
          <p:cNvSpPr txBox="1"/>
          <p:nvPr/>
        </p:nvSpPr>
        <p:spPr>
          <a:xfrm>
            <a:off x="1529669" y="33241"/>
            <a:ext cx="1600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DFA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="" xmlns:a16="http://schemas.microsoft.com/office/drawing/2014/main" id="{E13E761C-7E8C-455A-B10F-FF97B9D81750}"/>
              </a:ext>
            </a:extLst>
          </p:cNvPr>
          <p:cNvGrpSpPr/>
          <p:nvPr/>
        </p:nvGrpSpPr>
        <p:grpSpPr>
          <a:xfrm>
            <a:off x="389769" y="1761566"/>
            <a:ext cx="5586961" cy="1860226"/>
            <a:chOff x="470451" y="2429960"/>
            <a:chExt cx="6403942" cy="1860226"/>
          </a:xfrm>
        </p:grpSpPr>
        <p:sp>
          <p:nvSpPr>
            <p:cNvPr id="8" name="Oval 7">
              <a:extLst>
                <a:ext uri="{FF2B5EF4-FFF2-40B4-BE49-F238E27FC236}">
                  <a16:creationId xmlns="" xmlns:a16="http://schemas.microsoft.com/office/drawing/2014/main" id="{EDD2A173-63F4-4A80-96B9-79D5A7A31D1C}"/>
                </a:ext>
              </a:extLst>
            </p:cNvPr>
            <p:cNvSpPr/>
            <p:nvPr/>
          </p:nvSpPr>
          <p:spPr>
            <a:xfrm>
              <a:off x="1130579" y="3333906"/>
              <a:ext cx="723331" cy="63914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x0</a:t>
              </a: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="" xmlns:a16="http://schemas.microsoft.com/office/drawing/2014/main" id="{B167B8FE-18DA-468D-9F34-C584DF4C213E}"/>
                </a:ext>
              </a:extLst>
            </p:cNvPr>
            <p:cNvCxnSpPr/>
            <p:nvPr/>
          </p:nvCxnSpPr>
          <p:spPr>
            <a:xfrm>
              <a:off x="470451" y="3673964"/>
              <a:ext cx="573062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Oval 9">
              <a:extLst>
                <a:ext uri="{FF2B5EF4-FFF2-40B4-BE49-F238E27FC236}">
                  <a16:creationId xmlns="" xmlns:a16="http://schemas.microsoft.com/office/drawing/2014/main" id="{F032099B-FB70-499B-B9CB-2153679670AF}"/>
                </a:ext>
              </a:extLst>
            </p:cNvPr>
            <p:cNvSpPr/>
            <p:nvPr/>
          </p:nvSpPr>
          <p:spPr>
            <a:xfrm>
              <a:off x="2765510" y="3333906"/>
              <a:ext cx="723331" cy="63914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x1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="" xmlns:a16="http://schemas.microsoft.com/office/drawing/2014/main" id="{A46E03FE-0352-4BA0-94CE-3CBBC1232E6A}"/>
                </a:ext>
              </a:extLst>
            </p:cNvPr>
            <p:cNvSpPr/>
            <p:nvPr/>
          </p:nvSpPr>
          <p:spPr>
            <a:xfrm>
              <a:off x="4400441" y="3307012"/>
              <a:ext cx="723331" cy="63914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x2</a:t>
              </a: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="" xmlns:a16="http://schemas.microsoft.com/office/drawing/2014/main" id="{49347AD5-0329-4828-BEAA-DE17AA128978}"/>
                </a:ext>
              </a:extLst>
            </p:cNvPr>
            <p:cNvGrpSpPr/>
            <p:nvPr/>
          </p:nvGrpSpPr>
          <p:grpSpPr>
            <a:xfrm>
              <a:off x="6035372" y="3170957"/>
              <a:ext cx="839021" cy="802091"/>
              <a:chOff x="10512625" y="1744747"/>
              <a:chExt cx="839021" cy="802091"/>
            </a:xfrm>
          </p:grpSpPr>
          <p:sp>
            <p:nvSpPr>
              <p:cNvPr id="13" name="Oval 12">
                <a:extLst>
                  <a:ext uri="{FF2B5EF4-FFF2-40B4-BE49-F238E27FC236}">
                    <a16:creationId xmlns="" xmlns:a16="http://schemas.microsoft.com/office/drawing/2014/main" id="{06A6A055-73AA-42D4-81CF-0021044FCC67}"/>
                  </a:ext>
                </a:extLst>
              </p:cNvPr>
              <p:cNvSpPr/>
              <p:nvPr/>
            </p:nvSpPr>
            <p:spPr>
              <a:xfrm>
                <a:off x="10512625" y="1744747"/>
                <a:ext cx="839021" cy="802091"/>
              </a:xfrm>
              <a:prstGeom prst="ellips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4" name="Oval 13">
                <a:extLst>
                  <a:ext uri="{FF2B5EF4-FFF2-40B4-BE49-F238E27FC236}">
                    <a16:creationId xmlns="" xmlns:a16="http://schemas.microsoft.com/office/drawing/2014/main" id="{B0C94D19-8E49-4955-8F65-F2A1695D3938}"/>
                  </a:ext>
                </a:extLst>
              </p:cNvPr>
              <p:cNvSpPr/>
              <p:nvPr/>
            </p:nvSpPr>
            <p:spPr>
              <a:xfrm>
                <a:off x="10585318" y="1837172"/>
                <a:ext cx="681980" cy="628192"/>
              </a:xfrm>
              <a:prstGeom prst="ellips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x3</a:t>
                </a:r>
              </a:p>
            </p:txBody>
          </p:sp>
        </p:grpSp>
        <p:cxnSp>
          <p:nvCxnSpPr>
            <p:cNvPr id="15" name="Straight Arrow Connector 14">
              <a:extLst>
                <a:ext uri="{FF2B5EF4-FFF2-40B4-BE49-F238E27FC236}">
                  <a16:creationId xmlns="" xmlns:a16="http://schemas.microsoft.com/office/drawing/2014/main" id="{CF3E0BDF-810B-4F55-B7EA-0389F91D35A4}"/>
                </a:ext>
              </a:extLst>
            </p:cNvPr>
            <p:cNvCxnSpPr/>
            <p:nvPr/>
          </p:nvCxnSpPr>
          <p:spPr>
            <a:xfrm>
              <a:off x="1914097" y="3662038"/>
              <a:ext cx="839021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="" xmlns:a16="http://schemas.microsoft.com/office/drawing/2014/main" id="{21D2F5CA-FBDF-414C-838D-0A9B5FC4430A}"/>
                </a:ext>
              </a:extLst>
            </p:cNvPr>
            <p:cNvCxnSpPr/>
            <p:nvPr/>
          </p:nvCxnSpPr>
          <p:spPr>
            <a:xfrm>
              <a:off x="3534916" y="3639972"/>
              <a:ext cx="839021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="" xmlns:a16="http://schemas.microsoft.com/office/drawing/2014/main" id="{AA1CBC00-C8B1-44E9-8B2A-D774D4C8057E}"/>
                </a:ext>
              </a:extLst>
            </p:cNvPr>
            <p:cNvCxnSpPr/>
            <p:nvPr/>
          </p:nvCxnSpPr>
          <p:spPr>
            <a:xfrm>
              <a:off x="5169847" y="3639972"/>
              <a:ext cx="839021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="" xmlns:a16="http://schemas.microsoft.com/office/drawing/2014/main" id="{7FCBCE34-8F1D-4494-B37C-ABE96FD57666}"/>
                </a:ext>
              </a:extLst>
            </p:cNvPr>
            <p:cNvSpPr txBox="1"/>
            <p:nvPr/>
          </p:nvSpPr>
          <p:spPr>
            <a:xfrm>
              <a:off x="2089212" y="3191812"/>
              <a:ext cx="3117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="" xmlns:a16="http://schemas.microsoft.com/office/drawing/2014/main" id="{CC77AC81-ED5E-47AC-A744-914483C03C0C}"/>
                </a:ext>
              </a:extLst>
            </p:cNvPr>
            <p:cNvSpPr txBox="1"/>
            <p:nvPr/>
          </p:nvSpPr>
          <p:spPr>
            <a:xfrm>
              <a:off x="3697547" y="3212299"/>
              <a:ext cx="3117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="" xmlns:a16="http://schemas.microsoft.com/office/drawing/2014/main" id="{8E3BF89E-56F8-4EB4-AD82-9142DBD6A27C}"/>
                </a:ext>
              </a:extLst>
            </p:cNvPr>
            <p:cNvSpPr txBox="1"/>
            <p:nvPr/>
          </p:nvSpPr>
          <p:spPr>
            <a:xfrm>
              <a:off x="5358816" y="3172033"/>
              <a:ext cx="3117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="" xmlns:a16="http://schemas.microsoft.com/office/drawing/2014/main" id="{A9C0D6FE-F7E5-434B-BABF-3049C2B33D69}"/>
                </a:ext>
              </a:extLst>
            </p:cNvPr>
            <p:cNvGrpSpPr/>
            <p:nvPr/>
          </p:nvGrpSpPr>
          <p:grpSpPr>
            <a:xfrm rot="10370240">
              <a:off x="1185958" y="2890353"/>
              <a:ext cx="540585" cy="887105"/>
              <a:chOff x="1984650" y="2985447"/>
              <a:chExt cx="540585" cy="887105"/>
            </a:xfrm>
          </p:grpSpPr>
          <p:sp>
            <p:nvSpPr>
              <p:cNvPr id="22" name="Arc 21">
                <a:extLst>
                  <a:ext uri="{FF2B5EF4-FFF2-40B4-BE49-F238E27FC236}">
                    <a16:creationId xmlns="" xmlns:a16="http://schemas.microsoft.com/office/drawing/2014/main" id="{177ECB2A-EFAE-4453-93C0-A41752FCEBB3}"/>
                  </a:ext>
                </a:extLst>
              </p:cNvPr>
              <p:cNvSpPr/>
              <p:nvPr/>
            </p:nvSpPr>
            <p:spPr>
              <a:xfrm rot="11054314">
                <a:off x="1985101" y="2985447"/>
                <a:ext cx="540134" cy="887105"/>
              </a:xfrm>
              <a:prstGeom prst="arc">
                <a:avLst>
                  <a:gd name="adj1" fmla="val 10711483"/>
                  <a:gd name="adj2" fmla="val 0"/>
                </a:avLst>
              </a:prstGeom>
              <a:ln w="254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3" name="Straight Arrow Connector 22">
                <a:extLst>
                  <a:ext uri="{FF2B5EF4-FFF2-40B4-BE49-F238E27FC236}">
                    <a16:creationId xmlns="" xmlns:a16="http://schemas.microsoft.com/office/drawing/2014/main" id="{F995BD76-CADF-4733-ACDA-E945D5FED785}"/>
                  </a:ext>
                </a:extLst>
              </p:cNvPr>
              <p:cNvCxnSpPr/>
              <p:nvPr/>
            </p:nvCxnSpPr>
            <p:spPr>
              <a:xfrm rot="11054314">
                <a:off x="1984650" y="3331902"/>
                <a:ext cx="0" cy="95534"/>
              </a:xfrm>
              <a:prstGeom prst="straightConnector1">
                <a:avLst/>
              </a:prstGeom>
              <a:ln w="25400">
                <a:solidFill>
                  <a:schemeClr val="bg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4" name="TextBox 23">
              <a:extLst>
                <a:ext uri="{FF2B5EF4-FFF2-40B4-BE49-F238E27FC236}">
                  <a16:creationId xmlns="" xmlns:a16="http://schemas.microsoft.com/office/drawing/2014/main" id="{9FF65C04-6E36-440B-8DB3-19D0DD25E1D5}"/>
                </a:ext>
              </a:extLst>
            </p:cNvPr>
            <p:cNvSpPr txBox="1"/>
            <p:nvPr/>
          </p:nvSpPr>
          <p:spPr>
            <a:xfrm>
              <a:off x="1180516" y="2457327"/>
              <a:ext cx="3117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  <p:grpSp>
          <p:nvGrpSpPr>
            <p:cNvPr id="25" name="Group 24">
              <a:extLst>
                <a:ext uri="{FF2B5EF4-FFF2-40B4-BE49-F238E27FC236}">
                  <a16:creationId xmlns="" xmlns:a16="http://schemas.microsoft.com/office/drawing/2014/main" id="{95283B76-D290-48F4-882C-4B73696475FC}"/>
                </a:ext>
              </a:extLst>
            </p:cNvPr>
            <p:cNvGrpSpPr/>
            <p:nvPr/>
          </p:nvGrpSpPr>
          <p:grpSpPr>
            <a:xfrm rot="10370240">
              <a:off x="2836093" y="2873340"/>
              <a:ext cx="540585" cy="887105"/>
              <a:chOff x="1984650" y="2985447"/>
              <a:chExt cx="540585" cy="887105"/>
            </a:xfrm>
          </p:grpSpPr>
          <p:sp>
            <p:nvSpPr>
              <p:cNvPr id="26" name="Arc 25">
                <a:extLst>
                  <a:ext uri="{FF2B5EF4-FFF2-40B4-BE49-F238E27FC236}">
                    <a16:creationId xmlns="" xmlns:a16="http://schemas.microsoft.com/office/drawing/2014/main" id="{43BB7691-F2E4-46BF-906F-C4CCEF7D55D9}"/>
                  </a:ext>
                </a:extLst>
              </p:cNvPr>
              <p:cNvSpPr/>
              <p:nvPr/>
            </p:nvSpPr>
            <p:spPr>
              <a:xfrm rot="11054314">
                <a:off x="1985101" y="2985447"/>
                <a:ext cx="540134" cy="887105"/>
              </a:xfrm>
              <a:prstGeom prst="arc">
                <a:avLst>
                  <a:gd name="adj1" fmla="val 10711483"/>
                  <a:gd name="adj2" fmla="val 0"/>
                </a:avLst>
              </a:prstGeom>
              <a:ln w="254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7" name="Straight Arrow Connector 26">
                <a:extLst>
                  <a:ext uri="{FF2B5EF4-FFF2-40B4-BE49-F238E27FC236}">
                    <a16:creationId xmlns="" xmlns:a16="http://schemas.microsoft.com/office/drawing/2014/main" id="{7D03CC14-B08B-467F-A77E-2F642111408F}"/>
                  </a:ext>
                </a:extLst>
              </p:cNvPr>
              <p:cNvCxnSpPr/>
              <p:nvPr/>
            </p:nvCxnSpPr>
            <p:spPr>
              <a:xfrm rot="11054314">
                <a:off x="1984650" y="3331902"/>
                <a:ext cx="0" cy="95534"/>
              </a:xfrm>
              <a:prstGeom prst="straightConnector1">
                <a:avLst/>
              </a:prstGeom>
              <a:ln w="25400">
                <a:solidFill>
                  <a:schemeClr val="bg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8" name="TextBox 27">
              <a:extLst>
                <a:ext uri="{FF2B5EF4-FFF2-40B4-BE49-F238E27FC236}">
                  <a16:creationId xmlns="" xmlns:a16="http://schemas.microsoft.com/office/drawing/2014/main" id="{624BB0EE-6A5B-4B02-82D4-235316C7D61D}"/>
                </a:ext>
              </a:extLst>
            </p:cNvPr>
            <p:cNvSpPr txBox="1"/>
            <p:nvPr/>
          </p:nvSpPr>
          <p:spPr>
            <a:xfrm>
              <a:off x="2906302" y="2429960"/>
              <a:ext cx="3117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29" name="Arrow: Curved Down 28">
              <a:extLst>
                <a:ext uri="{FF2B5EF4-FFF2-40B4-BE49-F238E27FC236}">
                  <a16:creationId xmlns="" xmlns:a16="http://schemas.microsoft.com/office/drawing/2014/main" id="{941EC0F0-A84F-48C9-87D0-10CEDCA8CD61}"/>
                </a:ext>
              </a:extLst>
            </p:cNvPr>
            <p:cNvSpPr/>
            <p:nvPr/>
          </p:nvSpPr>
          <p:spPr>
            <a:xfrm rot="10800000">
              <a:off x="1659826" y="3958135"/>
              <a:ext cx="2908196" cy="256814"/>
            </a:xfrm>
            <a:prstGeom prst="curvedDownArrow">
              <a:avLst>
                <a:gd name="adj1" fmla="val 11615"/>
                <a:gd name="adj2" fmla="val 50000"/>
                <a:gd name="adj3" fmla="val 25000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="" xmlns:a16="http://schemas.microsoft.com/office/drawing/2014/main" id="{4ED6617C-6176-4E5A-97A8-7060AB131E68}"/>
                </a:ext>
              </a:extLst>
            </p:cNvPr>
            <p:cNvSpPr txBox="1"/>
            <p:nvPr/>
          </p:nvSpPr>
          <p:spPr>
            <a:xfrm>
              <a:off x="3306612" y="3828521"/>
              <a:ext cx="3117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31" name="Arrow: Curved Down 30">
              <a:extLst>
                <a:ext uri="{FF2B5EF4-FFF2-40B4-BE49-F238E27FC236}">
                  <a16:creationId xmlns="" xmlns:a16="http://schemas.microsoft.com/office/drawing/2014/main" id="{164BCBA0-BA6D-4830-A4C7-0273A3ACF31A}"/>
                </a:ext>
              </a:extLst>
            </p:cNvPr>
            <p:cNvSpPr/>
            <p:nvPr/>
          </p:nvSpPr>
          <p:spPr>
            <a:xfrm rot="10800000">
              <a:off x="5046391" y="3906855"/>
              <a:ext cx="1049609" cy="203318"/>
            </a:xfrm>
            <a:prstGeom prst="curvedDownArrow">
              <a:avLst>
                <a:gd name="adj1" fmla="val 11615"/>
                <a:gd name="adj2" fmla="val 50000"/>
                <a:gd name="adj3" fmla="val 25000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="" xmlns:a16="http://schemas.microsoft.com/office/drawing/2014/main" id="{D1B5F6D8-B479-4A51-8B85-C90FEF56C3B4}"/>
                </a:ext>
              </a:extLst>
            </p:cNvPr>
            <p:cNvSpPr txBox="1"/>
            <p:nvPr/>
          </p:nvSpPr>
          <p:spPr>
            <a:xfrm>
              <a:off x="5418452" y="3735245"/>
              <a:ext cx="3117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33" name="Arrow: Curved Up 32">
              <a:extLst>
                <a:ext uri="{FF2B5EF4-FFF2-40B4-BE49-F238E27FC236}">
                  <a16:creationId xmlns="" xmlns:a16="http://schemas.microsoft.com/office/drawing/2014/main" id="{883BCDAA-DF6B-4CE1-A7DF-CEA9CF6A7531}"/>
                </a:ext>
              </a:extLst>
            </p:cNvPr>
            <p:cNvSpPr/>
            <p:nvPr/>
          </p:nvSpPr>
          <p:spPr>
            <a:xfrm rot="10601653">
              <a:off x="3340408" y="2885646"/>
              <a:ext cx="2898449" cy="392783"/>
            </a:xfrm>
            <a:prstGeom prst="curvedUpArrow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="" xmlns:a16="http://schemas.microsoft.com/office/drawing/2014/main" id="{C5839F56-250D-47CC-877C-BC0884BC986F}"/>
                </a:ext>
              </a:extLst>
            </p:cNvPr>
            <p:cNvSpPr txBox="1"/>
            <p:nvPr/>
          </p:nvSpPr>
          <p:spPr>
            <a:xfrm>
              <a:off x="4689579" y="2463044"/>
              <a:ext cx="3117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</p:grpSp>
      <p:sp>
        <p:nvSpPr>
          <p:cNvPr id="35" name="Content Placeholder 2">
            <a:extLst>
              <a:ext uri="{FF2B5EF4-FFF2-40B4-BE49-F238E27FC236}">
                <a16:creationId xmlns="" xmlns:a16="http://schemas.microsoft.com/office/drawing/2014/main" id="{F97922DE-7782-4701-9A67-30B071D7E716}"/>
              </a:ext>
            </a:extLst>
          </p:cNvPr>
          <p:cNvSpPr txBox="1">
            <a:spLocks/>
          </p:cNvSpPr>
          <p:nvPr/>
        </p:nvSpPr>
        <p:spPr>
          <a:xfrm>
            <a:off x="5373287" y="786600"/>
            <a:ext cx="4565144" cy="52848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457200" indent="-457200">
              <a:buFont typeface="+mj-lt"/>
              <a:buAutoNum type="arabicPeriod" startAt="3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NDFA, backtracking is not always possible.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="" xmlns:a16="http://schemas.microsoft.com/office/drawing/2014/main" id="{B34E8F8C-167C-49A9-BB01-50B5E361FCC7}"/>
              </a:ext>
            </a:extLst>
          </p:cNvPr>
          <p:cNvSpPr txBox="1"/>
          <p:nvPr/>
        </p:nvSpPr>
        <p:spPr>
          <a:xfrm>
            <a:off x="6855759" y="0"/>
            <a:ext cx="1600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NDFA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="" xmlns:a16="http://schemas.microsoft.com/office/drawing/2014/main" id="{CD207AB7-FD5D-45DA-A74B-31F2314C78DA}"/>
              </a:ext>
            </a:extLst>
          </p:cNvPr>
          <p:cNvSpPr txBox="1"/>
          <p:nvPr/>
        </p:nvSpPr>
        <p:spPr>
          <a:xfrm>
            <a:off x="645082" y="1255327"/>
            <a:ext cx="476304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All words that ends with aba.</a:t>
            </a:r>
            <a:endParaRPr lang="en-US" sz="2200" dirty="0"/>
          </a:p>
        </p:txBody>
      </p:sp>
      <p:sp>
        <p:nvSpPr>
          <p:cNvPr id="38" name="TextBox 37">
            <a:extLst>
              <a:ext uri="{FF2B5EF4-FFF2-40B4-BE49-F238E27FC236}">
                <a16:creationId xmlns="" xmlns:a16="http://schemas.microsoft.com/office/drawing/2014/main" id="{F98FFA43-7618-4602-828A-9E9802F87148}"/>
              </a:ext>
            </a:extLst>
          </p:cNvPr>
          <p:cNvSpPr txBox="1"/>
          <p:nvPr/>
        </p:nvSpPr>
        <p:spPr>
          <a:xfrm>
            <a:off x="5793306" y="1470770"/>
            <a:ext cx="4763046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All words that ends with aba.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aabab</a:t>
            </a:r>
            <a:r>
              <a:rPr lang="en-US" sz="3600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en-US" sz="360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9" name="Oval 38">
            <a:extLst>
              <a:ext uri="{FF2B5EF4-FFF2-40B4-BE49-F238E27FC236}">
                <a16:creationId xmlns="" xmlns:a16="http://schemas.microsoft.com/office/drawing/2014/main" id="{C04827AB-DD9A-4ED6-85A1-B6B5EA8D74CE}"/>
              </a:ext>
            </a:extLst>
          </p:cNvPr>
          <p:cNvSpPr/>
          <p:nvPr/>
        </p:nvSpPr>
        <p:spPr>
          <a:xfrm>
            <a:off x="6486746" y="3963569"/>
            <a:ext cx="697006" cy="712694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x0</a:t>
            </a:r>
          </a:p>
        </p:txBody>
      </p:sp>
      <p:sp>
        <p:nvSpPr>
          <p:cNvPr id="40" name="Oval 39">
            <a:extLst>
              <a:ext uri="{FF2B5EF4-FFF2-40B4-BE49-F238E27FC236}">
                <a16:creationId xmlns="" xmlns:a16="http://schemas.microsoft.com/office/drawing/2014/main" id="{CA0A025A-21AA-4275-B28C-53DF98FBBD62}"/>
              </a:ext>
            </a:extLst>
          </p:cNvPr>
          <p:cNvSpPr/>
          <p:nvPr/>
        </p:nvSpPr>
        <p:spPr>
          <a:xfrm>
            <a:off x="7941653" y="3950317"/>
            <a:ext cx="697006" cy="712694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x1</a:t>
            </a:r>
          </a:p>
        </p:txBody>
      </p:sp>
      <p:sp>
        <p:nvSpPr>
          <p:cNvPr id="41" name="Oval 40">
            <a:extLst>
              <a:ext uri="{FF2B5EF4-FFF2-40B4-BE49-F238E27FC236}">
                <a16:creationId xmlns="" xmlns:a16="http://schemas.microsoft.com/office/drawing/2014/main" id="{232661FD-3231-48C1-A2C5-6DC574BF9AAE}"/>
              </a:ext>
            </a:extLst>
          </p:cNvPr>
          <p:cNvSpPr/>
          <p:nvPr/>
        </p:nvSpPr>
        <p:spPr>
          <a:xfrm>
            <a:off x="9411634" y="3937065"/>
            <a:ext cx="697006" cy="712694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x2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="" xmlns:a16="http://schemas.microsoft.com/office/drawing/2014/main" id="{C3D49387-B6BD-4C8C-8B72-4994398480E7}"/>
              </a:ext>
            </a:extLst>
          </p:cNvPr>
          <p:cNvCxnSpPr/>
          <p:nvPr/>
        </p:nvCxnSpPr>
        <p:spPr>
          <a:xfrm>
            <a:off x="5989984" y="4319916"/>
            <a:ext cx="48354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6" name="Group 45">
            <a:extLst>
              <a:ext uri="{FF2B5EF4-FFF2-40B4-BE49-F238E27FC236}">
                <a16:creationId xmlns="" xmlns:a16="http://schemas.microsoft.com/office/drawing/2014/main" id="{B1BA9B08-4F24-41E4-BBCB-8849CA4AEFEC}"/>
              </a:ext>
            </a:extLst>
          </p:cNvPr>
          <p:cNvGrpSpPr/>
          <p:nvPr/>
        </p:nvGrpSpPr>
        <p:grpSpPr>
          <a:xfrm>
            <a:off x="10899171" y="3875484"/>
            <a:ext cx="803344" cy="835855"/>
            <a:chOff x="5184749" y="4682255"/>
            <a:chExt cx="803344" cy="835855"/>
          </a:xfrm>
        </p:grpSpPr>
        <p:sp>
          <p:nvSpPr>
            <p:cNvPr id="44" name="Oval 43">
              <a:extLst>
                <a:ext uri="{FF2B5EF4-FFF2-40B4-BE49-F238E27FC236}">
                  <a16:creationId xmlns="" xmlns:a16="http://schemas.microsoft.com/office/drawing/2014/main" id="{8F9CDE5C-96FF-4D40-8E35-EF044400A0D6}"/>
                </a:ext>
              </a:extLst>
            </p:cNvPr>
            <p:cNvSpPr/>
            <p:nvPr/>
          </p:nvSpPr>
          <p:spPr>
            <a:xfrm>
              <a:off x="5184749" y="4682255"/>
              <a:ext cx="803344" cy="835855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5" name="Oval 44">
              <a:extLst>
                <a:ext uri="{FF2B5EF4-FFF2-40B4-BE49-F238E27FC236}">
                  <a16:creationId xmlns="" xmlns:a16="http://schemas.microsoft.com/office/drawing/2014/main" id="{3F768F3B-81D9-4CAF-AF6E-D9F095B52C67}"/>
                </a:ext>
              </a:extLst>
            </p:cNvPr>
            <p:cNvSpPr/>
            <p:nvPr/>
          </p:nvSpPr>
          <p:spPr>
            <a:xfrm>
              <a:off x="5241993" y="4745149"/>
              <a:ext cx="697006" cy="712694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x3</a:t>
              </a:r>
            </a:p>
          </p:txBody>
        </p:sp>
      </p:grpSp>
      <p:cxnSp>
        <p:nvCxnSpPr>
          <p:cNvPr id="47" name="Straight Arrow Connector 46">
            <a:extLst>
              <a:ext uri="{FF2B5EF4-FFF2-40B4-BE49-F238E27FC236}">
                <a16:creationId xmlns="" xmlns:a16="http://schemas.microsoft.com/office/drawing/2014/main" id="{70450A69-B259-4D3C-979E-FA0A2CFE43C1}"/>
              </a:ext>
            </a:extLst>
          </p:cNvPr>
          <p:cNvCxnSpPr/>
          <p:nvPr/>
        </p:nvCxnSpPr>
        <p:spPr>
          <a:xfrm>
            <a:off x="8665163" y="4293412"/>
            <a:ext cx="731983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="" xmlns:a16="http://schemas.microsoft.com/office/drawing/2014/main" id="{E925179F-02E3-405F-935C-31689533E68E}"/>
              </a:ext>
            </a:extLst>
          </p:cNvPr>
          <p:cNvCxnSpPr/>
          <p:nvPr/>
        </p:nvCxnSpPr>
        <p:spPr>
          <a:xfrm>
            <a:off x="7210256" y="4306664"/>
            <a:ext cx="731983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="" xmlns:a16="http://schemas.microsoft.com/office/drawing/2014/main" id="{30719D9B-9EE0-4E4C-9F3C-DAE990982348}"/>
              </a:ext>
            </a:extLst>
          </p:cNvPr>
          <p:cNvCxnSpPr/>
          <p:nvPr/>
        </p:nvCxnSpPr>
        <p:spPr>
          <a:xfrm>
            <a:off x="10157495" y="4286152"/>
            <a:ext cx="731983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="" xmlns:a16="http://schemas.microsoft.com/office/drawing/2014/main" id="{DAD597C4-9FEB-467A-9A23-42F3D849E432}"/>
              </a:ext>
            </a:extLst>
          </p:cNvPr>
          <p:cNvSpPr txBox="1"/>
          <p:nvPr/>
        </p:nvSpPr>
        <p:spPr>
          <a:xfrm>
            <a:off x="7323732" y="3858527"/>
            <a:ext cx="2719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="" xmlns:a16="http://schemas.microsoft.com/office/drawing/2014/main" id="{82B3A5BA-A96E-47A4-9B2A-8E43F1CDC92F}"/>
              </a:ext>
            </a:extLst>
          </p:cNvPr>
          <p:cNvSpPr txBox="1"/>
          <p:nvPr/>
        </p:nvSpPr>
        <p:spPr>
          <a:xfrm>
            <a:off x="10318246" y="3858251"/>
            <a:ext cx="2719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="" xmlns:a16="http://schemas.microsoft.com/office/drawing/2014/main" id="{466F6746-AB92-4F07-84C5-D86BB87BBBF0}"/>
              </a:ext>
            </a:extLst>
          </p:cNvPr>
          <p:cNvSpPr txBox="1"/>
          <p:nvPr/>
        </p:nvSpPr>
        <p:spPr>
          <a:xfrm>
            <a:off x="8813526" y="3875484"/>
            <a:ext cx="2719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55" name="Arc 54">
            <a:extLst>
              <a:ext uri="{FF2B5EF4-FFF2-40B4-BE49-F238E27FC236}">
                <a16:creationId xmlns="" xmlns:a16="http://schemas.microsoft.com/office/drawing/2014/main" id="{849113FD-8B93-49B4-9FEC-B701B2B20C6B}"/>
              </a:ext>
            </a:extLst>
          </p:cNvPr>
          <p:cNvSpPr/>
          <p:nvPr/>
        </p:nvSpPr>
        <p:spPr>
          <a:xfrm>
            <a:off x="6586120" y="3539957"/>
            <a:ext cx="471227" cy="887105"/>
          </a:xfrm>
          <a:prstGeom prst="arc">
            <a:avLst>
              <a:gd name="adj1" fmla="val 10711483"/>
              <a:gd name="adj2" fmla="val 0"/>
            </a:avLst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="" xmlns:a16="http://schemas.microsoft.com/office/drawing/2014/main" id="{FCEFE45B-CEA6-4498-8008-059E264EE9F2}"/>
              </a:ext>
            </a:extLst>
          </p:cNvPr>
          <p:cNvSpPr txBox="1"/>
          <p:nvPr/>
        </p:nvSpPr>
        <p:spPr>
          <a:xfrm>
            <a:off x="6548410" y="3109287"/>
            <a:ext cx="5657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a/b</a:t>
            </a:r>
          </a:p>
        </p:txBody>
      </p:sp>
      <p:grpSp>
        <p:nvGrpSpPr>
          <p:cNvPr id="57" name="Group 56">
            <a:extLst>
              <a:ext uri="{FF2B5EF4-FFF2-40B4-BE49-F238E27FC236}">
                <a16:creationId xmlns="" xmlns:a16="http://schemas.microsoft.com/office/drawing/2014/main" id="{8D3C0EC3-1E6A-436B-B406-38A549AC7268}"/>
              </a:ext>
            </a:extLst>
          </p:cNvPr>
          <p:cNvGrpSpPr/>
          <p:nvPr/>
        </p:nvGrpSpPr>
        <p:grpSpPr>
          <a:xfrm rot="18867934">
            <a:off x="5867045" y="3049583"/>
            <a:ext cx="369332" cy="1274995"/>
            <a:chOff x="7019630" y="2204898"/>
            <a:chExt cx="369332" cy="1005795"/>
          </a:xfrm>
        </p:grpSpPr>
        <p:sp>
          <p:nvSpPr>
            <p:cNvPr id="58" name="Arrow: Up 57">
              <a:extLst>
                <a:ext uri="{FF2B5EF4-FFF2-40B4-BE49-F238E27FC236}">
                  <a16:creationId xmlns="" xmlns:a16="http://schemas.microsoft.com/office/drawing/2014/main" id="{E93022AA-FD9E-4354-A4A7-DF5F91C23E96}"/>
                </a:ext>
              </a:extLst>
            </p:cNvPr>
            <p:cNvSpPr/>
            <p:nvPr/>
          </p:nvSpPr>
          <p:spPr>
            <a:xfrm rot="10800000">
              <a:off x="7044865" y="2571551"/>
              <a:ext cx="191070" cy="639142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9" name="TextBox 58">
              <a:extLst>
                <a:ext uri="{FF2B5EF4-FFF2-40B4-BE49-F238E27FC236}">
                  <a16:creationId xmlns="" xmlns:a16="http://schemas.microsoft.com/office/drawing/2014/main" id="{BAF74065-B1AC-4D5B-9613-553AA58A4378}"/>
                </a:ext>
              </a:extLst>
            </p:cNvPr>
            <p:cNvSpPr txBox="1"/>
            <p:nvPr/>
          </p:nvSpPr>
          <p:spPr>
            <a:xfrm rot="2732066">
              <a:off x="6923696" y="2300832"/>
              <a:ext cx="5611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CS-1</a:t>
              </a:r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="" xmlns:a16="http://schemas.microsoft.com/office/drawing/2014/main" id="{8B950F8F-FFA3-4241-B5C7-916C60ACD0E7}"/>
              </a:ext>
            </a:extLst>
          </p:cNvPr>
          <p:cNvGrpSpPr/>
          <p:nvPr/>
        </p:nvGrpSpPr>
        <p:grpSpPr>
          <a:xfrm>
            <a:off x="11063136" y="2672649"/>
            <a:ext cx="686790" cy="1161419"/>
            <a:chOff x="6884230" y="2294494"/>
            <a:chExt cx="686790" cy="916199"/>
          </a:xfrm>
        </p:grpSpPr>
        <p:sp>
          <p:nvSpPr>
            <p:cNvPr id="61" name="Arrow: Up 60">
              <a:extLst>
                <a:ext uri="{FF2B5EF4-FFF2-40B4-BE49-F238E27FC236}">
                  <a16:creationId xmlns="" xmlns:a16="http://schemas.microsoft.com/office/drawing/2014/main" id="{402C2F1D-AAC2-4767-9023-5775882DD153}"/>
                </a:ext>
              </a:extLst>
            </p:cNvPr>
            <p:cNvSpPr/>
            <p:nvPr/>
          </p:nvSpPr>
          <p:spPr>
            <a:xfrm rot="10800000">
              <a:off x="7044865" y="2571551"/>
              <a:ext cx="191070" cy="639142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2" name="TextBox 61">
              <a:extLst>
                <a:ext uri="{FF2B5EF4-FFF2-40B4-BE49-F238E27FC236}">
                  <a16:creationId xmlns="" xmlns:a16="http://schemas.microsoft.com/office/drawing/2014/main" id="{A8994434-A9F1-484A-9BEA-B32161E9CDBB}"/>
                </a:ext>
              </a:extLst>
            </p:cNvPr>
            <p:cNvSpPr txBox="1"/>
            <p:nvPr/>
          </p:nvSpPr>
          <p:spPr>
            <a:xfrm>
              <a:off x="6884230" y="2294494"/>
              <a:ext cx="686790" cy="2913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CS-4</a:t>
              </a: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="" xmlns:a16="http://schemas.microsoft.com/office/drawing/2014/main" id="{07B9E3CC-EBA9-4E72-B8CC-541722F510C8}"/>
              </a:ext>
            </a:extLst>
          </p:cNvPr>
          <p:cNvGrpSpPr/>
          <p:nvPr/>
        </p:nvGrpSpPr>
        <p:grpSpPr>
          <a:xfrm>
            <a:off x="7996702" y="2745162"/>
            <a:ext cx="686790" cy="1161419"/>
            <a:chOff x="6884230" y="2294494"/>
            <a:chExt cx="686790" cy="916199"/>
          </a:xfrm>
        </p:grpSpPr>
        <p:sp>
          <p:nvSpPr>
            <p:cNvPr id="64" name="Arrow: Up 63">
              <a:extLst>
                <a:ext uri="{FF2B5EF4-FFF2-40B4-BE49-F238E27FC236}">
                  <a16:creationId xmlns="" xmlns:a16="http://schemas.microsoft.com/office/drawing/2014/main" id="{4E6881D0-6EC2-45C3-A583-48C26D256CE2}"/>
                </a:ext>
              </a:extLst>
            </p:cNvPr>
            <p:cNvSpPr/>
            <p:nvPr/>
          </p:nvSpPr>
          <p:spPr>
            <a:xfrm rot="10800000">
              <a:off x="7044865" y="2571551"/>
              <a:ext cx="191070" cy="639142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5" name="TextBox 64">
              <a:extLst>
                <a:ext uri="{FF2B5EF4-FFF2-40B4-BE49-F238E27FC236}">
                  <a16:creationId xmlns="" xmlns:a16="http://schemas.microsoft.com/office/drawing/2014/main" id="{1BDF20A9-E0A8-4518-A70D-8D4591A9D06C}"/>
                </a:ext>
              </a:extLst>
            </p:cNvPr>
            <p:cNvSpPr txBox="1"/>
            <p:nvPr/>
          </p:nvSpPr>
          <p:spPr>
            <a:xfrm>
              <a:off x="6884230" y="2294494"/>
              <a:ext cx="686790" cy="2913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CS-5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281324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149AD530-6C2A-44EA-A853-BAC2857EF1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904" y="858414"/>
            <a:ext cx="4876872" cy="460871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Backtracking is allowed in DFA.</a:t>
            </a:r>
          </a:p>
          <a:p>
            <a:pPr marL="457200" indent="-457200">
              <a:buFont typeface="+mj-lt"/>
              <a:buAutoNum type="arabicPeriod" startAt="3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E7E875E4-C02C-44AD-9251-3D0D7CDF2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26D1DE06-0720-4572-BF37-034426FE1CD7}"/>
              </a:ext>
            </a:extLst>
          </p:cNvPr>
          <p:cNvSpPr txBox="1"/>
          <p:nvPr/>
        </p:nvSpPr>
        <p:spPr>
          <a:xfrm>
            <a:off x="1529669" y="33241"/>
            <a:ext cx="1600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DFA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="" xmlns:a16="http://schemas.microsoft.com/office/drawing/2014/main" id="{E13E761C-7E8C-455A-B10F-FF97B9D81750}"/>
              </a:ext>
            </a:extLst>
          </p:cNvPr>
          <p:cNvGrpSpPr/>
          <p:nvPr/>
        </p:nvGrpSpPr>
        <p:grpSpPr>
          <a:xfrm>
            <a:off x="389769" y="1761566"/>
            <a:ext cx="5586961" cy="1860226"/>
            <a:chOff x="470451" y="2429960"/>
            <a:chExt cx="6403942" cy="1860226"/>
          </a:xfrm>
        </p:grpSpPr>
        <p:sp>
          <p:nvSpPr>
            <p:cNvPr id="8" name="Oval 7">
              <a:extLst>
                <a:ext uri="{FF2B5EF4-FFF2-40B4-BE49-F238E27FC236}">
                  <a16:creationId xmlns="" xmlns:a16="http://schemas.microsoft.com/office/drawing/2014/main" id="{EDD2A173-63F4-4A80-96B9-79D5A7A31D1C}"/>
                </a:ext>
              </a:extLst>
            </p:cNvPr>
            <p:cNvSpPr/>
            <p:nvPr/>
          </p:nvSpPr>
          <p:spPr>
            <a:xfrm>
              <a:off x="1130579" y="3333906"/>
              <a:ext cx="723331" cy="63914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x0</a:t>
              </a: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="" xmlns:a16="http://schemas.microsoft.com/office/drawing/2014/main" id="{B167B8FE-18DA-468D-9F34-C584DF4C213E}"/>
                </a:ext>
              </a:extLst>
            </p:cNvPr>
            <p:cNvCxnSpPr/>
            <p:nvPr/>
          </p:nvCxnSpPr>
          <p:spPr>
            <a:xfrm>
              <a:off x="470451" y="3673964"/>
              <a:ext cx="573062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Oval 9">
              <a:extLst>
                <a:ext uri="{FF2B5EF4-FFF2-40B4-BE49-F238E27FC236}">
                  <a16:creationId xmlns="" xmlns:a16="http://schemas.microsoft.com/office/drawing/2014/main" id="{F032099B-FB70-499B-B9CB-2153679670AF}"/>
                </a:ext>
              </a:extLst>
            </p:cNvPr>
            <p:cNvSpPr/>
            <p:nvPr/>
          </p:nvSpPr>
          <p:spPr>
            <a:xfrm>
              <a:off x="2765510" y="3333906"/>
              <a:ext cx="723331" cy="63914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x1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="" xmlns:a16="http://schemas.microsoft.com/office/drawing/2014/main" id="{A46E03FE-0352-4BA0-94CE-3CBBC1232E6A}"/>
                </a:ext>
              </a:extLst>
            </p:cNvPr>
            <p:cNvSpPr/>
            <p:nvPr/>
          </p:nvSpPr>
          <p:spPr>
            <a:xfrm>
              <a:off x="4400441" y="3307012"/>
              <a:ext cx="723331" cy="63914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x2</a:t>
              </a: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="" xmlns:a16="http://schemas.microsoft.com/office/drawing/2014/main" id="{49347AD5-0329-4828-BEAA-DE17AA128978}"/>
                </a:ext>
              </a:extLst>
            </p:cNvPr>
            <p:cNvGrpSpPr/>
            <p:nvPr/>
          </p:nvGrpSpPr>
          <p:grpSpPr>
            <a:xfrm>
              <a:off x="6035372" y="3170957"/>
              <a:ext cx="839021" cy="802091"/>
              <a:chOff x="10512625" y="1744747"/>
              <a:chExt cx="839021" cy="802091"/>
            </a:xfrm>
          </p:grpSpPr>
          <p:sp>
            <p:nvSpPr>
              <p:cNvPr id="13" name="Oval 12">
                <a:extLst>
                  <a:ext uri="{FF2B5EF4-FFF2-40B4-BE49-F238E27FC236}">
                    <a16:creationId xmlns="" xmlns:a16="http://schemas.microsoft.com/office/drawing/2014/main" id="{06A6A055-73AA-42D4-81CF-0021044FCC67}"/>
                  </a:ext>
                </a:extLst>
              </p:cNvPr>
              <p:cNvSpPr/>
              <p:nvPr/>
            </p:nvSpPr>
            <p:spPr>
              <a:xfrm>
                <a:off x="10512625" y="1744747"/>
                <a:ext cx="839021" cy="802091"/>
              </a:xfrm>
              <a:prstGeom prst="ellips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4" name="Oval 13">
                <a:extLst>
                  <a:ext uri="{FF2B5EF4-FFF2-40B4-BE49-F238E27FC236}">
                    <a16:creationId xmlns="" xmlns:a16="http://schemas.microsoft.com/office/drawing/2014/main" id="{B0C94D19-8E49-4955-8F65-F2A1695D3938}"/>
                  </a:ext>
                </a:extLst>
              </p:cNvPr>
              <p:cNvSpPr/>
              <p:nvPr/>
            </p:nvSpPr>
            <p:spPr>
              <a:xfrm>
                <a:off x="10585318" y="1837172"/>
                <a:ext cx="681980" cy="628192"/>
              </a:xfrm>
              <a:prstGeom prst="ellips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x3</a:t>
                </a:r>
              </a:p>
            </p:txBody>
          </p:sp>
        </p:grpSp>
        <p:cxnSp>
          <p:nvCxnSpPr>
            <p:cNvPr id="15" name="Straight Arrow Connector 14">
              <a:extLst>
                <a:ext uri="{FF2B5EF4-FFF2-40B4-BE49-F238E27FC236}">
                  <a16:creationId xmlns="" xmlns:a16="http://schemas.microsoft.com/office/drawing/2014/main" id="{CF3E0BDF-810B-4F55-B7EA-0389F91D35A4}"/>
                </a:ext>
              </a:extLst>
            </p:cNvPr>
            <p:cNvCxnSpPr/>
            <p:nvPr/>
          </p:nvCxnSpPr>
          <p:spPr>
            <a:xfrm>
              <a:off x="1914097" y="3662038"/>
              <a:ext cx="839021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="" xmlns:a16="http://schemas.microsoft.com/office/drawing/2014/main" id="{21D2F5CA-FBDF-414C-838D-0A9B5FC4430A}"/>
                </a:ext>
              </a:extLst>
            </p:cNvPr>
            <p:cNvCxnSpPr/>
            <p:nvPr/>
          </p:nvCxnSpPr>
          <p:spPr>
            <a:xfrm>
              <a:off x="3534916" y="3639972"/>
              <a:ext cx="839021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="" xmlns:a16="http://schemas.microsoft.com/office/drawing/2014/main" id="{AA1CBC00-C8B1-44E9-8B2A-D774D4C8057E}"/>
                </a:ext>
              </a:extLst>
            </p:cNvPr>
            <p:cNvCxnSpPr/>
            <p:nvPr/>
          </p:nvCxnSpPr>
          <p:spPr>
            <a:xfrm>
              <a:off x="5169847" y="3639972"/>
              <a:ext cx="839021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="" xmlns:a16="http://schemas.microsoft.com/office/drawing/2014/main" id="{7FCBCE34-8F1D-4494-B37C-ABE96FD57666}"/>
                </a:ext>
              </a:extLst>
            </p:cNvPr>
            <p:cNvSpPr txBox="1"/>
            <p:nvPr/>
          </p:nvSpPr>
          <p:spPr>
            <a:xfrm>
              <a:off x="2089212" y="3191812"/>
              <a:ext cx="3117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="" xmlns:a16="http://schemas.microsoft.com/office/drawing/2014/main" id="{CC77AC81-ED5E-47AC-A744-914483C03C0C}"/>
                </a:ext>
              </a:extLst>
            </p:cNvPr>
            <p:cNvSpPr txBox="1"/>
            <p:nvPr/>
          </p:nvSpPr>
          <p:spPr>
            <a:xfrm>
              <a:off x="3697547" y="3212299"/>
              <a:ext cx="3117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="" xmlns:a16="http://schemas.microsoft.com/office/drawing/2014/main" id="{8E3BF89E-56F8-4EB4-AD82-9142DBD6A27C}"/>
                </a:ext>
              </a:extLst>
            </p:cNvPr>
            <p:cNvSpPr txBox="1"/>
            <p:nvPr/>
          </p:nvSpPr>
          <p:spPr>
            <a:xfrm>
              <a:off x="5358816" y="3172033"/>
              <a:ext cx="3117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="" xmlns:a16="http://schemas.microsoft.com/office/drawing/2014/main" id="{A9C0D6FE-F7E5-434B-BABF-3049C2B33D69}"/>
                </a:ext>
              </a:extLst>
            </p:cNvPr>
            <p:cNvGrpSpPr/>
            <p:nvPr/>
          </p:nvGrpSpPr>
          <p:grpSpPr>
            <a:xfrm rot="10370240">
              <a:off x="1185958" y="2890353"/>
              <a:ext cx="540585" cy="887105"/>
              <a:chOff x="1984650" y="2985447"/>
              <a:chExt cx="540585" cy="887105"/>
            </a:xfrm>
          </p:grpSpPr>
          <p:sp>
            <p:nvSpPr>
              <p:cNvPr id="22" name="Arc 21">
                <a:extLst>
                  <a:ext uri="{FF2B5EF4-FFF2-40B4-BE49-F238E27FC236}">
                    <a16:creationId xmlns="" xmlns:a16="http://schemas.microsoft.com/office/drawing/2014/main" id="{177ECB2A-EFAE-4453-93C0-A41752FCEBB3}"/>
                  </a:ext>
                </a:extLst>
              </p:cNvPr>
              <p:cNvSpPr/>
              <p:nvPr/>
            </p:nvSpPr>
            <p:spPr>
              <a:xfrm rot="11054314">
                <a:off x="1985101" y="2985447"/>
                <a:ext cx="540134" cy="887105"/>
              </a:xfrm>
              <a:prstGeom prst="arc">
                <a:avLst>
                  <a:gd name="adj1" fmla="val 10711483"/>
                  <a:gd name="adj2" fmla="val 0"/>
                </a:avLst>
              </a:prstGeom>
              <a:ln w="254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3" name="Straight Arrow Connector 22">
                <a:extLst>
                  <a:ext uri="{FF2B5EF4-FFF2-40B4-BE49-F238E27FC236}">
                    <a16:creationId xmlns="" xmlns:a16="http://schemas.microsoft.com/office/drawing/2014/main" id="{F995BD76-CADF-4733-ACDA-E945D5FED785}"/>
                  </a:ext>
                </a:extLst>
              </p:cNvPr>
              <p:cNvCxnSpPr/>
              <p:nvPr/>
            </p:nvCxnSpPr>
            <p:spPr>
              <a:xfrm rot="11054314">
                <a:off x="1984650" y="3331902"/>
                <a:ext cx="0" cy="95534"/>
              </a:xfrm>
              <a:prstGeom prst="straightConnector1">
                <a:avLst/>
              </a:prstGeom>
              <a:ln w="25400">
                <a:solidFill>
                  <a:schemeClr val="bg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4" name="TextBox 23">
              <a:extLst>
                <a:ext uri="{FF2B5EF4-FFF2-40B4-BE49-F238E27FC236}">
                  <a16:creationId xmlns="" xmlns:a16="http://schemas.microsoft.com/office/drawing/2014/main" id="{9FF65C04-6E36-440B-8DB3-19D0DD25E1D5}"/>
                </a:ext>
              </a:extLst>
            </p:cNvPr>
            <p:cNvSpPr txBox="1"/>
            <p:nvPr/>
          </p:nvSpPr>
          <p:spPr>
            <a:xfrm>
              <a:off x="1180516" y="2457327"/>
              <a:ext cx="3117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  <p:grpSp>
          <p:nvGrpSpPr>
            <p:cNvPr id="25" name="Group 24">
              <a:extLst>
                <a:ext uri="{FF2B5EF4-FFF2-40B4-BE49-F238E27FC236}">
                  <a16:creationId xmlns="" xmlns:a16="http://schemas.microsoft.com/office/drawing/2014/main" id="{95283B76-D290-48F4-882C-4B73696475FC}"/>
                </a:ext>
              </a:extLst>
            </p:cNvPr>
            <p:cNvGrpSpPr/>
            <p:nvPr/>
          </p:nvGrpSpPr>
          <p:grpSpPr>
            <a:xfrm rot="10370240">
              <a:off x="2836093" y="2873340"/>
              <a:ext cx="540585" cy="887105"/>
              <a:chOff x="1984650" y="2985447"/>
              <a:chExt cx="540585" cy="887105"/>
            </a:xfrm>
          </p:grpSpPr>
          <p:sp>
            <p:nvSpPr>
              <p:cNvPr id="26" name="Arc 25">
                <a:extLst>
                  <a:ext uri="{FF2B5EF4-FFF2-40B4-BE49-F238E27FC236}">
                    <a16:creationId xmlns="" xmlns:a16="http://schemas.microsoft.com/office/drawing/2014/main" id="{43BB7691-F2E4-46BF-906F-C4CCEF7D55D9}"/>
                  </a:ext>
                </a:extLst>
              </p:cNvPr>
              <p:cNvSpPr/>
              <p:nvPr/>
            </p:nvSpPr>
            <p:spPr>
              <a:xfrm rot="11054314">
                <a:off x="1985101" y="2985447"/>
                <a:ext cx="540134" cy="887105"/>
              </a:xfrm>
              <a:prstGeom prst="arc">
                <a:avLst>
                  <a:gd name="adj1" fmla="val 10711483"/>
                  <a:gd name="adj2" fmla="val 0"/>
                </a:avLst>
              </a:prstGeom>
              <a:ln w="254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7" name="Straight Arrow Connector 26">
                <a:extLst>
                  <a:ext uri="{FF2B5EF4-FFF2-40B4-BE49-F238E27FC236}">
                    <a16:creationId xmlns="" xmlns:a16="http://schemas.microsoft.com/office/drawing/2014/main" id="{7D03CC14-B08B-467F-A77E-2F642111408F}"/>
                  </a:ext>
                </a:extLst>
              </p:cNvPr>
              <p:cNvCxnSpPr/>
              <p:nvPr/>
            </p:nvCxnSpPr>
            <p:spPr>
              <a:xfrm rot="11054314">
                <a:off x="1984650" y="3331902"/>
                <a:ext cx="0" cy="95534"/>
              </a:xfrm>
              <a:prstGeom prst="straightConnector1">
                <a:avLst/>
              </a:prstGeom>
              <a:ln w="25400">
                <a:solidFill>
                  <a:schemeClr val="bg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8" name="TextBox 27">
              <a:extLst>
                <a:ext uri="{FF2B5EF4-FFF2-40B4-BE49-F238E27FC236}">
                  <a16:creationId xmlns="" xmlns:a16="http://schemas.microsoft.com/office/drawing/2014/main" id="{624BB0EE-6A5B-4B02-82D4-235316C7D61D}"/>
                </a:ext>
              </a:extLst>
            </p:cNvPr>
            <p:cNvSpPr txBox="1"/>
            <p:nvPr/>
          </p:nvSpPr>
          <p:spPr>
            <a:xfrm>
              <a:off x="2906302" y="2429960"/>
              <a:ext cx="3117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29" name="Arrow: Curved Down 28">
              <a:extLst>
                <a:ext uri="{FF2B5EF4-FFF2-40B4-BE49-F238E27FC236}">
                  <a16:creationId xmlns="" xmlns:a16="http://schemas.microsoft.com/office/drawing/2014/main" id="{941EC0F0-A84F-48C9-87D0-10CEDCA8CD61}"/>
                </a:ext>
              </a:extLst>
            </p:cNvPr>
            <p:cNvSpPr/>
            <p:nvPr/>
          </p:nvSpPr>
          <p:spPr>
            <a:xfrm rot="10800000">
              <a:off x="1659826" y="3958135"/>
              <a:ext cx="2908196" cy="256814"/>
            </a:xfrm>
            <a:prstGeom prst="curvedDownArrow">
              <a:avLst>
                <a:gd name="adj1" fmla="val 11615"/>
                <a:gd name="adj2" fmla="val 50000"/>
                <a:gd name="adj3" fmla="val 25000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="" xmlns:a16="http://schemas.microsoft.com/office/drawing/2014/main" id="{4ED6617C-6176-4E5A-97A8-7060AB131E68}"/>
                </a:ext>
              </a:extLst>
            </p:cNvPr>
            <p:cNvSpPr txBox="1"/>
            <p:nvPr/>
          </p:nvSpPr>
          <p:spPr>
            <a:xfrm>
              <a:off x="3306612" y="3828521"/>
              <a:ext cx="3117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31" name="Arrow: Curved Down 30">
              <a:extLst>
                <a:ext uri="{FF2B5EF4-FFF2-40B4-BE49-F238E27FC236}">
                  <a16:creationId xmlns="" xmlns:a16="http://schemas.microsoft.com/office/drawing/2014/main" id="{164BCBA0-BA6D-4830-A4C7-0273A3ACF31A}"/>
                </a:ext>
              </a:extLst>
            </p:cNvPr>
            <p:cNvSpPr/>
            <p:nvPr/>
          </p:nvSpPr>
          <p:spPr>
            <a:xfrm rot="10800000">
              <a:off x="5046391" y="3906855"/>
              <a:ext cx="1049609" cy="203318"/>
            </a:xfrm>
            <a:prstGeom prst="curvedDownArrow">
              <a:avLst>
                <a:gd name="adj1" fmla="val 11615"/>
                <a:gd name="adj2" fmla="val 50000"/>
                <a:gd name="adj3" fmla="val 25000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="" xmlns:a16="http://schemas.microsoft.com/office/drawing/2014/main" id="{D1B5F6D8-B479-4A51-8B85-C90FEF56C3B4}"/>
                </a:ext>
              </a:extLst>
            </p:cNvPr>
            <p:cNvSpPr txBox="1"/>
            <p:nvPr/>
          </p:nvSpPr>
          <p:spPr>
            <a:xfrm>
              <a:off x="5418452" y="3735245"/>
              <a:ext cx="3117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33" name="Arrow: Curved Up 32">
              <a:extLst>
                <a:ext uri="{FF2B5EF4-FFF2-40B4-BE49-F238E27FC236}">
                  <a16:creationId xmlns="" xmlns:a16="http://schemas.microsoft.com/office/drawing/2014/main" id="{883BCDAA-DF6B-4CE1-A7DF-CEA9CF6A7531}"/>
                </a:ext>
              </a:extLst>
            </p:cNvPr>
            <p:cNvSpPr/>
            <p:nvPr/>
          </p:nvSpPr>
          <p:spPr>
            <a:xfrm rot="10601653">
              <a:off x="3340408" y="2885646"/>
              <a:ext cx="2898449" cy="392783"/>
            </a:xfrm>
            <a:prstGeom prst="curvedUpArrow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="" xmlns:a16="http://schemas.microsoft.com/office/drawing/2014/main" id="{C5839F56-250D-47CC-877C-BC0884BC986F}"/>
                </a:ext>
              </a:extLst>
            </p:cNvPr>
            <p:cNvSpPr txBox="1"/>
            <p:nvPr/>
          </p:nvSpPr>
          <p:spPr>
            <a:xfrm>
              <a:off x="4689579" y="2463044"/>
              <a:ext cx="3117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</p:grpSp>
      <p:sp>
        <p:nvSpPr>
          <p:cNvPr id="35" name="Content Placeholder 2">
            <a:extLst>
              <a:ext uri="{FF2B5EF4-FFF2-40B4-BE49-F238E27FC236}">
                <a16:creationId xmlns="" xmlns:a16="http://schemas.microsoft.com/office/drawing/2014/main" id="{F97922DE-7782-4701-9A67-30B071D7E716}"/>
              </a:ext>
            </a:extLst>
          </p:cNvPr>
          <p:cNvSpPr txBox="1">
            <a:spLocks/>
          </p:cNvSpPr>
          <p:nvPr/>
        </p:nvSpPr>
        <p:spPr>
          <a:xfrm>
            <a:off x="5373287" y="786600"/>
            <a:ext cx="4565144" cy="52848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457200" indent="-457200">
              <a:buFont typeface="+mj-lt"/>
              <a:buAutoNum type="arabicPeriod" startAt="3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NDFA, backtracking is not always possible.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="" xmlns:a16="http://schemas.microsoft.com/office/drawing/2014/main" id="{B34E8F8C-167C-49A9-BB01-50B5E361FCC7}"/>
              </a:ext>
            </a:extLst>
          </p:cNvPr>
          <p:cNvSpPr txBox="1"/>
          <p:nvPr/>
        </p:nvSpPr>
        <p:spPr>
          <a:xfrm>
            <a:off x="6855759" y="0"/>
            <a:ext cx="1600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NDFA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="" xmlns:a16="http://schemas.microsoft.com/office/drawing/2014/main" id="{CD207AB7-FD5D-45DA-A74B-31F2314C78DA}"/>
              </a:ext>
            </a:extLst>
          </p:cNvPr>
          <p:cNvSpPr txBox="1"/>
          <p:nvPr/>
        </p:nvSpPr>
        <p:spPr>
          <a:xfrm>
            <a:off x="645082" y="1255327"/>
            <a:ext cx="476304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All words that ends with aba.</a:t>
            </a:r>
            <a:endParaRPr lang="en-US" sz="2200" dirty="0"/>
          </a:p>
        </p:txBody>
      </p:sp>
      <p:sp>
        <p:nvSpPr>
          <p:cNvPr id="38" name="TextBox 37">
            <a:extLst>
              <a:ext uri="{FF2B5EF4-FFF2-40B4-BE49-F238E27FC236}">
                <a16:creationId xmlns="" xmlns:a16="http://schemas.microsoft.com/office/drawing/2014/main" id="{F98FFA43-7618-4602-828A-9E9802F87148}"/>
              </a:ext>
            </a:extLst>
          </p:cNvPr>
          <p:cNvSpPr txBox="1"/>
          <p:nvPr/>
        </p:nvSpPr>
        <p:spPr>
          <a:xfrm>
            <a:off x="5793306" y="1470770"/>
            <a:ext cx="4763046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All words that ends with aba.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aababa</a:t>
            </a:r>
            <a:endParaRPr lang="en-US" sz="3600" dirty="0"/>
          </a:p>
        </p:txBody>
      </p:sp>
      <p:sp>
        <p:nvSpPr>
          <p:cNvPr id="39" name="Oval 38">
            <a:extLst>
              <a:ext uri="{FF2B5EF4-FFF2-40B4-BE49-F238E27FC236}">
                <a16:creationId xmlns="" xmlns:a16="http://schemas.microsoft.com/office/drawing/2014/main" id="{C04827AB-DD9A-4ED6-85A1-B6B5EA8D74CE}"/>
              </a:ext>
            </a:extLst>
          </p:cNvPr>
          <p:cNvSpPr/>
          <p:nvPr/>
        </p:nvSpPr>
        <p:spPr>
          <a:xfrm>
            <a:off x="6486746" y="3963569"/>
            <a:ext cx="697006" cy="712694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x0</a:t>
            </a:r>
          </a:p>
        </p:txBody>
      </p:sp>
      <p:sp>
        <p:nvSpPr>
          <p:cNvPr id="40" name="Oval 39">
            <a:extLst>
              <a:ext uri="{FF2B5EF4-FFF2-40B4-BE49-F238E27FC236}">
                <a16:creationId xmlns="" xmlns:a16="http://schemas.microsoft.com/office/drawing/2014/main" id="{CA0A025A-21AA-4275-B28C-53DF98FBBD62}"/>
              </a:ext>
            </a:extLst>
          </p:cNvPr>
          <p:cNvSpPr/>
          <p:nvPr/>
        </p:nvSpPr>
        <p:spPr>
          <a:xfrm>
            <a:off x="7941653" y="3950317"/>
            <a:ext cx="697006" cy="712694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x1</a:t>
            </a:r>
          </a:p>
        </p:txBody>
      </p:sp>
      <p:sp>
        <p:nvSpPr>
          <p:cNvPr id="41" name="Oval 40">
            <a:extLst>
              <a:ext uri="{FF2B5EF4-FFF2-40B4-BE49-F238E27FC236}">
                <a16:creationId xmlns="" xmlns:a16="http://schemas.microsoft.com/office/drawing/2014/main" id="{232661FD-3231-48C1-A2C5-6DC574BF9AAE}"/>
              </a:ext>
            </a:extLst>
          </p:cNvPr>
          <p:cNvSpPr/>
          <p:nvPr/>
        </p:nvSpPr>
        <p:spPr>
          <a:xfrm>
            <a:off x="9411634" y="3937065"/>
            <a:ext cx="697006" cy="712694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x2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="" xmlns:a16="http://schemas.microsoft.com/office/drawing/2014/main" id="{C3D49387-B6BD-4C8C-8B72-4994398480E7}"/>
              </a:ext>
            </a:extLst>
          </p:cNvPr>
          <p:cNvCxnSpPr/>
          <p:nvPr/>
        </p:nvCxnSpPr>
        <p:spPr>
          <a:xfrm>
            <a:off x="5989984" y="4319916"/>
            <a:ext cx="48354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6" name="Group 45">
            <a:extLst>
              <a:ext uri="{FF2B5EF4-FFF2-40B4-BE49-F238E27FC236}">
                <a16:creationId xmlns="" xmlns:a16="http://schemas.microsoft.com/office/drawing/2014/main" id="{B1BA9B08-4F24-41E4-BBCB-8849CA4AEFEC}"/>
              </a:ext>
            </a:extLst>
          </p:cNvPr>
          <p:cNvGrpSpPr/>
          <p:nvPr/>
        </p:nvGrpSpPr>
        <p:grpSpPr>
          <a:xfrm>
            <a:off x="10899171" y="3875484"/>
            <a:ext cx="803344" cy="835855"/>
            <a:chOff x="5184749" y="4682255"/>
            <a:chExt cx="803344" cy="835855"/>
          </a:xfrm>
        </p:grpSpPr>
        <p:sp>
          <p:nvSpPr>
            <p:cNvPr id="44" name="Oval 43">
              <a:extLst>
                <a:ext uri="{FF2B5EF4-FFF2-40B4-BE49-F238E27FC236}">
                  <a16:creationId xmlns="" xmlns:a16="http://schemas.microsoft.com/office/drawing/2014/main" id="{8F9CDE5C-96FF-4D40-8E35-EF044400A0D6}"/>
                </a:ext>
              </a:extLst>
            </p:cNvPr>
            <p:cNvSpPr/>
            <p:nvPr/>
          </p:nvSpPr>
          <p:spPr>
            <a:xfrm>
              <a:off x="5184749" y="4682255"/>
              <a:ext cx="803344" cy="835855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5" name="Oval 44">
              <a:extLst>
                <a:ext uri="{FF2B5EF4-FFF2-40B4-BE49-F238E27FC236}">
                  <a16:creationId xmlns="" xmlns:a16="http://schemas.microsoft.com/office/drawing/2014/main" id="{3F768F3B-81D9-4CAF-AF6E-D9F095B52C67}"/>
                </a:ext>
              </a:extLst>
            </p:cNvPr>
            <p:cNvSpPr/>
            <p:nvPr/>
          </p:nvSpPr>
          <p:spPr>
            <a:xfrm>
              <a:off x="5241993" y="4745149"/>
              <a:ext cx="697006" cy="712694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x3</a:t>
              </a:r>
            </a:p>
          </p:txBody>
        </p:sp>
      </p:grpSp>
      <p:cxnSp>
        <p:nvCxnSpPr>
          <p:cNvPr id="47" name="Straight Arrow Connector 46">
            <a:extLst>
              <a:ext uri="{FF2B5EF4-FFF2-40B4-BE49-F238E27FC236}">
                <a16:creationId xmlns="" xmlns:a16="http://schemas.microsoft.com/office/drawing/2014/main" id="{70450A69-B259-4D3C-979E-FA0A2CFE43C1}"/>
              </a:ext>
            </a:extLst>
          </p:cNvPr>
          <p:cNvCxnSpPr/>
          <p:nvPr/>
        </p:nvCxnSpPr>
        <p:spPr>
          <a:xfrm>
            <a:off x="8665163" y="4293412"/>
            <a:ext cx="731983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="" xmlns:a16="http://schemas.microsoft.com/office/drawing/2014/main" id="{E925179F-02E3-405F-935C-31689533E68E}"/>
              </a:ext>
            </a:extLst>
          </p:cNvPr>
          <p:cNvCxnSpPr/>
          <p:nvPr/>
        </p:nvCxnSpPr>
        <p:spPr>
          <a:xfrm>
            <a:off x="7210256" y="4306664"/>
            <a:ext cx="731983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="" xmlns:a16="http://schemas.microsoft.com/office/drawing/2014/main" id="{30719D9B-9EE0-4E4C-9F3C-DAE990982348}"/>
              </a:ext>
            </a:extLst>
          </p:cNvPr>
          <p:cNvCxnSpPr/>
          <p:nvPr/>
        </p:nvCxnSpPr>
        <p:spPr>
          <a:xfrm>
            <a:off x="10157495" y="4286152"/>
            <a:ext cx="731983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="" xmlns:a16="http://schemas.microsoft.com/office/drawing/2014/main" id="{DAD597C4-9FEB-467A-9A23-42F3D849E432}"/>
              </a:ext>
            </a:extLst>
          </p:cNvPr>
          <p:cNvSpPr txBox="1"/>
          <p:nvPr/>
        </p:nvSpPr>
        <p:spPr>
          <a:xfrm>
            <a:off x="7323732" y="3858527"/>
            <a:ext cx="2719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="" xmlns:a16="http://schemas.microsoft.com/office/drawing/2014/main" id="{82B3A5BA-A96E-47A4-9B2A-8E43F1CDC92F}"/>
              </a:ext>
            </a:extLst>
          </p:cNvPr>
          <p:cNvSpPr txBox="1"/>
          <p:nvPr/>
        </p:nvSpPr>
        <p:spPr>
          <a:xfrm>
            <a:off x="10318246" y="3858251"/>
            <a:ext cx="2719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="" xmlns:a16="http://schemas.microsoft.com/office/drawing/2014/main" id="{466F6746-AB92-4F07-84C5-D86BB87BBBF0}"/>
              </a:ext>
            </a:extLst>
          </p:cNvPr>
          <p:cNvSpPr txBox="1"/>
          <p:nvPr/>
        </p:nvSpPr>
        <p:spPr>
          <a:xfrm>
            <a:off x="8813526" y="3875484"/>
            <a:ext cx="2719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55" name="Arc 54">
            <a:extLst>
              <a:ext uri="{FF2B5EF4-FFF2-40B4-BE49-F238E27FC236}">
                <a16:creationId xmlns="" xmlns:a16="http://schemas.microsoft.com/office/drawing/2014/main" id="{849113FD-8B93-49B4-9FEC-B701B2B20C6B}"/>
              </a:ext>
            </a:extLst>
          </p:cNvPr>
          <p:cNvSpPr/>
          <p:nvPr/>
        </p:nvSpPr>
        <p:spPr>
          <a:xfrm>
            <a:off x="6586120" y="3539957"/>
            <a:ext cx="471227" cy="887105"/>
          </a:xfrm>
          <a:prstGeom prst="arc">
            <a:avLst>
              <a:gd name="adj1" fmla="val 10711483"/>
              <a:gd name="adj2" fmla="val 0"/>
            </a:avLst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="" xmlns:a16="http://schemas.microsoft.com/office/drawing/2014/main" id="{FCEFE45B-CEA6-4498-8008-059E264EE9F2}"/>
              </a:ext>
            </a:extLst>
          </p:cNvPr>
          <p:cNvSpPr txBox="1"/>
          <p:nvPr/>
        </p:nvSpPr>
        <p:spPr>
          <a:xfrm>
            <a:off x="6548410" y="3109287"/>
            <a:ext cx="5657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a/b</a:t>
            </a:r>
          </a:p>
        </p:txBody>
      </p:sp>
      <p:grpSp>
        <p:nvGrpSpPr>
          <p:cNvPr id="57" name="Group 56">
            <a:extLst>
              <a:ext uri="{FF2B5EF4-FFF2-40B4-BE49-F238E27FC236}">
                <a16:creationId xmlns="" xmlns:a16="http://schemas.microsoft.com/office/drawing/2014/main" id="{8D3C0EC3-1E6A-436B-B406-38A549AC7268}"/>
              </a:ext>
            </a:extLst>
          </p:cNvPr>
          <p:cNvGrpSpPr/>
          <p:nvPr/>
        </p:nvGrpSpPr>
        <p:grpSpPr>
          <a:xfrm rot="18867934">
            <a:off x="5867045" y="3049583"/>
            <a:ext cx="369332" cy="1274995"/>
            <a:chOff x="7019630" y="2204898"/>
            <a:chExt cx="369332" cy="1005795"/>
          </a:xfrm>
        </p:grpSpPr>
        <p:sp>
          <p:nvSpPr>
            <p:cNvPr id="58" name="Arrow: Up 57">
              <a:extLst>
                <a:ext uri="{FF2B5EF4-FFF2-40B4-BE49-F238E27FC236}">
                  <a16:creationId xmlns="" xmlns:a16="http://schemas.microsoft.com/office/drawing/2014/main" id="{E93022AA-FD9E-4354-A4A7-DF5F91C23E96}"/>
                </a:ext>
              </a:extLst>
            </p:cNvPr>
            <p:cNvSpPr/>
            <p:nvPr/>
          </p:nvSpPr>
          <p:spPr>
            <a:xfrm rot="10800000">
              <a:off x="7044865" y="2571551"/>
              <a:ext cx="191070" cy="639142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9" name="TextBox 58">
              <a:extLst>
                <a:ext uri="{FF2B5EF4-FFF2-40B4-BE49-F238E27FC236}">
                  <a16:creationId xmlns="" xmlns:a16="http://schemas.microsoft.com/office/drawing/2014/main" id="{BAF74065-B1AC-4D5B-9613-553AA58A4378}"/>
                </a:ext>
              </a:extLst>
            </p:cNvPr>
            <p:cNvSpPr txBox="1"/>
            <p:nvPr/>
          </p:nvSpPr>
          <p:spPr>
            <a:xfrm rot="2732066">
              <a:off x="6923696" y="2300832"/>
              <a:ext cx="5611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CS-1</a:t>
              </a:r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="" xmlns:a16="http://schemas.microsoft.com/office/drawing/2014/main" id="{8B950F8F-FFA3-4241-B5C7-916C60ACD0E7}"/>
              </a:ext>
            </a:extLst>
          </p:cNvPr>
          <p:cNvGrpSpPr/>
          <p:nvPr/>
        </p:nvGrpSpPr>
        <p:grpSpPr>
          <a:xfrm>
            <a:off x="11063136" y="2672649"/>
            <a:ext cx="686790" cy="1161419"/>
            <a:chOff x="6884230" y="2294494"/>
            <a:chExt cx="686790" cy="916199"/>
          </a:xfrm>
        </p:grpSpPr>
        <p:sp>
          <p:nvSpPr>
            <p:cNvPr id="61" name="Arrow: Up 60">
              <a:extLst>
                <a:ext uri="{FF2B5EF4-FFF2-40B4-BE49-F238E27FC236}">
                  <a16:creationId xmlns="" xmlns:a16="http://schemas.microsoft.com/office/drawing/2014/main" id="{402C2F1D-AAC2-4767-9023-5775882DD153}"/>
                </a:ext>
              </a:extLst>
            </p:cNvPr>
            <p:cNvSpPr/>
            <p:nvPr/>
          </p:nvSpPr>
          <p:spPr>
            <a:xfrm rot="10800000">
              <a:off x="7044865" y="2571551"/>
              <a:ext cx="191070" cy="639142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2" name="TextBox 61">
              <a:extLst>
                <a:ext uri="{FF2B5EF4-FFF2-40B4-BE49-F238E27FC236}">
                  <a16:creationId xmlns="" xmlns:a16="http://schemas.microsoft.com/office/drawing/2014/main" id="{A8994434-A9F1-484A-9BEA-B32161E9CDBB}"/>
                </a:ext>
              </a:extLst>
            </p:cNvPr>
            <p:cNvSpPr txBox="1"/>
            <p:nvPr/>
          </p:nvSpPr>
          <p:spPr>
            <a:xfrm>
              <a:off x="6884230" y="2294494"/>
              <a:ext cx="686790" cy="2913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CS-4</a:t>
              </a: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="" xmlns:a16="http://schemas.microsoft.com/office/drawing/2014/main" id="{07B9E3CC-EBA9-4E72-B8CC-541722F510C8}"/>
              </a:ext>
            </a:extLst>
          </p:cNvPr>
          <p:cNvGrpSpPr/>
          <p:nvPr/>
        </p:nvGrpSpPr>
        <p:grpSpPr>
          <a:xfrm>
            <a:off x="7996702" y="2745162"/>
            <a:ext cx="686790" cy="1161419"/>
            <a:chOff x="6884230" y="2294494"/>
            <a:chExt cx="686790" cy="916199"/>
          </a:xfrm>
        </p:grpSpPr>
        <p:sp>
          <p:nvSpPr>
            <p:cNvPr id="64" name="Arrow: Up 63">
              <a:extLst>
                <a:ext uri="{FF2B5EF4-FFF2-40B4-BE49-F238E27FC236}">
                  <a16:creationId xmlns="" xmlns:a16="http://schemas.microsoft.com/office/drawing/2014/main" id="{4E6881D0-6EC2-45C3-A583-48C26D256CE2}"/>
                </a:ext>
              </a:extLst>
            </p:cNvPr>
            <p:cNvSpPr/>
            <p:nvPr/>
          </p:nvSpPr>
          <p:spPr>
            <a:xfrm rot="10800000">
              <a:off x="7044865" y="2571551"/>
              <a:ext cx="191070" cy="639142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5" name="TextBox 64">
              <a:extLst>
                <a:ext uri="{FF2B5EF4-FFF2-40B4-BE49-F238E27FC236}">
                  <a16:creationId xmlns="" xmlns:a16="http://schemas.microsoft.com/office/drawing/2014/main" id="{1BDF20A9-E0A8-4518-A70D-8D4591A9D06C}"/>
                </a:ext>
              </a:extLst>
            </p:cNvPr>
            <p:cNvSpPr txBox="1"/>
            <p:nvPr/>
          </p:nvSpPr>
          <p:spPr>
            <a:xfrm>
              <a:off x="6884230" y="2294494"/>
              <a:ext cx="686790" cy="2913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CS-5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7BA79E70-45AA-4495-B00D-834016B1178D}"/>
              </a:ext>
            </a:extLst>
          </p:cNvPr>
          <p:cNvSpPr txBox="1"/>
          <p:nvPr/>
        </p:nvSpPr>
        <p:spPr>
          <a:xfrm>
            <a:off x="426877" y="4691855"/>
            <a:ext cx="43537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string is accepted by a DFA, if it transits to a final state.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="" xmlns:a16="http://schemas.microsoft.com/office/drawing/2014/main" id="{465E161D-A38C-4C9F-A676-744FADF56E2B}"/>
              </a:ext>
            </a:extLst>
          </p:cNvPr>
          <p:cNvSpPr txBox="1"/>
          <p:nvPr/>
        </p:nvSpPr>
        <p:spPr>
          <a:xfrm>
            <a:off x="6059108" y="4640035"/>
            <a:ext cx="613289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string is accepted by a NDFA, if at least one of all possible transitions ends in a final state.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="" xmlns:a16="http://schemas.microsoft.com/office/drawing/2014/main" id="{ECDBC9C1-3225-4F3E-8447-4F0A84EC95B5}"/>
              </a:ext>
            </a:extLst>
          </p:cNvPr>
          <p:cNvSpPr txBox="1"/>
          <p:nvPr/>
        </p:nvSpPr>
        <p:spPr>
          <a:xfrm>
            <a:off x="436755" y="5738401"/>
            <a:ext cx="43537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Requires more space.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="" xmlns:a16="http://schemas.microsoft.com/office/drawing/2014/main" id="{8C00A625-850E-4F6F-851F-CC2DE7AF9384}"/>
              </a:ext>
            </a:extLst>
          </p:cNvPr>
          <p:cNvSpPr txBox="1"/>
          <p:nvPr/>
        </p:nvSpPr>
        <p:spPr>
          <a:xfrm>
            <a:off x="6019039" y="5720528"/>
            <a:ext cx="61328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Requires less space.</a:t>
            </a:r>
          </a:p>
        </p:txBody>
      </p:sp>
    </p:spTree>
    <p:extLst>
      <p:ext uri="{BB962C8B-B14F-4D97-AF65-F5344CB8AC3E}">
        <p14:creationId xmlns:p14="http://schemas.microsoft.com/office/powerpoint/2010/main" val="769608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6" grpId="0"/>
      <p:bldP spid="67" grpId="0"/>
      <p:bldP spid="68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0B4A0631-DF62-4237-9AA4-89A76913D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36</a:t>
            </a:fld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="" xmlns:a16="http://schemas.microsoft.com/office/drawing/2014/main" id="{B270EF88-0041-4DA9-B7EC-C7755B983FFC}"/>
              </a:ext>
            </a:extLst>
          </p:cNvPr>
          <p:cNvGrpSpPr/>
          <p:nvPr/>
        </p:nvGrpSpPr>
        <p:grpSpPr>
          <a:xfrm>
            <a:off x="1670019" y="1049863"/>
            <a:ext cx="4956311" cy="1385911"/>
            <a:chOff x="5989984" y="3539957"/>
            <a:chExt cx="5712531" cy="1171382"/>
          </a:xfrm>
        </p:grpSpPr>
        <p:sp>
          <p:nvSpPr>
            <p:cNvPr id="5" name="Oval 4">
              <a:extLst>
                <a:ext uri="{FF2B5EF4-FFF2-40B4-BE49-F238E27FC236}">
                  <a16:creationId xmlns="" xmlns:a16="http://schemas.microsoft.com/office/drawing/2014/main" id="{D3637AE5-5439-4ED1-8ACE-F85086B502DF}"/>
                </a:ext>
              </a:extLst>
            </p:cNvPr>
            <p:cNvSpPr/>
            <p:nvPr/>
          </p:nvSpPr>
          <p:spPr>
            <a:xfrm>
              <a:off x="6486746" y="3963569"/>
              <a:ext cx="697006" cy="712694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x0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="" xmlns:a16="http://schemas.microsoft.com/office/drawing/2014/main" id="{EEA2B45F-D490-41CB-82B1-525D1B8CE5B1}"/>
                </a:ext>
              </a:extLst>
            </p:cNvPr>
            <p:cNvSpPr/>
            <p:nvPr/>
          </p:nvSpPr>
          <p:spPr>
            <a:xfrm>
              <a:off x="7941653" y="3950317"/>
              <a:ext cx="697006" cy="712694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x1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="" xmlns:a16="http://schemas.microsoft.com/office/drawing/2014/main" id="{1BE0B0FA-3F16-4163-A584-537E666D0E95}"/>
                </a:ext>
              </a:extLst>
            </p:cNvPr>
            <p:cNvSpPr/>
            <p:nvPr/>
          </p:nvSpPr>
          <p:spPr>
            <a:xfrm>
              <a:off x="9411634" y="3937065"/>
              <a:ext cx="697006" cy="712694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x2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="" xmlns:a16="http://schemas.microsoft.com/office/drawing/2014/main" id="{C508899E-7329-4A06-BCB2-8F56A3069688}"/>
                </a:ext>
              </a:extLst>
            </p:cNvPr>
            <p:cNvCxnSpPr/>
            <p:nvPr/>
          </p:nvCxnSpPr>
          <p:spPr>
            <a:xfrm>
              <a:off x="5989984" y="4319916"/>
              <a:ext cx="48354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" name="Group 8">
              <a:extLst>
                <a:ext uri="{FF2B5EF4-FFF2-40B4-BE49-F238E27FC236}">
                  <a16:creationId xmlns="" xmlns:a16="http://schemas.microsoft.com/office/drawing/2014/main" id="{44942177-63D9-45ED-ADF7-F2E00B5BD8B7}"/>
                </a:ext>
              </a:extLst>
            </p:cNvPr>
            <p:cNvGrpSpPr/>
            <p:nvPr/>
          </p:nvGrpSpPr>
          <p:grpSpPr>
            <a:xfrm>
              <a:off x="10899171" y="3875484"/>
              <a:ext cx="803344" cy="835855"/>
              <a:chOff x="5184749" y="4682255"/>
              <a:chExt cx="803344" cy="835855"/>
            </a:xfrm>
          </p:grpSpPr>
          <p:sp>
            <p:nvSpPr>
              <p:cNvPr id="10" name="Oval 9">
                <a:extLst>
                  <a:ext uri="{FF2B5EF4-FFF2-40B4-BE49-F238E27FC236}">
                    <a16:creationId xmlns="" xmlns:a16="http://schemas.microsoft.com/office/drawing/2014/main" id="{1A90B709-A6EF-4AF3-8058-50CF1F57FBE0}"/>
                  </a:ext>
                </a:extLst>
              </p:cNvPr>
              <p:cNvSpPr/>
              <p:nvPr/>
            </p:nvSpPr>
            <p:spPr>
              <a:xfrm>
                <a:off x="5184749" y="4682255"/>
                <a:ext cx="803344" cy="835855"/>
              </a:xfrm>
              <a:prstGeom prst="ellips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="" xmlns:a16="http://schemas.microsoft.com/office/drawing/2014/main" id="{6ABF4264-5FDC-4260-92AA-D1EB5134B145}"/>
                  </a:ext>
                </a:extLst>
              </p:cNvPr>
              <p:cNvSpPr/>
              <p:nvPr/>
            </p:nvSpPr>
            <p:spPr>
              <a:xfrm>
                <a:off x="5241993" y="4745149"/>
                <a:ext cx="697006" cy="712694"/>
              </a:xfrm>
              <a:prstGeom prst="ellips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x3</a:t>
                </a:r>
              </a:p>
            </p:txBody>
          </p:sp>
        </p:grpSp>
        <p:cxnSp>
          <p:nvCxnSpPr>
            <p:cNvPr id="12" name="Straight Arrow Connector 11">
              <a:extLst>
                <a:ext uri="{FF2B5EF4-FFF2-40B4-BE49-F238E27FC236}">
                  <a16:creationId xmlns="" xmlns:a16="http://schemas.microsoft.com/office/drawing/2014/main" id="{D5AA6CE2-3948-4433-BA7A-3127946350CC}"/>
                </a:ext>
              </a:extLst>
            </p:cNvPr>
            <p:cNvCxnSpPr/>
            <p:nvPr/>
          </p:nvCxnSpPr>
          <p:spPr>
            <a:xfrm>
              <a:off x="8665163" y="4293412"/>
              <a:ext cx="731983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="" xmlns:a16="http://schemas.microsoft.com/office/drawing/2014/main" id="{0D18B66A-683A-44C8-8EBD-EF875F593CAF}"/>
                </a:ext>
              </a:extLst>
            </p:cNvPr>
            <p:cNvCxnSpPr/>
            <p:nvPr/>
          </p:nvCxnSpPr>
          <p:spPr>
            <a:xfrm>
              <a:off x="7210256" y="4306664"/>
              <a:ext cx="731983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="" xmlns:a16="http://schemas.microsoft.com/office/drawing/2014/main" id="{DC6164EF-76F7-4005-BB38-89266147DAAE}"/>
                </a:ext>
              </a:extLst>
            </p:cNvPr>
            <p:cNvCxnSpPr/>
            <p:nvPr/>
          </p:nvCxnSpPr>
          <p:spPr>
            <a:xfrm>
              <a:off x="10157495" y="4286152"/>
              <a:ext cx="731983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="" xmlns:a16="http://schemas.microsoft.com/office/drawing/2014/main" id="{B21A631C-D2FE-49B1-8957-E25DAB8A74E9}"/>
                </a:ext>
              </a:extLst>
            </p:cNvPr>
            <p:cNvSpPr txBox="1"/>
            <p:nvPr/>
          </p:nvSpPr>
          <p:spPr>
            <a:xfrm>
              <a:off x="7323732" y="3858527"/>
              <a:ext cx="27195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="" xmlns:a16="http://schemas.microsoft.com/office/drawing/2014/main" id="{75F7D584-AAAD-45E0-87DE-22B8A5DFE1D6}"/>
                </a:ext>
              </a:extLst>
            </p:cNvPr>
            <p:cNvSpPr txBox="1"/>
            <p:nvPr/>
          </p:nvSpPr>
          <p:spPr>
            <a:xfrm>
              <a:off x="10318246" y="3858251"/>
              <a:ext cx="27195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="" xmlns:a16="http://schemas.microsoft.com/office/drawing/2014/main" id="{5400B237-E3F1-4BEA-A919-8B46A9BC728C}"/>
                </a:ext>
              </a:extLst>
            </p:cNvPr>
            <p:cNvSpPr txBox="1"/>
            <p:nvPr/>
          </p:nvSpPr>
          <p:spPr>
            <a:xfrm>
              <a:off x="8813526" y="3875484"/>
              <a:ext cx="27195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18" name="Arc 17">
              <a:extLst>
                <a:ext uri="{FF2B5EF4-FFF2-40B4-BE49-F238E27FC236}">
                  <a16:creationId xmlns="" xmlns:a16="http://schemas.microsoft.com/office/drawing/2014/main" id="{4A9D3AB6-108E-4062-B22C-A1FC38CC204A}"/>
                </a:ext>
              </a:extLst>
            </p:cNvPr>
            <p:cNvSpPr/>
            <p:nvPr/>
          </p:nvSpPr>
          <p:spPr>
            <a:xfrm>
              <a:off x="6586120" y="3539957"/>
              <a:ext cx="471227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="" xmlns:a16="http://schemas.microsoft.com/office/drawing/2014/main" id="{E375BB6D-D318-45C8-92CF-41E5277E6E10}"/>
              </a:ext>
            </a:extLst>
          </p:cNvPr>
          <p:cNvSpPr txBox="1"/>
          <p:nvPr/>
        </p:nvSpPr>
        <p:spPr>
          <a:xfrm>
            <a:off x="232635" y="231729"/>
            <a:ext cx="31599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Parse Tree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="" xmlns:a16="http://schemas.microsoft.com/office/drawing/2014/main" id="{B4F23E4F-F5BD-46EA-B169-ED7CDFBCDE79}"/>
              </a:ext>
            </a:extLst>
          </p:cNvPr>
          <p:cNvSpPr txBox="1"/>
          <p:nvPr/>
        </p:nvSpPr>
        <p:spPr>
          <a:xfrm>
            <a:off x="2480578" y="817654"/>
            <a:ext cx="5657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a/b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="" xmlns:a16="http://schemas.microsoft.com/office/drawing/2014/main" id="{17F6CF69-3BBF-4703-8C6C-B8210B1BBB54}"/>
              </a:ext>
            </a:extLst>
          </p:cNvPr>
          <p:cNvSpPr/>
          <p:nvPr/>
        </p:nvSpPr>
        <p:spPr>
          <a:xfrm>
            <a:off x="261828" y="935974"/>
            <a:ext cx="1037463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</a:p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aababa</a:t>
            </a:r>
            <a:endParaRPr lang="en-US" sz="2400" dirty="0"/>
          </a:p>
        </p:txBody>
      </p:sp>
      <p:sp>
        <p:nvSpPr>
          <p:cNvPr id="82" name="TextBox 81">
            <a:extLst>
              <a:ext uri="{FF2B5EF4-FFF2-40B4-BE49-F238E27FC236}">
                <a16:creationId xmlns="" xmlns:a16="http://schemas.microsoft.com/office/drawing/2014/main" id="{22D64BCA-E9BA-410D-A660-119A42B437AD}"/>
              </a:ext>
            </a:extLst>
          </p:cNvPr>
          <p:cNvSpPr txBox="1"/>
          <p:nvPr/>
        </p:nvSpPr>
        <p:spPr>
          <a:xfrm>
            <a:off x="8455224" y="0"/>
            <a:ext cx="8991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X0</a:t>
            </a:r>
            <a:endParaRPr lang="en-US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2475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/>
      <p:bldP spid="82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0B4A0631-DF62-4237-9AA4-89A76913D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37</a:t>
            </a:fld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="" xmlns:a16="http://schemas.microsoft.com/office/drawing/2014/main" id="{B270EF88-0041-4DA9-B7EC-C7755B983FFC}"/>
              </a:ext>
            </a:extLst>
          </p:cNvPr>
          <p:cNvGrpSpPr/>
          <p:nvPr/>
        </p:nvGrpSpPr>
        <p:grpSpPr>
          <a:xfrm>
            <a:off x="1670019" y="1049863"/>
            <a:ext cx="4956311" cy="1385911"/>
            <a:chOff x="5989984" y="3539957"/>
            <a:chExt cx="5712531" cy="1171382"/>
          </a:xfrm>
        </p:grpSpPr>
        <p:sp>
          <p:nvSpPr>
            <p:cNvPr id="5" name="Oval 4">
              <a:extLst>
                <a:ext uri="{FF2B5EF4-FFF2-40B4-BE49-F238E27FC236}">
                  <a16:creationId xmlns="" xmlns:a16="http://schemas.microsoft.com/office/drawing/2014/main" id="{D3637AE5-5439-4ED1-8ACE-F85086B502DF}"/>
                </a:ext>
              </a:extLst>
            </p:cNvPr>
            <p:cNvSpPr/>
            <p:nvPr/>
          </p:nvSpPr>
          <p:spPr>
            <a:xfrm>
              <a:off x="6486746" y="3963569"/>
              <a:ext cx="697006" cy="712694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x0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="" xmlns:a16="http://schemas.microsoft.com/office/drawing/2014/main" id="{EEA2B45F-D490-41CB-82B1-525D1B8CE5B1}"/>
                </a:ext>
              </a:extLst>
            </p:cNvPr>
            <p:cNvSpPr/>
            <p:nvPr/>
          </p:nvSpPr>
          <p:spPr>
            <a:xfrm>
              <a:off x="7941653" y="3950317"/>
              <a:ext cx="697006" cy="712694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x1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="" xmlns:a16="http://schemas.microsoft.com/office/drawing/2014/main" id="{1BE0B0FA-3F16-4163-A584-537E666D0E95}"/>
                </a:ext>
              </a:extLst>
            </p:cNvPr>
            <p:cNvSpPr/>
            <p:nvPr/>
          </p:nvSpPr>
          <p:spPr>
            <a:xfrm>
              <a:off x="9411634" y="3937065"/>
              <a:ext cx="697006" cy="712694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x2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="" xmlns:a16="http://schemas.microsoft.com/office/drawing/2014/main" id="{C508899E-7329-4A06-BCB2-8F56A3069688}"/>
                </a:ext>
              </a:extLst>
            </p:cNvPr>
            <p:cNvCxnSpPr/>
            <p:nvPr/>
          </p:nvCxnSpPr>
          <p:spPr>
            <a:xfrm>
              <a:off x="5989984" y="4319916"/>
              <a:ext cx="48354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" name="Group 8">
              <a:extLst>
                <a:ext uri="{FF2B5EF4-FFF2-40B4-BE49-F238E27FC236}">
                  <a16:creationId xmlns="" xmlns:a16="http://schemas.microsoft.com/office/drawing/2014/main" id="{44942177-63D9-45ED-ADF7-F2E00B5BD8B7}"/>
                </a:ext>
              </a:extLst>
            </p:cNvPr>
            <p:cNvGrpSpPr/>
            <p:nvPr/>
          </p:nvGrpSpPr>
          <p:grpSpPr>
            <a:xfrm>
              <a:off x="10899171" y="3875484"/>
              <a:ext cx="803344" cy="835855"/>
              <a:chOff x="5184749" y="4682255"/>
              <a:chExt cx="803344" cy="835855"/>
            </a:xfrm>
          </p:grpSpPr>
          <p:sp>
            <p:nvSpPr>
              <p:cNvPr id="10" name="Oval 9">
                <a:extLst>
                  <a:ext uri="{FF2B5EF4-FFF2-40B4-BE49-F238E27FC236}">
                    <a16:creationId xmlns="" xmlns:a16="http://schemas.microsoft.com/office/drawing/2014/main" id="{1A90B709-A6EF-4AF3-8058-50CF1F57FBE0}"/>
                  </a:ext>
                </a:extLst>
              </p:cNvPr>
              <p:cNvSpPr/>
              <p:nvPr/>
            </p:nvSpPr>
            <p:spPr>
              <a:xfrm>
                <a:off x="5184749" y="4682255"/>
                <a:ext cx="803344" cy="835855"/>
              </a:xfrm>
              <a:prstGeom prst="ellips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="" xmlns:a16="http://schemas.microsoft.com/office/drawing/2014/main" id="{6ABF4264-5FDC-4260-92AA-D1EB5134B145}"/>
                  </a:ext>
                </a:extLst>
              </p:cNvPr>
              <p:cNvSpPr/>
              <p:nvPr/>
            </p:nvSpPr>
            <p:spPr>
              <a:xfrm>
                <a:off x="5241993" y="4745149"/>
                <a:ext cx="697006" cy="712694"/>
              </a:xfrm>
              <a:prstGeom prst="ellips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x3</a:t>
                </a:r>
              </a:p>
            </p:txBody>
          </p:sp>
        </p:grpSp>
        <p:cxnSp>
          <p:nvCxnSpPr>
            <p:cNvPr id="12" name="Straight Arrow Connector 11">
              <a:extLst>
                <a:ext uri="{FF2B5EF4-FFF2-40B4-BE49-F238E27FC236}">
                  <a16:creationId xmlns="" xmlns:a16="http://schemas.microsoft.com/office/drawing/2014/main" id="{D5AA6CE2-3948-4433-BA7A-3127946350CC}"/>
                </a:ext>
              </a:extLst>
            </p:cNvPr>
            <p:cNvCxnSpPr/>
            <p:nvPr/>
          </p:nvCxnSpPr>
          <p:spPr>
            <a:xfrm>
              <a:off x="8665163" y="4293412"/>
              <a:ext cx="731983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="" xmlns:a16="http://schemas.microsoft.com/office/drawing/2014/main" id="{0D18B66A-683A-44C8-8EBD-EF875F593CAF}"/>
                </a:ext>
              </a:extLst>
            </p:cNvPr>
            <p:cNvCxnSpPr/>
            <p:nvPr/>
          </p:nvCxnSpPr>
          <p:spPr>
            <a:xfrm>
              <a:off x="7210256" y="4306664"/>
              <a:ext cx="731983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="" xmlns:a16="http://schemas.microsoft.com/office/drawing/2014/main" id="{DC6164EF-76F7-4005-BB38-89266147DAAE}"/>
                </a:ext>
              </a:extLst>
            </p:cNvPr>
            <p:cNvCxnSpPr/>
            <p:nvPr/>
          </p:nvCxnSpPr>
          <p:spPr>
            <a:xfrm>
              <a:off x="10157495" y="4286152"/>
              <a:ext cx="731983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="" xmlns:a16="http://schemas.microsoft.com/office/drawing/2014/main" id="{B21A631C-D2FE-49B1-8957-E25DAB8A74E9}"/>
                </a:ext>
              </a:extLst>
            </p:cNvPr>
            <p:cNvSpPr txBox="1"/>
            <p:nvPr/>
          </p:nvSpPr>
          <p:spPr>
            <a:xfrm>
              <a:off x="7323732" y="3858527"/>
              <a:ext cx="27195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="" xmlns:a16="http://schemas.microsoft.com/office/drawing/2014/main" id="{75F7D584-AAAD-45E0-87DE-22B8A5DFE1D6}"/>
                </a:ext>
              </a:extLst>
            </p:cNvPr>
            <p:cNvSpPr txBox="1"/>
            <p:nvPr/>
          </p:nvSpPr>
          <p:spPr>
            <a:xfrm>
              <a:off x="10318246" y="3858251"/>
              <a:ext cx="27195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="" xmlns:a16="http://schemas.microsoft.com/office/drawing/2014/main" id="{5400B237-E3F1-4BEA-A919-8B46A9BC728C}"/>
                </a:ext>
              </a:extLst>
            </p:cNvPr>
            <p:cNvSpPr txBox="1"/>
            <p:nvPr/>
          </p:nvSpPr>
          <p:spPr>
            <a:xfrm>
              <a:off x="8813526" y="3875484"/>
              <a:ext cx="27195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18" name="Arc 17">
              <a:extLst>
                <a:ext uri="{FF2B5EF4-FFF2-40B4-BE49-F238E27FC236}">
                  <a16:creationId xmlns="" xmlns:a16="http://schemas.microsoft.com/office/drawing/2014/main" id="{4A9D3AB6-108E-4062-B22C-A1FC38CC204A}"/>
                </a:ext>
              </a:extLst>
            </p:cNvPr>
            <p:cNvSpPr/>
            <p:nvPr/>
          </p:nvSpPr>
          <p:spPr>
            <a:xfrm>
              <a:off x="6586120" y="3539957"/>
              <a:ext cx="471227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="" xmlns:a16="http://schemas.microsoft.com/office/drawing/2014/main" id="{E375BB6D-D318-45C8-92CF-41E5277E6E10}"/>
              </a:ext>
            </a:extLst>
          </p:cNvPr>
          <p:cNvSpPr txBox="1"/>
          <p:nvPr/>
        </p:nvSpPr>
        <p:spPr>
          <a:xfrm>
            <a:off x="232635" y="231729"/>
            <a:ext cx="31599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Parse Tree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="" xmlns:a16="http://schemas.microsoft.com/office/drawing/2014/main" id="{B4F23E4F-F5BD-46EA-B169-ED7CDFBCDE79}"/>
              </a:ext>
            </a:extLst>
          </p:cNvPr>
          <p:cNvSpPr txBox="1"/>
          <p:nvPr/>
        </p:nvSpPr>
        <p:spPr>
          <a:xfrm>
            <a:off x="2480578" y="817654"/>
            <a:ext cx="5657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a/b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="" xmlns:a16="http://schemas.microsoft.com/office/drawing/2014/main" id="{17F6CF69-3BBF-4703-8C6C-B8210B1BBB54}"/>
              </a:ext>
            </a:extLst>
          </p:cNvPr>
          <p:cNvSpPr/>
          <p:nvPr/>
        </p:nvSpPr>
        <p:spPr>
          <a:xfrm>
            <a:off x="261828" y="935974"/>
            <a:ext cx="1037463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</a:p>
          <a:p>
            <a:r>
              <a:rPr lang="en-US" sz="2400" dirty="0" err="1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ababa</a:t>
            </a:r>
            <a:endParaRPr lang="en-US" sz="2400" dirty="0"/>
          </a:p>
        </p:txBody>
      </p:sp>
      <p:sp>
        <p:nvSpPr>
          <p:cNvPr id="82" name="TextBox 81">
            <a:extLst>
              <a:ext uri="{FF2B5EF4-FFF2-40B4-BE49-F238E27FC236}">
                <a16:creationId xmlns="" xmlns:a16="http://schemas.microsoft.com/office/drawing/2014/main" id="{22D64BCA-E9BA-410D-A660-119A42B437AD}"/>
              </a:ext>
            </a:extLst>
          </p:cNvPr>
          <p:cNvSpPr txBox="1"/>
          <p:nvPr/>
        </p:nvSpPr>
        <p:spPr>
          <a:xfrm>
            <a:off x="8455224" y="0"/>
            <a:ext cx="8991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X0</a:t>
            </a:r>
            <a:endParaRPr lang="en-US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="" xmlns:a16="http://schemas.microsoft.com/office/drawing/2014/main" id="{7000DB67-EC32-44EA-B088-0CB6594D2AC9}"/>
              </a:ext>
            </a:extLst>
          </p:cNvPr>
          <p:cNvSpPr txBox="1"/>
          <p:nvPr/>
        </p:nvSpPr>
        <p:spPr>
          <a:xfrm>
            <a:off x="8732210" y="-13447"/>
            <a:ext cx="8991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</a:p>
        </p:txBody>
      </p:sp>
    </p:spTree>
    <p:extLst>
      <p:ext uri="{BB962C8B-B14F-4D97-AF65-F5344CB8AC3E}">
        <p14:creationId xmlns:p14="http://schemas.microsoft.com/office/powerpoint/2010/main" val="3328713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0B4A0631-DF62-4237-9AA4-89A76913D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38</a:t>
            </a:fld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="" xmlns:a16="http://schemas.microsoft.com/office/drawing/2014/main" id="{B270EF88-0041-4DA9-B7EC-C7755B983FFC}"/>
              </a:ext>
            </a:extLst>
          </p:cNvPr>
          <p:cNvGrpSpPr/>
          <p:nvPr/>
        </p:nvGrpSpPr>
        <p:grpSpPr>
          <a:xfrm>
            <a:off x="1468313" y="409868"/>
            <a:ext cx="4956311" cy="1385911"/>
            <a:chOff x="5989984" y="3539957"/>
            <a:chExt cx="5712531" cy="1171382"/>
          </a:xfrm>
        </p:grpSpPr>
        <p:sp>
          <p:nvSpPr>
            <p:cNvPr id="5" name="Oval 4">
              <a:extLst>
                <a:ext uri="{FF2B5EF4-FFF2-40B4-BE49-F238E27FC236}">
                  <a16:creationId xmlns="" xmlns:a16="http://schemas.microsoft.com/office/drawing/2014/main" id="{D3637AE5-5439-4ED1-8ACE-F85086B502DF}"/>
                </a:ext>
              </a:extLst>
            </p:cNvPr>
            <p:cNvSpPr/>
            <p:nvPr/>
          </p:nvSpPr>
          <p:spPr>
            <a:xfrm>
              <a:off x="6486746" y="3963569"/>
              <a:ext cx="697006" cy="712694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x0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="" xmlns:a16="http://schemas.microsoft.com/office/drawing/2014/main" id="{EEA2B45F-D490-41CB-82B1-525D1B8CE5B1}"/>
                </a:ext>
              </a:extLst>
            </p:cNvPr>
            <p:cNvSpPr/>
            <p:nvPr/>
          </p:nvSpPr>
          <p:spPr>
            <a:xfrm>
              <a:off x="7941653" y="3950317"/>
              <a:ext cx="697006" cy="712694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x1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="" xmlns:a16="http://schemas.microsoft.com/office/drawing/2014/main" id="{1BE0B0FA-3F16-4163-A584-537E666D0E95}"/>
                </a:ext>
              </a:extLst>
            </p:cNvPr>
            <p:cNvSpPr/>
            <p:nvPr/>
          </p:nvSpPr>
          <p:spPr>
            <a:xfrm>
              <a:off x="9411634" y="3937065"/>
              <a:ext cx="697006" cy="712694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x2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="" xmlns:a16="http://schemas.microsoft.com/office/drawing/2014/main" id="{C508899E-7329-4A06-BCB2-8F56A3069688}"/>
                </a:ext>
              </a:extLst>
            </p:cNvPr>
            <p:cNvCxnSpPr/>
            <p:nvPr/>
          </p:nvCxnSpPr>
          <p:spPr>
            <a:xfrm>
              <a:off x="5989984" y="4319916"/>
              <a:ext cx="48354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" name="Group 8">
              <a:extLst>
                <a:ext uri="{FF2B5EF4-FFF2-40B4-BE49-F238E27FC236}">
                  <a16:creationId xmlns="" xmlns:a16="http://schemas.microsoft.com/office/drawing/2014/main" id="{44942177-63D9-45ED-ADF7-F2E00B5BD8B7}"/>
                </a:ext>
              </a:extLst>
            </p:cNvPr>
            <p:cNvGrpSpPr/>
            <p:nvPr/>
          </p:nvGrpSpPr>
          <p:grpSpPr>
            <a:xfrm>
              <a:off x="10899171" y="3875484"/>
              <a:ext cx="803344" cy="835855"/>
              <a:chOff x="5184749" y="4682255"/>
              <a:chExt cx="803344" cy="835855"/>
            </a:xfrm>
          </p:grpSpPr>
          <p:sp>
            <p:nvSpPr>
              <p:cNvPr id="10" name="Oval 9">
                <a:extLst>
                  <a:ext uri="{FF2B5EF4-FFF2-40B4-BE49-F238E27FC236}">
                    <a16:creationId xmlns="" xmlns:a16="http://schemas.microsoft.com/office/drawing/2014/main" id="{1A90B709-A6EF-4AF3-8058-50CF1F57FBE0}"/>
                  </a:ext>
                </a:extLst>
              </p:cNvPr>
              <p:cNvSpPr/>
              <p:nvPr/>
            </p:nvSpPr>
            <p:spPr>
              <a:xfrm>
                <a:off x="5184749" y="4682255"/>
                <a:ext cx="803344" cy="835855"/>
              </a:xfrm>
              <a:prstGeom prst="ellips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="" xmlns:a16="http://schemas.microsoft.com/office/drawing/2014/main" id="{6ABF4264-5FDC-4260-92AA-D1EB5134B145}"/>
                  </a:ext>
                </a:extLst>
              </p:cNvPr>
              <p:cNvSpPr/>
              <p:nvPr/>
            </p:nvSpPr>
            <p:spPr>
              <a:xfrm>
                <a:off x="5241993" y="4745149"/>
                <a:ext cx="697006" cy="712694"/>
              </a:xfrm>
              <a:prstGeom prst="ellips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x3</a:t>
                </a:r>
              </a:p>
            </p:txBody>
          </p:sp>
        </p:grpSp>
        <p:cxnSp>
          <p:nvCxnSpPr>
            <p:cNvPr id="12" name="Straight Arrow Connector 11">
              <a:extLst>
                <a:ext uri="{FF2B5EF4-FFF2-40B4-BE49-F238E27FC236}">
                  <a16:creationId xmlns="" xmlns:a16="http://schemas.microsoft.com/office/drawing/2014/main" id="{D5AA6CE2-3948-4433-BA7A-3127946350CC}"/>
                </a:ext>
              </a:extLst>
            </p:cNvPr>
            <p:cNvCxnSpPr/>
            <p:nvPr/>
          </p:nvCxnSpPr>
          <p:spPr>
            <a:xfrm>
              <a:off x="8665163" y="4293412"/>
              <a:ext cx="731983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="" xmlns:a16="http://schemas.microsoft.com/office/drawing/2014/main" id="{0D18B66A-683A-44C8-8EBD-EF875F593CAF}"/>
                </a:ext>
              </a:extLst>
            </p:cNvPr>
            <p:cNvCxnSpPr/>
            <p:nvPr/>
          </p:nvCxnSpPr>
          <p:spPr>
            <a:xfrm>
              <a:off x="7210256" y="4306664"/>
              <a:ext cx="731983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="" xmlns:a16="http://schemas.microsoft.com/office/drawing/2014/main" id="{DC6164EF-76F7-4005-BB38-89266147DAAE}"/>
                </a:ext>
              </a:extLst>
            </p:cNvPr>
            <p:cNvCxnSpPr/>
            <p:nvPr/>
          </p:nvCxnSpPr>
          <p:spPr>
            <a:xfrm>
              <a:off x="10157495" y="4286152"/>
              <a:ext cx="731983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="" xmlns:a16="http://schemas.microsoft.com/office/drawing/2014/main" id="{B21A631C-D2FE-49B1-8957-E25DAB8A74E9}"/>
                </a:ext>
              </a:extLst>
            </p:cNvPr>
            <p:cNvSpPr txBox="1"/>
            <p:nvPr/>
          </p:nvSpPr>
          <p:spPr>
            <a:xfrm>
              <a:off x="7323732" y="3858527"/>
              <a:ext cx="27195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="" xmlns:a16="http://schemas.microsoft.com/office/drawing/2014/main" id="{75F7D584-AAAD-45E0-87DE-22B8A5DFE1D6}"/>
                </a:ext>
              </a:extLst>
            </p:cNvPr>
            <p:cNvSpPr txBox="1"/>
            <p:nvPr/>
          </p:nvSpPr>
          <p:spPr>
            <a:xfrm>
              <a:off x="10318246" y="3858251"/>
              <a:ext cx="27195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="" xmlns:a16="http://schemas.microsoft.com/office/drawing/2014/main" id="{5400B237-E3F1-4BEA-A919-8B46A9BC728C}"/>
                </a:ext>
              </a:extLst>
            </p:cNvPr>
            <p:cNvSpPr txBox="1"/>
            <p:nvPr/>
          </p:nvSpPr>
          <p:spPr>
            <a:xfrm>
              <a:off x="8813526" y="3875484"/>
              <a:ext cx="27195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18" name="Arc 17">
              <a:extLst>
                <a:ext uri="{FF2B5EF4-FFF2-40B4-BE49-F238E27FC236}">
                  <a16:creationId xmlns="" xmlns:a16="http://schemas.microsoft.com/office/drawing/2014/main" id="{4A9D3AB6-108E-4062-B22C-A1FC38CC204A}"/>
                </a:ext>
              </a:extLst>
            </p:cNvPr>
            <p:cNvSpPr/>
            <p:nvPr/>
          </p:nvSpPr>
          <p:spPr>
            <a:xfrm>
              <a:off x="6586120" y="3539957"/>
              <a:ext cx="471227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="" xmlns:a16="http://schemas.microsoft.com/office/drawing/2014/main" id="{E375BB6D-D318-45C8-92CF-41E5277E6E10}"/>
              </a:ext>
            </a:extLst>
          </p:cNvPr>
          <p:cNvSpPr txBox="1"/>
          <p:nvPr/>
        </p:nvSpPr>
        <p:spPr>
          <a:xfrm>
            <a:off x="232635" y="231729"/>
            <a:ext cx="31599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Parse Tree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="" xmlns:a16="http://schemas.microsoft.com/office/drawing/2014/main" id="{B4F23E4F-F5BD-46EA-B169-ED7CDFBCDE79}"/>
              </a:ext>
            </a:extLst>
          </p:cNvPr>
          <p:cNvSpPr txBox="1"/>
          <p:nvPr/>
        </p:nvSpPr>
        <p:spPr>
          <a:xfrm>
            <a:off x="2342643" y="209872"/>
            <a:ext cx="5657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a/b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="" xmlns:a16="http://schemas.microsoft.com/office/drawing/2014/main" id="{17F6CF69-3BBF-4703-8C6C-B8210B1BBB54}"/>
              </a:ext>
            </a:extLst>
          </p:cNvPr>
          <p:cNvSpPr/>
          <p:nvPr/>
        </p:nvSpPr>
        <p:spPr>
          <a:xfrm>
            <a:off x="217787" y="1445144"/>
            <a:ext cx="1467068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</a:p>
          <a:p>
            <a:r>
              <a:rPr lang="en-US" sz="3600" dirty="0" err="1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ababa</a:t>
            </a:r>
            <a:endParaRPr lang="en-US" sz="3600" dirty="0"/>
          </a:p>
        </p:txBody>
      </p:sp>
      <p:sp>
        <p:nvSpPr>
          <p:cNvPr id="42" name="TextBox 41">
            <a:extLst>
              <a:ext uri="{FF2B5EF4-FFF2-40B4-BE49-F238E27FC236}">
                <a16:creationId xmlns="" xmlns:a16="http://schemas.microsoft.com/office/drawing/2014/main" id="{32E191C6-3FE0-46CC-8C30-B1F3B698A741}"/>
              </a:ext>
            </a:extLst>
          </p:cNvPr>
          <p:cNvSpPr txBox="1"/>
          <p:nvPr/>
        </p:nvSpPr>
        <p:spPr>
          <a:xfrm>
            <a:off x="9543171" y="999065"/>
            <a:ext cx="8635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X1</a:t>
            </a:r>
            <a:endParaRPr lang="en-US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="" xmlns:a16="http://schemas.microsoft.com/office/drawing/2014/main" id="{0954F32B-B50F-456A-876C-E19AD9DC5AB2}"/>
              </a:ext>
            </a:extLst>
          </p:cNvPr>
          <p:cNvCxnSpPr>
            <a:cxnSpLocks/>
          </p:cNvCxnSpPr>
          <p:nvPr/>
        </p:nvCxnSpPr>
        <p:spPr>
          <a:xfrm flipH="1">
            <a:off x="7808615" y="372270"/>
            <a:ext cx="774058" cy="745283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="" xmlns:a16="http://schemas.microsoft.com/office/drawing/2014/main" id="{8C0209D4-36BF-429F-BFAC-8EF113B0D14B}"/>
              </a:ext>
            </a:extLst>
          </p:cNvPr>
          <p:cNvCxnSpPr>
            <a:cxnSpLocks/>
          </p:cNvCxnSpPr>
          <p:nvPr/>
        </p:nvCxnSpPr>
        <p:spPr>
          <a:xfrm>
            <a:off x="8735488" y="372270"/>
            <a:ext cx="956602" cy="745283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="" xmlns:a16="http://schemas.microsoft.com/office/drawing/2014/main" id="{6F4F3F1E-134C-441A-8EFF-5241D4FF3060}"/>
              </a:ext>
            </a:extLst>
          </p:cNvPr>
          <p:cNvSpPr txBox="1"/>
          <p:nvPr/>
        </p:nvSpPr>
        <p:spPr>
          <a:xfrm>
            <a:off x="8455224" y="0"/>
            <a:ext cx="8991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X0  </a:t>
            </a:r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="" xmlns:a16="http://schemas.microsoft.com/office/drawing/2014/main" id="{9B070F29-9A7E-4F17-921F-8FB4B12F06AE}"/>
              </a:ext>
            </a:extLst>
          </p:cNvPr>
          <p:cNvSpPr txBox="1"/>
          <p:nvPr/>
        </p:nvSpPr>
        <p:spPr>
          <a:xfrm>
            <a:off x="7604474" y="1024453"/>
            <a:ext cx="4705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X0  </a:t>
            </a:r>
            <a:endParaRPr lang="en-US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968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44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0B4A0631-DF62-4237-9AA4-89A76913D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39</a:t>
            </a:fld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="" xmlns:a16="http://schemas.microsoft.com/office/drawing/2014/main" id="{B270EF88-0041-4DA9-B7EC-C7755B983FFC}"/>
              </a:ext>
            </a:extLst>
          </p:cNvPr>
          <p:cNvGrpSpPr/>
          <p:nvPr/>
        </p:nvGrpSpPr>
        <p:grpSpPr>
          <a:xfrm>
            <a:off x="1468313" y="409868"/>
            <a:ext cx="4956311" cy="1385911"/>
            <a:chOff x="5989984" y="3539957"/>
            <a:chExt cx="5712531" cy="1171382"/>
          </a:xfrm>
        </p:grpSpPr>
        <p:sp>
          <p:nvSpPr>
            <p:cNvPr id="5" name="Oval 4">
              <a:extLst>
                <a:ext uri="{FF2B5EF4-FFF2-40B4-BE49-F238E27FC236}">
                  <a16:creationId xmlns="" xmlns:a16="http://schemas.microsoft.com/office/drawing/2014/main" id="{D3637AE5-5439-4ED1-8ACE-F85086B502DF}"/>
                </a:ext>
              </a:extLst>
            </p:cNvPr>
            <p:cNvSpPr/>
            <p:nvPr/>
          </p:nvSpPr>
          <p:spPr>
            <a:xfrm>
              <a:off x="6486746" y="3963569"/>
              <a:ext cx="697006" cy="712694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x0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="" xmlns:a16="http://schemas.microsoft.com/office/drawing/2014/main" id="{EEA2B45F-D490-41CB-82B1-525D1B8CE5B1}"/>
                </a:ext>
              </a:extLst>
            </p:cNvPr>
            <p:cNvSpPr/>
            <p:nvPr/>
          </p:nvSpPr>
          <p:spPr>
            <a:xfrm>
              <a:off x="7941653" y="3950317"/>
              <a:ext cx="697006" cy="712694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x1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="" xmlns:a16="http://schemas.microsoft.com/office/drawing/2014/main" id="{1BE0B0FA-3F16-4163-A584-537E666D0E95}"/>
                </a:ext>
              </a:extLst>
            </p:cNvPr>
            <p:cNvSpPr/>
            <p:nvPr/>
          </p:nvSpPr>
          <p:spPr>
            <a:xfrm>
              <a:off x="9411634" y="3937065"/>
              <a:ext cx="697006" cy="712694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x2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="" xmlns:a16="http://schemas.microsoft.com/office/drawing/2014/main" id="{C508899E-7329-4A06-BCB2-8F56A3069688}"/>
                </a:ext>
              </a:extLst>
            </p:cNvPr>
            <p:cNvCxnSpPr/>
            <p:nvPr/>
          </p:nvCxnSpPr>
          <p:spPr>
            <a:xfrm>
              <a:off x="5989984" y="4319916"/>
              <a:ext cx="48354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" name="Group 8">
              <a:extLst>
                <a:ext uri="{FF2B5EF4-FFF2-40B4-BE49-F238E27FC236}">
                  <a16:creationId xmlns="" xmlns:a16="http://schemas.microsoft.com/office/drawing/2014/main" id="{44942177-63D9-45ED-ADF7-F2E00B5BD8B7}"/>
                </a:ext>
              </a:extLst>
            </p:cNvPr>
            <p:cNvGrpSpPr/>
            <p:nvPr/>
          </p:nvGrpSpPr>
          <p:grpSpPr>
            <a:xfrm>
              <a:off x="10899171" y="3875484"/>
              <a:ext cx="803344" cy="835855"/>
              <a:chOff x="5184749" y="4682255"/>
              <a:chExt cx="803344" cy="835855"/>
            </a:xfrm>
          </p:grpSpPr>
          <p:sp>
            <p:nvSpPr>
              <p:cNvPr id="10" name="Oval 9">
                <a:extLst>
                  <a:ext uri="{FF2B5EF4-FFF2-40B4-BE49-F238E27FC236}">
                    <a16:creationId xmlns="" xmlns:a16="http://schemas.microsoft.com/office/drawing/2014/main" id="{1A90B709-A6EF-4AF3-8058-50CF1F57FBE0}"/>
                  </a:ext>
                </a:extLst>
              </p:cNvPr>
              <p:cNvSpPr/>
              <p:nvPr/>
            </p:nvSpPr>
            <p:spPr>
              <a:xfrm>
                <a:off x="5184749" y="4682255"/>
                <a:ext cx="803344" cy="835855"/>
              </a:xfrm>
              <a:prstGeom prst="ellips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="" xmlns:a16="http://schemas.microsoft.com/office/drawing/2014/main" id="{6ABF4264-5FDC-4260-92AA-D1EB5134B145}"/>
                  </a:ext>
                </a:extLst>
              </p:cNvPr>
              <p:cNvSpPr/>
              <p:nvPr/>
            </p:nvSpPr>
            <p:spPr>
              <a:xfrm>
                <a:off x="5241993" y="4745149"/>
                <a:ext cx="697006" cy="712694"/>
              </a:xfrm>
              <a:prstGeom prst="ellips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x3</a:t>
                </a:r>
              </a:p>
            </p:txBody>
          </p:sp>
        </p:grpSp>
        <p:cxnSp>
          <p:nvCxnSpPr>
            <p:cNvPr id="12" name="Straight Arrow Connector 11">
              <a:extLst>
                <a:ext uri="{FF2B5EF4-FFF2-40B4-BE49-F238E27FC236}">
                  <a16:creationId xmlns="" xmlns:a16="http://schemas.microsoft.com/office/drawing/2014/main" id="{D5AA6CE2-3948-4433-BA7A-3127946350CC}"/>
                </a:ext>
              </a:extLst>
            </p:cNvPr>
            <p:cNvCxnSpPr/>
            <p:nvPr/>
          </p:nvCxnSpPr>
          <p:spPr>
            <a:xfrm>
              <a:off x="8665163" y="4293412"/>
              <a:ext cx="731983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="" xmlns:a16="http://schemas.microsoft.com/office/drawing/2014/main" id="{0D18B66A-683A-44C8-8EBD-EF875F593CAF}"/>
                </a:ext>
              </a:extLst>
            </p:cNvPr>
            <p:cNvCxnSpPr/>
            <p:nvPr/>
          </p:nvCxnSpPr>
          <p:spPr>
            <a:xfrm>
              <a:off x="7210256" y="4306664"/>
              <a:ext cx="731983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="" xmlns:a16="http://schemas.microsoft.com/office/drawing/2014/main" id="{DC6164EF-76F7-4005-BB38-89266147DAAE}"/>
                </a:ext>
              </a:extLst>
            </p:cNvPr>
            <p:cNvCxnSpPr/>
            <p:nvPr/>
          </p:nvCxnSpPr>
          <p:spPr>
            <a:xfrm>
              <a:off x="10157495" y="4286152"/>
              <a:ext cx="731983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="" xmlns:a16="http://schemas.microsoft.com/office/drawing/2014/main" id="{B21A631C-D2FE-49B1-8957-E25DAB8A74E9}"/>
                </a:ext>
              </a:extLst>
            </p:cNvPr>
            <p:cNvSpPr txBox="1"/>
            <p:nvPr/>
          </p:nvSpPr>
          <p:spPr>
            <a:xfrm>
              <a:off x="7323732" y="3858527"/>
              <a:ext cx="27195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="" xmlns:a16="http://schemas.microsoft.com/office/drawing/2014/main" id="{75F7D584-AAAD-45E0-87DE-22B8A5DFE1D6}"/>
                </a:ext>
              </a:extLst>
            </p:cNvPr>
            <p:cNvSpPr txBox="1"/>
            <p:nvPr/>
          </p:nvSpPr>
          <p:spPr>
            <a:xfrm>
              <a:off x="10318246" y="3858251"/>
              <a:ext cx="27195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="" xmlns:a16="http://schemas.microsoft.com/office/drawing/2014/main" id="{5400B237-E3F1-4BEA-A919-8B46A9BC728C}"/>
                </a:ext>
              </a:extLst>
            </p:cNvPr>
            <p:cNvSpPr txBox="1"/>
            <p:nvPr/>
          </p:nvSpPr>
          <p:spPr>
            <a:xfrm>
              <a:off x="8813526" y="3875484"/>
              <a:ext cx="27195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18" name="Arc 17">
              <a:extLst>
                <a:ext uri="{FF2B5EF4-FFF2-40B4-BE49-F238E27FC236}">
                  <a16:creationId xmlns="" xmlns:a16="http://schemas.microsoft.com/office/drawing/2014/main" id="{4A9D3AB6-108E-4062-B22C-A1FC38CC204A}"/>
                </a:ext>
              </a:extLst>
            </p:cNvPr>
            <p:cNvSpPr/>
            <p:nvPr/>
          </p:nvSpPr>
          <p:spPr>
            <a:xfrm>
              <a:off x="6586120" y="3539957"/>
              <a:ext cx="471227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="" xmlns:a16="http://schemas.microsoft.com/office/drawing/2014/main" id="{E375BB6D-D318-45C8-92CF-41E5277E6E10}"/>
              </a:ext>
            </a:extLst>
          </p:cNvPr>
          <p:cNvSpPr txBox="1"/>
          <p:nvPr/>
        </p:nvSpPr>
        <p:spPr>
          <a:xfrm>
            <a:off x="232635" y="231729"/>
            <a:ext cx="31599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Parse Tree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="" xmlns:a16="http://schemas.microsoft.com/office/drawing/2014/main" id="{B4F23E4F-F5BD-46EA-B169-ED7CDFBCDE79}"/>
              </a:ext>
            </a:extLst>
          </p:cNvPr>
          <p:cNvSpPr txBox="1"/>
          <p:nvPr/>
        </p:nvSpPr>
        <p:spPr>
          <a:xfrm>
            <a:off x="2342643" y="209872"/>
            <a:ext cx="5657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a/b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="" xmlns:a16="http://schemas.microsoft.com/office/drawing/2014/main" id="{17F6CF69-3BBF-4703-8C6C-B8210B1BBB54}"/>
              </a:ext>
            </a:extLst>
          </p:cNvPr>
          <p:cNvSpPr/>
          <p:nvPr/>
        </p:nvSpPr>
        <p:spPr>
          <a:xfrm>
            <a:off x="217787" y="1445144"/>
            <a:ext cx="1467068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</a:p>
          <a:p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3600" dirty="0" err="1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baba</a:t>
            </a:r>
            <a:endParaRPr lang="en-US" sz="3600" dirty="0"/>
          </a:p>
        </p:txBody>
      </p:sp>
      <p:sp>
        <p:nvSpPr>
          <p:cNvPr id="42" name="TextBox 41">
            <a:extLst>
              <a:ext uri="{FF2B5EF4-FFF2-40B4-BE49-F238E27FC236}">
                <a16:creationId xmlns="" xmlns:a16="http://schemas.microsoft.com/office/drawing/2014/main" id="{32E191C6-3FE0-46CC-8C30-B1F3B698A741}"/>
              </a:ext>
            </a:extLst>
          </p:cNvPr>
          <p:cNvSpPr txBox="1"/>
          <p:nvPr/>
        </p:nvSpPr>
        <p:spPr>
          <a:xfrm>
            <a:off x="9543171" y="999065"/>
            <a:ext cx="8635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X1</a:t>
            </a:r>
            <a:endParaRPr lang="en-US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="" xmlns:a16="http://schemas.microsoft.com/office/drawing/2014/main" id="{0954F32B-B50F-456A-876C-E19AD9DC5AB2}"/>
              </a:ext>
            </a:extLst>
          </p:cNvPr>
          <p:cNvCxnSpPr>
            <a:cxnSpLocks/>
          </p:cNvCxnSpPr>
          <p:nvPr/>
        </p:nvCxnSpPr>
        <p:spPr>
          <a:xfrm flipH="1">
            <a:off x="7808615" y="372270"/>
            <a:ext cx="774058" cy="745283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="" xmlns:a16="http://schemas.microsoft.com/office/drawing/2014/main" id="{8C0209D4-36BF-429F-BFAC-8EF113B0D14B}"/>
              </a:ext>
            </a:extLst>
          </p:cNvPr>
          <p:cNvCxnSpPr>
            <a:cxnSpLocks/>
          </p:cNvCxnSpPr>
          <p:nvPr/>
        </p:nvCxnSpPr>
        <p:spPr>
          <a:xfrm>
            <a:off x="8735488" y="372270"/>
            <a:ext cx="956602" cy="745283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="" xmlns:a16="http://schemas.microsoft.com/office/drawing/2014/main" id="{6F4F3F1E-134C-441A-8EFF-5241D4FF3060}"/>
              </a:ext>
            </a:extLst>
          </p:cNvPr>
          <p:cNvSpPr txBox="1"/>
          <p:nvPr/>
        </p:nvSpPr>
        <p:spPr>
          <a:xfrm>
            <a:off x="8455224" y="0"/>
            <a:ext cx="8991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X0  </a:t>
            </a:r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="" xmlns:a16="http://schemas.microsoft.com/office/drawing/2014/main" id="{9B070F29-9A7E-4F17-921F-8FB4B12F06AE}"/>
              </a:ext>
            </a:extLst>
          </p:cNvPr>
          <p:cNvSpPr txBox="1"/>
          <p:nvPr/>
        </p:nvSpPr>
        <p:spPr>
          <a:xfrm>
            <a:off x="7604474" y="1024453"/>
            <a:ext cx="4705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X0  </a:t>
            </a:r>
            <a:endParaRPr lang="en-US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="" xmlns:a16="http://schemas.microsoft.com/office/drawing/2014/main" id="{F0D15252-5B4E-4C47-ABB0-9A80D1424B4A}"/>
              </a:ext>
            </a:extLst>
          </p:cNvPr>
          <p:cNvSpPr txBox="1"/>
          <p:nvPr/>
        </p:nvSpPr>
        <p:spPr>
          <a:xfrm>
            <a:off x="7915380" y="999065"/>
            <a:ext cx="5398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="" xmlns:a16="http://schemas.microsoft.com/office/drawing/2014/main" id="{3B3F8C68-EC10-4E47-9533-37D70405F87B}"/>
              </a:ext>
            </a:extLst>
          </p:cNvPr>
          <p:cNvSpPr txBox="1"/>
          <p:nvPr/>
        </p:nvSpPr>
        <p:spPr>
          <a:xfrm>
            <a:off x="9827173" y="1001657"/>
            <a:ext cx="5398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</a:p>
        </p:txBody>
      </p:sp>
    </p:spTree>
    <p:extLst>
      <p:ext uri="{BB962C8B-B14F-4D97-AF65-F5344CB8AC3E}">
        <p14:creationId xmlns:p14="http://schemas.microsoft.com/office/powerpoint/2010/main" val="1968485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/>
      <p:bldP spid="27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0B4A0631-DF62-4237-9AA4-89A76913D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40</a:t>
            </a:fld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="" xmlns:a16="http://schemas.microsoft.com/office/drawing/2014/main" id="{B270EF88-0041-4DA9-B7EC-C7755B983FFC}"/>
              </a:ext>
            </a:extLst>
          </p:cNvPr>
          <p:cNvGrpSpPr/>
          <p:nvPr/>
        </p:nvGrpSpPr>
        <p:grpSpPr>
          <a:xfrm>
            <a:off x="1468313" y="409868"/>
            <a:ext cx="4956311" cy="1385911"/>
            <a:chOff x="5989984" y="3539957"/>
            <a:chExt cx="5712531" cy="1171382"/>
          </a:xfrm>
        </p:grpSpPr>
        <p:sp>
          <p:nvSpPr>
            <p:cNvPr id="5" name="Oval 4">
              <a:extLst>
                <a:ext uri="{FF2B5EF4-FFF2-40B4-BE49-F238E27FC236}">
                  <a16:creationId xmlns="" xmlns:a16="http://schemas.microsoft.com/office/drawing/2014/main" id="{D3637AE5-5439-4ED1-8ACE-F85086B502DF}"/>
                </a:ext>
              </a:extLst>
            </p:cNvPr>
            <p:cNvSpPr/>
            <p:nvPr/>
          </p:nvSpPr>
          <p:spPr>
            <a:xfrm>
              <a:off x="6486746" y="3963569"/>
              <a:ext cx="697006" cy="712694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x0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="" xmlns:a16="http://schemas.microsoft.com/office/drawing/2014/main" id="{EEA2B45F-D490-41CB-82B1-525D1B8CE5B1}"/>
                </a:ext>
              </a:extLst>
            </p:cNvPr>
            <p:cNvSpPr/>
            <p:nvPr/>
          </p:nvSpPr>
          <p:spPr>
            <a:xfrm>
              <a:off x="7941653" y="3950317"/>
              <a:ext cx="697006" cy="712694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x1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="" xmlns:a16="http://schemas.microsoft.com/office/drawing/2014/main" id="{1BE0B0FA-3F16-4163-A584-537E666D0E95}"/>
                </a:ext>
              </a:extLst>
            </p:cNvPr>
            <p:cNvSpPr/>
            <p:nvPr/>
          </p:nvSpPr>
          <p:spPr>
            <a:xfrm>
              <a:off x="9411634" y="3937065"/>
              <a:ext cx="697006" cy="712694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x2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="" xmlns:a16="http://schemas.microsoft.com/office/drawing/2014/main" id="{C508899E-7329-4A06-BCB2-8F56A3069688}"/>
                </a:ext>
              </a:extLst>
            </p:cNvPr>
            <p:cNvCxnSpPr/>
            <p:nvPr/>
          </p:nvCxnSpPr>
          <p:spPr>
            <a:xfrm>
              <a:off x="5989984" y="4319916"/>
              <a:ext cx="48354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" name="Group 8">
              <a:extLst>
                <a:ext uri="{FF2B5EF4-FFF2-40B4-BE49-F238E27FC236}">
                  <a16:creationId xmlns="" xmlns:a16="http://schemas.microsoft.com/office/drawing/2014/main" id="{44942177-63D9-45ED-ADF7-F2E00B5BD8B7}"/>
                </a:ext>
              </a:extLst>
            </p:cNvPr>
            <p:cNvGrpSpPr/>
            <p:nvPr/>
          </p:nvGrpSpPr>
          <p:grpSpPr>
            <a:xfrm>
              <a:off x="10899171" y="3875484"/>
              <a:ext cx="803344" cy="835855"/>
              <a:chOff x="5184749" y="4682255"/>
              <a:chExt cx="803344" cy="835855"/>
            </a:xfrm>
          </p:grpSpPr>
          <p:sp>
            <p:nvSpPr>
              <p:cNvPr id="10" name="Oval 9">
                <a:extLst>
                  <a:ext uri="{FF2B5EF4-FFF2-40B4-BE49-F238E27FC236}">
                    <a16:creationId xmlns="" xmlns:a16="http://schemas.microsoft.com/office/drawing/2014/main" id="{1A90B709-A6EF-4AF3-8058-50CF1F57FBE0}"/>
                  </a:ext>
                </a:extLst>
              </p:cNvPr>
              <p:cNvSpPr/>
              <p:nvPr/>
            </p:nvSpPr>
            <p:spPr>
              <a:xfrm>
                <a:off x="5184749" y="4682255"/>
                <a:ext cx="803344" cy="835855"/>
              </a:xfrm>
              <a:prstGeom prst="ellips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="" xmlns:a16="http://schemas.microsoft.com/office/drawing/2014/main" id="{6ABF4264-5FDC-4260-92AA-D1EB5134B145}"/>
                  </a:ext>
                </a:extLst>
              </p:cNvPr>
              <p:cNvSpPr/>
              <p:nvPr/>
            </p:nvSpPr>
            <p:spPr>
              <a:xfrm>
                <a:off x="5241993" y="4745149"/>
                <a:ext cx="697006" cy="712694"/>
              </a:xfrm>
              <a:prstGeom prst="ellips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x3</a:t>
                </a:r>
              </a:p>
            </p:txBody>
          </p:sp>
        </p:grpSp>
        <p:cxnSp>
          <p:nvCxnSpPr>
            <p:cNvPr id="12" name="Straight Arrow Connector 11">
              <a:extLst>
                <a:ext uri="{FF2B5EF4-FFF2-40B4-BE49-F238E27FC236}">
                  <a16:creationId xmlns="" xmlns:a16="http://schemas.microsoft.com/office/drawing/2014/main" id="{D5AA6CE2-3948-4433-BA7A-3127946350CC}"/>
                </a:ext>
              </a:extLst>
            </p:cNvPr>
            <p:cNvCxnSpPr/>
            <p:nvPr/>
          </p:nvCxnSpPr>
          <p:spPr>
            <a:xfrm>
              <a:off x="8665163" y="4293412"/>
              <a:ext cx="731983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="" xmlns:a16="http://schemas.microsoft.com/office/drawing/2014/main" id="{0D18B66A-683A-44C8-8EBD-EF875F593CAF}"/>
                </a:ext>
              </a:extLst>
            </p:cNvPr>
            <p:cNvCxnSpPr/>
            <p:nvPr/>
          </p:nvCxnSpPr>
          <p:spPr>
            <a:xfrm>
              <a:off x="7210256" y="4306664"/>
              <a:ext cx="731983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="" xmlns:a16="http://schemas.microsoft.com/office/drawing/2014/main" id="{DC6164EF-76F7-4005-BB38-89266147DAAE}"/>
                </a:ext>
              </a:extLst>
            </p:cNvPr>
            <p:cNvCxnSpPr/>
            <p:nvPr/>
          </p:nvCxnSpPr>
          <p:spPr>
            <a:xfrm>
              <a:off x="10157495" y="4286152"/>
              <a:ext cx="731983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="" xmlns:a16="http://schemas.microsoft.com/office/drawing/2014/main" id="{B21A631C-D2FE-49B1-8957-E25DAB8A74E9}"/>
                </a:ext>
              </a:extLst>
            </p:cNvPr>
            <p:cNvSpPr txBox="1"/>
            <p:nvPr/>
          </p:nvSpPr>
          <p:spPr>
            <a:xfrm>
              <a:off x="7323732" y="3858527"/>
              <a:ext cx="27195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="" xmlns:a16="http://schemas.microsoft.com/office/drawing/2014/main" id="{75F7D584-AAAD-45E0-87DE-22B8A5DFE1D6}"/>
                </a:ext>
              </a:extLst>
            </p:cNvPr>
            <p:cNvSpPr txBox="1"/>
            <p:nvPr/>
          </p:nvSpPr>
          <p:spPr>
            <a:xfrm>
              <a:off x="10318246" y="3858251"/>
              <a:ext cx="27195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="" xmlns:a16="http://schemas.microsoft.com/office/drawing/2014/main" id="{5400B237-E3F1-4BEA-A919-8B46A9BC728C}"/>
                </a:ext>
              </a:extLst>
            </p:cNvPr>
            <p:cNvSpPr txBox="1"/>
            <p:nvPr/>
          </p:nvSpPr>
          <p:spPr>
            <a:xfrm>
              <a:off x="8813526" y="3875484"/>
              <a:ext cx="27195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18" name="Arc 17">
              <a:extLst>
                <a:ext uri="{FF2B5EF4-FFF2-40B4-BE49-F238E27FC236}">
                  <a16:creationId xmlns="" xmlns:a16="http://schemas.microsoft.com/office/drawing/2014/main" id="{4A9D3AB6-108E-4062-B22C-A1FC38CC204A}"/>
                </a:ext>
              </a:extLst>
            </p:cNvPr>
            <p:cNvSpPr/>
            <p:nvPr/>
          </p:nvSpPr>
          <p:spPr>
            <a:xfrm>
              <a:off x="6586120" y="3539957"/>
              <a:ext cx="471227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="" xmlns:a16="http://schemas.microsoft.com/office/drawing/2014/main" id="{E375BB6D-D318-45C8-92CF-41E5277E6E10}"/>
              </a:ext>
            </a:extLst>
          </p:cNvPr>
          <p:cNvSpPr txBox="1"/>
          <p:nvPr/>
        </p:nvSpPr>
        <p:spPr>
          <a:xfrm>
            <a:off x="232635" y="231729"/>
            <a:ext cx="31599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Parse Tree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="" xmlns:a16="http://schemas.microsoft.com/office/drawing/2014/main" id="{B4F23E4F-F5BD-46EA-B169-ED7CDFBCDE79}"/>
              </a:ext>
            </a:extLst>
          </p:cNvPr>
          <p:cNvSpPr txBox="1"/>
          <p:nvPr/>
        </p:nvSpPr>
        <p:spPr>
          <a:xfrm>
            <a:off x="2342643" y="209872"/>
            <a:ext cx="5657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a/b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="" xmlns:a16="http://schemas.microsoft.com/office/drawing/2014/main" id="{5F59A017-09C9-4CAA-9DC2-D08568FC45F3}"/>
              </a:ext>
            </a:extLst>
          </p:cNvPr>
          <p:cNvCxnSpPr>
            <a:cxnSpLocks/>
          </p:cNvCxnSpPr>
          <p:nvPr/>
        </p:nvCxnSpPr>
        <p:spPr>
          <a:xfrm>
            <a:off x="9771632" y="1459439"/>
            <a:ext cx="0" cy="623354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="" xmlns:a16="http://schemas.microsoft.com/office/drawing/2014/main" id="{32E191C6-3FE0-46CC-8C30-B1F3B698A741}"/>
              </a:ext>
            </a:extLst>
          </p:cNvPr>
          <p:cNvSpPr txBox="1"/>
          <p:nvPr/>
        </p:nvSpPr>
        <p:spPr>
          <a:xfrm>
            <a:off x="9543171" y="999065"/>
            <a:ext cx="8635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X1 </a:t>
            </a:r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(a)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="" xmlns:a16="http://schemas.microsoft.com/office/drawing/2014/main" id="{0954F32B-B50F-456A-876C-E19AD9DC5AB2}"/>
              </a:ext>
            </a:extLst>
          </p:cNvPr>
          <p:cNvCxnSpPr>
            <a:cxnSpLocks/>
          </p:cNvCxnSpPr>
          <p:nvPr/>
        </p:nvCxnSpPr>
        <p:spPr>
          <a:xfrm flipH="1">
            <a:off x="7808615" y="372270"/>
            <a:ext cx="774058" cy="745283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="" xmlns:a16="http://schemas.microsoft.com/office/drawing/2014/main" id="{8C0209D4-36BF-429F-BFAC-8EF113B0D14B}"/>
              </a:ext>
            </a:extLst>
          </p:cNvPr>
          <p:cNvCxnSpPr>
            <a:cxnSpLocks/>
          </p:cNvCxnSpPr>
          <p:nvPr/>
        </p:nvCxnSpPr>
        <p:spPr>
          <a:xfrm>
            <a:off x="8735488" y="372270"/>
            <a:ext cx="956602" cy="745283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="" xmlns:a16="http://schemas.microsoft.com/office/drawing/2014/main" id="{6F4F3F1E-134C-441A-8EFF-5241D4FF3060}"/>
              </a:ext>
            </a:extLst>
          </p:cNvPr>
          <p:cNvSpPr txBox="1"/>
          <p:nvPr/>
        </p:nvSpPr>
        <p:spPr>
          <a:xfrm>
            <a:off x="8455224" y="0"/>
            <a:ext cx="8991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X0  </a:t>
            </a:r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="" xmlns:a16="http://schemas.microsoft.com/office/drawing/2014/main" id="{9B070F29-9A7E-4F17-921F-8FB4B12F06AE}"/>
              </a:ext>
            </a:extLst>
          </p:cNvPr>
          <p:cNvSpPr txBox="1"/>
          <p:nvPr/>
        </p:nvSpPr>
        <p:spPr>
          <a:xfrm>
            <a:off x="7604474" y="1024453"/>
            <a:ext cx="850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X0  </a:t>
            </a:r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="" xmlns:a16="http://schemas.microsoft.com/office/drawing/2014/main" id="{42ACC4AB-5123-440E-BF30-A1A6E2F356F5}"/>
              </a:ext>
            </a:extLst>
          </p:cNvPr>
          <p:cNvSpPr txBox="1"/>
          <p:nvPr/>
        </p:nvSpPr>
        <p:spPr>
          <a:xfrm>
            <a:off x="6739075" y="2016126"/>
            <a:ext cx="8120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X0</a:t>
            </a:r>
            <a:endParaRPr lang="en-US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="" xmlns:a16="http://schemas.microsoft.com/office/drawing/2014/main" id="{46296339-5A22-4B8E-93EE-B62D91D158AE}"/>
              </a:ext>
            </a:extLst>
          </p:cNvPr>
          <p:cNvSpPr txBox="1"/>
          <p:nvPr/>
        </p:nvSpPr>
        <p:spPr>
          <a:xfrm>
            <a:off x="8423960" y="2030278"/>
            <a:ext cx="8120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X1 </a:t>
            </a:r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="" xmlns:a16="http://schemas.microsoft.com/office/drawing/2014/main" id="{AFD252DD-8076-48A6-8E42-E81BE675F6DB}"/>
              </a:ext>
            </a:extLst>
          </p:cNvPr>
          <p:cNvCxnSpPr>
            <a:cxnSpLocks/>
          </p:cNvCxnSpPr>
          <p:nvPr/>
        </p:nvCxnSpPr>
        <p:spPr>
          <a:xfrm flipH="1">
            <a:off x="6955749" y="1337510"/>
            <a:ext cx="774058" cy="745283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="" xmlns:a16="http://schemas.microsoft.com/office/drawing/2014/main" id="{2FA49442-CA3A-4F18-984A-1051F171E499}"/>
              </a:ext>
            </a:extLst>
          </p:cNvPr>
          <p:cNvCxnSpPr>
            <a:cxnSpLocks/>
          </p:cNvCxnSpPr>
          <p:nvPr/>
        </p:nvCxnSpPr>
        <p:spPr>
          <a:xfrm>
            <a:off x="7855140" y="1328538"/>
            <a:ext cx="740641" cy="754255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Multiplication Sign 80">
            <a:extLst>
              <a:ext uri="{FF2B5EF4-FFF2-40B4-BE49-F238E27FC236}">
                <a16:creationId xmlns="" xmlns:a16="http://schemas.microsoft.com/office/drawing/2014/main" id="{D1B1A970-3D64-460E-8776-532AAE64E9B4}"/>
              </a:ext>
            </a:extLst>
          </p:cNvPr>
          <p:cNvSpPr/>
          <p:nvPr/>
        </p:nvSpPr>
        <p:spPr>
          <a:xfrm>
            <a:off x="9585572" y="1976731"/>
            <a:ext cx="372119" cy="540327"/>
          </a:xfrm>
          <a:prstGeom prst="mathMultiply">
            <a:avLst>
              <a:gd name="adj1" fmla="val 13264"/>
            </a:avLst>
          </a:prstGeom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="" xmlns:a16="http://schemas.microsoft.com/office/drawing/2014/main" id="{DB7B68E4-3409-4797-8BB0-E245D250B6E1}"/>
              </a:ext>
            </a:extLst>
          </p:cNvPr>
          <p:cNvSpPr/>
          <p:nvPr/>
        </p:nvSpPr>
        <p:spPr>
          <a:xfrm>
            <a:off x="217787" y="1445144"/>
            <a:ext cx="1467068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</a:p>
          <a:p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3600" dirty="0" err="1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baba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964575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49" grpId="0"/>
      <p:bldP spid="81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0B4A0631-DF62-4237-9AA4-89A76913D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41</a:t>
            </a:fld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="" xmlns:a16="http://schemas.microsoft.com/office/drawing/2014/main" id="{B270EF88-0041-4DA9-B7EC-C7755B983FFC}"/>
              </a:ext>
            </a:extLst>
          </p:cNvPr>
          <p:cNvGrpSpPr/>
          <p:nvPr/>
        </p:nvGrpSpPr>
        <p:grpSpPr>
          <a:xfrm>
            <a:off x="1468313" y="409868"/>
            <a:ext cx="4956311" cy="1385911"/>
            <a:chOff x="5989984" y="3539957"/>
            <a:chExt cx="5712531" cy="1171382"/>
          </a:xfrm>
        </p:grpSpPr>
        <p:sp>
          <p:nvSpPr>
            <p:cNvPr id="5" name="Oval 4">
              <a:extLst>
                <a:ext uri="{FF2B5EF4-FFF2-40B4-BE49-F238E27FC236}">
                  <a16:creationId xmlns="" xmlns:a16="http://schemas.microsoft.com/office/drawing/2014/main" id="{D3637AE5-5439-4ED1-8ACE-F85086B502DF}"/>
                </a:ext>
              </a:extLst>
            </p:cNvPr>
            <p:cNvSpPr/>
            <p:nvPr/>
          </p:nvSpPr>
          <p:spPr>
            <a:xfrm>
              <a:off x="6486746" y="3963569"/>
              <a:ext cx="697006" cy="712694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x0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="" xmlns:a16="http://schemas.microsoft.com/office/drawing/2014/main" id="{EEA2B45F-D490-41CB-82B1-525D1B8CE5B1}"/>
                </a:ext>
              </a:extLst>
            </p:cNvPr>
            <p:cNvSpPr/>
            <p:nvPr/>
          </p:nvSpPr>
          <p:spPr>
            <a:xfrm>
              <a:off x="7941653" y="3950317"/>
              <a:ext cx="697006" cy="712694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x1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="" xmlns:a16="http://schemas.microsoft.com/office/drawing/2014/main" id="{1BE0B0FA-3F16-4163-A584-537E666D0E95}"/>
                </a:ext>
              </a:extLst>
            </p:cNvPr>
            <p:cNvSpPr/>
            <p:nvPr/>
          </p:nvSpPr>
          <p:spPr>
            <a:xfrm>
              <a:off x="9411634" y="3937065"/>
              <a:ext cx="697006" cy="712694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x2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="" xmlns:a16="http://schemas.microsoft.com/office/drawing/2014/main" id="{C508899E-7329-4A06-BCB2-8F56A3069688}"/>
                </a:ext>
              </a:extLst>
            </p:cNvPr>
            <p:cNvCxnSpPr/>
            <p:nvPr/>
          </p:nvCxnSpPr>
          <p:spPr>
            <a:xfrm>
              <a:off x="5989984" y="4319916"/>
              <a:ext cx="48354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" name="Group 8">
              <a:extLst>
                <a:ext uri="{FF2B5EF4-FFF2-40B4-BE49-F238E27FC236}">
                  <a16:creationId xmlns="" xmlns:a16="http://schemas.microsoft.com/office/drawing/2014/main" id="{44942177-63D9-45ED-ADF7-F2E00B5BD8B7}"/>
                </a:ext>
              </a:extLst>
            </p:cNvPr>
            <p:cNvGrpSpPr/>
            <p:nvPr/>
          </p:nvGrpSpPr>
          <p:grpSpPr>
            <a:xfrm>
              <a:off x="10899171" y="3875484"/>
              <a:ext cx="803344" cy="835855"/>
              <a:chOff x="5184749" y="4682255"/>
              <a:chExt cx="803344" cy="835855"/>
            </a:xfrm>
          </p:grpSpPr>
          <p:sp>
            <p:nvSpPr>
              <p:cNvPr id="10" name="Oval 9">
                <a:extLst>
                  <a:ext uri="{FF2B5EF4-FFF2-40B4-BE49-F238E27FC236}">
                    <a16:creationId xmlns="" xmlns:a16="http://schemas.microsoft.com/office/drawing/2014/main" id="{1A90B709-A6EF-4AF3-8058-50CF1F57FBE0}"/>
                  </a:ext>
                </a:extLst>
              </p:cNvPr>
              <p:cNvSpPr/>
              <p:nvPr/>
            </p:nvSpPr>
            <p:spPr>
              <a:xfrm>
                <a:off x="5184749" y="4682255"/>
                <a:ext cx="803344" cy="835855"/>
              </a:xfrm>
              <a:prstGeom prst="ellips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="" xmlns:a16="http://schemas.microsoft.com/office/drawing/2014/main" id="{6ABF4264-5FDC-4260-92AA-D1EB5134B145}"/>
                  </a:ext>
                </a:extLst>
              </p:cNvPr>
              <p:cNvSpPr/>
              <p:nvPr/>
            </p:nvSpPr>
            <p:spPr>
              <a:xfrm>
                <a:off x="5241993" y="4745149"/>
                <a:ext cx="697006" cy="712694"/>
              </a:xfrm>
              <a:prstGeom prst="ellips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x3</a:t>
                </a:r>
              </a:p>
            </p:txBody>
          </p:sp>
        </p:grpSp>
        <p:cxnSp>
          <p:nvCxnSpPr>
            <p:cNvPr id="12" name="Straight Arrow Connector 11">
              <a:extLst>
                <a:ext uri="{FF2B5EF4-FFF2-40B4-BE49-F238E27FC236}">
                  <a16:creationId xmlns="" xmlns:a16="http://schemas.microsoft.com/office/drawing/2014/main" id="{D5AA6CE2-3948-4433-BA7A-3127946350CC}"/>
                </a:ext>
              </a:extLst>
            </p:cNvPr>
            <p:cNvCxnSpPr/>
            <p:nvPr/>
          </p:nvCxnSpPr>
          <p:spPr>
            <a:xfrm>
              <a:off x="8665163" y="4293412"/>
              <a:ext cx="731983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="" xmlns:a16="http://schemas.microsoft.com/office/drawing/2014/main" id="{0D18B66A-683A-44C8-8EBD-EF875F593CAF}"/>
                </a:ext>
              </a:extLst>
            </p:cNvPr>
            <p:cNvCxnSpPr/>
            <p:nvPr/>
          </p:nvCxnSpPr>
          <p:spPr>
            <a:xfrm>
              <a:off x="7210256" y="4306664"/>
              <a:ext cx="731983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="" xmlns:a16="http://schemas.microsoft.com/office/drawing/2014/main" id="{DC6164EF-76F7-4005-BB38-89266147DAAE}"/>
                </a:ext>
              </a:extLst>
            </p:cNvPr>
            <p:cNvCxnSpPr/>
            <p:nvPr/>
          </p:nvCxnSpPr>
          <p:spPr>
            <a:xfrm>
              <a:off x="10157495" y="4286152"/>
              <a:ext cx="731983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="" xmlns:a16="http://schemas.microsoft.com/office/drawing/2014/main" id="{B21A631C-D2FE-49B1-8957-E25DAB8A74E9}"/>
                </a:ext>
              </a:extLst>
            </p:cNvPr>
            <p:cNvSpPr txBox="1"/>
            <p:nvPr/>
          </p:nvSpPr>
          <p:spPr>
            <a:xfrm>
              <a:off x="7323732" y="3858527"/>
              <a:ext cx="27195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="" xmlns:a16="http://schemas.microsoft.com/office/drawing/2014/main" id="{75F7D584-AAAD-45E0-87DE-22B8A5DFE1D6}"/>
                </a:ext>
              </a:extLst>
            </p:cNvPr>
            <p:cNvSpPr txBox="1"/>
            <p:nvPr/>
          </p:nvSpPr>
          <p:spPr>
            <a:xfrm>
              <a:off x="10318246" y="3858251"/>
              <a:ext cx="27195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="" xmlns:a16="http://schemas.microsoft.com/office/drawing/2014/main" id="{5400B237-E3F1-4BEA-A919-8B46A9BC728C}"/>
                </a:ext>
              </a:extLst>
            </p:cNvPr>
            <p:cNvSpPr txBox="1"/>
            <p:nvPr/>
          </p:nvSpPr>
          <p:spPr>
            <a:xfrm>
              <a:off x="8813526" y="3875484"/>
              <a:ext cx="27195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18" name="Arc 17">
              <a:extLst>
                <a:ext uri="{FF2B5EF4-FFF2-40B4-BE49-F238E27FC236}">
                  <a16:creationId xmlns="" xmlns:a16="http://schemas.microsoft.com/office/drawing/2014/main" id="{4A9D3AB6-108E-4062-B22C-A1FC38CC204A}"/>
                </a:ext>
              </a:extLst>
            </p:cNvPr>
            <p:cNvSpPr/>
            <p:nvPr/>
          </p:nvSpPr>
          <p:spPr>
            <a:xfrm>
              <a:off x="6586120" y="3539957"/>
              <a:ext cx="471227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="" xmlns:a16="http://schemas.microsoft.com/office/drawing/2014/main" id="{E375BB6D-D318-45C8-92CF-41E5277E6E10}"/>
              </a:ext>
            </a:extLst>
          </p:cNvPr>
          <p:cNvSpPr txBox="1"/>
          <p:nvPr/>
        </p:nvSpPr>
        <p:spPr>
          <a:xfrm>
            <a:off x="232635" y="231729"/>
            <a:ext cx="31599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Parse Tree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="" xmlns:a16="http://schemas.microsoft.com/office/drawing/2014/main" id="{B4F23E4F-F5BD-46EA-B169-ED7CDFBCDE79}"/>
              </a:ext>
            </a:extLst>
          </p:cNvPr>
          <p:cNvSpPr txBox="1"/>
          <p:nvPr/>
        </p:nvSpPr>
        <p:spPr>
          <a:xfrm>
            <a:off x="2342643" y="209872"/>
            <a:ext cx="5657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a/b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="" xmlns:a16="http://schemas.microsoft.com/office/drawing/2014/main" id="{5F59A017-09C9-4CAA-9DC2-D08568FC45F3}"/>
              </a:ext>
            </a:extLst>
          </p:cNvPr>
          <p:cNvCxnSpPr>
            <a:cxnSpLocks/>
          </p:cNvCxnSpPr>
          <p:nvPr/>
        </p:nvCxnSpPr>
        <p:spPr>
          <a:xfrm>
            <a:off x="9771632" y="1459439"/>
            <a:ext cx="0" cy="623354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="" xmlns:a16="http://schemas.microsoft.com/office/drawing/2014/main" id="{32E191C6-3FE0-46CC-8C30-B1F3B698A741}"/>
              </a:ext>
            </a:extLst>
          </p:cNvPr>
          <p:cNvSpPr txBox="1"/>
          <p:nvPr/>
        </p:nvSpPr>
        <p:spPr>
          <a:xfrm>
            <a:off x="9543171" y="999065"/>
            <a:ext cx="8635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X1 </a:t>
            </a:r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(a)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="" xmlns:a16="http://schemas.microsoft.com/office/drawing/2014/main" id="{0954F32B-B50F-456A-876C-E19AD9DC5AB2}"/>
              </a:ext>
            </a:extLst>
          </p:cNvPr>
          <p:cNvCxnSpPr>
            <a:cxnSpLocks/>
          </p:cNvCxnSpPr>
          <p:nvPr/>
        </p:nvCxnSpPr>
        <p:spPr>
          <a:xfrm flipH="1">
            <a:off x="7808615" y="372270"/>
            <a:ext cx="774058" cy="745283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="" xmlns:a16="http://schemas.microsoft.com/office/drawing/2014/main" id="{8C0209D4-36BF-429F-BFAC-8EF113B0D14B}"/>
              </a:ext>
            </a:extLst>
          </p:cNvPr>
          <p:cNvCxnSpPr>
            <a:cxnSpLocks/>
          </p:cNvCxnSpPr>
          <p:nvPr/>
        </p:nvCxnSpPr>
        <p:spPr>
          <a:xfrm>
            <a:off x="8735488" y="372270"/>
            <a:ext cx="956602" cy="745283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="" xmlns:a16="http://schemas.microsoft.com/office/drawing/2014/main" id="{6F4F3F1E-134C-441A-8EFF-5241D4FF3060}"/>
              </a:ext>
            </a:extLst>
          </p:cNvPr>
          <p:cNvSpPr txBox="1"/>
          <p:nvPr/>
        </p:nvSpPr>
        <p:spPr>
          <a:xfrm>
            <a:off x="8455224" y="0"/>
            <a:ext cx="8991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X0  </a:t>
            </a:r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="" xmlns:a16="http://schemas.microsoft.com/office/drawing/2014/main" id="{9B070F29-9A7E-4F17-921F-8FB4B12F06AE}"/>
              </a:ext>
            </a:extLst>
          </p:cNvPr>
          <p:cNvSpPr txBox="1"/>
          <p:nvPr/>
        </p:nvSpPr>
        <p:spPr>
          <a:xfrm>
            <a:off x="7604474" y="1024453"/>
            <a:ext cx="850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X0  </a:t>
            </a:r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="" xmlns:a16="http://schemas.microsoft.com/office/drawing/2014/main" id="{42ACC4AB-5123-440E-BF30-A1A6E2F356F5}"/>
              </a:ext>
            </a:extLst>
          </p:cNvPr>
          <p:cNvSpPr txBox="1"/>
          <p:nvPr/>
        </p:nvSpPr>
        <p:spPr>
          <a:xfrm>
            <a:off x="6739075" y="2016126"/>
            <a:ext cx="8120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X0</a:t>
            </a:r>
            <a:endParaRPr lang="en-US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="" xmlns:a16="http://schemas.microsoft.com/office/drawing/2014/main" id="{46296339-5A22-4B8E-93EE-B62D91D158AE}"/>
              </a:ext>
            </a:extLst>
          </p:cNvPr>
          <p:cNvSpPr txBox="1"/>
          <p:nvPr/>
        </p:nvSpPr>
        <p:spPr>
          <a:xfrm>
            <a:off x="8423960" y="2030278"/>
            <a:ext cx="8120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X1 </a:t>
            </a:r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="" xmlns:a16="http://schemas.microsoft.com/office/drawing/2014/main" id="{AFD252DD-8076-48A6-8E42-E81BE675F6DB}"/>
              </a:ext>
            </a:extLst>
          </p:cNvPr>
          <p:cNvCxnSpPr>
            <a:cxnSpLocks/>
          </p:cNvCxnSpPr>
          <p:nvPr/>
        </p:nvCxnSpPr>
        <p:spPr>
          <a:xfrm flipH="1">
            <a:off x="6955749" y="1337510"/>
            <a:ext cx="774058" cy="745283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="" xmlns:a16="http://schemas.microsoft.com/office/drawing/2014/main" id="{2FA49442-CA3A-4F18-984A-1051F171E499}"/>
              </a:ext>
            </a:extLst>
          </p:cNvPr>
          <p:cNvCxnSpPr>
            <a:cxnSpLocks/>
          </p:cNvCxnSpPr>
          <p:nvPr/>
        </p:nvCxnSpPr>
        <p:spPr>
          <a:xfrm>
            <a:off x="7855140" y="1328538"/>
            <a:ext cx="740641" cy="754255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Multiplication Sign 80">
            <a:extLst>
              <a:ext uri="{FF2B5EF4-FFF2-40B4-BE49-F238E27FC236}">
                <a16:creationId xmlns="" xmlns:a16="http://schemas.microsoft.com/office/drawing/2014/main" id="{D1B1A970-3D64-460E-8776-532AAE64E9B4}"/>
              </a:ext>
            </a:extLst>
          </p:cNvPr>
          <p:cNvSpPr/>
          <p:nvPr/>
        </p:nvSpPr>
        <p:spPr>
          <a:xfrm>
            <a:off x="9585572" y="1976731"/>
            <a:ext cx="372119" cy="540327"/>
          </a:xfrm>
          <a:prstGeom prst="mathMultiply">
            <a:avLst>
              <a:gd name="adj1" fmla="val 13264"/>
            </a:avLst>
          </a:prstGeom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="" xmlns:a16="http://schemas.microsoft.com/office/drawing/2014/main" id="{DB7B68E4-3409-4797-8BB0-E245D250B6E1}"/>
              </a:ext>
            </a:extLst>
          </p:cNvPr>
          <p:cNvSpPr/>
          <p:nvPr/>
        </p:nvSpPr>
        <p:spPr>
          <a:xfrm>
            <a:off x="217787" y="1445144"/>
            <a:ext cx="1467068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</a:p>
          <a:p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</a:t>
            </a:r>
            <a:r>
              <a:rPr lang="en-US" sz="3600" dirty="0" err="1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aba</a:t>
            </a:r>
            <a:endParaRPr lang="en-US" sz="3600" dirty="0"/>
          </a:p>
        </p:txBody>
      </p:sp>
      <p:sp>
        <p:nvSpPr>
          <p:cNvPr id="32" name="TextBox 31">
            <a:extLst>
              <a:ext uri="{FF2B5EF4-FFF2-40B4-BE49-F238E27FC236}">
                <a16:creationId xmlns="" xmlns:a16="http://schemas.microsoft.com/office/drawing/2014/main" id="{2E53EE65-CF25-4732-B36A-07CD8753CED3}"/>
              </a:ext>
            </a:extLst>
          </p:cNvPr>
          <p:cNvSpPr txBox="1"/>
          <p:nvPr/>
        </p:nvSpPr>
        <p:spPr>
          <a:xfrm>
            <a:off x="8710298" y="1995367"/>
            <a:ext cx="5398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="" xmlns:a16="http://schemas.microsoft.com/office/drawing/2014/main" id="{A4193312-E773-4016-A7A9-3E4F02FB49EA}"/>
              </a:ext>
            </a:extLst>
          </p:cNvPr>
          <p:cNvSpPr txBox="1"/>
          <p:nvPr/>
        </p:nvSpPr>
        <p:spPr>
          <a:xfrm>
            <a:off x="7061453" y="1991384"/>
            <a:ext cx="5398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</a:p>
        </p:txBody>
      </p:sp>
    </p:spTree>
    <p:extLst>
      <p:ext uri="{BB962C8B-B14F-4D97-AF65-F5344CB8AC3E}">
        <p14:creationId xmlns:p14="http://schemas.microsoft.com/office/powerpoint/2010/main" val="30530352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3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0B4A0631-DF62-4237-9AA4-89A76913D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42</a:t>
            </a:fld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="" xmlns:a16="http://schemas.microsoft.com/office/drawing/2014/main" id="{B270EF88-0041-4DA9-B7EC-C7755B983FFC}"/>
              </a:ext>
            </a:extLst>
          </p:cNvPr>
          <p:cNvGrpSpPr/>
          <p:nvPr/>
        </p:nvGrpSpPr>
        <p:grpSpPr>
          <a:xfrm>
            <a:off x="1468313" y="409868"/>
            <a:ext cx="4956311" cy="1385911"/>
            <a:chOff x="5989984" y="3539957"/>
            <a:chExt cx="5712531" cy="1171382"/>
          </a:xfrm>
        </p:grpSpPr>
        <p:sp>
          <p:nvSpPr>
            <p:cNvPr id="5" name="Oval 4">
              <a:extLst>
                <a:ext uri="{FF2B5EF4-FFF2-40B4-BE49-F238E27FC236}">
                  <a16:creationId xmlns="" xmlns:a16="http://schemas.microsoft.com/office/drawing/2014/main" id="{D3637AE5-5439-4ED1-8ACE-F85086B502DF}"/>
                </a:ext>
              </a:extLst>
            </p:cNvPr>
            <p:cNvSpPr/>
            <p:nvPr/>
          </p:nvSpPr>
          <p:spPr>
            <a:xfrm>
              <a:off x="6486746" y="3963569"/>
              <a:ext cx="697006" cy="712694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x0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="" xmlns:a16="http://schemas.microsoft.com/office/drawing/2014/main" id="{EEA2B45F-D490-41CB-82B1-525D1B8CE5B1}"/>
                </a:ext>
              </a:extLst>
            </p:cNvPr>
            <p:cNvSpPr/>
            <p:nvPr/>
          </p:nvSpPr>
          <p:spPr>
            <a:xfrm>
              <a:off x="7941653" y="3950317"/>
              <a:ext cx="697006" cy="712694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x1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="" xmlns:a16="http://schemas.microsoft.com/office/drawing/2014/main" id="{1BE0B0FA-3F16-4163-A584-537E666D0E95}"/>
                </a:ext>
              </a:extLst>
            </p:cNvPr>
            <p:cNvSpPr/>
            <p:nvPr/>
          </p:nvSpPr>
          <p:spPr>
            <a:xfrm>
              <a:off x="9411634" y="3937065"/>
              <a:ext cx="697006" cy="712694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x2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="" xmlns:a16="http://schemas.microsoft.com/office/drawing/2014/main" id="{C508899E-7329-4A06-BCB2-8F56A3069688}"/>
                </a:ext>
              </a:extLst>
            </p:cNvPr>
            <p:cNvCxnSpPr/>
            <p:nvPr/>
          </p:nvCxnSpPr>
          <p:spPr>
            <a:xfrm>
              <a:off x="5989984" y="4319916"/>
              <a:ext cx="48354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" name="Group 8">
              <a:extLst>
                <a:ext uri="{FF2B5EF4-FFF2-40B4-BE49-F238E27FC236}">
                  <a16:creationId xmlns="" xmlns:a16="http://schemas.microsoft.com/office/drawing/2014/main" id="{44942177-63D9-45ED-ADF7-F2E00B5BD8B7}"/>
                </a:ext>
              </a:extLst>
            </p:cNvPr>
            <p:cNvGrpSpPr/>
            <p:nvPr/>
          </p:nvGrpSpPr>
          <p:grpSpPr>
            <a:xfrm>
              <a:off x="10899171" y="3875484"/>
              <a:ext cx="803344" cy="835855"/>
              <a:chOff x="5184749" y="4682255"/>
              <a:chExt cx="803344" cy="835855"/>
            </a:xfrm>
          </p:grpSpPr>
          <p:sp>
            <p:nvSpPr>
              <p:cNvPr id="10" name="Oval 9">
                <a:extLst>
                  <a:ext uri="{FF2B5EF4-FFF2-40B4-BE49-F238E27FC236}">
                    <a16:creationId xmlns="" xmlns:a16="http://schemas.microsoft.com/office/drawing/2014/main" id="{1A90B709-A6EF-4AF3-8058-50CF1F57FBE0}"/>
                  </a:ext>
                </a:extLst>
              </p:cNvPr>
              <p:cNvSpPr/>
              <p:nvPr/>
            </p:nvSpPr>
            <p:spPr>
              <a:xfrm>
                <a:off x="5184749" y="4682255"/>
                <a:ext cx="803344" cy="835855"/>
              </a:xfrm>
              <a:prstGeom prst="ellips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="" xmlns:a16="http://schemas.microsoft.com/office/drawing/2014/main" id="{6ABF4264-5FDC-4260-92AA-D1EB5134B145}"/>
                  </a:ext>
                </a:extLst>
              </p:cNvPr>
              <p:cNvSpPr/>
              <p:nvPr/>
            </p:nvSpPr>
            <p:spPr>
              <a:xfrm>
                <a:off x="5241993" y="4745149"/>
                <a:ext cx="697006" cy="712694"/>
              </a:xfrm>
              <a:prstGeom prst="ellips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x3</a:t>
                </a:r>
              </a:p>
            </p:txBody>
          </p:sp>
        </p:grpSp>
        <p:cxnSp>
          <p:nvCxnSpPr>
            <p:cNvPr id="12" name="Straight Arrow Connector 11">
              <a:extLst>
                <a:ext uri="{FF2B5EF4-FFF2-40B4-BE49-F238E27FC236}">
                  <a16:creationId xmlns="" xmlns:a16="http://schemas.microsoft.com/office/drawing/2014/main" id="{D5AA6CE2-3948-4433-BA7A-3127946350CC}"/>
                </a:ext>
              </a:extLst>
            </p:cNvPr>
            <p:cNvCxnSpPr/>
            <p:nvPr/>
          </p:nvCxnSpPr>
          <p:spPr>
            <a:xfrm>
              <a:off x="8665163" y="4293412"/>
              <a:ext cx="731983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="" xmlns:a16="http://schemas.microsoft.com/office/drawing/2014/main" id="{0D18B66A-683A-44C8-8EBD-EF875F593CAF}"/>
                </a:ext>
              </a:extLst>
            </p:cNvPr>
            <p:cNvCxnSpPr/>
            <p:nvPr/>
          </p:nvCxnSpPr>
          <p:spPr>
            <a:xfrm>
              <a:off x="7210256" y="4306664"/>
              <a:ext cx="731983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="" xmlns:a16="http://schemas.microsoft.com/office/drawing/2014/main" id="{DC6164EF-76F7-4005-BB38-89266147DAAE}"/>
                </a:ext>
              </a:extLst>
            </p:cNvPr>
            <p:cNvCxnSpPr/>
            <p:nvPr/>
          </p:nvCxnSpPr>
          <p:spPr>
            <a:xfrm>
              <a:off x="10157495" y="4286152"/>
              <a:ext cx="731983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="" xmlns:a16="http://schemas.microsoft.com/office/drawing/2014/main" id="{B21A631C-D2FE-49B1-8957-E25DAB8A74E9}"/>
                </a:ext>
              </a:extLst>
            </p:cNvPr>
            <p:cNvSpPr txBox="1"/>
            <p:nvPr/>
          </p:nvSpPr>
          <p:spPr>
            <a:xfrm>
              <a:off x="7323732" y="3858527"/>
              <a:ext cx="27195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="" xmlns:a16="http://schemas.microsoft.com/office/drawing/2014/main" id="{75F7D584-AAAD-45E0-87DE-22B8A5DFE1D6}"/>
                </a:ext>
              </a:extLst>
            </p:cNvPr>
            <p:cNvSpPr txBox="1"/>
            <p:nvPr/>
          </p:nvSpPr>
          <p:spPr>
            <a:xfrm>
              <a:off x="10318246" y="3858251"/>
              <a:ext cx="27195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="" xmlns:a16="http://schemas.microsoft.com/office/drawing/2014/main" id="{5400B237-E3F1-4BEA-A919-8B46A9BC728C}"/>
                </a:ext>
              </a:extLst>
            </p:cNvPr>
            <p:cNvSpPr txBox="1"/>
            <p:nvPr/>
          </p:nvSpPr>
          <p:spPr>
            <a:xfrm>
              <a:off x="8813526" y="3875484"/>
              <a:ext cx="27195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18" name="Arc 17">
              <a:extLst>
                <a:ext uri="{FF2B5EF4-FFF2-40B4-BE49-F238E27FC236}">
                  <a16:creationId xmlns="" xmlns:a16="http://schemas.microsoft.com/office/drawing/2014/main" id="{4A9D3AB6-108E-4062-B22C-A1FC38CC204A}"/>
                </a:ext>
              </a:extLst>
            </p:cNvPr>
            <p:cNvSpPr/>
            <p:nvPr/>
          </p:nvSpPr>
          <p:spPr>
            <a:xfrm>
              <a:off x="6586120" y="3539957"/>
              <a:ext cx="471227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="" xmlns:a16="http://schemas.microsoft.com/office/drawing/2014/main" id="{E375BB6D-D318-45C8-92CF-41E5277E6E10}"/>
              </a:ext>
            </a:extLst>
          </p:cNvPr>
          <p:cNvSpPr txBox="1"/>
          <p:nvPr/>
        </p:nvSpPr>
        <p:spPr>
          <a:xfrm>
            <a:off x="232635" y="231729"/>
            <a:ext cx="31599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Parse Tree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="" xmlns:a16="http://schemas.microsoft.com/office/drawing/2014/main" id="{B4F23E4F-F5BD-46EA-B169-ED7CDFBCDE79}"/>
              </a:ext>
            </a:extLst>
          </p:cNvPr>
          <p:cNvSpPr txBox="1"/>
          <p:nvPr/>
        </p:nvSpPr>
        <p:spPr>
          <a:xfrm>
            <a:off x="2342643" y="209872"/>
            <a:ext cx="5657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a/b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="" xmlns:a16="http://schemas.microsoft.com/office/drawing/2014/main" id="{5F59A017-09C9-4CAA-9DC2-D08568FC45F3}"/>
              </a:ext>
            </a:extLst>
          </p:cNvPr>
          <p:cNvCxnSpPr>
            <a:cxnSpLocks/>
          </p:cNvCxnSpPr>
          <p:nvPr/>
        </p:nvCxnSpPr>
        <p:spPr>
          <a:xfrm>
            <a:off x="9771632" y="1459439"/>
            <a:ext cx="0" cy="623354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="" xmlns:a16="http://schemas.microsoft.com/office/drawing/2014/main" id="{32E191C6-3FE0-46CC-8C30-B1F3B698A741}"/>
              </a:ext>
            </a:extLst>
          </p:cNvPr>
          <p:cNvSpPr txBox="1"/>
          <p:nvPr/>
        </p:nvSpPr>
        <p:spPr>
          <a:xfrm>
            <a:off x="9543171" y="999065"/>
            <a:ext cx="8635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X1 </a:t>
            </a:r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(a)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="" xmlns:a16="http://schemas.microsoft.com/office/drawing/2014/main" id="{0954F32B-B50F-456A-876C-E19AD9DC5AB2}"/>
              </a:ext>
            </a:extLst>
          </p:cNvPr>
          <p:cNvCxnSpPr>
            <a:cxnSpLocks/>
          </p:cNvCxnSpPr>
          <p:nvPr/>
        </p:nvCxnSpPr>
        <p:spPr>
          <a:xfrm flipH="1">
            <a:off x="7808615" y="372270"/>
            <a:ext cx="774058" cy="745283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="" xmlns:a16="http://schemas.microsoft.com/office/drawing/2014/main" id="{8C0209D4-36BF-429F-BFAC-8EF113B0D14B}"/>
              </a:ext>
            </a:extLst>
          </p:cNvPr>
          <p:cNvCxnSpPr>
            <a:cxnSpLocks/>
          </p:cNvCxnSpPr>
          <p:nvPr/>
        </p:nvCxnSpPr>
        <p:spPr>
          <a:xfrm>
            <a:off x="8735488" y="372270"/>
            <a:ext cx="956602" cy="745283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="" xmlns:a16="http://schemas.microsoft.com/office/drawing/2014/main" id="{442A6FE7-B380-47BC-AFE6-A6174E8C2B5E}"/>
              </a:ext>
            </a:extLst>
          </p:cNvPr>
          <p:cNvSpPr txBox="1"/>
          <p:nvPr/>
        </p:nvSpPr>
        <p:spPr>
          <a:xfrm>
            <a:off x="8410398" y="3107287"/>
            <a:ext cx="9439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X2 </a:t>
            </a:r>
            <a:endParaRPr lang="en-US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="" xmlns:a16="http://schemas.microsoft.com/office/drawing/2014/main" id="{6F4F3F1E-134C-441A-8EFF-5241D4FF3060}"/>
              </a:ext>
            </a:extLst>
          </p:cNvPr>
          <p:cNvSpPr txBox="1"/>
          <p:nvPr/>
        </p:nvSpPr>
        <p:spPr>
          <a:xfrm>
            <a:off x="8455224" y="0"/>
            <a:ext cx="8991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X0  </a:t>
            </a:r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="" xmlns:a16="http://schemas.microsoft.com/office/drawing/2014/main" id="{9B070F29-9A7E-4F17-921F-8FB4B12F06AE}"/>
              </a:ext>
            </a:extLst>
          </p:cNvPr>
          <p:cNvSpPr txBox="1"/>
          <p:nvPr/>
        </p:nvSpPr>
        <p:spPr>
          <a:xfrm>
            <a:off x="7604474" y="1024453"/>
            <a:ext cx="850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X0  </a:t>
            </a:r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="" xmlns:a16="http://schemas.microsoft.com/office/drawing/2014/main" id="{42ACC4AB-5123-440E-BF30-A1A6E2F356F5}"/>
              </a:ext>
            </a:extLst>
          </p:cNvPr>
          <p:cNvSpPr txBox="1"/>
          <p:nvPr/>
        </p:nvSpPr>
        <p:spPr>
          <a:xfrm>
            <a:off x="6739075" y="2016126"/>
            <a:ext cx="8120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X0 </a:t>
            </a:r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="" xmlns:a16="http://schemas.microsoft.com/office/drawing/2014/main" id="{BD6C7C82-7BF4-4C08-AEF6-1DFD9231BBBD}"/>
              </a:ext>
            </a:extLst>
          </p:cNvPr>
          <p:cNvSpPr txBox="1"/>
          <p:nvPr/>
        </p:nvSpPr>
        <p:spPr>
          <a:xfrm>
            <a:off x="6707003" y="3171443"/>
            <a:ext cx="844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X0 </a:t>
            </a:r>
            <a:endParaRPr lang="en-US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="" xmlns:a16="http://schemas.microsoft.com/office/drawing/2014/main" id="{46296339-5A22-4B8E-93EE-B62D91D158AE}"/>
              </a:ext>
            </a:extLst>
          </p:cNvPr>
          <p:cNvSpPr txBox="1"/>
          <p:nvPr/>
        </p:nvSpPr>
        <p:spPr>
          <a:xfrm>
            <a:off x="8423960" y="2030278"/>
            <a:ext cx="8120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X1 </a:t>
            </a:r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(b) 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="" xmlns:a16="http://schemas.microsoft.com/office/drawing/2014/main" id="{AFD252DD-8076-48A6-8E42-E81BE675F6DB}"/>
              </a:ext>
            </a:extLst>
          </p:cNvPr>
          <p:cNvCxnSpPr>
            <a:cxnSpLocks/>
          </p:cNvCxnSpPr>
          <p:nvPr/>
        </p:nvCxnSpPr>
        <p:spPr>
          <a:xfrm flipH="1">
            <a:off x="6955749" y="1337510"/>
            <a:ext cx="774058" cy="745283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="" xmlns:a16="http://schemas.microsoft.com/office/drawing/2014/main" id="{2FA49442-CA3A-4F18-984A-1051F171E499}"/>
              </a:ext>
            </a:extLst>
          </p:cNvPr>
          <p:cNvCxnSpPr>
            <a:cxnSpLocks/>
          </p:cNvCxnSpPr>
          <p:nvPr/>
        </p:nvCxnSpPr>
        <p:spPr>
          <a:xfrm>
            <a:off x="7855140" y="1328538"/>
            <a:ext cx="740641" cy="754255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="" xmlns:a16="http://schemas.microsoft.com/office/drawing/2014/main" id="{2C2502C7-9064-4178-887C-11B95EEC2D5A}"/>
              </a:ext>
            </a:extLst>
          </p:cNvPr>
          <p:cNvCxnSpPr>
            <a:cxnSpLocks/>
          </p:cNvCxnSpPr>
          <p:nvPr/>
        </p:nvCxnSpPr>
        <p:spPr>
          <a:xfrm flipH="1">
            <a:off x="6901022" y="2373248"/>
            <a:ext cx="18190" cy="915197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="" xmlns:a16="http://schemas.microsoft.com/office/drawing/2014/main" id="{1C825FF5-3DE8-4FF7-9A07-5A785E3FFC1B}"/>
              </a:ext>
            </a:extLst>
          </p:cNvPr>
          <p:cNvCxnSpPr>
            <a:cxnSpLocks/>
          </p:cNvCxnSpPr>
          <p:nvPr/>
        </p:nvCxnSpPr>
        <p:spPr>
          <a:xfrm>
            <a:off x="8612489" y="2362974"/>
            <a:ext cx="0" cy="848315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Multiplication Sign 80">
            <a:extLst>
              <a:ext uri="{FF2B5EF4-FFF2-40B4-BE49-F238E27FC236}">
                <a16:creationId xmlns="" xmlns:a16="http://schemas.microsoft.com/office/drawing/2014/main" id="{D1B1A970-3D64-460E-8776-532AAE64E9B4}"/>
              </a:ext>
            </a:extLst>
          </p:cNvPr>
          <p:cNvSpPr/>
          <p:nvPr/>
        </p:nvSpPr>
        <p:spPr>
          <a:xfrm>
            <a:off x="9585572" y="1976731"/>
            <a:ext cx="372119" cy="540327"/>
          </a:xfrm>
          <a:prstGeom prst="mathMultiply">
            <a:avLst>
              <a:gd name="adj1" fmla="val 13264"/>
            </a:avLst>
          </a:prstGeom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="" xmlns:a16="http://schemas.microsoft.com/office/drawing/2014/main" id="{B85D2CE8-D8C9-4073-BD5A-126443271EFE}"/>
              </a:ext>
            </a:extLst>
          </p:cNvPr>
          <p:cNvSpPr/>
          <p:nvPr/>
        </p:nvSpPr>
        <p:spPr>
          <a:xfrm>
            <a:off x="217787" y="1445144"/>
            <a:ext cx="1467068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</a:p>
          <a:p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</a:t>
            </a:r>
            <a:r>
              <a:rPr lang="en-US" sz="3600" dirty="0" err="1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aba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676525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  <p:bldP spid="46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0B4A0631-DF62-4237-9AA4-89A76913D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43</a:t>
            </a:fld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="" xmlns:a16="http://schemas.microsoft.com/office/drawing/2014/main" id="{B270EF88-0041-4DA9-B7EC-C7755B983FFC}"/>
              </a:ext>
            </a:extLst>
          </p:cNvPr>
          <p:cNvGrpSpPr/>
          <p:nvPr/>
        </p:nvGrpSpPr>
        <p:grpSpPr>
          <a:xfrm>
            <a:off x="1468313" y="409868"/>
            <a:ext cx="4956311" cy="1385911"/>
            <a:chOff x="5989984" y="3539957"/>
            <a:chExt cx="5712531" cy="1171382"/>
          </a:xfrm>
        </p:grpSpPr>
        <p:sp>
          <p:nvSpPr>
            <p:cNvPr id="5" name="Oval 4">
              <a:extLst>
                <a:ext uri="{FF2B5EF4-FFF2-40B4-BE49-F238E27FC236}">
                  <a16:creationId xmlns="" xmlns:a16="http://schemas.microsoft.com/office/drawing/2014/main" id="{D3637AE5-5439-4ED1-8ACE-F85086B502DF}"/>
                </a:ext>
              </a:extLst>
            </p:cNvPr>
            <p:cNvSpPr/>
            <p:nvPr/>
          </p:nvSpPr>
          <p:spPr>
            <a:xfrm>
              <a:off x="6486746" y="3963569"/>
              <a:ext cx="697006" cy="712694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x0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="" xmlns:a16="http://schemas.microsoft.com/office/drawing/2014/main" id="{EEA2B45F-D490-41CB-82B1-525D1B8CE5B1}"/>
                </a:ext>
              </a:extLst>
            </p:cNvPr>
            <p:cNvSpPr/>
            <p:nvPr/>
          </p:nvSpPr>
          <p:spPr>
            <a:xfrm>
              <a:off x="7941653" y="3950317"/>
              <a:ext cx="697006" cy="712694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x1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="" xmlns:a16="http://schemas.microsoft.com/office/drawing/2014/main" id="{1BE0B0FA-3F16-4163-A584-537E666D0E95}"/>
                </a:ext>
              </a:extLst>
            </p:cNvPr>
            <p:cNvSpPr/>
            <p:nvPr/>
          </p:nvSpPr>
          <p:spPr>
            <a:xfrm>
              <a:off x="9411634" y="3937065"/>
              <a:ext cx="697006" cy="712694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x2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="" xmlns:a16="http://schemas.microsoft.com/office/drawing/2014/main" id="{C508899E-7329-4A06-BCB2-8F56A3069688}"/>
                </a:ext>
              </a:extLst>
            </p:cNvPr>
            <p:cNvCxnSpPr/>
            <p:nvPr/>
          </p:nvCxnSpPr>
          <p:spPr>
            <a:xfrm>
              <a:off x="5989984" y="4319916"/>
              <a:ext cx="48354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" name="Group 8">
              <a:extLst>
                <a:ext uri="{FF2B5EF4-FFF2-40B4-BE49-F238E27FC236}">
                  <a16:creationId xmlns="" xmlns:a16="http://schemas.microsoft.com/office/drawing/2014/main" id="{44942177-63D9-45ED-ADF7-F2E00B5BD8B7}"/>
                </a:ext>
              </a:extLst>
            </p:cNvPr>
            <p:cNvGrpSpPr/>
            <p:nvPr/>
          </p:nvGrpSpPr>
          <p:grpSpPr>
            <a:xfrm>
              <a:off x="10899171" y="3875484"/>
              <a:ext cx="803344" cy="835855"/>
              <a:chOff x="5184749" y="4682255"/>
              <a:chExt cx="803344" cy="835855"/>
            </a:xfrm>
          </p:grpSpPr>
          <p:sp>
            <p:nvSpPr>
              <p:cNvPr id="10" name="Oval 9">
                <a:extLst>
                  <a:ext uri="{FF2B5EF4-FFF2-40B4-BE49-F238E27FC236}">
                    <a16:creationId xmlns="" xmlns:a16="http://schemas.microsoft.com/office/drawing/2014/main" id="{1A90B709-A6EF-4AF3-8058-50CF1F57FBE0}"/>
                  </a:ext>
                </a:extLst>
              </p:cNvPr>
              <p:cNvSpPr/>
              <p:nvPr/>
            </p:nvSpPr>
            <p:spPr>
              <a:xfrm>
                <a:off x="5184749" y="4682255"/>
                <a:ext cx="803344" cy="835855"/>
              </a:xfrm>
              <a:prstGeom prst="ellips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="" xmlns:a16="http://schemas.microsoft.com/office/drawing/2014/main" id="{6ABF4264-5FDC-4260-92AA-D1EB5134B145}"/>
                  </a:ext>
                </a:extLst>
              </p:cNvPr>
              <p:cNvSpPr/>
              <p:nvPr/>
            </p:nvSpPr>
            <p:spPr>
              <a:xfrm>
                <a:off x="5241993" y="4745149"/>
                <a:ext cx="697006" cy="712694"/>
              </a:xfrm>
              <a:prstGeom prst="ellips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x3</a:t>
                </a:r>
              </a:p>
            </p:txBody>
          </p:sp>
        </p:grpSp>
        <p:cxnSp>
          <p:nvCxnSpPr>
            <p:cNvPr id="12" name="Straight Arrow Connector 11">
              <a:extLst>
                <a:ext uri="{FF2B5EF4-FFF2-40B4-BE49-F238E27FC236}">
                  <a16:creationId xmlns="" xmlns:a16="http://schemas.microsoft.com/office/drawing/2014/main" id="{D5AA6CE2-3948-4433-BA7A-3127946350CC}"/>
                </a:ext>
              </a:extLst>
            </p:cNvPr>
            <p:cNvCxnSpPr/>
            <p:nvPr/>
          </p:nvCxnSpPr>
          <p:spPr>
            <a:xfrm>
              <a:off x="8665163" y="4293412"/>
              <a:ext cx="731983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="" xmlns:a16="http://schemas.microsoft.com/office/drawing/2014/main" id="{0D18B66A-683A-44C8-8EBD-EF875F593CAF}"/>
                </a:ext>
              </a:extLst>
            </p:cNvPr>
            <p:cNvCxnSpPr/>
            <p:nvPr/>
          </p:nvCxnSpPr>
          <p:spPr>
            <a:xfrm>
              <a:off x="7210256" y="4306664"/>
              <a:ext cx="731983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="" xmlns:a16="http://schemas.microsoft.com/office/drawing/2014/main" id="{DC6164EF-76F7-4005-BB38-89266147DAAE}"/>
                </a:ext>
              </a:extLst>
            </p:cNvPr>
            <p:cNvCxnSpPr/>
            <p:nvPr/>
          </p:nvCxnSpPr>
          <p:spPr>
            <a:xfrm>
              <a:off x="10157495" y="4286152"/>
              <a:ext cx="731983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="" xmlns:a16="http://schemas.microsoft.com/office/drawing/2014/main" id="{B21A631C-D2FE-49B1-8957-E25DAB8A74E9}"/>
                </a:ext>
              </a:extLst>
            </p:cNvPr>
            <p:cNvSpPr txBox="1"/>
            <p:nvPr/>
          </p:nvSpPr>
          <p:spPr>
            <a:xfrm>
              <a:off x="7323732" y="3858527"/>
              <a:ext cx="27195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="" xmlns:a16="http://schemas.microsoft.com/office/drawing/2014/main" id="{75F7D584-AAAD-45E0-87DE-22B8A5DFE1D6}"/>
                </a:ext>
              </a:extLst>
            </p:cNvPr>
            <p:cNvSpPr txBox="1"/>
            <p:nvPr/>
          </p:nvSpPr>
          <p:spPr>
            <a:xfrm>
              <a:off x="10318246" y="3858251"/>
              <a:ext cx="27195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="" xmlns:a16="http://schemas.microsoft.com/office/drawing/2014/main" id="{5400B237-E3F1-4BEA-A919-8B46A9BC728C}"/>
                </a:ext>
              </a:extLst>
            </p:cNvPr>
            <p:cNvSpPr txBox="1"/>
            <p:nvPr/>
          </p:nvSpPr>
          <p:spPr>
            <a:xfrm>
              <a:off x="8813526" y="3875484"/>
              <a:ext cx="27195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18" name="Arc 17">
              <a:extLst>
                <a:ext uri="{FF2B5EF4-FFF2-40B4-BE49-F238E27FC236}">
                  <a16:creationId xmlns="" xmlns:a16="http://schemas.microsoft.com/office/drawing/2014/main" id="{4A9D3AB6-108E-4062-B22C-A1FC38CC204A}"/>
                </a:ext>
              </a:extLst>
            </p:cNvPr>
            <p:cNvSpPr/>
            <p:nvPr/>
          </p:nvSpPr>
          <p:spPr>
            <a:xfrm>
              <a:off x="6586120" y="3539957"/>
              <a:ext cx="471227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="" xmlns:a16="http://schemas.microsoft.com/office/drawing/2014/main" id="{E375BB6D-D318-45C8-92CF-41E5277E6E10}"/>
              </a:ext>
            </a:extLst>
          </p:cNvPr>
          <p:cNvSpPr txBox="1"/>
          <p:nvPr/>
        </p:nvSpPr>
        <p:spPr>
          <a:xfrm>
            <a:off x="232635" y="231729"/>
            <a:ext cx="31599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Parse Tree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="" xmlns:a16="http://schemas.microsoft.com/office/drawing/2014/main" id="{B4F23E4F-F5BD-46EA-B169-ED7CDFBCDE79}"/>
              </a:ext>
            </a:extLst>
          </p:cNvPr>
          <p:cNvSpPr txBox="1"/>
          <p:nvPr/>
        </p:nvSpPr>
        <p:spPr>
          <a:xfrm>
            <a:off x="2342643" y="209872"/>
            <a:ext cx="5657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a/b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="" xmlns:a16="http://schemas.microsoft.com/office/drawing/2014/main" id="{5F59A017-09C9-4CAA-9DC2-D08568FC45F3}"/>
              </a:ext>
            </a:extLst>
          </p:cNvPr>
          <p:cNvCxnSpPr>
            <a:cxnSpLocks/>
          </p:cNvCxnSpPr>
          <p:nvPr/>
        </p:nvCxnSpPr>
        <p:spPr>
          <a:xfrm>
            <a:off x="9771632" y="1459439"/>
            <a:ext cx="0" cy="623354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="" xmlns:a16="http://schemas.microsoft.com/office/drawing/2014/main" id="{32E191C6-3FE0-46CC-8C30-B1F3B698A741}"/>
              </a:ext>
            </a:extLst>
          </p:cNvPr>
          <p:cNvSpPr txBox="1"/>
          <p:nvPr/>
        </p:nvSpPr>
        <p:spPr>
          <a:xfrm>
            <a:off x="9543171" y="999065"/>
            <a:ext cx="8635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X1 </a:t>
            </a:r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(a)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="" xmlns:a16="http://schemas.microsoft.com/office/drawing/2014/main" id="{0954F32B-B50F-456A-876C-E19AD9DC5AB2}"/>
              </a:ext>
            </a:extLst>
          </p:cNvPr>
          <p:cNvCxnSpPr>
            <a:cxnSpLocks/>
          </p:cNvCxnSpPr>
          <p:nvPr/>
        </p:nvCxnSpPr>
        <p:spPr>
          <a:xfrm flipH="1">
            <a:off x="7808615" y="372270"/>
            <a:ext cx="774058" cy="745283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="" xmlns:a16="http://schemas.microsoft.com/office/drawing/2014/main" id="{8C0209D4-36BF-429F-BFAC-8EF113B0D14B}"/>
              </a:ext>
            </a:extLst>
          </p:cNvPr>
          <p:cNvCxnSpPr>
            <a:cxnSpLocks/>
          </p:cNvCxnSpPr>
          <p:nvPr/>
        </p:nvCxnSpPr>
        <p:spPr>
          <a:xfrm>
            <a:off x="8735488" y="372270"/>
            <a:ext cx="956602" cy="745283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="" xmlns:a16="http://schemas.microsoft.com/office/drawing/2014/main" id="{442A6FE7-B380-47BC-AFE6-A6174E8C2B5E}"/>
              </a:ext>
            </a:extLst>
          </p:cNvPr>
          <p:cNvSpPr txBox="1"/>
          <p:nvPr/>
        </p:nvSpPr>
        <p:spPr>
          <a:xfrm>
            <a:off x="8410398" y="3107287"/>
            <a:ext cx="9439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X2 </a:t>
            </a:r>
            <a:endParaRPr lang="en-US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="" xmlns:a16="http://schemas.microsoft.com/office/drawing/2014/main" id="{6F4F3F1E-134C-441A-8EFF-5241D4FF3060}"/>
              </a:ext>
            </a:extLst>
          </p:cNvPr>
          <p:cNvSpPr txBox="1"/>
          <p:nvPr/>
        </p:nvSpPr>
        <p:spPr>
          <a:xfrm>
            <a:off x="8455224" y="0"/>
            <a:ext cx="8991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X0  </a:t>
            </a:r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="" xmlns:a16="http://schemas.microsoft.com/office/drawing/2014/main" id="{9B070F29-9A7E-4F17-921F-8FB4B12F06AE}"/>
              </a:ext>
            </a:extLst>
          </p:cNvPr>
          <p:cNvSpPr txBox="1"/>
          <p:nvPr/>
        </p:nvSpPr>
        <p:spPr>
          <a:xfrm>
            <a:off x="7604474" y="1024453"/>
            <a:ext cx="850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X0  </a:t>
            </a:r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="" xmlns:a16="http://schemas.microsoft.com/office/drawing/2014/main" id="{42ACC4AB-5123-440E-BF30-A1A6E2F356F5}"/>
              </a:ext>
            </a:extLst>
          </p:cNvPr>
          <p:cNvSpPr txBox="1"/>
          <p:nvPr/>
        </p:nvSpPr>
        <p:spPr>
          <a:xfrm>
            <a:off x="6739075" y="2016126"/>
            <a:ext cx="8120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X0 </a:t>
            </a:r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="" xmlns:a16="http://schemas.microsoft.com/office/drawing/2014/main" id="{BD6C7C82-7BF4-4C08-AEF6-1DFD9231BBBD}"/>
              </a:ext>
            </a:extLst>
          </p:cNvPr>
          <p:cNvSpPr txBox="1"/>
          <p:nvPr/>
        </p:nvSpPr>
        <p:spPr>
          <a:xfrm>
            <a:off x="6707003" y="3171443"/>
            <a:ext cx="844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X0 </a:t>
            </a:r>
            <a:endParaRPr lang="en-US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="" xmlns:a16="http://schemas.microsoft.com/office/drawing/2014/main" id="{46296339-5A22-4B8E-93EE-B62D91D158AE}"/>
              </a:ext>
            </a:extLst>
          </p:cNvPr>
          <p:cNvSpPr txBox="1"/>
          <p:nvPr/>
        </p:nvSpPr>
        <p:spPr>
          <a:xfrm>
            <a:off x="8423960" y="2030278"/>
            <a:ext cx="8120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X1 </a:t>
            </a:r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(b) 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="" xmlns:a16="http://schemas.microsoft.com/office/drawing/2014/main" id="{AFD252DD-8076-48A6-8E42-E81BE675F6DB}"/>
              </a:ext>
            </a:extLst>
          </p:cNvPr>
          <p:cNvCxnSpPr>
            <a:cxnSpLocks/>
          </p:cNvCxnSpPr>
          <p:nvPr/>
        </p:nvCxnSpPr>
        <p:spPr>
          <a:xfrm flipH="1">
            <a:off x="6955749" y="1337510"/>
            <a:ext cx="774058" cy="745283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="" xmlns:a16="http://schemas.microsoft.com/office/drawing/2014/main" id="{2FA49442-CA3A-4F18-984A-1051F171E499}"/>
              </a:ext>
            </a:extLst>
          </p:cNvPr>
          <p:cNvCxnSpPr>
            <a:cxnSpLocks/>
          </p:cNvCxnSpPr>
          <p:nvPr/>
        </p:nvCxnSpPr>
        <p:spPr>
          <a:xfrm>
            <a:off x="7855140" y="1328538"/>
            <a:ext cx="740641" cy="754255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="" xmlns:a16="http://schemas.microsoft.com/office/drawing/2014/main" id="{2C2502C7-9064-4178-887C-11B95EEC2D5A}"/>
              </a:ext>
            </a:extLst>
          </p:cNvPr>
          <p:cNvCxnSpPr>
            <a:cxnSpLocks/>
          </p:cNvCxnSpPr>
          <p:nvPr/>
        </p:nvCxnSpPr>
        <p:spPr>
          <a:xfrm flipH="1">
            <a:off x="6901022" y="2373248"/>
            <a:ext cx="18190" cy="915197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="" xmlns:a16="http://schemas.microsoft.com/office/drawing/2014/main" id="{1C825FF5-3DE8-4FF7-9A07-5A785E3FFC1B}"/>
              </a:ext>
            </a:extLst>
          </p:cNvPr>
          <p:cNvCxnSpPr>
            <a:cxnSpLocks/>
          </p:cNvCxnSpPr>
          <p:nvPr/>
        </p:nvCxnSpPr>
        <p:spPr>
          <a:xfrm>
            <a:off x="8612489" y="2362974"/>
            <a:ext cx="0" cy="848315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Multiplication Sign 80">
            <a:extLst>
              <a:ext uri="{FF2B5EF4-FFF2-40B4-BE49-F238E27FC236}">
                <a16:creationId xmlns="" xmlns:a16="http://schemas.microsoft.com/office/drawing/2014/main" id="{D1B1A970-3D64-460E-8776-532AAE64E9B4}"/>
              </a:ext>
            </a:extLst>
          </p:cNvPr>
          <p:cNvSpPr/>
          <p:nvPr/>
        </p:nvSpPr>
        <p:spPr>
          <a:xfrm>
            <a:off x="9585572" y="1976731"/>
            <a:ext cx="372119" cy="540327"/>
          </a:xfrm>
          <a:prstGeom prst="mathMultiply">
            <a:avLst>
              <a:gd name="adj1" fmla="val 13264"/>
            </a:avLst>
          </a:prstGeom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="" xmlns:a16="http://schemas.microsoft.com/office/drawing/2014/main" id="{B85D2CE8-D8C9-4073-BD5A-126443271EFE}"/>
              </a:ext>
            </a:extLst>
          </p:cNvPr>
          <p:cNvSpPr/>
          <p:nvPr/>
        </p:nvSpPr>
        <p:spPr>
          <a:xfrm>
            <a:off x="217787" y="1445144"/>
            <a:ext cx="1467068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</a:p>
          <a:p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</a:t>
            </a:r>
            <a:r>
              <a:rPr lang="en-US" sz="3600" dirty="0" err="1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</a:t>
            </a:r>
            <a:endParaRPr lang="en-US" sz="3600" dirty="0"/>
          </a:p>
        </p:txBody>
      </p:sp>
      <p:sp>
        <p:nvSpPr>
          <p:cNvPr id="38" name="TextBox 37">
            <a:extLst>
              <a:ext uri="{FF2B5EF4-FFF2-40B4-BE49-F238E27FC236}">
                <a16:creationId xmlns="" xmlns:a16="http://schemas.microsoft.com/office/drawing/2014/main" id="{F22453BB-66E8-4766-8951-650A96B2C953}"/>
              </a:ext>
            </a:extLst>
          </p:cNvPr>
          <p:cNvSpPr txBox="1"/>
          <p:nvPr/>
        </p:nvSpPr>
        <p:spPr>
          <a:xfrm>
            <a:off x="6997146" y="3164863"/>
            <a:ext cx="844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="" xmlns:a16="http://schemas.microsoft.com/office/drawing/2014/main" id="{EF88CF1D-48D3-4F01-A60B-A513D36DC617}"/>
              </a:ext>
            </a:extLst>
          </p:cNvPr>
          <p:cNvSpPr txBox="1"/>
          <p:nvPr/>
        </p:nvSpPr>
        <p:spPr>
          <a:xfrm>
            <a:off x="8698783" y="3101350"/>
            <a:ext cx="844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6480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  <p:bldP spid="39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0B4A0631-DF62-4237-9AA4-89A76913D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44</a:t>
            </a:fld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="" xmlns:a16="http://schemas.microsoft.com/office/drawing/2014/main" id="{B270EF88-0041-4DA9-B7EC-C7755B983FFC}"/>
              </a:ext>
            </a:extLst>
          </p:cNvPr>
          <p:cNvGrpSpPr/>
          <p:nvPr/>
        </p:nvGrpSpPr>
        <p:grpSpPr>
          <a:xfrm>
            <a:off x="1468313" y="409868"/>
            <a:ext cx="4956311" cy="1385911"/>
            <a:chOff x="5989984" y="3539957"/>
            <a:chExt cx="5712531" cy="1171382"/>
          </a:xfrm>
        </p:grpSpPr>
        <p:sp>
          <p:nvSpPr>
            <p:cNvPr id="5" name="Oval 4">
              <a:extLst>
                <a:ext uri="{FF2B5EF4-FFF2-40B4-BE49-F238E27FC236}">
                  <a16:creationId xmlns="" xmlns:a16="http://schemas.microsoft.com/office/drawing/2014/main" id="{D3637AE5-5439-4ED1-8ACE-F85086B502DF}"/>
                </a:ext>
              </a:extLst>
            </p:cNvPr>
            <p:cNvSpPr/>
            <p:nvPr/>
          </p:nvSpPr>
          <p:spPr>
            <a:xfrm>
              <a:off x="6486746" y="3963569"/>
              <a:ext cx="697006" cy="712694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x0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="" xmlns:a16="http://schemas.microsoft.com/office/drawing/2014/main" id="{EEA2B45F-D490-41CB-82B1-525D1B8CE5B1}"/>
                </a:ext>
              </a:extLst>
            </p:cNvPr>
            <p:cNvSpPr/>
            <p:nvPr/>
          </p:nvSpPr>
          <p:spPr>
            <a:xfrm>
              <a:off x="7941653" y="3950317"/>
              <a:ext cx="697006" cy="712694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x1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="" xmlns:a16="http://schemas.microsoft.com/office/drawing/2014/main" id="{1BE0B0FA-3F16-4163-A584-537E666D0E95}"/>
                </a:ext>
              </a:extLst>
            </p:cNvPr>
            <p:cNvSpPr/>
            <p:nvPr/>
          </p:nvSpPr>
          <p:spPr>
            <a:xfrm>
              <a:off x="9411634" y="3937065"/>
              <a:ext cx="697006" cy="712694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x2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="" xmlns:a16="http://schemas.microsoft.com/office/drawing/2014/main" id="{C508899E-7329-4A06-BCB2-8F56A3069688}"/>
                </a:ext>
              </a:extLst>
            </p:cNvPr>
            <p:cNvCxnSpPr/>
            <p:nvPr/>
          </p:nvCxnSpPr>
          <p:spPr>
            <a:xfrm>
              <a:off x="5989984" y="4319916"/>
              <a:ext cx="48354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" name="Group 8">
              <a:extLst>
                <a:ext uri="{FF2B5EF4-FFF2-40B4-BE49-F238E27FC236}">
                  <a16:creationId xmlns="" xmlns:a16="http://schemas.microsoft.com/office/drawing/2014/main" id="{44942177-63D9-45ED-ADF7-F2E00B5BD8B7}"/>
                </a:ext>
              </a:extLst>
            </p:cNvPr>
            <p:cNvGrpSpPr/>
            <p:nvPr/>
          </p:nvGrpSpPr>
          <p:grpSpPr>
            <a:xfrm>
              <a:off x="10899171" y="3875484"/>
              <a:ext cx="803344" cy="835855"/>
              <a:chOff x="5184749" y="4682255"/>
              <a:chExt cx="803344" cy="835855"/>
            </a:xfrm>
          </p:grpSpPr>
          <p:sp>
            <p:nvSpPr>
              <p:cNvPr id="10" name="Oval 9">
                <a:extLst>
                  <a:ext uri="{FF2B5EF4-FFF2-40B4-BE49-F238E27FC236}">
                    <a16:creationId xmlns="" xmlns:a16="http://schemas.microsoft.com/office/drawing/2014/main" id="{1A90B709-A6EF-4AF3-8058-50CF1F57FBE0}"/>
                  </a:ext>
                </a:extLst>
              </p:cNvPr>
              <p:cNvSpPr/>
              <p:nvPr/>
            </p:nvSpPr>
            <p:spPr>
              <a:xfrm>
                <a:off x="5184749" y="4682255"/>
                <a:ext cx="803344" cy="835855"/>
              </a:xfrm>
              <a:prstGeom prst="ellips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="" xmlns:a16="http://schemas.microsoft.com/office/drawing/2014/main" id="{6ABF4264-5FDC-4260-92AA-D1EB5134B145}"/>
                  </a:ext>
                </a:extLst>
              </p:cNvPr>
              <p:cNvSpPr/>
              <p:nvPr/>
            </p:nvSpPr>
            <p:spPr>
              <a:xfrm>
                <a:off x="5241993" y="4745149"/>
                <a:ext cx="697006" cy="712694"/>
              </a:xfrm>
              <a:prstGeom prst="ellips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x3</a:t>
                </a:r>
              </a:p>
            </p:txBody>
          </p:sp>
        </p:grpSp>
        <p:cxnSp>
          <p:nvCxnSpPr>
            <p:cNvPr id="12" name="Straight Arrow Connector 11">
              <a:extLst>
                <a:ext uri="{FF2B5EF4-FFF2-40B4-BE49-F238E27FC236}">
                  <a16:creationId xmlns="" xmlns:a16="http://schemas.microsoft.com/office/drawing/2014/main" id="{D5AA6CE2-3948-4433-BA7A-3127946350CC}"/>
                </a:ext>
              </a:extLst>
            </p:cNvPr>
            <p:cNvCxnSpPr/>
            <p:nvPr/>
          </p:nvCxnSpPr>
          <p:spPr>
            <a:xfrm>
              <a:off x="8665163" y="4293412"/>
              <a:ext cx="731983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="" xmlns:a16="http://schemas.microsoft.com/office/drawing/2014/main" id="{0D18B66A-683A-44C8-8EBD-EF875F593CAF}"/>
                </a:ext>
              </a:extLst>
            </p:cNvPr>
            <p:cNvCxnSpPr/>
            <p:nvPr/>
          </p:nvCxnSpPr>
          <p:spPr>
            <a:xfrm>
              <a:off x="7210256" y="4306664"/>
              <a:ext cx="731983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="" xmlns:a16="http://schemas.microsoft.com/office/drawing/2014/main" id="{DC6164EF-76F7-4005-BB38-89266147DAAE}"/>
                </a:ext>
              </a:extLst>
            </p:cNvPr>
            <p:cNvCxnSpPr/>
            <p:nvPr/>
          </p:nvCxnSpPr>
          <p:spPr>
            <a:xfrm>
              <a:off x="10157495" y="4286152"/>
              <a:ext cx="731983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="" xmlns:a16="http://schemas.microsoft.com/office/drawing/2014/main" id="{B21A631C-D2FE-49B1-8957-E25DAB8A74E9}"/>
                </a:ext>
              </a:extLst>
            </p:cNvPr>
            <p:cNvSpPr txBox="1"/>
            <p:nvPr/>
          </p:nvSpPr>
          <p:spPr>
            <a:xfrm>
              <a:off x="7323732" y="3858527"/>
              <a:ext cx="27195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="" xmlns:a16="http://schemas.microsoft.com/office/drawing/2014/main" id="{75F7D584-AAAD-45E0-87DE-22B8A5DFE1D6}"/>
                </a:ext>
              </a:extLst>
            </p:cNvPr>
            <p:cNvSpPr txBox="1"/>
            <p:nvPr/>
          </p:nvSpPr>
          <p:spPr>
            <a:xfrm>
              <a:off x="10318246" y="3858251"/>
              <a:ext cx="27195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="" xmlns:a16="http://schemas.microsoft.com/office/drawing/2014/main" id="{5400B237-E3F1-4BEA-A919-8B46A9BC728C}"/>
                </a:ext>
              </a:extLst>
            </p:cNvPr>
            <p:cNvSpPr txBox="1"/>
            <p:nvPr/>
          </p:nvSpPr>
          <p:spPr>
            <a:xfrm>
              <a:off x="8813526" y="3875484"/>
              <a:ext cx="27195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18" name="Arc 17">
              <a:extLst>
                <a:ext uri="{FF2B5EF4-FFF2-40B4-BE49-F238E27FC236}">
                  <a16:creationId xmlns="" xmlns:a16="http://schemas.microsoft.com/office/drawing/2014/main" id="{4A9D3AB6-108E-4062-B22C-A1FC38CC204A}"/>
                </a:ext>
              </a:extLst>
            </p:cNvPr>
            <p:cNvSpPr/>
            <p:nvPr/>
          </p:nvSpPr>
          <p:spPr>
            <a:xfrm>
              <a:off x="6586120" y="3539957"/>
              <a:ext cx="471227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="" xmlns:a16="http://schemas.microsoft.com/office/drawing/2014/main" id="{E375BB6D-D318-45C8-92CF-41E5277E6E10}"/>
              </a:ext>
            </a:extLst>
          </p:cNvPr>
          <p:cNvSpPr txBox="1"/>
          <p:nvPr/>
        </p:nvSpPr>
        <p:spPr>
          <a:xfrm>
            <a:off x="232635" y="231729"/>
            <a:ext cx="31599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Parse Tree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="" xmlns:a16="http://schemas.microsoft.com/office/drawing/2014/main" id="{B4F23E4F-F5BD-46EA-B169-ED7CDFBCDE79}"/>
              </a:ext>
            </a:extLst>
          </p:cNvPr>
          <p:cNvSpPr txBox="1"/>
          <p:nvPr/>
        </p:nvSpPr>
        <p:spPr>
          <a:xfrm>
            <a:off x="2342643" y="209872"/>
            <a:ext cx="5657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a/b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="" xmlns:a16="http://schemas.microsoft.com/office/drawing/2014/main" id="{5F59A017-09C9-4CAA-9DC2-D08568FC45F3}"/>
              </a:ext>
            </a:extLst>
          </p:cNvPr>
          <p:cNvCxnSpPr>
            <a:cxnSpLocks/>
          </p:cNvCxnSpPr>
          <p:nvPr/>
        </p:nvCxnSpPr>
        <p:spPr>
          <a:xfrm>
            <a:off x="9771632" y="1459439"/>
            <a:ext cx="0" cy="623354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="" xmlns:a16="http://schemas.microsoft.com/office/drawing/2014/main" id="{32E191C6-3FE0-46CC-8C30-B1F3B698A741}"/>
              </a:ext>
            </a:extLst>
          </p:cNvPr>
          <p:cNvSpPr txBox="1"/>
          <p:nvPr/>
        </p:nvSpPr>
        <p:spPr>
          <a:xfrm>
            <a:off x="9543171" y="999065"/>
            <a:ext cx="8635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X1 </a:t>
            </a:r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(a)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="" xmlns:a16="http://schemas.microsoft.com/office/drawing/2014/main" id="{0954F32B-B50F-456A-876C-E19AD9DC5AB2}"/>
              </a:ext>
            </a:extLst>
          </p:cNvPr>
          <p:cNvCxnSpPr>
            <a:cxnSpLocks/>
          </p:cNvCxnSpPr>
          <p:nvPr/>
        </p:nvCxnSpPr>
        <p:spPr>
          <a:xfrm flipH="1">
            <a:off x="7808615" y="372270"/>
            <a:ext cx="774058" cy="745283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="" xmlns:a16="http://schemas.microsoft.com/office/drawing/2014/main" id="{8C0209D4-36BF-429F-BFAC-8EF113B0D14B}"/>
              </a:ext>
            </a:extLst>
          </p:cNvPr>
          <p:cNvCxnSpPr>
            <a:cxnSpLocks/>
          </p:cNvCxnSpPr>
          <p:nvPr/>
        </p:nvCxnSpPr>
        <p:spPr>
          <a:xfrm>
            <a:off x="8735488" y="372270"/>
            <a:ext cx="956602" cy="745283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="" xmlns:a16="http://schemas.microsoft.com/office/drawing/2014/main" id="{20163BB8-9288-4AFA-B1AB-768E3D975F1B}"/>
              </a:ext>
            </a:extLst>
          </p:cNvPr>
          <p:cNvSpPr txBox="1"/>
          <p:nvPr/>
        </p:nvSpPr>
        <p:spPr>
          <a:xfrm>
            <a:off x="8423960" y="4162976"/>
            <a:ext cx="8120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X3</a:t>
            </a:r>
            <a:endParaRPr lang="en-US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="" xmlns:a16="http://schemas.microsoft.com/office/drawing/2014/main" id="{442A6FE7-B380-47BC-AFE6-A6174E8C2B5E}"/>
              </a:ext>
            </a:extLst>
          </p:cNvPr>
          <p:cNvSpPr txBox="1"/>
          <p:nvPr/>
        </p:nvSpPr>
        <p:spPr>
          <a:xfrm>
            <a:off x="8410398" y="3107287"/>
            <a:ext cx="9439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X2 </a:t>
            </a:r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="" xmlns:a16="http://schemas.microsoft.com/office/drawing/2014/main" id="{6F4F3F1E-134C-441A-8EFF-5241D4FF3060}"/>
              </a:ext>
            </a:extLst>
          </p:cNvPr>
          <p:cNvSpPr txBox="1"/>
          <p:nvPr/>
        </p:nvSpPr>
        <p:spPr>
          <a:xfrm>
            <a:off x="8455224" y="0"/>
            <a:ext cx="8991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X0  </a:t>
            </a:r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="" xmlns:a16="http://schemas.microsoft.com/office/drawing/2014/main" id="{9B070F29-9A7E-4F17-921F-8FB4B12F06AE}"/>
              </a:ext>
            </a:extLst>
          </p:cNvPr>
          <p:cNvSpPr txBox="1"/>
          <p:nvPr/>
        </p:nvSpPr>
        <p:spPr>
          <a:xfrm>
            <a:off x="7604474" y="1024453"/>
            <a:ext cx="850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X0  </a:t>
            </a:r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="" xmlns:a16="http://schemas.microsoft.com/office/drawing/2014/main" id="{42ACC4AB-5123-440E-BF30-A1A6E2F356F5}"/>
              </a:ext>
            </a:extLst>
          </p:cNvPr>
          <p:cNvSpPr txBox="1"/>
          <p:nvPr/>
        </p:nvSpPr>
        <p:spPr>
          <a:xfrm>
            <a:off x="6739075" y="2016126"/>
            <a:ext cx="8120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X0 </a:t>
            </a:r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="" xmlns:a16="http://schemas.microsoft.com/office/drawing/2014/main" id="{BD6C7C82-7BF4-4C08-AEF6-1DFD9231BBBD}"/>
              </a:ext>
            </a:extLst>
          </p:cNvPr>
          <p:cNvSpPr txBox="1"/>
          <p:nvPr/>
        </p:nvSpPr>
        <p:spPr>
          <a:xfrm>
            <a:off x="6707003" y="3171443"/>
            <a:ext cx="844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X0 </a:t>
            </a:r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="" xmlns:a16="http://schemas.microsoft.com/office/drawing/2014/main" id="{AFB2F205-94FA-4345-AB99-8AF1C0E765E9}"/>
              </a:ext>
            </a:extLst>
          </p:cNvPr>
          <p:cNvSpPr txBox="1"/>
          <p:nvPr/>
        </p:nvSpPr>
        <p:spPr>
          <a:xfrm>
            <a:off x="5901074" y="4162976"/>
            <a:ext cx="818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X0 </a:t>
            </a:r>
            <a:endParaRPr lang="en-US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="" xmlns:a16="http://schemas.microsoft.com/office/drawing/2014/main" id="{46296339-5A22-4B8E-93EE-B62D91D158AE}"/>
              </a:ext>
            </a:extLst>
          </p:cNvPr>
          <p:cNvSpPr txBox="1"/>
          <p:nvPr/>
        </p:nvSpPr>
        <p:spPr>
          <a:xfrm>
            <a:off x="8423960" y="2030278"/>
            <a:ext cx="8120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X1 </a:t>
            </a:r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(b) 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="" xmlns:a16="http://schemas.microsoft.com/office/drawing/2014/main" id="{A918B3F7-2E00-4A94-AC52-3C78A79FBCB5}"/>
              </a:ext>
            </a:extLst>
          </p:cNvPr>
          <p:cNvSpPr txBox="1"/>
          <p:nvPr/>
        </p:nvSpPr>
        <p:spPr>
          <a:xfrm>
            <a:off x="7551113" y="4153067"/>
            <a:ext cx="8182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X1</a:t>
            </a:r>
            <a:endParaRPr lang="en-US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="" xmlns:a16="http://schemas.microsoft.com/office/drawing/2014/main" id="{AFD252DD-8076-48A6-8E42-E81BE675F6DB}"/>
              </a:ext>
            </a:extLst>
          </p:cNvPr>
          <p:cNvCxnSpPr>
            <a:cxnSpLocks/>
          </p:cNvCxnSpPr>
          <p:nvPr/>
        </p:nvCxnSpPr>
        <p:spPr>
          <a:xfrm flipH="1">
            <a:off x="6955749" y="1337510"/>
            <a:ext cx="774058" cy="745283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="" xmlns:a16="http://schemas.microsoft.com/office/drawing/2014/main" id="{2FA49442-CA3A-4F18-984A-1051F171E499}"/>
              </a:ext>
            </a:extLst>
          </p:cNvPr>
          <p:cNvCxnSpPr>
            <a:cxnSpLocks/>
          </p:cNvCxnSpPr>
          <p:nvPr/>
        </p:nvCxnSpPr>
        <p:spPr>
          <a:xfrm>
            <a:off x="7855140" y="1328538"/>
            <a:ext cx="740641" cy="754255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="" xmlns:a16="http://schemas.microsoft.com/office/drawing/2014/main" id="{2C2502C7-9064-4178-887C-11B95EEC2D5A}"/>
              </a:ext>
            </a:extLst>
          </p:cNvPr>
          <p:cNvCxnSpPr>
            <a:cxnSpLocks/>
          </p:cNvCxnSpPr>
          <p:nvPr/>
        </p:nvCxnSpPr>
        <p:spPr>
          <a:xfrm flipH="1">
            <a:off x="6901022" y="2373248"/>
            <a:ext cx="18190" cy="915197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="" xmlns:a16="http://schemas.microsoft.com/office/drawing/2014/main" id="{1C825FF5-3DE8-4FF7-9A07-5A785E3FFC1B}"/>
              </a:ext>
            </a:extLst>
          </p:cNvPr>
          <p:cNvCxnSpPr>
            <a:cxnSpLocks/>
          </p:cNvCxnSpPr>
          <p:nvPr/>
        </p:nvCxnSpPr>
        <p:spPr>
          <a:xfrm>
            <a:off x="8612489" y="2362974"/>
            <a:ext cx="0" cy="848315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="" xmlns:a16="http://schemas.microsoft.com/office/drawing/2014/main" id="{C7D640D8-34F9-4997-9FA1-523B8C303761}"/>
              </a:ext>
            </a:extLst>
          </p:cNvPr>
          <p:cNvCxnSpPr>
            <a:cxnSpLocks/>
          </p:cNvCxnSpPr>
          <p:nvPr/>
        </p:nvCxnSpPr>
        <p:spPr>
          <a:xfrm flipH="1">
            <a:off x="6084172" y="3533759"/>
            <a:ext cx="774058" cy="745283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="" xmlns:a16="http://schemas.microsoft.com/office/drawing/2014/main" id="{6D0326CB-2101-4A6E-A0A6-38DDDF9F3EBF}"/>
              </a:ext>
            </a:extLst>
          </p:cNvPr>
          <p:cNvCxnSpPr>
            <a:cxnSpLocks/>
          </p:cNvCxnSpPr>
          <p:nvPr/>
        </p:nvCxnSpPr>
        <p:spPr>
          <a:xfrm>
            <a:off x="6983562" y="3524787"/>
            <a:ext cx="740641" cy="754255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="" xmlns:a16="http://schemas.microsoft.com/office/drawing/2014/main" id="{EDB9B745-35DC-48FF-8320-D25F2D544912}"/>
              </a:ext>
            </a:extLst>
          </p:cNvPr>
          <p:cNvCxnSpPr>
            <a:cxnSpLocks/>
          </p:cNvCxnSpPr>
          <p:nvPr/>
        </p:nvCxnSpPr>
        <p:spPr>
          <a:xfrm>
            <a:off x="8593067" y="3430726"/>
            <a:ext cx="0" cy="848315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Multiplication Sign 80">
            <a:extLst>
              <a:ext uri="{FF2B5EF4-FFF2-40B4-BE49-F238E27FC236}">
                <a16:creationId xmlns="" xmlns:a16="http://schemas.microsoft.com/office/drawing/2014/main" id="{D1B1A970-3D64-460E-8776-532AAE64E9B4}"/>
              </a:ext>
            </a:extLst>
          </p:cNvPr>
          <p:cNvSpPr/>
          <p:nvPr/>
        </p:nvSpPr>
        <p:spPr>
          <a:xfrm>
            <a:off x="9585572" y="1976731"/>
            <a:ext cx="372119" cy="540327"/>
          </a:xfrm>
          <a:prstGeom prst="mathMultiply">
            <a:avLst>
              <a:gd name="adj1" fmla="val 13264"/>
            </a:avLst>
          </a:prstGeom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="" xmlns:a16="http://schemas.microsoft.com/office/drawing/2014/main" id="{36EEDBD6-51CE-4E75-BD92-D8A13438332A}"/>
              </a:ext>
            </a:extLst>
          </p:cNvPr>
          <p:cNvSpPr/>
          <p:nvPr/>
        </p:nvSpPr>
        <p:spPr>
          <a:xfrm>
            <a:off x="217787" y="1445144"/>
            <a:ext cx="1467068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</a:p>
          <a:p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</a:t>
            </a:r>
            <a:r>
              <a:rPr lang="en-US" sz="3600" dirty="0" err="1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4908965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7" grpId="0"/>
      <p:bldP spid="50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0B4A0631-DF62-4237-9AA4-89A76913D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45</a:t>
            </a:fld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="" xmlns:a16="http://schemas.microsoft.com/office/drawing/2014/main" id="{B270EF88-0041-4DA9-B7EC-C7755B983FFC}"/>
              </a:ext>
            </a:extLst>
          </p:cNvPr>
          <p:cNvGrpSpPr/>
          <p:nvPr/>
        </p:nvGrpSpPr>
        <p:grpSpPr>
          <a:xfrm>
            <a:off x="1468313" y="409868"/>
            <a:ext cx="4956311" cy="1385911"/>
            <a:chOff x="5989984" y="3539957"/>
            <a:chExt cx="5712531" cy="1171382"/>
          </a:xfrm>
        </p:grpSpPr>
        <p:sp>
          <p:nvSpPr>
            <p:cNvPr id="5" name="Oval 4">
              <a:extLst>
                <a:ext uri="{FF2B5EF4-FFF2-40B4-BE49-F238E27FC236}">
                  <a16:creationId xmlns="" xmlns:a16="http://schemas.microsoft.com/office/drawing/2014/main" id="{D3637AE5-5439-4ED1-8ACE-F85086B502DF}"/>
                </a:ext>
              </a:extLst>
            </p:cNvPr>
            <p:cNvSpPr/>
            <p:nvPr/>
          </p:nvSpPr>
          <p:spPr>
            <a:xfrm>
              <a:off x="6486746" y="3963569"/>
              <a:ext cx="697006" cy="712694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x0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="" xmlns:a16="http://schemas.microsoft.com/office/drawing/2014/main" id="{EEA2B45F-D490-41CB-82B1-525D1B8CE5B1}"/>
                </a:ext>
              </a:extLst>
            </p:cNvPr>
            <p:cNvSpPr/>
            <p:nvPr/>
          </p:nvSpPr>
          <p:spPr>
            <a:xfrm>
              <a:off x="7941653" y="3950317"/>
              <a:ext cx="697006" cy="712694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x1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="" xmlns:a16="http://schemas.microsoft.com/office/drawing/2014/main" id="{1BE0B0FA-3F16-4163-A584-537E666D0E95}"/>
                </a:ext>
              </a:extLst>
            </p:cNvPr>
            <p:cNvSpPr/>
            <p:nvPr/>
          </p:nvSpPr>
          <p:spPr>
            <a:xfrm>
              <a:off x="9411634" y="3937065"/>
              <a:ext cx="697006" cy="712694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x2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="" xmlns:a16="http://schemas.microsoft.com/office/drawing/2014/main" id="{C508899E-7329-4A06-BCB2-8F56A3069688}"/>
                </a:ext>
              </a:extLst>
            </p:cNvPr>
            <p:cNvCxnSpPr/>
            <p:nvPr/>
          </p:nvCxnSpPr>
          <p:spPr>
            <a:xfrm>
              <a:off x="5989984" y="4319916"/>
              <a:ext cx="48354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" name="Group 8">
              <a:extLst>
                <a:ext uri="{FF2B5EF4-FFF2-40B4-BE49-F238E27FC236}">
                  <a16:creationId xmlns="" xmlns:a16="http://schemas.microsoft.com/office/drawing/2014/main" id="{44942177-63D9-45ED-ADF7-F2E00B5BD8B7}"/>
                </a:ext>
              </a:extLst>
            </p:cNvPr>
            <p:cNvGrpSpPr/>
            <p:nvPr/>
          </p:nvGrpSpPr>
          <p:grpSpPr>
            <a:xfrm>
              <a:off x="10899171" y="3875484"/>
              <a:ext cx="803344" cy="835855"/>
              <a:chOff x="5184749" y="4682255"/>
              <a:chExt cx="803344" cy="835855"/>
            </a:xfrm>
          </p:grpSpPr>
          <p:sp>
            <p:nvSpPr>
              <p:cNvPr id="10" name="Oval 9">
                <a:extLst>
                  <a:ext uri="{FF2B5EF4-FFF2-40B4-BE49-F238E27FC236}">
                    <a16:creationId xmlns="" xmlns:a16="http://schemas.microsoft.com/office/drawing/2014/main" id="{1A90B709-A6EF-4AF3-8058-50CF1F57FBE0}"/>
                  </a:ext>
                </a:extLst>
              </p:cNvPr>
              <p:cNvSpPr/>
              <p:nvPr/>
            </p:nvSpPr>
            <p:spPr>
              <a:xfrm>
                <a:off x="5184749" y="4682255"/>
                <a:ext cx="803344" cy="835855"/>
              </a:xfrm>
              <a:prstGeom prst="ellips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="" xmlns:a16="http://schemas.microsoft.com/office/drawing/2014/main" id="{6ABF4264-5FDC-4260-92AA-D1EB5134B145}"/>
                  </a:ext>
                </a:extLst>
              </p:cNvPr>
              <p:cNvSpPr/>
              <p:nvPr/>
            </p:nvSpPr>
            <p:spPr>
              <a:xfrm>
                <a:off x="5241993" y="4745149"/>
                <a:ext cx="697006" cy="712694"/>
              </a:xfrm>
              <a:prstGeom prst="ellips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x3</a:t>
                </a:r>
              </a:p>
            </p:txBody>
          </p:sp>
        </p:grpSp>
        <p:cxnSp>
          <p:nvCxnSpPr>
            <p:cNvPr id="12" name="Straight Arrow Connector 11">
              <a:extLst>
                <a:ext uri="{FF2B5EF4-FFF2-40B4-BE49-F238E27FC236}">
                  <a16:creationId xmlns="" xmlns:a16="http://schemas.microsoft.com/office/drawing/2014/main" id="{D5AA6CE2-3948-4433-BA7A-3127946350CC}"/>
                </a:ext>
              </a:extLst>
            </p:cNvPr>
            <p:cNvCxnSpPr/>
            <p:nvPr/>
          </p:nvCxnSpPr>
          <p:spPr>
            <a:xfrm>
              <a:off x="8665163" y="4293412"/>
              <a:ext cx="731983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="" xmlns:a16="http://schemas.microsoft.com/office/drawing/2014/main" id="{0D18B66A-683A-44C8-8EBD-EF875F593CAF}"/>
                </a:ext>
              </a:extLst>
            </p:cNvPr>
            <p:cNvCxnSpPr/>
            <p:nvPr/>
          </p:nvCxnSpPr>
          <p:spPr>
            <a:xfrm>
              <a:off x="7210256" y="4306664"/>
              <a:ext cx="731983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="" xmlns:a16="http://schemas.microsoft.com/office/drawing/2014/main" id="{DC6164EF-76F7-4005-BB38-89266147DAAE}"/>
                </a:ext>
              </a:extLst>
            </p:cNvPr>
            <p:cNvCxnSpPr/>
            <p:nvPr/>
          </p:nvCxnSpPr>
          <p:spPr>
            <a:xfrm>
              <a:off x="10157495" y="4286152"/>
              <a:ext cx="731983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="" xmlns:a16="http://schemas.microsoft.com/office/drawing/2014/main" id="{B21A631C-D2FE-49B1-8957-E25DAB8A74E9}"/>
                </a:ext>
              </a:extLst>
            </p:cNvPr>
            <p:cNvSpPr txBox="1"/>
            <p:nvPr/>
          </p:nvSpPr>
          <p:spPr>
            <a:xfrm>
              <a:off x="7323732" y="3858527"/>
              <a:ext cx="27195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="" xmlns:a16="http://schemas.microsoft.com/office/drawing/2014/main" id="{75F7D584-AAAD-45E0-87DE-22B8A5DFE1D6}"/>
                </a:ext>
              </a:extLst>
            </p:cNvPr>
            <p:cNvSpPr txBox="1"/>
            <p:nvPr/>
          </p:nvSpPr>
          <p:spPr>
            <a:xfrm>
              <a:off x="10318246" y="3858251"/>
              <a:ext cx="27195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="" xmlns:a16="http://schemas.microsoft.com/office/drawing/2014/main" id="{5400B237-E3F1-4BEA-A919-8B46A9BC728C}"/>
                </a:ext>
              </a:extLst>
            </p:cNvPr>
            <p:cNvSpPr txBox="1"/>
            <p:nvPr/>
          </p:nvSpPr>
          <p:spPr>
            <a:xfrm>
              <a:off x="8813526" y="3875484"/>
              <a:ext cx="27195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18" name="Arc 17">
              <a:extLst>
                <a:ext uri="{FF2B5EF4-FFF2-40B4-BE49-F238E27FC236}">
                  <a16:creationId xmlns="" xmlns:a16="http://schemas.microsoft.com/office/drawing/2014/main" id="{4A9D3AB6-108E-4062-B22C-A1FC38CC204A}"/>
                </a:ext>
              </a:extLst>
            </p:cNvPr>
            <p:cNvSpPr/>
            <p:nvPr/>
          </p:nvSpPr>
          <p:spPr>
            <a:xfrm>
              <a:off x="6586120" y="3539957"/>
              <a:ext cx="471227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="" xmlns:a16="http://schemas.microsoft.com/office/drawing/2014/main" id="{E375BB6D-D318-45C8-92CF-41E5277E6E10}"/>
              </a:ext>
            </a:extLst>
          </p:cNvPr>
          <p:cNvSpPr txBox="1"/>
          <p:nvPr/>
        </p:nvSpPr>
        <p:spPr>
          <a:xfrm>
            <a:off x="232635" y="231729"/>
            <a:ext cx="31599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Parse Tree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="" xmlns:a16="http://schemas.microsoft.com/office/drawing/2014/main" id="{B4F23E4F-F5BD-46EA-B169-ED7CDFBCDE79}"/>
              </a:ext>
            </a:extLst>
          </p:cNvPr>
          <p:cNvSpPr txBox="1"/>
          <p:nvPr/>
        </p:nvSpPr>
        <p:spPr>
          <a:xfrm>
            <a:off x="2342643" y="209872"/>
            <a:ext cx="5657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a/b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="" xmlns:a16="http://schemas.microsoft.com/office/drawing/2014/main" id="{5F59A017-09C9-4CAA-9DC2-D08568FC45F3}"/>
              </a:ext>
            </a:extLst>
          </p:cNvPr>
          <p:cNvCxnSpPr>
            <a:cxnSpLocks/>
          </p:cNvCxnSpPr>
          <p:nvPr/>
        </p:nvCxnSpPr>
        <p:spPr>
          <a:xfrm>
            <a:off x="9771632" y="1459439"/>
            <a:ext cx="0" cy="623354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="" xmlns:a16="http://schemas.microsoft.com/office/drawing/2014/main" id="{32E191C6-3FE0-46CC-8C30-B1F3B698A741}"/>
              </a:ext>
            </a:extLst>
          </p:cNvPr>
          <p:cNvSpPr txBox="1"/>
          <p:nvPr/>
        </p:nvSpPr>
        <p:spPr>
          <a:xfrm>
            <a:off x="9543171" y="999065"/>
            <a:ext cx="8635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X1 </a:t>
            </a:r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(a)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="" xmlns:a16="http://schemas.microsoft.com/office/drawing/2014/main" id="{0954F32B-B50F-456A-876C-E19AD9DC5AB2}"/>
              </a:ext>
            </a:extLst>
          </p:cNvPr>
          <p:cNvCxnSpPr>
            <a:cxnSpLocks/>
          </p:cNvCxnSpPr>
          <p:nvPr/>
        </p:nvCxnSpPr>
        <p:spPr>
          <a:xfrm flipH="1">
            <a:off x="7808615" y="372270"/>
            <a:ext cx="774058" cy="745283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="" xmlns:a16="http://schemas.microsoft.com/office/drawing/2014/main" id="{8C0209D4-36BF-429F-BFAC-8EF113B0D14B}"/>
              </a:ext>
            </a:extLst>
          </p:cNvPr>
          <p:cNvCxnSpPr>
            <a:cxnSpLocks/>
          </p:cNvCxnSpPr>
          <p:nvPr/>
        </p:nvCxnSpPr>
        <p:spPr>
          <a:xfrm>
            <a:off x="8735488" y="372270"/>
            <a:ext cx="956602" cy="745283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="" xmlns:a16="http://schemas.microsoft.com/office/drawing/2014/main" id="{20163BB8-9288-4AFA-B1AB-768E3D975F1B}"/>
              </a:ext>
            </a:extLst>
          </p:cNvPr>
          <p:cNvSpPr txBox="1"/>
          <p:nvPr/>
        </p:nvSpPr>
        <p:spPr>
          <a:xfrm>
            <a:off x="8423960" y="4162976"/>
            <a:ext cx="8120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X3</a:t>
            </a:r>
            <a:endParaRPr lang="en-US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="" xmlns:a16="http://schemas.microsoft.com/office/drawing/2014/main" id="{442A6FE7-B380-47BC-AFE6-A6174E8C2B5E}"/>
              </a:ext>
            </a:extLst>
          </p:cNvPr>
          <p:cNvSpPr txBox="1"/>
          <p:nvPr/>
        </p:nvSpPr>
        <p:spPr>
          <a:xfrm>
            <a:off x="8410398" y="3107287"/>
            <a:ext cx="9439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X2 </a:t>
            </a:r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="" xmlns:a16="http://schemas.microsoft.com/office/drawing/2014/main" id="{6F4F3F1E-134C-441A-8EFF-5241D4FF3060}"/>
              </a:ext>
            </a:extLst>
          </p:cNvPr>
          <p:cNvSpPr txBox="1"/>
          <p:nvPr/>
        </p:nvSpPr>
        <p:spPr>
          <a:xfrm>
            <a:off x="8455224" y="0"/>
            <a:ext cx="8991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X0  </a:t>
            </a:r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="" xmlns:a16="http://schemas.microsoft.com/office/drawing/2014/main" id="{9B070F29-9A7E-4F17-921F-8FB4B12F06AE}"/>
              </a:ext>
            </a:extLst>
          </p:cNvPr>
          <p:cNvSpPr txBox="1"/>
          <p:nvPr/>
        </p:nvSpPr>
        <p:spPr>
          <a:xfrm>
            <a:off x="7604474" y="1024453"/>
            <a:ext cx="850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X0  </a:t>
            </a:r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="" xmlns:a16="http://schemas.microsoft.com/office/drawing/2014/main" id="{42ACC4AB-5123-440E-BF30-A1A6E2F356F5}"/>
              </a:ext>
            </a:extLst>
          </p:cNvPr>
          <p:cNvSpPr txBox="1"/>
          <p:nvPr/>
        </p:nvSpPr>
        <p:spPr>
          <a:xfrm>
            <a:off x="6739075" y="2016126"/>
            <a:ext cx="8120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X0 </a:t>
            </a:r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="" xmlns:a16="http://schemas.microsoft.com/office/drawing/2014/main" id="{BD6C7C82-7BF4-4C08-AEF6-1DFD9231BBBD}"/>
              </a:ext>
            </a:extLst>
          </p:cNvPr>
          <p:cNvSpPr txBox="1"/>
          <p:nvPr/>
        </p:nvSpPr>
        <p:spPr>
          <a:xfrm>
            <a:off x="6707003" y="3171443"/>
            <a:ext cx="844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X0 </a:t>
            </a:r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="" xmlns:a16="http://schemas.microsoft.com/office/drawing/2014/main" id="{AFB2F205-94FA-4345-AB99-8AF1C0E765E9}"/>
              </a:ext>
            </a:extLst>
          </p:cNvPr>
          <p:cNvSpPr txBox="1"/>
          <p:nvPr/>
        </p:nvSpPr>
        <p:spPr>
          <a:xfrm>
            <a:off x="5901074" y="4162976"/>
            <a:ext cx="818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X0 </a:t>
            </a:r>
            <a:endParaRPr lang="en-US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="" xmlns:a16="http://schemas.microsoft.com/office/drawing/2014/main" id="{46296339-5A22-4B8E-93EE-B62D91D158AE}"/>
              </a:ext>
            </a:extLst>
          </p:cNvPr>
          <p:cNvSpPr txBox="1"/>
          <p:nvPr/>
        </p:nvSpPr>
        <p:spPr>
          <a:xfrm>
            <a:off x="8423960" y="2030278"/>
            <a:ext cx="8120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X1 </a:t>
            </a:r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(b) 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="" xmlns:a16="http://schemas.microsoft.com/office/drawing/2014/main" id="{A918B3F7-2E00-4A94-AC52-3C78A79FBCB5}"/>
              </a:ext>
            </a:extLst>
          </p:cNvPr>
          <p:cNvSpPr txBox="1"/>
          <p:nvPr/>
        </p:nvSpPr>
        <p:spPr>
          <a:xfrm>
            <a:off x="7551113" y="4153067"/>
            <a:ext cx="8182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X1</a:t>
            </a:r>
            <a:endParaRPr lang="en-US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="" xmlns:a16="http://schemas.microsoft.com/office/drawing/2014/main" id="{AFD252DD-8076-48A6-8E42-E81BE675F6DB}"/>
              </a:ext>
            </a:extLst>
          </p:cNvPr>
          <p:cNvCxnSpPr>
            <a:cxnSpLocks/>
          </p:cNvCxnSpPr>
          <p:nvPr/>
        </p:nvCxnSpPr>
        <p:spPr>
          <a:xfrm flipH="1">
            <a:off x="6955749" y="1337510"/>
            <a:ext cx="774058" cy="745283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="" xmlns:a16="http://schemas.microsoft.com/office/drawing/2014/main" id="{2FA49442-CA3A-4F18-984A-1051F171E499}"/>
              </a:ext>
            </a:extLst>
          </p:cNvPr>
          <p:cNvCxnSpPr>
            <a:cxnSpLocks/>
          </p:cNvCxnSpPr>
          <p:nvPr/>
        </p:nvCxnSpPr>
        <p:spPr>
          <a:xfrm>
            <a:off x="7855140" y="1328538"/>
            <a:ext cx="740641" cy="754255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="" xmlns:a16="http://schemas.microsoft.com/office/drawing/2014/main" id="{2C2502C7-9064-4178-887C-11B95EEC2D5A}"/>
              </a:ext>
            </a:extLst>
          </p:cNvPr>
          <p:cNvCxnSpPr>
            <a:cxnSpLocks/>
          </p:cNvCxnSpPr>
          <p:nvPr/>
        </p:nvCxnSpPr>
        <p:spPr>
          <a:xfrm flipH="1">
            <a:off x="6901022" y="2373248"/>
            <a:ext cx="18190" cy="915197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="" xmlns:a16="http://schemas.microsoft.com/office/drawing/2014/main" id="{1C825FF5-3DE8-4FF7-9A07-5A785E3FFC1B}"/>
              </a:ext>
            </a:extLst>
          </p:cNvPr>
          <p:cNvCxnSpPr>
            <a:cxnSpLocks/>
          </p:cNvCxnSpPr>
          <p:nvPr/>
        </p:nvCxnSpPr>
        <p:spPr>
          <a:xfrm>
            <a:off x="8612489" y="2362974"/>
            <a:ext cx="0" cy="848315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="" xmlns:a16="http://schemas.microsoft.com/office/drawing/2014/main" id="{C7D640D8-34F9-4997-9FA1-523B8C303761}"/>
              </a:ext>
            </a:extLst>
          </p:cNvPr>
          <p:cNvCxnSpPr>
            <a:cxnSpLocks/>
          </p:cNvCxnSpPr>
          <p:nvPr/>
        </p:nvCxnSpPr>
        <p:spPr>
          <a:xfrm flipH="1">
            <a:off x="6084172" y="3533759"/>
            <a:ext cx="774058" cy="745283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="" xmlns:a16="http://schemas.microsoft.com/office/drawing/2014/main" id="{6D0326CB-2101-4A6E-A0A6-38DDDF9F3EBF}"/>
              </a:ext>
            </a:extLst>
          </p:cNvPr>
          <p:cNvCxnSpPr>
            <a:cxnSpLocks/>
          </p:cNvCxnSpPr>
          <p:nvPr/>
        </p:nvCxnSpPr>
        <p:spPr>
          <a:xfrm>
            <a:off x="6983562" y="3524787"/>
            <a:ext cx="740641" cy="754255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="" xmlns:a16="http://schemas.microsoft.com/office/drawing/2014/main" id="{EDB9B745-35DC-48FF-8320-D25F2D544912}"/>
              </a:ext>
            </a:extLst>
          </p:cNvPr>
          <p:cNvCxnSpPr>
            <a:cxnSpLocks/>
          </p:cNvCxnSpPr>
          <p:nvPr/>
        </p:nvCxnSpPr>
        <p:spPr>
          <a:xfrm>
            <a:off x="8593067" y="3430726"/>
            <a:ext cx="0" cy="848315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Multiplication Sign 80">
            <a:extLst>
              <a:ext uri="{FF2B5EF4-FFF2-40B4-BE49-F238E27FC236}">
                <a16:creationId xmlns="" xmlns:a16="http://schemas.microsoft.com/office/drawing/2014/main" id="{D1B1A970-3D64-460E-8776-532AAE64E9B4}"/>
              </a:ext>
            </a:extLst>
          </p:cNvPr>
          <p:cNvSpPr/>
          <p:nvPr/>
        </p:nvSpPr>
        <p:spPr>
          <a:xfrm>
            <a:off x="9585572" y="1976731"/>
            <a:ext cx="372119" cy="540327"/>
          </a:xfrm>
          <a:prstGeom prst="mathMultiply">
            <a:avLst>
              <a:gd name="adj1" fmla="val 13264"/>
            </a:avLst>
          </a:prstGeom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="" xmlns:a16="http://schemas.microsoft.com/office/drawing/2014/main" id="{36EEDBD6-51CE-4E75-BD92-D8A13438332A}"/>
              </a:ext>
            </a:extLst>
          </p:cNvPr>
          <p:cNvSpPr/>
          <p:nvPr/>
        </p:nvSpPr>
        <p:spPr>
          <a:xfrm>
            <a:off x="217787" y="1445144"/>
            <a:ext cx="1467068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</a:p>
          <a:p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aaba</a:t>
            </a:r>
            <a:r>
              <a:rPr lang="en-US" sz="3600" dirty="0" err="1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en-US" sz="3600" dirty="0"/>
          </a:p>
        </p:txBody>
      </p:sp>
      <p:sp>
        <p:nvSpPr>
          <p:cNvPr id="48" name="TextBox 47">
            <a:extLst>
              <a:ext uri="{FF2B5EF4-FFF2-40B4-BE49-F238E27FC236}">
                <a16:creationId xmlns="" xmlns:a16="http://schemas.microsoft.com/office/drawing/2014/main" id="{2976A877-A107-49F5-8E1F-4DFC378A9A29}"/>
              </a:ext>
            </a:extLst>
          </p:cNvPr>
          <p:cNvSpPr txBox="1"/>
          <p:nvPr/>
        </p:nvSpPr>
        <p:spPr>
          <a:xfrm>
            <a:off x="6226579" y="4154883"/>
            <a:ext cx="5398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="" xmlns:a16="http://schemas.microsoft.com/office/drawing/2014/main" id="{785AC69C-3B56-49E0-9BAD-9DE0FD778508}"/>
              </a:ext>
            </a:extLst>
          </p:cNvPr>
          <p:cNvSpPr txBox="1"/>
          <p:nvPr/>
        </p:nvSpPr>
        <p:spPr>
          <a:xfrm>
            <a:off x="7818401" y="4131481"/>
            <a:ext cx="5398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="" xmlns:a16="http://schemas.microsoft.com/office/drawing/2014/main" id="{8AC68B1E-38BC-4600-94D6-96C8DA1BCCDF}"/>
              </a:ext>
            </a:extLst>
          </p:cNvPr>
          <p:cNvSpPr txBox="1"/>
          <p:nvPr/>
        </p:nvSpPr>
        <p:spPr>
          <a:xfrm>
            <a:off x="8711983" y="4133855"/>
            <a:ext cx="5398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</a:p>
        </p:txBody>
      </p:sp>
    </p:spTree>
    <p:extLst>
      <p:ext uri="{BB962C8B-B14F-4D97-AF65-F5344CB8AC3E}">
        <p14:creationId xmlns:p14="http://schemas.microsoft.com/office/powerpoint/2010/main" val="3529334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/>
      <p:bldP spid="51" grpId="0"/>
      <p:bldP spid="52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0B4A0631-DF62-4237-9AA4-89A76913D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46</a:t>
            </a:fld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="" xmlns:a16="http://schemas.microsoft.com/office/drawing/2014/main" id="{B270EF88-0041-4DA9-B7EC-C7755B983FFC}"/>
              </a:ext>
            </a:extLst>
          </p:cNvPr>
          <p:cNvGrpSpPr/>
          <p:nvPr/>
        </p:nvGrpSpPr>
        <p:grpSpPr>
          <a:xfrm>
            <a:off x="1468313" y="409868"/>
            <a:ext cx="4956311" cy="1385911"/>
            <a:chOff x="5989984" y="3539957"/>
            <a:chExt cx="5712531" cy="1171382"/>
          </a:xfrm>
        </p:grpSpPr>
        <p:sp>
          <p:nvSpPr>
            <p:cNvPr id="5" name="Oval 4">
              <a:extLst>
                <a:ext uri="{FF2B5EF4-FFF2-40B4-BE49-F238E27FC236}">
                  <a16:creationId xmlns="" xmlns:a16="http://schemas.microsoft.com/office/drawing/2014/main" id="{D3637AE5-5439-4ED1-8ACE-F85086B502DF}"/>
                </a:ext>
              </a:extLst>
            </p:cNvPr>
            <p:cNvSpPr/>
            <p:nvPr/>
          </p:nvSpPr>
          <p:spPr>
            <a:xfrm>
              <a:off x="6486746" y="3963569"/>
              <a:ext cx="697006" cy="712694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x0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="" xmlns:a16="http://schemas.microsoft.com/office/drawing/2014/main" id="{EEA2B45F-D490-41CB-82B1-525D1B8CE5B1}"/>
                </a:ext>
              </a:extLst>
            </p:cNvPr>
            <p:cNvSpPr/>
            <p:nvPr/>
          </p:nvSpPr>
          <p:spPr>
            <a:xfrm>
              <a:off x="7941653" y="3950317"/>
              <a:ext cx="697006" cy="712694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x1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="" xmlns:a16="http://schemas.microsoft.com/office/drawing/2014/main" id="{1BE0B0FA-3F16-4163-A584-537E666D0E95}"/>
                </a:ext>
              </a:extLst>
            </p:cNvPr>
            <p:cNvSpPr/>
            <p:nvPr/>
          </p:nvSpPr>
          <p:spPr>
            <a:xfrm>
              <a:off x="9411634" y="3937065"/>
              <a:ext cx="697006" cy="712694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x2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="" xmlns:a16="http://schemas.microsoft.com/office/drawing/2014/main" id="{C508899E-7329-4A06-BCB2-8F56A3069688}"/>
                </a:ext>
              </a:extLst>
            </p:cNvPr>
            <p:cNvCxnSpPr/>
            <p:nvPr/>
          </p:nvCxnSpPr>
          <p:spPr>
            <a:xfrm>
              <a:off x="5989984" y="4319916"/>
              <a:ext cx="48354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" name="Group 8">
              <a:extLst>
                <a:ext uri="{FF2B5EF4-FFF2-40B4-BE49-F238E27FC236}">
                  <a16:creationId xmlns="" xmlns:a16="http://schemas.microsoft.com/office/drawing/2014/main" id="{44942177-63D9-45ED-ADF7-F2E00B5BD8B7}"/>
                </a:ext>
              </a:extLst>
            </p:cNvPr>
            <p:cNvGrpSpPr/>
            <p:nvPr/>
          </p:nvGrpSpPr>
          <p:grpSpPr>
            <a:xfrm>
              <a:off x="10899171" y="3875484"/>
              <a:ext cx="803344" cy="835855"/>
              <a:chOff x="5184749" y="4682255"/>
              <a:chExt cx="803344" cy="835855"/>
            </a:xfrm>
          </p:grpSpPr>
          <p:sp>
            <p:nvSpPr>
              <p:cNvPr id="10" name="Oval 9">
                <a:extLst>
                  <a:ext uri="{FF2B5EF4-FFF2-40B4-BE49-F238E27FC236}">
                    <a16:creationId xmlns="" xmlns:a16="http://schemas.microsoft.com/office/drawing/2014/main" id="{1A90B709-A6EF-4AF3-8058-50CF1F57FBE0}"/>
                  </a:ext>
                </a:extLst>
              </p:cNvPr>
              <p:cNvSpPr/>
              <p:nvPr/>
            </p:nvSpPr>
            <p:spPr>
              <a:xfrm>
                <a:off x="5184749" y="4682255"/>
                <a:ext cx="803344" cy="835855"/>
              </a:xfrm>
              <a:prstGeom prst="ellips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="" xmlns:a16="http://schemas.microsoft.com/office/drawing/2014/main" id="{6ABF4264-5FDC-4260-92AA-D1EB5134B145}"/>
                  </a:ext>
                </a:extLst>
              </p:cNvPr>
              <p:cNvSpPr/>
              <p:nvPr/>
            </p:nvSpPr>
            <p:spPr>
              <a:xfrm>
                <a:off x="5241993" y="4745149"/>
                <a:ext cx="697006" cy="712694"/>
              </a:xfrm>
              <a:prstGeom prst="ellips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x3</a:t>
                </a:r>
              </a:p>
            </p:txBody>
          </p:sp>
        </p:grpSp>
        <p:cxnSp>
          <p:nvCxnSpPr>
            <p:cNvPr id="12" name="Straight Arrow Connector 11">
              <a:extLst>
                <a:ext uri="{FF2B5EF4-FFF2-40B4-BE49-F238E27FC236}">
                  <a16:creationId xmlns="" xmlns:a16="http://schemas.microsoft.com/office/drawing/2014/main" id="{D5AA6CE2-3948-4433-BA7A-3127946350CC}"/>
                </a:ext>
              </a:extLst>
            </p:cNvPr>
            <p:cNvCxnSpPr/>
            <p:nvPr/>
          </p:nvCxnSpPr>
          <p:spPr>
            <a:xfrm>
              <a:off x="8665163" y="4293412"/>
              <a:ext cx="731983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="" xmlns:a16="http://schemas.microsoft.com/office/drawing/2014/main" id="{0D18B66A-683A-44C8-8EBD-EF875F593CAF}"/>
                </a:ext>
              </a:extLst>
            </p:cNvPr>
            <p:cNvCxnSpPr/>
            <p:nvPr/>
          </p:nvCxnSpPr>
          <p:spPr>
            <a:xfrm>
              <a:off x="7210256" y="4306664"/>
              <a:ext cx="731983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="" xmlns:a16="http://schemas.microsoft.com/office/drawing/2014/main" id="{DC6164EF-76F7-4005-BB38-89266147DAAE}"/>
                </a:ext>
              </a:extLst>
            </p:cNvPr>
            <p:cNvCxnSpPr/>
            <p:nvPr/>
          </p:nvCxnSpPr>
          <p:spPr>
            <a:xfrm>
              <a:off x="10157495" y="4286152"/>
              <a:ext cx="731983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="" xmlns:a16="http://schemas.microsoft.com/office/drawing/2014/main" id="{B21A631C-D2FE-49B1-8957-E25DAB8A74E9}"/>
                </a:ext>
              </a:extLst>
            </p:cNvPr>
            <p:cNvSpPr txBox="1"/>
            <p:nvPr/>
          </p:nvSpPr>
          <p:spPr>
            <a:xfrm>
              <a:off x="7323732" y="3858527"/>
              <a:ext cx="27195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="" xmlns:a16="http://schemas.microsoft.com/office/drawing/2014/main" id="{75F7D584-AAAD-45E0-87DE-22B8A5DFE1D6}"/>
                </a:ext>
              </a:extLst>
            </p:cNvPr>
            <p:cNvSpPr txBox="1"/>
            <p:nvPr/>
          </p:nvSpPr>
          <p:spPr>
            <a:xfrm>
              <a:off x="10318246" y="3858251"/>
              <a:ext cx="27195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="" xmlns:a16="http://schemas.microsoft.com/office/drawing/2014/main" id="{5400B237-E3F1-4BEA-A919-8B46A9BC728C}"/>
                </a:ext>
              </a:extLst>
            </p:cNvPr>
            <p:cNvSpPr txBox="1"/>
            <p:nvPr/>
          </p:nvSpPr>
          <p:spPr>
            <a:xfrm>
              <a:off x="8813526" y="3875484"/>
              <a:ext cx="27195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18" name="Arc 17">
              <a:extLst>
                <a:ext uri="{FF2B5EF4-FFF2-40B4-BE49-F238E27FC236}">
                  <a16:creationId xmlns="" xmlns:a16="http://schemas.microsoft.com/office/drawing/2014/main" id="{4A9D3AB6-108E-4062-B22C-A1FC38CC204A}"/>
                </a:ext>
              </a:extLst>
            </p:cNvPr>
            <p:cNvSpPr/>
            <p:nvPr/>
          </p:nvSpPr>
          <p:spPr>
            <a:xfrm>
              <a:off x="6586120" y="3539957"/>
              <a:ext cx="471227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="" xmlns:a16="http://schemas.microsoft.com/office/drawing/2014/main" id="{E375BB6D-D318-45C8-92CF-41E5277E6E10}"/>
              </a:ext>
            </a:extLst>
          </p:cNvPr>
          <p:cNvSpPr txBox="1"/>
          <p:nvPr/>
        </p:nvSpPr>
        <p:spPr>
          <a:xfrm>
            <a:off x="232635" y="231729"/>
            <a:ext cx="31599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Parse Tree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="" xmlns:a16="http://schemas.microsoft.com/office/drawing/2014/main" id="{B4F23E4F-F5BD-46EA-B169-ED7CDFBCDE79}"/>
              </a:ext>
            </a:extLst>
          </p:cNvPr>
          <p:cNvSpPr txBox="1"/>
          <p:nvPr/>
        </p:nvSpPr>
        <p:spPr>
          <a:xfrm>
            <a:off x="2342643" y="209872"/>
            <a:ext cx="5657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a/b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="" xmlns:a16="http://schemas.microsoft.com/office/drawing/2014/main" id="{5F59A017-09C9-4CAA-9DC2-D08568FC45F3}"/>
              </a:ext>
            </a:extLst>
          </p:cNvPr>
          <p:cNvCxnSpPr>
            <a:cxnSpLocks/>
          </p:cNvCxnSpPr>
          <p:nvPr/>
        </p:nvCxnSpPr>
        <p:spPr>
          <a:xfrm>
            <a:off x="9771632" y="1459439"/>
            <a:ext cx="0" cy="623354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="" xmlns:a16="http://schemas.microsoft.com/office/drawing/2014/main" id="{3813E90F-677D-4624-9162-84E0E16BD3BE}"/>
              </a:ext>
            </a:extLst>
          </p:cNvPr>
          <p:cNvCxnSpPr>
            <a:cxnSpLocks/>
          </p:cNvCxnSpPr>
          <p:nvPr/>
        </p:nvCxnSpPr>
        <p:spPr>
          <a:xfrm>
            <a:off x="8620635" y="4489808"/>
            <a:ext cx="0" cy="719176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="" xmlns:a16="http://schemas.microsoft.com/office/drawing/2014/main" id="{32E191C6-3FE0-46CC-8C30-B1F3B698A741}"/>
              </a:ext>
            </a:extLst>
          </p:cNvPr>
          <p:cNvSpPr txBox="1"/>
          <p:nvPr/>
        </p:nvSpPr>
        <p:spPr>
          <a:xfrm>
            <a:off x="9543171" y="999065"/>
            <a:ext cx="8635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X1 </a:t>
            </a:r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(a)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="" xmlns:a16="http://schemas.microsoft.com/office/drawing/2014/main" id="{0954F32B-B50F-456A-876C-E19AD9DC5AB2}"/>
              </a:ext>
            </a:extLst>
          </p:cNvPr>
          <p:cNvCxnSpPr>
            <a:cxnSpLocks/>
          </p:cNvCxnSpPr>
          <p:nvPr/>
        </p:nvCxnSpPr>
        <p:spPr>
          <a:xfrm flipH="1">
            <a:off x="7808615" y="372270"/>
            <a:ext cx="774058" cy="745283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="" xmlns:a16="http://schemas.microsoft.com/office/drawing/2014/main" id="{8C0209D4-36BF-429F-BFAC-8EF113B0D14B}"/>
              </a:ext>
            </a:extLst>
          </p:cNvPr>
          <p:cNvCxnSpPr>
            <a:cxnSpLocks/>
          </p:cNvCxnSpPr>
          <p:nvPr/>
        </p:nvCxnSpPr>
        <p:spPr>
          <a:xfrm>
            <a:off x="8735488" y="372270"/>
            <a:ext cx="956602" cy="745283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="" xmlns:a16="http://schemas.microsoft.com/office/drawing/2014/main" id="{20163BB8-9288-4AFA-B1AB-768E3D975F1B}"/>
              </a:ext>
            </a:extLst>
          </p:cNvPr>
          <p:cNvSpPr txBox="1"/>
          <p:nvPr/>
        </p:nvSpPr>
        <p:spPr>
          <a:xfrm>
            <a:off x="8423960" y="4162976"/>
            <a:ext cx="8120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X3 </a:t>
            </a:r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="" xmlns:a16="http://schemas.microsoft.com/office/drawing/2014/main" id="{442A6FE7-B380-47BC-AFE6-A6174E8C2B5E}"/>
              </a:ext>
            </a:extLst>
          </p:cNvPr>
          <p:cNvSpPr txBox="1"/>
          <p:nvPr/>
        </p:nvSpPr>
        <p:spPr>
          <a:xfrm>
            <a:off x="8410398" y="3107287"/>
            <a:ext cx="9439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X2 </a:t>
            </a:r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="" xmlns:a16="http://schemas.microsoft.com/office/drawing/2014/main" id="{6F4F3F1E-134C-441A-8EFF-5241D4FF3060}"/>
              </a:ext>
            </a:extLst>
          </p:cNvPr>
          <p:cNvSpPr txBox="1"/>
          <p:nvPr/>
        </p:nvSpPr>
        <p:spPr>
          <a:xfrm>
            <a:off x="8455224" y="0"/>
            <a:ext cx="8991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X0  </a:t>
            </a:r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="" xmlns:a16="http://schemas.microsoft.com/office/drawing/2014/main" id="{9B070F29-9A7E-4F17-921F-8FB4B12F06AE}"/>
              </a:ext>
            </a:extLst>
          </p:cNvPr>
          <p:cNvSpPr txBox="1"/>
          <p:nvPr/>
        </p:nvSpPr>
        <p:spPr>
          <a:xfrm>
            <a:off x="7604474" y="1024453"/>
            <a:ext cx="850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X0  </a:t>
            </a:r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="" xmlns:a16="http://schemas.microsoft.com/office/drawing/2014/main" id="{42ACC4AB-5123-440E-BF30-A1A6E2F356F5}"/>
              </a:ext>
            </a:extLst>
          </p:cNvPr>
          <p:cNvSpPr txBox="1"/>
          <p:nvPr/>
        </p:nvSpPr>
        <p:spPr>
          <a:xfrm>
            <a:off x="6739075" y="2016126"/>
            <a:ext cx="8120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X0 </a:t>
            </a:r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="" xmlns:a16="http://schemas.microsoft.com/office/drawing/2014/main" id="{BD6C7C82-7BF4-4C08-AEF6-1DFD9231BBBD}"/>
              </a:ext>
            </a:extLst>
          </p:cNvPr>
          <p:cNvSpPr txBox="1"/>
          <p:nvPr/>
        </p:nvSpPr>
        <p:spPr>
          <a:xfrm>
            <a:off x="6707003" y="3171443"/>
            <a:ext cx="844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X0 </a:t>
            </a:r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="" xmlns:a16="http://schemas.microsoft.com/office/drawing/2014/main" id="{AFB2F205-94FA-4345-AB99-8AF1C0E765E9}"/>
              </a:ext>
            </a:extLst>
          </p:cNvPr>
          <p:cNvSpPr txBox="1"/>
          <p:nvPr/>
        </p:nvSpPr>
        <p:spPr>
          <a:xfrm>
            <a:off x="5901074" y="4162976"/>
            <a:ext cx="818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X0 </a:t>
            </a:r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="" xmlns:a16="http://schemas.microsoft.com/office/drawing/2014/main" id="{9DAA08EE-4DDD-464C-A6D4-14071B0AD423}"/>
              </a:ext>
            </a:extLst>
          </p:cNvPr>
          <p:cNvSpPr txBox="1"/>
          <p:nvPr/>
        </p:nvSpPr>
        <p:spPr>
          <a:xfrm>
            <a:off x="5906299" y="5296362"/>
            <a:ext cx="832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X0 </a:t>
            </a:r>
            <a:endParaRPr lang="en-US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="" xmlns:a16="http://schemas.microsoft.com/office/drawing/2014/main" id="{46296339-5A22-4B8E-93EE-B62D91D158AE}"/>
              </a:ext>
            </a:extLst>
          </p:cNvPr>
          <p:cNvSpPr txBox="1"/>
          <p:nvPr/>
        </p:nvSpPr>
        <p:spPr>
          <a:xfrm>
            <a:off x="8423960" y="2030278"/>
            <a:ext cx="8120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X1 </a:t>
            </a:r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(b) 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="" xmlns:a16="http://schemas.microsoft.com/office/drawing/2014/main" id="{A918B3F7-2E00-4A94-AC52-3C78A79FBCB5}"/>
              </a:ext>
            </a:extLst>
          </p:cNvPr>
          <p:cNvSpPr txBox="1"/>
          <p:nvPr/>
        </p:nvSpPr>
        <p:spPr>
          <a:xfrm>
            <a:off x="7551113" y="4153067"/>
            <a:ext cx="8182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X1 </a:t>
            </a:r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="" xmlns:a16="http://schemas.microsoft.com/office/drawing/2014/main" id="{433CC169-B75B-4B01-994F-F10157A4F923}"/>
              </a:ext>
            </a:extLst>
          </p:cNvPr>
          <p:cNvSpPr txBox="1"/>
          <p:nvPr/>
        </p:nvSpPr>
        <p:spPr>
          <a:xfrm>
            <a:off x="7551114" y="5229620"/>
            <a:ext cx="818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X2 </a:t>
            </a:r>
            <a:endParaRPr lang="en-US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="" xmlns:a16="http://schemas.microsoft.com/office/drawing/2014/main" id="{AFD252DD-8076-48A6-8E42-E81BE675F6DB}"/>
              </a:ext>
            </a:extLst>
          </p:cNvPr>
          <p:cNvCxnSpPr>
            <a:cxnSpLocks/>
          </p:cNvCxnSpPr>
          <p:nvPr/>
        </p:nvCxnSpPr>
        <p:spPr>
          <a:xfrm flipH="1">
            <a:off x="6955749" y="1337510"/>
            <a:ext cx="774058" cy="745283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="" xmlns:a16="http://schemas.microsoft.com/office/drawing/2014/main" id="{2FA49442-CA3A-4F18-984A-1051F171E499}"/>
              </a:ext>
            </a:extLst>
          </p:cNvPr>
          <p:cNvCxnSpPr>
            <a:cxnSpLocks/>
          </p:cNvCxnSpPr>
          <p:nvPr/>
        </p:nvCxnSpPr>
        <p:spPr>
          <a:xfrm>
            <a:off x="7855140" y="1328538"/>
            <a:ext cx="740641" cy="754255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="" xmlns:a16="http://schemas.microsoft.com/office/drawing/2014/main" id="{2C2502C7-9064-4178-887C-11B95EEC2D5A}"/>
              </a:ext>
            </a:extLst>
          </p:cNvPr>
          <p:cNvCxnSpPr>
            <a:cxnSpLocks/>
          </p:cNvCxnSpPr>
          <p:nvPr/>
        </p:nvCxnSpPr>
        <p:spPr>
          <a:xfrm flipH="1">
            <a:off x="6901022" y="2373248"/>
            <a:ext cx="18190" cy="915197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="" xmlns:a16="http://schemas.microsoft.com/office/drawing/2014/main" id="{1C825FF5-3DE8-4FF7-9A07-5A785E3FFC1B}"/>
              </a:ext>
            </a:extLst>
          </p:cNvPr>
          <p:cNvCxnSpPr>
            <a:cxnSpLocks/>
          </p:cNvCxnSpPr>
          <p:nvPr/>
        </p:nvCxnSpPr>
        <p:spPr>
          <a:xfrm>
            <a:off x="8612489" y="2362974"/>
            <a:ext cx="0" cy="848315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="" xmlns:a16="http://schemas.microsoft.com/office/drawing/2014/main" id="{C7D640D8-34F9-4997-9FA1-523B8C303761}"/>
              </a:ext>
            </a:extLst>
          </p:cNvPr>
          <p:cNvCxnSpPr>
            <a:cxnSpLocks/>
          </p:cNvCxnSpPr>
          <p:nvPr/>
        </p:nvCxnSpPr>
        <p:spPr>
          <a:xfrm flipH="1">
            <a:off x="6084172" y="3533759"/>
            <a:ext cx="774058" cy="745283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="" xmlns:a16="http://schemas.microsoft.com/office/drawing/2014/main" id="{6D0326CB-2101-4A6E-A0A6-38DDDF9F3EBF}"/>
              </a:ext>
            </a:extLst>
          </p:cNvPr>
          <p:cNvCxnSpPr>
            <a:cxnSpLocks/>
          </p:cNvCxnSpPr>
          <p:nvPr/>
        </p:nvCxnSpPr>
        <p:spPr>
          <a:xfrm>
            <a:off x="6983562" y="3524787"/>
            <a:ext cx="740641" cy="754255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="" xmlns:a16="http://schemas.microsoft.com/office/drawing/2014/main" id="{EDB9B745-35DC-48FF-8320-D25F2D544912}"/>
              </a:ext>
            </a:extLst>
          </p:cNvPr>
          <p:cNvCxnSpPr>
            <a:cxnSpLocks/>
          </p:cNvCxnSpPr>
          <p:nvPr/>
        </p:nvCxnSpPr>
        <p:spPr>
          <a:xfrm>
            <a:off x="8593067" y="3430726"/>
            <a:ext cx="0" cy="848315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="" xmlns:a16="http://schemas.microsoft.com/office/drawing/2014/main" id="{755BA1AA-81AE-4B50-817C-E5D812363331}"/>
              </a:ext>
            </a:extLst>
          </p:cNvPr>
          <p:cNvCxnSpPr>
            <a:cxnSpLocks/>
          </p:cNvCxnSpPr>
          <p:nvPr/>
        </p:nvCxnSpPr>
        <p:spPr>
          <a:xfrm flipH="1">
            <a:off x="6084172" y="4485982"/>
            <a:ext cx="18190" cy="915197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="" xmlns:a16="http://schemas.microsoft.com/office/drawing/2014/main" id="{7E58F7AA-5CCB-43A9-83AE-D097DA0C21A7}"/>
              </a:ext>
            </a:extLst>
          </p:cNvPr>
          <p:cNvCxnSpPr>
            <a:cxnSpLocks/>
          </p:cNvCxnSpPr>
          <p:nvPr/>
        </p:nvCxnSpPr>
        <p:spPr>
          <a:xfrm flipH="1">
            <a:off x="7737818" y="4480152"/>
            <a:ext cx="18190" cy="915197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Multiplication Sign 79">
            <a:extLst>
              <a:ext uri="{FF2B5EF4-FFF2-40B4-BE49-F238E27FC236}">
                <a16:creationId xmlns="" xmlns:a16="http://schemas.microsoft.com/office/drawing/2014/main" id="{6E61DDFC-C126-43D1-8ADC-09AC2F28B7CF}"/>
              </a:ext>
            </a:extLst>
          </p:cNvPr>
          <p:cNvSpPr/>
          <p:nvPr/>
        </p:nvSpPr>
        <p:spPr>
          <a:xfrm>
            <a:off x="8424462" y="5095081"/>
            <a:ext cx="372119" cy="540327"/>
          </a:xfrm>
          <a:prstGeom prst="mathMultiply">
            <a:avLst>
              <a:gd name="adj1" fmla="val 13264"/>
            </a:avLst>
          </a:prstGeom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Multiplication Sign 80">
            <a:extLst>
              <a:ext uri="{FF2B5EF4-FFF2-40B4-BE49-F238E27FC236}">
                <a16:creationId xmlns="" xmlns:a16="http://schemas.microsoft.com/office/drawing/2014/main" id="{D1B1A970-3D64-460E-8776-532AAE64E9B4}"/>
              </a:ext>
            </a:extLst>
          </p:cNvPr>
          <p:cNvSpPr/>
          <p:nvPr/>
        </p:nvSpPr>
        <p:spPr>
          <a:xfrm>
            <a:off x="9585572" y="1976731"/>
            <a:ext cx="372119" cy="540327"/>
          </a:xfrm>
          <a:prstGeom prst="mathMultiply">
            <a:avLst>
              <a:gd name="adj1" fmla="val 13264"/>
            </a:avLst>
          </a:prstGeom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="" xmlns:a16="http://schemas.microsoft.com/office/drawing/2014/main" id="{43EF3072-55B8-4C6A-BC49-6A210B0298C1}"/>
              </a:ext>
            </a:extLst>
          </p:cNvPr>
          <p:cNvSpPr/>
          <p:nvPr/>
        </p:nvSpPr>
        <p:spPr>
          <a:xfrm>
            <a:off x="217787" y="1445144"/>
            <a:ext cx="1467068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</a:p>
          <a:p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aaba</a:t>
            </a:r>
            <a:r>
              <a:rPr lang="en-US" sz="3600" dirty="0" err="1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907780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/>
      <p:bldP spid="55" grpId="0"/>
      <p:bldP spid="80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0B4A0631-DF62-4237-9AA4-89A76913D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47</a:t>
            </a:fld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="" xmlns:a16="http://schemas.microsoft.com/office/drawing/2014/main" id="{B270EF88-0041-4DA9-B7EC-C7755B983FFC}"/>
              </a:ext>
            </a:extLst>
          </p:cNvPr>
          <p:cNvGrpSpPr/>
          <p:nvPr/>
        </p:nvGrpSpPr>
        <p:grpSpPr>
          <a:xfrm>
            <a:off x="1468313" y="409868"/>
            <a:ext cx="4956311" cy="1385911"/>
            <a:chOff x="5989984" y="3539957"/>
            <a:chExt cx="5712531" cy="1171382"/>
          </a:xfrm>
        </p:grpSpPr>
        <p:sp>
          <p:nvSpPr>
            <p:cNvPr id="5" name="Oval 4">
              <a:extLst>
                <a:ext uri="{FF2B5EF4-FFF2-40B4-BE49-F238E27FC236}">
                  <a16:creationId xmlns="" xmlns:a16="http://schemas.microsoft.com/office/drawing/2014/main" id="{D3637AE5-5439-4ED1-8ACE-F85086B502DF}"/>
                </a:ext>
              </a:extLst>
            </p:cNvPr>
            <p:cNvSpPr/>
            <p:nvPr/>
          </p:nvSpPr>
          <p:spPr>
            <a:xfrm>
              <a:off x="6486746" y="3963569"/>
              <a:ext cx="697006" cy="712694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x0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="" xmlns:a16="http://schemas.microsoft.com/office/drawing/2014/main" id="{EEA2B45F-D490-41CB-82B1-525D1B8CE5B1}"/>
                </a:ext>
              </a:extLst>
            </p:cNvPr>
            <p:cNvSpPr/>
            <p:nvPr/>
          </p:nvSpPr>
          <p:spPr>
            <a:xfrm>
              <a:off x="7941653" y="3950317"/>
              <a:ext cx="697006" cy="712694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x1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="" xmlns:a16="http://schemas.microsoft.com/office/drawing/2014/main" id="{1BE0B0FA-3F16-4163-A584-537E666D0E95}"/>
                </a:ext>
              </a:extLst>
            </p:cNvPr>
            <p:cNvSpPr/>
            <p:nvPr/>
          </p:nvSpPr>
          <p:spPr>
            <a:xfrm>
              <a:off x="9411634" y="3937065"/>
              <a:ext cx="697006" cy="712694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x2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="" xmlns:a16="http://schemas.microsoft.com/office/drawing/2014/main" id="{C508899E-7329-4A06-BCB2-8F56A3069688}"/>
                </a:ext>
              </a:extLst>
            </p:cNvPr>
            <p:cNvCxnSpPr/>
            <p:nvPr/>
          </p:nvCxnSpPr>
          <p:spPr>
            <a:xfrm>
              <a:off x="5989984" y="4319916"/>
              <a:ext cx="48354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" name="Group 8">
              <a:extLst>
                <a:ext uri="{FF2B5EF4-FFF2-40B4-BE49-F238E27FC236}">
                  <a16:creationId xmlns="" xmlns:a16="http://schemas.microsoft.com/office/drawing/2014/main" id="{44942177-63D9-45ED-ADF7-F2E00B5BD8B7}"/>
                </a:ext>
              </a:extLst>
            </p:cNvPr>
            <p:cNvGrpSpPr/>
            <p:nvPr/>
          </p:nvGrpSpPr>
          <p:grpSpPr>
            <a:xfrm>
              <a:off x="10899171" y="3875484"/>
              <a:ext cx="803344" cy="835855"/>
              <a:chOff x="5184749" y="4682255"/>
              <a:chExt cx="803344" cy="835855"/>
            </a:xfrm>
          </p:grpSpPr>
          <p:sp>
            <p:nvSpPr>
              <p:cNvPr id="10" name="Oval 9">
                <a:extLst>
                  <a:ext uri="{FF2B5EF4-FFF2-40B4-BE49-F238E27FC236}">
                    <a16:creationId xmlns="" xmlns:a16="http://schemas.microsoft.com/office/drawing/2014/main" id="{1A90B709-A6EF-4AF3-8058-50CF1F57FBE0}"/>
                  </a:ext>
                </a:extLst>
              </p:cNvPr>
              <p:cNvSpPr/>
              <p:nvPr/>
            </p:nvSpPr>
            <p:spPr>
              <a:xfrm>
                <a:off x="5184749" y="4682255"/>
                <a:ext cx="803344" cy="835855"/>
              </a:xfrm>
              <a:prstGeom prst="ellips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="" xmlns:a16="http://schemas.microsoft.com/office/drawing/2014/main" id="{6ABF4264-5FDC-4260-92AA-D1EB5134B145}"/>
                  </a:ext>
                </a:extLst>
              </p:cNvPr>
              <p:cNvSpPr/>
              <p:nvPr/>
            </p:nvSpPr>
            <p:spPr>
              <a:xfrm>
                <a:off x="5241993" y="4745149"/>
                <a:ext cx="697006" cy="712694"/>
              </a:xfrm>
              <a:prstGeom prst="ellips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x3</a:t>
                </a:r>
              </a:p>
            </p:txBody>
          </p:sp>
        </p:grpSp>
        <p:cxnSp>
          <p:nvCxnSpPr>
            <p:cNvPr id="12" name="Straight Arrow Connector 11">
              <a:extLst>
                <a:ext uri="{FF2B5EF4-FFF2-40B4-BE49-F238E27FC236}">
                  <a16:creationId xmlns="" xmlns:a16="http://schemas.microsoft.com/office/drawing/2014/main" id="{D5AA6CE2-3948-4433-BA7A-3127946350CC}"/>
                </a:ext>
              </a:extLst>
            </p:cNvPr>
            <p:cNvCxnSpPr/>
            <p:nvPr/>
          </p:nvCxnSpPr>
          <p:spPr>
            <a:xfrm>
              <a:off x="8665163" y="4293412"/>
              <a:ext cx="731983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="" xmlns:a16="http://schemas.microsoft.com/office/drawing/2014/main" id="{0D18B66A-683A-44C8-8EBD-EF875F593CAF}"/>
                </a:ext>
              </a:extLst>
            </p:cNvPr>
            <p:cNvCxnSpPr/>
            <p:nvPr/>
          </p:nvCxnSpPr>
          <p:spPr>
            <a:xfrm>
              <a:off x="7210256" y="4306664"/>
              <a:ext cx="731983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="" xmlns:a16="http://schemas.microsoft.com/office/drawing/2014/main" id="{DC6164EF-76F7-4005-BB38-89266147DAAE}"/>
                </a:ext>
              </a:extLst>
            </p:cNvPr>
            <p:cNvCxnSpPr/>
            <p:nvPr/>
          </p:nvCxnSpPr>
          <p:spPr>
            <a:xfrm>
              <a:off x="10157495" y="4286152"/>
              <a:ext cx="731983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="" xmlns:a16="http://schemas.microsoft.com/office/drawing/2014/main" id="{B21A631C-D2FE-49B1-8957-E25DAB8A74E9}"/>
                </a:ext>
              </a:extLst>
            </p:cNvPr>
            <p:cNvSpPr txBox="1"/>
            <p:nvPr/>
          </p:nvSpPr>
          <p:spPr>
            <a:xfrm>
              <a:off x="7323732" y="3858527"/>
              <a:ext cx="27195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="" xmlns:a16="http://schemas.microsoft.com/office/drawing/2014/main" id="{75F7D584-AAAD-45E0-87DE-22B8A5DFE1D6}"/>
                </a:ext>
              </a:extLst>
            </p:cNvPr>
            <p:cNvSpPr txBox="1"/>
            <p:nvPr/>
          </p:nvSpPr>
          <p:spPr>
            <a:xfrm>
              <a:off x="10318246" y="3858251"/>
              <a:ext cx="27195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="" xmlns:a16="http://schemas.microsoft.com/office/drawing/2014/main" id="{5400B237-E3F1-4BEA-A919-8B46A9BC728C}"/>
                </a:ext>
              </a:extLst>
            </p:cNvPr>
            <p:cNvSpPr txBox="1"/>
            <p:nvPr/>
          </p:nvSpPr>
          <p:spPr>
            <a:xfrm>
              <a:off x="8813526" y="3875484"/>
              <a:ext cx="27195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18" name="Arc 17">
              <a:extLst>
                <a:ext uri="{FF2B5EF4-FFF2-40B4-BE49-F238E27FC236}">
                  <a16:creationId xmlns="" xmlns:a16="http://schemas.microsoft.com/office/drawing/2014/main" id="{4A9D3AB6-108E-4062-B22C-A1FC38CC204A}"/>
                </a:ext>
              </a:extLst>
            </p:cNvPr>
            <p:cNvSpPr/>
            <p:nvPr/>
          </p:nvSpPr>
          <p:spPr>
            <a:xfrm>
              <a:off x="6586120" y="3539957"/>
              <a:ext cx="471227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="" xmlns:a16="http://schemas.microsoft.com/office/drawing/2014/main" id="{E375BB6D-D318-45C8-92CF-41E5277E6E10}"/>
              </a:ext>
            </a:extLst>
          </p:cNvPr>
          <p:cNvSpPr txBox="1"/>
          <p:nvPr/>
        </p:nvSpPr>
        <p:spPr>
          <a:xfrm>
            <a:off x="232635" y="231729"/>
            <a:ext cx="31599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Parse Tree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="" xmlns:a16="http://schemas.microsoft.com/office/drawing/2014/main" id="{B4F23E4F-F5BD-46EA-B169-ED7CDFBCDE79}"/>
              </a:ext>
            </a:extLst>
          </p:cNvPr>
          <p:cNvSpPr txBox="1"/>
          <p:nvPr/>
        </p:nvSpPr>
        <p:spPr>
          <a:xfrm>
            <a:off x="2342643" y="209872"/>
            <a:ext cx="5657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a/b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="" xmlns:a16="http://schemas.microsoft.com/office/drawing/2014/main" id="{5F59A017-09C9-4CAA-9DC2-D08568FC45F3}"/>
              </a:ext>
            </a:extLst>
          </p:cNvPr>
          <p:cNvCxnSpPr>
            <a:cxnSpLocks/>
          </p:cNvCxnSpPr>
          <p:nvPr/>
        </p:nvCxnSpPr>
        <p:spPr>
          <a:xfrm>
            <a:off x="9771632" y="1459439"/>
            <a:ext cx="0" cy="623354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="" xmlns:a16="http://schemas.microsoft.com/office/drawing/2014/main" id="{3813E90F-677D-4624-9162-84E0E16BD3BE}"/>
              </a:ext>
            </a:extLst>
          </p:cNvPr>
          <p:cNvCxnSpPr>
            <a:cxnSpLocks/>
          </p:cNvCxnSpPr>
          <p:nvPr/>
        </p:nvCxnSpPr>
        <p:spPr>
          <a:xfrm>
            <a:off x="8620635" y="4489808"/>
            <a:ext cx="0" cy="719176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="" xmlns:a16="http://schemas.microsoft.com/office/drawing/2014/main" id="{32E191C6-3FE0-46CC-8C30-B1F3B698A741}"/>
              </a:ext>
            </a:extLst>
          </p:cNvPr>
          <p:cNvSpPr txBox="1"/>
          <p:nvPr/>
        </p:nvSpPr>
        <p:spPr>
          <a:xfrm>
            <a:off x="9543171" y="999065"/>
            <a:ext cx="8635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X1 </a:t>
            </a:r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(a)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="" xmlns:a16="http://schemas.microsoft.com/office/drawing/2014/main" id="{0954F32B-B50F-456A-876C-E19AD9DC5AB2}"/>
              </a:ext>
            </a:extLst>
          </p:cNvPr>
          <p:cNvCxnSpPr>
            <a:cxnSpLocks/>
          </p:cNvCxnSpPr>
          <p:nvPr/>
        </p:nvCxnSpPr>
        <p:spPr>
          <a:xfrm flipH="1">
            <a:off x="7808615" y="372270"/>
            <a:ext cx="774058" cy="745283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="" xmlns:a16="http://schemas.microsoft.com/office/drawing/2014/main" id="{8C0209D4-36BF-429F-BFAC-8EF113B0D14B}"/>
              </a:ext>
            </a:extLst>
          </p:cNvPr>
          <p:cNvCxnSpPr>
            <a:cxnSpLocks/>
          </p:cNvCxnSpPr>
          <p:nvPr/>
        </p:nvCxnSpPr>
        <p:spPr>
          <a:xfrm>
            <a:off x="8735488" y="372270"/>
            <a:ext cx="956602" cy="745283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="" xmlns:a16="http://schemas.microsoft.com/office/drawing/2014/main" id="{20163BB8-9288-4AFA-B1AB-768E3D975F1B}"/>
              </a:ext>
            </a:extLst>
          </p:cNvPr>
          <p:cNvSpPr txBox="1"/>
          <p:nvPr/>
        </p:nvSpPr>
        <p:spPr>
          <a:xfrm>
            <a:off x="8423960" y="4162976"/>
            <a:ext cx="8120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X3 </a:t>
            </a:r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="" xmlns:a16="http://schemas.microsoft.com/office/drawing/2014/main" id="{442A6FE7-B380-47BC-AFE6-A6174E8C2B5E}"/>
              </a:ext>
            </a:extLst>
          </p:cNvPr>
          <p:cNvSpPr txBox="1"/>
          <p:nvPr/>
        </p:nvSpPr>
        <p:spPr>
          <a:xfrm>
            <a:off x="8410398" y="3107287"/>
            <a:ext cx="9439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X2 </a:t>
            </a:r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="" xmlns:a16="http://schemas.microsoft.com/office/drawing/2014/main" id="{6F4F3F1E-134C-441A-8EFF-5241D4FF3060}"/>
              </a:ext>
            </a:extLst>
          </p:cNvPr>
          <p:cNvSpPr txBox="1"/>
          <p:nvPr/>
        </p:nvSpPr>
        <p:spPr>
          <a:xfrm>
            <a:off x="8455224" y="0"/>
            <a:ext cx="8991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X0  </a:t>
            </a:r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="" xmlns:a16="http://schemas.microsoft.com/office/drawing/2014/main" id="{9B070F29-9A7E-4F17-921F-8FB4B12F06AE}"/>
              </a:ext>
            </a:extLst>
          </p:cNvPr>
          <p:cNvSpPr txBox="1"/>
          <p:nvPr/>
        </p:nvSpPr>
        <p:spPr>
          <a:xfrm>
            <a:off x="7604474" y="1024453"/>
            <a:ext cx="850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X0  </a:t>
            </a:r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="" xmlns:a16="http://schemas.microsoft.com/office/drawing/2014/main" id="{42ACC4AB-5123-440E-BF30-A1A6E2F356F5}"/>
              </a:ext>
            </a:extLst>
          </p:cNvPr>
          <p:cNvSpPr txBox="1"/>
          <p:nvPr/>
        </p:nvSpPr>
        <p:spPr>
          <a:xfrm>
            <a:off x="6739075" y="2016126"/>
            <a:ext cx="8120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X0 </a:t>
            </a:r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="" xmlns:a16="http://schemas.microsoft.com/office/drawing/2014/main" id="{BD6C7C82-7BF4-4C08-AEF6-1DFD9231BBBD}"/>
              </a:ext>
            </a:extLst>
          </p:cNvPr>
          <p:cNvSpPr txBox="1"/>
          <p:nvPr/>
        </p:nvSpPr>
        <p:spPr>
          <a:xfrm>
            <a:off x="6707003" y="3171443"/>
            <a:ext cx="844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X0 </a:t>
            </a:r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="" xmlns:a16="http://schemas.microsoft.com/office/drawing/2014/main" id="{AFB2F205-94FA-4345-AB99-8AF1C0E765E9}"/>
              </a:ext>
            </a:extLst>
          </p:cNvPr>
          <p:cNvSpPr txBox="1"/>
          <p:nvPr/>
        </p:nvSpPr>
        <p:spPr>
          <a:xfrm>
            <a:off x="5901074" y="4162976"/>
            <a:ext cx="818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X0 </a:t>
            </a:r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="" xmlns:a16="http://schemas.microsoft.com/office/drawing/2014/main" id="{9DAA08EE-4DDD-464C-A6D4-14071B0AD423}"/>
              </a:ext>
            </a:extLst>
          </p:cNvPr>
          <p:cNvSpPr txBox="1"/>
          <p:nvPr/>
        </p:nvSpPr>
        <p:spPr>
          <a:xfrm>
            <a:off x="5906300" y="5296362"/>
            <a:ext cx="4757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X0</a:t>
            </a:r>
            <a:endParaRPr lang="en-US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="" xmlns:a16="http://schemas.microsoft.com/office/drawing/2014/main" id="{46296339-5A22-4B8E-93EE-B62D91D158AE}"/>
              </a:ext>
            </a:extLst>
          </p:cNvPr>
          <p:cNvSpPr txBox="1"/>
          <p:nvPr/>
        </p:nvSpPr>
        <p:spPr>
          <a:xfrm>
            <a:off x="8423960" y="2030278"/>
            <a:ext cx="8120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X1 </a:t>
            </a:r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(b) 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="" xmlns:a16="http://schemas.microsoft.com/office/drawing/2014/main" id="{A918B3F7-2E00-4A94-AC52-3C78A79FBCB5}"/>
              </a:ext>
            </a:extLst>
          </p:cNvPr>
          <p:cNvSpPr txBox="1"/>
          <p:nvPr/>
        </p:nvSpPr>
        <p:spPr>
          <a:xfrm>
            <a:off x="7551113" y="4153067"/>
            <a:ext cx="8182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X1 </a:t>
            </a:r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="" xmlns:a16="http://schemas.microsoft.com/office/drawing/2014/main" id="{433CC169-B75B-4B01-994F-F10157A4F923}"/>
              </a:ext>
            </a:extLst>
          </p:cNvPr>
          <p:cNvSpPr txBox="1"/>
          <p:nvPr/>
        </p:nvSpPr>
        <p:spPr>
          <a:xfrm>
            <a:off x="7551114" y="5229620"/>
            <a:ext cx="4757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X2</a:t>
            </a:r>
            <a:endParaRPr lang="en-US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="" xmlns:a16="http://schemas.microsoft.com/office/drawing/2014/main" id="{AFD252DD-8076-48A6-8E42-E81BE675F6DB}"/>
              </a:ext>
            </a:extLst>
          </p:cNvPr>
          <p:cNvCxnSpPr>
            <a:cxnSpLocks/>
          </p:cNvCxnSpPr>
          <p:nvPr/>
        </p:nvCxnSpPr>
        <p:spPr>
          <a:xfrm flipH="1">
            <a:off x="6955749" y="1337510"/>
            <a:ext cx="774058" cy="745283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="" xmlns:a16="http://schemas.microsoft.com/office/drawing/2014/main" id="{2FA49442-CA3A-4F18-984A-1051F171E499}"/>
              </a:ext>
            </a:extLst>
          </p:cNvPr>
          <p:cNvCxnSpPr>
            <a:cxnSpLocks/>
          </p:cNvCxnSpPr>
          <p:nvPr/>
        </p:nvCxnSpPr>
        <p:spPr>
          <a:xfrm>
            <a:off x="7855140" y="1328538"/>
            <a:ext cx="740641" cy="754255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="" xmlns:a16="http://schemas.microsoft.com/office/drawing/2014/main" id="{2C2502C7-9064-4178-887C-11B95EEC2D5A}"/>
              </a:ext>
            </a:extLst>
          </p:cNvPr>
          <p:cNvCxnSpPr>
            <a:cxnSpLocks/>
          </p:cNvCxnSpPr>
          <p:nvPr/>
        </p:nvCxnSpPr>
        <p:spPr>
          <a:xfrm flipH="1">
            <a:off x="6901022" y="2373248"/>
            <a:ext cx="18190" cy="915197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="" xmlns:a16="http://schemas.microsoft.com/office/drawing/2014/main" id="{1C825FF5-3DE8-4FF7-9A07-5A785E3FFC1B}"/>
              </a:ext>
            </a:extLst>
          </p:cNvPr>
          <p:cNvCxnSpPr>
            <a:cxnSpLocks/>
          </p:cNvCxnSpPr>
          <p:nvPr/>
        </p:nvCxnSpPr>
        <p:spPr>
          <a:xfrm>
            <a:off x="8612489" y="2362974"/>
            <a:ext cx="0" cy="848315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="" xmlns:a16="http://schemas.microsoft.com/office/drawing/2014/main" id="{C7D640D8-34F9-4997-9FA1-523B8C303761}"/>
              </a:ext>
            </a:extLst>
          </p:cNvPr>
          <p:cNvCxnSpPr>
            <a:cxnSpLocks/>
          </p:cNvCxnSpPr>
          <p:nvPr/>
        </p:nvCxnSpPr>
        <p:spPr>
          <a:xfrm flipH="1">
            <a:off x="6084172" y="3533759"/>
            <a:ext cx="774058" cy="745283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="" xmlns:a16="http://schemas.microsoft.com/office/drawing/2014/main" id="{6D0326CB-2101-4A6E-A0A6-38DDDF9F3EBF}"/>
              </a:ext>
            </a:extLst>
          </p:cNvPr>
          <p:cNvCxnSpPr>
            <a:cxnSpLocks/>
          </p:cNvCxnSpPr>
          <p:nvPr/>
        </p:nvCxnSpPr>
        <p:spPr>
          <a:xfrm>
            <a:off x="6983562" y="3524787"/>
            <a:ext cx="740641" cy="754255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="" xmlns:a16="http://schemas.microsoft.com/office/drawing/2014/main" id="{EDB9B745-35DC-48FF-8320-D25F2D544912}"/>
              </a:ext>
            </a:extLst>
          </p:cNvPr>
          <p:cNvCxnSpPr>
            <a:cxnSpLocks/>
          </p:cNvCxnSpPr>
          <p:nvPr/>
        </p:nvCxnSpPr>
        <p:spPr>
          <a:xfrm>
            <a:off x="8593067" y="3430726"/>
            <a:ext cx="0" cy="848315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="" xmlns:a16="http://schemas.microsoft.com/office/drawing/2014/main" id="{755BA1AA-81AE-4B50-817C-E5D812363331}"/>
              </a:ext>
            </a:extLst>
          </p:cNvPr>
          <p:cNvCxnSpPr>
            <a:cxnSpLocks/>
          </p:cNvCxnSpPr>
          <p:nvPr/>
        </p:nvCxnSpPr>
        <p:spPr>
          <a:xfrm flipH="1">
            <a:off x="6084172" y="4485982"/>
            <a:ext cx="18190" cy="915197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="" xmlns:a16="http://schemas.microsoft.com/office/drawing/2014/main" id="{7E58F7AA-5CCB-43A9-83AE-D097DA0C21A7}"/>
              </a:ext>
            </a:extLst>
          </p:cNvPr>
          <p:cNvCxnSpPr>
            <a:cxnSpLocks/>
          </p:cNvCxnSpPr>
          <p:nvPr/>
        </p:nvCxnSpPr>
        <p:spPr>
          <a:xfrm flipH="1">
            <a:off x="7737818" y="4480152"/>
            <a:ext cx="18190" cy="915197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Multiplication Sign 79">
            <a:extLst>
              <a:ext uri="{FF2B5EF4-FFF2-40B4-BE49-F238E27FC236}">
                <a16:creationId xmlns="" xmlns:a16="http://schemas.microsoft.com/office/drawing/2014/main" id="{6E61DDFC-C126-43D1-8ADC-09AC2F28B7CF}"/>
              </a:ext>
            </a:extLst>
          </p:cNvPr>
          <p:cNvSpPr/>
          <p:nvPr/>
        </p:nvSpPr>
        <p:spPr>
          <a:xfrm>
            <a:off x="8424462" y="5095081"/>
            <a:ext cx="372119" cy="540327"/>
          </a:xfrm>
          <a:prstGeom prst="mathMultiply">
            <a:avLst>
              <a:gd name="adj1" fmla="val 13264"/>
            </a:avLst>
          </a:prstGeom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Multiplication Sign 80">
            <a:extLst>
              <a:ext uri="{FF2B5EF4-FFF2-40B4-BE49-F238E27FC236}">
                <a16:creationId xmlns="" xmlns:a16="http://schemas.microsoft.com/office/drawing/2014/main" id="{D1B1A970-3D64-460E-8776-532AAE64E9B4}"/>
              </a:ext>
            </a:extLst>
          </p:cNvPr>
          <p:cNvSpPr/>
          <p:nvPr/>
        </p:nvSpPr>
        <p:spPr>
          <a:xfrm>
            <a:off x="9585572" y="1976731"/>
            <a:ext cx="372119" cy="540327"/>
          </a:xfrm>
          <a:prstGeom prst="mathMultiply">
            <a:avLst>
              <a:gd name="adj1" fmla="val 13264"/>
            </a:avLst>
          </a:prstGeom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="" xmlns:a16="http://schemas.microsoft.com/office/drawing/2014/main" id="{F804484D-2831-4D9E-8833-E13A7221ED8F}"/>
              </a:ext>
            </a:extLst>
          </p:cNvPr>
          <p:cNvSpPr/>
          <p:nvPr/>
        </p:nvSpPr>
        <p:spPr>
          <a:xfrm>
            <a:off x="217787" y="1445144"/>
            <a:ext cx="1467068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</a:p>
          <a:p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aabab</a:t>
            </a:r>
            <a:r>
              <a:rPr lang="en-US" sz="3600" dirty="0" err="1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en-US" sz="36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="" xmlns:a16="http://schemas.microsoft.com/office/drawing/2014/main" id="{9ACD41F2-2922-4AD4-A0AC-2FEBC171A251}"/>
              </a:ext>
            </a:extLst>
          </p:cNvPr>
          <p:cNvSpPr txBox="1"/>
          <p:nvPr/>
        </p:nvSpPr>
        <p:spPr>
          <a:xfrm>
            <a:off x="6202864" y="5284113"/>
            <a:ext cx="832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="" xmlns:a16="http://schemas.microsoft.com/office/drawing/2014/main" id="{D7B4838E-9A70-40A1-A65C-1A57A2289E8B}"/>
              </a:ext>
            </a:extLst>
          </p:cNvPr>
          <p:cNvSpPr txBox="1"/>
          <p:nvPr/>
        </p:nvSpPr>
        <p:spPr>
          <a:xfrm>
            <a:off x="7835008" y="5217539"/>
            <a:ext cx="4774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</a:p>
        </p:txBody>
      </p:sp>
    </p:spTree>
    <p:extLst>
      <p:ext uri="{BB962C8B-B14F-4D97-AF65-F5344CB8AC3E}">
        <p14:creationId xmlns:p14="http://schemas.microsoft.com/office/powerpoint/2010/main" val="1937294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/>
      <p:bldP spid="62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0B4A0631-DF62-4237-9AA4-89A76913D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48</a:t>
            </a:fld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="" xmlns:a16="http://schemas.microsoft.com/office/drawing/2014/main" id="{B270EF88-0041-4DA9-B7EC-C7755B983FFC}"/>
              </a:ext>
            </a:extLst>
          </p:cNvPr>
          <p:cNvGrpSpPr/>
          <p:nvPr/>
        </p:nvGrpSpPr>
        <p:grpSpPr>
          <a:xfrm>
            <a:off x="1468313" y="409868"/>
            <a:ext cx="4956311" cy="1385911"/>
            <a:chOff x="5989984" y="3539957"/>
            <a:chExt cx="5712531" cy="1171382"/>
          </a:xfrm>
        </p:grpSpPr>
        <p:sp>
          <p:nvSpPr>
            <p:cNvPr id="5" name="Oval 4">
              <a:extLst>
                <a:ext uri="{FF2B5EF4-FFF2-40B4-BE49-F238E27FC236}">
                  <a16:creationId xmlns="" xmlns:a16="http://schemas.microsoft.com/office/drawing/2014/main" id="{D3637AE5-5439-4ED1-8ACE-F85086B502DF}"/>
                </a:ext>
              </a:extLst>
            </p:cNvPr>
            <p:cNvSpPr/>
            <p:nvPr/>
          </p:nvSpPr>
          <p:spPr>
            <a:xfrm>
              <a:off x="6486746" y="3963569"/>
              <a:ext cx="697006" cy="712694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x0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="" xmlns:a16="http://schemas.microsoft.com/office/drawing/2014/main" id="{EEA2B45F-D490-41CB-82B1-525D1B8CE5B1}"/>
                </a:ext>
              </a:extLst>
            </p:cNvPr>
            <p:cNvSpPr/>
            <p:nvPr/>
          </p:nvSpPr>
          <p:spPr>
            <a:xfrm>
              <a:off x="7941653" y="3950317"/>
              <a:ext cx="697006" cy="712694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x1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="" xmlns:a16="http://schemas.microsoft.com/office/drawing/2014/main" id="{1BE0B0FA-3F16-4163-A584-537E666D0E95}"/>
                </a:ext>
              </a:extLst>
            </p:cNvPr>
            <p:cNvSpPr/>
            <p:nvPr/>
          </p:nvSpPr>
          <p:spPr>
            <a:xfrm>
              <a:off x="9411634" y="3937065"/>
              <a:ext cx="697006" cy="712694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x2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="" xmlns:a16="http://schemas.microsoft.com/office/drawing/2014/main" id="{C508899E-7329-4A06-BCB2-8F56A3069688}"/>
                </a:ext>
              </a:extLst>
            </p:cNvPr>
            <p:cNvCxnSpPr/>
            <p:nvPr/>
          </p:nvCxnSpPr>
          <p:spPr>
            <a:xfrm>
              <a:off x="5989984" y="4319916"/>
              <a:ext cx="48354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" name="Group 8">
              <a:extLst>
                <a:ext uri="{FF2B5EF4-FFF2-40B4-BE49-F238E27FC236}">
                  <a16:creationId xmlns="" xmlns:a16="http://schemas.microsoft.com/office/drawing/2014/main" id="{44942177-63D9-45ED-ADF7-F2E00B5BD8B7}"/>
                </a:ext>
              </a:extLst>
            </p:cNvPr>
            <p:cNvGrpSpPr/>
            <p:nvPr/>
          </p:nvGrpSpPr>
          <p:grpSpPr>
            <a:xfrm>
              <a:off x="10899171" y="3875484"/>
              <a:ext cx="803344" cy="835855"/>
              <a:chOff x="5184749" y="4682255"/>
              <a:chExt cx="803344" cy="835855"/>
            </a:xfrm>
          </p:grpSpPr>
          <p:sp>
            <p:nvSpPr>
              <p:cNvPr id="10" name="Oval 9">
                <a:extLst>
                  <a:ext uri="{FF2B5EF4-FFF2-40B4-BE49-F238E27FC236}">
                    <a16:creationId xmlns="" xmlns:a16="http://schemas.microsoft.com/office/drawing/2014/main" id="{1A90B709-A6EF-4AF3-8058-50CF1F57FBE0}"/>
                  </a:ext>
                </a:extLst>
              </p:cNvPr>
              <p:cNvSpPr/>
              <p:nvPr/>
            </p:nvSpPr>
            <p:spPr>
              <a:xfrm>
                <a:off x="5184749" y="4682255"/>
                <a:ext cx="803344" cy="835855"/>
              </a:xfrm>
              <a:prstGeom prst="ellips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="" xmlns:a16="http://schemas.microsoft.com/office/drawing/2014/main" id="{6ABF4264-5FDC-4260-92AA-D1EB5134B145}"/>
                  </a:ext>
                </a:extLst>
              </p:cNvPr>
              <p:cNvSpPr/>
              <p:nvPr/>
            </p:nvSpPr>
            <p:spPr>
              <a:xfrm>
                <a:off x="5241993" y="4745149"/>
                <a:ext cx="697006" cy="712694"/>
              </a:xfrm>
              <a:prstGeom prst="ellips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x3</a:t>
                </a:r>
              </a:p>
            </p:txBody>
          </p:sp>
        </p:grpSp>
        <p:cxnSp>
          <p:nvCxnSpPr>
            <p:cNvPr id="12" name="Straight Arrow Connector 11">
              <a:extLst>
                <a:ext uri="{FF2B5EF4-FFF2-40B4-BE49-F238E27FC236}">
                  <a16:creationId xmlns="" xmlns:a16="http://schemas.microsoft.com/office/drawing/2014/main" id="{D5AA6CE2-3948-4433-BA7A-3127946350CC}"/>
                </a:ext>
              </a:extLst>
            </p:cNvPr>
            <p:cNvCxnSpPr/>
            <p:nvPr/>
          </p:nvCxnSpPr>
          <p:spPr>
            <a:xfrm>
              <a:off x="8665163" y="4293412"/>
              <a:ext cx="731983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="" xmlns:a16="http://schemas.microsoft.com/office/drawing/2014/main" id="{0D18B66A-683A-44C8-8EBD-EF875F593CAF}"/>
                </a:ext>
              </a:extLst>
            </p:cNvPr>
            <p:cNvCxnSpPr/>
            <p:nvPr/>
          </p:nvCxnSpPr>
          <p:spPr>
            <a:xfrm>
              <a:off x="7210256" y="4306664"/>
              <a:ext cx="731983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="" xmlns:a16="http://schemas.microsoft.com/office/drawing/2014/main" id="{DC6164EF-76F7-4005-BB38-89266147DAAE}"/>
                </a:ext>
              </a:extLst>
            </p:cNvPr>
            <p:cNvCxnSpPr/>
            <p:nvPr/>
          </p:nvCxnSpPr>
          <p:spPr>
            <a:xfrm>
              <a:off x="10157495" y="4286152"/>
              <a:ext cx="731983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="" xmlns:a16="http://schemas.microsoft.com/office/drawing/2014/main" id="{B21A631C-D2FE-49B1-8957-E25DAB8A74E9}"/>
                </a:ext>
              </a:extLst>
            </p:cNvPr>
            <p:cNvSpPr txBox="1"/>
            <p:nvPr/>
          </p:nvSpPr>
          <p:spPr>
            <a:xfrm>
              <a:off x="7323732" y="3858527"/>
              <a:ext cx="27195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="" xmlns:a16="http://schemas.microsoft.com/office/drawing/2014/main" id="{75F7D584-AAAD-45E0-87DE-22B8A5DFE1D6}"/>
                </a:ext>
              </a:extLst>
            </p:cNvPr>
            <p:cNvSpPr txBox="1"/>
            <p:nvPr/>
          </p:nvSpPr>
          <p:spPr>
            <a:xfrm>
              <a:off x="10318246" y="3858251"/>
              <a:ext cx="27195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="" xmlns:a16="http://schemas.microsoft.com/office/drawing/2014/main" id="{5400B237-E3F1-4BEA-A919-8B46A9BC728C}"/>
                </a:ext>
              </a:extLst>
            </p:cNvPr>
            <p:cNvSpPr txBox="1"/>
            <p:nvPr/>
          </p:nvSpPr>
          <p:spPr>
            <a:xfrm>
              <a:off x="8813526" y="3875484"/>
              <a:ext cx="27195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18" name="Arc 17">
              <a:extLst>
                <a:ext uri="{FF2B5EF4-FFF2-40B4-BE49-F238E27FC236}">
                  <a16:creationId xmlns="" xmlns:a16="http://schemas.microsoft.com/office/drawing/2014/main" id="{4A9D3AB6-108E-4062-B22C-A1FC38CC204A}"/>
                </a:ext>
              </a:extLst>
            </p:cNvPr>
            <p:cNvSpPr/>
            <p:nvPr/>
          </p:nvSpPr>
          <p:spPr>
            <a:xfrm>
              <a:off x="6586120" y="3539957"/>
              <a:ext cx="471227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="" xmlns:a16="http://schemas.microsoft.com/office/drawing/2014/main" id="{E375BB6D-D318-45C8-92CF-41E5277E6E10}"/>
              </a:ext>
            </a:extLst>
          </p:cNvPr>
          <p:cNvSpPr txBox="1"/>
          <p:nvPr/>
        </p:nvSpPr>
        <p:spPr>
          <a:xfrm>
            <a:off x="232635" y="231729"/>
            <a:ext cx="31599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Parse Tree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="" xmlns:a16="http://schemas.microsoft.com/office/drawing/2014/main" id="{B4F23E4F-F5BD-46EA-B169-ED7CDFBCDE79}"/>
              </a:ext>
            </a:extLst>
          </p:cNvPr>
          <p:cNvSpPr txBox="1"/>
          <p:nvPr/>
        </p:nvSpPr>
        <p:spPr>
          <a:xfrm>
            <a:off x="2342643" y="209872"/>
            <a:ext cx="5657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a/b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="" xmlns:a16="http://schemas.microsoft.com/office/drawing/2014/main" id="{5F59A017-09C9-4CAA-9DC2-D08568FC45F3}"/>
              </a:ext>
            </a:extLst>
          </p:cNvPr>
          <p:cNvCxnSpPr>
            <a:cxnSpLocks/>
          </p:cNvCxnSpPr>
          <p:nvPr/>
        </p:nvCxnSpPr>
        <p:spPr>
          <a:xfrm>
            <a:off x="9771632" y="1459439"/>
            <a:ext cx="0" cy="623354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="" xmlns:a16="http://schemas.microsoft.com/office/drawing/2014/main" id="{3813E90F-677D-4624-9162-84E0E16BD3BE}"/>
              </a:ext>
            </a:extLst>
          </p:cNvPr>
          <p:cNvCxnSpPr>
            <a:cxnSpLocks/>
          </p:cNvCxnSpPr>
          <p:nvPr/>
        </p:nvCxnSpPr>
        <p:spPr>
          <a:xfrm>
            <a:off x="8620635" y="4489808"/>
            <a:ext cx="0" cy="719176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="" xmlns:a16="http://schemas.microsoft.com/office/drawing/2014/main" id="{90FD16D0-967F-4326-B51B-0E14708D80D6}"/>
              </a:ext>
            </a:extLst>
          </p:cNvPr>
          <p:cNvSpPr txBox="1"/>
          <p:nvPr/>
        </p:nvSpPr>
        <p:spPr>
          <a:xfrm>
            <a:off x="7565267" y="6359543"/>
            <a:ext cx="4234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x3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="" xmlns:a16="http://schemas.microsoft.com/office/drawing/2014/main" id="{32E191C6-3FE0-46CC-8C30-B1F3B698A741}"/>
              </a:ext>
            </a:extLst>
          </p:cNvPr>
          <p:cNvSpPr txBox="1"/>
          <p:nvPr/>
        </p:nvSpPr>
        <p:spPr>
          <a:xfrm>
            <a:off x="9543171" y="999065"/>
            <a:ext cx="8635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X1 </a:t>
            </a:r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(a)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="" xmlns:a16="http://schemas.microsoft.com/office/drawing/2014/main" id="{5EEE9209-5837-4AAA-996E-C267A8C86BE9}"/>
              </a:ext>
            </a:extLst>
          </p:cNvPr>
          <p:cNvSpPr txBox="1"/>
          <p:nvPr/>
        </p:nvSpPr>
        <p:spPr>
          <a:xfrm>
            <a:off x="6721601" y="6318823"/>
            <a:ext cx="4234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x1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="" xmlns:a16="http://schemas.microsoft.com/office/drawing/2014/main" id="{0954F32B-B50F-456A-876C-E19AD9DC5AB2}"/>
              </a:ext>
            </a:extLst>
          </p:cNvPr>
          <p:cNvCxnSpPr>
            <a:cxnSpLocks/>
          </p:cNvCxnSpPr>
          <p:nvPr/>
        </p:nvCxnSpPr>
        <p:spPr>
          <a:xfrm flipH="1">
            <a:off x="7808615" y="372270"/>
            <a:ext cx="774058" cy="745283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="" xmlns:a16="http://schemas.microsoft.com/office/drawing/2014/main" id="{8C0209D4-36BF-429F-BFAC-8EF113B0D14B}"/>
              </a:ext>
            </a:extLst>
          </p:cNvPr>
          <p:cNvCxnSpPr>
            <a:cxnSpLocks/>
          </p:cNvCxnSpPr>
          <p:nvPr/>
        </p:nvCxnSpPr>
        <p:spPr>
          <a:xfrm>
            <a:off x="8735488" y="372270"/>
            <a:ext cx="956602" cy="745283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="" xmlns:a16="http://schemas.microsoft.com/office/drawing/2014/main" id="{20163BB8-9288-4AFA-B1AB-768E3D975F1B}"/>
              </a:ext>
            </a:extLst>
          </p:cNvPr>
          <p:cNvSpPr txBox="1"/>
          <p:nvPr/>
        </p:nvSpPr>
        <p:spPr>
          <a:xfrm>
            <a:off x="8423960" y="4162976"/>
            <a:ext cx="8120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X3 </a:t>
            </a:r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="" xmlns:a16="http://schemas.microsoft.com/office/drawing/2014/main" id="{442A6FE7-B380-47BC-AFE6-A6174E8C2B5E}"/>
              </a:ext>
            </a:extLst>
          </p:cNvPr>
          <p:cNvSpPr txBox="1"/>
          <p:nvPr/>
        </p:nvSpPr>
        <p:spPr>
          <a:xfrm>
            <a:off x="8410398" y="3107287"/>
            <a:ext cx="9439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X2 </a:t>
            </a:r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="" xmlns:a16="http://schemas.microsoft.com/office/drawing/2014/main" id="{6F4F3F1E-134C-441A-8EFF-5241D4FF3060}"/>
              </a:ext>
            </a:extLst>
          </p:cNvPr>
          <p:cNvSpPr txBox="1"/>
          <p:nvPr/>
        </p:nvSpPr>
        <p:spPr>
          <a:xfrm>
            <a:off x="8455224" y="0"/>
            <a:ext cx="8991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X0  </a:t>
            </a:r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="" xmlns:a16="http://schemas.microsoft.com/office/drawing/2014/main" id="{9B070F29-9A7E-4F17-921F-8FB4B12F06AE}"/>
              </a:ext>
            </a:extLst>
          </p:cNvPr>
          <p:cNvSpPr txBox="1"/>
          <p:nvPr/>
        </p:nvSpPr>
        <p:spPr>
          <a:xfrm>
            <a:off x="7604474" y="1024453"/>
            <a:ext cx="850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X0  </a:t>
            </a:r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="" xmlns:a16="http://schemas.microsoft.com/office/drawing/2014/main" id="{42ACC4AB-5123-440E-BF30-A1A6E2F356F5}"/>
              </a:ext>
            </a:extLst>
          </p:cNvPr>
          <p:cNvSpPr txBox="1"/>
          <p:nvPr/>
        </p:nvSpPr>
        <p:spPr>
          <a:xfrm>
            <a:off x="6739075" y="2016126"/>
            <a:ext cx="8120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X0 </a:t>
            </a:r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="" xmlns:a16="http://schemas.microsoft.com/office/drawing/2014/main" id="{BD6C7C82-7BF4-4C08-AEF6-1DFD9231BBBD}"/>
              </a:ext>
            </a:extLst>
          </p:cNvPr>
          <p:cNvSpPr txBox="1"/>
          <p:nvPr/>
        </p:nvSpPr>
        <p:spPr>
          <a:xfrm>
            <a:off x="6707003" y="3171443"/>
            <a:ext cx="844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X0 </a:t>
            </a:r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="" xmlns:a16="http://schemas.microsoft.com/office/drawing/2014/main" id="{AFB2F205-94FA-4345-AB99-8AF1C0E765E9}"/>
              </a:ext>
            </a:extLst>
          </p:cNvPr>
          <p:cNvSpPr txBox="1"/>
          <p:nvPr/>
        </p:nvSpPr>
        <p:spPr>
          <a:xfrm>
            <a:off x="5901074" y="4162976"/>
            <a:ext cx="818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X0 </a:t>
            </a:r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="" xmlns:a16="http://schemas.microsoft.com/office/drawing/2014/main" id="{9DAA08EE-4DDD-464C-A6D4-14071B0AD423}"/>
              </a:ext>
            </a:extLst>
          </p:cNvPr>
          <p:cNvSpPr txBox="1"/>
          <p:nvPr/>
        </p:nvSpPr>
        <p:spPr>
          <a:xfrm>
            <a:off x="5906299" y="5296362"/>
            <a:ext cx="832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X0 </a:t>
            </a:r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="" xmlns:a16="http://schemas.microsoft.com/office/drawing/2014/main" id="{46296339-5A22-4B8E-93EE-B62D91D158AE}"/>
              </a:ext>
            </a:extLst>
          </p:cNvPr>
          <p:cNvSpPr txBox="1"/>
          <p:nvPr/>
        </p:nvSpPr>
        <p:spPr>
          <a:xfrm>
            <a:off x="8423960" y="2030278"/>
            <a:ext cx="8120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X1 </a:t>
            </a:r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(b) 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="" xmlns:a16="http://schemas.microsoft.com/office/drawing/2014/main" id="{A918B3F7-2E00-4A94-AC52-3C78A79FBCB5}"/>
              </a:ext>
            </a:extLst>
          </p:cNvPr>
          <p:cNvSpPr txBox="1"/>
          <p:nvPr/>
        </p:nvSpPr>
        <p:spPr>
          <a:xfrm>
            <a:off x="7551113" y="4153067"/>
            <a:ext cx="8182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X1 </a:t>
            </a:r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="" xmlns:a16="http://schemas.microsoft.com/office/drawing/2014/main" id="{433CC169-B75B-4B01-994F-F10157A4F923}"/>
              </a:ext>
            </a:extLst>
          </p:cNvPr>
          <p:cNvSpPr txBox="1"/>
          <p:nvPr/>
        </p:nvSpPr>
        <p:spPr>
          <a:xfrm>
            <a:off x="7551114" y="5229620"/>
            <a:ext cx="818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X2 </a:t>
            </a:r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="" xmlns:a16="http://schemas.microsoft.com/office/drawing/2014/main" id="{AFD252DD-8076-48A6-8E42-E81BE675F6DB}"/>
              </a:ext>
            </a:extLst>
          </p:cNvPr>
          <p:cNvCxnSpPr>
            <a:cxnSpLocks/>
          </p:cNvCxnSpPr>
          <p:nvPr/>
        </p:nvCxnSpPr>
        <p:spPr>
          <a:xfrm flipH="1">
            <a:off x="6955749" y="1337510"/>
            <a:ext cx="774058" cy="745283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="" xmlns:a16="http://schemas.microsoft.com/office/drawing/2014/main" id="{2FA49442-CA3A-4F18-984A-1051F171E499}"/>
              </a:ext>
            </a:extLst>
          </p:cNvPr>
          <p:cNvCxnSpPr>
            <a:cxnSpLocks/>
          </p:cNvCxnSpPr>
          <p:nvPr/>
        </p:nvCxnSpPr>
        <p:spPr>
          <a:xfrm>
            <a:off x="7855140" y="1328538"/>
            <a:ext cx="740641" cy="754255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="" xmlns:a16="http://schemas.microsoft.com/office/drawing/2014/main" id="{2C2502C7-9064-4178-887C-11B95EEC2D5A}"/>
              </a:ext>
            </a:extLst>
          </p:cNvPr>
          <p:cNvCxnSpPr>
            <a:cxnSpLocks/>
          </p:cNvCxnSpPr>
          <p:nvPr/>
        </p:nvCxnSpPr>
        <p:spPr>
          <a:xfrm flipH="1">
            <a:off x="6901022" y="2373248"/>
            <a:ext cx="18190" cy="915197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="" xmlns:a16="http://schemas.microsoft.com/office/drawing/2014/main" id="{1C825FF5-3DE8-4FF7-9A07-5A785E3FFC1B}"/>
              </a:ext>
            </a:extLst>
          </p:cNvPr>
          <p:cNvCxnSpPr>
            <a:cxnSpLocks/>
          </p:cNvCxnSpPr>
          <p:nvPr/>
        </p:nvCxnSpPr>
        <p:spPr>
          <a:xfrm>
            <a:off x="8612489" y="2362974"/>
            <a:ext cx="0" cy="848315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="" xmlns:a16="http://schemas.microsoft.com/office/drawing/2014/main" id="{C7D640D8-34F9-4997-9FA1-523B8C303761}"/>
              </a:ext>
            </a:extLst>
          </p:cNvPr>
          <p:cNvCxnSpPr>
            <a:cxnSpLocks/>
          </p:cNvCxnSpPr>
          <p:nvPr/>
        </p:nvCxnSpPr>
        <p:spPr>
          <a:xfrm flipH="1">
            <a:off x="6084172" y="3533759"/>
            <a:ext cx="774058" cy="745283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="" xmlns:a16="http://schemas.microsoft.com/office/drawing/2014/main" id="{6D0326CB-2101-4A6E-A0A6-38DDDF9F3EBF}"/>
              </a:ext>
            </a:extLst>
          </p:cNvPr>
          <p:cNvCxnSpPr>
            <a:cxnSpLocks/>
          </p:cNvCxnSpPr>
          <p:nvPr/>
        </p:nvCxnSpPr>
        <p:spPr>
          <a:xfrm>
            <a:off x="6983562" y="3524787"/>
            <a:ext cx="740641" cy="754255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="" xmlns:a16="http://schemas.microsoft.com/office/drawing/2014/main" id="{EDB9B745-35DC-48FF-8320-D25F2D544912}"/>
              </a:ext>
            </a:extLst>
          </p:cNvPr>
          <p:cNvCxnSpPr>
            <a:cxnSpLocks/>
          </p:cNvCxnSpPr>
          <p:nvPr/>
        </p:nvCxnSpPr>
        <p:spPr>
          <a:xfrm>
            <a:off x="8593067" y="3430726"/>
            <a:ext cx="0" cy="848315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="" xmlns:a16="http://schemas.microsoft.com/office/drawing/2014/main" id="{755BA1AA-81AE-4B50-817C-E5D812363331}"/>
              </a:ext>
            </a:extLst>
          </p:cNvPr>
          <p:cNvCxnSpPr>
            <a:cxnSpLocks/>
          </p:cNvCxnSpPr>
          <p:nvPr/>
        </p:nvCxnSpPr>
        <p:spPr>
          <a:xfrm flipH="1">
            <a:off x="6084172" y="4485982"/>
            <a:ext cx="18190" cy="915197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="" xmlns:a16="http://schemas.microsoft.com/office/drawing/2014/main" id="{7E58F7AA-5CCB-43A9-83AE-D097DA0C21A7}"/>
              </a:ext>
            </a:extLst>
          </p:cNvPr>
          <p:cNvCxnSpPr>
            <a:cxnSpLocks/>
          </p:cNvCxnSpPr>
          <p:nvPr/>
        </p:nvCxnSpPr>
        <p:spPr>
          <a:xfrm flipH="1">
            <a:off x="7737818" y="4480152"/>
            <a:ext cx="18190" cy="915197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="" xmlns:a16="http://schemas.microsoft.com/office/drawing/2014/main" id="{BF8AEEB2-F9F5-4EE3-BD40-0A4B46EB0793}"/>
              </a:ext>
            </a:extLst>
          </p:cNvPr>
          <p:cNvCxnSpPr>
            <a:cxnSpLocks/>
          </p:cNvCxnSpPr>
          <p:nvPr/>
        </p:nvCxnSpPr>
        <p:spPr>
          <a:xfrm flipH="1">
            <a:off x="5261463" y="5644380"/>
            <a:ext cx="774058" cy="745283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="" xmlns:a16="http://schemas.microsoft.com/office/drawing/2014/main" id="{9528FBC0-5097-4452-B293-C11119099555}"/>
              </a:ext>
            </a:extLst>
          </p:cNvPr>
          <p:cNvCxnSpPr>
            <a:cxnSpLocks/>
          </p:cNvCxnSpPr>
          <p:nvPr/>
        </p:nvCxnSpPr>
        <p:spPr>
          <a:xfrm>
            <a:off x="6160853" y="5635408"/>
            <a:ext cx="740641" cy="754255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="" xmlns:a16="http://schemas.microsoft.com/office/drawing/2014/main" id="{415777CC-EDC3-44A4-B64D-3ED4B5ADE620}"/>
              </a:ext>
            </a:extLst>
          </p:cNvPr>
          <p:cNvSpPr txBox="1"/>
          <p:nvPr/>
        </p:nvSpPr>
        <p:spPr>
          <a:xfrm>
            <a:off x="5030828" y="6303746"/>
            <a:ext cx="832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X0 </a:t>
            </a:r>
            <a:endParaRPr lang="en-US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6" name="Straight Arrow Connector 75">
            <a:extLst>
              <a:ext uri="{FF2B5EF4-FFF2-40B4-BE49-F238E27FC236}">
                <a16:creationId xmlns="" xmlns:a16="http://schemas.microsoft.com/office/drawing/2014/main" id="{A08F93FF-D09A-4BB6-BC17-7B412B6E2507}"/>
              </a:ext>
            </a:extLst>
          </p:cNvPr>
          <p:cNvCxnSpPr>
            <a:cxnSpLocks/>
          </p:cNvCxnSpPr>
          <p:nvPr/>
        </p:nvCxnSpPr>
        <p:spPr>
          <a:xfrm flipH="1">
            <a:off x="7746913" y="5554936"/>
            <a:ext cx="18190" cy="915197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Multiplication Sign 79">
            <a:extLst>
              <a:ext uri="{FF2B5EF4-FFF2-40B4-BE49-F238E27FC236}">
                <a16:creationId xmlns="" xmlns:a16="http://schemas.microsoft.com/office/drawing/2014/main" id="{6E61DDFC-C126-43D1-8ADC-09AC2F28B7CF}"/>
              </a:ext>
            </a:extLst>
          </p:cNvPr>
          <p:cNvSpPr/>
          <p:nvPr/>
        </p:nvSpPr>
        <p:spPr>
          <a:xfrm>
            <a:off x="8424462" y="5095081"/>
            <a:ext cx="372119" cy="540327"/>
          </a:xfrm>
          <a:prstGeom prst="mathMultiply">
            <a:avLst>
              <a:gd name="adj1" fmla="val 13264"/>
            </a:avLst>
          </a:prstGeom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Multiplication Sign 80">
            <a:extLst>
              <a:ext uri="{FF2B5EF4-FFF2-40B4-BE49-F238E27FC236}">
                <a16:creationId xmlns="" xmlns:a16="http://schemas.microsoft.com/office/drawing/2014/main" id="{D1B1A970-3D64-460E-8776-532AAE64E9B4}"/>
              </a:ext>
            </a:extLst>
          </p:cNvPr>
          <p:cNvSpPr/>
          <p:nvPr/>
        </p:nvSpPr>
        <p:spPr>
          <a:xfrm>
            <a:off x="9585572" y="1976731"/>
            <a:ext cx="372119" cy="540327"/>
          </a:xfrm>
          <a:prstGeom prst="mathMultiply">
            <a:avLst>
              <a:gd name="adj1" fmla="val 13264"/>
            </a:avLst>
          </a:prstGeom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="" xmlns:a16="http://schemas.microsoft.com/office/drawing/2014/main" id="{4187EA5E-EFC2-44DA-AC97-7B3AD44DEBBB}"/>
              </a:ext>
            </a:extLst>
          </p:cNvPr>
          <p:cNvSpPr/>
          <p:nvPr/>
        </p:nvSpPr>
        <p:spPr>
          <a:xfrm>
            <a:off x="217787" y="1445144"/>
            <a:ext cx="1467068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</a:p>
          <a:p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aabab</a:t>
            </a:r>
            <a:r>
              <a:rPr lang="en-US" sz="3600" dirty="0" err="1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en-US" sz="36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54949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0B4A0631-DF62-4237-9AA4-89A76913D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49</a:t>
            </a:fld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="" xmlns:a16="http://schemas.microsoft.com/office/drawing/2014/main" id="{B270EF88-0041-4DA9-B7EC-C7755B983FFC}"/>
              </a:ext>
            </a:extLst>
          </p:cNvPr>
          <p:cNvGrpSpPr/>
          <p:nvPr/>
        </p:nvGrpSpPr>
        <p:grpSpPr>
          <a:xfrm>
            <a:off x="1468313" y="409868"/>
            <a:ext cx="4956311" cy="1385911"/>
            <a:chOff x="5989984" y="3539957"/>
            <a:chExt cx="5712531" cy="1171382"/>
          </a:xfrm>
        </p:grpSpPr>
        <p:sp>
          <p:nvSpPr>
            <p:cNvPr id="5" name="Oval 4">
              <a:extLst>
                <a:ext uri="{FF2B5EF4-FFF2-40B4-BE49-F238E27FC236}">
                  <a16:creationId xmlns="" xmlns:a16="http://schemas.microsoft.com/office/drawing/2014/main" id="{D3637AE5-5439-4ED1-8ACE-F85086B502DF}"/>
                </a:ext>
              </a:extLst>
            </p:cNvPr>
            <p:cNvSpPr/>
            <p:nvPr/>
          </p:nvSpPr>
          <p:spPr>
            <a:xfrm>
              <a:off x="6486746" y="3963569"/>
              <a:ext cx="697006" cy="712694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x0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="" xmlns:a16="http://schemas.microsoft.com/office/drawing/2014/main" id="{EEA2B45F-D490-41CB-82B1-525D1B8CE5B1}"/>
                </a:ext>
              </a:extLst>
            </p:cNvPr>
            <p:cNvSpPr/>
            <p:nvPr/>
          </p:nvSpPr>
          <p:spPr>
            <a:xfrm>
              <a:off x="7941653" y="3950317"/>
              <a:ext cx="697006" cy="712694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x1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="" xmlns:a16="http://schemas.microsoft.com/office/drawing/2014/main" id="{1BE0B0FA-3F16-4163-A584-537E666D0E95}"/>
                </a:ext>
              </a:extLst>
            </p:cNvPr>
            <p:cNvSpPr/>
            <p:nvPr/>
          </p:nvSpPr>
          <p:spPr>
            <a:xfrm>
              <a:off x="9411634" y="3937065"/>
              <a:ext cx="697006" cy="712694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x2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="" xmlns:a16="http://schemas.microsoft.com/office/drawing/2014/main" id="{C508899E-7329-4A06-BCB2-8F56A3069688}"/>
                </a:ext>
              </a:extLst>
            </p:cNvPr>
            <p:cNvCxnSpPr/>
            <p:nvPr/>
          </p:nvCxnSpPr>
          <p:spPr>
            <a:xfrm>
              <a:off x="5989984" y="4319916"/>
              <a:ext cx="48354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" name="Group 8">
              <a:extLst>
                <a:ext uri="{FF2B5EF4-FFF2-40B4-BE49-F238E27FC236}">
                  <a16:creationId xmlns="" xmlns:a16="http://schemas.microsoft.com/office/drawing/2014/main" id="{44942177-63D9-45ED-ADF7-F2E00B5BD8B7}"/>
                </a:ext>
              </a:extLst>
            </p:cNvPr>
            <p:cNvGrpSpPr/>
            <p:nvPr/>
          </p:nvGrpSpPr>
          <p:grpSpPr>
            <a:xfrm>
              <a:off x="10899171" y="3875484"/>
              <a:ext cx="803344" cy="835855"/>
              <a:chOff x="5184749" y="4682255"/>
              <a:chExt cx="803344" cy="835855"/>
            </a:xfrm>
          </p:grpSpPr>
          <p:sp>
            <p:nvSpPr>
              <p:cNvPr id="10" name="Oval 9">
                <a:extLst>
                  <a:ext uri="{FF2B5EF4-FFF2-40B4-BE49-F238E27FC236}">
                    <a16:creationId xmlns="" xmlns:a16="http://schemas.microsoft.com/office/drawing/2014/main" id="{1A90B709-A6EF-4AF3-8058-50CF1F57FBE0}"/>
                  </a:ext>
                </a:extLst>
              </p:cNvPr>
              <p:cNvSpPr/>
              <p:nvPr/>
            </p:nvSpPr>
            <p:spPr>
              <a:xfrm>
                <a:off x="5184749" y="4682255"/>
                <a:ext cx="803344" cy="835855"/>
              </a:xfrm>
              <a:prstGeom prst="ellips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="" xmlns:a16="http://schemas.microsoft.com/office/drawing/2014/main" id="{6ABF4264-5FDC-4260-92AA-D1EB5134B145}"/>
                  </a:ext>
                </a:extLst>
              </p:cNvPr>
              <p:cNvSpPr/>
              <p:nvPr/>
            </p:nvSpPr>
            <p:spPr>
              <a:xfrm>
                <a:off x="5241993" y="4745149"/>
                <a:ext cx="697006" cy="712694"/>
              </a:xfrm>
              <a:prstGeom prst="ellips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x3</a:t>
                </a:r>
              </a:p>
            </p:txBody>
          </p:sp>
        </p:grpSp>
        <p:cxnSp>
          <p:nvCxnSpPr>
            <p:cNvPr id="12" name="Straight Arrow Connector 11">
              <a:extLst>
                <a:ext uri="{FF2B5EF4-FFF2-40B4-BE49-F238E27FC236}">
                  <a16:creationId xmlns="" xmlns:a16="http://schemas.microsoft.com/office/drawing/2014/main" id="{D5AA6CE2-3948-4433-BA7A-3127946350CC}"/>
                </a:ext>
              </a:extLst>
            </p:cNvPr>
            <p:cNvCxnSpPr/>
            <p:nvPr/>
          </p:nvCxnSpPr>
          <p:spPr>
            <a:xfrm>
              <a:off x="8665163" y="4293412"/>
              <a:ext cx="731983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="" xmlns:a16="http://schemas.microsoft.com/office/drawing/2014/main" id="{0D18B66A-683A-44C8-8EBD-EF875F593CAF}"/>
                </a:ext>
              </a:extLst>
            </p:cNvPr>
            <p:cNvCxnSpPr/>
            <p:nvPr/>
          </p:nvCxnSpPr>
          <p:spPr>
            <a:xfrm>
              <a:off x="7210256" y="4306664"/>
              <a:ext cx="731983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="" xmlns:a16="http://schemas.microsoft.com/office/drawing/2014/main" id="{DC6164EF-76F7-4005-BB38-89266147DAAE}"/>
                </a:ext>
              </a:extLst>
            </p:cNvPr>
            <p:cNvCxnSpPr/>
            <p:nvPr/>
          </p:nvCxnSpPr>
          <p:spPr>
            <a:xfrm>
              <a:off x="10157495" y="4286152"/>
              <a:ext cx="731983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="" xmlns:a16="http://schemas.microsoft.com/office/drawing/2014/main" id="{B21A631C-D2FE-49B1-8957-E25DAB8A74E9}"/>
                </a:ext>
              </a:extLst>
            </p:cNvPr>
            <p:cNvSpPr txBox="1"/>
            <p:nvPr/>
          </p:nvSpPr>
          <p:spPr>
            <a:xfrm>
              <a:off x="7323732" y="3858527"/>
              <a:ext cx="27195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="" xmlns:a16="http://schemas.microsoft.com/office/drawing/2014/main" id="{75F7D584-AAAD-45E0-87DE-22B8A5DFE1D6}"/>
                </a:ext>
              </a:extLst>
            </p:cNvPr>
            <p:cNvSpPr txBox="1"/>
            <p:nvPr/>
          </p:nvSpPr>
          <p:spPr>
            <a:xfrm>
              <a:off x="10318246" y="3858251"/>
              <a:ext cx="27195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="" xmlns:a16="http://schemas.microsoft.com/office/drawing/2014/main" id="{5400B237-E3F1-4BEA-A919-8B46A9BC728C}"/>
                </a:ext>
              </a:extLst>
            </p:cNvPr>
            <p:cNvSpPr txBox="1"/>
            <p:nvPr/>
          </p:nvSpPr>
          <p:spPr>
            <a:xfrm>
              <a:off x="8813526" y="3875484"/>
              <a:ext cx="27195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18" name="Arc 17">
              <a:extLst>
                <a:ext uri="{FF2B5EF4-FFF2-40B4-BE49-F238E27FC236}">
                  <a16:creationId xmlns="" xmlns:a16="http://schemas.microsoft.com/office/drawing/2014/main" id="{4A9D3AB6-108E-4062-B22C-A1FC38CC204A}"/>
                </a:ext>
              </a:extLst>
            </p:cNvPr>
            <p:cNvSpPr/>
            <p:nvPr/>
          </p:nvSpPr>
          <p:spPr>
            <a:xfrm>
              <a:off x="6586120" y="3539957"/>
              <a:ext cx="471227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="" xmlns:a16="http://schemas.microsoft.com/office/drawing/2014/main" id="{E375BB6D-D318-45C8-92CF-41E5277E6E10}"/>
              </a:ext>
            </a:extLst>
          </p:cNvPr>
          <p:cNvSpPr txBox="1"/>
          <p:nvPr/>
        </p:nvSpPr>
        <p:spPr>
          <a:xfrm>
            <a:off x="232635" y="231729"/>
            <a:ext cx="31599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Parse Tree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="" xmlns:a16="http://schemas.microsoft.com/office/drawing/2014/main" id="{B4F23E4F-F5BD-46EA-B169-ED7CDFBCDE79}"/>
              </a:ext>
            </a:extLst>
          </p:cNvPr>
          <p:cNvSpPr txBox="1"/>
          <p:nvPr/>
        </p:nvSpPr>
        <p:spPr>
          <a:xfrm>
            <a:off x="2342643" y="209872"/>
            <a:ext cx="5657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a/b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="" xmlns:a16="http://schemas.microsoft.com/office/drawing/2014/main" id="{5F59A017-09C9-4CAA-9DC2-D08568FC45F3}"/>
              </a:ext>
            </a:extLst>
          </p:cNvPr>
          <p:cNvCxnSpPr>
            <a:cxnSpLocks/>
          </p:cNvCxnSpPr>
          <p:nvPr/>
        </p:nvCxnSpPr>
        <p:spPr>
          <a:xfrm>
            <a:off x="9771632" y="1459439"/>
            <a:ext cx="0" cy="623354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="" xmlns:a16="http://schemas.microsoft.com/office/drawing/2014/main" id="{3813E90F-677D-4624-9162-84E0E16BD3BE}"/>
              </a:ext>
            </a:extLst>
          </p:cNvPr>
          <p:cNvCxnSpPr>
            <a:cxnSpLocks/>
          </p:cNvCxnSpPr>
          <p:nvPr/>
        </p:nvCxnSpPr>
        <p:spPr>
          <a:xfrm>
            <a:off x="8620635" y="4489808"/>
            <a:ext cx="0" cy="719176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="" xmlns:a16="http://schemas.microsoft.com/office/drawing/2014/main" id="{90FD16D0-967F-4326-B51B-0E14708D80D6}"/>
              </a:ext>
            </a:extLst>
          </p:cNvPr>
          <p:cNvSpPr txBox="1"/>
          <p:nvPr/>
        </p:nvSpPr>
        <p:spPr>
          <a:xfrm>
            <a:off x="7565267" y="6359543"/>
            <a:ext cx="4234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x3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="" xmlns:a16="http://schemas.microsoft.com/office/drawing/2014/main" id="{32E191C6-3FE0-46CC-8C30-B1F3B698A741}"/>
              </a:ext>
            </a:extLst>
          </p:cNvPr>
          <p:cNvSpPr txBox="1"/>
          <p:nvPr/>
        </p:nvSpPr>
        <p:spPr>
          <a:xfrm>
            <a:off x="9543171" y="999065"/>
            <a:ext cx="8635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X1 </a:t>
            </a:r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(a)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="" xmlns:a16="http://schemas.microsoft.com/office/drawing/2014/main" id="{5EEE9209-5837-4AAA-996E-C267A8C86BE9}"/>
              </a:ext>
            </a:extLst>
          </p:cNvPr>
          <p:cNvSpPr txBox="1"/>
          <p:nvPr/>
        </p:nvSpPr>
        <p:spPr>
          <a:xfrm>
            <a:off x="6721601" y="6318823"/>
            <a:ext cx="4234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x1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="" xmlns:a16="http://schemas.microsoft.com/office/drawing/2014/main" id="{0954F32B-B50F-456A-876C-E19AD9DC5AB2}"/>
              </a:ext>
            </a:extLst>
          </p:cNvPr>
          <p:cNvCxnSpPr>
            <a:cxnSpLocks/>
          </p:cNvCxnSpPr>
          <p:nvPr/>
        </p:nvCxnSpPr>
        <p:spPr>
          <a:xfrm flipH="1">
            <a:off x="7808615" y="372270"/>
            <a:ext cx="774058" cy="745283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="" xmlns:a16="http://schemas.microsoft.com/office/drawing/2014/main" id="{8C0209D4-36BF-429F-BFAC-8EF113B0D14B}"/>
              </a:ext>
            </a:extLst>
          </p:cNvPr>
          <p:cNvCxnSpPr>
            <a:cxnSpLocks/>
          </p:cNvCxnSpPr>
          <p:nvPr/>
        </p:nvCxnSpPr>
        <p:spPr>
          <a:xfrm>
            <a:off x="8735488" y="372270"/>
            <a:ext cx="956602" cy="745283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="" xmlns:a16="http://schemas.microsoft.com/office/drawing/2014/main" id="{20163BB8-9288-4AFA-B1AB-768E3D975F1B}"/>
              </a:ext>
            </a:extLst>
          </p:cNvPr>
          <p:cNvSpPr txBox="1"/>
          <p:nvPr/>
        </p:nvSpPr>
        <p:spPr>
          <a:xfrm>
            <a:off x="8423960" y="4162976"/>
            <a:ext cx="8120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X3 </a:t>
            </a:r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="" xmlns:a16="http://schemas.microsoft.com/office/drawing/2014/main" id="{442A6FE7-B380-47BC-AFE6-A6174E8C2B5E}"/>
              </a:ext>
            </a:extLst>
          </p:cNvPr>
          <p:cNvSpPr txBox="1"/>
          <p:nvPr/>
        </p:nvSpPr>
        <p:spPr>
          <a:xfrm>
            <a:off x="8410398" y="3107287"/>
            <a:ext cx="9439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X2 </a:t>
            </a:r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="" xmlns:a16="http://schemas.microsoft.com/office/drawing/2014/main" id="{6F4F3F1E-134C-441A-8EFF-5241D4FF3060}"/>
              </a:ext>
            </a:extLst>
          </p:cNvPr>
          <p:cNvSpPr txBox="1"/>
          <p:nvPr/>
        </p:nvSpPr>
        <p:spPr>
          <a:xfrm>
            <a:off x="8455224" y="0"/>
            <a:ext cx="8991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X0  </a:t>
            </a:r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="" xmlns:a16="http://schemas.microsoft.com/office/drawing/2014/main" id="{9B070F29-9A7E-4F17-921F-8FB4B12F06AE}"/>
              </a:ext>
            </a:extLst>
          </p:cNvPr>
          <p:cNvSpPr txBox="1"/>
          <p:nvPr/>
        </p:nvSpPr>
        <p:spPr>
          <a:xfrm>
            <a:off x="7604474" y="1024453"/>
            <a:ext cx="850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X0  </a:t>
            </a:r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="" xmlns:a16="http://schemas.microsoft.com/office/drawing/2014/main" id="{42ACC4AB-5123-440E-BF30-A1A6E2F356F5}"/>
              </a:ext>
            </a:extLst>
          </p:cNvPr>
          <p:cNvSpPr txBox="1"/>
          <p:nvPr/>
        </p:nvSpPr>
        <p:spPr>
          <a:xfrm>
            <a:off x="6739075" y="2016126"/>
            <a:ext cx="8120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X0 </a:t>
            </a:r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="" xmlns:a16="http://schemas.microsoft.com/office/drawing/2014/main" id="{BD6C7C82-7BF4-4C08-AEF6-1DFD9231BBBD}"/>
              </a:ext>
            </a:extLst>
          </p:cNvPr>
          <p:cNvSpPr txBox="1"/>
          <p:nvPr/>
        </p:nvSpPr>
        <p:spPr>
          <a:xfrm>
            <a:off x="6707003" y="3171443"/>
            <a:ext cx="844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X0 </a:t>
            </a:r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="" xmlns:a16="http://schemas.microsoft.com/office/drawing/2014/main" id="{AFB2F205-94FA-4345-AB99-8AF1C0E765E9}"/>
              </a:ext>
            </a:extLst>
          </p:cNvPr>
          <p:cNvSpPr txBox="1"/>
          <p:nvPr/>
        </p:nvSpPr>
        <p:spPr>
          <a:xfrm>
            <a:off x="5901074" y="4162976"/>
            <a:ext cx="818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X0 </a:t>
            </a:r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="" xmlns:a16="http://schemas.microsoft.com/office/drawing/2014/main" id="{9DAA08EE-4DDD-464C-A6D4-14071B0AD423}"/>
              </a:ext>
            </a:extLst>
          </p:cNvPr>
          <p:cNvSpPr txBox="1"/>
          <p:nvPr/>
        </p:nvSpPr>
        <p:spPr>
          <a:xfrm>
            <a:off x="5906299" y="5296362"/>
            <a:ext cx="832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X0 </a:t>
            </a:r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="" xmlns:a16="http://schemas.microsoft.com/office/drawing/2014/main" id="{46296339-5A22-4B8E-93EE-B62D91D158AE}"/>
              </a:ext>
            </a:extLst>
          </p:cNvPr>
          <p:cNvSpPr txBox="1"/>
          <p:nvPr/>
        </p:nvSpPr>
        <p:spPr>
          <a:xfrm>
            <a:off x="8423960" y="2030278"/>
            <a:ext cx="8120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X1 </a:t>
            </a:r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(b) 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="" xmlns:a16="http://schemas.microsoft.com/office/drawing/2014/main" id="{A918B3F7-2E00-4A94-AC52-3C78A79FBCB5}"/>
              </a:ext>
            </a:extLst>
          </p:cNvPr>
          <p:cNvSpPr txBox="1"/>
          <p:nvPr/>
        </p:nvSpPr>
        <p:spPr>
          <a:xfrm>
            <a:off x="7551113" y="4153067"/>
            <a:ext cx="8182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X1 </a:t>
            </a:r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="" xmlns:a16="http://schemas.microsoft.com/office/drawing/2014/main" id="{433CC169-B75B-4B01-994F-F10157A4F923}"/>
              </a:ext>
            </a:extLst>
          </p:cNvPr>
          <p:cNvSpPr txBox="1"/>
          <p:nvPr/>
        </p:nvSpPr>
        <p:spPr>
          <a:xfrm>
            <a:off x="7551114" y="5229620"/>
            <a:ext cx="818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X2 </a:t>
            </a:r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="" xmlns:a16="http://schemas.microsoft.com/office/drawing/2014/main" id="{AFD252DD-8076-48A6-8E42-E81BE675F6DB}"/>
              </a:ext>
            </a:extLst>
          </p:cNvPr>
          <p:cNvCxnSpPr>
            <a:cxnSpLocks/>
          </p:cNvCxnSpPr>
          <p:nvPr/>
        </p:nvCxnSpPr>
        <p:spPr>
          <a:xfrm flipH="1">
            <a:off x="6955749" y="1337510"/>
            <a:ext cx="774058" cy="745283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="" xmlns:a16="http://schemas.microsoft.com/office/drawing/2014/main" id="{2FA49442-CA3A-4F18-984A-1051F171E499}"/>
              </a:ext>
            </a:extLst>
          </p:cNvPr>
          <p:cNvCxnSpPr>
            <a:cxnSpLocks/>
          </p:cNvCxnSpPr>
          <p:nvPr/>
        </p:nvCxnSpPr>
        <p:spPr>
          <a:xfrm>
            <a:off x="7855140" y="1328538"/>
            <a:ext cx="740641" cy="754255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="" xmlns:a16="http://schemas.microsoft.com/office/drawing/2014/main" id="{2C2502C7-9064-4178-887C-11B95EEC2D5A}"/>
              </a:ext>
            </a:extLst>
          </p:cNvPr>
          <p:cNvCxnSpPr>
            <a:cxnSpLocks/>
          </p:cNvCxnSpPr>
          <p:nvPr/>
        </p:nvCxnSpPr>
        <p:spPr>
          <a:xfrm flipH="1">
            <a:off x="6901022" y="2373248"/>
            <a:ext cx="18190" cy="915197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="" xmlns:a16="http://schemas.microsoft.com/office/drawing/2014/main" id="{1C825FF5-3DE8-4FF7-9A07-5A785E3FFC1B}"/>
              </a:ext>
            </a:extLst>
          </p:cNvPr>
          <p:cNvCxnSpPr>
            <a:cxnSpLocks/>
          </p:cNvCxnSpPr>
          <p:nvPr/>
        </p:nvCxnSpPr>
        <p:spPr>
          <a:xfrm>
            <a:off x="8612489" y="2362974"/>
            <a:ext cx="0" cy="848315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="" xmlns:a16="http://schemas.microsoft.com/office/drawing/2014/main" id="{C7D640D8-34F9-4997-9FA1-523B8C303761}"/>
              </a:ext>
            </a:extLst>
          </p:cNvPr>
          <p:cNvCxnSpPr>
            <a:cxnSpLocks/>
          </p:cNvCxnSpPr>
          <p:nvPr/>
        </p:nvCxnSpPr>
        <p:spPr>
          <a:xfrm flipH="1">
            <a:off x="6084172" y="3533759"/>
            <a:ext cx="774058" cy="745283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="" xmlns:a16="http://schemas.microsoft.com/office/drawing/2014/main" id="{6D0326CB-2101-4A6E-A0A6-38DDDF9F3EBF}"/>
              </a:ext>
            </a:extLst>
          </p:cNvPr>
          <p:cNvCxnSpPr>
            <a:cxnSpLocks/>
          </p:cNvCxnSpPr>
          <p:nvPr/>
        </p:nvCxnSpPr>
        <p:spPr>
          <a:xfrm>
            <a:off x="6983562" y="3524787"/>
            <a:ext cx="740641" cy="754255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="" xmlns:a16="http://schemas.microsoft.com/office/drawing/2014/main" id="{EDB9B745-35DC-48FF-8320-D25F2D544912}"/>
              </a:ext>
            </a:extLst>
          </p:cNvPr>
          <p:cNvCxnSpPr>
            <a:cxnSpLocks/>
          </p:cNvCxnSpPr>
          <p:nvPr/>
        </p:nvCxnSpPr>
        <p:spPr>
          <a:xfrm>
            <a:off x="8593067" y="3430726"/>
            <a:ext cx="0" cy="848315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="" xmlns:a16="http://schemas.microsoft.com/office/drawing/2014/main" id="{755BA1AA-81AE-4B50-817C-E5D812363331}"/>
              </a:ext>
            </a:extLst>
          </p:cNvPr>
          <p:cNvCxnSpPr>
            <a:cxnSpLocks/>
          </p:cNvCxnSpPr>
          <p:nvPr/>
        </p:nvCxnSpPr>
        <p:spPr>
          <a:xfrm flipH="1">
            <a:off x="6084172" y="4485982"/>
            <a:ext cx="18190" cy="915197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="" xmlns:a16="http://schemas.microsoft.com/office/drawing/2014/main" id="{7E58F7AA-5CCB-43A9-83AE-D097DA0C21A7}"/>
              </a:ext>
            </a:extLst>
          </p:cNvPr>
          <p:cNvCxnSpPr>
            <a:cxnSpLocks/>
          </p:cNvCxnSpPr>
          <p:nvPr/>
        </p:nvCxnSpPr>
        <p:spPr>
          <a:xfrm flipH="1">
            <a:off x="7737818" y="4480152"/>
            <a:ext cx="18190" cy="915197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="" xmlns:a16="http://schemas.microsoft.com/office/drawing/2014/main" id="{BF8AEEB2-F9F5-4EE3-BD40-0A4B46EB0793}"/>
              </a:ext>
            </a:extLst>
          </p:cNvPr>
          <p:cNvCxnSpPr>
            <a:cxnSpLocks/>
          </p:cNvCxnSpPr>
          <p:nvPr/>
        </p:nvCxnSpPr>
        <p:spPr>
          <a:xfrm flipH="1">
            <a:off x="5261463" y="5644380"/>
            <a:ext cx="774058" cy="745283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="" xmlns:a16="http://schemas.microsoft.com/office/drawing/2014/main" id="{9528FBC0-5097-4452-B293-C11119099555}"/>
              </a:ext>
            </a:extLst>
          </p:cNvPr>
          <p:cNvCxnSpPr>
            <a:cxnSpLocks/>
          </p:cNvCxnSpPr>
          <p:nvPr/>
        </p:nvCxnSpPr>
        <p:spPr>
          <a:xfrm>
            <a:off x="6160853" y="5635408"/>
            <a:ext cx="740641" cy="754255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="" xmlns:a16="http://schemas.microsoft.com/office/drawing/2014/main" id="{415777CC-EDC3-44A4-B64D-3ED4B5ADE620}"/>
              </a:ext>
            </a:extLst>
          </p:cNvPr>
          <p:cNvSpPr txBox="1"/>
          <p:nvPr/>
        </p:nvSpPr>
        <p:spPr>
          <a:xfrm>
            <a:off x="5030828" y="6303746"/>
            <a:ext cx="832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X0 </a:t>
            </a:r>
            <a:endParaRPr lang="en-US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6" name="Straight Arrow Connector 75">
            <a:extLst>
              <a:ext uri="{FF2B5EF4-FFF2-40B4-BE49-F238E27FC236}">
                <a16:creationId xmlns="" xmlns:a16="http://schemas.microsoft.com/office/drawing/2014/main" id="{A08F93FF-D09A-4BB6-BC17-7B412B6E2507}"/>
              </a:ext>
            </a:extLst>
          </p:cNvPr>
          <p:cNvCxnSpPr>
            <a:cxnSpLocks/>
          </p:cNvCxnSpPr>
          <p:nvPr/>
        </p:nvCxnSpPr>
        <p:spPr>
          <a:xfrm flipH="1">
            <a:off x="7746913" y="5554936"/>
            <a:ext cx="18190" cy="915197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Multiplication Sign 79">
            <a:extLst>
              <a:ext uri="{FF2B5EF4-FFF2-40B4-BE49-F238E27FC236}">
                <a16:creationId xmlns="" xmlns:a16="http://schemas.microsoft.com/office/drawing/2014/main" id="{6E61DDFC-C126-43D1-8ADC-09AC2F28B7CF}"/>
              </a:ext>
            </a:extLst>
          </p:cNvPr>
          <p:cNvSpPr/>
          <p:nvPr/>
        </p:nvSpPr>
        <p:spPr>
          <a:xfrm>
            <a:off x="8424462" y="5095081"/>
            <a:ext cx="372119" cy="540327"/>
          </a:xfrm>
          <a:prstGeom prst="mathMultiply">
            <a:avLst>
              <a:gd name="adj1" fmla="val 13264"/>
            </a:avLst>
          </a:prstGeom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Multiplication Sign 80">
            <a:extLst>
              <a:ext uri="{FF2B5EF4-FFF2-40B4-BE49-F238E27FC236}">
                <a16:creationId xmlns="" xmlns:a16="http://schemas.microsoft.com/office/drawing/2014/main" id="{D1B1A970-3D64-460E-8776-532AAE64E9B4}"/>
              </a:ext>
            </a:extLst>
          </p:cNvPr>
          <p:cNvSpPr/>
          <p:nvPr/>
        </p:nvSpPr>
        <p:spPr>
          <a:xfrm>
            <a:off x="9585572" y="1976731"/>
            <a:ext cx="372119" cy="540327"/>
          </a:xfrm>
          <a:prstGeom prst="mathMultiply">
            <a:avLst>
              <a:gd name="adj1" fmla="val 13264"/>
            </a:avLst>
          </a:prstGeom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="" xmlns:a16="http://schemas.microsoft.com/office/drawing/2014/main" id="{4187EA5E-EFC2-44DA-AC97-7B3AD44DEBBB}"/>
              </a:ext>
            </a:extLst>
          </p:cNvPr>
          <p:cNvSpPr/>
          <p:nvPr/>
        </p:nvSpPr>
        <p:spPr>
          <a:xfrm>
            <a:off x="217787" y="1445144"/>
            <a:ext cx="1467068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</a:p>
          <a:p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aababa</a:t>
            </a:r>
            <a:endParaRPr lang="en-US" sz="3600" dirty="0"/>
          </a:p>
        </p:txBody>
      </p:sp>
      <p:sp>
        <p:nvSpPr>
          <p:cNvPr id="2" name="Oval 1">
            <a:extLst>
              <a:ext uri="{FF2B5EF4-FFF2-40B4-BE49-F238E27FC236}">
                <a16:creationId xmlns="" xmlns:a16="http://schemas.microsoft.com/office/drawing/2014/main" id="{1C6530BA-0F55-4469-B5BA-6601E9A78A0C}"/>
              </a:ext>
            </a:extLst>
          </p:cNvPr>
          <p:cNvSpPr/>
          <p:nvPr/>
        </p:nvSpPr>
        <p:spPr>
          <a:xfrm>
            <a:off x="4851141" y="6074268"/>
            <a:ext cx="774058" cy="745280"/>
          </a:xfrm>
          <a:prstGeom prst="ellipse">
            <a:avLst/>
          </a:prstGeom>
          <a:noFill/>
          <a:ln w="317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>
            <a:extLst>
              <a:ext uri="{FF2B5EF4-FFF2-40B4-BE49-F238E27FC236}">
                <a16:creationId xmlns="" xmlns:a16="http://schemas.microsoft.com/office/drawing/2014/main" id="{3AB35C67-C7AB-43DE-8E26-29CBEA4773D7}"/>
              </a:ext>
            </a:extLst>
          </p:cNvPr>
          <p:cNvSpPr/>
          <p:nvPr/>
        </p:nvSpPr>
        <p:spPr>
          <a:xfrm>
            <a:off x="6451374" y="6116187"/>
            <a:ext cx="774058" cy="745280"/>
          </a:xfrm>
          <a:prstGeom prst="ellipse">
            <a:avLst/>
          </a:prstGeom>
          <a:noFill/>
          <a:ln w="317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="" xmlns:a16="http://schemas.microsoft.com/office/drawing/2014/main" id="{3D5919D9-46FA-48E5-8477-C7B4B54874AE}"/>
              </a:ext>
            </a:extLst>
          </p:cNvPr>
          <p:cNvSpPr/>
          <p:nvPr/>
        </p:nvSpPr>
        <p:spPr>
          <a:xfrm>
            <a:off x="7350789" y="6130849"/>
            <a:ext cx="774058" cy="745280"/>
          </a:xfrm>
          <a:prstGeom prst="ellipse">
            <a:avLst/>
          </a:prstGeom>
          <a:noFill/>
          <a:ln w="317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141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6" grpId="0" animBg="1"/>
      <p:bldP spid="57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0B4A0631-DF62-4237-9AA4-89A76913D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50</a:t>
            </a:fld>
            <a:endParaRPr lang="en-US"/>
          </a:p>
        </p:txBody>
      </p:sp>
      <p:grpSp>
        <p:nvGrpSpPr>
          <p:cNvPr id="3" name="Group 18">
            <a:extLst>
              <a:ext uri="{FF2B5EF4-FFF2-40B4-BE49-F238E27FC236}">
                <a16:creationId xmlns="" xmlns:a16="http://schemas.microsoft.com/office/drawing/2014/main" id="{B270EF88-0041-4DA9-B7EC-C7755B983FFC}"/>
              </a:ext>
            </a:extLst>
          </p:cNvPr>
          <p:cNvGrpSpPr/>
          <p:nvPr/>
        </p:nvGrpSpPr>
        <p:grpSpPr>
          <a:xfrm>
            <a:off x="1468313" y="409868"/>
            <a:ext cx="4956311" cy="1385911"/>
            <a:chOff x="5989984" y="3539957"/>
            <a:chExt cx="5712531" cy="1171382"/>
          </a:xfrm>
        </p:grpSpPr>
        <p:sp>
          <p:nvSpPr>
            <p:cNvPr id="5" name="Oval 4">
              <a:extLst>
                <a:ext uri="{FF2B5EF4-FFF2-40B4-BE49-F238E27FC236}">
                  <a16:creationId xmlns="" xmlns:a16="http://schemas.microsoft.com/office/drawing/2014/main" id="{D3637AE5-5439-4ED1-8ACE-F85086B502DF}"/>
                </a:ext>
              </a:extLst>
            </p:cNvPr>
            <p:cNvSpPr/>
            <p:nvPr/>
          </p:nvSpPr>
          <p:spPr>
            <a:xfrm>
              <a:off x="6486746" y="3963569"/>
              <a:ext cx="697006" cy="712694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x0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="" xmlns:a16="http://schemas.microsoft.com/office/drawing/2014/main" id="{EEA2B45F-D490-41CB-82B1-525D1B8CE5B1}"/>
                </a:ext>
              </a:extLst>
            </p:cNvPr>
            <p:cNvSpPr/>
            <p:nvPr/>
          </p:nvSpPr>
          <p:spPr>
            <a:xfrm>
              <a:off x="7941653" y="3950317"/>
              <a:ext cx="697006" cy="712694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x1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="" xmlns:a16="http://schemas.microsoft.com/office/drawing/2014/main" id="{1BE0B0FA-3F16-4163-A584-537E666D0E95}"/>
                </a:ext>
              </a:extLst>
            </p:cNvPr>
            <p:cNvSpPr/>
            <p:nvPr/>
          </p:nvSpPr>
          <p:spPr>
            <a:xfrm>
              <a:off x="9411634" y="3937065"/>
              <a:ext cx="697006" cy="712694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x2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="" xmlns:a16="http://schemas.microsoft.com/office/drawing/2014/main" id="{C508899E-7329-4A06-BCB2-8F56A3069688}"/>
                </a:ext>
              </a:extLst>
            </p:cNvPr>
            <p:cNvCxnSpPr/>
            <p:nvPr/>
          </p:nvCxnSpPr>
          <p:spPr>
            <a:xfrm>
              <a:off x="5989984" y="4319916"/>
              <a:ext cx="48354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" name="Group 8">
              <a:extLst>
                <a:ext uri="{FF2B5EF4-FFF2-40B4-BE49-F238E27FC236}">
                  <a16:creationId xmlns="" xmlns:a16="http://schemas.microsoft.com/office/drawing/2014/main" id="{44942177-63D9-45ED-ADF7-F2E00B5BD8B7}"/>
                </a:ext>
              </a:extLst>
            </p:cNvPr>
            <p:cNvGrpSpPr/>
            <p:nvPr/>
          </p:nvGrpSpPr>
          <p:grpSpPr>
            <a:xfrm>
              <a:off x="10899171" y="3875484"/>
              <a:ext cx="803344" cy="835855"/>
              <a:chOff x="5184749" y="4682255"/>
              <a:chExt cx="803344" cy="835855"/>
            </a:xfrm>
          </p:grpSpPr>
          <p:sp>
            <p:nvSpPr>
              <p:cNvPr id="10" name="Oval 9">
                <a:extLst>
                  <a:ext uri="{FF2B5EF4-FFF2-40B4-BE49-F238E27FC236}">
                    <a16:creationId xmlns="" xmlns:a16="http://schemas.microsoft.com/office/drawing/2014/main" id="{1A90B709-A6EF-4AF3-8058-50CF1F57FBE0}"/>
                  </a:ext>
                </a:extLst>
              </p:cNvPr>
              <p:cNvSpPr/>
              <p:nvPr/>
            </p:nvSpPr>
            <p:spPr>
              <a:xfrm>
                <a:off x="5184749" y="4682255"/>
                <a:ext cx="803344" cy="835855"/>
              </a:xfrm>
              <a:prstGeom prst="ellips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="" xmlns:a16="http://schemas.microsoft.com/office/drawing/2014/main" id="{6ABF4264-5FDC-4260-92AA-D1EB5134B145}"/>
                  </a:ext>
                </a:extLst>
              </p:cNvPr>
              <p:cNvSpPr/>
              <p:nvPr/>
            </p:nvSpPr>
            <p:spPr>
              <a:xfrm>
                <a:off x="5241993" y="4745149"/>
                <a:ext cx="697006" cy="712694"/>
              </a:xfrm>
              <a:prstGeom prst="ellips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x3</a:t>
                </a:r>
              </a:p>
            </p:txBody>
          </p:sp>
        </p:grpSp>
        <p:cxnSp>
          <p:nvCxnSpPr>
            <p:cNvPr id="12" name="Straight Arrow Connector 11">
              <a:extLst>
                <a:ext uri="{FF2B5EF4-FFF2-40B4-BE49-F238E27FC236}">
                  <a16:creationId xmlns="" xmlns:a16="http://schemas.microsoft.com/office/drawing/2014/main" id="{D5AA6CE2-3948-4433-BA7A-3127946350CC}"/>
                </a:ext>
              </a:extLst>
            </p:cNvPr>
            <p:cNvCxnSpPr/>
            <p:nvPr/>
          </p:nvCxnSpPr>
          <p:spPr>
            <a:xfrm>
              <a:off x="8665163" y="4293412"/>
              <a:ext cx="731983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="" xmlns:a16="http://schemas.microsoft.com/office/drawing/2014/main" id="{0D18B66A-683A-44C8-8EBD-EF875F593CAF}"/>
                </a:ext>
              </a:extLst>
            </p:cNvPr>
            <p:cNvCxnSpPr/>
            <p:nvPr/>
          </p:nvCxnSpPr>
          <p:spPr>
            <a:xfrm>
              <a:off x="7210256" y="4306664"/>
              <a:ext cx="731983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="" xmlns:a16="http://schemas.microsoft.com/office/drawing/2014/main" id="{DC6164EF-76F7-4005-BB38-89266147DAAE}"/>
                </a:ext>
              </a:extLst>
            </p:cNvPr>
            <p:cNvCxnSpPr/>
            <p:nvPr/>
          </p:nvCxnSpPr>
          <p:spPr>
            <a:xfrm>
              <a:off x="10157495" y="4286152"/>
              <a:ext cx="731983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="" xmlns:a16="http://schemas.microsoft.com/office/drawing/2014/main" id="{B21A631C-D2FE-49B1-8957-E25DAB8A74E9}"/>
                </a:ext>
              </a:extLst>
            </p:cNvPr>
            <p:cNvSpPr txBox="1"/>
            <p:nvPr/>
          </p:nvSpPr>
          <p:spPr>
            <a:xfrm>
              <a:off x="7323732" y="3858527"/>
              <a:ext cx="27195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="" xmlns:a16="http://schemas.microsoft.com/office/drawing/2014/main" id="{75F7D584-AAAD-45E0-87DE-22B8A5DFE1D6}"/>
                </a:ext>
              </a:extLst>
            </p:cNvPr>
            <p:cNvSpPr txBox="1"/>
            <p:nvPr/>
          </p:nvSpPr>
          <p:spPr>
            <a:xfrm>
              <a:off x="10318246" y="3858251"/>
              <a:ext cx="27195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="" xmlns:a16="http://schemas.microsoft.com/office/drawing/2014/main" id="{5400B237-E3F1-4BEA-A919-8B46A9BC728C}"/>
                </a:ext>
              </a:extLst>
            </p:cNvPr>
            <p:cNvSpPr txBox="1"/>
            <p:nvPr/>
          </p:nvSpPr>
          <p:spPr>
            <a:xfrm>
              <a:off x="8813526" y="3875484"/>
              <a:ext cx="27195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18" name="Arc 17">
              <a:extLst>
                <a:ext uri="{FF2B5EF4-FFF2-40B4-BE49-F238E27FC236}">
                  <a16:creationId xmlns="" xmlns:a16="http://schemas.microsoft.com/office/drawing/2014/main" id="{4A9D3AB6-108E-4062-B22C-A1FC38CC204A}"/>
                </a:ext>
              </a:extLst>
            </p:cNvPr>
            <p:cNvSpPr/>
            <p:nvPr/>
          </p:nvSpPr>
          <p:spPr>
            <a:xfrm>
              <a:off x="6586120" y="3539957"/>
              <a:ext cx="471227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="" xmlns:a16="http://schemas.microsoft.com/office/drawing/2014/main" id="{E375BB6D-D318-45C8-92CF-41E5277E6E10}"/>
              </a:ext>
            </a:extLst>
          </p:cNvPr>
          <p:cNvSpPr txBox="1"/>
          <p:nvPr/>
        </p:nvSpPr>
        <p:spPr>
          <a:xfrm>
            <a:off x="232635" y="231729"/>
            <a:ext cx="31599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Parse Tree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="" xmlns:a16="http://schemas.microsoft.com/office/drawing/2014/main" id="{B4F23E4F-F5BD-46EA-B169-ED7CDFBCDE79}"/>
              </a:ext>
            </a:extLst>
          </p:cNvPr>
          <p:cNvSpPr txBox="1"/>
          <p:nvPr/>
        </p:nvSpPr>
        <p:spPr>
          <a:xfrm>
            <a:off x="2342643" y="209872"/>
            <a:ext cx="5657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a/b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="" xmlns:a16="http://schemas.microsoft.com/office/drawing/2014/main" id="{5F59A017-09C9-4CAA-9DC2-D08568FC45F3}"/>
              </a:ext>
            </a:extLst>
          </p:cNvPr>
          <p:cNvCxnSpPr>
            <a:cxnSpLocks/>
          </p:cNvCxnSpPr>
          <p:nvPr/>
        </p:nvCxnSpPr>
        <p:spPr>
          <a:xfrm>
            <a:off x="9771632" y="1459439"/>
            <a:ext cx="0" cy="623354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="" xmlns:a16="http://schemas.microsoft.com/office/drawing/2014/main" id="{3813E90F-677D-4624-9162-84E0E16BD3BE}"/>
              </a:ext>
            </a:extLst>
          </p:cNvPr>
          <p:cNvCxnSpPr>
            <a:cxnSpLocks/>
          </p:cNvCxnSpPr>
          <p:nvPr/>
        </p:nvCxnSpPr>
        <p:spPr>
          <a:xfrm>
            <a:off x="8620635" y="4489808"/>
            <a:ext cx="0" cy="719176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="" xmlns:a16="http://schemas.microsoft.com/office/drawing/2014/main" id="{90FD16D0-967F-4326-B51B-0E14708D80D6}"/>
              </a:ext>
            </a:extLst>
          </p:cNvPr>
          <p:cNvSpPr txBox="1"/>
          <p:nvPr/>
        </p:nvSpPr>
        <p:spPr>
          <a:xfrm>
            <a:off x="7565267" y="6359543"/>
            <a:ext cx="4234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x3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="" xmlns:a16="http://schemas.microsoft.com/office/drawing/2014/main" id="{32E191C6-3FE0-46CC-8C30-B1F3B698A741}"/>
              </a:ext>
            </a:extLst>
          </p:cNvPr>
          <p:cNvSpPr txBox="1"/>
          <p:nvPr/>
        </p:nvSpPr>
        <p:spPr>
          <a:xfrm>
            <a:off x="9543171" y="999065"/>
            <a:ext cx="8635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X1 </a:t>
            </a:r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(a)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="" xmlns:a16="http://schemas.microsoft.com/office/drawing/2014/main" id="{5EEE9209-5837-4AAA-996E-C267A8C86BE9}"/>
              </a:ext>
            </a:extLst>
          </p:cNvPr>
          <p:cNvSpPr txBox="1"/>
          <p:nvPr/>
        </p:nvSpPr>
        <p:spPr>
          <a:xfrm>
            <a:off x="6721601" y="6318823"/>
            <a:ext cx="4234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x1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="" xmlns:a16="http://schemas.microsoft.com/office/drawing/2014/main" id="{0954F32B-B50F-456A-876C-E19AD9DC5AB2}"/>
              </a:ext>
            </a:extLst>
          </p:cNvPr>
          <p:cNvCxnSpPr>
            <a:cxnSpLocks/>
          </p:cNvCxnSpPr>
          <p:nvPr/>
        </p:nvCxnSpPr>
        <p:spPr>
          <a:xfrm flipH="1">
            <a:off x="7808615" y="372270"/>
            <a:ext cx="774058" cy="745283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="" xmlns:a16="http://schemas.microsoft.com/office/drawing/2014/main" id="{8C0209D4-36BF-429F-BFAC-8EF113B0D14B}"/>
              </a:ext>
            </a:extLst>
          </p:cNvPr>
          <p:cNvCxnSpPr>
            <a:cxnSpLocks/>
          </p:cNvCxnSpPr>
          <p:nvPr/>
        </p:nvCxnSpPr>
        <p:spPr>
          <a:xfrm>
            <a:off x="8735488" y="372270"/>
            <a:ext cx="956602" cy="745283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="" xmlns:a16="http://schemas.microsoft.com/office/drawing/2014/main" id="{20163BB8-9288-4AFA-B1AB-768E3D975F1B}"/>
              </a:ext>
            </a:extLst>
          </p:cNvPr>
          <p:cNvSpPr txBox="1"/>
          <p:nvPr/>
        </p:nvSpPr>
        <p:spPr>
          <a:xfrm>
            <a:off x="8423960" y="4162976"/>
            <a:ext cx="8120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X3 </a:t>
            </a:r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="" xmlns:a16="http://schemas.microsoft.com/office/drawing/2014/main" id="{442A6FE7-B380-47BC-AFE6-A6174E8C2B5E}"/>
              </a:ext>
            </a:extLst>
          </p:cNvPr>
          <p:cNvSpPr txBox="1"/>
          <p:nvPr/>
        </p:nvSpPr>
        <p:spPr>
          <a:xfrm>
            <a:off x="8410398" y="3107287"/>
            <a:ext cx="9439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X2 </a:t>
            </a:r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="" xmlns:a16="http://schemas.microsoft.com/office/drawing/2014/main" id="{6F4F3F1E-134C-441A-8EFF-5241D4FF3060}"/>
              </a:ext>
            </a:extLst>
          </p:cNvPr>
          <p:cNvSpPr txBox="1"/>
          <p:nvPr/>
        </p:nvSpPr>
        <p:spPr>
          <a:xfrm>
            <a:off x="8455224" y="0"/>
            <a:ext cx="8991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X0  </a:t>
            </a:r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="" xmlns:a16="http://schemas.microsoft.com/office/drawing/2014/main" id="{9B070F29-9A7E-4F17-921F-8FB4B12F06AE}"/>
              </a:ext>
            </a:extLst>
          </p:cNvPr>
          <p:cNvSpPr txBox="1"/>
          <p:nvPr/>
        </p:nvSpPr>
        <p:spPr>
          <a:xfrm>
            <a:off x="7604474" y="1024453"/>
            <a:ext cx="850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X0  </a:t>
            </a:r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="" xmlns:a16="http://schemas.microsoft.com/office/drawing/2014/main" id="{42ACC4AB-5123-440E-BF30-A1A6E2F356F5}"/>
              </a:ext>
            </a:extLst>
          </p:cNvPr>
          <p:cNvSpPr txBox="1"/>
          <p:nvPr/>
        </p:nvSpPr>
        <p:spPr>
          <a:xfrm>
            <a:off x="6739075" y="2016126"/>
            <a:ext cx="8120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X0 </a:t>
            </a:r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="" xmlns:a16="http://schemas.microsoft.com/office/drawing/2014/main" id="{BD6C7C82-7BF4-4C08-AEF6-1DFD9231BBBD}"/>
              </a:ext>
            </a:extLst>
          </p:cNvPr>
          <p:cNvSpPr txBox="1"/>
          <p:nvPr/>
        </p:nvSpPr>
        <p:spPr>
          <a:xfrm>
            <a:off x="6707003" y="3171443"/>
            <a:ext cx="844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X0 </a:t>
            </a:r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="" xmlns:a16="http://schemas.microsoft.com/office/drawing/2014/main" id="{AFB2F205-94FA-4345-AB99-8AF1C0E765E9}"/>
              </a:ext>
            </a:extLst>
          </p:cNvPr>
          <p:cNvSpPr txBox="1"/>
          <p:nvPr/>
        </p:nvSpPr>
        <p:spPr>
          <a:xfrm>
            <a:off x="5901074" y="4162976"/>
            <a:ext cx="818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X0 </a:t>
            </a:r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="" xmlns:a16="http://schemas.microsoft.com/office/drawing/2014/main" id="{9DAA08EE-4DDD-464C-A6D4-14071B0AD423}"/>
              </a:ext>
            </a:extLst>
          </p:cNvPr>
          <p:cNvSpPr txBox="1"/>
          <p:nvPr/>
        </p:nvSpPr>
        <p:spPr>
          <a:xfrm>
            <a:off x="5906299" y="5296362"/>
            <a:ext cx="832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X0 </a:t>
            </a:r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="" xmlns:a16="http://schemas.microsoft.com/office/drawing/2014/main" id="{46296339-5A22-4B8E-93EE-B62D91D158AE}"/>
              </a:ext>
            </a:extLst>
          </p:cNvPr>
          <p:cNvSpPr txBox="1"/>
          <p:nvPr/>
        </p:nvSpPr>
        <p:spPr>
          <a:xfrm>
            <a:off x="8423960" y="2030278"/>
            <a:ext cx="8120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X1 </a:t>
            </a:r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(b) 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="" xmlns:a16="http://schemas.microsoft.com/office/drawing/2014/main" id="{A918B3F7-2E00-4A94-AC52-3C78A79FBCB5}"/>
              </a:ext>
            </a:extLst>
          </p:cNvPr>
          <p:cNvSpPr txBox="1"/>
          <p:nvPr/>
        </p:nvSpPr>
        <p:spPr>
          <a:xfrm>
            <a:off x="7551113" y="4153067"/>
            <a:ext cx="8182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X1 </a:t>
            </a:r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="" xmlns:a16="http://schemas.microsoft.com/office/drawing/2014/main" id="{433CC169-B75B-4B01-994F-F10157A4F923}"/>
              </a:ext>
            </a:extLst>
          </p:cNvPr>
          <p:cNvSpPr txBox="1"/>
          <p:nvPr/>
        </p:nvSpPr>
        <p:spPr>
          <a:xfrm>
            <a:off x="7551114" y="5229620"/>
            <a:ext cx="818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X2 </a:t>
            </a:r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="" xmlns:a16="http://schemas.microsoft.com/office/drawing/2014/main" id="{AFD252DD-8076-48A6-8E42-E81BE675F6DB}"/>
              </a:ext>
            </a:extLst>
          </p:cNvPr>
          <p:cNvCxnSpPr>
            <a:cxnSpLocks/>
          </p:cNvCxnSpPr>
          <p:nvPr/>
        </p:nvCxnSpPr>
        <p:spPr>
          <a:xfrm flipH="1">
            <a:off x="6955749" y="1337510"/>
            <a:ext cx="774058" cy="745283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="" xmlns:a16="http://schemas.microsoft.com/office/drawing/2014/main" id="{2FA49442-CA3A-4F18-984A-1051F171E499}"/>
              </a:ext>
            </a:extLst>
          </p:cNvPr>
          <p:cNvCxnSpPr>
            <a:cxnSpLocks/>
          </p:cNvCxnSpPr>
          <p:nvPr/>
        </p:nvCxnSpPr>
        <p:spPr>
          <a:xfrm>
            <a:off x="7855140" y="1328538"/>
            <a:ext cx="740641" cy="754255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="" xmlns:a16="http://schemas.microsoft.com/office/drawing/2014/main" id="{2C2502C7-9064-4178-887C-11B95EEC2D5A}"/>
              </a:ext>
            </a:extLst>
          </p:cNvPr>
          <p:cNvCxnSpPr>
            <a:cxnSpLocks/>
          </p:cNvCxnSpPr>
          <p:nvPr/>
        </p:nvCxnSpPr>
        <p:spPr>
          <a:xfrm flipH="1">
            <a:off x="6901022" y="2373248"/>
            <a:ext cx="18190" cy="915197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="" xmlns:a16="http://schemas.microsoft.com/office/drawing/2014/main" id="{1C825FF5-3DE8-4FF7-9A07-5A785E3FFC1B}"/>
              </a:ext>
            </a:extLst>
          </p:cNvPr>
          <p:cNvCxnSpPr>
            <a:cxnSpLocks/>
          </p:cNvCxnSpPr>
          <p:nvPr/>
        </p:nvCxnSpPr>
        <p:spPr>
          <a:xfrm>
            <a:off x="8612489" y="2362974"/>
            <a:ext cx="0" cy="848315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="" xmlns:a16="http://schemas.microsoft.com/office/drawing/2014/main" id="{C7D640D8-34F9-4997-9FA1-523B8C303761}"/>
              </a:ext>
            </a:extLst>
          </p:cNvPr>
          <p:cNvCxnSpPr>
            <a:cxnSpLocks/>
          </p:cNvCxnSpPr>
          <p:nvPr/>
        </p:nvCxnSpPr>
        <p:spPr>
          <a:xfrm flipH="1">
            <a:off x="6084172" y="3533759"/>
            <a:ext cx="774058" cy="745283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="" xmlns:a16="http://schemas.microsoft.com/office/drawing/2014/main" id="{6D0326CB-2101-4A6E-A0A6-38DDDF9F3EBF}"/>
              </a:ext>
            </a:extLst>
          </p:cNvPr>
          <p:cNvCxnSpPr>
            <a:cxnSpLocks/>
          </p:cNvCxnSpPr>
          <p:nvPr/>
        </p:nvCxnSpPr>
        <p:spPr>
          <a:xfrm>
            <a:off x="6983562" y="3524787"/>
            <a:ext cx="740641" cy="754255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="" xmlns:a16="http://schemas.microsoft.com/office/drawing/2014/main" id="{EDB9B745-35DC-48FF-8320-D25F2D544912}"/>
              </a:ext>
            </a:extLst>
          </p:cNvPr>
          <p:cNvCxnSpPr>
            <a:cxnSpLocks/>
          </p:cNvCxnSpPr>
          <p:nvPr/>
        </p:nvCxnSpPr>
        <p:spPr>
          <a:xfrm>
            <a:off x="8593067" y="3430726"/>
            <a:ext cx="0" cy="848315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="" xmlns:a16="http://schemas.microsoft.com/office/drawing/2014/main" id="{755BA1AA-81AE-4B50-817C-E5D812363331}"/>
              </a:ext>
            </a:extLst>
          </p:cNvPr>
          <p:cNvCxnSpPr>
            <a:cxnSpLocks/>
          </p:cNvCxnSpPr>
          <p:nvPr/>
        </p:nvCxnSpPr>
        <p:spPr>
          <a:xfrm flipH="1">
            <a:off x="6084172" y="4485982"/>
            <a:ext cx="18190" cy="915197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="" xmlns:a16="http://schemas.microsoft.com/office/drawing/2014/main" id="{7E58F7AA-5CCB-43A9-83AE-D097DA0C21A7}"/>
              </a:ext>
            </a:extLst>
          </p:cNvPr>
          <p:cNvCxnSpPr>
            <a:cxnSpLocks/>
          </p:cNvCxnSpPr>
          <p:nvPr/>
        </p:nvCxnSpPr>
        <p:spPr>
          <a:xfrm flipH="1">
            <a:off x="7737818" y="4480152"/>
            <a:ext cx="18190" cy="915197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="" xmlns:a16="http://schemas.microsoft.com/office/drawing/2014/main" id="{BF8AEEB2-F9F5-4EE3-BD40-0A4B46EB0793}"/>
              </a:ext>
            </a:extLst>
          </p:cNvPr>
          <p:cNvCxnSpPr>
            <a:cxnSpLocks/>
          </p:cNvCxnSpPr>
          <p:nvPr/>
        </p:nvCxnSpPr>
        <p:spPr>
          <a:xfrm flipH="1">
            <a:off x="5261463" y="5644380"/>
            <a:ext cx="774058" cy="745283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="" xmlns:a16="http://schemas.microsoft.com/office/drawing/2014/main" id="{9528FBC0-5097-4452-B293-C11119099555}"/>
              </a:ext>
            </a:extLst>
          </p:cNvPr>
          <p:cNvCxnSpPr>
            <a:cxnSpLocks/>
          </p:cNvCxnSpPr>
          <p:nvPr/>
        </p:nvCxnSpPr>
        <p:spPr>
          <a:xfrm>
            <a:off x="6160853" y="5635408"/>
            <a:ext cx="740641" cy="754255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="" xmlns:a16="http://schemas.microsoft.com/office/drawing/2014/main" id="{415777CC-EDC3-44A4-B64D-3ED4B5ADE620}"/>
              </a:ext>
            </a:extLst>
          </p:cNvPr>
          <p:cNvSpPr txBox="1"/>
          <p:nvPr/>
        </p:nvSpPr>
        <p:spPr>
          <a:xfrm>
            <a:off x="5030828" y="6303746"/>
            <a:ext cx="832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X0 </a:t>
            </a:r>
            <a:endParaRPr lang="en-US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6" name="Straight Arrow Connector 75">
            <a:extLst>
              <a:ext uri="{FF2B5EF4-FFF2-40B4-BE49-F238E27FC236}">
                <a16:creationId xmlns="" xmlns:a16="http://schemas.microsoft.com/office/drawing/2014/main" id="{A08F93FF-D09A-4BB6-BC17-7B412B6E2507}"/>
              </a:ext>
            </a:extLst>
          </p:cNvPr>
          <p:cNvCxnSpPr>
            <a:cxnSpLocks/>
          </p:cNvCxnSpPr>
          <p:nvPr/>
        </p:nvCxnSpPr>
        <p:spPr>
          <a:xfrm flipH="1">
            <a:off x="7746913" y="5554936"/>
            <a:ext cx="18190" cy="915197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Multiplication Sign 79">
            <a:extLst>
              <a:ext uri="{FF2B5EF4-FFF2-40B4-BE49-F238E27FC236}">
                <a16:creationId xmlns="" xmlns:a16="http://schemas.microsoft.com/office/drawing/2014/main" id="{6E61DDFC-C126-43D1-8ADC-09AC2F28B7CF}"/>
              </a:ext>
            </a:extLst>
          </p:cNvPr>
          <p:cNvSpPr/>
          <p:nvPr/>
        </p:nvSpPr>
        <p:spPr>
          <a:xfrm>
            <a:off x="8424462" y="5095081"/>
            <a:ext cx="372119" cy="540327"/>
          </a:xfrm>
          <a:prstGeom prst="mathMultiply">
            <a:avLst>
              <a:gd name="adj1" fmla="val 13264"/>
            </a:avLst>
          </a:prstGeom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Multiplication Sign 80">
            <a:extLst>
              <a:ext uri="{FF2B5EF4-FFF2-40B4-BE49-F238E27FC236}">
                <a16:creationId xmlns="" xmlns:a16="http://schemas.microsoft.com/office/drawing/2014/main" id="{D1B1A970-3D64-460E-8776-532AAE64E9B4}"/>
              </a:ext>
            </a:extLst>
          </p:cNvPr>
          <p:cNvSpPr/>
          <p:nvPr/>
        </p:nvSpPr>
        <p:spPr>
          <a:xfrm>
            <a:off x="9585572" y="1976731"/>
            <a:ext cx="372119" cy="540327"/>
          </a:xfrm>
          <a:prstGeom prst="mathMultiply">
            <a:avLst>
              <a:gd name="adj1" fmla="val 13264"/>
            </a:avLst>
          </a:prstGeom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="" xmlns:a16="http://schemas.microsoft.com/office/drawing/2014/main" id="{4187EA5E-EFC2-44DA-AC97-7B3AD44DEBBB}"/>
              </a:ext>
            </a:extLst>
          </p:cNvPr>
          <p:cNvSpPr/>
          <p:nvPr/>
        </p:nvSpPr>
        <p:spPr>
          <a:xfrm>
            <a:off x="217787" y="1445144"/>
            <a:ext cx="1467068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</a:p>
          <a:p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aababa</a:t>
            </a:r>
            <a:endParaRPr lang="en-US" sz="3600" dirty="0"/>
          </a:p>
        </p:txBody>
      </p:sp>
      <p:sp>
        <p:nvSpPr>
          <p:cNvPr id="2" name="Oval 1">
            <a:extLst>
              <a:ext uri="{FF2B5EF4-FFF2-40B4-BE49-F238E27FC236}">
                <a16:creationId xmlns="" xmlns:a16="http://schemas.microsoft.com/office/drawing/2014/main" id="{1C6530BA-0F55-4469-B5BA-6601E9A78A0C}"/>
              </a:ext>
            </a:extLst>
          </p:cNvPr>
          <p:cNvSpPr/>
          <p:nvPr/>
        </p:nvSpPr>
        <p:spPr>
          <a:xfrm>
            <a:off x="4851141" y="6074268"/>
            <a:ext cx="774058" cy="745280"/>
          </a:xfrm>
          <a:prstGeom prst="ellipse">
            <a:avLst/>
          </a:prstGeom>
          <a:noFill/>
          <a:ln w="317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>
            <a:extLst>
              <a:ext uri="{FF2B5EF4-FFF2-40B4-BE49-F238E27FC236}">
                <a16:creationId xmlns="" xmlns:a16="http://schemas.microsoft.com/office/drawing/2014/main" id="{3AB35C67-C7AB-43DE-8E26-29CBEA4773D7}"/>
              </a:ext>
            </a:extLst>
          </p:cNvPr>
          <p:cNvSpPr/>
          <p:nvPr/>
        </p:nvSpPr>
        <p:spPr>
          <a:xfrm>
            <a:off x="6451374" y="6116187"/>
            <a:ext cx="774058" cy="745280"/>
          </a:xfrm>
          <a:prstGeom prst="ellipse">
            <a:avLst/>
          </a:prstGeom>
          <a:noFill/>
          <a:ln w="317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="" xmlns:a16="http://schemas.microsoft.com/office/drawing/2014/main" id="{3D5919D9-46FA-48E5-8477-C7B4B54874AE}"/>
              </a:ext>
            </a:extLst>
          </p:cNvPr>
          <p:cNvSpPr/>
          <p:nvPr/>
        </p:nvSpPr>
        <p:spPr>
          <a:xfrm>
            <a:off x="7350789" y="6130849"/>
            <a:ext cx="774058" cy="745280"/>
          </a:xfrm>
          <a:prstGeom prst="ellipse">
            <a:avLst/>
          </a:prstGeom>
          <a:noFill/>
          <a:ln w="317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8" name="Straight Arrow Connector 77">
            <a:extLst>
              <a:ext uri="{FF2B5EF4-FFF2-40B4-BE49-F238E27FC236}">
                <a16:creationId xmlns="" xmlns:a16="http://schemas.microsoft.com/office/drawing/2014/main" id="{0954F32B-B50F-456A-876C-E19AD9DC5AB2}"/>
              </a:ext>
            </a:extLst>
          </p:cNvPr>
          <p:cNvCxnSpPr>
            <a:cxnSpLocks/>
          </p:cNvCxnSpPr>
          <p:nvPr/>
        </p:nvCxnSpPr>
        <p:spPr>
          <a:xfrm rot="10800000" flipV="1">
            <a:off x="8066523" y="527537"/>
            <a:ext cx="532355" cy="522607"/>
          </a:xfrm>
          <a:prstGeom prst="straightConnector1">
            <a:avLst/>
          </a:prstGeom>
          <a:ln w="38100"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="" xmlns:a16="http://schemas.microsoft.com/office/drawing/2014/main" id="{AFD252DD-8076-48A6-8E42-E81BE675F6DB}"/>
              </a:ext>
            </a:extLst>
          </p:cNvPr>
          <p:cNvCxnSpPr>
            <a:cxnSpLocks/>
          </p:cNvCxnSpPr>
          <p:nvPr/>
        </p:nvCxnSpPr>
        <p:spPr>
          <a:xfrm rot="10800000" flipV="1">
            <a:off x="7204864" y="1459523"/>
            <a:ext cx="567536" cy="547070"/>
          </a:xfrm>
          <a:prstGeom prst="straightConnector1">
            <a:avLst/>
          </a:prstGeom>
          <a:ln w="38100"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="" xmlns:a16="http://schemas.microsoft.com/office/drawing/2014/main" id="{2C2502C7-9064-4178-887C-11B95EEC2D5A}"/>
              </a:ext>
            </a:extLst>
          </p:cNvPr>
          <p:cNvCxnSpPr>
            <a:cxnSpLocks/>
          </p:cNvCxnSpPr>
          <p:nvPr/>
        </p:nvCxnSpPr>
        <p:spPr>
          <a:xfrm rot="5400000">
            <a:off x="6734377" y="2789685"/>
            <a:ext cx="662476" cy="6801"/>
          </a:xfrm>
          <a:prstGeom prst="straightConnector1">
            <a:avLst/>
          </a:prstGeom>
          <a:ln w="38100"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="" xmlns:a16="http://schemas.microsoft.com/office/drawing/2014/main" id="{6D0326CB-2101-4A6E-A0A6-38DDDF9F3EBF}"/>
              </a:ext>
            </a:extLst>
          </p:cNvPr>
          <p:cNvCxnSpPr>
            <a:cxnSpLocks/>
          </p:cNvCxnSpPr>
          <p:nvPr/>
        </p:nvCxnSpPr>
        <p:spPr>
          <a:xfrm>
            <a:off x="7130561" y="3543300"/>
            <a:ext cx="561403" cy="554034"/>
          </a:xfrm>
          <a:prstGeom prst="straightConnector1">
            <a:avLst/>
          </a:prstGeom>
          <a:ln w="38100"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="" xmlns:a16="http://schemas.microsoft.com/office/drawing/2014/main" id="{7E58F7AA-5CCB-43A9-83AE-D097DA0C21A7}"/>
              </a:ext>
            </a:extLst>
          </p:cNvPr>
          <p:cNvCxnSpPr>
            <a:cxnSpLocks/>
          </p:cNvCxnSpPr>
          <p:nvPr/>
        </p:nvCxnSpPr>
        <p:spPr>
          <a:xfrm rot="5400000">
            <a:off x="7572036" y="4925355"/>
            <a:ext cx="632846" cy="14066"/>
          </a:xfrm>
          <a:prstGeom prst="straightConnector1">
            <a:avLst/>
          </a:prstGeom>
          <a:ln w="38100"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="" xmlns:a16="http://schemas.microsoft.com/office/drawing/2014/main" id="{A08F93FF-D09A-4BB6-BC17-7B412B6E2507}"/>
              </a:ext>
            </a:extLst>
          </p:cNvPr>
          <p:cNvCxnSpPr>
            <a:cxnSpLocks/>
          </p:cNvCxnSpPr>
          <p:nvPr/>
        </p:nvCxnSpPr>
        <p:spPr>
          <a:xfrm rot="5400000">
            <a:off x="7491994" y="5981643"/>
            <a:ext cx="766856" cy="22557"/>
          </a:xfrm>
          <a:prstGeom prst="straightConnector1">
            <a:avLst/>
          </a:prstGeom>
          <a:ln w="38100"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7141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6" grpId="0" animBg="1"/>
      <p:bldP spid="57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1296" y="0"/>
            <a:ext cx="1346591" cy="306407"/>
          </a:xfrm>
        </p:spPr>
        <p:txBody>
          <a:bodyPr/>
          <a:lstStyle/>
          <a:p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NFA Continues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6934" y="577801"/>
            <a:ext cx="8946541" cy="4195481"/>
          </a:xfrm>
        </p:spPr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 = All words that start with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and end with bb are valid.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 = {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babb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baabb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babbb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baaabb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baabbb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…………}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 =           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51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562283" y="1431655"/>
            <a:ext cx="8971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a+b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)*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Oval 5"/>
          <p:cNvSpPr/>
          <p:nvPr/>
        </p:nvSpPr>
        <p:spPr>
          <a:xfrm>
            <a:off x="1173192" y="2958860"/>
            <a:ext cx="560717" cy="483079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x0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Oval 6"/>
          <p:cNvSpPr/>
          <p:nvPr/>
        </p:nvSpPr>
        <p:spPr>
          <a:xfrm>
            <a:off x="2360761" y="2930103"/>
            <a:ext cx="560717" cy="483079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x1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Oval 7"/>
          <p:cNvSpPr/>
          <p:nvPr/>
        </p:nvSpPr>
        <p:spPr>
          <a:xfrm>
            <a:off x="3565585" y="2927230"/>
            <a:ext cx="560717" cy="483079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x2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Oval 8"/>
          <p:cNvSpPr/>
          <p:nvPr/>
        </p:nvSpPr>
        <p:spPr>
          <a:xfrm>
            <a:off x="4770407" y="2898475"/>
            <a:ext cx="560717" cy="483079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x3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16" name="Group 15"/>
          <p:cNvGrpSpPr/>
          <p:nvPr/>
        </p:nvGrpSpPr>
        <p:grpSpPr>
          <a:xfrm>
            <a:off x="5934973" y="2786331"/>
            <a:ext cx="707367" cy="638355"/>
            <a:chOff x="6478436" y="3209026"/>
            <a:chExt cx="707367" cy="638355"/>
          </a:xfrm>
        </p:grpSpPr>
        <p:sp>
          <p:nvSpPr>
            <p:cNvPr id="10" name="Oval 9">
              <a:extLst>
                <a:ext uri="{FF2B5EF4-FFF2-40B4-BE49-F238E27FC236}">
                  <a16:creationId xmlns="" xmlns:a16="http://schemas.microsoft.com/office/drawing/2014/main" id="{1A90B709-A6EF-4AF3-8058-50CF1F57FBE0}"/>
                </a:ext>
              </a:extLst>
            </p:cNvPr>
            <p:cNvSpPr/>
            <p:nvPr/>
          </p:nvSpPr>
          <p:spPr>
            <a:xfrm>
              <a:off x="6478436" y="3209026"/>
              <a:ext cx="707367" cy="638355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Oval 14"/>
            <p:cNvSpPr/>
            <p:nvPr/>
          </p:nvSpPr>
          <p:spPr>
            <a:xfrm>
              <a:off x="6544573" y="3283789"/>
              <a:ext cx="560717" cy="48307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x4</a:t>
              </a:r>
              <a:endParaRPr lang="en-US" sz="16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cxnSp>
        <p:nvCxnSpPr>
          <p:cNvPr id="18" name="Straight Arrow Connector 17"/>
          <p:cNvCxnSpPr/>
          <p:nvPr/>
        </p:nvCxnSpPr>
        <p:spPr>
          <a:xfrm flipV="1">
            <a:off x="1759790" y="3183149"/>
            <a:ext cx="595223" cy="17252"/>
          </a:xfrm>
          <a:prstGeom prst="straightConnector1">
            <a:avLst/>
          </a:prstGeom>
          <a:ln w="1905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>
            <a:off x="733245" y="3209026"/>
            <a:ext cx="402571" cy="7335"/>
          </a:xfrm>
          <a:prstGeom prst="straightConnector1">
            <a:avLst/>
          </a:prstGeom>
          <a:ln w="158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 flipV="1">
            <a:off x="2938731" y="3163018"/>
            <a:ext cx="595223" cy="17252"/>
          </a:xfrm>
          <a:prstGeom prst="straightConnector1">
            <a:avLst/>
          </a:prstGeom>
          <a:ln w="1905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 flipV="1">
            <a:off x="5333998" y="3117013"/>
            <a:ext cx="595223" cy="17252"/>
          </a:xfrm>
          <a:prstGeom prst="straightConnector1">
            <a:avLst/>
          </a:prstGeom>
          <a:ln w="1905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flipV="1">
            <a:off x="4166558" y="3140016"/>
            <a:ext cx="595223" cy="17252"/>
          </a:xfrm>
          <a:prstGeom prst="straightConnector1">
            <a:avLst/>
          </a:prstGeom>
          <a:ln w="1905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="" xmlns:a16="http://schemas.microsoft.com/office/drawing/2014/main" id="{B21A631C-D2FE-49B1-8957-E25DAB8A74E9}"/>
              </a:ext>
            </a:extLst>
          </p:cNvPr>
          <p:cNvSpPr txBox="1"/>
          <p:nvPr/>
        </p:nvSpPr>
        <p:spPr>
          <a:xfrm>
            <a:off x="2986817" y="2787657"/>
            <a:ext cx="2359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="" xmlns:a16="http://schemas.microsoft.com/office/drawing/2014/main" id="{B21A631C-D2FE-49B1-8957-E25DAB8A74E9}"/>
              </a:ext>
            </a:extLst>
          </p:cNvPr>
          <p:cNvSpPr txBox="1"/>
          <p:nvPr/>
        </p:nvSpPr>
        <p:spPr>
          <a:xfrm>
            <a:off x="1827836" y="2785444"/>
            <a:ext cx="2359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="" xmlns:a16="http://schemas.microsoft.com/office/drawing/2014/main" id="{B21A631C-D2FE-49B1-8957-E25DAB8A74E9}"/>
              </a:ext>
            </a:extLst>
          </p:cNvPr>
          <p:cNvSpPr txBox="1"/>
          <p:nvPr/>
        </p:nvSpPr>
        <p:spPr>
          <a:xfrm>
            <a:off x="5404757" y="2722184"/>
            <a:ext cx="2359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="" xmlns:a16="http://schemas.microsoft.com/office/drawing/2014/main" id="{B21A631C-D2FE-49B1-8957-E25DAB8A74E9}"/>
              </a:ext>
            </a:extLst>
          </p:cNvPr>
          <p:cNvSpPr txBox="1"/>
          <p:nvPr/>
        </p:nvSpPr>
        <p:spPr>
          <a:xfrm>
            <a:off x="4211437" y="2762937"/>
            <a:ext cx="2359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Arc 31">
            <a:extLst>
              <a:ext uri="{FF2B5EF4-FFF2-40B4-BE49-F238E27FC236}">
                <a16:creationId xmlns="" xmlns:a16="http://schemas.microsoft.com/office/drawing/2014/main" id="{4A9D3AB6-108E-4062-B22C-A1FC38CC204A}"/>
              </a:ext>
            </a:extLst>
          </p:cNvPr>
          <p:cNvSpPr/>
          <p:nvPr/>
        </p:nvSpPr>
        <p:spPr>
          <a:xfrm>
            <a:off x="3641805" y="2605177"/>
            <a:ext cx="408846" cy="855590"/>
          </a:xfrm>
          <a:prstGeom prst="arc">
            <a:avLst>
              <a:gd name="adj1" fmla="val 10711483"/>
              <a:gd name="adj2" fmla="val 0"/>
            </a:avLst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="" xmlns:a16="http://schemas.microsoft.com/office/drawing/2014/main" id="{B21A631C-D2FE-49B1-8957-E25DAB8A74E9}"/>
              </a:ext>
            </a:extLst>
          </p:cNvPr>
          <p:cNvSpPr txBox="1"/>
          <p:nvPr/>
        </p:nvSpPr>
        <p:spPr>
          <a:xfrm>
            <a:off x="3585908" y="2202610"/>
            <a:ext cx="7445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a/b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2260572" y="1443377"/>
            <a:ext cx="5098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bb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277932" y="1411139"/>
            <a:ext cx="4541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ba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88140" y="1946364"/>
            <a:ext cx="25036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Input : 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bababbabb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27" name="Group 26"/>
          <p:cNvGrpSpPr/>
          <p:nvPr/>
        </p:nvGrpSpPr>
        <p:grpSpPr>
          <a:xfrm>
            <a:off x="5797614" y="4409479"/>
            <a:ext cx="5909095" cy="1258157"/>
            <a:chOff x="733245" y="2202610"/>
            <a:chExt cx="5909095" cy="1258157"/>
          </a:xfrm>
        </p:grpSpPr>
        <p:sp>
          <p:nvSpPr>
            <p:cNvPr id="37" name="Oval 36"/>
            <p:cNvSpPr/>
            <p:nvPr/>
          </p:nvSpPr>
          <p:spPr>
            <a:xfrm>
              <a:off x="1173192" y="2958860"/>
              <a:ext cx="560717" cy="48307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x0</a:t>
              </a:r>
              <a:endParaRPr lang="en-US" sz="16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8" name="Oval 37"/>
            <p:cNvSpPr/>
            <p:nvPr/>
          </p:nvSpPr>
          <p:spPr>
            <a:xfrm>
              <a:off x="2360761" y="2930103"/>
              <a:ext cx="560717" cy="48307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x1</a:t>
              </a:r>
              <a:endParaRPr lang="en-US" sz="16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9" name="Oval 38"/>
            <p:cNvSpPr/>
            <p:nvPr/>
          </p:nvSpPr>
          <p:spPr>
            <a:xfrm>
              <a:off x="3565585" y="2927230"/>
              <a:ext cx="560717" cy="48307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x2</a:t>
              </a:r>
              <a:endParaRPr lang="en-US" sz="16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0" name="Oval 39"/>
            <p:cNvSpPr/>
            <p:nvPr/>
          </p:nvSpPr>
          <p:spPr>
            <a:xfrm>
              <a:off x="4770407" y="2898475"/>
              <a:ext cx="560717" cy="48307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x3</a:t>
              </a:r>
              <a:endParaRPr lang="en-US" sz="1600" dirty="0"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41" name="Group 15"/>
            <p:cNvGrpSpPr/>
            <p:nvPr/>
          </p:nvGrpSpPr>
          <p:grpSpPr>
            <a:xfrm>
              <a:off x="5934973" y="2786331"/>
              <a:ext cx="707367" cy="638355"/>
              <a:chOff x="6478436" y="3209026"/>
              <a:chExt cx="707367" cy="638355"/>
            </a:xfrm>
          </p:grpSpPr>
          <p:sp>
            <p:nvSpPr>
              <p:cNvPr id="53" name="Oval 9">
                <a:extLst>
                  <a:ext uri="{FF2B5EF4-FFF2-40B4-BE49-F238E27FC236}">
                    <a16:creationId xmlns="" xmlns:a16="http://schemas.microsoft.com/office/drawing/2014/main" id="{1A90B709-A6EF-4AF3-8058-50CF1F57FBE0}"/>
                  </a:ext>
                </a:extLst>
              </p:cNvPr>
              <p:cNvSpPr/>
              <p:nvPr/>
            </p:nvSpPr>
            <p:spPr>
              <a:xfrm>
                <a:off x="6478436" y="3209026"/>
                <a:ext cx="707367" cy="638355"/>
              </a:xfrm>
              <a:prstGeom prst="ellips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4" name="Oval 53"/>
              <p:cNvSpPr/>
              <p:nvPr/>
            </p:nvSpPr>
            <p:spPr>
              <a:xfrm>
                <a:off x="6544573" y="3283789"/>
                <a:ext cx="560717" cy="483079"/>
              </a:xfrm>
              <a:prstGeom prst="ellips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 smtClean="0">
                    <a:latin typeface="Times New Roman" pitchFamily="18" charset="0"/>
                    <a:cs typeface="Times New Roman" pitchFamily="18" charset="0"/>
                  </a:rPr>
                  <a:t>x4</a:t>
                </a:r>
                <a:endParaRPr lang="en-US" sz="16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cxnSp>
          <p:nvCxnSpPr>
            <p:cNvPr id="42" name="Straight Arrow Connector 41"/>
            <p:cNvCxnSpPr/>
            <p:nvPr/>
          </p:nvCxnSpPr>
          <p:spPr>
            <a:xfrm flipV="1">
              <a:off x="1759790" y="3183149"/>
              <a:ext cx="595223" cy="17252"/>
            </a:xfrm>
            <a:prstGeom prst="straightConnector1">
              <a:avLst/>
            </a:prstGeom>
            <a:ln w="1905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/>
            <p:cNvCxnSpPr/>
            <p:nvPr/>
          </p:nvCxnSpPr>
          <p:spPr>
            <a:xfrm>
              <a:off x="733245" y="3209026"/>
              <a:ext cx="402571" cy="7335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/>
            <p:cNvCxnSpPr/>
            <p:nvPr/>
          </p:nvCxnSpPr>
          <p:spPr>
            <a:xfrm flipV="1">
              <a:off x="2938731" y="3163018"/>
              <a:ext cx="595223" cy="17252"/>
            </a:xfrm>
            <a:prstGeom prst="straightConnector1">
              <a:avLst/>
            </a:prstGeom>
            <a:ln w="1905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/>
            <p:cNvCxnSpPr/>
            <p:nvPr/>
          </p:nvCxnSpPr>
          <p:spPr>
            <a:xfrm flipV="1">
              <a:off x="5333998" y="3117013"/>
              <a:ext cx="595223" cy="17252"/>
            </a:xfrm>
            <a:prstGeom prst="straightConnector1">
              <a:avLst/>
            </a:prstGeom>
            <a:ln w="1905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/>
            <p:cNvCxnSpPr/>
            <p:nvPr/>
          </p:nvCxnSpPr>
          <p:spPr>
            <a:xfrm flipV="1">
              <a:off x="4166558" y="3140016"/>
              <a:ext cx="595223" cy="17252"/>
            </a:xfrm>
            <a:prstGeom prst="straightConnector1">
              <a:avLst/>
            </a:prstGeom>
            <a:ln w="1905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TextBox 46">
              <a:extLst>
                <a:ext uri="{FF2B5EF4-FFF2-40B4-BE49-F238E27FC236}">
                  <a16:creationId xmlns="" xmlns:a16="http://schemas.microsoft.com/office/drawing/2014/main" id="{B21A631C-D2FE-49B1-8957-E25DAB8A74E9}"/>
                </a:ext>
              </a:extLst>
            </p:cNvPr>
            <p:cNvSpPr txBox="1"/>
            <p:nvPr/>
          </p:nvSpPr>
          <p:spPr>
            <a:xfrm>
              <a:off x="2986817" y="2787657"/>
              <a:ext cx="2359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="" xmlns:a16="http://schemas.microsoft.com/office/drawing/2014/main" id="{B21A631C-D2FE-49B1-8957-E25DAB8A74E9}"/>
                </a:ext>
              </a:extLst>
            </p:cNvPr>
            <p:cNvSpPr txBox="1"/>
            <p:nvPr/>
          </p:nvSpPr>
          <p:spPr>
            <a:xfrm>
              <a:off x="1827836" y="2785444"/>
              <a:ext cx="2359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="" xmlns:a16="http://schemas.microsoft.com/office/drawing/2014/main" id="{B21A631C-D2FE-49B1-8957-E25DAB8A74E9}"/>
                </a:ext>
              </a:extLst>
            </p:cNvPr>
            <p:cNvSpPr txBox="1"/>
            <p:nvPr/>
          </p:nvSpPr>
          <p:spPr>
            <a:xfrm>
              <a:off x="5404757" y="2722184"/>
              <a:ext cx="2359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0" name="TextBox 49">
              <a:extLst>
                <a:ext uri="{FF2B5EF4-FFF2-40B4-BE49-F238E27FC236}">
                  <a16:creationId xmlns="" xmlns:a16="http://schemas.microsoft.com/office/drawing/2014/main" id="{B21A631C-D2FE-49B1-8957-E25DAB8A74E9}"/>
                </a:ext>
              </a:extLst>
            </p:cNvPr>
            <p:cNvSpPr txBox="1"/>
            <p:nvPr/>
          </p:nvSpPr>
          <p:spPr>
            <a:xfrm>
              <a:off x="4211437" y="2762937"/>
              <a:ext cx="2359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1" name="Arc 50">
              <a:extLst>
                <a:ext uri="{FF2B5EF4-FFF2-40B4-BE49-F238E27FC236}">
                  <a16:creationId xmlns="" xmlns:a16="http://schemas.microsoft.com/office/drawing/2014/main" id="{4A9D3AB6-108E-4062-B22C-A1FC38CC204A}"/>
                </a:ext>
              </a:extLst>
            </p:cNvPr>
            <p:cNvSpPr/>
            <p:nvPr/>
          </p:nvSpPr>
          <p:spPr>
            <a:xfrm>
              <a:off x="3641805" y="2605177"/>
              <a:ext cx="408846" cy="855590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TextBox 51">
              <a:extLst>
                <a:ext uri="{FF2B5EF4-FFF2-40B4-BE49-F238E27FC236}">
                  <a16:creationId xmlns="" xmlns:a16="http://schemas.microsoft.com/office/drawing/2014/main" id="{B21A631C-D2FE-49B1-8957-E25DAB8A74E9}"/>
                </a:ext>
              </a:extLst>
            </p:cNvPr>
            <p:cNvSpPr txBox="1"/>
            <p:nvPr/>
          </p:nvSpPr>
          <p:spPr>
            <a:xfrm>
              <a:off x="3585908" y="2202610"/>
              <a:ext cx="74455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a</a:t>
              </a:r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5" name="Oval 54"/>
          <p:cNvSpPr/>
          <p:nvPr/>
        </p:nvSpPr>
        <p:spPr>
          <a:xfrm>
            <a:off x="7330738" y="6188568"/>
            <a:ext cx="560717" cy="483079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x0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56" name="Straight Arrow Connector 55"/>
          <p:cNvCxnSpPr>
            <a:endCxn id="55" idx="2"/>
          </p:cNvCxnSpPr>
          <p:nvPr/>
        </p:nvCxnSpPr>
        <p:spPr>
          <a:xfrm rot="16200000" flipH="1">
            <a:off x="6612921" y="5712291"/>
            <a:ext cx="756138" cy="679495"/>
          </a:xfrm>
          <a:prstGeom prst="straightConnector1">
            <a:avLst/>
          </a:prstGeom>
          <a:ln w="1905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/>
          <p:nvPr/>
        </p:nvCxnSpPr>
        <p:spPr>
          <a:xfrm rot="16200000" flipH="1">
            <a:off x="7481453" y="5916421"/>
            <a:ext cx="471853" cy="4533"/>
          </a:xfrm>
          <a:prstGeom prst="straightConnector1">
            <a:avLst/>
          </a:prstGeom>
          <a:ln w="1905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Arc 59">
            <a:extLst>
              <a:ext uri="{FF2B5EF4-FFF2-40B4-BE49-F238E27FC236}">
                <a16:creationId xmlns="" xmlns:a16="http://schemas.microsoft.com/office/drawing/2014/main" id="{4A9D3AB6-108E-4062-B22C-A1FC38CC204A}"/>
              </a:ext>
            </a:extLst>
          </p:cNvPr>
          <p:cNvSpPr/>
          <p:nvPr/>
        </p:nvSpPr>
        <p:spPr>
          <a:xfrm rot="5117796">
            <a:off x="7680404" y="6011202"/>
            <a:ext cx="408846" cy="855590"/>
          </a:xfrm>
          <a:prstGeom prst="arc">
            <a:avLst>
              <a:gd name="adj1" fmla="val 10711483"/>
              <a:gd name="adj2" fmla="val 0"/>
            </a:avLst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TextBox 60">
            <a:extLst>
              <a:ext uri="{FF2B5EF4-FFF2-40B4-BE49-F238E27FC236}">
                <a16:creationId xmlns="" xmlns:a16="http://schemas.microsoft.com/office/drawing/2014/main" id="{B21A631C-D2FE-49B1-8957-E25DAB8A74E9}"/>
              </a:ext>
            </a:extLst>
          </p:cNvPr>
          <p:cNvSpPr txBox="1"/>
          <p:nvPr/>
        </p:nvSpPr>
        <p:spPr>
          <a:xfrm>
            <a:off x="7765575" y="5663460"/>
            <a:ext cx="2359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="" xmlns:a16="http://schemas.microsoft.com/office/drawing/2014/main" id="{B21A631C-D2FE-49B1-8957-E25DAB8A74E9}"/>
              </a:ext>
            </a:extLst>
          </p:cNvPr>
          <p:cNvSpPr txBox="1"/>
          <p:nvPr/>
        </p:nvSpPr>
        <p:spPr>
          <a:xfrm>
            <a:off x="6656140" y="5736011"/>
            <a:ext cx="2359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="" xmlns:a16="http://schemas.microsoft.com/office/drawing/2014/main" id="{B21A631C-D2FE-49B1-8957-E25DAB8A74E9}"/>
              </a:ext>
            </a:extLst>
          </p:cNvPr>
          <p:cNvSpPr txBox="1"/>
          <p:nvPr/>
        </p:nvSpPr>
        <p:spPr>
          <a:xfrm>
            <a:off x="8335470" y="6131664"/>
            <a:ext cx="5799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a/b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Arrow: Curved Down 28">
            <a:extLst>
              <a:ext uri="{FF2B5EF4-FFF2-40B4-BE49-F238E27FC236}">
                <a16:creationId xmlns="" xmlns:a16="http://schemas.microsoft.com/office/drawing/2014/main" id="{941EC0F0-A84F-48C9-87D0-10CEDCA8CD61}"/>
              </a:ext>
            </a:extLst>
          </p:cNvPr>
          <p:cNvSpPr/>
          <p:nvPr/>
        </p:nvSpPr>
        <p:spPr>
          <a:xfrm rot="10800000">
            <a:off x="8856910" y="5681248"/>
            <a:ext cx="2537184" cy="332689"/>
          </a:xfrm>
          <a:prstGeom prst="curvedDownArrow">
            <a:avLst>
              <a:gd name="adj1" fmla="val 11615"/>
              <a:gd name="adj2" fmla="val 5000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5" name="Arrow: Curved Down 28">
            <a:extLst>
              <a:ext uri="{FF2B5EF4-FFF2-40B4-BE49-F238E27FC236}">
                <a16:creationId xmlns="" xmlns:a16="http://schemas.microsoft.com/office/drawing/2014/main" id="{941EC0F0-A84F-48C9-87D0-10CEDCA8CD61}"/>
              </a:ext>
            </a:extLst>
          </p:cNvPr>
          <p:cNvSpPr/>
          <p:nvPr/>
        </p:nvSpPr>
        <p:spPr>
          <a:xfrm rot="10800000">
            <a:off x="9129471" y="5566948"/>
            <a:ext cx="964099" cy="256814"/>
          </a:xfrm>
          <a:prstGeom prst="curvedDownArrow">
            <a:avLst>
              <a:gd name="adj1" fmla="val 11615"/>
              <a:gd name="adj2" fmla="val 5000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="" xmlns:a16="http://schemas.microsoft.com/office/drawing/2014/main" id="{B21A631C-D2FE-49B1-8957-E25DAB8A74E9}"/>
              </a:ext>
            </a:extLst>
          </p:cNvPr>
          <p:cNvSpPr txBox="1"/>
          <p:nvPr/>
        </p:nvSpPr>
        <p:spPr>
          <a:xfrm>
            <a:off x="9277463" y="5388356"/>
            <a:ext cx="7445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a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="" xmlns:a16="http://schemas.microsoft.com/office/drawing/2014/main" id="{B21A631C-D2FE-49B1-8957-E25DAB8A74E9}"/>
              </a:ext>
            </a:extLst>
          </p:cNvPr>
          <p:cNvSpPr txBox="1"/>
          <p:nvPr/>
        </p:nvSpPr>
        <p:spPr>
          <a:xfrm>
            <a:off x="10174277" y="5511448"/>
            <a:ext cx="7445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a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Arc 67">
            <a:extLst>
              <a:ext uri="{FF2B5EF4-FFF2-40B4-BE49-F238E27FC236}">
                <a16:creationId xmlns="" xmlns:a16="http://schemas.microsoft.com/office/drawing/2014/main" id="{4A9D3AB6-108E-4062-B22C-A1FC38CC204A}"/>
              </a:ext>
            </a:extLst>
          </p:cNvPr>
          <p:cNvSpPr/>
          <p:nvPr/>
        </p:nvSpPr>
        <p:spPr>
          <a:xfrm>
            <a:off x="11179744" y="4560000"/>
            <a:ext cx="408846" cy="855590"/>
          </a:xfrm>
          <a:prstGeom prst="arc">
            <a:avLst>
              <a:gd name="adj1" fmla="val 10711483"/>
              <a:gd name="adj2" fmla="val 0"/>
            </a:avLst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TextBox 68">
            <a:extLst>
              <a:ext uri="{FF2B5EF4-FFF2-40B4-BE49-F238E27FC236}">
                <a16:creationId xmlns="" xmlns:a16="http://schemas.microsoft.com/office/drawing/2014/main" id="{B21A631C-D2FE-49B1-8957-E25DAB8A74E9}"/>
              </a:ext>
            </a:extLst>
          </p:cNvPr>
          <p:cNvSpPr txBox="1"/>
          <p:nvPr/>
        </p:nvSpPr>
        <p:spPr>
          <a:xfrm>
            <a:off x="11280949" y="4061545"/>
            <a:ext cx="2359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  <p:bldP spid="6" grpId="0" animBg="1"/>
      <p:bldP spid="7" grpId="0" animBg="1"/>
      <p:bldP spid="8" grpId="0" animBg="1"/>
      <p:bldP spid="9" grpId="0" animBg="1"/>
      <p:bldP spid="28" grpId="0"/>
      <p:bldP spid="29" grpId="0"/>
      <p:bldP spid="30" grpId="0"/>
      <p:bldP spid="31" grpId="0"/>
      <p:bldP spid="32" grpId="0" animBg="1"/>
      <p:bldP spid="33" grpId="0"/>
      <p:bldP spid="34" grpId="0"/>
      <p:bldP spid="35" grpId="0"/>
      <p:bldP spid="36" grpId="0"/>
      <p:bldP spid="55" grpId="0" animBg="1"/>
      <p:bldP spid="60" grpId="0" animBg="1"/>
      <p:bldP spid="61" grpId="0"/>
      <p:bldP spid="62" grpId="0"/>
      <p:bldP spid="63" grpId="0"/>
      <p:bldP spid="64" grpId="0" animBg="1"/>
      <p:bldP spid="65" grpId="0" animBg="1"/>
      <p:bldP spid="66" grpId="0"/>
      <p:bldP spid="67" grpId="0"/>
      <p:bldP spid="68" grpId="0" animBg="1"/>
      <p:bldP spid="69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1296" y="0"/>
            <a:ext cx="1346591" cy="306407"/>
          </a:xfrm>
        </p:spPr>
        <p:txBody>
          <a:bodyPr/>
          <a:lstStyle/>
          <a:p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NFA Continues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6934" y="577801"/>
            <a:ext cx="8946541" cy="4195481"/>
          </a:xfrm>
        </p:spPr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 = All words that start with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and end with bb are valid.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 = {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babb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baabb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babbb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baaabb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baabbb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…………}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 =           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52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562283" y="1431655"/>
            <a:ext cx="8971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a+b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)*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39" name="Group 38"/>
          <p:cNvGrpSpPr/>
          <p:nvPr/>
        </p:nvGrpSpPr>
        <p:grpSpPr>
          <a:xfrm>
            <a:off x="618945" y="3275272"/>
            <a:ext cx="5909095" cy="1258157"/>
            <a:chOff x="733245" y="2202610"/>
            <a:chExt cx="5909095" cy="1258157"/>
          </a:xfrm>
        </p:grpSpPr>
        <p:sp>
          <p:nvSpPr>
            <p:cNvPr id="6" name="Oval 5"/>
            <p:cNvSpPr/>
            <p:nvPr/>
          </p:nvSpPr>
          <p:spPr>
            <a:xfrm>
              <a:off x="1173192" y="2958860"/>
              <a:ext cx="560717" cy="48307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x0</a:t>
              </a:r>
              <a:endParaRPr lang="en-US" sz="16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" name="Oval 6"/>
            <p:cNvSpPr/>
            <p:nvPr/>
          </p:nvSpPr>
          <p:spPr>
            <a:xfrm>
              <a:off x="2360761" y="2930103"/>
              <a:ext cx="560717" cy="48307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x1</a:t>
              </a:r>
              <a:endParaRPr lang="en-US" sz="16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" name="Oval 7"/>
            <p:cNvSpPr/>
            <p:nvPr/>
          </p:nvSpPr>
          <p:spPr>
            <a:xfrm>
              <a:off x="3565585" y="2927230"/>
              <a:ext cx="560717" cy="48307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x2</a:t>
              </a:r>
              <a:endParaRPr lang="en-US" sz="16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" name="Oval 8"/>
            <p:cNvSpPr/>
            <p:nvPr/>
          </p:nvSpPr>
          <p:spPr>
            <a:xfrm>
              <a:off x="4770407" y="2898475"/>
              <a:ext cx="560717" cy="48307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x3</a:t>
              </a:r>
              <a:endParaRPr lang="en-US" sz="1600" dirty="0"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11" name="Group 15"/>
            <p:cNvGrpSpPr/>
            <p:nvPr/>
          </p:nvGrpSpPr>
          <p:grpSpPr>
            <a:xfrm>
              <a:off x="5934973" y="2786331"/>
              <a:ext cx="707367" cy="638355"/>
              <a:chOff x="6478436" y="3209026"/>
              <a:chExt cx="707367" cy="638355"/>
            </a:xfrm>
          </p:grpSpPr>
          <p:sp>
            <p:nvSpPr>
              <p:cNvPr id="10" name="Oval 9">
                <a:extLst>
                  <a:ext uri="{FF2B5EF4-FFF2-40B4-BE49-F238E27FC236}">
                    <a16:creationId xmlns="" xmlns:a16="http://schemas.microsoft.com/office/drawing/2014/main" id="{1A90B709-A6EF-4AF3-8058-50CF1F57FBE0}"/>
                  </a:ext>
                </a:extLst>
              </p:cNvPr>
              <p:cNvSpPr/>
              <p:nvPr/>
            </p:nvSpPr>
            <p:spPr>
              <a:xfrm>
                <a:off x="6478436" y="3209026"/>
                <a:ext cx="707367" cy="638355"/>
              </a:xfrm>
              <a:prstGeom prst="ellips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5" name="Oval 14"/>
              <p:cNvSpPr/>
              <p:nvPr/>
            </p:nvSpPr>
            <p:spPr>
              <a:xfrm>
                <a:off x="6544573" y="3283789"/>
                <a:ext cx="560717" cy="483079"/>
              </a:xfrm>
              <a:prstGeom prst="ellips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 smtClean="0">
                    <a:latin typeface="Times New Roman" pitchFamily="18" charset="0"/>
                    <a:cs typeface="Times New Roman" pitchFamily="18" charset="0"/>
                  </a:rPr>
                  <a:t>x4</a:t>
                </a:r>
                <a:endParaRPr lang="en-US" sz="16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cxnSp>
          <p:nvCxnSpPr>
            <p:cNvPr id="18" name="Straight Arrow Connector 17"/>
            <p:cNvCxnSpPr/>
            <p:nvPr/>
          </p:nvCxnSpPr>
          <p:spPr>
            <a:xfrm flipV="1">
              <a:off x="1759790" y="3183149"/>
              <a:ext cx="595223" cy="17252"/>
            </a:xfrm>
            <a:prstGeom prst="straightConnector1">
              <a:avLst/>
            </a:prstGeom>
            <a:ln w="1905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/>
            <p:nvPr/>
          </p:nvCxnSpPr>
          <p:spPr>
            <a:xfrm>
              <a:off x="733245" y="3209026"/>
              <a:ext cx="402571" cy="7335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/>
            <p:nvPr/>
          </p:nvCxnSpPr>
          <p:spPr>
            <a:xfrm flipV="1">
              <a:off x="2938731" y="3163018"/>
              <a:ext cx="595223" cy="17252"/>
            </a:xfrm>
            <a:prstGeom prst="straightConnector1">
              <a:avLst/>
            </a:prstGeom>
            <a:ln w="1905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/>
            <p:nvPr/>
          </p:nvCxnSpPr>
          <p:spPr>
            <a:xfrm flipV="1">
              <a:off x="5333998" y="3117013"/>
              <a:ext cx="595223" cy="17252"/>
            </a:xfrm>
            <a:prstGeom prst="straightConnector1">
              <a:avLst/>
            </a:prstGeom>
            <a:ln w="1905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/>
            <p:nvPr/>
          </p:nvCxnSpPr>
          <p:spPr>
            <a:xfrm flipV="1">
              <a:off x="4166558" y="3140016"/>
              <a:ext cx="595223" cy="17252"/>
            </a:xfrm>
            <a:prstGeom prst="straightConnector1">
              <a:avLst/>
            </a:prstGeom>
            <a:ln w="1905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="" xmlns:a16="http://schemas.microsoft.com/office/drawing/2014/main" id="{B21A631C-D2FE-49B1-8957-E25DAB8A74E9}"/>
                </a:ext>
              </a:extLst>
            </p:cNvPr>
            <p:cNvSpPr txBox="1"/>
            <p:nvPr/>
          </p:nvSpPr>
          <p:spPr>
            <a:xfrm>
              <a:off x="2986817" y="2787657"/>
              <a:ext cx="2359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="" xmlns:a16="http://schemas.microsoft.com/office/drawing/2014/main" id="{B21A631C-D2FE-49B1-8957-E25DAB8A74E9}"/>
                </a:ext>
              </a:extLst>
            </p:cNvPr>
            <p:cNvSpPr txBox="1"/>
            <p:nvPr/>
          </p:nvSpPr>
          <p:spPr>
            <a:xfrm>
              <a:off x="1827836" y="2785444"/>
              <a:ext cx="2359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="" xmlns:a16="http://schemas.microsoft.com/office/drawing/2014/main" id="{B21A631C-D2FE-49B1-8957-E25DAB8A74E9}"/>
                </a:ext>
              </a:extLst>
            </p:cNvPr>
            <p:cNvSpPr txBox="1"/>
            <p:nvPr/>
          </p:nvSpPr>
          <p:spPr>
            <a:xfrm>
              <a:off x="5404757" y="2722184"/>
              <a:ext cx="2359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="" xmlns:a16="http://schemas.microsoft.com/office/drawing/2014/main" id="{B21A631C-D2FE-49B1-8957-E25DAB8A74E9}"/>
                </a:ext>
              </a:extLst>
            </p:cNvPr>
            <p:cNvSpPr txBox="1"/>
            <p:nvPr/>
          </p:nvSpPr>
          <p:spPr>
            <a:xfrm>
              <a:off x="4211437" y="2762937"/>
              <a:ext cx="2359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" name="Arc 31">
              <a:extLst>
                <a:ext uri="{FF2B5EF4-FFF2-40B4-BE49-F238E27FC236}">
                  <a16:creationId xmlns="" xmlns:a16="http://schemas.microsoft.com/office/drawing/2014/main" id="{4A9D3AB6-108E-4062-B22C-A1FC38CC204A}"/>
                </a:ext>
              </a:extLst>
            </p:cNvPr>
            <p:cNvSpPr/>
            <p:nvPr/>
          </p:nvSpPr>
          <p:spPr>
            <a:xfrm>
              <a:off x="3641805" y="2605177"/>
              <a:ext cx="408846" cy="855590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TextBox 32">
              <a:extLst>
                <a:ext uri="{FF2B5EF4-FFF2-40B4-BE49-F238E27FC236}">
                  <a16:creationId xmlns="" xmlns:a16="http://schemas.microsoft.com/office/drawing/2014/main" id="{B21A631C-D2FE-49B1-8957-E25DAB8A74E9}"/>
                </a:ext>
              </a:extLst>
            </p:cNvPr>
            <p:cNvSpPr txBox="1"/>
            <p:nvPr/>
          </p:nvSpPr>
          <p:spPr>
            <a:xfrm>
              <a:off x="3585908" y="2202610"/>
              <a:ext cx="74455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a/b</a:t>
              </a:r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4" name="TextBox 33"/>
          <p:cNvSpPr txBox="1"/>
          <p:nvPr/>
        </p:nvSpPr>
        <p:spPr>
          <a:xfrm>
            <a:off x="2260572" y="1443377"/>
            <a:ext cx="5098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bb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277932" y="1411139"/>
            <a:ext cx="4541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ba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88140" y="1946364"/>
            <a:ext cx="25036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Input : 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bababbabb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="" xmlns:a16="http://schemas.microsoft.com/office/drawing/2014/main" id="{8D3C0EC3-1E6A-436B-B406-38A549AC7268}"/>
              </a:ext>
            </a:extLst>
          </p:cNvPr>
          <p:cNvGrpSpPr/>
          <p:nvPr/>
        </p:nvGrpSpPr>
        <p:grpSpPr>
          <a:xfrm>
            <a:off x="1013555" y="3131079"/>
            <a:ext cx="711403" cy="888332"/>
            <a:chOff x="6815615" y="2509921"/>
            <a:chExt cx="711403" cy="700772"/>
          </a:xfrm>
        </p:grpSpPr>
        <p:sp>
          <p:nvSpPr>
            <p:cNvPr id="37" name="Arrow: Up 57">
              <a:extLst>
                <a:ext uri="{FF2B5EF4-FFF2-40B4-BE49-F238E27FC236}">
                  <a16:creationId xmlns="" xmlns:a16="http://schemas.microsoft.com/office/drawing/2014/main" id="{E93022AA-FD9E-4354-A4A7-DF5F91C23E96}"/>
                </a:ext>
              </a:extLst>
            </p:cNvPr>
            <p:cNvSpPr/>
            <p:nvPr/>
          </p:nvSpPr>
          <p:spPr>
            <a:xfrm rot="10800000">
              <a:off x="7079191" y="2801785"/>
              <a:ext cx="156744" cy="408908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8" name="TextBox 37">
              <a:extLst>
                <a:ext uri="{FF2B5EF4-FFF2-40B4-BE49-F238E27FC236}">
                  <a16:creationId xmlns="" xmlns:a16="http://schemas.microsoft.com/office/drawing/2014/main" id="{BAF74065-B1AC-4D5B-9613-553AA58A4378}"/>
                </a:ext>
              </a:extLst>
            </p:cNvPr>
            <p:cNvSpPr txBox="1"/>
            <p:nvPr/>
          </p:nvSpPr>
          <p:spPr>
            <a:xfrm>
              <a:off x="6815615" y="2509921"/>
              <a:ext cx="711403" cy="2670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CS-1</a:t>
              </a:r>
            </a:p>
          </p:txBody>
        </p:sp>
      </p:grpSp>
      <p:sp>
        <p:nvSpPr>
          <p:cNvPr id="40" name="TextBox 39"/>
          <p:cNvSpPr txBox="1"/>
          <p:nvPr/>
        </p:nvSpPr>
        <p:spPr>
          <a:xfrm>
            <a:off x="7921869" y="1582615"/>
            <a:ext cx="1213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accent3">
                    <a:lumMod val="75000"/>
                  </a:schemeClr>
                </a:solidFill>
              </a:rPr>
              <a:t>CS-1 = x0</a:t>
            </a:r>
            <a:endParaRPr lang="en-US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1296" y="0"/>
            <a:ext cx="1346591" cy="306407"/>
          </a:xfrm>
        </p:spPr>
        <p:txBody>
          <a:bodyPr/>
          <a:lstStyle/>
          <a:p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NFA Continues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6934" y="577801"/>
            <a:ext cx="8946541" cy="4195481"/>
          </a:xfrm>
        </p:spPr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 = All words that start with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and end with bb are valid.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 = {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babb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baabb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babbb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baaabb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baabbb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…………}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 =           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53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562283" y="1431655"/>
            <a:ext cx="8971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a+b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)*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11" name="Group 38"/>
          <p:cNvGrpSpPr/>
          <p:nvPr/>
        </p:nvGrpSpPr>
        <p:grpSpPr>
          <a:xfrm>
            <a:off x="618945" y="3275272"/>
            <a:ext cx="5909095" cy="1258157"/>
            <a:chOff x="733245" y="2202610"/>
            <a:chExt cx="5909095" cy="1258157"/>
          </a:xfrm>
        </p:grpSpPr>
        <p:sp>
          <p:nvSpPr>
            <p:cNvPr id="6" name="Oval 5"/>
            <p:cNvSpPr/>
            <p:nvPr/>
          </p:nvSpPr>
          <p:spPr>
            <a:xfrm>
              <a:off x="1173192" y="2958860"/>
              <a:ext cx="560717" cy="48307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x0</a:t>
              </a:r>
              <a:endParaRPr lang="en-US" sz="16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" name="Oval 6"/>
            <p:cNvSpPr/>
            <p:nvPr/>
          </p:nvSpPr>
          <p:spPr>
            <a:xfrm>
              <a:off x="2360761" y="2930103"/>
              <a:ext cx="560717" cy="48307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x1</a:t>
              </a:r>
              <a:endParaRPr lang="en-US" sz="16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" name="Oval 7"/>
            <p:cNvSpPr/>
            <p:nvPr/>
          </p:nvSpPr>
          <p:spPr>
            <a:xfrm>
              <a:off x="3565585" y="2927230"/>
              <a:ext cx="560717" cy="48307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x2</a:t>
              </a:r>
              <a:endParaRPr lang="en-US" sz="16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" name="Oval 8"/>
            <p:cNvSpPr/>
            <p:nvPr/>
          </p:nvSpPr>
          <p:spPr>
            <a:xfrm>
              <a:off x="4770407" y="2898475"/>
              <a:ext cx="560717" cy="48307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x3</a:t>
              </a:r>
              <a:endParaRPr lang="en-US" sz="1600" dirty="0"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12" name="Group 15"/>
            <p:cNvGrpSpPr/>
            <p:nvPr/>
          </p:nvGrpSpPr>
          <p:grpSpPr>
            <a:xfrm>
              <a:off x="5934973" y="2786331"/>
              <a:ext cx="707367" cy="638355"/>
              <a:chOff x="6478436" y="3209026"/>
              <a:chExt cx="707367" cy="638355"/>
            </a:xfrm>
          </p:grpSpPr>
          <p:sp>
            <p:nvSpPr>
              <p:cNvPr id="10" name="Oval 9">
                <a:extLst>
                  <a:ext uri="{FF2B5EF4-FFF2-40B4-BE49-F238E27FC236}">
                    <a16:creationId xmlns="" xmlns:a16="http://schemas.microsoft.com/office/drawing/2014/main" id="{1A90B709-A6EF-4AF3-8058-50CF1F57FBE0}"/>
                  </a:ext>
                </a:extLst>
              </p:cNvPr>
              <p:cNvSpPr/>
              <p:nvPr/>
            </p:nvSpPr>
            <p:spPr>
              <a:xfrm>
                <a:off x="6478436" y="3209026"/>
                <a:ext cx="707367" cy="638355"/>
              </a:xfrm>
              <a:prstGeom prst="ellips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5" name="Oval 14"/>
              <p:cNvSpPr/>
              <p:nvPr/>
            </p:nvSpPr>
            <p:spPr>
              <a:xfrm>
                <a:off x="6544573" y="3283789"/>
                <a:ext cx="560717" cy="483079"/>
              </a:xfrm>
              <a:prstGeom prst="ellips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 smtClean="0">
                    <a:latin typeface="Times New Roman" pitchFamily="18" charset="0"/>
                    <a:cs typeface="Times New Roman" pitchFamily="18" charset="0"/>
                  </a:rPr>
                  <a:t>x4</a:t>
                </a:r>
                <a:endParaRPr lang="en-US" sz="16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cxnSp>
          <p:nvCxnSpPr>
            <p:cNvPr id="18" name="Straight Arrow Connector 17"/>
            <p:cNvCxnSpPr/>
            <p:nvPr/>
          </p:nvCxnSpPr>
          <p:spPr>
            <a:xfrm flipV="1">
              <a:off x="1759790" y="3183149"/>
              <a:ext cx="595223" cy="17252"/>
            </a:xfrm>
            <a:prstGeom prst="straightConnector1">
              <a:avLst/>
            </a:prstGeom>
            <a:ln w="1905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/>
            <p:nvPr/>
          </p:nvCxnSpPr>
          <p:spPr>
            <a:xfrm>
              <a:off x="733245" y="3209026"/>
              <a:ext cx="402571" cy="7335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/>
            <p:nvPr/>
          </p:nvCxnSpPr>
          <p:spPr>
            <a:xfrm flipV="1">
              <a:off x="2938731" y="3163018"/>
              <a:ext cx="595223" cy="17252"/>
            </a:xfrm>
            <a:prstGeom prst="straightConnector1">
              <a:avLst/>
            </a:prstGeom>
            <a:ln w="1905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/>
            <p:nvPr/>
          </p:nvCxnSpPr>
          <p:spPr>
            <a:xfrm flipV="1">
              <a:off x="5333998" y="3117013"/>
              <a:ext cx="595223" cy="17252"/>
            </a:xfrm>
            <a:prstGeom prst="straightConnector1">
              <a:avLst/>
            </a:prstGeom>
            <a:ln w="1905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/>
            <p:nvPr/>
          </p:nvCxnSpPr>
          <p:spPr>
            <a:xfrm flipV="1">
              <a:off x="4166558" y="3140016"/>
              <a:ext cx="595223" cy="17252"/>
            </a:xfrm>
            <a:prstGeom prst="straightConnector1">
              <a:avLst/>
            </a:prstGeom>
            <a:ln w="1905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="" xmlns:a16="http://schemas.microsoft.com/office/drawing/2014/main" id="{B21A631C-D2FE-49B1-8957-E25DAB8A74E9}"/>
                </a:ext>
              </a:extLst>
            </p:cNvPr>
            <p:cNvSpPr txBox="1"/>
            <p:nvPr/>
          </p:nvSpPr>
          <p:spPr>
            <a:xfrm>
              <a:off x="2986817" y="2787657"/>
              <a:ext cx="2359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="" xmlns:a16="http://schemas.microsoft.com/office/drawing/2014/main" id="{B21A631C-D2FE-49B1-8957-E25DAB8A74E9}"/>
                </a:ext>
              </a:extLst>
            </p:cNvPr>
            <p:cNvSpPr txBox="1"/>
            <p:nvPr/>
          </p:nvSpPr>
          <p:spPr>
            <a:xfrm>
              <a:off x="1827836" y="2785444"/>
              <a:ext cx="2359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="" xmlns:a16="http://schemas.microsoft.com/office/drawing/2014/main" id="{B21A631C-D2FE-49B1-8957-E25DAB8A74E9}"/>
                </a:ext>
              </a:extLst>
            </p:cNvPr>
            <p:cNvSpPr txBox="1"/>
            <p:nvPr/>
          </p:nvSpPr>
          <p:spPr>
            <a:xfrm>
              <a:off x="5404757" y="2722184"/>
              <a:ext cx="2359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="" xmlns:a16="http://schemas.microsoft.com/office/drawing/2014/main" id="{B21A631C-D2FE-49B1-8957-E25DAB8A74E9}"/>
                </a:ext>
              </a:extLst>
            </p:cNvPr>
            <p:cNvSpPr txBox="1"/>
            <p:nvPr/>
          </p:nvSpPr>
          <p:spPr>
            <a:xfrm>
              <a:off x="4211437" y="2762937"/>
              <a:ext cx="2359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" name="Arc 31">
              <a:extLst>
                <a:ext uri="{FF2B5EF4-FFF2-40B4-BE49-F238E27FC236}">
                  <a16:creationId xmlns="" xmlns:a16="http://schemas.microsoft.com/office/drawing/2014/main" id="{4A9D3AB6-108E-4062-B22C-A1FC38CC204A}"/>
                </a:ext>
              </a:extLst>
            </p:cNvPr>
            <p:cNvSpPr/>
            <p:nvPr/>
          </p:nvSpPr>
          <p:spPr>
            <a:xfrm>
              <a:off x="3641805" y="2605177"/>
              <a:ext cx="408846" cy="855590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TextBox 32">
              <a:extLst>
                <a:ext uri="{FF2B5EF4-FFF2-40B4-BE49-F238E27FC236}">
                  <a16:creationId xmlns="" xmlns:a16="http://schemas.microsoft.com/office/drawing/2014/main" id="{B21A631C-D2FE-49B1-8957-E25DAB8A74E9}"/>
                </a:ext>
              </a:extLst>
            </p:cNvPr>
            <p:cNvSpPr txBox="1"/>
            <p:nvPr/>
          </p:nvSpPr>
          <p:spPr>
            <a:xfrm>
              <a:off x="3585908" y="2202610"/>
              <a:ext cx="74455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a/b</a:t>
              </a:r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4" name="TextBox 33"/>
          <p:cNvSpPr txBox="1"/>
          <p:nvPr/>
        </p:nvSpPr>
        <p:spPr>
          <a:xfrm>
            <a:off x="2260572" y="1443377"/>
            <a:ext cx="5098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bb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277932" y="1411139"/>
            <a:ext cx="4541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ba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88140" y="1946364"/>
            <a:ext cx="25036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Input :  </a:t>
            </a:r>
            <a:r>
              <a:rPr lang="en-US" sz="2000" b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ababbabb</a:t>
            </a: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13" name="Group 26">
            <a:extLst>
              <a:ext uri="{FF2B5EF4-FFF2-40B4-BE49-F238E27FC236}">
                <a16:creationId xmlns="" xmlns:a16="http://schemas.microsoft.com/office/drawing/2014/main" id="{8D3C0EC3-1E6A-436B-B406-38A549AC7268}"/>
              </a:ext>
            </a:extLst>
          </p:cNvPr>
          <p:cNvGrpSpPr/>
          <p:nvPr/>
        </p:nvGrpSpPr>
        <p:grpSpPr>
          <a:xfrm>
            <a:off x="1013555" y="3131079"/>
            <a:ext cx="711403" cy="888332"/>
            <a:chOff x="6815615" y="2509921"/>
            <a:chExt cx="711403" cy="700772"/>
          </a:xfrm>
        </p:grpSpPr>
        <p:sp>
          <p:nvSpPr>
            <p:cNvPr id="37" name="Arrow: Up 57">
              <a:extLst>
                <a:ext uri="{FF2B5EF4-FFF2-40B4-BE49-F238E27FC236}">
                  <a16:creationId xmlns="" xmlns:a16="http://schemas.microsoft.com/office/drawing/2014/main" id="{E93022AA-FD9E-4354-A4A7-DF5F91C23E96}"/>
                </a:ext>
              </a:extLst>
            </p:cNvPr>
            <p:cNvSpPr/>
            <p:nvPr/>
          </p:nvSpPr>
          <p:spPr>
            <a:xfrm rot="10800000">
              <a:off x="7079191" y="2801785"/>
              <a:ext cx="156744" cy="408908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8" name="TextBox 37">
              <a:extLst>
                <a:ext uri="{FF2B5EF4-FFF2-40B4-BE49-F238E27FC236}">
                  <a16:creationId xmlns="" xmlns:a16="http://schemas.microsoft.com/office/drawing/2014/main" id="{BAF74065-B1AC-4D5B-9613-553AA58A4378}"/>
                </a:ext>
              </a:extLst>
            </p:cNvPr>
            <p:cNvSpPr txBox="1"/>
            <p:nvPr/>
          </p:nvSpPr>
          <p:spPr>
            <a:xfrm>
              <a:off x="6815615" y="2509921"/>
              <a:ext cx="711403" cy="2670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CS-1</a:t>
              </a:r>
            </a:p>
          </p:txBody>
        </p:sp>
      </p:grpSp>
      <p:sp>
        <p:nvSpPr>
          <p:cNvPr id="39" name="TextBox 38"/>
          <p:cNvSpPr txBox="1"/>
          <p:nvPr/>
        </p:nvSpPr>
        <p:spPr>
          <a:xfrm>
            <a:off x="7921869" y="1582615"/>
            <a:ext cx="1213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accent3">
                    <a:lumMod val="75000"/>
                  </a:schemeClr>
                </a:solidFill>
              </a:rPr>
              <a:t>CS-1 = x0</a:t>
            </a:r>
            <a:endParaRPr lang="en-US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1296" y="0"/>
            <a:ext cx="1346591" cy="306407"/>
          </a:xfrm>
        </p:spPr>
        <p:txBody>
          <a:bodyPr/>
          <a:lstStyle/>
          <a:p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NFA Continues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6934" y="577801"/>
            <a:ext cx="8946541" cy="4195481"/>
          </a:xfrm>
        </p:spPr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 = All words that start with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and end with bb are valid.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 = {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babb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baabb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babbb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baaabb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baabbb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…………}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 =           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54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562283" y="1431655"/>
            <a:ext cx="8971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a+b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)*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11" name="Group 38"/>
          <p:cNvGrpSpPr/>
          <p:nvPr/>
        </p:nvGrpSpPr>
        <p:grpSpPr>
          <a:xfrm>
            <a:off x="618945" y="3275272"/>
            <a:ext cx="5909095" cy="1258157"/>
            <a:chOff x="733245" y="2202610"/>
            <a:chExt cx="5909095" cy="1258157"/>
          </a:xfrm>
        </p:grpSpPr>
        <p:sp>
          <p:nvSpPr>
            <p:cNvPr id="6" name="Oval 5"/>
            <p:cNvSpPr/>
            <p:nvPr/>
          </p:nvSpPr>
          <p:spPr>
            <a:xfrm>
              <a:off x="1173192" y="2958860"/>
              <a:ext cx="560717" cy="48307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x0</a:t>
              </a:r>
              <a:endParaRPr lang="en-US" sz="16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" name="Oval 6"/>
            <p:cNvSpPr/>
            <p:nvPr/>
          </p:nvSpPr>
          <p:spPr>
            <a:xfrm>
              <a:off x="2360761" y="2930103"/>
              <a:ext cx="560717" cy="48307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x1</a:t>
              </a:r>
              <a:endParaRPr lang="en-US" sz="16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" name="Oval 7"/>
            <p:cNvSpPr/>
            <p:nvPr/>
          </p:nvSpPr>
          <p:spPr>
            <a:xfrm>
              <a:off x="3565585" y="2927230"/>
              <a:ext cx="560717" cy="48307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x2</a:t>
              </a:r>
              <a:endParaRPr lang="en-US" sz="16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" name="Oval 8"/>
            <p:cNvSpPr/>
            <p:nvPr/>
          </p:nvSpPr>
          <p:spPr>
            <a:xfrm>
              <a:off x="4770407" y="2898475"/>
              <a:ext cx="560717" cy="48307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x3</a:t>
              </a:r>
              <a:endParaRPr lang="en-US" sz="1600" dirty="0"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12" name="Group 15"/>
            <p:cNvGrpSpPr/>
            <p:nvPr/>
          </p:nvGrpSpPr>
          <p:grpSpPr>
            <a:xfrm>
              <a:off x="5934973" y="2786331"/>
              <a:ext cx="707367" cy="638355"/>
              <a:chOff x="6478436" y="3209026"/>
              <a:chExt cx="707367" cy="638355"/>
            </a:xfrm>
          </p:grpSpPr>
          <p:sp>
            <p:nvSpPr>
              <p:cNvPr id="10" name="Oval 9">
                <a:extLst>
                  <a:ext uri="{FF2B5EF4-FFF2-40B4-BE49-F238E27FC236}">
                    <a16:creationId xmlns="" xmlns:a16="http://schemas.microsoft.com/office/drawing/2014/main" id="{1A90B709-A6EF-4AF3-8058-50CF1F57FBE0}"/>
                  </a:ext>
                </a:extLst>
              </p:cNvPr>
              <p:cNvSpPr/>
              <p:nvPr/>
            </p:nvSpPr>
            <p:spPr>
              <a:xfrm>
                <a:off x="6478436" y="3209026"/>
                <a:ext cx="707367" cy="638355"/>
              </a:xfrm>
              <a:prstGeom prst="ellips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5" name="Oval 14"/>
              <p:cNvSpPr/>
              <p:nvPr/>
            </p:nvSpPr>
            <p:spPr>
              <a:xfrm>
                <a:off x="6544573" y="3283789"/>
                <a:ext cx="560717" cy="483079"/>
              </a:xfrm>
              <a:prstGeom prst="ellips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 smtClean="0">
                    <a:latin typeface="Times New Roman" pitchFamily="18" charset="0"/>
                    <a:cs typeface="Times New Roman" pitchFamily="18" charset="0"/>
                  </a:rPr>
                  <a:t>x4</a:t>
                </a:r>
                <a:endParaRPr lang="en-US" sz="16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cxnSp>
          <p:nvCxnSpPr>
            <p:cNvPr id="18" name="Straight Arrow Connector 17"/>
            <p:cNvCxnSpPr/>
            <p:nvPr/>
          </p:nvCxnSpPr>
          <p:spPr>
            <a:xfrm flipV="1">
              <a:off x="1759790" y="3183149"/>
              <a:ext cx="595223" cy="17252"/>
            </a:xfrm>
            <a:prstGeom prst="straightConnector1">
              <a:avLst/>
            </a:prstGeom>
            <a:ln w="1905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/>
            <p:nvPr/>
          </p:nvCxnSpPr>
          <p:spPr>
            <a:xfrm>
              <a:off x="733245" y="3209026"/>
              <a:ext cx="402571" cy="7335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/>
            <p:nvPr/>
          </p:nvCxnSpPr>
          <p:spPr>
            <a:xfrm flipV="1">
              <a:off x="2938731" y="3163018"/>
              <a:ext cx="595223" cy="17252"/>
            </a:xfrm>
            <a:prstGeom prst="straightConnector1">
              <a:avLst/>
            </a:prstGeom>
            <a:ln w="1905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/>
            <p:nvPr/>
          </p:nvCxnSpPr>
          <p:spPr>
            <a:xfrm flipV="1">
              <a:off x="5333998" y="3117013"/>
              <a:ext cx="595223" cy="17252"/>
            </a:xfrm>
            <a:prstGeom prst="straightConnector1">
              <a:avLst/>
            </a:prstGeom>
            <a:ln w="1905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/>
            <p:nvPr/>
          </p:nvCxnSpPr>
          <p:spPr>
            <a:xfrm flipV="1">
              <a:off x="4166558" y="3140016"/>
              <a:ext cx="595223" cy="17252"/>
            </a:xfrm>
            <a:prstGeom prst="straightConnector1">
              <a:avLst/>
            </a:prstGeom>
            <a:ln w="1905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="" xmlns:a16="http://schemas.microsoft.com/office/drawing/2014/main" id="{B21A631C-D2FE-49B1-8957-E25DAB8A74E9}"/>
                </a:ext>
              </a:extLst>
            </p:cNvPr>
            <p:cNvSpPr txBox="1"/>
            <p:nvPr/>
          </p:nvSpPr>
          <p:spPr>
            <a:xfrm>
              <a:off x="2986817" y="2787657"/>
              <a:ext cx="2359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="" xmlns:a16="http://schemas.microsoft.com/office/drawing/2014/main" id="{B21A631C-D2FE-49B1-8957-E25DAB8A74E9}"/>
                </a:ext>
              </a:extLst>
            </p:cNvPr>
            <p:cNvSpPr txBox="1"/>
            <p:nvPr/>
          </p:nvSpPr>
          <p:spPr>
            <a:xfrm>
              <a:off x="1827836" y="2785444"/>
              <a:ext cx="2359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="" xmlns:a16="http://schemas.microsoft.com/office/drawing/2014/main" id="{B21A631C-D2FE-49B1-8957-E25DAB8A74E9}"/>
                </a:ext>
              </a:extLst>
            </p:cNvPr>
            <p:cNvSpPr txBox="1"/>
            <p:nvPr/>
          </p:nvSpPr>
          <p:spPr>
            <a:xfrm>
              <a:off x="5404757" y="2722184"/>
              <a:ext cx="2359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="" xmlns:a16="http://schemas.microsoft.com/office/drawing/2014/main" id="{B21A631C-D2FE-49B1-8957-E25DAB8A74E9}"/>
                </a:ext>
              </a:extLst>
            </p:cNvPr>
            <p:cNvSpPr txBox="1"/>
            <p:nvPr/>
          </p:nvSpPr>
          <p:spPr>
            <a:xfrm>
              <a:off x="4211437" y="2762937"/>
              <a:ext cx="2359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" name="Arc 31">
              <a:extLst>
                <a:ext uri="{FF2B5EF4-FFF2-40B4-BE49-F238E27FC236}">
                  <a16:creationId xmlns="" xmlns:a16="http://schemas.microsoft.com/office/drawing/2014/main" id="{4A9D3AB6-108E-4062-B22C-A1FC38CC204A}"/>
                </a:ext>
              </a:extLst>
            </p:cNvPr>
            <p:cNvSpPr/>
            <p:nvPr/>
          </p:nvSpPr>
          <p:spPr>
            <a:xfrm>
              <a:off x="3641805" y="2605177"/>
              <a:ext cx="408846" cy="855590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TextBox 32">
              <a:extLst>
                <a:ext uri="{FF2B5EF4-FFF2-40B4-BE49-F238E27FC236}">
                  <a16:creationId xmlns="" xmlns:a16="http://schemas.microsoft.com/office/drawing/2014/main" id="{B21A631C-D2FE-49B1-8957-E25DAB8A74E9}"/>
                </a:ext>
              </a:extLst>
            </p:cNvPr>
            <p:cNvSpPr txBox="1"/>
            <p:nvPr/>
          </p:nvSpPr>
          <p:spPr>
            <a:xfrm>
              <a:off x="3585908" y="2202610"/>
              <a:ext cx="74455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a/b</a:t>
              </a:r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4" name="TextBox 33"/>
          <p:cNvSpPr txBox="1"/>
          <p:nvPr/>
        </p:nvSpPr>
        <p:spPr>
          <a:xfrm>
            <a:off x="2260572" y="1443377"/>
            <a:ext cx="5098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bb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277932" y="1411139"/>
            <a:ext cx="4541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ba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88140" y="1946364"/>
            <a:ext cx="25036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Input :  </a:t>
            </a:r>
            <a:r>
              <a:rPr lang="en-US" sz="2000" b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ababbabb</a:t>
            </a: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13" name="Group 26">
            <a:extLst>
              <a:ext uri="{FF2B5EF4-FFF2-40B4-BE49-F238E27FC236}">
                <a16:creationId xmlns="" xmlns:a16="http://schemas.microsoft.com/office/drawing/2014/main" id="{8D3C0EC3-1E6A-436B-B406-38A549AC7268}"/>
              </a:ext>
            </a:extLst>
          </p:cNvPr>
          <p:cNvGrpSpPr/>
          <p:nvPr/>
        </p:nvGrpSpPr>
        <p:grpSpPr>
          <a:xfrm>
            <a:off x="2174140" y="3078325"/>
            <a:ext cx="711403" cy="888332"/>
            <a:chOff x="6815615" y="2509921"/>
            <a:chExt cx="711403" cy="700772"/>
          </a:xfrm>
        </p:grpSpPr>
        <p:sp>
          <p:nvSpPr>
            <p:cNvPr id="37" name="Arrow: Up 57">
              <a:extLst>
                <a:ext uri="{FF2B5EF4-FFF2-40B4-BE49-F238E27FC236}">
                  <a16:creationId xmlns="" xmlns:a16="http://schemas.microsoft.com/office/drawing/2014/main" id="{E93022AA-FD9E-4354-A4A7-DF5F91C23E96}"/>
                </a:ext>
              </a:extLst>
            </p:cNvPr>
            <p:cNvSpPr/>
            <p:nvPr/>
          </p:nvSpPr>
          <p:spPr>
            <a:xfrm rot="10800000">
              <a:off x="7079191" y="2801785"/>
              <a:ext cx="156744" cy="408908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8" name="TextBox 37">
              <a:extLst>
                <a:ext uri="{FF2B5EF4-FFF2-40B4-BE49-F238E27FC236}">
                  <a16:creationId xmlns="" xmlns:a16="http://schemas.microsoft.com/office/drawing/2014/main" id="{BAF74065-B1AC-4D5B-9613-553AA58A4378}"/>
                </a:ext>
              </a:extLst>
            </p:cNvPr>
            <p:cNvSpPr txBox="1"/>
            <p:nvPr/>
          </p:nvSpPr>
          <p:spPr>
            <a:xfrm>
              <a:off x="6815615" y="2509921"/>
              <a:ext cx="711403" cy="2670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CS-1</a:t>
              </a:r>
            </a:p>
          </p:txBody>
        </p:sp>
      </p:grpSp>
      <p:sp>
        <p:nvSpPr>
          <p:cNvPr id="39" name="TextBox 38"/>
          <p:cNvSpPr txBox="1"/>
          <p:nvPr/>
        </p:nvSpPr>
        <p:spPr>
          <a:xfrm>
            <a:off x="7921869" y="1582615"/>
            <a:ext cx="1213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accent3">
                    <a:lumMod val="75000"/>
                  </a:schemeClr>
                </a:solidFill>
              </a:rPr>
              <a:t>CS-1 = x0</a:t>
            </a:r>
            <a:endParaRPr lang="en-US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8927126" y="1559168"/>
            <a:ext cx="5158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accent3">
                    <a:lumMod val="75000"/>
                  </a:schemeClr>
                </a:solidFill>
              </a:rPr>
              <a:t> x1</a:t>
            </a:r>
            <a:endParaRPr lang="en-US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41" name="Multiply 40"/>
          <p:cNvSpPr/>
          <p:nvPr/>
        </p:nvSpPr>
        <p:spPr>
          <a:xfrm>
            <a:off x="8765930" y="1626579"/>
            <a:ext cx="211015" cy="307731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1296" y="0"/>
            <a:ext cx="1346591" cy="306407"/>
          </a:xfrm>
        </p:spPr>
        <p:txBody>
          <a:bodyPr/>
          <a:lstStyle/>
          <a:p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NFA Continues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6934" y="577801"/>
            <a:ext cx="8946541" cy="4195481"/>
          </a:xfrm>
        </p:spPr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 = All words that start with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and end with bb are valid.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 = {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babb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baabb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babbb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baaabb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baabbb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…………}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 =           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55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562283" y="1431655"/>
            <a:ext cx="8971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a+b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)*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11" name="Group 38"/>
          <p:cNvGrpSpPr/>
          <p:nvPr/>
        </p:nvGrpSpPr>
        <p:grpSpPr>
          <a:xfrm>
            <a:off x="618945" y="3275272"/>
            <a:ext cx="5909095" cy="1258157"/>
            <a:chOff x="733245" y="2202610"/>
            <a:chExt cx="5909095" cy="1258157"/>
          </a:xfrm>
        </p:grpSpPr>
        <p:sp>
          <p:nvSpPr>
            <p:cNvPr id="6" name="Oval 5"/>
            <p:cNvSpPr/>
            <p:nvPr/>
          </p:nvSpPr>
          <p:spPr>
            <a:xfrm>
              <a:off x="1173192" y="2958860"/>
              <a:ext cx="560717" cy="48307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x0</a:t>
              </a:r>
              <a:endParaRPr lang="en-US" sz="16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" name="Oval 6"/>
            <p:cNvSpPr/>
            <p:nvPr/>
          </p:nvSpPr>
          <p:spPr>
            <a:xfrm>
              <a:off x="2360761" y="2930103"/>
              <a:ext cx="560717" cy="48307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x1</a:t>
              </a:r>
              <a:endParaRPr lang="en-US" sz="16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" name="Oval 7"/>
            <p:cNvSpPr/>
            <p:nvPr/>
          </p:nvSpPr>
          <p:spPr>
            <a:xfrm>
              <a:off x="3565585" y="2927230"/>
              <a:ext cx="560717" cy="48307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x2</a:t>
              </a:r>
              <a:endParaRPr lang="en-US" sz="16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" name="Oval 8"/>
            <p:cNvSpPr/>
            <p:nvPr/>
          </p:nvSpPr>
          <p:spPr>
            <a:xfrm>
              <a:off x="4770407" y="2898475"/>
              <a:ext cx="560717" cy="48307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x3</a:t>
              </a:r>
              <a:endParaRPr lang="en-US" sz="1600" dirty="0"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12" name="Group 15"/>
            <p:cNvGrpSpPr/>
            <p:nvPr/>
          </p:nvGrpSpPr>
          <p:grpSpPr>
            <a:xfrm>
              <a:off x="5934973" y="2786331"/>
              <a:ext cx="707367" cy="638355"/>
              <a:chOff x="6478436" y="3209026"/>
              <a:chExt cx="707367" cy="638355"/>
            </a:xfrm>
          </p:grpSpPr>
          <p:sp>
            <p:nvSpPr>
              <p:cNvPr id="10" name="Oval 9">
                <a:extLst>
                  <a:ext uri="{FF2B5EF4-FFF2-40B4-BE49-F238E27FC236}">
                    <a16:creationId xmlns="" xmlns:a16="http://schemas.microsoft.com/office/drawing/2014/main" id="{1A90B709-A6EF-4AF3-8058-50CF1F57FBE0}"/>
                  </a:ext>
                </a:extLst>
              </p:cNvPr>
              <p:cNvSpPr/>
              <p:nvPr/>
            </p:nvSpPr>
            <p:spPr>
              <a:xfrm>
                <a:off x="6478436" y="3209026"/>
                <a:ext cx="707367" cy="638355"/>
              </a:xfrm>
              <a:prstGeom prst="ellips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5" name="Oval 14"/>
              <p:cNvSpPr/>
              <p:nvPr/>
            </p:nvSpPr>
            <p:spPr>
              <a:xfrm>
                <a:off x="6544573" y="3283789"/>
                <a:ext cx="560717" cy="483079"/>
              </a:xfrm>
              <a:prstGeom prst="ellips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 smtClean="0">
                    <a:latin typeface="Times New Roman" pitchFamily="18" charset="0"/>
                    <a:cs typeface="Times New Roman" pitchFamily="18" charset="0"/>
                  </a:rPr>
                  <a:t>x4</a:t>
                </a:r>
                <a:endParaRPr lang="en-US" sz="16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cxnSp>
          <p:nvCxnSpPr>
            <p:cNvPr id="18" name="Straight Arrow Connector 17"/>
            <p:cNvCxnSpPr/>
            <p:nvPr/>
          </p:nvCxnSpPr>
          <p:spPr>
            <a:xfrm flipV="1">
              <a:off x="1759790" y="3183149"/>
              <a:ext cx="595223" cy="17252"/>
            </a:xfrm>
            <a:prstGeom prst="straightConnector1">
              <a:avLst/>
            </a:prstGeom>
            <a:ln w="1905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/>
            <p:nvPr/>
          </p:nvCxnSpPr>
          <p:spPr>
            <a:xfrm>
              <a:off x="733245" y="3209026"/>
              <a:ext cx="402571" cy="7335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/>
            <p:nvPr/>
          </p:nvCxnSpPr>
          <p:spPr>
            <a:xfrm flipV="1">
              <a:off x="2938731" y="3163018"/>
              <a:ext cx="595223" cy="17252"/>
            </a:xfrm>
            <a:prstGeom prst="straightConnector1">
              <a:avLst/>
            </a:prstGeom>
            <a:ln w="1905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/>
            <p:nvPr/>
          </p:nvCxnSpPr>
          <p:spPr>
            <a:xfrm flipV="1">
              <a:off x="5333998" y="3117013"/>
              <a:ext cx="595223" cy="17252"/>
            </a:xfrm>
            <a:prstGeom prst="straightConnector1">
              <a:avLst/>
            </a:prstGeom>
            <a:ln w="1905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/>
            <p:nvPr/>
          </p:nvCxnSpPr>
          <p:spPr>
            <a:xfrm flipV="1">
              <a:off x="4166558" y="3140016"/>
              <a:ext cx="595223" cy="17252"/>
            </a:xfrm>
            <a:prstGeom prst="straightConnector1">
              <a:avLst/>
            </a:prstGeom>
            <a:ln w="1905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="" xmlns:a16="http://schemas.microsoft.com/office/drawing/2014/main" id="{B21A631C-D2FE-49B1-8957-E25DAB8A74E9}"/>
                </a:ext>
              </a:extLst>
            </p:cNvPr>
            <p:cNvSpPr txBox="1"/>
            <p:nvPr/>
          </p:nvSpPr>
          <p:spPr>
            <a:xfrm>
              <a:off x="2986817" y="2787657"/>
              <a:ext cx="2359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="" xmlns:a16="http://schemas.microsoft.com/office/drawing/2014/main" id="{B21A631C-D2FE-49B1-8957-E25DAB8A74E9}"/>
                </a:ext>
              </a:extLst>
            </p:cNvPr>
            <p:cNvSpPr txBox="1"/>
            <p:nvPr/>
          </p:nvSpPr>
          <p:spPr>
            <a:xfrm>
              <a:off x="1827836" y="2785444"/>
              <a:ext cx="2359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="" xmlns:a16="http://schemas.microsoft.com/office/drawing/2014/main" id="{B21A631C-D2FE-49B1-8957-E25DAB8A74E9}"/>
                </a:ext>
              </a:extLst>
            </p:cNvPr>
            <p:cNvSpPr txBox="1"/>
            <p:nvPr/>
          </p:nvSpPr>
          <p:spPr>
            <a:xfrm>
              <a:off x="5404757" y="2722184"/>
              <a:ext cx="2359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="" xmlns:a16="http://schemas.microsoft.com/office/drawing/2014/main" id="{B21A631C-D2FE-49B1-8957-E25DAB8A74E9}"/>
                </a:ext>
              </a:extLst>
            </p:cNvPr>
            <p:cNvSpPr txBox="1"/>
            <p:nvPr/>
          </p:nvSpPr>
          <p:spPr>
            <a:xfrm>
              <a:off x="4211437" y="2762937"/>
              <a:ext cx="2359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" name="Arc 31">
              <a:extLst>
                <a:ext uri="{FF2B5EF4-FFF2-40B4-BE49-F238E27FC236}">
                  <a16:creationId xmlns="" xmlns:a16="http://schemas.microsoft.com/office/drawing/2014/main" id="{4A9D3AB6-108E-4062-B22C-A1FC38CC204A}"/>
                </a:ext>
              </a:extLst>
            </p:cNvPr>
            <p:cNvSpPr/>
            <p:nvPr/>
          </p:nvSpPr>
          <p:spPr>
            <a:xfrm>
              <a:off x="3641805" y="2605177"/>
              <a:ext cx="408846" cy="855590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TextBox 32">
              <a:extLst>
                <a:ext uri="{FF2B5EF4-FFF2-40B4-BE49-F238E27FC236}">
                  <a16:creationId xmlns="" xmlns:a16="http://schemas.microsoft.com/office/drawing/2014/main" id="{B21A631C-D2FE-49B1-8957-E25DAB8A74E9}"/>
                </a:ext>
              </a:extLst>
            </p:cNvPr>
            <p:cNvSpPr txBox="1"/>
            <p:nvPr/>
          </p:nvSpPr>
          <p:spPr>
            <a:xfrm>
              <a:off x="3585908" y="2202610"/>
              <a:ext cx="74455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a/b</a:t>
              </a:r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4" name="TextBox 33"/>
          <p:cNvSpPr txBox="1"/>
          <p:nvPr/>
        </p:nvSpPr>
        <p:spPr>
          <a:xfrm>
            <a:off x="2260572" y="1443377"/>
            <a:ext cx="5098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bb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277932" y="1411139"/>
            <a:ext cx="4541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ba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88140" y="1946364"/>
            <a:ext cx="25036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Input :  </a:t>
            </a: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000" b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babbabb</a:t>
            </a: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13" name="Group 26">
            <a:extLst>
              <a:ext uri="{FF2B5EF4-FFF2-40B4-BE49-F238E27FC236}">
                <a16:creationId xmlns="" xmlns:a16="http://schemas.microsoft.com/office/drawing/2014/main" id="{8D3C0EC3-1E6A-436B-B406-38A549AC7268}"/>
              </a:ext>
            </a:extLst>
          </p:cNvPr>
          <p:cNvGrpSpPr/>
          <p:nvPr/>
        </p:nvGrpSpPr>
        <p:grpSpPr>
          <a:xfrm>
            <a:off x="2174140" y="3078325"/>
            <a:ext cx="711403" cy="888332"/>
            <a:chOff x="6815615" y="2509921"/>
            <a:chExt cx="711403" cy="700772"/>
          </a:xfrm>
        </p:grpSpPr>
        <p:sp>
          <p:nvSpPr>
            <p:cNvPr id="37" name="Arrow: Up 57">
              <a:extLst>
                <a:ext uri="{FF2B5EF4-FFF2-40B4-BE49-F238E27FC236}">
                  <a16:creationId xmlns="" xmlns:a16="http://schemas.microsoft.com/office/drawing/2014/main" id="{E93022AA-FD9E-4354-A4A7-DF5F91C23E96}"/>
                </a:ext>
              </a:extLst>
            </p:cNvPr>
            <p:cNvSpPr/>
            <p:nvPr/>
          </p:nvSpPr>
          <p:spPr>
            <a:xfrm rot="10800000">
              <a:off x="7079191" y="2801785"/>
              <a:ext cx="156744" cy="408908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8" name="TextBox 37">
              <a:extLst>
                <a:ext uri="{FF2B5EF4-FFF2-40B4-BE49-F238E27FC236}">
                  <a16:creationId xmlns="" xmlns:a16="http://schemas.microsoft.com/office/drawing/2014/main" id="{BAF74065-B1AC-4D5B-9613-553AA58A4378}"/>
                </a:ext>
              </a:extLst>
            </p:cNvPr>
            <p:cNvSpPr txBox="1"/>
            <p:nvPr/>
          </p:nvSpPr>
          <p:spPr>
            <a:xfrm>
              <a:off x="6815615" y="2509921"/>
              <a:ext cx="711403" cy="2670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CS-1</a:t>
              </a:r>
            </a:p>
          </p:txBody>
        </p:sp>
      </p:grpSp>
      <p:sp>
        <p:nvSpPr>
          <p:cNvPr id="39" name="TextBox 38"/>
          <p:cNvSpPr txBox="1"/>
          <p:nvPr/>
        </p:nvSpPr>
        <p:spPr>
          <a:xfrm>
            <a:off x="7921869" y="1582615"/>
            <a:ext cx="1213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accent3">
                    <a:lumMod val="75000"/>
                  </a:schemeClr>
                </a:solidFill>
              </a:rPr>
              <a:t>CS-1 = x0</a:t>
            </a:r>
            <a:endParaRPr lang="en-US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8927126" y="1559168"/>
            <a:ext cx="5158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accent3">
                    <a:lumMod val="75000"/>
                  </a:schemeClr>
                </a:solidFill>
              </a:rPr>
              <a:t> x1</a:t>
            </a:r>
            <a:endParaRPr lang="en-US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41" name="Multiply 40"/>
          <p:cNvSpPr/>
          <p:nvPr/>
        </p:nvSpPr>
        <p:spPr>
          <a:xfrm>
            <a:off x="8765930" y="1626579"/>
            <a:ext cx="211015" cy="307731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1296" y="0"/>
            <a:ext cx="1346591" cy="306407"/>
          </a:xfrm>
        </p:spPr>
        <p:txBody>
          <a:bodyPr/>
          <a:lstStyle/>
          <a:p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NFA Continues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6934" y="577801"/>
            <a:ext cx="8946541" cy="4195481"/>
          </a:xfrm>
        </p:spPr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 = All words that start with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and end with bb are valid.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 = {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babb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baabb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babbb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baaabb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baabbb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…………}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 =           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56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562283" y="1431655"/>
            <a:ext cx="8971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a+b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)*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11" name="Group 38"/>
          <p:cNvGrpSpPr/>
          <p:nvPr/>
        </p:nvGrpSpPr>
        <p:grpSpPr>
          <a:xfrm>
            <a:off x="618945" y="3275272"/>
            <a:ext cx="5909095" cy="1258157"/>
            <a:chOff x="733245" y="2202610"/>
            <a:chExt cx="5909095" cy="1258157"/>
          </a:xfrm>
        </p:grpSpPr>
        <p:sp>
          <p:nvSpPr>
            <p:cNvPr id="6" name="Oval 5"/>
            <p:cNvSpPr/>
            <p:nvPr/>
          </p:nvSpPr>
          <p:spPr>
            <a:xfrm>
              <a:off x="1173192" y="2958860"/>
              <a:ext cx="560717" cy="48307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x0</a:t>
              </a:r>
              <a:endParaRPr lang="en-US" sz="16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" name="Oval 6"/>
            <p:cNvSpPr/>
            <p:nvPr/>
          </p:nvSpPr>
          <p:spPr>
            <a:xfrm>
              <a:off x="2360761" y="2930103"/>
              <a:ext cx="560717" cy="48307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x1</a:t>
              </a:r>
              <a:endParaRPr lang="en-US" sz="16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" name="Oval 7"/>
            <p:cNvSpPr/>
            <p:nvPr/>
          </p:nvSpPr>
          <p:spPr>
            <a:xfrm>
              <a:off x="3565585" y="2927230"/>
              <a:ext cx="560717" cy="48307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x2</a:t>
              </a:r>
              <a:endParaRPr lang="en-US" sz="16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" name="Oval 8"/>
            <p:cNvSpPr/>
            <p:nvPr/>
          </p:nvSpPr>
          <p:spPr>
            <a:xfrm>
              <a:off x="4770407" y="2898475"/>
              <a:ext cx="560717" cy="48307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x3</a:t>
              </a:r>
              <a:endParaRPr lang="en-US" sz="1600" dirty="0"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12" name="Group 15"/>
            <p:cNvGrpSpPr/>
            <p:nvPr/>
          </p:nvGrpSpPr>
          <p:grpSpPr>
            <a:xfrm>
              <a:off x="5934973" y="2786331"/>
              <a:ext cx="707367" cy="638355"/>
              <a:chOff x="6478436" y="3209026"/>
              <a:chExt cx="707367" cy="638355"/>
            </a:xfrm>
          </p:grpSpPr>
          <p:sp>
            <p:nvSpPr>
              <p:cNvPr id="10" name="Oval 9">
                <a:extLst>
                  <a:ext uri="{FF2B5EF4-FFF2-40B4-BE49-F238E27FC236}">
                    <a16:creationId xmlns="" xmlns:a16="http://schemas.microsoft.com/office/drawing/2014/main" id="{1A90B709-A6EF-4AF3-8058-50CF1F57FBE0}"/>
                  </a:ext>
                </a:extLst>
              </p:cNvPr>
              <p:cNvSpPr/>
              <p:nvPr/>
            </p:nvSpPr>
            <p:spPr>
              <a:xfrm>
                <a:off x="6478436" y="3209026"/>
                <a:ext cx="707367" cy="638355"/>
              </a:xfrm>
              <a:prstGeom prst="ellips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5" name="Oval 14"/>
              <p:cNvSpPr/>
              <p:nvPr/>
            </p:nvSpPr>
            <p:spPr>
              <a:xfrm>
                <a:off x="6544573" y="3283789"/>
                <a:ext cx="560717" cy="483079"/>
              </a:xfrm>
              <a:prstGeom prst="ellips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 smtClean="0">
                    <a:latin typeface="Times New Roman" pitchFamily="18" charset="0"/>
                    <a:cs typeface="Times New Roman" pitchFamily="18" charset="0"/>
                  </a:rPr>
                  <a:t>x4</a:t>
                </a:r>
                <a:endParaRPr lang="en-US" sz="16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cxnSp>
          <p:nvCxnSpPr>
            <p:cNvPr id="18" name="Straight Arrow Connector 17"/>
            <p:cNvCxnSpPr/>
            <p:nvPr/>
          </p:nvCxnSpPr>
          <p:spPr>
            <a:xfrm flipV="1">
              <a:off x="1759790" y="3183149"/>
              <a:ext cx="595223" cy="17252"/>
            </a:xfrm>
            <a:prstGeom prst="straightConnector1">
              <a:avLst/>
            </a:prstGeom>
            <a:ln w="1905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/>
            <p:nvPr/>
          </p:nvCxnSpPr>
          <p:spPr>
            <a:xfrm>
              <a:off x="733245" y="3209026"/>
              <a:ext cx="402571" cy="7335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/>
            <p:nvPr/>
          </p:nvCxnSpPr>
          <p:spPr>
            <a:xfrm flipV="1">
              <a:off x="2938731" y="3163018"/>
              <a:ext cx="595223" cy="17252"/>
            </a:xfrm>
            <a:prstGeom prst="straightConnector1">
              <a:avLst/>
            </a:prstGeom>
            <a:ln w="1905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/>
            <p:nvPr/>
          </p:nvCxnSpPr>
          <p:spPr>
            <a:xfrm flipV="1">
              <a:off x="5333998" y="3117013"/>
              <a:ext cx="595223" cy="17252"/>
            </a:xfrm>
            <a:prstGeom prst="straightConnector1">
              <a:avLst/>
            </a:prstGeom>
            <a:ln w="1905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/>
            <p:nvPr/>
          </p:nvCxnSpPr>
          <p:spPr>
            <a:xfrm flipV="1">
              <a:off x="4166558" y="3140016"/>
              <a:ext cx="595223" cy="17252"/>
            </a:xfrm>
            <a:prstGeom prst="straightConnector1">
              <a:avLst/>
            </a:prstGeom>
            <a:ln w="1905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="" xmlns:a16="http://schemas.microsoft.com/office/drawing/2014/main" id="{B21A631C-D2FE-49B1-8957-E25DAB8A74E9}"/>
                </a:ext>
              </a:extLst>
            </p:cNvPr>
            <p:cNvSpPr txBox="1"/>
            <p:nvPr/>
          </p:nvSpPr>
          <p:spPr>
            <a:xfrm>
              <a:off x="2986817" y="2787657"/>
              <a:ext cx="2359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="" xmlns:a16="http://schemas.microsoft.com/office/drawing/2014/main" id="{B21A631C-D2FE-49B1-8957-E25DAB8A74E9}"/>
                </a:ext>
              </a:extLst>
            </p:cNvPr>
            <p:cNvSpPr txBox="1"/>
            <p:nvPr/>
          </p:nvSpPr>
          <p:spPr>
            <a:xfrm>
              <a:off x="1827836" y="2785444"/>
              <a:ext cx="2359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="" xmlns:a16="http://schemas.microsoft.com/office/drawing/2014/main" id="{B21A631C-D2FE-49B1-8957-E25DAB8A74E9}"/>
                </a:ext>
              </a:extLst>
            </p:cNvPr>
            <p:cNvSpPr txBox="1"/>
            <p:nvPr/>
          </p:nvSpPr>
          <p:spPr>
            <a:xfrm>
              <a:off x="5404757" y="2722184"/>
              <a:ext cx="2359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="" xmlns:a16="http://schemas.microsoft.com/office/drawing/2014/main" id="{B21A631C-D2FE-49B1-8957-E25DAB8A74E9}"/>
                </a:ext>
              </a:extLst>
            </p:cNvPr>
            <p:cNvSpPr txBox="1"/>
            <p:nvPr/>
          </p:nvSpPr>
          <p:spPr>
            <a:xfrm>
              <a:off x="4211437" y="2762937"/>
              <a:ext cx="2359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" name="Arc 31">
              <a:extLst>
                <a:ext uri="{FF2B5EF4-FFF2-40B4-BE49-F238E27FC236}">
                  <a16:creationId xmlns="" xmlns:a16="http://schemas.microsoft.com/office/drawing/2014/main" id="{4A9D3AB6-108E-4062-B22C-A1FC38CC204A}"/>
                </a:ext>
              </a:extLst>
            </p:cNvPr>
            <p:cNvSpPr/>
            <p:nvPr/>
          </p:nvSpPr>
          <p:spPr>
            <a:xfrm>
              <a:off x="3641805" y="2605177"/>
              <a:ext cx="408846" cy="855590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TextBox 32">
              <a:extLst>
                <a:ext uri="{FF2B5EF4-FFF2-40B4-BE49-F238E27FC236}">
                  <a16:creationId xmlns="" xmlns:a16="http://schemas.microsoft.com/office/drawing/2014/main" id="{B21A631C-D2FE-49B1-8957-E25DAB8A74E9}"/>
                </a:ext>
              </a:extLst>
            </p:cNvPr>
            <p:cNvSpPr txBox="1"/>
            <p:nvPr/>
          </p:nvSpPr>
          <p:spPr>
            <a:xfrm>
              <a:off x="3585908" y="2202610"/>
              <a:ext cx="74455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a/b</a:t>
              </a:r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4" name="TextBox 33"/>
          <p:cNvSpPr txBox="1"/>
          <p:nvPr/>
        </p:nvSpPr>
        <p:spPr>
          <a:xfrm>
            <a:off x="2260572" y="1443377"/>
            <a:ext cx="5098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bb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277932" y="1411139"/>
            <a:ext cx="4541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ba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88140" y="1946364"/>
            <a:ext cx="25036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Input :  </a:t>
            </a: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000" b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babbabb</a:t>
            </a: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13" name="Group 26">
            <a:extLst>
              <a:ext uri="{FF2B5EF4-FFF2-40B4-BE49-F238E27FC236}">
                <a16:creationId xmlns="" xmlns:a16="http://schemas.microsoft.com/office/drawing/2014/main" id="{8D3C0EC3-1E6A-436B-B406-38A549AC7268}"/>
              </a:ext>
            </a:extLst>
          </p:cNvPr>
          <p:cNvGrpSpPr/>
          <p:nvPr/>
        </p:nvGrpSpPr>
        <p:grpSpPr>
          <a:xfrm rot="10800000">
            <a:off x="3378686" y="4555434"/>
            <a:ext cx="711403" cy="888332"/>
            <a:chOff x="6815615" y="2509921"/>
            <a:chExt cx="711403" cy="700772"/>
          </a:xfrm>
        </p:grpSpPr>
        <p:sp>
          <p:nvSpPr>
            <p:cNvPr id="37" name="Arrow: Up 57">
              <a:extLst>
                <a:ext uri="{FF2B5EF4-FFF2-40B4-BE49-F238E27FC236}">
                  <a16:creationId xmlns="" xmlns:a16="http://schemas.microsoft.com/office/drawing/2014/main" id="{E93022AA-FD9E-4354-A4A7-DF5F91C23E96}"/>
                </a:ext>
              </a:extLst>
            </p:cNvPr>
            <p:cNvSpPr/>
            <p:nvPr/>
          </p:nvSpPr>
          <p:spPr>
            <a:xfrm rot="10800000">
              <a:off x="7079191" y="2801785"/>
              <a:ext cx="156744" cy="408908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8" name="TextBox 37">
              <a:extLst>
                <a:ext uri="{FF2B5EF4-FFF2-40B4-BE49-F238E27FC236}">
                  <a16:creationId xmlns="" xmlns:a16="http://schemas.microsoft.com/office/drawing/2014/main" id="{BAF74065-B1AC-4D5B-9613-553AA58A4378}"/>
                </a:ext>
              </a:extLst>
            </p:cNvPr>
            <p:cNvSpPr txBox="1"/>
            <p:nvPr/>
          </p:nvSpPr>
          <p:spPr>
            <a:xfrm rot="10800000">
              <a:off x="6815615" y="2509921"/>
              <a:ext cx="711403" cy="2670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CS-1</a:t>
              </a:r>
            </a:p>
          </p:txBody>
        </p:sp>
      </p:grpSp>
      <p:sp>
        <p:nvSpPr>
          <p:cNvPr id="42" name="TextBox 41"/>
          <p:cNvSpPr txBox="1"/>
          <p:nvPr/>
        </p:nvSpPr>
        <p:spPr>
          <a:xfrm>
            <a:off x="7921869" y="1582615"/>
            <a:ext cx="1213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accent3">
                    <a:lumMod val="75000"/>
                  </a:schemeClr>
                </a:solidFill>
              </a:rPr>
              <a:t>CS-1 = x0</a:t>
            </a:r>
            <a:endParaRPr lang="en-US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8927126" y="1559168"/>
            <a:ext cx="5158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accent3">
                    <a:lumMod val="75000"/>
                  </a:schemeClr>
                </a:solidFill>
              </a:rPr>
              <a:t> x1</a:t>
            </a:r>
            <a:endParaRPr lang="en-US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44" name="Multiply 43"/>
          <p:cNvSpPr/>
          <p:nvPr/>
        </p:nvSpPr>
        <p:spPr>
          <a:xfrm>
            <a:off x="8765930" y="1626579"/>
            <a:ext cx="211015" cy="307731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45" name="Multiply 44"/>
          <p:cNvSpPr/>
          <p:nvPr/>
        </p:nvSpPr>
        <p:spPr>
          <a:xfrm>
            <a:off x="9094171" y="1611930"/>
            <a:ext cx="211015" cy="307731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46" name="TextBox 45"/>
          <p:cNvSpPr txBox="1"/>
          <p:nvPr/>
        </p:nvSpPr>
        <p:spPr>
          <a:xfrm>
            <a:off x="9193829" y="1553308"/>
            <a:ext cx="5158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accent3">
                    <a:lumMod val="75000"/>
                  </a:schemeClr>
                </a:solidFill>
              </a:rPr>
              <a:t> x2</a:t>
            </a:r>
            <a:endParaRPr lang="en-US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1296" y="0"/>
            <a:ext cx="1346591" cy="306407"/>
          </a:xfrm>
        </p:spPr>
        <p:txBody>
          <a:bodyPr/>
          <a:lstStyle/>
          <a:p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NFA Continues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6934" y="577801"/>
            <a:ext cx="8946541" cy="4195481"/>
          </a:xfrm>
        </p:spPr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 = All words that start with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and end with bb are valid.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 = {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babb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baabb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babbb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baaabb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baabbb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…………}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 =           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57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562283" y="1431655"/>
            <a:ext cx="8971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a+b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)*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11" name="Group 38"/>
          <p:cNvGrpSpPr/>
          <p:nvPr/>
        </p:nvGrpSpPr>
        <p:grpSpPr>
          <a:xfrm>
            <a:off x="618945" y="3275272"/>
            <a:ext cx="5909095" cy="1258157"/>
            <a:chOff x="733245" y="2202610"/>
            <a:chExt cx="5909095" cy="1258157"/>
          </a:xfrm>
        </p:grpSpPr>
        <p:sp>
          <p:nvSpPr>
            <p:cNvPr id="6" name="Oval 5"/>
            <p:cNvSpPr/>
            <p:nvPr/>
          </p:nvSpPr>
          <p:spPr>
            <a:xfrm>
              <a:off x="1173192" y="2958860"/>
              <a:ext cx="560717" cy="48307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x0</a:t>
              </a:r>
              <a:endParaRPr lang="en-US" sz="16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" name="Oval 6"/>
            <p:cNvSpPr/>
            <p:nvPr/>
          </p:nvSpPr>
          <p:spPr>
            <a:xfrm>
              <a:off x="2360761" y="2930103"/>
              <a:ext cx="560717" cy="48307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x1</a:t>
              </a:r>
              <a:endParaRPr lang="en-US" sz="16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" name="Oval 7"/>
            <p:cNvSpPr/>
            <p:nvPr/>
          </p:nvSpPr>
          <p:spPr>
            <a:xfrm>
              <a:off x="3565585" y="2927230"/>
              <a:ext cx="560717" cy="48307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x2</a:t>
              </a:r>
              <a:endParaRPr lang="en-US" sz="16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" name="Oval 8"/>
            <p:cNvSpPr/>
            <p:nvPr/>
          </p:nvSpPr>
          <p:spPr>
            <a:xfrm>
              <a:off x="4770407" y="2898475"/>
              <a:ext cx="560717" cy="48307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x3</a:t>
              </a:r>
              <a:endParaRPr lang="en-US" sz="1600" dirty="0"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12" name="Group 15"/>
            <p:cNvGrpSpPr/>
            <p:nvPr/>
          </p:nvGrpSpPr>
          <p:grpSpPr>
            <a:xfrm>
              <a:off x="5934973" y="2786331"/>
              <a:ext cx="707367" cy="638355"/>
              <a:chOff x="6478436" y="3209026"/>
              <a:chExt cx="707367" cy="638355"/>
            </a:xfrm>
          </p:grpSpPr>
          <p:sp>
            <p:nvSpPr>
              <p:cNvPr id="10" name="Oval 9">
                <a:extLst>
                  <a:ext uri="{FF2B5EF4-FFF2-40B4-BE49-F238E27FC236}">
                    <a16:creationId xmlns="" xmlns:a16="http://schemas.microsoft.com/office/drawing/2014/main" id="{1A90B709-A6EF-4AF3-8058-50CF1F57FBE0}"/>
                  </a:ext>
                </a:extLst>
              </p:cNvPr>
              <p:cNvSpPr/>
              <p:nvPr/>
            </p:nvSpPr>
            <p:spPr>
              <a:xfrm>
                <a:off x="6478436" y="3209026"/>
                <a:ext cx="707367" cy="638355"/>
              </a:xfrm>
              <a:prstGeom prst="ellips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5" name="Oval 14"/>
              <p:cNvSpPr/>
              <p:nvPr/>
            </p:nvSpPr>
            <p:spPr>
              <a:xfrm>
                <a:off x="6544573" y="3283789"/>
                <a:ext cx="560717" cy="483079"/>
              </a:xfrm>
              <a:prstGeom prst="ellips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 smtClean="0">
                    <a:latin typeface="Times New Roman" pitchFamily="18" charset="0"/>
                    <a:cs typeface="Times New Roman" pitchFamily="18" charset="0"/>
                  </a:rPr>
                  <a:t>x4</a:t>
                </a:r>
                <a:endParaRPr lang="en-US" sz="16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cxnSp>
          <p:nvCxnSpPr>
            <p:cNvPr id="18" name="Straight Arrow Connector 17"/>
            <p:cNvCxnSpPr/>
            <p:nvPr/>
          </p:nvCxnSpPr>
          <p:spPr>
            <a:xfrm flipV="1">
              <a:off x="1759790" y="3183149"/>
              <a:ext cx="595223" cy="17252"/>
            </a:xfrm>
            <a:prstGeom prst="straightConnector1">
              <a:avLst/>
            </a:prstGeom>
            <a:ln w="1905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/>
            <p:nvPr/>
          </p:nvCxnSpPr>
          <p:spPr>
            <a:xfrm>
              <a:off x="733245" y="3209026"/>
              <a:ext cx="402571" cy="7335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/>
            <p:nvPr/>
          </p:nvCxnSpPr>
          <p:spPr>
            <a:xfrm flipV="1">
              <a:off x="2938731" y="3163018"/>
              <a:ext cx="595223" cy="17252"/>
            </a:xfrm>
            <a:prstGeom prst="straightConnector1">
              <a:avLst/>
            </a:prstGeom>
            <a:ln w="1905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/>
            <p:nvPr/>
          </p:nvCxnSpPr>
          <p:spPr>
            <a:xfrm flipV="1">
              <a:off x="5333998" y="3117013"/>
              <a:ext cx="595223" cy="17252"/>
            </a:xfrm>
            <a:prstGeom prst="straightConnector1">
              <a:avLst/>
            </a:prstGeom>
            <a:ln w="1905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/>
            <p:nvPr/>
          </p:nvCxnSpPr>
          <p:spPr>
            <a:xfrm flipV="1">
              <a:off x="4166558" y="3140016"/>
              <a:ext cx="595223" cy="17252"/>
            </a:xfrm>
            <a:prstGeom prst="straightConnector1">
              <a:avLst/>
            </a:prstGeom>
            <a:ln w="1905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="" xmlns:a16="http://schemas.microsoft.com/office/drawing/2014/main" id="{B21A631C-D2FE-49B1-8957-E25DAB8A74E9}"/>
                </a:ext>
              </a:extLst>
            </p:cNvPr>
            <p:cNvSpPr txBox="1"/>
            <p:nvPr/>
          </p:nvSpPr>
          <p:spPr>
            <a:xfrm>
              <a:off x="2986817" y="2787657"/>
              <a:ext cx="2359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="" xmlns:a16="http://schemas.microsoft.com/office/drawing/2014/main" id="{B21A631C-D2FE-49B1-8957-E25DAB8A74E9}"/>
                </a:ext>
              </a:extLst>
            </p:cNvPr>
            <p:cNvSpPr txBox="1"/>
            <p:nvPr/>
          </p:nvSpPr>
          <p:spPr>
            <a:xfrm>
              <a:off x="1827836" y="2785444"/>
              <a:ext cx="2359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="" xmlns:a16="http://schemas.microsoft.com/office/drawing/2014/main" id="{B21A631C-D2FE-49B1-8957-E25DAB8A74E9}"/>
                </a:ext>
              </a:extLst>
            </p:cNvPr>
            <p:cNvSpPr txBox="1"/>
            <p:nvPr/>
          </p:nvSpPr>
          <p:spPr>
            <a:xfrm>
              <a:off x="5404757" y="2722184"/>
              <a:ext cx="2359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="" xmlns:a16="http://schemas.microsoft.com/office/drawing/2014/main" id="{B21A631C-D2FE-49B1-8957-E25DAB8A74E9}"/>
                </a:ext>
              </a:extLst>
            </p:cNvPr>
            <p:cNvSpPr txBox="1"/>
            <p:nvPr/>
          </p:nvSpPr>
          <p:spPr>
            <a:xfrm>
              <a:off x="4211437" y="2762937"/>
              <a:ext cx="2359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" name="Arc 31">
              <a:extLst>
                <a:ext uri="{FF2B5EF4-FFF2-40B4-BE49-F238E27FC236}">
                  <a16:creationId xmlns="" xmlns:a16="http://schemas.microsoft.com/office/drawing/2014/main" id="{4A9D3AB6-108E-4062-B22C-A1FC38CC204A}"/>
                </a:ext>
              </a:extLst>
            </p:cNvPr>
            <p:cNvSpPr/>
            <p:nvPr/>
          </p:nvSpPr>
          <p:spPr>
            <a:xfrm>
              <a:off x="3641805" y="2605177"/>
              <a:ext cx="408846" cy="855590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TextBox 32">
              <a:extLst>
                <a:ext uri="{FF2B5EF4-FFF2-40B4-BE49-F238E27FC236}">
                  <a16:creationId xmlns="" xmlns:a16="http://schemas.microsoft.com/office/drawing/2014/main" id="{B21A631C-D2FE-49B1-8957-E25DAB8A74E9}"/>
                </a:ext>
              </a:extLst>
            </p:cNvPr>
            <p:cNvSpPr txBox="1"/>
            <p:nvPr/>
          </p:nvSpPr>
          <p:spPr>
            <a:xfrm>
              <a:off x="3585908" y="2202610"/>
              <a:ext cx="74455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a/b</a:t>
              </a:r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4" name="TextBox 33"/>
          <p:cNvSpPr txBox="1"/>
          <p:nvPr/>
        </p:nvSpPr>
        <p:spPr>
          <a:xfrm>
            <a:off x="2260572" y="1443377"/>
            <a:ext cx="5098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bb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277932" y="1411139"/>
            <a:ext cx="4541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ba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88140" y="1946364"/>
            <a:ext cx="25036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Input :  </a:t>
            </a: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ba</a:t>
            </a:r>
            <a:r>
              <a:rPr lang="en-US" sz="2000" b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abbabb</a:t>
            </a: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13" name="Group 26">
            <a:extLst>
              <a:ext uri="{FF2B5EF4-FFF2-40B4-BE49-F238E27FC236}">
                <a16:creationId xmlns="" xmlns:a16="http://schemas.microsoft.com/office/drawing/2014/main" id="{8D3C0EC3-1E6A-436B-B406-38A549AC7268}"/>
              </a:ext>
            </a:extLst>
          </p:cNvPr>
          <p:cNvGrpSpPr/>
          <p:nvPr/>
        </p:nvGrpSpPr>
        <p:grpSpPr>
          <a:xfrm rot="10800000">
            <a:off x="3378686" y="4555434"/>
            <a:ext cx="711403" cy="888332"/>
            <a:chOff x="6815615" y="2509921"/>
            <a:chExt cx="711403" cy="700772"/>
          </a:xfrm>
        </p:grpSpPr>
        <p:sp>
          <p:nvSpPr>
            <p:cNvPr id="37" name="Arrow: Up 57">
              <a:extLst>
                <a:ext uri="{FF2B5EF4-FFF2-40B4-BE49-F238E27FC236}">
                  <a16:creationId xmlns="" xmlns:a16="http://schemas.microsoft.com/office/drawing/2014/main" id="{E93022AA-FD9E-4354-A4A7-DF5F91C23E96}"/>
                </a:ext>
              </a:extLst>
            </p:cNvPr>
            <p:cNvSpPr/>
            <p:nvPr/>
          </p:nvSpPr>
          <p:spPr>
            <a:xfrm rot="10800000">
              <a:off x="7079191" y="2801785"/>
              <a:ext cx="156744" cy="408908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8" name="TextBox 37">
              <a:extLst>
                <a:ext uri="{FF2B5EF4-FFF2-40B4-BE49-F238E27FC236}">
                  <a16:creationId xmlns="" xmlns:a16="http://schemas.microsoft.com/office/drawing/2014/main" id="{BAF74065-B1AC-4D5B-9613-553AA58A4378}"/>
                </a:ext>
              </a:extLst>
            </p:cNvPr>
            <p:cNvSpPr txBox="1"/>
            <p:nvPr/>
          </p:nvSpPr>
          <p:spPr>
            <a:xfrm rot="10800000">
              <a:off x="6815615" y="2509921"/>
              <a:ext cx="711403" cy="2670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CS-1</a:t>
              </a:r>
            </a:p>
          </p:txBody>
        </p:sp>
      </p:grpSp>
      <p:sp>
        <p:nvSpPr>
          <p:cNvPr id="39" name="TextBox 38"/>
          <p:cNvSpPr txBox="1"/>
          <p:nvPr/>
        </p:nvSpPr>
        <p:spPr>
          <a:xfrm>
            <a:off x="7921869" y="1582615"/>
            <a:ext cx="1213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accent3">
                    <a:lumMod val="75000"/>
                  </a:schemeClr>
                </a:solidFill>
              </a:rPr>
              <a:t>CS-1 = x0</a:t>
            </a:r>
            <a:endParaRPr lang="en-US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8927126" y="1559168"/>
            <a:ext cx="5158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accent3">
                    <a:lumMod val="75000"/>
                  </a:schemeClr>
                </a:solidFill>
              </a:rPr>
              <a:t> x1</a:t>
            </a:r>
            <a:endParaRPr lang="en-US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41" name="Multiply 40"/>
          <p:cNvSpPr/>
          <p:nvPr/>
        </p:nvSpPr>
        <p:spPr>
          <a:xfrm>
            <a:off x="8765930" y="1626579"/>
            <a:ext cx="211015" cy="307731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42" name="Multiply 41"/>
          <p:cNvSpPr/>
          <p:nvPr/>
        </p:nvSpPr>
        <p:spPr>
          <a:xfrm>
            <a:off x="9076587" y="1594346"/>
            <a:ext cx="211015" cy="307731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43" name="TextBox 42"/>
          <p:cNvSpPr txBox="1"/>
          <p:nvPr/>
        </p:nvSpPr>
        <p:spPr>
          <a:xfrm>
            <a:off x="9193829" y="1553308"/>
            <a:ext cx="5158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accent3">
                    <a:lumMod val="75000"/>
                  </a:schemeClr>
                </a:solidFill>
              </a:rPr>
              <a:t> x2</a:t>
            </a:r>
            <a:endParaRPr lang="en-US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1296" y="0"/>
            <a:ext cx="1346591" cy="306407"/>
          </a:xfrm>
        </p:spPr>
        <p:txBody>
          <a:bodyPr/>
          <a:lstStyle/>
          <a:p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NFA Continues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6934" y="577801"/>
            <a:ext cx="8946541" cy="4195481"/>
          </a:xfrm>
        </p:spPr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 = All words that start with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and end with bb are valid.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 = {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babb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baabb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babbb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baaabb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baabbb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…………}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 =           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58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562283" y="1431655"/>
            <a:ext cx="8971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a+b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)*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11" name="Group 38"/>
          <p:cNvGrpSpPr/>
          <p:nvPr/>
        </p:nvGrpSpPr>
        <p:grpSpPr>
          <a:xfrm>
            <a:off x="618945" y="3275272"/>
            <a:ext cx="5909095" cy="1258157"/>
            <a:chOff x="733245" y="2202610"/>
            <a:chExt cx="5909095" cy="1258157"/>
          </a:xfrm>
        </p:grpSpPr>
        <p:sp>
          <p:nvSpPr>
            <p:cNvPr id="6" name="Oval 5"/>
            <p:cNvSpPr/>
            <p:nvPr/>
          </p:nvSpPr>
          <p:spPr>
            <a:xfrm>
              <a:off x="1173192" y="2958860"/>
              <a:ext cx="560717" cy="48307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x0</a:t>
              </a:r>
              <a:endParaRPr lang="en-US" sz="16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" name="Oval 6"/>
            <p:cNvSpPr/>
            <p:nvPr/>
          </p:nvSpPr>
          <p:spPr>
            <a:xfrm>
              <a:off x="2360761" y="2930103"/>
              <a:ext cx="560717" cy="48307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x1</a:t>
              </a:r>
              <a:endParaRPr lang="en-US" sz="16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" name="Oval 7"/>
            <p:cNvSpPr/>
            <p:nvPr/>
          </p:nvSpPr>
          <p:spPr>
            <a:xfrm>
              <a:off x="3565585" y="2927230"/>
              <a:ext cx="560717" cy="48307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x2</a:t>
              </a:r>
              <a:endParaRPr lang="en-US" sz="16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" name="Oval 8"/>
            <p:cNvSpPr/>
            <p:nvPr/>
          </p:nvSpPr>
          <p:spPr>
            <a:xfrm>
              <a:off x="4770407" y="2898475"/>
              <a:ext cx="560717" cy="48307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x3</a:t>
              </a:r>
              <a:endParaRPr lang="en-US" sz="1600" dirty="0"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12" name="Group 15"/>
            <p:cNvGrpSpPr/>
            <p:nvPr/>
          </p:nvGrpSpPr>
          <p:grpSpPr>
            <a:xfrm>
              <a:off x="5934973" y="2786331"/>
              <a:ext cx="707367" cy="638355"/>
              <a:chOff x="6478436" y="3209026"/>
              <a:chExt cx="707367" cy="638355"/>
            </a:xfrm>
          </p:grpSpPr>
          <p:sp>
            <p:nvSpPr>
              <p:cNvPr id="10" name="Oval 9">
                <a:extLst>
                  <a:ext uri="{FF2B5EF4-FFF2-40B4-BE49-F238E27FC236}">
                    <a16:creationId xmlns="" xmlns:a16="http://schemas.microsoft.com/office/drawing/2014/main" id="{1A90B709-A6EF-4AF3-8058-50CF1F57FBE0}"/>
                  </a:ext>
                </a:extLst>
              </p:cNvPr>
              <p:cNvSpPr/>
              <p:nvPr/>
            </p:nvSpPr>
            <p:spPr>
              <a:xfrm>
                <a:off x="6478436" y="3209026"/>
                <a:ext cx="707367" cy="638355"/>
              </a:xfrm>
              <a:prstGeom prst="ellips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5" name="Oval 14"/>
              <p:cNvSpPr/>
              <p:nvPr/>
            </p:nvSpPr>
            <p:spPr>
              <a:xfrm>
                <a:off x="6544573" y="3283789"/>
                <a:ext cx="560717" cy="483079"/>
              </a:xfrm>
              <a:prstGeom prst="ellips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 smtClean="0">
                    <a:latin typeface="Times New Roman" pitchFamily="18" charset="0"/>
                    <a:cs typeface="Times New Roman" pitchFamily="18" charset="0"/>
                  </a:rPr>
                  <a:t>x4</a:t>
                </a:r>
                <a:endParaRPr lang="en-US" sz="16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cxnSp>
          <p:nvCxnSpPr>
            <p:cNvPr id="18" name="Straight Arrow Connector 17"/>
            <p:cNvCxnSpPr/>
            <p:nvPr/>
          </p:nvCxnSpPr>
          <p:spPr>
            <a:xfrm flipV="1">
              <a:off x="1759790" y="3183149"/>
              <a:ext cx="595223" cy="17252"/>
            </a:xfrm>
            <a:prstGeom prst="straightConnector1">
              <a:avLst/>
            </a:prstGeom>
            <a:ln w="1905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/>
            <p:nvPr/>
          </p:nvCxnSpPr>
          <p:spPr>
            <a:xfrm>
              <a:off x="733245" y="3209026"/>
              <a:ext cx="402571" cy="7335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/>
            <p:nvPr/>
          </p:nvCxnSpPr>
          <p:spPr>
            <a:xfrm flipV="1">
              <a:off x="2938731" y="3163018"/>
              <a:ext cx="595223" cy="17252"/>
            </a:xfrm>
            <a:prstGeom prst="straightConnector1">
              <a:avLst/>
            </a:prstGeom>
            <a:ln w="1905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/>
            <p:nvPr/>
          </p:nvCxnSpPr>
          <p:spPr>
            <a:xfrm flipV="1">
              <a:off x="5333998" y="3117013"/>
              <a:ext cx="595223" cy="17252"/>
            </a:xfrm>
            <a:prstGeom prst="straightConnector1">
              <a:avLst/>
            </a:prstGeom>
            <a:ln w="1905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/>
            <p:nvPr/>
          </p:nvCxnSpPr>
          <p:spPr>
            <a:xfrm flipV="1">
              <a:off x="4166558" y="3140016"/>
              <a:ext cx="595223" cy="17252"/>
            </a:xfrm>
            <a:prstGeom prst="straightConnector1">
              <a:avLst/>
            </a:prstGeom>
            <a:ln w="1905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="" xmlns:a16="http://schemas.microsoft.com/office/drawing/2014/main" id="{B21A631C-D2FE-49B1-8957-E25DAB8A74E9}"/>
                </a:ext>
              </a:extLst>
            </p:cNvPr>
            <p:cNvSpPr txBox="1"/>
            <p:nvPr/>
          </p:nvSpPr>
          <p:spPr>
            <a:xfrm>
              <a:off x="2986817" y="2787657"/>
              <a:ext cx="2359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="" xmlns:a16="http://schemas.microsoft.com/office/drawing/2014/main" id="{B21A631C-D2FE-49B1-8957-E25DAB8A74E9}"/>
                </a:ext>
              </a:extLst>
            </p:cNvPr>
            <p:cNvSpPr txBox="1"/>
            <p:nvPr/>
          </p:nvSpPr>
          <p:spPr>
            <a:xfrm>
              <a:off x="1827836" y="2785444"/>
              <a:ext cx="2359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="" xmlns:a16="http://schemas.microsoft.com/office/drawing/2014/main" id="{B21A631C-D2FE-49B1-8957-E25DAB8A74E9}"/>
                </a:ext>
              </a:extLst>
            </p:cNvPr>
            <p:cNvSpPr txBox="1"/>
            <p:nvPr/>
          </p:nvSpPr>
          <p:spPr>
            <a:xfrm>
              <a:off x="5404757" y="2722184"/>
              <a:ext cx="2359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="" xmlns:a16="http://schemas.microsoft.com/office/drawing/2014/main" id="{B21A631C-D2FE-49B1-8957-E25DAB8A74E9}"/>
                </a:ext>
              </a:extLst>
            </p:cNvPr>
            <p:cNvSpPr txBox="1"/>
            <p:nvPr/>
          </p:nvSpPr>
          <p:spPr>
            <a:xfrm>
              <a:off x="4211437" y="2762937"/>
              <a:ext cx="2359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" name="Arc 31">
              <a:extLst>
                <a:ext uri="{FF2B5EF4-FFF2-40B4-BE49-F238E27FC236}">
                  <a16:creationId xmlns="" xmlns:a16="http://schemas.microsoft.com/office/drawing/2014/main" id="{4A9D3AB6-108E-4062-B22C-A1FC38CC204A}"/>
                </a:ext>
              </a:extLst>
            </p:cNvPr>
            <p:cNvSpPr/>
            <p:nvPr/>
          </p:nvSpPr>
          <p:spPr>
            <a:xfrm>
              <a:off x="3641805" y="2605177"/>
              <a:ext cx="408846" cy="855590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TextBox 32">
              <a:extLst>
                <a:ext uri="{FF2B5EF4-FFF2-40B4-BE49-F238E27FC236}">
                  <a16:creationId xmlns="" xmlns:a16="http://schemas.microsoft.com/office/drawing/2014/main" id="{B21A631C-D2FE-49B1-8957-E25DAB8A74E9}"/>
                </a:ext>
              </a:extLst>
            </p:cNvPr>
            <p:cNvSpPr txBox="1"/>
            <p:nvPr/>
          </p:nvSpPr>
          <p:spPr>
            <a:xfrm>
              <a:off x="3585908" y="2202610"/>
              <a:ext cx="74455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a/b</a:t>
              </a:r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4" name="TextBox 33"/>
          <p:cNvSpPr txBox="1"/>
          <p:nvPr/>
        </p:nvSpPr>
        <p:spPr>
          <a:xfrm>
            <a:off x="2260572" y="1443377"/>
            <a:ext cx="5098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bb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277932" y="1411139"/>
            <a:ext cx="4541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ba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88140" y="1946364"/>
            <a:ext cx="25036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Input :  </a:t>
            </a: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ba</a:t>
            </a:r>
            <a:r>
              <a:rPr lang="en-US" sz="2000" b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abbabb</a:t>
            </a: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13" name="Group 26">
            <a:extLst>
              <a:ext uri="{FF2B5EF4-FFF2-40B4-BE49-F238E27FC236}">
                <a16:creationId xmlns="" xmlns:a16="http://schemas.microsoft.com/office/drawing/2014/main" id="{8D3C0EC3-1E6A-436B-B406-38A549AC7268}"/>
              </a:ext>
            </a:extLst>
          </p:cNvPr>
          <p:cNvGrpSpPr/>
          <p:nvPr/>
        </p:nvGrpSpPr>
        <p:grpSpPr>
          <a:xfrm rot="10800000">
            <a:off x="3378686" y="4555434"/>
            <a:ext cx="711403" cy="888332"/>
            <a:chOff x="6815615" y="2509921"/>
            <a:chExt cx="711403" cy="700772"/>
          </a:xfrm>
        </p:grpSpPr>
        <p:sp>
          <p:nvSpPr>
            <p:cNvPr id="37" name="Arrow: Up 57">
              <a:extLst>
                <a:ext uri="{FF2B5EF4-FFF2-40B4-BE49-F238E27FC236}">
                  <a16:creationId xmlns="" xmlns:a16="http://schemas.microsoft.com/office/drawing/2014/main" id="{E93022AA-FD9E-4354-A4A7-DF5F91C23E96}"/>
                </a:ext>
              </a:extLst>
            </p:cNvPr>
            <p:cNvSpPr/>
            <p:nvPr/>
          </p:nvSpPr>
          <p:spPr>
            <a:xfrm rot="10800000">
              <a:off x="7079191" y="2801785"/>
              <a:ext cx="156744" cy="408908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8" name="TextBox 37">
              <a:extLst>
                <a:ext uri="{FF2B5EF4-FFF2-40B4-BE49-F238E27FC236}">
                  <a16:creationId xmlns="" xmlns:a16="http://schemas.microsoft.com/office/drawing/2014/main" id="{BAF74065-B1AC-4D5B-9613-553AA58A4378}"/>
                </a:ext>
              </a:extLst>
            </p:cNvPr>
            <p:cNvSpPr txBox="1"/>
            <p:nvPr/>
          </p:nvSpPr>
          <p:spPr>
            <a:xfrm rot="10800000">
              <a:off x="6815615" y="2509921"/>
              <a:ext cx="711403" cy="2670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CS-1</a:t>
              </a:r>
            </a:p>
          </p:txBody>
        </p:sp>
      </p:grpSp>
      <p:grpSp>
        <p:nvGrpSpPr>
          <p:cNvPr id="39" name="Group 26">
            <a:extLst>
              <a:ext uri="{FF2B5EF4-FFF2-40B4-BE49-F238E27FC236}">
                <a16:creationId xmlns="" xmlns:a16="http://schemas.microsoft.com/office/drawing/2014/main" id="{8D3C0EC3-1E6A-436B-B406-38A549AC7268}"/>
              </a:ext>
            </a:extLst>
          </p:cNvPr>
          <p:cNvGrpSpPr/>
          <p:nvPr/>
        </p:nvGrpSpPr>
        <p:grpSpPr>
          <a:xfrm>
            <a:off x="4594956" y="3037295"/>
            <a:ext cx="711403" cy="888332"/>
            <a:chOff x="6815615" y="2509921"/>
            <a:chExt cx="711403" cy="700772"/>
          </a:xfrm>
        </p:grpSpPr>
        <p:sp>
          <p:nvSpPr>
            <p:cNvPr id="40" name="Arrow: Up 57">
              <a:extLst>
                <a:ext uri="{FF2B5EF4-FFF2-40B4-BE49-F238E27FC236}">
                  <a16:creationId xmlns="" xmlns:a16="http://schemas.microsoft.com/office/drawing/2014/main" id="{E93022AA-FD9E-4354-A4A7-DF5F91C23E96}"/>
                </a:ext>
              </a:extLst>
            </p:cNvPr>
            <p:cNvSpPr/>
            <p:nvPr/>
          </p:nvSpPr>
          <p:spPr>
            <a:xfrm rot="10800000">
              <a:off x="7079191" y="2801785"/>
              <a:ext cx="156744" cy="408908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="" xmlns:a16="http://schemas.microsoft.com/office/drawing/2014/main" id="{BAF74065-B1AC-4D5B-9613-553AA58A4378}"/>
                </a:ext>
              </a:extLst>
            </p:cNvPr>
            <p:cNvSpPr txBox="1"/>
            <p:nvPr/>
          </p:nvSpPr>
          <p:spPr>
            <a:xfrm>
              <a:off x="6815615" y="2509921"/>
              <a:ext cx="711403" cy="2670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 smtClean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CS-2</a:t>
              </a:r>
              <a:endParaRPr lang="en-US" sz="16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42" name="TextBox 41"/>
          <p:cNvSpPr txBox="1"/>
          <p:nvPr/>
        </p:nvSpPr>
        <p:spPr>
          <a:xfrm>
            <a:off x="7921869" y="1582615"/>
            <a:ext cx="1213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accent3">
                    <a:lumMod val="75000"/>
                  </a:schemeClr>
                </a:solidFill>
              </a:rPr>
              <a:t>CS-1 = x0</a:t>
            </a:r>
            <a:endParaRPr lang="en-US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8927126" y="1559168"/>
            <a:ext cx="5158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accent3">
                    <a:lumMod val="75000"/>
                  </a:schemeClr>
                </a:solidFill>
              </a:rPr>
              <a:t> x1</a:t>
            </a:r>
            <a:endParaRPr lang="en-US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44" name="Multiply 43"/>
          <p:cNvSpPr/>
          <p:nvPr/>
        </p:nvSpPr>
        <p:spPr>
          <a:xfrm>
            <a:off x="8765930" y="1626579"/>
            <a:ext cx="211015" cy="307731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45" name="Multiply 44"/>
          <p:cNvSpPr/>
          <p:nvPr/>
        </p:nvSpPr>
        <p:spPr>
          <a:xfrm>
            <a:off x="9067794" y="1603138"/>
            <a:ext cx="211015" cy="307731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46" name="TextBox 45"/>
          <p:cNvSpPr txBox="1"/>
          <p:nvPr/>
        </p:nvSpPr>
        <p:spPr>
          <a:xfrm>
            <a:off x="9193829" y="1553308"/>
            <a:ext cx="5158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accent3">
                    <a:lumMod val="75000"/>
                  </a:schemeClr>
                </a:solidFill>
              </a:rPr>
              <a:t> x2</a:t>
            </a:r>
            <a:endParaRPr lang="en-US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7916010" y="1998784"/>
            <a:ext cx="1213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accent3">
                    <a:lumMod val="75000"/>
                  </a:schemeClr>
                </a:solidFill>
              </a:rPr>
              <a:t>CS-2 = x3</a:t>
            </a:r>
            <a:endParaRPr lang="en-US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1296" y="0"/>
            <a:ext cx="1346591" cy="306407"/>
          </a:xfrm>
        </p:spPr>
        <p:txBody>
          <a:bodyPr/>
          <a:lstStyle/>
          <a:p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NFA Continues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6934" y="577801"/>
            <a:ext cx="8946541" cy="4195481"/>
          </a:xfrm>
        </p:spPr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 = All words that start with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and end with bb are valid.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 = {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babb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baabb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babbb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baaabb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baabbb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…………}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 =           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59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562283" y="1431655"/>
            <a:ext cx="8971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a+b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)*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11" name="Group 38"/>
          <p:cNvGrpSpPr/>
          <p:nvPr/>
        </p:nvGrpSpPr>
        <p:grpSpPr>
          <a:xfrm>
            <a:off x="618945" y="3275272"/>
            <a:ext cx="5909095" cy="1258157"/>
            <a:chOff x="733245" y="2202610"/>
            <a:chExt cx="5909095" cy="1258157"/>
          </a:xfrm>
        </p:grpSpPr>
        <p:sp>
          <p:nvSpPr>
            <p:cNvPr id="6" name="Oval 5"/>
            <p:cNvSpPr/>
            <p:nvPr/>
          </p:nvSpPr>
          <p:spPr>
            <a:xfrm>
              <a:off x="1173192" y="2958860"/>
              <a:ext cx="560717" cy="48307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x0</a:t>
              </a:r>
              <a:endParaRPr lang="en-US" sz="16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" name="Oval 6"/>
            <p:cNvSpPr/>
            <p:nvPr/>
          </p:nvSpPr>
          <p:spPr>
            <a:xfrm>
              <a:off x="2360761" y="2930103"/>
              <a:ext cx="560717" cy="48307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x1</a:t>
              </a:r>
              <a:endParaRPr lang="en-US" sz="16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" name="Oval 7"/>
            <p:cNvSpPr/>
            <p:nvPr/>
          </p:nvSpPr>
          <p:spPr>
            <a:xfrm>
              <a:off x="3565585" y="2927230"/>
              <a:ext cx="560717" cy="48307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x2</a:t>
              </a:r>
              <a:endParaRPr lang="en-US" sz="16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" name="Oval 8"/>
            <p:cNvSpPr/>
            <p:nvPr/>
          </p:nvSpPr>
          <p:spPr>
            <a:xfrm>
              <a:off x="4770407" y="2898475"/>
              <a:ext cx="560717" cy="48307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x3</a:t>
              </a:r>
              <a:endParaRPr lang="en-US" sz="1600" dirty="0"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12" name="Group 15"/>
            <p:cNvGrpSpPr/>
            <p:nvPr/>
          </p:nvGrpSpPr>
          <p:grpSpPr>
            <a:xfrm>
              <a:off x="5934973" y="2786331"/>
              <a:ext cx="707367" cy="638355"/>
              <a:chOff x="6478436" y="3209026"/>
              <a:chExt cx="707367" cy="638355"/>
            </a:xfrm>
          </p:grpSpPr>
          <p:sp>
            <p:nvSpPr>
              <p:cNvPr id="10" name="Oval 9">
                <a:extLst>
                  <a:ext uri="{FF2B5EF4-FFF2-40B4-BE49-F238E27FC236}">
                    <a16:creationId xmlns="" xmlns:a16="http://schemas.microsoft.com/office/drawing/2014/main" id="{1A90B709-A6EF-4AF3-8058-50CF1F57FBE0}"/>
                  </a:ext>
                </a:extLst>
              </p:cNvPr>
              <p:cNvSpPr/>
              <p:nvPr/>
            </p:nvSpPr>
            <p:spPr>
              <a:xfrm>
                <a:off x="6478436" y="3209026"/>
                <a:ext cx="707367" cy="638355"/>
              </a:xfrm>
              <a:prstGeom prst="ellips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5" name="Oval 14"/>
              <p:cNvSpPr/>
              <p:nvPr/>
            </p:nvSpPr>
            <p:spPr>
              <a:xfrm>
                <a:off x="6544573" y="3283789"/>
                <a:ext cx="560717" cy="483079"/>
              </a:xfrm>
              <a:prstGeom prst="ellips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 smtClean="0">
                    <a:latin typeface="Times New Roman" pitchFamily="18" charset="0"/>
                    <a:cs typeface="Times New Roman" pitchFamily="18" charset="0"/>
                  </a:rPr>
                  <a:t>x4</a:t>
                </a:r>
                <a:endParaRPr lang="en-US" sz="16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cxnSp>
          <p:nvCxnSpPr>
            <p:cNvPr id="18" name="Straight Arrow Connector 17"/>
            <p:cNvCxnSpPr/>
            <p:nvPr/>
          </p:nvCxnSpPr>
          <p:spPr>
            <a:xfrm flipV="1">
              <a:off x="1759790" y="3183149"/>
              <a:ext cx="595223" cy="17252"/>
            </a:xfrm>
            <a:prstGeom prst="straightConnector1">
              <a:avLst/>
            </a:prstGeom>
            <a:ln w="1905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/>
            <p:nvPr/>
          </p:nvCxnSpPr>
          <p:spPr>
            <a:xfrm>
              <a:off x="733245" y="3209026"/>
              <a:ext cx="402571" cy="7335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/>
            <p:nvPr/>
          </p:nvCxnSpPr>
          <p:spPr>
            <a:xfrm flipV="1">
              <a:off x="2938731" y="3163018"/>
              <a:ext cx="595223" cy="17252"/>
            </a:xfrm>
            <a:prstGeom prst="straightConnector1">
              <a:avLst/>
            </a:prstGeom>
            <a:ln w="1905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/>
            <p:nvPr/>
          </p:nvCxnSpPr>
          <p:spPr>
            <a:xfrm flipV="1">
              <a:off x="5333998" y="3117013"/>
              <a:ext cx="595223" cy="17252"/>
            </a:xfrm>
            <a:prstGeom prst="straightConnector1">
              <a:avLst/>
            </a:prstGeom>
            <a:ln w="1905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/>
            <p:nvPr/>
          </p:nvCxnSpPr>
          <p:spPr>
            <a:xfrm flipV="1">
              <a:off x="4166558" y="3140016"/>
              <a:ext cx="595223" cy="17252"/>
            </a:xfrm>
            <a:prstGeom prst="straightConnector1">
              <a:avLst/>
            </a:prstGeom>
            <a:ln w="1905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="" xmlns:a16="http://schemas.microsoft.com/office/drawing/2014/main" id="{B21A631C-D2FE-49B1-8957-E25DAB8A74E9}"/>
                </a:ext>
              </a:extLst>
            </p:cNvPr>
            <p:cNvSpPr txBox="1"/>
            <p:nvPr/>
          </p:nvSpPr>
          <p:spPr>
            <a:xfrm>
              <a:off x="2986817" y="2787657"/>
              <a:ext cx="2359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="" xmlns:a16="http://schemas.microsoft.com/office/drawing/2014/main" id="{B21A631C-D2FE-49B1-8957-E25DAB8A74E9}"/>
                </a:ext>
              </a:extLst>
            </p:cNvPr>
            <p:cNvSpPr txBox="1"/>
            <p:nvPr/>
          </p:nvSpPr>
          <p:spPr>
            <a:xfrm>
              <a:off x="1827836" y="2785444"/>
              <a:ext cx="2359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="" xmlns:a16="http://schemas.microsoft.com/office/drawing/2014/main" id="{B21A631C-D2FE-49B1-8957-E25DAB8A74E9}"/>
                </a:ext>
              </a:extLst>
            </p:cNvPr>
            <p:cNvSpPr txBox="1"/>
            <p:nvPr/>
          </p:nvSpPr>
          <p:spPr>
            <a:xfrm>
              <a:off x="5404757" y="2722184"/>
              <a:ext cx="2359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="" xmlns:a16="http://schemas.microsoft.com/office/drawing/2014/main" id="{B21A631C-D2FE-49B1-8957-E25DAB8A74E9}"/>
                </a:ext>
              </a:extLst>
            </p:cNvPr>
            <p:cNvSpPr txBox="1"/>
            <p:nvPr/>
          </p:nvSpPr>
          <p:spPr>
            <a:xfrm>
              <a:off x="4211437" y="2762937"/>
              <a:ext cx="2359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" name="Arc 31">
              <a:extLst>
                <a:ext uri="{FF2B5EF4-FFF2-40B4-BE49-F238E27FC236}">
                  <a16:creationId xmlns="" xmlns:a16="http://schemas.microsoft.com/office/drawing/2014/main" id="{4A9D3AB6-108E-4062-B22C-A1FC38CC204A}"/>
                </a:ext>
              </a:extLst>
            </p:cNvPr>
            <p:cNvSpPr/>
            <p:nvPr/>
          </p:nvSpPr>
          <p:spPr>
            <a:xfrm>
              <a:off x="3641805" y="2605177"/>
              <a:ext cx="408846" cy="855590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TextBox 32">
              <a:extLst>
                <a:ext uri="{FF2B5EF4-FFF2-40B4-BE49-F238E27FC236}">
                  <a16:creationId xmlns="" xmlns:a16="http://schemas.microsoft.com/office/drawing/2014/main" id="{B21A631C-D2FE-49B1-8957-E25DAB8A74E9}"/>
                </a:ext>
              </a:extLst>
            </p:cNvPr>
            <p:cNvSpPr txBox="1"/>
            <p:nvPr/>
          </p:nvSpPr>
          <p:spPr>
            <a:xfrm>
              <a:off x="3585908" y="2202610"/>
              <a:ext cx="74455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a/b</a:t>
              </a:r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4" name="TextBox 33"/>
          <p:cNvSpPr txBox="1"/>
          <p:nvPr/>
        </p:nvSpPr>
        <p:spPr>
          <a:xfrm>
            <a:off x="2260572" y="1443377"/>
            <a:ext cx="5098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bb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277932" y="1411139"/>
            <a:ext cx="4541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ba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88140" y="1946364"/>
            <a:ext cx="25036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Input :  </a:t>
            </a: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bab</a:t>
            </a:r>
            <a:r>
              <a:rPr lang="en-US" sz="2000" b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bbabb</a:t>
            </a: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13" name="Group 26">
            <a:extLst>
              <a:ext uri="{FF2B5EF4-FFF2-40B4-BE49-F238E27FC236}">
                <a16:creationId xmlns="" xmlns:a16="http://schemas.microsoft.com/office/drawing/2014/main" id="{8D3C0EC3-1E6A-436B-B406-38A549AC7268}"/>
              </a:ext>
            </a:extLst>
          </p:cNvPr>
          <p:cNvGrpSpPr/>
          <p:nvPr/>
        </p:nvGrpSpPr>
        <p:grpSpPr>
          <a:xfrm rot="10800000">
            <a:off x="3378686" y="4555434"/>
            <a:ext cx="711403" cy="888332"/>
            <a:chOff x="6815615" y="2509921"/>
            <a:chExt cx="711403" cy="700772"/>
          </a:xfrm>
        </p:grpSpPr>
        <p:sp>
          <p:nvSpPr>
            <p:cNvPr id="37" name="Arrow: Up 57">
              <a:extLst>
                <a:ext uri="{FF2B5EF4-FFF2-40B4-BE49-F238E27FC236}">
                  <a16:creationId xmlns="" xmlns:a16="http://schemas.microsoft.com/office/drawing/2014/main" id="{E93022AA-FD9E-4354-A4A7-DF5F91C23E96}"/>
                </a:ext>
              </a:extLst>
            </p:cNvPr>
            <p:cNvSpPr/>
            <p:nvPr/>
          </p:nvSpPr>
          <p:spPr>
            <a:xfrm rot="10800000">
              <a:off x="7079191" y="2801785"/>
              <a:ext cx="156744" cy="408908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8" name="TextBox 37">
              <a:extLst>
                <a:ext uri="{FF2B5EF4-FFF2-40B4-BE49-F238E27FC236}">
                  <a16:creationId xmlns="" xmlns:a16="http://schemas.microsoft.com/office/drawing/2014/main" id="{BAF74065-B1AC-4D5B-9613-553AA58A4378}"/>
                </a:ext>
              </a:extLst>
            </p:cNvPr>
            <p:cNvSpPr txBox="1"/>
            <p:nvPr/>
          </p:nvSpPr>
          <p:spPr>
            <a:xfrm rot="10800000">
              <a:off x="6815615" y="2509921"/>
              <a:ext cx="711403" cy="2670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CS-1</a:t>
              </a:r>
            </a:p>
          </p:txBody>
        </p:sp>
      </p:grpSp>
      <p:grpSp>
        <p:nvGrpSpPr>
          <p:cNvPr id="14" name="Group 26">
            <a:extLst>
              <a:ext uri="{FF2B5EF4-FFF2-40B4-BE49-F238E27FC236}">
                <a16:creationId xmlns="" xmlns:a16="http://schemas.microsoft.com/office/drawing/2014/main" id="{8D3C0EC3-1E6A-436B-B406-38A549AC7268}"/>
              </a:ext>
            </a:extLst>
          </p:cNvPr>
          <p:cNvGrpSpPr/>
          <p:nvPr/>
        </p:nvGrpSpPr>
        <p:grpSpPr>
          <a:xfrm>
            <a:off x="4594956" y="3037295"/>
            <a:ext cx="711403" cy="888332"/>
            <a:chOff x="6815615" y="2509921"/>
            <a:chExt cx="711403" cy="700772"/>
          </a:xfrm>
        </p:grpSpPr>
        <p:sp>
          <p:nvSpPr>
            <p:cNvPr id="40" name="Arrow: Up 57">
              <a:extLst>
                <a:ext uri="{FF2B5EF4-FFF2-40B4-BE49-F238E27FC236}">
                  <a16:creationId xmlns="" xmlns:a16="http://schemas.microsoft.com/office/drawing/2014/main" id="{E93022AA-FD9E-4354-A4A7-DF5F91C23E96}"/>
                </a:ext>
              </a:extLst>
            </p:cNvPr>
            <p:cNvSpPr/>
            <p:nvPr/>
          </p:nvSpPr>
          <p:spPr>
            <a:xfrm rot="10800000">
              <a:off x="7079191" y="2801785"/>
              <a:ext cx="156744" cy="408908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="" xmlns:a16="http://schemas.microsoft.com/office/drawing/2014/main" id="{BAF74065-B1AC-4D5B-9613-553AA58A4378}"/>
                </a:ext>
              </a:extLst>
            </p:cNvPr>
            <p:cNvSpPr txBox="1"/>
            <p:nvPr/>
          </p:nvSpPr>
          <p:spPr>
            <a:xfrm>
              <a:off x="6815615" y="2509921"/>
              <a:ext cx="711403" cy="2670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 smtClean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CS-2</a:t>
              </a:r>
              <a:endParaRPr lang="en-US" sz="16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9" name="TextBox 38"/>
          <p:cNvSpPr txBox="1"/>
          <p:nvPr/>
        </p:nvSpPr>
        <p:spPr>
          <a:xfrm>
            <a:off x="7921869" y="1582615"/>
            <a:ext cx="1213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accent3">
                    <a:lumMod val="75000"/>
                  </a:schemeClr>
                </a:solidFill>
              </a:rPr>
              <a:t>CS-1 = x0</a:t>
            </a:r>
            <a:endParaRPr lang="en-US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8927126" y="1559168"/>
            <a:ext cx="5158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accent3">
                    <a:lumMod val="75000"/>
                  </a:schemeClr>
                </a:solidFill>
              </a:rPr>
              <a:t> x1</a:t>
            </a:r>
            <a:endParaRPr lang="en-US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43" name="Multiply 42"/>
          <p:cNvSpPr/>
          <p:nvPr/>
        </p:nvSpPr>
        <p:spPr>
          <a:xfrm>
            <a:off x="8765930" y="1626579"/>
            <a:ext cx="211015" cy="307731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44" name="Multiply 43"/>
          <p:cNvSpPr/>
          <p:nvPr/>
        </p:nvSpPr>
        <p:spPr>
          <a:xfrm>
            <a:off x="9076587" y="1620722"/>
            <a:ext cx="211015" cy="307731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45" name="TextBox 44"/>
          <p:cNvSpPr txBox="1"/>
          <p:nvPr/>
        </p:nvSpPr>
        <p:spPr>
          <a:xfrm>
            <a:off x="9193829" y="1553308"/>
            <a:ext cx="5158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accent3">
                    <a:lumMod val="75000"/>
                  </a:schemeClr>
                </a:solidFill>
              </a:rPr>
              <a:t> x2</a:t>
            </a:r>
            <a:endParaRPr lang="en-US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7916010" y="1998784"/>
            <a:ext cx="1213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accent3">
                    <a:lumMod val="75000"/>
                  </a:schemeClr>
                </a:solidFill>
              </a:rPr>
              <a:t>CS-2 = x3</a:t>
            </a:r>
            <a:endParaRPr lang="en-US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1296" y="0"/>
            <a:ext cx="1346591" cy="306407"/>
          </a:xfrm>
        </p:spPr>
        <p:txBody>
          <a:bodyPr/>
          <a:lstStyle/>
          <a:p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NFA Continues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6934" y="577801"/>
            <a:ext cx="8946541" cy="4195481"/>
          </a:xfrm>
        </p:spPr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 = All words that start with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and end with bb are valid.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 = {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babb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baabb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babbb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baaabb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baabbb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…………}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 =           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60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562283" y="1431655"/>
            <a:ext cx="8971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a+b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)*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11" name="Group 38"/>
          <p:cNvGrpSpPr/>
          <p:nvPr/>
        </p:nvGrpSpPr>
        <p:grpSpPr>
          <a:xfrm>
            <a:off x="618945" y="3275272"/>
            <a:ext cx="5909095" cy="1258157"/>
            <a:chOff x="733245" y="2202610"/>
            <a:chExt cx="5909095" cy="1258157"/>
          </a:xfrm>
        </p:grpSpPr>
        <p:sp>
          <p:nvSpPr>
            <p:cNvPr id="6" name="Oval 5"/>
            <p:cNvSpPr/>
            <p:nvPr/>
          </p:nvSpPr>
          <p:spPr>
            <a:xfrm>
              <a:off x="1173192" y="2958860"/>
              <a:ext cx="560717" cy="48307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x0</a:t>
              </a:r>
              <a:endParaRPr lang="en-US" sz="16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" name="Oval 6"/>
            <p:cNvSpPr/>
            <p:nvPr/>
          </p:nvSpPr>
          <p:spPr>
            <a:xfrm>
              <a:off x="2360761" y="2930103"/>
              <a:ext cx="560717" cy="48307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x1</a:t>
              </a:r>
              <a:endParaRPr lang="en-US" sz="16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" name="Oval 7"/>
            <p:cNvSpPr/>
            <p:nvPr/>
          </p:nvSpPr>
          <p:spPr>
            <a:xfrm>
              <a:off x="3565585" y="2927230"/>
              <a:ext cx="560717" cy="48307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x2</a:t>
              </a:r>
              <a:endParaRPr lang="en-US" sz="16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" name="Oval 8"/>
            <p:cNvSpPr/>
            <p:nvPr/>
          </p:nvSpPr>
          <p:spPr>
            <a:xfrm>
              <a:off x="4770407" y="2898475"/>
              <a:ext cx="560717" cy="48307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x3</a:t>
              </a:r>
              <a:endParaRPr lang="en-US" sz="1600" dirty="0"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12" name="Group 15"/>
            <p:cNvGrpSpPr/>
            <p:nvPr/>
          </p:nvGrpSpPr>
          <p:grpSpPr>
            <a:xfrm>
              <a:off x="5934973" y="2786331"/>
              <a:ext cx="707367" cy="638355"/>
              <a:chOff x="6478436" y="3209026"/>
              <a:chExt cx="707367" cy="638355"/>
            </a:xfrm>
          </p:grpSpPr>
          <p:sp>
            <p:nvSpPr>
              <p:cNvPr id="10" name="Oval 9">
                <a:extLst>
                  <a:ext uri="{FF2B5EF4-FFF2-40B4-BE49-F238E27FC236}">
                    <a16:creationId xmlns="" xmlns:a16="http://schemas.microsoft.com/office/drawing/2014/main" id="{1A90B709-A6EF-4AF3-8058-50CF1F57FBE0}"/>
                  </a:ext>
                </a:extLst>
              </p:cNvPr>
              <p:cNvSpPr/>
              <p:nvPr/>
            </p:nvSpPr>
            <p:spPr>
              <a:xfrm>
                <a:off x="6478436" y="3209026"/>
                <a:ext cx="707367" cy="638355"/>
              </a:xfrm>
              <a:prstGeom prst="ellips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5" name="Oval 14"/>
              <p:cNvSpPr/>
              <p:nvPr/>
            </p:nvSpPr>
            <p:spPr>
              <a:xfrm>
                <a:off x="6544573" y="3283789"/>
                <a:ext cx="560717" cy="483079"/>
              </a:xfrm>
              <a:prstGeom prst="ellips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 smtClean="0">
                    <a:latin typeface="Times New Roman" pitchFamily="18" charset="0"/>
                    <a:cs typeface="Times New Roman" pitchFamily="18" charset="0"/>
                  </a:rPr>
                  <a:t>x4</a:t>
                </a:r>
                <a:endParaRPr lang="en-US" sz="16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cxnSp>
          <p:nvCxnSpPr>
            <p:cNvPr id="18" name="Straight Arrow Connector 17"/>
            <p:cNvCxnSpPr/>
            <p:nvPr/>
          </p:nvCxnSpPr>
          <p:spPr>
            <a:xfrm flipV="1">
              <a:off x="1759790" y="3183149"/>
              <a:ext cx="595223" cy="17252"/>
            </a:xfrm>
            <a:prstGeom prst="straightConnector1">
              <a:avLst/>
            </a:prstGeom>
            <a:ln w="1905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/>
            <p:nvPr/>
          </p:nvCxnSpPr>
          <p:spPr>
            <a:xfrm>
              <a:off x="733245" y="3209026"/>
              <a:ext cx="402571" cy="7335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/>
            <p:nvPr/>
          </p:nvCxnSpPr>
          <p:spPr>
            <a:xfrm flipV="1">
              <a:off x="2938731" y="3163018"/>
              <a:ext cx="595223" cy="17252"/>
            </a:xfrm>
            <a:prstGeom prst="straightConnector1">
              <a:avLst/>
            </a:prstGeom>
            <a:ln w="1905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/>
            <p:nvPr/>
          </p:nvCxnSpPr>
          <p:spPr>
            <a:xfrm flipV="1">
              <a:off x="5333998" y="3117013"/>
              <a:ext cx="595223" cy="17252"/>
            </a:xfrm>
            <a:prstGeom prst="straightConnector1">
              <a:avLst/>
            </a:prstGeom>
            <a:ln w="1905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/>
            <p:nvPr/>
          </p:nvCxnSpPr>
          <p:spPr>
            <a:xfrm flipV="1">
              <a:off x="4166558" y="3140016"/>
              <a:ext cx="595223" cy="17252"/>
            </a:xfrm>
            <a:prstGeom prst="straightConnector1">
              <a:avLst/>
            </a:prstGeom>
            <a:ln w="1905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="" xmlns:a16="http://schemas.microsoft.com/office/drawing/2014/main" id="{B21A631C-D2FE-49B1-8957-E25DAB8A74E9}"/>
                </a:ext>
              </a:extLst>
            </p:cNvPr>
            <p:cNvSpPr txBox="1"/>
            <p:nvPr/>
          </p:nvSpPr>
          <p:spPr>
            <a:xfrm>
              <a:off x="2986817" y="2787657"/>
              <a:ext cx="2359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="" xmlns:a16="http://schemas.microsoft.com/office/drawing/2014/main" id="{B21A631C-D2FE-49B1-8957-E25DAB8A74E9}"/>
                </a:ext>
              </a:extLst>
            </p:cNvPr>
            <p:cNvSpPr txBox="1"/>
            <p:nvPr/>
          </p:nvSpPr>
          <p:spPr>
            <a:xfrm>
              <a:off x="1827836" y="2785444"/>
              <a:ext cx="2359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="" xmlns:a16="http://schemas.microsoft.com/office/drawing/2014/main" id="{B21A631C-D2FE-49B1-8957-E25DAB8A74E9}"/>
                </a:ext>
              </a:extLst>
            </p:cNvPr>
            <p:cNvSpPr txBox="1"/>
            <p:nvPr/>
          </p:nvSpPr>
          <p:spPr>
            <a:xfrm>
              <a:off x="5404757" y="2722184"/>
              <a:ext cx="2359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="" xmlns:a16="http://schemas.microsoft.com/office/drawing/2014/main" id="{B21A631C-D2FE-49B1-8957-E25DAB8A74E9}"/>
                </a:ext>
              </a:extLst>
            </p:cNvPr>
            <p:cNvSpPr txBox="1"/>
            <p:nvPr/>
          </p:nvSpPr>
          <p:spPr>
            <a:xfrm>
              <a:off x="4211437" y="2762937"/>
              <a:ext cx="2359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" name="Arc 31">
              <a:extLst>
                <a:ext uri="{FF2B5EF4-FFF2-40B4-BE49-F238E27FC236}">
                  <a16:creationId xmlns="" xmlns:a16="http://schemas.microsoft.com/office/drawing/2014/main" id="{4A9D3AB6-108E-4062-B22C-A1FC38CC204A}"/>
                </a:ext>
              </a:extLst>
            </p:cNvPr>
            <p:cNvSpPr/>
            <p:nvPr/>
          </p:nvSpPr>
          <p:spPr>
            <a:xfrm>
              <a:off x="3641805" y="2605177"/>
              <a:ext cx="408846" cy="855590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TextBox 32">
              <a:extLst>
                <a:ext uri="{FF2B5EF4-FFF2-40B4-BE49-F238E27FC236}">
                  <a16:creationId xmlns="" xmlns:a16="http://schemas.microsoft.com/office/drawing/2014/main" id="{B21A631C-D2FE-49B1-8957-E25DAB8A74E9}"/>
                </a:ext>
              </a:extLst>
            </p:cNvPr>
            <p:cNvSpPr txBox="1"/>
            <p:nvPr/>
          </p:nvSpPr>
          <p:spPr>
            <a:xfrm>
              <a:off x="3585908" y="2202610"/>
              <a:ext cx="74455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a/b</a:t>
              </a:r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4" name="TextBox 33"/>
          <p:cNvSpPr txBox="1"/>
          <p:nvPr/>
        </p:nvSpPr>
        <p:spPr>
          <a:xfrm>
            <a:off x="2260572" y="1443377"/>
            <a:ext cx="5098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bb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277932" y="1411139"/>
            <a:ext cx="4541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ba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88140" y="1946364"/>
            <a:ext cx="25036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Input :  </a:t>
            </a: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bab</a:t>
            </a:r>
            <a:r>
              <a:rPr lang="en-US" sz="2000" b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bbabb</a:t>
            </a: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13" name="Group 26">
            <a:extLst>
              <a:ext uri="{FF2B5EF4-FFF2-40B4-BE49-F238E27FC236}">
                <a16:creationId xmlns="" xmlns:a16="http://schemas.microsoft.com/office/drawing/2014/main" id="{8D3C0EC3-1E6A-436B-B406-38A549AC7268}"/>
              </a:ext>
            </a:extLst>
          </p:cNvPr>
          <p:cNvGrpSpPr/>
          <p:nvPr/>
        </p:nvGrpSpPr>
        <p:grpSpPr>
          <a:xfrm rot="10800000">
            <a:off x="3378686" y="4555434"/>
            <a:ext cx="711403" cy="888332"/>
            <a:chOff x="6815615" y="2509921"/>
            <a:chExt cx="711403" cy="700772"/>
          </a:xfrm>
        </p:grpSpPr>
        <p:sp>
          <p:nvSpPr>
            <p:cNvPr id="37" name="Arrow: Up 57">
              <a:extLst>
                <a:ext uri="{FF2B5EF4-FFF2-40B4-BE49-F238E27FC236}">
                  <a16:creationId xmlns="" xmlns:a16="http://schemas.microsoft.com/office/drawing/2014/main" id="{E93022AA-FD9E-4354-A4A7-DF5F91C23E96}"/>
                </a:ext>
              </a:extLst>
            </p:cNvPr>
            <p:cNvSpPr/>
            <p:nvPr/>
          </p:nvSpPr>
          <p:spPr>
            <a:xfrm rot="10800000">
              <a:off x="7079191" y="2801785"/>
              <a:ext cx="156744" cy="408908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8" name="TextBox 37">
              <a:extLst>
                <a:ext uri="{FF2B5EF4-FFF2-40B4-BE49-F238E27FC236}">
                  <a16:creationId xmlns="" xmlns:a16="http://schemas.microsoft.com/office/drawing/2014/main" id="{BAF74065-B1AC-4D5B-9613-553AA58A4378}"/>
                </a:ext>
              </a:extLst>
            </p:cNvPr>
            <p:cNvSpPr txBox="1"/>
            <p:nvPr/>
          </p:nvSpPr>
          <p:spPr>
            <a:xfrm rot="10800000">
              <a:off x="6815615" y="2509921"/>
              <a:ext cx="711403" cy="2670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CS-1</a:t>
              </a:r>
            </a:p>
          </p:txBody>
        </p:sp>
      </p:grpSp>
      <p:sp>
        <p:nvSpPr>
          <p:cNvPr id="39" name="TextBox 38"/>
          <p:cNvSpPr txBox="1"/>
          <p:nvPr/>
        </p:nvSpPr>
        <p:spPr>
          <a:xfrm>
            <a:off x="7921869" y="1582615"/>
            <a:ext cx="1213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accent3">
                    <a:lumMod val="75000"/>
                  </a:schemeClr>
                </a:solidFill>
              </a:rPr>
              <a:t>CS-1 = x0</a:t>
            </a:r>
            <a:endParaRPr lang="en-US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8927126" y="1559168"/>
            <a:ext cx="5158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accent3">
                    <a:lumMod val="75000"/>
                  </a:schemeClr>
                </a:solidFill>
              </a:rPr>
              <a:t> x1</a:t>
            </a:r>
            <a:endParaRPr lang="en-US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43" name="Multiply 42"/>
          <p:cNvSpPr/>
          <p:nvPr/>
        </p:nvSpPr>
        <p:spPr>
          <a:xfrm>
            <a:off x="8765930" y="1626579"/>
            <a:ext cx="211015" cy="307731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44" name="Multiply 43"/>
          <p:cNvSpPr/>
          <p:nvPr/>
        </p:nvSpPr>
        <p:spPr>
          <a:xfrm>
            <a:off x="9076587" y="1620722"/>
            <a:ext cx="211015" cy="307731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45" name="TextBox 44"/>
          <p:cNvSpPr txBox="1"/>
          <p:nvPr/>
        </p:nvSpPr>
        <p:spPr>
          <a:xfrm>
            <a:off x="9193829" y="1553308"/>
            <a:ext cx="5158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accent3">
                    <a:lumMod val="75000"/>
                  </a:schemeClr>
                </a:solidFill>
              </a:rPr>
              <a:t> x2</a:t>
            </a:r>
            <a:endParaRPr lang="en-US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7916010" y="1998784"/>
            <a:ext cx="1213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accent3">
                    <a:lumMod val="75000"/>
                  </a:schemeClr>
                </a:solidFill>
              </a:rPr>
              <a:t>CS-2 = x3</a:t>
            </a:r>
            <a:endParaRPr lang="en-US" dirty="0">
              <a:solidFill>
                <a:schemeClr val="accent3">
                  <a:lumMod val="75000"/>
                </a:schemeClr>
              </a:solidFill>
            </a:endParaRPr>
          </a:p>
        </p:txBody>
      </p:sp>
      <p:cxnSp>
        <p:nvCxnSpPr>
          <p:cNvPr id="47" name="Straight Arrow Connector 46"/>
          <p:cNvCxnSpPr/>
          <p:nvPr/>
        </p:nvCxnSpPr>
        <p:spPr>
          <a:xfrm flipV="1">
            <a:off x="8792306" y="2170375"/>
            <a:ext cx="595223" cy="17252"/>
          </a:xfrm>
          <a:prstGeom prst="straightConnector1">
            <a:avLst/>
          </a:prstGeom>
          <a:ln w="1905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Multiply 47"/>
          <p:cNvSpPr/>
          <p:nvPr/>
        </p:nvSpPr>
        <p:spPr>
          <a:xfrm>
            <a:off x="9419492" y="2007579"/>
            <a:ext cx="211015" cy="307731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1296" y="0"/>
            <a:ext cx="1346591" cy="306407"/>
          </a:xfrm>
        </p:spPr>
        <p:txBody>
          <a:bodyPr/>
          <a:lstStyle/>
          <a:p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NFA Continues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6934" y="577801"/>
            <a:ext cx="8946541" cy="4195481"/>
          </a:xfrm>
        </p:spPr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 = All words that start with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and end with bb are valid.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 = {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babb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baabb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babbb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baaabb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baabbb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…………}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 =           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61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562283" y="1431655"/>
            <a:ext cx="8971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a+b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)*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11" name="Group 38"/>
          <p:cNvGrpSpPr/>
          <p:nvPr/>
        </p:nvGrpSpPr>
        <p:grpSpPr>
          <a:xfrm>
            <a:off x="618945" y="3275272"/>
            <a:ext cx="5909095" cy="1258157"/>
            <a:chOff x="733245" y="2202610"/>
            <a:chExt cx="5909095" cy="1258157"/>
          </a:xfrm>
        </p:grpSpPr>
        <p:sp>
          <p:nvSpPr>
            <p:cNvPr id="6" name="Oval 5"/>
            <p:cNvSpPr/>
            <p:nvPr/>
          </p:nvSpPr>
          <p:spPr>
            <a:xfrm>
              <a:off x="1173192" y="2958860"/>
              <a:ext cx="560717" cy="48307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x0</a:t>
              </a:r>
              <a:endParaRPr lang="en-US" sz="16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" name="Oval 6"/>
            <p:cNvSpPr/>
            <p:nvPr/>
          </p:nvSpPr>
          <p:spPr>
            <a:xfrm>
              <a:off x="2360761" y="2930103"/>
              <a:ext cx="560717" cy="48307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x1</a:t>
              </a:r>
              <a:endParaRPr lang="en-US" sz="16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" name="Oval 7"/>
            <p:cNvSpPr/>
            <p:nvPr/>
          </p:nvSpPr>
          <p:spPr>
            <a:xfrm>
              <a:off x="3565585" y="2927230"/>
              <a:ext cx="560717" cy="48307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x2</a:t>
              </a:r>
              <a:endParaRPr lang="en-US" sz="16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" name="Oval 8"/>
            <p:cNvSpPr/>
            <p:nvPr/>
          </p:nvSpPr>
          <p:spPr>
            <a:xfrm>
              <a:off x="4770407" y="2898475"/>
              <a:ext cx="560717" cy="48307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x3</a:t>
              </a:r>
              <a:endParaRPr lang="en-US" sz="1600" dirty="0"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12" name="Group 15"/>
            <p:cNvGrpSpPr/>
            <p:nvPr/>
          </p:nvGrpSpPr>
          <p:grpSpPr>
            <a:xfrm>
              <a:off x="5934973" y="2786331"/>
              <a:ext cx="707367" cy="638355"/>
              <a:chOff x="6478436" y="3209026"/>
              <a:chExt cx="707367" cy="638355"/>
            </a:xfrm>
          </p:grpSpPr>
          <p:sp>
            <p:nvSpPr>
              <p:cNvPr id="10" name="Oval 9">
                <a:extLst>
                  <a:ext uri="{FF2B5EF4-FFF2-40B4-BE49-F238E27FC236}">
                    <a16:creationId xmlns="" xmlns:a16="http://schemas.microsoft.com/office/drawing/2014/main" id="{1A90B709-A6EF-4AF3-8058-50CF1F57FBE0}"/>
                  </a:ext>
                </a:extLst>
              </p:cNvPr>
              <p:cNvSpPr/>
              <p:nvPr/>
            </p:nvSpPr>
            <p:spPr>
              <a:xfrm>
                <a:off x="6478436" y="3209026"/>
                <a:ext cx="707367" cy="638355"/>
              </a:xfrm>
              <a:prstGeom prst="ellips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5" name="Oval 14"/>
              <p:cNvSpPr/>
              <p:nvPr/>
            </p:nvSpPr>
            <p:spPr>
              <a:xfrm>
                <a:off x="6544573" y="3283789"/>
                <a:ext cx="560717" cy="483079"/>
              </a:xfrm>
              <a:prstGeom prst="ellips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 smtClean="0">
                    <a:latin typeface="Times New Roman" pitchFamily="18" charset="0"/>
                    <a:cs typeface="Times New Roman" pitchFamily="18" charset="0"/>
                  </a:rPr>
                  <a:t>x4</a:t>
                </a:r>
                <a:endParaRPr lang="en-US" sz="16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cxnSp>
          <p:nvCxnSpPr>
            <p:cNvPr id="18" name="Straight Arrow Connector 17"/>
            <p:cNvCxnSpPr/>
            <p:nvPr/>
          </p:nvCxnSpPr>
          <p:spPr>
            <a:xfrm flipV="1">
              <a:off x="1759790" y="3183149"/>
              <a:ext cx="595223" cy="17252"/>
            </a:xfrm>
            <a:prstGeom prst="straightConnector1">
              <a:avLst/>
            </a:prstGeom>
            <a:ln w="1905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/>
            <p:nvPr/>
          </p:nvCxnSpPr>
          <p:spPr>
            <a:xfrm>
              <a:off x="733245" y="3209026"/>
              <a:ext cx="402571" cy="7335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/>
            <p:nvPr/>
          </p:nvCxnSpPr>
          <p:spPr>
            <a:xfrm flipV="1">
              <a:off x="2938731" y="3163018"/>
              <a:ext cx="595223" cy="17252"/>
            </a:xfrm>
            <a:prstGeom prst="straightConnector1">
              <a:avLst/>
            </a:prstGeom>
            <a:ln w="1905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/>
            <p:nvPr/>
          </p:nvCxnSpPr>
          <p:spPr>
            <a:xfrm flipV="1">
              <a:off x="5333998" y="3117013"/>
              <a:ext cx="595223" cy="17252"/>
            </a:xfrm>
            <a:prstGeom prst="straightConnector1">
              <a:avLst/>
            </a:prstGeom>
            <a:ln w="1905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/>
            <p:nvPr/>
          </p:nvCxnSpPr>
          <p:spPr>
            <a:xfrm flipV="1">
              <a:off x="4166558" y="3140016"/>
              <a:ext cx="595223" cy="17252"/>
            </a:xfrm>
            <a:prstGeom prst="straightConnector1">
              <a:avLst/>
            </a:prstGeom>
            <a:ln w="1905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="" xmlns:a16="http://schemas.microsoft.com/office/drawing/2014/main" id="{B21A631C-D2FE-49B1-8957-E25DAB8A74E9}"/>
                </a:ext>
              </a:extLst>
            </p:cNvPr>
            <p:cNvSpPr txBox="1"/>
            <p:nvPr/>
          </p:nvSpPr>
          <p:spPr>
            <a:xfrm>
              <a:off x="2986817" y="2787657"/>
              <a:ext cx="2359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="" xmlns:a16="http://schemas.microsoft.com/office/drawing/2014/main" id="{B21A631C-D2FE-49B1-8957-E25DAB8A74E9}"/>
                </a:ext>
              </a:extLst>
            </p:cNvPr>
            <p:cNvSpPr txBox="1"/>
            <p:nvPr/>
          </p:nvSpPr>
          <p:spPr>
            <a:xfrm>
              <a:off x="1827836" y="2785444"/>
              <a:ext cx="2359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="" xmlns:a16="http://schemas.microsoft.com/office/drawing/2014/main" id="{B21A631C-D2FE-49B1-8957-E25DAB8A74E9}"/>
                </a:ext>
              </a:extLst>
            </p:cNvPr>
            <p:cNvSpPr txBox="1"/>
            <p:nvPr/>
          </p:nvSpPr>
          <p:spPr>
            <a:xfrm>
              <a:off x="5404757" y="2722184"/>
              <a:ext cx="2359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="" xmlns:a16="http://schemas.microsoft.com/office/drawing/2014/main" id="{B21A631C-D2FE-49B1-8957-E25DAB8A74E9}"/>
                </a:ext>
              </a:extLst>
            </p:cNvPr>
            <p:cNvSpPr txBox="1"/>
            <p:nvPr/>
          </p:nvSpPr>
          <p:spPr>
            <a:xfrm>
              <a:off x="4211437" y="2762937"/>
              <a:ext cx="2359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" name="Arc 31">
              <a:extLst>
                <a:ext uri="{FF2B5EF4-FFF2-40B4-BE49-F238E27FC236}">
                  <a16:creationId xmlns="" xmlns:a16="http://schemas.microsoft.com/office/drawing/2014/main" id="{4A9D3AB6-108E-4062-B22C-A1FC38CC204A}"/>
                </a:ext>
              </a:extLst>
            </p:cNvPr>
            <p:cNvSpPr/>
            <p:nvPr/>
          </p:nvSpPr>
          <p:spPr>
            <a:xfrm>
              <a:off x="3641805" y="2605177"/>
              <a:ext cx="408846" cy="855590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TextBox 32">
              <a:extLst>
                <a:ext uri="{FF2B5EF4-FFF2-40B4-BE49-F238E27FC236}">
                  <a16:creationId xmlns="" xmlns:a16="http://schemas.microsoft.com/office/drawing/2014/main" id="{B21A631C-D2FE-49B1-8957-E25DAB8A74E9}"/>
                </a:ext>
              </a:extLst>
            </p:cNvPr>
            <p:cNvSpPr txBox="1"/>
            <p:nvPr/>
          </p:nvSpPr>
          <p:spPr>
            <a:xfrm>
              <a:off x="3585908" y="2202610"/>
              <a:ext cx="74455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a/b</a:t>
              </a:r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4" name="TextBox 33"/>
          <p:cNvSpPr txBox="1"/>
          <p:nvPr/>
        </p:nvSpPr>
        <p:spPr>
          <a:xfrm>
            <a:off x="2260572" y="1443377"/>
            <a:ext cx="5098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bb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277932" y="1411139"/>
            <a:ext cx="4541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ba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88140" y="1946364"/>
            <a:ext cx="25036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Input :  </a:t>
            </a: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baba</a:t>
            </a:r>
            <a:r>
              <a:rPr lang="en-US" sz="2000" b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babb</a:t>
            </a: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13" name="Group 26">
            <a:extLst>
              <a:ext uri="{FF2B5EF4-FFF2-40B4-BE49-F238E27FC236}">
                <a16:creationId xmlns="" xmlns:a16="http://schemas.microsoft.com/office/drawing/2014/main" id="{8D3C0EC3-1E6A-436B-B406-38A549AC7268}"/>
              </a:ext>
            </a:extLst>
          </p:cNvPr>
          <p:cNvGrpSpPr/>
          <p:nvPr/>
        </p:nvGrpSpPr>
        <p:grpSpPr>
          <a:xfrm rot="10800000">
            <a:off x="3378686" y="4555434"/>
            <a:ext cx="711403" cy="888332"/>
            <a:chOff x="6815615" y="2509921"/>
            <a:chExt cx="711403" cy="700772"/>
          </a:xfrm>
        </p:grpSpPr>
        <p:sp>
          <p:nvSpPr>
            <p:cNvPr id="37" name="Arrow: Up 57">
              <a:extLst>
                <a:ext uri="{FF2B5EF4-FFF2-40B4-BE49-F238E27FC236}">
                  <a16:creationId xmlns="" xmlns:a16="http://schemas.microsoft.com/office/drawing/2014/main" id="{E93022AA-FD9E-4354-A4A7-DF5F91C23E96}"/>
                </a:ext>
              </a:extLst>
            </p:cNvPr>
            <p:cNvSpPr/>
            <p:nvPr/>
          </p:nvSpPr>
          <p:spPr>
            <a:xfrm rot="10800000">
              <a:off x="7079191" y="2801785"/>
              <a:ext cx="156744" cy="408908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8" name="TextBox 37">
              <a:extLst>
                <a:ext uri="{FF2B5EF4-FFF2-40B4-BE49-F238E27FC236}">
                  <a16:creationId xmlns="" xmlns:a16="http://schemas.microsoft.com/office/drawing/2014/main" id="{BAF74065-B1AC-4D5B-9613-553AA58A4378}"/>
                </a:ext>
              </a:extLst>
            </p:cNvPr>
            <p:cNvSpPr txBox="1"/>
            <p:nvPr/>
          </p:nvSpPr>
          <p:spPr>
            <a:xfrm rot="10800000">
              <a:off x="6815615" y="2509921"/>
              <a:ext cx="711403" cy="2670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CS-1</a:t>
              </a:r>
            </a:p>
          </p:txBody>
        </p:sp>
      </p:grpSp>
      <p:sp>
        <p:nvSpPr>
          <p:cNvPr id="39" name="TextBox 38"/>
          <p:cNvSpPr txBox="1"/>
          <p:nvPr/>
        </p:nvSpPr>
        <p:spPr>
          <a:xfrm>
            <a:off x="7921869" y="1582615"/>
            <a:ext cx="1213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accent3">
                    <a:lumMod val="75000"/>
                  </a:schemeClr>
                </a:solidFill>
              </a:rPr>
              <a:t>CS-1 = x0</a:t>
            </a:r>
            <a:endParaRPr lang="en-US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8927126" y="1559168"/>
            <a:ext cx="5158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accent3">
                    <a:lumMod val="75000"/>
                  </a:schemeClr>
                </a:solidFill>
              </a:rPr>
              <a:t> x1</a:t>
            </a:r>
            <a:endParaRPr lang="en-US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41" name="Multiply 40"/>
          <p:cNvSpPr/>
          <p:nvPr/>
        </p:nvSpPr>
        <p:spPr>
          <a:xfrm>
            <a:off x="8765930" y="1626579"/>
            <a:ext cx="211015" cy="307731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42" name="Multiply 41"/>
          <p:cNvSpPr/>
          <p:nvPr/>
        </p:nvSpPr>
        <p:spPr>
          <a:xfrm>
            <a:off x="9076587" y="1620722"/>
            <a:ext cx="211015" cy="307731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43" name="TextBox 42"/>
          <p:cNvSpPr txBox="1"/>
          <p:nvPr/>
        </p:nvSpPr>
        <p:spPr>
          <a:xfrm>
            <a:off x="9193829" y="1553308"/>
            <a:ext cx="5158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accent3">
                    <a:lumMod val="75000"/>
                  </a:schemeClr>
                </a:solidFill>
              </a:rPr>
              <a:t> x2</a:t>
            </a:r>
            <a:endParaRPr lang="en-US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7916010" y="1998784"/>
            <a:ext cx="1213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accent3">
                    <a:lumMod val="75000"/>
                  </a:schemeClr>
                </a:solidFill>
              </a:rPr>
              <a:t>CS-2 = x3</a:t>
            </a:r>
            <a:endParaRPr lang="en-US" dirty="0">
              <a:solidFill>
                <a:schemeClr val="accent3">
                  <a:lumMod val="75000"/>
                </a:schemeClr>
              </a:solidFill>
            </a:endParaRPr>
          </a:p>
        </p:txBody>
      </p:sp>
      <p:cxnSp>
        <p:nvCxnSpPr>
          <p:cNvPr id="45" name="Straight Arrow Connector 44"/>
          <p:cNvCxnSpPr/>
          <p:nvPr/>
        </p:nvCxnSpPr>
        <p:spPr>
          <a:xfrm flipV="1">
            <a:off x="8792306" y="2170375"/>
            <a:ext cx="595223" cy="17252"/>
          </a:xfrm>
          <a:prstGeom prst="straightConnector1">
            <a:avLst/>
          </a:prstGeom>
          <a:ln w="1905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Multiply 45"/>
          <p:cNvSpPr/>
          <p:nvPr/>
        </p:nvSpPr>
        <p:spPr>
          <a:xfrm>
            <a:off x="9419492" y="2007579"/>
            <a:ext cx="211015" cy="307731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1296" y="0"/>
            <a:ext cx="1346591" cy="306407"/>
          </a:xfrm>
        </p:spPr>
        <p:txBody>
          <a:bodyPr/>
          <a:lstStyle/>
          <a:p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NFA Continues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6934" y="577801"/>
            <a:ext cx="8946541" cy="4195481"/>
          </a:xfrm>
        </p:spPr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 = All words that start with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and end with bb are valid.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 = {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babb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baabb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babbb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baaabb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baabbb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…………}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 =           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62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562283" y="1431655"/>
            <a:ext cx="8971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a+b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)*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11" name="Group 38"/>
          <p:cNvGrpSpPr/>
          <p:nvPr/>
        </p:nvGrpSpPr>
        <p:grpSpPr>
          <a:xfrm>
            <a:off x="618945" y="3275272"/>
            <a:ext cx="5909095" cy="1258157"/>
            <a:chOff x="733245" y="2202610"/>
            <a:chExt cx="5909095" cy="1258157"/>
          </a:xfrm>
        </p:grpSpPr>
        <p:sp>
          <p:nvSpPr>
            <p:cNvPr id="6" name="Oval 5"/>
            <p:cNvSpPr/>
            <p:nvPr/>
          </p:nvSpPr>
          <p:spPr>
            <a:xfrm>
              <a:off x="1173192" y="2958860"/>
              <a:ext cx="560717" cy="48307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x0</a:t>
              </a:r>
              <a:endParaRPr lang="en-US" sz="16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" name="Oval 6"/>
            <p:cNvSpPr/>
            <p:nvPr/>
          </p:nvSpPr>
          <p:spPr>
            <a:xfrm>
              <a:off x="2360761" y="2930103"/>
              <a:ext cx="560717" cy="48307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x1</a:t>
              </a:r>
              <a:endParaRPr lang="en-US" sz="16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" name="Oval 7"/>
            <p:cNvSpPr/>
            <p:nvPr/>
          </p:nvSpPr>
          <p:spPr>
            <a:xfrm>
              <a:off x="3565585" y="2927230"/>
              <a:ext cx="560717" cy="48307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x2</a:t>
              </a:r>
              <a:endParaRPr lang="en-US" sz="16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" name="Oval 8"/>
            <p:cNvSpPr/>
            <p:nvPr/>
          </p:nvSpPr>
          <p:spPr>
            <a:xfrm>
              <a:off x="4770407" y="2898475"/>
              <a:ext cx="560717" cy="48307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x3</a:t>
              </a:r>
              <a:endParaRPr lang="en-US" sz="1600" dirty="0"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12" name="Group 15"/>
            <p:cNvGrpSpPr/>
            <p:nvPr/>
          </p:nvGrpSpPr>
          <p:grpSpPr>
            <a:xfrm>
              <a:off x="5934973" y="2786331"/>
              <a:ext cx="707367" cy="638355"/>
              <a:chOff x="6478436" y="3209026"/>
              <a:chExt cx="707367" cy="638355"/>
            </a:xfrm>
          </p:grpSpPr>
          <p:sp>
            <p:nvSpPr>
              <p:cNvPr id="10" name="Oval 9">
                <a:extLst>
                  <a:ext uri="{FF2B5EF4-FFF2-40B4-BE49-F238E27FC236}">
                    <a16:creationId xmlns="" xmlns:a16="http://schemas.microsoft.com/office/drawing/2014/main" id="{1A90B709-A6EF-4AF3-8058-50CF1F57FBE0}"/>
                  </a:ext>
                </a:extLst>
              </p:cNvPr>
              <p:cNvSpPr/>
              <p:nvPr/>
            </p:nvSpPr>
            <p:spPr>
              <a:xfrm>
                <a:off x="6478436" y="3209026"/>
                <a:ext cx="707367" cy="638355"/>
              </a:xfrm>
              <a:prstGeom prst="ellips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5" name="Oval 14"/>
              <p:cNvSpPr/>
              <p:nvPr/>
            </p:nvSpPr>
            <p:spPr>
              <a:xfrm>
                <a:off x="6544573" y="3283789"/>
                <a:ext cx="560717" cy="483079"/>
              </a:xfrm>
              <a:prstGeom prst="ellips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 smtClean="0">
                    <a:latin typeface="Times New Roman" pitchFamily="18" charset="0"/>
                    <a:cs typeface="Times New Roman" pitchFamily="18" charset="0"/>
                  </a:rPr>
                  <a:t>x4</a:t>
                </a:r>
                <a:endParaRPr lang="en-US" sz="16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cxnSp>
          <p:nvCxnSpPr>
            <p:cNvPr id="18" name="Straight Arrow Connector 17"/>
            <p:cNvCxnSpPr/>
            <p:nvPr/>
          </p:nvCxnSpPr>
          <p:spPr>
            <a:xfrm flipV="1">
              <a:off x="1759790" y="3183149"/>
              <a:ext cx="595223" cy="17252"/>
            </a:xfrm>
            <a:prstGeom prst="straightConnector1">
              <a:avLst/>
            </a:prstGeom>
            <a:ln w="1905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/>
            <p:nvPr/>
          </p:nvCxnSpPr>
          <p:spPr>
            <a:xfrm>
              <a:off x="733245" y="3209026"/>
              <a:ext cx="402571" cy="7335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/>
            <p:nvPr/>
          </p:nvCxnSpPr>
          <p:spPr>
            <a:xfrm flipV="1">
              <a:off x="2938731" y="3163018"/>
              <a:ext cx="595223" cy="17252"/>
            </a:xfrm>
            <a:prstGeom prst="straightConnector1">
              <a:avLst/>
            </a:prstGeom>
            <a:ln w="1905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/>
            <p:nvPr/>
          </p:nvCxnSpPr>
          <p:spPr>
            <a:xfrm flipV="1">
              <a:off x="5333998" y="3117013"/>
              <a:ext cx="595223" cy="17252"/>
            </a:xfrm>
            <a:prstGeom prst="straightConnector1">
              <a:avLst/>
            </a:prstGeom>
            <a:ln w="1905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/>
            <p:nvPr/>
          </p:nvCxnSpPr>
          <p:spPr>
            <a:xfrm flipV="1">
              <a:off x="4166558" y="3140016"/>
              <a:ext cx="595223" cy="17252"/>
            </a:xfrm>
            <a:prstGeom prst="straightConnector1">
              <a:avLst/>
            </a:prstGeom>
            <a:ln w="1905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="" xmlns:a16="http://schemas.microsoft.com/office/drawing/2014/main" id="{B21A631C-D2FE-49B1-8957-E25DAB8A74E9}"/>
                </a:ext>
              </a:extLst>
            </p:cNvPr>
            <p:cNvSpPr txBox="1"/>
            <p:nvPr/>
          </p:nvSpPr>
          <p:spPr>
            <a:xfrm>
              <a:off x="2986817" y="2787657"/>
              <a:ext cx="2359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="" xmlns:a16="http://schemas.microsoft.com/office/drawing/2014/main" id="{B21A631C-D2FE-49B1-8957-E25DAB8A74E9}"/>
                </a:ext>
              </a:extLst>
            </p:cNvPr>
            <p:cNvSpPr txBox="1"/>
            <p:nvPr/>
          </p:nvSpPr>
          <p:spPr>
            <a:xfrm>
              <a:off x="1827836" y="2785444"/>
              <a:ext cx="2359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="" xmlns:a16="http://schemas.microsoft.com/office/drawing/2014/main" id="{B21A631C-D2FE-49B1-8957-E25DAB8A74E9}"/>
                </a:ext>
              </a:extLst>
            </p:cNvPr>
            <p:cNvSpPr txBox="1"/>
            <p:nvPr/>
          </p:nvSpPr>
          <p:spPr>
            <a:xfrm>
              <a:off x="5404757" y="2722184"/>
              <a:ext cx="2359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="" xmlns:a16="http://schemas.microsoft.com/office/drawing/2014/main" id="{B21A631C-D2FE-49B1-8957-E25DAB8A74E9}"/>
                </a:ext>
              </a:extLst>
            </p:cNvPr>
            <p:cNvSpPr txBox="1"/>
            <p:nvPr/>
          </p:nvSpPr>
          <p:spPr>
            <a:xfrm>
              <a:off x="4211437" y="2762937"/>
              <a:ext cx="2359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" name="Arc 31">
              <a:extLst>
                <a:ext uri="{FF2B5EF4-FFF2-40B4-BE49-F238E27FC236}">
                  <a16:creationId xmlns="" xmlns:a16="http://schemas.microsoft.com/office/drawing/2014/main" id="{4A9D3AB6-108E-4062-B22C-A1FC38CC204A}"/>
                </a:ext>
              </a:extLst>
            </p:cNvPr>
            <p:cNvSpPr/>
            <p:nvPr/>
          </p:nvSpPr>
          <p:spPr>
            <a:xfrm>
              <a:off x="3641805" y="2605177"/>
              <a:ext cx="408846" cy="855590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TextBox 32">
              <a:extLst>
                <a:ext uri="{FF2B5EF4-FFF2-40B4-BE49-F238E27FC236}">
                  <a16:creationId xmlns="" xmlns:a16="http://schemas.microsoft.com/office/drawing/2014/main" id="{B21A631C-D2FE-49B1-8957-E25DAB8A74E9}"/>
                </a:ext>
              </a:extLst>
            </p:cNvPr>
            <p:cNvSpPr txBox="1"/>
            <p:nvPr/>
          </p:nvSpPr>
          <p:spPr>
            <a:xfrm>
              <a:off x="3585908" y="2202610"/>
              <a:ext cx="74455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a/b</a:t>
              </a:r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4" name="TextBox 33"/>
          <p:cNvSpPr txBox="1"/>
          <p:nvPr/>
        </p:nvSpPr>
        <p:spPr>
          <a:xfrm>
            <a:off x="2260572" y="1443377"/>
            <a:ext cx="5098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bb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277932" y="1411139"/>
            <a:ext cx="4541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ba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88140" y="1946364"/>
            <a:ext cx="25036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Input :  </a:t>
            </a: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baba</a:t>
            </a:r>
            <a:r>
              <a:rPr lang="en-US" sz="2000" b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babb</a:t>
            </a: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13" name="Group 26">
            <a:extLst>
              <a:ext uri="{FF2B5EF4-FFF2-40B4-BE49-F238E27FC236}">
                <a16:creationId xmlns="" xmlns:a16="http://schemas.microsoft.com/office/drawing/2014/main" id="{8D3C0EC3-1E6A-436B-B406-38A549AC7268}"/>
              </a:ext>
            </a:extLst>
          </p:cNvPr>
          <p:cNvGrpSpPr/>
          <p:nvPr/>
        </p:nvGrpSpPr>
        <p:grpSpPr>
          <a:xfrm rot="10800000">
            <a:off x="3378686" y="4555434"/>
            <a:ext cx="711403" cy="888332"/>
            <a:chOff x="6815615" y="2509921"/>
            <a:chExt cx="711403" cy="700772"/>
          </a:xfrm>
        </p:grpSpPr>
        <p:sp>
          <p:nvSpPr>
            <p:cNvPr id="37" name="Arrow: Up 57">
              <a:extLst>
                <a:ext uri="{FF2B5EF4-FFF2-40B4-BE49-F238E27FC236}">
                  <a16:creationId xmlns="" xmlns:a16="http://schemas.microsoft.com/office/drawing/2014/main" id="{E93022AA-FD9E-4354-A4A7-DF5F91C23E96}"/>
                </a:ext>
              </a:extLst>
            </p:cNvPr>
            <p:cNvSpPr/>
            <p:nvPr/>
          </p:nvSpPr>
          <p:spPr>
            <a:xfrm rot="10800000">
              <a:off x="7079191" y="2801785"/>
              <a:ext cx="156744" cy="408908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8" name="TextBox 37">
              <a:extLst>
                <a:ext uri="{FF2B5EF4-FFF2-40B4-BE49-F238E27FC236}">
                  <a16:creationId xmlns="" xmlns:a16="http://schemas.microsoft.com/office/drawing/2014/main" id="{BAF74065-B1AC-4D5B-9613-553AA58A4378}"/>
                </a:ext>
              </a:extLst>
            </p:cNvPr>
            <p:cNvSpPr txBox="1"/>
            <p:nvPr/>
          </p:nvSpPr>
          <p:spPr>
            <a:xfrm rot="10800000">
              <a:off x="6815615" y="2509921"/>
              <a:ext cx="711403" cy="2670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CS-1</a:t>
              </a:r>
            </a:p>
          </p:txBody>
        </p:sp>
      </p:grpSp>
      <p:grpSp>
        <p:nvGrpSpPr>
          <p:cNvPr id="14" name="Group 26">
            <a:extLst>
              <a:ext uri="{FF2B5EF4-FFF2-40B4-BE49-F238E27FC236}">
                <a16:creationId xmlns="" xmlns:a16="http://schemas.microsoft.com/office/drawing/2014/main" id="{8D3C0EC3-1E6A-436B-B406-38A549AC7268}"/>
              </a:ext>
            </a:extLst>
          </p:cNvPr>
          <p:cNvGrpSpPr/>
          <p:nvPr/>
        </p:nvGrpSpPr>
        <p:grpSpPr>
          <a:xfrm>
            <a:off x="4594956" y="3037295"/>
            <a:ext cx="711403" cy="888332"/>
            <a:chOff x="6815615" y="2509921"/>
            <a:chExt cx="711403" cy="700772"/>
          </a:xfrm>
        </p:grpSpPr>
        <p:sp>
          <p:nvSpPr>
            <p:cNvPr id="40" name="Arrow: Up 57">
              <a:extLst>
                <a:ext uri="{FF2B5EF4-FFF2-40B4-BE49-F238E27FC236}">
                  <a16:creationId xmlns="" xmlns:a16="http://schemas.microsoft.com/office/drawing/2014/main" id="{E93022AA-FD9E-4354-A4A7-DF5F91C23E96}"/>
                </a:ext>
              </a:extLst>
            </p:cNvPr>
            <p:cNvSpPr/>
            <p:nvPr/>
          </p:nvSpPr>
          <p:spPr>
            <a:xfrm rot="10800000">
              <a:off x="7079191" y="2801785"/>
              <a:ext cx="156744" cy="408908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="" xmlns:a16="http://schemas.microsoft.com/office/drawing/2014/main" id="{BAF74065-B1AC-4D5B-9613-553AA58A4378}"/>
                </a:ext>
              </a:extLst>
            </p:cNvPr>
            <p:cNvSpPr txBox="1"/>
            <p:nvPr/>
          </p:nvSpPr>
          <p:spPr>
            <a:xfrm>
              <a:off x="6815615" y="2509921"/>
              <a:ext cx="711403" cy="2670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 smtClean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CS-3</a:t>
              </a:r>
              <a:endParaRPr lang="en-US" sz="16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9" name="TextBox 38"/>
          <p:cNvSpPr txBox="1"/>
          <p:nvPr/>
        </p:nvSpPr>
        <p:spPr>
          <a:xfrm>
            <a:off x="7921869" y="1582615"/>
            <a:ext cx="1213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accent3">
                    <a:lumMod val="75000"/>
                  </a:schemeClr>
                </a:solidFill>
              </a:rPr>
              <a:t>CS-1 = x0</a:t>
            </a:r>
            <a:endParaRPr lang="en-US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8927126" y="1559168"/>
            <a:ext cx="5158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accent3">
                    <a:lumMod val="75000"/>
                  </a:schemeClr>
                </a:solidFill>
              </a:rPr>
              <a:t> x1</a:t>
            </a:r>
            <a:endParaRPr lang="en-US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43" name="Multiply 42"/>
          <p:cNvSpPr/>
          <p:nvPr/>
        </p:nvSpPr>
        <p:spPr>
          <a:xfrm>
            <a:off x="8765930" y="1626579"/>
            <a:ext cx="211015" cy="307731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44" name="Multiply 43"/>
          <p:cNvSpPr/>
          <p:nvPr/>
        </p:nvSpPr>
        <p:spPr>
          <a:xfrm>
            <a:off x="9076587" y="1620722"/>
            <a:ext cx="211015" cy="307731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45" name="TextBox 44"/>
          <p:cNvSpPr txBox="1"/>
          <p:nvPr/>
        </p:nvSpPr>
        <p:spPr>
          <a:xfrm>
            <a:off x="9193829" y="1553308"/>
            <a:ext cx="5158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accent3">
                    <a:lumMod val="75000"/>
                  </a:schemeClr>
                </a:solidFill>
              </a:rPr>
              <a:t> x2</a:t>
            </a:r>
            <a:endParaRPr lang="en-US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7916010" y="1998784"/>
            <a:ext cx="1213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accent3">
                    <a:lumMod val="75000"/>
                  </a:schemeClr>
                </a:solidFill>
              </a:rPr>
              <a:t>CS-2 = x3</a:t>
            </a:r>
            <a:endParaRPr lang="en-US" dirty="0">
              <a:solidFill>
                <a:schemeClr val="accent3">
                  <a:lumMod val="75000"/>
                </a:schemeClr>
              </a:solidFill>
            </a:endParaRPr>
          </a:p>
        </p:txBody>
      </p:sp>
      <p:cxnSp>
        <p:nvCxnSpPr>
          <p:cNvPr id="47" name="Straight Arrow Connector 46"/>
          <p:cNvCxnSpPr/>
          <p:nvPr/>
        </p:nvCxnSpPr>
        <p:spPr>
          <a:xfrm flipV="1">
            <a:off x="8792306" y="2170375"/>
            <a:ext cx="595223" cy="17252"/>
          </a:xfrm>
          <a:prstGeom prst="straightConnector1">
            <a:avLst/>
          </a:prstGeom>
          <a:ln w="1905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Multiply 47"/>
          <p:cNvSpPr/>
          <p:nvPr/>
        </p:nvSpPr>
        <p:spPr>
          <a:xfrm>
            <a:off x="9419492" y="2007579"/>
            <a:ext cx="211015" cy="307731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49" name="TextBox 48"/>
          <p:cNvSpPr txBox="1"/>
          <p:nvPr/>
        </p:nvSpPr>
        <p:spPr>
          <a:xfrm>
            <a:off x="7918946" y="2362192"/>
            <a:ext cx="1213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accent3">
                    <a:lumMod val="75000"/>
                  </a:schemeClr>
                </a:solidFill>
              </a:rPr>
              <a:t>CS-3 = x3</a:t>
            </a:r>
            <a:endParaRPr lang="en-US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1296" y="0"/>
            <a:ext cx="1346591" cy="306407"/>
          </a:xfrm>
        </p:spPr>
        <p:txBody>
          <a:bodyPr/>
          <a:lstStyle/>
          <a:p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NFA Continues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6934" y="577801"/>
            <a:ext cx="8946541" cy="4195481"/>
          </a:xfrm>
        </p:spPr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 = All words that start with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and end with bb are valid.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 = {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babb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baabb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babbb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baaabb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baabbb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…………}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 =           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63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562283" y="1431655"/>
            <a:ext cx="8971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a+b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)*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11" name="Group 38"/>
          <p:cNvGrpSpPr/>
          <p:nvPr/>
        </p:nvGrpSpPr>
        <p:grpSpPr>
          <a:xfrm>
            <a:off x="618945" y="3275272"/>
            <a:ext cx="5909095" cy="1258157"/>
            <a:chOff x="733245" y="2202610"/>
            <a:chExt cx="5909095" cy="1258157"/>
          </a:xfrm>
        </p:grpSpPr>
        <p:sp>
          <p:nvSpPr>
            <p:cNvPr id="6" name="Oval 5"/>
            <p:cNvSpPr/>
            <p:nvPr/>
          </p:nvSpPr>
          <p:spPr>
            <a:xfrm>
              <a:off x="1173192" y="2958860"/>
              <a:ext cx="560717" cy="48307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x0</a:t>
              </a:r>
              <a:endParaRPr lang="en-US" sz="16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" name="Oval 6"/>
            <p:cNvSpPr/>
            <p:nvPr/>
          </p:nvSpPr>
          <p:spPr>
            <a:xfrm>
              <a:off x="2360761" y="2930103"/>
              <a:ext cx="560717" cy="48307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x1</a:t>
              </a:r>
              <a:endParaRPr lang="en-US" sz="16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" name="Oval 7"/>
            <p:cNvSpPr/>
            <p:nvPr/>
          </p:nvSpPr>
          <p:spPr>
            <a:xfrm>
              <a:off x="3565585" y="2927230"/>
              <a:ext cx="560717" cy="48307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x2</a:t>
              </a:r>
              <a:endParaRPr lang="en-US" sz="16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" name="Oval 8"/>
            <p:cNvSpPr/>
            <p:nvPr/>
          </p:nvSpPr>
          <p:spPr>
            <a:xfrm>
              <a:off x="4770407" y="2898475"/>
              <a:ext cx="560717" cy="48307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x3</a:t>
              </a:r>
              <a:endParaRPr lang="en-US" sz="1600" dirty="0"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12" name="Group 15"/>
            <p:cNvGrpSpPr/>
            <p:nvPr/>
          </p:nvGrpSpPr>
          <p:grpSpPr>
            <a:xfrm>
              <a:off x="5934973" y="2786331"/>
              <a:ext cx="707367" cy="638355"/>
              <a:chOff x="6478436" y="3209026"/>
              <a:chExt cx="707367" cy="638355"/>
            </a:xfrm>
          </p:grpSpPr>
          <p:sp>
            <p:nvSpPr>
              <p:cNvPr id="10" name="Oval 9">
                <a:extLst>
                  <a:ext uri="{FF2B5EF4-FFF2-40B4-BE49-F238E27FC236}">
                    <a16:creationId xmlns="" xmlns:a16="http://schemas.microsoft.com/office/drawing/2014/main" id="{1A90B709-A6EF-4AF3-8058-50CF1F57FBE0}"/>
                  </a:ext>
                </a:extLst>
              </p:cNvPr>
              <p:cNvSpPr/>
              <p:nvPr/>
            </p:nvSpPr>
            <p:spPr>
              <a:xfrm>
                <a:off x="6478436" y="3209026"/>
                <a:ext cx="707367" cy="638355"/>
              </a:xfrm>
              <a:prstGeom prst="ellips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5" name="Oval 14"/>
              <p:cNvSpPr/>
              <p:nvPr/>
            </p:nvSpPr>
            <p:spPr>
              <a:xfrm>
                <a:off x="6544573" y="3283789"/>
                <a:ext cx="560717" cy="483079"/>
              </a:xfrm>
              <a:prstGeom prst="ellips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 smtClean="0">
                    <a:latin typeface="Times New Roman" pitchFamily="18" charset="0"/>
                    <a:cs typeface="Times New Roman" pitchFamily="18" charset="0"/>
                  </a:rPr>
                  <a:t>x4</a:t>
                </a:r>
                <a:endParaRPr lang="en-US" sz="16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cxnSp>
          <p:nvCxnSpPr>
            <p:cNvPr id="18" name="Straight Arrow Connector 17"/>
            <p:cNvCxnSpPr/>
            <p:nvPr/>
          </p:nvCxnSpPr>
          <p:spPr>
            <a:xfrm flipV="1">
              <a:off x="1759790" y="3183149"/>
              <a:ext cx="595223" cy="17252"/>
            </a:xfrm>
            <a:prstGeom prst="straightConnector1">
              <a:avLst/>
            </a:prstGeom>
            <a:ln w="1905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/>
            <p:nvPr/>
          </p:nvCxnSpPr>
          <p:spPr>
            <a:xfrm>
              <a:off x="733245" y="3209026"/>
              <a:ext cx="402571" cy="7335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/>
            <p:nvPr/>
          </p:nvCxnSpPr>
          <p:spPr>
            <a:xfrm flipV="1">
              <a:off x="2938731" y="3163018"/>
              <a:ext cx="595223" cy="17252"/>
            </a:xfrm>
            <a:prstGeom prst="straightConnector1">
              <a:avLst/>
            </a:prstGeom>
            <a:ln w="1905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/>
            <p:nvPr/>
          </p:nvCxnSpPr>
          <p:spPr>
            <a:xfrm flipV="1">
              <a:off x="5333998" y="3117013"/>
              <a:ext cx="595223" cy="17252"/>
            </a:xfrm>
            <a:prstGeom prst="straightConnector1">
              <a:avLst/>
            </a:prstGeom>
            <a:ln w="1905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/>
            <p:nvPr/>
          </p:nvCxnSpPr>
          <p:spPr>
            <a:xfrm flipV="1">
              <a:off x="4166558" y="3140016"/>
              <a:ext cx="595223" cy="17252"/>
            </a:xfrm>
            <a:prstGeom prst="straightConnector1">
              <a:avLst/>
            </a:prstGeom>
            <a:ln w="1905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="" xmlns:a16="http://schemas.microsoft.com/office/drawing/2014/main" id="{B21A631C-D2FE-49B1-8957-E25DAB8A74E9}"/>
                </a:ext>
              </a:extLst>
            </p:cNvPr>
            <p:cNvSpPr txBox="1"/>
            <p:nvPr/>
          </p:nvSpPr>
          <p:spPr>
            <a:xfrm>
              <a:off x="2986817" y="2787657"/>
              <a:ext cx="2359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="" xmlns:a16="http://schemas.microsoft.com/office/drawing/2014/main" id="{B21A631C-D2FE-49B1-8957-E25DAB8A74E9}"/>
                </a:ext>
              </a:extLst>
            </p:cNvPr>
            <p:cNvSpPr txBox="1"/>
            <p:nvPr/>
          </p:nvSpPr>
          <p:spPr>
            <a:xfrm>
              <a:off x="1827836" y="2785444"/>
              <a:ext cx="2359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="" xmlns:a16="http://schemas.microsoft.com/office/drawing/2014/main" id="{B21A631C-D2FE-49B1-8957-E25DAB8A74E9}"/>
                </a:ext>
              </a:extLst>
            </p:cNvPr>
            <p:cNvSpPr txBox="1"/>
            <p:nvPr/>
          </p:nvSpPr>
          <p:spPr>
            <a:xfrm>
              <a:off x="5404757" y="2722184"/>
              <a:ext cx="2359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="" xmlns:a16="http://schemas.microsoft.com/office/drawing/2014/main" id="{B21A631C-D2FE-49B1-8957-E25DAB8A74E9}"/>
                </a:ext>
              </a:extLst>
            </p:cNvPr>
            <p:cNvSpPr txBox="1"/>
            <p:nvPr/>
          </p:nvSpPr>
          <p:spPr>
            <a:xfrm>
              <a:off x="4211437" y="2762937"/>
              <a:ext cx="2359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" name="Arc 31">
              <a:extLst>
                <a:ext uri="{FF2B5EF4-FFF2-40B4-BE49-F238E27FC236}">
                  <a16:creationId xmlns="" xmlns:a16="http://schemas.microsoft.com/office/drawing/2014/main" id="{4A9D3AB6-108E-4062-B22C-A1FC38CC204A}"/>
                </a:ext>
              </a:extLst>
            </p:cNvPr>
            <p:cNvSpPr/>
            <p:nvPr/>
          </p:nvSpPr>
          <p:spPr>
            <a:xfrm>
              <a:off x="3641805" y="2605177"/>
              <a:ext cx="408846" cy="855590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TextBox 32">
              <a:extLst>
                <a:ext uri="{FF2B5EF4-FFF2-40B4-BE49-F238E27FC236}">
                  <a16:creationId xmlns="" xmlns:a16="http://schemas.microsoft.com/office/drawing/2014/main" id="{B21A631C-D2FE-49B1-8957-E25DAB8A74E9}"/>
                </a:ext>
              </a:extLst>
            </p:cNvPr>
            <p:cNvSpPr txBox="1"/>
            <p:nvPr/>
          </p:nvSpPr>
          <p:spPr>
            <a:xfrm>
              <a:off x="3585908" y="2202610"/>
              <a:ext cx="74455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a/b</a:t>
              </a:r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4" name="TextBox 33"/>
          <p:cNvSpPr txBox="1"/>
          <p:nvPr/>
        </p:nvSpPr>
        <p:spPr>
          <a:xfrm>
            <a:off x="2260572" y="1443377"/>
            <a:ext cx="5098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bb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277932" y="1411139"/>
            <a:ext cx="4541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ba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88140" y="1946364"/>
            <a:ext cx="25036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Input :  </a:t>
            </a: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babab</a:t>
            </a:r>
            <a:r>
              <a:rPr lang="en-US" sz="2000" b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abb</a:t>
            </a: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13" name="Group 26">
            <a:extLst>
              <a:ext uri="{FF2B5EF4-FFF2-40B4-BE49-F238E27FC236}">
                <a16:creationId xmlns="" xmlns:a16="http://schemas.microsoft.com/office/drawing/2014/main" id="{8D3C0EC3-1E6A-436B-B406-38A549AC7268}"/>
              </a:ext>
            </a:extLst>
          </p:cNvPr>
          <p:cNvGrpSpPr/>
          <p:nvPr/>
        </p:nvGrpSpPr>
        <p:grpSpPr>
          <a:xfrm rot="10800000">
            <a:off x="3378686" y="4555434"/>
            <a:ext cx="711403" cy="888332"/>
            <a:chOff x="6815615" y="2509921"/>
            <a:chExt cx="711403" cy="700772"/>
          </a:xfrm>
        </p:grpSpPr>
        <p:sp>
          <p:nvSpPr>
            <p:cNvPr id="37" name="Arrow: Up 57">
              <a:extLst>
                <a:ext uri="{FF2B5EF4-FFF2-40B4-BE49-F238E27FC236}">
                  <a16:creationId xmlns="" xmlns:a16="http://schemas.microsoft.com/office/drawing/2014/main" id="{E93022AA-FD9E-4354-A4A7-DF5F91C23E96}"/>
                </a:ext>
              </a:extLst>
            </p:cNvPr>
            <p:cNvSpPr/>
            <p:nvPr/>
          </p:nvSpPr>
          <p:spPr>
            <a:xfrm rot="10800000">
              <a:off x="7079191" y="2801785"/>
              <a:ext cx="156744" cy="408908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8" name="TextBox 37">
              <a:extLst>
                <a:ext uri="{FF2B5EF4-FFF2-40B4-BE49-F238E27FC236}">
                  <a16:creationId xmlns="" xmlns:a16="http://schemas.microsoft.com/office/drawing/2014/main" id="{BAF74065-B1AC-4D5B-9613-553AA58A4378}"/>
                </a:ext>
              </a:extLst>
            </p:cNvPr>
            <p:cNvSpPr txBox="1"/>
            <p:nvPr/>
          </p:nvSpPr>
          <p:spPr>
            <a:xfrm rot="10800000">
              <a:off x="6815615" y="2509921"/>
              <a:ext cx="711403" cy="2670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CS-1</a:t>
              </a:r>
            </a:p>
          </p:txBody>
        </p:sp>
      </p:grpSp>
      <p:grpSp>
        <p:nvGrpSpPr>
          <p:cNvPr id="14" name="Group 26">
            <a:extLst>
              <a:ext uri="{FF2B5EF4-FFF2-40B4-BE49-F238E27FC236}">
                <a16:creationId xmlns="" xmlns:a16="http://schemas.microsoft.com/office/drawing/2014/main" id="{8D3C0EC3-1E6A-436B-B406-38A549AC7268}"/>
              </a:ext>
            </a:extLst>
          </p:cNvPr>
          <p:cNvGrpSpPr/>
          <p:nvPr/>
        </p:nvGrpSpPr>
        <p:grpSpPr>
          <a:xfrm>
            <a:off x="4594956" y="3037295"/>
            <a:ext cx="711403" cy="888332"/>
            <a:chOff x="6815615" y="2509921"/>
            <a:chExt cx="711403" cy="700772"/>
          </a:xfrm>
        </p:grpSpPr>
        <p:sp>
          <p:nvSpPr>
            <p:cNvPr id="40" name="Arrow: Up 57">
              <a:extLst>
                <a:ext uri="{FF2B5EF4-FFF2-40B4-BE49-F238E27FC236}">
                  <a16:creationId xmlns="" xmlns:a16="http://schemas.microsoft.com/office/drawing/2014/main" id="{E93022AA-FD9E-4354-A4A7-DF5F91C23E96}"/>
                </a:ext>
              </a:extLst>
            </p:cNvPr>
            <p:cNvSpPr/>
            <p:nvPr/>
          </p:nvSpPr>
          <p:spPr>
            <a:xfrm rot="10800000">
              <a:off x="7079191" y="2801785"/>
              <a:ext cx="156744" cy="408908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="" xmlns:a16="http://schemas.microsoft.com/office/drawing/2014/main" id="{BAF74065-B1AC-4D5B-9613-553AA58A4378}"/>
                </a:ext>
              </a:extLst>
            </p:cNvPr>
            <p:cNvSpPr txBox="1"/>
            <p:nvPr/>
          </p:nvSpPr>
          <p:spPr>
            <a:xfrm>
              <a:off x="6815615" y="2509921"/>
              <a:ext cx="711403" cy="2670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 smtClean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CS-3</a:t>
              </a:r>
              <a:endParaRPr lang="en-US" sz="16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9" name="TextBox 38"/>
          <p:cNvSpPr txBox="1"/>
          <p:nvPr/>
        </p:nvSpPr>
        <p:spPr>
          <a:xfrm>
            <a:off x="7921869" y="1582615"/>
            <a:ext cx="1213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accent3">
                    <a:lumMod val="75000"/>
                  </a:schemeClr>
                </a:solidFill>
              </a:rPr>
              <a:t>CS-1 = x0</a:t>
            </a:r>
            <a:endParaRPr lang="en-US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8927126" y="1559168"/>
            <a:ext cx="5158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accent3">
                    <a:lumMod val="75000"/>
                  </a:schemeClr>
                </a:solidFill>
              </a:rPr>
              <a:t> x1</a:t>
            </a:r>
            <a:endParaRPr lang="en-US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43" name="Multiply 42"/>
          <p:cNvSpPr/>
          <p:nvPr/>
        </p:nvSpPr>
        <p:spPr>
          <a:xfrm>
            <a:off x="8765930" y="1626579"/>
            <a:ext cx="211015" cy="307731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44" name="Multiply 43"/>
          <p:cNvSpPr/>
          <p:nvPr/>
        </p:nvSpPr>
        <p:spPr>
          <a:xfrm>
            <a:off x="9076587" y="1620722"/>
            <a:ext cx="211015" cy="307731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45" name="TextBox 44"/>
          <p:cNvSpPr txBox="1"/>
          <p:nvPr/>
        </p:nvSpPr>
        <p:spPr>
          <a:xfrm>
            <a:off x="9193829" y="1553308"/>
            <a:ext cx="5158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accent3">
                    <a:lumMod val="75000"/>
                  </a:schemeClr>
                </a:solidFill>
              </a:rPr>
              <a:t> x2</a:t>
            </a:r>
            <a:endParaRPr lang="en-US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7916010" y="1998784"/>
            <a:ext cx="1213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accent3">
                    <a:lumMod val="75000"/>
                  </a:schemeClr>
                </a:solidFill>
              </a:rPr>
              <a:t>CS-2 = x3</a:t>
            </a:r>
            <a:endParaRPr lang="en-US" dirty="0">
              <a:solidFill>
                <a:schemeClr val="accent3">
                  <a:lumMod val="75000"/>
                </a:schemeClr>
              </a:solidFill>
            </a:endParaRPr>
          </a:p>
        </p:txBody>
      </p:sp>
      <p:cxnSp>
        <p:nvCxnSpPr>
          <p:cNvPr id="47" name="Straight Arrow Connector 46"/>
          <p:cNvCxnSpPr/>
          <p:nvPr/>
        </p:nvCxnSpPr>
        <p:spPr>
          <a:xfrm flipV="1">
            <a:off x="8792306" y="2170375"/>
            <a:ext cx="595223" cy="17252"/>
          </a:xfrm>
          <a:prstGeom prst="straightConnector1">
            <a:avLst/>
          </a:prstGeom>
          <a:ln w="1905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Multiply 47"/>
          <p:cNvSpPr/>
          <p:nvPr/>
        </p:nvSpPr>
        <p:spPr>
          <a:xfrm>
            <a:off x="9419492" y="2007579"/>
            <a:ext cx="211015" cy="307731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49" name="TextBox 48"/>
          <p:cNvSpPr txBox="1"/>
          <p:nvPr/>
        </p:nvSpPr>
        <p:spPr>
          <a:xfrm>
            <a:off x="7918946" y="2362192"/>
            <a:ext cx="1213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accent3">
                    <a:lumMod val="75000"/>
                  </a:schemeClr>
                </a:solidFill>
              </a:rPr>
              <a:t>CS-3 = x3</a:t>
            </a:r>
            <a:endParaRPr lang="en-US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1296" y="0"/>
            <a:ext cx="1346591" cy="306407"/>
          </a:xfrm>
        </p:spPr>
        <p:txBody>
          <a:bodyPr/>
          <a:lstStyle/>
          <a:p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NFA Continues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6934" y="577801"/>
            <a:ext cx="8946541" cy="4195481"/>
          </a:xfrm>
        </p:spPr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 = All words that start with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and end with bb are valid.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 = {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babb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baabb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babbb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baaabb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baabbb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…………}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 =           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64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562283" y="1431655"/>
            <a:ext cx="8971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a+b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)*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11" name="Group 38"/>
          <p:cNvGrpSpPr/>
          <p:nvPr/>
        </p:nvGrpSpPr>
        <p:grpSpPr>
          <a:xfrm>
            <a:off x="618945" y="3275272"/>
            <a:ext cx="5909095" cy="1258157"/>
            <a:chOff x="733245" y="2202610"/>
            <a:chExt cx="5909095" cy="1258157"/>
          </a:xfrm>
        </p:grpSpPr>
        <p:sp>
          <p:nvSpPr>
            <p:cNvPr id="6" name="Oval 5"/>
            <p:cNvSpPr/>
            <p:nvPr/>
          </p:nvSpPr>
          <p:spPr>
            <a:xfrm>
              <a:off x="1173192" y="2958860"/>
              <a:ext cx="560717" cy="48307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x0</a:t>
              </a:r>
              <a:endParaRPr lang="en-US" sz="16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" name="Oval 6"/>
            <p:cNvSpPr/>
            <p:nvPr/>
          </p:nvSpPr>
          <p:spPr>
            <a:xfrm>
              <a:off x="2360761" y="2930103"/>
              <a:ext cx="560717" cy="48307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x1</a:t>
              </a:r>
              <a:endParaRPr lang="en-US" sz="16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" name="Oval 7"/>
            <p:cNvSpPr/>
            <p:nvPr/>
          </p:nvSpPr>
          <p:spPr>
            <a:xfrm>
              <a:off x="3565585" y="2927230"/>
              <a:ext cx="560717" cy="48307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x2</a:t>
              </a:r>
              <a:endParaRPr lang="en-US" sz="16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" name="Oval 8"/>
            <p:cNvSpPr/>
            <p:nvPr/>
          </p:nvSpPr>
          <p:spPr>
            <a:xfrm>
              <a:off x="4770407" y="2898475"/>
              <a:ext cx="560717" cy="48307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x3</a:t>
              </a:r>
              <a:endParaRPr lang="en-US" sz="1600" dirty="0"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12" name="Group 15"/>
            <p:cNvGrpSpPr/>
            <p:nvPr/>
          </p:nvGrpSpPr>
          <p:grpSpPr>
            <a:xfrm>
              <a:off x="5934973" y="2786331"/>
              <a:ext cx="707367" cy="638355"/>
              <a:chOff x="6478436" y="3209026"/>
              <a:chExt cx="707367" cy="638355"/>
            </a:xfrm>
          </p:grpSpPr>
          <p:sp>
            <p:nvSpPr>
              <p:cNvPr id="10" name="Oval 9">
                <a:extLst>
                  <a:ext uri="{FF2B5EF4-FFF2-40B4-BE49-F238E27FC236}">
                    <a16:creationId xmlns="" xmlns:a16="http://schemas.microsoft.com/office/drawing/2014/main" id="{1A90B709-A6EF-4AF3-8058-50CF1F57FBE0}"/>
                  </a:ext>
                </a:extLst>
              </p:cNvPr>
              <p:cNvSpPr/>
              <p:nvPr/>
            </p:nvSpPr>
            <p:spPr>
              <a:xfrm>
                <a:off x="6478436" y="3209026"/>
                <a:ext cx="707367" cy="638355"/>
              </a:xfrm>
              <a:prstGeom prst="ellips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5" name="Oval 14"/>
              <p:cNvSpPr/>
              <p:nvPr/>
            </p:nvSpPr>
            <p:spPr>
              <a:xfrm>
                <a:off x="6544573" y="3283789"/>
                <a:ext cx="560717" cy="483079"/>
              </a:xfrm>
              <a:prstGeom prst="ellips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 smtClean="0">
                    <a:latin typeface="Times New Roman" pitchFamily="18" charset="0"/>
                    <a:cs typeface="Times New Roman" pitchFamily="18" charset="0"/>
                  </a:rPr>
                  <a:t>x4</a:t>
                </a:r>
                <a:endParaRPr lang="en-US" sz="16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cxnSp>
          <p:nvCxnSpPr>
            <p:cNvPr id="18" name="Straight Arrow Connector 17"/>
            <p:cNvCxnSpPr/>
            <p:nvPr/>
          </p:nvCxnSpPr>
          <p:spPr>
            <a:xfrm flipV="1">
              <a:off x="1759790" y="3183149"/>
              <a:ext cx="595223" cy="17252"/>
            </a:xfrm>
            <a:prstGeom prst="straightConnector1">
              <a:avLst/>
            </a:prstGeom>
            <a:ln w="1905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/>
            <p:nvPr/>
          </p:nvCxnSpPr>
          <p:spPr>
            <a:xfrm>
              <a:off x="733245" y="3209026"/>
              <a:ext cx="402571" cy="7335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/>
            <p:nvPr/>
          </p:nvCxnSpPr>
          <p:spPr>
            <a:xfrm flipV="1">
              <a:off x="2938731" y="3163018"/>
              <a:ext cx="595223" cy="17252"/>
            </a:xfrm>
            <a:prstGeom prst="straightConnector1">
              <a:avLst/>
            </a:prstGeom>
            <a:ln w="1905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/>
            <p:nvPr/>
          </p:nvCxnSpPr>
          <p:spPr>
            <a:xfrm flipV="1">
              <a:off x="5333998" y="3117013"/>
              <a:ext cx="595223" cy="17252"/>
            </a:xfrm>
            <a:prstGeom prst="straightConnector1">
              <a:avLst/>
            </a:prstGeom>
            <a:ln w="1905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/>
            <p:nvPr/>
          </p:nvCxnSpPr>
          <p:spPr>
            <a:xfrm flipV="1">
              <a:off x="4166558" y="3140016"/>
              <a:ext cx="595223" cy="17252"/>
            </a:xfrm>
            <a:prstGeom prst="straightConnector1">
              <a:avLst/>
            </a:prstGeom>
            <a:ln w="1905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="" xmlns:a16="http://schemas.microsoft.com/office/drawing/2014/main" id="{B21A631C-D2FE-49B1-8957-E25DAB8A74E9}"/>
                </a:ext>
              </a:extLst>
            </p:cNvPr>
            <p:cNvSpPr txBox="1"/>
            <p:nvPr/>
          </p:nvSpPr>
          <p:spPr>
            <a:xfrm>
              <a:off x="2986817" y="2787657"/>
              <a:ext cx="2359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="" xmlns:a16="http://schemas.microsoft.com/office/drawing/2014/main" id="{B21A631C-D2FE-49B1-8957-E25DAB8A74E9}"/>
                </a:ext>
              </a:extLst>
            </p:cNvPr>
            <p:cNvSpPr txBox="1"/>
            <p:nvPr/>
          </p:nvSpPr>
          <p:spPr>
            <a:xfrm>
              <a:off x="1827836" y="2785444"/>
              <a:ext cx="2359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="" xmlns:a16="http://schemas.microsoft.com/office/drawing/2014/main" id="{B21A631C-D2FE-49B1-8957-E25DAB8A74E9}"/>
                </a:ext>
              </a:extLst>
            </p:cNvPr>
            <p:cNvSpPr txBox="1"/>
            <p:nvPr/>
          </p:nvSpPr>
          <p:spPr>
            <a:xfrm>
              <a:off x="5404757" y="2722184"/>
              <a:ext cx="2359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="" xmlns:a16="http://schemas.microsoft.com/office/drawing/2014/main" id="{B21A631C-D2FE-49B1-8957-E25DAB8A74E9}"/>
                </a:ext>
              </a:extLst>
            </p:cNvPr>
            <p:cNvSpPr txBox="1"/>
            <p:nvPr/>
          </p:nvSpPr>
          <p:spPr>
            <a:xfrm>
              <a:off x="4211437" y="2762937"/>
              <a:ext cx="2359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" name="Arc 31">
              <a:extLst>
                <a:ext uri="{FF2B5EF4-FFF2-40B4-BE49-F238E27FC236}">
                  <a16:creationId xmlns="" xmlns:a16="http://schemas.microsoft.com/office/drawing/2014/main" id="{4A9D3AB6-108E-4062-B22C-A1FC38CC204A}"/>
                </a:ext>
              </a:extLst>
            </p:cNvPr>
            <p:cNvSpPr/>
            <p:nvPr/>
          </p:nvSpPr>
          <p:spPr>
            <a:xfrm>
              <a:off x="3641805" y="2605177"/>
              <a:ext cx="408846" cy="855590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TextBox 32">
              <a:extLst>
                <a:ext uri="{FF2B5EF4-FFF2-40B4-BE49-F238E27FC236}">
                  <a16:creationId xmlns="" xmlns:a16="http://schemas.microsoft.com/office/drawing/2014/main" id="{B21A631C-D2FE-49B1-8957-E25DAB8A74E9}"/>
                </a:ext>
              </a:extLst>
            </p:cNvPr>
            <p:cNvSpPr txBox="1"/>
            <p:nvPr/>
          </p:nvSpPr>
          <p:spPr>
            <a:xfrm>
              <a:off x="3585908" y="2202610"/>
              <a:ext cx="74455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a/b</a:t>
              </a:r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4" name="TextBox 33"/>
          <p:cNvSpPr txBox="1"/>
          <p:nvPr/>
        </p:nvSpPr>
        <p:spPr>
          <a:xfrm>
            <a:off x="2260572" y="1443377"/>
            <a:ext cx="5098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bb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277932" y="1411139"/>
            <a:ext cx="4541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ba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88140" y="1946364"/>
            <a:ext cx="25036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Input :  </a:t>
            </a: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babab</a:t>
            </a:r>
            <a:r>
              <a:rPr lang="en-US" sz="2000" b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abb</a:t>
            </a: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13" name="Group 26">
            <a:extLst>
              <a:ext uri="{FF2B5EF4-FFF2-40B4-BE49-F238E27FC236}">
                <a16:creationId xmlns="" xmlns:a16="http://schemas.microsoft.com/office/drawing/2014/main" id="{8D3C0EC3-1E6A-436B-B406-38A549AC7268}"/>
              </a:ext>
            </a:extLst>
          </p:cNvPr>
          <p:cNvGrpSpPr/>
          <p:nvPr/>
        </p:nvGrpSpPr>
        <p:grpSpPr>
          <a:xfrm rot="10800000">
            <a:off x="3378686" y="4555434"/>
            <a:ext cx="711403" cy="888332"/>
            <a:chOff x="6815615" y="2509921"/>
            <a:chExt cx="711403" cy="700772"/>
          </a:xfrm>
        </p:grpSpPr>
        <p:sp>
          <p:nvSpPr>
            <p:cNvPr id="37" name="Arrow: Up 57">
              <a:extLst>
                <a:ext uri="{FF2B5EF4-FFF2-40B4-BE49-F238E27FC236}">
                  <a16:creationId xmlns="" xmlns:a16="http://schemas.microsoft.com/office/drawing/2014/main" id="{E93022AA-FD9E-4354-A4A7-DF5F91C23E96}"/>
                </a:ext>
              </a:extLst>
            </p:cNvPr>
            <p:cNvSpPr/>
            <p:nvPr/>
          </p:nvSpPr>
          <p:spPr>
            <a:xfrm rot="10800000">
              <a:off x="7079191" y="2801785"/>
              <a:ext cx="156744" cy="408908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8" name="TextBox 37">
              <a:extLst>
                <a:ext uri="{FF2B5EF4-FFF2-40B4-BE49-F238E27FC236}">
                  <a16:creationId xmlns="" xmlns:a16="http://schemas.microsoft.com/office/drawing/2014/main" id="{BAF74065-B1AC-4D5B-9613-553AA58A4378}"/>
                </a:ext>
              </a:extLst>
            </p:cNvPr>
            <p:cNvSpPr txBox="1"/>
            <p:nvPr/>
          </p:nvSpPr>
          <p:spPr>
            <a:xfrm rot="10800000">
              <a:off x="6815615" y="2509921"/>
              <a:ext cx="711403" cy="2670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CS-1</a:t>
              </a:r>
            </a:p>
          </p:txBody>
        </p:sp>
      </p:grpSp>
      <p:grpSp>
        <p:nvGrpSpPr>
          <p:cNvPr id="14" name="Group 26">
            <a:extLst>
              <a:ext uri="{FF2B5EF4-FFF2-40B4-BE49-F238E27FC236}">
                <a16:creationId xmlns="" xmlns:a16="http://schemas.microsoft.com/office/drawing/2014/main" id="{8D3C0EC3-1E6A-436B-B406-38A549AC7268}"/>
              </a:ext>
            </a:extLst>
          </p:cNvPr>
          <p:cNvGrpSpPr/>
          <p:nvPr/>
        </p:nvGrpSpPr>
        <p:grpSpPr>
          <a:xfrm rot="678991">
            <a:off x="4823557" y="3090049"/>
            <a:ext cx="711403" cy="888332"/>
            <a:chOff x="6815615" y="2509921"/>
            <a:chExt cx="711403" cy="700772"/>
          </a:xfrm>
        </p:grpSpPr>
        <p:sp>
          <p:nvSpPr>
            <p:cNvPr id="40" name="Arrow: Up 57">
              <a:extLst>
                <a:ext uri="{FF2B5EF4-FFF2-40B4-BE49-F238E27FC236}">
                  <a16:creationId xmlns="" xmlns:a16="http://schemas.microsoft.com/office/drawing/2014/main" id="{E93022AA-FD9E-4354-A4A7-DF5F91C23E96}"/>
                </a:ext>
              </a:extLst>
            </p:cNvPr>
            <p:cNvSpPr/>
            <p:nvPr/>
          </p:nvSpPr>
          <p:spPr>
            <a:xfrm rot="10800000">
              <a:off x="7079191" y="2801785"/>
              <a:ext cx="156744" cy="408908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="" xmlns:a16="http://schemas.microsoft.com/office/drawing/2014/main" id="{BAF74065-B1AC-4D5B-9613-553AA58A4378}"/>
                </a:ext>
              </a:extLst>
            </p:cNvPr>
            <p:cNvSpPr txBox="1"/>
            <p:nvPr/>
          </p:nvSpPr>
          <p:spPr>
            <a:xfrm>
              <a:off x="6815615" y="2509921"/>
              <a:ext cx="711403" cy="2670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 smtClean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CS-3</a:t>
              </a:r>
              <a:endParaRPr lang="en-US" sz="16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9" name="Group 26">
            <a:extLst>
              <a:ext uri="{FF2B5EF4-FFF2-40B4-BE49-F238E27FC236}">
                <a16:creationId xmlns="" xmlns:a16="http://schemas.microsoft.com/office/drawing/2014/main" id="{8D3C0EC3-1E6A-436B-B406-38A549AC7268}"/>
              </a:ext>
            </a:extLst>
          </p:cNvPr>
          <p:cNvGrpSpPr/>
          <p:nvPr/>
        </p:nvGrpSpPr>
        <p:grpSpPr>
          <a:xfrm rot="20735283">
            <a:off x="4272572" y="3128147"/>
            <a:ext cx="711403" cy="888332"/>
            <a:chOff x="6815615" y="2509921"/>
            <a:chExt cx="711403" cy="700772"/>
          </a:xfrm>
        </p:grpSpPr>
        <p:sp>
          <p:nvSpPr>
            <p:cNvPr id="42" name="Arrow: Up 57">
              <a:extLst>
                <a:ext uri="{FF2B5EF4-FFF2-40B4-BE49-F238E27FC236}">
                  <a16:creationId xmlns="" xmlns:a16="http://schemas.microsoft.com/office/drawing/2014/main" id="{E93022AA-FD9E-4354-A4A7-DF5F91C23E96}"/>
                </a:ext>
              </a:extLst>
            </p:cNvPr>
            <p:cNvSpPr/>
            <p:nvPr/>
          </p:nvSpPr>
          <p:spPr>
            <a:xfrm rot="10800000">
              <a:off x="7079191" y="2801785"/>
              <a:ext cx="156744" cy="408908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3" name="TextBox 42">
              <a:extLst>
                <a:ext uri="{FF2B5EF4-FFF2-40B4-BE49-F238E27FC236}">
                  <a16:creationId xmlns="" xmlns:a16="http://schemas.microsoft.com/office/drawing/2014/main" id="{BAF74065-B1AC-4D5B-9613-553AA58A4378}"/>
                </a:ext>
              </a:extLst>
            </p:cNvPr>
            <p:cNvSpPr txBox="1"/>
            <p:nvPr/>
          </p:nvSpPr>
          <p:spPr>
            <a:xfrm>
              <a:off x="6815615" y="2509921"/>
              <a:ext cx="711403" cy="2670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 smtClean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CS-4</a:t>
              </a:r>
              <a:endParaRPr lang="en-US" sz="16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44" name="TextBox 43"/>
          <p:cNvSpPr txBox="1"/>
          <p:nvPr/>
        </p:nvSpPr>
        <p:spPr>
          <a:xfrm>
            <a:off x="7921869" y="1582615"/>
            <a:ext cx="1213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accent3">
                    <a:lumMod val="75000"/>
                  </a:schemeClr>
                </a:solidFill>
              </a:rPr>
              <a:t>CS-1 = x0</a:t>
            </a:r>
            <a:endParaRPr lang="en-US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8927126" y="1559168"/>
            <a:ext cx="5158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accent3">
                    <a:lumMod val="75000"/>
                  </a:schemeClr>
                </a:solidFill>
              </a:rPr>
              <a:t> x1</a:t>
            </a:r>
            <a:endParaRPr lang="en-US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46" name="Multiply 45"/>
          <p:cNvSpPr/>
          <p:nvPr/>
        </p:nvSpPr>
        <p:spPr>
          <a:xfrm>
            <a:off x="8765930" y="1626579"/>
            <a:ext cx="211015" cy="307731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47" name="Multiply 46"/>
          <p:cNvSpPr/>
          <p:nvPr/>
        </p:nvSpPr>
        <p:spPr>
          <a:xfrm>
            <a:off x="9076587" y="1620722"/>
            <a:ext cx="211015" cy="307731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48" name="TextBox 47"/>
          <p:cNvSpPr txBox="1"/>
          <p:nvPr/>
        </p:nvSpPr>
        <p:spPr>
          <a:xfrm>
            <a:off x="9193829" y="1553308"/>
            <a:ext cx="5158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accent3">
                    <a:lumMod val="75000"/>
                  </a:schemeClr>
                </a:solidFill>
              </a:rPr>
              <a:t> x2</a:t>
            </a:r>
            <a:endParaRPr lang="en-US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7916010" y="1998784"/>
            <a:ext cx="1213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accent3">
                    <a:lumMod val="75000"/>
                  </a:schemeClr>
                </a:solidFill>
              </a:rPr>
              <a:t>CS-2 = x3</a:t>
            </a:r>
            <a:endParaRPr lang="en-US" dirty="0">
              <a:solidFill>
                <a:schemeClr val="accent3">
                  <a:lumMod val="75000"/>
                </a:schemeClr>
              </a:solidFill>
            </a:endParaRPr>
          </a:p>
        </p:txBody>
      </p:sp>
      <p:cxnSp>
        <p:nvCxnSpPr>
          <p:cNvPr id="50" name="Straight Arrow Connector 49"/>
          <p:cNvCxnSpPr/>
          <p:nvPr/>
        </p:nvCxnSpPr>
        <p:spPr>
          <a:xfrm flipV="1">
            <a:off x="8792306" y="2170375"/>
            <a:ext cx="595223" cy="17252"/>
          </a:xfrm>
          <a:prstGeom prst="straightConnector1">
            <a:avLst/>
          </a:prstGeom>
          <a:ln w="1905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Multiply 50"/>
          <p:cNvSpPr/>
          <p:nvPr/>
        </p:nvSpPr>
        <p:spPr>
          <a:xfrm>
            <a:off x="9419492" y="2007579"/>
            <a:ext cx="211015" cy="307731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52" name="TextBox 51"/>
          <p:cNvSpPr txBox="1"/>
          <p:nvPr/>
        </p:nvSpPr>
        <p:spPr>
          <a:xfrm>
            <a:off x="7918946" y="2362192"/>
            <a:ext cx="1213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accent3">
                    <a:lumMod val="75000"/>
                  </a:schemeClr>
                </a:solidFill>
              </a:rPr>
              <a:t>CS-3 = x3</a:t>
            </a:r>
            <a:endParaRPr lang="en-US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7904294" y="2743192"/>
            <a:ext cx="1213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accent3">
                    <a:lumMod val="75000"/>
                  </a:schemeClr>
                </a:solidFill>
              </a:rPr>
              <a:t>CS-4 = x3</a:t>
            </a:r>
            <a:endParaRPr lang="en-US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1296" y="0"/>
            <a:ext cx="1346591" cy="306407"/>
          </a:xfrm>
        </p:spPr>
        <p:txBody>
          <a:bodyPr/>
          <a:lstStyle/>
          <a:p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NFA Continues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6934" y="577801"/>
            <a:ext cx="8946541" cy="4195481"/>
          </a:xfrm>
        </p:spPr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 = All words that start with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and end with bb are valid.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 = {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babb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baabb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babbb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baaabb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baabbb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…………}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 =           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65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562283" y="1431655"/>
            <a:ext cx="8971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a+b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)*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11" name="Group 38"/>
          <p:cNvGrpSpPr/>
          <p:nvPr/>
        </p:nvGrpSpPr>
        <p:grpSpPr>
          <a:xfrm>
            <a:off x="618945" y="3275272"/>
            <a:ext cx="5909095" cy="1258157"/>
            <a:chOff x="733245" y="2202610"/>
            <a:chExt cx="5909095" cy="1258157"/>
          </a:xfrm>
        </p:grpSpPr>
        <p:sp>
          <p:nvSpPr>
            <p:cNvPr id="6" name="Oval 5"/>
            <p:cNvSpPr/>
            <p:nvPr/>
          </p:nvSpPr>
          <p:spPr>
            <a:xfrm>
              <a:off x="1173192" y="2958860"/>
              <a:ext cx="560717" cy="48307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x0</a:t>
              </a:r>
              <a:endParaRPr lang="en-US" sz="16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" name="Oval 6"/>
            <p:cNvSpPr/>
            <p:nvPr/>
          </p:nvSpPr>
          <p:spPr>
            <a:xfrm>
              <a:off x="2360761" y="2930103"/>
              <a:ext cx="560717" cy="48307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x1</a:t>
              </a:r>
              <a:endParaRPr lang="en-US" sz="16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" name="Oval 7"/>
            <p:cNvSpPr/>
            <p:nvPr/>
          </p:nvSpPr>
          <p:spPr>
            <a:xfrm>
              <a:off x="3565585" y="2927230"/>
              <a:ext cx="560717" cy="48307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x2</a:t>
              </a:r>
              <a:endParaRPr lang="en-US" sz="16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" name="Oval 8"/>
            <p:cNvSpPr/>
            <p:nvPr/>
          </p:nvSpPr>
          <p:spPr>
            <a:xfrm>
              <a:off x="4770407" y="2898475"/>
              <a:ext cx="560717" cy="48307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x3</a:t>
              </a:r>
              <a:endParaRPr lang="en-US" sz="1600" dirty="0"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12" name="Group 15"/>
            <p:cNvGrpSpPr/>
            <p:nvPr/>
          </p:nvGrpSpPr>
          <p:grpSpPr>
            <a:xfrm>
              <a:off x="5934973" y="2786331"/>
              <a:ext cx="707367" cy="638355"/>
              <a:chOff x="6478436" y="3209026"/>
              <a:chExt cx="707367" cy="638355"/>
            </a:xfrm>
          </p:grpSpPr>
          <p:sp>
            <p:nvSpPr>
              <p:cNvPr id="10" name="Oval 9">
                <a:extLst>
                  <a:ext uri="{FF2B5EF4-FFF2-40B4-BE49-F238E27FC236}">
                    <a16:creationId xmlns="" xmlns:a16="http://schemas.microsoft.com/office/drawing/2014/main" id="{1A90B709-A6EF-4AF3-8058-50CF1F57FBE0}"/>
                  </a:ext>
                </a:extLst>
              </p:cNvPr>
              <p:cNvSpPr/>
              <p:nvPr/>
            </p:nvSpPr>
            <p:spPr>
              <a:xfrm>
                <a:off x="6478436" y="3209026"/>
                <a:ext cx="707367" cy="638355"/>
              </a:xfrm>
              <a:prstGeom prst="ellips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5" name="Oval 14"/>
              <p:cNvSpPr/>
              <p:nvPr/>
            </p:nvSpPr>
            <p:spPr>
              <a:xfrm>
                <a:off x="6544573" y="3283789"/>
                <a:ext cx="560717" cy="483079"/>
              </a:xfrm>
              <a:prstGeom prst="ellips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 smtClean="0">
                    <a:latin typeface="Times New Roman" pitchFamily="18" charset="0"/>
                    <a:cs typeface="Times New Roman" pitchFamily="18" charset="0"/>
                  </a:rPr>
                  <a:t>x4</a:t>
                </a:r>
                <a:endParaRPr lang="en-US" sz="16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cxnSp>
          <p:nvCxnSpPr>
            <p:cNvPr id="18" name="Straight Arrow Connector 17"/>
            <p:cNvCxnSpPr/>
            <p:nvPr/>
          </p:nvCxnSpPr>
          <p:spPr>
            <a:xfrm flipV="1">
              <a:off x="1759790" y="3183149"/>
              <a:ext cx="595223" cy="17252"/>
            </a:xfrm>
            <a:prstGeom prst="straightConnector1">
              <a:avLst/>
            </a:prstGeom>
            <a:ln w="1905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/>
            <p:nvPr/>
          </p:nvCxnSpPr>
          <p:spPr>
            <a:xfrm>
              <a:off x="733245" y="3209026"/>
              <a:ext cx="402571" cy="7335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/>
            <p:nvPr/>
          </p:nvCxnSpPr>
          <p:spPr>
            <a:xfrm flipV="1">
              <a:off x="2938731" y="3163018"/>
              <a:ext cx="595223" cy="17252"/>
            </a:xfrm>
            <a:prstGeom prst="straightConnector1">
              <a:avLst/>
            </a:prstGeom>
            <a:ln w="1905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/>
            <p:nvPr/>
          </p:nvCxnSpPr>
          <p:spPr>
            <a:xfrm flipV="1">
              <a:off x="5333998" y="3117013"/>
              <a:ext cx="595223" cy="17252"/>
            </a:xfrm>
            <a:prstGeom prst="straightConnector1">
              <a:avLst/>
            </a:prstGeom>
            <a:ln w="1905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/>
            <p:nvPr/>
          </p:nvCxnSpPr>
          <p:spPr>
            <a:xfrm flipV="1">
              <a:off x="4166558" y="3140016"/>
              <a:ext cx="595223" cy="17252"/>
            </a:xfrm>
            <a:prstGeom prst="straightConnector1">
              <a:avLst/>
            </a:prstGeom>
            <a:ln w="1905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="" xmlns:a16="http://schemas.microsoft.com/office/drawing/2014/main" id="{B21A631C-D2FE-49B1-8957-E25DAB8A74E9}"/>
                </a:ext>
              </a:extLst>
            </p:cNvPr>
            <p:cNvSpPr txBox="1"/>
            <p:nvPr/>
          </p:nvSpPr>
          <p:spPr>
            <a:xfrm>
              <a:off x="2986817" y="2787657"/>
              <a:ext cx="2359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="" xmlns:a16="http://schemas.microsoft.com/office/drawing/2014/main" id="{B21A631C-D2FE-49B1-8957-E25DAB8A74E9}"/>
                </a:ext>
              </a:extLst>
            </p:cNvPr>
            <p:cNvSpPr txBox="1"/>
            <p:nvPr/>
          </p:nvSpPr>
          <p:spPr>
            <a:xfrm>
              <a:off x="1827836" y="2785444"/>
              <a:ext cx="2359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="" xmlns:a16="http://schemas.microsoft.com/office/drawing/2014/main" id="{B21A631C-D2FE-49B1-8957-E25DAB8A74E9}"/>
                </a:ext>
              </a:extLst>
            </p:cNvPr>
            <p:cNvSpPr txBox="1"/>
            <p:nvPr/>
          </p:nvSpPr>
          <p:spPr>
            <a:xfrm>
              <a:off x="5404757" y="2722184"/>
              <a:ext cx="2359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="" xmlns:a16="http://schemas.microsoft.com/office/drawing/2014/main" id="{B21A631C-D2FE-49B1-8957-E25DAB8A74E9}"/>
                </a:ext>
              </a:extLst>
            </p:cNvPr>
            <p:cNvSpPr txBox="1"/>
            <p:nvPr/>
          </p:nvSpPr>
          <p:spPr>
            <a:xfrm>
              <a:off x="4211437" y="2762937"/>
              <a:ext cx="2359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" name="Arc 31">
              <a:extLst>
                <a:ext uri="{FF2B5EF4-FFF2-40B4-BE49-F238E27FC236}">
                  <a16:creationId xmlns="" xmlns:a16="http://schemas.microsoft.com/office/drawing/2014/main" id="{4A9D3AB6-108E-4062-B22C-A1FC38CC204A}"/>
                </a:ext>
              </a:extLst>
            </p:cNvPr>
            <p:cNvSpPr/>
            <p:nvPr/>
          </p:nvSpPr>
          <p:spPr>
            <a:xfrm>
              <a:off x="3641805" y="2605177"/>
              <a:ext cx="408846" cy="855590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TextBox 32">
              <a:extLst>
                <a:ext uri="{FF2B5EF4-FFF2-40B4-BE49-F238E27FC236}">
                  <a16:creationId xmlns="" xmlns:a16="http://schemas.microsoft.com/office/drawing/2014/main" id="{B21A631C-D2FE-49B1-8957-E25DAB8A74E9}"/>
                </a:ext>
              </a:extLst>
            </p:cNvPr>
            <p:cNvSpPr txBox="1"/>
            <p:nvPr/>
          </p:nvSpPr>
          <p:spPr>
            <a:xfrm>
              <a:off x="3585908" y="2202610"/>
              <a:ext cx="74455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a/b</a:t>
              </a:r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4" name="TextBox 33"/>
          <p:cNvSpPr txBox="1"/>
          <p:nvPr/>
        </p:nvSpPr>
        <p:spPr>
          <a:xfrm>
            <a:off x="2260572" y="1443377"/>
            <a:ext cx="5098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bb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277932" y="1411139"/>
            <a:ext cx="4541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ba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88140" y="1946364"/>
            <a:ext cx="25036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Input :  </a:t>
            </a: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babab</a:t>
            </a:r>
            <a:r>
              <a:rPr lang="en-US" sz="2000" b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abb</a:t>
            </a: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13" name="Group 26">
            <a:extLst>
              <a:ext uri="{FF2B5EF4-FFF2-40B4-BE49-F238E27FC236}">
                <a16:creationId xmlns="" xmlns:a16="http://schemas.microsoft.com/office/drawing/2014/main" id="{8D3C0EC3-1E6A-436B-B406-38A549AC7268}"/>
              </a:ext>
            </a:extLst>
          </p:cNvPr>
          <p:cNvGrpSpPr/>
          <p:nvPr/>
        </p:nvGrpSpPr>
        <p:grpSpPr>
          <a:xfrm rot="10800000">
            <a:off x="3378686" y="4555434"/>
            <a:ext cx="711403" cy="888332"/>
            <a:chOff x="6815615" y="2509921"/>
            <a:chExt cx="711403" cy="700772"/>
          </a:xfrm>
        </p:grpSpPr>
        <p:sp>
          <p:nvSpPr>
            <p:cNvPr id="37" name="Arrow: Up 57">
              <a:extLst>
                <a:ext uri="{FF2B5EF4-FFF2-40B4-BE49-F238E27FC236}">
                  <a16:creationId xmlns="" xmlns:a16="http://schemas.microsoft.com/office/drawing/2014/main" id="{E93022AA-FD9E-4354-A4A7-DF5F91C23E96}"/>
                </a:ext>
              </a:extLst>
            </p:cNvPr>
            <p:cNvSpPr/>
            <p:nvPr/>
          </p:nvSpPr>
          <p:spPr>
            <a:xfrm rot="10800000">
              <a:off x="7079191" y="2801785"/>
              <a:ext cx="156744" cy="408908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8" name="TextBox 37">
              <a:extLst>
                <a:ext uri="{FF2B5EF4-FFF2-40B4-BE49-F238E27FC236}">
                  <a16:creationId xmlns="" xmlns:a16="http://schemas.microsoft.com/office/drawing/2014/main" id="{BAF74065-B1AC-4D5B-9613-553AA58A4378}"/>
                </a:ext>
              </a:extLst>
            </p:cNvPr>
            <p:cNvSpPr txBox="1"/>
            <p:nvPr/>
          </p:nvSpPr>
          <p:spPr>
            <a:xfrm rot="10800000">
              <a:off x="6815615" y="2509921"/>
              <a:ext cx="711403" cy="2670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CS-1</a:t>
              </a:r>
            </a:p>
          </p:txBody>
        </p:sp>
      </p:grpSp>
      <p:grpSp>
        <p:nvGrpSpPr>
          <p:cNvPr id="14" name="Group 26">
            <a:extLst>
              <a:ext uri="{FF2B5EF4-FFF2-40B4-BE49-F238E27FC236}">
                <a16:creationId xmlns="" xmlns:a16="http://schemas.microsoft.com/office/drawing/2014/main" id="{8D3C0EC3-1E6A-436B-B406-38A549AC7268}"/>
              </a:ext>
            </a:extLst>
          </p:cNvPr>
          <p:cNvGrpSpPr/>
          <p:nvPr/>
        </p:nvGrpSpPr>
        <p:grpSpPr>
          <a:xfrm>
            <a:off x="5843465" y="2949372"/>
            <a:ext cx="711403" cy="888332"/>
            <a:chOff x="6815615" y="2509921"/>
            <a:chExt cx="711403" cy="700772"/>
          </a:xfrm>
        </p:grpSpPr>
        <p:sp>
          <p:nvSpPr>
            <p:cNvPr id="40" name="Arrow: Up 57">
              <a:extLst>
                <a:ext uri="{FF2B5EF4-FFF2-40B4-BE49-F238E27FC236}">
                  <a16:creationId xmlns="" xmlns:a16="http://schemas.microsoft.com/office/drawing/2014/main" id="{E93022AA-FD9E-4354-A4A7-DF5F91C23E96}"/>
                </a:ext>
              </a:extLst>
            </p:cNvPr>
            <p:cNvSpPr/>
            <p:nvPr/>
          </p:nvSpPr>
          <p:spPr>
            <a:xfrm rot="10800000">
              <a:off x="7079191" y="2801785"/>
              <a:ext cx="156744" cy="408908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="" xmlns:a16="http://schemas.microsoft.com/office/drawing/2014/main" id="{BAF74065-B1AC-4D5B-9613-553AA58A4378}"/>
                </a:ext>
              </a:extLst>
            </p:cNvPr>
            <p:cNvSpPr txBox="1"/>
            <p:nvPr/>
          </p:nvSpPr>
          <p:spPr>
            <a:xfrm>
              <a:off x="6815615" y="2509921"/>
              <a:ext cx="711403" cy="2670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 smtClean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CS-3</a:t>
              </a:r>
              <a:endParaRPr lang="en-US" sz="16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6" name="Group 26">
            <a:extLst>
              <a:ext uri="{FF2B5EF4-FFF2-40B4-BE49-F238E27FC236}">
                <a16:creationId xmlns="" xmlns:a16="http://schemas.microsoft.com/office/drawing/2014/main" id="{8D3C0EC3-1E6A-436B-B406-38A549AC7268}"/>
              </a:ext>
            </a:extLst>
          </p:cNvPr>
          <p:cNvGrpSpPr/>
          <p:nvPr/>
        </p:nvGrpSpPr>
        <p:grpSpPr>
          <a:xfrm>
            <a:off x="4553925" y="3040224"/>
            <a:ext cx="711403" cy="888332"/>
            <a:chOff x="6815615" y="2509921"/>
            <a:chExt cx="711403" cy="700772"/>
          </a:xfrm>
        </p:grpSpPr>
        <p:sp>
          <p:nvSpPr>
            <p:cNvPr id="42" name="Arrow: Up 57">
              <a:extLst>
                <a:ext uri="{FF2B5EF4-FFF2-40B4-BE49-F238E27FC236}">
                  <a16:creationId xmlns="" xmlns:a16="http://schemas.microsoft.com/office/drawing/2014/main" id="{E93022AA-FD9E-4354-A4A7-DF5F91C23E96}"/>
                </a:ext>
              </a:extLst>
            </p:cNvPr>
            <p:cNvSpPr/>
            <p:nvPr/>
          </p:nvSpPr>
          <p:spPr>
            <a:xfrm rot="10800000">
              <a:off x="7079191" y="2801785"/>
              <a:ext cx="156744" cy="408908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3" name="TextBox 42">
              <a:extLst>
                <a:ext uri="{FF2B5EF4-FFF2-40B4-BE49-F238E27FC236}">
                  <a16:creationId xmlns="" xmlns:a16="http://schemas.microsoft.com/office/drawing/2014/main" id="{BAF74065-B1AC-4D5B-9613-553AA58A4378}"/>
                </a:ext>
              </a:extLst>
            </p:cNvPr>
            <p:cNvSpPr txBox="1"/>
            <p:nvPr/>
          </p:nvSpPr>
          <p:spPr>
            <a:xfrm>
              <a:off x="6815615" y="2509921"/>
              <a:ext cx="711403" cy="2670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 smtClean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CS-4</a:t>
              </a:r>
              <a:endParaRPr lang="en-US" sz="16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9" name="TextBox 38"/>
          <p:cNvSpPr txBox="1"/>
          <p:nvPr/>
        </p:nvSpPr>
        <p:spPr>
          <a:xfrm>
            <a:off x="7921869" y="1582615"/>
            <a:ext cx="1213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accent3">
                    <a:lumMod val="75000"/>
                  </a:schemeClr>
                </a:solidFill>
              </a:rPr>
              <a:t>CS-1 = x0</a:t>
            </a:r>
            <a:endParaRPr lang="en-US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8927126" y="1559168"/>
            <a:ext cx="5158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accent3">
                    <a:lumMod val="75000"/>
                  </a:schemeClr>
                </a:solidFill>
              </a:rPr>
              <a:t> x1</a:t>
            </a:r>
            <a:endParaRPr lang="en-US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45" name="Multiply 44"/>
          <p:cNvSpPr/>
          <p:nvPr/>
        </p:nvSpPr>
        <p:spPr>
          <a:xfrm>
            <a:off x="8765930" y="1626579"/>
            <a:ext cx="211015" cy="307731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46" name="Multiply 45"/>
          <p:cNvSpPr/>
          <p:nvPr/>
        </p:nvSpPr>
        <p:spPr>
          <a:xfrm>
            <a:off x="9076587" y="1620722"/>
            <a:ext cx="211015" cy="307731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47" name="TextBox 46"/>
          <p:cNvSpPr txBox="1"/>
          <p:nvPr/>
        </p:nvSpPr>
        <p:spPr>
          <a:xfrm>
            <a:off x="9193829" y="1553308"/>
            <a:ext cx="5158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accent3">
                    <a:lumMod val="75000"/>
                  </a:schemeClr>
                </a:solidFill>
              </a:rPr>
              <a:t> x2</a:t>
            </a:r>
            <a:endParaRPr lang="en-US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7916010" y="1998784"/>
            <a:ext cx="1213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accent3">
                    <a:lumMod val="75000"/>
                  </a:schemeClr>
                </a:solidFill>
              </a:rPr>
              <a:t>CS-2 = x3</a:t>
            </a:r>
            <a:endParaRPr lang="en-US" dirty="0">
              <a:solidFill>
                <a:schemeClr val="accent3">
                  <a:lumMod val="75000"/>
                </a:schemeClr>
              </a:solidFill>
            </a:endParaRPr>
          </a:p>
        </p:txBody>
      </p:sp>
      <p:cxnSp>
        <p:nvCxnSpPr>
          <p:cNvPr id="49" name="Straight Arrow Connector 48"/>
          <p:cNvCxnSpPr/>
          <p:nvPr/>
        </p:nvCxnSpPr>
        <p:spPr>
          <a:xfrm flipV="1">
            <a:off x="8792306" y="2170375"/>
            <a:ext cx="595223" cy="17252"/>
          </a:xfrm>
          <a:prstGeom prst="straightConnector1">
            <a:avLst/>
          </a:prstGeom>
          <a:ln w="1905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Multiply 49"/>
          <p:cNvSpPr/>
          <p:nvPr/>
        </p:nvSpPr>
        <p:spPr>
          <a:xfrm>
            <a:off x="9419492" y="2007579"/>
            <a:ext cx="211015" cy="307731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51" name="TextBox 50"/>
          <p:cNvSpPr txBox="1"/>
          <p:nvPr/>
        </p:nvSpPr>
        <p:spPr>
          <a:xfrm>
            <a:off x="7918946" y="2362192"/>
            <a:ext cx="1213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accent3">
                    <a:lumMod val="75000"/>
                  </a:schemeClr>
                </a:solidFill>
              </a:rPr>
              <a:t>CS-3 = x4</a:t>
            </a:r>
            <a:endParaRPr lang="en-US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7904294" y="2743192"/>
            <a:ext cx="1213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accent3">
                    <a:lumMod val="75000"/>
                  </a:schemeClr>
                </a:solidFill>
              </a:rPr>
              <a:t>CS-4 = x3</a:t>
            </a:r>
            <a:endParaRPr lang="en-US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1296" y="0"/>
            <a:ext cx="1346591" cy="306407"/>
          </a:xfrm>
        </p:spPr>
        <p:txBody>
          <a:bodyPr/>
          <a:lstStyle/>
          <a:p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NFA Continues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6934" y="577801"/>
            <a:ext cx="8946541" cy="4195481"/>
          </a:xfrm>
        </p:spPr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 = All words that start with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and end with bb are valid.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 = {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babb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baabb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babbb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baaabb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baabbb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…………}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 =           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66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562283" y="1431655"/>
            <a:ext cx="8971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a+b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)*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11" name="Group 38"/>
          <p:cNvGrpSpPr/>
          <p:nvPr/>
        </p:nvGrpSpPr>
        <p:grpSpPr>
          <a:xfrm>
            <a:off x="618945" y="3275272"/>
            <a:ext cx="5909095" cy="1258157"/>
            <a:chOff x="733245" y="2202610"/>
            <a:chExt cx="5909095" cy="1258157"/>
          </a:xfrm>
        </p:grpSpPr>
        <p:sp>
          <p:nvSpPr>
            <p:cNvPr id="6" name="Oval 5"/>
            <p:cNvSpPr/>
            <p:nvPr/>
          </p:nvSpPr>
          <p:spPr>
            <a:xfrm>
              <a:off x="1173192" y="2958860"/>
              <a:ext cx="560717" cy="48307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x0</a:t>
              </a:r>
              <a:endParaRPr lang="en-US" sz="16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" name="Oval 6"/>
            <p:cNvSpPr/>
            <p:nvPr/>
          </p:nvSpPr>
          <p:spPr>
            <a:xfrm>
              <a:off x="2360761" y="2930103"/>
              <a:ext cx="560717" cy="48307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x1</a:t>
              </a:r>
              <a:endParaRPr lang="en-US" sz="16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" name="Oval 7"/>
            <p:cNvSpPr/>
            <p:nvPr/>
          </p:nvSpPr>
          <p:spPr>
            <a:xfrm>
              <a:off x="3565585" y="2927230"/>
              <a:ext cx="560717" cy="48307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x2</a:t>
              </a:r>
              <a:endParaRPr lang="en-US" sz="16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" name="Oval 8"/>
            <p:cNvSpPr/>
            <p:nvPr/>
          </p:nvSpPr>
          <p:spPr>
            <a:xfrm>
              <a:off x="4770407" y="2898475"/>
              <a:ext cx="560717" cy="48307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x3</a:t>
              </a:r>
              <a:endParaRPr lang="en-US" sz="1600" dirty="0"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12" name="Group 15"/>
            <p:cNvGrpSpPr/>
            <p:nvPr/>
          </p:nvGrpSpPr>
          <p:grpSpPr>
            <a:xfrm>
              <a:off x="5934973" y="2786331"/>
              <a:ext cx="707367" cy="638355"/>
              <a:chOff x="6478436" y="3209026"/>
              <a:chExt cx="707367" cy="638355"/>
            </a:xfrm>
          </p:grpSpPr>
          <p:sp>
            <p:nvSpPr>
              <p:cNvPr id="10" name="Oval 9">
                <a:extLst>
                  <a:ext uri="{FF2B5EF4-FFF2-40B4-BE49-F238E27FC236}">
                    <a16:creationId xmlns="" xmlns:a16="http://schemas.microsoft.com/office/drawing/2014/main" id="{1A90B709-A6EF-4AF3-8058-50CF1F57FBE0}"/>
                  </a:ext>
                </a:extLst>
              </p:cNvPr>
              <p:cNvSpPr/>
              <p:nvPr/>
            </p:nvSpPr>
            <p:spPr>
              <a:xfrm>
                <a:off x="6478436" y="3209026"/>
                <a:ext cx="707367" cy="638355"/>
              </a:xfrm>
              <a:prstGeom prst="ellips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5" name="Oval 14"/>
              <p:cNvSpPr/>
              <p:nvPr/>
            </p:nvSpPr>
            <p:spPr>
              <a:xfrm>
                <a:off x="6544573" y="3283789"/>
                <a:ext cx="560717" cy="483079"/>
              </a:xfrm>
              <a:prstGeom prst="ellips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 smtClean="0">
                    <a:latin typeface="Times New Roman" pitchFamily="18" charset="0"/>
                    <a:cs typeface="Times New Roman" pitchFamily="18" charset="0"/>
                  </a:rPr>
                  <a:t>x4</a:t>
                </a:r>
                <a:endParaRPr lang="en-US" sz="16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cxnSp>
          <p:nvCxnSpPr>
            <p:cNvPr id="18" name="Straight Arrow Connector 17"/>
            <p:cNvCxnSpPr/>
            <p:nvPr/>
          </p:nvCxnSpPr>
          <p:spPr>
            <a:xfrm flipV="1">
              <a:off x="1759790" y="3183149"/>
              <a:ext cx="595223" cy="17252"/>
            </a:xfrm>
            <a:prstGeom prst="straightConnector1">
              <a:avLst/>
            </a:prstGeom>
            <a:ln w="1905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/>
            <p:nvPr/>
          </p:nvCxnSpPr>
          <p:spPr>
            <a:xfrm>
              <a:off x="733245" y="3209026"/>
              <a:ext cx="402571" cy="7335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/>
            <p:nvPr/>
          </p:nvCxnSpPr>
          <p:spPr>
            <a:xfrm flipV="1">
              <a:off x="2938731" y="3163018"/>
              <a:ext cx="595223" cy="17252"/>
            </a:xfrm>
            <a:prstGeom prst="straightConnector1">
              <a:avLst/>
            </a:prstGeom>
            <a:ln w="1905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/>
            <p:nvPr/>
          </p:nvCxnSpPr>
          <p:spPr>
            <a:xfrm flipV="1">
              <a:off x="5333998" y="3117013"/>
              <a:ext cx="595223" cy="17252"/>
            </a:xfrm>
            <a:prstGeom prst="straightConnector1">
              <a:avLst/>
            </a:prstGeom>
            <a:ln w="1905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/>
            <p:nvPr/>
          </p:nvCxnSpPr>
          <p:spPr>
            <a:xfrm flipV="1">
              <a:off x="4166558" y="3140016"/>
              <a:ext cx="595223" cy="17252"/>
            </a:xfrm>
            <a:prstGeom prst="straightConnector1">
              <a:avLst/>
            </a:prstGeom>
            <a:ln w="1905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="" xmlns:a16="http://schemas.microsoft.com/office/drawing/2014/main" id="{B21A631C-D2FE-49B1-8957-E25DAB8A74E9}"/>
                </a:ext>
              </a:extLst>
            </p:cNvPr>
            <p:cNvSpPr txBox="1"/>
            <p:nvPr/>
          </p:nvSpPr>
          <p:spPr>
            <a:xfrm>
              <a:off x="2986817" y="2787657"/>
              <a:ext cx="2359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="" xmlns:a16="http://schemas.microsoft.com/office/drawing/2014/main" id="{B21A631C-D2FE-49B1-8957-E25DAB8A74E9}"/>
                </a:ext>
              </a:extLst>
            </p:cNvPr>
            <p:cNvSpPr txBox="1"/>
            <p:nvPr/>
          </p:nvSpPr>
          <p:spPr>
            <a:xfrm>
              <a:off x="1827836" y="2785444"/>
              <a:ext cx="2359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="" xmlns:a16="http://schemas.microsoft.com/office/drawing/2014/main" id="{B21A631C-D2FE-49B1-8957-E25DAB8A74E9}"/>
                </a:ext>
              </a:extLst>
            </p:cNvPr>
            <p:cNvSpPr txBox="1"/>
            <p:nvPr/>
          </p:nvSpPr>
          <p:spPr>
            <a:xfrm>
              <a:off x="5404757" y="2722184"/>
              <a:ext cx="2359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="" xmlns:a16="http://schemas.microsoft.com/office/drawing/2014/main" id="{B21A631C-D2FE-49B1-8957-E25DAB8A74E9}"/>
                </a:ext>
              </a:extLst>
            </p:cNvPr>
            <p:cNvSpPr txBox="1"/>
            <p:nvPr/>
          </p:nvSpPr>
          <p:spPr>
            <a:xfrm>
              <a:off x="4211437" y="2762937"/>
              <a:ext cx="2359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" name="Arc 31">
              <a:extLst>
                <a:ext uri="{FF2B5EF4-FFF2-40B4-BE49-F238E27FC236}">
                  <a16:creationId xmlns="" xmlns:a16="http://schemas.microsoft.com/office/drawing/2014/main" id="{4A9D3AB6-108E-4062-B22C-A1FC38CC204A}"/>
                </a:ext>
              </a:extLst>
            </p:cNvPr>
            <p:cNvSpPr/>
            <p:nvPr/>
          </p:nvSpPr>
          <p:spPr>
            <a:xfrm>
              <a:off x="3641805" y="2605177"/>
              <a:ext cx="408846" cy="855590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TextBox 32">
              <a:extLst>
                <a:ext uri="{FF2B5EF4-FFF2-40B4-BE49-F238E27FC236}">
                  <a16:creationId xmlns="" xmlns:a16="http://schemas.microsoft.com/office/drawing/2014/main" id="{B21A631C-D2FE-49B1-8957-E25DAB8A74E9}"/>
                </a:ext>
              </a:extLst>
            </p:cNvPr>
            <p:cNvSpPr txBox="1"/>
            <p:nvPr/>
          </p:nvSpPr>
          <p:spPr>
            <a:xfrm>
              <a:off x="3585908" y="2202610"/>
              <a:ext cx="74455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a/b</a:t>
              </a:r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4" name="TextBox 33"/>
          <p:cNvSpPr txBox="1"/>
          <p:nvPr/>
        </p:nvSpPr>
        <p:spPr>
          <a:xfrm>
            <a:off x="2260572" y="1443377"/>
            <a:ext cx="5098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bb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277932" y="1411139"/>
            <a:ext cx="4541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ba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88140" y="1946364"/>
            <a:ext cx="25036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Input :  </a:t>
            </a: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bababb</a:t>
            </a:r>
            <a:r>
              <a:rPr lang="en-US" sz="2000" b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bb</a:t>
            </a: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13" name="Group 26">
            <a:extLst>
              <a:ext uri="{FF2B5EF4-FFF2-40B4-BE49-F238E27FC236}">
                <a16:creationId xmlns="" xmlns:a16="http://schemas.microsoft.com/office/drawing/2014/main" id="{8D3C0EC3-1E6A-436B-B406-38A549AC7268}"/>
              </a:ext>
            </a:extLst>
          </p:cNvPr>
          <p:cNvGrpSpPr/>
          <p:nvPr/>
        </p:nvGrpSpPr>
        <p:grpSpPr>
          <a:xfrm rot="10800000">
            <a:off x="3378686" y="4555434"/>
            <a:ext cx="711403" cy="888332"/>
            <a:chOff x="6815615" y="2509921"/>
            <a:chExt cx="711403" cy="700772"/>
          </a:xfrm>
        </p:grpSpPr>
        <p:sp>
          <p:nvSpPr>
            <p:cNvPr id="37" name="Arrow: Up 57">
              <a:extLst>
                <a:ext uri="{FF2B5EF4-FFF2-40B4-BE49-F238E27FC236}">
                  <a16:creationId xmlns="" xmlns:a16="http://schemas.microsoft.com/office/drawing/2014/main" id="{E93022AA-FD9E-4354-A4A7-DF5F91C23E96}"/>
                </a:ext>
              </a:extLst>
            </p:cNvPr>
            <p:cNvSpPr/>
            <p:nvPr/>
          </p:nvSpPr>
          <p:spPr>
            <a:xfrm rot="10800000">
              <a:off x="7079191" y="2801785"/>
              <a:ext cx="156744" cy="408908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8" name="TextBox 37">
              <a:extLst>
                <a:ext uri="{FF2B5EF4-FFF2-40B4-BE49-F238E27FC236}">
                  <a16:creationId xmlns="" xmlns:a16="http://schemas.microsoft.com/office/drawing/2014/main" id="{BAF74065-B1AC-4D5B-9613-553AA58A4378}"/>
                </a:ext>
              </a:extLst>
            </p:cNvPr>
            <p:cNvSpPr txBox="1"/>
            <p:nvPr/>
          </p:nvSpPr>
          <p:spPr>
            <a:xfrm rot="10800000">
              <a:off x="6815615" y="2509921"/>
              <a:ext cx="711403" cy="2670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CS-1</a:t>
              </a:r>
            </a:p>
          </p:txBody>
        </p:sp>
      </p:grpSp>
      <p:grpSp>
        <p:nvGrpSpPr>
          <p:cNvPr id="14" name="Group 26">
            <a:extLst>
              <a:ext uri="{FF2B5EF4-FFF2-40B4-BE49-F238E27FC236}">
                <a16:creationId xmlns="" xmlns:a16="http://schemas.microsoft.com/office/drawing/2014/main" id="{8D3C0EC3-1E6A-436B-B406-38A549AC7268}"/>
              </a:ext>
            </a:extLst>
          </p:cNvPr>
          <p:cNvGrpSpPr/>
          <p:nvPr/>
        </p:nvGrpSpPr>
        <p:grpSpPr>
          <a:xfrm>
            <a:off x="5843465" y="2949372"/>
            <a:ext cx="711403" cy="888332"/>
            <a:chOff x="6815615" y="2509921"/>
            <a:chExt cx="711403" cy="700772"/>
          </a:xfrm>
        </p:grpSpPr>
        <p:sp>
          <p:nvSpPr>
            <p:cNvPr id="40" name="Arrow: Up 57">
              <a:extLst>
                <a:ext uri="{FF2B5EF4-FFF2-40B4-BE49-F238E27FC236}">
                  <a16:creationId xmlns="" xmlns:a16="http://schemas.microsoft.com/office/drawing/2014/main" id="{E93022AA-FD9E-4354-A4A7-DF5F91C23E96}"/>
                </a:ext>
              </a:extLst>
            </p:cNvPr>
            <p:cNvSpPr/>
            <p:nvPr/>
          </p:nvSpPr>
          <p:spPr>
            <a:xfrm rot="10800000">
              <a:off x="7079191" y="2801785"/>
              <a:ext cx="156744" cy="408908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="" xmlns:a16="http://schemas.microsoft.com/office/drawing/2014/main" id="{BAF74065-B1AC-4D5B-9613-553AA58A4378}"/>
                </a:ext>
              </a:extLst>
            </p:cNvPr>
            <p:cNvSpPr txBox="1"/>
            <p:nvPr/>
          </p:nvSpPr>
          <p:spPr>
            <a:xfrm>
              <a:off x="6815615" y="2509921"/>
              <a:ext cx="711403" cy="2670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 smtClean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CS-3</a:t>
              </a:r>
              <a:endParaRPr lang="en-US" sz="16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6" name="Group 26">
            <a:extLst>
              <a:ext uri="{FF2B5EF4-FFF2-40B4-BE49-F238E27FC236}">
                <a16:creationId xmlns="" xmlns:a16="http://schemas.microsoft.com/office/drawing/2014/main" id="{8D3C0EC3-1E6A-436B-B406-38A549AC7268}"/>
              </a:ext>
            </a:extLst>
          </p:cNvPr>
          <p:cNvGrpSpPr/>
          <p:nvPr/>
        </p:nvGrpSpPr>
        <p:grpSpPr>
          <a:xfrm>
            <a:off x="4553925" y="3040224"/>
            <a:ext cx="711403" cy="888332"/>
            <a:chOff x="6815615" y="2509921"/>
            <a:chExt cx="711403" cy="700772"/>
          </a:xfrm>
        </p:grpSpPr>
        <p:sp>
          <p:nvSpPr>
            <p:cNvPr id="42" name="Arrow: Up 57">
              <a:extLst>
                <a:ext uri="{FF2B5EF4-FFF2-40B4-BE49-F238E27FC236}">
                  <a16:creationId xmlns="" xmlns:a16="http://schemas.microsoft.com/office/drawing/2014/main" id="{E93022AA-FD9E-4354-A4A7-DF5F91C23E96}"/>
                </a:ext>
              </a:extLst>
            </p:cNvPr>
            <p:cNvSpPr/>
            <p:nvPr/>
          </p:nvSpPr>
          <p:spPr>
            <a:xfrm rot="10800000">
              <a:off x="7079191" y="2801785"/>
              <a:ext cx="156744" cy="408908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3" name="TextBox 42">
              <a:extLst>
                <a:ext uri="{FF2B5EF4-FFF2-40B4-BE49-F238E27FC236}">
                  <a16:creationId xmlns="" xmlns:a16="http://schemas.microsoft.com/office/drawing/2014/main" id="{BAF74065-B1AC-4D5B-9613-553AA58A4378}"/>
                </a:ext>
              </a:extLst>
            </p:cNvPr>
            <p:cNvSpPr txBox="1"/>
            <p:nvPr/>
          </p:nvSpPr>
          <p:spPr>
            <a:xfrm>
              <a:off x="6815615" y="2509921"/>
              <a:ext cx="711403" cy="2670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 smtClean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CS-4</a:t>
              </a:r>
              <a:endParaRPr lang="en-US" sz="16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9" name="TextBox 38"/>
          <p:cNvSpPr txBox="1"/>
          <p:nvPr/>
        </p:nvSpPr>
        <p:spPr>
          <a:xfrm>
            <a:off x="7921869" y="1582615"/>
            <a:ext cx="1213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accent3">
                    <a:lumMod val="75000"/>
                  </a:schemeClr>
                </a:solidFill>
              </a:rPr>
              <a:t>CS-1 = x0</a:t>
            </a:r>
            <a:endParaRPr lang="en-US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8927126" y="1559168"/>
            <a:ext cx="5158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accent3">
                    <a:lumMod val="75000"/>
                  </a:schemeClr>
                </a:solidFill>
              </a:rPr>
              <a:t> x1</a:t>
            </a:r>
            <a:endParaRPr lang="en-US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45" name="Multiply 44"/>
          <p:cNvSpPr/>
          <p:nvPr/>
        </p:nvSpPr>
        <p:spPr>
          <a:xfrm>
            <a:off x="8765930" y="1626579"/>
            <a:ext cx="211015" cy="307731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46" name="Multiply 45"/>
          <p:cNvSpPr/>
          <p:nvPr/>
        </p:nvSpPr>
        <p:spPr>
          <a:xfrm>
            <a:off x="9076587" y="1620722"/>
            <a:ext cx="211015" cy="307731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47" name="TextBox 46"/>
          <p:cNvSpPr txBox="1"/>
          <p:nvPr/>
        </p:nvSpPr>
        <p:spPr>
          <a:xfrm>
            <a:off x="9193829" y="1553308"/>
            <a:ext cx="5158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accent3">
                    <a:lumMod val="75000"/>
                  </a:schemeClr>
                </a:solidFill>
              </a:rPr>
              <a:t> x2</a:t>
            </a:r>
            <a:endParaRPr lang="en-US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7916010" y="1998784"/>
            <a:ext cx="1213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accent3">
                    <a:lumMod val="75000"/>
                  </a:schemeClr>
                </a:solidFill>
              </a:rPr>
              <a:t>CS-2 = x3</a:t>
            </a:r>
            <a:endParaRPr lang="en-US" dirty="0">
              <a:solidFill>
                <a:schemeClr val="accent3">
                  <a:lumMod val="75000"/>
                </a:schemeClr>
              </a:solidFill>
            </a:endParaRPr>
          </a:p>
        </p:txBody>
      </p:sp>
      <p:cxnSp>
        <p:nvCxnSpPr>
          <p:cNvPr id="49" name="Straight Arrow Connector 48"/>
          <p:cNvCxnSpPr/>
          <p:nvPr/>
        </p:nvCxnSpPr>
        <p:spPr>
          <a:xfrm flipV="1">
            <a:off x="8792306" y="2170375"/>
            <a:ext cx="595223" cy="17252"/>
          </a:xfrm>
          <a:prstGeom prst="straightConnector1">
            <a:avLst/>
          </a:prstGeom>
          <a:ln w="1905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Multiply 49"/>
          <p:cNvSpPr/>
          <p:nvPr/>
        </p:nvSpPr>
        <p:spPr>
          <a:xfrm>
            <a:off x="9419492" y="2007579"/>
            <a:ext cx="211015" cy="307731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51" name="TextBox 50"/>
          <p:cNvSpPr txBox="1"/>
          <p:nvPr/>
        </p:nvSpPr>
        <p:spPr>
          <a:xfrm>
            <a:off x="7918946" y="2362192"/>
            <a:ext cx="1213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accent3">
                    <a:lumMod val="75000"/>
                  </a:schemeClr>
                </a:solidFill>
              </a:rPr>
              <a:t>CS-3 = x4</a:t>
            </a:r>
            <a:endParaRPr lang="en-US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7904294" y="2743192"/>
            <a:ext cx="1213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accent3">
                    <a:lumMod val="75000"/>
                  </a:schemeClr>
                </a:solidFill>
              </a:rPr>
              <a:t>CS-4 = x3</a:t>
            </a:r>
            <a:endParaRPr lang="en-US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1296" y="0"/>
            <a:ext cx="1346591" cy="306407"/>
          </a:xfrm>
        </p:spPr>
        <p:txBody>
          <a:bodyPr/>
          <a:lstStyle/>
          <a:p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NFA Continues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6934" y="577801"/>
            <a:ext cx="8946541" cy="4195481"/>
          </a:xfrm>
        </p:spPr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 = All words that start with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and end with bb are valid.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 = {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babb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baabb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babbb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baaabb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baabbb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…………}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 =           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67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562283" y="1431655"/>
            <a:ext cx="8971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a+b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)*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11" name="Group 38"/>
          <p:cNvGrpSpPr/>
          <p:nvPr/>
        </p:nvGrpSpPr>
        <p:grpSpPr>
          <a:xfrm>
            <a:off x="618945" y="3275272"/>
            <a:ext cx="5909095" cy="1258157"/>
            <a:chOff x="733245" y="2202610"/>
            <a:chExt cx="5909095" cy="1258157"/>
          </a:xfrm>
        </p:grpSpPr>
        <p:sp>
          <p:nvSpPr>
            <p:cNvPr id="6" name="Oval 5"/>
            <p:cNvSpPr/>
            <p:nvPr/>
          </p:nvSpPr>
          <p:spPr>
            <a:xfrm>
              <a:off x="1173192" y="2958860"/>
              <a:ext cx="560717" cy="48307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x0</a:t>
              </a:r>
              <a:endParaRPr lang="en-US" sz="16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" name="Oval 6"/>
            <p:cNvSpPr/>
            <p:nvPr/>
          </p:nvSpPr>
          <p:spPr>
            <a:xfrm>
              <a:off x="2360761" y="2930103"/>
              <a:ext cx="560717" cy="48307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x1</a:t>
              </a:r>
              <a:endParaRPr lang="en-US" sz="16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" name="Oval 7"/>
            <p:cNvSpPr/>
            <p:nvPr/>
          </p:nvSpPr>
          <p:spPr>
            <a:xfrm>
              <a:off x="3565585" y="2927230"/>
              <a:ext cx="560717" cy="48307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x2</a:t>
              </a:r>
              <a:endParaRPr lang="en-US" sz="16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" name="Oval 8"/>
            <p:cNvSpPr/>
            <p:nvPr/>
          </p:nvSpPr>
          <p:spPr>
            <a:xfrm>
              <a:off x="4770407" y="2898475"/>
              <a:ext cx="560717" cy="48307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x3</a:t>
              </a:r>
              <a:endParaRPr lang="en-US" sz="1600" dirty="0"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12" name="Group 15"/>
            <p:cNvGrpSpPr/>
            <p:nvPr/>
          </p:nvGrpSpPr>
          <p:grpSpPr>
            <a:xfrm>
              <a:off x="5934973" y="2786331"/>
              <a:ext cx="707367" cy="638355"/>
              <a:chOff x="6478436" y="3209026"/>
              <a:chExt cx="707367" cy="638355"/>
            </a:xfrm>
          </p:grpSpPr>
          <p:sp>
            <p:nvSpPr>
              <p:cNvPr id="10" name="Oval 9">
                <a:extLst>
                  <a:ext uri="{FF2B5EF4-FFF2-40B4-BE49-F238E27FC236}">
                    <a16:creationId xmlns="" xmlns:a16="http://schemas.microsoft.com/office/drawing/2014/main" id="{1A90B709-A6EF-4AF3-8058-50CF1F57FBE0}"/>
                  </a:ext>
                </a:extLst>
              </p:cNvPr>
              <p:cNvSpPr/>
              <p:nvPr/>
            </p:nvSpPr>
            <p:spPr>
              <a:xfrm>
                <a:off x="6478436" y="3209026"/>
                <a:ext cx="707367" cy="638355"/>
              </a:xfrm>
              <a:prstGeom prst="ellips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5" name="Oval 14"/>
              <p:cNvSpPr/>
              <p:nvPr/>
            </p:nvSpPr>
            <p:spPr>
              <a:xfrm>
                <a:off x="6544573" y="3283789"/>
                <a:ext cx="560717" cy="483079"/>
              </a:xfrm>
              <a:prstGeom prst="ellips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 smtClean="0">
                    <a:latin typeface="Times New Roman" pitchFamily="18" charset="0"/>
                    <a:cs typeface="Times New Roman" pitchFamily="18" charset="0"/>
                  </a:rPr>
                  <a:t>x4</a:t>
                </a:r>
                <a:endParaRPr lang="en-US" sz="16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cxnSp>
          <p:nvCxnSpPr>
            <p:cNvPr id="18" name="Straight Arrow Connector 17"/>
            <p:cNvCxnSpPr/>
            <p:nvPr/>
          </p:nvCxnSpPr>
          <p:spPr>
            <a:xfrm flipV="1">
              <a:off x="1759790" y="3183149"/>
              <a:ext cx="595223" cy="17252"/>
            </a:xfrm>
            <a:prstGeom prst="straightConnector1">
              <a:avLst/>
            </a:prstGeom>
            <a:ln w="1905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/>
            <p:nvPr/>
          </p:nvCxnSpPr>
          <p:spPr>
            <a:xfrm>
              <a:off x="733245" y="3209026"/>
              <a:ext cx="402571" cy="7335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/>
            <p:nvPr/>
          </p:nvCxnSpPr>
          <p:spPr>
            <a:xfrm flipV="1">
              <a:off x="2938731" y="3163018"/>
              <a:ext cx="595223" cy="17252"/>
            </a:xfrm>
            <a:prstGeom prst="straightConnector1">
              <a:avLst/>
            </a:prstGeom>
            <a:ln w="1905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/>
            <p:nvPr/>
          </p:nvCxnSpPr>
          <p:spPr>
            <a:xfrm flipV="1">
              <a:off x="5333998" y="3117013"/>
              <a:ext cx="595223" cy="17252"/>
            </a:xfrm>
            <a:prstGeom prst="straightConnector1">
              <a:avLst/>
            </a:prstGeom>
            <a:ln w="1905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/>
            <p:nvPr/>
          </p:nvCxnSpPr>
          <p:spPr>
            <a:xfrm flipV="1">
              <a:off x="4166558" y="3140016"/>
              <a:ext cx="595223" cy="17252"/>
            </a:xfrm>
            <a:prstGeom prst="straightConnector1">
              <a:avLst/>
            </a:prstGeom>
            <a:ln w="1905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="" xmlns:a16="http://schemas.microsoft.com/office/drawing/2014/main" id="{B21A631C-D2FE-49B1-8957-E25DAB8A74E9}"/>
                </a:ext>
              </a:extLst>
            </p:cNvPr>
            <p:cNvSpPr txBox="1"/>
            <p:nvPr/>
          </p:nvSpPr>
          <p:spPr>
            <a:xfrm>
              <a:off x="2986817" y="2787657"/>
              <a:ext cx="2359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="" xmlns:a16="http://schemas.microsoft.com/office/drawing/2014/main" id="{B21A631C-D2FE-49B1-8957-E25DAB8A74E9}"/>
                </a:ext>
              </a:extLst>
            </p:cNvPr>
            <p:cNvSpPr txBox="1"/>
            <p:nvPr/>
          </p:nvSpPr>
          <p:spPr>
            <a:xfrm>
              <a:off x="1827836" y="2785444"/>
              <a:ext cx="2359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="" xmlns:a16="http://schemas.microsoft.com/office/drawing/2014/main" id="{B21A631C-D2FE-49B1-8957-E25DAB8A74E9}"/>
                </a:ext>
              </a:extLst>
            </p:cNvPr>
            <p:cNvSpPr txBox="1"/>
            <p:nvPr/>
          </p:nvSpPr>
          <p:spPr>
            <a:xfrm>
              <a:off x="5404757" y="2722184"/>
              <a:ext cx="2359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="" xmlns:a16="http://schemas.microsoft.com/office/drawing/2014/main" id="{B21A631C-D2FE-49B1-8957-E25DAB8A74E9}"/>
                </a:ext>
              </a:extLst>
            </p:cNvPr>
            <p:cNvSpPr txBox="1"/>
            <p:nvPr/>
          </p:nvSpPr>
          <p:spPr>
            <a:xfrm>
              <a:off x="4211437" y="2762937"/>
              <a:ext cx="2359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" name="Arc 31">
              <a:extLst>
                <a:ext uri="{FF2B5EF4-FFF2-40B4-BE49-F238E27FC236}">
                  <a16:creationId xmlns="" xmlns:a16="http://schemas.microsoft.com/office/drawing/2014/main" id="{4A9D3AB6-108E-4062-B22C-A1FC38CC204A}"/>
                </a:ext>
              </a:extLst>
            </p:cNvPr>
            <p:cNvSpPr/>
            <p:nvPr/>
          </p:nvSpPr>
          <p:spPr>
            <a:xfrm>
              <a:off x="3641805" y="2605177"/>
              <a:ext cx="408846" cy="855590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TextBox 32">
              <a:extLst>
                <a:ext uri="{FF2B5EF4-FFF2-40B4-BE49-F238E27FC236}">
                  <a16:creationId xmlns="" xmlns:a16="http://schemas.microsoft.com/office/drawing/2014/main" id="{B21A631C-D2FE-49B1-8957-E25DAB8A74E9}"/>
                </a:ext>
              </a:extLst>
            </p:cNvPr>
            <p:cNvSpPr txBox="1"/>
            <p:nvPr/>
          </p:nvSpPr>
          <p:spPr>
            <a:xfrm>
              <a:off x="3585908" y="2202610"/>
              <a:ext cx="74455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a/b</a:t>
              </a:r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4" name="TextBox 33"/>
          <p:cNvSpPr txBox="1"/>
          <p:nvPr/>
        </p:nvSpPr>
        <p:spPr>
          <a:xfrm>
            <a:off x="2260572" y="1443377"/>
            <a:ext cx="5098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bb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277932" y="1411139"/>
            <a:ext cx="4541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ba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88140" y="1946364"/>
            <a:ext cx="25036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Input :  </a:t>
            </a: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bababb</a:t>
            </a:r>
            <a:r>
              <a:rPr lang="en-US" sz="2000" b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bb</a:t>
            </a: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13" name="Group 26">
            <a:extLst>
              <a:ext uri="{FF2B5EF4-FFF2-40B4-BE49-F238E27FC236}">
                <a16:creationId xmlns="" xmlns:a16="http://schemas.microsoft.com/office/drawing/2014/main" id="{8D3C0EC3-1E6A-436B-B406-38A549AC7268}"/>
              </a:ext>
            </a:extLst>
          </p:cNvPr>
          <p:cNvGrpSpPr/>
          <p:nvPr/>
        </p:nvGrpSpPr>
        <p:grpSpPr>
          <a:xfrm rot="10800000">
            <a:off x="3378686" y="4555434"/>
            <a:ext cx="711403" cy="888332"/>
            <a:chOff x="6815615" y="2509921"/>
            <a:chExt cx="711403" cy="700772"/>
          </a:xfrm>
        </p:grpSpPr>
        <p:sp>
          <p:nvSpPr>
            <p:cNvPr id="37" name="Arrow: Up 57">
              <a:extLst>
                <a:ext uri="{FF2B5EF4-FFF2-40B4-BE49-F238E27FC236}">
                  <a16:creationId xmlns="" xmlns:a16="http://schemas.microsoft.com/office/drawing/2014/main" id="{E93022AA-FD9E-4354-A4A7-DF5F91C23E96}"/>
                </a:ext>
              </a:extLst>
            </p:cNvPr>
            <p:cNvSpPr/>
            <p:nvPr/>
          </p:nvSpPr>
          <p:spPr>
            <a:xfrm rot="10800000">
              <a:off x="7079191" y="2801785"/>
              <a:ext cx="156744" cy="408908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8" name="TextBox 37">
              <a:extLst>
                <a:ext uri="{FF2B5EF4-FFF2-40B4-BE49-F238E27FC236}">
                  <a16:creationId xmlns="" xmlns:a16="http://schemas.microsoft.com/office/drawing/2014/main" id="{BAF74065-B1AC-4D5B-9613-553AA58A4378}"/>
                </a:ext>
              </a:extLst>
            </p:cNvPr>
            <p:cNvSpPr txBox="1"/>
            <p:nvPr/>
          </p:nvSpPr>
          <p:spPr>
            <a:xfrm rot="10800000">
              <a:off x="6815615" y="2509921"/>
              <a:ext cx="711403" cy="2670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CS-1</a:t>
              </a:r>
            </a:p>
          </p:txBody>
        </p:sp>
      </p:grpSp>
      <p:grpSp>
        <p:nvGrpSpPr>
          <p:cNvPr id="14" name="Group 26">
            <a:extLst>
              <a:ext uri="{FF2B5EF4-FFF2-40B4-BE49-F238E27FC236}">
                <a16:creationId xmlns="" xmlns:a16="http://schemas.microsoft.com/office/drawing/2014/main" id="{8D3C0EC3-1E6A-436B-B406-38A549AC7268}"/>
              </a:ext>
            </a:extLst>
          </p:cNvPr>
          <p:cNvGrpSpPr/>
          <p:nvPr/>
        </p:nvGrpSpPr>
        <p:grpSpPr>
          <a:xfrm>
            <a:off x="5843465" y="2949372"/>
            <a:ext cx="711403" cy="888332"/>
            <a:chOff x="6815615" y="2509921"/>
            <a:chExt cx="711403" cy="700772"/>
          </a:xfrm>
        </p:grpSpPr>
        <p:sp>
          <p:nvSpPr>
            <p:cNvPr id="40" name="Arrow: Up 57">
              <a:extLst>
                <a:ext uri="{FF2B5EF4-FFF2-40B4-BE49-F238E27FC236}">
                  <a16:creationId xmlns="" xmlns:a16="http://schemas.microsoft.com/office/drawing/2014/main" id="{E93022AA-FD9E-4354-A4A7-DF5F91C23E96}"/>
                </a:ext>
              </a:extLst>
            </p:cNvPr>
            <p:cNvSpPr/>
            <p:nvPr/>
          </p:nvSpPr>
          <p:spPr>
            <a:xfrm rot="10800000">
              <a:off x="7079191" y="2801785"/>
              <a:ext cx="156744" cy="408908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="" xmlns:a16="http://schemas.microsoft.com/office/drawing/2014/main" id="{BAF74065-B1AC-4D5B-9613-553AA58A4378}"/>
                </a:ext>
              </a:extLst>
            </p:cNvPr>
            <p:cNvSpPr txBox="1"/>
            <p:nvPr/>
          </p:nvSpPr>
          <p:spPr>
            <a:xfrm>
              <a:off x="6815615" y="2509921"/>
              <a:ext cx="711403" cy="2670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 smtClean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CS-3</a:t>
              </a:r>
              <a:endParaRPr lang="en-US" sz="16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6" name="Group 26">
            <a:extLst>
              <a:ext uri="{FF2B5EF4-FFF2-40B4-BE49-F238E27FC236}">
                <a16:creationId xmlns="" xmlns:a16="http://schemas.microsoft.com/office/drawing/2014/main" id="{8D3C0EC3-1E6A-436B-B406-38A549AC7268}"/>
              </a:ext>
            </a:extLst>
          </p:cNvPr>
          <p:cNvGrpSpPr/>
          <p:nvPr/>
        </p:nvGrpSpPr>
        <p:grpSpPr>
          <a:xfrm>
            <a:off x="4553925" y="3040224"/>
            <a:ext cx="711403" cy="888332"/>
            <a:chOff x="6815615" y="2509921"/>
            <a:chExt cx="711403" cy="700772"/>
          </a:xfrm>
        </p:grpSpPr>
        <p:sp>
          <p:nvSpPr>
            <p:cNvPr id="42" name="Arrow: Up 57">
              <a:extLst>
                <a:ext uri="{FF2B5EF4-FFF2-40B4-BE49-F238E27FC236}">
                  <a16:creationId xmlns="" xmlns:a16="http://schemas.microsoft.com/office/drawing/2014/main" id="{E93022AA-FD9E-4354-A4A7-DF5F91C23E96}"/>
                </a:ext>
              </a:extLst>
            </p:cNvPr>
            <p:cNvSpPr/>
            <p:nvPr/>
          </p:nvSpPr>
          <p:spPr>
            <a:xfrm rot="10800000">
              <a:off x="7079191" y="2801785"/>
              <a:ext cx="156744" cy="408908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3" name="TextBox 42">
              <a:extLst>
                <a:ext uri="{FF2B5EF4-FFF2-40B4-BE49-F238E27FC236}">
                  <a16:creationId xmlns="" xmlns:a16="http://schemas.microsoft.com/office/drawing/2014/main" id="{BAF74065-B1AC-4D5B-9613-553AA58A4378}"/>
                </a:ext>
              </a:extLst>
            </p:cNvPr>
            <p:cNvSpPr txBox="1"/>
            <p:nvPr/>
          </p:nvSpPr>
          <p:spPr>
            <a:xfrm>
              <a:off x="6815615" y="2509921"/>
              <a:ext cx="711403" cy="2670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 smtClean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CS-4</a:t>
              </a:r>
              <a:endParaRPr lang="en-US" sz="16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9" name="TextBox 38"/>
          <p:cNvSpPr txBox="1"/>
          <p:nvPr/>
        </p:nvSpPr>
        <p:spPr>
          <a:xfrm>
            <a:off x="7921869" y="1582615"/>
            <a:ext cx="1213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accent3">
                    <a:lumMod val="75000"/>
                  </a:schemeClr>
                </a:solidFill>
              </a:rPr>
              <a:t>CS-1 = x0</a:t>
            </a:r>
            <a:endParaRPr lang="en-US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8927126" y="1559168"/>
            <a:ext cx="5158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accent3">
                    <a:lumMod val="75000"/>
                  </a:schemeClr>
                </a:solidFill>
              </a:rPr>
              <a:t> x1</a:t>
            </a:r>
            <a:endParaRPr lang="en-US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45" name="Multiply 44"/>
          <p:cNvSpPr/>
          <p:nvPr/>
        </p:nvSpPr>
        <p:spPr>
          <a:xfrm>
            <a:off x="8765930" y="1626579"/>
            <a:ext cx="211015" cy="307731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46" name="Multiply 45"/>
          <p:cNvSpPr/>
          <p:nvPr/>
        </p:nvSpPr>
        <p:spPr>
          <a:xfrm>
            <a:off x="9076587" y="1620722"/>
            <a:ext cx="211015" cy="307731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47" name="TextBox 46"/>
          <p:cNvSpPr txBox="1"/>
          <p:nvPr/>
        </p:nvSpPr>
        <p:spPr>
          <a:xfrm>
            <a:off x="9193829" y="1553308"/>
            <a:ext cx="5158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accent3">
                    <a:lumMod val="75000"/>
                  </a:schemeClr>
                </a:solidFill>
              </a:rPr>
              <a:t> x2</a:t>
            </a:r>
            <a:endParaRPr lang="en-US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7916010" y="1998784"/>
            <a:ext cx="1213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accent3">
                    <a:lumMod val="75000"/>
                  </a:schemeClr>
                </a:solidFill>
              </a:rPr>
              <a:t>CS-2 = x3</a:t>
            </a:r>
            <a:endParaRPr lang="en-US" dirty="0">
              <a:solidFill>
                <a:schemeClr val="accent3">
                  <a:lumMod val="75000"/>
                </a:schemeClr>
              </a:solidFill>
            </a:endParaRPr>
          </a:p>
        </p:txBody>
      </p:sp>
      <p:cxnSp>
        <p:nvCxnSpPr>
          <p:cNvPr id="49" name="Straight Arrow Connector 48"/>
          <p:cNvCxnSpPr/>
          <p:nvPr/>
        </p:nvCxnSpPr>
        <p:spPr>
          <a:xfrm flipV="1">
            <a:off x="8792306" y="2170375"/>
            <a:ext cx="595223" cy="17252"/>
          </a:xfrm>
          <a:prstGeom prst="straightConnector1">
            <a:avLst/>
          </a:prstGeom>
          <a:ln w="1905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Multiply 49"/>
          <p:cNvSpPr/>
          <p:nvPr/>
        </p:nvSpPr>
        <p:spPr>
          <a:xfrm>
            <a:off x="9419492" y="2007579"/>
            <a:ext cx="211015" cy="307731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51" name="TextBox 50"/>
          <p:cNvSpPr txBox="1"/>
          <p:nvPr/>
        </p:nvSpPr>
        <p:spPr>
          <a:xfrm>
            <a:off x="7918946" y="2362192"/>
            <a:ext cx="1213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accent3">
                    <a:lumMod val="75000"/>
                  </a:schemeClr>
                </a:solidFill>
              </a:rPr>
              <a:t>CS-3 = x4</a:t>
            </a:r>
            <a:endParaRPr lang="en-US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7904294" y="2743192"/>
            <a:ext cx="1213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accent3">
                    <a:lumMod val="75000"/>
                  </a:schemeClr>
                </a:solidFill>
              </a:rPr>
              <a:t>CS-4 = x3</a:t>
            </a:r>
            <a:endParaRPr lang="en-US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1296" y="0"/>
            <a:ext cx="1346591" cy="306407"/>
          </a:xfrm>
        </p:spPr>
        <p:txBody>
          <a:bodyPr/>
          <a:lstStyle/>
          <a:p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NFA Continues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6934" y="577801"/>
            <a:ext cx="8946541" cy="4195481"/>
          </a:xfrm>
        </p:spPr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 = All words that start with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and end with bb are valid.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 = {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babb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baabb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babbb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baaabb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baabbb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…………}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 =           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68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562283" y="1431655"/>
            <a:ext cx="8971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a+b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)*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11" name="Group 38"/>
          <p:cNvGrpSpPr/>
          <p:nvPr/>
        </p:nvGrpSpPr>
        <p:grpSpPr>
          <a:xfrm>
            <a:off x="618945" y="3275272"/>
            <a:ext cx="5909095" cy="1258157"/>
            <a:chOff x="733245" y="2202610"/>
            <a:chExt cx="5909095" cy="1258157"/>
          </a:xfrm>
        </p:grpSpPr>
        <p:sp>
          <p:nvSpPr>
            <p:cNvPr id="6" name="Oval 5"/>
            <p:cNvSpPr/>
            <p:nvPr/>
          </p:nvSpPr>
          <p:spPr>
            <a:xfrm>
              <a:off x="1173192" y="2958860"/>
              <a:ext cx="560717" cy="48307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x0</a:t>
              </a:r>
              <a:endParaRPr lang="en-US" sz="16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" name="Oval 6"/>
            <p:cNvSpPr/>
            <p:nvPr/>
          </p:nvSpPr>
          <p:spPr>
            <a:xfrm>
              <a:off x="2360761" y="2930103"/>
              <a:ext cx="560717" cy="48307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x1</a:t>
              </a:r>
              <a:endParaRPr lang="en-US" sz="16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" name="Oval 7"/>
            <p:cNvSpPr/>
            <p:nvPr/>
          </p:nvSpPr>
          <p:spPr>
            <a:xfrm>
              <a:off x="3565585" y="2927230"/>
              <a:ext cx="560717" cy="48307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x2</a:t>
              </a:r>
              <a:endParaRPr lang="en-US" sz="16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" name="Oval 8"/>
            <p:cNvSpPr/>
            <p:nvPr/>
          </p:nvSpPr>
          <p:spPr>
            <a:xfrm>
              <a:off x="4770407" y="2898475"/>
              <a:ext cx="560717" cy="48307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x3</a:t>
              </a:r>
              <a:endParaRPr lang="en-US" sz="1600" dirty="0"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12" name="Group 15"/>
            <p:cNvGrpSpPr/>
            <p:nvPr/>
          </p:nvGrpSpPr>
          <p:grpSpPr>
            <a:xfrm>
              <a:off x="5934973" y="2786331"/>
              <a:ext cx="707367" cy="638355"/>
              <a:chOff x="6478436" y="3209026"/>
              <a:chExt cx="707367" cy="638355"/>
            </a:xfrm>
          </p:grpSpPr>
          <p:sp>
            <p:nvSpPr>
              <p:cNvPr id="10" name="Oval 9">
                <a:extLst>
                  <a:ext uri="{FF2B5EF4-FFF2-40B4-BE49-F238E27FC236}">
                    <a16:creationId xmlns="" xmlns:a16="http://schemas.microsoft.com/office/drawing/2014/main" id="{1A90B709-A6EF-4AF3-8058-50CF1F57FBE0}"/>
                  </a:ext>
                </a:extLst>
              </p:cNvPr>
              <p:cNvSpPr/>
              <p:nvPr/>
            </p:nvSpPr>
            <p:spPr>
              <a:xfrm>
                <a:off x="6478436" y="3209026"/>
                <a:ext cx="707367" cy="638355"/>
              </a:xfrm>
              <a:prstGeom prst="ellips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5" name="Oval 14"/>
              <p:cNvSpPr/>
              <p:nvPr/>
            </p:nvSpPr>
            <p:spPr>
              <a:xfrm>
                <a:off x="6544573" y="3283789"/>
                <a:ext cx="560717" cy="483079"/>
              </a:xfrm>
              <a:prstGeom prst="ellips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 smtClean="0">
                    <a:latin typeface="Times New Roman" pitchFamily="18" charset="0"/>
                    <a:cs typeface="Times New Roman" pitchFamily="18" charset="0"/>
                  </a:rPr>
                  <a:t>x4</a:t>
                </a:r>
                <a:endParaRPr lang="en-US" sz="16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cxnSp>
          <p:nvCxnSpPr>
            <p:cNvPr id="18" name="Straight Arrow Connector 17"/>
            <p:cNvCxnSpPr/>
            <p:nvPr/>
          </p:nvCxnSpPr>
          <p:spPr>
            <a:xfrm flipV="1">
              <a:off x="1759790" y="3183149"/>
              <a:ext cx="595223" cy="17252"/>
            </a:xfrm>
            <a:prstGeom prst="straightConnector1">
              <a:avLst/>
            </a:prstGeom>
            <a:ln w="1905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/>
            <p:nvPr/>
          </p:nvCxnSpPr>
          <p:spPr>
            <a:xfrm>
              <a:off x="733245" y="3209026"/>
              <a:ext cx="402571" cy="7335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/>
            <p:nvPr/>
          </p:nvCxnSpPr>
          <p:spPr>
            <a:xfrm flipV="1">
              <a:off x="2938731" y="3163018"/>
              <a:ext cx="595223" cy="17252"/>
            </a:xfrm>
            <a:prstGeom prst="straightConnector1">
              <a:avLst/>
            </a:prstGeom>
            <a:ln w="1905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/>
            <p:nvPr/>
          </p:nvCxnSpPr>
          <p:spPr>
            <a:xfrm flipV="1">
              <a:off x="5333998" y="3117013"/>
              <a:ext cx="595223" cy="17252"/>
            </a:xfrm>
            <a:prstGeom prst="straightConnector1">
              <a:avLst/>
            </a:prstGeom>
            <a:ln w="1905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/>
            <p:nvPr/>
          </p:nvCxnSpPr>
          <p:spPr>
            <a:xfrm flipV="1">
              <a:off x="4166558" y="3140016"/>
              <a:ext cx="595223" cy="17252"/>
            </a:xfrm>
            <a:prstGeom prst="straightConnector1">
              <a:avLst/>
            </a:prstGeom>
            <a:ln w="1905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="" xmlns:a16="http://schemas.microsoft.com/office/drawing/2014/main" id="{B21A631C-D2FE-49B1-8957-E25DAB8A74E9}"/>
                </a:ext>
              </a:extLst>
            </p:cNvPr>
            <p:cNvSpPr txBox="1"/>
            <p:nvPr/>
          </p:nvSpPr>
          <p:spPr>
            <a:xfrm>
              <a:off x="2986817" y="2787657"/>
              <a:ext cx="2359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="" xmlns:a16="http://schemas.microsoft.com/office/drawing/2014/main" id="{B21A631C-D2FE-49B1-8957-E25DAB8A74E9}"/>
                </a:ext>
              </a:extLst>
            </p:cNvPr>
            <p:cNvSpPr txBox="1"/>
            <p:nvPr/>
          </p:nvSpPr>
          <p:spPr>
            <a:xfrm>
              <a:off x="1827836" y="2785444"/>
              <a:ext cx="2359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="" xmlns:a16="http://schemas.microsoft.com/office/drawing/2014/main" id="{B21A631C-D2FE-49B1-8957-E25DAB8A74E9}"/>
                </a:ext>
              </a:extLst>
            </p:cNvPr>
            <p:cNvSpPr txBox="1"/>
            <p:nvPr/>
          </p:nvSpPr>
          <p:spPr>
            <a:xfrm>
              <a:off x="5404757" y="2722184"/>
              <a:ext cx="2359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="" xmlns:a16="http://schemas.microsoft.com/office/drawing/2014/main" id="{B21A631C-D2FE-49B1-8957-E25DAB8A74E9}"/>
                </a:ext>
              </a:extLst>
            </p:cNvPr>
            <p:cNvSpPr txBox="1"/>
            <p:nvPr/>
          </p:nvSpPr>
          <p:spPr>
            <a:xfrm>
              <a:off x="4211437" y="2762937"/>
              <a:ext cx="2359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" name="Arc 31">
              <a:extLst>
                <a:ext uri="{FF2B5EF4-FFF2-40B4-BE49-F238E27FC236}">
                  <a16:creationId xmlns="" xmlns:a16="http://schemas.microsoft.com/office/drawing/2014/main" id="{4A9D3AB6-108E-4062-B22C-A1FC38CC204A}"/>
                </a:ext>
              </a:extLst>
            </p:cNvPr>
            <p:cNvSpPr/>
            <p:nvPr/>
          </p:nvSpPr>
          <p:spPr>
            <a:xfrm>
              <a:off x="3641805" y="2605177"/>
              <a:ext cx="408846" cy="855590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TextBox 32">
              <a:extLst>
                <a:ext uri="{FF2B5EF4-FFF2-40B4-BE49-F238E27FC236}">
                  <a16:creationId xmlns="" xmlns:a16="http://schemas.microsoft.com/office/drawing/2014/main" id="{B21A631C-D2FE-49B1-8957-E25DAB8A74E9}"/>
                </a:ext>
              </a:extLst>
            </p:cNvPr>
            <p:cNvSpPr txBox="1"/>
            <p:nvPr/>
          </p:nvSpPr>
          <p:spPr>
            <a:xfrm>
              <a:off x="3585908" y="2202610"/>
              <a:ext cx="74455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a/b</a:t>
              </a:r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4" name="TextBox 33"/>
          <p:cNvSpPr txBox="1"/>
          <p:nvPr/>
        </p:nvSpPr>
        <p:spPr>
          <a:xfrm>
            <a:off x="2260572" y="1443377"/>
            <a:ext cx="5098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bb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277932" y="1411139"/>
            <a:ext cx="4541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ba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88140" y="1946364"/>
            <a:ext cx="25036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Input :  </a:t>
            </a: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bababb</a:t>
            </a:r>
            <a:r>
              <a:rPr lang="en-US" sz="2000" b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bb</a:t>
            </a: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13" name="Group 26">
            <a:extLst>
              <a:ext uri="{FF2B5EF4-FFF2-40B4-BE49-F238E27FC236}">
                <a16:creationId xmlns="" xmlns:a16="http://schemas.microsoft.com/office/drawing/2014/main" id="{8D3C0EC3-1E6A-436B-B406-38A549AC7268}"/>
              </a:ext>
            </a:extLst>
          </p:cNvPr>
          <p:cNvGrpSpPr/>
          <p:nvPr/>
        </p:nvGrpSpPr>
        <p:grpSpPr>
          <a:xfrm rot="10800000">
            <a:off x="3378686" y="4555434"/>
            <a:ext cx="711403" cy="888332"/>
            <a:chOff x="6815615" y="2509921"/>
            <a:chExt cx="711403" cy="700772"/>
          </a:xfrm>
        </p:grpSpPr>
        <p:sp>
          <p:nvSpPr>
            <p:cNvPr id="37" name="Arrow: Up 57">
              <a:extLst>
                <a:ext uri="{FF2B5EF4-FFF2-40B4-BE49-F238E27FC236}">
                  <a16:creationId xmlns="" xmlns:a16="http://schemas.microsoft.com/office/drawing/2014/main" id="{E93022AA-FD9E-4354-A4A7-DF5F91C23E96}"/>
                </a:ext>
              </a:extLst>
            </p:cNvPr>
            <p:cNvSpPr/>
            <p:nvPr/>
          </p:nvSpPr>
          <p:spPr>
            <a:xfrm rot="10800000">
              <a:off x="7079191" y="2801785"/>
              <a:ext cx="156744" cy="408908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8" name="TextBox 37">
              <a:extLst>
                <a:ext uri="{FF2B5EF4-FFF2-40B4-BE49-F238E27FC236}">
                  <a16:creationId xmlns="" xmlns:a16="http://schemas.microsoft.com/office/drawing/2014/main" id="{BAF74065-B1AC-4D5B-9613-553AA58A4378}"/>
                </a:ext>
              </a:extLst>
            </p:cNvPr>
            <p:cNvSpPr txBox="1"/>
            <p:nvPr/>
          </p:nvSpPr>
          <p:spPr>
            <a:xfrm rot="10800000">
              <a:off x="6815615" y="2509921"/>
              <a:ext cx="711403" cy="2670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CS-1</a:t>
              </a:r>
            </a:p>
          </p:txBody>
        </p:sp>
      </p:grpSp>
      <p:grpSp>
        <p:nvGrpSpPr>
          <p:cNvPr id="14" name="Group 26">
            <a:extLst>
              <a:ext uri="{FF2B5EF4-FFF2-40B4-BE49-F238E27FC236}">
                <a16:creationId xmlns="" xmlns:a16="http://schemas.microsoft.com/office/drawing/2014/main" id="{8D3C0EC3-1E6A-436B-B406-38A549AC7268}"/>
              </a:ext>
            </a:extLst>
          </p:cNvPr>
          <p:cNvGrpSpPr/>
          <p:nvPr/>
        </p:nvGrpSpPr>
        <p:grpSpPr>
          <a:xfrm>
            <a:off x="5843465" y="2949372"/>
            <a:ext cx="711403" cy="888332"/>
            <a:chOff x="6815615" y="2509921"/>
            <a:chExt cx="711403" cy="700772"/>
          </a:xfrm>
        </p:grpSpPr>
        <p:sp>
          <p:nvSpPr>
            <p:cNvPr id="40" name="Arrow: Up 57">
              <a:extLst>
                <a:ext uri="{FF2B5EF4-FFF2-40B4-BE49-F238E27FC236}">
                  <a16:creationId xmlns="" xmlns:a16="http://schemas.microsoft.com/office/drawing/2014/main" id="{E93022AA-FD9E-4354-A4A7-DF5F91C23E96}"/>
                </a:ext>
              </a:extLst>
            </p:cNvPr>
            <p:cNvSpPr/>
            <p:nvPr/>
          </p:nvSpPr>
          <p:spPr>
            <a:xfrm rot="10800000">
              <a:off x="7079191" y="2801785"/>
              <a:ext cx="156744" cy="408908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="" xmlns:a16="http://schemas.microsoft.com/office/drawing/2014/main" id="{BAF74065-B1AC-4D5B-9613-553AA58A4378}"/>
                </a:ext>
              </a:extLst>
            </p:cNvPr>
            <p:cNvSpPr txBox="1"/>
            <p:nvPr/>
          </p:nvSpPr>
          <p:spPr>
            <a:xfrm>
              <a:off x="6815615" y="2509921"/>
              <a:ext cx="711403" cy="2670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 smtClean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CS-3</a:t>
              </a:r>
              <a:endParaRPr lang="en-US" sz="16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9" name="TextBox 38"/>
          <p:cNvSpPr txBox="1"/>
          <p:nvPr/>
        </p:nvSpPr>
        <p:spPr>
          <a:xfrm>
            <a:off x="7921869" y="1582615"/>
            <a:ext cx="1213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accent3">
                    <a:lumMod val="75000"/>
                  </a:schemeClr>
                </a:solidFill>
              </a:rPr>
              <a:t>CS-1 = x0</a:t>
            </a:r>
            <a:endParaRPr lang="en-US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8927126" y="1559168"/>
            <a:ext cx="5158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accent3">
                    <a:lumMod val="75000"/>
                  </a:schemeClr>
                </a:solidFill>
              </a:rPr>
              <a:t> x1</a:t>
            </a:r>
            <a:endParaRPr lang="en-US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45" name="Multiply 44"/>
          <p:cNvSpPr/>
          <p:nvPr/>
        </p:nvSpPr>
        <p:spPr>
          <a:xfrm>
            <a:off x="8765930" y="1626579"/>
            <a:ext cx="211015" cy="307731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46" name="Multiply 45"/>
          <p:cNvSpPr/>
          <p:nvPr/>
        </p:nvSpPr>
        <p:spPr>
          <a:xfrm>
            <a:off x="9076587" y="1620722"/>
            <a:ext cx="211015" cy="307731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47" name="TextBox 46"/>
          <p:cNvSpPr txBox="1"/>
          <p:nvPr/>
        </p:nvSpPr>
        <p:spPr>
          <a:xfrm>
            <a:off x="9193829" y="1553308"/>
            <a:ext cx="5158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accent3">
                    <a:lumMod val="75000"/>
                  </a:schemeClr>
                </a:solidFill>
              </a:rPr>
              <a:t> x2</a:t>
            </a:r>
            <a:endParaRPr lang="en-US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7916010" y="1998784"/>
            <a:ext cx="1213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accent3">
                    <a:lumMod val="75000"/>
                  </a:schemeClr>
                </a:solidFill>
              </a:rPr>
              <a:t>CS-2 = x3</a:t>
            </a:r>
            <a:endParaRPr lang="en-US" dirty="0">
              <a:solidFill>
                <a:schemeClr val="accent3">
                  <a:lumMod val="75000"/>
                </a:schemeClr>
              </a:solidFill>
            </a:endParaRPr>
          </a:p>
        </p:txBody>
      </p:sp>
      <p:cxnSp>
        <p:nvCxnSpPr>
          <p:cNvPr id="49" name="Straight Arrow Connector 48"/>
          <p:cNvCxnSpPr/>
          <p:nvPr/>
        </p:nvCxnSpPr>
        <p:spPr>
          <a:xfrm flipV="1">
            <a:off x="8792306" y="2170375"/>
            <a:ext cx="595223" cy="17252"/>
          </a:xfrm>
          <a:prstGeom prst="straightConnector1">
            <a:avLst/>
          </a:prstGeom>
          <a:ln w="1905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Multiply 49"/>
          <p:cNvSpPr/>
          <p:nvPr/>
        </p:nvSpPr>
        <p:spPr>
          <a:xfrm>
            <a:off x="9419492" y="2007579"/>
            <a:ext cx="211015" cy="307731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51" name="TextBox 50"/>
          <p:cNvSpPr txBox="1"/>
          <p:nvPr/>
        </p:nvSpPr>
        <p:spPr>
          <a:xfrm>
            <a:off x="7918946" y="2362192"/>
            <a:ext cx="1213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accent3">
                    <a:lumMod val="75000"/>
                  </a:schemeClr>
                </a:solidFill>
              </a:rPr>
              <a:t>CS-3 = x4</a:t>
            </a:r>
            <a:endParaRPr lang="en-US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7904294" y="2743192"/>
            <a:ext cx="1213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accent3">
                    <a:lumMod val="75000"/>
                  </a:schemeClr>
                </a:solidFill>
              </a:rPr>
              <a:t>CS-4 = x3</a:t>
            </a:r>
            <a:endParaRPr lang="en-US" dirty="0">
              <a:solidFill>
                <a:schemeClr val="accent3">
                  <a:lumMod val="75000"/>
                </a:schemeClr>
              </a:solidFill>
            </a:endParaRPr>
          </a:p>
        </p:txBody>
      </p:sp>
      <p:cxnSp>
        <p:nvCxnSpPr>
          <p:cNvPr id="53" name="Straight Arrow Connector 52"/>
          <p:cNvCxnSpPr/>
          <p:nvPr/>
        </p:nvCxnSpPr>
        <p:spPr>
          <a:xfrm flipV="1">
            <a:off x="8760068" y="2929445"/>
            <a:ext cx="595223" cy="17252"/>
          </a:xfrm>
          <a:prstGeom prst="straightConnector1">
            <a:avLst/>
          </a:prstGeom>
          <a:ln w="1905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Multiply 53"/>
          <p:cNvSpPr/>
          <p:nvPr/>
        </p:nvSpPr>
        <p:spPr>
          <a:xfrm>
            <a:off x="9387254" y="2766649"/>
            <a:ext cx="211015" cy="307731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1296" y="0"/>
            <a:ext cx="1346591" cy="306407"/>
          </a:xfrm>
        </p:spPr>
        <p:txBody>
          <a:bodyPr/>
          <a:lstStyle/>
          <a:p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NFA Continues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6934" y="577801"/>
            <a:ext cx="8946541" cy="4195481"/>
          </a:xfrm>
        </p:spPr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 = All words that start with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and end with bb are valid.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 = {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babb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baabb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babbb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baaabb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baabbb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…………}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 =           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69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562283" y="1431655"/>
            <a:ext cx="8971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a+b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)*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11" name="Group 38"/>
          <p:cNvGrpSpPr/>
          <p:nvPr/>
        </p:nvGrpSpPr>
        <p:grpSpPr>
          <a:xfrm>
            <a:off x="618945" y="3275272"/>
            <a:ext cx="5909095" cy="1258157"/>
            <a:chOff x="733245" y="2202610"/>
            <a:chExt cx="5909095" cy="1258157"/>
          </a:xfrm>
        </p:grpSpPr>
        <p:sp>
          <p:nvSpPr>
            <p:cNvPr id="6" name="Oval 5"/>
            <p:cNvSpPr/>
            <p:nvPr/>
          </p:nvSpPr>
          <p:spPr>
            <a:xfrm>
              <a:off x="1173192" y="2958860"/>
              <a:ext cx="560717" cy="48307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x0</a:t>
              </a:r>
              <a:endParaRPr lang="en-US" sz="16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" name="Oval 6"/>
            <p:cNvSpPr/>
            <p:nvPr/>
          </p:nvSpPr>
          <p:spPr>
            <a:xfrm>
              <a:off x="2360761" y="2930103"/>
              <a:ext cx="560717" cy="48307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x1</a:t>
              </a:r>
              <a:endParaRPr lang="en-US" sz="16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" name="Oval 7"/>
            <p:cNvSpPr/>
            <p:nvPr/>
          </p:nvSpPr>
          <p:spPr>
            <a:xfrm>
              <a:off x="3565585" y="2927230"/>
              <a:ext cx="560717" cy="48307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x2</a:t>
              </a:r>
              <a:endParaRPr lang="en-US" sz="16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" name="Oval 8"/>
            <p:cNvSpPr/>
            <p:nvPr/>
          </p:nvSpPr>
          <p:spPr>
            <a:xfrm>
              <a:off x="4770407" y="2898475"/>
              <a:ext cx="560717" cy="48307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x3</a:t>
              </a:r>
              <a:endParaRPr lang="en-US" sz="1600" dirty="0"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12" name="Group 15"/>
            <p:cNvGrpSpPr/>
            <p:nvPr/>
          </p:nvGrpSpPr>
          <p:grpSpPr>
            <a:xfrm>
              <a:off x="5934973" y="2786331"/>
              <a:ext cx="707367" cy="638355"/>
              <a:chOff x="6478436" y="3209026"/>
              <a:chExt cx="707367" cy="638355"/>
            </a:xfrm>
          </p:grpSpPr>
          <p:sp>
            <p:nvSpPr>
              <p:cNvPr id="10" name="Oval 9">
                <a:extLst>
                  <a:ext uri="{FF2B5EF4-FFF2-40B4-BE49-F238E27FC236}">
                    <a16:creationId xmlns="" xmlns:a16="http://schemas.microsoft.com/office/drawing/2014/main" id="{1A90B709-A6EF-4AF3-8058-50CF1F57FBE0}"/>
                  </a:ext>
                </a:extLst>
              </p:cNvPr>
              <p:cNvSpPr/>
              <p:nvPr/>
            </p:nvSpPr>
            <p:spPr>
              <a:xfrm>
                <a:off x="6478436" y="3209026"/>
                <a:ext cx="707367" cy="638355"/>
              </a:xfrm>
              <a:prstGeom prst="ellips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5" name="Oval 14"/>
              <p:cNvSpPr/>
              <p:nvPr/>
            </p:nvSpPr>
            <p:spPr>
              <a:xfrm>
                <a:off x="6544573" y="3283789"/>
                <a:ext cx="560717" cy="483079"/>
              </a:xfrm>
              <a:prstGeom prst="ellips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 smtClean="0">
                    <a:latin typeface="Times New Roman" pitchFamily="18" charset="0"/>
                    <a:cs typeface="Times New Roman" pitchFamily="18" charset="0"/>
                  </a:rPr>
                  <a:t>x4</a:t>
                </a:r>
                <a:endParaRPr lang="en-US" sz="16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cxnSp>
          <p:nvCxnSpPr>
            <p:cNvPr id="18" name="Straight Arrow Connector 17"/>
            <p:cNvCxnSpPr/>
            <p:nvPr/>
          </p:nvCxnSpPr>
          <p:spPr>
            <a:xfrm flipV="1">
              <a:off x="1759790" y="3183149"/>
              <a:ext cx="595223" cy="17252"/>
            </a:xfrm>
            <a:prstGeom prst="straightConnector1">
              <a:avLst/>
            </a:prstGeom>
            <a:ln w="1905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/>
            <p:nvPr/>
          </p:nvCxnSpPr>
          <p:spPr>
            <a:xfrm>
              <a:off x="733245" y="3209026"/>
              <a:ext cx="402571" cy="7335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/>
            <p:nvPr/>
          </p:nvCxnSpPr>
          <p:spPr>
            <a:xfrm flipV="1">
              <a:off x="2938731" y="3163018"/>
              <a:ext cx="595223" cy="17252"/>
            </a:xfrm>
            <a:prstGeom prst="straightConnector1">
              <a:avLst/>
            </a:prstGeom>
            <a:ln w="1905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/>
            <p:nvPr/>
          </p:nvCxnSpPr>
          <p:spPr>
            <a:xfrm flipV="1">
              <a:off x="5333998" y="3117013"/>
              <a:ext cx="595223" cy="17252"/>
            </a:xfrm>
            <a:prstGeom prst="straightConnector1">
              <a:avLst/>
            </a:prstGeom>
            <a:ln w="1905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/>
            <p:nvPr/>
          </p:nvCxnSpPr>
          <p:spPr>
            <a:xfrm flipV="1">
              <a:off x="4166558" y="3140016"/>
              <a:ext cx="595223" cy="17252"/>
            </a:xfrm>
            <a:prstGeom prst="straightConnector1">
              <a:avLst/>
            </a:prstGeom>
            <a:ln w="1905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="" xmlns:a16="http://schemas.microsoft.com/office/drawing/2014/main" id="{B21A631C-D2FE-49B1-8957-E25DAB8A74E9}"/>
                </a:ext>
              </a:extLst>
            </p:cNvPr>
            <p:cNvSpPr txBox="1"/>
            <p:nvPr/>
          </p:nvSpPr>
          <p:spPr>
            <a:xfrm>
              <a:off x="2986817" y="2787657"/>
              <a:ext cx="2359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="" xmlns:a16="http://schemas.microsoft.com/office/drawing/2014/main" id="{B21A631C-D2FE-49B1-8957-E25DAB8A74E9}"/>
                </a:ext>
              </a:extLst>
            </p:cNvPr>
            <p:cNvSpPr txBox="1"/>
            <p:nvPr/>
          </p:nvSpPr>
          <p:spPr>
            <a:xfrm>
              <a:off x="1827836" y="2785444"/>
              <a:ext cx="2359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="" xmlns:a16="http://schemas.microsoft.com/office/drawing/2014/main" id="{B21A631C-D2FE-49B1-8957-E25DAB8A74E9}"/>
                </a:ext>
              </a:extLst>
            </p:cNvPr>
            <p:cNvSpPr txBox="1"/>
            <p:nvPr/>
          </p:nvSpPr>
          <p:spPr>
            <a:xfrm>
              <a:off x="5404757" y="2722184"/>
              <a:ext cx="2359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="" xmlns:a16="http://schemas.microsoft.com/office/drawing/2014/main" id="{B21A631C-D2FE-49B1-8957-E25DAB8A74E9}"/>
                </a:ext>
              </a:extLst>
            </p:cNvPr>
            <p:cNvSpPr txBox="1"/>
            <p:nvPr/>
          </p:nvSpPr>
          <p:spPr>
            <a:xfrm>
              <a:off x="4211437" y="2762937"/>
              <a:ext cx="2359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" name="Arc 31">
              <a:extLst>
                <a:ext uri="{FF2B5EF4-FFF2-40B4-BE49-F238E27FC236}">
                  <a16:creationId xmlns="" xmlns:a16="http://schemas.microsoft.com/office/drawing/2014/main" id="{4A9D3AB6-108E-4062-B22C-A1FC38CC204A}"/>
                </a:ext>
              </a:extLst>
            </p:cNvPr>
            <p:cNvSpPr/>
            <p:nvPr/>
          </p:nvSpPr>
          <p:spPr>
            <a:xfrm>
              <a:off x="3641805" y="2605177"/>
              <a:ext cx="408846" cy="855590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TextBox 32">
              <a:extLst>
                <a:ext uri="{FF2B5EF4-FFF2-40B4-BE49-F238E27FC236}">
                  <a16:creationId xmlns="" xmlns:a16="http://schemas.microsoft.com/office/drawing/2014/main" id="{B21A631C-D2FE-49B1-8957-E25DAB8A74E9}"/>
                </a:ext>
              </a:extLst>
            </p:cNvPr>
            <p:cNvSpPr txBox="1"/>
            <p:nvPr/>
          </p:nvSpPr>
          <p:spPr>
            <a:xfrm>
              <a:off x="3585908" y="2202610"/>
              <a:ext cx="74455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a/b</a:t>
              </a:r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4" name="TextBox 33"/>
          <p:cNvSpPr txBox="1"/>
          <p:nvPr/>
        </p:nvSpPr>
        <p:spPr>
          <a:xfrm>
            <a:off x="2260572" y="1443377"/>
            <a:ext cx="5098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bb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277932" y="1411139"/>
            <a:ext cx="4541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ba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88140" y="1946364"/>
            <a:ext cx="25036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Input :  </a:t>
            </a: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bababb</a:t>
            </a:r>
            <a:r>
              <a:rPr lang="en-US" sz="2000" b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bb</a:t>
            </a: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13" name="Group 26">
            <a:extLst>
              <a:ext uri="{FF2B5EF4-FFF2-40B4-BE49-F238E27FC236}">
                <a16:creationId xmlns="" xmlns:a16="http://schemas.microsoft.com/office/drawing/2014/main" id="{8D3C0EC3-1E6A-436B-B406-38A549AC7268}"/>
              </a:ext>
            </a:extLst>
          </p:cNvPr>
          <p:cNvGrpSpPr/>
          <p:nvPr/>
        </p:nvGrpSpPr>
        <p:grpSpPr>
          <a:xfrm rot="10800000">
            <a:off x="3378686" y="4555434"/>
            <a:ext cx="711403" cy="888332"/>
            <a:chOff x="6815615" y="2509921"/>
            <a:chExt cx="711403" cy="700772"/>
          </a:xfrm>
        </p:grpSpPr>
        <p:sp>
          <p:nvSpPr>
            <p:cNvPr id="37" name="Arrow: Up 57">
              <a:extLst>
                <a:ext uri="{FF2B5EF4-FFF2-40B4-BE49-F238E27FC236}">
                  <a16:creationId xmlns="" xmlns:a16="http://schemas.microsoft.com/office/drawing/2014/main" id="{E93022AA-FD9E-4354-A4A7-DF5F91C23E96}"/>
                </a:ext>
              </a:extLst>
            </p:cNvPr>
            <p:cNvSpPr/>
            <p:nvPr/>
          </p:nvSpPr>
          <p:spPr>
            <a:xfrm rot="10800000">
              <a:off x="7079191" y="2801785"/>
              <a:ext cx="156744" cy="408908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8" name="TextBox 37">
              <a:extLst>
                <a:ext uri="{FF2B5EF4-FFF2-40B4-BE49-F238E27FC236}">
                  <a16:creationId xmlns="" xmlns:a16="http://schemas.microsoft.com/office/drawing/2014/main" id="{BAF74065-B1AC-4D5B-9613-553AA58A4378}"/>
                </a:ext>
              </a:extLst>
            </p:cNvPr>
            <p:cNvSpPr txBox="1"/>
            <p:nvPr/>
          </p:nvSpPr>
          <p:spPr>
            <a:xfrm rot="10800000">
              <a:off x="6815615" y="2509921"/>
              <a:ext cx="711403" cy="2670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CS-1</a:t>
              </a:r>
            </a:p>
          </p:txBody>
        </p:sp>
      </p:grpSp>
      <p:sp>
        <p:nvSpPr>
          <p:cNvPr id="39" name="TextBox 38"/>
          <p:cNvSpPr txBox="1"/>
          <p:nvPr/>
        </p:nvSpPr>
        <p:spPr>
          <a:xfrm>
            <a:off x="7921869" y="1582615"/>
            <a:ext cx="1213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accent3">
                    <a:lumMod val="75000"/>
                  </a:schemeClr>
                </a:solidFill>
              </a:rPr>
              <a:t>CS-1 = x0</a:t>
            </a:r>
            <a:endParaRPr lang="en-US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8927126" y="1559168"/>
            <a:ext cx="5158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accent3">
                    <a:lumMod val="75000"/>
                  </a:schemeClr>
                </a:solidFill>
              </a:rPr>
              <a:t> x1</a:t>
            </a:r>
            <a:endParaRPr lang="en-US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43" name="Multiply 42"/>
          <p:cNvSpPr/>
          <p:nvPr/>
        </p:nvSpPr>
        <p:spPr>
          <a:xfrm>
            <a:off x="8765930" y="1626579"/>
            <a:ext cx="211015" cy="307731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44" name="Multiply 43"/>
          <p:cNvSpPr/>
          <p:nvPr/>
        </p:nvSpPr>
        <p:spPr>
          <a:xfrm>
            <a:off x="9076587" y="1620722"/>
            <a:ext cx="211015" cy="307731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45" name="TextBox 44"/>
          <p:cNvSpPr txBox="1"/>
          <p:nvPr/>
        </p:nvSpPr>
        <p:spPr>
          <a:xfrm>
            <a:off x="9193829" y="1553308"/>
            <a:ext cx="5158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accent3">
                    <a:lumMod val="75000"/>
                  </a:schemeClr>
                </a:solidFill>
              </a:rPr>
              <a:t> x2</a:t>
            </a:r>
            <a:endParaRPr lang="en-US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7916010" y="1998784"/>
            <a:ext cx="1213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accent3">
                    <a:lumMod val="75000"/>
                  </a:schemeClr>
                </a:solidFill>
              </a:rPr>
              <a:t>CS-2 = x3</a:t>
            </a:r>
            <a:endParaRPr lang="en-US" dirty="0">
              <a:solidFill>
                <a:schemeClr val="accent3">
                  <a:lumMod val="75000"/>
                </a:schemeClr>
              </a:solidFill>
            </a:endParaRPr>
          </a:p>
        </p:txBody>
      </p:sp>
      <p:cxnSp>
        <p:nvCxnSpPr>
          <p:cNvPr id="47" name="Straight Arrow Connector 46"/>
          <p:cNvCxnSpPr/>
          <p:nvPr/>
        </p:nvCxnSpPr>
        <p:spPr>
          <a:xfrm flipV="1">
            <a:off x="8792306" y="2170375"/>
            <a:ext cx="595223" cy="17252"/>
          </a:xfrm>
          <a:prstGeom prst="straightConnector1">
            <a:avLst/>
          </a:prstGeom>
          <a:ln w="1905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Multiply 47"/>
          <p:cNvSpPr/>
          <p:nvPr/>
        </p:nvSpPr>
        <p:spPr>
          <a:xfrm>
            <a:off x="9419492" y="2007579"/>
            <a:ext cx="211015" cy="307731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49" name="TextBox 48"/>
          <p:cNvSpPr txBox="1"/>
          <p:nvPr/>
        </p:nvSpPr>
        <p:spPr>
          <a:xfrm>
            <a:off x="7918946" y="2362192"/>
            <a:ext cx="1213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accent3">
                    <a:lumMod val="75000"/>
                  </a:schemeClr>
                </a:solidFill>
              </a:rPr>
              <a:t>CS-3 = x4</a:t>
            </a:r>
            <a:endParaRPr lang="en-US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7904294" y="2743192"/>
            <a:ext cx="1213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accent3">
                    <a:lumMod val="75000"/>
                  </a:schemeClr>
                </a:solidFill>
              </a:rPr>
              <a:t>CS-4 = x3</a:t>
            </a:r>
            <a:endParaRPr lang="en-US" dirty="0">
              <a:solidFill>
                <a:schemeClr val="accent3">
                  <a:lumMod val="75000"/>
                </a:schemeClr>
              </a:solidFill>
            </a:endParaRPr>
          </a:p>
        </p:txBody>
      </p:sp>
      <p:cxnSp>
        <p:nvCxnSpPr>
          <p:cNvPr id="51" name="Straight Arrow Connector 50"/>
          <p:cNvCxnSpPr/>
          <p:nvPr/>
        </p:nvCxnSpPr>
        <p:spPr>
          <a:xfrm flipV="1">
            <a:off x="8760068" y="2929445"/>
            <a:ext cx="595223" cy="17252"/>
          </a:xfrm>
          <a:prstGeom prst="straightConnector1">
            <a:avLst/>
          </a:prstGeom>
          <a:ln w="1905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Multiply 51"/>
          <p:cNvSpPr/>
          <p:nvPr/>
        </p:nvSpPr>
        <p:spPr>
          <a:xfrm>
            <a:off x="9387254" y="2766649"/>
            <a:ext cx="211015" cy="307731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 </a:t>
            </a:r>
            <a:endParaRPr lang="en-US" dirty="0"/>
          </a:p>
        </p:txBody>
      </p:sp>
      <p:cxnSp>
        <p:nvCxnSpPr>
          <p:cNvPr id="53" name="Straight Arrow Connector 52"/>
          <p:cNvCxnSpPr/>
          <p:nvPr/>
        </p:nvCxnSpPr>
        <p:spPr>
          <a:xfrm flipV="1">
            <a:off x="8771792" y="2545514"/>
            <a:ext cx="595223" cy="17252"/>
          </a:xfrm>
          <a:prstGeom prst="straightConnector1">
            <a:avLst/>
          </a:prstGeom>
          <a:ln w="1905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Multiply 53"/>
          <p:cNvSpPr/>
          <p:nvPr/>
        </p:nvSpPr>
        <p:spPr>
          <a:xfrm>
            <a:off x="9398978" y="2382718"/>
            <a:ext cx="211015" cy="307731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1296" y="0"/>
            <a:ext cx="1346591" cy="306407"/>
          </a:xfrm>
        </p:spPr>
        <p:txBody>
          <a:bodyPr/>
          <a:lstStyle/>
          <a:p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NFA Continues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6934" y="577801"/>
            <a:ext cx="8946541" cy="4195481"/>
          </a:xfrm>
        </p:spPr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 = All words that start with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and end with bb are valid.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 = {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babb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baabb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babbb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baaabb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baabbb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…………}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 =           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70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562283" y="1431655"/>
            <a:ext cx="8971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a+b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)*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11" name="Group 38"/>
          <p:cNvGrpSpPr/>
          <p:nvPr/>
        </p:nvGrpSpPr>
        <p:grpSpPr>
          <a:xfrm>
            <a:off x="618945" y="3275272"/>
            <a:ext cx="5909095" cy="1258157"/>
            <a:chOff x="733245" y="2202610"/>
            <a:chExt cx="5909095" cy="1258157"/>
          </a:xfrm>
        </p:grpSpPr>
        <p:sp>
          <p:nvSpPr>
            <p:cNvPr id="6" name="Oval 5"/>
            <p:cNvSpPr/>
            <p:nvPr/>
          </p:nvSpPr>
          <p:spPr>
            <a:xfrm>
              <a:off x="1173192" y="2958860"/>
              <a:ext cx="560717" cy="48307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x0</a:t>
              </a:r>
              <a:endParaRPr lang="en-US" sz="16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" name="Oval 6"/>
            <p:cNvSpPr/>
            <p:nvPr/>
          </p:nvSpPr>
          <p:spPr>
            <a:xfrm>
              <a:off x="2360761" y="2930103"/>
              <a:ext cx="560717" cy="48307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x1</a:t>
              </a:r>
              <a:endParaRPr lang="en-US" sz="16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" name="Oval 7"/>
            <p:cNvSpPr/>
            <p:nvPr/>
          </p:nvSpPr>
          <p:spPr>
            <a:xfrm>
              <a:off x="3565585" y="2927230"/>
              <a:ext cx="560717" cy="48307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x2</a:t>
              </a:r>
              <a:endParaRPr lang="en-US" sz="16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" name="Oval 8"/>
            <p:cNvSpPr/>
            <p:nvPr/>
          </p:nvSpPr>
          <p:spPr>
            <a:xfrm>
              <a:off x="4770407" y="2898475"/>
              <a:ext cx="560717" cy="48307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x3</a:t>
              </a:r>
              <a:endParaRPr lang="en-US" sz="1600" dirty="0"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12" name="Group 15"/>
            <p:cNvGrpSpPr/>
            <p:nvPr/>
          </p:nvGrpSpPr>
          <p:grpSpPr>
            <a:xfrm>
              <a:off x="5934973" y="2786331"/>
              <a:ext cx="707367" cy="638355"/>
              <a:chOff x="6478436" y="3209026"/>
              <a:chExt cx="707367" cy="638355"/>
            </a:xfrm>
          </p:grpSpPr>
          <p:sp>
            <p:nvSpPr>
              <p:cNvPr id="10" name="Oval 9">
                <a:extLst>
                  <a:ext uri="{FF2B5EF4-FFF2-40B4-BE49-F238E27FC236}">
                    <a16:creationId xmlns="" xmlns:a16="http://schemas.microsoft.com/office/drawing/2014/main" id="{1A90B709-A6EF-4AF3-8058-50CF1F57FBE0}"/>
                  </a:ext>
                </a:extLst>
              </p:cNvPr>
              <p:cNvSpPr/>
              <p:nvPr/>
            </p:nvSpPr>
            <p:spPr>
              <a:xfrm>
                <a:off x="6478436" y="3209026"/>
                <a:ext cx="707367" cy="638355"/>
              </a:xfrm>
              <a:prstGeom prst="ellips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5" name="Oval 14"/>
              <p:cNvSpPr/>
              <p:nvPr/>
            </p:nvSpPr>
            <p:spPr>
              <a:xfrm>
                <a:off x="6544573" y="3283789"/>
                <a:ext cx="560717" cy="483079"/>
              </a:xfrm>
              <a:prstGeom prst="ellips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 smtClean="0">
                    <a:latin typeface="Times New Roman" pitchFamily="18" charset="0"/>
                    <a:cs typeface="Times New Roman" pitchFamily="18" charset="0"/>
                  </a:rPr>
                  <a:t>x4</a:t>
                </a:r>
                <a:endParaRPr lang="en-US" sz="16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cxnSp>
          <p:nvCxnSpPr>
            <p:cNvPr id="18" name="Straight Arrow Connector 17"/>
            <p:cNvCxnSpPr/>
            <p:nvPr/>
          </p:nvCxnSpPr>
          <p:spPr>
            <a:xfrm flipV="1">
              <a:off x="1759790" y="3183149"/>
              <a:ext cx="595223" cy="17252"/>
            </a:xfrm>
            <a:prstGeom prst="straightConnector1">
              <a:avLst/>
            </a:prstGeom>
            <a:ln w="1905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/>
            <p:nvPr/>
          </p:nvCxnSpPr>
          <p:spPr>
            <a:xfrm>
              <a:off x="733245" y="3209026"/>
              <a:ext cx="402571" cy="7335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/>
            <p:nvPr/>
          </p:nvCxnSpPr>
          <p:spPr>
            <a:xfrm flipV="1">
              <a:off x="2938731" y="3163018"/>
              <a:ext cx="595223" cy="17252"/>
            </a:xfrm>
            <a:prstGeom prst="straightConnector1">
              <a:avLst/>
            </a:prstGeom>
            <a:ln w="1905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/>
            <p:nvPr/>
          </p:nvCxnSpPr>
          <p:spPr>
            <a:xfrm flipV="1">
              <a:off x="5333998" y="3117013"/>
              <a:ext cx="595223" cy="17252"/>
            </a:xfrm>
            <a:prstGeom prst="straightConnector1">
              <a:avLst/>
            </a:prstGeom>
            <a:ln w="1905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/>
            <p:nvPr/>
          </p:nvCxnSpPr>
          <p:spPr>
            <a:xfrm flipV="1">
              <a:off x="4166558" y="3140016"/>
              <a:ext cx="595223" cy="17252"/>
            </a:xfrm>
            <a:prstGeom prst="straightConnector1">
              <a:avLst/>
            </a:prstGeom>
            <a:ln w="1905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="" xmlns:a16="http://schemas.microsoft.com/office/drawing/2014/main" id="{B21A631C-D2FE-49B1-8957-E25DAB8A74E9}"/>
                </a:ext>
              </a:extLst>
            </p:cNvPr>
            <p:cNvSpPr txBox="1"/>
            <p:nvPr/>
          </p:nvSpPr>
          <p:spPr>
            <a:xfrm>
              <a:off x="2986817" y="2787657"/>
              <a:ext cx="2359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="" xmlns:a16="http://schemas.microsoft.com/office/drawing/2014/main" id="{B21A631C-D2FE-49B1-8957-E25DAB8A74E9}"/>
                </a:ext>
              </a:extLst>
            </p:cNvPr>
            <p:cNvSpPr txBox="1"/>
            <p:nvPr/>
          </p:nvSpPr>
          <p:spPr>
            <a:xfrm>
              <a:off x="1827836" y="2785444"/>
              <a:ext cx="2359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="" xmlns:a16="http://schemas.microsoft.com/office/drawing/2014/main" id="{B21A631C-D2FE-49B1-8957-E25DAB8A74E9}"/>
                </a:ext>
              </a:extLst>
            </p:cNvPr>
            <p:cNvSpPr txBox="1"/>
            <p:nvPr/>
          </p:nvSpPr>
          <p:spPr>
            <a:xfrm>
              <a:off x="5404757" y="2722184"/>
              <a:ext cx="2359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="" xmlns:a16="http://schemas.microsoft.com/office/drawing/2014/main" id="{B21A631C-D2FE-49B1-8957-E25DAB8A74E9}"/>
                </a:ext>
              </a:extLst>
            </p:cNvPr>
            <p:cNvSpPr txBox="1"/>
            <p:nvPr/>
          </p:nvSpPr>
          <p:spPr>
            <a:xfrm>
              <a:off x="4211437" y="2762937"/>
              <a:ext cx="2359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" name="Arc 31">
              <a:extLst>
                <a:ext uri="{FF2B5EF4-FFF2-40B4-BE49-F238E27FC236}">
                  <a16:creationId xmlns="" xmlns:a16="http://schemas.microsoft.com/office/drawing/2014/main" id="{4A9D3AB6-108E-4062-B22C-A1FC38CC204A}"/>
                </a:ext>
              </a:extLst>
            </p:cNvPr>
            <p:cNvSpPr/>
            <p:nvPr/>
          </p:nvSpPr>
          <p:spPr>
            <a:xfrm>
              <a:off x="3641805" y="2605177"/>
              <a:ext cx="408846" cy="855590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TextBox 32">
              <a:extLst>
                <a:ext uri="{FF2B5EF4-FFF2-40B4-BE49-F238E27FC236}">
                  <a16:creationId xmlns="" xmlns:a16="http://schemas.microsoft.com/office/drawing/2014/main" id="{B21A631C-D2FE-49B1-8957-E25DAB8A74E9}"/>
                </a:ext>
              </a:extLst>
            </p:cNvPr>
            <p:cNvSpPr txBox="1"/>
            <p:nvPr/>
          </p:nvSpPr>
          <p:spPr>
            <a:xfrm>
              <a:off x="3585908" y="2202610"/>
              <a:ext cx="74455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a/b</a:t>
              </a:r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4" name="TextBox 33"/>
          <p:cNvSpPr txBox="1"/>
          <p:nvPr/>
        </p:nvSpPr>
        <p:spPr>
          <a:xfrm>
            <a:off x="2260572" y="1443377"/>
            <a:ext cx="5098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bb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277932" y="1411139"/>
            <a:ext cx="4541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ba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88140" y="1946364"/>
            <a:ext cx="25036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Input :  </a:t>
            </a: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bababba</a:t>
            </a:r>
            <a:r>
              <a:rPr lang="en-US" sz="2000" b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b</a:t>
            </a: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13" name="Group 26">
            <a:extLst>
              <a:ext uri="{FF2B5EF4-FFF2-40B4-BE49-F238E27FC236}">
                <a16:creationId xmlns="" xmlns:a16="http://schemas.microsoft.com/office/drawing/2014/main" id="{8D3C0EC3-1E6A-436B-B406-38A549AC7268}"/>
              </a:ext>
            </a:extLst>
          </p:cNvPr>
          <p:cNvGrpSpPr/>
          <p:nvPr/>
        </p:nvGrpSpPr>
        <p:grpSpPr>
          <a:xfrm rot="10800000">
            <a:off x="3378686" y="4555434"/>
            <a:ext cx="711403" cy="888332"/>
            <a:chOff x="6815615" y="2509921"/>
            <a:chExt cx="711403" cy="700772"/>
          </a:xfrm>
        </p:grpSpPr>
        <p:sp>
          <p:nvSpPr>
            <p:cNvPr id="37" name="Arrow: Up 57">
              <a:extLst>
                <a:ext uri="{FF2B5EF4-FFF2-40B4-BE49-F238E27FC236}">
                  <a16:creationId xmlns="" xmlns:a16="http://schemas.microsoft.com/office/drawing/2014/main" id="{E93022AA-FD9E-4354-A4A7-DF5F91C23E96}"/>
                </a:ext>
              </a:extLst>
            </p:cNvPr>
            <p:cNvSpPr/>
            <p:nvPr/>
          </p:nvSpPr>
          <p:spPr>
            <a:xfrm rot="10800000">
              <a:off x="7079191" y="2801785"/>
              <a:ext cx="156744" cy="408908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8" name="TextBox 37">
              <a:extLst>
                <a:ext uri="{FF2B5EF4-FFF2-40B4-BE49-F238E27FC236}">
                  <a16:creationId xmlns="" xmlns:a16="http://schemas.microsoft.com/office/drawing/2014/main" id="{BAF74065-B1AC-4D5B-9613-553AA58A4378}"/>
                </a:ext>
              </a:extLst>
            </p:cNvPr>
            <p:cNvSpPr txBox="1"/>
            <p:nvPr/>
          </p:nvSpPr>
          <p:spPr>
            <a:xfrm rot="10800000">
              <a:off x="6815615" y="2509921"/>
              <a:ext cx="711403" cy="2670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CS-1</a:t>
              </a:r>
            </a:p>
          </p:txBody>
        </p:sp>
      </p:grpSp>
      <p:sp>
        <p:nvSpPr>
          <p:cNvPr id="39" name="TextBox 38"/>
          <p:cNvSpPr txBox="1"/>
          <p:nvPr/>
        </p:nvSpPr>
        <p:spPr>
          <a:xfrm>
            <a:off x="7921869" y="1582615"/>
            <a:ext cx="1213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accent3">
                    <a:lumMod val="75000"/>
                  </a:schemeClr>
                </a:solidFill>
              </a:rPr>
              <a:t>CS-1 = x0</a:t>
            </a:r>
            <a:endParaRPr lang="en-US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8927126" y="1559168"/>
            <a:ext cx="5158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accent3">
                    <a:lumMod val="75000"/>
                  </a:schemeClr>
                </a:solidFill>
              </a:rPr>
              <a:t> x1</a:t>
            </a:r>
            <a:endParaRPr lang="en-US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41" name="Multiply 40"/>
          <p:cNvSpPr/>
          <p:nvPr/>
        </p:nvSpPr>
        <p:spPr>
          <a:xfrm>
            <a:off x="8765930" y="1626579"/>
            <a:ext cx="211015" cy="307731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42" name="Multiply 41"/>
          <p:cNvSpPr/>
          <p:nvPr/>
        </p:nvSpPr>
        <p:spPr>
          <a:xfrm>
            <a:off x="9076587" y="1620722"/>
            <a:ext cx="211015" cy="307731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43" name="TextBox 42"/>
          <p:cNvSpPr txBox="1"/>
          <p:nvPr/>
        </p:nvSpPr>
        <p:spPr>
          <a:xfrm>
            <a:off x="9193829" y="1553308"/>
            <a:ext cx="5158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accent3">
                    <a:lumMod val="75000"/>
                  </a:schemeClr>
                </a:solidFill>
              </a:rPr>
              <a:t> x2</a:t>
            </a:r>
            <a:endParaRPr lang="en-US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7916010" y="1998784"/>
            <a:ext cx="1213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accent3">
                    <a:lumMod val="75000"/>
                  </a:schemeClr>
                </a:solidFill>
              </a:rPr>
              <a:t>CS-2 = x3</a:t>
            </a:r>
            <a:endParaRPr lang="en-US" dirty="0">
              <a:solidFill>
                <a:schemeClr val="accent3">
                  <a:lumMod val="75000"/>
                </a:schemeClr>
              </a:solidFill>
            </a:endParaRPr>
          </a:p>
        </p:txBody>
      </p:sp>
      <p:cxnSp>
        <p:nvCxnSpPr>
          <p:cNvPr id="45" name="Straight Arrow Connector 44"/>
          <p:cNvCxnSpPr/>
          <p:nvPr/>
        </p:nvCxnSpPr>
        <p:spPr>
          <a:xfrm flipV="1">
            <a:off x="8792306" y="2170375"/>
            <a:ext cx="595223" cy="17252"/>
          </a:xfrm>
          <a:prstGeom prst="straightConnector1">
            <a:avLst/>
          </a:prstGeom>
          <a:ln w="1905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Multiply 45"/>
          <p:cNvSpPr/>
          <p:nvPr/>
        </p:nvSpPr>
        <p:spPr>
          <a:xfrm>
            <a:off x="9419492" y="2007579"/>
            <a:ext cx="211015" cy="307731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47" name="TextBox 46"/>
          <p:cNvSpPr txBox="1"/>
          <p:nvPr/>
        </p:nvSpPr>
        <p:spPr>
          <a:xfrm>
            <a:off x="7918946" y="2362192"/>
            <a:ext cx="1213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accent3">
                    <a:lumMod val="75000"/>
                  </a:schemeClr>
                </a:solidFill>
              </a:rPr>
              <a:t>CS-3 = x4</a:t>
            </a:r>
            <a:endParaRPr lang="en-US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7904294" y="2743192"/>
            <a:ext cx="1213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accent3">
                    <a:lumMod val="75000"/>
                  </a:schemeClr>
                </a:solidFill>
              </a:rPr>
              <a:t>CS-4 = x3</a:t>
            </a:r>
            <a:endParaRPr lang="en-US" dirty="0">
              <a:solidFill>
                <a:schemeClr val="accent3">
                  <a:lumMod val="75000"/>
                </a:schemeClr>
              </a:solidFill>
            </a:endParaRPr>
          </a:p>
        </p:txBody>
      </p:sp>
      <p:cxnSp>
        <p:nvCxnSpPr>
          <p:cNvPr id="49" name="Straight Arrow Connector 48"/>
          <p:cNvCxnSpPr/>
          <p:nvPr/>
        </p:nvCxnSpPr>
        <p:spPr>
          <a:xfrm flipV="1">
            <a:off x="8760068" y="2929445"/>
            <a:ext cx="595223" cy="17252"/>
          </a:xfrm>
          <a:prstGeom prst="straightConnector1">
            <a:avLst/>
          </a:prstGeom>
          <a:ln w="1905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Multiply 49"/>
          <p:cNvSpPr/>
          <p:nvPr/>
        </p:nvSpPr>
        <p:spPr>
          <a:xfrm>
            <a:off x="9387254" y="2766649"/>
            <a:ext cx="211015" cy="307731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 </a:t>
            </a:r>
            <a:endParaRPr lang="en-US" dirty="0"/>
          </a:p>
        </p:txBody>
      </p:sp>
      <p:cxnSp>
        <p:nvCxnSpPr>
          <p:cNvPr id="51" name="Straight Arrow Connector 50"/>
          <p:cNvCxnSpPr/>
          <p:nvPr/>
        </p:nvCxnSpPr>
        <p:spPr>
          <a:xfrm flipV="1">
            <a:off x="8771792" y="2545514"/>
            <a:ext cx="595223" cy="17252"/>
          </a:xfrm>
          <a:prstGeom prst="straightConnector1">
            <a:avLst/>
          </a:prstGeom>
          <a:ln w="1905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Multiply 51"/>
          <p:cNvSpPr/>
          <p:nvPr/>
        </p:nvSpPr>
        <p:spPr>
          <a:xfrm>
            <a:off x="9398978" y="2382718"/>
            <a:ext cx="211015" cy="307731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1296" y="0"/>
            <a:ext cx="1346591" cy="306407"/>
          </a:xfrm>
        </p:spPr>
        <p:txBody>
          <a:bodyPr/>
          <a:lstStyle/>
          <a:p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NFA Continues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6934" y="577801"/>
            <a:ext cx="8946541" cy="4195481"/>
          </a:xfrm>
        </p:spPr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 = All words that start with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and end with bb are valid.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 = {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babb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baabb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babbb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baaabb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baabbb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…………}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 =           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71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562283" y="1431655"/>
            <a:ext cx="8971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a+b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)*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11" name="Group 38"/>
          <p:cNvGrpSpPr/>
          <p:nvPr/>
        </p:nvGrpSpPr>
        <p:grpSpPr>
          <a:xfrm>
            <a:off x="618945" y="3275272"/>
            <a:ext cx="5909095" cy="1258157"/>
            <a:chOff x="733245" y="2202610"/>
            <a:chExt cx="5909095" cy="1258157"/>
          </a:xfrm>
        </p:grpSpPr>
        <p:sp>
          <p:nvSpPr>
            <p:cNvPr id="6" name="Oval 5"/>
            <p:cNvSpPr/>
            <p:nvPr/>
          </p:nvSpPr>
          <p:spPr>
            <a:xfrm>
              <a:off x="1173192" y="2958860"/>
              <a:ext cx="560717" cy="48307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x0</a:t>
              </a:r>
              <a:endParaRPr lang="en-US" sz="16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" name="Oval 6"/>
            <p:cNvSpPr/>
            <p:nvPr/>
          </p:nvSpPr>
          <p:spPr>
            <a:xfrm>
              <a:off x="2360761" y="2930103"/>
              <a:ext cx="560717" cy="48307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x1</a:t>
              </a:r>
              <a:endParaRPr lang="en-US" sz="16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" name="Oval 7"/>
            <p:cNvSpPr/>
            <p:nvPr/>
          </p:nvSpPr>
          <p:spPr>
            <a:xfrm>
              <a:off x="3565585" y="2927230"/>
              <a:ext cx="560717" cy="48307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x2</a:t>
              </a:r>
              <a:endParaRPr lang="en-US" sz="16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" name="Oval 8"/>
            <p:cNvSpPr/>
            <p:nvPr/>
          </p:nvSpPr>
          <p:spPr>
            <a:xfrm>
              <a:off x="4770407" y="2898475"/>
              <a:ext cx="560717" cy="48307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x3</a:t>
              </a:r>
              <a:endParaRPr lang="en-US" sz="1600" dirty="0"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12" name="Group 15"/>
            <p:cNvGrpSpPr/>
            <p:nvPr/>
          </p:nvGrpSpPr>
          <p:grpSpPr>
            <a:xfrm>
              <a:off x="5934973" y="2786331"/>
              <a:ext cx="707367" cy="638355"/>
              <a:chOff x="6478436" y="3209026"/>
              <a:chExt cx="707367" cy="638355"/>
            </a:xfrm>
          </p:grpSpPr>
          <p:sp>
            <p:nvSpPr>
              <p:cNvPr id="10" name="Oval 9">
                <a:extLst>
                  <a:ext uri="{FF2B5EF4-FFF2-40B4-BE49-F238E27FC236}">
                    <a16:creationId xmlns="" xmlns:a16="http://schemas.microsoft.com/office/drawing/2014/main" id="{1A90B709-A6EF-4AF3-8058-50CF1F57FBE0}"/>
                  </a:ext>
                </a:extLst>
              </p:cNvPr>
              <p:cNvSpPr/>
              <p:nvPr/>
            </p:nvSpPr>
            <p:spPr>
              <a:xfrm>
                <a:off x="6478436" y="3209026"/>
                <a:ext cx="707367" cy="638355"/>
              </a:xfrm>
              <a:prstGeom prst="ellips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5" name="Oval 14"/>
              <p:cNvSpPr/>
              <p:nvPr/>
            </p:nvSpPr>
            <p:spPr>
              <a:xfrm>
                <a:off x="6544573" y="3283789"/>
                <a:ext cx="560717" cy="483079"/>
              </a:xfrm>
              <a:prstGeom prst="ellips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 smtClean="0">
                    <a:latin typeface="Times New Roman" pitchFamily="18" charset="0"/>
                    <a:cs typeface="Times New Roman" pitchFamily="18" charset="0"/>
                  </a:rPr>
                  <a:t>x4</a:t>
                </a:r>
                <a:endParaRPr lang="en-US" sz="16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cxnSp>
          <p:nvCxnSpPr>
            <p:cNvPr id="18" name="Straight Arrow Connector 17"/>
            <p:cNvCxnSpPr/>
            <p:nvPr/>
          </p:nvCxnSpPr>
          <p:spPr>
            <a:xfrm flipV="1">
              <a:off x="1759790" y="3183149"/>
              <a:ext cx="595223" cy="17252"/>
            </a:xfrm>
            <a:prstGeom prst="straightConnector1">
              <a:avLst/>
            </a:prstGeom>
            <a:ln w="1905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/>
            <p:nvPr/>
          </p:nvCxnSpPr>
          <p:spPr>
            <a:xfrm>
              <a:off x="733245" y="3209026"/>
              <a:ext cx="402571" cy="7335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/>
            <p:nvPr/>
          </p:nvCxnSpPr>
          <p:spPr>
            <a:xfrm flipV="1">
              <a:off x="2938731" y="3163018"/>
              <a:ext cx="595223" cy="17252"/>
            </a:xfrm>
            <a:prstGeom prst="straightConnector1">
              <a:avLst/>
            </a:prstGeom>
            <a:ln w="1905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/>
            <p:nvPr/>
          </p:nvCxnSpPr>
          <p:spPr>
            <a:xfrm flipV="1">
              <a:off x="5333998" y="3117013"/>
              <a:ext cx="595223" cy="17252"/>
            </a:xfrm>
            <a:prstGeom prst="straightConnector1">
              <a:avLst/>
            </a:prstGeom>
            <a:ln w="1905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/>
            <p:nvPr/>
          </p:nvCxnSpPr>
          <p:spPr>
            <a:xfrm flipV="1">
              <a:off x="4166558" y="3140016"/>
              <a:ext cx="595223" cy="17252"/>
            </a:xfrm>
            <a:prstGeom prst="straightConnector1">
              <a:avLst/>
            </a:prstGeom>
            <a:ln w="1905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="" xmlns:a16="http://schemas.microsoft.com/office/drawing/2014/main" id="{B21A631C-D2FE-49B1-8957-E25DAB8A74E9}"/>
                </a:ext>
              </a:extLst>
            </p:cNvPr>
            <p:cNvSpPr txBox="1"/>
            <p:nvPr/>
          </p:nvSpPr>
          <p:spPr>
            <a:xfrm>
              <a:off x="2986817" y="2787657"/>
              <a:ext cx="2359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="" xmlns:a16="http://schemas.microsoft.com/office/drawing/2014/main" id="{B21A631C-D2FE-49B1-8957-E25DAB8A74E9}"/>
                </a:ext>
              </a:extLst>
            </p:cNvPr>
            <p:cNvSpPr txBox="1"/>
            <p:nvPr/>
          </p:nvSpPr>
          <p:spPr>
            <a:xfrm>
              <a:off x="1827836" y="2785444"/>
              <a:ext cx="2359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="" xmlns:a16="http://schemas.microsoft.com/office/drawing/2014/main" id="{B21A631C-D2FE-49B1-8957-E25DAB8A74E9}"/>
                </a:ext>
              </a:extLst>
            </p:cNvPr>
            <p:cNvSpPr txBox="1"/>
            <p:nvPr/>
          </p:nvSpPr>
          <p:spPr>
            <a:xfrm>
              <a:off x="5404757" y="2722184"/>
              <a:ext cx="2359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="" xmlns:a16="http://schemas.microsoft.com/office/drawing/2014/main" id="{B21A631C-D2FE-49B1-8957-E25DAB8A74E9}"/>
                </a:ext>
              </a:extLst>
            </p:cNvPr>
            <p:cNvSpPr txBox="1"/>
            <p:nvPr/>
          </p:nvSpPr>
          <p:spPr>
            <a:xfrm>
              <a:off x="4211437" y="2762937"/>
              <a:ext cx="2359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" name="Arc 31">
              <a:extLst>
                <a:ext uri="{FF2B5EF4-FFF2-40B4-BE49-F238E27FC236}">
                  <a16:creationId xmlns="" xmlns:a16="http://schemas.microsoft.com/office/drawing/2014/main" id="{4A9D3AB6-108E-4062-B22C-A1FC38CC204A}"/>
                </a:ext>
              </a:extLst>
            </p:cNvPr>
            <p:cNvSpPr/>
            <p:nvPr/>
          </p:nvSpPr>
          <p:spPr>
            <a:xfrm>
              <a:off x="3641805" y="2605177"/>
              <a:ext cx="408846" cy="855590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TextBox 32">
              <a:extLst>
                <a:ext uri="{FF2B5EF4-FFF2-40B4-BE49-F238E27FC236}">
                  <a16:creationId xmlns="" xmlns:a16="http://schemas.microsoft.com/office/drawing/2014/main" id="{B21A631C-D2FE-49B1-8957-E25DAB8A74E9}"/>
                </a:ext>
              </a:extLst>
            </p:cNvPr>
            <p:cNvSpPr txBox="1"/>
            <p:nvPr/>
          </p:nvSpPr>
          <p:spPr>
            <a:xfrm>
              <a:off x="3585908" y="2202610"/>
              <a:ext cx="74455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a/b</a:t>
              </a:r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4" name="TextBox 33"/>
          <p:cNvSpPr txBox="1"/>
          <p:nvPr/>
        </p:nvSpPr>
        <p:spPr>
          <a:xfrm>
            <a:off x="2260572" y="1443377"/>
            <a:ext cx="5098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bb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277932" y="1411139"/>
            <a:ext cx="4541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ba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88140" y="1946364"/>
            <a:ext cx="25036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Input :  </a:t>
            </a: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bababba</a:t>
            </a:r>
            <a:r>
              <a:rPr lang="en-US" sz="2000" b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b</a:t>
            </a: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13" name="Group 26">
            <a:extLst>
              <a:ext uri="{FF2B5EF4-FFF2-40B4-BE49-F238E27FC236}">
                <a16:creationId xmlns="" xmlns:a16="http://schemas.microsoft.com/office/drawing/2014/main" id="{8D3C0EC3-1E6A-436B-B406-38A549AC7268}"/>
              </a:ext>
            </a:extLst>
          </p:cNvPr>
          <p:cNvGrpSpPr/>
          <p:nvPr/>
        </p:nvGrpSpPr>
        <p:grpSpPr>
          <a:xfrm rot="10800000">
            <a:off x="3378686" y="4555434"/>
            <a:ext cx="711403" cy="888332"/>
            <a:chOff x="6815615" y="2509921"/>
            <a:chExt cx="711403" cy="700772"/>
          </a:xfrm>
        </p:grpSpPr>
        <p:sp>
          <p:nvSpPr>
            <p:cNvPr id="37" name="Arrow: Up 57">
              <a:extLst>
                <a:ext uri="{FF2B5EF4-FFF2-40B4-BE49-F238E27FC236}">
                  <a16:creationId xmlns="" xmlns:a16="http://schemas.microsoft.com/office/drawing/2014/main" id="{E93022AA-FD9E-4354-A4A7-DF5F91C23E96}"/>
                </a:ext>
              </a:extLst>
            </p:cNvPr>
            <p:cNvSpPr/>
            <p:nvPr/>
          </p:nvSpPr>
          <p:spPr>
            <a:xfrm rot="10800000">
              <a:off x="7079191" y="2801785"/>
              <a:ext cx="156744" cy="408908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8" name="TextBox 37">
              <a:extLst>
                <a:ext uri="{FF2B5EF4-FFF2-40B4-BE49-F238E27FC236}">
                  <a16:creationId xmlns="" xmlns:a16="http://schemas.microsoft.com/office/drawing/2014/main" id="{BAF74065-B1AC-4D5B-9613-553AA58A4378}"/>
                </a:ext>
              </a:extLst>
            </p:cNvPr>
            <p:cNvSpPr txBox="1"/>
            <p:nvPr/>
          </p:nvSpPr>
          <p:spPr>
            <a:xfrm rot="10800000">
              <a:off x="6815615" y="2509921"/>
              <a:ext cx="711403" cy="2670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CS-1</a:t>
              </a:r>
            </a:p>
          </p:txBody>
        </p:sp>
      </p:grpSp>
      <p:grpSp>
        <p:nvGrpSpPr>
          <p:cNvPr id="14" name="Group 26">
            <a:extLst>
              <a:ext uri="{FF2B5EF4-FFF2-40B4-BE49-F238E27FC236}">
                <a16:creationId xmlns="" xmlns:a16="http://schemas.microsoft.com/office/drawing/2014/main" id="{8D3C0EC3-1E6A-436B-B406-38A549AC7268}"/>
              </a:ext>
            </a:extLst>
          </p:cNvPr>
          <p:cNvGrpSpPr/>
          <p:nvPr/>
        </p:nvGrpSpPr>
        <p:grpSpPr>
          <a:xfrm>
            <a:off x="4594956" y="3037295"/>
            <a:ext cx="711403" cy="888332"/>
            <a:chOff x="6815615" y="2509921"/>
            <a:chExt cx="711403" cy="700772"/>
          </a:xfrm>
        </p:grpSpPr>
        <p:sp>
          <p:nvSpPr>
            <p:cNvPr id="40" name="Arrow: Up 57">
              <a:extLst>
                <a:ext uri="{FF2B5EF4-FFF2-40B4-BE49-F238E27FC236}">
                  <a16:creationId xmlns="" xmlns:a16="http://schemas.microsoft.com/office/drawing/2014/main" id="{E93022AA-FD9E-4354-A4A7-DF5F91C23E96}"/>
                </a:ext>
              </a:extLst>
            </p:cNvPr>
            <p:cNvSpPr/>
            <p:nvPr/>
          </p:nvSpPr>
          <p:spPr>
            <a:xfrm rot="10800000">
              <a:off x="7079191" y="2801785"/>
              <a:ext cx="156744" cy="408908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="" xmlns:a16="http://schemas.microsoft.com/office/drawing/2014/main" id="{BAF74065-B1AC-4D5B-9613-553AA58A4378}"/>
                </a:ext>
              </a:extLst>
            </p:cNvPr>
            <p:cNvSpPr txBox="1"/>
            <p:nvPr/>
          </p:nvSpPr>
          <p:spPr>
            <a:xfrm>
              <a:off x="6815615" y="2509921"/>
              <a:ext cx="711403" cy="2670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 smtClean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CS-5</a:t>
              </a:r>
              <a:endParaRPr lang="en-US" sz="16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9" name="TextBox 38"/>
          <p:cNvSpPr txBox="1"/>
          <p:nvPr/>
        </p:nvSpPr>
        <p:spPr>
          <a:xfrm>
            <a:off x="7921869" y="1582615"/>
            <a:ext cx="1213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accent3">
                    <a:lumMod val="75000"/>
                  </a:schemeClr>
                </a:solidFill>
              </a:rPr>
              <a:t>CS-1 = x0</a:t>
            </a:r>
            <a:endParaRPr lang="en-US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8927126" y="1559168"/>
            <a:ext cx="5158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accent3">
                    <a:lumMod val="75000"/>
                  </a:schemeClr>
                </a:solidFill>
              </a:rPr>
              <a:t> x1</a:t>
            </a:r>
            <a:endParaRPr lang="en-US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43" name="Multiply 42"/>
          <p:cNvSpPr/>
          <p:nvPr/>
        </p:nvSpPr>
        <p:spPr>
          <a:xfrm>
            <a:off x="8765930" y="1626579"/>
            <a:ext cx="211015" cy="307731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44" name="Multiply 43"/>
          <p:cNvSpPr/>
          <p:nvPr/>
        </p:nvSpPr>
        <p:spPr>
          <a:xfrm>
            <a:off x="9076587" y="1620722"/>
            <a:ext cx="211015" cy="307731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45" name="TextBox 44"/>
          <p:cNvSpPr txBox="1"/>
          <p:nvPr/>
        </p:nvSpPr>
        <p:spPr>
          <a:xfrm>
            <a:off x="9193829" y="1553308"/>
            <a:ext cx="5158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accent3">
                    <a:lumMod val="75000"/>
                  </a:schemeClr>
                </a:solidFill>
              </a:rPr>
              <a:t> x2</a:t>
            </a:r>
            <a:endParaRPr lang="en-US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7916010" y="1998784"/>
            <a:ext cx="1213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accent3">
                    <a:lumMod val="75000"/>
                  </a:schemeClr>
                </a:solidFill>
              </a:rPr>
              <a:t>CS-2 = x3</a:t>
            </a:r>
            <a:endParaRPr lang="en-US" dirty="0">
              <a:solidFill>
                <a:schemeClr val="accent3">
                  <a:lumMod val="75000"/>
                </a:schemeClr>
              </a:solidFill>
            </a:endParaRPr>
          </a:p>
        </p:txBody>
      </p:sp>
      <p:cxnSp>
        <p:nvCxnSpPr>
          <p:cNvPr id="47" name="Straight Arrow Connector 46"/>
          <p:cNvCxnSpPr/>
          <p:nvPr/>
        </p:nvCxnSpPr>
        <p:spPr>
          <a:xfrm flipV="1">
            <a:off x="8792306" y="2170375"/>
            <a:ext cx="595223" cy="17252"/>
          </a:xfrm>
          <a:prstGeom prst="straightConnector1">
            <a:avLst/>
          </a:prstGeom>
          <a:ln w="1905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Multiply 47"/>
          <p:cNvSpPr/>
          <p:nvPr/>
        </p:nvSpPr>
        <p:spPr>
          <a:xfrm>
            <a:off x="9419492" y="2007579"/>
            <a:ext cx="211015" cy="307731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49" name="TextBox 48"/>
          <p:cNvSpPr txBox="1"/>
          <p:nvPr/>
        </p:nvSpPr>
        <p:spPr>
          <a:xfrm>
            <a:off x="7918946" y="2362192"/>
            <a:ext cx="1213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accent3">
                    <a:lumMod val="75000"/>
                  </a:schemeClr>
                </a:solidFill>
              </a:rPr>
              <a:t>CS-3 = x4</a:t>
            </a:r>
            <a:endParaRPr lang="en-US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7904294" y="2743192"/>
            <a:ext cx="1213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accent3">
                    <a:lumMod val="75000"/>
                  </a:schemeClr>
                </a:solidFill>
              </a:rPr>
              <a:t>CS-4 = x3</a:t>
            </a:r>
            <a:endParaRPr lang="en-US" dirty="0">
              <a:solidFill>
                <a:schemeClr val="accent3">
                  <a:lumMod val="75000"/>
                </a:schemeClr>
              </a:solidFill>
            </a:endParaRPr>
          </a:p>
        </p:txBody>
      </p:sp>
      <p:cxnSp>
        <p:nvCxnSpPr>
          <p:cNvPr id="51" name="Straight Arrow Connector 50"/>
          <p:cNvCxnSpPr/>
          <p:nvPr/>
        </p:nvCxnSpPr>
        <p:spPr>
          <a:xfrm flipV="1">
            <a:off x="8760068" y="2929445"/>
            <a:ext cx="595223" cy="17252"/>
          </a:xfrm>
          <a:prstGeom prst="straightConnector1">
            <a:avLst/>
          </a:prstGeom>
          <a:ln w="1905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Multiply 51"/>
          <p:cNvSpPr/>
          <p:nvPr/>
        </p:nvSpPr>
        <p:spPr>
          <a:xfrm>
            <a:off x="9387254" y="2766649"/>
            <a:ext cx="211015" cy="307731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 </a:t>
            </a:r>
            <a:endParaRPr lang="en-US" dirty="0"/>
          </a:p>
        </p:txBody>
      </p:sp>
      <p:cxnSp>
        <p:nvCxnSpPr>
          <p:cNvPr id="53" name="Straight Arrow Connector 52"/>
          <p:cNvCxnSpPr/>
          <p:nvPr/>
        </p:nvCxnSpPr>
        <p:spPr>
          <a:xfrm flipV="1">
            <a:off x="8771792" y="2545514"/>
            <a:ext cx="595223" cy="17252"/>
          </a:xfrm>
          <a:prstGeom prst="straightConnector1">
            <a:avLst/>
          </a:prstGeom>
          <a:ln w="1905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Multiply 53"/>
          <p:cNvSpPr/>
          <p:nvPr/>
        </p:nvSpPr>
        <p:spPr>
          <a:xfrm>
            <a:off x="9398978" y="2382718"/>
            <a:ext cx="211015" cy="307731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55" name="TextBox 54"/>
          <p:cNvSpPr txBox="1"/>
          <p:nvPr/>
        </p:nvSpPr>
        <p:spPr>
          <a:xfrm>
            <a:off x="7916018" y="3080230"/>
            <a:ext cx="1213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accent3">
                    <a:lumMod val="75000"/>
                  </a:schemeClr>
                </a:solidFill>
              </a:rPr>
              <a:t>CS-5 = x3</a:t>
            </a:r>
            <a:endParaRPr lang="en-US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1296" y="0"/>
            <a:ext cx="1346591" cy="306407"/>
          </a:xfrm>
        </p:spPr>
        <p:txBody>
          <a:bodyPr/>
          <a:lstStyle/>
          <a:p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NFA Continues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6934" y="577801"/>
            <a:ext cx="8946541" cy="4195481"/>
          </a:xfrm>
        </p:spPr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 = All words that start with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and end with bb are valid.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 = {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babb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baabb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babbb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baaabb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baabbb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…………}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 =           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72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562283" y="1431655"/>
            <a:ext cx="8971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a+b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)*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11" name="Group 38"/>
          <p:cNvGrpSpPr/>
          <p:nvPr/>
        </p:nvGrpSpPr>
        <p:grpSpPr>
          <a:xfrm>
            <a:off x="618945" y="3275272"/>
            <a:ext cx="5909095" cy="1258157"/>
            <a:chOff x="733245" y="2202610"/>
            <a:chExt cx="5909095" cy="1258157"/>
          </a:xfrm>
        </p:grpSpPr>
        <p:sp>
          <p:nvSpPr>
            <p:cNvPr id="6" name="Oval 5"/>
            <p:cNvSpPr/>
            <p:nvPr/>
          </p:nvSpPr>
          <p:spPr>
            <a:xfrm>
              <a:off x="1173192" y="2958860"/>
              <a:ext cx="560717" cy="48307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x0</a:t>
              </a:r>
              <a:endParaRPr lang="en-US" sz="16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" name="Oval 6"/>
            <p:cNvSpPr/>
            <p:nvPr/>
          </p:nvSpPr>
          <p:spPr>
            <a:xfrm>
              <a:off x="2360761" y="2930103"/>
              <a:ext cx="560717" cy="48307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x1</a:t>
              </a:r>
              <a:endParaRPr lang="en-US" sz="16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" name="Oval 7"/>
            <p:cNvSpPr/>
            <p:nvPr/>
          </p:nvSpPr>
          <p:spPr>
            <a:xfrm>
              <a:off x="3565585" y="2927230"/>
              <a:ext cx="560717" cy="48307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x2</a:t>
              </a:r>
              <a:endParaRPr lang="en-US" sz="16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" name="Oval 8"/>
            <p:cNvSpPr/>
            <p:nvPr/>
          </p:nvSpPr>
          <p:spPr>
            <a:xfrm>
              <a:off x="4770407" y="2898475"/>
              <a:ext cx="560717" cy="48307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x3</a:t>
              </a:r>
              <a:endParaRPr lang="en-US" sz="1600" dirty="0"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12" name="Group 15"/>
            <p:cNvGrpSpPr/>
            <p:nvPr/>
          </p:nvGrpSpPr>
          <p:grpSpPr>
            <a:xfrm>
              <a:off x="5934973" y="2786331"/>
              <a:ext cx="707367" cy="638355"/>
              <a:chOff x="6478436" y="3209026"/>
              <a:chExt cx="707367" cy="638355"/>
            </a:xfrm>
          </p:grpSpPr>
          <p:sp>
            <p:nvSpPr>
              <p:cNvPr id="10" name="Oval 9">
                <a:extLst>
                  <a:ext uri="{FF2B5EF4-FFF2-40B4-BE49-F238E27FC236}">
                    <a16:creationId xmlns="" xmlns:a16="http://schemas.microsoft.com/office/drawing/2014/main" id="{1A90B709-A6EF-4AF3-8058-50CF1F57FBE0}"/>
                  </a:ext>
                </a:extLst>
              </p:cNvPr>
              <p:cNvSpPr/>
              <p:nvPr/>
            </p:nvSpPr>
            <p:spPr>
              <a:xfrm>
                <a:off x="6478436" y="3209026"/>
                <a:ext cx="707367" cy="638355"/>
              </a:xfrm>
              <a:prstGeom prst="ellips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5" name="Oval 14"/>
              <p:cNvSpPr/>
              <p:nvPr/>
            </p:nvSpPr>
            <p:spPr>
              <a:xfrm>
                <a:off x="6544573" y="3283789"/>
                <a:ext cx="560717" cy="483079"/>
              </a:xfrm>
              <a:prstGeom prst="ellips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 smtClean="0">
                    <a:latin typeface="Times New Roman" pitchFamily="18" charset="0"/>
                    <a:cs typeface="Times New Roman" pitchFamily="18" charset="0"/>
                  </a:rPr>
                  <a:t>x4</a:t>
                </a:r>
                <a:endParaRPr lang="en-US" sz="16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cxnSp>
          <p:nvCxnSpPr>
            <p:cNvPr id="18" name="Straight Arrow Connector 17"/>
            <p:cNvCxnSpPr/>
            <p:nvPr/>
          </p:nvCxnSpPr>
          <p:spPr>
            <a:xfrm flipV="1">
              <a:off x="1759790" y="3183149"/>
              <a:ext cx="595223" cy="17252"/>
            </a:xfrm>
            <a:prstGeom prst="straightConnector1">
              <a:avLst/>
            </a:prstGeom>
            <a:ln w="1905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/>
            <p:nvPr/>
          </p:nvCxnSpPr>
          <p:spPr>
            <a:xfrm>
              <a:off x="733245" y="3209026"/>
              <a:ext cx="402571" cy="7335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/>
            <p:nvPr/>
          </p:nvCxnSpPr>
          <p:spPr>
            <a:xfrm flipV="1">
              <a:off x="2938731" y="3163018"/>
              <a:ext cx="595223" cy="17252"/>
            </a:xfrm>
            <a:prstGeom prst="straightConnector1">
              <a:avLst/>
            </a:prstGeom>
            <a:ln w="1905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/>
            <p:nvPr/>
          </p:nvCxnSpPr>
          <p:spPr>
            <a:xfrm flipV="1">
              <a:off x="5333998" y="3117013"/>
              <a:ext cx="595223" cy="17252"/>
            </a:xfrm>
            <a:prstGeom prst="straightConnector1">
              <a:avLst/>
            </a:prstGeom>
            <a:ln w="1905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/>
            <p:nvPr/>
          </p:nvCxnSpPr>
          <p:spPr>
            <a:xfrm flipV="1">
              <a:off x="4166558" y="3140016"/>
              <a:ext cx="595223" cy="17252"/>
            </a:xfrm>
            <a:prstGeom prst="straightConnector1">
              <a:avLst/>
            </a:prstGeom>
            <a:ln w="1905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="" xmlns:a16="http://schemas.microsoft.com/office/drawing/2014/main" id="{B21A631C-D2FE-49B1-8957-E25DAB8A74E9}"/>
                </a:ext>
              </a:extLst>
            </p:cNvPr>
            <p:cNvSpPr txBox="1"/>
            <p:nvPr/>
          </p:nvSpPr>
          <p:spPr>
            <a:xfrm>
              <a:off x="2986817" y="2787657"/>
              <a:ext cx="2359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="" xmlns:a16="http://schemas.microsoft.com/office/drawing/2014/main" id="{B21A631C-D2FE-49B1-8957-E25DAB8A74E9}"/>
                </a:ext>
              </a:extLst>
            </p:cNvPr>
            <p:cNvSpPr txBox="1"/>
            <p:nvPr/>
          </p:nvSpPr>
          <p:spPr>
            <a:xfrm>
              <a:off x="1827836" y="2785444"/>
              <a:ext cx="2359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="" xmlns:a16="http://schemas.microsoft.com/office/drawing/2014/main" id="{B21A631C-D2FE-49B1-8957-E25DAB8A74E9}"/>
                </a:ext>
              </a:extLst>
            </p:cNvPr>
            <p:cNvSpPr txBox="1"/>
            <p:nvPr/>
          </p:nvSpPr>
          <p:spPr>
            <a:xfrm>
              <a:off x="5404757" y="2722184"/>
              <a:ext cx="2359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="" xmlns:a16="http://schemas.microsoft.com/office/drawing/2014/main" id="{B21A631C-D2FE-49B1-8957-E25DAB8A74E9}"/>
                </a:ext>
              </a:extLst>
            </p:cNvPr>
            <p:cNvSpPr txBox="1"/>
            <p:nvPr/>
          </p:nvSpPr>
          <p:spPr>
            <a:xfrm>
              <a:off x="4211437" y="2762937"/>
              <a:ext cx="2359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" name="Arc 31">
              <a:extLst>
                <a:ext uri="{FF2B5EF4-FFF2-40B4-BE49-F238E27FC236}">
                  <a16:creationId xmlns="" xmlns:a16="http://schemas.microsoft.com/office/drawing/2014/main" id="{4A9D3AB6-108E-4062-B22C-A1FC38CC204A}"/>
                </a:ext>
              </a:extLst>
            </p:cNvPr>
            <p:cNvSpPr/>
            <p:nvPr/>
          </p:nvSpPr>
          <p:spPr>
            <a:xfrm>
              <a:off x="3641805" y="2605177"/>
              <a:ext cx="408846" cy="855590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TextBox 32">
              <a:extLst>
                <a:ext uri="{FF2B5EF4-FFF2-40B4-BE49-F238E27FC236}">
                  <a16:creationId xmlns="" xmlns:a16="http://schemas.microsoft.com/office/drawing/2014/main" id="{B21A631C-D2FE-49B1-8957-E25DAB8A74E9}"/>
                </a:ext>
              </a:extLst>
            </p:cNvPr>
            <p:cNvSpPr txBox="1"/>
            <p:nvPr/>
          </p:nvSpPr>
          <p:spPr>
            <a:xfrm>
              <a:off x="3585908" y="2202610"/>
              <a:ext cx="74455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a/b</a:t>
              </a:r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4" name="TextBox 33"/>
          <p:cNvSpPr txBox="1"/>
          <p:nvPr/>
        </p:nvSpPr>
        <p:spPr>
          <a:xfrm>
            <a:off x="2260572" y="1443377"/>
            <a:ext cx="5098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bb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277932" y="1411139"/>
            <a:ext cx="4541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ba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88140" y="1946364"/>
            <a:ext cx="25036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Input :  </a:t>
            </a: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bababbab</a:t>
            </a:r>
            <a:r>
              <a:rPr lang="en-US" sz="2000" b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endParaRPr lang="en-US" sz="20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13" name="Group 26">
            <a:extLst>
              <a:ext uri="{FF2B5EF4-FFF2-40B4-BE49-F238E27FC236}">
                <a16:creationId xmlns="" xmlns:a16="http://schemas.microsoft.com/office/drawing/2014/main" id="{8D3C0EC3-1E6A-436B-B406-38A549AC7268}"/>
              </a:ext>
            </a:extLst>
          </p:cNvPr>
          <p:cNvGrpSpPr/>
          <p:nvPr/>
        </p:nvGrpSpPr>
        <p:grpSpPr>
          <a:xfrm rot="10800000">
            <a:off x="3378686" y="4555434"/>
            <a:ext cx="711403" cy="888332"/>
            <a:chOff x="6815615" y="2509921"/>
            <a:chExt cx="711403" cy="700772"/>
          </a:xfrm>
        </p:grpSpPr>
        <p:sp>
          <p:nvSpPr>
            <p:cNvPr id="37" name="Arrow: Up 57">
              <a:extLst>
                <a:ext uri="{FF2B5EF4-FFF2-40B4-BE49-F238E27FC236}">
                  <a16:creationId xmlns="" xmlns:a16="http://schemas.microsoft.com/office/drawing/2014/main" id="{E93022AA-FD9E-4354-A4A7-DF5F91C23E96}"/>
                </a:ext>
              </a:extLst>
            </p:cNvPr>
            <p:cNvSpPr/>
            <p:nvPr/>
          </p:nvSpPr>
          <p:spPr>
            <a:xfrm rot="10800000">
              <a:off x="7079191" y="2801785"/>
              <a:ext cx="156744" cy="408908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8" name="TextBox 37">
              <a:extLst>
                <a:ext uri="{FF2B5EF4-FFF2-40B4-BE49-F238E27FC236}">
                  <a16:creationId xmlns="" xmlns:a16="http://schemas.microsoft.com/office/drawing/2014/main" id="{BAF74065-B1AC-4D5B-9613-553AA58A4378}"/>
                </a:ext>
              </a:extLst>
            </p:cNvPr>
            <p:cNvSpPr txBox="1"/>
            <p:nvPr/>
          </p:nvSpPr>
          <p:spPr>
            <a:xfrm rot="10800000">
              <a:off x="6815615" y="2509921"/>
              <a:ext cx="711403" cy="2670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CS-1</a:t>
              </a:r>
            </a:p>
          </p:txBody>
        </p:sp>
      </p:grpSp>
      <p:grpSp>
        <p:nvGrpSpPr>
          <p:cNvPr id="14" name="Group 26">
            <a:extLst>
              <a:ext uri="{FF2B5EF4-FFF2-40B4-BE49-F238E27FC236}">
                <a16:creationId xmlns="" xmlns:a16="http://schemas.microsoft.com/office/drawing/2014/main" id="{8D3C0EC3-1E6A-436B-B406-38A549AC7268}"/>
              </a:ext>
            </a:extLst>
          </p:cNvPr>
          <p:cNvGrpSpPr/>
          <p:nvPr/>
        </p:nvGrpSpPr>
        <p:grpSpPr>
          <a:xfrm>
            <a:off x="4594956" y="3037295"/>
            <a:ext cx="711403" cy="888332"/>
            <a:chOff x="6815615" y="2509921"/>
            <a:chExt cx="711403" cy="700772"/>
          </a:xfrm>
        </p:grpSpPr>
        <p:sp>
          <p:nvSpPr>
            <p:cNvPr id="40" name="Arrow: Up 57">
              <a:extLst>
                <a:ext uri="{FF2B5EF4-FFF2-40B4-BE49-F238E27FC236}">
                  <a16:creationId xmlns="" xmlns:a16="http://schemas.microsoft.com/office/drawing/2014/main" id="{E93022AA-FD9E-4354-A4A7-DF5F91C23E96}"/>
                </a:ext>
              </a:extLst>
            </p:cNvPr>
            <p:cNvSpPr/>
            <p:nvPr/>
          </p:nvSpPr>
          <p:spPr>
            <a:xfrm rot="10800000">
              <a:off x="7079191" y="2801785"/>
              <a:ext cx="156744" cy="408908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="" xmlns:a16="http://schemas.microsoft.com/office/drawing/2014/main" id="{BAF74065-B1AC-4D5B-9613-553AA58A4378}"/>
                </a:ext>
              </a:extLst>
            </p:cNvPr>
            <p:cNvSpPr txBox="1"/>
            <p:nvPr/>
          </p:nvSpPr>
          <p:spPr>
            <a:xfrm>
              <a:off x="6815615" y="2509921"/>
              <a:ext cx="711403" cy="2670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 smtClean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CS-5</a:t>
              </a:r>
              <a:endParaRPr lang="en-US" sz="16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9" name="TextBox 38"/>
          <p:cNvSpPr txBox="1"/>
          <p:nvPr/>
        </p:nvSpPr>
        <p:spPr>
          <a:xfrm>
            <a:off x="7921869" y="1582615"/>
            <a:ext cx="1213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accent3">
                    <a:lumMod val="75000"/>
                  </a:schemeClr>
                </a:solidFill>
              </a:rPr>
              <a:t>CS-1 = x0</a:t>
            </a:r>
            <a:endParaRPr lang="en-US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8927126" y="1559168"/>
            <a:ext cx="5158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accent3">
                    <a:lumMod val="75000"/>
                  </a:schemeClr>
                </a:solidFill>
              </a:rPr>
              <a:t> x1</a:t>
            </a:r>
            <a:endParaRPr lang="en-US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43" name="Multiply 42"/>
          <p:cNvSpPr/>
          <p:nvPr/>
        </p:nvSpPr>
        <p:spPr>
          <a:xfrm>
            <a:off x="8765930" y="1626579"/>
            <a:ext cx="211015" cy="307731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44" name="Multiply 43"/>
          <p:cNvSpPr/>
          <p:nvPr/>
        </p:nvSpPr>
        <p:spPr>
          <a:xfrm>
            <a:off x="9076587" y="1620722"/>
            <a:ext cx="211015" cy="307731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45" name="TextBox 44"/>
          <p:cNvSpPr txBox="1"/>
          <p:nvPr/>
        </p:nvSpPr>
        <p:spPr>
          <a:xfrm>
            <a:off x="9193829" y="1553308"/>
            <a:ext cx="5158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accent3">
                    <a:lumMod val="75000"/>
                  </a:schemeClr>
                </a:solidFill>
              </a:rPr>
              <a:t> x2</a:t>
            </a:r>
            <a:endParaRPr lang="en-US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7916010" y="1998784"/>
            <a:ext cx="1213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accent3">
                    <a:lumMod val="75000"/>
                  </a:schemeClr>
                </a:solidFill>
              </a:rPr>
              <a:t>CS-2 = x3</a:t>
            </a:r>
            <a:endParaRPr lang="en-US" dirty="0">
              <a:solidFill>
                <a:schemeClr val="accent3">
                  <a:lumMod val="75000"/>
                </a:schemeClr>
              </a:solidFill>
            </a:endParaRPr>
          </a:p>
        </p:txBody>
      </p:sp>
      <p:cxnSp>
        <p:nvCxnSpPr>
          <p:cNvPr id="47" name="Straight Arrow Connector 46"/>
          <p:cNvCxnSpPr/>
          <p:nvPr/>
        </p:nvCxnSpPr>
        <p:spPr>
          <a:xfrm flipV="1">
            <a:off x="8792306" y="2170375"/>
            <a:ext cx="595223" cy="17252"/>
          </a:xfrm>
          <a:prstGeom prst="straightConnector1">
            <a:avLst/>
          </a:prstGeom>
          <a:ln w="1905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Multiply 47"/>
          <p:cNvSpPr/>
          <p:nvPr/>
        </p:nvSpPr>
        <p:spPr>
          <a:xfrm>
            <a:off x="9419492" y="2007579"/>
            <a:ext cx="211015" cy="307731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49" name="TextBox 48"/>
          <p:cNvSpPr txBox="1"/>
          <p:nvPr/>
        </p:nvSpPr>
        <p:spPr>
          <a:xfrm>
            <a:off x="7918946" y="2362192"/>
            <a:ext cx="1213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accent3">
                    <a:lumMod val="75000"/>
                  </a:schemeClr>
                </a:solidFill>
              </a:rPr>
              <a:t>CS-3 = x4</a:t>
            </a:r>
            <a:endParaRPr lang="en-US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7904294" y="2743192"/>
            <a:ext cx="1213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accent3">
                    <a:lumMod val="75000"/>
                  </a:schemeClr>
                </a:solidFill>
              </a:rPr>
              <a:t>CS-4 = x3</a:t>
            </a:r>
            <a:endParaRPr lang="en-US" dirty="0">
              <a:solidFill>
                <a:schemeClr val="accent3">
                  <a:lumMod val="75000"/>
                </a:schemeClr>
              </a:solidFill>
            </a:endParaRPr>
          </a:p>
        </p:txBody>
      </p:sp>
      <p:cxnSp>
        <p:nvCxnSpPr>
          <p:cNvPr id="51" name="Straight Arrow Connector 50"/>
          <p:cNvCxnSpPr/>
          <p:nvPr/>
        </p:nvCxnSpPr>
        <p:spPr>
          <a:xfrm flipV="1">
            <a:off x="8760068" y="2929445"/>
            <a:ext cx="595223" cy="17252"/>
          </a:xfrm>
          <a:prstGeom prst="straightConnector1">
            <a:avLst/>
          </a:prstGeom>
          <a:ln w="1905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Multiply 51"/>
          <p:cNvSpPr/>
          <p:nvPr/>
        </p:nvSpPr>
        <p:spPr>
          <a:xfrm>
            <a:off x="9387254" y="2766649"/>
            <a:ext cx="211015" cy="307731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 </a:t>
            </a:r>
            <a:endParaRPr lang="en-US" dirty="0"/>
          </a:p>
        </p:txBody>
      </p:sp>
      <p:cxnSp>
        <p:nvCxnSpPr>
          <p:cNvPr id="53" name="Straight Arrow Connector 52"/>
          <p:cNvCxnSpPr/>
          <p:nvPr/>
        </p:nvCxnSpPr>
        <p:spPr>
          <a:xfrm flipV="1">
            <a:off x="8771792" y="2545514"/>
            <a:ext cx="595223" cy="17252"/>
          </a:xfrm>
          <a:prstGeom prst="straightConnector1">
            <a:avLst/>
          </a:prstGeom>
          <a:ln w="1905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Multiply 53"/>
          <p:cNvSpPr/>
          <p:nvPr/>
        </p:nvSpPr>
        <p:spPr>
          <a:xfrm>
            <a:off x="9398978" y="2382718"/>
            <a:ext cx="211015" cy="307731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55" name="TextBox 54"/>
          <p:cNvSpPr txBox="1"/>
          <p:nvPr/>
        </p:nvSpPr>
        <p:spPr>
          <a:xfrm>
            <a:off x="7916018" y="3080230"/>
            <a:ext cx="1213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accent3">
                    <a:lumMod val="75000"/>
                  </a:schemeClr>
                </a:solidFill>
              </a:rPr>
              <a:t>CS-5 = x3</a:t>
            </a:r>
            <a:endParaRPr lang="en-US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1296" y="0"/>
            <a:ext cx="1346591" cy="306407"/>
          </a:xfrm>
        </p:spPr>
        <p:txBody>
          <a:bodyPr/>
          <a:lstStyle/>
          <a:p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NFA Continues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6934" y="577801"/>
            <a:ext cx="8946541" cy="4195481"/>
          </a:xfrm>
        </p:spPr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 = All words that start with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and end with bb are valid.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 = {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babb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baabb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babbb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baaabb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baabbb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…………}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 =           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73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562283" y="1431655"/>
            <a:ext cx="8971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a+b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)*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11" name="Group 38"/>
          <p:cNvGrpSpPr/>
          <p:nvPr/>
        </p:nvGrpSpPr>
        <p:grpSpPr>
          <a:xfrm>
            <a:off x="618945" y="3275272"/>
            <a:ext cx="5909095" cy="1258157"/>
            <a:chOff x="733245" y="2202610"/>
            <a:chExt cx="5909095" cy="1258157"/>
          </a:xfrm>
        </p:grpSpPr>
        <p:sp>
          <p:nvSpPr>
            <p:cNvPr id="6" name="Oval 5"/>
            <p:cNvSpPr/>
            <p:nvPr/>
          </p:nvSpPr>
          <p:spPr>
            <a:xfrm>
              <a:off x="1173192" y="2958860"/>
              <a:ext cx="560717" cy="48307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x0</a:t>
              </a:r>
              <a:endParaRPr lang="en-US" sz="16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" name="Oval 6"/>
            <p:cNvSpPr/>
            <p:nvPr/>
          </p:nvSpPr>
          <p:spPr>
            <a:xfrm>
              <a:off x="2360761" y="2930103"/>
              <a:ext cx="560717" cy="48307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x1</a:t>
              </a:r>
              <a:endParaRPr lang="en-US" sz="16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" name="Oval 7"/>
            <p:cNvSpPr/>
            <p:nvPr/>
          </p:nvSpPr>
          <p:spPr>
            <a:xfrm>
              <a:off x="3565585" y="2927230"/>
              <a:ext cx="560717" cy="48307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x2</a:t>
              </a:r>
              <a:endParaRPr lang="en-US" sz="16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" name="Oval 8"/>
            <p:cNvSpPr/>
            <p:nvPr/>
          </p:nvSpPr>
          <p:spPr>
            <a:xfrm>
              <a:off x="4770407" y="2898475"/>
              <a:ext cx="560717" cy="48307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x3</a:t>
              </a:r>
              <a:endParaRPr lang="en-US" sz="1600" dirty="0"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12" name="Group 15"/>
            <p:cNvGrpSpPr/>
            <p:nvPr/>
          </p:nvGrpSpPr>
          <p:grpSpPr>
            <a:xfrm>
              <a:off x="5934973" y="2786331"/>
              <a:ext cx="707367" cy="638355"/>
              <a:chOff x="6478436" y="3209026"/>
              <a:chExt cx="707367" cy="638355"/>
            </a:xfrm>
          </p:grpSpPr>
          <p:sp>
            <p:nvSpPr>
              <p:cNvPr id="10" name="Oval 9">
                <a:extLst>
                  <a:ext uri="{FF2B5EF4-FFF2-40B4-BE49-F238E27FC236}">
                    <a16:creationId xmlns="" xmlns:a16="http://schemas.microsoft.com/office/drawing/2014/main" id="{1A90B709-A6EF-4AF3-8058-50CF1F57FBE0}"/>
                  </a:ext>
                </a:extLst>
              </p:cNvPr>
              <p:cNvSpPr/>
              <p:nvPr/>
            </p:nvSpPr>
            <p:spPr>
              <a:xfrm>
                <a:off x="6478436" y="3209026"/>
                <a:ext cx="707367" cy="638355"/>
              </a:xfrm>
              <a:prstGeom prst="ellips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5" name="Oval 14"/>
              <p:cNvSpPr/>
              <p:nvPr/>
            </p:nvSpPr>
            <p:spPr>
              <a:xfrm>
                <a:off x="6544573" y="3283789"/>
                <a:ext cx="560717" cy="483079"/>
              </a:xfrm>
              <a:prstGeom prst="ellips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 smtClean="0">
                    <a:latin typeface="Times New Roman" pitchFamily="18" charset="0"/>
                    <a:cs typeface="Times New Roman" pitchFamily="18" charset="0"/>
                  </a:rPr>
                  <a:t>x4</a:t>
                </a:r>
                <a:endParaRPr lang="en-US" sz="16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cxnSp>
          <p:nvCxnSpPr>
            <p:cNvPr id="18" name="Straight Arrow Connector 17"/>
            <p:cNvCxnSpPr/>
            <p:nvPr/>
          </p:nvCxnSpPr>
          <p:spPr>
            <a:xfrm flipV="1">
              <a:off x="1759790" y="3183149"/>
              <a:ext cx="595223" cy="17252"/>
            </a:xfrm>
            <a:prstGeom prst="straightConnector1">
              <a:avLst/>
            </a:prstGeom>
            <a:ln w="1905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/>
            <p:nvPr/>
          </p:nvCxnSpPr>
          <p:spPr>
            <a:xfrm>
              <a:off x="733245" y="3209026"/>
              <a:ext cx="402571" cy="7335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/>
            <p:nvPr/>
          </p:nvCxnSpPr>
          <p:spPr>
            <a:xfrm flipV="1">
              <a:off x="2938731" y="3163018"/>
              <a:ext cx="595223" cy="17252"/>
            </a:xfrm>
            <a:prstGeom prst="straightConnector1">
              <a:avLst/>
            </a:prstGeom>
            <a:ln w="1905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/>
            <p:nvPr/>
          </p:nvCxnSpPr>
          <p:spPr>
            <a:xfrm flipV="1">
              <a:off x="5333998" y="3117013"/>
              <a:ext cx="595223" cy="17252"/>
            </a:xfrm>
            <a:prstGeom prst="straightConnector1">
              <a:avLst/>
            </a:prstGeom>
            <a:ln w="1905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/>
            <p:nvPr/>
          </p:nvCxnSpPr>
          <p:spPr>
            <a:xfrm flipV="1">
              <a:off x="4166558" y="3140016"/>
              <a:ext cx="595223" cy="17252"/>
            </a:xfrm>
            <a:prstGeom prst="straightConnector1">
              <a:avLst/>
            </a:prstGeom>
            <a:ln w="1905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="" xmlns:a16="http://schemas.microsoft.com/office/drawing/2014/main" id="{B21A631C-D2FE-49B1-8957-E25DAB8A74E9}"/>
                </a:ext>
              </a:extLst>
            </p:cNvPr>
            <p:cNvSpPr txBox="1"/>
            <p:nvPr/>
          </p:nvSpPr>
          <p:spPr>
            <a:xfrm>
              <a:off x="2986817" y="2787657"/>
              <a:ext cx="2359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="" xmlns:a16="http://schemas.microsoft.com/office/drawing/2014/main" id="{B21A631C-D2FE-49B1-8957-E25DAB8A74E9}"/>
                </a:ext>
              </a:extLst>
            </p:cNvPr>
            <p:cNvSpPr txBox="1"/>
            <p:nvPr/>
          </p:nvSpPr>
          <p:spPr>
            <a:xfrm>
              <a:off x="1827836" y="2785444"/>
              <a:ext cx="2359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="" xmlns:a16="http://schemas.microsoft.com/office/drawing/2014/main" id="{B21A631C-D2FE-49B1-8957-E25DAB8A74E9}"/>
                </a:ext>
              </a:extLst>
            </p:cNvPr>
            <p:cNvSpPr txBox="1"/>
            <p:nvPr/>
          </p:nvSpPr>
          <p:spPr>
            <a:xfrm>
              <a:off x="5404757" y="2722184"/>
              <a:ext cx="2359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="" xmlns:a16="http://schemas.microsoft.com/office/drawing/2014/main" id="{B21A631C-D2FE-49B1-8957-E25DAB8A74E9}"/>
                </a:ext>
              </a:extLst>
            </p:cNvPr>
            <p:cNvSpPr txBox="1"/>
            <p:nvPr/>
          </p:nvSpPr>
          <p:spPr>
            <a:xfrm>
              <a:off x="4211437" y="2762937"/>
              <a:ext cx="2359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" name="Arc 31">
              <a:extLst>
                <a:ext uri="{FF2B5EF4-FFF2-40B4-BE49-F238E27FC236}">
                  <a16:creationId xmlns="" xmlns:a16="http://schemas.microsoft.com/office/drawing/2014/main" id="{4A9D3AB6-108E-4062-B22C-A1FC38CC204A}"/>
                </a:ext>
              </a:extLst>
            </p:cNvPr>
            <p:cNvSpPr/>
            <p:nvPr/>
          </p:nvSpPr>
          <p:spPr>
            <a:xfrm>
              <a:off x="3641805" y="2605177"/>
              <a:ext cx="408846" cy="855590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TextBox 32">
              <a:extLst>
                <a:ext uri="{FF2B5EF4-FFF2-40B4-BE49-F238E27FC236}">
                  <a16:creationId xmlns="" xmlns:a16="http://schemas.microsoft.com/office/drawing/2014/main" id="{B21A631C-D2FE-49B1-8957-E25DAB8A74E9}"/>
                </a:ext>
              </a:extLst>
            </p:cNvPr>
            <p:cNvSpPr txBox="1"/>
            <p:nvPr/>
          </p:nvSpPr>
          <p:spPr>
            <a:xfrm>
              <a:off x="3585908" y="2202610"/>
              <a:ext cx="74455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a/b</a:t>
              </a:r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4" name="TextBox 33"/>
          <p:cNvSpPr txBox="1"/>
          <p:nvPr/>
        </p:nvSpPr>
        <p:spPr>
          <a:xfrm>
            <a:off x="2260572" y="1443377"/>
            <a:ext cx="5098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bb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277932" y="1411139"/>
            <a:ext cx="4541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ba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88140" y="1946364"/>
            <a:ext cx="25036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Input :  </a:t>
            </a: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bababbab</a:t>
            </a:r>
            <a:r>
              <a:rPr lang="en-US" sz="2000" b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endParaRPr lang="en-US" sz="20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13" name="Group 26">
            <a:extLst>
              <a:ext uri="{FF2B5EF4-FFF2-40B4-BE49-F238E27FC236}">
                <a16:creationId xmlns="" xmlns:a16="http://schemas.microsoft.com/office/drawing/2014/main" id="{8D3C0EC3-1E6A-436B-B406-38A549AC7268}"/>
              </a:ext>
            </a:extLst>
          </p:cNvPr>
          <p:cNvGrpSpPr/>
          <p:nvPr/>
        </p:nvGrpSpPr>
        <p:grpSpPr>
          <a:xfrm rot="10800000">
            <a:off x="3378686" y="4555434"/>
            <a:ext cx="711403" cy="888332"/>
            <a:chOff x="6815615" y="2509921"/>
            <a:chExt cx="711403" cy="700772"/>
          </a:xfrm>
        </p:grpSpPr>
        <p:sp>
          <p:nvSpPr>
            <p:cNvPr id="37" name="Arrow: Up 57">
              <a:extLst>
                <a:ext uri="{FF2B5EF4-FFF2-40B4-BE49-F238E27FC236}">
                  <a16:creationId xmlns="" xmlns:a16="http://schemas.microsoft.com/office/drawing/2014/main" id="{E93022AA-FD9E-4354-A4A7-DF5F91C23E96}"/>
                </a:ext>
              </a:extLst>
            </p:cNvPr>
            <p:cNvSpPr/>
            <p:nvPr/>
          </p:nvSpPr>
          <p:spPr>
            <a:xfrm rot="10800000">
              <a:off x="7079191" y="2801785"/>
              <a:ext cx="156744" cy="408908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8" name="TextBox 37">
              <a:extLst>
                <a:ext uri="{FF2B5EF4-FFF2-40B4-BE49-F238E27FC236}">
                  <a16:creationId xmlns="" xmlns:a16="http://schemas.microsoft.com/office/drawing/2014/main" id="{BAF74065-B1AC-4D5B-9613-553AA58A4378}"/>
                </a:ext>
              </a:extLst>
            </p:cNvPr>
            <p:cNvSpPr txBox="1"/>
            <p:nvPr/>
          </p:nvSpPr>
          <p:spPr>
            <a:xfrm rot="10800000">
              <a:off x="6815615" y="2509921"/>
              <a:ext cx="711403" cy="2670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CS-1</a:t>
              </a:r>
            </a:p>
          </p:txBody>
        </p:sp>
      </p:grpSp>
      <p:grpSp>
        <p:nvGrpSpPr>
          <p:cNvPr id="14" name="Group 26">
            <a:extLst>
              <a:ext uri="{FF2B5EF4-FFF2-40B4-BE49-F238E27FC236}">
                <a16:creationId xmlns="" xmlns:a16="http://schemas.microsoft.com/office/drawing/2014/main" id="{8D3C0EC3-1E6A-436B-B406-38A549AC7268}"/>
              </a:ext>
            </a:extLst>
          </p:cNvPr>
          <p:cNvGrpSpPr/>
          <p:nvPr/>
        </p:nvGrpSpPr>
        <p:grpSpPr>
          <a:xfrm rot="678991">
            <a:off x="4823557" y="3090049"/>
            <a:ext cx="711403" cy="888332"/>
            <a:chOff x="6815615" y="2509921"/>
            <a:chExt cx="711403" cy="700772"/>
          </a:xfrm>
        </p:grpSpPr>
        <p:sp>
          <p:nvSpPr>
            <p:cNvPr id="40" name="Arrow: Up 57">
              <a:extLst>
                <a:ext uri="{FF2B5EF4-FFF2-40B4-BE49-F238E27FC236}">
                  <a16:creationId xmlns="" xmlns:a16="http://schemas.microsoft.com/office/drawing/2014/main" id="{E93022AA-FD9E-4354-A4A7-DF5F91C23E96}"/>
                </a:ext>
              </a:extLst>
            </p:cNvPr>
            <p:cNvSpPr/>
            <p:nvPr/>
          </p:nvSpPr>
          <p:spPr>
            <a:xfrm rot="10800000">
              <a:off x="7079191" y="2801785"/>
              <a:ext cx="156744" cy="408908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="" xmlns:a16="http://schemas.microsoft.com/office/drawing/2014/main" id="{BAF74065-B1AC-4D5B-9613-553AA58A4378}"/>
                </a:ext>
              </a:extLst>
            </p:cNvPr>
            <p:cNvSpPr txBox="1"/>
            <p:nvPr/>
          </p:nvSpPr>
          <p:spPr>
            <a:xfrm>
              <a:off x="6815615" y="2509921"/>
              <a:ext cx="711403" cy="2670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 smtClean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CS-5</a:t>
              </a:r>
              <a:endParaRPr lang="en-US" sz="16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6" name="Group 26">
            <a:extLst>
              <a:ext uri="{FF2B5EF4-FFF2-40B4-BE49-F238E27FC236}">
                <a16:creationId xmlns="" xmlns:a16="http://schemas.microsoft.com/office/drawing/2014/main" id="{8D3C0EC3-1E6A-436B-B406-38A549AC7268}"/>
              </a:ext>
            </a:extLst>
          </p:cNvPr>
          <p:cNvGrpSpPr/>
          <p:nvPr/>
        </p:nvGrpSpPr>
        <p:grpSpPr>
          <a:xfrm rot="20735283">
            <a:off x="4272572" y="3128147"/>
            <a:ext cx="711403" cy="888332"/>
            <a:chOff x="6815615" y="2509921"/>
            <a:chExt cx="711403" cy="700772"/>
          </a:xfrm>
        </p:grpSpPr>
        <p:sp>
          <p:nvSpPr>
            <p:cNvPr id="42" name="Arrow: Up 57">
              <a:extLst>
                <a:ext uri="{FF2B5EF4-FFF2-40B4-BE49-F238E27FC236}">
                  <a16:creationId xmlns="" xmlns:a16="http://schemas.microsoft.com/office/drawing/2014/main" id="{E93022AA-FD9E-4354-A4A7-DF5F91C23E96}"/>
                </a:ext>
              </a:extLst>
            </p:cNvPr>
            <p:cNvSpPr/>
            <p:nvPr/>
          </p:nvSpPr>
          <p:spPr>
            <a:xfrm rot="10800000">
              <a:off x="7079191" y="2801785"/>
              <a:ext cx="156744" cy="408908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3" name="TextBox 42">
              <a:extLst>
                <a:ext uri="{FF2B5EF4-FFF2-40B4-BE49-F238E27FC236}">
                  <a16:creationId xmlns="" xmlns:a16="http://schemas.microsoft.com/office/drawing/2014/main" id="{BAF74065-B1AC-4D5B-9613-553AA58A4378}"/>
                </a:ext>
              </a:extLst>
            </p:cNvPr>
            <p:cNvSpPr txBox="1"/>
            <p:nvPr/>
          </p:nvSpPr>
          <p:spPr>
            <a:xfrm>
              <a:off x="6815615" y="2509921"/>
              <a:ext cx="711403" cy="2670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 smtClean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CS-6</a:t>
              </a:r>
              <a:endParaRPr lang="en-US" sz="16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9" name="TextBox 38"/>
          <p:cNvSpPr txBox="1"/>
          <p:nvPr/>
        </p:nvSpPr>
        <p:spPr>
          <a:xfrm>
            <a:off x="7921869" y="1582615"/>
            <a:ext cx="1213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accent3">
                    <a:lumMod val="75000"/>
                  </a:schemeClr>
                </a:solidFill>
              </a:rPr>
              <a:t>CS-1 = x0</a:t>
            </a:r>
            <a:endParaRPr lang="en-US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8927126" y="1559168"/>
            <a:ext cx="5158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accent3">
                    <a:lumMod val="75000"/>
                  </a:schemeClr>
                </a:solidFill>
              </a:rPr>
              <a:t> x1</a:t>
            </a:r>
            <a:endParaRPr lang="en-US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45" name="Multiply 44"/>
          <p:cNvSpPr/>
          <p:nvPr/>
        </p:nvSpPr>
        <p:spPr>
          <a:xfrm>
            <a:off x="8765930" y="1626579"/>
            <a:ext cx="211015" cy="307731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46" name="Multiply 45"/>
          <p:cNvSpPr/>
          <p:nvPr/>
        </p:nvSpPr>
        <p:spPr>
          <a:xfrm>
            <a:off x="9076587" y="1620722"/>
            <a:ext cx="211015" cy="307731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47" name="TextBox 46"/>
          <p:cNvSpPr txBox="1"/>
          <p:nvPr/>
        </p:nvSpPr>
        <p:spPr>
          <a:xfrm>
            <a:off x="9193829" y="1553308"/>
            <a:ext cx="5158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accent3">
                    <a:lumMod val="75000"/>
                  </a:schemeClr>
                </a:solidFill>
              </a:rPr>
              <a:t> x2</a:t>
            </a:r>
            <a:endParaRPr lang="en-US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7916010" y="1998784"/>
            <a:ext cx="1213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accent3">
                    <a:lumMod val="75000"/>
                  </a:schemeClr>
                </a:solidFill>
              </a:rPr>
              <a:t>CS-2 = x3</a:t>
            </a:r>
            <a:endParaRPr lang="en-US" dirty="0">
              <a:solidFill>
                <a:schemeClr val="accent3">
                  <a:lumMod val="75000"/>
                </a:schemeClr>
              </a:solidFill>
            </a:endParaRPr>
          </a:p>
        </p:txBody>
      </p:sp>
      <p:cxnSp>
        <p:nvCxnSpPr>
          <p:cNvPr id="49" name="Straight Arrow Connector 48"/>
          <p:cNvCxnSpPr/>
          <p:nvPr/>
        </p:nvCxnSpPr>
        <p:spPr>
          <a:xfrm flipV="1">
            <a:off x="8792306" y="2170375"/>
            <a:ext cx="595223" cy="17252"/>
          </a:xfrm>
          <a:prstGeom prst="straightConnector1">
            <a:avLst/>
          </a:prstGeom>
          <a:ln w="1905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Multiply 49"/>
          <p:cNvSpPr/>
          <p:nvPr/>
        </p:nvSpPr>
        <p:spPr>
          <a:xfrm>
            <a:off x="9419492" y="2007579"/>
            <a:ext cx="211015" cy="307731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51" name="TextBox 50"/>
          <p:cNvSpPr txBox="1"/>
          <p:nvPr/>
        </p:nvSpPr>
        <p:spPr>
          <a:xfrm>
            <a:off x="7918946" y="2362192"/>
            <a:ext cx="1213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accent3">
                    <a:lumMod val="75000"/>
                  </a:schemeClr>
                </a:solidFill>
              </a:rPr>
              <a:t>CS-3 = x4</a:t>
            </a:r>
            <a:endParaRPr lang="en-US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7904294" y="2743192"/>
            <a:ext cx="1213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accent3">
                    <a:lumMod val="75000"/>
                  </a:schemeClr>
                </a:solidFill>
              </a:rPr>
              <a:t>CS-4 = x3</a:t>
            </a:r>
            <a:endParaRPr lang="en-US" dirty="0">
              <a:solidFill>
                <a:schemeClr val="accent3">
                  <a:lumMod val="75000"/>
                </a:schemeClr>
              </a:solidFill>
            </a:endParaRPr>
          </a:p>
        </p:txBody>
      </p:sp>
      <p:cxnSp>
        <p:nvCxnSpPr>
          <p:cNvPr id="53" name="Straight Arrow Connector 52"/>
          <p:cNvCxnSpPr/>
          <p:nvPr/>
        </p:nvCxnSpPr>
        <p:spPr>
          <a:xfrm flipV="1">
            <a:off x="8760068" y="2929445"/>
            <a:ext cx="595223" cy="17252"/>
          </a:xfrm>
          <a:prstGeom prst="straightConnector1">
            <a:avLst/>
          </a:prstGeom>
          <a:ln w="1905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Multiply 53"/>
          <p:cNvSpPr/>
          <p:nvPr/>
        </p:nvSpPr>
        <p:spPr>
          <a:xfrm>
            <a:off x="9387254" y="2766649"/>
            <a:ext cx="211015" cy="307731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 </a:t>
            </a:r>
            <a:endParaRPr lang="en-US" dirty="0"/>
          </a:p>
        </p:txBody>
      </p:sp>
      <p:cxnSp>
        <p:nvCxnSpPr>
          <p:cNvPr id="55" name="Straight Arrow Connector 54"/>
          <p:cNvCxnSpPr/>
          <p:nvPr/>
        </p:nvCxnSpPr>
        <p:spPr>
          <a:xfrm flipV="1">
            <a:off x="8771792" y="2545514"/>
            <a:ext cx="595223" cy="17252"/>
          </a:xfrm>
          <a:prstGeom prst="straightConnector1">
            <a:avLst/>
          </a:prstGeom>
          <a:ln w="1905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Multiply 55"/>
          <p:cNvSpPr/>
          <p:nvPr/>
        </p:nvSpPr>
        <p:spPr>
          <a:xfrm>
            <a:off x="9398978" y="2382718"/>
            <a:ext cx="211015" cy="307731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57" name="TextBox 56"/>
          <p:cNvSpPr txBox="1"/>
          <p:nvPr/>
        </p:nvSpPr>
        <p:spPr>
          <a:xfrm>
            <a:off x="7916018" y="3080230"/>
            <a:ext cx="1213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accent3">
                    <a:lumMod val="75000"/>
                  </a:schemeClr>
                </a:solidFill>
              </a:rPr>
              <a:t>CS-5 = x3</a:t>
            </a:r>
            <a:endParaRPr lang="en-US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7927741" y="3390892"/>
            <a:ext cx="1213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accent3">
                    <a:lumMod val="75000"/>
                  </a:schemeClr>
                </a:solidFill>
              </a:rPr>
              <a:t>CS-6 = x3</a:t>
            </a:r>
            <a:endParaRPr lang="en-US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1296" y="0"/>
            <a:ext cx="1346591" cy="306407"/>
          </a:xfrm>
        </p:spPr>
        <p:txBody>
          <a:bodyPr/>
          <a:lstStyle/>
          <a:p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NFA Continues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6934" y="577801"/>
            <a:ext cx="8946541" cy="4195481"/>
          </a:xfrm>
        </p:spPr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 = All words that start with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and end with bb are valid.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 = {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babb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baabb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babbb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baaabb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baabbb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…………}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 =           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74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562283" y="1431655"/>
            <a:ext cx="8971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a+b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)*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11" name="Group 38"/>
          <p:cNvGrpSpPr/>
          <p:nvPr/>
        </p:nvGrpSpPr>
        <p:grpSpPr>
          <a:xfrm>
            <a:off x="618945" y="3275272"/>
            <a:ext cx="5909095" cy="1258157"/>
            <a:chOff x="733245" y="2202610"/>
            <a:chExt cx="5909095" cy="1258157"/>
          </a:xfrm>
        </p:grpSpPr>
        <p:sp>
          <p:nvSpPr>
            <p:cNvPr id="6" name="Oval 5"/>
            <p:cNvSpPr/>
            <p:nvPr/>
          </p:nvSpPr>
          <p:spPr>
            <a:xfrm>
              <a:off x="1173192" y="2958860"/>
              <a:ext cx="560717" cy="48307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x0</a:t>
              </a:r>
              <a:endParaRPr lang="en-US" sz="16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" name="Oval 6"/>
            <p:cNvSpPr/>
            <p:nvPr/>
          </p:nvSpPr>
          <p:spPr>
            <a:xfrm>
              <a:off x="2360761" y="2930103"/>
              <a:ext cx="560717" cy="48307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x1</a:t>
              </a:r>
              <a:endParaRPr lang="en-US" sz="16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" name="Oval 7"/>
            <p:cNvSpPr/>
            <p:nvPr/>
          </p:nvSpPr>
          <p:spPr>
            <a:xfrm>
              <a:off x="3565585" y="2927230"/>
              <a:ext cx="560717" cy="48307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x2</a:t>
              </a:r>
              <a:endParaRPr lang="en-US" sz="16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" name="Oval 8"/>
            <p:cNvSpPr/>
            <p:nvPr/>
          </p:nvSpPr>
          <p:spPr>
            <a:xfrm>
              <a:off x="4770407" y="2898475"/>
              <a:ext cx="560717" cy="48307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x3</a:t>
              </a:r>
              <a:endParaRPr lang="en-US" sz="1600" dirty="0"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12" name="Group 15"/>
            <p:cNvGrpSpPr/>
            <p:nvPr/>
          </p:nvGrpSpPr>
          <p:grpSpPr>
            <a:xfrm>
              <a:off x="5934973" y="2786331"/>
              <a:ext cx="707367" cy="638355"/>
              <a:chOff x="6478436" y="3209026"/>
              <a:chExt cx="707367" cy="638355"/>
            </a:xfrm>
          </p:grpSpPr>
          <p:sp>
            <p:nvSpPr>
              <p:cNvPr id="10" name="Oval 9">
                <a:extLst>
                  <a:ext uri="{FF2B5EF4-FFF2-40B4-BE49-F238E27FC236}">
                    <a16:creationId xmlns="" xmlns:a16="http://schemas.microsoft.com/office/drawing/2014/main" id="{1A90B709-A6EF-4AF3-8058-50CF1F57FBE0}"/>
                  </a:ext>
                </a:extLst>
              </p:cNvPr>
              <p:cNvSpPr/>
              <p:nvPr/>
            </p:nvSpPr>
            <p:spPr>
              <a:xfrm>
                <a:off x="6478436" y="3209026"/>
                <a:ext cx="707367" cy="638355"/>
              </a:xfrm>
              <a:prstGeom prst="ellips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5" name="Oval 14"/>
              <p:cNvSpPr/>
              <p:nvPr/>
            </p:nvSpPr>
            <p:spPr>
              <a:xfrm>
                <a:off x="6544573" y="3283789"/>
                <a:ext cx="560717" cy="483079"/>
              </a:xfrm>
              <a:prstGeom prst="ellips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 smtClean="0">
                    <a:latin typeface="Times New Roman" pitchFamily="18" charset="0"/>
                    <a:cs typeface="Times New Roman" pitchFamily="18" charset="0"/>
                  </a:rPr>
                  <a:t>x4</a:t>
                </a:r>
                <a:endParaRPr lang="en-US" sz="16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cxnSp>
          <p:nvCxnSpPr>
            <p:cNvPr id="18" name="Straight Arrow Connector 17"/>
            <p:cNvCxnSpPr/>
            <p:nvPr/>
          </p:nvCxnSpPr>
          <p:spPr>
            <a:xfrm flipV="1">
              <a:off x="1759790" y="3183149"/>
              <a:ext cx="595223" cy="17252"/>
            </a:xfrm>
            <a:prstGeom prst="straightConnector1">
              <a:avLst/>
            </a:prstGeom>
            <a:ln w="1905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/>
            <p:nvPr/>
          </p:nvCxnSpPr>
          <p:spPr>
            <a:xfrm>
              <a:off x="733245" y="3209026"/>
              <a:ext cx="402571" cy="7335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/>
            <p:nvPr/>
          </p:nvCxnSpPr>
          <p:spPr>
            <a:xfrm flipV="1">
              <a:off x="2938731" y="3163018"/>
              <a:ext cx="595223" cy="17252"/>
            </a:xfrm>
            <a:prstGeom prst="straightConnector1">
              <a:avLst/>
            </a:prstGeom>
            <a:ln w="1905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/>
            <p:nvPr/>
          </p:nvCxnSpPr>
          <p:spPr>
            <a:xfrm flipV="1">
              <a:off x="5333998" y="3117013"/>
              <a:ext cx="595223" cy="17252"/>
            </a:xfrm>
            <a:prstGeom prst="straightConnector1">
              <a:avLst/>
            </a:prstGeom>
            <a:ln w="1905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/>
            <p:nvPr/>
          </p:nvCxnSpPr>
          <p:spPr>
            <a:xfrm flipV="1">
              <a:off x="4166558" y="3140016"/>
              <a:ext cx="595223" cy="17252"/>
            </a:xfrm>
            <a:prstGeom prst="straightConnector1">
              <a:avLst/>
            </a:prstGeom>
            <a:ln w="1905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="" xmlns:a16="http://schemas.microsoft.com/office/drawing/2014/main" id="{B21A631C-D2FE-49B1-8957-E25DAB8A74E9}"/>
                </a:ext>
              </a:extLst>
            </p:cNvPr>
            <p:cNvSpPr txBox="1"/>
            <p:nvPr/>
          </p:nvSpPr>
          <p:spPr>
            <a:xfrm>
              <a:off x="2986817" y="2787657"/>
              <a:ext cx="2359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="" xmlns:a16="http://schemas.microsoft.com/office/drawing/2014/main" id="{B21A631C-D2FE-49B1-8957-E25DAB8A74E9}"/>
                </a:ext>
              </a:extLst>
            </p:cNvPr>
            <p:cNvSpPr txBox="1"/>
            <p:nvPr/>
          </p:nvSpPr>
          <p:spPr>
            <a:xfrm>
              <a:off x="1827836" y="2785444"/>
              <a:ext cx="2359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="" xmlns:a16="http://schemas.microsoft.com/office/drawing/2014/main" id="{B21A631C-D2FE-49B1-8957-E25DAB8A74E9}"/>
                </a:ext>
              </a:extLst>
            </p:cNvPr>
            <p:cNvSpPr txBox="1"/>
            <p:nvPr/>
          </p:nvSpPr>
          <p:spPr>
            <a:xfrm>
              <a:off x="5404757" y="2722184"/>
              <a:ext cx="2359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="" xmlns:a16="http://schemas.microsoft.com/office/drawing/2014/main" id="{B21A631C-D2FE-49B1-8957-E25DAB8A74E9}"/>
                </a:ext>
              </a:extLst>
            </p:cNvPr>
            <p:cNvSpPr txBox="1"/>
            <p:nvPr/>
          </p:nvSpPr>
          <p:spPr>
            <a:xfrm>
              <a:off x="4211437" y="2762937"/>
              <a:ext cx="2359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" name="Arc 31">
              <a:extLst>
                <a:ext uri="{FF2B5EF4-FFF2-40B4-BE49-F238E27FC236}">
                  <a16:creationId xmlns="" xmlns:a16="http://schemas.microsoft.com/office/drawing/2014/main" id="{4A9D3AB6-108E-4062-B22C-A1FC38CC204A}"/>
                </a:ext>
              </a:extLst>
            </p:cNvPr>
            <p:cNvSpPr/>
            <p:nvPr/>
          </p:nvSpPr>
          <p:spPr>
            <a:xfrm>
              <a:off x="3641805" y="2605177"/>
              <a:ext cx="408846" cy="855590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TextBox 32">
              <a:extLst>
                <a:ext uri="{FF2B5EF4-FFF2-40B4-BE49-F238E27FC236}">
                  <a16:creationId xmlns="" xmlns:a16="http://schemas.microsoft.com/office/drawing/2014/main" id="{B21A631C-D2FE-49B1-8957-E25DAB8A74E9}"/>
                </a:ext>
              </a:extLst>
            </p:cNvPr>
            <p:cNvSpPr txBox="1"/>
            <p:nvPr/>
          </p:nvSpPr>
          <p:spPr>
            <a:xfrm>
              <a:off x="3585908" y="2202610"/>
              <a:ext cx="74455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a/b</a:t>
              </a:r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4" name="TextBox 33"/>
          <p:cNvSpPr txBox="1"/>
          <p:nvPr/>
        </p:nvSpPr>
        <p:spPr>
          <a:xfrm>
            <a:off x="2260572" y="1443377"/>
            <a:ext cx="5098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bb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277932" y="1411139"/>
            <a:ext cx="4541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ba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88140" y="1946364"/>
            <a:ext cx="25036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Input :  </a:t>
            </a: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bababbab</a:t>
            </a:r>
            <a:r>
              <a:rPr lang="en-US" sz="2000" b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endParaRPr lang="en-US" sz="20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13" name="Group 26">
            <a:extLst>
              <a:ext uri="{FF2B5EF4-FFF2-40B4-BE49-F238E27FC236}">
                <a16:creationId xmlns="" xmlns:a16="http://schemas.microsoft.com/office/drawing/2014/main" id="{8D3C0EC3-1E6A-436B-B406-38A549AC7268}"/>
              </a:ext>
            </a:extLst>
          </p:cNvPr>
          <p:cNvGrpSpPr/>
          <p:nvPr/>
        </p:nvGrpSpPr>
        <p:grpSpPr>
          <a:xfrm rot="10800000">
            <a:off x="3378686" y="4555434"/>
            <a:ext cx="711403" cy="888332"/>
            <a:chOff x="6815615" y="2509921"/>
            <a:chExt cx="711403" cy="700772"/>
          </a:xfrm>
        </p:grpSpPr>
        <p:sp>
          <p:nvSpPr>
            <p:cNvPr id="37" name="Arrow: Up 57">
              <a:extLst>
                <a:ext uri="{FF2B5EF4-FFF2-40B4-BE49-F238E27FC236}">
                  <a16:creationId xmlns="" xmlns:a16="http://schemas.microsoft.com/office/drawing/2014/main" id="{E93022AA-FD9E-4354-A4A7-DF5F91C23E96}"/>
                </a:ext>
              </a:extLst>
            </p:cNvPr>
            <p:cNvSpPr/>
            <p:nvPr/>
          </p:nvSpPr>
          <p:spPr>
            <a:xfrm rot="10800000">
              <a:off x="7079191" y="2801785"/>
              <a:ext cx="156744" cy="408908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8" name="TextBox 37">
              <a:extLst>
                <a:ext uri="{FF2B5EF4-FFF2-40B4-BE49-F238E27FC236}">
                  <a16:creationId xmlns="" xmlns:a16="http://schemas.microsoft.com/office/drawing/2014/main" id="{BAF74065-B1AC-4D5B-9613-553AA58A4378}"/>
                </a:ext>
              </a:extLst>
            </p:cNvPr>
            <p:cNvSpPr txBox="1"/>
            <p:nvPr/>
          </p:nvSpPr>
          <p:spPr>
            <a:xfrm rot="10800000">
              <a:off x="6815615" y="2509921"/>
              <a:ext cx="711403" cy="2670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CS-1</a:t>
              </a:r>
            </a:p>
          </p:txBody>
        </p:sp>
      </p:grpSp>
      <p:grpSp>
        <p:nvGrpSpPr>
          <p:cNvPr id="14" name="Group 26">
            <a:extLst>
              <a:ext uri="{FF2B5EF4-FFF2-40B4-BE49-F238E27FC236}">
                <a16:creationId xmlns="" xmlns:a16="http://schemas.microsoft.com/office/drawing/2014/main" id="{8D3C0EC3-1E6A-436B-B406-38A549AC7268}"/>
              </a:ext>
            </a:extLst>
          </p:cNvPr>
          <p:cNvGrpSpPr/>
          <p:nvPr/>
        </p:nvGrpSpPr>
        <p:grpSpPr>
          <a:xfrm>
            <a:off x="5861049" y="2940579"/>
            <a:ext cx="711403" cy="888332"/>
            <a:chOff x="6815615" y="2509921"/>
            <a:chExt cx="711403" cy="700772"/>
          </a:xfrm>
        </p:grpSpPr>
        <p:sp>
          <p:nvSpPr>
            <p:cNvPr id="40" name="Arrow: Up 57">
              <a:extLst>
                <a:ext uri="{FF2B5EF4-FFF2-40B4-BE49-F238E27FC236}">
                  <a16:creationId xmlns="" xmlns:a16="http://schemas.microsoft.com/office/drawing/2014/main" id="{E93022AA-FD9E-4354-A4A7-DF5F91C23E96}"/>
                </a:ext>
              </a:extLst>
            </p:cNvPr>
            <p:cNvSpPr/>
            <p:nvPr/>
          </p:nvSpPr>
          <p:spPr>
            <a:xfrm rot="10800000">
              <a:off x="7079191" y="2801785"/>
              <a:ext cx="156744" cy="408908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="" xmlns:a16="http://schemas.microsoft.com/office/drawing/2014/main" id="{BAF74065-B1AC-4D5B-9613-553AA58A4378}"/>
                </a:ext>
              </a:extLst>
            </p:cNvPr>
            <p:cNvSpPr txBox="1"/>
            <p:nvPr/>
          </p:nvSpPr>
          <p:spPr>
            <a:xfrm>
              <a:off x="6815615" y="2509921"/>
              <a:ext cx="711403" cy="2670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 smtClean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CS-5</a:t>
              </a:r>
              <a:endParaRPr lang="en-US" sz="16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6" name="Group 26">
            <a:extLst>
              <a:ext uri="{FF2B5EF4-FFF2-40B4-BE49-F238E27FC236}">
                <a16:creationId xmlns="" xmlns:a16="http://schemas.microsoft.com/office/drawing/2014/main" id="{8D3C0EC3-1E6A-436B-B406-38A549AC7268}"/>
              </a:ext>
            </a:extLst>
          </p:cNvPr>
          <p:cNvGrpSpPr/>
          <p:nvPr/>
        </p:nvGrpSpPr>
        <p:grpSpPr>
          <a:xfrm>
            <a:off x="4536341" y="3066601"/>
            <a:ext cx="711403" cy="888332"/>
            <a:chOff x="6815615" y="2509921"/>
            <a:chExt cx="711403" cy="700772"/>
          </a:xfrm>
        </p:grpSpPr>
        <p:sp>
          <p:nvSpPr>
            <p:cNvPr id="42" name="Arrow: Up 57">
              <a:extLst>
                <a:ext uri="{FF2B5EF4-FFF2-40B4-BE49-F238E27FC236}">
                  <a16:creationId xmlns="" xmlns:a16="http://schemas.microsoft.com/office/drawing/2014/main" id="{E93022AA-FD9E-4354-A4A7-DF5F91C23E96}"/>
                </a:ext>
              </a:extLst>
            </p:cNvPr>
            <p:cNvSpPr/>
            <p:nvPr/>
          </p:nvSpPr>
          <p:spPr>
            <a:xfrm rot="10800000">
              <a:off x="7079191" y="2801785"/>
              <a:ext cx="156744" cy="408908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3" name="TextBox 42">
              <a:extLst>
                <a:ext uri="{FF2B5EF4-FFF2-40B4-BE49-F238E27FC236}">
                  <a16:creationId xmlns="" xmlns:a16="http://schemas.microsoft.com/office/drawing/2014/main" id="{BAF74065-B1AC-4D5B-9613-553AA58A4378}"/>
                </a:ext>
              </a:extLst>
            </p:cNvPr>
            <p:cNvSpPr txBox="1"/>
            <p:nvPr/>
          </p:nvSpPr>
          <p:spPr>
            <a:xfrm>
              <a:off x="6815615" y="2509921"/>
              <a:ext cx="711403" cy="2670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 smtClean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CS-6</a:t>
              </a:r>
              <a:endParaRPr lang="en-US" sz="16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9" name="TextBox 38"/>
          <p:cNvSpPr txBox="1"/>
          <p:nvPr/>
        </p:nvSpPr>
        <p:spPr>
          <a:xfrm>
            <a:off x="7921869" y="1582615"/>
            <a:ext cx="1213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accent3">
                    <a:lumMod val="75000"/>
                  </a:schemeClr>
                </a:solidFill>
              </a:rPr>
              <a:t>CS-1 = x0</a:t>
            </a:r>
            <a:endParaRPr lang="en-US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8927126" y="1559168"/>
            <a:ext cx="5158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accent3">
                    <a:lumMod val="75000"/>
                  </a:schemeClr>
                </a:solidFill>
              </a:rPr>
              <a:t> x1</a:t>
            </a:r>
            <a:endParaRPr lang="en-US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45" name="Multiply 44"/>
          <p:cNvSpPr/>
          <p:nvPr/>
        </p:nvSpPr>
        <p:spPr>
          <a:xfrm>
            <a:off x="8765930" y="1626579"/>
            <a:ext cx="211015" cy="307731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46" name="Multiply 45"/>
          <p:cNvSpPr/>
          <p:nvPr/>
        </p:nvSpPr>
        <p:spPr>
          <a:xfrm>
            <a:off x="9076587" y="1620722"/>
            <a:ext cx="211015" cy="307731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47" name="TextBox 46"/>
          <p:cNvSpPr txBox="1"/>
          <p:nvPr/>
        </p:nvSpPr>
        <p:spPr>
          <a:xfrm>
            <a:off x="7916010" y="1998784"/>
            <a:ext cx="1213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accent3">
                    <a:lumMod val="75000"/>
                  </a:schemeClr>
                </a:solidFill>
              </a:rPr>
              <a:t>CS-2 = x3</a:t>
            </a:r>
            <a:endParaRPr lang="en-US" dirty="0">
              <a:solidFill>
                <a:schemeClr val="accent3">
                  <a:lumMod val="75000"/>
                </a:schemeClr>
              </a:solidFill>
            </a:endParaRPr>
          </a:p>
        </p:txBody>
      </p:sp>
      <p:cxnSp>
        <p:nvCxnSpPr>
          <p:cNvPr id="48" name="Straight Arrow Connector 47"/>
          <p:cNvCxnSpPr/>
          <p:nvPr/>
        </p:nvCxnSpPr>
        <p:spPr>
          <a:xfrm flipV="1">
            <a:off x="8792306" y="2170375"/>
            <a:ext cx="595223" cy="17252"/>
          </a:xfrm>
          <a:prstGeom prst="straightConnector1">
            <a:avLst/>
          </a:prstGeom>
          <a:ln w="1905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Multiply 48"/>
          <p:cNvSpPr/>
          <p:nvPr/>
        </p:nvSpPr>
        <p:spPr>
          <a:xfrm>
            <a:off x="9419492" y="2007579"/>
            <a:ext cx="211015" cy="307731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50" name="TextBox 49"/>
          <p:cNvSpPr txBox="1"/>
          <p:nvPr/>
        </p:nvSpPr>
        <p:spPr>
          <a:xfrm>
            <a:off x="7918946" y="2362192"/>
            <a:ext cx="1213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accent3">
                    <a:lumMod val="75000"/>
                  </a:schemeClr>
                </a:solidFill>
              </a:rPr>
              <a:t>CS-3 = x4</a:t>
            </a:r>
            <a:endParaRPr lang="en-US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7904294" y="2743192"/>
            <a:ext cx="1213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accent3">
                    <a:lumMod val="75000"/>
                  </a:schemeClr>
                </a:solidFill>
              </a:rPr>
              <a:t>CS-4 = x3</a:t>
            </a:r>
            <a:endParaRPr lang="en-US" dirty="0">
              <a:solidFill>
                <a:schemeClr val="accent3">
                  <a:lumMod val="75000"/>
                </a:schemeClr>
              </a:solidFill>
            </a:endParaRPr>
          </a:p>
        </p:txBody>
      </p:sp>
      <p:cxnSp>
        <p:nvCxnSpPr>
          <p:cNvPr id="52" name="Straight Arrow Connector 51"/>
          <p:cNvCxnSpPr/>
          <p:nvPr/>
        </p:nvCxnSpPr>
        <p:spPr>
          <a:xfrm flipV="1">
            <a:off x="8760068" y="2929445"/>
            <a:ext cx="595223" cy="17252"/>
          </a:xfrm>
          <a:prstGeom prst="straightConnector1">
            <a:avLst/>
          </a:prstGeom>
          <a:ln w="1905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Multiply 52"/>
          <p:cNvSpPr/>
          <p:nvPr/>
        </p:nvSpPr>
        <p:spPr>
          <a:xfrm>
            <a:off x="9387254" y="2766649"/>
            <a:ext cx="211015" cy="307731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 </a:t>
            </a:r>
            <a:endParaRPr lang="en-US" dirty="0"/>
          </a:p>
        </p:txBody>
      </p:sp>
      <p:cxnSp>
        <p:nvCxnSpPr>
          <p:cNvPr id="54" name="Straight Arrow Connector 53"/>
          <p:cNvCxnSpPr/>
          <p:nvPr/>
        </p:nvCxnSpPr>
        <p:spPr>
          <a:xfrm flipV="1">
            <a:off x="8771792" y="2545514"/>
            <a:ext cx="595223" cy="17252"/>
          </a:xfrm>
          <a:prstGeom prst="straightConnector1">
            <a:avLst/>
          </a:prstGeom>
          <a:ln w="1905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Multiply 54"/>
          <p:cNvSpPr/>
          <p:nvPr/>
        </p:nvSpPr>
        <p:spPr>
          <a:xfrm>
            <a:off x="9398978" y="2382718"/>
            <a:ext cx="211015" cy="307731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56" name="TextBox 55"/>
          <p:cNvSpPr txBox="1"/>
          <p:nvPr/>
        </p:nvSpPr>
        <p:spPr>
          <a:xfrm>
            <a:off x="7916018" y="3080230"/>
            <a:ext cx="1213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accent3">
                    <a:lumMod val="75000"/>
                  </a:schemeClr>
                </a:solidFill>
              </a:rPr>
              <a:t>CS-5 = x4</a:t>
            </a:r>
            <a:endParaRPr lang="en-US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7927741" y="3390892"/>
            <a:ext cx="1213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accent3">
                    <a:lumMod val="75000"/>
                  </a:schemeClr>
                </a:solidFill>
              </a:rPr>
              <a:t>CS-6 = x3</a:t>
            </a:r>
            <a:endParaRPr lang="en-US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9193829" y="1553308"/>
            <a:ext cx="5158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accent3">
                    <a:lumMod val="75000"/>
                  </a:schemeClr>
                </a:solidFill>
              </a:rPr>
              <a:t> x2</a:t>
            </a:r>
            <a:endParaRPr lang="en-US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1296" y="0"/>
            <a:ext cx="1346591" cy="306407"/>
          </a:xfrm>
        </p:spPr>
        <p:txBody>
          <a:bodyPr/>
          <a:lstStyle/>
          <a:p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NFA Continues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6934" y="577801"/>
            <a:ext cx="8946541" cy="4195481"/>
          </a:xfrm>
        </p:spPr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 = All words that start with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and end with bb are valid.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 = {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babb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baabb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babbb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baaabb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baabbb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…………}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 =           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75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562283" y="1431655"/>
            <a:ext cx="8971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a+b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)*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11" name="Group 38"/>
          <p:cNvGrpSpPr/>
          <p:nvPr/>
        </p:nvGrpSpPr>
        <p:grpSpPr>
          <a:xfrm>
            <a:off x="618945" y="3275272"/>
            <a:ext cx="5909095" cy="1258157"/>
            <a:chOff x="733245" y="2202610"/>
            <a:chExt cx="5909095" cy="1258157"/>
          </a:xfrm>
        </p:grpSpPr>
        <p:sp>
          <p:nvSpPr>
            <p:cNvPr id="6" name="Oval 5"/>
            <p:cNvSpPr/>
            <p:nvPr/>
          </p:nvSpPr>
          <p:spPr>
            <a:xfrm>
              <a:off x="1173192" y="2958860"/>
              <a:ext cx="560717" cy="48307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x0</a:t>
              </a:r>
              <a:endParaRPr lang="en-US" sz="16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" name="Oval 6"/>
            <p:cNvSpPr/>
            <p:nvPr/>
          </p:nvSpPr>
          <p:spPr>
            <a:xfrm>
              <a:off x="2360761" y="2930103"/>
              <a:ext cx="560717" cy="48307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x1</a:t>
              </a:r>
              <a:endParaRPr lang="en-US" sz="16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" name="Oval 7"/>
            <p:cNvSpPr/>
            <p:nvPr/>
          </p:nvSpPr>
          <p:spPr>
            <a:xfrm>
              <a:off x="3565585" y="2927230"/>
              <a:ext cx="560717" cy="48307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x2</a:t>
              </a:r>
              <a:endParaRPr lang="en-US" sz="16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" name="Oval 8"/>
            <p:cNvSpPr/>
            <p:nvPr/>
          </p:nvSpPr>
          <p:spPr>
            <a:xfrm>
              <a:off x="4770407" y="2898475"/>
              <a:ext cx="560717" cy="48307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x3</a:t>
              </a:r>
              <a:endParaRPr lang="en-US" sz="1600" dirty="0"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12" name="Group 15"/>
            <p:cNvGrpSpPr/>
            <p:nvPr/>
          </p:nvGrpSpPr>
          <p:grpSpPr>
            <a:xfrm>
              <a:off x="5934973" y="2786331"/>
              <a:ext cx="707367" cy="638355"/>
              <a:chOff x="6478436" y="3209026"/>
              <a:chExt cx="707367" cy="638355"/>
            </a:xfrm>
          </p:grpSpPr>
          <p:sp>
            <p:nvSpPr>
              <p:cNvPr id="10" name="Oval 9">
                <a:extLst>
                  <a:ext uri="{FF2B5EF4-FFF2-40B4-BE49-F238E27FC236}">
                    <a16:creationId xmlns="" xmlns:a16="http://schemas.microsoft.com/office/drawing/2014/main" id="{1A90B709-A6EF-4AF3-8058-50CF1F57FBE0}"/>
                  </a:ext>
                </a:extLst>
              </p:cNvPr>
              <p:cNvSpPr/>
              <p:nvPr/>
            </p:nvSpPr>
            <p:spPr>
              <a:xfrm>
                <a:off x="6478436" y="3209026"/>
                <a:ext cx="707367" cy="638355"/>
              </a:xfrm>
              <a:prstGeom prst="ellips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5" name="Oval 14"/>
              <p:cNvSpPr/>
              <p:nvPr/>
            </p:nvSpPr>
            <p:spPr>
              <a:xfrm>
                <a:off x="6544573" y="3283789"/>
                <a:ext cx="560717" cy="483079"/>
              </a:xfrm>
              <a:prstGeom prst="ellips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 smtClean="0">
                    <a:latin typeface="Times New Roman" pitchFamily="18" charset="0"/>
                    <a:cs typeface="Times New Roman" pitchFamily="18" charset="0"/>
                  </a:rPr>
                  <a:t>x4</a:t>
                </a:r>
                <a:endParaRPr lang="en-US" sz="16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cxnSp>
          <p:nvCxnSpPr>
            <p:cNvPr id="18" name="Straight Arrow Connector 17"/>
            <p:cNvCxnSpPr/>
            <p:nvPr/>
          </p:nvCxnSpPr>
          <p:spPr>
            <a:xfrm flipV="1">
              <a:off x="1759790" y="3183149"/>
              <a:ext cx="595223" cy="17252"/>
            </a:xfrm>
            <a:prstGeom prst="straightConnector1">
              <a:avLst/>
            </a:prstGeom>
            <a:ln w="1905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/>
            <p:nvPr/>
          </p:nvCxnSpPr>
          <p:spPr>
            <a:xfrm>
              <a:off x="733245" y="3209026"/>
              <a:ext cx="402571" cy="7335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/>
            <p:nvPr/>
          </p:nvCxnSpPr>
          <p:spPr>
            <a:xfrm flipV="1">
              <a:off x="2938731" y="3163018"/>
              <a:ext cx="595223" cy="17252"/>
            </a:xfrm>
            <a:prstGeom prst="straightConnector1">
              <a:avLst/>
            </a:prstGeom>
            <a:ln w="1905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/>
            <p:nvPr/>
          </p:nvCxnSpPr>
          <p:spPr>
            <a:xfrm flipV="1">
              <a:off x="5333998" y="3117013"/>
              <a:ext cx="595223" cy="17252"/>
            </a:xfrm>
            <a:prstGeom prst="straightConnector1">
              <a:avLst/>
            </a:prstGeom>
            <a:ln w="1905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/>
            <p:nvPr/>
          </p:nvCxnSpPr>
          <p:spPr>
            <a:xfrm flipV="1">
              <a:off x="4166558" y="3140016"/>
              <a:ext cx="595223" cy="17252"/>
            </a:xfrm>
            <a:prstGeom prst="straightConnector1">
              <a:avLst/>
            </a:prstGeom>
            <a:ln w="1905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="" xmlns:a16="http://schemas.microsoft.com/office/drawing/2014/main" id="{B21A631C-D2FE-49B1-8957-E25DAB8A74E9}"/>
                </a:ext>
              </a:extLst>
            </p:cNvPr>
            <p:cNvSpPr txBox="1"/>
            <p:nvPr/>
          </p:nvSpPr>
          <p:spPr>
            <a:xfrm>
              <a:off x="2986817" y="2787657"/>
              <a:ext cx="2359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="" xmlns:a16="http://schemas.microsoft.com/office/drawing/2014/main" id="{B21A631C-D2FE-49B1-8957-E25DAB8A74E9}"/>
                </a:ext>
              </a:extLst>
            </p:cNvPr>
            <p:cNvSpPr txBox="1"/>
            <p:nvPr/>
          </p:nvSpPr>
          <p:spPr>
            <a:xfrm>
              <a:off x="1827836" y="2785444"/>
              <a:ext cx="2359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="" xmlns:a16="http://schemas.microsoft.com/office/drawing/2014/main" id="{B21A631C-D2FE-49B1-8957-E25DAB8A74E9}"/>
                </a:ext>
              </a:extLst>
            </p:cNvPr>
            <p:cNvSpPr txBox="1"/>
            <p:nvPr/>
          </p:nvSpPr>
          <p:spPr>
            <a:xfrm>
              <a:off x="5404757" y="2722184"/>
              <a:ext cx="2359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="" xmlns:a16="http://schemas.microsoft.com/office/drawing/2014/main" id="{B21A631C-D2FE-49B1-8957-E25DAB8A74E9}"/>
                </a:ext>
              </a:extLst>
            </p:cNvPr>
            <p:cNvSpPr txBox="1"/>
            <p:nvPr/>
          </p:nvSpPr>
          <p:spPr>
            <a:xfrm>
              <a:off x="4211437" y="2762937"/>
              <a:ext cx="2359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" name="Arc 31">
              <a:extLst>
                <a:ext uri="{FF2B5EF4-FFF2-40B4-BE49-F238E27FC236}">
                  <a16:creationId xmlns="" xmlns:a16="http://schemas.microsoft.com/office/drawing/2014/main" id="{4A9D3AB6-108E-4062-B22C-A1FC38CC204A}"/>
                </a:ext>
              </a:extLst>
            </p:cNvPr>
            <p:cNvSpPr/>
            <p:nvPr/>
          </p:nvSpPr>
          <p:spPr>
            <a:xfrm>
              <a:off x="3641805" y="2605177"/>
              <a:ext cx="408846" cy="855590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TextBox 32">
              <a:extLst>
                <a:ext uri="{FF2B5EF4-FFF2-40B4-BE49-F238E27FC236}">
                  <a16:creationId xmlns="" xmlns:a16="http://schemas.microsoft.com/office/drawing/2014/main" id="{B21A631C-D2FE-49B1-8957-E25DAB8A74E9}"/>
                </a:ext>
              </a:extLst>
            </p:cNvPr>
            <p:cNvSpPr txBox="1"/>
            <p:nvPr/>
          </p:nvSpPr>
          <p:spPr>
            <a:xfrm>
              <a:off x="3585908" y="2202610"/>
              <a:ext cx="74455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a/b</a:t>
              </a:r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4" name="TextBox 33"/>
          <p:cNvSpPr txBox="1"/>
          <p:nvPr/>
        </p:nvSpPr>
        <p:spPr>
          <a:xfrm>
            <a:off x="2260572" y="1443377"/>
            <a:ext cx="5098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bb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277932" y="1411139"/>
            <a:ext cx="4541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ba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88140" y="1946364"/>
            <a:ext cx="25036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Input :  </a:t>
            </a: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bababbabb</a:t>
            </a: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13" name="Group 26">
            <a:extLst>
              <a:ext uri="{FF2B5EF4-FFF2-40B4-BE49-F238E27FC236}">
                <a16:creationId xmlns="" xmlns:a16="http://schemas.microsoft.com/office/drawing/2014/main" id="{8D3C0EC3-1E6A-436B-B406-38A549AC7268}"/>
              </a:ext>
            </a:extLst>
          </p:cNvPr>
          <p:cNvGrpSpPr/>
          <p:nvPr/>
        </p:nvGrpSpPr>
        <p:grpSpPr>
          <a:xfrm rot="10800000">
            <a:off x="3378686" y="4555434"/>
            <a:ext cx="711403" cy="888332"/>
            <a:chOff x="6815615" y="2509921"/>
            <a:chExt cx="711403" cy="700772"/>
          </a:xfrm>
        </p:grpSpPr>
        <p:sp>
          <p:nvSpPr>
            <p:cNvPr id="37" name="Arrow: Up 57">
              <a:extLst>
                <a:ext uri="{FF2B5EF4-FFF2-40B4-BE49-F238E27FC236}">
                  <a16:creationId xmlns="" xmlns:a16="http://schemas.microsoft.com/office/drawing/2014/main" id="{E93022AA-FD9E-4354-A4A7-DF5F91C23E96}"/>
                </a:ext>
              </a:extLst>
            </p:cNvPr>
            <p:cNvSpPr/>
            <p:nvPr/>
          </p:nvSpPr>
          <p:spPr>
            <a:xfrm rot="10800000">
              <a:off x="7079191" y="2801785"/>
              <a:ext cx="156744" cy="408908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8" name="TextBox 37">
              <a:extLst>
                <a:ext uri="{FF2B5EF4-FFF2-40B4-BE49-F238E27FC236}">
                  <a16:creationId xmlns="" xmlns:a16="http://schemas.microsoft.com/office/drawing/2014/main" id="{BAF74065-B1AC-4D5B-9613-553AA58A4378}"/>
                </a:ext>
              </a:extLst>
            </p:cNvPr>
            <p:cNvSpPr txBox="1"/>
            <p:nvPr/>
          </p:nvSpPr>
          <p:spPr>
            <a:xfrm rot="10800000">
              <a:off x="6815615" y="2509921"/>
              <a:ext cx="711403" cy="2670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CS-1</a:t>
              </a:r>
            </a:p>
          </p:txBody>
        </p:sp>
      </p:grpSp>
      <p:grpSp>
        <p:nvGrpSpPr>
          <p:cNvPr id="14" name="Group 26">
            <a:extLst>
              <a:ext uri="{FF2B5EF4-FFF2-40B4-BE49-F238E27FC236}">
                <a16:creationId xmlns="" xmlns:a16="http://schemas.microsoft.com/office/drawing/2014/main" id="{8D3C0EC3-1E6A-436B-B406-38A549AC7268}"/>
              </a:ext>
            </a:extLst>
          </p:cNvPr>
          <p:cNvGrpSpPr/>
          <p:nvPr/>
        </p:nvGrpSpPr>
        <p:grpSpPr>
          <a:xfrm>
            <a:off x="5861049" y="2940579"/>
            <a:ext cx="711403" cy="888332"/>
            <a:chOff x="6815615" y="2509921"/>
            <a:chExt cx="711403" cy="700772"/>
          </a:xfrm>
        </p:grpSpPr>
        <p:sp>
          <p:nvSpPr>
            <p:cNvPr id="40" name="Arrow: Up 57">
              <a:extLst>
                <a:ext uri="{FF2B5EF4-FFF2-40B4-BE49-F238E27FC236}">
                  <a16:creationId xmlns="" xmlns:a16="http://schemas.microsoft.com/office/drawing/2014/main" id="{E93022AA-FD9E-4354-A4A7-DF5F91C23E96}"/>
                </a:ext>
              </a:extLst>
            </p:cNvPr>
            <p:cNvSpPr/>
            <p:nvPr/>
          </p:nvSpPr>
          <p:spPr>
            <a:xfrm rot="10800000">
              <a:off x="7079191" y="2801785"/>
              <a:ext cx="156744" cy="408908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="" xmlns:a16="http://schemas.microsoft.com/office/drawing/2014/main" id="{BAF74065-B1AC-4D5B-9613-553AA58A4378}"/>
                </a:ext>
              </a:extLst>
            </p:cNvPr>
            <p:cNvSpPr txBox="1"/>
            <p:nvPr/>
          </p:nvSpPr>
          <p:spPr>
            <a:xfrm>
              <a:off x="6815615" y="2509921"/>
              <a:ext cx="711403" cy="2670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 smtClean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CS-5</a:t>
              </a:r>
              <a:endParaRPr lang="en-US" sz="16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6" name="Group 26">
            <a:extLst>
              <a:ext uri="{FF2B5EF4-FFF2-40B4-BE49-F238E27FC236}">
                <a16:creationId xmlns="" xmlns:a16="http://schemas.microsoft.com/office/drawing/2014/main" id="{8D3C0EC3-1E6A-436B-B406-38A549AC7268}"/>
              </a:ext>
            </a:extLst>
          </p:cNvPr>
          <p:cNvGrpSpPr/>
          <p:nvPr/>
        </p:nvGrpSpPr>
        <p:grpSpPr>
          <a:xfrm>
            <a:off x="4536341" y="3066601"/>
            <a:ext cx="711403" cy="888332"/>
            <a:chOff x="6815615" y="2509921"/>
            <a:chExt cx="711403" cy="700772"/>
          </a:xfrm>
        </p:grpSpPr>
        <p:sp>
          <p:nvSpPr>
            <p:cNvPr id="42" name="Arrow: Up 57">
              <a:extLst>
                <a:ext uri="{FF2B5EF4-FFF2-40B4-BE49-F238E27FC236}">
                  <a16:creationId xmlns="" xmlns:a16="http://schemas.microsoft.com/office/drawing/2014/main" id="{E93022AA-FD9E-4354-A4A7-DF5F91C23E96}"/>
                </a:ext>
              </a:extLst>
            </p:cNvPr>
            <p:cNvSpPr/>
            <p:nvPr/>
          </p:nvSpPr>
          <p:spPr>
            <a:xfrm rot="10800000">
              <a:off x="7079191" y="2801785"/>
              <a:ext cx="156744" cy="408908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3" name="TextBox 42">
              <a:extLst>
                <a:ext uri="{FF2B5EF4-FFF2-40B4-BE49-F238E27FC236}">
                  <a16:creationId xmlns="" xmlns:a16="http://schemas.microsoft.com/office/drawing/2014/main" id="{BAF74065-B1AC-4D5B-9613-553AA58A4378}"/>
                </a:ext>
              </a:extLst>
            </p:cNvPr>
            <p:cNvSpPr txBox="1"/>
            <p:nvPr/>
          </p:nvSpPr>
          <p:spPr>
            <a:xfrm>
              <a:off x="6815615" y="2509921"/>
              <a:ext cx="711403" cy="2670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 smtClean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CS-6</a:t>
              </a:r>
              <a:endParaRPr lang="en-US" sz="16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9" name="TextBox 38"/>
          <p:cNvSpPr txBox="1"/>
          <p:nvPr/>
        </p:nvSpPr>
        <p:spPr>
          <a:xfrm>
            <a:off x="7921869" y="1582615"/>
            <a:ext cx="1213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accent3">
                    <a:lumMod val="75000"/>
                  </a:schemeClr>
                </a:solidFill>
              </a:rPr>
              <a:t>CS-1 = x0</a:t>
            </a:r>
            <a:endParaRPr lang="en-US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8927126" y="1559168"/>
            <a:ext cx="5158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accent3">
                    <a:lumMod val="75000"/>
                  </a:schemeClr>
                </a:solidFill>
              </a:rPr>
              <a:t> x1</a:t>
            </a:r>
            <a:endParaRPr lang="en-US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45" name="Multiply 44"/>
          <p:cNvSpPr/>
          <p:nvPr/>
        </p:nvSpPr>
        <p:spPr>
          <a:xfrm>
            <a:off x="8765930" y="1626579"/>
            <a:ext cx="211015" cy="307731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46" name="Multiply 45"/>
          <p:cNvSpPr/>
          <p:nvPr/>
        </p:nvSpPr>
        <p:spPr>
          <a:xfrm>
            <a:off x="9076587" y="1620722"/>
            <a:ext cx="211015" cy="307731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47" name="TextBox 46"/>
          <p:cNvSpPr txBox="1"/>
          <p:nvPr/>
        </p:nvSpPr>
        <p:spPr>
          <a:xfrm>
            <a:off x="7916010" y="1998784"/>
            <a:ext cx="1213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accent3">
                    <a:lumMod val="75000"/>
                  </a:schemeClr>
                </a:solidFill>
              </a:rPr>
              <a:t>CS-2 = x3</a:t>
            </a:r>
            <a:endParaRPr lang="en-US" dirty="0">
              <a:solidFill>
                <a:schemeClr val="accent3">
                  <a:lumMod val="75000"/>
                </a:schemeClr>
              </a:solidFill>
            </a:endParaRPr>
          </a:p>
        </p:txBody>
      </p:sp>
      <p:cxnSp>
        <p:nvCxnSpPr>
          <p:cNvPr id="48" name="Straight Arrow Connector 47"/>
          <p:cNvCxnSpPr/>
          <p:nvPr/>
        </p:nvCxnSpPr>
        <p:spPr>
          <a:xfrm flipV="1">
            <a:off x="8792306" y="2170375"/>
            <a:ext cx="595223" cy="17252"/>
          </a:xfrm>
          <a:prstGeom prst="straightConnector1">
            <a:avLst/>
          </a:prstGeom>
          <a:ln w="1905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Multiply 48"/>
          <p:cNvSpPr/>
          <p:nvPr/>
        </p:nvSpPr>
        <p:spPr>
          <a:xfrm>
            <a:off x="9419492" y="2007579"/>
            <a:ext cx="211015" cy="307731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50" name="TextBox 49"/>
          <p:cNvSpPr txBox="1"/>
          <p:nvPr/>
        </p:nvSpPr>
        <p:spPr>
          <a:xfrm>
            <a:off x="7918946" y="2362192"/>
            <a:ext cx="1213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accent3">
                    <a:lumMod val="75000"/>
                  </a:schemeClr>
                </a:solidFill>
              </a:rPr>
              <a:t>CS-3 = x4</a:t>
            </a:r>
            <a:endParaRPr lang="en-US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7904294" y="2743192"/>
            <a:ext cx="1213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accent3">
                    <a:lumMod val="75000"/>
                  </a:schemeClr>
                </a:solidFill>
              </a:rPr>
              <a:t>CS-4 = x3</a:t>
            </a:r>
            <a:endParaRPr lang="en-US" dirty="0">
              <a:solidFill>
                <a:schemeClr val="accent3">
                  <a:lumMod val="75000"/>
                </a:schemeClr>
              </a:solidFill>
            </a:endParaRPr>
          </a:p>
        </p:txBody>
      </p:sp>
      <p:cxnSp>
        <p:nvCxnSpPr>
          <p:cNvPr id="52" name="Straight Arrow Connector 51"/>
          <p:cNvCxnSpPr/>
          <p:nvPr/>
        </p:nvCxnSpPr>
        <p:spPr>
          <a:xfrm flipV="1">
            <a:off x="8760068" y="2929445"/>
            <a:ext cx="595223" cy="17252"/>
          </a:xfrm>
          <a:prstGeom prst="straightConnector1">
            <a:avLst/>
          </a:prstGeom>
          <a:ln w="1905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Multiply 52"/>
          <p:cNvSpPr/>
          <p:nvPr/>
        </p:nvSpPr>
        <p:spPr>
          <a:xfrm>
            <a:off x="9387254" y="2766649"/>
            <a:ext cx="211015" cy="307731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 </a:t>
            </a:r>
            <a:endParaRPr lang="en-US" dirty="0"/>
          </a:p>
        </p:txBody>
      </p:sp>
      <p:cxnSp>
        <p:nvCxnSpPr>
          <p:cNvPr id="54" name="Straight Arrow Connector 53"/>
          <p:cNvCxnSpPr/>
          <p:nvPr/>
        </p:nvCxnSpPr>
        <p:spPr>
          <a:xfrm flipV="1">
            <a:off x="8771792" y="2545514"/>
            <a:ext cx="595223" cy="17252"/>
          </a:xfrm>
          <a:prstGeom prst="straightConnector1">
            <a:avLst/>
          </a:prstGeom>
          <a:ln w="1905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Multiply 54"/>
          <p:cNvSpPr/>
          <p:nvPr/>
        </p:nvSpPr>
        <p:spPr>
          <a:xfrm>
            <a:off x="9398978" y="2382718"/>
            <a:ext cx="211015" cy="307731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56" name="TextBox 55"/>
          <p:cNvSpPr txBox="1"/>
          <p:nvPr/>
        </p:nvSpPr>
        <p:spPr>
          <a:xfrm>
            <a:off x="7916018" y="3080230"/>
            <a:ext cx="1213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accent3">
                    <a:lumMod val="75000"/>
                  </a:schemeClr>
                </a:solidFill>
              </a:rPr>
              <a:t>CS-5 = x4</a:t>
            </a:r>
            <a:endParaRPr lang="en-US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7927741" y="3390892"/>
            <a:ext cx="1213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accent3">
                    <a:lumMod val="75000"/>
                  </a:schemeClr>
                </a:solidFill>
              </a:rPr>
              <a:t>CS-6 = x3</a:t>
            </a:r>
            <a:endParaRPr lang="en-US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9193829" y="1553308"/>
            <a:ext cx="5158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accent3">
                    <a:lumMod val="75000"/>
                  </a:schemeClr>
                </a:solidFill>
              </a:rPr>
              <a:t> x2</a:t>
            </a:r>
            <a:endParaRPr lang="en-US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1296" y="0"/>
            <a:ext cx="1346591" cy="306407"/>
          </a:xfrm>
        </p:spPr>
        <p:txBody>
          <a:bodyPr/>
          <a:lstStyle/>
          <a:p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NFA Continues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6934" y="577801"/>
            <a:ext cx="8946541" cy="4195481"/>
          </a:xfrm>
        </p:spPr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 = All words that start with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and end with bb are valid.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 = {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babb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baabb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babbb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baaabb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baabbb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…………}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 =           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76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562283" y="1431655"/>
            <a:ext cx="8971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a+b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)*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11" name="Group 38"/>
          <p:cNvGrpSpPr/>
          <p:nvPr/>
        </p:nvGrpSpPr>
        <p:grpSpPr>
          <a:xfrm>
            <a:off x="618945" y="3275272"/>
            <a:ext cx="5909095" cy="1258157"/>
            <a:chOff x="733245" y="2202610"/>
            <a:chExt cx="5909095" cy="1258157"/>
          </a:xfrm>
        </p:grpSpPr>
        <p:sp>
          <p:nvSpPr>
            <p:cNvPr id="6" name="Oval 5"/>
            <p:cNvSpPr/>
            <p:nvPr/>
          </p:nvSpPr>
          <p:spPr>
            <a:xfrm>
              <a:off x="1173192" y="2958860"/>
              <a:ext cx="560717" cy="48307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x0</a:t>
              </a:r>
              <a:endParaRPr lang="en-US" sz="16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" name="Oval 6"/>
            <p:cNvSpPr/>
            <p:nvPr/>
          </p:nvSpPr>
          <p:spPr>
            <a:xfrm>
              <a:off x="2360761" y="2930103"/>
              <a:ext cx="560717" cy="48307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x1</a:t>
              </a:r>
              <a:endParaRPr lang="en-US" sz="16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" name="Oval 7"/>
            <p:cNvSpPr/>
            <p:nvPr/>
          </p:nvSpPr>
          <p:spPr>
            <a:xfrm>
              <a:off x="3565585" y="2927230"/>
              <a:ext cx="560717" cy="48307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x2</a:t>
              </a:r>
              <a:endParaRPr lang="en-US" sz="16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" name="Oval 8"/>
            <p:cNvSpPr/>
            <p:nvPr/>
          </p:nvSpPr>
          <p:spPr>
            <a:xfrm>
              <a:off x="4770407" y="2898475"/>
              <a:ext cx="560717" cy="48307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x3</a:t>
              </a:r>
              <a:endParaRPr lang="en-US" sz="1600" dirty="0"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12" name="Group 15"/>
            <p:cNvGrpSpPr/>
            <p:nvPr/>
          </p:nvGrpSpPr>
          <p:grpSpPr>
            <a:xfrm>
              <a:off x="5934973" y="2786331"/>
              <a:ext cx="707367" cy="638355"/>
              <a:chOff x="6478436" y="3209026"/>
              <a:chExt cx="707367" cy="638355"/>
            </a:xfrm>
          </p:grpSpPr>
          <p:sp>
            <p:nvSpPr>
              <p:cNvPr id="10" name="Oval 9">
                <a:extLst>
                  <a:ext uri="{FF2B5EF4-FFF2-40B4-BE49-F238E27FC236}">
                    <a16:creationId xmlns="" xmlns:a16="http://schemas.microsoft.com/office/drawing/2014/main" id="{1A90B709-A6EF-4AF3-8058-50CF1F57FBE0}"/>
                  </a:ext>
                </a:extLst>
              </p:cNvPr>
              <p:cNvSpPr/>
              <p:nvPr/>
            </p:nvSpPr>
            <p:spPr>
              <a:xfrm>
                <a:off x="6478436" y="3209026"/>
                <a:ext cx="707367" cy="638355"/>
              </a:xfrm>
              <a:prstGeom prst="ellips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5" name="Oval 14"/>
              <p:cNvSpPr/>
              <p:nvPr/>
            </p:nvSpPr>
            <p:spPr>
              <a:xfrm>
                <a:off x="6544573" y="3283789"/>
                <a:ext cx="560717" cy="483079"/>
              </a:xfrm>
              <a:prstGeom prst="ellips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 smtClean="0">
                    <a:latin typeface="Times New Roman" pitchFamily="18" charset="0"/>
                    <a:cs typeface="Times New Roman" pitchFamily="18" charset="0"/>
                  </a:rPr>
                  <a:t>x4</a:t>
                </a:r>
                <a:endParaRPr lang="en-US" sz="16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cxnSp>
          <p:nvCxnSpPr>
            <p:cNvPr id="18" name="Straight Arrow Connector 17"/>
            <p:cNvCxnSpPr/>
            <p:nvPr/>
          </p:nvCxnSpPr>
          <p:spPr>
            <a:xfrm flipV="1">
              <a:off x="1759790" y="3183149"/>
              <a:ext cx="595223" cy="17252"/>
            </a:xfrm>
            <a:prstGeom prst="straightConnector1">
              <a:avLst/>
            </a:prstGeom>
            <a:ln w="1905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/>
            <p:nvPr/>
          </p:nvCxnSpPr>
          <p:spPr>
            <a:xfrm>
              <a:off x="733245" y="3209026"/>
              <a:ext cx="402571" cy="7335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/>
            <p:nvPr/>
          </p:nvCxnSpPr>
          <p:spPr>
            <a:xfrm flipV="1">
              <a:off x="2938731" y="3163018"/>
              <a:ext cx="595223" cy="17252"/>
            </a:xfrm>
            <a:prstGeom prst="straightConnector1">
              <a:avLst/>
            </a:prstGeom>
            <a:ln w="1905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/>
            <p:nvPr/>
          </p:nvCxnSpPr>
          <p:spPr>
            <a:xfrm flipV="1">
              <a:off x="5333998" y="3117013"/>
              <a:ext cx="595223" cy="17252"/>
            </a:xfrm>
            <a:prstGeom prst="straightConnector1">
              <a:avLst/>
            </a:prstGeom>
            <a:ln w="1905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/>
            <p:nvPr/>
          </p:nvCxnSpPr>
          <p:spPr>
            <a:xfrm flipV="1">
              <a:off x="4166558" y="3140016"/>
              <a:ext cx="595223" cy="17252"/>
            </a:xfrm>
            <a:prstGeom prst="straightConnector1">
              <a:avLst/>
            </a:prstGeom>
            <a:ln w="1905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="" xmlns:a16="http://schemas.microsoft.com/office/drawing/2014/main" id="{B21A631C-D2FE-49B1-8957-E25DAB8A74E9}"/>
                </a:ext>
              </a:extLst>
            </p:cNvPr>
            <p:cNvSpPr txBox="1"/>
            <p:nvPr/>
          </p:nvSpPr>
          <p:spPr>
            <a:xfrm>
              <a:off x="2986817" y="2787657"/>
              <a:ext cx="2359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="" xmlns:a16="http://schemas.microsoft.com/office/drawing/2014/main" id="{B21A631C-D2FE-49B1-8957-E25DAB8A74E9}"/>
                </a:ext>
              </a:extLst>
            </p:cNvPr>
            <p:cNvSpPr txBox="1"/>
            <p:nvPr/>
          </p:nvSpPr>
          <p:spPr>
            <a:xfrm>
              <a:off x="1827836" y="2785444"/>
              <a:ext cx="2359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="" xmlns:a16="http://schemas.microsoft.com/office/drawing/2014/main" id="{B21A631C-D2FE-49B1-8957-E25DAB8A74E9}"/>
                </a:ext>
              </a:extLst>
            </p:cNvPr>
            <p:cNvSpPr txBox="1"/>
            <p:nvPr/>
          </p:nvSpPr>
          <p:spPr>
            <a:xfrm>
              <a:off x="5404757" y="2722184"/>
              <a:ext cx="2359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="" xmlns:a16="http://schemas.microsoft.com/office/drawing/2014/main" id="{B21A631C-D2FE-49B1-8957-E25DAB8A74E9}"/>
                </a:ext>
              </a:extLst>
            </p:cNvPr>
            <p:cNvSpPr txBox="1"/>
            <p:nvPr/>
          </p:nvSpPr>
          <p:spPr>
            <a:xfrm>
              <a:off x="4211437" y="2762937"/>
              <a:ext cx="2359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" name="Arc 31">
              <a:extLst>
                <a:ext uri="{FF2B5EF4-FFF2-40B4-BE49-F238E27FC236}">
                  <a16:creationId xmlns="" xmlns:a16="http://schemas.microsoft.com/office/drawing/2014/main" id="{4A9D3AB6-108E-4062-B22C-A1FC38CC204A}"/>
                </a:ext>
              </a:extLst>
            </p:cNvPr>
            <p:cNvSpPr/>
            <p:nvPr/>
          </p:nvSpPr>
          <p:spPr>
            <a:xfrm>
              <a:off x="3641805" y="2605177"/>
              <a:ext cx="408846" cy="855590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TextBox 32">
              <a:extLst>
                <a:ext uri="{FF2B5EF4-FFF2-40B4-BE49-F238E27FC236}">
                  <a16:creationId xmlns="" xmlns:a16="http://schemas.microsoft.com/office/drawing/2014/main" id="{B21A631C-D2FE-49B1-8957-E25DAB8A74E9}"/>
                </a:ext>
              </a:extLst>
            </p:cNvPr>
            <p:cNvSpPr txBox="1"/>
            <p:nvPr/>
          </p:nvSpPr>
          <p:spPr>
            <a:xfrm>
              <a:off x="3585908" y="2202610"/>
              <a:ext cx="74455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a/b</a:t>
              </a:r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4" name="TextBox 33"/>
          <p:cNvSpPr txBox="1"/>
          <p:nvPr/>
        </p:nvSpPr>
        <p:spPr>
          <a:xfrm>
            <a:off x="2260572" y="1443377"/>
            <a:ext cx="5098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bb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277932" y="1411139"/>
            <a:ext cx="4541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ba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88140" y="1946364"/>
            <a:ext cx="25036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Input :  </a:t>
            </a: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bababbabb</a:t>
            </a: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13" name="Group 26">
            <a:extLst>
              <a:ext uri="{FF2B5EF4-FFF2-40B4-BE49-F238E27FC236}">
                <a16:creationId xmlns="" xmlns:a16="http://schemas.microsoft.com/office/drawing/2014/main" id="{8D3C0EC3-1E6A-436B-B406-38A549AC7268}"/>
              </a:ext>
            </a:extLst>
          </p:cNvPr>
          <p:cNvGrpSpPr/>
          <p:nvPr/>
        </p:nvGrpSpPr>
        <p:grpSpPr>
          <a:xfrm rot="10800000">
            <a:off x="3378686" y="4555434"/>
            <a:ext cx="711403" cy="888332"/>
            <a:chOff x="6815615" y="2509921"/>
            <a:chExt cx="711403" cy="700772"/>
          </a:xfrm>
        </p:grpSpPr>
        <p:sp>
          <p:nvSpPr>
            <p:cNvPr id="37" name="Arrow: Up 57">
              <a:extLst>
                <a:ext uri="{FF2B5EF4-FFF2-40B4-BE49-F238E27FC236}">
                  <a16:creationId xmlns="" xmlns:a16="http://schemas.microsoft.com/office/drawing/2014/main" id="{E93022AA-FD9E-4354-A4A7-DF5F91C23E96}"/>
                </a:ext>
              </a:extLst>
            </p:cNvPr>
            <p:cNvSpPr/>
            <p:nvPr/>
          </p:nvSpPr>
          <p:spPr>
            <a:xfrm rot="10800000">
              <a:off x="7079191" y="2801785"/>
              <a:ext cx="156744" cy="408908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8" name="TextBox 37">
              <a:extLst>
                <a:ext uri="{FF2B5EF4-FFF2-40B4-BE49-F238E27FC236}">
                  <a16:creationId xmlns="" xmlns:a16="http://schemas.microsoft.com/office/drawing/2014/main" id="{BAF74065-B1AC-4D5B-9613-553AA58A4378}"/>
                </a:ext>
              </a:extLst>
            </p:cNvPr>
            <p:cNvSpPr txBox="1"/>
            <p:nvPr/>
          </p:nvSpPr>
          <p:spPr>
            <a:xfrm rot="10800000">
              <a:off x="6815615" y="2509921"/>
              <a:ext cx="711403" cy="2670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CS-1</a:t>
              </a:r>
            </a:p>
          </p:txBody>
        </p:sp>
      </p:grpSp>
      <p:grpSp>
        <p:nvGrpSpPr>
          <p:cNvPr id="14" name="Group 26">
            <a:extLst>
              <a:ext uri="{FF2B5EF4-FFF2-40B4-BE49-F238E27FC236}">
                <a16:creationId xmlns="" xmlns:a16="http://schemas.microsoft.com/office/drawing/2014/main" id="{8D3C0EC3-1E6A-436B-B406-38A549AC7268}"/>
              </a:ext>
            </a:extLst>
          </p:cNvPr>
          <p:cNvGrpSpPr/>
          <p:nvPr/>
        </p:nvGrpSpPr>
        <p:grpSpPr>
          <a:xfrm>
            <a:off x="5861049" y="2940579"/>
            <a:ext cx="711403" cy="888332"/>
            <a:chOff x="6815615" y="2509921"/>
            <a:chExt cx="711403" cy="700772"/>
          </a:xfrm>
        </p:grpSpPr>
        <p:sp>
          <p:nvSpPr>
            <p:cNvPr id="40" name="Arrow: Up 57">
              <a:extLst>
                <a:ext uri="{FF2B5EF4-FFF2-40B4-BE49-F238E27FC236}">
                  <a16:creationId xmlns="" xmlns:a16="http://schemas.microsoft.com/office/drawing/2014/main" id="{E93022AA-FD9E-4354-A4A7-DF5F91C23E96}"/>
                </a:ext>
              </a:extLst>
            </p:cNvPr>
            <p:cNvSpPr/>
            <p:nvPr/>
          </p:nvSpPr>
          <p:spPr>
            <a:xfrm rot="10800000">
              <a:off x="7079191" y="2801785"/>
              <a:ext cx="156744" cy="408908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="" xmlns:a16="http://schemas.microsoft.com/office/drawing/2014/main" id="{BAF74065-B1AC-4D5B-9613-553AA58A4378}"/>
                </a:ext>
              </a:extLst>
            </p:cNvPr>
            <p:cNvSpPr txBox="1"/>
            <p:nvPr/>
          </p:nvSpPr>
          <p:spPr>
            <a:xfrm>
              <a:off x="6815615" y="2509921"/>
              <a:ext cx="711403" cy="2670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 smtClean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CS-5</a:t>
              </a:r>
              <a:endParaRPr lang="en-US" sz="16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6" name="Group 26">
            <a:extLst>
              <a:ext uri="{FF2B5EF4-FFF2-40B4-BE49-F238E27FC236}">
                <a16:creationId xmlns="" xmlns:a16="http://schemas.microsoft.com/office/drawing/2014/main" id="{8D3C0EC3-1E6A-436B-B406-38A549AC7268}"/>
              </a:ext>
            </a:extLst>
          </p:cNvPr>
          <p:cNvGrpSpPr/>
          <p:nvPr/>
        </p:nvGrpSpPr>
        <p:grpSpPr>
          <a:xfrm>
            <a:off x="4536341" y="3066601"/>
            <a:ext cx="711403" cy="888332"/>
            <a:chOff x="6815615" y="2509921"/>
            <a:chExt cx="711403" cy="700772"/>
          </a:xfrm>
        </p:grpSpPr>
        <p:sp>
          <p:nvSpPr>
            <p:cNvPr id="42" name="Arrow: Up 57">
              <a:extLst>
                <a:ext uri="{FF2B5EF4-FFF2-40B4-BE49-F238E27FC236}">
                  <a16:creationId xmlns="" xmlns:a16="http://schemas.microsoft.com/office/drawing/2014/main" id="{E93022AA-FD9E-4354-A4A7-DF5F91C23E96}"/>
                </a:ext>
              </a:extLst>
            </p:cNvPr>
            <p:cNvSpPr/>
            <p:nvPr/>
          </p:nvSpPr>
          <p:spPr>
            <a:xfrm rot="10800000">
              <a:off x="7079191" y="2801785"/>
              <a:ext cx="156744" cy="408908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3" name="TextBox 42">
              <a:extLst>
                <a:ext uri="{FF2B5EF4-FFF2-40B4-BE49-F238E27FC236}">
                  <a16:creationId xmlns="" xmlns:a16="http://schemas.microsoft.com/office/drawing/2014/main" id="{BAF74065-B1AC-4D5B-9613-553AA58A4378}"/>
                </a:ext>
              </a:extLst>
            </p:cNvPr>
            <p:cNvSpPr txBox="1"/>
            <p:nvPr/>
          </p:nvSpPr>
          <p:spPr>
            <a:xfrm>
              <a:off x="6815615" y="2509921"/>
              <a:ext cx="711403" cy="2670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 smtClean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CS-6</a:t>
              </a:r>
              <a:endParaRPr lang="en-US" sz="16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9" name="TextBox 38"/>
          <p:cNvSpPr txBox="1"/>
          <p:nvPr/>
        </p:nvSpPr>
        <p:spPr>
          <a:xfrm>
            <a:off x="7921869" y="1582615"/>
            <a:ext cx="1213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accent3">
                    <a:lumMod val="75000"/>
                  </a:schemeClr>
                </a:solidFill>
              </a:rPr>
              <a:t>CS-1 = x0</a:t>
            </a:r>
            <a:endParaRPr lang="en-US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8927126" y="1559168"/>
            <a:ext cx="5158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accent3">
                    <a:lumMod val="75000"/>
                  </a:schemeClr>
                </a:solidFill>
              </a:rPr>
              <a:t> x1</a:t>
            </a:r>
            <a:endParaRPr lang="en-US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45" name="Multiply 44"/>
          <p:cNvSpPr/>
          <p:nvPr/>
        </p:nvSpPr>
        <p:spPr>
          <a:xfrm>
            <a:off x="8765930" y="1626579"/>
            <a:ext cx="211015" cy="307731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46" name="Multiply 45"/>
          <p:cNvSpPr/>
          <p:nvPr/>
        </p:nvSpPr>
        <p:spPr>
          <a:xfrm>
            <a:off x="9076587" y="1620722"/>
            <a:ext cx="211015" cy="307731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47" name="TextBox 46"/>
          <p:cNvSpPr txBox="1"/>
          <p:nvPr/>
        </p:nvSpPr>
        <p:spPr>
          <a:xfrm>
            <a:off x="7916010" y="1998784"/>
            <a:ext cx="1213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accent3">
                    <a:lumMod val="75000"/>
                  </a:schemeClr>
                </a:solidFill>
              </a:rPr>
              <a:t>CS-2 = x3</a:t>
            </a:r>
            <a:endParaRPr lang="en-US" dirty="0">
              <a:solidFill>
                <a:schemeClr val="accent3">
                  <a:lumMod val="75000"/>
                </a:schemeClr>
              </a:solidFill>
            </a:endParaRPr>
          </a:p>
        </p:txBody>
      </p:sp>
      <p:cxnSp>
        <p:nvCxnSpPr>
          <p:cNvPr id="48" name="Straight Arrow Connector 47"/>
          <p:cNvCxnSpPr/>
          <p:nvPr/>
        </p:nvCxnSpPr>
        <p:spPr>
          <a:xfrm flipV="1">
            <a:off x="8792306" y="2170375"/>
            <a:ext cx="595223" cy="17252"/>
          </a:xfrm>
          <a:prstGeom prst="straightConnector1">
            <a:avLst/>
          </a:prstGeom>
          <a:ln w="1905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Multiply 48"/>
          <p:cNvSpPr/>
          <p:nvPr/>
        </p:nvSpPr>
        <p:spPr>
          <a:xfrm>
            <a:off x="9419492" y="2007579"/>
            <a:ext cx="211015" cy="307731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50" name="TextBox 49"/>
          <p:cNvSpPr txBox="1"/>
          <p:nvPr/>
        </p:nvSpPr>
        <p:spPr>
          <a:xfrm>
            <a:off x="7918946" y="2362192"/>
            <a:ext cx="1213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accent3">
                    <a:lumMod val="75000"/>
                  </a:schemeClr>
                </a:solidFill>
              </a:rPr>
              <a:t>CS-3 = x4</a:t>
            </a:r>
            <a:endParaRPr lang="en-US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7904294" y="2743192"/>
            <a:ext cx="1213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accent3">
                    <a:lumMod val="75000"/>
                  </a:schemeClr>
                </a:solidFill>
              </a:rPr>
              <a:t>CS-4 = x3</a:t>
            </a:r>
            <a:endParaRPr lang="en-US" dirty="0">
              <a:solidFill>
                <a:schemeClr val="accent3">
                  <a:lumMod val="75000"/>
                </a:schemeClr>
              </a:solidFill>
            </a:endParaRPr>
          </a:p>
        </p:txBody>
      </p:sp>
      <p:cxnSp>
        <p:nvCxnSpPr>
          <p:cNvPr id="52" name="Straight Arrow Connector 51"/>
          <p:cNvCxnSpPr/>
          <p:nvPr/>
        </p:nvCxnSpPr>
        <p:spPr>
          <a:xfrm flipV="1">
            <a:off x="8760068" y="2929445"/>
            <a:ext cx="595223" cy="17252"/>
          </a:xfrm>
          <a:prstGeom prst="straightConnector1">
            <a:avLst/>
          </a:prstGeom>
          <a:ln w="1905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Multiply 52"/>
          <p:cNvSpPr/>
          <p:nvPr/>
        </p:nvSpPr>
        <p:spPr>
          <a:xfrm>
            <a:off x="9387254" y="2766649"/>
            <a:ext cx="211015" cy="307731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 </a:t>
            </a:r>
            <a:endParaRPr lang="en-US" dirty="0"/>
          </a:p>
        </p:txBody>
      </p:sp>
      <p:cxnSp>
        <p:nvCxnSpPr>
          <p:cNvPr id="54" name="Straight Arrow Connector 53"/>
          <p:cNvCxnSpPr/>
          <p:nvPr/>
        </p:nvCxnSpPr>
        <p:spPr>
          <a:xfrm flipV="1">
            <a:off x="8771792" y="2545514"/>
            <a:ext cx="595223" cy="17252"/>
          </a:xfrm>
          <a:prstGeom prst="straightConnector1">
            <a:avLst/>
          </a:prstGeom>
          <a:ln w="1905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Multiply 54"/>
          <p:cNvSpPr/>
          <p:nvPr/>
        </p:nvSpPr>
        <p:spPr>
          <a:xfrm>
            <a:off x="9398978" y="2382718"/>
            <a:ext cx="211015" cy="307731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56" name="TextBox 55"/>
          <p:cNvSpPr txBox="1"/>
          <p:nvPr/>
        </p:nvSpPr>
        <p:spPr>
          <a:xfrm>
            <a:off x="7916018" y="3080230"/>
            <a:ext cx="1213339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accent3">
                    <a:lumMod val="75000"/>
                  </a:schemeClr>
                </a:solidFill>
              </a:rPr>
              <a:t>CS-5 = x4</a:t>
            </a:r>
            <a:endParaRPr lang="en-US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7927741" y="3390892"/>
            <a:ext cx="1213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accent3">
                    <a:lumMod val="75000"/>
                  </a:schemeClr>
                </a:solidFill>
              </a:rPr>
              <a:t>CS-6 = x3</a:t>
            </a:r>
            <a:endParaRPr lang="en-US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9193829" y="1553308"/>
            <a:ext cx="5158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accent3">
                    <a:lumMod val="75000"/>
                  </a:schemeClr>
                </a:solidFill>
              </a:rPr>
              <a:t> x2</a:t>
            </a:r>
            <a:endParaRPr lang="en-US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1296" y="0"/>
            <a:ext cx="1346591" cy="306407"/>
          </a:xfrm>
        </p:spPr>
        <p:txBody>
          <a:bodyPr/>
          <a:lstStyle/>
          <a:p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NFA Continues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6934" y="577801"/>
            <a:ext cx="8946541" cy="4195481"/>
          </a:xfrm>
        </p:spPr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 = All words that start with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and end with bb are valid.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 = {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babb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baabb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babbb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baaabb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baabbb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…………}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 =           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77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562283" y="1431655"/>
            <a:ext cx="8971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a+b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)*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11" name="Group 38"/>
          <p:cNvGrpSpPr/>
          <p:nvPr/>
        </p:nvGrpSpPr>
        <p:grpSpPr>
          <a:xfrm>
            <a:off x="618945" y="3275272"/>
            <a:ext cx="5909095" cy="1258157"/>
            <a:chOff x="733245" y="2202610"/>
            <a:chExt cx="5909095" cy="1258157"/>
          </a:xfrm>
        </p:grpSpPr>
        <p:sp>
          <p:nvSpPr>
            <p:cNvPr id="6" name="Oval 5"/>
            <p:cNvSpPr/>
            <p:nvPr/>
          </p:nvSpPr>
          <p:spPr>
            <a:xfrm>
              <a:off x="1173192" y="2958860"/>
              <a:ext cx="560717" cy="48307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x0</a:t>
              </a:r>
              <a:endParaRPr lang="en-US" sz="16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" name="Oval 6"/>
            <p:cNvSpPr/>
            <p:nvPr/>
          </p:nvSpPr>
          <p:spPr>
            <a:xfrm>
              <a:off x="2360761" y="2930103"/>
              <a:ext cx="560717" cy="48307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x1</a:t>
              </a:r>
              <a:endParaRPr lang="en-US" sz="16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" name="Oval 7"/>
            <p:cNvSpPr/>
            <p:nvPr/>
          </p:nvSpPr>
          <p:spPr>
            <a:xfrm>
              <a:off x="3565585" y="2927230"/>
              <a:ext cx="560717" cy="48307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x2</a:t>
              </a:r>
              <a:endParaRPr lang="en-US" sz="16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" name="Oval 8"/>
            <p:cNvSpPr/>
            <p:nvPr/>
          </p:nvSpPr>
          <p:spPr>
            <a:xfrm>
              <a:off x="4770407" y="2898475"/>
              <a:ext cx="560717" cy="48307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x3</a:t>
              </a:r>
              <a:endParaRPr lang="en-US" sz="1600" dirty="0"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12" name="Group 15"/>
            <p:cNvGrpSpPr/>
            <p:nvPr/>
          </p:nvGrpSpPr>
          <p:grpSpPr>
            <a:xfrm>
              <a:off x="5934973" y="2786331"/>
              <a:ext cx="707367" cy="638355"/>
              <a:chOff x="6478436" y="3209026"/>
              <a:chExt cx="707367" cy="638355"/>
            </a:xfrm>
          </p:grpSpPr>
          <p:sp>
            <p:nvSpPr>
              <p:cNvPr id="10" name="Oval 9">
                <a:extLst>
                  <a:ext uri="{FF2B5EF4-FFF2-40B4-BE49-F238E27FC236}">
                    <a16:creationId xmlns="" xmlns:a16="http://schemas.microsoft.com/office/drawing/2014/main" id="{1A90B709-A6EF-4AF3-8058-50CF1F57FBE0}"/>
                  </a:ext>
                </a:extLst>
              </p:cNvPr>
              <p:cNvSpPr/>
              <p:nvPr/>
            </p:nvSpPr>
            <p:spPr>
              <a:xfrm>
                <a:off x="6478436" y="3209026"/>
                <a:ext cx="707367" cy="638355"/>
              </a:xfrm>
              <a:prstGeom prst="ellips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5" name="Oval 14"/>
              <p:cNvSpPr/>
              <p:nvPr/>
            </p:nvSpPr>
            <p:spPr>
              <a:xfrm>
                <a:off x="6544573" y="3283789"/>
                <a:ext cx="560717" cy="483079"/>
              </a:xfrm>
              <a:prstGeom prst="ellips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 smtClean="0">
                    <a:latin typeface="Times New Roman" pitchFamily="18" charset="0"/>
                    <a:cs typeface="Times New Roman" pitchFamily="18" charset="0"/>
                  </a:rPr>
                  <a:t>x4</a:t>
                </a:r>
                <a:endParaRPr lang="en-US" sz="16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cxnSp>
          <p:nvCxnSpPr>
            <p:cNvPr id="18" name="Straight Arrow Connector 17"/>
            <p:cNvCxnSpPr/>
            <p:nvPr/>
          </p:nvCxnSpPr>
          <p:spPr>
            <a:xfrm flipV="1">
              <a:off x="1759790" y="3183149"/>
              <a:ext cx="595223" cy="17252"/>
            </a:xfrm>
            <a:prstGeom prst="straightConnector1">
              <a:avLst/>
            </a:prstGeom>
            <a:ln w="1905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/>
            <p:nvPr/>
          </p:nvCxnSpPr>
          <p:spPr>
            <a:xfrm>
              <a:off x="733245" y="3209026"/>
              <a:ext cx="402571" cy="7335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/>
            <p:nvPr/>
          </p:nvCxnSpPr>
          <p:spPr>
            <a:xfrm flipV="1">
              <a:off x="2938731" y="3163018"/>
              <a:ext cx="595223" cy="17252"/>
            </a:xfrm>
            <a:prstGeom prst="straightConnector1">
              <a:avLst/>
            </a:prstGeom>
            <a:ln w="1905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/>
            <p:nvPr/>
          </p:nvCxnSpPr>
          <p:spPr>
            <a:xfrm flipV="1">
              <a:off x="5333998" y="3117013"/>
              <a:ext cx="595223" cy="17252"/>
            </a:xfrm>
            <a:prstGeom prst="straightConnector1">
              <a:avLst/>
            </a:prstGeom>
            <a:ln w="1905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/>
            <p:nvPr/>
          </p:nvCxnSpPr>
          <p:spPr>
            <a:xfrm flipV="1">
              <a:off x="4166558" y="3140016"/>
              <a:ext cx="595223" cy="17252"/>
            </a:xfrm>
            <a:prstGeom prst="straightConnector1">
              <a:avLst/>
            </a:prstGeom>
            <a:ln w="1905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="" xmlns:a16="http://schemas.microsoft.com/office/drawing/2014/main" id="{B21A631C-D2FE-49B1-8957-E25DAB8A74E9}"/>
                </a:ext>
              </a:extLst>
            </p:cNvPr>
            <p:cNvSpPr txBox="1"/>
            <p:nvPr/>
          </p:nvSpPr>
          <p:spPr>
            <a:xfrm>
              <a:off x="2986817" y="2787657"/>
              <a:ext cx="2359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="" xmlns:a16="http://schemas.microsoft.com/office/drawing/2014/main" id="{B21A631C-D2FE-49B1-8957-E25DAB8A74E9}"/>
                </a:ext>
              </a:extLst>
            </p:cNvPr>
            <p:cNvSpPr txBox="1"/>
            <p:nvPr/>
          </p:nvSpPr>
          <p:spPr>
            <a:xfrm>
              <a:off x="1827836" y="2785444"/>
              <a:ext cx="2359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="" xmlns:a16="http://schemas.microsoft.com/office/drawing/2014/main" id="{B21A631C-D2FE-49B1-8957-E25DAB8A74E9}"/>
                </a:ext>
              </a:extLst>
            </p:cNvPr>
            <p:cNvSpPr txBox="1"/>
            <p:nvPr/>
          </p:nvSpPr>
          <p:spPr>
            <a:xfrm>
              <a:off x="5404757" y="2722184"/>
              <a:ext cx="2359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="" xmlns:a16="http://schemas.microsoft.com/office/drawing/2014/main" id="{B21A631C-D2FE-49B1-8957-E25DAB8A74E9}"/>
                </a:ext>
              </a:extLst>
            </p:cNvPr>
            <p:cNvSpPr txBox="1"/>
            <p:nvPr/>
          </p:nvSpPr>
          <p:spPr>
            <a:xfrm>
              <a:off x="4211437" y="2762937"/>
              <a:ext cx="2359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" name="Arc 31">
              <a:extLst>
                <a:ext uri="{FF2B5EF4-FFF2-40B4-BE49-F238E27FC236}">
                  <a16:creationId xmlns="" xmlns:a16="http://schemas.microsoft.com/office/drawing/2014/main" id="{4A9D3AB6-108E-4062-B22C-A1FC38CC204A}"/>
                </a:ext>
              </a:extLst>
            </p:cNvPr>
            <p:cNvSpPr/>
            <p:nvPr/>
          </p:nvSpPr>
          <p:spPr>
            <a:xfrm>
              <a:off x="3641805" y="2605177"/>
              <a:ext cx="408846" cy="855590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TextBox 32">
              <a:extLst>
                <a:ext uri="{FF2B5EF4-FFF2-40B4-BE49-F238E27FC236}">
                  <a16:creationId xmlns="" xmlns:a16="http://schemas.microsoft.com/office/drawing/2014/main" id="{B21A631C-D2FE-49B1-8957-E25DAB8A74E9}"/>
                </a:ext>
              </a:extLst>
            </p:cNvPr>
            <p:cNvSpPr txBox="1"/>
            <p:nvPr/>
          </p:nvSpPr>
          <p:spPr>
            <a:xfrm>
              <a:off x="3585908" y="2202610"/>
              <a:ext cx="74455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a/b</a:t>
              </a:r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4" name="TextBox 33"/>
          <p:cNvSpPr txBox="1"/>
          <p:nvPr/>
        </p:nvSpPr>
        <p:spPr>
          <a:xfrm>
            <a:off x="2260572" y="1443377"/>
            <a:ext cx="5098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bb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277932" y="1411139"/>
            <a:ext cx="4541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ba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88140" y="1946364"/>
            <a:ext cx="25036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Input :  </a:t>
            </a: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bababbabb</a:t>
            </a: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14" name="Group 26">
            <a:extLst>
              <a:ext uri="{FF2B5EF4-FFF2-40B4-BE49-F238E27FC236}">
                <a16:creationId xmlns="" xmlns:a16="http://schemas.microsoft.com/office/drawing/2014/main" id="{8D3C0EC3-1E6A-436B-B406-38A549AC7268}"/>
              </a:ext>
            </a:extLst>
          </p:cNvPr>
          <p:cNvGrpSpPr/>
          <p:nvPr/>
        </p:nvGrpSpPr>
        <p:grpSpPr>
          <a:xfrm>
            <a:off x="1078031" y="3134010"/>
            <a:ext cx="451828" cy="888332"/>
            <a:chOff x="6912328" y="2509921"/>
            <a:chExt cx="451828" cy="700772"/>
          </a:xfrm>
        </p:grpSpPr>
        <p:sp>
          <p:nvSpPr>
            <p:cNvPr id="40" name="Arrow: Up 57">
              <a:extLst>
                <a:ext uri="{FF2B5EF4-FFF2-40B4-BE49-F238E27FC236}">
                  <a16:creationId xmlns="" xmlns:a16="http://schemas.microsoft.com/office/drawing/2014/main" id="{E93022AA-FD9E-4354-A4A7-DF5F91C23E96}"/>
                </a:ext>
              </a:extLst>
            </p:cNvPr>
            <p:cNvSpPr/>
            <p:nvPr/>
          </p:nvSpPr>
          <p:spPr>
            <a:xfrm rot="10800000">
              <a:off x="7079191" y="2801785"/>
              <a:ext cx="156744" cy="408908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="" xmlns:a16="http://schemas.microsoft.com/office/drawing/2014/main" id="{BAF74065-B1AC-4D5B-9613-553AA58A4378}"/>
                </a:ext>
              </a:extLst>
            </p:cNvPr>
            <p:cNvSpPr txBox="1"/>
            <p:nvPr/>
          </p:nvSpPr>
          <p:spPr>
            <a:xfrm>
              <a:off x="6912328" y="2509921"/>
              <a:ext cx="451828" cy="2670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 smtClean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</a:t>
              </a:r>
              <a:endParaRPr lang="en-US" sz="16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9" name="TextBox 38"/>
          <p:cNvSpPr txBox="1"/>
          <p:nvPr/>
        </p:nvSpPr>
        <p:spPr>
          <a:xfrm>
            <a:off x="699863" y="2705433"/>
            <a:ext cx="25036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Input :  </a:t>
            </a: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ababbabb</a:t>
            </a: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1296" y="0"/>
            <a:ext cx="1346591" cy="306407"/>
          </a:xfrm>
        </p:spPr>
        <p:txBody>
          <a:bodyPr/>
          <a:lstStyle/>
          <a:p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NFA Continues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6934" y="577801"/>
            <a:ext cx="8946541" cy="4195481"/>
          </a:xfrm>
        </p:spPr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 = All words that start with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and end with bb are valid.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 = {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babb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baabb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babbb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baaabb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baabbb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…………}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 =           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78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562283" y="1431655"/>
            <a:ext cx="8971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a+b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)*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11" name="Group 38"/>
          <p:cNvGrpSpPr/>
          <p:nvPr/>
        </p:nvGrpSpPr>
        <p:grpSpPr>
          <a:xfrm>
            <a:off x="618945" y="3275272"/>
            <a:ext cx="5909095" cy="1258157"/>
            <a:chOff x="733245" y="2202610"/>
            <a:chExt cx="5909095" cy="1258157"/>
          </a:xfrm>
        </p:grpSpPr>
        <p:sp>
          <p:nvSpPr>
            <p:cNvPr id="6" name="Oval 5"/>
            <p:cNvSpPr/>
            <p:nvPr/>
          </p:nvSpPr>
          <p:spPr>
            <a:xfrm>
              <a:off x="1173192" y="2958860"/>
              <a:ext cx="560717" cy="48307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x0</a:t>
              </a:r>
              <a:endParaRPr lang="en-US" sz="16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" name="Oval 6"/>
            <p:cNvSpPr/>
            <p:nvPr/>
          </p:nvSpPr>
          <p:spPr>
            <a:xfrm>
              <a:off x="2360761" y="2930103"/>
              <a:ext cx="560717" cy="48307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x1</a:t>
              </a:r>
              <a:endParaRPr lang="en-US" sz="16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" name="Oval 7"/>
            <p:cNvSpPr/>
            <p:nvPr/>
          </p:nvSpPr>
          <p:spPr>
            <a:xfrm>
              <a:off x="3565585" y="2927230"/>
              <a:ext cx="560717" cy="48307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x2</a:t>
              </a:r>
              <a:endParaRPr lang="en-US" sz="16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" name="Oval 8"/>
            <p:cNvSpPr/>
            <p:nvPr/>
          </p:nvSpPr>
          <p:spPr>
            <a:xfrm>
              <a:off x="4770407" y="2898475"/>
              <a:ext cx="560717" cy="48307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x3</a:t>
              </a:r>
              <a:endParaRPr lang="en-US" sz="1600" dirty="0"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12" name="Group 15"/>
            <p:cNvGrpSpPr/>
            <p:nvPr/>
          </p:nvGrpSpPr>
          <p:grpSpPr>
            <a:xfrm>
              <a:off x="5934973" y="2786331"/>
              <a:ext cx="707367" cy="638355"/>
              <a:chOff x="6478436" y="3209026"/>
              <a:chExt cx="707367" cy="638355"/>
            </a:xfrm>
          </p:grpSpPr>
          <p:sp>
            <p:nvSpPr>
              <p:cNvPr id="10" name="Oval 9">
                <a:extLst>
                  <a:ext uri="{FF2B5EF4-FFF2-40B4-BE49-F238E27FC236}">
                    <a16:creationId xmlns="" xmlns:a16="http://schemas.microsoft.com/office/drawing/2014/main" id="{1A90B709-A6EF-4AF3-8058-50CF1F57FBE0}"/>
                  </a:ext>
                </a:extLst>
              </p:cNvPr>
              <p:cNvSpPr/>
              <p:nvPr/>
            </p:nvSpPr>
            <p:spPr>
              <a:xfrm>
                <a:off x="6478436" y="3209026"/>
                <a:ext cx="707367" cy="638355"/>
              </a:xfrm>
              <a:prstGeom prst="ellips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5" name="Oval 14"/>
              <p:cNvSpPr/>
              <p:nvPr/>
            </p:nvSpPr>
            <p:spPr>
              <a:xfrm>
                <a:off x="6544573" y="3283789"/>
                <a:ext cx="560717" cy="483079"/>
              </a:xfrm>
              <a:prstGeom prst="ellips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 smtClean="0">
                    <a:latin typeface="Times New Roman" pitchFamily="18" charset="0"/>
                    <a:cs typeface="Times New Roman" pitchFamily="18" charset="0"/>
                  </a:rPr>
                  <a:t>x4</a:t>
                </a:r>
                <a:endParaRPr lang="en-US" sz="16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cxnSp>
          <p:nvCxnSpPr>
            <p:cNvPr id="18" name="Straight Arrow Connector 17"/>
            <p:cNvCxnSpPr/>
            <p:nvPr/>
          </p:nvCxnSpPr>
          <p:spPr>
            <a:xfrm flipV="1">
              <a:off x="1759790" y="3183149"/>
              <a:ext cx="595223" cy="17252"/>
            </a:xfrm>
            <a:prstGeom prst="straightConnector1">
              <a:avLst/>
            </a:prstGeom>
            <a:ln w="1905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/>
            <p:nvPr/>
          </p:nvCxnSpPr>
          <p:spPr>
            <a:xfrm>
              <a:off x="733245" y="3209026"/>
              <a:ext cx="402571" cy="7335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/>
            <p:nvPr/>
          </p:nvCxnSpPr>
          <p:spPr>
            <a:xfrm flipV="1">
              <a:off x="2938731" y="3163018"/>
              <a:ext cx="595223" cy="17252"/>
            </a:xfrm>
            <a:prstGeom prst="straightConnector1">
              <a:avLst/>
            </a:prstGeom>
            <a:ln w="1905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/>
            <p:nvPr/>
          </p:nvCxnSpPr>
          <p:spPr>
            <a:xfrm flipV="1">
              <a:off x="5333998" y="3117013"/>
              <a:ext cx="595223" cy="17252"/>
            </a:xfrm>
            <a:prstGeom prst="straightConnector1">
              <a:avLst/>
            </a:prstGeom>
            <a:ln w="1905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/>
            <p:nvPr/>
          </p:nvCxnSpPr>
          <p:spPr>
            <a:xfrm flipV="1">
              <a:off x="4166558" y="3140016"/>
              <a:ext cx="595223" cy="17252"/>
            </a:xfrm>
            <a:prstGeom prst="straightConnector1">
              <a:avLst/>
            </a:prstGeom>
            <a:ln w="1905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="" xmlns:a16="http://schemas.microsoft.com/office/drawing/2014/main" id="{B21A631C-D2FE-49B1-8957-E25DAB8A74E9}"/>
                </a:ext>
              </a:extLst>
            </p:cNvPr>
            <p:cNvSpPr txBox="1"/>
            <p:nvPr/>
          </p:nvSpPr>
          <p:spPr>
            <a:xfrm>
              <a:off x="2986817" y="2787657"/>
              <a:ext cx="2359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="" xmlns:a16="http://schemas.microsoft.com/office/drawing/2014/main" id="{B21A631C-D2FE-49B1-8957-E25DAB8A74E9}"/>
                </a:ext>
              </a:extLst>
            </p:cNvPr>
            <p:cNvSpPr txBox="1"/>
            <p:nvPr/>
          </p:nvSpPr>
          <p:spPr>
            <a:xfrm>
              <a:off x="1827836" y="2785444"/>
              <a:ext cx="2359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="" xmlns:a16="http://schemas.microsoft.com/office/drawing/2014/main" id="{B21A631C-D2FE-49B1-8957-E25DAB8A74E9}"/>
                </a:ext>
              </a:extLst>
            </p:cNvPr>
            <p:cNvSpPr txBox="1"/>
            <p:nvPr/>
          </p:nvSpPr>
          <p:spPr>
            <a:xfrm>
              <a:off x="5404757" y="2722184"/>
              <a:ext cx="2359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="" xmlns:a16="http://schemas.microsoft.com/office/drawing/2014/main" id="{B21A631C-D2FE-49B1-8957-E25DAB8A74E9}"/>
                </a:ext>
              </a:extLst>
            </p:cNvPr>
            <p:cNvSpPr txBox="1"/>
            <p:nvPr/>
          </p:nvSpPr>
          <p:spPr>
            <a:xfrm>
              <a:off x="4211437" y="2762937"/>
              <a:ext cx="2359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" name="Arc 31">
              <a:extLst>
                <a:ext uri="{FF2B5EF4-FFF2-40B4-BE49-F238E27FC236}">
                  <a16:creationId xmlns="" xmlns:a16="http://schemas.microsoft.com/office/drawing/2014/main" id="{4A9D3AB6-108E-4062-B22C-A1FC38CC204A}"/>
                </a:ext>
              </a:extLst>
            </p:cNvPr>
            <p:cNvSpPr/>
            <p:nvPr/>
          </p:nvSpPr>
          <p:spPr>
            <a:xfrm>
              <a:off x="3641805" y="2605177"/>
              <a:ext cx="408846" cy="855590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TextBox 32">
              <a:extLst>
                <a:ext uri="{FF2B5EF4-FFF2-40B4-BE49-F238E27FC236}">
                  <a16:creationId xmlns="" xmlns:a16="http://schemas.microsoft.com/office/drawing/2014/main" id="{B21A631C-D2FE-49B1-8957-E25DAB8A74E9}"/>
                </a:ext>
              </a:extLst>
            </p:cNvPr>
            <p:cNvSpPr txBox="1"/>
            <p:nvPr/>
          </p:nvSpPr>
          <p:spPr>
            <a:xfrm>
              <a:off x="3585908" y="2202610"/>
              <a:ext cx="74455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a/b</a:t>
              </a:r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4" name="TextBox 33"/>
          <p:cNvSpPr txBox="1"/>
          <p:nvPr/>
        </p:nvSpPr>
        <p:spPr>
          <a:xfrm>
            <a:off x="2260572" y="1443377"/>
            <a:ext cx="5098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bb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277932" y="1411139"/>
            <a:ext cx="4541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ba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88140" y="1946364"/>
            <a:ext cx="25036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Input :  </a:t>
            </a: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bababbabb</a:t>
            </a: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13" name="Group 26">
            <a:extLst>
              <a:ext uri="{FF2B5EF4-FFF2-40B4-BE49-F238E27FC236}">
                <a16:creationId xmlns="" xmlns:a16="http://schemas.microsoft.com/office/drawing/2014/main" id="{8D3C0EC3-1E6A-436B-B406-38A549AC7268}"/>
              </a:ext>
            </a:extLst>
          </p:cNvPr>
          <p:cNvGrpSpPr/>
          <p:nvPr/>
        </p:nvGrpSpPr>
        <p:grpSpPr>
          <a:xfrm>
            <a:off x="1078031" y="3134010"/>
            <a:ext cx="451828" cy="888332"/>
            <a:chOff x="6912328" y="2509921"/>
            <a:chExt cx="451828" cy="700772"/>
          </a:xfrm>
        </p:grpSpPr>
        <p:sp>
          <p:nvSpPr>
            <p:cNvPr id="40" name="Arrow: Up 57">
              <a:extLst>
                <a:ext uri="{FF2B5EF4-FFF2-40B4-BE49-F238E27FC236}">
                  <a16:creationId xmlns="" xmlns:a16="http://schemas.microsoft.com/office/drawing/2014/main" id="{E93022AA-FD9E-4354-A4A7-DF5F91C23E96}"/>
                </a:ext>
              </a:extLst>
            </p:cNvPr>
            <p:cNvSpPr/>
            <p:nvPr/>
          </p:nvSpPr>
          <p:spPr>
            <a:xfrm rot="10800000">
              <a:off x="7079191" y="2801785"/>
              <a:ext cx="156744" cy="408908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="" xmlns:a16="http://schemas.microsoft.com/office/drawing/2014/main" id="{BAF74065-B1AC-4D5B-9613-553AA58A4378}"/>
                </a:ext>
              </a:extLst>
            </p:cNvPr>
            <p:cNvSpPr txBox="1"/>
            <p:nvPr/>
          </p:nvSpPr>
          <p:spPr>
            <a:xfrm>
              <a:off x="6912328" y="2509921"/>
              <a:ext cx="451828" cy="2670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 smtClean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</a:t>
              </a:r>
              <a:endParaRPr lang="en-US" sz="16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9" name="TextBox 38"/>
          <p:cNvSpPr txBox="1"/>
          <p:nvPr/>
        </p:nvSpPr>
        <p:spPr>
          <a:xfrm>
            <a:off x="699863" y="2705433"/>
            <a:ext cx="25036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Input :  </a:t>
            </a:r>
            <a:r>
              <a:rPr lang="en-US" sz="2000" b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abbabb</a:t>
            </a: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1296" y="0"/>
            <a:ext cx="1346591" cy="306407"/>
          </a:xfrm>
        </p:spPr>
        <p:txBody>
          <a:bodyPr/>
          <a:lstStyle/>
          <a:p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NFA Continues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6934" y="577801"/>
            <a:ext cx="8946541" cy="4195481"/>
          </a:xfrm>
        </p:spPr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 = All words that start with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and end with bb are valid.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 = {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babb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baabb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babbb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baaabb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baabbb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…………}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 =           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79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562283" y="1431655"/>
            <a:ext cx="8971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a+b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)*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11" name="Group 38"/>
          <p:cNvGrpSpPr/>
          <p:nvPr/>
        </p:nvGrpSpPr>
        <p:grpSpPr>
          <a:xfrm>
            <a:off x="618945" y="3275272"/>
            <a:ext cx="5909095" cy="1258157"/>
            <a:chOff x="733245" y="2202610"/>
            <a:chExt cx="5909095" cy="1258157"/>
          </a:xfrm>
        </p:grpSpPr>
        <p:sp>
          <p:nvSpPr>
            <p:cNvPr id="6" name="Oval 5"/>
            <p:cNvSpPr/>
            <p:nvPr/>
          </p:nvSpPr>
          <p:spPr>
            <a:xfrm>
              <a:off x="1173192" y="2958860"/>
              <a:ext cx="560717" cy="48307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x0</a:t>
              </a:r>
              <a:endParaRPr lang="en-US" sz="16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" name="Oval 6"/>
            <p:cNvSpPr/>
            <p:nvPr/>
          </p:nvSpPr>
          <p:spPr>
            <a:xfrm>
              <a:off x="2360761" y="2930103"/>
              <a:ext cx="560717" cy="48307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x1</a:t>
              </a:r>
              <a:endParaRPr lang="en-US" sz="16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" name="Oval 7"/>
            <p:cNvSpPr/>
            <p:nvPr/>
          </p:nvSpPr>
          <p:spPr>
            <a:xfrm>
              <a:off x="3565585" y="2927230"/>
              <a:ext cx="560717" cy="48307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x2</a:t>
              </a:r>
              <a:endParaRPr lang="en-US" sz="16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" name="Oval 8"/>
            <p:cNvSpPr/>
            <p:nvPr/>
          </p:nvSpPr>
          <p:spPr>
            <a:xfrm>
              <a:off x="4770407" y="2898475"/>
              <a:ext cx="560717" cy="48307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x3</a:t>
              </a:r>
              <a:endParaRPr lang="en-US" sz="1600" dirty="0"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12" name="Group 15"/>
            <p:cNvGrpSpPr/>
            <p:nvPr/>
          </p:nvGrpSpPr>
          <p:grpSpPr>
            <a:xfrm>
              <a:off x="5934973" y="2786331"/>
              <a:ext cx="707367" cy="638355"/>
              <a:chOff x="6478436" y="3209026"/>
              <a:chExt cx="707367" cy="638355"/>
            </a:xfrm>
          </p:grpSpPr>
          <p:sp>
            <p:nvSpPr>
              <p:cNvPr id="10" name="Oval 9">
                <a:extLst>
                  <a:ext uri="{FF2B5EF4-FFF2-40B4-BE49-F238E27FC236}">
                    <a16:creationId xmlns="" xmlns:a16="http://schemas.microsoft.com/office/drawing/2014/main" id="{1A90B709-A6EF-4AF3-8058-50CF1F57FBE0}"/>
                  </a:ext>
                </a:extLst>
              </p:cNvPr>
              <p:cNvSpPr/>
              <p:nvPr/>
            </p:nvSpPr>
            <p:spPr>
              <a:xfrm>
                <a:off x="6478436" y="3209026"/>
                <a:ext cx="707367" cy="638355"/>
              </a:xfrm>
              <a:prstGeom prst="ellips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5" name="Oval 14"/>
              <p:cNvSpPr/>
              <p:nvPr/>
            </p:nvSpPr>
            <p:spPr>
              <a:xfrm>
                <a:off x="6544573" y="3283789"/>
                <a:ext cx="560717" cy="483079"/>
              </a:xfrm>
              <a:prstGeom prst="ellips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 smtClean="0">
                    <a:latin typeface="Times New Roman" pitchFamily="18" charset="0"/>
                    <a:cs typeface="Times New Roman" pitchFamily="18" charset="0"/>
                  </a:rPr>
                  <a:t>x4</a:t>
                </a:r>
                <a:endParaRPr lang="en-US" sz="16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cxnSp>
          <p:nvCxnSpPr>
            <p:cNvPr id="18" name="Straight Arrow Connector 17"/>
            <p:cNvCxnSpPr/>
            <p:nvPr/>
          </p:nvCxnSpPr>
          <p:spPr>
            <a:xfrm flipV="1">
              <a:off x="1759790" y="3183149"/>
              <a:ext cx="595223" cy="17252"/>
            </a:xfrm>
            <a:prstGeom prst="straightConnector1">
              <a:avLst/>
            </a:prstGeom>
            <a:ln w="1905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/>
            <p:nvPr/>
          </p:nvCxnSpPr>
          <p:spPr>
            <a:xfrm>
              <a:off x="733245" y="3209026"/>
              <a:ext cx="402571" cy="7335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/>
            <p:nvPr/>
          </p:nvCxnSpPr>
          <p:spPr>
            <a:xfrm flipV="1">
              <a:off x="2938731" y="3163018"/>
              <a:ext cx="595223" cy="17252"/>
            </a:xfrm>
            <a:prstGeom prst="straightConnector1">
              <a:avLst/>
            </a:prstGeom>
            <a:ln w="1905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/>
            <p:nvPr/>
          </p:nvCxnSpPr>
          <p:spPr>
            <a:xfrm flipV="1">
              <a:off x="5333998" y="3117013"/>
              <a:ext cx="595223" cy="17252"/>
            </a:xfrm>
            <a:prstGeom prst="straightConnector1">
              <a:avLst/>
            </a:prstGeom>
            <a:ln w="1905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/>
            <p:nvPr/>
          </p:nvCxnSpPr>
          <p:spPr>
            <a:xfrm flipV="1">
              <a:off x="4166558" y="3140016"/>
              <a:ext cx="595223" cy="17252"/>
            </a:xfrm>
            <a:prstGeom prst="straightConnector1">
              <a:avLst/>
            </a:prstGeom>
            <a:ln w="1905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="" xmlns:a16="http://schemas.microsoft.com/office/drawing/2014/main" id="{B21A631C-D2FE-49B1-8957-E25DAB8A74E9}"/>
                </a:ext>
              </a:extLst>
            </p:cNvPr>
            <p:cNvSpPr txBox="1"/>
            <p:nvPr/>
          </p:nvSpPr>
          <p:spPr>
            <a:xfrm>
              <a:off x="2986817" y="2787657"/>
              <a:ext cx="2359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="" xmlns:a16="http://schemas.microsoft.com/office/drawing/2014/main" id="{B21A631C-D2FE-49B1-8957-E25DAB8A74E9}"/>
                </a:ext>
              </a:extLst>
            </p:cNvPr>
            <p:cNvSpPr txBox="1"/>
            <p:nvPr/>
          </p:nvSpPr>
          <p:spPr>
            <a:xfrm>
              <a:off x="1827836" y="2785444"/>
              <a:ext cx="2359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="" xmlns:a16="http://schemas.microsoft.com/office/drawing/2014/main" id="{B21A631C-D2FE-49B1-8957-E25DAB8A74E9}"/>
                </a:ext>
              </a:extLst>
            </p:cNvPr>
            <p:cNvSpPr txBox="1"/>
            <p:nvPr/>
          </p:nvSpPr>
          <p:spPr>
            <a:xfrm>
              <a:off x="5404757" y="2722184"/>
              <a:ext cx="2359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="" xmlns:a16="http://schemas.microsoft.com/office/drawing/2014/main" id="{B21A631C-D2FE-49B1-8957-E25DAB8A74E9}"/>
                </a:ext>
              </a:extLst>
            </p:cNvPr>
            <p:cNvSpPr txBox="1"/>
            <p:nvPr/>
          </p:nvSpPr>
          <p:spPr>
            <a:xfrm>
              <a:off x="4211437" y="2762937"/>
              <a:ext cx="2359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" name="Arc 31">
              <a:extLst>
                <a:ext uri="{FF2B5EF4-FFF2-40B4-BE49-F238E27FC236}">
                  <a16:creationId xmlns="" xmlns:a16="http://schemas.microsoft.com/office/drawing/2014/main" id="{4A9D3AB6-108E-4062-B22C-A1FC38CC204A}"/>
                </a:ext>
              </a:extLst>
            </p:cNvPr>
            <p:cNvSpPr/>
            <p:nvPr/>
          </p:nvSpPr>
          <p:spPr>
            <a:xfrm>
              <a:off x="3641805" y="2605177"/>
              <a:ext cx="408846" cy="855590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TextBox 32">
              <a:extLst>
                <a:ext uri="{FF2B5EF4-FFF2-40B4-BE49-F238E27FC236}">
                  <a16:creationId xmlns="" xmlns:a16="http://schemas.microsoft.com/office/drawing/2014/main" id="{B21A631C-D2FE-49B1-8957-E25DAB8A74E9}"/>
                </a:ext>
              </a:extLst>
            </p:cNvPr>
            <p:cNvSpPr txBox="1"/>
            <p:nvPr/>
          </p:nvSpPr>
          <p:spPr>
            <a:xfrm>
              <a:off x="3585908" y="2202610"/>
              <a:ext cx="74455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a/b</a:t>
              </a:r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4" name="TextBox 33"/>
          <p:cNvSpPr txBox="1"/>
          <p:nvPr/>
        </p:nvSpPr>
        <p:spPr>
          <a:xfrm>
            <a:off x="2260572" y="1443377"/>
            <a:ext cx="5098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bb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277932" y="1411139"/>
            <a:ext cx="4541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ba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88140" y="1946364"/>
            <a:ext cx="25036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Input :  </a:t>
            </a: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bababbabb</a:t>
            </a: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99863" y="2705433"/>
            <a:ext cx="25036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Input :  </a:t>
            </a:r>
            <a:r>
              <a:rPr lang="en-US" sz="2000" b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abbabb</a:t>
            </a: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057" y="118610"/>
            <a:ext cx="3231297" cy="637528"/>
          </a:xfrm>
        </p:spPr>
        <p:txBody>
          <a:bodyPr/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Transaction Table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80</a:t>
            </a:fld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3722630" y="224341"/>
            <a:ext cx="5909095" cy="1258157"/>
            <a:chOff x="733245" y="2202610"/>
            <a:chExt cx="5909095" cy="1258157"/>
          </a:xfrm>
        </p:grpSpPr>
        <p:sp>
          <p:nvSpPr>
            <p:cNvPr id="6" name="Oval 5"/>
            <p:cNvSpPr/>
            <p:nvPr/>
          </p:nvSpPr>
          <p:spPr>
            <a:xfrm>
              <a:off x="1173192" y="2958860"/>
              <a:ext cx="560717" cy="48307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x0</a:t>
              </a:r>
              <a:endParaRPr lang="en-US" sz="16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" name="Oval 6"/>
            <p:cNvSpPr/>
            <p:nvPr/>
          </p:nvSpPr>
          <p:spPr>
            <a:xfrm>
              <a:off x="2360761" y="2930103"/>
              <a:ext cx="560717" cy="48307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x1</a:t>
              </a:r>
              <a:endParaRPr lang="en-US" sz="16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" name="Oval 7"/>
            <p:cNvSpPr/>
            <p:nvPr/>
          </p:nvSpPr>
          <p:spPr>
            <a:xfrm>
              <a:off x="3565585" y="2927230"/>
              <a:ext cx="560717" cy="48307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x2</a:t>
              </a:r>
              <a:endParaRPr lang="en-US" sz="16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" name="Oval 8"/>
            <p:cNvSpPr/>
            <p:nvPr/>
          </p:nvSpPr>
          <p:spPr>
            <a:xfrm>
              <a:off x="4770407" y="2898475"/>
              <a:ext cx="560717" cy="48307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x3</a:t>
              </a:r>
              <a:endParaRPr lang="en-US" sz="1600" dirty="0"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10" name="Group 15"/>
            <p:cNvGrpSpPr/>
            <p:nvPr/>
          </p:nvGrpSpPr>
          <p:grpSpPr>
            <a:xfrm>
              <a:off x="5934973" y="2786331"/>
              <a:ext cx="707367" cy="638355"/>
              <a:chOff x="6478436" y="3209026"/>
              <a:chExt cx="707367" cy="638355"/>
            </a:xfrm>
          </p:grpSpPr>
          <p:sp>
            <p:nvSpPr>
              <p:cNvPr id="22" name="Oval 9">
                <a:extLst>
                  <a:ext uri="{FF2B5EF4-FFF2-40B4-BE49-F238E27FC236}">
                    <a16:creationId xmlns="" xmlns:a16="http://schemas.microsoft.com/office/drawing/2014/main" id="{1A90B709-A6EF-4AF3-8058-50CF1F57FBE0}"/>
                  </a:ext>
                </a:extLst>
              </p:cNvPr>
              <p:cNvSpPr/>
              <p:nvPr/>
            </p:nvSpPr>
            <p:spPr>
              <a:xfrm>
                <a:off x="6478436" y="3209026"/>
                <a:ext cx="707367" cy="638355"/>
              </a:xfrm>
              <a:prstGeom prst="ellips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3" name="Oval 22"/>
              <p:cNvSpPr/>
              <p:nvPr/>
            </p:nvSpPr>
            <p:spPr>
              <a:xfrm>
                <a:off x="6544573" y="3283789"/>
                <a:ext cx="560717" cy="483079"/>
              </a:xfrm>
              <a:prstGeom prst="ellips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 smtClean="0">
                    <a:latin typeface="Times New Roman" pitchFamily="18" charset="0"/>
                    <a:cs typeface="Times New Roman" pitchFamily="18" charset="0"/>
                  </a:rPr>
                  <a:t>x4</a:t>
                </a:r>
                <a:endParaRPr lang="en-US" sz="16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cxnSp>
          <p:nvCxnSpPr>
            <p:cNvPr id="11" name="Straight Arrow Connector 10"/>
            <p:cNvCxnSpPr/>
            <p:nvPr/>
          </p:nvCxnSpPr>
          <p:spPr>
            <a:xfrm flipV="1">
              <a:off x="1759790" y="3183149"/>
              <a:ext cx="595223" cy="17252"/>
            </a:xfrm>
            <a:prstGeom prst="straightConnector1">
              <a:avLst/>
            </a:prstGeom>
            <a:ln w="1905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/>
            <p:cNvCxnSpPr/>
            <p:nvPr/>
          </p:nvCxnSpPr>
          <p:spPr>
            <a:xfrm>
              <a:off x="733245" y="3209026"/>
              <a:ext cx="402571" cy="7335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/>
            <p:cNvCxnSpPr/>
            <p:nvPr/>
          </p:nvCxnSpPr>
          <p:spPr>
            <a:xfrm flipV="1">
              <a:off x="2938731" y="3163018"/>
              <a:ext cx="595223" cy="17252"/>
            </a:xfrm>
            <a:prstGeom prst="straightConnector1">
              <a:avLst/>
            </a:prstGeom>
            <a:ln w="1905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/>
            <p:nvPr/>
          </p:nvCxnSpPr>
          <p:spPr>
            <a:xfrm flipV="1">
              <a:off x="5333998" y="3117013"/>
              <a:ext cx="595223" cy="17252"/>
            </a:xfrm>
            <a:prstGeom prst="straightConnector1">
              <a:avLst/>
            </a:prstGeom>
            <a:ln w="1905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/>
            <p:nvPr/>
          </p:nvCxnSpPr>
          <p:spPr>
            <a:xfrm flipV="1">
              <a:off x="4166558" y="3140016"/>
              <a:ext cx="595223" cy="17252"/>
            </a:xfrm>
            <a:prstGeom prst="straightConnector1">
              <a:avLst/>
            </a:prstGeom>
            <a:ln w="1905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="" xmlns:a16="http://schemas.microsoft.com/office/drawing/2014/main" id="{B21A631C-D2FE-49B1-8957-E25DAB8A74E9}"/>
                </a:ext>
              </a:extLst>
            </p:cNvPr>
            <p:cNvSpPr txBox="1"/>
            <p:nvPr/>
          </p:nvSpPr>
          <p:spPr>
            <a:xfrm>
              <a:off x="2986817" y="2787657"/>
              <a:ext cx="2359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="" xmlns:a16="http://schemas.microsoft.com/office/drawing/2014/main" id="{B21A631C-D2FE-49B1-8957-E25DAB8A74E9}"/>
                </a:ext>
              </a:extLst>
            </p:cNvPr>
            <p:cNvSpPr txBox="1"/>
            <p:nvPr/>
          </p:nvSpPr>
          <p:spPr>
            <a:xfrm>
              <a:off x="1827836" y="2785444"/>
              <a:ext cx="2359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="" xmlns:a16="http://schemas.microsoft.com/office/drawing/2014/main" id="{B21A631C-D2FE-49B1-8957-E25DAB8A74E9}"/>
                </a:ext>
              </a:extLst>
            </p:cNvPr>
            <p:cNvSpPr txBox="1"/>
            <p:nvPr/>
          </p:nvSpPr>
          <p:spPr>
            <a:xfrm>
              <a:off x="5404757" y="2722184"/>
              <a:ext cx="2359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="" xmlns:a16="http://schemas.microsoft.com/office/drawing/2014/main" id="{B21A631C-D2FE-49B1-8957-E25DAB8A74E9}"/>
                </a:ext>
              </a:extLst>
            </p:cNvPr>
            <p:cNvSpPr txBox="1"/>
            <p:nvPr/>
          </p:nvSpPr>
          <p:spPr>
            <a:xfrm>
              <a:off x="4211437" y="2762937"/>
              <a:ext cx="2359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Arc 19">
              <a:extLst>
                <a:ext uri="{FF2B5EF4-FFF2-40B4-BE49-F238E27FC236}">
                  <a16:creationId xmlns="" xmlns:a16="http://schemas.microsoft.com/office/drawing/2014/main" id="{4A9D3AB6-108E-4062-B22C-A1FC38CC204A}"/>
                </a:ext>
              </a:extLst>
            </p:cNvPr>
            <p:cNvSpPr/>
            <p:nvPr/>
          </p:nvSpPr>
          <p:spPr>
            <a:xfrm>
              <a:off x="3641805" y="2605177"/>
              <a:ext cx="408846" cy="855590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="" xmlns:a16="http://schemas.microsoft.com/office/drawing/2014/main" id="{B21A631C-D2FE-49B1-8957-E25DAB8A74E9}"/>
                </a:ext>
              </a:extLst>
            </p:cNvPr>
            <p:cNvSpPr txBox="1"/>
            <p:nvPr/>
          </p:nvSpPr>
          <p:spPr>
            <a:xfrm>
              <a:off x="3585908" y="2202610"/>
              <a:ext cx="74455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a/b</a:t>
              </a:r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4493848" y="2857501"/>
          <a:ext cx="4034691" cy="22837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7483"/>
                <a:gridCol w="993531"/>
                <a:gridCol w="1283677"/>
              </a:tblGrid>
              <a:tr h="448407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States / Input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b</a:t>
                      </a:r>
                      <a:endParaRPr lang="en-US" dirty="0"/>
                    </a:p>
                  </a:txBody>
                  <a:tcPr/>
                </a:tc>
              </a:tr>
              <a:tr h="36706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6706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6706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6706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6706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5099532" y="3314699"/>
            <a:ext cx="5275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x0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102468" y="3678117"/>
            <a:ext cx="5275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x1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087813" y="4050323"/>
            <a:ext cx="5275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x2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081950" y="4431322"/>
            <a:ext cx="5275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x3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058507" y="4777153"/>
            <a:ext cx="5275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x4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838690" y="3317629"/>
            <a:ext cx="5275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-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780072" y="4788875"/>
            <a:ext cx="5275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+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494584" y="3672254"/>
            <a:ext cx="5275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x2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7611207" y="3276600"/>
            <a:ext cx="5275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x1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6488728" y="4035662"/>
            <a:ext cx="5275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x2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7432408" y="4047390"/>
            <a:ext cx="8323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X2, x3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7546736" y="4416662"/>
            <a:ext cx="5275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x4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7578968" y="4783017"/>
            <a:ext cx="5275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----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6474069" y="4785948"/>
            <a:ext cx="5275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----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6494584" y="4393224"/>
            <a:ext cx="5275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----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7543800" y="3683978"/>
            <a:ext cx="5275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----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6525993" y="3291088"/>
            <a:ext cx="5275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----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6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1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9" grpId="0"/>
      <p:bldP spid="40" grpId="0"/>
      <p:bldP spid="41" grpId="0"/>
      <p:bldP spid="42" grpId="0"/>
      <p:bldP spid="43" grpId="0"/>
      <p:bldP spid="44" grpId="0"/>
      <p:bldP spid="45" grpId="0"/>
      <p:bldP spid="46" grpId="0"/>
      <p:bldP spid="47" grpId="0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81</a:t>
            </a:fld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0" y="0"/>
            <a:ext cx="5909095" cy="1258157"/>
            <a:chOff x="733245" y="2202610"/>
            <a:chExt cx="5909095" cy="1258157"/>
          </a:xfrm>
        </p:grpSpPr>
        <p:sp>
          <p:nvSpPr>
            <p:cNvPr id="6" name="Oval 5"/>
            <p:cNvSpPr/>
            <p:nvPr/>
          </p:nvSpPr>
          <p:spPr>
            <a:xfrm>
              <a:off x="1173192" y="2958860"/>
              <a:ext cx="560717" cy="48307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x0</a:t>
              </a:r>
              <a:endParaRPr lang="en-US" sz="16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" name="Oval 6"/>
            <p:cNvSpPr/>
            <p:nvPr/>
          </p:nvSpPr>
          <p:spPr>
            <a:xfrm>
              <a:off x="2360761" y="2930103"/>
              <a:ext cx="560717" cy="48307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x1</a:t>
              </a:r>
              <a:endParaRPr lang="en-US" sz="16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" name="Oval 7"/>
            <p:cNvSpPr/>
            <p:nvPr/>
          </p:nvSpPr>
          <p:spPr>
            <a:xfrm>
              <a:off x="3565585" y="2927230"/>
              <a:ext cx="560717" cy="48307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x2</a:t>
              </a:r>
              <a:endParaRPr lang="en-US" sz="16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" name="Oval 8"/>
            <p:cNvSpPr/>
            <p:nvPr/>
          </p:nvSpPr>
          <p:spPr>
            <a:xfrm>
              <a:off x="4770407" y="2898475"/>
              <a:ext cx="560717" cy="48307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x3</a:t>
              </a:r>
              <a:endParaRPr lang="en-US" sz="1600" dirty="0"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10" name="Group 15"/>
            <p:cNvGrpSpPr/>
            <p:nvPr/>
          </p:nvGrpSpPr>
          <p:grpSpPr>
            <a:xfrm>
              <a:off x="5934973" y="2786331"/>
              <a:ext cx="707367" cy="638355"/>
              <a:chOff x="6478436" y="3209026"/>
              <a:chExt cx="707367" cy="638355"/>
            </a:xfrm>
          </p:grpSpPr>
          <p:sp>
            <p:nvSpPr>
              <p:cNvPr id="22" name="Oval 9">
                <a:extLst>
                  <a:ext uri="{FF2B5EF4-FFF2-40B4-BE49-F238E27FC236}">
                    <a16:creationId xmlns="" xmlns:a16="http://schemas.microsoft.com/office/drawing/2014/main" id="{1A90B709-A6EF-4AF3-8058-50CF1F57FBE0}"/>
                  </a:ext>
                </a:extLst>
              </p:cNvPr>
              <p:cNvSpPr/>
              <p:nvPr/>
            </p:nvSpPr>
            <p:spPr>
              <a:xfrm>
                <a:off x="6478436" y="3209026"/>
                <a:ext cx="707367" cy="638355"/>
              </a:xfrm>
              <a:prstGeom prst="ellips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3" name="Oval 22"/>
              <p:cNvSpPr/>
              <p:nvPr/>
            </p:nvSpPr>
            <p:spPr>
              <a:xfrm>
                <a:off x="6544573" y="3283789"/>
                <a:ext cx="560717" cy="483079"/>
              </a:xfrm>
              <a:prstGeom prst="ellips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 smtClean="0">
                    <a:latin typeface="Times New Roman" pitchFamily="18" charset="0"/>
                    <a:cs typeface="Times New Roman" pitchFamily="18" charset="0"/>
                  </a:rPr>
                  <a:t>x4</a:t>
                </a:r>
                <a:endParaRPr lang="en-US" sz="16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cxnSp>
          <p:nvCxnSpPr>
            <p:cNvPr id="11" name="Straight Arrow Connector 10"/>
            <p:cNvCxnSpPr/>
            <p:nvPr/>
          </p:nvCxnSpPr>
          <p:spPr>
            <a:xfrm flipV="1">
              <a:off x="1759790" y="3183149"/>
              <a:ext cx="595223" cy="17252"/>
            </a:xfrm>
            <a:prstGeom prst="straightConnector1">
              <a:avLst/>
            </a:prstGeom>
            <a:ln w="1905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/>
            <p:cNvCxnSpPr/>
            <p:nvPr/>
          </p:nvCxnSpPr>
          <p:spPr>
            <a:xfrm>
              <a:off x="733245" y="3209026"/>
              <a:ext cx="402571" cy="7335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/>
            <p:cNvCxnSpPr/>
            <p:nvPr/>
          </p:nvCxnSpPr>
          <p:spPr>
            <a:xfrm flipV="1">
              <a:off x="2938731" y="3163018"/>
              <a:ext cx="595223" cy="17252"/>
            </a:xfrm>
            <a:prstGeom prst="straightConnector1">
              <a:avLst/>
            </a:prstGeom>
            <a:ln w="1905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/>
            <p:nvPr/>
          </p:nvCxnSpPr>
          <p:spPr>
            <a:xfrm flipV="1">
              <a:off x="5333998" y="3117013"/>
              <a:ext cx="595223" cy="17252"/>
            </a:xfrm>
            <a:prstGeom prst="straightConnector1">
              <a:avLst/>
            </a:prstGeom>
            <a:ln w="1905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/>
            <p:nvPr/>
          </p:nvCxnSpPr>
          <p:spPr>
            <a:xfrm flipV="1">
              <a:off x="4166558" y="3140016"/>
              <a:ext cx="595223" cy="17252"/>
            </a:xfrm>
            <a:prstGeom prst="straightConnector1">
              <a:avLst/>
            </a:prstGeom>
            <a:ln w="1905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="" xmlns:a16="http://schemas.microsoft.com/office/drawing/2014/main" id="{B21A631C-D2FE-49B1-8957-E25DAB8A74E9}"/>
                </a:ext>
              </a:extLst>
            </p:cNvPr>
            <p:cNvSpPr txBox="1"/>
            <p:nvPr/>
          </p:nvSpPr>
          <p:spPr>
            <a:xfrm>
              <a:off x="2986817" y="2787657"/>
              <a:ext cx="2359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="" xmlns:a16="http://schemas.microsoft.com/office/drawing/2014/main" id="{B21A631C-D2FE-49B1-8957-E25DAB8A74E9}"/>
                </a:ext>
              </a:extLst>
            </p:cNvPr>
            <p:cNvSpPr txBox="1"/>
            <p:nvPr/>
          </p:nvSpPr>
          <p:spPr>
            <a:xfrm>
              <a:off x="1827836" y="2785444"/>
              <a:ext cx="2359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="" xmlns:a16="http://schemas.microsoft.com/office/drawing/2014/main" id="{B21A631C-D2FE-49B1-8957-E25DAB8A74E9}"/>
                </a:ext>
              </a:extLst>
            </p:cNvPr>
            <p:cNvSpPr txBox="1"/>
            <p:nvPr/>
          </p:nvSpPr>
          <p:spPr>
            <a:xfrm>
              <a:off x="5404757" y="2722184"/>
              <a:ext cx="2359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="" xmlns:a16="http://schemas.microsoft.com/office/drawing/2014/main" id="{B21A631C-D2FE-49B1-8957-E25DAB8A74E9}"/>
                </a:ext>
              </a:extLst>
            </p:cNvPr>
            <p:cNvSpPr txBox="1"/>
            <p:nvPr/>
          </p:nvSpPr>
          <p:spPr>
            <a:xfrm>
              <a:off x="4211437" y="2762937"/>
              <a:ext cx="2359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Arc 19">
              <a:extLst>
                <a:ext uri="{FF2B5EF4-FFF2-40B4-BE49-F238E27FC236}">
                  <a16:creationId xmlns="" xmlns:a16="http://schemas.microsoft.com/office/drawing/2014/main" id="{4A9D3AB6-108E-4062-B22C-A1FC38CC204A}"/>
                </a:ext>
              </a:extLst>
            </p:cNvPr>
            <p:cNvSpPr/>
            <p:nvPr/>
          </p:nvSpPr>
          <p:spPr>
            <a:xfrm>
              <a:off x="3641805" y="2605177"/>
              <a:ext cx="408846" cy="855590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="" xmlns:a16="http://schemas.microsoft.com/office/drawing/2014/main" id="{B21A631C-D2FE-49B1-8957-E25DAB8A74E9}"/>
                </a:ext>
              </a:extLst>
            </p:cNvPr>
            <p:cNvSpPr txBox="1"/>
            <p:nvPr/>
          </p:nvSpPr>
          <p:spPr>
            <a:xfrm>
              <a:off x="3585908" y="2202610"/>
              <a:ext cx="74455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a/b</a:t>
              </a:r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3" name="TextBox 52">
            <a:extLst>
              <a:ext uri="{FF2B5EF4-FFF2-40B4-BE49-F238E27FC236}">
                <a16:creationId xmlns="" xmlns:a16="http://schemas.microsoft.com/office/drawing/2014/main" id="{9B070F29-9A7E-4F17-921F-8FB4B12F06AE}"/>
              </a:ext>
            </a:extLst>
          </p:cNvPr>
          <p:cNvSpPr txBox="1"/>
          <p:nvPr/>
        </p:nvSpPr>
        <p:spPr>
          <a:xfrm>
            <a:off x="8442672" y="26376"/>
            <a:ext cx="5078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X0 </a:t>
            </a:r>
            <a:endParaRPr lang="en-US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679347" y="1752932"/>
            <a:ext cx="25036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Input :  </a:t>
            </a: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bababbabb</a:t>
            </a: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="" xmlns:a16="http://schemas.microsoft.com/office/drawing/2014/main" id="{442A6FE7-B380-47BC-AFE6-A6174E8C2B5E}"/>
              </a:ext>
            </a:extLst>
          </p:cNvPr>
          <p:cNvSpPr txBox="1"/>
          <p:nvPr/>
        </p:nvSpPr>
        <p:spPr>
          <a:xfrm>
            <a:off x="8427984" y="1436758"/>
            <a:ext cx="5313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X2 </a:t>
            </a:r>
            <a:endParaRPr lang="en-US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="" xmlns:a16="http://schemas.microsoft.com/office/drawing/2014/main" id="{46296339-5A22-4B8E-93EE-B62D91D158AE}"/>
              </a:ext>
            </a:extLst>
          </p:cNvPr>
          <p:cNvSpPr txBox="1"/>
          <p:nvPr/>
        </p:nvSpPr>
        <p:spPr>
          <a:xfrm>
            <a:off x="8406374" y="729021"/>
            <a:ext cx="500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X1 </a:t>
            </a:r>
            <a:endParaRPr lang="en-US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="" xmlns:a16="http://schemas.microsoft.com/office/drawing/2014/main" id="{AFD252DD-8076-48A6-8E42-E81BE675F6DB}"/>
              </a:ext>
            </a:extLst>
          </p:cNvPr>
          <p:cNvCxnSpPr>
            <a:cxnSpLocks/>
          </p:cNvCxnSpPr>
          <p:nvPr/>
        </p:nvCxnSpPr>
        <p:spPr>
          <a:xfrm rot="10800000" flipV="1">
            <a:off x="7974624" y="1750749"/>
            <a:ext cx="608037" cy="596797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="" xmlns:a16="http://schemas.microsoft.com/office/drawing/2014/main" id="{2FA49442-CA3A-4F18-984A-1051F171E499}"/>
              </a:ext>
            </a:extLst>
          </p:cNvPr>
          <p:cNvCxnSpPr>
            <a:cxnSpLocks/>
          </p:cNvCxnSpPr>
          <p:nvPr/>
        </p:nvCxnSpPr>
        <p:spPr>
          <a:xfrm rot="16200000" flipH="1">
            <a:off x="8675865" y="1791489"/>
            <a:ext cx="561808" cy="532722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="" xmlns:a16="http://schemas.microsoft.com/office/drawing/2014/main" id="{1C825FF5-3DE8-4FF7-9A07-5A785E3FFC1B}"/>
              </a:ext>
            </a:extLst>
          </p:cNvPr>
          <p:cNvCxnSpPr>
            <a:cxnSpLocks/>
          </p:cNvCxnSpPr>
          <p:nvPr/>
        </p:nvCxnSpPr>
        <p:spPr>
          <a:xfrm rot="16200000" flipH="1">
            <a:off x="8441947" y="564040"/>
            <a:ext cx="485733" cy="3973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="" xmlns:a16="http://schemas.microsoft.com/office/drawing/2014/main" id="{1C825FF5-3DE8-4FF7-9A07-5A785E3FFC1B}"/>
              </a:ext>
            </a:extLst>
          </p:cNvPr>
          <p:cNvCxnSpPr>
            <a:cxnSpLocks/>
          </p:cNvCxnSpPr>
          <p:nvPr/>
        </p:nvCxnSpPr>
        <p:spPr>
          <a:xfrm rot="16200000" flipH="1">
            <a:off x="8436091" y="1296712"/>
            <a:ext cx="485733" cy="3973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="" xmlns:a16="http://schemas.microsoft.com/office/drawing/2014/main" id="{442A6FE7-B380-47BC-AFE6-A6174E8C2B5E}"/>
              </a:ext>
            </a:extLst>
          </p:cNvPr>
          <p:cNvSpPr txBox="1"/>
          <p:nvPr/>
        </p:nvSpPr>
        <p:spPr>
          <a:xfrm>
            <a:off x="7639603" y="2266157"/>
            <a:ext cx="4756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X2</a:t>
            </a:r>
            <a:endParaRPr lang="en-US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="" xmlns:a16="http://schemas.microsoft.com/office/drawing/2014/main" id="{442A6FE7-B380-47BC-AFE6-A6174E8C2B5E}"/>
              </a:ext>
            </a:extLst>
          </p:cNvPr>
          <p:cNvSpPr txBox="1"/>
          <p:nvPr/>
        </p:nvSpPr>
        <p:spPr>
          <a:xfrm>
            <a:off x="8987760" y="2260296"/>
            <a:ext cx="4815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X3</a:t>
            </a:r>
            <a:endParaRPr lang="en-US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="" xmlns:a16="http://schemas.microsoft.com/office/drawing/2014/main" id="{1C825FF5-3DE8-4FF7-9A07-5A785E3FFC1B}"/>
              </a:ext>
            </a:extLst>
          </p:cNvPr>
          <p:cNvCxnSpPr>
            <a:cxnSpLocks/>
          </p:cNvCxnSpPr>
          <p:nvPr/>
        </p:nvCxnSpPr>
        <p:spPr>
          <a:xfrm rot="16200000" flipH="1">
            <a:off x="7665299" y="2820705"/>
            <a:ext cx="485733" cy="3973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TextBox 88">
            <a:extLst>
              <a:ext uri="{FF2B5EF4-FFF2-40B4-BE49-F238E27FC236}">
                <a16:creationId xmlns="" xmlns:a16="http://schemas.microsoft.com/office/drawing/2014/main" id="{442A6FE7-B380-47BC-AFE6-A6174E8C2B5E}"/>
              </a:ext>
            </a:extLst>
          </p:cNvPr>
          <p:cNvSpPr txBox="1"/>
          <p:nvPr/>
        </p:nvSpPr>
        <p:spPr>
          <a:xfrm>
            <a:off x="7660118" y="2972478"/>
            <a:ext cx="4727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X2 </a:t>
            </a:r>
            <a:endParaRPr lang="en-US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0" name="Straight Arrow Connector 89">
            <a:extLst>
              <a:ext uri="{FF2B5EF4-FFF2-40B4-BE49-F238E27FC236}">
                <a16:creationId xmlns="" xmlns:a16="http://schemas.microsoft.com/office/drawing/2014/main" id="{5F59A017-09C9-4CAA-9DC2-D08568FC45F3}"/>
              </a:ext>
            </a:extLst>
          </p:cNvPr>
          <p:cNvCxnSpPr>
            <a:cxnSpLocks/>
          </p:cNvCxnSpPr>
          <p:nvPr/>
        </p:nvCxnSpPr>
        <p:spPr>
          <a:xfrm rot="5400000">
            <a:off x="8990319" y="2838185"/>
            <a:ext cx="542275" cy="6309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Multiplication Sign 80">
            <a:extLst>
              <a:ext uri="{FF2B5EF4-FFF2-40B4-BE49-F238E27FC236}">
                <a16:creationId xmlns="" xmlns:a16="http://schemas.microsoft.com/office/drawing/2014/main" id="{D1B1A970-3D64-460E-8776-532AAE64E9B4}"/>
              </a:ext>
            </a:extLst>
          </p:cNvPr>
          <p:cNvSpPr/>
          <p:nvPr/>
        </p:nvSpPr>
        <p:spPr>
          <a:xfrm>
            <a:off x="9148888" y="2998179"/>
            <a:ext cx="197335" cy="445010"/>
          </a:xfrm>
          <a:prstGeom prst="mathMultiply">
            <a:avLst>
              <a:gd name="adj1" fmla="val 13264"/>
            </a:avLst>
          </a:prstGeom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3" name="Straight Arrow Connector 92">
            <a:extLst>
              <a:ext uri="{FF2B5EF4-FFF2-40B4-BE49-F238E27FC236}">
                <a16:creationId xmlns="" xmlns:a16="http://schemas.microsoft.com/office/drawing/2014/main" id="{AFD252DD-8076-48A6-8E42-E81BE675F6DB}"/>
              </a:ext>
            </a:extLst>
          </p:cNvPr>
          <p:cNvCxnSpPr>
            <a:cxnSpLocks/>
          </p:cNvCxnSpPr>
          <p:nvPr/>
        </p:nvCxnSpPr>
        <p:spPr>
          <a:xfrm rot="10800000" flipV="1">
            <a:off x="7332785" y="3292334"/>
            <a:ext cx="540628" cy="488358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="" xmlns:a16="http://schemas.microsoft.com/office/drawing/2014/main" id="{2FA49442-CA3A-4F18-984A-1051F171E499}"/>
              </a:ext>
            </a:extLst>
          </p:cNvPr>
          <p:cNvCxnSpPr>
            <a:cxnSpLocks/>
          </p:cNvCxnSpPr>
          <p:nvPr/>
        </p:nvCxnSpPr>
        <p:spPr>
          <a:xfrm>
            <a:off x="7954785" y="3300946"/>
            <a:ext cx="485831" cy="470954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TextBox 94">
            <a:extLst>
              <a:ext uri="{FF2B5EF4-FFF2-40B4-BE49-F238E27FC236}">
                <a16:creationId xmlns="" xmlns:a16="http://schemas.microsoft.com/office/drawing/2014/main" id="{442A6FE7-B380-47BC-AFE6-A6174E8C2B5E}"/>
              </a:ext>
            </a:extLst>
          </p:cNvPr>
          <p:cNvSpPr txBox="1"/>
          <p:nvPr/>
        </p:nvSpPr>
        <p:spPr>
          <a:xfrm>
            <a:off x="7044652" y="3684666"/>
            <a:ext cx="4727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X2</a:t>
            </a:r>
            <a:endParaRPr lang="en-US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="" xmlns:a16="http://schemas.microsoft.com/office/drawing/2014/main" id="{442A6FE7-B380-47BC-AFE6-A6174E8C2B5E}"/>
              </a:ext>
            </a:extLst>
          </p:cNvPr>
          <p:cNvSpPr txBox="1"/>
          <p:nvPr/>
        </p:nvSpPr>
        <p:spPr>
          <a:xfrm>
            <a:off x="8155419" y="3696379"/>
            <a:ext cx="531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X3</a:t>
            </a:r>
            <a:endParaRPr lang="en-US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2" name="Straight Arrow Connector 101">
            <a:extLst>
              <a:ext uri="{FF2B5EF4-FFF2-40B4-BE49-F238E27FC236}">
                <a16:creationId xmlns="" xmlns:a16="http://schemas.microsoft.com/office/drawing/2014/main" id="{AFD252DD-8076-48A6-8E42-E81BE675F6DB}"/>
              </a:ext>
            </a:extLst>
          </p:cNvPr>
          <p:cNvCxnSpPr>
            <a:cxnSpLocks/>
          </p:cNvCxnSpPr>
          <p:nvPr/>
        </p:nvCxnSpPr>
        <p:spPr>
          <a:xfrm rot="10800000" flipV="1">
            <a:off x="6685087" y="4007443"/>
            <a:ext cx="540628" cy="488358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="" xmlns:a16="http://schemas.microsoft.com/office/drawing/2014/main" id="{2FA49442-CA3A-4F18-984A-1051F171E499}"/>
              </a:ext>
            </a:extLst>
          </p:cNvPr>
          <p:cNvCxnSpPr>
            <a:cxnSpLocks/>
          </p:cNvCxnSpPr>
          <p:nvPr/>
        </p:nvCxnSpPr>
        <p:spPr>
          <a:xfrm>
            <a:off x="7307087" y="4024847"/>
            <a:ext cx="485831" cy="470954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TextBox 103">
            <a:extLst>
              <a:ext uri="{FF2B5EF4-FFF2-40B4-BE49-F238E27FC236}">
                <a16:creationId xmlns="" xmlns:a16="http://schemas.microsoft.com/office/drawing/2014/main" id="{442A6FE7-B380-47BC-AFE6-A6174E8C2B5E}"/>
              </a:ext>
            </a:extLst>
          </p:cNvPr>
          <p:cNvSpPr txBox="1"/>
          <p:nvPr/>
        </p:nvSpPr>
        <p:spPr>
          <a:xfrm>
            <a:off x="6396953" y="4399775"/>
            <a:ext cx="9439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X2 </a:t>
            </a:r>
            <a:endParaRPr lang="en-US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="" xmlns:a16="http://schemas.microsoft.com/office/drawing/2014/main" id="{442A6FE7-B380-47BC-AFE6-A6174E8C2B5E}"/>
              </a:ext>
            </a:extLst>
          </p:cNvPr>
          <p:cNvSpPr txBox="1"/>
          <p:nvPr/>
        </p:nvSpPr>
        <p:spPr>
          <a:xfrm>
            <a:off x="7507721" y="4411488"/>
            <a:ext cx="9439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X3 </a:t>
            </a:r>
            <a:endParaRPr lang="en-US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="" xmlns:a16="http://schemas.microsoft.com/office/drawing/2014/main" id="{442A6FE7-B380-47BC-AFE6-A6174E8C2B5E}"/>
              </a:ext>
            </a:extLst>
          </p:cNvPr>
          <p:cNvSpPr txBox="1"/>
          <p:nvPr/>
        </p:nvSpPr>
        <p:spPr>
          <a:xfrm>
            <a:off x="8255069" y="4429073"/>
            <a:ext cx="5899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X4 </a:t>
            </a:r>
            <a:endParaRPr lang="en-US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7" name="Straight Arrow Connector 106">
            <a:extLst>
              <a:ext uri="{FF2B5EF4-FFF2-40B4-BE49-F238E27FC236}">
                <a16:creationId xmlns="" xmlns:a16="http://schemas.microsoft.com/office/drawing/2014/main" id="{1C825FF5-3DE8-4FF7-9A07-5A785E3FFC1B}"/>
              </a:ext>
            </a:extLst>
          </p:cNvPr>
          <p:cNvCxnSpPr>
            <a:cxnSpLocks/>
          </p:cNvCxnSpPr>
          <p:nvPr/>
        </p:nvCxnSpPr>
        <p:spPr>
          <a:xfrm rot="16200000" flipH="1">
            <a:off x="8280761" y="4280235"/>
            <a:ext cx="485733" cy="3973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="" xmlns:a16="http://schemas.microsoft.com/office/drawing/2014/main" id="{5F59A017-09C9-4CAA-9DC2-D08568FC45F3}"/>
              </a:ext>
            </a:extLst>
          </p:cNvPr>
          <p:cNvCxnSpPr>
            <a:cxnSpLocks/>
          </p:cNvCxnSpPr>
          <p:nvPr/>
        </p:nvCxnSpPr>
        <p:spPr>
          <a:xfrm rot="5400000">
            <a:off x="8254696" y="4986439"/>
            <a:ext cx="542275" cy="6309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Multiplication Sign 80">
            <a:extLst>
              <a:ext uri="{FF2B5EF4-FFF2-40B4-BE49-F238E27FC236}">
                <a16:creationId xmlns="" xmlns:a16="http://schemas.microsoft.com/office/drawing/2014/main" id="{D1B1A970-3D64-460E-8776-532AAE64E9B4}"/>
              </a:ext>
            </a:extLst>
          </p:cNvPr>
          <p:cNvSpPr/>
          <p:nvPr/>
        </p:nvSpPr>
        <p:spPr>
          <a:xfrm>
            <a:off x="8413264" y="5146430"/>
            <a:ext cx="197335" cy="445010"/>
          </a:xfrm>
          <a:prstGeom prst="mathMultiply">
            <a:avLst>
              <a:gd name="adj1" fmla="val 13264"/>
            </a:avLst>
          </a:prstGeom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0" name="Straight Arrow Connector 109">
            <a:extLst>
              <a:ext uri="{FF2B5EF4-FFF2-40B4-BE49-F238E27FC236}">
                <a16:creationId xmlns="" xmlns:a16="http://schemas.microsoft.com/office/drawing/2014/main" id="{1C825FF5-3DE8-4FF7-9A07-5A785E3FFC1B}"/>
              </a:ext>
            </a:extLst>
          </p:cNvPr>
          <p:cNvCxnSpPr>
            <a:cxnSpLocks/>
          </p:cNvCxnSpPr>
          <p:nvPr/>
        </p:nvCxnSpPr>
        <p:spPr>
          <a:xfrm rot="16200000" flipH="1">
            <a:off x="6410929" y="4968959"/>
            <a:ext cx="485733" cy="3973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TextBox 110">
            <a:extLst>
              <a:ext uri="{FF2B5EF4-FFF2-40B4-BE49-F238E27FC236}">
                <a16:creationId xmlns="" xmlns:a16="http://schemas.microsoft.com/office/drawing/2014/main" id="{442A6FE7-B380-47BC-AFE6-A6174E8C2B5E}"/>
              </a:ext>
            </a:extLst>
          </p:cNvPr>
          <p:cNvSpPr txBox="1"/>
          <p:nvPr/>
        </p:nvSpPr>
        <p:spPr>
          <a:xfrm>
            <a:off x="6405748" y="5120732"/>
            <a:ext cx="9439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X2 </a:t>
            </a:r>
            <a:endParaRPr lang="en-US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2" name="Straight Arrow Connector 111">
            <a:extLst>
              <a:ext uri="{FF2B5EF4-FFF2-40B4-BE49-F238E27FC236}">
                <a16:creationId xmlns="" xmlns:a16="http://schemas.microsoft.com/office/drawing/2014/main" id="{5F59A017-09C9-4CAA-9DC2-D08568FC45F3}"/>
              </a:ext>
            </a:extLst>
          </p:cNvPr>
          <p:cNvCxnSpPr>
            <a:cxnSpLocks/>
          </p:cNvCxnSpPr>
          <p:nvPr/>
        </p:nvCxnSpPr>
        <p:spPr>
          <a:xfrm rot="5400000">
            <a:off x="7457527" y="4998162"/>
            <a:ext cx="542275" cy="6309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Multiplication Sign 80">
            <a:extLst>
              <a:ext uri="{FF2B5EF4-FFF2-40B4-BE49-F238E27FC236}">
                <a16:creationId xmlns="" xmlns:a16="http://schemas.microsoft.com/office/drawing/2014/main" id="{D1B1A970-3D64-460E-8776-532AAE64E9B4}"/>
              </a:ext>
            </a:extLst>
          </p:cNvPr>
          <p:cNvSpPr/>
          <p:nvPr/>
        </p:nvSpPr>
        <p:spPr>
          <a:xfrm>
            <a:off x="7616095" y="5158153"/>
            <a:ext cx="197335" cy="445010"/>
          </a:xfrm>
          <a:prstGeom prst="mathMultiply">
            <a:avLst>
              <a:gd name="adj1" fmla="val 13264"/>
            </a:avLst>
          </a:prstGeom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4" name="Straight Arrow Connector 113">
            <a:extLst>
              <a:ext uri="{FF2B5EF4-FFF2-40B4-BE49-F238E27FC236}">
                <a16:creationId xmlns="" xmlns:a16="http://schemas.microsoft.com/office/drawing/2014/main" id="{AFD252DD-8076-48A6-8E42-E81BE675F6DB}"/>
              </a:ext>
            </a:extLst>
          </p:cNvPr>
          <p:cNvCxnSpPr>
            <a:cxnSpLocks/>
          </p:cNvCxnSpPr>
          <p:nvPr/>
        </p:nvCxnSpPr>
        <p:spPr>
          <a:xfrm rot="10800000" flipV="1">
            <a:off x="6046179" y="5461104"/>
            <a:ext cx="540628" cy="488358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Arrow Connector 114">
            <a:extLst>
              <a:ext uri="{FF2B5EF4-FFF2-40B4-BE49-F238E27FC236}">
                <a16:creationId xmlns="" xmlns:a16="http://schemas.microsoft.com/office/drawing/2014/main" id="{2FA49442-CA3A-4F18-984A-1051F171E499}"/>
              </a:ext>
            </a:extLst>
          </p:cNvPr>
          <p:cNvCxnSpPr>
            <a:cxnSpLocks/>
          </p:cNvCxnSpPr>
          <p:nvPr/>
        </p:nvCxnSpPr>
        <p:spPr>
          <a:xfrm>
            <a:off x="6668179" y="5478508"/>
            <a:ext cx="485831" cy="470954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TextBox 115">
            <a:extLst>
              <a:ext uri="{FF2B5EF4-FFF2-40B4-BE49-F238E27FC236}">
                <a16:creationId xmlns="" xmlns:a16="http://schemas.microsoft.com/office/drawing/2014/main" id="{442A6FE7-B380-47BC-AFE6-A6174E8C2B5E}"/>
              </a:ext>
            </a:extLst>
          </p:cNvPr>
          <p:cNvSpPr txBox="1"/>
          <p:nvPr/>
        </p:nvSpPr>
        <p:spPr>
          <a:xfrm>
            <a:off x="5758045" y="5853436"/>
            <a:ext cx="9439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X2 </a:t>
            </a:r>
            <a:endParaRPr lang="en-US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7" name="TextBox 116">
            <a:extLst>
              <a:ext uri="{FF2B5EF4-FFF2-40B4-BE49-F238E27FC236}">
                <a16:creationId xmlns="" xmlns:a16="http://schemas.microsoft.com/office/drawing/2014/main" id="{442A6FE7-B380-47BC-AFE6-A6174E8C2B5E}"/>
              </a:ext>
            </a:extLst>
          </p:cNvPr>
          <p:cNvSpPr txBox="1"/>
          <p:nvPr/>
        </p:nvSpPr>
        <p:spPr>
          <a:xfrm>
            <a:off x="6868813" y="5865149"/>
            <a:ext cx="9439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X3 </a:t>
            </a:r>
            <a:endParaRPr lang="en-US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8" name="Straight Arrow Connector 117">
            <a:extLst>
              <a:ext uri="{FF2B5EF4-FFF2-40B4-BE49-F238E27FC236}">
                <a16:creationId xmlns="" xmlns:a16="http://schemas.microsoft.com/office/drawing/2014/main" id="{AFD252DD-8076-48A6-8E42-E81BE675F6DB}"/>
              </a:ext>
            </a:extLst>
          </p:cNvPr>
          <p:cNvCxnSpPr>
            <a:cxnSpLocks/>
          </p:cNvCxnSpPr>
          <p:nvPr/>
        </p:nvCxnSpPr>
        <p:spPr>
          <a:xfrm rot="10800000" flipV="1">
            <a:off x="5574324" y="6181339"/>
            <a:ext cx="353061" cy="351346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Arrow Connector 118">
            <a:extLst>
              <a:ext uri="{FF2B5EF4-FFF2-40B4-BE49-F238E27FC236}">
                <a16:creationId xmlns="" xmlns:a16="http://schemas.microsoft.com/office/drawing/2014/main" id="{2FA49442-CA3A-4F18-984A-1051F171E499}"/>
              </a:ext>
            </a:extLst>
          </p:cNvPr>
          <p:cNvCxnSpPr>
            <a:cxnSpLocks/>
          </p:cNvCxnSpPr>
          <p:nvPr/>
        </p:nvCxnSpPr>
        <p:spPr>
          <a:xfrm rot="16200000" flipH="1">
            <a:off x="6099277" y="6151294"/>
            <a:ext cx="350213" cy="405237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TextBox 119">
            <a:extLst>
              <a:ext uri="{FF2B5EF4-FFF2-40B4-BE49-F238E27FC236}">
                <a16:creationId xmlns="" xmlns:a16="http://schemas.microsoft.com/office/drawing/2014/main" id="{442A6FE7-B380-47BC-AFE6-A6174E8C2B5E}"/>
              </a:ext>
            </a:extLst>
          </p:cNvPr>
          <p:cNvSpPr txBox="1"/>
          <p:nvPr/>
        </p:nvSpPr>
        <p:spPr>
          <a:xfrm>
            <a:off x="5239299" y="6476955"/>
            <a:ext cx="9439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X2</a:t>
            </a:r>
            <a:endParaRPr lang="en-US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1" name="TextBox 120">
            <a:extLst>
              <a:ext uri="{FF2B5EF4-FFF2-40B4-BE49-F238E27FC236}">
                <a16:creationId xmlns="" xmlns:a16="http://schemas.microsoft.com/office/drawing/2014/main" id="{442A6FE7-B380-47BC-AFE6-A6174E8C2B5E}"/>
              </a:ext>
            </a:extLst>
          </p:cNvPr>
          <p:cNvSpPr txBox="1"/>
          <p:nvPr/>
        </p:nvSpPr>
        <p:spPr>
          <a:xfrm>
            <a:off x="6350067" y="6488668"/>
            <a:ext cx="9439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X3</a:t>
            </a:r>
            <a:endParaRPr lang="en-US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4" name="Straight Arrow Connector 123">
            <a:extLst>
              <a:ext uri="{FF2B5EF4-FFF2-40B4-BE49-F238E27FC236}">
                <a16:creationId xmlns="" xmlns:a16="http://schemas.microsoft.com/office/drawing/2014/main" id="{5F59A017-09C9-4CAA-9DC2-D08568FC45F3}"/>
              </a:ext>
            </a:extLst>
          </p:cNvPr>
          <p:cNvCxnSpPr>
            <a:cxnSpLocks/>
          </p:cNvCxnSpPr>
          <p:nvPr/>
        </p:nvCxnSpPr>
        <p:spPr>
          <a:xfrm>
            <a:off x="7259966" y="6192633"/>
            <a:ext cx="354172" cy="287298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TextBox 125">
            <a:extLst>
              <a:ext uri="{FF2B5EF4-FFF2-40B4-BE49-F238E27FC236}">
                <a16:creationId xmlns="" xmlns:a16="http://schemas.microsoft.com/office/drawing/2014/main" id="{442A6FE7-B380-47BC-AFE6-A6174E8C2B5E}"/>
              </a:ext>
            </a:extLst>
          </p:cNvPr>
          <p:cNvSpPr txBox="1"/>
          <p:nvPr/>
        </p:nvSpPr>
        <p:spPr>
          <a:xfrm>
            <a:off x="7334807" y="6488668"/>
            <a:ext cx="9439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X4</a:t>
            </a:r>
            <a:endParaRPr lang="en-US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82</a:t>
            </a:fld>
            <a:endParaRPr lang="en-US"/>
          </a:p>
        </p:txBody>
      </p:sp>
      <p:grpSp>
        <p:nvGrpSpPr>
          <p:cNvPr id="2" name="Group 4"/>
          <p:cNvGrpSpPr/>
          <p:nvPr/>
        </p:nvGrpSpPr>
        <p:grpSpPr>
          <a:xfrm>
            <a:off x="0" y="0"/>
            <a:ext cx="5909095" cy="1258157"/>
            <a:chOff x="733245" y="2202610"/>
            <a:chExt cx="5909095" cy="1258157"/>
          </a:xfrm>
        </p:grpSpPr>
        <p:sp>
          <p:nvSpPr>
            <p:cNvPr id="6" name="Oval 5"/>
            <p:cNvSpPr/>
            <p:nvPr/>
          </p:nvSpPr>
          <p:spPr>
            <a:xfrm>
              <a:off x="1173192" y="2958860"/>
              <a:ext cx="560717" cy="48307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x0</a:t>
              </a:r>
              <a:endParaRPr lang="en-US" sz="16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" name="Oval 6"/>
            <p:cNvSpPr/>
            <p:nvPr/>
          </p:nvSpPr>
          <p:spPr>
            <a:xfrm>
              <a:off x="2360761" y="2930103"/>
              <a:ext cx="560717" cy="48307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x1</a:t>
              </a:r>
              <a:endParaRPr lang="en-US" sz="16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" name="Oval 7"/>
            <p:cNvSpPr/>
            <p:nvPr/>
          </p:nvSpPr>
          <p:spPr>
            <a:xfrm>
              <a:off x="3565585" y="2927230"/>
              <a:ext cx="560717" cy="48307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x2</a:t>
              </a:r>
              <a:endParaRPr lang="en-US" sz="16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" name="Oval 8"/>
            <p:cNvSpPr/>
            <p:nvPr/>
          </p:nvSpPr>
          <p:spPr>
            <a:xfrm>
              <a:off x="4770407" y="2898475"/>
              <a:ext cx="560717" cy="48307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x3</a:t>
              </a:r>
              <a:endParaRPr lang="en-US" sz="1600" dirty="0"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3" name="Group 15"/>
            <p:cNvGrpSpPr/>
            <p:nvPr/>
          </p:nvGrpSpPr>
          <p:grpSpPr>
            <a:xfrm>
              <a:off x="5934973" y="2786331"/>
              <a:ext cx="707367" cy="638355"/>
              <a:chOff x="6478436" y="3209026"/>
              <a:chExt cx="707367" cy="638355"/>
            </a:xfrm>
          </p:grpSpPr>
          <p:sp>
            <p:nvSpPr>
              <p:cNvPr id="22" name="Oval 9">
                <a:extLst>
                  <a:ext uri="{FF2B5EF4-FFF2-40B4-BE49-F238E27FC236}">
                    <a16:creationId xmlns="" xmlns:a16="http://schemas.microsoft.com/office/drawing/2014/main" id="{1A90B709-A6EF-4AF3-8058-50CF1F57FBE0}"/>
                  </a:ext>
                </a:extLst>
              </p:cNvPr>
              <p:cNvSpPr/>
              <p:nvPr/>
            </p:nvSpPr>
            <p:spPr>
              <a:xfrm>
                <a:off x="6478436" y="3209026"/>
                <a:ext cx="707367" cy="638355"/>
              </a:xfrm>
              <a:prstGeom prst="ellips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3" name="Oval 22"/>
              <p:cNvSpPr/>
              <p:nvPr/>
            </p:nvSpPr>
            <p:spPr>
              <a:xfrm>
                <a:off x="6544573" y="3283789"/>
                <a:ext cx="560717" cy="483079"/>
              </a:xfrm>
              <a:prstGeom prst="ellips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 smtClean="0">
                    <a:latin typeface="Times New Roman" pitchFamily="18" charset="0"/>
                    <a:cs typeface="Times New Roman" pitchFamily="18" charset="0"/>
                  </a:rPr>
                  <a:t>x4</a:t>
                </a:r>
                <a:endParaRPr lang="en-US" sz="16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cxnSp>
          <p:nvCxnSpPr>
            <p:cNvPr id="11" name="Straight Arrow Connector 10"/>
            <p:cNvCxnSpPr/>
            <p:nvPr/>
          </p:nvCxnSpPr>
          <p:spPr>
            <a:xfrm flipV="1">
              <a:off x="1759790" y="3183149"/>
              <a:ext cx="595223" cy="17252"/>
            </a:xfrm>
            <a:prstGeom prst="straightConnector1">
              <a:avLst/>
            </a:prstGeom>
            <a:ln w="1905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/>
            <p:cNvCxnSpPr/>
            <p:nvPr/>
          </p:nvCxnSpPr>
          <p:spPr>
            <a:xfrm>
              <a:off x="733245" y="3209026"/>
              <a:ext cx="402571" cy="7335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/>
            <p:cNvCxnSpPr/>
            <p:nvPr/>
          </p:nvCxnSpPr>
          <p:spPr>
            <a:xfrm flipV="1">
              <a:off x="2938731" y="3163018"/>
              <a:ext cx="595223" cy="17252"/>
            </a:xfrm>
            <a:prstGeom prst="straightConnector1">
              <a:avLst/>
            </a:prstGeom>
            <a:ln w="1905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/>
            <p:nvPr/>
          </p:nvCxnSpPr>
          <p:spPr>
            <a:xfrm flipV="1">
              <a:off x="5333998" y="3117013"/>
              <a:ext cx="595223" cy="17252"/>
            </a:xfrm>
            <a:prstGeom prst="straightConnector1">
              <a:avLst/>
            </a:prstGeom>
            <a:ln w="1905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/>
            <p:nvPr/>
          </p:nvCxnSpPr>
          <p:spPr>
            <a:xfrm flipV="1">
              <a:off x="4166558" y="3140016"/>
              <a:ext cx="595223" cy="17252"/>
            </a:xfrm>
            <a:prstGeom prst="straightConnector1">
              <a:avLst/>
            </a:prstGeom>
            <a:ln w="1905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="" xmlns:a16="http://schemas.microsoft.com/office/drawing/2014/main" id="{B21A631C-D2FE-49B1-8957-E25DAB8A74E9}"/>
                </a:ext>
              </a:extLst>
            </p:cNvPr>
            <p:cNvSpPr txBox="1"/>
            <p:nvPr/>
          </p:nvSpPr>
          <p:spPr>
            <a:xfrm>
              <a:off x="2986817" y="2787657"/>
              <a:ext cx="2359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="" xmlns:a16="http://schemas.microsoft.com/office/drawing/2014/main" id="{B21A631C-D2FE-49B1-8957-E25DAB8A74E9}"/>
                </a:ext>
              </a:extLst>
            </p:cNvPr>
            <p:cNvSpPr txBox="1"/>
            <p:nvPr/>
          </p:nvSpPr>
          <p:spPr>
            <a:xfrm>
              <a:off x="1827836" y="2785444"/>
              <a:ext cx="2359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="" xmlns:a16="http://schemas.microsoft.com/office/drawing/2014/main" id="{B21A631C-D2FE-49B1-8957-E25DAB8A74E9}"/>
                </a:ext>
              </a:extLst>
            </p:cNvPr>
            <p:cNvSpPr txBox="1"/>
            <p:nvPr/>
          </p:nvSpPr>
          <p:spPr>
            <a:xfrm>
              <a:off x="5404757" y="2722184"/>
              <a:ext cx="2359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="" xmlns:a16="http://schemas.microsoft.com/office/drawing/2014/main" id="{B21A631C-D2FE-49B1-8957-E25DAB8A74E9}"/>
                </a:ext>
              </a:extLst>
            </p:cNvPr>
            <p:cNvSpPr txBox="1"/>
            <p:nvPr/>
          </p:nvSpPr>
          <p:spPr>
            <a:xfrm>
              <a:off x="4211437" y="2762937"/>
              <a:ext cx="2359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Arc 19">
              <a:extLst>
                <a:ext uri="{FF2B5EF4-FFF2-40B4-BE49-F238E27FC236}">
                  <a16:creationId xmlns="" xmlns:a16="http://schemas.microsoft.com/office/drawing/2014/main" id="{4A9D3AB6-108E-4062-B22C-A1FC38CC204A}"/>
                </a:ext>
              </a:extLst>
            </p:cNvPr>
            <p:cNvSpPr/>
            <p:nvPr/>
          </p:nvSpPr>
          <p:spPr>
            <a:xfrm>
              <a:off x="3641805" y="2605177"/>
              <a:ext cx="408846" cy="855590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="" xmlns:a16="http://schemas.microsoft.com/office/drawing/2014/main" id="{B21A631C-D2FE-49B1-8957-E25DAB8A74E9}"/>
                </a:ext>
              </a:extLst>
            </p:cNvPr>
            <p:cNvSpPr txBox="1"/>
            <p:nvPr/>
          </p:nvSpPr>
          <p:spPr>
            <a:xfrm>
              <a:off x="3585908" y="2202610"/>
              <a:ext cx="74455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a/b</a:t>
              </a:r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3" name="TextBox 52">
            <a:extLst>
              <a:ext uri="{FF2B5EF4-FFF2-40B4-BE49-F238E27FC236}">
                <a16:creationId xmlns="" xmlns:a16="http://schemas.microsoft.com/office/drawing/2014/main" id="{9B070F29-9A7E-4F17-921F-8FB4B12F06AE}"/>
              </a:ext>
            </a:extLst>
          </p:cNvPr>
          <p:cNvSpPr txBox="1"/>
          <p:nvPr/>
        </p:nvSpPr>
        <p:spPr>
          <a:xfrm>
            <a:off x="8442672" y="26376"/>
            <a:ext cx="5078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X0 </a:t>
            </a:r>
            <a:endParaRPr lang="en-US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2332301" y="1392447"/>
            <a:ext cx="250363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Input :  b</a:t>
            </a:r>
          </a:p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             a</a:t>
            </a:r>
          </a:p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             b</a:t>
            </a:r>
          </a:p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             a</a:t>
            </a:r>
          </a:p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             b</a:t>
            </a:r>
          </a:p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             b</a:t>
            </a:r>
          </a:p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             a</a:t>
            </a:r>
          </a:p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             b</a:t>
            </a:r>
          </a:p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             b</a:t>
            </a: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="" xmlns:a16="http://schemas.microsoft.com/office/drawing/2014/main" id="{442A6FE7-B380-47BC-AFE6-A6174E8C2B5E}"/>
              </a:ext>
            </a:extLst>
          </p:cNvPr>
          <p:cNvSpPr txBox="1"/>
          <p:nvPr/>
        </p:nvSpPr>
        <p:spPr>
          <a:xfrm>
            <a:off x="8427984" y="1436758"/>
            <a:ext cx="5313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X2 </a:t>
            </a:r>
            <a:endParaRPr lang="en-US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="" xmlns:a16="http://schemas.microsoft.com/office/drawing/2014/main" id="{46296339-5A22-4B8E-93EE-B62D91D158AE}"/>
              </a:ext>
            </a:extLst>
          </p:cNvPr>
          <p:cNvSpPr txBox="1"/>
          <p:nvPr/>
        </p:nvSpPr>
        <p:spPr>
          <a:xfrm>
            <a:off x="8406374" y="729021"/>
            <a:ext cx="500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X1 </a:t>
            </a:r>
            <a:endParaRPr lang="en-US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="" xmlns:a16="http://schemas.microsoft.com/office/drawing/2014/main" id="{AFD252DD-8076-48A6-8E42-E81BE675F6DB}"/>
              </a:ext>
            </a:extLst>
          </p:cNvPr>
          <p:cNvCxnSpPr>
            <a:cxnSpLocks/>
          </p:cNvCxnSpPr>
          <p:nvPr/>
        </p:nvCxnSpPr>
        <p:spPr>
          <a:xfrm rot="10800000" flipV="1">
            <a:off x="7974624" y="1750749"/>
            <a:ext cx="608037" cy="596797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="" xmlns:a16="http://schemas.microsoft.com/office/drawing/2014/main" id="{2FA49442-CA3A-4F18-984A-1051F171E499}"/>
              </a:ext>
            </a:extLst>
          </p:cNvPr>
          <p:cNvCxnSpPr>
            <a:cxnSpLocks/>
          </p:cNvCxnSpPr>
          <p:nvPr/>
        </p:nvCxnSpPr>
        <p:spPr>
          <a:xfrm rot="16200000" flipH="1">
            <a:off x="8675865" y="1791489"/>
            <a:ext cx="561808" cy="532722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="" xmlns:a16="http://schemas.microsoft.com/office/drawing/2014/main" id="{1C825FF5-3DE8-4FF7-9A07-5A785E3FFC1B}"/>
              </a:ext>
            </a:extLst>
          </p:cNvPr>
          <p:cNvCxnSpPr>
            <a:cxnSpLocks/>
          </p:cNvCxnSpPr>
          <p:nvPr/>
        </p:nvCxnSpPr>
        <p:spPr>
          <a:xfrm rot="16200000" flipH="1">
            <a:off x="8441947" y="564040"/>
            <a:ext cx="485733" cy="3973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="" xmlns:a16="http://schemas.microsoft.com/office/drawing/2014/main" id="{1C825FF5-3DE8-4FF7-9A07-5A785E3FFC1B}"/>
              </a:ext>
            </a:extLst>
          </p:cNvPr>
          <p:cNvCxnSpPr>
            <a:cxnSpLocks/>
          </p:cNvCxnSpPr>
          <p:nvPr/>
        </p:nvCxnSpPr>
        <p:spPr>
          <a:xfrm rot="16200000" flipH="1">
            <a:off x="8436091" y="1296712"/>
            <a:ext cx="485733" cy="3973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="" xmlns:a16="http://schemas.microsoft.com/office/drawing/2014/main" id="{442A6FE7-B380-47BC-AFE6-A6174E8C2B5E}"/>
              </a:ext>
            </a:extLst>
          </p:cNvPr>
          <p:cNvSpPr txBox="1"/>
          <p:nvPr/>
        </p:nvSpPr>
        <p:spPr>
          <a:xfrm>
            <a:off x="7639603" y="2266157"/>
            <a:ext cx="4756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X2</a:t>
            </a:r>
            <a:endParaRPr lang="en-US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="" xmlns:a16="http://schemas.microsoft.com/office/drawing/2014/main" id="{442A6FE7-B380-47BC-AFE6-A6174E8C2B5E}"/>
              </a:ext>
            </a:extLst>
          </p:cNvPr>
          <p:cNvSpPr txBox="1"/>
          <p:nvPr/>
        </p:nvSpPr>
        <p:spPr>
          <a:xfrm>
            <a:off x="8987760" y="2260296"/>
            <a:ext cx="4815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X3</a:t>
            </a:r>
            <a:endParaRPr lang="en-US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="" xmlns:a16="http://schemas.microsoft.com/office/drawing/2014/main" id="{1C825FF5-3DE8-4FF7-9A07-5A785E3FFC1B}"/>
              </a:ext>
            </a:extLst>
          </p:cNvPr>
          <p:cNvCxnSpPr>
            <a:cxnSpLocks/>
          </p:cNvCxnSpPr>
          <p:nvPr/>
        </p:nvCxnSpPr>
        <p:spPr>
          <a:xfrm rot="16200000" flipH="1">
            <a:off x="7665299" y="2820705"/>
            <a:ext cx="485733" cy="3973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TextBox 88">
            <a:extLst>
              <a:ext uri="{FF2B5EF4-FFF2-40B4-BE49-F238E27FC236}">
                <a16:creationId xmlns="" xmlns:a16="http://schemas.microsoft.com/office/drawing/2014/main" id="{442A6FE7-B380-47BC-AFE6-A6174E8C2B5E}"/>
              </a:ext>
            </a:extLst>
          </p:cNvPr>
          <p:cNvSpPr txBox="1"/>
          <p:nvPr/>
        </p:nvSpPr>
        <p:spPr>
          <a:xfrm>
            <a:off x="7660118" y="2972478"/>
            <a:ext cx="4727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X2 </a:t>
            </a:r>
            <a:endParaRPr lang="en-US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0" name="Straight Arrow Connector 89">
            <a:extLst>
              <a:ext uri="{FF2B5EF4-FFF2-40B4-BE49-F238E27FC236}">
                <a16:creationId xmlns="" xmlns:a16="http://schemas.microsoft.com/office/drawing/2014/main" id="{5F59A017-09C9-4CAA-9DC2-D08568FC45F3}"/>
              </a:ext>
            </a:extLst>
          </p:cNvPr>
          <p:cNvCxnSpPr>
            <a:cxnSpLocks/>
          </p:cNvCxnSpPr>
          <p:nvPr/>
        </p:nvCxnSpPr>
        <p:spPr>
          <a:xfrm rot="5400000">
            <a:off x="8990319" y="2838185"/>
            <a:ext cx="542275" cy="6309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Multiplication Sign 80">
            <a:extLst>
              <a:ext uri="{FF2B5EF4-FFF2-40B4-BE49-F238E27FC236}">
                <a16:creationId xmlns="" xmlns:a16="http://schemas.microsoft.com/office/drawing/2014/main" id="{D1B1A970-3D64-460E-8776-532AAE64E9B4}"/>
              </a:ext>
            </a:extLst>
          </p:cNvPr>
          <p:cNvSpPr/>
          <p:nvPr/>
        </p:nvSpPr>
        <p:spPr>
          <a:xfrm>
            <a:off x="9148888" y="2998179"/>
            <a:ext cx="197335" cy="445010"/>
          </a:xfrm>
          <a:prstGeom prst="mathMultiply">
            <a:avLst>
              <a:gd name="adj1" fmla="val 13264"/>
            </a:avLst>
          </a:prstGeom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3" name="Straight Arrow Connector 92">
            <a:extLst>
              <a:ext uri="{FF2B5EF4-FFF2-40B4-BE49-F238E27FC236}">
                <a16:creationId xmlns="" xmlns:a16="http://schemas.microsoft.com/office/drawing/2014/main" id="{AFD252DD-8076-48A6-8E42-E81BE675F6DB}"/>
              </a:ext>
            </a:extLst>
          </p:cNvPr>
          <p:cNvCxnSpPr>
            <a:cxnSpLocks/>
          </p:cNvCxnSpPr>
          <p:nvPr/>
        </p:nvCxnSpPr>
        <p:spPr>
          <a:xfrm rot="10800000" flipV="1">
            <a:off x="7332785" y="3292334"/>
            <a:ext cx="540628" cy="488358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="" xmlns:a16="http://schemas.microsoft.com/office/drawing/2014/main" id="{2FA49442-CA3A-4F18-984A-1051F171E499}"/>
              </a:ext>
            </a:extLst>
          </p:cNvPr>
          <p:cNvCxnSpPr>
            <a:cxnSpLocks/>
          </p:cNvCxnSpPr>
          <p:nvPr/>
        </p:nvCxnSpPr>
        <p:spPr>
          <a:xfrm>
            <a:off x="7954785" y="3300946"/>
            <a:ext cx="485831" cy="470954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TextBox 94">
            <a:extLst>
              <a:ext uri="{FF2B5EF4-FFF2-40B4-BE49-F238E27FC236}">
                <a16:creationId xmlns="" xmlns:a16="http://schemas.microsoft.com/office/drawing/2014/main" id="{442A6FE7-B380-47BC-AFE6-A6174E8C2B5E}"/>
              </a:ext>
            </a:extLst>
          </p:cNvPr>
          <p:cNvSpPr txBox="1"/>
          <p:nvPr/>
        </p:nvSpPr>
        <p:spPr>
          <a:xfrm>
            <a:off x="7044652" y="3684666"/>
            <a:ext cx="4727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X2</a:t>
            </a:r>
            <a:endParaRPr lang="en-US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="" xmlns:a16="http://schemas.microsoft.com/office/drawing/2014/main" id="{442A6FE7-B380-47BC-AFE6-A6174E8C2B5E}"/>
              </a:ext>
            </a:extLst>
          </p:cNvPr>
          <p:cNvSpPr txBox="1"/>
          <p:nvPr/>
        </p:nvSpPr>
        <p:spPr>
          <a:xfrm>
            <a:off x="8155419" y="3696379"/>
            <a:ext cx="531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X3</a:t>
            </a:r>
            <a:endParaRPr lang="en-US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2" name="Straight Arrow Connector 101">
            <a:extLst>
              <a:ext uri="{FF2B5EF4-FFF2-40B4-BE49-F238E27FC236}">
                <a16:creationId xmlns="" xmlns:a16="http://schemas.microsoft.com/office/drawing/2014/main" id="{AFD252DD-8076-48A6-8E42-E81BE675F6DB}"/>
              </a:ext>
            </a:extLst>
          </p:cNvPr>
          <p:cNvCxnSpPr>
            <a:cxnSpLocks/>
          </p:cNvCxnSpPr>
          <p:nvPr/>
        </p:nvCxnSpPr>
        <p:spPr>
          <a:xfrm rot="10800000" flipV="1">
            <a:off x="6685087" y="4007443"/>
            <a:ext cx="540628" cy="488358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="" xmlns:a16="http://schemas.microsoft.com/office/drawing/2014/main" id="{2FA49442-CA3A-4F18-984A-1051F171E499}"/>
              </a:ext>
            </a:extLst>
          </p:cNvPr>
          <p:cNvCxnSpPr>
            <a:cxnSpLocks/>
          </p:cNvCxnSpPr>
          <p:nvPr/>
        </p:nvCxnSpPr>
        <p:spPr>
          <a:xfrm>
            <a:off x="7307087" y="4024847"/>
            <a:ext cx="485831" cy="470954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TextBox 103">
            <a:extLst>
              <a:ext uri="{FF2B5EF4-FFF2-40B4-BE49-F238E27FC236}">
                <a16:creationId xmlns="" xmlns:a16="http://schemas.microsoft.com/office/drawing/2014/main" id="{442A6FE7-B380-47BC-AFE6-A6174E8C2B5E}"/>
              </a:ext>
            </a:extLst>
          </p:cNvPr>
          <p:cNvSpPr txBox="1"/>
          <p:nvPr/>
        </p:nvSpPr>
        <p:spPr>
          <a:xfrm>
            <a:off x="6396953" y="4399775"/>
            <a:ext cx="9439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X2 </a:t>
            </a:r>
            <a:endParaRPr lang="en-US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="" xmlns:a16="http://schemas.microsoft.com/office/drawing/2014/main" id="{442A6FE7-B380-47BC-AFE6-A6174E8C2B5E}"/>
              </a:ext>
            </a:extLst>
          </p:cNvPr>
          <p:cNvSpPr txBox="1"/>
          <p:nvPr/>
        </p:nvSpPr>
        <p:spPr>
          <a:xfrm>
            <a:off x="7507721" y="4411488"/>
            <a:ext cx="9439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X3 </a:t>
            </a:r>
            <a:endParaRPr lang="en-US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="" xmlns:a16="http://schemas.microsoft.com/office/drawing/2014/main" id="{442A6FE7-B380-47BC-AFE6-A6174E8C2B5E}"/>
              </a:ext>
            </a:extLst>
          </p:cNvPr>
          <p:cNvSpPr txBox="1"/>
          <p:nvPr/>
        </p:nvSpPr>
        <p:spPr>
          <a:xfrm>
            <a:off x="8272653" y="4420281"/>
            <a:ext cx="9439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X4 </a:t>
            </a:r>
            <a:endParaRPr lang="en-US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7" name="Straight Arrow Connector 106">
            <a:extLst>
              <a:ext uri="{FF2B5EF4-FFF2-40B4-BE49-F238E27FC236}">
                <a16:creationId xmlns="" xmlns:a16="http://schemas.microsoft.com/office/drawing/2014/main" id="{1C825FF5-3DE8-4FF7-9A07-5A785E3FFC1B}"/>
              </a:ext>
            </a:extLst>
          </p:cNvPr>
          <p:cNvCxnSpPr>
            <a:cxnSpLocks/>
          </p:cNvCxnSpPr>
          <p:nvPr/>
        </p:nvCxnSpPr>
        <p:spPr>
          <a:xfrm rot="16200000" flipH="1">
            <a:off x="8280761" y="4280235"/>
            <a:ext cx="485733" cy="3973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="" xmlns:a16="http://schemas.microsoft.com/office/drawing/2014/main" id="{5F59A017-09C9-4CAA-9DC2-D08568FC45F3}"/>
              </a:ext>
            </a:extLst>
          </p:cNvPr>
          <p:cNvCxnSpPr>
            <a:cxnSpLocks/>
          </p:cNvCxnSpPr>
          <p:nvPr/>
        </p:nvCxnSpPr>
        <p:spPr>
          <a:xfrm rot="5400000">
            <a:off x="8254696" y="4986439"/>
            <a:ext cx="542275" cy="6309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Multiplication Sign 80">
            <a:extLst>
              <a:ext uri="{FF2B5EF4-FFF2-40B4-BE49-F238E27FC236}">
                <a16:creationId xmlns="" xmlns:a16="http://schemas.microsoft.com/office/drawing/2014/main" id="{D1B1A970-3D64-460E-8776-532AAE64E9B4}"/>
              </a:ext>
            </a:extLst>
          </p:cNvPr>
          <p:cNvSpPr/>
          <p:nvPr/>
        </p:nvSpPr>
        <p:spPr>
          <a:xfrm>
            <a:off x="8413264" y="5146430"/>
            <a:ext cx="197335" cy="445010"/>
          </a:xfrm>
          <a:prstGeom prst="mathMultiply">
            <a:avLst>
              <a:gd name="adj1" fmla="val 13264"/>
            </a:avLst>
          </a:prstGeom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0" name="Straight Arrow Connector 109">
            <a:extLst>
              <a:ext uri="{FF2B5EF4-FFF2-40B4-BE49-F238E27FC236}">
                <a16:creationId xmlns="" xmlns:a16="http://schemas.microsoft.com/office/drawing/2014/main" id="{1C825FF5-3DE8-4FF7-9A07-5A785E3FFC1B}"/>
              </a:ext>
            </a:extLst>
          </p:cNvPr>
          <p:cNvCxnSpPr>
            <a:cxnSpLocks/>
          </p:cNvCxnSpPr>
          <p:nvPr/>
        </p:nvCxnSpPr>
        <p:spPr>
          <a:xfrm rot="16200000" flipH="1">
            <a:off x="6410929" y="4968959"/>
            <a:ext cx="485733" cy="3973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TextBox 110">
            <a:extLst>
              <a:ext uri="{FF2B5EF4-FFF2-40B4-BE49-F238E27FC236}">
                <a16:creationId xmlns="" xmlns:a16="http://schemas.microsoft.com/office/drawing/2014/main" id="{442A6FE7-B380-47BC-AFE6-A6174E8C2B5E}"/>
              </a:ext>
            </a:extLst>
          </p:cNvPr>
          <p:cNvSpPr txBox="1"/>
          <p:nvPr/>
        </p:nvSpPr>
        <p:spPr>
          <a:xfrm>
            <a:off x="6405748" y="5120732"/>
            <a:ext cx="9439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X2 </a:t>
            </a:r>
            <a:endParaRPr lang="en-US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2" name="Straight Arrow Connector 111">
            <a:extLst>
              <a:ext uri="{FF2B5EF4-FFF2-40B4-BE49-F238E27FC236}">
                <a16:creationId xmlns="" xmlns:a16="http://schemas.microsoft.com/office/drawing/2014/main" id="{5F59A017-09C9-4CAA-9DC2-D08568FC45F3}"/>
              </a:ext>
            </a:extLst>
          </p:cNvPr>
          <p:cNvCxnSpPr>
            <a:cxnSpLocks/>
          </p:cNvCxnSpPr>
          <p:nvPr/>
        </p:nvCxnSpPr>
        <p:spPr>
          <a:xfrm rot="5400000">
            <a:off x="7457527" y="4998162"/>
            <a:ext cx="542275" cy="6309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Multiplication Sign 80">
            <a:extLst>
              <a:ext uri="{FF2B5EF4-FFF2-40B4-BE49-F238E27FC236}">
                <a16:creationId xmlns="" xmlns:a16="http://schemas.microsoft.com/office/drawing/2014/main" id="{D1B1A970-3D64-460E-8776-532AAE64E9B4}"/>
              </a:ext>
            </a:extLst>
          </p:cNvPr>
          <p:cNvSpPr/>
          <p:nvPr/>
        </p:nvSpPr>
        <p:spPr>
          <a:xfrm>
            <a:off x="7616095" y="5158153"/>
            <a:ext cx="197335" cy="445010"/>
          </a:xfrm>
          <a:prstGeom prst="mathMultiply">
            <a:avLst>
              <a:gd name="adj1" fmla="val 13264"/>
            </a:avLst>
          </a:prstGeom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4" name="Straight Arrow Connector 113">
            <a:extLst>
              <a:ext uri="{FF2B5EF4-FFF2-40B4-BE49-F238E27FC236}">
                <a16:creationId xmlns="" xmlns:a16="http://schemas.microsoft.com/office/drawing/2014/main" id="{AFD252DD-8076-48A6-8E42-E81BE675F6DB}"/>
              </a:ext>
            </a:extLst>
          </p:cNvPr>
          <p:cNvCxnSpPr>
            <a:cxnSpLocks/>
          </p:cNvCxnSpPr>
          <p:nvPr/>
        </p:nvCxnSpPr>
        <p:spPr>
          <a:xfrm rot="10800000" flipV="1">
            <a:off x="6046179" y="5461104"/>
            <a:ext cx="540628" cy="488358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Arrow Connector 114">
            <a:extLst>
              <a:ext uri="{FF2B5EF4-FFF2-40B4-BE49-F238E27FC236}">
                <a16:creationId xmlns="" xmlns:a16="http://schemas.microsoft.com/office/drawing/2014/main" id="{2FA49442-CA3A-4F18-984A-1051F171E499}"/>
              </a:ext>
            </a:extLst>
          </p:cNvPr>
          <p:cNvCxnSpPr>
            <a:cxnSpLocks/>
          </p:cNvCxnSpPr>
          <p:nvPr/>
        </p:nvCxnSpPr>
        <p:spPr>
          <a:xfrm>
            <a:off x="6668179" y="5478508"/>
            <a:ext cx="485831" cy="470954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TextBox 115">
            <a:extLst>
              <a:ext uri="{FF2B5EF4-FFF2-40B4-BE49-F238E27FC236}">
                <a16:creationId xmlns="" xmlns:a16="http://schemas.microsoft.com/office/drawing/2014/main" id="{442A6FE7-B380-47BC-AFE6-A6174E8C2B5E}"/>
              </a:ext>
            </a:extLst>
          </p:cNvPr>
          <p:cNvSpPr txBox="1"/>
          <p:nvPr/>
        </p:nvSpPr>
        <p:spPr>
          <a:xfrm>
            <a:off x="5758045" y="5853436"/>
            <a:ext cx="9439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X2 </a:t>
            </a:r>
            <a:endParaRPr lang="en-US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7" name="TextBox 116">
            <a:extLst>
              <a:ext uri="{FF2B5EF4-FFF2-40B4-BE49-F238E27FC236}">
                <a16:creationId xmlns="" xmlns:a16="http://schemas.microsoft.com/office/drawing/2014/main" id="{442A6FE7-B380-47BC-AFE6-A6174E8C2B5E}"/>
              </a:ext>
            </a:extLst>
          </p:cNvPr>
          <p:cNvSpPr txBox="1"/>
          <p:nvPr/>
        </p:nvSpPr>
        <p:spPr>
          <a:xfrm>
            <a:off x="6868813" y="5865149"/>
            <a:ext cx="9439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X3 </a:t>
            </a:r>
            <a:endParaRPr lang="en-US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8" name="Straight Arrow Connector 117">
            <a:extLst>
              <a:ext uri="{FF2B5EF4-FFF2-40B4-BE49-F238E27FC236}">
                <a16:creationId xmlns="" xmlns:a16="http://schemas.microsoft.com/office/drawing/2014/main" id="{AFD252DD-8076-48A6-8E42-E81BE675F6DB}"/>
              </a:ext>
            </a:extLst>
          </p:cNvPr>
          <p:cNvCxnSpPr>
            <a:cxnSpLocks/>
          </p:cNvCxnSpPr>
          <p:nvPr/>
        </p:nvCxnSpPr>
        <p:spPr>
          <a:xfrm rot="10800000" flipV="1">
            <a:off x="5574324" y="6181339"/>
            <a:ext cx="353061" cy="351346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Arrow Connector 118">
            <a:extLst>
              <a:ext uri="{FF2B5EF4-FFF2-40B4-BE49-F238E27FC236}">
                <a16:creationId xmlns="" xmlns:a16="http://schemas.microsoft.com/office/drawing/2014/main" id="{2FA49442-CA3A-4F18-984A-1051F171E499}"/>
              </a:ext>
            </a:extLst>
          </p:cNvPr>
          <p:cNvCxnSpPr>
            <a:cxnSpLocks/>
          </p:cNvCxnSpPr>
          <p:nvPr/>
        </p:nvCxnSpPr>
        <p:spPr>
          <a:xfrm rot="16200000" flipH="1">
            <a:off x="6099277" y="6151294"/>
            <a:ext cx="350213" cy="405237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TextBox 119">
            <a:extLst>
              <a:ext uri="{FF2B5EF4-FFF2-40B4-BE49-F238E27FC236}">
                <a16:creationId xmlns="" xmlns:a16="http://schemas.microsoft.com/office/drawing/2014/main" id="{442A6FE7-B380-47BC-AFE6-A6174E8C2B5E}"/>
              </a:ext>
            </a:extLst>
          </p:cNvPr>
          <p:cNvSpPr txBox="1"/>
          <p:nvPr/>
        </p:nvSpPr>
        <p:spPr>
          <a:xfrm>
            <a:off x="5239299" y="6476955"/>
            <a:ext cx="9439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X2</a:t>
            </a:r>
            <a:endParaRPr lang="en-US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1" name="TextBox 120">
            <a:extLst>
              <a:ext uri="{FF2B5EF4-FFF2-40B4-BE49-F238E27FC236}">
                <a16:creationId xmlns="" xmlns:a16="http://schemas.microsoft.com/office/drawing/2014/main" id="{442A6FE7-B380-47BC-AFE6-A6174E8C2B5E}"/>
              </a:ext>
            </a:extLst>
          </p:cNvPr>
          <p:cNvSpPr txBox="1"/>
          <p:nvPr/>
        </p:nvSpPr>
        <p:spPr>
          <a:xfrm>
            <a:off x="6350067" y="6488668"/>
            <a:ext cx="9439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X3</a:t>
            </a:r>
            <a:endParaRPr lang="en-US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4" name="Straight Arrow Connector 123">
            <a:extLst>
              <a:ext uri="{FF2B5EF4-FFF2-40B4-BE49-F238E27FC236}">
                <a16:creationId xmlns="" xmlns:a16="http://schemas.microsoft.com/office/drawing/2014/main" id="{5F59A017-09C9-4CAA-9DC2-D08568FC45F3}"/>
              </a:ext>
            </a:extLst>
          </p:cNvPr>
          <p:cNvCxnSpPr>
            <a:cxnSpLocks/>
          </p:cNvCxnSpPr>
          <p:nvPr/>
        </p:nvCxnSpPr>
        <p:spPr>
          <a:xfrm>
            <a:off x="7259966" y="6192633"/>
            <a:ext cx="354172" cy="287298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TextBox 125">
            <a:extLst>
              <a:ext uri="{FF2B5EF4-FFF2-40B4-BE49-F238E27FC236}">
                <a16:creationId xmlns="" xmlns:a16="http://schemas.microsoft.com/office/drawing/2014/main" id="{442A6FE7-B380-47BC-AFE6-A6174E8C2B5E}"/>
              </a:ext>
            </a:extLst>
          </p:cNvPr>
          <p:cNvSpPr txBox="1"/>
          <p:nvPr/>
        </p:nvSpPr>
        <p:spPr>
          <a:xfrm>
            <a:off x="7334807" y="6488668"/>
            <a:ext cx="9439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X4</a:t>
            </a:r>
            <a:endParaRPr lang="en-US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7" name="TextBox 126">
            <a:extLst>
              <a:ext uri="{FF2B5EF4-FFF2-40B4-BE49-F238E27FC236}">
                <a16:creationId xmlns="" xmlns:a16="http://schemas.microsoft.com/office/drawing/2014/main" id="{442A6FE7-B380-47BC-AFE6-A6174E8C2B5E}"/>
              </a:ext>
            </a:extLst>
          </p:cNvPr>
          <p:cNvSpPr txBox="1"/>
          <p:nvPr/>
        </p:nvSpPr>
        <p:spPr>
          <a:xfrm>
            <a:off x="8483291" y="3672053"/>
            <a:ext cx="5009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  <a:endParaRPr lang="en-US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8" name="TextBox 127">
            <a:extLst>
              <a:ext uri="{FF2B5EF4-FFF2-40B4-BE49-F238E27FC236}">
                <a16:creationId xmlns="" xmlns:a16="http://schemas.microsoft.com/office/drawing/2014/main" id="{442A6FE7-B380-47BC-AFE6-A6174E8C2B5E}"/>
              </a:ext>
            </a:extLst>
          </p:cNvPr>
          <p:cNvSpPr txBox="1"/>
          <p:nvPr/>
        </p:nvSpPr>
        <p:spPr>
          <a:xfrm>
            <a:off x="6737661" y="4381449"/>
            <a:ext cx="5153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  <a:endParaRPr lang="en-US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9" name="TextBox 128">
            <a:extLst>
              <a:ext uri="{FF2B5EF4-FFF2-40B4-BE49-F238E27FC236}">
                <a16:creationId xmlns="" xmlns:a16="http://schemas.microsoft.com/office/drawing/2014/main" id="{442A6FE7-B380-47BC-AFE6-A6174E8C2B5E}"/>
              </a:ext>
            </a:extLst>
          </p:cNvPr>
          <p:cNvSpPr txBox="1"/>
          <p:nvPr/>
        </p:nvSpPr>
        <p:spPr>
          <a:xfrm>
            <a:off x="8765022" y="17584"/>
            <a:ext cx="9439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  <a:endParaRPr lang="en-US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="" xmlns:a16="http://schemas.microsoft.com/office/drawing/2014/main" id="{442A6FE7-B380-47BC-AFE6-A6174E8C2B5E}"/>
              </a:ext>
            </a:extLst>
          </p:cNvPr>
          <p:cNvSpPr txBox="1"/>
          <p:nvPr/>
        </p:nvSpPr>
        <p:spPr>
          <a:xfrm>
            <a:off x="8706402" y="704075"/>
            <a:ext cx="9439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  <a:endParaRPr lang="en-US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1" name="TextBox 130">
            <a:extLst>
              <a:ext uri="{FF2B5EF4-FFF2-40B4-BE49-F238E27FC236}">
                <a16:creationId xmlns="" xmlns:a16="http://schemas.microsoft.com/office/drawing/2014/main" id="{442A6FE7-B380-47BC-AFE6-A6174E8C2B5E}"/>
              </a:ext>
            </a:extLst>
          </p:cNvPr>
          <p:cNvSpPr txBox="1"/>
          <p:nvPr/>
        </p:nvSpPr>
        <p:spPr>
          <a:xfrm>
            <a:off x="7969868" y="2963318"/>
            <a:ext cx="5083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  <a:endParaRPr lang="en-US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2" name="TextBox 131">
            <a:extLst>
              <a:ext uri="{FF2B5EF4-FFF2-40B4-BE49-F238E27FC236}">
                <a16:creationId xmlns="" xmlns:a16="http://schemas.microsoft.com/office/drawing/2014/main" id="{442A6FE7-B380-47BC-AFE6-A6174E8C2B5E}"/>
              </a:ext>
            </a:extLst>
          </p:cNvPr>
          <p:cNvSpPr txBox="1"/>
          <p:nvPr/>
        </p:nvSpPr>
        <p:spPr>
          <a:xfrm>
            <a:off x="6077510" y="5838773"/>
            <a:ext cx="5255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  <a:endParaRPr lang="en-US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3" name="TextBox 132">
            <a:extLst>
              <a:ext uri="{FF2B5EF4-FFF2-40B4-BE49-F238E27FC236}">
                <a16:creationId xmlns="" xmlns:a16="http://schemas.microsoft.com/office/drawing/2014/main" id="{442A6FE7-B380-47BC-AFE6-A6174E8C2B5E}"/>
              </a:ext>
            </a:extLst>
          </p:cNvPr>
          <p:cNvSpPr txBox="1"/>
          <p:nvPr/>
        </p:nvSpPr>
        <p:spPr>
          <a:xfrm>
            <a:off x="6722278" y="5111942"/>
            <a:ext cx="5408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  <a:endParaRPr lang="en-US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4" name="TextBox 133">
            <a:extLst>
              <a:ext uri="{FF2B5EF4-FFF2-40B4-BE49-F238E27FC236}">
                <a16:creationId xmlns="" xmlns:a16="http://schemas.microsoft.com/office/drawing/2014/main" id="{442A6FE7-B380-47BC-AFE6-A6174E8C2B5E}"/>
              </a:ext>
            </a:extLst>
          </p:cNvPr>
          <p:cNvSpPr txBox="1"/>
          <p:nvPr/>
        </p:nvSpPr>
        <p:spPr>
          <a:xfrm>
            <a:off x="8755545" y="1431919"/>
            <a:ext cx="9439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  <a:endParaRPr lang="en-US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5" name="TextBox 134">
            <a:extLst>
              <a:ext uri="{FF2B5EF4-FFF2-40B4-BE49-F238E27FC236}">
                <a16:creationId xmlns="" xmlns:a16="http://schemas.microsoft.com/office/drawing/2014/main" id="{442A6FE7-B380-47BC-AFE6-A6174E8C2B5E}"/>
              </a:ext>
            </a:extLst>
          </p:cNvPr>
          <p:cNvSpPr txBox="1"/>
          <p:nvPr/>
        </p:nvSpPr>
        <p:spPr>
          <a:xfrm>
            <a:off x="7831098" y="4374051"/>
            <a:ext cx="4784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  <a:endParaRPr lang="en-US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6" name="TextBox 135">
            <a:extLst>
              <a:ext uri="{FF2B5EF4-FFF2-40B4-BE49-F238E27FC236}">
                <a16:creationId xmlns="" xmlns:a16="http://schemas.microsoft.com/office/drawing/2014/main" id="{442A6FE7-B380-47BC-AFE6-A6174E8C2B5E}"/>
              </a:ext>
            </a:extLst>
          </p:cNvPr>
          <p:cNvSpPr txBox="1"/>
          <p:nvPr/>
        </p:nvSpPr>
        <p:spPr>
          <a:xfrm>
            <a:off x="8578297" y="4402164"/>
            <a:ext cx="5035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  <a:endParaRPr lang="en-US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7" name="TextBox 136">
            <a:extLst>
              <a:ext uri="{FF2B5EF4-FFF2-40B4-BE49-F238E27FC236}">
                <a16:creationId xmlns="" xmlns:a16="http://schemas.microsoft.com/office/drawing/2014/main" id="{442A6FE7-B380-47BC-AFE6-A6174E8C2B5E}"/>
              </a:ext>
            </a:extLst>
          </p:cNvPr>
          <p:cNvSpPr txBox="1"/>
          <p:nvPr/>
        </p:nvSpPr>
        <p:spPr>
          <a:xfrm>
            <a:off x="9307745" y="2237492"/>
            <a:ext cx="5287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  <a:endParaRPr lang="en-US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8" name="TextBox 137">
            <a:extLst>
              <a:ext uri="{FF2B5EF4-FFF2-40B4-BE49-F238E27FC236}">
                <a16:creationId xmlns="" xmlns:a16="http://schemas.microsoft.com/office/drawing/2014/main" id="{442A6FE7-B380-47BC-AFE6-A6174E8C2B5E}"/>
              </a:ext>
            </a:extLst>
          </p:cNvPr>
          <p:cNvSpPr txBox="1"/>
          <p:nvPr/>
        </p:nvSpPr>
        <p:spPr>
          <a:xfrm>
            <a:off x="7959818" y="2247850"/>
            <a:ext cx="5361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  <a:endParaRPr lang="en-US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9" name="TextBox 138">
            <a:extLst>
              <a:ext uri="{FF2B5EF4-FFF2-40B4-BE49-F238E27FC236}">
                <a16:creationId xmlns="" xmlns:a16="http://schemas.microsoft.com/office/drawing/2014/main" id="{442A6FE7-B380-47BC-AFE6-A6174E8C2B5E}"/>
              </a:ext>
            </a:extLst>
          </p:cNvPr>
          <p:cNvSpPr txBox="1"/>
          <p:nvPr/>
        </p:nvSpPr>
        <p:spPr>
          <a:xfrm>
            <a:off x="7191202" y="5835842"/>
            <a:ext cx="5009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  <a:endParaRPr lang="en-US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0" name="TextBox 139">
            <a:extLst>
              <a:ext uri="{FF2B5EF4-FFF2-40B4-BE49-F238E27FC236}">
                <a16:creationId xmlns="" xmlns:a16="http://schemas.microsoft.com/office/drawing/2014/main" id="{442A6FE7-B380-47BC-AFE6-A6174E8C2B5E}"/>
              </a:ext>
            </a:extLst>
          </p:cNvPr>
          <p:cNvSpPr txBox="1"/>
          <p:nvPr/>
        </p:nvSpPr>
        <p:spPr>
          <a:xfrm>
            <a:off x="7367669" y="3666133"/>
            <a:ext cx="5009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  <a:endParaRPr lang="en-US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2" name="Straight Arrow Connector 141"/>
          <p:cNvCxnSpPr/>
          <p:nvPr/>
        </p:nvCxnSpPr>
        <p:spPr>
          <a:xfrm flipV="1">
            <a:off x="3569677" y="237392"/>
            <a:ext cx="4774223" cy="138918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Arrow Connector 142"/>
          <p:cNvCxnSpPr/>
          <p:nvPr/>
        </p:nvCxnSpPr>
        <p:spPr>
          <a:xfrm flipV="1">
            <a:off x="3546231" y="958362"/>
            <a:ext cx="4674577" cy="996461"/>
          </a:xfrm>
          <a:prstGeom prst="straightConnector1">
            <a:avLst/>
          </a:prstGeom>
          <a:ln>
            <a:solidFill>
              <a:srgbClr val="FF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Arrow Connector 143"/>
          <p:cNvCxnSpPr/>
          <p:nvPr/>
        </p:nvCxnSpPr>
        <p:spPr>
          <a:xfrm flipV="1">
            <a:off x="3528647" y="1644162"/>
            <a:ext cx="4841630" cy="57443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Arrow Connector 144"/>
          <p:cNvCxnSpPr/>
          <p:nvPr/>
        </p:nvCxnSpPr>
        <p:spPr>
          <a:xfrm>
            <a:off x="3470031" y="2863362"/>
            <a:ext cx="4064977" cy="293076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Arrow Connector 145"/>
          <p:cNvCxnSpPr>
            <a:endCxn id="104" idx="1"/>
          </p:cNvCxnSpPr>
          <p:nvPr/>
        </p:nvCxnSpPr>
        <p:spPr>
          <a:xfrm>
            <a:off x="3481754" y="3508131"/>
            <a:ext cx="2915199" cy="107631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Straight Arrow Connector 146"/>
          <p:cNvCxnSpPr/>
          <p:nvPr/>
        </p:nvCxnSpPr>
        <p:spPr>
          <a:xfrm>
            <a:off x="3519855" y="4100147"/>
            <a:ext cx="2195145" cy="1904999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Arrow Connector 147"/>
          <p:cNvCxnSpPr/>
          <p:nvPr/>
        </p:nvCxnSpPr>
        <p:spPr>
          <a:xfrm flipV="1">
            <a:off x="3522785" y="2461846"/>
            <a:ext cx="4012223" cy="102577"/>
          </a:xfrm>
          <a:prstGeom prst="straightConnector1">
            <a:avLst/>
          </a:prstGeom>
          <a:ln>
            <a:solidFill>
              <a:srgbClr val="FF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Arrow Connector 148"/>
          <p:cNvCxnSpPr/>
          <p:nvPr/>
        </p:nvCxnSpPr>
        <p:spPr>
          <a:xfrm>
            <a:off x="3472962" y="3191608"/>
            <a:ext cx="3420207" cy="641838"/>
          </a:xfrm>
          <a:prstGeom prst="straightConnector1">
            <a:avLst/>
          </a:prstGeom>
          <a:ln>
            <a:solidFill>
              <a:srgbClr val="FF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Arrow Connector 149"/>
          <p:cNvCxnSpPr/>
          <p:nvPr/>
        </p:nvCxnSpPr>
        <p:spPr>
          <a:xfrm>
            <a:off x="3563816" y="3801208"/>
            <a:ext cx="2749061" cy="1526930"/>
          </a:xfrm>
          <a:prstGeom prst="straightConnector1">
            <a:avLst/>
          </a:prstGeom>
          <a:ln>
            <a:solidFill>
              <a:srgbClr val="FF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Oval 91"/>
          <p:cNvSpPr/>
          <p:nvPr/>
        </p:nvSpPr>
        <p:spPr>
          <a:xfrm>
            <a:off x="7306408" y="6339253"/>
            <a:ext cx="571500" cy="518747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Oval 96"/>
          <p:cNvSpPr/>
          <p:nvPr/>
        </p:nvSpPr>
        <p:spPr>
          <a:xfrm>
            <a:off x="6298223" y="6339253"/>
            <a:ext cx="571500" cy="518747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Oval 97"/>
          <p:cNvSpPr/>
          <p:nvPr/>
        </p:nvSpPr>
        <p:spPr>
          <a:xfrm>
            <a:off x="5193323" y="6339253"/>
            <a:ext cx="571500" cy="518747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/>
      <p:bldP spid="61" grpId="0"/>
      <p:bldP spid="65" grpId="0"/>
      <p:bldP spid="86" grpId="0"/>
      <p:bldP spid="87" grpId="0"/>
      <p:bldP spid="89" grpId="0"/>
      <p:bldP spid="91" grpId="0" animBg="1"/>
      <p:bldP spid="95" grpId="0"/>
      <p:bldP spid="96" grpId="0"/>
      <p:bldP spid="104" grpId="0"/>
      <p:bldP spid="105" grpId="0"/>
      <p:bldP spid="106" grpId="0"/>
      <p:bldP spid="109" grpId="0" animBg="1"/>
      <p:bldP spid="111" grpId="0"/>
      <p:bldP spid="113" grpId="0" animBg="1"/>
      <p:bldP spid="116" grpId="0"/>
      <p:bldP spid="117" grpId="0"/>
      <p:bldP spid="120" grpId="0"/>
      <p:bldP spid="121" grpId="0"/>
      <p:bldP spid="126" grpId="0"/>
      <p:bldP spid="127" grpId="0"/>
      <p:bldP spid="128" grpId="0"/>
      <p:bldP spid="129" grpId="0"/>
      <p:bldP spid="130" grpId="0"/>
      <p:bldP spid="131" grpId="0"/>
      <p:bldP spid="132" grpId="0"/>
      <p:bldP spid="133" grpId="0"/>
      <p:bldP spid="134" grpId="0"/>
      <p:bldP spid="135" grpId="0"/>
      <p:bldP spid="136" grpId="0"/>
      <p:bldP spid="137" grpId="0"/>
      <p:bldP spid="138" grpId="0"/>
      <p:bldP spid="139" grpId="0"/>
      <p:bldP spid="140" grpId="0"/>
      <p:bldP spid="92" grpId="0" animBg="1"/>
      <p:bldP spid="97" grpId="0" animBg="1"/>
      <p:bldP spid="98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Oval 91"/>
          <p:cNvSpPr/>
          <p:nvPr/>
        </p:nvSpPr>
        <p:spPr>
          <a:xfrm>
            <a:off x="7306408" y="6339253"/>
            <a:ext cx="571500" cy="518747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83</a:t>
            </a:fld>
            <a:endParaRPr lang="en-US"/>
          </a:p>
        </p:txBody>
      </p:sp>
      <p:grpSp>
        <p:nvGrpSpPr>
          <p:cNvPr id="2" name="Group 4"/>
          <p:cNvGrpSpPr/>
          <p:nvPr/>
        </p:nvGrpSpPr>
        <p:grpSpPr>
          <a:xfrm>
            <a:off x="0" y="0"/>
            <a:ext cx="5909095" cy="1258157"/>
            <a:chOff x="733245" y="2202610"/>
            <a:chExt cx="5909095" cy="1258157"/>
          </a:xfrm>
        </p:grpSpPr>
        <p:sp>
          <p:nvSpPr>
            <p:cNvPr id="6" name="Oval 5"/>
            <p:cNvSpPr/>
            <p:nvPr/>
          </p:nvSpPr>
          <p:spPr>
            <a:xfrm>
              <a:off x="1173192" y="2958860"/>
              <a:ext cx="560717" cy="48307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x0</a:t>
              </a:r>
              <a:endParaRPr lang="en-US" sz="16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" name="Oval 6"/>
            <p:cNvSpPr/>
            <p:nvPr/>
          </p:nvSpPr>
          <p:spPr>
            <a:xfrm>
              <a:off x="2360761" y="2930103"/>
              <a:ext cx="560717" cy="48307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x1</a:t>
              </a:r>
              <a:endParaRPr lang="en-US" sz="16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" name="Oval 7"/>
            <p:cNvSpPr/>
            <p:nvPr/>
          </p:nvSpPr>
          <p:spPr>
            <a:xfrm>
              <a:off x="3565585" y="2927230"/>
              <a:ext cx="560717" cy="48307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x2</a:t>
              </a:r>
              <a:endParaRPr lang="en-US" sz="16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" name="Oval 8"/>
            <p:cNvSpPr/>
            <p:nvPr/>
          </p:nvSpPr>
          <p:spPr>
            <a:xfrm>
              <a:off x="4770407" y="2898475"/>
              <a:ext cx="560717" cy="48307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x3</a:t>
              </a:r>
              <a:endParaRPr lang="en-US" sz="1600" dirty="0"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3" name="Group 15"/>
            <p:cNvGrpSpPr/>
            <p:nvPr/>
          </p:nvGrpSpPr>
          <p:grpSpPr>
            <a:xfrm>
              <a:off x="5934973" y="2786331"/>
              <a:ext cx="707367" cy="638355"/>
              <a:chOff x="6478436" y="3209026"/>
              <a:chExt cx="707367" cy="638355"/>
            </a:xfrm>
          </p:grpSpPr>
          <p:sp>
            <p:nvSpPr>
              <p:cNvPr id="22" name="Oval 9">
                <a:extLst>
                  <a:ext uri="{FF2B5EF4-FFF2-40B4-BE49-F238E27FC236}">
                    <a16:creationId xmlns="" xmlns:a16="http://schemas.microsoft.com/office/drawing/2014/main" id="{1A90B709-A6EF-4AF3-8058-50CF1F57FBE0}"/>
                  </a:ext>
                </a:extLst>
              </p:cNvPr>
              <p:cNvSpPr/>
              <p:nvPr/>
            </p:nvSpPr>
            <p:spPr>
              <a:xfrm>
                <a:off x="6478436" y="3209026"/>
                <a:ext cx="707367" cy="638355"/>
              </a:xfrm>
              <a:prstGeom prst="ellips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3" name="Oval 22"/>
              <p:cNvSpPr/>
              <p:nvPr/>
            </p:nvSpPr>
            <p:spPr>
              <a:xfrm>
                <a:off x="6544573" y="3283789"/>
                <a:ext cx="560717" cy="483079"/>
              </a:xfrm>
              <a:prstGeom prst="ellips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 smtClean="0">
                    <a:latin typeface="Times New Roman" pitchFamily="18" charset="0"/>
                    <a:cs typeface="Times New Roman" pitchFamily="18" charset="0"/>
                  </a:rPr>
                  <a:t>x4</a:t>
                </a:r>
                <a:endParaRPr lang="en-US" sz="16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cxnSp>
          <p:nvCxnSpPr>
            <p:cNvPr id="11" name="Straight Arrow Connector 10"/>
            <p:cNvCxnSpPr/>
            <p:nvPr/>
          </p:nvCxnSpPr>
          <p:spPr>
            <a:xfrm flipV="1">
              <a:off x="1759790" y="3183149"/>
              <a:ext cx="595223" cy="17252"/>
            </a:xfrm>
            <a:prstGeom prst="straightConnector1">
              <a:avLst/>
            </a:prstGeom>
            <a:ln w="1905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/>
            <p:cNvCxnSpPr/>
            <p:nvPr/>
          </p:nvCxnSpPr>
          <p:spPr>
            <a:xfrm>
              <a:off x="733245" y="3209026"/>
              <a:ext cx="402571" cy="7335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/>
            <p:cNvCxnSpPr/>
            <p:nvPr/>
          </p:nvCxnSpPr>
          <p:spPr>
            <a:xfrm flipV="1">
              <a:off x="2938731" y="3163018"/>
              <a:ext cx="595223" cy="17252"/>
            </a:xfrm>
            <a:prstGeom prst="straightConnector1">
              <a:avLst/>
            </a:prstGeom>
            <a:ln w="1905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/>
            <p:nvPr/>
          </p:nvCxnSpPr>
          <p:spPr>
            <a:xfrm flipV="1">
              <a:off x="5333998" y="3117013"/>
              <a:ext cx="595223" cy="17252"/>
            </a:xfrm>
            <a:prstGeom prst="straightConnector1">
              <a:avLst/>
            </a:prstGeom>
            <a:ln w="1905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/>
            <p:nvPr/>
          </p:nvCxnSpPr>
          <p:spPr>
            <a:xfrm flipV="1">
              <a:off x="4166558" y="3140016"/>
              <a:ext cx="595223" cy="17252"/>
            </a:xfrm>
            <a:prstGeom prst="straightConnector1">
              <a:avLst/>
            </a:prstGeom>
            <a:ln w="1905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="" xmlns:a16="http://schemas.microsoft.com/office/drawing/2014/main" id="{B21A631C-D2FE-49B1-8957-E25DAB8A74E9}"/>
                </a:ext>
              </a:extLst>
            </p:cNvPr>
            <p:cNvSpPr txBox="1"/>
            <p:nvPr/>
          </p:nvSpPr>
          <p:spPr>
            <a:xfrm>
              <a:off x="2986817" y="2787657"/>
              <a:ext cx="2359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="" xmlns:a16="http://schemas.microsoft.com/office/drawing/2014/main" id="{B21A631C-D2FE-49B1-8957-E25DAB8A74E9}"/>
                </a:ext>
              </a:extLst>
            </p:cNvPr>
            <p:cNvSpPr txBox="1"/>
            <p:nvPr/>
          </p:nvSpPr>
          <p:spPr>
            <a:xfrm>
              <a:off x="1827836" y="2785444"/>
              <a:ext cx="2359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="" xmlns:a16="http://schemas.microsoft.com/office/drawing/2014/main" id="{B21A631C-D2FE-49B1-8957-E25DAB8A74E9}"/>
                </a:ext>
              </a:extLst>
            </p:cNvPr>
            <p:cNvSpPr txBox="1"/>
            <p:nvPr/>
          </p:nvSpPr>
          <p:spPr>
            <a:xfrm>
              <a:off x="5404757" y="2722184"/>
              <a:ext cx="2359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="" xmlns:a16="http://schemas.microsoft.com/office/drawing/2014/main" id="{B21A631C-D2FE-49B1-8957-E25DAB8A74E9}"/>
                </a:ext>
              </a:extLst>
            </p:cNvPr>
            <p:cNvSpPr txBox="1"/>
            <p:nvPr/>
          </p:nvSpPr>
          <p:spPr>
            <a:xfrm>
              <a:off x="4211437" y="2762937"/>
              <a:ext cx="2359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Arc 19">
              <a:extLst>
                <a:ext uri="{FF2B5EF4-FFF2-40B4-BE49-F238E27FC236}">
                  <a16:creationId xmlns="" xmlns:a16="http://schemas.microsoft.com/office/drawing/2014/main" id="{4A9D3AB6-108E-4062-B22C-A1FC38CC204A}"/>
                </a:ext>
              </a:extLst>
            </p:cNvPr>
            <p:cNvSpPr/>
            <p:nvPr/>
          </p:nvSpPr>
          <p:spPr>
            <a:xfrm>
              <a:off x="3641805" y="2605177"/>
              <a:ext cx="408846" cy="855590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="" xmlns:a16="http://schemas.microsoft.com/office/drawing/2014/main" id="{B21A631C-D2FE-49B1-8957-E25DAB8A74E9}"/>
                </a:ext>
              </a:extLst>
            </p:cNvPr>
            <p:cNvSpPr txBox="1"/>
            <p:nvPr/>
          </p:nvSpPr>
          <p:spPr>
            <a:xfrm>
              <a:off x="3585908" y="2202610"/>
              <a:ext cx="74455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a/b</a:t>
              </a:r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3" name="TextBox 52">
            <a:extLst>
              <a:ext uri="{FF2B5EF4-FFF2-40B4-BE49-F238E27FC236}">
                <a16:creationId xmlns="" xmlns:a16="http://schemas.microsoft.com/office/drawing/2014/main" id="{9B070F29-9A7E-4F17-921F-8FB4B12F06AE}"/>
              </a:ext>
            </a:extLst>
          </p:cNvPr>
          <p:cNvSpPr txBox="1"/>
          <p:nvPr/>
        </p:nvSpPr>
        <p:spPr>
          <a:xfrm>
            <a:off x="8442672" y="26376"/>
            <a:ext cx="5078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X0 </a:t>
            </a:r>
            <a:endParaRPr lang="en-US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2332301" y="1392447"/>
            <a:ext cx="250363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Input :  b</a:t>
            </a:r>
          </a:p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             a</a:t>
            </a:r>
          </a:p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             b</a:t>
            </a:r>
          </a:p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             a</a:t>
            </a:r>
          </a:p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             b</a:t>
            </a:r>
          </a:p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             b</a:t>
            </a:r>
          </a:p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             a</a:t>
            </a:r>
          </a:p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             b</a:t>
            </a:r>
          </a:p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             b</a:t>
            </a: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="" xmlns:a16="http://schemas.microsoft.com/office/drawing/2014/main" id="{442A6FE7-B380-47BC-AFE6-A6174E8C2B5E}"/>
              </a:ext>
            </a:extLst>
          </p:cNvPr>
          <p:cNvSpPr txBox="1"/>
          <p:nvPr/>
        </p:nvSpPr>
        <p:spPr>
          <a:xfrm>
            <a:off x="8427984" y="1436758"/>
            <a:ext cx="5313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X2 </a:t>
            </a:r>
            <a:endParaRPr lang="en-US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="" xmlns:a16="http://schemas.microsoft.com/office/drawing/2014/main" id="{46296339-5A22-4B8E-93EE-B62D91D158AE}"/>
              </a:ext>
            </a:extLst>
          </p:cNvPr>
          <p:cNvSpPr txBox="1"/>
          <p:nvPr/>
        </p:nvSpPr>
        <p:spPr>
          <a:xfrm>
            <a:off x="8406374" y="729021"/>
            <a:ext cx="500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X1 </a:t>
            </a:r>
            <a:endParaRPr lang="en-US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="" xmlns:a16="http://schemas.microsoft.com/office/drawing/2014/main" id="{AFD252DD-8076-48A6-8E42-E81BE675F6DB}"/>
              </a:ext>
            </a:extLst>
          </p:cNvPr>
          <p:cNvCxnSpPr>
            <a:cxnSpLocks/>
          </p:cNvCxnSpPr>
          <p:nvPr/>
        </p:nvCxnSpPr>
        <p:spPr>
          <a:xfrm rot="10800000" flipV="1">
            <a:off x="7974624" y="1750749"/>
            <a:ext cx="608037" cy="596797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="" xmlns:a16="http://schemas.microsoft.com/office/drawing/2014/main" id="{2FA49442-CA3A-4F18-984A-1051F171E499}"/>
              </a:ext>
            </a:extLst>
          </p:cNvPr>
          <p:cNvCxnSpPr>
            <a:cxnSpLocks/>
          </p:cNvCxnSpPr>
          <p:nvPr/>
        </p:nvCxnSpPr>
        <p:spPr>
          <a:xfrm rot="16200000" flipH="1">
            <a:off x="8675865" y="1791489"/>
            <a:ext cx="561808" cy="532722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="" xmlns:a16="http://schemas.microsoft.com/office/drawing/2014/main" id="{1C825FF5-3DE8-4FF7-9A07-5A785E3FFC1B}"/>
              </a:ext>
            </a:extLst>
          </p:cNvPr>
          <p:cNvCxnSpPr>
            <a:cxnSpLocks/>
          </p:cNvCxnSpPr>
          <p:nvPr/>
        </p:nvCxnSpPr>
        <p:spPr>
          <a:xfrm rot="16200000" flipH="1">
            <a:off x="8441947" y="564040"/>
            <a:ext cx="485733" cy="3973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="" xmlns:a16="http://schemas.microsoft.com/office/drawing/2014/main" id="{1C825FF5-3DE8-4FF7-9A07-5A785E3FFC1B}"/>
              </a:ext>
            </a:extLst>
          </p:cNvPr>
          <p:cNvCxnSpPr>
            <a:cxnSpLocks/>
          </p:cNvCxnSpPr>
          <p:nvPr/>
        </p:nvCxnSpPr>
        <p:spPr>
          <a:xfrm rot="16200000" flipH="1">
            <a:off x="8436091" y="1296712"/>
            <a:ext cx="485733" cy="3973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="" xmlns:a16="http://schemas.microsoft.com/office/drawing/2014/main" id="{442A6FE7-B380-47BC-AFE6-A6174E8C2B5E}"/>
              </a:ext>
            </a:extLst>
          </p:cNvPr>
          <p:cNvSpPr txBox="1"/>
          <p:nvPr/>
        </p:nvSpPr>
        <p:spPr>
          <a:xfrm>
            <a:off x="7639603" y="2266157"/>
            <a:ext cx="4756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X2</a:t>
            </a:r>
            <a:endParaRPr lang="en-US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="" xmlns:a16="http://schemas.microsoft.com/office/drawing/2014/main" id="{442A6FE7-B380-47BC-AFE6-A6174E8C2B5E}"/>
              </a:ext>
            </a:extLst>
          </p:cNvPr>
          <p:cNvSpPr txBox="1"/>
          <p:nvPr/>
        </p:nvSpPr>
        <p:spPr>
          <a:xfrm>
            <a:off x="8987760" y="2260296"/>
            <a:ext cx="4815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X3</a:t>
            </a:r>
            <a:endParaRPr lang="en-US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="" xmlns:a16="http://schemas.microsoft.com/office/drawing/2014/main" id="{1C825FF5-3DE8-4FF7-9A07-5A785E3FFC1B}"/>
              </a:ext>
            </a:extLst>
          </p:cNvPr>
          <p:cNvCxnSpPr>
            <a:cxnSpLocks/>
          </p:cNvCxnSpPr>
          <p:nvPr/>
        </p:nvCxnSpPr>
        <p:spPr>
          <a:xfrm rot="16200000" flipH="1">
            <a:off x="7665299" y="2820705"/>
            <a:ext cx="485733" cy="3973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TextBox 88">
            <a:extLst>
              <a:ext uri="{FF2B5EF4-FFF2-40B4-BE49-F238E27FC236}">
                <a16:creationId xmlns="" xmlns:a16="http://schemas.microsoft.com/office/drawing/2014/main" id="{442A6FE7-B380-47BC-AFE6-A6174E8C2B5E}"/>
              </a:ext>
            </a:extLst>
          </p:cNvPr>
          <p:cNvSpPr txBox="1"/>
          <p:nvPr/>
        </p:nvSpPr>
        <p:spPr>
          <a:xfrm>
            <a:off x="7660118" y="2972478"/>
            <a:ext cx="4727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X2 </a:t>
            </a:r>
            <a:endParaRPr lang="en-US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0" name="Straight Arrow Connector 89">
            <a:extLst>
              <a:ext uri="{FF2B5EF4-FFF2-40B4-BE49-F238E27FC236}">
                <a16:creationId xmlns="" xmlns:a16="http://schemas.microsoft.com/office/drawing/2014/main" id="{5F59A017-09C9-4CAA-9DC2-D08568FC45F3}"/>
              </a:ext>
            </a:extLst>
          </p:cNvPr>
          <p:cNvCxnSpPr>
            <a:cxnSpLocks/>
          </p:cNvCxnSpPr>
          <p:nvPr/>
        </p:nvCxnSpPr>
        <p:spPr>
          <a:xfrm rot="5400000">
            <a:off x="8990319" y="2838185"/>
            <a:ext cx="542275" cy="6309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Multiplication Sign 80">
            <a:extLst>
              <a:ext uri="{FF2B5EF4-FFF2-40B4-BE49-F238E27FC236}">
                <a16:creationId xmlns="" xmlns:a16="http://schemas.microsoft.com/office/drawing/2014/main" id="{D1B1A970-3D64-460E-8776-532AAE64E9B4}"/>
              </a:ext>
            </a:extLst>
          </p:cNvPr>
          <p:cNvSpPr/>
          <p:nvPr/>
        </p:nvSpPr>
        <p:spPr>
          <a:xfrm>
            <a:off x="9148888" y="2998179"/>
            <a:ext cx="197335" cy="445010"/>
          </a:xfrm>
          <a:prstGeom prst="mathMultiply">
            <a:avLst>
              <a:gd name="adj1" fmla="val 13264"/>
            </a:avLst>
          </a:prstGeom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3" name="Straight Arrow Connector 92">
            <a:extLst>
              <a:ext uri="{FF2B5EF4-FFF2-40B4-BE49-F238E27FC236}">
                <a16:creationId xmlns="" xmlns:a16="http://schemas.microsoft.com/office/drawing/2014/main" id="{AFD252DD-8076-48A6-8E42-E81BE675F6DB}"/>
              </a:ext>
            </a:extLst>
          </p:cNvPr>
          <p:cNvCxnSpPr>
            <a:cxnSpLocks/>
          </p:cNvCxnSpPr>
          <p:nvPr/>
        </p:nvCxnSpPr>
        <p:spPr>
          <a:xfrm rot="10800000" flipV="1">
            <a:off x="7332785" y="3292334"/>
            <a:ext cx="540628" cy="488358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="" xmlns:a16="http://schemas.microsoft.com/office/drawing/2014/main" id="{2FA49442-CA3A-4F18-984A-1051F171E499}"/>
              </a:ext>
            </a:extLst>
          </p:cNvPr>
          <p:cNvCxnSpPr>
            <a:cxnSpLocks/>
          </p:cNvCxnSpPr>
          <p:nvPr/>
        </p:nvCxnSpPr>
        <p:spPr>
          <a:xfrm>
            <a:off x="7954785" y="3300946"/>
            <a:ext cx="485831" cy="470954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TextBox 94">
            <a:extLst>
              <a:ext uri="{FF2B5EF4-FFF2-40B4-BE49-F238E27FC236}">
                <a16:creationId xmlns="" xmlns:a16="http://schemas.microsoft.com/office/drawing/2014/main" id="{442A6FE7-B380-47BC-AFE6-A6174E8C2B5E}"/>
              </a:ext>
            </a:extLst>
          </p:cNvPr>
          <p:cNvSpPr txBox="1"/>
          <p:nvPr/>
        </p:nvSpPr>
        <p:spPr>
          <a:xfrm>
            <a:off x="7044652" y="3684666"/>
            <a:ext cx="4727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X2</a:t>
            </a:r>
            <a:endParaRPr lang="en-US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="" xmlns:a16="http://schemas.microsoft.com/office/drawing/2014/main" id="{442A6FE7-B380-47BC-AFE6-A6174E8C2B5E}"/>
              </a:ext>
            </a:extLst>
          </p:cNvPr>
          <p:cNvSpPr txBox="1"/>
          <p:nvPr/>
        </p:nvSpPr>
        <p:spPr>
          <a:xfrm>
            <a:off x="8155419" y="3696379"/>
            <a:ext cx="531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X3</a:t>
            </a:r>
            <a:endParaRPr lang="en-US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2" name="Straight Arrow Connector 101">
            <a:extLst>
              <a:ext uri="{FF2B5EF4-FFF2-40B4-BE49-F238E27FC236}">
                <a16:creationId xmlns="" xmlns:a16="http://schemas.microsoft.com/office/drawing/2014/main" id="{AFD252DD-8076-48A6-8E42-E81BE675F6DB}"/>
              </a:ext>
            </a:extLst>
          </p:cNvPr>
          <p:cNvCxnSpPr>
            <a:cxnSpLocks/>
          </p:cNvCxnSpPr>
          <p:nvPr/>
        </p:nvCxnSpPr>
        <p:spPr>
          <a:xfrm rot="10800000" flipV="1">
            <a:off x="6685087" y="4007443"/>
            <a:ext cx="540628" cy="488358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="" xmlns:a16="http://schemas.microsoft.com/office/drawing/2014/main" id="{2FA49442-CA3A-4F18-984A-1051F171E499}"/>
              </a:ext>
            </a:extLst>
          </p:cNvPr>
          <p:cNvCxnSpPr>
            <a:cxnSpLocks/>
          </p:cNvCxnSpPr>
          <p:nvPr/>
        </p:nvCxnSpPr>
        <p:spPr>
          <a:xfrm>
            <a:off x="7307087" y="4024847"/>
            <a:ext cx="485831" cy="470954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TextBox 103">
            <a:extLst>
              <a:ext uri="{FF2B5EF4-FFF2-40B4-BE49-F238E27FC236}">
                <a16:creationId xmlns="" xmlns:a16="http://schemas.microsoft.com/office/drawing/2014/main" id="{442A6FE7-B380-47BC-AFE6-A6174E8C2B5E}"/>
              </a:ext>
            </a:extLst>
          </p:cNvPr>
          <p:cNvSpPr txBox="1"/>
          <p:nvPr/>
        </p:nvSpPr>
        <p:spPr>
          <a:xfrm>
            <a:off x="6396953" y="4399775"/>
            <a:ext cx="9439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X2 </a:t>
            </a:r>
            <a:endParaRPr lang="en-US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="" xmlns:a16="http://schemas.microsoft.com/office/drawing/2014/main" id="{442A6FE7-B380-47BC-AFE6-A6174E8C2B5E}"/>
              </a:ext>
            </a:extLst>
          </p:cNvPr>
          <p:cNvSpPr txBox="1"/>
          <p:nvPr/>
        </p:nvSpPr>
        <p:spPr>
          <a:xfrm>
            <a:off x="7507721" y="4411488"/>
            <a:ext cx="9439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X3 </a:t>
            </a:r>
            <a:endParaRPr lang="en-US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="" xmlns:a16="http://schemas.microsoft.com/office/drawing/2014/main" id="{442A6FE7-B380-47BC-AFE6-A6174E8C2B5E}"/>
              </a:ext>
            </a:extLst>
          </p:cNvPr>
          <p:cNvSpPr txBox="1"/>
          <p:nvPr/>
        </p:nvSpPr>
        <p:spPr>
          <a:xfrm>
            <a:off x="8272653" y="4420281"/>
            <a:ext cx="9439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X4 </a:t>
            </a:r>
            <a:endParaRPr lang="en-US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7" name="Straight Arrow Connector 106">
            <a:extLst>
              <a:ext uri="{FF2B5EF4-FFF2-40B4-BE49-F238E27FC236}">
                <a16:creationId xmlns="" xmlns:a16="http://schemas.microsoft.com/office/drawing/2014/main" id="{1C825FF5-3DE8-4FF7-9A07-5A785E3FFC1B}"/>
              </a:ext>
            </a:extLst>
          </p:cNvPr>
          <p:cNvCxnSpPr>
            <a:cxnSpLocks/>
          </p:cNvCxnSpPr>
          <p:nvPr/>
        </p:nvCxnSpPr>
        <p:spPr>
          <a:xfrm rot="16200000" flipH="1">
            <a:off x="8280761" y="4280235"/>
            <a:ext cx="485733" cy="3973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="" xmlns:a16="http://schemas.microsoft.com/office/drawing/2014/main" id="{5F59A017-09C9-4CAA-9DC2-D08568FC45F3}"/>
              </a:ext>
            </a:extLst>
          </p:cNvPr>
          <p:cNvCxnSpPr>
            <a:cxnSpLocks/>
          </p:cNvCxnSpPr>
          <p:nvPr/>
        </p:nvCxnSpPr>
        <p:spPr>
          <a:xfrm rot="5400000">
            <a:off x="8254696" y="4986439"/>
            <a:ext cx="542275" cy="6309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Multiplication Sign 80">
            <a:extLst>
              <a:ext uri="{FF2B5EF4-FFF2-40B4-BE49-F238E27FC236}">
                <a16:creationId xmlns="" xmlns:a16="http://schemas.microsoft.com/office/drawing/2014/main" id="{D1B1A970-3D64-460E-8776-532AAE64E9B4}"/>
              </a:ext>
            </a:extLst>
          </p:cNvPr>
          <p:cNvSpPr/>
          <p:nvPr/>
        </p:nvSpPr>
        <p:spPr>
          <a:xfrm>
            <a:off x="8413264" y="5146430"/>
            <a:ext cx="197335" cy="445010"/>
          </a:xfrm>
          <a:prstGeom prst="mathMultiply">
            <a:avLst>
              <a:gd name="adj1" fmla="val 13264"/>
            </a:avLst>
          </a:prstGeom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0" name="Straight Arrow Connector 109">
            <a:extLst>
              <a:ext uri="{FF2B5EF4-FFF2-40B4-BE49-F238E27FC236}">
                <a16:creationId xmlns="" xmlns:a16="http://schemas.microsoft.com/office/drawing/2014/main" id="{1C825FF5-3DE8-4FF7-9A07-5A785E3FFC1B}"/>
              </a:ext>
            </a:extLst>
          </p:cNvPr>
          <p:cNvCxnSpPr>
            <a:cxnSpLocks/>
          </p:cNvCxnSpPr>
          <p:nvPr/>
        </p:nvCxnSpPr>
        <p:spPr>
          <a:xfrm rot="16200000" flipH="1">
            <a:off x="6410929" y="4968959"/>
            <a:ext cx="485733" cy="3973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TextBox 110">
            <a:extLst>
              <a:ext uri="{FF2B5EF4-FFF2-40B4-BE49-F238E27FC236}">
                <a16:creationId xmlns="" xmlns:a16="http://schemas.microsoft.com/office/drawing/2014/main" id="{442A6FE7-B380-47BC-AFE6-A6174E8C2B5E}"/>
              </a:ext>
            </a:extLst>
          </p:cNvPr>
          <p:cNvSpPr txBox="1"/>
          <p:nvPr/>
        </p:nvSpPr>
        <p:spPr>
          <a:xfrm>
            <a:off x="6405748" y="5120732"/>
            <a:ext cx="9439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X2 </a:t>
            </a:r>
            <a:endParaRPr lang="en-US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2" name="Straight Arrow Connector 111">
            <a:extLst>
              <a:ext uri="{FF2B5EF4-FFF2-40B4-BE49-F238E27FC236}">
                <a16:creationId xmlns="" xmlns:a16="http://schemas.microsoft.com/office/drawing/2014/main" id="{5F59A017-09C9-4CAA-9DC2-D08568FC45F3}"/>
              </a:ext>
            </a:extLst>
          </p:cNvPr>
          <p:cNvCxnSpPr>
            <a:cxnSpLocks/>
          </p:cNvCxnSpPr>
          <p:nvPr/>
        </p:nvCxnSpPr>
        <p:spPr>
          <a:xfrm rot="5400000">
            <a:off x="7457527" y="4998162"/>
            <a:ext cx="542275" cy="6309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Multiplication Sign 80">
            <a:extLst>
              <a:ext uri="{FF2B5EF4-FFF2-40B4-BE49-F238E27FC236}">
                <a16:creationId xmlns="" xmlns:a16="http://schemas.microsoft.com/office/drawing/2014/main" id="{D1B1A970-3D64-460E-8776-532AAE64E9B4}"/>
              </a:ext>
            </a:extLst>
          </p:cNvPr>
          <p:cNvSpPr/>
          <p:nvPr/>
        </p:nvSpPr>
        <p:spPr>
          <a:xfrm>
            <a:off x="7616095" y="5158153"/>
            <a:ext cx="197335" cy="445010"/>
          </a:xfrm>
          <a:prstGeom prst="mathMultiply">
            <a:avLst>
              <a:gd name="adj1" fmla="val 13264"/>
            </a:avLst>
          </a:prstGeom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4" name="Straight Arrow Connector 113">
            <a:extLst>
              <a:ext uri="{FF2B5EF4-FFF2-40B4-BE49-F238E27FC236}">
                <a16:creationId xmlns="" xmlns:a16="http://schemas.microsoft.com/office/drawing/2014/main" id="{AFD252DD-8076-48A6-8E42-E81BE675F6DB}"/>
              </a:ext>
            </a:extLst>
          </p:cNvPr>
          <p:cNvCxnSpPr>
            <a:cxnSpLocks/>
          </p:cNvCxnSpPr>
          <p:nvPr/>
        </p:nvCxnSpPr>
        <p:spPr>
          <a:xfrm rot="10800000" flipV="1">
            <a:off x="6046179" y="5461104"/>
            <a:ext cx="540628" cy="488358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Arrow Connector 114">
            <a:extLst>
              <a:ext uri="{FF2B5EF4-FFF2-40B4-BE49-F238E27FC236}">
                <a16:creationId xmlns="" xmlns:a16="http://schemas.microsoft.com/office/drawing/2014/main" id="{2FA49442-CA3A-4F18-984A-1051F171E499}"/>
              </a:ext>
            </a:extLst>
          </p:cNvPr>
          <p:cNvCxnSpPr>
            <a:cxnSpLocks/>
          </p:cNvCxnSpPr>
          <p:nvPr/>
        </p:nvCxnSpPr>
        <p:spPr>
          <a:xfrm>
            <a:off x="6668179" y="5478508"/>
            <a:ext cx="485831" cy="470954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TextBox 115">
            <a:extLst>
              <a:ext uri="{FF2B5EF4-FFF2-40B4-BE49-F238E27FC236}">
                <a16:creationId xmlns="" xmlns:a16="http://schemas.microsoft.com/office/drawing/2014/main" id="{442A6FE7-B380-47BC-AFE6-A6174E8C2B5E}"/>
              </a:ext>
            </a:extLst>
          </p:cNvPr>
          <p:cNvSpPr txBox="1"/>
          <p:nvPr/>
        </p:nvSpPr>
        <p:spPr>
          <a:xfrm>
            <a:off x="5758045" y="5853436"/>
            <a:ext cx="9439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X2 </a:t>
            </a:r>
            <a:endParaRPr lang="en-US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7" name="TextBox 116">
            <a:extLst>
              <a:ext uri="{FF2B5EF4-FFF2-40B4-BE49-F238E27FC236}">
                <a16:creationId xmlns="" xmlns:a16="http://schemas.microsoft.com/office/drawing/2014/main" id="{442A6FE7-B380-47BC-AFE6-A6174E8C2B5E}"/>
              </a:ext>
            </a:extLst>
          </p:cNvPr>
          <p:cNvSpPr txBox="1"/>
          <p:nvPr/>
        </p:nvSpPr>
        <p:spPr>
          <a:xfrm>
            <a:off x="6868813" y="5865149"/>
            <a:ext cx="9439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X3 </a:t>
            </a:r>
            <a:endParaRPr lang="en-US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8" name="Straight Arrow Connector 117">
            <a:extLst>
              <a:ext uri="{FF2B5EF4-FFF2-40B4-BE49-F238E27FC236}">
                <a16:creationId xmlns="" xmlns:a16="http://schemas.microsoft.com/office/drawing/2014/main" id="{AFD252DD-8076-48A6-8E42-E81BE675F6DB}"/>
              </a:ext>
            </a:extLst>
          </p:cNvPr>
          <p:cNvCxnSpPr>
            <a:cxnSpLocks/>
          </p:cNvCxnSpPr>
          <p:nvPr/>
        </p:nvCxnSpPr>
        <p:spPr>
          <a:xfrm rot="10800000" flipV="1">
            <a:off x="5574324" y="6181339"/>
            <a:ext cx="353061" cy="351346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Arrow Connector 118">
            <a:extLst>
              <a:ext uri="{FF2B5EF4-FFF2-40B4-BE49-F238E27FC236}">
                <a16:creationId xmlns="" xmlns:a16="http://schemas.microsoft.com/office/drawing/2014/main" id="{2FA49442-CA3A-4F18-984A-1051F171E499}"/>
              </a:ext>
            </a:extLst>
          </p:cNvPr>
          <p:cNvCxnSpPr>
            <a:cxnSpLocks/>
          </p:cNvCxnSpPr>
          <p:nvPr/>
        </p:nvCxnSpPr>
        <p:spPr>
          <a:xfrm rot="16200000" flipH="1">
            <a:off x="6099277" y="6151294"/>
            <a:ext cx="350213" cy="405237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TextBox 119">
            <a:extLst>
              <a:ext uri="{FF2B5EF4-FFF2-40B4-BE49-F238E27FC236}">
                <a16:creationId xmlns="" xmlns:a16="http://schemas.microsoft.com/office/drawing/2014/main" id="{442A6FE7-B380-47BC-AFE6-A6174E8C2B5E}"/>
              </a:ext>
            </a:extLst>
          </p:cNvPr>
          <p:cNvSpPr txBox="1"/>
          <p:nvPr/>
        </p:nvSpPr>
        <p:spPr>
          <a:xfrm>
            <a:off x="5239299" y="6476955"/>
            <a:ext cx="9439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X2</a:t>
            </a:r>
            <a:endParaRPr lang="en-US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1" name="TextBox 120">
            <a:extLst>
              <a:ext uri="{FF2B5EF4-FFF2-40B4-BE49-F238E27FC236}">
                <a16:creationId xmlns="" xmlns:a16="http://schemas.microsoft.com/office/drawing/2014/main" id="{442A6FE7-B380-47BC-AFE6-A6174E8C2B5E}"/>
              </a:ext>
            </a:extLst>
          </p:cNvPr>
          <p:cNvSpPr txBox="1"/>
          <p:nvPr/>
        </p:nvSpPr>
        <p:spPr>
          <a:xfrm>
            <a:off x="6350067" y="6488668"/>
            <a:ext cx="9439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X3</a:t>
            </a:r>
            <a:endParaRPr lang="en-US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4" name="Straight Arrow Connector 123">
            <a:extLst>
              <a:ext uri="{FF2B5EF4-FFF2-40B4-BE49-F238E27FC236}">
                <a16:creationId xmlns="" xmlns:a16="http://schemas.microsoft.com/office/drawing/2014/main" id="{5F59A017-09C9-4CAA-9DC2-D08568FC45F3}"/>
              </a:ext>
            </a:extLst>
          </p:cNvPr>
          <p:cNvCxnSpPr>
            <a:cxnSpLocks/>
          </p:cNvCxnSpPr>
          <p:nvPr/>
        </p:nvCxnSpPr>
        <p:spPr>
          <a:xfrm>
            <a:off x="7259966" y="6192633"/>
            <a:ext cx="354172" cy="287298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TextBox 125">
            <a:extLst>
              <a:ext uri="{FF2B5EF4-FFF2-40B4-BE49-F238E27FC236}">
                <a16:creationId xmlns="" xmlns:a16="http://schemas.microsoft.com/office/drawing/2014/main" id="{442A6FE7-B380-47BC-AFE6-A6174E8C2B5E}"/>
              </a:ext>
            </a:extLst>
          </p:cNvPr>
          <p:cNvSpPr txBox="1"/>
          <p:nvPr/>
        </p:nvSpPr>
        <p:spPr>
          <a:xfrm>
            <a:off x="7334807" y="6488668"/>
            <a:ext cx="9439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X4</a:t>
            </a:r>
            <a:endParaRPr lang="en-US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7" name="TextBox 126">
            <a:extLst>
              <a:ext uri="{FF2B5EF4-FFF2-40B4-BE49-F238E27FC236}">
                <a16:creationId xmlns="" xmlns:a16="http://schemas.microsoft.com/office/drawing/2014/main" id="{442A6FE7-B380-47BC-AFE6-A6174E8C2B5E}"/>
              </a:ext>
            </a:extLst>
          </p:cNvPr>
          <p:cNvSpPr txBox="1"/>
          <p:nvPr/>
        </p:nvSpPr>
        <p:spPr>
          <a:xfrm>
            <a:off x="8483291" y="3672053"/>
            <a:ext cx="5009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  <a:endParaRPr lang="en-US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8" name="TextBox 127">
            <a:extLst>
              <a:ext uri="{FF2B5EF4-FFF2-40B4-BE49-F238E27FC236}">
                <a16:creationId xmlns="" xmlns:a16="http://schemas.microsoft.com/office/drawing/2014/main" id="{442A6FE7-B380-47BC-AFE6-A6174E8C2B5E}"/>
              </a:ext>
            </a:extLst>
          </p:cNvPr>
          <p:cNvSpPr txBox="1"/>
          <p:nvPr/>
        </p:nvSpPr>
        <p:spPr>
          <a:xfrm>
            <a:off x="6737661" y="4381449"/>
            <a:ext cx="5153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  <a:endParaRPr lang="en-US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9" name="TextBox 128">
            <a:extLst>
              <a:ext uri="{FF2B5EF4-FFF2-40B4-BE49-F238E27FC236}">
                <a16:creationId xmlns="" xmlns:a16="http://schemas.microsoft.com/office/drawing/2014/main" id="{442A6FE7-B380-47BC-AFE6-A6174E8C2B5E}"/>
              </a:ext>
            </a:extLst>
          </p:cNvPr>
          <p:cNvSpPr txBox="1"/>
          <p:nvPr/>
        </p:nvSpPr>
        <p:spPr>
          <a:xfrm>
            <a:off x="8765022" y="17584"/>
            <a:ext cx="9439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  <a:endParaRPr lang="en-US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="" xmlns:a16="http://schemas.microsoft.com/office/drawing/2014/main" id="{442A6FE7-B380-47BC-AFE6-A6174E8C2B5E}"/>
              </a:ext>
            </a:extLst>
          </p:cNvPr>
          <p:cNvSpPr txBox="1"/>
          <p:nvPr/>
        </p:nvSpPr>
        <p:spPr>
          <a:xfrm>
            <a:off x="8706402" y="704075"/>
            <a:ext cx="9439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  <a:endParaRPr lang="en-US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1" name="TextBox 130">
            <a:extLst>
              <a:ext uri="{FF2B5EF4-FFF2-40B4-BE49-F238E27FC236}">
                <a16:creationId xmlns="" xmlns:a16="http://schemas.microsoft.com/office/drawing/2014/main" id="{442A6FE7-B380-47BC-AFE6-A6174E8C2B5E}"/>
              </a:ext>
            </a:extLst>
          </p:cNvPr>
          <p:cNvSpPr txBox="1"/>
          <p:nvPr/>
        </p:nvSpPr>
        <p:spPr>
          <a:xfrm>
            <a:off x="7969868" y="2963318"/>
            <a:ext cx="5083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  <a:endParaRPr lang="en-US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2" name="TextBox 131">
            <a:extLst>
              <a:ext uri="{FF2B5EF4-FFF2-40B4-BE49-F238E27FC236}">
                <a16:creationId xmlns="" xmlns:a16="http://schemas.microsoft.com/office/drawing/2014/main" id="{442A6FE7-B380-47BC-AFE6-A6174E8C2B5E}"/>
              </a:ext>
            </a:extLst>
          </p:cNvPr>
          <p:cNvSpPr txBox="1"/>
          <p:nvPr/>
        </p:nvSpPr>
        <p:spPr>
          <a:xfrm>
            <a:off x="6077510" y="5838773"/>
            <a:ext cx="5255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  <a:endParaRPr lang="en-US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3" name="TextBox 132">
            <a:extLst>
              <a:ext uri="{FF2B5EF4-FFF2-40B4-BE49-F238E27FC236}">
                <a16:creationId xmlns="" xmlns:a16="http://schemas.microsoft.com/office/drawing/2014/main" id="{442A6FE7-B380-47BC-AFE6-A6174E8C2B5E}"/>
              </a:ext>
            </a:extLst>
          </p:cNvPr>
          <p:cNvSpPr txBox="1"/>
          <p:nvPr/>
        </p:nvSpPr>
        <p:spPr>
          <a:xfrm>
            <a:off x="6722278" y="5111942"/>
            <a:ext cx="5408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  <a:endParaRPr lang="en-US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4" name="TextBox 133">
            <a:extLst>
              <a:ext uri="{FF2B5EF4-FFF2-40B4-BE49-F238E27FC236}">
                <a16:creationId xmlns="" xmlns:a16="http://schemas.microsoft.com/office/drawing/2014/main" id="{442A6FE7-B380-47BC-AFE6-A6174E8C2B5E}"/>
              </a:ext>
            </a:extLst>
          </p:cNvPr>
          <p:cNvSpPr txBox="1"/>
          <p:nvPr/>
        </p:nvSpPr>
        <p:spPr>
          <a:xfrm>
            <a:off x="8755545" y="1431919"/>
            <a:ext cx="9439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  <a:endParaRPr lang="en-US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5" name="TextBox 134">
            <a:extLst>
              <a:ext uri="{FF2B5EF4-FFF2-40B4-BE49-F238E27FC236}">
                <a16:creationId xmlns="" xmlns:a16="http://schemas.microsoft.com/office/drawing/2014/main" id="{442A6FE7-B380-47BC-AFE6-A6174E8C2B5E}"/>
              </a:ext>
            </a:extLst>
          </p:cNvPr>
          <p:cNvSpPr txBox="1"/>
          <p:nvPr/>
        </p:nvSpPr>
        <p:spPr>
          <a:xfrm>
            <a:off x="7831098" y="4374051"/>
            <a:ext cx="4784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  <a:endParaRPr lang="en-US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6" name="TextBox 135">
            <a:extLst>
              <a:ext uri="{FF2B5EF4-FFF2-40B4-BE49-F238E27FC236}">
                <a16:creationId xmlns="" xmlns:a16="http://schemas.microsoft.com/office/drawing/2014/main" id="{442A6FE7-B380-47BC-AFE6-A6174E8C2B5E}"/>
              </a:ext>
            </a:extLst>
          </p:cNvPr>
          <p:cNvSpPr txBox="1"/>
          <p:nvPr/>
        </p:nvSpPr>
        <p:spPr>
          <a:xfrm>
            <a:off x="8578297" y="4402164"/>
            <a:ext cx="5035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  <a:endParaRPr lang="en-US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7" name="TextBox 136">
            <a:extLst>
              <a:ext uri="{FF2B5EF4-FFF2-40B4-BE49-F238E27FC236}">
                <a16:creationId xmlns="" xmlns:a16="http://schemas.microsoft.com/office/drawing/2014/main" id="{442A6FE7-B380-47BC-AFE6-A6174E8C2B5E}"/>
              </a:ext>
            </a:extLst>
          </p:cNvPr>
          <p:cNvSpPr txBox="1"/>
          <p:nvPr/>
        </p:nvSpPr>
        <p:spPr>
          <a:xfrm>
            <a:off x="9307745" y="2237492"/>
            <a:ext cx="5287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  <a:endParaRPr lang="en-US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8" name="TextBox 137">
            <a:extLst>
              <a:ext uri="{FF2B5EF4-FFF2-40B4-BE49-F238E27FC236}">
                <a16:creationId xmlns="" xmlns:a16="http://schemas.microsoft.com/office/drawing/2014/main" id="{442A6FE7-B380-47BC-AFE6-A6174E8C2B5E}"/>
              </a:ext>
            </a:extLst>
          </p:cNvPr>
          <p:cNvSpPr txBox="1"/>
          <p:nvPr/>
        </p:nvSpPr>
        <p:spPr>
          <a:xfrm>
            <a:off x="7959818" y="2247850"/>
            <a:ext cx="5361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  <a:endParaRPr lang="en-US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9" name="TextBox 138">
            <a:extLst>
              <a:ext uri="{FF2B5EF4-FFF2-40B4-BE49-F238E27FC236}">
                <a16:creationId xmlns="" xmlns:a16="http://schemas.microsoft.com/office/drawing/2014/main" id="{442A6FE7-B380-47BC-AFE6-A6174E8C2B5E}"/>
              </a:ext>
            </a:extLst>
          </p:cNvPr>
          <p:cNvSpPr txBox="1"/>
          <p:nvPr/>
        </p:nvSpPr>
        <p:spPr>
          <a:xfrm>
            <a:off x="7191202" y="5835842"/>
            <a:ext cx="5009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  <a:endParaRPr lang="en-US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0" name="TextBox 139">
            <a:extLst>
              <a:ext uri="{FF2B5EF4-FFF2-40B4-BE49-F238E27FC236}">
                <a16:creationId xmlns="" xmlns:a16="http://schemas.microsoft.com/office/drawing/2014/main" id="{442A6FE7-B380-47BC-AFE6-A6174E8C2B5E}"/>
              </a:ext>
            </a:extLst>
          </p:cNvPr>
          <p:cNvSpPr txBox="1"/>
          <p:nvPr/>
        </p:nvSpPr>
        <p:spPr>
          <a:xfrm>
            <a:off x="7367669" y="3666133"/>
            <a:ext cx="5009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  <a:endParaRPr lang="en-US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2" name="Straight Arrow Connector 141"/>
          <p:cNvCxnSpPr/>
          <p:nvPr/>
        </p:nvCxnSpPr>
        <p:spPr>
          <a:xfrm flipV="1">
            <a:off x="3569677" y="237392"/>
            <a:ext cx="4774223" cy="138918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Arrow Connector 142"/>
          <p:cNvCxnSpPr/>
          <p:nvPr/>
        </p:nvCxnSpPr>
        <p:spPr>
          <a:xfrm flipV="1">
            <a:off x="3546231" y="958362"/>
            <a:ext cx="4674577" cy="996461"/>
          </a:xfrm>
          <a:prstGeom prst="straightConnector1">
            <a:avLst/>
          </a:prstGeom>
          <a:ln>
            <a:solidFill>
              <a:srgbClr val="FF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Arrow Connector 143"/>
          <p:cNvCxnSpPr/>
          <p:nvPr/>
        </p:nvCxnSpPr>
        <p:spPr>
          <a:xfrm flipV="1">
            <a:off x="3528647" y="1644162"/>
            <a:ext cx="4841630" cy="57443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Arrow Connector 144"/>
          <p:cNvCxnSpPr/>
          <p:nvPr/>
        </p:nvCxnSpPr>
        <p:spPr>
          <a:xfrm>
            <a:off x="3470031" y="2863362"/>
            <a:ext cx="4064977" cy="293076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Arrow Connector 145"/>
          <p:cNvCxnSpPr>
            <a:endCxn id="104" idx="1"/>
          </p:cNvCxnSpPr>
          <p:nvPr/>
        </p:nvCxnSpPr>
        <p:spPr>
          <a:xfrm>
            <a:off x="3481754" y="3508131"/>
            <a:ext cx="2915199" cy="107631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Straight Arrow Connector 146"/>
          <p:cNvCxnSpPr/>
          <p:nvPr/>
        </p:nvCxnSpPr>
        <p:spPr>
          <a:xfrm>
            <a:off x="3519855" y="4100147"/>
            <a:ext cx="2195145" cy="1904999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Arrow Connector 147"/>
          <p:cNvCxnSpPr/>
          <p:nvPr/>
        </p:nvCxnSpPr>
        <p:spPr>
          <a:xfrm flipV="1">
            <a:off x="3522785" y="2461846"/>
            <a:ext cx="4012223" cy="102577"/>
          </a:xfrm>
          <a:prstGeom prst="straightConnector1">
            <a:avLst/>
          </a:prstGeom>
          <a:ln>
            <a:solidFill>
              <a:srgbClr val="FF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Arrow Connector 148"/>
          <p:cNvCxnSpPr/>
          <p:nvPr/>
        </p:nvCxnSpPr>
        <p:spPr>
          <a:xfrm>
            <a:off x="3472962" y="3191608"/>
            <a:ext cx="3420207" cy="641838"/>
          </a:xfrm>
          <a:prstGeom prst="straightConnector1">
            <a:avLst/>
          </a:prstGeom>
          <a:ln>
            <a:solidFill>
              <a:srgbClr val="FF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Arrow Connector 149"/>
          <p:cNvCxnSpPr/>
          <p:nvPr/>
        </p:nvCxnSpPr>
        <p:spPr>
          <a:xfrm>
            <a:off x="3563816" y="3801208"/>
            <a:ext cx="2749061" cy="1526930"/>
          </a:xfrm>
          <a:prstGeom prst="straightConnector1">
            <a:avLst/>
          </a:prstGeom>
          <a:ln>
            <a:solidFill>
              <a:srgbClr val="FF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Oval 96"/>
          <p:cNvSpPr/>
          <p:nvPr/>
        </p:nvSpPr>
        <p:spPr>
          <a:xfrm>
            <a:off x="6298223" y="6339253"/>
            <a:ext cx="571500" cy="518747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Oval 97"/>
          <p:cNvSpPr/>
          <p:nvPr/>
        </p:nvSpPr>
        <p:spPr>
          <a:xfrm>
            <a:off x="5193323" y="6339253"/>
            <a:ext cx="571500" cy="518747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9" name="Straight Arrow Connector 98">
            <a:extLst>
              <a:ext uri="{FF2B5EF4-FFF2-40B4-BE49-F238E27FC236}">
                <a16:creationId xmlns="" xmlns:a16="http://schemas.microsoft.com/office/drawing/2014/main" id="{AFD252DD-8076-48A6-8E42-E81BE675F6DB}"/>
              </a:ext>
            </a:extLst>
          </p:cNvPr>
          <p:cNvCxnSpPr>
            <a:cxnSpLocks/>
          </p:cNvCxnSpPr>
          <p:nvPr/>
        </p:nvCxnSpPr>
        <p:spPr>
          <a:xfrm rot="10800000" flipV="1">
            <a:off x="8161533" y="1880557"/>
            <a:ext cx="456256" cy="446857"/>
          </a:xfrm>
          <a:prstGeom prst="straightConnector1">
            <a:avLst/>
          </a:prstGeom>
          <a:ln w="38100"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="" xmlns:a16="http://schemas.microsoft.com/office/drawing/2014/main" id="{1C825FF5-3DE8-4FF7-9A07-5A785E3FFC1B}"/>
              </a:ext>
            </a:extLst>
          </p:cNvPr>
          <p:cNvCxnSpPr>
            <a:cxnSpLocks/>
          </p:cNvCxnSpPr>
          <p:nvPr/>
        </p:nvCxnSpPr>
        <p:spPr>
          <a:xfrm rot="16200000" flipH="1">
            <a:off x="8623097" y="520902"/>
            <a:ext cx="383323" cy="14377"/>
          </a:xfrm>
          <a:prstGeom prst="straightConnector1">
            <a:avLst/>
          </a:prstGeom>
          <a:ln w="38100"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="" xmlns:a16="http://schemas.microsoft.com/office/drawing/2014/main" id="{1C825FF5-3DE8-4FF7-9A07-5A785E3FFC1B}"/>
              </a:ext>
            </a:extLst>
          </p:cNvPr>
          <p:cNvCxnSpPr>
            <a:cxnSpLocks/>
          </p:cNvCxnSpPr>
          <p:nvPr/>
        </p:nvCxnSpPr>
        <p:spPr>
          <a:xfrm rot="16200000" flipH="1">
            <a:off x="8588491" y="1293835"/>
            <a:ext cx="485733" cy="3973"/>
          </a:xfrm>
          <a:prstGeom prst="straightConnector1">
            <a:avLst/>
          </a:prstGeom>
          <a:ln w="38100"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Arrow Connector 121">
            <a:extLst>
              <a:ext uri="{FF2B5EF4-FFF2-40B4-BE49-F238E27FC236}">
                <a16:creationId xmlns="" xmlns:a16="http://schemas.microsoft.com/office/drawing/2014/main" id="{1C825FF5-3DE8-4FF7-9A07-5A785E3FFC1B}"/>
              </a:ext>
            </a:extLst>
          </p:cNvPr>
          <p:cNvCxnSpPr>
            <a:cxnSpLocks/>
          </p:cNvCxnSpPr>
          <p:nvPr/>
        </p:nvCxnSpPr>
        <p:spPr>
          <a:xfrm rot="16200000" flipH="1">
            <a:off x="7848312" y="2770804"/>
            <a:ext cx="336734" cy="5480"/>
          </a:xfrm>
          <a:prstGeom prst="straightConnector1">
            <a:avLst/>
          </a:prstGeom>
          <a:ln w="38100"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Arrow Connector 122">
            <a:extLst>
              <a:ext uri="{FF2B5EF4-FFF2-40B4-BE49-F238E27FC236}">
                <a16:creationId xmlns="" xmlns:a16="http://schemas.microsoft.com/office/drawing/2014/main" id="{AFD252DD-8076-48A6-8E42-E81BE675F6DB}"/>
              </a:ext>
            </a:extLst>
          </p:cNvPr>
          <p:cNvCxnSpPr>
            <a:cxnSpLocks/>
          </p:cNvCxnSpPr>
          <p:nvPr/>
        </p:nvCxnSpPr>
        <p:spPr>
          <a:xfrm rot="10800000" flipV="1">
            <a:off x="7571450" y="3416060"/>
            <a:ext cx="338973" cy="292745"/>
          </a:xfrm>
          <a:prstGeom prst="straightConnector1">
            <a:avLst/>
          </a:prstGeom>
          <a:ln w="38100"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Arrow Connector 124">
            <a:extLst>
              <a:ext uri="{FF2B5EF4-FFF2-40B4-BE49-F238E27FC236}">
                <a16:creationId xmlns="" xmlns:a16="http://schemas.microsoft.com/office/drawing/2014/main" id="{AFD252DD-8076-48A6-8E42-E81BE675F6DB}"/>
              </a:ext>
            </a:extLst>
          </p:cNvPr>
          <p:cNvCxnSpPr>
            <a:cxnSpLocks/>
          </p:cNvCxnSpPr>
          <p:nvPr/>
        </p:nvCxnSpPr>
        <p:spPr>
          <a:xfrm rot="10800000" flipV="1">
            <a:off x="6915125" y="4157933"/>
            <a:ext cx="348316" cy="309114"/>
          </a:xfrm>
          <a:prstGeom prst="straightConnector1">
            <a:avLst/>
          </a:prstGeom>
          <a:ln w="38100"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Arrow Connector 140">
            <a:extLst>
              <a:ext uri="{FF2B5EF4-FFF2-40B4-BE49-F238E27FC236}">
                <a16:creationId xmlns="" xmlns:a16="http://schemas.microsoft.com/office/drawing/2014/main" id="{1C825FF5-3DE8-4FF7-9A07-5A785E3FFC1B}"/>
              </a:ext>
            </a:extLst>
          </p:cNvPr>
          <p:cNvCxnSpPr>
            <a:cxnSpLocks/>
          </p:cNvCxnSpPr>
          <p:nvPr/>
        </p:nvCxnSpPr>
        <p:spPr>
          <a:xfrm rot="5400000">
            <a:off x="6612827" y="4957136"/>
            <a:ext cx="328385" cy="6686"/>
          </a:xfrm>
          <a:prstGeom prst="straightConnector1">
            <a:avLst/>
          </a:prstGeom>
          <a:ln w="38100"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Arrow Connector 150">
            <a:extLst>
              <a:ext uri="{FF2B5EF4-FFF2-40B4-BE49-F238E27FC236}">
                <a16:creationId xmlns="" xmlns:a16="http://schemas.microsoft.com/office/drawing/2014/main" id="{2FA49442-CA3A-4F18-984A-1051F171E499}"/>
              </a:ext>
            </a:extLst>
          </p:cNvPr>
          <p:cNvCxnSpPr>
            <a:cxnSpLocks/>
          </p:cNvCxnSpPr>
          <p:nvPr/>
        </p:nvCxnSpPr>
        <p:spPr>
          <a:xfrm>
            <a:off x="6788989" y="5469147"/>
            <a:ext cx="379399" cy="365296"/>
          </a:xfrm>
          <a:prstGeom prst="straightConnector1">
            <a:avLst/>
          </a:prstGeom>
          <a:ln w="38100"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Arrow Connector 151">
            <a:extLst>
              <a:ext uri="{FF2B5EF4-FFF2-40B4-BE49-F238E27FC236}">
                <a16:creationId xmlns="" xmlns:a16="http://schemas.microsoft.com/office/drawing/2014/main" id="{5F59A017-09C9-4CAA-9DC2-D08568FC45F3}"/>
              </a:ext>
            </a:extLst>
          </p:cNvPr>
          <p:cNvCxnSpPr>
            <a:cxnSpLocks/>
          </p:cNvCxnSpPr>
          <p:nvPr/>
        </p:nvCxnSpPr>
        <p:spPr>
          <a:xfrm>
            <a:off x="7125418" y="6228272"/>
            <a:ext cx="261557" cy="214278"/>
          </a:xfrm>
          <a:prstGeom prst="straightConnector1">
            <a:avLst/>
          </a:prstGeom>
          <a:ln w="38100"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0067" y="0"/>
            <a:ext cx="2614674" cy="547946"/>
          </a:xfrm>
        </p:spPr>
        <p:txBody>
          <a:bodyPr/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NFA Continue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3173" y="539480"/>
            <a:ext cx="9101737" cy="2337926"/>
          </a:xfrm>
        </p:spPr>
        <p:txBody>
          <a:bodyPr>
            <a:norm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All words that contains 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abbab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as a substring are valid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 = (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a+b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)*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abbab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a+b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)*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84</a:t>
            </a:fld>
            <a:endParaRPr lang="en-US"/>
          </a:p>
        </p:txBody>
      </p:sp>
      <p:cxnSp>
        <p:nvCxnSpPr>
          <p:cNvPr id="96" name="Straight Arrow Connector 95">
            <a:extLst>
              <a:ext uri="{FF2B5EF4-FFF2-40B4-BE49-F238E27FC236}">
                <a16:creationId xmlns="" xmlns:a16="http://schemas.microsoft.com/office/drawing/2014/main" id="{56F08B06-431F-4F2F-B2B2-658A2865D218}"/>
              </a:ext>
            </a:extLst>
          </p:cNvPr>
          <p:cNvCxnSpPr>
            <a:cxnSpLocks/>
          </p:cNvCxnSpPr>
          <p:nvPr/>
        </p:nvCxnSpPr>
        <p:spPr>
          <a:xfrm>
            <a:off x="361686" y="2039600"/>
            <a:ext cx="556591" cy="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7" name="Group 65">
            <a:extLst>
              <a:ext uri="{FF2B5EF4-FFF2-40B4-BE49-F238E27FC236}">
                <a16:creationId xmlns="" xmlns:a16="http://schemas.microsoft.com/office/drawing/2014/main" id="{0686C7DC-63EA-45FA-A4AD-375A26C68A70}"/>
              </a:ext>
            </a:extLst>
          </p:cNvPr>
          <p:cNvGrpSpPr/>
          <p:nvPr/>
        </p:nvGrpSpPr>
        <p:grpSpPr>
          <a:xfrm>
            <a:off x="7607207" y="1705708"/>
            <a:ext cx="736694" cy="737685"/>
            <a:chOff x="10512625" y="1744747"/>
            <a:chExt cx="839021" cy="802091"/>
          </a:xfrm>
        </p:grpSpPr>
        <p:sp>
          <p:nvSpPr>
            <p:cNvPr id="123" name="Oval 122">
              <a:extLst>
                <a:ext uri="{FF2B5EF4-FFF2-40B4-BE49-F238E27FC236}">
                  <a16:creationId xmlns="" xmlns:a16="http://schemas.microsoft.com/office/drawing/2014/main" id="{2384BCDB-4573-4D87-8C60-389BA9C8FEC8}"/>
                </a:ext>
              </a:extLst>
            </p:cNvPr>
            <p:cNvSpPr/>
            <p:nvPr/>
          </p:nvSpPr>
          <p:spPr>
            <a:xfrm>
              <a:off x="10512625" y="1744747"/>
              <a:ext cx="839021" cy="802091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4" name="Oval 123">
              <a:extLst>
                <a:ext uri="{FF2B5EF4-FFF2-40B4-BE49-F238E27FC236}">
                  <a16:creationId xmlns="" xmlns:a16="http://schemas.microsoft.com/office/drawing/2014/main" id="{C24589FC-BD2D-4604-8795-0E22CD28BD1A}"/>
                </a:ext>
              </a:extLst>
            </p:cNvPr>
            <p:cNvSpPr/>
            <p:nvPr/>
          </p:nvSpPr>
          <p:spPr>
            <a:xfrm>
              <a:off x="10585318" y="1837172"/>
              <a:ext cx="681980" cy="62819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x5</a:t>
              </a:r>
              <a:endParaRPr lang="en-US" dirty="0"/>
            </a:p>
          </p:txBody>
        </p:sp>
      </p:grpSp>
      <p:grpSp>
        <p:nvGrpSpPr>
          <p:cNvPr id="99" name="Group 69">
            <a:extLst>
              <a:ext uri="{FF2B5EF4-FFF2-40B4-BE49-F238E27FC236}">
                <a16:creationId xmlns="" xmlns:a16="http://schemas.microsoft.com/office/drawing/2014/main" id="{C9E24909-1BE4-45EB-8B7B-D926C121E7B3}"/>
              </a:ext>
            </a:extLst>
          </p:cNvPr>
          <p:cNvGrpSpPr/>
          <p:nvPr/>
        </p:nvGrpSpPr>
        <p:grpSpPr>
          <a:xfrm>
            <a:off x="1623289" y="1671823"/>
            <a:ext cx="609958" cy="369332"/>
            <a:chOff x="7528817" y="3245852"/>
            <a:chExt cx="1162516" cy="369332"/>
          </a:xfrm>
        </p:grpSpPr>
        <p:cxnSp>
          <p:nvCxnSpPr>
            <p:cNvPr id="119" name="Straight Arrow Connector 118">
              <a:extLst>
                <a:ext uri="{FF2B5EF4-FFF2-40B4-BE49-F238E27FC236}">
                  <a16:creationId xmlns="" xmlns:a16="http://schemas.microsoft.com/office/drawing/2014/main" id="{2A64AF20-9BB6-44DB-B3F9-B26841D4FFE1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0" name="TextBox 119">
              <a:extLst>
                <a:ext uri="{FF2B5EF4-FFF2-40B4-BE49-F238E27FC236}">
                  <a16:creationId xmlns="" xmlns:a16="http://schemas.microsoft.com/office/drawing/2014/main" id="{B13F1DD0-6991-486F-A7CD-898A1B5B28FC}"/>
                </a:ext>
              </a:extLst>
            </p:cNvPr>
            <p:cNvSpPr txBox="1"/>
            <p:nvPr/>
          </p:nvSpPr>
          <p:spPr>
            <a:xfrm>
              <a:off x="7771423" y="3245852"/>
              <a:ext cx="55032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a</a:t>
              </a:r>
            </a:p>
          </p:txBody>
        </p:sp>
      </p:grpSp>
      <p:sp>
        <p:nvSpPr>
          <p:cNvPr id="104" name="Arc 103">
            <a:extLst>
              <a:ext uri="{FF2B5EF4-FFF2-40B4-BE49-F238E27FC236}">
                <a16:creationId xmlns="" xmlns:a16="http://schemas.microsoft.com/office/drawing/2014/main" id="{0F23AE9C-F3AD-487C-BA92-C0E9498BAF38}"/>
              </a:ext>
            </a:extLst>
          </p:cNvPr>
          <p:cNvSpPr/>
          <p:nvPr/>
        </p:nvSpPr>
        <p:spPr>
          <a:xfrm rot="3502692">
            <a:off x="8041096" y="1467733"/>
            <a:ext cx="540134" cy="887105"/>
          </a:xfrm>
          <a:prstGeom prst="arc">
            <a:avLst>
              <a:gd name="adj1" fmla="val 10711483"/>
              <a:gd name="adj2" fmla="val 0"/>
            </a:avLst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TextBox 104">
            <a:extLst>
              <a:ext uri="{FF2B5EF4-FFF2-40B4-BE49-F238E27FC236}">
                <a16:creationId xmlns="" xmlns:a16="http://schemas.microsoft.com/office/drawing/2014/main" id="{88D9DE6D-7C32-4133-A619-45E5E940ADF5}"/>
              </a:ext>
            </a:extLst>
          </p:cNvPr>
          <p:cNvSpPr txBox="1"/>
          <p:nvPr/>
        </p:nvSpPr>
        <p:spPr>
          <a:xfrm>
            <a:off x="8725495" y="1328318"/>
            <a:ext cx="614149" cy="3624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a/b</a:t>
            </a:r>
          </a:p>
        </p:txBody>
      </p:sp>
      <p:sp>
        <p:nvSpPr>
          <p:cNvPr id="107" name="Arc 106">
            <a:extLst>
              <a:ext uri="{FF2B5EF4-FFF2-40B4-BE49-F238E27FC236}">
                <a16:creationId xmlns="" xmlns:a16="http://schemas.microsoft.com/office/drawing/2014/main" id="{0F23AE9C-F3AD-487C-BA92-C0E9498BAF38}"/>
              </a:ext>
            </a:extLst>
          </p:cNvPr>
          <p:cNvSpPr/>
          <p:nvPr/>
        </p:nvSpPr>
        <p:spPr>
          <a:xfrm>
            <a:off x="961740" y="1547447"/>
            <a:ext cx="540134" cy="558498"/>
          </a:xfrm>
          <a:prstGeom prst="arc">
            <a:avLst>
              <a:gd name="adj1" fmla="val 10711483"/>
              <a:gd name="adj2" fmla="val 0"/>
            </a:avLst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TextBox 107">
            <a:extLst>
              <a:ext uri="{FF2B5EF4-FFF2-40B4-BE49-F238E27FC236}">
                <a16:creationId xmlns="" xmlns:a16="http://schemas.microsoft.com/office/drawing/2014/main" id="{88D9DE6D-7C32-4133-A619-45E5E940ADF5}"/>
              </a:ext>
            </a:extLst>
          </p:cNvPr>
          <p:cNvSpPr txBox="1"/>
          <p:nvPr/>
        </p:nvSpPr>
        <p:spPr>
          <a:xfrm rot="21413568">
            <a:off x="427824" y="1479055"/>
            <a:ext cx="614149" cy="3624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a/b</a:t>
            </a:r>
          </a:p>
        </p:txBody>
      </p:sp>
      <p:sp>
        <p:nvSpPr>
          <p:cNvPr id="109" name="Oval 108">
            <a:extLst>
              <a:ext uri="{FF2B5EF4-FFF2-40B4-BE49-F238E27FC236}">
                <a16:creationId xmlns="" xmlns:a16="http://schemas.microsoft.com/office/drawing/2014/main" id="{5C988030-2BFA-466B-92B4-2814663FFAA3}"/>
              </a:ext>
            </a:extLst>
          </p:cNvPr>
          <p:cNvSpPr/>
          <p:nvPr/>
        </p:nvSpPr>
        <p:spPr>
          <a:xfrm>
            <a:off x="902827" y="1740877"/>
            <a:ext cx="653412" cy="550449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x0</a:t>
            </a:r>
          </a:p>
        </p:txBody>
      </p:sp>
      <p:sp>
        <p:nvSpPr>
          <p:cNvPr id="125" name="Oval 124">
            <a:extLst>
              <a:ext uri="{FF2B5EF4-FFF2-40B4-BE49-F238E27FC236}">
                <a16:creationId xmlns="" xmlns:a16="http://schemas.microsoft.com/office/drawing/2014/main" id="{5C988030-2BFA-466B-92B4-2814663FFAA3}"/>
              </a:ext>
            </a:extLst>
          </p:cNvPr>
          <p:cNvSpPr/>
          <p:nvPr/>
        </p:nvSpPr>
        <p:spPr>
          <a:xfrm>
            <a:off x="2242189" y="1735016"/>
            <a:ext cx="653412" cy="550449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x1</a:t>
            </a:r>
            <a:endParaRPr lang="en-US" dirty="0"/>
          </a:p>
        </p:txBody>
      </p:sp>
      <p:sp>
        <p:nvSpPr>
          <p:cNvPr id="126" name="Oval 125">
            <a:extLst>
              <a:ext uri="{FF2B5EF4-FFF2-40B4-BE49-F238E27FC236}">
                <a16:creationId xmlns="" xmlns:a16="http://schemas.microsoft.com/office/drawing/2014/main" id="{5C988030-2BFA-466B-92B4-2814663FFAA3}"/>
              </a:ext>
            </a:extLst>
          </p:cNvPr>
          <p:cNvSpPr/>
          <p:nvPr/>
        </p:nvSpPr>
        <p:spPr>
          <a:xfrm>
            <a:off x="3590343" y="1746739"/>
            <a:ext cx="653412" cy="550449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x2</a:t>
            </a:r>
            <a:endParaRPr lang="en-US" dirty="0"/>
          </a:p>
        </p:txBody>
      </p:sp>
      <p:sp>
        <p:nvSpPr>
          <p:cNvPr id="127" name="Oval 126">
            <a:extLst>
              <a:ext uri="{FF2B5EF4-FFF2-40B4-BE49-F238E27FC236}">
                <a16:creationId xmlns="" xmlns:a16="http://schemas.microsoft.com/office/drawing/2014/main" id="{5C988030-2BFA-466B-92B4-2814663FFAA3}"/>
              </a:ext>
            </a:extLst>
          </p:cNvPr>
          <p:cNvSpPr/>
          <p:nvPr/>
        </p:nvSpPr>
        <p:spPr>
          <a:xfrm>
            <a:off x="4903327" y="1784838"/>
            <a:ext cx="653412" cy="550449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x3</a:t>
            </a:r>
            <a:endParaRPr lang="en-US" dirty="0"/>
          </a:p>
        </p:txBody>
      </p:sp>
      <p:grpSp>
        <p:nvGrpSpPr>
          <p:cNvPr id="135" name="Group 69">
            <a:extLst>
              <a:ext uri="{FF2B5EF4-FFF2-40B4-BE49-F238E27FC236}">
                <a16:creationId xmlns="" xmlns:a16="http://schemas.microsoft.com/office/drawing/2014/main" id="{C9E24909-1BE4-45EB-8B7B-D926C121E7B3}"/>
              </a:ext>
            </a:extLst>
          </p:cNvPr>
          <p:cNvGrpSpPr/>
          <p:nvPr/>
        </p:nvGrpSpPr>
        <p:grpSpPr>
          <a:xfrm>
            <a:off x="5614997" y="1715785"/>
            <a:ext cx="609958" cy="369332"/>
            <a:chOff x="7528817" y="3245852"/>
            <a:chExt cx="1162516" cy="369332"/>
          </a:xfrm>
        </p:grpSpPr>
        <p:cxnSp>
          <p:nvCxnSpPr>
            <p:cNvPr id="136" name="Straight Arrow Connector 135">
              <a:extLst>
                <a:ext uri="{FF2B5EF4-FFF2-40B4-BE49-F238E27FC236}">
                  <a16:creationId xmlns="" xmlns:a16="http://schemas.microsoft.com/office/drawing/2014/main" id="{2A64AF20-9BB6-44DB-B3F9-B26841D4FFE1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7" name="TextBox 136">
              <a:extLst>
                <a:ext uri="{FF2B5EF4-FFF2-40B4-BE49-F238E27FC236}">
                  <a16:creationId xmlns="" xmlns:a16="http://schemas.microsoft.com/office/drawing/2014/main" id="{B13F1DD0-6991-486F-A7CD-898A1B5B28FC}"/>
                </a:ext>
              </a:extLst>
            </p:cNvPr>
            <p:cNvSpPr txBox="1"/>
            <p:nvPr/>
          </p:nvSpPr>
          <p:spPr>
            <a:xfrm>
              <a:off x="7771423" y="3245852"/>
              <a:ext cx="55032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a</a:t>
              </a:r>
            </a:p>
          </p:txBody>
        </p:sp>
      </p:grpSp>
      <p:grpSp>
        <p:nvGrpSpPr>
          <p:cNvPr id="138" name="Group 69">
            <a:extLst>
              <a:ext uri="{FF2B5EF4-FFF2-40B4-BE49-F238E27FC236}">
                <a16:creationId xmlns="" xmlns:a16="http://schemas.microsoft.com/office/drawing/2014/main" id="{C9E24909-1BE4-45EB-8B7B-D926C121E7B3}"/>
              </a:ext>
            </a:extLst>
          </p:cNvPr>
          <p:cNvGrpSpPr/>
          <p:nvPr/>
        </p:nvGrpSpPr>
        <p:grpSpPr>
          <a:xfrm>
            <a:off x="2962651" y="1674753"/>
            <a:ext cx="609958" cy="369332"/>
            <a:chOff x="7528817" y="3245852"/>
            <a:chExt cx="1162516" cy="369332"/>
          </a:xfrm>
        </p:grpSpPr>
        <p:cxnSp>
          <p:nvCxnSpPr>
            <p:cNvPr id="139" name="Straight Arrow Connector 138">
              <a:extLst>
                <a:ext uri="{FF2B5EF4-FFF2-40B4-BE49-F238E27FC236}">
                  <a16:creationId xmlns="" xmlns:a16="http://schemas.microsoft.com/office/drawing/2014/main" id="{2A64AF20-9BB6-44DB-B3F9-B26841D4FFE1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0" name="TextBox 139">
              <a:extLst>
                <a:ext uri="{FF2B5EF4-FFF2-40B4-BE49-F238E27FC236}">
                  <a16:creationId xmlns="" xmlns:a16="http://schemas.microsoft.com/office/drawing/2014/main" id="{B13F1DD0-6991-486F-A7CD-898A1B5B28FC}"/>
                </a:ext>
              </a:extLst>
            </p:cNvPr>
            <p:cNvSpPr txBox="1"/>
            <p:nvPr/>
          </p:nvSpPr>
          <p:spPr>
            <a:xfrm>
              <a:off x="7771422" y="3245852"/>
              <a:ext cx="55032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b</a:t>
              </a:r>
            </a:p>
          </p:txBody>
        </p:sp>
      </p:grpSp>
      <p:grpSp>
        <p:nvGrpSpPr>
          <p:cNvPr id="141" name="Group 69">
            <a:extLst>
              <a:ext uri="{FF2B5EF4-FFF2-40B4-BE49-F238E27FC236}">
                <a16:creationId xmlns="" xmlns:a16="http://schemas.microsoft.com/office/drawing/2014/main" id="{C9E24909-1BE4-45EB-8B7B-D926C121E7B3}"/>
              </a:ext>
            </a:extLst>
          </p:cNvPr>
          <p:cNvGrpSpPr/>
          <p:nvPr/>
        </p:nvGrpSpPr>
        <p:grpSpPr>
          <a:xfrm>
            <a:off x="4284428" y="1695268"/>
            <a:ext cx="609958" cy="369332"/>
            <a:chOff x="7528817" y="3245852"/>
            <a:chExt cx="1162516" cy="369332"/>
          </a:xfrm>
        </p:grpSpPr>
        <p:cxnSp>
          <p:nvCxnSpPr>
            <p:cNvPr id="142" name="Straight Arrow Connector 141">
              <a:extLst>
                <a:ext uri="{FF2B5EF4-FFF2-40B4-BE49-F238E27FC236}">
                  <a16:creationId xmlns="" xmlns:a16="http://schemas.microsoft.com/office/drawing/2014/main" id="{2A64AF20-9BB6-44DB-B3F9-B26841D4FFE1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3" name="TextBox 142">
              <a:extLst>
                <a:ext uri="{FF2B5EF4-FFF2-40B4-BE49-F238E27FC236}">
                  <a16:creationId xmlns="" xmlns:a16="http://schemas.microsoft.com/office/drawing/2014/main" id="{B13F1DD0-6991-486F-A7CD-898A1B5B28FC}"/>
                </a:ext>
              </a:extLst>
            </p:cNvPr>
            <p:cNvSpPr txBox="1"/>
            <p:nvPr/>
          </p:nvSpPr>
          <p:spPr>
            <a:xfrm>
              <a:off x="7771422" y="3245852"/>
              <a:ext cx="55032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b</a:t>
              </a:r>
            </a:p>
          </p:txBody>
        </p:sp>
      </p:grpSp>
      <p:sp>
        <p:nvSpPr>
          <p:cNvPr id="144" name="Oval 143">
            <a:extLst>
              <a:ext uri="{FF2B5EF4-FFF2-40B4-BE49-F238E27FC236}">
                <a16:creationId xmlns="" xmlns:a16="http://schemas.microsoft.com/office/drawing/2014/main" id="{5C988030-2BFA-466B-92B4-2814663FFAA3}"/>
              </a:ext>
            </a:extLst>
          </p:cNvPr>
          <p:cNvSpPr/>
          <p:nvPr/>
        </p:nvSpPr>
        <p:spPr>
          <a:xfrm>
            <a:off x="6269065" y="1814145"/>
            <a:ext cx="653412" cy="550449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x4</a:t>
            </a:r>
            <a:endParaRPr lang="en-US" dirty="0"/>
          </a:p>
        </p:txBody>
      </p:sp>
      <p:grpSp>
        <p:nvGrpSpPr>
          <p:cNvPr id="145" name="Group 69">
            <a:extLst>
              <a:ext uri="{FF2B5EF4-FFF2-40B4-BE49-F238E27FC236}">
                <a16:creationId xmlns="" xmlns:a16="http://schemas.microsoft.com/office/drawing/2014/main" id="{C9E24909-1BE4-45EB-8B7B-D926C121E7B3}"/>
              </a:ext>
            </a:extLst>
          </p:cNvPr>
          <p:cNvGrpSpPr/>
          <p:nvPr/>
        </p:nvGrpSpPr>
        <p:grpSpPr>
          <a:xfrm>
            <a:off x="6974874" y="1712853"/>
            <a:ext cx="609958" cy="369332"/>
            <a:chOff x="7528817" y="3245852"/>
            <a:chExt cx="1162516" cy="369332"/>
          </a:xfrm>
        </p:grpSpPr>
        <p:cxnSp>
          <p:nvCxnSpPr>
            <p:cNvPr id="146" name="Straight Arrow Connector 145">
              <a:extLst>
                <a:ext uri="{FF2B5EF4-FFF2-40B4-BE49-F238E27FC236}">
                  <a16:creationId xmlns="" xmlns:a16="http://schemas.microsoft.com/office/drawing/2014/main" id="{2A64AF20-9BB6-44DB-B3F9-B26841D4FFE1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7" name="TextBox 146">
              <a:extLst>
                <a:ext uri="{FF2B5EF4-FFF2-40B4-BE49-F238E27FC236}">
                  <a16:creationId xmlns="" xmlns:a16="http://schemas.microsoft.com/office/drawing/2014/main" id="{B13F1DD0-6991-486F-A7CD-898A1B5B28FC}"/>
                </a:ext>
              </a:extLst>
            </p:cNvPr>
            <p:cNvSpPr txBox="1"/>
            <p:nvPr/>
          </p:nvSpPr>
          <p:spPr>
            <a:xfrm>
              <a:off x="7771422" y="3245852"/>
              <a:ext cx="55032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b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78374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04" grpId="0" animBg="1"/>
      <p:bldP spid="105" grpId="0"/>
      <p:bldP spid="107" grpId="0" animBg="1"/>
      <p:bldP spid="108" grpId="0"/>
      <p:bldP spid="109" grpId="0" animBg="1"/>
      <p:bldP spid="125" grpId="0" animBg="1"/>
      <p:bldP spid="126" grpId="0" animBg="1"/>
      <p:bldP spid="127" grpId="0" animBg="1"/>
      <p:bldP spid="144" grpId="0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0067" y="0"/>
            <a:ext cx="2614674" cy="547946"/>
          </a:xfrm>
        </p:spPr>
        <p:txBody>
          <a:bodyPr/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NFA Continue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5926" y="495519"/>
            <a:ext cx="9101737" cy="2337926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All words that contains 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aa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or bb are valid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 = (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a+b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)*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aa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a+b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)*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    = (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a+b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)*  bb (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a+b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)*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 = [(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a+b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)*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aa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a+b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)*]  + [(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a+b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)*  bb (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a+b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)*]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 = (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a+b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)* (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aa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+ bb)  (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a+b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)*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 = {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aa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bb,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aaa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aab,abb,baa,bba,bbb,aaba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aabb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aaab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abaa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babb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……….}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85</a:t>
            </a:fld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="" xmlns:a16="http://schemas.microsoft.com/office/drawing/2014/main" id="{5C988030-2BFA-466B-92B4-2814663FFAA3}"/>
              </a:ext>
            </a:extLst>
          </p:cNvPr>
          <p:cNvSpPr/>
          <p:nvPr/>
        </p:nvSpPr>
        <p:spPr>
          <a:xfrm>
            <a:off x="1188990" y="4105403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x0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="" xmlns:a16="http://schemas.microsoft.com/office/drawing/2014/main" id="{56F08B06-431F-4F2F-B2B2-658A2865D218}"/>
              </a:ext>
            </a:extLst>
          </p:cNvPr>
          <p:cNvCxnSpPr>
            <a:cxnSpLocks/>
          </p:cNvCxnSpPr>
          <p:nvPr/>
        </p:nvCxnSpPr>
        <p:spPr>
          <a:xfrm>
            <a:off x="583872" y="4394500"/>
            <a:ext cx="556591" cy="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oup 65">
            <a:extLst>
              <a:ext uri="{FF2B5EF4-FFF2-40B4-BE49-F238E27FC236}">
                <a16:creationId xmlns="" xmlns:a16="http://schemas.microsoft.com/office/drawing/2014/main" id="{0686C7DC-63EA-45FA-A4AD-375A26C68A70}"/>
              </a:ext>
            </a:extLst>
          </p:cNvPr>
          <p:cNvGrpSpPr/>
          <p:nvPr/>
        </p:nvGrpSpPr>
        <p:grpSpPr>
          <a:xfrm>
            <a:off x="4488314" y="3890694"/>
            <a:ext cx="839021" cy="802091"/>
            <a:chOff x="10512625" y="1744747"/>
            <a:chExt cx="839021" cy="802091"/>
          </a:xfrm>
        </p:grpSpPr>
        <p:sp>
          <p:nvSpPr>
            <p:cNvPr id="43" name="Oval 42">
              <a:extLst>
                <a:ext uri="{FF2B5EF4-FFF2-40B4-BE49-F238E27FC236}">
                  <a16:creationId xmlns="" xmlns:a16="http://schemas.microsoft.com/office/drawing/2014/main" id="{2384BCDB-4573-4D87-8C60-389BA9C8FEC8}"/>
                </a:ext>
              </a:extLst>
            </p:cNvPr>
            <p:cNvSpPr/>
            <p:nvPr/>
          </p:nvSpPr>
          <p:spPr>
            <a:xfrm>
              <a:off x="10512625" y="1744747"/>
              <a:ext cx="839021" cy="802091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4" name="Oval 43">
              <a:extLst>
                <a:ext uri="{FF2B5EF4-FFF2-40B4-BE49-F238E27FC236}">
                  <a16:creationId xmlns="" xmlns:a16="http://schemas.microsoft.com/office/drawing/2014/main" id="{C24589FC-BD2D-4604-8795-0E22CD28BD1A}"/>
                </a:ext>
              </a:extLst>
            </p:cNvPr>
            <p:cNvSpPr/>
            <p:nvPr/>
          </p:nvSpPr>
          <p:spPr>
            <a:xfrm>
              <a:off x="10585318" y="1837172"/>
              <a:ext cx="681980" cy="62819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x2</a:t>
              </a:r>
            </a:p>
          </p:txBody>
        </p:sp>
      </p:grpSp>
      <p:grpSp>
        <p:nvGrpSpPr>
          <p:cNvPr id="6" name="Group 68">
            <a:extLst>
              <a:ext uri="{FF2B5EF4-FFF2-40B4-BE49-F238E27FC236}">
                <a16:creationId xmlns="" xmlns:a16="http://schemas.microsoft.com/office/drawing/2014/main" id="{9C7F3B1F-F146-44E0-8A94-DFC7204F4B47}"/>
              </a:ext>
            </a:extLst>
          </p:cNvPr>
          <p:cNvGrpSpPr/>
          <p:nvPr/>
        </p:nvGrpSpPr>
        <p:grpSpPr>
          <a:xfrm rot="19319731">
            <a:off x="1731386" y="3697363"/>
            <a:ext cx="934176" cy="369332"/>
            <a:chOff x="7528817" y="3279685"/>
            <a:chExt cx="1162516" cy="369332"/>
          </a:xfrm>
        </p:grpSpPr>
        <p:cxnSp>
          <p:nvCxnSpPr>
            <p:cNvPr id="37" name="Straight Arrow Connector 36">
              <a:extLst>
                <a:ext uri="{FF2B5EF4-FFF2-40B4-BE49-F238E27FC236}">
                  <a16:creationId xmlns="" xmlns:a16="http://schemas.microsoft.com/office/drawing/2014/main" id="{E76FD75B-469A-495F-86F9-CF358F01AFB4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37">
              <a:extLst>
                <a:ext uri="{FF2B5EF4-FFF2-40B4-BE49-F238E27FC236}">
                  <a16:creationId xmlns="" xmlns:a16="http://schemas.microsoft.com/office/drawing/2014/main" id="{87785F6B-EF59-4252-9595-2F0A24AEEABE}"/>
                </a:ext>
              </a:extLst>
            </p:cNvPr>
            <p:cNvSpPr txBox="1"/>
            <p:nvPr/>
          </p:nvSpPr>
          <p:spPr>
            <a:xfrm>
              <a:off x="7889655" y="3279685"/>
              <a:ext cx="42536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</p:grpSp>
      <p:grpSp>
        <p:nvGrpSpPr>
          <p:cNvPr id="7" name="Group 69">
            <a:extLst>
              <a:ext uri="{FF2B5EF4-FFF2-40B4-BE49-F238E27FC236}">
                <a16:creationId xmlns="" xmlns:a16="http://schemas.microsoft.com/office/drawing/2014/main" id="{C9E24909-1BE4-45EB-8B7B-D926C121E7B3}"/>
              </a:ext>
            </a:extLst>
          </p:cNvPr>
          <p:cNvGrpSpPr/>
          <p:nvPr/>
        </p:nvGrpSpPr>
        <p:grpSpPr>
          <a:xfrm rot="1706658">
            <a:off x="3463258" y="3587107"/>
            <a:ext cx="1173392" cy="369332"/>
            <a:chOff x="7528817" y="3245852"/>
            <a:chExt cx="1162516" cy="369332"/>
          </a:xfrm>
        </p:grpSpPr>
        <p:cxnSp>
          <p:nvCxnSpPr>
            <p:cNvPr id="35" name="Straight Arrow Connector 34">
              <a:extLst>
                <a:ext uri="{FF2B5EF4-FFF2-40B4-BE49-F238E27FC236}">
                  <a16:creationId xmlns="" xmlns:a16="http://schemas.microsoft.com/office/drawing/2014/main" id="{2A64AF20-9BB6-44DB-B3F9-B26841D4FFE1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>
              <a:extLst>
                <a:ext uri="{FF2B5EF4-FFF2-40B4-BE49-F238E27FC236}">
                  <a16:creationId xmlns="" xmlns:a16="http://schemas.microsoft.com/office/drawing/2014/main" id="{B13F1DD0-6991-486F-A7CD-898A1B5B28FC}"/>
                </a:ext>
              </a:extLst>
            </p:cNvPr>
            <p:cNvSpPr txBox="1"/>
            <p:nvPr/>
          </p:nvSpPr>
          <p:spPr>
            <a:xfrm>
              <a:off x="7771423" y="3245852"/>
              <a:ext cx="55032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a</a:t>
              </a:r>
            </a:p>
          </p:txBody>
        </p:sp>
      </p:grpSp>
      <p:sp>
        <p:nvSpPr>
          <p:cNvPr id="47" name="Oval 46">
            <a:extLst>
              <a:ext uri="{FF2B5EF4-FFF2-40B4-BE49-F238E27FC236}">
                <a16:creationId xmlns="" xmlns:a16="http://schemas.microsoft.com/office/drawing/2014/main" id="{5C988030-2BFA-466B-92B4-2814663FFAA3}"/>
              </a:ext>
            </a:extLst>
          </p:cNvPr>
          <p:cNvSpPr/>
          <p:nvPr/>
        </p:nvSpPr>
        <p:spPr>
          <a:xfrm>
            <a:off x="2687111" y="3274392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x1</a:t>
            </a:r>
            <a:endParaRPr lang="en-US" dirty="0"/>
          </a:p>
        </p:txBody>
      </p:sp>
      <p:sp>
        <p:nvSpPr>
          <p:cNvPr id="48" name="Oval 47">
            <a:extLst>
              <a:ext uri="{FF2B5EF4-FFF2-40B4-BE49-F238E27FC236}">
                <a16:creationId xmlns="" xmlns:a16="http://schemas.microsoft.com/office/drawing/2014/main" id="{5C988030-2BFA-466B-92B4-2814663FFAA3}"/>
              </a:ext>
            </a:extLst>
          </p:cNvPr>
          <p:cNvSpPr/>
          <p:nvPr/>
        </p:nvSpPr>
        <p:spPr>
          <a:xfrm>
            <a:off x="2701492" y="4876029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x3</a:t>
            </a:r>
            <a:endParaRPr lang="en-US" dirty="0"/>
          </a:p>
        </p:txBody>
      </p:sp>
      <p:grpSp>
        <p:nvGrpSpPr>
          <p:cNvPr id="8" name="Group 68">
            <a:extLst>
              <a:ext uri="{FF2B5EF4-FFF2-40B4-BE49-F238E27FC236}">
                <a16:creationId xmlns="" xmlns:a16="http://schemas.microsoft.com/office/drawing/2014/main" id="{9C7F3B1F-F146-44E0-8A94-DFC7204F4B47}"/>
              </a:ext>
            </a:extLst>
          </p:cNvPr>
          <p:cNvGrpSpPr/>
          <p:nvPr/>
        </p:nvGrpSpPr>
        <p:grpSpPr>
          <a:xfrm rot="1625095">
            <a:off x="1918292" y="4513997"/>
            <a:ext cx="934176" cy="369332"/>
            <a:chOff x="7528817" y="3279685"/>
            <a:chExt cx="1162516" cy="369332"/>
          </a:xfrm>
        </p:grpSpPr>
        <p:cxnSp>
          <p:nvCxnSpPr>
            <p:cNvPr id="50" name="Straight Arrow Connector 49">
              <a:extLst>
                <a:ext uri="{FF2B5EF4-FFF2-40B4-BE49-F238E27FC236}">
                  <a16:creationId xmlns="" xmlns:a16="http://schemas.microsoft.com/office/drawing/2014/main" id="{E76FD75B-469A-495F-86F9-CF358F01AFB4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TextBox 50">
              <a:extLst>
                <a:ext uri="{FF2B5EF4-FFF2-40B4-BE49-F238E27FC236}">
                  <a16:creationId xmlns="" xmlns:a16="http://schemas.microsoft.com/office/drawing/2014/main" id="{87785F6B-EF59-4252-9595-2F0A24AEEABE}"/>
                </a:ext>
              </a:extLst>
            </p:cNvPr>
            <p:cNvSpPr txBox="1"/>
            <p:nvPr/>
          </p:nvSpPr>
          <p:spPr>
            <a:xfrm>
              <a:off x="7889654" y="3279685"/>
              <a:ext cx="42536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b</a:t>
              </a:r>
              <a:endParaRPr lang="en-US" dirty="0"/>
            </a:p>
          </p:txBody>
        </p:sp>
      </p:grpSp>
      <p:sp>
        <p:nvSpPr>
          <p:cNvPr id="52" name="TextBox 51">
            <a:extLst>
              <a:ext uri="{FF2B5EF4-FFF2-40B4-BE49-F238E27FC236}">
                <a16:creationId xmlns="" xmlns:a16="http://schemas.microsoft.com/office/drawing/2014/main" id="{87785F6B-EF59-4252-9595-2F0A24AEEABE}"/>
              </a:ext>
            </a:extLst>
          </p:cNvPr>
          <p:cNvSpPr txBox="1"/>
          <p:nvPr/>
        </p:nvSpPr>
        <p:spPr>
          <a:xfrm>
            <a:off x="4053527" y="4844678"/>
            <a:ext cx="306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b</a:t>
            </a:r>
            <a:endParaRPr lang="en-US" dirty="0"/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="" xmlns:a16="http://schemas.microsoft.com/office/drawing/2014/main" id="{2A64AF20-9BB6-44DB-B3F9-B26841D4FFE1}"/>
              </a:ext>
            </a:extLst>
          </p:cNvPr>
          <p:cNvCxnSpPr>
            <a:endCxn id="43" idx="3"/>
          </p:cNvCxnSpPr>
          <p:nvPr/>
        </p:nvCxnSpPr>
        <p:spPr>
          <a:xfrm flipV="1">
            <a:off x="3479258" y="4575322"/>
            <a:ext cx="1131928" cy="604694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68">
            <a:extLst>
              <a:ext uri="{FF2B5EF4-FFF2-40B4-BE49-F238E27FC236}">
                <a16:creationId xmlns="" xmlns:a16="http://schemas.microsoft.com/office/drawing/2014/main" id="{9C7F3B1F-F146-44E0-8A94-DFC7204F4B47}"/>
              </a:ext>
            </a:extLst>
          </p:cNvPr>
          <p:cNvGrpSpPr/>
          <p:nvPr/>
        </p:nvGrpSpPr>
        <p:grpSpPr>
          <a:xfrm rot="16200000">
            <a:off x="2384120" y="4217205"/>
            <a:ext cx="934176" cy="341816"/>
            <a:chOff x="7528817" y="3293443"/>
            <a:chExt cx="1162516" cy="341816"/>
          </a:xfrm>
        </p:grpSpPr>
        <p:cxnSp>
          <p:nvCxnSpPr>
            <p:cNvPr id="55" name="Straight Arrow Connector 54">
              <a:extLst>
                <a:ext uri="{FF2B5EF4-FFF2-40B4-BE49-F238E27FC236}">
                  <a16:creationId xmlns="" xmlns:a16="http://schemas.microsoft.com/office/drawing/2014/main" id="{E76FD75B-469A-495F-86F9-CF358F01AFB4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TextBox 55">
              <a:extLst>
                <a:ext uri="{FF2B5EF4-FFF2-40B4-BE49-F238E27FC236}">
                  <a16:creationId xmlns="" xmlns:a16="http://schemas.microsoft.com/office/drawing/2014/main" id="{87785F6B-EF59-4252-9595-2F0A24AEEABE}"/>
                </a:ext>
              </a:extLst>
            </p:cNvPr>
            <p:cNvSpPr txBox="1"/>
            <p:nvPr/>
          </p:nvSpPr>
          <p:spPr>
            <a:xfrm rot="5400000">
              <a:off x="7931430" y="3234547"/>
              <a:ext cx="341816" cy="4596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</p:grpSp>
      <p:grpSp>
        <p:nvGrpSpPr>
          <p:cNvPr id="10" name="Group 68">
            <a:extLst>
              <a:ext uri="{FF2B5EF4-FFF2-40B4-BE49-F238E27FC236}">
                <a16:creationId xmlns="" xmlns:a16="http://schemas.microsoft.com/office/drawing/2014/main" id="{9C7F3B1F-F146-44E0-8A94-DFC7204F4B47}"/>
              </a:ext>
            </a:extLst>
          </p:cNvPr>
          <p:cNvGrpSpPr/>
          <p:nvPr/>
        </p:nvGrpSpPr>
        <p:grpSpPr>
          <a:xfrm rot="5244434">
            <a:off x="2881575" y="4222956"/>
            <a:ext cx="934176" cy="341816"/>
            <a:chOff x="7528817" y="3293443"/>
            <a:chExt cx="1162516" cy="341816"/>
          </a:xfrm>
        </p:grpSpPr>
        <p:cxnSp>
          <p:nvCxnSpPr>
            <p:cNvPr id="58" name="Straight Arrow Connector 57">
              <a:extLst>
                <a:ext uri="{FF2B5EF4-FFF2-40B4-BE49-F238E27FC236}">
                  <a16:creationId xmlns="" xmlns:a16="http://schemas.microsoft.com/office/drawing/2014/main" id="{E76FD75B-469A-495F-86F9-CF358F01AFB4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Box 58">
              <a:extLst>
                <a:ext uri="{FF2B5EF4-FFF2-40B4-BE49-F238E27FC236}">
                  <a16:creationId xmlns="" xmlns:a16="http://schemas.microsoft.com/office/drawing/2014/main" id="{87785F6B-EF59-4252-9595-2F0A24AEEABE}"/>
                </a:ext>
              </a:extLst>
            </p:cNvPr>
            <p:cNvSpPr txBox="1"/>
            <p:nvPr/>
          </p:nvSpPr>
          <p:spPr>
            <a:xfrm rot="15973651">
              <a:off x="7931429" y="3234547"/>
              <a:ext cx="341816" cy="4596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b</a:t>
              </a:r>
              <a:endParaRPr lang="en-US" dirty="0"/>
            </a:p>
          </p:txBody>
        </p:sp>
      </p:grpSp>
      <p:sp>
        <p:nvSpPr>
          <p:cNvPr id="60" name="Arc 59">
            <a:extLst>
              <a:ext uri="{FF2B5EF4-FFF2-40B4-BE49-F238E27FC236}">
                <a16:creationId xmlns="" xmlns:a16="http://schemas.microsoft.com/office/drawing/2014/main" id="{0F23AE9C-F3AD-487C-BA92-C0E9498BAF38}"/>
              </a:ext>
            </a:extLst>
          </p:cNvPr>
          <p:cNvSpPr/>
          <p:nvPr/>
        </p:nvSpPr>
        <p:spPr>
          <a:xfrm rot="3502692">
            <a:off x="5001335" y="3708334"/>
            <a:ext cx="540134" cy="887105"/>
          </a:xfrm>
          <a:prstGeom prst="arc">
            <a:avLst>
              <a:gd name="adj1" fmla="val 10711483"/>
              <a:gd name="adj2" fmla="val 0"/>
            </a:avLst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TextBox 60">
            <a:extLst>
              <a:ext uri="{FF2B5EF4-FFF2-40B4-BE49-F238E27FC236}">
                <a16:creationId xmlns="" xmlns:a16="http://schemas.microsoft.com/office/drawing/2014/main" id="{88D9DE6D-7C32-4133-A619-45E5E940ADF5}"/>
              </a:ext>
            </a:extLst>
          </p:cNvPr>
          <p:cNvSpPr txBox="1"/>
          <p:nvPr/>
        </p:nvSpPr>
        <p:spPr>
          <a:xfrm>
            <a:off x="5589020" y="3560125"/>
            <a:ext cx="614149" cy="3624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a/b</a:t>
            </a:r>
          </a:p>
        </p:txBody>
      </p:sp>
      <p:grpSp>
        <p:nvGrpSpPr>
          <p:cNvPr id="11" name="Group 92"/>
          <p:cNvGrpSpPr/>
          <p:nvPr/>
        </p:nvGrpSpPr>
        <p:grpSpPr>
          <a:xfrm>
            <a:off x="6041517" y="3961630"/>
            <a:ext cx="5619297" cy="2223526"/>
            <a:chOff x="6041517" y="3961630"/>
            <a:chExt cx="5619297" cy="2223526"/>
          </a:xfrm>
        </p:grpSpPr>
        <p:sp>
          <p:nvSpPr>
            <p:cNvPr id="65" name="Oval 64">
              <a:extLst>
                <a:ext uri="{FF2B5EF4-FFF2-40B4-BE49-F238E27FC236}">
                  <a16:creationId xmlns="" xmlns:a16="http://schemas.microsoft.com/office/drawing/2014/main" id="{5C988030-2BFA-466B-92B4-2814663FFAA3}"/>
                </a:ext>
              </a:extLst>
            </p:cNvPr>
            <p:cNvSpPr/>
            <p:nvPr/>
          </p:nvSpPr>
          <p:spPr>
            <a:xfrm>
              <a:off x="6646635" y="4792641"/>
              <a:ext cx="723331" cy="63914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x0</a:t>
              </a:r>
            </a:p>
          </p:txBody>
        </p:sp>
        <p:cxnSp>
          <p:nvCxnSpPr>
            <p:cNvPr id="66" name="Straight Arrow Connector 65">
              <a:extLst>
                <a:ext uri="{FF2B5EF4-FFF2-40B4-BE49-F238E27FC236}">
                  <a16:creationId xmlns="" xmlns:a16="http://schemas.microsoft.com/office/drawing/2014/main" id="{56F08B06-431F-4F2F-B2B2-658A2865D218}"/>
                </a:ext>
              </a:extLst>
            </p:cNvPr>
            <p:cNvCxnSpPr>
              <a:cxnSpLocks/>
            </p:cNvCxnSpPr>
            <p:nvPr/>
          </p:nvCxnSpPr>
          <p:spPr>
            <a:xfrm>
              <a:off x="6041517" y="5081738"/>
              <a:ext cx="556591" cy="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2" name="Group 65">
              <a:extLst>
                <a:ext uri="{FF2B5EF4-FFF2-40B4-BE49-F238E27FC236}">
                  <a16:creationId xmlns="" xmlns:a16="http://schemas.microsoft.com/office/drawing/2014/main" id="{0686C7DC-63EA-45FA-A4AD-375A26C68A70}"/>
                </a:ext>
              </a:extLst>
            </p:cNvPr>
            <p:cNvGrpSpPr/>
            <p:nvPr/>
          </p:nvGrpSpPr>
          <p:grpSpPr>
            <a:xfrm>
              <a:off x="9945959" y="4577932"/>
              <a:ext cx="839021" cy="802091"/>
              <a:chOff x="10512625" y="1744747"/>
              <a:chExt cx="839021" cy="802091"/>
            </a:xfrm>
          </p:grpSpPr>
          <p:sp>
            <p:nvSpPr>
              <p:cNvPr id="68" name="Oval 67">
                <a:extLst>
                  <a:ext uri="{FF2B5EF4-FFF2-40B4-BE49-F238E27FC236}">
                    <a16:creationId xmlns="" xmlns:a16="http://schemas.microsoft.com/office/drawing/2014/main" id="{2384BCDB-4573-4D87-8C60-389BA9C8FEC8}"/>
                  </a:ext>
                </a:extLst>
              </p:cNvPr>
              <p:cNvSpPr/>
              <p:nvPr/>
            </p:nvSpPr>
            <p:spPr>
              <a:xfrm>
                <a:off x="10512625" y="1744747"/>
                <a:ext cx="839021" cy="802091"/>
              </a:xfrm>
              <a:prstGeom prst="ellips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9" name="Oval 68">
                <a:extLst>
                  <a:ext uri="{FF2B5EF4-FFF2-40B4-BE49-F238E27FC236}">
                    <a16:creationId xmlns="" xmlns:a16="http://schemas.microsoft.com/office/drawing/2014/main" id="{C24589FC-BD2D-4604-8795-0E22CD28BD1A}"/>
                  </a:ext>
                </a:extLst>
              </p:cNvPr>
              <p:cNvSpPr/>
              <p:nvPr/>
            </p:nvSpPr>
            <p:spPr>
              <a:xfrm>
                <a:off x="10585318" y="1837172"/>
                <a:ext cx="681980" cy="628192"/>
              </a:xfrm>
              <a:prstGeom prst="ellips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x2</a:t>
                </a:r>
              </a:p>
            </p:txBody>
          </p:sp>
        </p:grpSp>
        <p:grpSp>
          <p:nvGrpSpPr>
            <p:cNvPr id="13" name="Group 68">
              <a:extLst>
                <a:ext uri="{FF2B5EF4-FFF2-40B4-BE49-F238E27FC236}">
                  <a16:creationId xmlns="" xmlns:a16="http://schemas.microsoft.com/office/drawing/2014/main" id="{9C7F3B1F-F146-44E0-8A94-DFC7204F4B47}"/>
                </a:ext>
              </a:extLst>
            </p:cNvPr>
            <p:cNvGrpSpPr/>
            <p:nvPr/>
          </p:nvGrpSpPr>
          <p:grpSpPr>
            <a:xfrm rot="19319731">
              <a:off x="7189031" y="4384601"/>
              <a:ext cx="934176" cy="369332"/>
              <a:chOff x="7528817" y="3279685"/>
              <a:chExt cx="1162516" cy="369332"/>
            </a:xfrm>
          </p:grpSpPr>
          <p:cxnSp>
            <p:nvCxnSpPr>
              <p:cNvPr id="71" name="Straight Arrow Connector 70">
                <a:extLst>
                  <a:ext uri="{FF2B5EF4-FFF2-40B4-BE49-F238E27FC236}">
                    <a16:creationId xmlns="" xmlns:a16="http://schemas.microsoft.com/office/drawing/2014/main" id="{E76FD75B-469A-495F-86F9-CF358F01AFB4}"/>
                  </a:ext>
                </a:extLst>
              </p:cNvPr>
              <p:cNvCxnSpPr/>
              <p:nvPr/>
            </p:nvCxnSpPr>
            <p:spPr>
              <a:xfrm>
                <a:off x="7528817" y="3596736"/>
                <a:ext cx="1162516" cy="0"/>
              </a:xfrm>
              <a:prstGeom prst="straightConnector1">
                <a:avLst/>
              </a:prstGeom>
              <a:ln w="38100">
                <a:solidFill>
                  <a:schemeClr val="bg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2" name="TextBox 71">
                <a:extLst>
                  <a:ext uri="{FF2B5EF4-FFF2-40B4-BE49-F238E27FC236}">
                    <a16:creationId xmlns="" xmlns:a16="http://schemas.microsoft.com/office/drawing/2014/main" id="{87785F6B-EF59-4252-9595-2F0A24AEEABE}"/>
                  </a:ext>
                </a:extLst>
              </p:cNvPr>
              <p:cNvSpPr txBox="1"/>
              <p:nvPr/>
            </p:nvSpPr>
            <p:spPr>
              <a:xfrm>
                <a:off x="7889655" y="3279685"/>
                <a:ext cx="42536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a</a:t>
                </a:r>
              </a:p>
            </p:txBody>
          </p:sp>
        </p:grpSp>
        <p:grpSp>
          <p:nvGrpSpPr>
            <p:cNvPr id="14" name="Group 69">
              <a:extLst>
                <a:ext uri="{FF2B5EF4-FFF2-40B4-BE49-F238E27FC236}">
                  <a16:creationId xmlns="" xmlns:a16="http://schemas.microsoft.com/office/drawing/2014/main" id="{C9E24909-1BE4-45EB-8B7B-D926C121E7B3}"/>
                </a:ext>
              </a:extLst>
            </p:cNvPr>
            <p:cNvGrpSpPr/>
            <p:nvPr/>
          </p:nvGrpSpPr>
          <p:grpSpPr>
            <a:xfrm rot="1706658">
              <a:off x="8920903" y="4274345"/>
              <a:ext cx="1173392" cy="369332"/>
              <a:chOff x="7528817" y="3245852"/>
              <a:chExt cx="1162516" cy="369332"/>
            </a:xfrm>
          </p:grpSpPr>
          <p:cxnSp>
            <p:nvCxnSpPr>
              <p:cNvPr id="74" name="Straight Arrow Connector 73">
                <a:extLst>
                  <a:ext uri="{FF2B5EF4-FFF2-40B4-BE49-F238E27FC236}">
                    <a16:creationId xmlns="" xmlns:a16="http://schemas.microsoft.com/office/drawing/2014/main" id="{2A64AF20-9BB6-44DB-B3F9-B26841D4FFE1}"/>
                  </a:ext>
                </a:extLst>
              </p:cNvPr>
              <p:cNvCxnSpPr/>
              <p:nvPr/>
            </p:nvCxnSpPr>
            <p:spPr>
              <a:xfrm>
                <a:off x="7528817" y="3596736"/>
                <a:ext cx="1162516" cy="0"/>
              </a:xfrm>
              <a:prstGeom prst="straightConnector1">
                <a:avLst/>
              </a:prstGeom>
              <a:ln w="38100">
                <a:solidFill>
                  <a:schemeClr val="bg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5" name="TextBox 74">
                <a:extLst>
                  <a:ext uri="{FF2B5EF4-FFF2-40B4-BE49-F238E27FC236}">
                    <a16:creationId xmlns="" xmlns:a16="http://schemas.microsoft.com/office/drawing/2014/main" id="{B13F1DD0-6991-486F-A7CD-898A1B5B28FC}"/>
                  </a:ext>
                </a:extLst>
              </p:cNvPr>
              <p:cNvSpPr txBox="1"/>
              <p:nvPr/>
            </p:nvSpPr>
            <p:spPr>
              <a:xfrm>
                <a:off x="7771423" y="3245852"/>
                <a:ext cx="55032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a</a:t>
                </a:r>
              </a:p>
            </p:txBody>
          </p:sp>
        </p:grpSp>
        <p:sp>
          <p:nvSpPr>
            <p:cNvPr id="76" name="Oval 75">
              <a:extLst>
                <a:ext uri="{FF2B5EF4-FFF2-40B4-BE49-F238E27FC236}">
                  <a16:creationId xmlns="" xmlns:a16="http://schemas.microsoft.com/office/drawing/2014/main" id="{5C988030-2BFA-466B-92B4-2814663FFAA3}"/>
                </a:ext>
              </a:extLst>
            </p:cNvPr>
            <p:cNvSpPr/>
            <p:nvPr/>
          </p:nvSpPr>
          <p:spPr>
            <a:xfrm>
              <a:off x="8144756" y="3961630"/>
              <a:ext cx="723331" cy="63914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x1</a:t>
              </a:r>
              <a:endParaRPr lang="en-US" dirty="0"/>
            </a:p>
          </p:txBody>
        </p:sp>
        <p:grpSp>
          <p:nvGrpSpPr>
            <p:cNvPr id="15" name="Group 68">
              <a:extLst>
                <a:ext uri="{FF2B5EF4-FFF2-40B4-BE49-F238E27FC236}">
                  <a16:creationId xmlns="" xmlns:a16="http://schemas.microsoft.com/office/drawing/2014/main" id="{9C7F3B1F-F146-44E0-8A94-DFC7204F4B47}"/>
                </a:ext>
              </a:extLst>
            </p:cNvPr>
            <p:cNvGrpSpPr/>
            <p:nvPr/>
          </p:nvGrpSpPr>
          <p:grpSpPr>
            <a:xfrm rot="1625095">
              <a:off x="7375937" y="5201235"/>
              <a:ext cx="934176" cy="369332"/>
              <a:chOff x="7528817" y="3279685"/>
              <a:chExt cx="1162516" cy="369332"/>
            </a:xfrm>
          </p:grpSpPr>
          <p:cxnSp>
            <p:nvCxnSpPr>
              <p:cNvPr id="78" name="Straight Arrow Connector 77">
                <a:extLst>
                  <a:ext uri="{FF2B5EF4-FFF2-40B4-BE49-F238E27FC236}">
                    <a16:creationId xmlns="" xmlns:a16="http://schemas.microsoft.com/office/drawing/2014/main" id="{E76FD75B-469A-495F-86F9-CF358F01AFB4}"/>
                  </a:ext>
                </a:extLst>
              </p:cNvPr>
              <p:cNvCxnSpPr/>
              <p:nvPr/>
            </p:nvCxnSpPr>
            <p:spPr>
              <a:xfrm>
                <a:off x="7528817" y="3596736"/>
                <a:ext cx="1162516" cy="0"/>
              </a:xfrm>
              <a:prstGeom prst="straightConnector1">
                <a:avLst/>
              </a:prstGeom>
              <a:ln w="38100">
                <a:solidFill>
                  <a:schemeClr val="bg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9" name="TextBox 78">
                <a:extLst>
                  <a:ext uri="{FF2B5EF4-FFF2-40B4-BE49-F238E27FC236}">
                    <a16:creationId xmlns="" xmlns:a16="http://schemas.microsoft.com/office/drawing/2014/main" id="{87785F6B-EF59-4252-9595-2F0A24AEEABE}"/>
                  </a:ext>
                </a:extLst>
              </p:cNvPr>
              <p:cNvSpPr txBox="1"/>
              <p:nvPr/>
            </p:nvSpPr>
            <p:spPr>
              <a:xfrm>
                <a:off x="7889654" y="3279685"/>
                <a:ext cx="42536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b</a:t>
                </a:r>
                <a:endParaRPr lang="en-US" dirty="0"/>
              </a:p>
            </p:txBody>
          </p:sp>
        </p:grpSp>
        <p:sp>
          <p:nvSpPr>
            <p:cNvPr id="80" name="TextBox 79">
              <a:extLst>
                <a:ext uri="{FF2B5EF4-FFF2-40B4-BE49-F238E27FC236}">
                  <a16:creationId xmlns="" xmlns:a16="http://schemas.microsoft.com/office/drawing/2014/main" id="{87785F6B-EF59-4252-9595-2F0A24AEEABE}"/>
                </a:ext>
              </a:extLst>
            </p:cNvPr>
            <p:cNvSpPr txBox="1"/>
            <p:nvPr/>
          </p:nvSpPr>
          <p:spPr>
            <a:xfrm>
              <a:off x="9511172" y="5531916"/>
              <a:ext cx="3069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b</a:t>
              </a:r>
              <a:endParaRPr lang="en-US" dirty="0"/>
            </a:p>
          </p:txBody>
        </p:sp>
        <p:cxnSp>
          <p:nvCxnSpPr>
            <p:cNvPr id="81" name="Straight Arrow Connector 80">
              <a:extLst>
                <a:ext uri="{FF2B5EF4-FFF2-40B4-BE49-F238E27FC236}">
                  <a16:creationId xmlns="" xmlns:a16="http://schemas.microsoft.com/office/drawing/2014/main" id="{2A64AF20-9BB6-44DB-B3F9-B26841D4FFE1}"/>
                </a:ext>
              </a:extLst>
            </p:cNvPr>
            <p:cNvCxnSpPr/>
            <p:nvPr/>
          </p:nvCxnSpPr>
          <p:spPr>
            <a:xfrm flipV="1">
              <a:off x="8936903" y="5262560"/>
              <a:ext cx="1131928" cy="604694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8" name="Arc 87">
              <a:extLst>
                <a:ext uri="{FF2B5EF4-FFF2-40B4-BE49-F238E27FC236}">
                  <a16:creationId xmlns="" xmlns:a16="http://schemas.microsoft.com/office/drawing/2014/main" id="{0F23AE9C-F3AD-487C-BA92-C0E9498BAF38}"/>
                </a:ext>
              </a:extLst>
            </p:cNvPr>
            <p:cNvSpPr/>
            <p:nvPr/>
          </p:nvSpPr>
          <p:spPr>
            <a:xfrm rot="3502692">
              <a:off x="10458980" y="4395572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TextBox 88">
              <a:extLst>
                <a:ext uri="{FF2B5EF4-FFF2-40B4-BE49-F238E27FC236}">
                  <a16:creationId xmlns="" xmlns:a16="http://schemas.microsoft.com/office/drawing/2014/main" id="{88D9DE6D-7C32-4133-A619-45E5E940ADF5}"/>
                </a:ext>
              </a:extLst>
            </p:cNvPr>
            <p:cNvSpPr txBox="1"/>
            <p:nvPr/>
          </p:nvSpPr>
          <p:spPr>
            <a:xfrm>
              <a:off x="11046665" y="4247363"/>
              <a:ext cx="614149" cy="3624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a/b</a:t>
              </a:r>
            </a:p>
          </p:txBody>
        </p:sp>
        <p:sp>
          <p:nvSpPr>
            <p:cNvPr id="90" name="Oval 89">
              <a:extLst>
                <a:ext uri="{FF2B5EF4-FFF2-40B4-BE49-F238E27FC236}">
                  <a16:creationId xmlns="" xmlns:a16="http://schemas.microsoft.com/office/drawing/2014/main" id="{5C988030-2BFA-466B-92B4-2814663FFAA3}"/>
                </a:ext>
              </a:extLst>
            </p:cNvPr>
            <p:cNvSpPr/>
            <p:nvPr/>
          </p:nvSpPr>
          <p:spPr>
            <a:xfrm>
              <a:off x="8176386" y="5546014"/>
              <a:ext cx="723331" cy="63914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x3</a:t>
              </a:r>
              <a:endParaRPr lang="en-US" dirty="0"/>
            </a:p>
          </p:txBody>
        </p:sp>
        <p:sp>
          <p:nvSpPr>
            <p:cNvPr id="91" name="Arc 90">
              <a:extLst>
                <a:ext uri="{FF2B5EF4-FFF2-40B4-BE49-F238E27FC236}">
                  <a16:creationId xmlns="" xmlns:a16="http://schemas.microsoft.com/office/drawing/2014/main" id="{0F23AE9C-F3AD-487C-BA92-C0E9498BAF38}"/>
                </a:ext>
              </a:extLst>
            </p:cNvPr>
            <p:cNvSpPr/>
            <p:nvPr/>
          </p:nvSpPr>
          <p:spPr>
            <a:xfrm>
              <a:off x="6729493" y="4384070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TextBox 91">
              <a:extLst>
                <a:ext uri="{FF2B5EF4-FFF2-40B4-BE49-F238E27FC236}">
                  <a16:creationId xmlns="" xmlns:a16="http://schemas.microsoft.com/office/drawing/2014/main" id="{88D9DE6D-7C32-4133-A619-45E5E940ADF5}"/>
                </a:ext>
              </a:extLst>
            </p:cNvPr>
            <p:cNvSpPr txBox="1"/>
            <p:nvPr/>
          </p:nvSpPr>
          <p:spPr>
            <a:xfrm rot="21413568">
              <a:off x="6661571" y="4028826"/>
              <a:ext cx="614149" cy="3624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a/b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4826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27" grpId="0" animBg="1"/>
      <p:bldP spid="27" grpId="1" animBg="1"/>
      <p:bldP spid="47" grpId="0" animBg="1"/>
      <p:bldP spid="47" grpId="1" animBg="1"/>
      <p:bldP spid="48" grpId="0" animBg="1"/>
      <p:bldP spid="52" grpId="0"/>
      <p:bldP spid="60" grpId="0" animBg="1"/>
      <p:bldP spid="61" grpId="0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86</a:t>
            </a:fld>
            <a:endParaRPr lang="en-US"/>
          </a:p>
        </p:txBody>
      </p:sp>
      <p:sp>
        <p:nvSpPr>
          <p:cNvPr id="20" name="Title 1"/>
          <p:cNvSpPr>
            <a:spLocks noGrp="1"/>
          </p:cNvSpPr>
          <p:nvPr>
            <p:ph type="title"/>
          </p:nvPr>
        </p:nvSpPr>
        <p:spPr>
          <a:xfrm>
            <a:off x="118675" y="113944"/>
            <a:ext cx="7850741" cy="547946"/>
          </a:xfrm>
        </p:spPr>
        <p:txBody>
          <a:bodyPr/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Conversion of NFA into DFA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" name="Content Placeholder 2"/>
          <p:cNvSpPr txBox="1">
            <a:spLocks/>
          </p:cNvSpPr>
          <p:nvPr/>
        </p:nvSpPr>
        <p:spPr>
          <a:xfrm>
            <a:off x="55227" y="773999"/>
            <a:ext cx="9101737" cy="23379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To convert an NFA to DFA we have to follow following  steps</a:t>
            </a:r>
          </a:p>
          <a:p>
            <a:pPr lvl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1.  Make the Transaction Table of the given NFA</a:t>
            </a:r>
          </a:p>
          <a:p>
            <a:pPr lvl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2.  Make a DFA transaction table from NFA Transaction Table</a:t>
            </a:r>
          </a:p>
          <a:p>
            <a:pPr lvl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3.  Draw the DFA from the Transaction Table of DFA.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221" y="2404848"/>
            <a:ext cx="3650594" cy="1036644"/>
          </a:xfrm>
          <a:prstGeom prst="rect">
            <a:avLst/>
          </a:prstGeom>
        </p:spPr>
      </p:pic>
      <p:graphicFrame>
        <p:nvGraphicFramePr>
          <p:cNvPr id="23" name="Table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844572"/>
              </p:ext>
            </p:extLst>
          </p:nvPr>
        </p:nvGraphicFramePr>
        <p:xfrm>
          <a:off x="273539" y="3626989"/>
          <a:ext cx="4872891" cy="23017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4297"/>
                <a:gridCol w="1624297"/>
                <a:gridCol w="1624297"/>
              </a:tblGrid>
              <a:tr h="460348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State/Input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46034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46034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46034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46034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675221" y="4138246"/>
            <a:ext cx="750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-  x0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11888" y="5457038"/>
            <a:ext cx="750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+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x3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23612" y="4548554"/>
            <a:ext cx="750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x1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37622" y="5011671"/>
            <a:ext cx="750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x2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362165" y="2399755"/>
            <a:ext cx="5205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a/b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215662" y="4120607"/>
            <a:ext cx="835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x0,x1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3950676" y="4138246"/>
            <a:ext cx="750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x0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2286000" y="4548555"/>
            <a:ext cx="835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-----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855818" y="4548555"/>
            <a:ext cx="750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x2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2305335" y="5040815"/>
            <a:ext cx="750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x3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3770255" y="5052759"/>
            <a:ext cx="835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-----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2270166" y="5474791"/>
            <a:ext cx="835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-----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3848205" y="5474791"/>
            <a:ext cx="835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-----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38" name="Table 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614727"/>
              </p:ext>
            </p:extLst>
          </p:nvPr>
        </p:nvGraphicFramePr>
        <p:xfrm>
          <a:off x="6049107" y="2089855"/>
          <a:ext cx="4783014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4338"/>
                <a:gridCol w="1594338"/>
                <a:gridCol w="1594338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States</a:t>
                      </a:r>
                      <a:r>
                        <a:rPr lang="en-US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/ Input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9" name="TextBox 38"/>
          <p:cNvSpPr txBox="1"/>
          <p:nvPr/>
        </p:nvSpPr>
        <p:spPr>
          <a:xfrm>
            <a:off x="6407806" y="2422488"/>
            <a:ext cx="750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- [x0]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7901526" y="2440699"/>
            <a:ext cx="10650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[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x0,x1]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9583701" y="2440128"/>
            <a:ext cx="750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[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x0</a:t>
            </a:r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]</a:t>
            </a:r>
          </a:p>
        </p:txBody>
      </p:sp>
      <p:sp>
        <p:nvSpPr>
          <p:cNvPr id="42" name="Multiply 41"/>
          <p:cNvSpPr/>
          <p:nvPr/>
        </p:nvSpPr>
        <p:spPr>
          <a:xfrm>
            <a:off x="10117014" y="2440128"/>
            <a:ext cx="257908" cy="410309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/>
          <p:cNvSpPr txBox="1"/>
          <p:nvPr/>
        </p:nvSpPr>
        <p:spPr>
          <a:xfrm>
            <a:off x="6407805" y="2809460"/>
            <a:ext cx="948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[ x0,x1]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1753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build="p"/>
      <p:bldP spid="24" grpId="0"/>
      <p:bldP spid="25" grpId="0"/>
      <p:bldP spid="26" grpId="0"/>
      <p:bldP spid="27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9" grpId="0"/>
      <p:bldP spid="40" grpId="0"/>
      <p:bldP spid="41" grpId="0"/>
      <p:bldP spid="42" grpId="0" animBg="1"/>
      <p:bldP spid="43" grpId="0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87</a:t>
            </a:fld>
            <a:endParaRPr lang="en-US"/>
          </a:p>
        </p:txBody>
      </p:sp>
      <p:sp>
        <p:nvSpPr>
          <p:cNvPr id="20" name="Title 1"/>
          <p:cNvSpPr>
            <a:spLocks noGrp="1"/>
          </p:cNvSpPr>
          <p:nvPr>
            <p:ph type="title"/>
          </p:nvPr>
        </p:nvSpPr>
        <p:spPr>
          <a:xfrm>
            <a:off x="118675" y="113944"/>
            <a:ext cx="7850741" cy="547946"/>
          </a:xfrm>
        </p:spPr>
        <p:txBody>
          <a:bodyPr/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Conversion of NFA into DFA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" name="Content Placeholder 2"/>
          <p:cNvSpPr txBox="1">
            <a:spLocks/>
          </p:cNvSpPr>
          <p:nvPr/>
        </p:nvSpPr>
        <p:spPr>
          <a:xfrm>
            <a:off x="55227" y="773999"/>
            <a:ext cx="9101737" cy="23379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To convert an NFA to DFA we have to follow following  steps</a:t>
            </a:r>
          </a:p>
          <a:p>
            <a:pPr lvl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1.  Make the Transaction Table of the given NFA</a:t>
            </a:r>
          </a:p>
          <a:p>
            <a:pPr lvl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2.  Make a DFA transaction table from NFA Transaction Table</a:t>
            </a:r>
          </a:p>
          <a:p>
            <a:pPr lvl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3.  Draw the DFA from the Transaction Table of DFA.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221" y="2404848"/>
            <a:ext cx="3650594" cy="1036644"/>
          </a:xfrm>
          <a:prstGeom prst="rect">
            <a:avLst/>
          </a:prstGeom>
        </p:spPr>
      </p:pic>
      <p:graphicFrame>
        <p:nvGraphicFramePr>
          <p:cNvPr id="23" name="Table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3664441"/>
              </p:ext>
            </p:extLst>
          </p:nvPr>
        </p:nvGraphicFramePr>
        <p:xfrm>
          <a:off x="273539" y="3626989"/>
          <a:ext cx="4872891" cy="23017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4297"/>
                <a:gridCol w="1624297"/>
                <a:gridCol w="1624297"/>
              </a:tblGrid>
              <a:tr h="460348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State/Input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46034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46034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46034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46034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675221" y="4138246"/>
            <a:ext cx="750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-  x0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11888" y="5457038"/>
            <a:ext cx="750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+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x3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23612" y="4548554"/>
            <a:ext cx="750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x1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37622" y="5011671"/>
            <a:ext cx="750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x2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362165" y="2399755"/>
            <a:ext cx="5205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a/b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215662" y="4120607"/>
            <a:ext cx="835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x0,x1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3950676" y="4138246"/>
            <a:ext cx="750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x0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2286000" y="4548555"/>
            <a:ext cx="835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-----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855818" y="4548555"/>
            <a:ext cx="750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x2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2305335" y="5040815"/>
            <a:ext cx="750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x3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3770255" y="5052759"/>
            <a:ext cx="835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-----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2270166" y="5474791"/>
            <a:ext cx="835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-----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3848205" y="5474791"/>
            <a:ext cx="835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-----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38" name="Table 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4346890"/>
              </p:ext>
            </p:extLst>
          </p:nvPr>
        </p:nvGraphicFramePr>
        <p:xfrm>
          <a:off x="6049107" y="2089855"/>
          <a:ext cx="4783014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4338"/>
                <a:gridCol w="1594338"/>
                <a:gridCol w="1594338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States</a:t>
                      </a:r>
                      <a:r>
                        <a:rPr lang="en-US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/ Input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9" name="TextBox 38"/>
          <p:cNvSpPr txBox="1"/>
          <p:nvPr/>
        </p:nvSpPr>
        <p:spPr>
          <a:xfrm>
            <a:off x="6407806" y="2422488"/>
            <a:ext cx="835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-  [x0]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7846935" y="2427051"/>
            <a:ext cx="988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[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x0,x1]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9624645" y="2440128"/>
            <a:ext cx="750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[x0]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2" name="Multiply 41"/>
          <p:cNvSpPr/>
          <p:nvPr/>
        </p:nvSpPr>
        <p:spPr>
          <a:xfrm>
            <a:off x="10117014" y="2440128"/>
            <a:ext cx="257908" cy="410309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/>
          <p:cNvSpPr txBox="1"/>
          <p:nvPr/>
        </p:nvSpPr>
        <p:spPr>
          <a:xfrm>
            <a:off x="6407805" y="2809460"/>
            <a:ext cx="948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[x0,x1]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28" name="Straight Arrow Connector 27"/>
          <p:cNvCxnSpPr/>
          <p:nvPr/>
        </p:nvCxnSpPr>
        <p:spPr>
          <a:xfrm flipV="1">
            <a:off x="1362165" y="4733221"/>
            <a:ext cx="1031631" cy="1"/>
          </a:xfrm>
          <a:prstGeom prst="straightConnector1">
            <a:avLst/>
          </a:prstGeom>
          <a:ln w="1905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/>
          <p:nvPr/>
        </p:nvCxnSpPr>
        <p:spPr>
          <a:xfrm flipV="1">
            <a:off x="1238535" y="4328829"/>
            <a:ext cx="1031631" cy="1"/>
          </a:xfrm>
          <a:prstGeom prst="straightConnector1">
            <a:avLst/>
          </a:prstGeom>
          <a:ln w="1905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7901527" y="2815268"/>
            <a:ext cx="1101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[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x0,x1]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9510435" y="2796383"/>
            <a:ext cx="9786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[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x0,x2]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7" name="Multiply 46"/>
          <p:cNvSpPr/>
          <p:nvPr/>
        </p:nvSpPr>
        <p:spPr>
          <a:xfrm>
            <a:off x="8690301" y="2422488"/>
            <a:ext cx="257908" cy="410309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Multiply 47"/>
          <p:cNvSpPr/>
          <p:nvPr/>
        </p:nvSpPr>
        <p:spPr>
          <a:xfrm>
            <a:off x="8713747" y="2774291"/>
            <a:ext cx="257908" cy="410309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734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46" grpId="0"/>
      <p:bldP spid="47" grpId="0" animBg="1"/>
      <p:bldP spid="48" grpId="0" animBg="1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88</a:t>
            </a:fld>
            <a:endParaRPr lang="en-US"/>
          </a:p>
        </p:txBody>
      </p:sp>
      <p:sp>
        <p:nvSpPr>
          <p:cNvPr id="20" name="Title 1"/>
          <p:cNvSpPr>
            <a:spLocks noGrp="1"/>
          </p:cNvSpPr>
          <p:nvPr>
            <p:ph type="title"/>
          </p:nvPr>
        </p:nvSpPr>
        <p:spPr>
          <a:xfrm>
            <a:off x="118675" y="113944"/>
            <a:ext cx="7850741" cy="547946"/>
          </a:xfrm>
        </p:spPr>
        <p:txBody>
          <a:bodyPr/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Conversion of NFA into DFA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" name="Content Placeholder 2"/>
          <p:cNvSpPr txBox="1">
            <a:spLocks/>
          </p:cNvSpPr>
          <p:nvPr/>
        </p:nvSpPr>
        <p:spPr>
          <a:xfrm>
            <a:off x="55227" y="773999"/>
            <a:ext cx="9101737" cy="23379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To convert an NFA to DFA we have to follow following  steps</a:t>
            </a:r>
          </a:p>
          <a:p>
            <a:pPr lvl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1.  Make the Transaction Table of the given NFA</a:t>
            </a:r>
          </a:p>
          <a:p>
            <a:pPr lvl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2.  Make a DFA transaction table from NFA Transaction Table</a:t>
            </a:r>
          </a:p>
          <a:p>
            <a:pPr lvl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3.  Draw the DFA from the Transaction Table of DFA.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221" y="2404848"/>
            <a:ext cx="3650594" cy="1036644"/>
          </a:xfrm>
          <a:prstGeom prst="rect">
            <a:avLst/>
          </a:prstGeom>
        </p:spPr>
      </p:pic>
      <p:graphicFrame>
        <p:nvGraphicFramePr>
          <p:cNvPr id="23" name="Table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8826108"/>
              </p:ext>
            </p:extLst>
          </p:nvPr>
        </p:nvGraphicFramePr>
        <p:xfrm>
          <a:off x="273539" y="3626989"/>
          <a:ext cx="4872891" cy="23017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4297"/>
                <a:gridCol w="1624297"/>
                <a:gridCol w="1624297"/>
              </a:tblGrid>
              <a:tr h="460348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State/Input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46034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46034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46034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46034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675221" y="4138246"/>
            <a:ext cx="750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-  x0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11888" y="5457038"/>
            <a:ext cx="750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+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x3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23612" y="4548554"/>
            <a:ext cx="750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x1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37622" y="5011671"/>
            <a:ext cx="750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x2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362165" y="2399755"/>
            <a:ext cx="5205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a/b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215662" y="4120607"/>
            <a:ext cx="835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x0,x1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3950676" y="4138246"/>
            <a:ext cx="750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x0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2286000" y="4548555"/>
            <a:ext cx="835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-----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855818" y="4548555"/>
            <a:ext cx="750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x2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2305335" y="5040815"/>
            <a:ext cx="750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x3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3770255" y="5052759"/>
            <a:ext cx="835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-----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2270166" y="5474791"/>
            <a:ext cx="835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-----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3848205" y="5474791"/>
            <a:ext cx="835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-----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38" name="Table 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8836606"/>
              </p:ext>
            </p:extLst>
          </p:nvPr>
        </p:nvGraphicFramePr>
        <p:xfrm>
          <a:off x="6049107" y="2089855"/>
          <a:ext cx="4783014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4338"/>
                <a:gridCol w="1594338"/>
                <a:gridCol w="1594338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States</a:t>
                      </a:r>
                      <a:r>
                        <a:rPr lang="en-US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/ Input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9" name="TextBox 38"/>
          <p:cNvSpPr txBox="1"/>
          <p:nvPr/>
        </p:nvSpPr>
        <p:spPr>
          <a:xfrm>
            <a:off x="6407806" y="2422488"/>
            <a:ext cx="750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- [x0]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7874761" y="2454347"/>
            <a:ext cx="1080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[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x0,x1]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9430603" y="2440128"/>
            <a:ext cx="889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[x0</a:t>
            </a:r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]</a:t>
            </a:r>
          </a:p>
        </p:txBody>
      </p:sp>
      <p:sp>
        <p:nvSpPr>
          <p:cNvPr id="42" name="Multiply 41"/>
          <p:cNvSpPr/>
          <p:nvPr/>
        </p:nvSpPr>
        <p:spPr>
          <a:xfrm>
            <a:off x="10117014" y="2440128"/>
            <a:ext cx="257908" cy="410309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/>
          <p:cNvSpPr txBox="1"/>
          <p:nvPr/>
        </p:nvSpPr>
        <p:spPr>
          <a:xfrm>
            <a:off x="6407805" y="2809460"/>
            <a:ext cx="9619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[x0,x1]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28" name="Straight Arrow Connector 27"/>
          <p:cNvCxnSpPr/>
          <p:nvPr/>
        </p:nvCxnSpPr>
        <p:spPr>
          <a:xfrm flipV="1">
            <a:off x="1345653" y="5246245"/>
            <a:ext cx="1031631" cy="1"/>
          </a:xfrm>
          <a:prstGeom prst="straightConnector1">
            <a:avLst/>
          </a:prstGeom>
          <a:ln w="1905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/>
          <p:nvPr/>
        </p:nvCxnSpPr>
        <p:spPr>
          <a:xfrm flipV="1">
            <a:off x="1238535" y="4328829"/>
            <a:ext cx="1031631" cy="1"/>
          </a:xfrm>
          <a:prstGeom prst="straightConnector1">
            <a:avLst/>
          </a:prstGeom>
          <a:ln w="1905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7806521" y="2815268"/>
            <a:ext cx="10080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[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x0,x1</a:t>
            </a:r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]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21421" y="2815268"/>
            <a:ext cx="11536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[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x0,x2]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7" name="Multiply 46"/>
          <p:cNvSpPr/>
          <p:nvPr/>
        </p:nvSpPr>
        <p:spPr>
          <a:xfrm>
            <a:off x="8690301" y="2422488"/>
            <a:ext cx="257908" cy="410309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Multiply 47"/>
          <p:cNvSpPr/>
          <p:nvPr/>
        </p:nvSpPr>
        <p:spPr>
          <a:xfrm>
            <a:off x="8713747" y="2774291"/>
            <a:ext cx="257908" cy="410309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/>
          <p:cNvSpPr txBox="1"/>
          <p:nvPr/>
        </p:nvSpPr>
        <p:spPr>
          <a:xfrm>
            <a:off x="6407806" y="3184600"/>
            <a:ext cx="961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[x0,x2]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7697338" y="3184600"/>
            <a:ext cx="12645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[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x0,x1,x3</a:t>
            </a:r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]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29289" y="3184600"/>
            <a:ext cx="750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[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x0]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2" name="Multiply 51"/>
          <p:cNvSpPr/>
          <p:nvPr/>
        </p:nvSpPr>
        <p:spPr>
          <a:xfrm>
            <a:off x="10346148" y="2791820"/>
            <a:ext cx="257908" cy="410309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Multiply 52"/>
          <p:cNvSpPr/>
          <p:nvPr/>
        </p:nvSpPr>
        <p:spPr>
          <a:xfrm>
            <a:off x="10329096" y="3164111"/>
            <a:ext cx="257908" cy="410309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3647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1" grpId="0"/>
      <p:bldP spid="52" grpId="0" animBg="1"/>
      <p:bldP spid="53" grpId="0" animBg="1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89</a:t>
            </a:fld>
            <a:endParaRPr lang="en-US"/>
          </a:p>
        </p:txBody>
      </p:sp>
      <p:sp>
        <p:nvSpPr>
          <p:cNvPr id="20" name="Title 1"/>
          <p:cNvSpPr>
            <a:spLocks noGrp="1"/>
          </p:cNvSpPr>
          <p:nvPr>
            <p:ph type="title"/>
          </p:nvPr>
        </p:nvSpPr>
        <p:spPr>
          <a:xfrm>
            <a:off x="118675" y="113944"/>
            <a:ext cx="7850741" cy="547946"/>
          </a:xfrm>
        </p:spPr>
        <p:txBody>
          <a:bodyPr/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Conversion of NFA into DFA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" name="Content Placeholder 2"/>
          <p:cNvSpPr txBox="1">
            <a:spLocks/>
          </p:cNvSpPr>
          <p:nvPr/>
        </p:nvSpPr>
        <p:spPr>
          <a:xfrm>
            <a:off x="55227" y="773999"/>
            <a:ext cx="9101737" cy="23379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To convert an NFA to DFA we have to follow following  steps</a:t>
            </a:r>
          </a:p>
          <a:p>
            <a:pPr lvl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1.  Make the Transaction Table of the given NFA</a:t>
            </a:r>
          </a:p>
          <a:p>
            <a:pPr lvl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2.  Make a DFA transaction table from NFA Transaction Table</a:t>
            </a:r>
          </a:p>
          <a:p>
            <a:pPr lvl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3.  Draw the DFA from the Transaction Table of DFA.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221" y="2404848"/>
            <a:ext cx="3650594" cy="1036644"/>
          </a:xfrm>
          <a:prstGeom prst="rect">
            <a:avLst/>
          </a:prstGeom>
        </p:spPr>
      </p:pic>
      <p:graphicFrame>
        <p:nvGraphicFramePr>
          <p:cNvPr id="23" name="Table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6574968"/>
              </p:ext>
            </p:extLst>
          </p:nvPr>
        </p:nvGraphicFramePr>
        <p:xfrm>
          <a:off x="273539" y="3626989"/>
          <a:ext cx="4872891" cy="23017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4297"/>
                <a:gridCol w="1624297"/>
                <a:gridCol w="1624297"/>
              </a:tblGrid>
              <a:tr h="460348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State/Input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46034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46034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46034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46034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675221" y="4138246"/>
            <a:ext cx="750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-  x0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11888" y="5457038"/>
            <a:ext cx="750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+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x3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23612" y="4548554"/>
            <a:ext cx="750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x1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37622" y="5011671"/>
            <a:ext cx="750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x2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362165" y="2399755"/>
            <a:ext cx="5205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a/b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215662" y="4120607"/>
            <a:ext cx="835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x0,x1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3950676" y="4138246"/>
            <a:ext cx="750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x0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2286000" y="4548555"/>
            <a:ext cx="835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-----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855818" y="4548555"/>
            <a:ext cx="750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x2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2305335" y="5040815"/>
            <a:ext cx="750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x3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3770255" y="5052759"/>
            <a:ext cx="835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-----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2270166" y="5474791"/>
            <a:ext cx="835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-----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3848205" y="5474791"/>
            <a:ext cx="835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-----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38" name="Table 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4528708"/>
              </p:ext>
            </p:extLst>
          </p:nvPr>
        </p:nvGraphicFramePr>
        <p:xfrm>
          <a:off x="6049107" y="2089855"/>
          <a:ext cx="4783014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4338"/>
                <a:gridCol w="1594338"/>
                <a:gridCol w="1594338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States</a:t>
                      </a:r>
                      <a:r>
                        <a:rPr lang="en-US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/ Input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9" name="TextBox 38"/>
          <p:cNvSpPr txBox="1"/>
          <p:nvPr/>
        </p:nvSpPr>
        <p:spPr>
          <a:xfrm>
            <a:off x="6407806" y="2422488"/>
            <a:ext cx="750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- [x0]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7748010" y="2454347"/>
            <a:ext cx="11531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[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x0,x1</a:t>
            </a:r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]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548378" y="2445903"/>
            <a:ext cx="750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[x0</a:t>
            </a:r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]</a:t>
            </a:r>
          </a:p>
        </p:txBody>
      </p:sp>
      <p:sp>
        <p:nvSpPr>
          <p:cNvPr id="42" name="Multiply 41"/>
          <p:cNvSpPr/>
          <p:nvPr/>
        </p:nvSpPr>
        <p:spPr>
          <a:xfrm>
            <a:off x="10117014" y="2440128"/>
            <a:ext cx="257908" cy="410309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/>
          <p:cNvSpPr txBox="1"/>
          <p:nvPr/>
        </p:nvSpPr>
        <p:spPr>
          <a:xfrm>
            <a:off x="6407806" y="2809460"/>
            <a:ext cx="9647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[x0,x1]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28" name="Straight Arrow Connector 27"/>
          <p:cNvCxnSpPr/>
          <p:nvPr/>
        </p:nvCxnSpPr>
        <p:spPr>
          <a:xfrm flipV="1">
            <a:off x="1298761" y="4733221"/>
            <a:ext cx="1031631" cy="1"/>
          </a:xfrm>
          <a:prstGeom prst="straightConnector1">
            <a:avLst/>
          </a:prstGeom>
          <a:ln w="1905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/>
          <p:nvPr/>
        </p:nvCxnSpPr>
        <p:spPr>
          <a:xfrm flipV="1">
            <a:off x="1238535" y="4328829"/>
            <a:ext cx="1031631" cy="1"/>
          </a:xfrm>
          <a:prstGeom prst="straightConnector1">
            <a:avLst/>
          </a:prstGeom>
          <a:ln w="1905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7843546" y="2815268"/>
            <a:ext cx="1066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[x0,x]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9330010" y="2799483"/>
            <a:ext cx="9990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[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x0,x2</a:t>
            </a:r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]</a:t>
            </a:r>
          </a:p>
        </p:txBody>
      </p:sp>
      <p:sp>
        <p:nvSpPr>
          <p:cNvPr id="47" name="Multiply 46"/>
          <p:cNvSpPr/>
          <p:nvPr/>
        </p:nvSpPr>
        <p:spPr>
          <a:xfrm>
            <a:off x="8690301" y="2422488"/>
            <a:ext cx="257908" cy="410309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Multiply 47"/>
          <p:cNvSpPr/>
          <p:nvPr/>
        </p:nvSpPr>
        <p:spPr>
          <a:xfrm>
            <a:off x="8713747" y="2774291"/>
            <a:ext cx="257908" cy="410309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/>
          <p:cNvSpPr txBox="1"/>
          <p:nvPr/>
        </p:nvSpPr>
        <p:spPr>
          <a:xfrm>
            <a:off x="6407806" y="3184600"/>
            <a:ext cx="9647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[x0,x2]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6278851" y="3564537"/>
            <a:ext cx="12753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[x0,x1,x3]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9563877" y="3184600"/>
            <a:ext cx="750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[x0</a:t>
            </a:r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]</a:t>
            </a:r>
          </a:p>
        </p:txBody>
      </p:sp>
      <p:sp>
        <p:nvSpPr>
          <p:cNvPr id="52" name="Multiply 51"/>
          <p:cNvSpPr/>
          <p:nvPr/>
        </p:nvSpPr>
        <p:spPr>
          <a:xfrm>
            <a:off x="10346148" y="2791820"/>
            <a:ext cx="257908" cy="410309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Multiply 52"/>
          <p:cNvSpPr/>
          <p:nvPr/>
        </p:nvSpPr>
        <p:spPr>
          <a:xfrm>
            <a:off x="10329096" y="3164111"/>
            <a:ext cx="257908" cy="410309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4" name="Straight Arrow Connector 53"/>
          <p:cNvCxnSpPr/>
          <p:nvPr/>
        </p:nvCxnSpPr>
        <p:spPr>
          <a:xfrm flipV="1">
            <a:off x="1263591" y="5659457"/>
            <a:ext cx="1031631" cy="1"/>
          </a:xfrm>
          <a:prstGeom prst="straightConnector1">
            <a:avLst/>
          </a:prstGeom>
          <a:ln w="1905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7580115" y="3210895"/>
            <a:ext cx="12625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[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x0,x1,x3</a:t>
            </a:r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]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748010" y="3564537"/>
            <a:ext cx="10712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[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x0,x1</a:t>
            </a:r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]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385925" y="3552757"/>
            <a:ext cx="1036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[x0,x2</a:t>
            </a:r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]</a:t>
            </a:r>
          </a:p>
        </p:txBody>
      </p:sp>
      <p:sp>
        <p:nvSpPr>
          <p:cNvPr id="58" name="Multiply 57"/>
          <p:cNvSpPr/>
          <p:nvPr/>
        </p:nvSpPr>
        <p:spPr>
          <a:xfrm>
            <a:off x="8822756" y="3184600"/>
            <a:ext cx="257908" cy="410309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Multiply 59"/>
          <p:cNvSpPr/>
          <p:nvPr/>
        </p:nvSpPr>
        <p:spPr>
          <a:xfrm>
            <a:off x="10293926" y="3523560"/>
            <a:ext cx="257908" cy="410309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Multiply 60"/>
          <p:cNvSpPr/>
          <p:nvPr/>
        </p:nvSpPr>
        <p:spPr>
          <a:xfrm>
            <a:off x="8859166" y="3573246"/>
            <a:ext cx="257908" cy="410309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TextBox 61"/>
          <p:cNvSpPr txBox="1"/>
          <p:nvPr/>
        </p:nvSpPr>
        <p:spPr>
          <a:xfrm>
            <a:off x="6067837" y="3590777"/>
            <a:ext cx="3751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+</a:t>
            </a:r>
          </a:p>
        </p:txBody>
      </p:sp>
      <p:sp>
        <p:nvSpPr>
          <p:cNvPr id="2" name="Oval 1"/>
          <p:cNvSpPr/>
          <p:nvPr/>
        </p:nvSpPr>
        <p:spPr>
          <a:xfrm>
            <a:off x="5672755" y="4466831"/>
            <a:ext cx="790164" cy="676926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x0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3" name="Oval 62"/>
          <p:cNvSpPr/>
          <p:nvPr/>
        </p:nvSpPr>
        <p:spPr>
          <a:xfrm>
            <a:off x="7159154" y="4418679"/>
            <a:ext cx="790164" cy="676926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x0, x1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4" name="Oval 63"/>
          <p:cNvSpPr/>
          <p:nvPr/>
        </p:nvSpPr>
        <p:spPr>
          <a:xfrm>
            <a:off x="8761882" y="4363889"/>
            <a:ext cx="790164" cy="676926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X0</a:t>
            </a:r>
          </a:p>
          <a:p>
            <a:pPr algn="ctr"/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x2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10364265" y="4305165"/>
            <a:ext cx="926728" cy="829326"/>
            <a:chOff x="9006217" y="5143755"/>
            <a:chExt cx="926728" cy="829326"/>
          </a:xfrm>
        </p:grpSpPr>
        <p:sp>
          <p:nvSpPr>
            <p:cNvPr id="66" name="Oval 65"/>
            <p:cNvSpPr/>
            <p:nvPr/>
          </p:nvSpPr>
          <p:spPr>
            <a:xfrm>
              <a:off x="9006217" y="5143755"/>
              <a:ext cx="926728" cy="829326"/>
            </a:xfrm>
            <a:prstGeom prst="ellipse">
              <a:avLst/>
            </a:prstGeom>
            <a:solidFill>
              <a:srgbClr val="C0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5" name="Oval 64"/>
            <p:cNvSpPr/>
            <p:nvPr/>
          </p:nvSpPr>
          <p:spPr>
            <a:xfrm>
              <a:off x="9072445" y="5225702"/>
              <a:ext cx="790164" cy="676926"/>
            </a:xfrm>
            <a:prstGeom prst="ellipse">
              <a:avLst/>
            </a:prstGeom>
            <a:solidFill>
              <a:srgbClr val="C0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X0</a:t>
              </a:r>
            </a:p>
            <a:p>
              <a:pPr algn="ctr"/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X1</a:t>
              </a:r>
            </a:p>
            <a:p>
              <a:pPr algn="ctr"/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x3</a:t>
              </a:r>
              <a:endParaRPr lang="en-US" sz="16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cxnSp>
        <p:nvCxnSpPr>
          <p:cNvPr id="67" name="Straight Arrow Connector 66">
            <a:extLst>
              <a:ext uri="{FF2B5EF4-FFF2-40B4-BE49-F238E27FC236}">
                <a16:creationId xmlns="" xmlns:a16="http://schemas.microsoft.com/office/drawing/2014/main" id="{2A64AF20-9BB6-44DB-B3F9-B26841D4FFE1}"/>
              </a:ext>
            </a:extLst>
          </p:cNvPr>
          <p:cNvCxnSpPr/>
          <p:nvPr/>
        </p:nvCxnSpPr>
        <p:spPr>
          <a:xfrm>
            <a:off x="6462919" y="4757142"/>
            <a:ext cx="695164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="" xmlns:a16="http://schemas.microsoft.com/office/drawing/2014/main" id="{2A64AF20-9BB6-44DB-B3F9-B26841D4FFE1}"/>
              </a:ext>
            </a:extLst>
          </p:cNvPr>
          <p:cNvCxnSpPr/>
          <p:nvPr/>
        </p:nvCxnSpPr>
        <p:spPr>
          <a:xfrm flipV="1">
            <a:off x="7978698" y="4728127"/>
            <a:ext cx="735049" cy="1196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="" xmlns:a16="http://schemas.microsoft.com/office/drawing/2014/main" id="{2A64AF20-9BB6-44DB-B3F9-B26841D4FFE1}"/>
              </a:ext>
            </a:extLst>
          </p:cNvPr>
          <p:cNvCxnSpPr/>
          <p:nvPr/>
        </p:nvCxnSpPr>
        <p:spPr>
          <a:xfrm flipV="1">
            <a:off x="9594047" y="4713838"/>
            <a:ext cx="735049" cy="1196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Arc 69">
            <a:extLst>
              <a:ext uri="{FF2B5EF4-FFF2-40B4-BE49-F238E27FC236}">
                <a16:creationId xmlns="" xmlns:a16="http://schemas.microsoft.com/office/drawing/2014/main" id="{0F23AE9C-F3AD-487C-BA92-C0E9498BAF38}"/>
              </a:ext>
            </a:extLst>
          </p:cNvPr>
          <p:cNvSpPr/>
          <p:nvPr/>
        </p:nvSpPr>
        <p:spPr>
          <a:xfrm rot="21430104">
            <a:off x="5797772" y="4064024"/>
            <a:ext cx="540134" cy="887105"/>
          </a:xfrm>
          <a:prstGeom prst="arc">
            <a:avLst>
              <a:gd name="adj1" fmla="val 10711483"/>
              <a:gd name="adj2" fmla="val 0"/>
            </a:avLst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TextBox 70"/>
          <p:cNvSpPr txBox="1"/>
          <p:nvPr/>
        </p:nvSpPr>
        <p:spPr>
          <a:xfrm>
            <a:off x="6511889" y="4352131"/>
            <a:ext cx="5756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5384932" y="4097499"/>
            <a:ext cx="5756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978590" y="4097499"/>
            <a:ext cx="5756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4" name="Arc 73">
            <a:extLst>
              <a:ext uri="{FF2B5EF4-FFF2-40B4-BE49-F238E27FC236}">
                <a16:creationId xmlns="" xmlns:a16="http://schemas.microsoft.com/office/drawing/2014/main" id="{0F23AE9C-F3AD-487C-BA92-C0E9498BAF38}"/>
              </a:ext>
            </a:extLst>
          </p:cNvPr>
          <p:cNvSpPr/>
          <p:nvPr/>
        </p:nvSpPr>
        <p:spPr>
          <a:xfrm>
            <a:off x="7310048" y="4003687"/>
            <a:ext cx="540134" cy="887105"/>
          </a:xfrm>
          <a:prstGeom prst="arc">
            <a:avLst>
              <a:gd name="adj1" fmla="val 10711483"/>
              <a:gd name="adj2" fmla="val 0"/>
            </a:avLst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TextBox 74"/>
          <p:cNvSpPr txBox="1"/>
          <p:nvPr/>
        </p:nvSpPr>
        <p:spPr>
          <a:xfrm>
            <a:off x="8058399" y="4352131"/>
            <a:ext cx="5756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639263" y="4341032"/>
            <a:ext cx="5756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Curved Down Arrow 8"/>
          <p:cNvSpPr/>
          <p:nvPr/>
        </p:nvSpPr>
        <p:spPr>
          <a:xfrm rot="10800000">
            <a:off x="6278850" y="5064037"/>
            <a:ext cx="2774545" cy="316965"/>
          </a:xfrm>
          <a:prstGeom prst="curvedDown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7922976" y="4949825"/>
            <a:ext cx="5756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78" name="Curved Down Arrow 77"/>
          <p:cNvSpPr/>
          <p:nvPr/>
        </p:nvSpPr>
        <p:spPr>
          <a:xfrm rot="10800000">
            <a:off x="9156964" y="5095605"/>
            <a:ext cx="1833024" cy="425268"/>
          </a:xfrm>
          <a:prstGeom prst="curvedDown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10006103" y="5473371"/>
            <a:ext cx="5756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80" name="Curved Down Arrow 79"/>
          <p:cNvSpPr/>
          <p:nvPr/>
        </p:nvSpPr>
        <p:spPr>
          <a:xfrm rot="10800000">
            <a:off x="7580115" y="5143756"/>
            <a:ext cx="3055027" cy="237246"/>
          </a:xfrm>
          <a:prstGeom prst="curvedDownArrow">
            <a:avLst/>
          </a:prstGeom>
          <a:solidFill>
            <a:schemeClr val="bg1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9385925" y="4979301"/>
            <a:ext cx="5756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dirty="0" smtClean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endParaRPr lang="en-US" dirty="0">
              <a:solidFill>
                <a:srgbClr val="FFFF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82" name="Straight Arrow Connector 81">
            <a:extLst>
              <a:ext uri="{FF2B5EF4-FFF2-40B4-BE49-F238E27FC236}">
                <a16:creationId xmlns="" xmlns:a16="http://schemas.microsoft.com/office/drawing/2014/main" id="{2A64AF20-9BB6-44DB-B3F9-B26841D4FFE1}"/>
              </a:ext>
            </a:extLst>
          </p:cNvPr>
          <p:cNvCxnSpPr/>
          <p:nvPr/>
        </p:nvCxnSpPr>
        <p:spPr>
          <a:xfrm>
            <a:off x="5291148" y="4805294"/>
            <a:ext cx="39125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6813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/>
      <p:bldP spid="57" grpId="0"/>
      <p:bldP spid="58" grpId="0" animBg="1"/>
      <p:bldP spid="60" grpId="0" animBg="1"/>
      <p:bldP spid="61" grpId="0" animBg="1"/>
      <p:bldP spid="62" grpId="0"/>
      <p:bldP spid="2" grpId="0" animBg="1"/>
      <p:bldP spid="63" grpId="0" animBg="1"/>
      <p:bldP spid="64" grpId="0" animBg="1"/>
      <p:bldP spid="70" grpId="0" animBg="1"/>
      <p:bldP spid="71" grpId="0"/>
      <p:bldP spid="72" grpId="0"/>
      <p:bldP spid="73" grpId="0"/>
      <p:bldP spid="74" grpId="0" animBg="1"/>
      <p:bldP spid="75" grpId="0"/>
      <p:bldP spid="76" grpId="0"/>
      <p:bldP spid="9" grpId="0" animBg="1"/>
      <p:bldP spid="77" grpId="0"/>
      <p:bldP spid="78" grpId="0" animBg="1"/>
      <p:bldP spid="79" grpId="0"/>
      <p:bldP spid="80" grpId="0" animBg="1"/>
      <p:bldP spid="81" grpId="0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4125181" cy="660974"/>
          </a:xfrm>
        </p:spPr>
        <p:txBody>
          <a:bodyPr/>
          <a:lstStyle/>
          <a:p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Conversion Example</a:t>
            </a:r>
            <a:endParaRPr lang="en-US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90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189" y="1009646"/>
            <a:ext cx="5131180" cy="1124426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5028600"/>
              </p:ext>
            </p:extLst>
          </p:nvPr>
        </p:nvGraphicFramePr>
        <p:xfrm>
          <a:off x="566616" y="2595359"/>
          <a:ext cx="4931508" cy="28324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3836"/>
                <a:gridCol w="1643836"/>
                <a:gridCol w="1643836"/>
              </a:tblGrid>
              <a:tr h="472071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States / Input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47207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47207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47207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47207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47207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987026" y="3091988"/>
            <a:ext cx="750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-  x0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35416" y="4996934"/>
            <a:ext cx="7502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+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x4</a:t>
            </a:r>
          </a:p>
          <a:p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35417" y="3549299"/>
            <a:ext cx="750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x1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35417" y="4516398"/>
            <a:ext cx="750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x3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35415" y="4041559"/>
            <a:ext cx="750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x2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276494" y="3091988"/>
            <a:ext cx="750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x1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635264" y="3091988"/>
            <a:ext cx="750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-----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496348" y="3569734"/>
            <a:ext cx="750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x2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289980" y="3569734"/>
            <a:ext cx="750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-----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508072" y="4026932"/>
            <a:ext cx="750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x2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276493" y="4041559"/>
            <a:ext cx="750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2,x3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644559" y="4516398"/>
            <a:ext cx="750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-----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274063" y="4507578"/>
            <a:ext cx="750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x4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53854" y="4996934"/>
            <a:ext cx="750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-----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274062" y="4996934"/>
            <a:ext cx="750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-----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22" name="Table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5506713"/>
              </p:ext>
            </p:extLst>
          </p:nvPr>
        </p:nvGraphicFramePr>
        <p:xfrm>
          <a:off x="5912338" y="1392392"/>
          <a:ext cx="5447322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5774"/>
                <a:gridCol w="1815774"/>
                <a:gridCol w="1815774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States / Input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6367918" y="1764740"/>
            <a:ext cx="8653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-  [x0]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997355" y="1764740"/>
            <a:ext cx="750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[x1]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309232" y="1764740"/>
            <a:ext cx="750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D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5667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3" grpId="0"/>
      <p:bldP spid="24" grpId="0"/>
      <p:bldP spid="25" grpId="0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4125181" cy="660974"/>
          </a:xfrm>
        </p:spPr>
        <p:txBody>
          <a:bodyPr/>
          <a:lstStyle/>
          <a:p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Conversion Example</a:t>
            </a:r>
            <a:endParaRPr lang="en-US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91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189" y="1009646"/>
            <a:ext cx="5131180" cy="1124426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4639303"/>
              </p:ext>
            </p:extLst>
          </p:nvPr>
        </p:nvGraphicFramePr>
        <p:xfrm>
          <a:off x="566616" y="2595359"/>
          <a:ext cx="4931508" cy="28324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3836"/>
                <a:gridCol w="1643836"/>
                <a:gridCol w="1643836"/>
              </a:tblGrid>
              <a:tr h="472071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States / Input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47207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47207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47207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47207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47207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987026" y="3091988"/>
            <a:ext cx="750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-  x0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35416" y="4996934"/>
            <a:ext cx="7502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+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x4</a:t>
            </a:r>
          </a:p>
          <a:p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35417" y="3549299"/>
            <a:ext cx="750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x1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35417" y="4516398"/>
            <a:ext cx="750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x3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35415" y="4041559"/>
            <a:ext cx="750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x2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276494" y="3091988"/>
            <a:ext cx="750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x1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635264" y="3091988"/>
            <a:ext cx="750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-----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496348" y="3569734"/>
            <a:ext cx="750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x2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289980" y="3569734"/>
            <a:ext cx="750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-----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508072" y="4026932"/>
            <a:ext cx="750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x2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276493" y="4041559"/>
            <a:ext cx="750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2,x3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644559" y="4516398"/>
            <a:ext cx="750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-----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274063" y="4507578"/>
            <a:ext cx="750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x4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53854" y="4996934"/>
            <a:ext cx="750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-----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274062" y="4996934"/>
            <a:ext cx="750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-----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22" name="Table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4101694"/>
              </p:ext>
            </p:extLst>
          </p:nvPr>
        </p:nvGraphicFramePr>
        <p:xfrm>
          <a:off x="5912338" y="1392392"/>
          <a:ext cx="5447322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5774"/>
                <a:gridCol w="1815774"/>
                <a:gridCol w="1815774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States / Input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6367918" y="1764740"/>
            <a:ext cx="750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- [x0]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997355" y="1764740"/>
            <a:ext cx="750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[x1]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309232" y="1764740"/>
            <a:ext cx="750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D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306521" y="2134072"/>
            <a:ext cx="750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[x1]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27" name="Straight Arrow Connector 26"/>
          <p:cNvCxnSpPr/>
          <p:nvPr/>
        </p:nvCxnSpPr>
        <p:spPr>
          <a:xfrm flipV="1">
            <a:off x="1603633" y="3754400"/>
            <a:ext cx="1031631" cy="1"/>
          </a:xfrm>
          <a:prstGeom prst="straightConnector1">
            <a:avLst/>
          </a:prstGeom>
          <a:ln w="285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8288781" y="2134072"/>
            <a:ext cx="750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[ x2]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9997354" y="2140525"/>
            <a:ext cx="750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D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" name="Multiply 29"/>
          <p:cNvSpPr/>
          <p:nvPr/>
        </p:nvSpPr>
        <p:spPr>
          <a:xfrm>
            <a:off x="10747632" y="1775567"/>
            <a:ext cx="257908" cy="410309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561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/>
      <p:bldP spid="30" grpId="0" animBg="1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4125181" cy="660974"/>
          </a:xfrm>
        </p:spPr>
        <p:txBody>
          <a:bodyPr/>
          <a:lstStyle/>
          <a:p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Conversion Example</a:t>
            </a:r>
            <a:endParaRPr lang="en-US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92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189" y="1009646"/>
            <a:ext cx="5131180" cy="1124426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5705846"/>
              </p:ext>
            </p:extLst>
          </p:nvPr>
        </p:nvGraphicFramePr>
        <p:xfrm>
          <a:off x="566616" y="2595359"/>
          <a:ext cx="4931508" cy="28324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3836"/>
                <a:gridCol w="1643836"/>
                <a:gridCol w="1643836"/>
              </a:tblGrid>
              <a:tr h="472071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States / Input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47207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47207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47207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47207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47207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987026" y="3091988"/>
            <a:ext cx="750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-  x0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35416" y="4996934"/>
            <a:ext cx="7502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+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x4</a:t>
            </a:r>
          </a:p>
          <a:p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35417" y="3549299"/>
            <a:ext cx="750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x1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35417" y="4516398"/>
            <a:ext cx="750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x3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35415" y="4041559"/>
            <a:ext cx="750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x2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276494" y="3091988"/>
            <a:ext cx="750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x1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635264" y="3091988"/>
            <a:ext cx="750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-----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496348" y="3569734"/>
            <a:ext cx="750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x2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289980" y="3569734"/>
            <a:ext cx="750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-----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508072" y="4026932"/>
            <a:ext cx="750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x2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276493" y="4041559"/>
            <a:ext cx="750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2,x3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644559" y="4516398"/>
            <a:ext cx="750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-----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274063" y="4507578"/>
            <a:ext cx="750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x4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53854" y="4996934"/>
            <a:ext cx="750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-----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274062" y="4996934"/>
            <a:ext cx="750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-----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22" name="Table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4070465"/>
              </p:ext>
            </p:extLst>
          </p:nvPr>
        </p:nvGraphicFramePr>
        <p:xfrm>
          <a:off x="5912338" y="1392392"/>
          <a:ext cx="5447322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5774"/>
                <a:gridCol w="1815774"/>
                <a:gridCol w="1815774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States / Input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6367918" y="1764740"/>
            <a:ext cx="8926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-  [x0]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997355" y="1764740"/>
            <a:ext cx="750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[x1]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309232" y="1764740"/>
            <a:ext cx="750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D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306521" y="2134072"/>
            <a:ext cx="954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[x1]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27" name="Straight Arrow Connector 26"/>
          <p:cNvCxnSpPr/>
          <p:nvPr/>
        </p:nvCxnSpPr>
        <p:spPr>
          <a:xfrm flipV="1">
            <a:off x="1603632" y="4261646"/>
            <a:ext cx="1031631" cy="1"/>
          </a:xfrm>
          <a:prstGeom prst="straightConnector1">
            <a:avLst/>
          </a:prstGeom>
          <a:ln w="285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8288781" y="2134072"/>
            <a:ext cx="750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[x2]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9997354" y="2140525"/>
            <a:ext cx="750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D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" name="Multiply 29"/>
          <p:cNvSpPr/>
          <p:nvPr/>
        </p:nvSpPr>
        <p:spPr>
          <a:xfrm>
            <a:off x="10747632" y="1775567"/>
            <a:ext cx="257908" cy="410309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/>
          <p:cNvSpPr txBox="1"/>
          <p:nvPr/>
        </p:nvSpPr>
        <p:spPr>
          <a:xfrm>
            <a:off x="6310761" y="2515670"/>
            <a:ext cx="949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[x2]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281936" y="2479211"/>
            <a:ext cx="750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[x2]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9894627" y="2506961"/>
            <a:ext cx="8822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[x2,x3]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4" name="Multiply 33"/>
          <p:cNvSpPr/>
          <p:nvPr/>
        </p:nvSpPr>
        <p:spPr>
          <a:xfrm>
            <a:off x="9032213" y="2083956"/>
            <a:ext cx="257908" cy="410309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Multiply 34"/>
          <p:cNvSpPr/>
          <p:nvPr/>
        </p:nvSpPr>
        <p:spPr>
          <a:xfrm>
            <a:off x="9020510" y="2495181"/>
            <a:ext cx="257908" cy="410309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542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3" grpId="0"/>
      <p:bldP spid="34" grpId="0" animBg="1"/>
      <p:bldP spid="35" grpId="0" animBg="1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4125181" cy="660974"/>
          </a:xfrm>
        </p:spPr>
        <p:txBody>
          <a:bodyPr/>
          <a:lstStyle/>
          <a:p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Conversion Example</a:t>
            </a:r>
            <a:endParaRPr lang="en-US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93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189" y="1009646"/>
            <a:ext cx="5131180" cy="1124426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902324"/>
              </p:ext>
            </p:extLst>
          </p:nvPr>
        </p:nvGraphicFramePr>
        <p:xfrm>
          <a:off x="566616" y="2595359"/>
          <a:ext cx="4931508" cy="28324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3836"/>
                <a:gridCol w="1643836"/>
                <a:gridCol w="1643836"/>
              </a:tblGrid>
              <a:tr h="472071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States / Input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47207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47207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47207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47207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47207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987026" y="3091988"/>
            <a:ext cx="750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-  x0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35416" y="4996934"/>
            <a:ext cx="7502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+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x4</a:t>
            </a:r>
          </a:p>
          <a:p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35417" y="3549299"/>
            <a:ext cx="750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x1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35417" y="4516398"/>
            <a:ext cx="750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x3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35415" y="4041559"/>
            <a:ext cx="750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x2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276494" y="3091988"/>
            <a:ext cx="750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x1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635264" y="3091988"/>
            <a:ext cx="750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-----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496348" y="3569734"/>
            <a:ext cx="750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x2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289980" y="3569734"/>
            <a:ext cx="750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-----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508072" y="4026932"/>
            <a:ext cx="750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x2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276493" y="4041559"/>
            <a:ext cx="750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2,x3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644559" y="4516398"/>
            <a:ext cx="750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-----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274063" y="4507578"/>
            <a:ext cx="750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x4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53854" y="4996934"/>
            <a:ext cx="750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-----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274062" y="4996934"/>
            <a:ext cx="750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-----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22" name="Table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739645"/>
              </p:ext>
            </p:extLst>
          </p:nvPr>
        </p:nvGraphicFramePr>
        <p:xfrm>
          <a:off x="5912338" y="1392392"/>
          <a:ext cx="5447322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5774"/>
                <a:gridCol w="1815774"/>
                <a:gridCol w="1815774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States / Input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6367918" y="1764740"/>
            <a:ext cx="750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- [x0]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997355" y="1764740"/>
            <a:ext cx="750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[x1]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309232" y="1764740"/>
            <a:ext cx="750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D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306521" y="2134072"/>
            <a:ext cx="750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[x1]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27" name="Straight Arrow Connector 26"/>
          <p:cNvCxnSpPr/>
          <p:nvPr/>
        </p:nvCxnSpPr>
        <p:spPr>
          <a:xfrm flipV="1">
            <a:off x="1603632" y="4261646"/>
            <a:ext cx="1031631" cy="1"/>
          </a:xfrm>
          <a:prstGeom prst="straightConnector1">
            <a:avLst/>
          </a:prstGeom>
          <a:ln w="285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8288781" y="2134072"/>
            <a:ext cx="750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[x2]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9997354" y="2140525"/>
            <a:ext cx="750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D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" name="Multiply 29"/>
          <p:cNvSpPr/>
          <p:nvPr/>
        </p:nvSpPr>
        <p:spPr>
          <a:xfrm>
            <a:off x="10747632" y="1775567"/>
            <a:ext cx="257908" cy="410309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/>
          <p:cNvSpPr txBox="1"/>
          <p:nvPr/>
        </p:nvSpPr>
        <p:spPr>
          <a:xfrm>
            <a:off x="6310761" y="2515670"/>
            <a:ext cx="750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[x2]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281936" y="2479211"/>
            <a:ext cx="750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[x2]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9874521" y="2506961"/>
            <a:ext cx="902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[x2,x3]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4" name="Multiply 33"/>
          <p:cNvSpPr/>
          <p:nvPr/>
        </p:nvSpPr>
        <p:spPr>
          <a:xfrm>
            <a:off x="9032213" y="2083956"/>
            <a:ext cx="257908" cy="410309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Multiply 34"/>
          <p:cNvSpPr/>
          <p:nvPr/>
        </p:nvSpPr>
        <p:spPr>
          <a:xfrm>
            <a:off x="9020510" y="2495181"/>
            <a:ext cx="257908" cy="410309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/>
          <p:cNvSpPr txBox="1"/>
          <p:nvPr/>
        </p:nvSpPr>
        <p:spPr>
          <a:xfrm>
            <a:off x="6415704" y="2865269"/>
            <a:ext cx="872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[x2,x3]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7" name="Straight Arrow Connector 36"/>
          <p:cNvCxnSpPr/>
          <p:nvPr/>
        </p:nvCxnSpPr>
        <p:spPr>
          <a:xfrm flipV="1">
            <a:off x="1603633" y="4703728"/>
            <a:ext cx="1031631" cy="1"/>
          </a:xfrm>
          <a:prstGeom prst="straightConnector1">
            <a:avLst/>
          </a:prstGeom>
          <a:ln w="285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8284208" y="2849979"/>
            <a:ext cx="750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[x2]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9771797" y="2865269"/>
            <a:ext cx="11985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[x2,x3,x4]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0" name="Multiply 39"/>
          <p:cNvSpPr/>
          <p:nvPr/>
        </p:nvSpPr>
        <p:spPr>
          <a:xfrm>
            <a:off x="10841437" y="2479656"/>
            <a:ext cx="257908" cy="410309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Multiply 40"/>
          <p:cNvSpPr/>
          <p:nvPr/>
        </p:nvSpPr>
        <p:spPr>
          <a:xfrm>
            <a:off x="9018431" y="2837250"/>
            <a:ext cx="257908" cy="410309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919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  <p:bldP spid="39" grpId="0"/>
      <p:bldP spid="40" grpId="0" animBg="1"/>
      <p:bldP spid="41" grpId="0" animBg="1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4125181" cy="660974"/>
          </a:xfrm>
        </p:spPr>
        <p:txBody>
          <a:bodyPr/>
          <a:lstStyle/>
          <a:p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Conversion Example</a:t>
            </a:r>
            <a:endParaRPr lang="en-US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94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189" y="1009646"/>
            <a:ext cx="5131180" cy="1124426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3130972"/>
              </p:ext>
            </p:extLst>
          </p:nvPr>
        </p:nvGraphicFramePr>
        <p:xfrm>
          <a:off x="566616" y="2402006"/>
          <a:ext cx="4818315" cy="30257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6105"/>
                <a:gridCol w="1606105"/>
                <a:gridCol w="1606105"/>
              </a:tblGrid>
              <a:tr h="66542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States / Input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47207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47207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47207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47207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47207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987026" y="3091988"/>
            <a:ext cx="750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-  x0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35416" y="4996934"/>
            <a:ext cx="7502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+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x4</a:t>
            </a:r>
          </a:p>
          <a:p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35417" y="3549299"/>
            <a:ext cx="750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x1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35417" y="4516398"/>
            <a:ext cx="750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x3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35415" y="4041559"/>
            <a:ext cx="750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x2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276494" y="3091988"/>
            <a:ext cx="750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x1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635264" y="3091988"/>
            <a:ext cx="750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-----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496348" y="3569734"/>
            <a:ext cx="750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x2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289980" y="3569734"/>
            <a:ext cx="750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-----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508072" y="4026932"/>
            <a:ext cx="750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x2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276493" y="4041559"/>
            <a:ext cx="750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2,x3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644559" y="4516398"/>
            <a:ext cx="750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-----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274063" y="4507578"/>
            <a:ext cx="750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x4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53854" y="4996934"/>
            <a:ext cx="750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-----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274062" y="4996934"/>
            <a:ext cx="750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-----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22" name="Table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2610452"/>
              </p:ext>
            </p:extLst>
          </p:nvPr>
        </p:nvGraphicFramePr>
        <p:xfrm>
          <a:off x="5912338" y="1392392"/>
          <a:ext cx="5447322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5774"/>
                <a:gridCol w="1815774"/>
                <a:gridCol w="1815774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States / Input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6367918" y="1764740"/>
            <a:ext cx="8671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-  [x0]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997355" y="1764740"/>
            <a:ext cx="750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[x1]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309232" y="1764740"/>
            <a:ext cx="750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D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306521" y="2134072"/>
            <a:ext cx="8594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[ x1]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27" name="Straight Arrow Connector 26"/>
          <p:cNvCxnSpPr/>
          <p:nvPr/>
        </p:nvCxnSpPr>
        <p:spPr>
          <a:xfrm flipV="1">
            <a:off x="1603632" y="4261646"/>
            <a:ext cx="1031631" cy="1"/>
          </a:xfrm>
          <a:prstGeom prst="straightConnector1">
            <a:avLst/>
          </a:prstGeom>
          <a:ln w="285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8288781" y="2134072"/>
            <a:ext cx="750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[x2]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9997354" y="2140525"/>
            <a:ext cx="750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D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" name="Multiply 29"/>
          <p:cNvSpPr/>
          <p:nvPr/>
        </p:nvSpPr>
        <p:spPr>
          <a:xfrm>
            <a:off x="10747632" y="1775567"/>
            <a:ext cx="257908" cy="410309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/>
          <p:cNvSpPr txBox="1"/>
          <p:nvPr/>
        </p:nvSpPr>
        <p:spPr>
          <a:xfrm>
            <a:off x="6310761" y="2515670"/>
            <a:ext cx="750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[x2]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281936" y="2479211"/>
            <a:ext cx="750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[x2]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9902229" y="2506961"/>
            <a:ext cx="8746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[x2,x3]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4" name="Multiply 33"/>
          <p:cNvSpPr/>
          <p:nvPr/>
        </p:nvSpPr>
        <p:spPr>
          <a:xfrm>
            <a:off x="9032213" y="2083956"/>
            <a:ext cx="257908" cy="410309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Multiply 34"/>
          <p:cNvSpPr/>
          <p:nvPr/>
        </p:nvSpPr>
        <p:spPr>
          <a:xfrm>
            <a:off x="9020510" y="2495181"/>
            <a:ext cx="257908" cy="410309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/>
          <p:cNvSpPr txBox="1"/>
          <p:nvPr/>
        </p:nvSpPr>
        <p:spPr>
          <a:xfrm>
            <a:off x="6415704" y="2865269"/>
            <a:ext cx="8971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[x2,x3]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7" name="Straight Arrow Connector 36"/>
          <p:cNvCxnSpPr/>
          <p:nvPr/>
        </p:nvCxnSpPr>
        <p:spPr>
          <a:xfrm flipV="1">
            <a:off x="1603633" y="4703728"/>
            <a:ext cx="1031631" cy="1"/>
          </a:xfrm>
          <a:prstGeom prst="straightConnector1">
            <a:avLst/>
          </a:prstGeom>
          <a:ln w="285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8284208" y="2849979"/>
            <a:ext cx="750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[x2]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9646260" y="2865269"/>
            <a:ext cx="12303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[x2,x3,x4]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0" name="Multiply 39"/>
          <p:cNvSpPr/>
          <p:nvPr/>
        </p:nvSpPr>
        <p:spPr>
          <a:xfrm>
            <a:off x="10841437" y="2479656"/>
            <a:ext cx="257908" cy="410309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Multiply 40"/>
          <p:cNvSpPr/>
          <p:nvPr/>
        </p:nvSpPr>
        <p:spPr>
          <a:xfrm>
            <a:off x="9018431" y="2837250"/>
            <a:ext cx="257908" cy="410309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/>
          <p:cNvSpPr txBox="1"/>
          <p:nvPr/>
        </p:nvSpPr>
        <p:spPr>
          <a:xfrm>
            <a:off x="6310761" y="3276654"/>
            <a:ext cx="11701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[x2,x3,x4]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3" name="Straight Arrow Connector 42"/>
          <p:cNvCxnSpPr/>
          <p:nvPr/>
        </p:nvCxnSpPr>
        <p:spPr>
          <a:xfrm flipV="1">
            <a:off x="1537352" y="5181600"/>
            <a:ext cx="1031631" cy="1"/>
          </a:xfrm>
          <a:prstGeom prst="straightConnector1">
            <a:avLst/>
          </a:prstGeom>
          <a:ln w="285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8272832" y="3234395"/>
            <a:ext cx="750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[x2]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9646261" y="3251867"/>
            <a:ext cx="1227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[x2,x3,x4]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6" name="Multiply 45"/>
          <p:cNvSpPr/>
          <p:nvPr/>
        </p:nvSpPr>
        <p:spPr>
          <a:xfrm>
            <a:off x="9059509" y="3206454"/>
            <a:ext cx="257908" cy="410309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Multiply 46"/>
          <p:cNvSpPr/>
          <p:nvPr/>
        </p:nvSpPr>
        <p:spPr>
          <a:xfrm>
            <a:off x="10873524" y="2816122"/>
            <a:ext cx="257908" cy="410309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Multiply 47"/>
          <p:cNvSpPr/>
          <p:nvPr/>
        </p:nvSpPr>
        <p:spPr>
          <a:xfrm>
            <a:off x="10876586" y="3248111"/>
            <a:ext cx="257908" cy="410309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/>
          <p:cNvSpPr/>
          <p:nvPr/>
        </p:nvSpPr>
        <p:spPr>
          <a:xfrm>
            <a:off x="6022938" y="4497795"/>
            <a:ext cx="790164" cy="676926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x0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0" name="Oval 49"/>
          <p:cNvSpPr/>
          <p:nvPr/>
        </p:nvSpPr>
        <p:spPr>
          <a:xfrm>
            <a:off x="7509337" y="4449643"/>
            <a:ext cx="790164" cy="676926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x1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1" name="Oval 50"/>
          <p:cNvSpPr/>
          <p:nvPr/>
        </p:nvSpPr>
        <p:spPr>
          <a:xfrm>
            <a:off x="9112065" y="4394853"/>
            <a:ext cx="790164" cy="676926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x2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52" name="Group 51"/>
          <p:cNvGrpSpPr/>
          <p:nvPr/>
        </p:nvGrpSpPr>
        <p:grpSpPr>
          <a:xfrm>
            <a:off x="10587611" y="5725684"/>
            <a:ext cx="1186400" cy="1030137"/>
            <a:chOff x="9006217" y="5143755"/>
            <a:chExt cx="926728" cy="829326"/>
          </a:xfrm>
        </p:grpSpPr>
        <p:sp>
          <p:nvSpPr>
            <p:cNvPr id="53" name="Oval 52"/>
            <p:cNvSpPr/>
            <p:nvPr/>
          </p:nvSpPr>
          <p:spPr>
            <a:xfrm>
              <a:off x="9006217" y="5143755"/>
              <a:ext cx="926728" cy="829326"/>
            </a:xfrm>
            <a:prstGeom prst="ellipse">
              <a:avLst/>
            </a:prstGeom>
            <a:solidFill>
              <a:srgbClr val="C0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4" name="Oval 53"/>
            <p:cNvSpPr/>
            <p:nvPr/>
          </p:nvSpPr>
          <p:spPr>
            <a:xfrm>
              <a:off x="9072445" y="5225702"/>
              <a:ext cx="790164" cy="676926"/>
            </a:xfrm>
            <a:prstGeom prst="ellipse">
              <a:avLst/>
            </a:prstGeom>
            <a:solidFill>
              <a:srgbClr val="C0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x2</a:t>
              </a:r>
            </a:p>
            <a:p>
              <a:pPr algn="ctr"/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X3</a:t>
              </a:r>
            </a:p>
            <a:p>
              <a:pPr algn="ctr"/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x4</a:t>
              </a:r>
              <a:endParaRPr lang="en-US" sz="16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cxnSp>
        <p:nvCxnSpPr>
          <p:cNvPr id="55" name="Straight Arrow Connector 54">
            <a:extLst>
              <a:ext uri="{FF2B5EF4-FFF2-40B4-BE49-F238E27FC236}">
                <a16:creationId xmlns="" xmlns:a16="http://schemas.microsoft.com/office/drawing/2014/main" id="{2A64AF20-9BB6-44DB-B3F9-B26841D4FFE1}"/>
              </a:ext>
            </a:extLst>
          </p:cNvPr>
          <p:cNvCxnSpPr/>
          <p:nvPr/>
        </p:nvCxnSpPr>
        <p:spPr>
          <a:xfrm>
            <a:off x="6813102" y="4788106"/>
            <a:ext cx="695164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="" xmlns:a16="http://schemas.microsoft.com/office/drawing/2014/main" id="{2A64AF20-9BB6-44DB-B3F9-B26841D4FFE1}"/>
              </a:ext>
            </a:extLst>
          </p:cNvPr>
          <p:cNvCxnSpPr/>
          <p:nvPr/>
        </p:nvCxnSpPr>
        <p:spPr>
          <a:xfrm flipV="1">
            <a:off x="8328881" y="4759091"/>
            <a:ext cx="735049" cy="1196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="" xmlns:a16="http://schemas.microsoft.com/office/drawing/2014/main" id="{2A64AF20-9BB6-44DB-B3F9-B26841D4FFE1}"/>
              </a:ext>
            </a:extLst>
          </p:cNvPr>
          <p:cNvCxnSpPr/>
          <p:nvPr/>
        </p:nvCxnSpPr>
        <p:spPr>
          <a:xfrm flipV="1">
            <a:off x="9944230" y="4744802"/>
            <a:ext cx="735049" cy="1196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6821128" y="4383095"/>
            <a:ext cx="4916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b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2" name="Arc 61">
            <a:extLst>
              <a:ext uri="{FF2B5EF4-FFF2-40B4-BE49-F238E27FC236}">
                <a16:creationId xmlns="" xmlns:a16="http://schemas.microsoft.com/office/drawing/2014/main" id="{0F23AE9C-F3AD-487C-BA92-C0E9498BAF38}"/>
              </a:ext>
            </a:extLst>
          </p:cNvPr>
          <p:cNvSpPr/>
          <p:nvPr/>
        </p:nvSpPr>
        <p:spPr>
          <a:xfrm>
            <a:off x="9237080" y="3989805"/>
            <a:ext cx="540134" cy="887105"/>
          </a:xfrm>
          <a:prstGeom prst="arc">
            <a:avLst>
              <a:gd name="adj1" fmla="val 10711483"/>
              <a:gd name="adj2" fmla="val 0"/>
            </a:avLst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Curved Down Arrow 64"/>
          <p:cNvSpPr/>
          <p:nvPr/>
        </p:nvSpPr>
        <p:spPr>
          <a:xfrm rot="10800000">
            <a:off x="9777210" y="4996934"/>
            <a:ext cx="1117205" cy="323165"/>
          </a:xfrm>
          <a:prstGeom prst="curvedDown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="" xmlns:a16="http://schemas.microsoft.com/office/drawing/2014/main" id="{2A64AF20-9BB6-44DB-B3F9-B26841D4FFE1}"/>
              </a:ext>
            </a:extLst>
          </p:cNvPr>
          <p:cNvCxnSpPr/>
          <p:nvPr/>
        </p:nvCxnSpPr>
        <p:spPr>
          <a:xfrm>
            <a:off x="5630740" y="4805294"/>
            <a:ext cx="39125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Oval 70"/>
          <p:cNvSpPr/>
          <p:nvPr/>
        </p:nvSpPr>
        <p:spPr>
          <a:xfrm>
            <a:off x="8157761" y="5776664"/>
            <a:ext cx="790164" cy="676926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D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72" name="Straight Arrow Connector 71">
            <a:extLst>
              <a:ext uri="{FF2B5EF4-FFF2-40B4-BE49-F238E27FC236}">
                <a16:creationId xmlns="" xmlns:a16="http://schemas.microsoft.com/office/drawing/2014/main" id="{2A64AF20-9BB6-44DB-B3F9-B26841D4FFE1}"/>
              </a:ext>
            </a:extLst>
          </p:cNvPr>
          <p:cNvCxnSpPr/>
          <p:nvPr/>
        </p:nvCxnSpPr>
        <p:spPr>
          <a:xfrm>
            <a:off x="6685899" y="5126569"/>
            <a:ext cx="1471862" cy="934407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="" xmlns:a16="http://schemas.microsoft.com/office/drawing/2014/main" id="{2A64AF20-9BB6-44DB-B3F9-B26841D4FFE1}"/>
              </a:ext>
            </a:extLst>
          </p:cNvPr>
          <p:cNvCxnSpPr/>
          <p:nvPr/>
        </p:nvCxnSpPr>
        <p:spPr>
          <a:xfrm>
            <a:off x="8035285" y="5160224"/>
            <a:ext cx="373297" cy="647035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Arc 74">
            <a:extLst>
              <a:ext uri="{FF2B5EF4-FFF2-40B4-BE49-F238E27FC236}">
                <a16:creationId xmlns="" xmlns:a16="http://schemas.microsoft.com/office/drawing/2014/main" id="{0F23AE9C-F3AD-487C-BA92-C0E9498BAF38}"/>
              </a:ext>
            </a:extLst>
          </p:cNvPr>
          <p:cNvSpPr/>
          <p:nvPr/>
        </p:nvSpPr>
        <p:spPr>
          <a:xfrm rot="5059117">
            <a:off x="8677857" y="5638384"/>
            <a:ext cx="540134" cy="887105"/>
          </a:xfrm>
          <a:prstGeom prst="arc">
            <a:avLst>
              <a:gd name="adj1" fmla="val 10711483"/>
              <a:gd name="adj2" fmla="val 0"/>
            </a:avLst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TextBox 75"/>
          <p:cNvSpPr txBox="1"/>
          <p:nvPr/>
        </p:nvSpPr>
        <p:spPr>
          <a:xfrm>
            <a:off x="9353048" y="5847780"/>
            <a:ext cx="7502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a/b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6989198" y="5412432"/>
            <a:ext cx="4916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a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8418070" y="4355467"/>
            <a:ext cx="4916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a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9" name="Oval 78"/>
          <p:cNvSpPr/>
          <p:nvPr/>
        </p:nvSpPr>
        <p:spPr>
          <a:xfrm>
            <a:off x="10679279" y="4355467"/>
            <a:ext cx="790164" cy="73235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2</a:t>
            </a:r>
          </a:p>
          <a:p>
            <a:pPr algn="ctr"/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x3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80" name="Straight Arrow Connector 79">
            <a:extLst>
              <a:ext uri="{FF2B5EF4-FFF2-40B4-BE49-F238E27FC236}">
                <a16:creationId xmlns="" xmlns:a16="http://schemas.microsoft.com/office/drawing/2014/main" id="{2A64AF20-9BB6-44DB-B3F9-B26841D4FFE1}"/>
              </a:ext>
            </a:extLst>
          </p:cNvPr>
          <p:cNvCxnSpPr/>
          <p:nvPr/>
        </p:nvCxnSpPr>
        <p:spPr>
          <a:xfrm>
            <a:off x="11126219" y="5130799"/>
            <a:ext cx="0" cy="594885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8176650" y="5125558"/>
            <a:ext cx="4916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b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8901536" y="3810726"/>
            <a:ext cx="4916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a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10026613" y="4288943"/>
            <a:ext cx="4916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b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11033417" y="5147049"/>
            <a:ext cx="4916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b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10121806" y="4940296"/>
            <a:ext cx="4916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a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7" name="Arc 86">
            <a:extLst>
              <a:ext uri="{FF2B5EF4-FFF2-40B4-BE49-F238E27FC236}">
                <a16:creationId xmlns="" xmlns:a16="http://schemas.microsoft.com/office/drawing/2014/main" id="{0F23AE9C-F3AD-487C-BA92-C0E9498BAF38}"/>
              </a:ext>
            </a:extLst>
          </p:cNvPr>
          <p:cNvSpPr/>
          <p:nvPr/>
        </p:nvSpPr>
        <p:spPr>
          <a:xfrm rot="16012295">
            <a:off x="10385784" y="5797199"/>
            <a:ext cx="540134" cy="887105"/>
          </a:xfrm>
          <a:prstGeom prst="arc">
            <a:avLst>
              <a:gd name="adj1" fmla="val 10711483"/>
              <a:gd name="adj2" fmla="val 0"/>
            </a:avLst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TextBox 87"/>
          <p:cNvSpPr txBox="1"/>
          <p:nvPr/>
        </p:nvSpPr>
        <p:spPr>
          <a:xfrm>
            <a:off x="9960673" y="6194532"/>
            <a:ext cx="7502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b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89" name="Straight Arrow Connector 88">
            <a:extLst>
              <a:ext uri="{FF2B5EF4-FFF2-40B4-BE49-F238E27FC236}">
                <a16:creationId xmlns="" xmlns:a16="http://schemas.microsoft.com/office/drawing/2014/main" id="{2A64AF20-9BB6-44DB-B3F9-B26841D4FFE1}"/>
              </a:ext>
            </a:extLst>
          </p:cNvPr>
          <p:cNvCxnSpPr>
            <a:stCxn id="53" idx="1"/>
          </p:cNvCxnSpPr>
          <p:nvPr/>
        </p:nvCxnSpPr>
        <p:spPr>
          <a:xfrm flipH="1" flipV="1">
            <a:off x="9646260" y="5121037"/>
            <a:ext cx="1115095" cy="755507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TextBox 91"/>
          <p:cNvSpPr txBox="1"/>
          <p:nvPr/>
        </p:nvSpPr>
        <p:spPr>
          <a:xfrm>
            <a:off x="9871459" y="5374426"/>
            <a:ext cx="4916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a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5931383" y="3213620"/>
            <a:ext cx="4843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+</a:t>
            </a:r>
            <a:endParaRPr lang="en-US" sz="2000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8462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45" grpId="0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9" grpId="0"/>
      <p:bldP spid="62" grpId="0" animBg="1"/>
      <p:bldP spid="65" grpId="0" animBg="1"/>
      <p:bldP spid="71" grpId="0" animBg="1"/>
      <p:bldP spid="75" grpId="0" animBg="1"/>
      <p:bldP spid="76" grpId="0"/>
      <p:bldP spid="77" grpId="0"/>
      <p:bldP spid="78" grpId="0"/>
      <p:bldP spid="79" grpId="0" animBg="1"/>
      <p:bldP spid="82" grpId="0"/>
      <p:bldP spid="83" grpId="0"/>
      <p:bldP spid="84" grpId="0"/>
      <p:bldP spid="85" grpId="0"/>
      <p:bldP spid="86" grpId="0"/>
      <p:bldP spid="87" grpId="0" animBg="1"/>
      <p:bldP spid="88" grpId="0"/>
      <p:bldP spid="92" grpId="0"/>
      <p:bldP spid="81" grpId="0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8094" y="251414"/>
            <a:ext cx="8946541" cy="1208896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All words that having b as a third last character are valid.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RE = (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a+b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)* b (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a+b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)(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a+b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95</a:t>
            </a:fld>
            <a:endParaRPr lang="en-US"/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301" y="1378883"/>
            <a:ext cx="5143452" cy="1206908"/>
          </a:xfrm>
          <a:prstGeom prst="rect">
            <a:avLst/>
          </a:prstGeom>
        </p:spPr>
      </p:pic>
      <p:graphicFrame>
        <p:nvGraphicFramePr>
          <p:cNvPr id="21" name="Table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6146214"/>
              </p:ext>
            </p:extLst>
          </p:nvPr>
        </p:nvGraphicFramePr>
        <p:xfrm>
          <a:off x="329301" y="2876014"/>
          <a:ext cx="4982949" cy="28715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0983"/>
                <a:gridCol w="1660983"/>
                <a:gridCol w="1660983"/>
              </a:tblGrid>
              <a:tr h="51047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States/Input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57045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57045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557773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662403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747659" y="3436101"/>
            <a:ext cx="75027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-  x0</a:t>
            </a:r>
            <a:endParaRPr lang="en-US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35163" y="5133401"/>
            <a:ext cx="97527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+</a:t>
            </a:r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x3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755" y="3958722"/>
            <a:ext cx="75027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x1</a:t>
            </a:r>
            <a:endParaRPr lang="en-US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76107" y="4519219"/>
            <a:ext cx="75027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x2</a:t>
            </a:r>
            <a:endParaRPr lang="en-US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343408" y="3408804"/>
            <a:ext cx="75027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x0</a:t>
            </a:r>
            <a:endParaRPr lang="en-US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010708" y="3395157"/>
            <a:ext cx="102531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x0,x1</a:t>
            </a:r>
            <a:endParaRPr lang="en-US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966446" y="3972370"/>
            <a:ext cx="75027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x2</a:t>
            </a:r>
            <a:endParaRPr lang="en-US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316112" y="3978038"/>
            <a:ext cx="75027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x2</a:t>
            </a:r>
            <a:endParaRPr lang="en-US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311755" y="4547677"/>
            <a:ext cx="75027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x3</a:t>
            </a:r>
            <a:endParaRPr lang="en-US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3965407" y="4531470"/>
            <a:ext cx="75027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x3</a:t>
            </a:r>
            <a:endParaRPr lang="en-US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2316112" y="5138648"/>
            <a:ext cx="75027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-----</a:t>
            </a:r>
            <a:endParaRPr lang="en-US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010708" y="5157543"/>
            <a:ext cx="75027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-----</a:t>
            </a:r>
            <a:endParaRPr lang="en-US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6912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8094" y="251414"/>
            <a:ext cx="8946541" cy="1208896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All words that having b as a third last character are valid.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RE = (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a+b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)* b (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a+b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)(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a+b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96</a:t>
            </a:fld>
            <a:endParaRPr lang="en-US"/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301" y="1378883"/>
            <a:ext cx="5143452" cy="1206908"/>
          </a:xfrm>
          <a:prstGeom prst="rect">
            <a:avLst/>
          </a:prstGeom>
        </p:spPr>
      </p:pic>
      <p:graphicFrame>
        <p:nvGraphicFramePr>
          <p:cNvPr id="21" name="Table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935795"/>
              </p:ext>
            </p:extLst>
          </p:nvPr>
        </p:nvGraphicFramePr>
        <p:xfrm>
          <a:off x="329301" y="2876014"/>
          <a:ext cx="4982949" cy="28715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0983"/>
                <a:gridCol w="1660983"/>
                <a:gridCol w="1660983"/>
              </a:tblGrid>
              <a:tr h="51047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States/Input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57045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57045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557773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662403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747659" y="3436101"/>
            <a:ext cx="75027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-  x0</a:t>
            </a:r>
            <a:endParaRPr lang="en-US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35163" y="5133401"/>
            <a:ext cx="97527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+</a:t>
            </a:r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x3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755" y="3958722"/>
            <a:ext cx="75027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x1</a:t>
            </a:r>
            <a:endParaRPr lang="en-US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76107" y="4519219"/>
            <a:ext cx="75027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x2</a:t>
            </a:r>
            <a:endParaRPr lang="en-US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343408" y="3408804"/>
            <a:ext cx="75027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x0</a:t>
            </a:r>
            <a:endParaRPr lang="en-US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010708" y="3395157"/>
            <a:ext cx="102531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x0,x1</a:t>
            </a:r>
            <a:endParaRPr lang="en-US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966446" y="3972370"/>
            <a:ext cx="75027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x2</a:t>
            </a:r>
            <a:endParaRPr lang="en-US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316112" y="3978038"/>
            <a:ext cx="75027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x2</a:t>
            </a:r>
            <a:endParaRPr lang="en-US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311755" y="4547677"/>
            <a:ext cx="75027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x3</a:t>
            </a:r>
            <a:endParaRPr lang="en-US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3965407" y="4531470"/>
            <a:ext cx="75027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x3</a:t>
            </a:r>
            <a:endParaRPr lang="en-US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2316112" y="5138648"/>
            <a:ext cx="75027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-----</a:t>
            </a:r>
            <a:endParaRPr lang="en-US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010708" y="5157543"/>
            <a:ext cx="75027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-----</a:t>
            </a:r>
            <a:endParaRPr lang="en-US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34" name="Table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2269558"/>
              </p:ext>
            </p:extLst>
          </p:nvPr>
        </p:nvGraphicFramePr>
        <p:xfrm>
          <a:off x="6167273" y="1378882"/>
          <a:ext cx="5856405" cy="13233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2135"/>
                <a:gridCol w="1952135"/>
                <a:gridCol w="1952135"/>
              </a:tblGrid>
              <a:tr h="713424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States/Input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60995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5" name="TextBox 34"/>
          <p:cNvSpPr txBox="1"/>
          <p:nvPr/>
        </p:nvSpPr>
        <p:spPr>
          <a:xfrm>
            <a:off x="6632118" y="2154904"/>
            <a:ext cx="75027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-  x0</a:t>
            </a:r>
            <a:endParaRPr lang="en-US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691892" y="2168551"/>
            <a:ext cx="75027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[x0]</a:t>
            </a:r>
            <a:endParaRPr lang="en-US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0509318" y="2154904"/>
            <a:ext cx="114587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[</a:t>
            </a:r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x0,x1]</a:t>
            </a:r>
            <a:endParaRPr lang="en-US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8" name="Multiply 37"/>
          <p:cNvSpPr/>
          <p:nvPr/>
        </p:nvSpPr>
        <p:spPr>
          <a:xfrm>
            <a:off x="9578650" y="2091132"/>
            <a:ext cx="247740" cy="585724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154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37" grpId="0"/>
      <p:bldP spid="38" grpId="0" animBg="1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8094" y="251414"/>
            <a:ext cx="8946541" cy="1208896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All words that having b as a third last character are valid.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RE = (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a+b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)* b (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a+b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)(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a+b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97</a:t>
            </a:fld>
            <a:endParaRPr lang="en-US"/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301" y="1378883"/>
            <a:ext cx="5143452" cy="1206908"/>
          </a:xfrm>
          <a:prstGeom prst="rect">
            <a:avLst/>
          </a:prstGeom>
        </p:spPr>
      </p:pic>
      <p:graphicFrame>
        <p:nvGraphicFramePr>
          <p:cNvPr id="21" name="Table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7153165"/>
              </p:ext>
            </p:extLst>
          </p:nvPr>
        </p:nvGraphicFramePr>
        <p:xfrm>
          <a:off x="329301" y="2876014"/>
          <a:ext cx="4982949" cy="28715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0983"/>
                <a:gridCol w="1660983"/>
                <a:gridCol w="1660983"/>
              </a:tblGrid>
              <a:tr h="51047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States/Input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57045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57045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557773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662403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747659" y="3436101"/>
            <a:ext cx="75027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-  x0</a:t>
            </a:r>
            <a:endParaRPr lang="en-US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35163" y="5133401"/>
            <a:ext cx="97527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+</a:t>
            </a:r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x3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755" y="3958722"/>
            <a:ext cx="75027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x1</a:t>
            </a:r>
            <a:endParaRPr lang="en-US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76107" y="4519219"/>
            <a:ext cx="75027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x2</a:t>
            </a:r>
            <a:endParaRPr lang="en-US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343408" y="3408804"/>
            <a:ext cx="75027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x0</a:t>
            </a:r>
            <a:endParaRPr lang="en-US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010708" y="3395157"/>
            <a:ext cx="102531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x0,x1</a:t>
            </a:r>
            <a:endParaRPr lang="en-US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966446" y="3972370"/>
            <a:ext cx="75027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x2</a:t>
            </a:r>
            <a:endParaRPr lang="en-US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316112" y="3978038"/>
            <a:ext cx="75027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x2</a:t>
            </a:r>
            <a:endParaRPr lang="en-US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311755" y="4547677"/>
            <a:ext cx="75027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x3</a:t>
            </a:r>
            <a:endParaRPr lang="en-US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3965407" y="4531470"/>
            <a:ext cx="75027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x3</a:t>
            </a:r>
            <a:endParaRPr lang="en-US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2316112" y="5138648"/>
            <a:ext cx="75027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-----</a:t>
            </a:r>
            <a:endParaRPr lang="en-US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010708" y="5157543"/>
            <a:ext cx="75027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-----</a:t>
            </a:r>
            <a:endParaRPr lang="en-US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34" name="Table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7874674"/>
              </p:ext>
            </p:extLst>
          </p:nvPr>
        </p:nvGraphicFramePr>
        <p:xfrm>
          <a:off x="6167273" y="1378882"/>
          <a:ext cx="5856405" cy="19333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2135"/>
                <a:gridCol w="1952135"/>
                <a:gridCol w="1952135"/>
              </a:tblGrid>
              <a:tr h="713424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States/Input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60995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60995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5" name="TextBox 34"/>
          <p:cNvSpPr txBox="1"/>
          <p:nvPr/>
        </p:nvSpPr>
        <p:spPr>
          <a:xfrm>
            <a:off x="6632118" y="2154904"/>
            <a:ext cx="88779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- [x0]</a:t>
            </a:r>
            <a:endParaRPr lang="en-US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691892" y="2168551"/>
            <a:ext cx="75027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[x0]</a:t>
            </a:r>
            <a:endParaRPr lang="en-US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0509318" y="2154904"/>
            <a:ext cx="102531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[x0,x1]</a:t>
            </a:r>
            <a:endParaRPr lang="en-US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8" name="Multiply 37"/>
          <p:cNvSpPr/>
          <p:nvPr/>
        </p:nvSpPr>
        <p:spPr>
          <a:xfrm>
            <a:off x="9578650" y="2091132"/>
            <a:ext cx="247740" cy="585724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/>
          <p:cNvSpPr txBox="1"/>
          <p:nvPr/>
        </p:nvSpPr>
        <p:spPr>
          <a:xfrm>
            <a:off x="6550230" y="2738191"/>
            <a:ext cx="113345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[x0,x1]</a:t>
            </a:r>
            <a:endParaRPr lang="en-US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0" name="Straight Arrow Connector 39"/>
          <p:cNvCxnSpPr/>
          <p:nvPr/>
        </p:nvCxnSpPr>
        <p:spPr>
          <a:xfrm flipV="1">
            <a:off x="1329636" y="4220777"/>
            <a:ext cx="1343610" cy="2845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 flipV="1">
            <a:off x="1343283" y="3651544"/>
            <a:ext cx="1343610" cy="2845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8446230" y="2738191"/>
            <a:ext cx="113345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[x0,x2]</a:t>
            </a:r>
            <a:endParaRPr lang="en-US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10181230" y="2738190"/>
            <a:ext cx="135340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[x0,x1,x2]</a:t>
            </a:r>
            <a:endParaRPr lang="en-US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4" name="Multiply 43"/>
          <p:cNvSpPr/>
          <p:nvPr/>
        </p:nvSpPr>
        <p:spPr>
          <a:xfrm>
            <a:off x="11534633" y="2077485"/>
            <a:ext cx="247740" cy="585724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568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43" grpId="0"/>
      <p:bldP spid="44" grpId="0" animBg="1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8094" y="251414"/>
            <a:ext cx="8946541" cy="1208896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All words that having b as a third last character are valid.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RE = (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a+b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)* b (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a+b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)(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a+b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98</a:t>
            </a:fld>
            <a:endParaRPr lang="en-US"/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301" y="1378883"/>
            <a:ext cx="5143452" cy="1206908"/>
          </a:xfrm>
          <a:prstGeom prst="rect">
            <a:avLst/>
          </a:prstGeom>
        </p:spPr>
      </p:pic>
      <p:graphicFrame>
        <p:nvGraphicFramePr>
          <p:cNvPr id="21" name="Table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1653343"/>
              </p:ext>
            </p:extLst>
          </p:nvPr>
        </p:nvGraphicFramePr>
        <p:xfrm>
          <a:off x="329301" y="2876014"/>
          <a:ext cx="4982949" cy="28715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0983"/>
                <a:gridCol w="1660983"/>
                <a:gridCol w="1660983"/>
              </a:tblGrid>
              <a:tr h="51047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States/Input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57045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57045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557773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662403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747659" y="3436101"/>
            <a:ext cx="75027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-  x0</a:t>
            </a:r>
            <a:endParaRPr lang="en-US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35163" y="5133401"/>
            <a:ext cx="97527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+</a:t>
            </a:r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x3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755" y="3958722"/>
            <a:ext cx="75027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x1</a:t>
            </a:r>
            <a:endParaRPr lang="en-US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76107" y="4519219"/>
            <a:ext cx="75027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x2</a:t>
            </a:r>
            <a:endParaRPr lang="en-US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343408" y="3408804"/>
            <a:ext cx="75027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x0</a:t>
            </a:r>
            <a:endParaRPr lang="en-US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010708" y="3395157"/>
            <a:ext cx="102531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x0,x1</a:t>
            </a:r>
            <a:endParaRPr lang="en-US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966446" y="3972370"/>
            <a:ext cx="75027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x2</a:t>
            </a:r>
            <a:endParaRPr lang="en-US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316112" y="3978038"/>
            <a:ext cx="75027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x2</a:t>
            </a:r>
            <a:endParaRPr lang="en-US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311755" y="4547677"/>
            <a:ext cx="75027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x3</a:t>
            </a:r>
            <a:endParaRPr lang="en-US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3965407" y="4531470"/>
            <a:ext cx="75027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x3</a:t>
            </a:r>
            <a:endParaRPr lang="en-US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2316112" y="5138648"/>
            <a:ext cx="75027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-----</a:t>
            </a:r>
            <a:endParaRPr lang="en-US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010708" y="5157543"/>
            <a:ext cx="75027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-----</a:t>
            </a:r>
            <a:endParaRPr lang="en-US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34" name="Table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2800208"/>
              </p:ext>
            </p:extLst>
          </p:nvPr>
        </p:nvGraphicFramePr>
        <p:xfrm>
          <a:off x="6167273" y="1378882"/>
          <a:ext cx="5856405" cy="25432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2135"/>
                <a:gridCol w="1952135"/>
                <a:gridCol w="1952135"/>
              </a:tblGrid>
              <a:tr h="713424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States/Input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60995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60995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60995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5" name="TextBox 34"/>
          <p:cNvSpPr txBox="1"/>
          <p:nvPr/>
        </p:nvSpPr>
        <p:spPr>
          <a:xfrm>
            <a:off x="6632118" y="2154904"/>
            <a:ext cx="88779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- [x0]</a:t>
            </a:r>
            <a:endParaRPr lang="en-US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691892" y="2168551"/>
            <a:ext cx="75027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[x0]</a:t>
            </a:r>
            <a:endParaRPr lang="en-US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0509318" y="2154904"/>
            <a:ext cx="102531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[x0,x1]</a:t>
            </a:r>
            <a:endParaRPr lang="en-US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8" name="Multiply 37"/>
          <p:cNvSpPr/>
          <p:nvPr/>
        </p:nvSpPr>
        <p:spPr>
          <a:xfrm>
            <a:off x="9578650" y="2091132"/>
            <a:ext cx="247740" cy="585724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/>
          <p:cNvSpPr txBox="1"/>
          <p:nvPr/>
        </p:nvSpPr>
        <p:spPr>
          <a:xfrm>
            <a:off x="6550230" y="2738191"/>
            <a:ext cx="113345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[x0,x1]</a:t>
            </a:r>
            <a:endParaRPr lang="en-US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0" name="Straight Arrow Connector 39"/>
          <p:cNvCxnSpPr/>
          <p:nvPr/>
        </p:nvCxnSpPr>
        <p:spPr>
          <a:xfrm flipV="1">
            <a:off x="1329636" y="4763120"/>
            <a:ext cx="1343610" cy="2845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 flipV="1">
            <a:off x="1343283" y="3651544"/>
            <a:ext cx="1343610" cy="2845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8446230" y="2738191"/>
            <a:ext cx="113345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[x0,x2]</a:t>
            </a:r>
            <a:endParaRPr lang="en-US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10181230" y="2738190"/>
            <a:ext cx="135340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[x0,x1,x2]</a:t>
            </a:r>
            <a:endParaRPr lang="en-US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4" name="Multiply 43"/>
          <p:cNvSpPr/>
          <p:nvPr/>
        </p:nvSpPr>
        <p:spPr>
          <a:xfrm>
            <a:off x="11534633" y="2077485"/>
            <a:ext cx="247740" cy="585724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/>
          <p:cNvSpPr txBox="1"/>
          <p:nvPr/>
        </p:nvSpPr>
        <p:spPr>
          <a:xfrm>
            <a:off x="6575445" y="3381509"/>
            <a:ext cx="113345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[x0,x2]</a:t>
            </a:r>
            <a:endParaRPr lang="en-US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8456758" y="3354212"/>
            <a:ext cx="113345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[x0,x3]</a:t>
            </a:r>
            <a:endParaRPr lang="en-US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0223212" y="3381509"/>
            <a:ext cx="135340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[x0,x1,x3]</a:t>
            </a:r>
            <a:endParaRPr lang="en-US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8" name="Multiply 47"/>
          <p:cNvSpPr/>
          <p:nvPr/>
        </p:nvSpPr>
        <p:spPr>
          <a:xfrm>
            <a:off x="9578650" y="2729842"/>
            <a:ext cx="247740" cy="585724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1602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  <p:bldP spid="47" grpId="0"/>
      <p:bldP spid="48" grpId="0" animBg="1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8094" y="251414"/>
            <a:ext cx="8946541" cy="1208896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All words that having b as a third last character are valid.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RE = (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a+b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)* b (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a+b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)(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a+b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99</a:t>
            </a:fld>
            <a:endParaRPr lang="en-US"/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301" y="1378883"/>
            <a:ext cx="5143452" cy="1206908"/>
          </a:xfrm>
          <a:prstGeom prst="rect">
            <a:avLst/>
          </a:prstGeom>
        </p:spPr>
      </p:pic>
      <p:graphicFrame>
        <p:nvGraphicFramePr>
          <p:cNvPr id="21" name="Table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6356417"/>
              </p:ext>
            </p:extLst>
          </p:nvPr>
        </p:nvGraphicFramePr>
        <p:xfrm>
          <a:off x="329301" y="2876014"/>
          <a:ext cx="4982949" cy="28715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0983"/>
                <a:gridCol w="1660983"/>
                <a:gridCol w="1660983"/>
              </a:tblGrid>
              <a:tr h="51047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States/Input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57045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57045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557773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662403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747659" y="3436101"/>
            <a:ext cx="75027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-  x0</a:t>
            </a:r>
            <a:endParaRPr lang="en-US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35163" y="5133401"/>
            <a:ext cx="97527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+</a:t>
            </a:r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x3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755" y="3958722"/>
            <a:ext cx="75027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x1</a:t>
            </a:r>
            <a:endParaRPr lang="en-US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76107" y="4519219"/>
            <a:ext cx="75027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x2</a:t>
            </a:r>
            <a:endParaRPr lang="en-US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343408" y="3408804"/>
            <a:ext cx="75027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x0</a:t>
            </a:r>
            <a:endParaRPr lang="en-US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010708" y="3395157"/>
            <a:ext cx="102531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x0,x1</a:t>
            </a:r>
            <a:endParaRPr lang="en-US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966446" y="3972370"/>
            <a:ext cx="75027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x2</a:t>
            </a:r>
            <a:endParaRPr lang="en-US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316112" y="3978038"/>
            <a:ext cx="75027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x2</a:t>
            </a:r>
            <a:endParaRPr lang="en-US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311755" y="4547677"/>
            <a:ext cx="75027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x3</a:t>
            </a:r>
            <a:endParaRPr lang="en-US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3965407" y="4531470"/>
            <a:ext cx="75027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x3</a:t>
            </a:r>
            <a:endParaRPr lang="en-US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2316112" y="5138648"/>
            <a:ext cx="75027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-----</a:t>
            </a:r>
            <a:endParaRPr lang="en-US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010708" y="5157543"/>
            <a:ext cx="75027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-----</a:t>
            </a:r>
            <a:endParaRPr lang="en-US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34" name="Table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5410577"/>
              </p:ext>
            </p:extLst>
          </p:nvPr>
        </p:nvGraphicFramePr>
        <p:xfrm>
          <a:off x="6167273" y="1378882"/>
          <a:ext cx="5856405" cy="31532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2135"/>
                <a:gridCol w="1952135"/>
                <a:gridCol w="1952135"/>
              </a:tblGrid>
              <a:tr h="713424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States/Input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60995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60995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60995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60995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5" name="TextBox 34"/>
          <p:cNvSpPr txBox="1"/>
          <p:nvPr/>
        </p:nvSpPr>
        <p:spPr>
          <a:xfrm>
            <a:off x="6632118" y="2154904"/>
            <a:ext cx="88779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- [x0]</a:t>
            </a:r>
            <a:endParaRPr lang="en-US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691892" y="2168551"/>
            <a:ext cx="75027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[x0]</a:t>
            </a:r>
            <a:endParaRPr lang="en-US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0509318" y="2154904"/>
            <a:ext cx="102531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[x0,x1]</a:t>
            </a:r>
            <a:endParaRPr lang="en-US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8" name="Multiply 37"/>
          <p:cNvSpPr/>
          <p:nvPr/>
        </p:nvSpPr>
        <p:spPr>
          <a:xfrm>
            <a:off x="9578650" y="2091132"/>
            <a:ext cx="247740" cy="585724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/>
          <p:cNvSpPr txBox="1"/>
          <p:nvPr/>
        </p:nvSpPr>
        <p:spPr>
          <a:xfrm>
            <a:off x="6550230" y="2738191"/>
            <a:ext cx="113345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[x0,x1]</a:t>
            </a:r>
            <a:endParaRPr lang="en-US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0" name="Straight Arrow Connector 39"/>
          <p:cNvCxnSpPr/>
          <p:nvPr/>
        </p:nvCxnSpPr>
        <p:spPr>
          <a:xfrm flipV="1">
            <a:off x="1329636" y="5348844"/>
            <a:ext cx="1343610" cy="2845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 flipV="1">
            <a:off x="1343283" y="3651544"/>
            <a:ext cx="1343610" cy="2845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8446230" y="2738191"/>
            <a:ext cx="113345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[x0,x2]</a:t>
            </a:r>
            <a:endParaRPr lang="en-US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10181230" y="2738190"/>
            <a:ext cx="135340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[x0,x1,x2]</a:t>
            </a:r>
            <a:endParaRPr lang="en-US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4" name="Multiply 43"/>
          <p:cNvSpPr/>
          <p:nvPr/>
        </p:nvSpPr>
        <p:spPr>
          <a:xfrm>
            <a:off x="11534633" y="2077485"/>
            <a:ext cx="247740" cy="585724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/>
          <p:cNvSpPr txBox="1"/>
          <p:nvPr/>
        </p:nvSpPr>
        <p:spPr>
          <a:xfrm>
            <a:off x="6575445" y="3381509"/>
            <a:ext cx="113345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[x0,x2]</a:t>
            </a:r>
            <a:endParaRPr lang="en-US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8456758" y="3354212"/>
            <a:ext cx="113345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[x0,x3]</a:t>
            </a:r>
            <a:endParaRPr lang="en-US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0223212" y="3381509"/>
            <a:ext cx="135340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[x0,x1,x3]</a:t>
            </a:r>
            <a:endParaRPr lang="en-US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8" name="Multiply 47"/>
          <p:cNvSpPr/>
          <p:nvPr/>
        </p:nvSpPr>
        <p:spPr>
          <a:xfrm>
            <a:off x="9578650" y="2729842"/>
            <a:ext cx="247740" cy="585724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/>
          <p:cNvSpPr txBox="1"/>
          <p:nvPr/>
        </p:nvSpPr>
        <p:spPr>
          <a:xfrm>
            <a:off x="6591174" y="3978909"/>
            <a:ext cx="113345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[x0,x3]</a:t>
            </a:r>
            <a:endParaRPr lang="en-US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8623652" y="3978909"/>
            <a:ext cx="75027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[x0]</a:t>
            </a:r>
            <a:endParaRPr lang="en-US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10372837" y="3972369"/>
            <a:ext cx="102531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[x0,x1]</a:t>
            </a:r>
            <a:endParaRPr lang="en-US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2" name="Multiply 51"/>
          <p:cNvSpPr/>
          <p:nvPr/>
        </p:nvSpPr>
        <p:spPr>
          <a:xfrm>
            <a:off x="9607180" y="3317738"/>
            <a:ext cx="247740" cy="585724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Multiply 52"/>
          <p:cNvSpPr/>
          <p:nvPr/>
        </p:nvSpPr>
        <p:spPr>
          <a:xfrm>
            <a:off x="9579688" y="3881303"/>
            <a:ext cx="247740" cy="585724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Multiply 53"/>
          <p:cNvSpPr/>
          <p:nvPr/>
        </p:nvSpPr>
        <p:spPr>
          <a:xfrm>
            <a:off x="11576615" y="3894951"/>
            <a:ext cx="247740" cy="585724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494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1" grpId="0"/>
      <p:bldP spid="52" grpId="0" animBg="1"/>
      <p:bldP spid="53" grpId="0" animBg="1"/>
      <p:bldP spid="54" grpId="0" animBg="1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8094" y="251414"/>
            <a:ext cx="8946541" cy="1208896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All words that having b as a third last character are valid.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RE = (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a+b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)* b (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a+b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)(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a+b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100</a:t>
            </a:fld>
            <a:endParaRPr lang="en-US"/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301" y="1378883"/>
            <a:ext cx="5143452" cy="1206908"/>
          </a:xfrm>
          <a:prstGeom prst="rect">
            <a:avLst/>
          </a:prstGeom>
        </p:spPr>
      </p:pic>
      <p:graphicFrame>
        <p:nvGraphicFramePr>
          <p:cNvPr id="21" name="Table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7680203"/>
              </p:ext>
            </p:extLst>
          </p:nvPr>
        </p:nvGraphicFramePr>
        <p:xfrm>
          <a:off x="329301" y="2876014"/>
          <a:ext cx="4982949" cy="28715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0983"/>
                <a:gridCol w="1660983"/>
                <a:gridCol w="1660983"/>
              </a:tblGrid>
              <a:tr h="51047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States/Input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57045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57045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557773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662403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747659" y="3436101"/>
            <a:ext cx="75027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-  x0</a:t>
            </a:r>
            <a:endParaRPr lang="en-US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35163" y="5133401"/>
            <a:ext cx="97527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+</a:t>
            </a:r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x3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755" y="3958722"/>
            <a:ext cx="75027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x1</a:t>
            </a:r>
            <a:endParaRPr lang="en-US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76107" y="4519219"/>
            <a:ext cx="75027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x2</a:t>
            </a:r>
            <a:endParaRPr lang="en-US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343408" y="3408804"/>
            <a:ext cx="75027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x0</a:t>
            </a:r>
            <a:endParaRPr lang="en-US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010708" y="3395157"/>
            <a:ext cx="102531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x0,x1</a:t>
            </a:r>
            <a:endParaRPr lang="en-US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966446" y="3972370"/>
            <a:ext cx="75027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x2</a:t>
            </a:r>
            <a:endParaRPr lang="en-US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316112" y="3978038"/>
            <a:ext cx="75027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x2</a:t>
            </a:r>
            <a:endParaRPr lang="en-US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311755" y="4547677"/>
            <a:ext cx="75027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x3</a:t>
            </a:r>
            <a:endParaRPr lang="en-US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3965407" y="4531470"/>
            <a:ext cx="75027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x3</a:t>
            </a:r>
            <a:endParaRPr lang="en-US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2316112" y="5138648"/>
            <a:ext cx="75027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-----</a:t>
            </a:r>
            <a:endParaRPr lang="en-US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010708" y="5157543"/>
            <a:ext cx="75027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-----</a:t>
            </a:r>
            <a:endParaRPr lang="en-US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34" name="Table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0734877"/>
              </p:ext>
            </p:extLst>
          </p:nvPr>
        </p:nvGraphicFramePr>
        <p:xfrm>
          <a:off x="6167273" y="1378882"/>
          <a:ext cx="5856405" cy="37631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2135"/>
                <a:gridCol w="1952135"/>
                <a:gridCol w="1952135"/>
              </a:tblGrid>
              <a:tr h="713424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States/Input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60995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60995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60995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60995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60995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5" name="TextBox 34"/>
          <p:cNvSpPr txBox="1"/>
          <p:nvPr/>
        </p:nvSpPr>
        <p:spPr>
          <a:xfrm>
            <a:off x="6632118" y="2154904"/>
            <a:ext cx="88779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- [x0]</a:t>
            </a:r>
            <a:endParaRPr lang="en-US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691892" y="2168551"/>
            <a:ext cx="75027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[x0]</a:t>
            </a:r>
            <a:endParaRPr lang="en-US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0509318" y="2154904"/>
            <a:ext cx="102531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[x0,x1]</a:t>
            </a:r>
            <a:endParaRPr lang="en-US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8" name="Multiply 37"/>
          <p:cNvSpPr/>
          <p:nvPr/>
        </p:nvSpPr>
        <p:spPr>
          <a:xfrm>
            <a:off x="9578650" y="2091132"/>
            <a:ext cx="247740" cy="585724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/>
          <p:cNvSpPr txBox="1"/>
          <p:nvPr/>
        </p:nvSpPr>
        <p:spPr>
          <a:xfrm>
            <a:off x="6550230" y="2738191"/>
            <a:ext cx="113345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[x0,x1]</a:t>
            </a:r>
            <a:endParaRPr lang="en-US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0" name="Straight Arrow Connector 39"/>
          <p:cNvCxnSpPr/>
          <p:nvPr/>
        </p:nvCxnSpPr>
        <p:spPr>
          <a:xfrm flipV="1">
            <a:off x="1329636" y="4803222"/>
            <a:ext cx="1343610" cy="2845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 flipV="1">
            <a:off x="1343283" y="3651544"/>
            <a:ext cx="1343610" cy="2845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8446230" y="2738191"/>
            <a:ext cx="113345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[x0,x2]</a:t>
            </a:r>
            <a:endParaRPr lang="en-US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10181230" y="2738190"/>
            <a:ext cx="135340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[x0,x1,x2]</a:t>
            </a:r>
            <a:endParaRPr lang="en-US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4" name="Multiply 43"/>
          <p:cNvSpPr/>
          <p:nvPr/>
        </p:nvSpPr>
        <p:spPr>
          <a:xfrm>
            <a:off x="11534633" y="2077485"/>
            <a:ext cx="247740" cy="585724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/>
          <p:cNvSpPr txBox="1"/>
          <p:nvPr/>
        </p:nvSpPr>
        <p:spPr>
          <a:xfrm>
            <a:off x="6575445" y="3381509"/>
            <a:ext cx="113345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[x0,x2]</a:t>
            </a:r>
            <a:endParaRPr lang="en-US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8456758" y="3354212"/>
            <a:ext cx="113345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[x0,x3]</a:t>
            </a:r>
            <a:endParaRPr lang="en-US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0223212" y="3381509"/>
            <a:ext cx="135340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[x0,x1,x3]</a:t>
            </a:r>
            <a:endParaRPr lang="en-US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8" name="Multiply 47"/>
          <p:cNvSpPr/>
          <p:nvPr/>
        </p:nvSpPr>
        <p:spPr>
          <a:xfrm>
            <a:off x="9578650" y="2729842"/>
            <a:ext cx="247740" cy="585724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/>
          <p:cNvSpPr txBox="1"/>
          <p:nvPr/>
        </p:nvSpPr>
        <p:spPr>
          <a:xfrm>
            <a:off x="6591174" y="3978909"/>
            <a:ext cx="113345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[x0,x3]</a:t>
            </a:r>
            <a:endParaRPr lang="en-US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8623652" y="3978909"/>
            <a:ext cx="75027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[x0]</a:t>
            </a:r>
            <a:endParaRPr lang="en-US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10372837" y="3972369"/>
            <a:ext cx="102531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[x0,x1]</a:t>
            </a:r>
            <a:endParaRPr lang="en-US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2" name="Multiply 51"/>
          <p:cNvSpPr/>
          <p:nvPr/>
        </p:nvSpPr>
        <p:spPr>
          <a:xfrm>
            <a:off x="9607180" y="3317738"/>
            <a:ext cx="247740" cy="585724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Multiply 52"/>
          <p:cNvSpPr/>
          <p:nvPr/>
        </p:nvSpPr>
        <p:spPr>
          <a:xfrm>
            <a:off x="9579688" y="3881303"/>
            <a:ext cx="247740" cy="585724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Multiply 53"/>
          <p:cNvSpPr/>
          <p:nvPr/>
        </p:nvSpPr>
        <p:spPr>
          <a:xfrm>
            <a:off x="11576615" y="3894951"/>
            <a:ext cx="247740" cy="585724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TextBox 54"/>
          <p:cNvSpPr txBox="1"/>
          <p:nvPr/>
        </p:nvSpPr>
        <p:spPr>
          <a:xfrm>
            <a:off x="6550230" y="4587779"/>
            <a:ext cx="135340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[x0,x1,x2]</a:t>
            </a:r>
            <a:endParaRPr lang="en-US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56" name="Straight Arrow Connector 55"/>
          <p:cNvCxnSpPr/>
          <p:nvPr/>
        </p:nvCxnSpPr>
        <p:spPr>
          <a:xfrm flipV="1">
            <a:off x="1311208" y="4195548"/>
            <a:ext cx="1343610" cy="2845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8338087" y="4616236"/>
            <a:ext cx="135340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[x0,x2,x3]</a:t>
            </a:r>
            <a:endParaRPr lang="en-US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10031101" y="4602007"/>
            <a:ext cx="175127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[x0,x1,x2,x3]</a:t>
            </a:r>
            <a:endParaRPr lang="en-US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9" name="Multiply 58"/>
          <p:cNvSpPr/>
          <p:nvPr/>
        </p:nvSpPr>
        <p:spPr>
          <a:xfrm>
            <a:off x="11534633" y="2660771"/>
            <a:ext cx="247740" cy="585724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822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/>
      <p:bldP spid="58" grpId="0"/>
      <p:bldP spid="59" grpId="0" animBg="1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8094" y="251414"/>
            <a:ext cx="8946541" cy="1208896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All words that having b as a third last character are valid.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RE = (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a+b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)* b (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a+b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)(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a+b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101</a:t>
            </a:fld>
            <a:endParaRPr lang="en-US"/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301" y="1378883"/>
            <a:ext cx="5143452" cy="1206908"/>
          </a:xfrm>
          <a:prstGeom prst="rect">
            <a:avLst/>
          </a:prstGeom>
        </p:spPr>
      </p:pic>
      <p:graphicFrame>
        <p:nvGraphicFramePr>
          <p:cNvPr id="21" name="Table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0259102"/>
              </p:ext>
            </p:extLst>
          </p:nvPr>
        </p:nvGraphicFramePr>
        <p:xfrm>
          <a:off x="329301" y="2876014"/>
          <a:ext cx="4982949" cy="28715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0983"/>
                <a:gridCol w="1660983"/>
                <a:gridCol w="1660983"/>
              </a:tblGrid>
              <a:tr h="51047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States/Input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57045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57045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557773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662403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747659" y="3436101"/>
            <a:ext cx="75027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-  x0</a:t>
            </a:r>
            <a:endParaRPr lang="en-US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35163" y="5133401"/>
            <a:ext cx="97527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+</a:t>
            </a:r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x3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755" y="3958722"/>
            <a:ext cx="75027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x1</a:t>
            </a:r>
            <a:endParaRPr lang="en-US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76107" y="4519219"/>
            <a:ext cx="75027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x2</a:t>
            </a:r>
            <a:endParaRPr lang="en-US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343408" y="3408804"/>
            <a:ext cx="75027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x0</a:t>
            </a:r>
            <a:endParaRPr lang="en-US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010708" y="3395157"/>
            <a:ext cx="102531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x0,x1</a:t>
            </a:r>
            <a:endParaRPr lang="en-US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966446" y="3972370"/>
            <a:ext cx="75027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x2</a:t>
            </a:r>
            <a:endParaRPr lang="en-US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316112" y="3978038"/>
            <a:ext cx="75027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x2</a:t>
            </a:r>
            <a:endParaRPr lang="en-US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311755" y="4547677"/>
            <a:ext cx="75027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x3</a:t>
            </a:r>
            <a:endParaRPr lang="en-US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3965407" y="4531470"/>
            <a:ext cx="75027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x3</a:t>
            </a:r>
            <a:endParaRPr lang="en-US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2316112" y="5138648"/>
            <a:ext cx="75027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-----</a:t>
            </a:r>
            <a:endParaRPr lang="en-US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010708" y="5157543"/>
            <a:ext cx="75027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-----</a:t>
            </a:r>
            <a:endParaRPr lang="en-US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34" name="Table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9464199"/>
              </p:ext>
            </p:extLst>
          </p:nvPr>
        </p:nvGraphicFramePr>
        <p:xfrm>
          <a:off x="6167273" y="1378882"/>
          <a:ext cx="5856405" cy="43731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2135"/>
                <a:gridCol w="1952135"/>
                <a:gridCol w="1952135"/>
              </a:tblGrid>
              <a:tr h="713424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States/Input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60995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60995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60995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60995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60995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60995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5" name="TextBox 34"/>
          <p:cNvSpPr txBox="1"/>
          <p:nvPr/>
        </p:nvSpPr>
        <p:spPr>
          <a:xfrm>
            <a:off x="6632118" y="2154904"/>
            <a:ext cx="88779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- [x0]</a:t>
            </a:r>
            <a:endParaRPr lang="en-US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691892" y="2168551"/>
            <a:ext cx="75027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[x0]</a:t>
            </a:r>
            <a:endParaRPr lang="en-US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0509318" y="2154904"/>
            <a:ext cx="102531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[x0,x1]</a:t>
            </a:r>
            <a:endParaRPr lang="en-US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8" name="Multiply 37"/>
          <p:cNvSpPr/>
          <p:nvPr/>
        </p:nvSpPr>
        <p:spPr>
          <a:xfrm>
            <a:off x="9578650" y="2091132"/>
            <a:ext cx="247740" cy="585724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/>
          <p:cNvSpPr txBox="1"/>
          <p:nvPr/>
        </p:nvSpPr>
        <p:spPr>
          <a:xfrm>
            <a:off x="6550230" y="2738191"/>
            <a:ext cx="113345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[x0,x1]</a:t>
            </a:r>
            <a:endParaRPr lang="en-US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0" name="Straight Arrow Connector 39"/>
          <p:cNvCxnSpPr/>
          <p:nvPr/>
        </p:nvCxnSpPr>
        <p:spPr>
          <a:xfrm flipV="1">
            <a:off x="1311208" y="5321921"/>
            <a:ext cx="1343610" cy="2845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 flipV="1">
            <a:off x="1343283" y="3651544"/>
            <a:ext cx="1343610" cy="2845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8446230" y="2738191"/>
            <a:ext cx="113345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[x0,x2]</a:t>
            </a:r>
            <a:endParaRPr lang="en-US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10181230" y="2738190"/>
            <a:ext cx="135340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[x0,x1,x2]</a:t>
            </a:r>
            <a:endParaRPr lang="en-US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4" name="Multiply 43"/>
          <p:cNvSpPr/>
          <p:nvPr/>
        </p:nvSpPr>
        <p:spPr>
          <a:xfrm>
            <a:off x="11534633" y="2077485"/>
            <a:ext cx="247740" cy="585724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/>
          <p:cNvSpPr txBox="1"/>
          <p:nvPr/>
        </p:nvSpPr>
        <p:spPr>
          <a:xfrm>
            <a:off x="6575445" y="3381509"/>
            <a:ext cx="113345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[x0,x2]</a:t>
            </a:r>
            <a:endParaRPr lang="en-US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8456758" y="3354212"/>
            <a:ext cx="113345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[x0,x3]</a:t>
            </a:r>
            <a:endParaRPr lang="en-US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0223212" y="3381509"/>
            <a:ext cx="135340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[x0,x1,x3]</a:t>
            </a:r>
            <a:endParaRPr lang="en-US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8" name="Multiply 47"/>
          <p:cNvSpPr/>
          <p:nvPr/>
        </p:nvSpPr>
        <p:spPr>
          <a:xfrm>
            <a:off x="9578650" y="2729842"/>
            <a:ext cx="247740" cy="585724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/>
          <p:cNvSpPr txBox="1"/>
          <p:nvPr/>
        </p:nvSpPr>
        <p:spPr>
          <a:xfrm>
            <a:off x="6591174" y="3978909"/>
            <a:ext cx="113345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[x0,x3]</a:t>
            </a:r>
            <a:endParaRPr lang="en-US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8623652" y="3978909"/>
            <a:ext cx="75027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[x0]</a:t>
            </a:r>
            <a:endParaRPr lang="en-US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10372837" y="3972369"/>
            <a:ext cx="102531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[x0,x1]</a:t>
            </a:r>
            <a:endParaRPr lang="en-US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2" name="Multiply 51"/>
          <p:cNvSpPr/>
          <p:nvPr/>
        </p:nvSpPr>
        <p:spPr>
          <a:xfrm>
            <a:off x="9607180" y="3317738"/>
            <a:ext cx="247740" cy="585724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Multiply 52"/>
          <p:cNvSpPr/>
          <p:nvPr/>
        </p:nvSpPr>
        <p:spPr>
          <a:xfrm>
            <a:off x="9579688" y="3881303"/>
            <a:ext cx="247740" cy="585724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Multiply 53"/>
          <p:cNvSpPr/>
          <p:nvPr/>
        </p:nvSpPr>
        <p:spPr>
          <a:xfrm>
            <a:off x="11576615" y="3894951"/>
            <a:ext cx="247740" cy="585724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TextBox 54"/>
          <p:cNvSpPr txBox="1"/>
          <p:nvPr/>
        </p:nvSpPr>
        <p:spPr>
          <a:xfrm>
            <a:off x="6550230" y="4587779"/>
            <a:ext cx="135340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[x0,x1,x2]</a:t>
            </a:r>
            <a:endParaRPr lang="en-US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56" name="Straight Arrow Connector 55"/>
          <p:cNvCxnSpPr/>
          <p:nvPr/>
        </p:nvCxnSpPr>
        <p:spPr>
          <a:xfrm flipV="1">
            <a:off x="1311208" y="4195548"/>
            <a:ext cx="1343610" cy="2845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8338087" y="4616236"/>
            <a:ext cx="135340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[x0,x2,x3]</a:t>
            </a:r>
            <a:endParaRPr lang="en-US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10031101" y="4602007"/>
            <a:ext cx="175127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[x0,x1,x2,x3]</a:t>
            </a:r>
            <a:endParaRPr lang="en-US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9" name="Multiply 58"/>
          <p:cNvSpPr/>
          <p:nvPr/>
        </p:nvSpPr>
        <p:spPr>
          <a:xfrm>
            <a:off x="11534633" y="2660771"/>
            <a:ext cx="247740" cy="585724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6534501" y="5198487"/>
            <a:ext cx="135340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[x0,x1,x3]</a:t>
            </a:r>
            <a:endParaRPr lang="en-US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8377469" y="5211295"/>
            <a:ext cx="113345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[x0,x2]</a:t>
            </a:r>
            <a:endParaRPr lang="en-US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10181230" y="5211294"/>
            <a:ext cx="135340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[x0,x1,x2]</a:t>
            </a:r>
            <a:endParaRPr lang="en-US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3" name="Multiply 62"/>
          <p:cNvSpPr/>
          <p:nvPr/>
        </p:nvSpPr>
        <p:spPr>
          <a:xfrm>
            <a:off x="11576615" y="3317738"/>
            <a:ext cx="247740" cy="585724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Multiply 63"/>
          <p:cNvSpPr/>
          <p:nvPr/>
        </p:nvSpPr>
        <p:spPr>
          <a:xfrm>
            <a:off x="9590216" y="5121068"/>
            <a:ext cx="247740" cy="585724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Multiply 64"/>
          <p:cNvSpPr/>
          <p:nvPr/>
        </p:nvSpPr>
        <p:spPr>
          <a:xfrm>
            <a:off x="11576615" y="5080124"/>
            <a:ext cx="247740" cy="585724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332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/>
      <p:bldP spid="62" grpId="0"/>
      <p:bldP spid="63" grpId="0" animBg="1"/>
      <p:bldP spid="64" grpId="0" animBg="1"/>
      <p:bldP spid="65" grpId="0" animBg="1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8094" y="251414"/>
            <a:ext cx="8946541" cy="1208896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All words that having b as a third last character are valid.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RE = (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a+b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)* b (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a+b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)(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a+b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102</a:t>
            </a:fld>
            <a:endParaRPr lang="en-US"/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301" y="1378883"/>
            <a:ext cx="5143452" cy="1206908"/>
          </a:xfrm>
          <a:prstGeom prst="rect">
            <a:avLst/>
          </a:prstGeom>
        </p:spPr>
      </p:pic>
      <p:graphicFrame>
        <p:nvGraphicFramePr>
          <p:cNvPr id="21" name="Table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3248839"/>
              </p:ext>
            </p:extLst>
          </p:nvPr>
        </p:nvGraphicFramePr>
        <p:xfrm>
          <a:off x="329301" y="2876014"/>
          <a:ext cx="4982949" cy="28715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0983"/>
                <a:gridCol w="1660983"/>
                <a:gridCol w="1660983"/>
              </a:tblGrid>
              <a:tr h="51047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States/Input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57045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57045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557773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662403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747659" y="3436101"/>
            <a:ext cx="75027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-  x0</a:t>
            </a:r>
            <a:endParaRPr lang="en-US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35163" y="5133401"/>
            <a:ext cx="97527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+</a:t>
            </a:r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x3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755" y="3958722"/>
            <a:ext cx="75027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x1</a:t>
            </a:r>
            <a:endParaRPr lang="en-US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76107" y="4519219"/>
            <a:ext cx="75027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x2</a:t>
            </a:r>
            <a:endParaRPr lang="en-US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343408" y="3408804"/>
            <a:ext cx="75027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x0</a:t>
            </a:r>
            <a:endParaRPr lang="en-US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010708" y="3395157"/>
            <a:ext cx="102531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x0,x1</a:t>
            </a:r>
            <a:endParaRPr lang="en-US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966446" y="3972370"/>
            <a:ext cx="75027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x2</a:t>
            </a:r>
            <a:endParaRPr lang="en-US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316112" y="3978038"/>
            <a:ext cx="75027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x2</a:t>
            </a:r>
            <a:endParaRPr lang="en-US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311755" y="4547677"/>
            <a:ext cx="75027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x3</a:t>
            </a:r>
            <a:endParaRPr lang="en-US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3965407" y="4531470"/>
            <a:ext cx="75027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x3</a:t>
            </a:r>
            <a:endParaRPr lang="en-US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2316112" y="5138648"/>
            <a:ext cx="75027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-----</a:t>
            </a:r>
            <a:endParaRPr lang="en-US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010708" y="5157543"/>
            <a:ext cx="75027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-----</a:t>
            </a:r>
            <a:endParaRPr lang="en-US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34" name="Table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7271707"/>
              </p:ext>
            </p:extLst>
          </p:nvPr>
        </p:nvGraphicFramePr>
        <p:xfrm>
          <a:off x="6167273" y="1378882"/>
          <a:ext cx="5856405" cy="36434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2135"/>
                <a:gridCol w="1952135"/>
                <a:gridCol w="1952135"/>
              </a:tblGrid>
              <a:tr h="43627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States/Input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43672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45037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45037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43672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46402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47767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49131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5" name="TextBox 34"/>
          <p:cNvSpPr txBox="1"/>
          <p:nvPr/>
        </p:nvSpPr>
        <p:spPr>
          <a:xfrm>
            <a:off x="6632118" y="1793801"/>
            <a:ext cx="88779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- [x0]</a:t>
            </a:r>
            <a:endParaRPr lang="en-US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691892" y="1786407"/>
            <a:ext cx="75027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[x0]</a:t>
            </a:r>
            <a:endParaRPr lang="en-US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0509318" y="1786408"/>
            <a:ext cx="102531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[x0,x1]</a:t>
            </a:r>
            <a:endParaRPr lang="en-US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8" name="Multiply 37"/>
          <p:cNvSpPr/>
          <p:nvPr/>
        </p:nvSpPr>
        <p:spPr>
          <a:xfrm>
            <a:off x="9578650" y="1708988"/>
            <a:ext cx="247740" cy="585724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/>
          <p:cNvSpPr txBox="1"/>
          <p:nvPr/>
        </p:nvSpPr>
        <p:spPr>
          <a:xfrm>
            <a:off x="6550230" y="2205919"/>
            <a:ext cx="113345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[x0,x1]</a:t>
            </a:r>
            <a:endParaRPr lang="en-US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0" name="Straight Arrow Connector 39"/>
          <p:cNvCxnSpPr/>
          <p:nvPr/>
        </p:nvCxnSpPr>
        <p:spPr>
          <a:xfrm flipV="1">
            <a:off x="1311208" y="5321921"/>
            <a:ext cx="1343610" cy="2845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 flipV="1">
            <a:off x="1343283" y="3651544"/>
            <a:ext cx="1343610" cy="2845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8446230" y="2205919"/>
            <a:ext cx="113345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[x0,x2]</a:t>
            </a:r>
            <a:endParaRPr lang="en-US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10181230" y="2205918"/>
            <a:ext cx="135340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[x0,x1,x2]</a:t>
            </a:r>
            <a:endParaRPr lang="en-US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4" name="Multiply 43"/>
          <p:cNvSpPr/>
          <p:nvPr/>
        </p:nvSpPr>
        <p:spPr>
          <a:xfrm>
            <a:off x="11534633" y="1708989"/>
            <a:ext cx="247740" cy="585724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/>
          <p:cNvSpPr txBox="1"/>
          <p:nvPr/>
        </p:nvSpPr>
        <p:spPr>
          <a:xfrm>
            <a:off x="6575445" y="2685461"/>
            <a:ext cx="113345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[x0,x2]</a:t>
            </a:r>
            <a:endParaRPr lang="en-US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8456758" y="2658164"/>
            <a:ext cx="113345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[x0,x3]</a:t>
            </a:r>
            <a:endParaRPr lang="en-US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0223212" y="2685461"/>
            <a:ext cx="135340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[x0,x1,x3]</a:t>
            </a:r>
            <a:endParaRPr lang="en-US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8" name="Multiply 47"/>
          <p:cNvSpPr/>
          <p:nvPr/>
        </p:nvSpPr>
        <p:spPr>
          <a:xfrm>
            <a:off x="9578650" y="2197570"/>
            <a:ext cx="247740" cy="585724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/>
          <p:cNvSpPr txBox="1"/>
          <p:nvPr/>
        </p:nvSpPr>
        <p:spPr>
          <a:xfrm>
            <a:off x="6591174" y="3146381"/>
            <a:ext cx="113345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[x0,x3]</a:t>
            </a:r>
            <a:endParaRPr lang="en-US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8623652" y="3146381"/>
            <a:ext cx="75027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[x0]</a:t>
            </a:r>
            <a:endParaRPr lang="en-US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10372837" y="3139841"/>
            <a:ext cx="102531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[x0,x1]</a:t>
            </a:r>
            <a:endParaRPr lang="en-US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2" name="Multiply 51"/>
          <p:cNvSpPr/>
          <p:nvPr/>
        </p:nvSpPr>
        <p:spPr>
          <a:xfrm>
            <a:off x="9607180" y="2621690"/>
            <a:ext cx="247740" cy="585724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Multiply 52"/>
          <p:cNvSpPr/>
          <p:nvPr/>
        </p:nvSpPr>
        <p:spPr>
          <a:xfrm>
            <a:off x="9579688" y="3048775"/>
            <a:ext cx="247740" cy="585724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Multiply 53"/>
          <p:cNvSpPr/>
          <p:nvPr/>
        </p:nvSpPr>
        <p:spPr>
          <a:xfrm>
            <a:off x="11576615" y="3062423"/>
            <a:ext cx="247740" cy="585724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TextBox 54"/>
          <p:cNvSpPr txBox="1"/>
          <p:nvPr/>
        </p:nvSpPr>
        <p:spPr>
          <a:xfrm>
            <a:off x="6550230" y="3536883"/>
            <a:ext cx="135340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[x0,x1,x2]</a:t>
            </a:r>
            <a:endParaRPr lang="en-US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56" name="Straight Arrow Connector 55"/>
          <p:cNvCxnSpPr/>
          <p:nvPr/>
        </p:nvCxnSpPr>
        <p:spPr>
          <a:xfrm flipV="1">
            <a:off x="1311208" y="4763120"/>
            <a:ext cx="1343610" cy="2845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8338087" y="3565340"/>
            <a:ext cx="135340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[x0,x2,x3]</a:t>
            </a:r>
            <a:endParaRPr lang="en-US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10031101" y="3551111"/>
            <a:ext cx="175127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[x0,x1,x2,x3]</a:t>
            </a:r>
            <a:endParaRPr lang="en-US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9" name="Multiply 58"/>
          <p:cNvSpPr/>
          <p:nvPr/>
        </p:nvSpPr>
        <p:spPr>
          <a:xfrm>
            <a:off x="11534633" y="2128499"/>
            <a:ext cx="247740" cy="585724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6534501" y="4065703"/>
            <a:ext cx="135340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[x0,x1,x3]</a:t>
            </a:r>
            <a:endParaRPr lang="en-US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8377469" y="4078511"/>
            <a:ext cx="113345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[x0,x2]</a:t>
            </a:r>
            <a:endParaRPr lang="en-US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10181230" y="4078510"/>
            <a:ext cx="135340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[x0,x1,x2]</a:t>
            </a:r>
            <a:endParaRPr lang="en-US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3" name="Multiply 62"/>
          <p:cNvSpPr/>
          <p:nvPr/>
        </p:nvSpPr>
        <p:spPr>
          <a:xfrm>
            <a:off x="11576615" y="2621690"/>
            <a:ext cx="247740" cy="585724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Multiply 63"/>
          <p:cNvSpPr/>
          <p:nvPr/>
        </p:nvSpPr>
        <p:spPr>
          <a:xfrm>
            <a:off x="9590216" y="3988284"/>
            <a:ext cx="247740" cy="585724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Multiply 64"/>
          <p:cNvSpPr/>
          <p:nvPr/>
        </p:nvSpPr>
        <p:spPr>
          <a:xfrm>
            <a:off x="11576615" y="3947340"/>
            <a:ext cx="247740" cy="585724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TextBox 65"/>
          <p:cNvSpPr txBox="1"/>
          <p:nvPr/>
        </p:nvSpPr>
        <p:spPr>
          <a:xfrm>
            <a:off x="6550230" y="4561032"/>
            <a:ext cx="135340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[x0,x2,x3]</a:t>
            </a:r>
            <a:endParaRPr lang="en-US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8377467" y="4570031"/>
            <a:ext cx="113345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[x0,x3]</a:t>
            </a:r>
            <a:endParaRPr lang="en-US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10230035" y="4555534"/>
            <a:ext cx="135340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[x0,x1,x3]</a:t>
            </a:r>
            <a:endParaRPr lang="en-US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9" name="Multiply 68"/>
          <p:cNvSpPr/>
          <p:nvPr/>
        </p:nvSpPr>
        <p:spPr>
          <a:xfrm>
            <a:off x="9590605" y="3493485"/>
            <a:ext cx="247740" cy="585724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Multiply 69"/>
          <p:cNvSpPr/>
          <p:nvPr/>
        </p:nvSpPr>
        <p:spPr>
          <a:xfrm>
            <a:off x="9590605" y="4454051"/>
            <a:ext cx="247740" cy="585724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Multiply 70"/>
          <p:cNvSpPr/>
          <p:nvPr/>
        </p:nvSpPr>
        <p:spPr>
          <a:xfrm>
            <a:off x="11576615" y="4454051"/>
            <a:ext cx="247740" cy="585724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696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" grpId="0"/>
      <p:bldP spid="68" grpId="0"/>
      <p:bldP spid="69" grpId="0" animBg="1"/>
      <p:bldP spid="70" grpId="0" animBg="1"/>
      <p:bldP spid="71" grpId="0" animBg="1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8094" y="251414"/>
            <a:ext cx="8946541" cy="1208896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All words that having b as a third last character are valid.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RE = (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a+b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)* b (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a+b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)(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a+b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103</a:t>
            </a:fld>
            <a:endParaRPr lang="en-US"/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301" y="1378883"/>
            <a:ext cx="5143452" cy="1206908"/>
          </a:xfrm>
          <a:prstGeom prst="rect">
            <a:avLst/>
          </a:prstGeom>
        </p:spPr>
      </p:pic>
      <p:graphicFrame>
        <p:nvGraphicFramePr>
          <p:cNvPr id="21" name="Table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5012816"/>
              </p:ext>
            </p:extLst>
          </p:nvPr>
        </p:nvGraphicFramePr>
        <p:xfrm>
          <a:off x="329301" y="2876014"/>
          <a:ext cx="4982949" cy="28715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0983"/>
                <a:gridCol w="1660983"/>
                <a:gridCol w="1660983"/>
              </a:tblGrid>
              <a:tr h="51047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States/Input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57045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57045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557773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662403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747659" y="3436101"/>
            <a:ext cx="75027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-  x0</a:t>
            </a:r>
            <a:endParaRPr lang="en-US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35163" y="5133401"/>
            <a:ext cx="97527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+</a:t>
            </a:r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x3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755" y="3958722"/>
            <a:ext cx="75027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x1</a:t>
            </a:r>
            <a:endParaRPr lang="en-US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76107" y="4519219"/>
            <a:ext cx="75027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x2</a:t>
            </a:r>
            <a:endParaRPr lang="en-US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343408" y="3408804"/>
            <a:ext cx="75027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x0</a:t>
            </a:r>
            <a:endParaRPr lang="en-US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010708" y="3395157"/>
            <a:ext cx="102531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x0,x1</a:t>
            </a:r>
            <a:endParaRPr lang="en-US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966446" y="3972370"/>
            <a:ext cx="75027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x2</a:t>
            </a:r>
            <a:endParaRPr lang="en-US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316112" y="3978038"/>
            <a:ext cx="75027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x2</a:t>
            </a:r>
            <a:endParaRPr lang="en-US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311755" y="4547677"/>
            <a:ext cx="75027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x3</a:t>
            </a:r>
            <a:endParaRPr lang="en-US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3965407" y="4531470"/>
            <a:ext cx="75027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x3</a:t>
            </a:r>
            <a:endParaRPr lang="en-US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2316112" y="5138648"/>
            <a:ext cx="75027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-----</a:t>
            </a:r>
            <a:endParaRPr lang="en-US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010708" y="5157543"/>
            <a:ext cx="75027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-----</a:t>
            </a:r>
            <a:endParaRPr lang="en-US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34" name="Table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1967380"/>
              </p:ext>
            </p:extLst>
          </p:nvPr>
        </p:nvGraphicFramePr>
        <p:xfrm>
          <a:off x="6167273" y="1378882"/>
          <a:ext cx="5856405" cy="41348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2135"/>
                <a:gridCol w="1952135"/>
                <a:gridCol w="1952135"/>
              </a:tblGrid>
              <a:tr h="43627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States/Input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43672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45037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45037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43672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46402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47767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49131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49131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5" name="TextBox 34"/>
          <p:cNvSpPr txBox="1"/>
          <p:nvPr/>
        </p:nvSpPr>
        <p:spPr>
          <a:xfrm>
            <a:off x="6632118" y="1793801"/>
            <a:ext cx="88779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- [x0]</a:t>
            </a:r>
            <a:endParaRPr lang="en-US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691892" y="1786407"/>
            <a:ext cx="75027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[x0]</a:t>
            </a:r>
            <a:endParaRPr lang="en-US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0509318" y="1786408"/>
            <a:ext cx="102531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[x0,x1]</a:t>
            </a:r>
            <a:endParaRPr lang="en-US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8" name="Multiply 37"/>
          <p:cNvSpPr/>
          <p:nvPr/>
        </p:nvSpPr>
        <p:spPr>
          <a:xfrm>
            <a:off x="9578650" y="1708988"/>
            <a:ext cx="247740" cy="585724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/>
          <p:cNvSpPr txBox="1"/>
          <p:nvPr/>
        </p:nvSpPr>
        <p:spPr>
          <a:xfrm>
            <a:off x="6550230" y="2205919"/>
            <a:ext cx="113345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[x0,x1]</a:t>
            </a:r>
            <a:endParaRPr lang="en-US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0" name="Straight Arrow Connector 39"/>
          <p:cNvCxnSpPr/>
          <p:nvPr/>
        </p:nvCxnSpPr>
        <p:spPr>
          <a:xfrm flipV="1">
            <a:off x="1311208" y="5321921"/>
            <a:ext cx="1343610" cy="2845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 flipV="1">
            <a:off x="1343283" y="3651544"/>
            <a:ext cx="1343610" cy="2845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8446230" y="2205919"/>
            <a:ext cx="113345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[x0,x2]</a:t>
            </a:r>
            <a:endParaRPr lang="en-US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10181230" y="2205918"/>
            <a:ext cx="135340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[x0,x1,x2]</a:t>
            </a:r>
            <a:endParaRPr lang="en-US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4" name="Multiply 43"/>
          <p:cNvSpPr/>
          <p:nvPr/>
        </p:nvSpPr>
        <p:spPr>
          <a:xfrm>
            <a:off x="11534633" y="1708989"/>
            <a:ext cx="247740" cy="585724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/>
          <p:cNvSpPr txBox="1"/>
          <p:nvPr/>
        </p:nvSpPr>
        <p:spPr>
          <a:xfrm>
            <a:off x="6575445" y="2685461"/>
            <a:ext cx="113345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[x0,x2]</a:t>
            </a:r>
            <a:endParaRPr lang="en-US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8456758" y="2658164"/>
            <a:ext cx="113345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[x0,x3]</a:t>
            </a:r>
            <a:endParaRPr lang="en-US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0223212" y="2685461"/>
            <a:ext cx="135340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[x0,x1,x3]</a:t>
            </a:r>
            <a:endParaRPr lang="en-US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8" name="Multiply 47"/>
          <p:cNvSpPr/>
          <p:nvPr/>
        </p:nvSpPr>
        <p:spPr>
          <a:xfrm>
            <a:off x="9578650" y="2197570"/>
            <a:ext cx="247740" cy="585724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/>
          <p:cNvSpPr txBox="1"/>
          <p:nvPr/>
        </p:nvSpPr>
        <p:spPr>
          <a:xfrm>
            <a:off x="6591174" y="3146381"/>
            <a:ext cx="113345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[x0,x3]</a:t>
            </a:r>
            <a:endParaRPr lang="en-US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8623652" y="3146381"/>
            <a:ext cx="75027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[x0]</a:t>
            </a:r>
            <a:endParaRPr lang="en-US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10372837" y="3139841"/>
            <a:ext cx="102531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[x0,x1]</a:t>
            </a:r>
            <a:endParaRPr lang="en-US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2" name="Multiply 51"/>
          <p:cNvSpPr/>
          <p:nvPr/>
        </p:nvSpPr>
        <p:spPr>
          <a:xfrm>
            <a:off x="9607180" y="2621690"/>
            <a:ext cx="247740" cy="585724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Multiply 52"/>
          <p:cNvSpPr/>
          <p:nvPr/>
        </p:nvSpPr>
        <p:spPr>
          <a:xfrm>
            <a:off x="9579688" y="3048775"/>
            <a:ext cx="247740" cy="585724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Multiply 53"/>
          <p:cNvSpPr/>
          <p:nvPr/>
        </p:nvSpPr>
        <p:spPr>
          <a:xfrm>
            <a:off x="11576615" y="3062423"/>
            <a:ext cx="247740" cy="585724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TextBox 54"/>
          <p:cNvSpPr txBox="1"/>
          <p:nvPr/>
        </p:nvSpPr>
        <p:spPr>
          <a:xfrm>
            <a:off x="6550230" y="3536883"/>
            <a:ext cx="135340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[x0,x1,x2]</a:t>
            </a:r>
            <a:endParaRPr lang="en-US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56" name="Straight Arrow Connector 55"/>
          <p:cNvCxnSpPr/>
          <p:nvPr/>
        </p:nvCxnSpPr>
        <p:spPr>
          <a:xfrm flipV="1">
            <a:off x="1311208" y="4763120"/>
            <a:ext cx="1343610" cy="2845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8338087" y="3565340"/>
            <a:ext cx="135340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[x0,x2,x3]</a:t>
            </a:r>
            <a:endParaRPr lang="en-US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10031101" y="3551111"/>
            <a:ext cx="175127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[x0,x1,x2,x3]</a:t>
            </a:r>
            <a:endParaRPr lang="en-US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9" name="Multiply 58"/>
          <p:cNvSpPr/>
          <p:nvPr/>
        </p:nvSpPr>
        <p:spPr>
          <a:xfrm>
            <a:off x="11534633" y="2128499"/>
            <a:ext cx="247740" cy="585724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6534501" y="4065703"/>
            <a:ext cx="135340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[x0,x1,x3]</a:t>
            </a:r>
            <a:endParaRPr lang="en-US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8377469" y="4078511"/>
            <a:ext cx="113345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[x0,x2]</a:t>
            </a:r>
            <a:endParaRPr lang="en-US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10181230" y="4078510"/>
            <a:ext cx="135340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[x0,x1,x2]</a:t>
            </a:r>
            <a:endParaRPr lang="en-US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3" name="Multiply 62"/>
          <p:cNvSpPr/>
          <p:nvPr/>
        </p:nvSpPr>
        <p:spPr>
          <a:xfrm>
            <a:off x="11576615" y="2621690"/>
            <a:ext cx="247740" cy="585724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Multiply 63"/>
          <p:cNvSpPr/>
          <p:nvPr/>
        </p:nvSpPr>
        <p:spPr>
          <a:xfrm>
            <a:off x="9590216" y="3988284"/>
            <a:ext cx="247740" cy="585724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Multiply 64"/>
          <p:cNvSpPr/>
          <p:nvPr/>
        </p:nvSpPr>
        <p:spPr>
          <a:xfrm>
            <a:off x="11576615" y="3947340"/>
            <a:ext cx="247740" cy="585724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TextBox 65"/>
          <p:cNvSpPr txBox="1"/>
          <p:nvPr/>
        </p:nvSpPr>
        <p:spPr>
          <a:xfrm>
            <a:off x="6550230" y="4561032"/>
            <a:ext cx="135340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[x0,x2,x3]</a:t>
            </a:r>
            <a:endParaRPr lang="en-US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8377467" y="4570031"/>
            <a:ext cx="113345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[x0,x3]</a:t>
            </a:r>
            <a:endParaRPr lang="en-US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10230035" y="4555534"/>
            <a:ext cx="135340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[x0,x1,x3]</a:t>
            </a:r>
            <a:endParaRPr lang="en-US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9" name="Multiply 68"/>
          <p:cNvSpPr/>
          <p:nvPr/>
        </p:nvSpPr>
        <p:spPr>
          <a:xfrm>
            <a:off x="9590605" y="3493485"/>
            <a:ext cx="247740" cy="585724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Multiply 69"/>
          <p:cNvSpPr/>
          <p:nvPr/>
        </p:nvSpPr>
        <p:spPr>
          <a:xfrm>
            <a:off x="9590605" y="4454051"/>
            <a:ext cx="247740" cy="585724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Multiply 70"/>
          <p:cNvSpPr/>
          <p:nvPr/>
        </p:nvSpPr>
        <p:spPr>
          <a:xfrm>
            <a:off x="11576615" y="4454051"/>
            <a:ext cx="247740" cy="585724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TextBox 71"/>
          <p:cNvSpPr txBox="1"/>
          <p:nvPr/>
        </p:nvSpPr>
        <p:spPr>
          <a:xfrm>
            <a:off x="6542367" y="5039775"/>
            <a:ext cx="175127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[x0,x1,x2,x3]</a:t>
            </a:r>
            <a:endParaRPr lang="en-US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73" name="Straight Arrow Connector 72"/>
          <p:cNvCxnSpPr/>
          <p:nvPr/>
        </p:nvCxnSpPr>
        <p:spPr>
          <a:xfrm flipV="1">
            <a:off x="1311208" y="4191301"/>
            <a:ext cx="1343610" cy="2845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TextBox 73"/>
          <p:cNvSpPr txBox="1"/>
          <p:nvPr/>
        </p:nvSpPr>
        <p:spPr>
          <a:xfrm>
            <a:off x="8290902" y="5024462"/>
            <a:ext cx="135340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[x0,x2,x3]</a:t>
            </a:r>
            <a:endParaRPr lang="en-US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10106051" y="5039775"/>
            <a:ext cx="175127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[x0,x1,x2,x3]</a:t>
            </a:r>
            <a:endParaRPr lang="en-US" sz="2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6" name="Multiply 75"/>
          <p:cNvSpPr/>
          <p:nvPr/>
        </p:nvSpPr>
        <p:spPr>
          <a:xfrm>
            <a:off x="11658503" y="3533182"/>
            <a:ext cx="247740" cy="585724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Multiply 76"/>
          <p:cNvSpPr/>
          <p:nvPr/>
        </p:nvSpPr>
        <p:spPr>
          <a:xfrm>
            <a:off x="9607180" y="4947043"/>
            <a:ext cx="247740" cy="585724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Multiply 77"/>
          <p:cNvSpPr/>
          <p:nvPr/>
        </p:nvSpPr>
        <p:spPr>
          <a:xfrm>
            <a:off x="11700485" y="4950977"/>
            <a:ext cx="247740" cy="585724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TextBox 78"/>
          <p:cNvSpPr txBox="1"/>
          <p:nvPr/>
        </p:nvSpPr>
        <p:spPr>
          <a:xfrm>
            <a:off x="6188219" y="3130991"/>
            <a:ext cx="4438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+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188219" y="4066122"/>
            <a:ext cx="4438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+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185442" y="4568738"/>
            <a:ext cx="4438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+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188219" y="5021657"/>
            <a:ext cx="4438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+</a:t>
            </a:r>
          </a:p>
        </p:txBody>
      </p:sp>
    </p:spTree>
    <p:extLst>
      <p:ext uri="{BB962C8B-B14F-4D97-AF65-F5344CB8AC3E}">
        <p14:creationId xmlns:p14="http://schemas.microsoft.com/office/powerpoint/2010/main" val="1305882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" grpId="0"/>
      <p:bldP spid="75" grpId="0"/>
      <p:bldP spid="76" grpId="0" animBg="1"/>
      <p:bldP spid="77" grpId="0" animBg="1"/>
      <p:bldP spid="78" grpId="0" animBg="1"/>
      <p:bldP spid="79" grpId="0"/>
      <p:bldP spid="80" grpId="0"/>
      <p:bldP spid="81" grpId="0"/>
      <p:bldP spid="82" grpId="0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104</a:t>
            </a:fld>
            <a:endParaRPr lang="en-US"/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524" y="171975"/>
            <a:ext cx="5143452" cy="120690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524" y="1534179"/>
            <a:ext cx="4958924" cy="3647961"/>
          </a:xfrm>
          <a:prstGeom prst="rect">
            <a:avLst/>
          </a:prstGeom>
        </p:spPr>
      </p:pic>
      <p:sp>
        <p:nvSpPr>
          <p:cNvPr id="79" name="Oval 78">
            <a:extLst>
              <a:ext uri="{FF2B5EF4-FFF2-40B4-BE49-F238E27FC236}">
                <a16:creationId xmlns="" xmlns:a16="http://schemas.microsoft.com/office/drawing/2014/main" id="{5C988030-2BFA-466B-92B4-2814663FFAA3}"/>
              </a:ext>
            </a:extLst>
          </p:cNvPr>
          <p:cNvSpPr/>
          <p:nvPr/>
        </p:nvSpPr>
        <p:spPr>
          <a:xfrm>
            <a:off x="5658496" y="1785400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x0</a:t>
            </a:r>
          </a:p>
        </p:txBody>
      </p:sp>
      <p:cxnSp>
        <p:nvCxnSpPr>
          <p:cNvPr id="80" name="Straight Arrow Connector 79">
            <a:extLst>
              <a:ext uri="{FF2B5EF4-FFF2-40B4-BE49-F238E27FC236}">
                <a16:creationId xmlns="" xmlns:a16="http://schemas.microsoft.com/office/drawing/2014/main" id="{56F08B06-431F-4F2F-B2B2-658A2865D218}"/>
              </a:ext>
            </a:extLst>
          </p:cNvPr>
          <p:cNvCxnSpPr>
            <a:cxnSpLocks/>
          </p:cNvCxnSpPr>
          <p:nvPr/>
        </p:nvCxnSpPr>
        <p:spPr>
          <a:xfrm>
            <a:off x="5128437" y="2118655"/>
            <a:ext cx="556591" cy="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Oval 81">
            <a:extLst>
              <a:ext uri="{FF2B5EF4-FFF2-40B4-BE49-F238E27FC236}">
                <a16:creationId xmlns="" xmlns:a16="http://schemas.microsoft.com/office/drawing/2014/main" id="{5C988030-2BFA-466B-92B4-2814663FFAA3}"/>
              </a:ext>
            </a:extLst>
          </p:cNvPr>
          <p:cNvSpPr/>
          <p:nvPr/>
        </p:nvSpPr>
        <p:spPr>
          <a:xfrm>
            <a:off x="7406610" y="1785400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x0x1</a:t>
            </a:r>
            <a:endParaRPr lang="en-US" dirty="0"/>
          </a:p>
        </p:txBody>
      </p:sp>
      <p:sp>
        <p:nvSpPr>
          <p:cNvPr id="83" name="Oval 82">
            <a:extLst>
              <a:ext uri="{FF2B5EF4-FFF2-40B4-BE49-F238E27FC236}">
                <a16:creationId xmlns="" xmlns:a16="http://schemas.microsoft.com/office/drawing/2014/main" id="{5C988030-2BFA-466B-92B4-2814663FFAA3}"/>
              </a:ext>
            </a:extLst>
          </p:cNvPr>
          <p:cNvSpPr/>
          <p:nvPr/>
        </p:nvSpPr>
        <p:spPr>
          <a:xfrm>
            <a:off x="7044945" y="4098838"/>
            <a:ext cx="829813" cy="963208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X0</a:t>
            </a:r>
          </a:p>
          <a:p>
            <a:pPr algn="ctr"/>
            <a:r>
              <a:rPr lang="en-US" dirty="0" smtClean="0"/>
              <a:t>X1</a:t>
            </a:r>
          </a:p>
          <a:p>
            <a:pPr algn="ctr"/>
            <a:r>
              <a:rPr lang="en-US" dirty="0" smtClean="0"/>
              <a:t>x2</a:t>
            </a:r>
            <a:endParaRPr lang="en-US" dirty="0"/>
          </a:p>
        </p:txBody>
      </p:sp>
      <p:sp>
        <p:nvSpPr>
          <p:cNvPr id="84" name="Oval 83">
            <a:extLst>
              <a:ext uri="{FF2B5EF4-FFF2-40B4-BE49-F238E27FC236}">
                <a16:creationId xmlns="" xmlns:a16="http://schemas.microsoft.com/office/drawing/2014/main" id="{5C988030-2BFA-466B-92B4-2814663FFAA3}"/>
              </a:ext>
            </a:extLst>
          </p:cNvPr>
          <p:cNvSpPr/>
          <p:nvPr/>
        </p:nvSpPr>
        <p:spPr>
          <a:xfrm>
            <a:off x="9078921" y="1740476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x0x2</a:t>
            </a:r>
            <a:endParaRPr lang="en-US" dirty="0"/>
          </a:p>
        </p:txBody>
      </p:sp>
      <p:grpSp>
        <p:nvGrpSpPr>
          <p:cNvPr id="6" name="Group 5"/>
          <p:cNvGrpSpPr/>
          <p:nvPr/>
        </p:nvGrpSpPr>
        <p:grpSpPr>
          <a:xfrm>
            <a:off x="10711234" y="1633000"/>
            <a:ext cx="821916" cy="791542"/>
            <a:chOff x="9930262" y="1709200"/>
            <a:chExt cx="821916" cy="791542"/>
          </a:xfrm>
        </p:grpSpPr>
        <p:sp>
          <p:nvSpPr>
            <p:cNvPr id="92" name="Oval 91">
              <a:extLst>
                <a:ext uri="{FF2B5EF4-FFF2-40B4-BE49-F238E27FC236}">
                  <a16:creationId xmlns="" xmlns:a16="http://schemas.microsoft.com/office/drawing/2014/main" id="{5C988030-2BFA-466B-92B4-2814663FFAA3}"/>
                </a:ext>
              </a:extLst>
            </p:cNvPr>
            <p:cNvSpPr/>
            <p:nvPr/>
          </p:nvSpPr>
          <p:spPr>
            <a:xfrm>
              <a:off x="9930262" y="1709200"/>
              <a:ext cx="821916" cy="79154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8" name="Oval 87">
              <a:extLst>
                <a:ext uri="{FF2B5EF4-FFF2-40B4-BE49-F238E27FC236}">
                  <a16:creationId xmlns="" xmlns:a16="http://schemas.microsoft.com/office/drawing/2014/main" id="{5C988030-2BFA-466B-92B4-2814663FFAA3}"/>
                </a:ext>
              </a:extLst>
            </p:cNvPr>
            <p:cNvSpPr/>
            <p:nvPr/>
          </p:nvSpPr>
          <p:spPr>
            <a:xfrm>
              <a:off x="9987903" y="1771752"/>
              <a:ext cx="723331" cy="63914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x0x3</a:t>
              </a:r>
              <a:endParaRPr lang="en-US" dirty="0"/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8706326" y="3095767"/>
            <a:ext cx="1038175" cy="1239248"/>
            <a:chOff x="8706325" y="3234519"/>
            <a:chExt cx="1038175" cy="1239248"/>
          </a:xfrm>
        </p:grpSpPr>
        <p:sp>
          <p:nvSpPr>
            <p:cNvPr id="93" name="Oval 92">
              <a:extLst>
                <a:ext uri="{FF2B5EF4-FFF2-40B4-BE49-F238E27FC236}">
                  <a16:creationId xmlns="" xmlns:a16="http://schemas.microsoft.com/office/drawing/2014/main" id="{5C988030-2BFA-466B-92B4-2814663FFAA3}"/>
                </a:ext>
              </a:extLst>
            </p:cNvPr>
            <p:cNvSpPr/>
            <p:nvPr/>
          </p:nvSpPr>
          <p:spPr>
            <a:xfrm>
              <a:off x="8706325" y="3234519"/>
              <a:ext cx="1038175" cy="1239248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9" name="Oval 88">
              <a:extLst>
                <a:ext uri="{FF2B5EF4-FFF2-40B4-BE49-F238E27FC236}">
                  <a16:creationId xmlns="" xmlns:a16="http://schemas.microsoft.com/office/drawing/2014/main" id="{5C988030-2BFA-466B-92B4-2814663FFAA3}"/>
                </a:ext>
              </a:extLst>
            </p:cNvPr>
            <p:cNvSpPr/>
            <p:nvPr/>
          </p:nvSpPr>
          <p:spPr>
            <a:xfrm>
              <a:off x="8799590" y="3371807"/>
              <a:ext cx="829813" cy="963208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X0</a:t>
              </a:r>
            </a:p>
            <a:p>
              <a:pPr algn="ctr"/>
              <a:r>
                <a:rPr lang="en-US" dirty="0" smtClean="0"/>
                <a:t>X1</a:t>
              </a:r>
            </a:p>
            <a:p>
              <a:pPr algn="ctr"/>
              <a:r>
                <a:rPr lang="en-US" dirty="0" smtClean="0"/>
                <a:t>x3</a:t>
              </a:r>
              <a:endParaRPr lang="en-US" dirty="0"/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10489671" y="3839763"/>
            <a:ext cx="947153" cy="1115608"/>
            <a:chOff x="10489671" y="3839763"/>
            <a:chExt cx="947153" cy="1115608"/>
          </a:xfrm>
        </p:grpSpPr>
        <p:sp>
          <p:nvSpPr>
            <p:cNvPr id="94" name="Oval 93">
              <a:extLst>
                <a:ext uri="{FF2B5EF4-FFF2-40B4-BE49-F238E27FC236}">
                  <a16:creationId xmlns="" xmlns:a16="http://schemas.microsoft.com/office/drawing/2014/main" id="{5C988030-2BFA-466B-92B4-2814663FFAA3}"/>
                </a:ext>
              </a:extLst>
            </p:cNvPr>
            <p:cNvSpPr/>
            <p:nvPr/>
          </p:nvSpPr>
          <p:spPr>
            <a:xfrm>
              <a:off x="10489671" y="3839763"/>
              <a:ext cx="947153" cy="1115608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0" name="Oval 89">
              <a:extLst>
                <a:ext uri="{FF2B5EF4-FFF2-40B4-BE49-F238E27FC236}">
                  <a16:creationId xmlns="" xmlns:a16="http://schemas.microsoft.com/office/drawing/2014/main" id="{5C988030-2BFA-466B-92B4-2814663FFAA3}"/>
                </a:ext>
              </a:extLst>
            </p:cNvPr>
            <p:cNvSpPr/>
            <p:nvPr/>
          </p:nvSpPr>
          <p:spPr>
            <a:xfrm>
              <a:off x="10555639" y="3908003"/>
              <a:ext cx="829813" cy="963208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X0</a:t>
              </a:r>
            </a:p>
            <a:p>
              <a:pPr algn="ctr"/>
              <a:r>
                <a:rPr lang="en-US" dirty="0" smtClean="0"/>
                <a:t>X2</a:t>
              </a:r>
            </a:p>
            <a:p>
              <a:pPr algn="ctr"/>
              <a:r>
                <a:rPr lang="en-US" dirty="0" smtClean="0"/>
                <a:t>x3</a:t>
              </a:r>
              <a:endParaRPr lang="en-US" dirty="0"/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8834619" y="5261607"/>
            <a:ext cx="1223936" cy="1399086"/>
            <a:chOff x="8706326" y="4955371"/>
            <a:chExt cx="1223936" cy="1399086"/>
          </a:xfrm>
        </p:grpSpPr>
        <p:sp>
          <p:nvSpPr>
            <p:cNvPr id="95" name="Oval 94">
              <a:extLst>
                <a:ext uri="{FF2B5EF4-FFF2-40B4-BE49-F238E27FC236}">
                  <a16:creationId xmlns="" xmlns:a16="http://schemas.microsoft.com/office/drawing/2014/main" id="{5C988030-2BFA-466B-92B4-2814663FFAA3}"/>
                </a:ext>
              </a:extLst>
            </p:cNvPr>
            <p:cNvSpPr/>
            <p:nvPr/>
          </p:nvSpPr>
          <p:spPr>
            <a:xfrm>
              <a:off x="8706326" y="4955371"/>
              <a:ext cx="1223936" cy="1399086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1" name="Oval 90">
              <a:extLst>
                <a:ext uri="{FF2B5EF4-FFF2-40B4-BE49-F238E27FC236}">
                  <a16:creationId xmlns="" xmlns:a16="http://schemas.microsoft.com/office/drawing/2014/main" id="{5C988030-2BFA-466B-92B4-2814663FFAA3}"/>
                </a:ext>
              </a:extLst>
            </p:cNvPr>
            <p:cNvSpPr/>
            <p:nvPr/>
          </p:nvSpPr>
          <p:spPr>
            <a:xfrm>
              <a:off x="8785942" y="5067753"/>
              <a:ext cx="1072704" cy="1175248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X0</a:t>
              </a:r>
            </a:p>
            <a:p>
              <a:pPr algn="ctr"/>
              <a:r>
                <a:rPr lang="en-US" dirty="0" smtClean="0"/>
                <a:t>x1</a:t>
              </a:r>
            </a:p>
            <a:p>
              <a:pPr algn="ctr"/>
              <a:r>
                <a:rPr lang="en-US" dirty="0" smtClean="0"/>
                <a:t>X2</a:t>
              </a:r>
            </a:p>
            <a:p>
              <a:pPr algn="ctr"/>
              <a:r>
                <a:rPr lang="en-US" dirty="0" smtClean="0"/>
                <a:t>x3</a:t>
              </a:r>
              <a:endParaRPr lang="en-US" dirty="0"/>
            </a:p>
          </p:txBody>
        </p:sp>
      </p:grpSp>
      <p:cxnSp>
        <p:nvCxnSpPr>
          <p:cNvPr id="96" name="Straight Arrow Connector 95">
            <a:extLst>
              <a:ext uri="{FF2B5EF4-FFF2-40B4-BE49-F238E27FC236}">
                <a16:creationId xmlns="" xmlns:a16="http://schemas.microsoft.com/office/drawing/2014/main" id="{E76FD75B-469A-495F-86F9-CF358F01AFB4}"/>
              </a:ext>
            </a:extLst>
          </p:cNvPr>
          <p:cNvCxnSpPr>
            <a:stCxn id="79" idx="6"/>
            <a:endCxn id="82" idx="2"/>
          </p:cNvCxnSpPr>
          <p:nvPr/>
        </p:nvCxnSpPr>
        <p:spPr>
          <a:xfrm>
            <a:off x="6381827" y="2104971"/>
            <a:ext cx="1024783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="" xmlns:a16="http://schemas.microsoft.com/office/drawing/2014/main" id="{E76FD75B-469A-495F-86F9-CF358F01AFB4}"/>
              </a:ext>
            </a:extLst>
          </p:cNvPr>
          <p:cNvCxnSpPr/>
          <p:nvPr/>
        </p:nvCxnSpPr>
        <p:spPr>
          <a:xfrm flipH="1">
            <a:off x="7459852" y="2497539"/>
            <a:ext cx="237576" cy="1546707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="" xmlns:a16="http://schemas.microsoft.com/office/drawing/2014/main" id="{E76FD75B-469A-495F-86F9-CF358F01AFB4}"/>
              </a:ext>
            </a:extLst>
          </p:cNvPr>
          <p:cNvCxnSpPr>
            <a:endCxn id="93" idx="0"/>
          </p:cNvCxnSpPr>
          <p:nvPr/>
        </p:nvCxnSpPr>
        <p:spPr>
          <a:xfrm flipH="1">
            <a:off x="9225414" y="2424542"/>
            <a:ext cx="107585" cy="671225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="" xmlns:a16="http://schemas.microsoft.com/office/drawing/2014/main" id="{E76FD75B-469A-495F-86F9-CF358F01AFB4}"/>
              </a:ext>
            </a:extLst>
          </p:cNvPr>
          <p:cNvCxnSpPr/>
          <p:nvPr/>
        </p:nvCxnSpPr>
        <p:spPr>
          <a:xfrm flipV="1">
            <a:off x="7872705" y="4580442"/>
            <a:ext cx="2571434" cy="153045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="" xmlns:a16="http://schemas.microsoft.com/office/drawing/2014/main" id="{E76FD75B-469A-495F-86F9-CF358F01AFB4}"/>
              </a:ext>
            </a:extLst>
          </p:cNvPr>
          <p:cNvCxnSpPr>
            <a:stCxn id="84" idx="6"/>
          </p:cNvCxnSpPr>
          <p:nvPr/>
        </p:nvCxnSpPr>
        <p:spPr>
          <a:xfrm flipV="1">
            <a:off x="9802252" y="2015125"/>
            <a:ext cx="908981" cy="44922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="" xmlns:a16="http://schemas.microsoft.com/office/drawing/2014/main" id="{E76FD75B-469A-495F-86F9-CF358F01AFB4}"/>
              </a:ext>
            </a:extLst>
          </p:cNvPr>
          <p:cNvCxnSpPr>
            <a:endCxn id="84" idx="2"/>
          </p:cNvCxnSpPr>
          <p:nvPr/>
        </p:nvCxnSpPr>
        <p:spPr>
          <a:xfrm flipV="1">
            <a:off x="8169940" y="2060047"/>
            <a:ext cx="908981" cy="23971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Arc 101">
            <a:extLst>
              <a:ext uri="{FF2B5EF4-FFF2-40B4-BE49-F238E27FC236}">
                <a16:creationId xmlns="" xmlns:a16="http://schemas.microsoft.com/office/drawing/2014/main" id="{0F23AE9C-F3AD-487C-BA92-C0E9498BAF38}"/>
              </a:ext>
            </a:extLst>
          </p:cNvPr>
          <p:cNvSpPr/>
          <p:nvPr/>
        </p:nvSpPr>
        <p:spPr>
          <a:xfrm rot="20451907">
            <a:off x="5614643" y="1447589"/>
            <a:ext cx="540134" cy="887105"/>
          </a:xfrm>
          <a:prstGeom prst="arc">
            <a:avLst>
              <a:gd name="adj1" fmla="val 10711483"/>
              <a:gd name="adj2" fmla="val 0"/>
            </a:avLst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TextBox 102">
            <a:extLst>
              <a:ext uri="{FF2B5EF4-FFF2-40B4-BE49-F238E27FC236}">
                <a16:creationId xmlns="" xmlns:a16="http://schemas.microsoft.com/office/drawing/2014/main" id="{88D9DE6D-7C32-4133-A619-45E5E940ADF5}"/>
              </a:ext>
            </a:extLst>
          </p:cNvPr>
          <p:cNvSpPr txBox="1"/>
          <p:nvPr/>
        </p:nvSpPr>
        <p:spPr>
          <a:xfrm>
            <a:off x="5723320" y="1080977"/>
            <a:ext cx="3379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="" xmlns:a16="http://schemas.microsoft.com/office/drawing/2014/main" id="{88D9DE6D-7C32-4133-A619-45E5E940ADF5}"/>
              </a:ext>
            </a:extLst>
          </p:cNvPr>
          <p:cNvSpPr txBox="1"/>
          <p:nvPr/>
        </p:nvSpPr>
        <p:spPr>
          <a:xfrm>
            <a:off x="6689158" y="1765143"/>
            <a:ext cx="3379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b</a:t>
            </a: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="" xmlns:a16="http://schemas.microsoft.com/office/drawing/2014/main" id="{88D9DE6D-7C32-4133-A619-45E5E940ADF5}"/>
              </a:ext>
            </a:extLst>
          </p:cNvPr>
          <p:cNvSpPr txBox="1"/>
          <p:nvPr/>
        </p:nvSpPr>
        <p:spPr>
          <a:xfrm>
            <a:off x="7292714" y="2958049"/>
            <a:ext cx="3379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b</a:t>
            </a: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="" xmlns:a16="http://schemas.microsoft.com/office/drawing/2014/main" id="{88D9DE6D-7C32-4133-A619-45E5E940ADF5}"/>
              </a:ext>
            </a:extLst>
          </p:cNvPr>
          <p:cNvSpPr txBox="1"/>
          <p:nvPr/>
        </p:nvSpPr>
        <p:spPr>
          <a:xfrm>
            <a:off x="8056505" y="3817132"/>
            <a:ext cx="3379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b</a:t>
            </a: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="" xmlns:a16="http://schemas.microsoft.com/office/drawing/2014/main" id="{88D9DE6D-7C32-4133-A619-45E5E940ADF5}"/>
              </a:ext>
            </a:extLst>
          </p:cNvPr>
          <p:cNvSpPr txBox="1"/>
          <p:nvPr/>
        </p:nvSpPr>
        <p:spPr>
          <a:xfrm>
            <a:off x="9009502" y="2645078"/>
            <a:ext cx="3379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b</a:t>
            </a: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="" xmlns:a16="http://schemas.microsoft.com/office/drawing/2014/main" id="{88D9DE6D-7C32-4133-A619-45E5E940ADF5}"/>
              </a:ext>
            </a:extLst>
          </p:cNvPr>
          <p:cNvSpPr txBox="1"/>
          <p:nvPr/>
        </p:nvSpPr>
        <p:spPr>
          <a:xfrm>
            <a:off x="9929231" y="2291804"/>
            <a:ext cx="3379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b</a:t>
            </a: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0" name="TextBox 109">
            <a:extLst>
              <a:ext uri="{FF2B5EF4-FFF2-40B4-BE49-F238E27FC236}">
                <a16:creationId xmlns="" xmlns:a16="http://schemas.microsoft.com/office/drawing/2014/main" id="{88D9DE6D-7C32-4133-A619-45E5E940ADF5}"/>
              </a:ext>
            </a:extLst>
          </p:cNvPr>
          <p:cNvSpPr txBox="1"/>
          <p:nvPr/>
        </p:nvSpPr>
        <p:spPr>
          <a:xfrm>
            <a:off x="8401181" y="1718545"/>
            <a:ext cx="3379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="" xmlns:a16="http://schemas.microsoft.com/office/drawing/2014/main" id="{88D9DE6D-7C32-4133-A619-45E5E940ADF5}"/>
              </a:ext>
            </a:extLst>
          </p:cNvPr>
          <p:cNvSpPr txBox="1"/>
          <p:nvPr/>
        </p:nvSpPr>
        <p:spPr>
          <a:xfrm>
            <a:off x="8359235" y="4347542"/>
            <a:ext cx="3562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2" name="TextBox 111">
            <a:extLst>
              <a:ext uri="{FF2B5EF4-FFF2-40B4-BE49-F238E27FC236}">
                <a16:creationId xmlns="" xmlns:a16="http://schemas.microsoft.com/office/drawing/2014/main" id="{88D9DE6D-7C32-4133-A619-45E5E940ADF5}"/>
              </a:ext>
            </a:extLst>
          </p:cNvPr>
          <p:cNvSpPr txBox="1"/>
          <p:nvPr/>
        </p:nvSpPr>
        <p:spPr>
          <a:xfrm>
            <a:off x="8199410" y="1086607"/>
            <a:ext cx="3379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3" name="TextBox 112">
            <a:extLst>
              <a:ext uri="{FF2B5EF4-FFF2-40B4-BE49-F238E27FC236}">
                <a16:creationId xmlns="" xmlns:a16="http://schemas.microsoft.com/office/drawing/2014/main" id="{88D9DE6D-7C32-4133-A619-45E5E940ADF5}"/>
              </a:ext>
            </a:extLst>
          </p:cNvPr>
          <p:cNvSpPr txBox="1"/>
          <p:nvPr/>
        </p:nvSpPr>
        <p:spPr>
          <a:xfrm>
            <a:off x="9452727" y="2696515"/>
            <a:ext cx="3379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="" xmlns:a16="http://schemas.microsoft.com/office/drawing/2014/main" id="{88D9DE6D-7C32-4133-A619-45E5E940ADF5}"/>
              </a:ext>
            </a:extLst>
          </p:cNvPr>
          <p:cNvSpPr txBox="1"/>
          <p:nvPr/>
        </p:nvSpPr>
        <p:spPr>
          <a:xfrm>
            <a:off x="10025865" y="1673585"/>
            <a:ext cx="3379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5" name="Curved Up Arrow 114"/>
          <p:cNvSpPr/>
          <p:nvPr/>
        </p:nvSpPr>
        <p:spPr>
          <a:xfrm rot="10800000">
            <a:off x="6204025" y="1439184"/>
            <a:ext cx="4564849" cy="344423"/>
          </a:xfrm>
          <a:prstGeom prst="curvedUp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6" name="Curved Down Arrow 115"/>
          <p:cNvSpPr/>
          <p:nvPr/>
        </p:nvSpPr>
        <p:spPr>
          <a:xfrm rot="10800000">
            <a:off x="7874756" y="2440356"/>
            <a:ext cx="3023429" cy="204721"/>
          </a:xfrm>
          <a:prstGeom prst="curvedDown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7" name="TextBox 116">
            <a:extLst>
              <a:ext uri="{FF2B5EF4-FFF2-40B4-BE49-F238E27FC236}">
                <a16:creationId xmlns="" xmlns:a16="http://schemas.microsoft.com/office/drawing/2014/main" id="{88D9DE6D-7C32-4133-A619-45E5E940ADF5}"/>
              </a:ext>
            </a:extLst>
          </p:cNvPr>
          <p:cNvSpPr txBox="1"/>
          <p:nvPr/>
        </p:nvSpPr>
        <p:spPr>
          <a:xfrm>
            <a:off x="10765511" y="5961613"/>
            <a:ext cx="3379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b</a:t>
            </a: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="" xmlns:a16="http://schemas.microsoft.com/office/drawing/2014/main" id="{88D9DE6D-7C32-4133-A619-45E5E940ADF5}"/>
              </a:ext>
            </a:extLst>
          </p:cNvPr>
          <p:cNvSpPr txBox="1"/>
          <p:nvPr/>
        </p:nvSpPr>
        <p:spPr>
          <a:xfrm>
            <a:off x="10058555" y="3667004"/>
            <a:ext cx="3379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b</a:t>
            </a: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9" name="TextBox 118">
            <a:extLst>
              <a:ext uri="{FF2B5EF4-FFF2-40B4-BE49-F238E27FC236}">
                <a16:creationId xmlns="" xmlns:a16="http://schemas.microsoft.com/office/drawing/2014/main" id="{88D9DE6D-7C32-4133-A619-45E5E940ADF5}"/>
              </a:ext>
            </a:extLst>
          </p:cNvPr>
          <p:cNvSpPr txBox="1"/>
          <p:nvPr/>
        </p:nvSpPr>
        <p:spPr>
          <a:xfrm>
            <a:off x="7904796" y="5283345"/>
            <a:ext cx="3379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b</a:t>
            </a: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0" name="TextBox 119">
            <a:extLst>
              <a:ext uri="{FF2B5EF4-FFF2-40B4-BE49-F238E27FC236}">
                <a16:creationId xmlns="" xmlns:a16="http://schemas.microsoft.com/office/drawing/2014/main" id="{88D9DE6D-7C32-4133-A619-45E5E940ADF5}"/>
              </a:ext>
            </a:extLst>
          </p:cNvPr>
          <p:cNvSpPr txBox="1"/>
          <p:nvPr/>
        </p:nvSpPr>
        <p:spPr>
          <a:xfrm>
            <a:off x="9950863" y="4868040"/>
            <a:ext cx="3379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1" name="TextBox 120">
            <a:extLst>
              <a:ext uri="{FF2B5EF4-FFF2-40B4-BE49-F238E27FC236}">
                <a16:creationId xmlns="" xmlns:a16="http://schemas.microsoft.com/office/drawing/2014/main" id="{88D9DE6D-7C32-4133-A619-45E5E940ADF5}"/>
              </a:ext>
            </a:extLst>
          </p:cNvPr>
          <p:cNvSpPr txBox="1"/>
          <p:nvPr/>
        </p:nvSpPr>
        <p:spPr>
          <a:xfrm>
            <a:off x="11007812" y="2904482"/>
            <a:ext cx="3379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25" name="Straight Arrow Connector 124">
            <a:extLst>
              <a:ext uri="{FF2B5EF4-FFF2-40B4-BE49-F238E27FC236}">
                <a16:creationId xmlns="" xmlns:a16="http://schemas.microsoft.com/office/drawing/2014/main" id="{E76FD75B-469A-495F-86F9-CF358F01AFB4}"/>
              </a:ext>
            </a:extLst>
          </p:cNvPr>
          <p:cNvCxnSpPr/>
          <p:nvPr/>
        </p:nvCxnSpPr>
        <p:spPr>
          <a:xfrm flipH="1">
            <a:off x="7872706" y="3908003"/>
            <a:ext cx="833620" cy="427012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Arrow Connector 125">
            <a:extLst>
              <a:ext uri="{FF2B5EF4-FFF2-40B4-BE49-F238E27FC236}">
                <a16:creationId xmlns="" xmlns:a16="http://schemas.microsoft.com/office/drawing/2014/main" id="{E76FD75B-469A-495F-86F9-CF358F01AFB4}"/>
              </a:ext>
            </a:extLst>
          </p:cNvPr>
          <p:cNvCxnSpPr/>
          <p:nvPr/>
        </p:nvCxnSpPr>
        <p:spPr>
          <a:xfrm flipV="1">
            <a:off x="10963248" y="2460830"/>
            <a:ext cx="167292" cy="1297045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Arrow Connector 126">
            <a:extLst>
              <a:ext uri="{FF2B5EF4-FFF2-40B4-BE49-F238E27FC236}">
                <a16:creationId xmlns="" xmlns:a16="http://schemas.microsoft.com/office/drawing/2014/main" id="{E76FD75B-469A-495F-86F9-CF358F01AFB4}"/>
              </a:ext>
            </a:extLst>
          </p:cNvPr>
          <p:cNvCxnSpPr/>
          <p:nvPr/>
        </p:nvCxnSpPr>
        <p:spPr>
          <a:xfrm flipH="1" flipV="1">
            <a:off x="9744501" y="3908003"/>
            <a:ext cx="699639" cy="248696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Arrow Connector 127">
            <a:extLst>
              <a:ext uri="{FF2B5EF4-FFF2-40B4-BE49-F238E27FC236}">
                <a16:creationId xmlns="" xmlns:a16="http://schemas.microsoft.com/office/drawing/2014/main" id="{E76FD75B-469A-495F-86F9-CF358F01AFB4}"/>
              </a:ext>
            </a:extLst>
          </p:cNvPr>
          <p:cNvCxnSpPr/>
          <p:nvPr/>
        </p:nvCxnSpPr>
        <p:spPr>
          <a:xfrm>
            <a:off x="7630658" y="5067591"/>
            <a:ext cx="1168933" cy="739474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Arrow Connector 130">
            <a:extLst>
              <a:ext uri="{FF2B5EF4-FFF2-40B4-BE49-F238E27FC236}">
                <a16:creationId xmlns="" xmlns:a16="http://schemas.microsoft.com/office/drawing/2014/main" id="{E76FD75B-469A-495F-86F9-CF358F01AFB4}"/>
              </a:ext>
            </a:extLst>
          </p:cNvPr>
          <p:cNvCxnSpPr/>
          <p:nvPr/>
        </p:nvCxnSpPr>
        <p:spPr>
          <a:xfrm flipH="1" flipV="1">
            <a:off x="9450587" y="2401990"/>
            <a:ext cx="21661" cy="702547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Arc 142">
            <a:extLst>
              <a:ext uri="{FF2B5EF4-FFF2-40B4-BE49-F238E27FC236}">
                <a16:creationId xmlns="" xmlns:a16="http://schemas.microsoft.com/office/drawing/2014/main" id="{0F23AE9C-F3AD-487C-BA92-C0E9498BAF38}"/>
              </a:ext>
            </a:extLst>
          </p:cNvPr>
          <p:cNvSpPr/>
          <p:nvPr/>
        </p:nvSpPr>
        <p:spPr>
          <a:xfrm rot="6030413">
            <a:off x="9823590" y="5431238"/>
            <a:ext cx="540134" cy="1266447"/>
          </a:xfrm>
          <a:prstGeom prst="arc">
            <a:avLst>
              <a:gd name="adj1" fmla="val 10711483"/>
              <a:gd name="adj2" fmla="val 0"/>
            </a:avLst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4" name="Straight Arrow Connector 143">
            <a:extLst>
              <a:ext uri="{FF2B5EF4-FFF2-40B4-BE49-F238E27FC236}">
                <a16:creationId xmlns="" xmlns:a16="http://schemas.microsoft.com/office/drawing/2014/main" id="{E76FD75B-469A-495F-86F9-CF358F01AFB4}"/>
              </a:ext>
            </a:extLst>
          </p:cNvPr>
          <p:cNvCxnSpPr/>
          <p:nvPr/>
        </p:nvCxnSpPr>
        <p:spPr>
          <a:xfrm flipV="1">
            <a:off x="9970367" y="4732843"/>
            <a:ext cx="626172" cy="704485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2711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" grpId="0" animBg="1"/>
      <p:bldP spid="82" grpId="0" animBg="1"/>
      <p:bldP spid="83" grpId="0" animBg="1"/>
      <p:bldP spid="84" grpId="0" animBg="1"/>
      <p:bldP spid="102" grpId="0" animBg="1"/>
      <p:bldP spid="103" grpId="0"/>
      <p:bldP spid="105" grpId="0"/>
      <p:bldP spid="106" grpId="0"/>
      <p:bldP spid="107" grpId="0"/>
      <p:bldP spid="108" grpId="0"/>
      <p:bldP spid="109" grpId="0"/>
      <p:bldP spid="110" grpId="0"/>
      <p:bldP spid="111" grpId="0"/>
      <p:bldP spid="112" grpId="0"/>
      <p:bldP spid="113" grpId="0"/>
      <p:bldP spid="114" grpId="0"/>
      <p:bldP spid="115" grpId="0" animBg="1"/>
      <p:bldP spid="116" grpId="0" animBg="1"/>
      <p:bldP spid="117" grpId="0"/>
      <p:bldP spid="118" grpId="0"/>
      <p:bldP spid="119" grpId="0"/>
      <p:bldP spid="120" grpId="0"/>
      <p:bldP spid="121" grpId="0"/>
      <p:bldP spid="143" grpId="0" animBg="1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0067" y="0"/>
            <a:ext cx="2614674" cy="547946"/>
          </a:xfrm>
        </p:spPr>
        <p:txBody>
          <a:bodyPr/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NFA Continue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5926" y="495519"/>
            <a:ext cx="9101737" cy="2337926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All words that contains 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aaa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or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bbb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are valid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 = (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a+b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)*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aaa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a+b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)*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    = (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a+b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)* 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bbb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a+b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)*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 = [(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a+b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)*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aaa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a+b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)*]  + [(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a+b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)* 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bbb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a+b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)*]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 = (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a+b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)* (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aaa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+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bbb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)  (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a+b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)*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 = {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aaa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bbb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aaab,abbb,baaa,bbba,aaaba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aabbb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aaababb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……….}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105</a:t>
            </a:fld>
            <a:endParaRPr lang="en-US"/>
          </a:p>
        </p:txBody>
      </p:sp>
      <p:grpSp>
        <p:nvGrpSpPr>
          <p:cNvPr id="83" name="Group 82"/>
          <p:cNvGrpSpPr/>
          <p:nvPr/>
        </p:nvGrpSpPr>
        <p:grpSpPr>
          <a:xfrm>
            <a:off x="131508" y="3246686"/>
            <a:ext cx="6719668" cy="2318188"/>
            <a:chOff x="748548" y="3527000"/>
            <a:chExt cx="7348632" cy="2318188"/>
          </a:xfrm>
        </p:grpSpPr>
        <p:sp>
          <p:nvSpPr>
            <p:cNvPr id="65" name="Oval 64">
              <a:extLst>
                <a:ext uri="{FF2B5EF4-FFF2-40B4-BE49-F238E27FC236}">
                  <a16:creationId xmlns="" xmlns:a16="http://schemas.microsoft.com/office/drawing/2014/main" id="{5C988030-2BFA-466B-92B4-2814663FFAA3}"/>
                </a:ext>
              </a:extLst>
            </p:cNvPr>
            <p:cNvSpPr/>
            <p:nvPr/>
          </p:nvSpPr>
          <p:spPr>
            <a:xfrm>
              <a:off x="1353666" y="4405780"/>
              <a:ext cx="723331" cy="63914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x0</a:t>
              </a:r>
            </a:p>
          </p:txBody>
        </p:sp>
        <p:cxnSp>
          <p:nvCxnSpPr>
            <p:cNvPr id="66" name="Straight Arrow Connector 65">
              <a:extLst>
                <a:ext uri="{FF2B5EF4-FFF2-40B4-BE49-F238E27FC236}">
                  <a16:creationId xmlns="" xmlns:a16="http://schemas.microsoft.com/office/drawing/2014/main" id="{56F08B06-431F-4F2F-B2B2-658A2865D218}"/>
                </a:ext>
              </a:extLst>
            </p:cNvPr>
            <p:cNvCxnSpPr>
              <a:cxnSpLocks/>
            </p:cNvCxnSpPr>
            <p:nvPr/>
          </p:nvCxnSpPr>
          <p:spPr>
            <a:xfrm>
              <a:off x="748548" y="4694877"/>
              <a:ext cx="556591" cy="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2" name="Group 65">
              <a:extLst>
                <a:ext uri="{FF2B5EF4-FFF2-40B4-BE49-F238E27FC236}">
                  <a16:creationId xmlns="" xmlns:a16="http://schemas.microsoft.com/office/drawing/2014/main" id="{0686C7DC-63EA-45FA-A4AD-375A26C68A70}"/>
                </a:ext>
              </a:extLst>
            </p:cNvPr>
            <p:cNvGrpSpPr/>
            <p:nvPr/>
          </p:nvGrpSpPr>
          <p:grpSpPr>
            <a:xfrm>
              <a:off x="6147683" y="4252617"/>
              <a:ext cx="839021" cy="802091"/>
              <a:chOff x="10512625" y="1744747"/>
              <a:chExt cx="839021" cy="802091"/>
            </a:xfrm>
          </p:grpSpPr>
          <p:sp>
            <p:nvSpPr>
              <p:cNvPr id="68" name="Oval 67">
                <a:extLst>
                  <a:ext uri="{FF2B5EF4-FFF2-40B4-BE49-F238E27FC236}">
                    <a16:creationId xmlns="" xmlns:a16="http://schemas.microsoft.com/office/drawing/2014/main" id="{2384BCDB-4573-4D87-8C60-389BA9C8FEC8}"/>
                  </a:ext>
                </a:extLst>
              </p:cNvPr>
              <p:cNvSpPr/>
              <p:nvPr/>
            </p:nvSpPr>
            <p:spPr>
              <a:xfrm>
                <a:off x="10512625" y="1744747"/>
                <a:ext cx="839021" cy="802091"/>
              </a:xfrm>
              <a:prstGeom prst="ellips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9" name="Oval 68">
                <a:extLst>
                  <a:ext uri="{FF2B5EF4-FFF2-40B4-BE49-F238E27FC236}">
                    <a16:creationId xmlns="" xmlns:a16="http://schemas.microsoft.com/office/drawing/2014/main" id="{C24589FC-BD2D-4604-8795-0E22CD28BD1A}"/>
                  </a:ext>
                </a:extLst>
              </p:cNvPr>
              <p:cNvSpPr/>
              <p:nvPr/>
            </p:nvSpPr>
            <p:spPr>
              <a:xfrm>
                <a:off x="10585318" y="1837172"/>
                <a:ext cx="681980" cy="628192"/>
              </a:xfrm>
              <a:prstGeom prst="ellips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smtClean="0"/>
                  <a:t>x3</a:t>
                </a:r>
                <a:endParaRPr lang="en-US" dirty="0"/>
              </a:p>
            </p:txBody>
          </p:sp>
        </p:grpSp>
        <p:grpSp>
          <p:nvGrpSpPr>
            <p:cNvPr id="13" name="Group 68">
              <a:extLst>
                <a:ext uri="{FF2B5EF4-FFF2-40B4-BE49-F238E27FC236}">
                  <a16:creationId xmlns="" xmlns:a16="http://schemas.microsoft.com/office/drawing/2014/main" id="{9C7F3B1F-F146-44E0-8A94-DFC7204F4B47}"/>
                </a:ext>
              </a:extLst>
            </p:cNvPr>
            <p:cNvGrpSpPr/>
            <p:nvPr/>
          </p:nvGrpSpPr>
          <p:grpSpPr>
            <a:xfrm rot="19319731">
              <a:off x="1896062" y="3997740"/>
              <a:ext cx="934176" cy="369332"/>
              <a:chOff x="7528817" y="3279685"/>
              <a:chExt cx="1162516" cy="369332"/>
            </a:xfrm>
          </p:grpSpPr>
          <p:cxnSp>
            <p:nvCxnSpPr>
              <p:cNvPr id="71" name="Straight Arrow Connector 70">
                <a:extLst>
                  <a:ext uri="{FF2B5EF4-FFF2-40B4-BE49-F238E27FC236}">
                    <a16:creationId xmlns="" xmlns:a16="http://schemas.microsoft.com/office/drawing/2014/main" id="{E76FD75B-469A-495F-86F9-CF358F01AFB4}"/>
                  </a:ext>
                </a:extLst>
              </p:cNvPr>
              <p:cNvCxnSpPr/>
              <p:nvPr/>
            </p:nvCxnSpPr>
            <p:spPr>
              <a:xfrm>
                <a:off x="7528817" y="3596736"/>
                <a:ext cx="1162516" cy="0"/>
              </a:xfrm>
              <a:prstGeom prst="straightConnector1">
                <a:avLst/>
              </a:prstGeom>
              <a:ln w="38100">
                <a:solidFill>
                  <a:schemeClr val="bg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2" name="TextBox 71">
                <a:extLst>
                  <a:ext uri="{FF2B5EF4-FFF2-40B4-BE49-F238E27FC236}">
                    <a16:creationId xmlns="" xmlns:a16="http://schemas.microsoft.com/office/drawing/2014/main" id="{87785F6B-EF59-4252-9595-2F0A24AEEABE}"/>
                  </a:ext>
                </a:extLst>
              </p:cNvPr>
              <p:cNvSpPr txBox="1"/>
              <p:nvPr/>
            </p:nvSpPr>
            <p:spPr>
              <a:xfrm>
                <a:off x="7889655" y="3279685"/>
                <a:ext cx="42536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a</a:t>
                </a:r>
              </a:p>
            </p:txBody>
          </p:sp>
        </p:grpSp>
        <p:grpSp>
          <p:nvGrpSpPr>
            <p:cNvPr id="14" name="Group 69">
              <a:extLst>
                <a:ext uri="{FF2B5EF4-FFF2-40B4-BE49-F238E27FC236}">
                  <a16:creationId xmlns="" xmlns:a16="http://schemas.microsoft.com/office/drawing/2014/main" id="{C9E24909-1BE4-45EB-8B7B-D926C121E7B3}"/>
                </a:ext>
              </a:extLst>
            </p:cNvPr>
            <p:cNvGrpSpPr/>
            <p:nvPr/>
          </p:nvGrpSpPr>
          <p:grpSpPr>
            <a:xfrm>
              <a:off x="3627934" y="3527000"/>
              <a:ext cx="847351" cy="369332"/>
              <a:chOff x="7528817" y="3245852"/>
              <a:chExt cx="1162516" cy="369332"/>
            </a:xfrm>
          </p:grpSpPr>
          <p:cxnSp>
            <p:nvCxnSpPr>
              <p:cNvPr id="74" name="Straight Arrow Connector 73">
                <a:extLst>
                  <a:ext uri="{FF2B5EF4-FFF2-40B4-BE49-F238E27FC236}">
                    <a16:creationId xmlns="" xmlns:a16="http://schemas.microsoft.com/office/drawing/2014/main" id="{2A64AF20-9BB6-44DB-B3F9-B26841D4FFE1}"/>
                  </a:ext>
                </a:extLst>
              </p:cNvPr>
              <p:cNvCxnSpPr/>
              <p:nvPr/>
            </p:nvCxnSpPr>
            <p:spPr>
              <a:xfrm>
                <a:off x="7528817" y="3596736"/>
                <a:ext cx="1162516" cy="0"/>
              </a:xfrm>
              <a:prstGeom prst="straightConnector1">
                <a:avLst/>
              </a:prstGeom>
              <a:ln w="38100">
                <a:solidFill>
                  <a:schemeClr val="bg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5" name="TextBox 74">
                <a:extLst>
                  <a:ext uri="{FF2B5EF4-FFF2-40B4-BE49-F238E27FC236}">
                    <a16:creationId xmlns="" xmlns:a16="http://schemas.microsoft.com/office/drawing/2014/main" id="{B13F1DD0-6991-486F-A7CD-898A1B5B28FC}"/>
                  </a:ext>
                </a:extLst>
              </p:cNvPr>
              <p:cNvSpPr txBox="1"/>
              <p:nvPr/>
            </p:nvSpPr>
            <p:spPr>
              <a:xfrm>
                <a:off x="7771423" y="3245852"/>
                <a:ext cx="55032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a</a:t>
                </a:r>
              </a:p>
            </p:txBody>
          </p:sp>
        </p:grpSp>
        <p:sp>
          <p:nvSpPr>
            <p:cNvPr id="76" name="Oval 75">
              <a:extLst>
                <a:ext uri="{FF2B5EF4-FFF2-40B4-BE49-F238E27FC236}">
                  <a16:creationId xmlns="" xmlns:a16="http://schemas.microsoft.com/office/drawing/2014/main" id="{5C988030-2BFA-466B-92B4-2814663FFAA3}"/>
                </a:ext>
              </a:extLst>
            </p:cNvPr>
            <p:cNvSpPr/>
            <p:nvPr/>
          </p:nvSpPr>
          <p:spPr>
            <a:xfrm>
              <a:off x="2851787" y="3574769"/>
              <a:ext cx="723331" cy="63914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x1</a:t>
              </a:r>
              <a:endParaRPr lang="en-US" dirty="0"/>
            </a:p>
          </p:txBody>
        </p:sp>
        <p:grpSp>
          <p:nvGrpSpPr>
            <p:cNvPr id="15" name="Group 68">
              <a:extLst>
                <a:ext uri="{FF2B5EF4-FFF2-40B4-BE49-F238E27FC236}">
                  <a16:creationId xmlns="" xmlns:a16="http://schemas.microsoft.com/office/drawing/2014/main" id="{9C7F3B1F-F146-44E0-8A94-DFC7204F4B47}"/>
                </a:ext>
              </a:extLst>
            </p:cNvPr>
            <p:cNvGrpSpPr/>
            <p:nvPr/>
          </p:nvGrpSpPr>
          <p:grpSpPr>
            <a:xfrm rot="1625095">
              <a:off x="2082968" y="4814374"/>
              <a:ext cx="934176" cy="369332"/>
              <a:chOff x="7528817" y="3279685"/>
              <a:chExt cx="1162516" cy="369332"/>
            </a:xfrm>
          </p:grpSpPr>
          <p:cxnSp>
            <p:nvCxnSpPr>
              <p:cNvPr id="78" name="Straight Arrow Connector 77">
                <a:extLst>
                  <a:ext uri="{FF2B5EF4-FFF2-40B4-BE49-F238E27FC236}">
                    <a16:creationId xmlns="" xmlns:a16="http://schemas.microsoft.com/office/drawing/2014/main" id="{E76FD75B-469A-495F-86F9-CF358F01AFB4}"/>
                  </a:ext>
                </a:extLst>
              </p:cNvPr>
              <p:cNvCxnSpPr/>
              <p:nvPr/>
            </p:nvCxnSpPr>
            <p:spPr>
              <a:xfrm>
                <a:off x="7528817" y="3596736"/>
                <a:ext cx="1162516" cy="0"/>
              </a:xfrm>
              <a:prstGeom prst="straightConnector1">
                <a:avLst/>
              </a:prstGeom>
              <a:ln w="38100">
                <a:solidFill>
                  <a:schemeClr val="bg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9" name="TextBox 78">
                <a:extLst>
                  <a:ext uri="{FF2B5EF4-FFF2-40B4-BE49-F238E27FC236}">
                    <a16:creationId xmlns="" xmlns:a16="http://schemas.microsoft.com/office/drawing/2014/main" id="{87785F6B-EF59-4252-9595-2F0A24AEEABE}"/>
                  </a:ext>
                </a:extLst>
              </p:cNvPr>
              <p:cNvSpPr txBox="1"/>
              <p:nvPr/>
            </p:nvSpPr>
            <p:spPr>
              <a:xfrm>
                <a:off x="7889654" y="3279685"/>
                <a:ext cx="42536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b</a:t>
                </a:r>
                <a:endParaRPr lang="en-US" dirty="0"/>
              </a:p>
            </p:txBody>
          </p:sp>
        </p:grpSp>
        <p:sp>
          <p:nvSpPr>
            <p:cNvPr id="80" name="TextBox 79">
              <a:extLst>
                <a:ext uri="{FF2B5EF4-FFF2-40B4-BE49-F238E27FC236}">
                  <a16:creationId xmlns="" xmlns:a16="http://schemas.microsoft.com/office/drawing/2014/main" id="{87785F6B-EF59-4252-9595-2F0A24AEEABE}"/>
                </a:ext>
              </a:extLst>
            </p:cNvPr>
            <p:cNvSpPr txBox="1"/>
            <p:nvPr/>
          </p:nvSpPr>
          <p:spPr>
            <a:xfrm>
              <a:off x="4059942" y="5232978"/>
              <a:ext cx="3069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b</a:t>
              </a:r>
              <a:endParaRPr lang="en-US" dirty="0"/>
            </a:p>
          </p:txBody>
        </p:sp>
        <p:cxnSp>
          <p:nvCxnSpPr>
            <p:cNvPr id="81" name="Straight Arrow Connector 80">
              <a:extLst>
                <a:ext uri="{FF2B5EF4-FFF2-40B4-BE49-F238E27FC236}">
                  <a16:creationId xmlns="" xmlns:a16="http://schemas.microsoft.com/office/drawing/2014/main" id="{2A64AF20-9BB6-44DB-B3F9-B26841D4FFE1}"/>
                </a:ext>
              </a:extLst>
            </p:cNvPr>
            <p:cNvCxnSpPr/>
            <p:nvPr/>
          </p:nvCxnSpPr>
          <p:spPr>
            <a:xfrm flipV="1">
              <a:off x="3661519" y="5530362"/>
              <a:ext cx="1007196" cy="11577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8" name="Arc 87">
              <a:extLst>
                <a:ext uri="{FF2B5EF4-FFF2-40B4-BE49-F238E27FC236}">
                  <a16:creationId xmlns="" xmlns:a16="http://schemas.microsoft.com/office/drawing/2014/main" id="{0F23AE9C-F3AD-487C-BA92-C0E9498BAF38}"/>
                </a:ext>
              </a:extLst>
            </p:cNvPr>
            <p:cNvSpPr/>
            <p:nvPr/>
          </p:nvSpPr>
          <p:spPr>
            <a:xfrm rot="3502692">
              <a:off x="6660704" y="4017503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TextBox 88">
              <a:extLst>
                <a:ext uri="{FF2B5EF4-FFF2-40B4-BE49-F238E27FC236}">
                  <a16:creationId xmlns="" xmlns:a16="http://schemas.microsoft.com/office/drawing/2014/main" id="{88D9DE6D-7C32-4133-A619-45E5E940ADF5}"/>
                </a:ext>
              </a:extLst>
            </p:cNvPr>
            <p:cNvSpPr txBox="1"/>
            <p:nvPr/>
          </p:nvSpPr>
          <p:spPr>
            <a:xfrm>
              <a:off x="7309934" y="4009972"/>
              <a:ext cx="7872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a/b</a:t>
              </a:r>
            </a:p>
          </p:txBody>
        </p:sp>
        <p:sp>
          <p:nvSpPr>
            <p:cNvPr id="90" name="Oval 89">
              <a:extLst>
                <a:ext uri="{FF2B5EF4-FFF2-40B4-BE49-F238E27FC236}">
                  <a16:creationId xmlns="" xmlns:a16="http://schemas.microsoft.com/office/drawing/2014/main" id="{5C988030-2BFA-466B-92B4-2814663FFAA3}"/>
                </a:ext>
              </a:extLst>
            </p:cNvPr>
            <p:cNvSpPr/>
            <p:nvPr/>
          </p:nvSpPr>
          <p:spPr>
            <a:xfrm>
              <a:off x="2883417" y="5159153"/>
              <a:ext cx="723331" cy="63914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x4</a:t>
              </a:r>
              <a:endParaRPr lang="en-US" dirty="0"/>
            </a:p>
          </p:txBody>
        </p:sp>
        <p:sp>
          <p:nvSpPr>
            <p:cNvPr id="91" name="Arc 90">
              <a:extLst>
                <a:ext uri="{FF2B5EF4-FFF2-40B4-BE49-F238E27FC236}">
                  <a16:creationId xmlns="" xmlns:a16="http://schemas.microsoft.com/office/drawing/2014/main" id="{0F23AE9C-F3AD-487C-BA92-C0E9498BAF38}"/>
                </a:ext>
              </a:extLst>
            </p:cNvPr>
            <p:cNvSpPr/>
            <p:nvPr/>
          </p:nvSpPr>
          <p:spPr>
            <a:xfrm>
              <a:off x="1436524" y="3997209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TextBox 91">
              <a:extLst>
                <a:ext uri="{FF2B5EF4-FFF2-40B4-BE49-F238E27FC236}">
                  <a16:creationId xmlns="" xmlns:a16="http://schemas.microsoft.com/office/drawing/2014/main" id="{88D9DE6D-7C32-4133-A619-45E5E940ADF5}"/>
                </a:ext>
              </a:extLst>
            </p:cNvPr>
            <p:cNvSpPr txBox="1"/>
            <p:nvPr/>
          </p:nvSpPr>
          <p:spPr>
            <a:xfrm rot="21413568">
              <a:off x="1368516" y="3635630"/>
              <a:ext cx="73001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a/b</a:t>
              </a:r>
            </a:p>
          </p:txBody>
        </p:sp>
        <p:sp>
          <p:nvSpPr>
            <p:cNvPr id="54" name="Oval 53">
              <a:extLst>
                <a:ext uri="{FF2B5EF4-FFF2-40B4-BE49-F238E27FC236}">
                  <a16:creationId xmlns="" xmlns:a16="http://schemas.microsoft.com/office/drawing/2014/main" id="{5C988030-2BFA-466B-92B4-2814663FFAA3}"/>
                </a:ext>
              </a:extLst>
            </p:cNvPr>
            <p:cNvSpPr/>
            <p:nvPr/>
          </p:nvSpPr>
          <p:spPr>
            <a:xfrm>
              <a:off x="4498880" y="3542531"/>
              <a:ext cx="723331" cy="63914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x2</a:t>
              </a:r>
              <a:endParaRPr lang="en-US" dirty="0"/>
            </a:p>
          </p:txBody>
        </p:sp>
        <p:sp>
          <p:nvSpPr>
            <p:cNvPr id="62" name="Oval 61">
              <a:extLst>
                <a:ext uri="{FF2B5EF4-FFF2-40B4-BE49-F238E27FC236}">
                  <a16:creationId xmlns="" xmlns:a16="http://schemas.microsoft.com/office/drawing/2014/main" id="{5C988030-2BFA-466B-92B4-2814663FFAA3}"/>
                </a:ext>
              </a:extLst>
            </p:cNvPr>
            <p:cNvSpPr/>
            <p:nvPr/>
          </p:nvSpPr>
          <p:spPr>
            <a:xfrm>
              <a:off x="4706356" y="5206046"/>
              <a:ext cx="723331" cy="63914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x5</a:t>
              </a:r>
              <a:endParaRPr lang="en-US" dirty="0"/>
            </a:p>
          </p:txBody>
        </p:sp>
        <p:grpSp>
          <p:nvGrpSpPr>
            <p:cNvPr id="64" name="Group 68">
              <a:extLst>
                <a:ext uri="{FF2B5EF4-FFF2-40B4-BE49-F238E27FC236}">
                  <a16:creationId xmlns="" xmlns:a16="http://schemas.microsoft.com/office/drawing/2014/main" id="{9C7F3B1F-F146-44E0-8A94-DFC7204F4B47}"/>
                </a:ext>
              </a:extLst>
            </p:cNvPr>
            <p:cNvGrpSpPr/>
            <p:nvPr/>
          </p:nvGrpSpPr>
          <p:grpSpPr>
            <a:xfrm rot="1561555">
              <a:off x="5261843" y="3904696"/>
              <a:ext cx="1098466" cy="369332"/>
              <a:chOff x="7528817" y="3279685"/>
              <a:chExt cx="1162516" cy="369332"/>
            </a:xfrm>
          </p:grpSpPr>
          <p:cxnSp>
            <p:nvCxnSpPr>
              <p:cNvPr id="67" name="Straight Arrow Connector 66">
                <a:extLst>
                  <a:ext uri="{FF2B5EF4-FFF2-40B4-BE49-F238E27FC236}">
                    <a16:creationId xmlns="" xmlns:a16="http://schemas.microsoft.com/office/drawing/2014/main" id="{E76FD75B-469A-495F-86F9-CF358F01AFB4}"/>
                  </a:ext>
                </a:extLst>
              </p:cNvPr>
              <p:cNvCxnSpPr/>
              <p:nvPr/>
            </p:nvCxnSpPr>
            <p:spPr>
              <a:xfrm>
                <a:off x="7528817" y="3596736"/>
                <a:ext cx="1162516" cy="0"/>
              </a:xfrm>
              <a:prstGeom prst="straightConnector1">
                <a:avLst/>
              </a:prstGeom>
              <a:ln w="38100">
                <a:solidFill>
                  <a:schemeClr val="bg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0" name="TextBox 69">
                <a:extLst>
                  <a:ext uri="{FF2B5EF4-FFF2-40B4-BE49-F238E27FC236}">
                    <a16:creationId xmlns="" xmlns:a16="http://schemas.microsoft.com/office/drawing/2014/main" id="{87785F6B-EF59-4252-9595-2F0A24AEEABE}"/>
                  </a:ext>
                </a:extLst>
              </p:cNvPr>
              <p:cNvSpPr txBox="1"/>
              <p:nvPr/>
            </p:nvSpPr>
            <p:spPr>
              <a:xfrm>
                <a:off x="7889655" y="3279685"/>
                <a:ext cx="42536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a</a:t>
                </a:r>
              </a:p>
            </p:txBody>
          </p:sp>
        </p:grpSp>
        <p:grpSp>
          <p:nvGrpSpPr>
            <p:cNvPr id="73" name="Group 68">
              <a:extLst>
                <a:ext uri="{FF2B5EF4-FFF2-40B4-BE49-F238E27FC236}">
                  <a16:creationId xmlns="" xmlns:a16="http://schemas.microsoft.com/office/drawing/2014/main" id="{9C7F3B1F-F146-44E0-8A94-DFC7204F4B47}"/>
                </a:ext>
              </a:extLst>
            </p:cNvPr>
            <p:cNvGrpSpPr/>
            <p:nvPr/>
          </p:nvGrpSpPr>
          <p:grpSpPr>
            <a:xfrm rot="19791143">
              <a:off x="5330260" y="4896435"/>
              <a:ext cx="934176" cy="369332"/>
              <a:chOff x="7528817" y="3279685"/>
              <a:chExt cx="1162516" cy="369332"/>
            </a:xfrm>
          </p:grpSpPr>
          <p:cxnSp>
            <p:nvCxnSpPr>
              <p:cNvPr id="77" name="Straight Arrow Connector 76">
                <a:extLst>
                  <a:ext uri="{FF2B5EF4-FFF2-40B4-BE49-F238E27FC236}">
                    <a16:creationId xmlns="" xmlns:a16="http://schemas.microsoft.com/office/drawing/2014/main" id="{E76FD75B-469A-495F-86F9-CF358F01AFB4}"/>
                  </a:ext>
                </a:extLst>
              </p:cNvPr>
              <p:cNvCxnSpPr/>
              <p:nvPr/>
            </p:nvCxnSpPr>
            <p:spPr>
              <a:xfrm>
                <a:off x="7528817" y="3596736"/>
                <a:ext cx="1162516" cy="0"/>
              </a:xfrm>
              <a:prstGeom prst="straightConnector1">
                <a:avLst/>
              </a:prstGeom>
              <a:ln w="38100">
                <a:solidFill>
                  <a:schemeClr val="bg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2" name="TextBox 81">
                <a:extLst>
                  <a:ext uri="{FF2B5EF4-FFF2-40B4-BE49-F238E27FC236}">
                    <a16:creationId xmlns="" xmlns:a16="http://schemas.microsoft.com/office/drawing/2014/main" id="{87785F6B-EF59-4252-9595-2F0A24AEEABE}"/>
                  </a:ext>
                </a:extLst>
              </p:cNvPr>
              <p:cNvSpPr txBox="1"/>
              <p:nvPr/>
            </p:nvSpPr>
            <p:spPr>
              <a:xfrm>
                <a:off x="7889654" y="3279685"/>
                <a:ext cx="42536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b</a:t>
                </a:r>
                <a:endParaRPr lang="en-US" dirty="0"/>
              </a:p>
            </p:txBody>
          </p:sp>
        </p:grpSp>
      </p:grp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1243" y="3806115"/>
            <a:ext cx="5641012" cy="252608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840284" y="5895833"/>
            <a:ext cx="24110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 smtClean="0"/>
              <a:t>Σ</a:t>
            </a:r>
            <a:r>
              <a:rPr lang="en-US" dirty="0" smtClean="0"/>
              <a:t> = {</a:t>
            </a:r>
            <a:r>
              <a:rPr lang="en-US" dirty="0" err="1" smtClean="0"/>
              <a:t>a,b</a:t>
            </a:r>
            <a:r>
              <a:rPr lang="en-US" dirty="0" smtClean="0"/>
              <a:t>}</a:t>
            </a:r>
            <a:endParaRPr lang="en-US" dirty="0"/>
          </a:p>
        </p:txBody>
      </p:sp>
      <p:sp>
        <p:nvSpPr>
          <p:cNvPr id="94" name="TextBox 93"/>
          <p:cNvSpPr txBox="1"/>
          <p:nvPr/>
        </p:nvSpPr>
        <p:spPr>
          <a:xfrm>
            <a:off x="8570239" y="2773537"/>
            <a:ext cx="24110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 smtClean="0"/>
              <a:t>Σ</a:t>
            </a:r>
            <a:r>
              <a:rPr lang="en-US" dirty="0" smtClean="0"/>
              <a:t> = {0,1}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653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/>
      <p:bldP spid="94" grpId="0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0066" y="0"/>
            <a:ext cx="7850741" cy="547946"/>
          </a:xfrm>
        </p:spPr>
        <p:txBody>
          <a:bodyPr/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Conversion of NFA into DFA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106</a:t>
            </a:fld>
            <a:endParaRPr lang="en-US"/>
          </a:p>
        </p:txBody>
      </p:sp>
      <p:pic>
        <p:nvPicPr>
          <p:cNvPr id="37" name="Picture 36" descr="Pictur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489" y="784706"/>
            <a:ext cx="5495389" cy="2094972"/>
          </a:xfrm>
          <a:prstGeom prst="rect">
            <a:avLst/>
          </a:prstGeom>
        </p:spPr>
      </p:pic>
      <p:graphicFrame>
        <p:nvGraphicFramePr>
          <p:cNvPr id="38" name="Table 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2342347"/>
              </p:ext>
            </p:extLst>
          </p:nvPr>
        </p:nvGraphicFramePr>
        <p:xfrm>
          <a:off x="335084" y="3445009"/>
          <a:ext cx="4500685" cy="31139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1"/>
                <a:gridCol w="1134207"/>
                <a:gridCol w="1283677"/>
              </a:tblGrid>
              <a:tr h="91936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States / Input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0985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0985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0985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0985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0985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0985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9" name="TextBox 38"/>
          <p:cNvSpPr txBox="1"/>
          <p:nvPr/>
        </p:nvSpPr>
        <p:spPr>
          <a:xfrm>
            <a:off x="940778" y="4334608"/>
            <a:ext cx="6242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-  x0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973017" y="6213232"/>
            <a:ext cx="6242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x5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999396" y="5079023"/>
            <a:ext cx="6242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x2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923198" y="5442439"/>
            <a:ext cx="6242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+  x3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022839" y="5841024"/>
            <a:ext cx="6242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x4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2453054" y="4352192"/>
            <a:ext cx="9759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x0,x1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3713285" y="4337538"/>
            <a:ext cx="9759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x0,x4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2599595" y="4700955"/>
            <a:ext cx="6242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x2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3859826" y="4695094"/>
            <a:ext cx="6242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-----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2611320" y="5099540"/>
            <a:ext cx="6242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x3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3880346" y="5093670"/>
            <a:ext cx="6242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-----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2614252" y="5462955"/>
            <a:ext cx="6242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x3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3856896" y="5439509"/>
            <a:ext cx="6242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x3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2649418" y="6201510"/>
            <a:ext cx="6242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-----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2617180" y="5817579"/>
            <a:ext cx="6242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-----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3859829" y="5846886"/>
            <a:ext cx="6242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x5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4" name="TextBox 93"/>
          <p:cNvSpPr txBox="1"/>
          <p:nvPr/>
        </p:nvSpPr>
        <p:spPr>
          <a:xfrm>
            <a:off x="3836384" y="6210301"/>
            <a:ext cx="6242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x3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95" name="Table 9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1186247"/>
              </p:ext>
            </p:extLst>
          </p:nvPr>
        </p:nvGraphicFramePr>
        <p:xfrm>
          <a:off x="6920525" y="1231313"/>
          <a:ext cx="4562231" cy="1138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5261"/>
                <a:gridCol w="1547447"/>
                <a:gridCol w="1459523"/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States / Input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8653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8653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6" name="TextBox 95"/>
          <p:cNvSpPr txBox="1"/>
          <p:nvPr/>
        </p:nvSpPr>
        <p:spPr>
          <a:xfrm>
            <a:off x="7485185" y="1594338"/>
            <a:ext cx="6242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-  x0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10285067" y="1607058"/>
            <a:ext cx="9759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[x0,x4]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1005255" y="4741985"/>
            <a:ext cx="6242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x1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8807190" y="1630172"/>
            <a:ext cx="9759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[x0,x1]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1" name="TextBox 100"/>
          <p:cNvSpPr txBox="1"/>
          <p:nvPr/>
        </p:nvSpPr>
        <p:spPr>
          <a:xfrm>
            <a:off x="7392395" y="1977167"/>
            <a:ext cx="9759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[x0,x1]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126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4" grpId="0"/>
      <p:bldP spid="45" grpId="0"/>
      <p:bldP spid="46" grpId="0"/>
      <p:bldP spid="47" grpId="0"/>
      <p:bldP spid="48" grpId="0"/>
      <p:bldP spid="61" grpId="0"/>
      <p:bldP spid="63" grpId="0"/>
      <p:bldP spid="64" grpId="0"/>
      <p:bldP spid="73" grpId="0"/>
      <p:bldP spid="83" grpId="0"/>
      <p:bldP spid="84" grpId="0"/>
      <p:bldP spid="85" grpId="0"/>
      <p:bldP spid="86" grpId="0"/>
      <p:bldP spid="87" grpId="0"/>
      <p:bldP spid="93" grpId="0"/>
      <p:bldP spid="94" grpId="0"/>
      <p:bldP spid="96" grpId="0"/>
      <p:bldP spid="98" grpId="0"/>
      <p:bldP spid="99" grpId="0"/>
      <p:bldP spid="100" grpId="0"/>
      <p:bldP spid="101" grpId="0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0066" y="0"/>
            <a:ext cx="7850741" cy="547946"/>
          </a:xfrm>
        </p:spPr>
        <p:txBody>
          <a:bodyPr/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Conversion of NFA into DFA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107</a:t>
            </a:fld>
            <a:endParaRPr lang="en-US"/>
          </a:p>
        </p:txBody>
      </p:sp>
      <p:pic>
        <p:nvPicPr>
          <p:cNvPr id="37" name="Picture 36" descr="Pictur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667" y="807003"/>
            <a:ext cx="5498802" cy="1906470"/>
          </a:xfrm>
          <a:prstGeom prst="rect">
            <a:avLst/>
          </a:prstGeom>
        </p:spPr>
      </p:pic>
      <p:graphicFrame>
        <p:nvGraphicFramePr>
          <p:cNvPr id="38" name="Table 37"/>
          <p:cNvGraphicFramePr>
            <a:graphicFrameLocks noGrp="1"/>
          </p:cNvGraphicFramePr>
          <p:nvPr/>
        </p:nvGraphicFramePr>
        <p:xfrm>
          <a:off x="335084" y="3937650"/>
          <a:ext cx="4500685" cy="2621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1"/>
                <a:gridCol w="1134207"/>
                <a:gridCol w="1283677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States / Input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9" name="TextBox 38"/>
          <p:cNvSpPr txBox="1"/>
          <p:nvPr/>
        </p:nvSpPr>
        <p:spPr>
          <a:xfrm>
            <a:off x="940778" y="4334608"/>
            <a:ext cx="6242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-  x0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973017" y="6213232"/>
            <a:ext cx="6242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x5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999396" y="5079023"/>
            <a:ext cx="6242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x2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923198" y="5442439"/>
            <a:ext cx="6242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+  x3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022839" y="5841024"/>
            <a:ext cx="6242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x4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2453054" y="4352192"/>
            <a:ext cx="9759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x0,x1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3713285" y="4337538"/>
            <a:ext cx="9759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x0,x4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2599595" y="4700955"/>
            <a:ext cx="6242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x2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3859826" y="4695094"/>
            <a:ext cx="6242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-----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2611320" y="5099540"/>
            <a:ext cx="6242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x3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3880346" y="5093670"/>
            <a:ext cx="6242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-----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2614252" y="5462955"/>
            <a:ext cx="6242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x3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3856896" y="5439509"/>
            <a:ext cx="6242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x3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2649418" y="6201510"/>
            <a:ext cx="6242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-----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2617180" y="5817579"/>
            <a:ext cx="6242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-----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3859829" y="5846886"/>
            <a:ext cx="6242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x5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4" name="TextBox 93"/>
          <p:cNvSpPr txBox="1"/>
          <p:nvPr/>
        </p:nvSpPr>
        <p:spPr>
          <a:xfrm>
            <a:off x="3836384" y="6210301"/>
            <a:ext cx="6242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x3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95" name="Table 94"/>
          <p:cNvGraphicFramePr>
            <a:graphicFrameLocks noGrp="1"/>
          </p:cNvGraphicFramePr>
          <p:nvPr/>
        </p:nvGraphicFramePr>
        <p:xfrm>
          <a:off x="6920525" y="1231313"/>
          <a:ext cx="4562231" cy="3844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5261"/>
                <a:gridCol w="1547447"/>
                <a:gridCol w="1459523"/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States / Input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8653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8653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8653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8653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8653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8653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8653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8653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8653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6" name="TextBox 95"/>
          <p:cNvSpPr txBox="1"/>
          <p:nvPr/>
        </p:nvSpPr>
        <p:spPr>
          <a:xfrm>
            <a:off x="7485185" y="1594338"/>
            <a:ext cx="6242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-  x0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10285067" y="1607058"/>
            <a:ext cx="9759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[x0,x4]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1005255" y="4741985"/>
            <a:ext cx="6242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x1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8807190" y="1630172"/>
            <a:ext cx="9759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[x0,x1]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1" name="TextBox 100"/>
          <p:cNvSpPr txBox="1"/>
          <p:nvPr/>
        </p:nvSpPr>
        <p:spPr>
          <a:xfrm>
            <a:off x="7392395" y="1977167"/>
            <a:ext cx="9759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[x0,x1]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1" name="Straight Arrow Connector 30"/>
          <p:cNvCxnSpPr/>
          <p:nvPr/>
        </p:nvCxnSpPr>
        <p:spPr>
          <a:xfrm>
            <a:off x="1630392" y="4511616"/>
            <a:ext cx="854015" cy="1588"/>
          </a:xfrm>
          <a:prstGeom prst="straightConnector1">
            <a:avLst/>
          </a:prstGeom>
          <a:ln w="15875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>
            <a:off x="1662022" y="4862423"/>
            <a:ext cx="854015" cy="1588"/>
          </a:xfrm>
          <a:prstGeom prst="straightConnector1">
            <a:avLst/>
          </a:prstGeom>
          <a:ln w="15875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8726679" y="2006858"/>
            <a:ext cx="11505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[x0,x1,x2]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0264938" y="2000997"/>
            <a:ext cx="9759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[x0,x4]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6" name="Multiply 35"/>
          <p:cNvSpPr/>
          <p:nvPr/>
        </p:nvSpPr>
        <p:spPr>
          <a:xfrm>
            <a:off x="9577754" y="1673468"/>
            <a:ext cx="202223" cy="272562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/>
          <p:cNvSpPr txBox="1"/>
          <p:nvPr/>
        </p:nvSpPr>
        <p:spPr>
          <a:xfrm>
            <a:off x="7360156" y="2374919"/>
            <a:ext cx="9759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[x0,x4]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2912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34" grpId="0"/>
      <p:bldP spid="36" grpId="0" animBg="1"/>
      <p:bldP spid="40" grpId="0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0066" y="0"/>
            <a:ext cx="7850741" cy="547946"/>
          </a:xfrm>
        </p:spPr>
        <p:txBody>
          <a:bodyPr/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Conversion of NFA into DFA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108</a:t>
            </a:fld>
            <a:endParaRPr lang="en-US"/>
          </a:p>
        </p:txBody>
      </p:sp>
      <p:pic>
        <p:nvPicPr>
          <p:cNvPr id="37" name="Picture 36" descr="Pictur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207" y="926816"/>
            <a:ext cx="5121250" cy="1772421"/>
          </a:xfrm>
          <a:prstGeom prst="rect">
            <a:avLst/>
          </a:prstGeom>
        </p:spPr>
      </p:pic>
      <p:graphicFrame>
        <p:nvGraphicFramePr>
          <p:cNvPr id="38" name="Table 37"/>
          <p:cNvGraphicFramePr>
            <a:graphicFrameLocks noGrp="1"/>
          </p:cNvGraphicFramePr>
          <p:nvPr/>
        </p:nvGraphicFramePr>
        <p:xfrm>
          <a:off x="335084" y="3937650"/>
          <a:ext cx="4500685" cy="2621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1"/>
                <a:gridCol w="1134207"/>
                <a:gridCol w="1283677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States / Input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9" name="TextBox 38"/>
          <p:cNvSpPr txBox="1"/>
          <p:nvPr/>
        </p:nvSpPr>
        <p:spPr>
          <a:xfrm>
            <a:off x="940778" y="4334608"/>
            <a:ext cx="6242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-  x0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973017" y="6213232"/>
            <a:ext cx="6242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x5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999396" y="5079023"/>
            <a:ext cx="6242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x2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923198" y="5442439"/>
            <a:ext cx="6242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+  x3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022839" y="5841024"/>
            <a:ext cx="6242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x4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2453054" y="4352192"/>
            <a:ext cx="9759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 x0,x1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3713285" y="4337538"/>
            <a:ext cx="9759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x0,x4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2599595" y="4700955"/>
            <a:ext cx="6242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x2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3859826" y="4695094"/>
            <a:ext cx="6242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-----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2611320" y="5099540"/>
            <a:ext cx="6242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x3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3880346" y="5093670"/>
            <a:ext cx="6242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-----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2614252" y="5462955"/>
            <a:ext cx="6242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x3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3856896" y="5439509"/>
            <a:ext cx="6242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x3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2649418" y="6201510"/>
            <a:ext cx="6242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-----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2617180" y="5817579"/>
            <a:ext cx="6242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-----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3859829" y="5846886"/>
            <a:ext cx="6242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x5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4" name="TextBox 93"/>
          <p:cNvSpPr txBox="1"/>
          <p:nvPr/>
        </p:nvSpPr>
        <p:spPr>
          <a:xfrm>
            <a:off x="3836384" y="6210301"/>
            <a:ext cx="6242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x3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95" name="Table 94"/>
          <p:cNvGraphicFramePr>
            <a:graphicFrameLocks noGrp="1"/>
          </p:cNvGraphicFramePr>
          <p:nvPr/>
        </p:nvGraphicFramePr>
        <p:xfrm>
          <a:off x="6920525" y="1231313"/>
          <a:ext cx="4562231" cy="3844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5261"/>
                <a:gridCol w="1547447"/>
                <a:gridCol w="1459523"/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States / Input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8653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8653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8653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8653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8653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8653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8653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8653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8653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6" name="TextBox 95"/>
          <p:cNvSpPr txBox="1"/>
          <p:nvPr/>
        </p:nvSpPr>
        <p:spPr>
          <a:xfrm>
            <a:off x="7485185" y="1594338"/>
            <a:ext cx="6242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-  x0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10285067" y="1607058"/>
            <a:ext cx="9759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[x0,x4]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1005255" y="4741985"/>
            <a:ext cx="6242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x1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8807190" y="1630172"/>
            <a:ext cx="9759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[x0,x1]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1" name="TextBox 100"/>
          <p:cNvSpPr txBox="1"/>
          <p:nvPr/>
        </p:nvSpPr>
        <p:spPr>
          <a:xfrm>
            <a:off x="7392395" y="1977167"/>
            <a:ext cx="9759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[x0,x1]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1" name="Straight Arrow Connector 30"/>
          <p:cNvCxnSpPr/>
          <p:nvPr/>
        </p:nvCxnSpPr>
        <p:spPr>
          <a:xfrm>
            <a:off x="1630392" y="4511616"/>
            <a:ext cx="854015" cy="1588"/>
          </a:xfrm>
          <a:prstGeom prst="straightConnector1">
            <a:avLst/>
          </a:prstGeom>
          <a:ln w="15875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>
            <a:off x="1635645" y="6049384"/>
            <a:ext cx="854015" cy="1588"/>
          </a:xfrm>
          <a:prstGeom prst="straightConnector1">
            <a:avLst/>
          </a:prstGeom>
          <a:ln w="15875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8726679" y="2006858"/>
            <a:ext cx="11505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[x0,x1,x2]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0264938" y="2000997"/>
            <a:ext cx="9759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[x0,x4]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6" name="Multiply 35"/>
          <p:cNvSpPr/>
          <p:nvPr/>
        </p:nvSpPr>
        <p:spPr>
          <a:xfrm>
            <a:off x="9577754" y="1673468"/>
            <a:ext cx="202223" cy="272562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/>
          <p:cNvSpPr txBox="1"/>
          <p:nvPr/>
        </p:nvSpPr>
        <p:spPr>
          <a:xfrm>
            <a:off x="7360156" y="2374919"/>
            <a:ext cx="9759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[x0,x4]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8793300" y="2384544"/>
            <a:ext cx="9759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[x0,x1]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0155111" y="2399581"/>
            <a:ext cx="12205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[x0,x4,x5]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3" name="Multiply 42"/>
          <p:cNvSpPr/>
          <p:nvPr/>
        </p:nvSpPr>
        <p:spPr>
          <a:xfrm>
            <a:off x="11084169" y="1641230"/>
            <a:ext cx="202223" cy="272562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Multiply 48"/>
          <p:cNvSpPr/>
          <p:nvPr/>
        </p:nvSpPr>
        <p:spPr>
          <a:xfrm>
            <a:off x="11084169" y="2045675"/>
            <a:ext cx="202223" cy="272562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Multiply 49"/>
          <p:cNvSpPr/>
          <p:nvPr/>
        </p:nvSpPr>
        <p:spPr>
          <a:xfrm>
            <a:off x="9530861" y="2426675"/>
            <a:ext cx="202223" cy="272562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/>
          <p:cNvSpPr txBox="1"/>
          <p:nvPr/>
        </p:nvSpPr>
        <p:spPr>
          <a:xfrm>
            <a:off x="7243709" y="2765927"/>
            <a:ext cx="11505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[x0,x1,x2]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1453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  <p:bldP spid="42" grpId="0"/>
      <p:bldP spid="43" grpId="0" animBg="1"/>
      <p:bldP spid="49" grpId="0" animBg="1"/>
      <p:bldP spid="50" grpId="0" animBg="1"/>
      <p:bldP spid="51" grpId="0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0066" y="0"/>
            <a:ext cx="7850741" cy="547946"/>
          </a:xfrm>
        </p:spPr>
        <p:txBody>
          <a:bodyPr/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Conversion of NFA into DFA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109</a:t>
            </a:fld>
            <a:endParaRPr lang="en-US"/>
          </a:p>
        </p:txBody>
      </p:sp>
      <p:pic>
        <p:nvPicPr>
          <p:cNvPr id="37" name="Picture 36" descr="Pictur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381" y="728504"/>
            <a:ext cx="5188201" cy="1970733"/>
          </a:xfrm>
          <a:prstGeom prst="rect">
            <a:avLst/>
          </a:prstGeom>
        </p:spPr>
      </p:pic>
      <p:graphicFrame>
        <p:nvGraphicFramePr>
          <p:cNvPr id="38" name="Table 37"/>
          <p:cNvGraphicFramePr>
            <a:graphicFrameLocks noGrp="1"/>
          </p:cNvGraphicFramePr>
          <p:nvPr/>
        </p:nvGraphicFramePr>
        <p:xfrm>
          <a:off x="335084" y="3937650"/>
          <a:ext cx="4500685" cy="2621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1"/>
                <a:gridCol w="1134207"/>
                <a:gridCol w="1283677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States / Input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9" name="TextBox 38"/>
          <p:cNvSpPr txBox="1"/>
          <p:nvPr/>
        </p:nvSpPr>
        <p:spPr>
          <a:xfrm>
            <a:off x="940778" y="4334608"/>
            <a:ext cx="6242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-  x0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973017" y="6213232"/>
            <a:ext cx="6242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x5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999396" y="5079023"/>
            <a:ext cx="6242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x2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923198" y="5442439"/>
            <a:ext cx="6242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+  x3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022839" y="5841024"/>
            <a:ext cx="6242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x4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2453054" y="4352192"/>
            <a:ext cx="9759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x0,x1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3713285" y="4337538"/>
            <a:ext cx="9759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x0,x4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2599595" y="4700955"/>
            <a:ext cx="6242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x2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3859826" y="4695094"/>
            <a:ext cx="6242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-----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2611320" y="5099540"/>
            <a:ext cx="6242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x3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3880346" y="5093670"/>
            <a:ext cx="6242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-----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2614252" y="5462955"/>
            <a:ext cx="6242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x3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3856896" y="5439509"/>
            <a:ext cx="6242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x3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2649418" y="6201510"/>
            <a:ext cx="6242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-----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2617180" y="5817579"/>
            <a:ext cx="6242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-----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3859829" y="5846886"/>
            <a:ext cx="6242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x5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4" name="TextBox 93"/>
          <p:cNvSpPr txBox="1"/>
          <p:nvPr/>
        </p:nvSpPr>
        <p:spPr>
          <a:xfrm>
            <a:off x="3836384" y="6210301"/>
            <a:ext cx="6242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x3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95" name="Table 94"/>
          <p:cNvGraphicFramePr>
            <a:graphicFrameLocks noGrp="1"/>
          </p:cNvGraphicFramePr>
          <p:nvPr/>
        </p:nvGraphicFramePr>
        <p:xfrm>
          <a:off x="6920525" y="1231313"/>
          <a:ext cx="4562231" cy="3844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5261"/>
                <a:gridCol w="1547447"/>
                <a:gridCol w="1459523"/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States / Input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8653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8653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8653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8653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8653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8653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8653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8653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8653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6" name="TextBox 95"/>
          <p:cNvSpPr txBox="1"/>
          <p:nvPr/>
        </p:nvSpPr>
        <p:spPr>
          <a:xfrm>
            <a:off x="7485185" y="1594338"/>
            <a:ext cx="6242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-  x0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10285067" y="1607058"/>
            <a:ext cx="9759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[x0,x4]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1005255" y="4741985"/>
            <a:ext cx="6242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x1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8807190" y="1630172"/>
            <a:ext cx="9759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[x0,x1]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1" name="TextBox 100"/>
          <p:cNvSpPr txBox="1"/>
          <p:nvPr/>
        </p:nvSpPr>
        <p:spPr>
          <a:xfrm>
            <a:off x="7392395" y="1977167"/>
            <a:ext cx="9759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[x0,x1]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1" name="Straight Arrow Connector 30"/>
          <p:cNvCxnSpPr/>
          <p:nvPr/>
        </p:nvCxnSpPr>
        <p:spPr>
          <a:xfrm>
            <a:off x="1630392" y="4511616"/>
            <a:ext cx="854015" cy="1588"/>
          </a:xfrm>
          <a:prstGeom prst="straightConnector1">
            <a:avLst/>
          </a:prstGeom>
          <a:ln w="15875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>
            <a:off x="1635645" y="5310830"/>
            <a:ext cx="854015" cy="1588"/>
          </a:xfrm>
          <a:prstGeom prst="straightConnector1">
            <a:avLst/>
          </a:prstGeom>
          <a:ln w="15875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8726679" y="2006858"/>
            <a:ext cx="11505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[x0,x1,x2]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0264938" y="2000997"/>
            <a:ext cx="9759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[x0,x4]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6" name="Multiply 35"/>
          <p:cNvSpPr/>
          <p:nvPr/>
        </p:nvSpPr>
        <p:spPr>
          <a:xfrm>
            <a:off x="9577754" y="1673468"/>
            <a:ext cx="202223" cy="272562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/>
          <p:cNvSpPr txBox="1"/>
          <p:nvPr/>
        </p:nvSpPr>
        <p:spPr>
          <a:xfrm>
            <a:off x="7360156" y="2374919"/>
            <a:ext cx="9759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[x0,x4]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8793300" y="2384544"/>
            <a:ext cx="9759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[x0,x1]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0155111" y="2399581"/>
            <a:ext cx="12205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[x0,x4,x5]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3" name="Multiply 42"/>
          <p:cNvSpPr/>
          <p:nvPr/>
        </p:nvSpPr>
        <p:spPr>
          <a:xfrm>
            <a:off x="11084169" y="1641230"/>
            <a:ext cx="202223" cy="272562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Multiply 48"/>
          <p:cNvSpPr/>
          <p:nvPr/>
        </p:nvSpPr>
        <p:spPr>
          <a:xfrm>
            <a:off x="11084169" y="2045675"/>
            <a:ext cx="202223" cy="272562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Multiply 49"/>
          <p:cNvSpPr/>
          <p:nvPr/>
        </p:nvSpPr>
        <p:spPr>
          <a:xfrm>
            <a:off x="9530861" y="2426675"/>
            <a:ext cx="202223" cy="272562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/>
          <p:cNvSpPr txBox="1"/>
          <p:nvPr/>
        </p:nvSpPr>
        <p:spPr>
          <a:xfrm>
            <a:off x="7243709" y="2765927"/>
            <a:ext cx="11505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[x0,x1,x2]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52" name="Straight Arrow Connector 51"/>
          <p:cNvCxnSpPr/>
          <p:nvPr/>
        </p:nvCxnSpPr>
        <p:spPr>
          <a:xfrm>
            <a:off x="1638576" y="4909315"/>
            <a:ext cx="854015" cy="1588"/>
          </a:xfrm>
          <a:prstGeom prst="straightConnector1">
            <a:avLst/>
          </a:prstGeom>
          <a:ln w="15875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8563707" y="2765927"/>
            <a:ext cx="15034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[x0,x1,x2,x3]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10267870" y="2768860"/>
            <a:ext cx="9759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[x0,x4]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5" name="Multiply 54"/>
          <p:cNvSpPr/>
          <p:nvPr/>
        </p:nvSpPr>
        <p:spPr>
          <a:xfrm>
            <a:off x="9747739" y="2054468"/>
            <a:ext cx="202223" cy="272562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Multiply 55"/>
          <p:cNvSpPr/>
          <p:nvPr/>
        </p:nvSpPr>
        <p:spPr>
          <a:xfrm>
            <a:off x="11078308" y="2813537"/>
            <a:ext cx="202223" cy="272562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extBox 56"/>
          <p:cNvSpPr txBox="1"/>
          <p:nvPr/>
        </p:nvSpPr>
        <p:spPr>
          <a:xfrm>
            <a:off x="7221409" y="3176234"/>
            <a:ext cx="12205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[x0,x4,x5]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3491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/>
      <p:bldP spid="54" grpId="0"/>
      <p:bldP spid="55" grpId="0" animBg="1"/>
      <p:bldP spid="56" grpId="0" animBg="1"/>
      <p:bldP spid="57" grpId="0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0066" y="0"/>
            <a:ext cx="7850741" cy="547946"/>
          </a:xfrm>
        </p:spPr>
        <p:txBody>
          <a:bodyPr/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Conversion of NFA into DFA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110</a:t>
            </a:fld>
            <a:endParaRPr lang="en-US"/>
          </a:p>
        </p:txBody>
      </p:sp>
      <p:pic>
        <p:nvPicPr>
          <p:cNvPr id="37" name="Picture 36" descr="Pictur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831" y="846913"/>
            <a:ext cx="5369468" cy="1891222"/>
          </a:xfrm>
          <a:prstGeom prst="rect">
            <a:avLst/>
          </a:prstGeom>
        </p:spPr>
      </p:pic>
      <p:graphicFrame>
        <p:nvGraphicFramePr>
          <p:cNvPr id="38" name="Table 37"/>
          <p:cNvGraphicFramePr>
            <a:graphicFrameLocks noGrp="1"/>
          </p:cNvGraphicFramePr>
          <p:nvPr/>
        </p:nvGraphicFramePr>
        <p:xfrm>
          <a:off x="335084" y="3937650"/>
          <a:ext cx="4500685" cy="2621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1"/>
                <a:gridCol w="1134207"/>
                <a:gridCol w="1283677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States / Input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9" name="TextBox 38"/>
          <p:cNvSpPr txBox="1"/>
          <p:nvPr/>
        </p:nvSpPr>
        <p:spPr>
          <a:xfrm>
            <a:off x="940778" y="4334608"/>
            <a:ext cx="6242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-  x0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973017" y="6213232"/>
            <a:ext cx="6242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x5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999396" y="5079023"/>
            <a:ext cx="6242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x2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923198" y="5442439"/>
            <a:ext cx="6242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+  x3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022839" y="5841024"/>
            <a:ext cx="6242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x4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2453054" y="4352192"/>
            <a:ext cx="9759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 x0,x1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3713285" y="4337538"/>
            <a:ext cx="9759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x0,x4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2599595" y="4700955"/>
            <a:ext cx="6242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x2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3859826" y="4695094"/>
            <a:ext cx="6242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-----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2611320" y="5099540"/>
            <a:ext cx="6242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x3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3880346" y="5093670"/>
            <a:ext cx="6242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-----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2614252" y="5462955"/>
            <a:ext cx="6242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x3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3856896" y="5439509"/>
            <a:ext cx="6242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x3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2649418" y="6201510"/>
            <a:ext cx="6242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-----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2617180" y="5817579"/>
            <a:ext cx="6242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-----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3859829" y="5846886"/>
            <a:ext cx="6242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x5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4" name="TextBox 93"/>
          <p:cNvSpPr txBox="1"/>
          <p:nvPr/>
        </p:nvSpPr>
        <p:spPr>
          <a:xfrm>
            <a:off x="3836384" y="6210301"/>
            <a:ext cx="6242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x3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95" name="Table 94"/>
          <p:cNvGraphicFramePr>
            <a:graphicFrameLocks noGrp="1"/>
          </p:cNvGraphicFramePr>
          <p:nvPr/>
        </p:nvGraphicFramePr>
        <p:xfrm>
          <a:off x="6920525" y="1231313"/>
          <a:ext cx="4562231" cy="3844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5261"/>
                <a:gridCol w="1547447"/>
                <a:gridCol w="1459523"/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States / Input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8653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8653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8653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8653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8653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8653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8653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8653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8653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6" name="TextBox 95"/>
          <p:cNvSpPr txBox="1"/>
          <p:nvPr/>
        </p:nvSpPr>
        <p:spPr>
          <a:xfrm>
            <a:off x="7485185" y="1594338"/>
            <a:ext cx="6242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-  x0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10285067" y="1607058"/>
            <a:ext cx="9759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[x0,x4]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1005255" y="4741985"/>
            <a:ext cx="6242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x1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8807190" y="1630172"/>
            <a:ext cx="9759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[x0,x1]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1" name="TextBox 100"/>
          <p:cNvSpPr txBox="1"/>
          <p:nvPr/>
        </p:nvSpPr>
        <p:spPr>
          <a:xfrm>
            <a:off x="7392395" y="1977167"/>
            <a:ext cx="9759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[x0,x1]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1" name="Straight Arrow Connector 30"/>
          <p:cNvCxnSpPr/>
          <p:nvPr/>
        </p:nvCxnSpPr>
        <p:spPr>
          <a:xfrm>
            <a:off x="1630392" y="4511616"/>
            <a:ext cx="854015" cy="1588"/>
          </a:xfrm>
          <a:prstGeom prst="straightConnector1">
            <a:avLst/>
          </a:prstGeom>
          <a:ln w="15875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>
            <a:off x="1670815" y="6023007"/>
            <a:ext cx="854015" cy="1588"/>
          </a:xfrm>
          <a:prstGeom prst="straightConnector1">
            <a:avLst/>
          </a:prstGeom>
          <a:ln w="15875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8726679" y="2006858"/>
            <a:ext cx="11505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[x0,x1,x2]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0264938" y="2000997"/>
            <a:ext cx="9759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[x0,x4]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6" name="Multiply 35"/>
          <p:cNvSpPr/>
          <p:nvPr/>
        </p:nvSpPr>
        <p:spPr>
          <a:xfrm>
            <a:off x="9577754" y="1673468"/>
            <a:ext cx="202223" cy="272562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/>
          <p:cNvSpPr txBox="1"/>
          <p:nvPr/>
        </p:nvSpPr>
        <p:spPr>
          <a:xfrm>
            <a:off x="7360156" y="2374919"/>
            <a:ext cx="9759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[x0,x4]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8793300" y="2384544"/>
            <a:ext cx="9759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[x0,x1]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0155111" y="2399581"/>
            <a:ext cx="12205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[x0,x4,x5]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3" name="Multiply 42"/>
          <p:cNvSpPr/>
          <p:nvPr/>
        </p:nvSpPr>
        <p:spPr>
          <a:xfrm>
            <a:off x="11084169" y="1641230"/>
            <a:ext cx="202223" cy="272562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Multiply 48"/>
          <p:cNvSpPr/>
          <p:nvPr/>
        </p:nvSpPr>
        <p:spPr>
          <a:xfrm>
            <a:off x="11084169" y="2045675"/>
            <a:ext cx="202223" cy="272562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Multiply 49"/>
          <p:cNvSpPr/>
          <p:nvPr/>
        </p:nvSpPr>
        <p:spPr>
          <a:xfrm>
            <a:off x="9530861" y="2426675"/>
            <a:ext cx="202223" cy="272562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/>
          <p:cNvSpPr txBox="1"/>
          <p:nvPr/>
        </p:nvSpPr>
        <p:spPr>
          <a:xfrm>
            <a:off x="7243709" y="2765927"/>
            <a:ext cx="11505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[x0,x1,x2]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52" name="Straight Arrow Connector 51"/>
          <p:cNvCxnSpPr/>
          <p:nvPr/>
        </p:nvCxnSpPr>
        <p:spPr>
          <a:xfrm>
            <a:off x="1664953" y="6368838"/>
            <a:ext cx="854015" cy="1588"/>
          </a:xfrm>
          <a:prstGeom prst="straightConnector1">
            <a:avLst/>
          </a:prstGeom>
          <a:ln w="15875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8563707" y="2765927"/>
            <a:ext cx="15034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[x0,x1,x2,x3]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10267870" y="2768860"/>
            <a:ext cx="9759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[x0,x4]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5" name="Multiply 54"/>
          <p:cNvSpPr/>
          <p:nvPr/>
        </p:nvSpPr>
        <p:spPr>
          <a:xfrm>
            <a:off x="9747739" y="2054468"/>
            <a:ext cx="202223" cy="272562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Multiply 55"/>
          <p:cNvSpPr/>
          <p:nvPr/>
        </p:nvSpPr>
        <p:spPr>
          <a:xfrm>
            <a:off x="11078308" y="2813537"/>
            <a:ext cx="202223" cy="272562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extBox 56"/>
          <p:cNvSpPr txBox="1"/>
          <p:nvPr/>
        </p:nvSpPr>
        <p:spPr>
          <a:xfrm>
            <a:off x="7221409" y="3176234"/>
            <a:ext cx="12205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[x0,x4,x5]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99925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0066" y="0"/>
            <a:ext cx="7850741" cy="547946"/>
          </a:xfrm>
        </p:spPr>
        <p:txBody>
          <a:bodyPr/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Conversion of NFA into DFA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111</a:t>
            </a:fld>
            <a:endParaRPr lang="en-US"/>
          </a:p>
        </p:txBody>
      </p:sp>
      <p:pic>
        <p:nvPicPr>
          <p:cNvPr id="37" name="Picture 36" descr="Pictur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207" y="758908"/>
            <a:ext cx="5462444" cy="1940329"/>
          </a:xfrm>
          <a:prstGeom prst="rect">
            <a:avLst/>
          </a:prstGeom>
        </p:spPr>
      </p:pic>
      <p:graphicFrame>
        <p:nvGraphicFramePr>
          <p:cNvPr id="38" name="Table 37"/>
          <p:cNvGraphicFramePr>
            <a:graphicFrameLocks noGrp="1"/>
          </p:cNvGraphicFramePr>
          <p:nvPr/>
        </p:nvGraphicFramePr>
        <p:xfrm>
          <a:off x="335084" y="3937650"/>
          <a:ext cx="4500685" cy="2621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1"/>
                <a:gridCol w="1134207"/>
                <a:gridCol w="1283677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States / Input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9" name="TextBox 38"/>
          <p:cNvSpPr txBox="1"/>
          <p:nvPr/>
        </p:nvSpPr>
        <p:spPr>
          <a:xfrm>
            <a:off x="940778" y="4334608"/>
            <a:ext cx="6242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-  x0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973017" y="6213232"/>
            <a:ext cx="6242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x5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999396" y="5079023"/>
            <a:ext cx="6242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x2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923198" y="5442439"/>
            <a:ext cx="6242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+  x3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022839" y="5841024"/>
            <a:ext cx="6242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x4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2453054" y="4352192"/>
            <a:ext cx="9759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x0,x1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3713285" y="4337538"/>
            <a:ext cx="9759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x0,x4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2599595" y="4700955"/>
            <a:ext cx="6242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x2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3859826" y="4695094"/>
            <a:ext cx="6242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-----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2611320" y="5099540"/>
            <a:ext cx="6242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x3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3880346" y="5093670"/>
            <a:ext cx="6242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-----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2614252" y="5462955"/>
            <a:ext cx="6242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x3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3856896" y="5439509"/>
            <a:ext cx="6242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x3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2649418" y="6201510"/>
            <a:ext cx="6242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-----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2617180" y="5817579"/>
            <a:ext cx="6242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-----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3859829" y="5846886"/>
            <a:ext cx="6242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x5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4" name="TextBox 93"/>
          <p:cNvSpPr txBox="1"/>
          <p:nvPr/>
        </p:nvSpPr>
        <p:spPr>
          <a:xfrm>
            <a:off x="3836384" y="6210301"/>
            <a:ext cx="6242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x3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95" name="Table 94"/>
          <p:cNvGraphicFramePr>
            <a:graphicFrameLocks noGrp="1"/>
          </p:cNvGraphicFramePr>
          <p:nvPr/>
        </p:nvGraphicFramePr>
        <p:xfrm>
          <a:off x="6920525" y="1231313"/>
          <a:ext cx="4562231" cy="3844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5261"/>
                <a:gridCol w="1547447"/>
                <a:gridCol w="1459523"/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States / Input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8653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8653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8653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8653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8653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8653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8653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8653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8653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6" name="TextBox 95"/>
          <p:cNvSpPr txBox="1"/>
          <p:nvPr/>
        </p:nvSpPr>
        <p:spPr>
          <a:xfrm>
            <a:off x="7485185" y="1594338"/>
            <a:ext cx="6242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-  x0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10285067" y="1607058"/>
            <a:ext cx="9759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[x0,x4]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1005255" y="4741985"/>
            <a:ext cx="6242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x1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8807190" y="1630172"/>
            <a:ext cx="9759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[x0,x1]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1" name="TextBox 100"/>
          <p:cNvSpPr txBox="1"/>
          <p:nvPr/>
        </p:nvSpPr>
        <p:spPr>
          <a:xfrm>
            <a:off x="7392395" y="1977167"/>
            <a:ext cx="9759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[x0,x1]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1" name="Straight Arrow Connector 30"/>
          <p:cNvCxnSpPr/>
          <p:nvPr/>
        </p:nvCxnSpPr>
        <p:spPr>
          <a:xfrm>
            <a:off x="1630392" y="4511616"/>
            <a:ext cx="854015" cy="1588"/>
          </a:xfrm>
          <a:prstGeom prst="straightConnector1">
            <a:avLst/>
          </a:prstGeom>
          <a:ln w="15875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>
            <a:off x="1670815" y="6023007"/>
            <a:ext cx="854015" cy="1588"/>
          </a:xfrm>
          <a:prstGeom prst="straightConnector1">
            <a:avLst/>
          </a:prstGeom>
          <a:ln w="15875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8726679" y="2006858"/>
            <a:ext cx="11505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[x0,x1,x2]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0264938" y="2000997"/>
            <a:ext cx="9759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[x0,x4]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6" name="Multiply 35"/>
          <p:cNvSpPr/>
          <p:nvPr/>
        </p:nvSpPr>
        <p:spPr>
          <a:xfrm>
            <a:off x="9577754" y="1673468"/>
            <a:ext cx="202223" cy="272562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/>
          <p:cNvSpPr txBox="1"/>
          <p:nvPr/>
        </p:nvSpPr>
        <p:spPr>
          <a:xfrm>
            <a:off x="7360156" y="2374919"/>
            <a:ext cx="9759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[x0,x4]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8793300" y="2384544"/>
            <a:ext cx="9759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[x0,x1]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0155111" y="2399581"/>
            <a:ext cx="12205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[x0,x4,x5]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3" name="Multiply 42"/>
          <p:cNvSpPr/>
          <p:nvPr/>
        </p:nvSpPr>
        <p:spPr>
          <a:xfrm>
            <a:off x="11084169" y="1641230"/>
            <a:ext cx="202223" cy="272562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Multiply 48"/>
          <p:cNvSpPr/>
          <p:nvPr/>
        </p:nvSpPr>
        <p:spPr>
          <a:xfrm>
            <a:off x="11084169" y="2045675"/>
            <a:ext cx="202223" cy="272562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Multiply 49"/>
          <p:cNvSpPr/>
          <p:nvPr/>
        </p:nvSpPr>
        <p:spPr>
          <a:xfrm>
            <a:off x="9530861" y="2426675"/>
            <a:ext cx="202223" cy="272562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/>
          <p:cNvSpPr txBox="1"/>
          <p:nvPr/>
        </p:nvSpPr>
        <p:spPr>
          <a:xfrm>
            <a:off x="7243709" y="2765927"/>
            <a:ext cx="11505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[x0,x1,x2]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52" name="Straight Arrow Connector 51"/>
          <p:cNvCxnSpPr/>
          <p:nvPr/>
        </p:nvCxnSpPr>
        <p:spPr>
          <a:xfrm>
            <a:off x="1664953" y="6368838"/>
            <a:ext cx="854015" cy="1588"/>
          </a:xfrm>
          <a:prstGeom prst="straightConnector1">
            <a:avLst/>
          </a:prstGeom>
          <a:ln w="15875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8563707" y="2765927"/>
            <a:ext cx="15034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[x0,x1,x2,x3]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10267870" y="2768860"/>
            <a:ext cx="9759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[x0,x4]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5" name="Multiply 54"/>
          <p:cNvSpPr/>
          <p:nvPr/>
        </p:nvSpPr>
        <p:spPr>
          <a:xfrm>
            <a:off x="9747739" y="2054468"/>
            <a:ext cx="202223" cy="272562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Multiply 55"/>
          <p:cNvSpPr/>
          <p:nvPr/>
        </p:nvSpPr>
        <p:spPr>
          <a:xfrm>
            <a:off x="11078308" y="2813537"/>
            <a:ext cx="202223" cy="272562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extBox 56"/>
          <p:cNvSpPr txBox="1"/>
          <p:nvPr/>
        </p:nvSpPr>
        <p:spPr>
          <a:xfrm>
            <a:off x="7221409" y="3176234"/>
            <a:ext cx="12205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[x0,x4,x5]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8748575" y="3162964"/>
            <a:ext cx="9759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[x0,x1]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9979269" y="3158650"/>
            <a:ext cx="13729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[x0,x3,x4,x5]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0" name="Multiply 59"/>
          <p:cNvSpPr/>
          <p:nvPr/>
        </p:nvSpPr>
        <p:spPr>
          <a:xfrm>
            <a:off x="11169162" y="2438398"/>
            <a:ext cx="202223" cy="272562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Multiply 61"/>
          <p:cNvSpPr/>
          <p:nvPr/>
        </p:nvSpPr>
        <p:spPr>
          <a:xfrm>
            <a:off x="9589477" y="3188675"/>
            <a:ext cx="202223" cy="272562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extBox 64"/>
          <p:cNvSpPr txBox="1"/>
          <p:nvPr/>
        </p:nvSpPr>
        <p:spPr>
          <a:xfrm>
            <a:off x="7080733" y="3533789"/>
            <a:ext cx="15034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[x0,x1,x2,x3]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6874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/>
      <p:bldP spid="59" grpId="0"/>
      <p:bldP spid="60" grpId="0" animBg="1"/>
      <p:bldP spid="62" grpId="0" animBg="1"/>
      <p:bldP spid="65" grpId="0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0066" y="0"/>
            <a:ext cx="7850741" cy="547946"/>
          </a:xfrm>
        </p:spPr>
        <p:txBody>
          <a:bodyPr/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Conversion of NFA into DFA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112</a:t>
            </a:fld>
            <a:endParaRPr lang="en-US"/>
          </a:p>
        </p:txBody>
      </p:sp>
      <p:pic>
        <p:nvPicPr>
          <p:cNvPr id="37" name="Picture 36" descr="Pictur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941" y="719425"/>
            <a:ext cx="5380527" cy="1979812"/>
          </a:xfrm>
          <a:prstGeom prst="rect">
            <a:avLst/>
          </a:prstGeom>
        </p:spPr>
      </p:pic>
      <p:graphicFrame>
        <p:nvGraphicFramePr>
          <p:cNvPr id="38" name="Table 37"/>
          <p:cNvGraphicFramePr>
            <a:graphicFrameLocks noGrp="1"/>
          </p:cNvGraphicFramePr>
          <p:nvPr/>
        </p:nvGraphicFramePr>
        <p:xfrm>
          <a:off x="335084" y="3937650"/>
          <a:ext cx="4500685" cy="2621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1"/>
                <a:gridCol w="1134207"/>
                <a:gridCol w="1283677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States / Input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9" name="TextBox 38"/>
          <p:cNvSpPr txBox="1"/>
          <p:nvPr/>
        </p:nvSpPr>
        <p:spPr>
          <a:xfrm>
            <a:off x="940778" y="4334608"/>
            <a:ext cx="6242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-  x0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973017" y="6213232"/>
            <a:ext cx="6242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x5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999396" y="5079023"/>
            <a:ext cx="6242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x2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923198" y="5442439"/>
            <a:ext cx="6242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+  x3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022839" y="5841024"/>
            <a:ext cx="6242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x4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2453054" y="4352192"/>
            <a:ext cx="9759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x0,x1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3713285" y="4337538"/>
            <a:ext cx="9759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x0,x4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2599595" y="4700955"/>
            <a:ext cx="6242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x2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3859826" y="4695094"/>
            <a:ext cx="6242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-----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2611320" y="5099540"/>
            <a:ext cx="6242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x3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3880346" y="5093670"/>
            <a:ext cx="6242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-----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2614252" y="5462955"/>
            <a:ext cx="6242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x3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3856896" y="5439509"/>
            <a:ext cx="6242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x3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2649418" y="6201510"/>
            <a:ext cx="6242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-----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2617180" y="5817579"/>
            <a:ext cx="6242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-----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3859829" y="5846886"/>
            <a:ext cx="6242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x5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4" name="TextBox 93"/>
          <p:cNvSpPr txBox="1"/>
          <p:nvPr/>
        </p:nvSpPr>
        <p:spPr>
          <a:xfrm>
            <a:off x="3836384" y="6210301"/>
            <a:ext cx="6242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x3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95" name="Table 94"/>
          <p:cNvGraphicFramePr>
            <a:graphicFrameLocks noGrp="1"/>
          </p:cNvGraphicFramePr>
          <p:nvPr/>
        </p:nvGraphicFramePr>
        <p:xfrm>
          <a:off x="6920525" y="1231313"/>
          <a:ext cx="4562231" cy="3844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5261"/>
                <a:gridCol w="1547447"/>
                <a:gridCol w="1459523"/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States / Input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8653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8653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8653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8653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8653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8653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8653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8653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8653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6" name="TextBox 95"/>
          <p:cNvSpPr txBox="1"/>
          <p:nvPr/>
        </p:nvSpPr>
        <p:spPr>
          <a:xfrm>
            <a:off x="7485185" y="1594338"/>
            <a:ext cx="6242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-  x0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10285067" y="1607058"/>
            <a:ext cx="9759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[x0,x4]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1005255" y="4741985"/>
            <a:ext cx="6242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x1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8807190" y="1630172"/>
            <a:ext cx="9759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[x0,x1]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1" name="TextBox 100"/>
          <p:cNvSpPr txBox="1"/>
          <p:nvPr/>
        </p:nvSpPr>
        <p:spPr>
          <a:xfrm>
            <a:off x="7392395" y="1977167"/>
            <a:ext cx="9759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[x0,x1]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1" name="Straight Arrow Connector 30"/>
          <p:cNvCxnSpPr/>
          <p:nvPr/>
        </p:nvCxnSpPr>
        <p:spPr>
          <a:xfrm>
            <a:off x="1630392" y="4511616"/>
            <a:ext cx="854015" cy="1588"/>
          </a:xfrm>
          <a:prstGeom prst="straightConnector1">
            <a:avLst/>
          </a:prstGeom>
          <a:ln w="15875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>
            <a:off x="1644438" y="4906384"/>
            <a:ext cx="854015" cy="1588"/>
          </a:xfrm>
          <a:prstGeom prst="straightConnector1">
            <a:avLst/>
          </a:prstGeom>
          <a:ln w="15875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8726679" y="2006858"/>
            <a:ext cx="11505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[x0,x1,x2]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0264938" y="2000997"/>
            <a:ext cx="9759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[x0,x4]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6" name="Multiply 35"/>
          <p:cNvSpPr/>
          <p:nvPr/>
        </p:nvSpPr>
        <p:spPr>
          <a:xfrm>
            <a:off x="9577754" y="1673468"/>
            <a:ext cx="202223" cy="272562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/>
          <p:cNvSpPr txBox="1"/>
          <p:nvPr/>
        </p:nvSpPr>
        <p:spPr>
          <a:xfrm>
            <a:off x="7360156" y="2374919"/>
            <a:ext cx="9759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[x0,x4]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8793300" y="2384544"/>
            <a:ext cx="9759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[x0,x1]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0155111" y="2399581"/>
            <a:ext cx="12205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[x0,x4,x5]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3" name="Multiply 42"/>
          <p:cNvSpPr/>
          <p:nvPr/>
        </p:nvSpPr>
        <p:spPr>
          <a:xfrm>
            <a:off x="11084169" y="1641230"/>
            <a:ext cx="202223" cy="272562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Multiply 48"/>
          <p:cNvSpPr/>
          <p:nvPr/>
        </p:nvSpPr>
        <p:spPr>
          <a:xfrm>
            <a:off x="11084169" y="2045675"/>
            <a:ext cx="202223" cy="272562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Multiply 49"/>
          <p:cNvSpPr/>
          <p:nvPr/>
        </p:nvSpPr>
        <p:spPr>
          <a:xfrm>
            <a:off x="9530861" y="2426675"/>
            <a:ext cx="202223" cy="272562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/>
          <p:cNvSpPr txBox="1"/>
          <p:nvPr/>
        </p:nvSpPr>
        <p:spPr>
          <a:xfrm>
            <a:off x="7243709" y="2765927"/>
            <a:ext cx="11505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[x0,x1,x2]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52" name="Straight Arrow Connector 51"/>
          <p:cNvCxnSpPr/>
          <p:nvPr/>
        </p:nvCxnSpPr>
        <p:spPr>
          <a:xfrm>
            <a:off x="1700122" y="5313762"/>
            <a:ext cx="854015" cy="1588"/>
          </a:xfrm>
          <a:prstGeom prst="straightConnector1">
            <a:avLst/>
          </a:prstGeom>
          <a:ln w="15875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8563707" y="2765927"/>
            <a:ext cx="15034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[x0,x1,x2,x3]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10267870" y="2768860"/>
            <a:ext cx="9759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[x0,x4]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5" name="Multiply 54"/>
          <p:cNvSpPr/>
          <p:nvPr/>
        </p:nvSpPr>
        <p:spPr>
          <a:xfrm>
            <a:off x="9747739" y="2054468"/>
            <a:ext cx="202223" cy="272562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Multiply 55"/>
          <p:cNvSpPr/>
          <p:nvPr/>
        </p:nvSpPr>
        <p:spPr>
          <a:xfrm>
            <a:off x="11078308" y="2813537"/>
            <a:ext cx="202223" cy="272562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extBox 56"/>
          <p:cNvSpPr txBox="1"/>
          <p:nvPr/>
        </p:nvSpPr>
        <p:spPr>
          <a:xfrm>
            <a:off x="7221409" y="3176234"/>
            <a:ext cx="12205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[x0,x4,x5]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8748575" y="3162964"/>
            <a:ext cx="9759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[x0,x1]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9979269" y="3158650"/>
            <a:ext cx="13729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[x0,x3,x4,x5]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0" name="Multiply 59"/>
          <p:cNvSpPr/>
          <p:nvPr/>
        </p:nvSpPr>
        <p:spPr>
          <a:xfrm>
            <a:off x="11169162" y="2438398"/>
            <a:ext cx="202223" cy="272562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Multiply 61"/>
          <p:cNvSpPr/>
          <p:nvPr/>
        </p:nvSpPr>
        <p:spPr>
          <a:xfrm>
            <a:off x="9589477" y="3188675"/>
            <a:ext cx="202223" cy="272562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extBox 64"/>
          <p:cNvSpPr txBox="1"/>
          <p:nvPr/>
        </p:nvSpPr>
        <p:spPr>
          <a:xfrm>
            <a:off x="7080733" y="3533789"/>
            <a:ext cx="15034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[x0,x1,x2,x3]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66" name="Straight Arrow Connector 65"/>
          <p:cNvCxnSpPr/>
          <p:nvPr/>
        </p:nvCxnSpPr>
        <p:spPr>
          <a:xfrm>
            <a:off x="1711846" y="5642008"/>
            <a:ext cx="854015" cy="1588"/>
          </a:xfrm>
          <a:prstGeom prst="straightConnector1">
            <a:avLst/>
          </a:prstGeom>
          <a:ln w="15875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8525601" y="3545512"/>
            <a:ext cx="15034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[x0,x1,x2,x3]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10096499" y="3557235"/>
            <a:ext cx="13729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[x0,x3,x4]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9" name="Multiply 68"/>
          <p:cNvSpPr/>
          <p:nvPr/>
        </p:nvSpPr>
        <p:spPr>
          <a:xfrm>
            <a:off x="9823939" y="2816468"/>
            <a:ext cx="202223" cy="272562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Multiply 69"/>
          <p:cNvSpPr/>
          <p:nvPr/>
        </p:nvSpPr>
        <p:spPr>
          <a:xfrm>
            <a:off x="9765323" y="3584330"/>
            <a:ext cx="202223" cy="272562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TextBox 70"/>
          <p:cNvSpPr txBox="1"/>
          <p:nvPr/>
        </p:nvSpPr>
        <p:spPr>
          <a:xfrm>
            <a:off x="7045569" y="3917719"/>
            <a:ext cx="13729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[x0,x3,x4,x5]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9465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" grpId="0"/>
      <p:bldP spid="68" grpId="0"/>
      <p:bldP spid="69" grpId="0" animBg="1"/>
      <p:bldP spid="70" grpId="0" animBg="1"/>
      <p:bldP spid="71" grpId="0"/>
    </p:bld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0066" y="0"/>
            <a:ext cx="7850741" cy="547946"/>
          </a:xfrm>
        </p:spPr>
        <p:txBody>
          <a:bodyPr/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Conversion of NFA into DFA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113</a:t>
            </a:fld>
            <a:endParaRPr lang="en-US"/>
          </a:p>
        </p:txBody>
      </p:sp>
      <p:pic>
        <p:nvPicPr>
          <p:cNvPr id="37" name="Picture 36" descr="Pictur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489" y="710632"/>
            <a:ext cx="5577275" cy="1988605"/>
          </a:xfrm>
          <a:prstGeom prst="rect">
            <a:avLst/>
          </a:prstGeom>
        </p:spPr>
      </p:pic>
      <p:graphicFrame>
        <p:nvGraphicFramePr>
          <p:cNvPr id="38" name="Table 37"/>
          <p:cNvGraphicFramePr>
            <a:graphicFrameLocks noGrp="1"/>
          </p:cNvGraphicFramePr>
          <p:nvPr/>
        </p:nvGraphicFramePr>
        <p:xfrm>
          <a:off x="335084" y="3937650"/>
          <a:ext cx="4500685" cy="2621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1"/>
                <a:gridCol w="1134207"/>
                <a:gridCol w="1283677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States / Input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9" name="TextBox 38"/>
          <p:cNvSpPr txBox="1"/>
          <p:nvPr/>
        </p:nvSpPr>
        <p:spPr>
          <a:xfrm>
            <a:off x="940778" y="4334608"/>
            <a:ext cx="6242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-  x0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973017" y="6213232"/>
            <a:ext cx="6242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x5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999396" y="5079023"/>
            <a:ext cx="6242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x2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923198" y="5442439"/>
            <a:ext cx="6242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+  x3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022839" y="5841024"/>
            <a:ext cx="6242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x4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2453054" y="4352192"/>
            <a:ext cx="9759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x0,x1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3713285" y="4337538"/>
            <a:ext cx="9759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x0,x4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2599595" y="4700955"/>
            <a:ext cx="6242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x2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3859826" y="4695094"/>
            <a:ext cx="6242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-----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2611320" y="5099540"/>
            <a:ext cx="6242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x3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3880346" y="5093670"/>
            <a:ext cx="6242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-----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2614252" y="5462955"/>
            <a:ext cx="6242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x3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3856896" y="5439509"/>
            <a:ext cx="6242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x3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2649418" y="6201510"/>
            <a:ext cx="6242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-----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2617180" y="5817579"/>
            <a:ext cx="6242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-----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3859829" y="5846886"/>
            <a:ext cx="6242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x5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4" name="TextBox 93"/>
          <p:cNvSpPr txBox="1"/>
          <p:nvPr/>
        </p:nvSpPr>
        <p:spPr>
          <a:xfrm>
            <a:off x="3836384" y="6210301"/>
            <a:ext cx="6242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x3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95" name="Table 94"/>
          <p:cNvGraphicFramePr>
            <a:graphicFrameLocks noGrp="1"/>
          </p:cNvGraphicFramePr>
          <p:nvPr/>
        </p:nvGraphicFramePr>
        <p:xfrm>
          <a:off x="6920525" y="1231313"/>
          <a:ext cx="4562231" cy="3844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5261"/>
                <a:gridCol w="1547447"/>
                <a:gridCol w="1459523"/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States / Input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8653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8653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8653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8653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8653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8653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8653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8653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8653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6" name="TextBox 95"/>
          <p:cNvSpPr txBox="1"/>
          <p:nvPr/>
        </p:nvSpPr>
        <p:spPr>
          <a:xfrm>
            <a:off x="7485185" y="1594338"/>
            <a:ext cx="6242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-  x0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10285067" y="1607058"/>
            <a:ext cx="9759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[x0,x4]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1005255" y="4741985"/>
            <a:ext cx="6242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x1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8807190" y="1630172"/>
            <a:ext cx="9759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[x0,x1]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1" name="TextBox 100"/>
          <p:cNvSpPr txBox="1"/>
          <p:nvPr/>
        </p:nvSpPr>
        <p:spPr>
          <a:xfrm>
            <a:off x="7392395" y="1977167"/>
            <a:ext cx="9759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[x0,x1]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1" name="Straight Arrow Connector 30"/>
          <p:cNvCxnSpPr/>
          <p:nvPr/>
        </p:nvCxnSpPr>
        <p:spPr>
          <a:xfrm>
            <a:off x="1630392" y="4511616"/>
            <a:ext cx="854015" cy="1588"/>
          </a:xfrm>
          <a:prstGeom prst="straightConnector1">
            <a:avLst/>
          </a:prstGeom>
          <a:ln w="15875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>
            <a:off x="1688399" y="6365907"/>
            <a:ext cx="854015" cy="1588"/>
          </a:xfrm>
          <a:prstGeom prst="straightConnector1">
            <a:avLst/>
          </a:prstGeom>
          <a:ln w="15875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8726679" y="2006858"/>
            <a:ext cx="11505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[x0,x1,x2]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0264938" y="2000997"/>
            <a:ext cx="9759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[x0,x4]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6" name="Multiply 35"/>
          <p:cNvSpPr/>
          <p:nvPr/>
        </p:nvSpPr>
        <p:spPr>
          <a:xfrm>
            <a:off x="9577754" y="1673468"/>
            <a:ext cx="202223" cy="272562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/>
          <p:cNvSpPr txBox="1"/>
          <p:nvPr/>
        </p:nvSpPr>
        <p:spPr>
          <a:xfrm>
            <a:off x="7360156" y="2374919"/>
            <a:ext cx="9759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[x0,x4]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8793300" y="2384544"/>
            <a:ext cx="9759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[x0,x1]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0155111" y="2399581"/>
            <a:ext cx="12205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[x0,x4,x5]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3" name="Multiply 42"/>
          <p:cNvSpPr/>
          <p:nvPr/>
        </p:nvSpPr>
        <p:spPr>
          <a:xfrm>
            <a:off x="11084169" y="1641230"/>
            <a:ext cx="202223" cy="272562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Multiply 48"/>
          <p:cNvSpPr/>
          <p:nvPr/>
        </p:nvSpPr>
        <p:spPr>
          <a:xfrm>
            <a:off x="11084169" y="2045675"/>
            <a:ext cx="202223" cy="272562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Multiply 49"/>
          <p:cNvSpPr/>
          <p:nvPr/>
        </p:nvSpPr>
        <p:spPr>
          <a:xfrm>
            <a:off x="9530861" y="2426675"/>
            <a:ext cx="202223" cy="272562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/>
          <p:cNvSpPr txBox="1"/>
          <p:nvPr/>
        </p:nvSpPr>
        <p:spPr>
          <a:xfrm>
            <a:off x="7243709" y="2765927"/>
            <a:ext cx="11505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[x0,x1,x2]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52" name="Straight Arrow Connector 51"/>
          <p:cNvCxnSpPr/>
          <p:nvPr/>
        </p:nvCxnSpPr>
        <p:spPr>
          <a:xfrm>
            <a:off x="1682537" y="6017147"/>
            <a:ext cx="854015" cy="1588"/>
          </a:xfrm>
          <a:prstGeom prst="straightConnector1">
            <a:avLst/>
          </a:prstGeom>
          <a:ln w="15875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8563707" y="2765927"/>
            <a:ext cx="15034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[x0,x1,x2,x3]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10267870" y="2768860"/>
            <a:ext cx="9759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[x0,x4]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5" name="Multiply 54"/>
          <p:cNvSpPr/>
          <p:nvPr/>
        </p:nvSpPr>
        <p:spPr>
          <a:xfrm>
            <a:off x="9747739" y="2054468"/>
            <a:ext cx="202223" cy="272562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Multiply 55"/>
          <p:cNvSpPr/>
          <p:nvPr/>
        </p:nvSpPr>
        <p:spPr>
          <a:xfrm>
            <a:off x="11078308" y="2813537"/>
            <a:ext cx="202223" cy="272562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extBox 56"/>
          <p:cNvSpPr txBox="1"/>
          <p:nvPr/>
        </p:nvSpPr>
        <p:spPr>
          <a:xfrm>
            <a:off x="7221409" y="3176234"/>
            <a:ext cx="12205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[x0,x4,x5]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8748575" y="3162964"/>
            <a:ext cx="9759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[x0,x1]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9979269" y="3158650"/>
            <a:ext cx="13729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[x0,x3,x4,x5]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0" name="Multiply 59"/>
          <p:cNvSpPr/>
          <p:nvPr/>
        </p:nvSpPr>
        <p:spPr>
          <a:xfrm>
            <a:off x="11169162" y="2438398"/>
            <a:ext cx="202223" cy="272562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Multiply 61"/>
          <p:cNvSpPr/>
          <p:nvPr/>
        </p:nvSpPr>
        <p:spPr>
          <a:xfrm>
            <a:off x="9589477" y="3188675"/>
            <a:ext cx="202223" cy="272562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extBox 64"/>
          <p:cNvSpPr txBox="1"/>
          <p:nvPr/>
        </p:nvSpPr>
        <p:spPr>
          <a:xfrm>
            <a:off x="7080733" y="3533789"/>
            <a:ext cx="15034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[x0,x1,x2,x3]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66" name="Straight Arrow Connector 65"/>
          <p:cNvCxnSpPr/>
          <p:nvPr/>
        </p:nvCxnSpPr>
        <p:spPr>
          <a:xfrm>
            <a:off x="1711846" y="5642008"/>
            <a:ext cx="854015" cy="1588"/>
          </a:xfrm>
          <a:prstGeom prst="straightConnector1">
            <a:avLst/>
          </a:prstGeom>
          <a:ln w="15875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8525601" y="3545512"/>
            <a:ext cx="15034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[x0,x1,x2,x3]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10096499" y="3557235"/>
            <a:ext cx="13729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[x0,x3,x4]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9" name="Multiply 68"/>
          <p:cNvSpPr/>
          <p:nvPr/>
        </p:nvSpPr>
        <p:spPr>
          <a:xfrm>
            <a:off x="9823939" y="2816468"/>
            <a:ext cx="202223" cy="272562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Multiply 69"/>
          <p:cNvSpPr/>
          <p:nvPr/>
        </p:nvSpPr>
        <p:spPr>
          <a:xfrm>
            <a:off x="9765323" y="3584330"/>
            <a:ext cx="202223" cy="272562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TextBox 70"/>
          <p:cNvSpPr txBox="1"/>
          <p:nvPr/>
        </p:nvSpPr>
        <p:spPr>
          <a:xfrm>
            <a:off x="7045569" y="3917719"/>
            <a:ext cx="13729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[x0,x3,x4,x5]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8650479" y="3944097"/>
            <a:ext cx="11505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[x0,x1,x3]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10052539" y="3926511"/>
            <a:ext cx="13729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[x0,x3,x4,x5]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5" name="Multiply 74"/>
          <p:cNvSpPr/>
          <p:nvPr/>
        </p:nvSpPr>
        <p:spPr>
          <a:xfrm>
            <a:off x="11245361" y="3200398"/>
            <a:ext cx="202223" cy="272562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Multiply 75"/>
          <p:cNvSpPr/>
          <p:nvPr/>
        </p:nvSpPr>
        <p:spPr>
          <a:xfrm>
            <a:off x="11309838" y="3968260"/>
            <a:ext cx="202223" cy="272562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TextBox 76"/>
          <p:cNvSpPr txBox="1"/>
          <p:nvPr/>
        </p:nvSpPr>
        <p:spPr>
          <a:xfrm>
            <a:off x="7167510" y="4325097"/>
            <a:ext cx="11505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[x0,x1,x3]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6528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" grpId="0"/>
      <p:bldP spid="74" grpId="0"/>
      <p:bldP spid="75" grpId="0" animBg="1"/>
      <p:bldP spid="76" grpId="0" animBg="1"/>
      <p:bldP spid="77" grpId="0"/>
    </p:bld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0066" y="0"/>
            <a:ext cx="7850741" cy="547946"/>
          </a:xfrm>
        </p:spPr>
        <p:txBody>
          <a:bodyPr/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Conversion of NFA into DFA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114</a:t>
            </a:fld>
            <a:endParaRPr lang="en-US"/>
          </a:p>
        </p:txBody>
      </p:sp>
      <p:pic>
        <p:nvPicPr>
          <p:cNvPr id="37" name="Picture 36" descr="Pictur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724" y="719425"/>
            <a:ext cx="5580688" cy="1834396"/>
          </a:xfrm>
          <a:prstGeom prst="rect">
            <a:avLst/>
          </a:prstGeom>
        </p:spPr>
      </p:pic>
      <p:graphicFrame>
        <p:nvGraphicFramePr>
          <p:cNvPr id="38" name="Table 37"/>
          <p:cNvGraphicFramePr>
            <a:graphicFrameLocks noGrp="1"/>
          </p:cNvGraphicFramePr>
          <p:nvPr/>
        </p:nvGraphicFramePr>
        <p:xfrm>
          <a:off x="335084" y="3937650"/>
          <a:ext cx="4500685" cy="2621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1"/>
                <a:gridCol w="1134207"/>
                <a:gridCol w="1283677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States / Input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9" name="TextBox 38"/>
          <p:cNvSpPr txBox="1"/>
          <p:nvPr/>
        </p:nvSpPr>
        <p:spPr>
          <a:xfrm>
            <a:off x="940778" y="4334608"/>
            <a:ext cx="6242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-  x0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973017" y="6213232"/>
            <a:ext cx="6242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x5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999396" y="5079023"/>
            <a:ext cx="6242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x2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923198" y="5442439"/>
            <a:ext cx="6242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+  x3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022839" y="5841024"/>
            <a:ext cx="6242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x4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2453054" y="4352192"/>
            <a:ext cx="9759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x0,x1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3713285" y="4337538"/>
            <a:ext cx="9759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x0,x4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2599595" y="4700955"/>
            <a:ext cx="6242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x2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3859826" y="4695094"/>
            <a:ext cx="6242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-----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2611320" y="5099540"/>
            <a:ext cx="6242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x3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3880346" y="5093670"/>
            <a:ext cx="6242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-----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2614252" y="5462955"/>
            <a:ext cx="6242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x3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3856896" y="5439509"/>
            <a:ext cx="6242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x3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2649418" y="6201510"/>
            <a:ext cx="6242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-----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2617180" y="5817579"/>
            <a:ext cx="6242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-----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3859829" y="5846886"/>
            <a:ext cx="6242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x5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4" name="TextBox 93"/>
          <p:cNvSpPr txBox="1"/>
          <p:nvPr/>
        </p:nvSpPr>
        <p:spPr>
          <a:xfrm>
            <a:off x="3836384" y="6210301"/>
            <a:ext cx="6242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x3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95" name="Table 94"/>
          <p:cNvGraphicFramePr>
            <a:graphicFrameLocks noGrp="1"/>
          </p:cNvGraphicFramePr>
          <p:nvPr/>
        </p:nvGraphicFramePr>
        <p:xfrm>
          <a:off x="6920525" y="1231313"/>
          <a:ext cx="4562231" cy="3844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5261"/>
                <a:gridCol w="1547447"/>
                <a:gridCol w="1459523"/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States / Input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8653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8653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8653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8653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8653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8653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8653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8653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8653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6" name="TextBox 95"/>
          <p:cNvSpPr txBox="1"/>
          <p:nvPr/>
        </p:nvSpPr>
        <p:spPr>
          <a:xfrm>
            <a:off x="7485185" y="1594338"/>
            <a:ext cx="6242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-  x0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10285067" y="1607058"/>
            <a:ext cx="9759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[x0,x4]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1005255" y="4741985"/>
            <a:ext cx="6242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x1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8807190" y="1630172"/>
            <a:ext cx="9759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[x0,x1]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1" name="TextBox 100"/>
          <p:cNvSpPr txBox="1"/>
          <p:nvPr/>
        </p:nvSpPr>
        <p:spPr>
          <a:xfrm>
            <a:off x="7392395" y="1977167"/>
            <a:ext cx="9759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[x0,x1]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1" name="Straight Arrow Connector 30"/>
          <p:cNvCxnSpPr/>
          <p:nvPr/>
        </p:nvCxnSpPr>
        <p:spPr>
          <a:xfrm>
            <a:off x="1630392" y="4511616"/>
            <a:ext cx="854015" cy="1588"/>
          </a:xfrm>
          <a:prstGeom prst="straightConnector1">
            <a:avLst/>
          </a:prstGeom>
          <a:ln w="15875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8726679" y="2006858"/>
            <a:ext cx="11505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[x0,x1,x2]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0264938" y="2000997"/>
            <a:ext cx="9759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[x0,x4]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6" name="Multiply 35"/>
          <p:cNvSpPr/>
          <p:nvPr/>
        </p:nvSpPr>
        <p:spPr>
          <a:xfrm>
            <a:off x="9577754" y="1673468"/>
            <a:ext cx="202223" cy="272562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/>
          <p:cNvSpPr txBox="1"/>
          <p:nvPr/>
        </p:nvSpPr>
        <p:spPr>
          <a:xfrm>
            <a:off x="7360156" y="2374919"/>
            <a:ext cx="9759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[x0,x4]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8793300" y="2384544"/>
            <a:ext cx="9759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[x0,x1]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0155111" y="2399581"/>
            <a:ext cx="12205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[x0,x4,x5]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3" name="Multiply 42"/>
          <p:cNvSpPr/>
          <p:nvPr/>
        </p:nvSpPr>
        <p:spPr>
          <a:xfrm>
            <a:off x="11084169" y="1641230"/>
            <a:ext cx="202223" cy="272562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Multiply 48"/>
          <p:cNvSpPr/>
          <p:nvPr/>
        </p:nvSpPr>
        <p:spPr>
          <a:xfrm>
            <a:off x="11084169" y="2045675"/>
            <a:ext cx="202223" cy="272562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Multiply 49"/>
          <p:cNvSpPr/>
          <p:nvPr/>
        </p:nvSpPr>
        <p:spPr>
          <a:xfrm>
            <a:off x="9530861" y="2426675"/>
            <a:ext cx="202223" cy="272562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/>
          <p:cNvSpPr txBox="1"/>
          <p:nvPr/>
        </p:nvSpPr>
        <p:spPr>
          <a:xfrm>
            <a:off x="7243709" y="2765927"/>
            <a:ext cx="11505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[x0,x1,x2]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52" name="Straight Arrow Connector 51"/>
          <p:cNvCxnSpPr/>
          <p:nvPr/>
        </p:nvCxnSpPr>
        <p:spPr>
          <a:xfrm>
            <a:off x="1682538" y="5674247"/>
            <a:ext cx="854015" cy="1588"/>
          </a:xfrm>
          <a:prstGeom prst="straightConnector1">
            <a:avLst/>
          </a:prstGeom>
          <a:ln w="15875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8563707" y="2765927"/>
            <a:ext cx="15034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[x0,x1,x2,x3]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10267870" y="2768860"/>
            <a:ext cx="9759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[x0,x4]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5" name="Multiply 54"/>
          <p:cNvSpPr/>
          <p:nvPr/>
        </p:nvSpPr>
        <p:spPr>
          <a:xfrm>
            <a:off x="9747739" y="2054468"/>
            <a:ext cx="202223" cy="272562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Multiply 55"/>
          <p:cNvSpPr/>
          <p:nvPr/>
        </p:nvSpPr>
        <p:spPr>
          <a:xfrm>
            <a:off x="11078308" y="2813537"/>
            <a:ext cx="202223" cy="272562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extBox 56"/>
          <p:cNvSpPr txBox="1"/>
          <p:nvPr/>
        </p:nvSpPr>
        <p:spPr>
          <a:xfrm>
            <a:off x="7221409" y="3176234"/>
            <a:ext cx="12205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[x0,x4,x5]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8748575" y="3162964"/>
            <a:ext cx="9759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[x0,x1]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9979269" y="3158650"/>
            <a:ext cx="13729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[x0,x3,x4,x5]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0" name="Multiply 59"/>
          <p:cNvSpPr/>
          <p:nvPr/>
        </p:nvSpPr>
        <p:spPr>
          <a:xfrm>
            <a:off x="11169162" y="2438398"/>
            <a:ext cx="202223" cy="272562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Multiply 61"/>
          <p:cNvSpPr/>
          <p:nvPr/>
        </p:nvSpPr>
        <p:spPr>
          <a:xfrm>
            <a:off x="9589477" y="3188675"/>
            <a:ext cx="202223" cy="272562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extBox 64"/>
          <p:cNvSpPr txBox="1"/>
          <p:nvPr/>
        </p:nvSpPr>
        <p:spPr>
          <a:xfrm>
            <a:off x="7080733" y="3533789"/>
            <a:ext cx="15034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[x0,x1,x2,x3]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66" name="Straight Arrow Connector 65"/>
          <p:cNvCxnSpPr/>
          <p:nvPr/>
        </p:nvCxnSpPr>
        <p:spPr>
          <a:xfrm>
            <a:off x="1682537" y="4862783"/>
            <a:ext cx="854015" cy="1588"/>
          </a:xfrm>
          <a:prstGeom prst="straightConnector1">
            <a:avLst/>
          </a:prstGeom>
          <a:ln w="15875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8525601" y="3545512"/>
            <a:ext cx="15034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[x0,x1,x2,x3]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10096499" y="3557235"/>
            <a:ext cx="13729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[x0,x3,x4]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9" name="Multiply 68"/>
          <p:cNvSpPr/>
          <p:nvPr/>
        </p:nvSpPr>
        <p:spPr>
          <a:xfrm>
            <a:off x="9823939" y="2816468"/>
            <a:ext cx="202223" cy="272562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Multiply 69"/>
          <p:cNvSpPr/>
          <p:nvPr/>
        </p:nvSpPr>
        <p:spPr>
          <a:xfrm>
            <a:off x="9765323" y="3584330"/>
            <a:ext cx="202223" cy="272562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TextBox 70"/>
          <p:cNvSpPr txBox="1"/>
          <p:nvPr/>
        </p:nvSpPr>
        <p:spPr>
          <a:xfrm>
            <a:off x="7045569" y="3917719"/>
            <a:ext cx="13729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[x0,x3,x4,x5]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8650479" y="3944097"/>
            <a:ext cx="11505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[x0,x1,x3]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10052539" y="3926511"/>
            <a:ext cx="13729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[x0,x3,x4,x5]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5" name="Multiply 74"/>
          <p:cNvSpPr/>
          <p:nvPr/>
        </p:nvSpPr>
        <p:spPr>
          <a:xfrm>
            <a:off x="11245361" y="3200398"/>
            <a:ext cx="202223" cy="272562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Multiply 75"/>
          <p:cNvSpPr/>
          <p:nvPr/>
        </p:nvSpPr>
        <p:spPr>
          <a:xfrm>
            <a:off x="11309838" y="3968260"/>
            <a:ext cx="202223" cy="272562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TextBox 76"/>
          <p:cNvSpPr txBox="1"/>
          <p:nvPr/>
        </p:nvSpPr>
        <p:spPr>
          <a:xfrm>
            <a:off x="7167510" y="4325097"/>
            <a:ext cx="11505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[x0,x1,x3]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8502154" y="4295789"/>
            <a:ext cx="15034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[x0,x1,x2,x3]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10081845" y="4316304"/>
            <a:ext cx="13729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[x0,x3,x4]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0" name="Multiply 79"/>
          <p:cNvSpPr/>
          <p:nvPr/>
        </p:nvSpPr>
        <p:spPr>
          <a:xfrm>
            <a:off x="9777046" y="3965330"/>
            <a:ext cx="202223" cy="272562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Multiply 80"/>
          <p:cNvSpPr/>
          <p:nvPr/>
        </p:nvSpPr>
        <p:spPr>
          <a:xfrm>
            <a:off x="9771184" y="4381500"/>
            <a:ext cx="202223" cy="272562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TextBox 81"/>
          <p:cNvSpPr txBox="1"/>
          <p:nvPr/>
        </p:nvSpPr>
        <p:spPr>
          <a:xfrm>
            <a:off x="7180380" y="4703165"/>
            <a:ext cx="13729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[x0,x3,x4]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997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" grpId="0"/>
      <p:bldP spid="79" grpId="0"/>
      <p:bldP spid="80" grpId="0" animBg="1"/>
      <p:bldP spid="81" grpId="0" animBg="1"/>
      <p:bldP spid="82" grpId="0"/>
    </p:bld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0066" y="0"/>
            <a:ext cx="7850741" cy="547946"/>
          </a:xfrm>
        </p:spPr>
        <p:txBody>
          <a:bodyPr/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Conversion of NFA into DFA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115</a:t>
            </a:fld>
            <a:endParaRPr lang="en-US"/>
          </a:p>
        </p:txBody>
      </p:sp>
      <p:pic>
        <p:nvPicPr>
          <p:cNvPr id="37" name="Picture 36" descr="Pictur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724" y="719425"/>
            <a:ext cx="5580688" cy="1834396"/>
          </a:xfrm>
          <a:prstGeom prst="rect">
            <a:avLst/>
          </a:prstGeom>
        </p:spPr>
      </p:pic>
      <p:graphicFrame>
        <p:nvGraphicFramePr>
          <p:cNvPr id="38" name="Table 37"/>
          <p:cNvGraphicFramePr>
            <a:graphicFrameLocks noGrp="1"/>
          </p:cNvGraphicFramePr>
          <p:nvPr/>
        </p:nvGraphicFramePr>
        <p:xfrm>
          <a:off x="335084" y="3937650"/>
          <a:ext cx="4500685" cy="2621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1"/>
                <a:gridCol w="1134207"/>
                <a:gridCol w="1283677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States / Input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9" name="TextBox 38"/>
          <p:cNvSpPr txBox="1"/>
          <p:nvPr/>
        </p:nvSpPr>
        <p:spPr>
          <a:xfrm>
            <a:off x="940778" y="4334608"/>
            <a:ext cx="6242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-  x0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973017" y="6213232"/>
            <a:ext cx="6242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x5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999396" y="5079023"/>
            <a:ext cx="6242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x2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923198" y="5442439"/>
            <a:ext cx="6242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+  x3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022839" y="5841024"/>
            <a:ext cx="6242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x4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2453054" y="4352192"/>
            <a:ext cx="9759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x0,x1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3713285" y="4337538"/>
            <a:ext cx="9759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x0,x4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2599595" y="4700955"/>
            <a:ext cx="6242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x2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3859826" y="4695094"/>
            <a:ext cx="6242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-----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2611320" y="5099540"/>
            <a:ext cx="6242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x3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3880346" y="5093670"/>
            <a:ext cx="6242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-----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2614252" y="5462955"/>
            <a:ext cx="6242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x3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3856896" y="5439509"/>
            <a:ext cx="6242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x3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2649418" y="6201510"/>
            <a:ext cx="6242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-----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2617180" y="5817579"/>
            <a:ext cx="6242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-----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3859829" y="5846886"/>
            <a:ext cx="6242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x5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4" name="TextBox 93"/>
          <p:cNvSpPr txBox="1"/>
          <p:nvPr/>
        </p:nvSpPr>
        <p:spPr>
          <a:xfrm>
            <a:off x="3836384" y="6210301"/>
            <a:ext cx="6242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x3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95" name="Table 94"/>
          <p:cNvGraphicFramePr>
            <a:graphicFrameLocks noGrp="1"/>
          </p:cNvGraphicFramePr>
          <p:nvPr/>
        </p:nvGraphicFramePr>
        <p:xfrm>
          <a:off x="6920525" y="1231313"/>
          <a:ext cx="4562231" cy="3844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5261"/>
                <a:gridCol w="1547447"/>
                <a:gridCol w="1459523"/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States / Input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8653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8653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8653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8653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8653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8653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8653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8653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8653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9" name="TextBox 98"/>
          <p:cNvSpPr txBox="1"/>
          <p:nvPr/>
        </p:nvSpPr>
        <p:spPr>
          <a:xfrm>
            <a:off x="1005255" y="4741985"/>
            <a:ext cx="6242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x1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1" name="Straight Arrow Connector 30"/>
          <p:cNvCxnSpPr/>
          <p:nvPr/>
        </p:nvCxnSpPr>
        <p:spPr>
          <a:xfrm>
            <a:off x="1630392" y="4511616"/>
            <a:ext cx="854015" cy="1588"/>
          </a:xfrm>
          <a:prstGeom prst="straightConnector1">
            <a:avLst/>
          </a:prstGeom>
          <a:ln w="15875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/>
          <p:nvPr/>
        </p:nvCxnSpPr>
        <p:spPr>
          <a:xfrm>
            <a:off x="1682538" y="5674247"/>
            <a:ext cx="854015" cy="1588"/>
          </a:xfrm>
          <a:prstGeom prst="straightConnector1">
            <a:avLst/>
          </a:prstGeom>
          <a:ln w="15875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/>
          <p:cNvCxnSpPr/>
          <p:nvPr/>
        </p:nvCxnSpPr>
        <p:spPr>
          <a:xfrm>
            <a:off x="1638181" y="6369199"/>
            <a:ext cx="854015" cy="1588"/>
          </a:xfrm>
          <a:prstGeom prst="straightConnector1">
            <a:avLst/>
          </a:prstGeom>
          <a:ln w="15875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TextBox 95"/>
          <p:cNvSpPr txBox="1"/>
          <p:nvPr/>
        </p:nvSpPr>
        <p:spPr>
          <a:xfrm>
            <a:off x="7485185" y="1594338"/>
            <a:ext cx="6242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-  x0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10285067" y="1607058"/>
            <a:ext cx="9759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[x0,x4]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8807190" y="1630172"/>
            <a:ext cx="9759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[x0,x1]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1" name="TextBox 100"/>
          <p:cNvSpPr txBox="1"/>
          <p:nvPr/>
        </p:nvSpPr>
        <p:spPr>
          <a:xfrm>
            <a:off x="7392395" y="1977167"/>
            <a:ext cx="9759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[x0,x1]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726679" y="2006858"/>
            <a:ext cx="11505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[x0,x1,x2]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0264938" y="2000997"/>
            <a:ext cx="9759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[x0,x4]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6" name="Multiply 35"/>
          <p:cNvSpPr/>
          <p:nvPr/>
        </p:nvSpPr>
        <p:spPr>
          <a:xfrm>
            <a:off x="9577754" y="1673468"/>
            <a:ext cx="202223" cy="272562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/>
          <p:cNvSpPr txBox="1"/>
          <p:nvPr/>
        </p:nvSpPr>
        <p:spPr>
          <a:xfrm>
            <a:off x="7360156" y="2374919"/>
            <a:ext cx="9759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[x0,x4]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8793300" y="2384544"/>
            <a:ext cx="9759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[x0,x1]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0155111" y="2399581"/>
            <a:ext cx="12205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[x0,x4,x5]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3" name="Multiply 42"/>
          <p:cNvSpPr/>
          <p:nvPr/>
        </p:nvSpPr>
        <p:spPr>
          <a:xfrm>
            <a:off x="11084169" y="1641230"/>
            <a:ext cx="202223" cy="272562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Multiply 48"/>
          <p:cNvSpPr/>
          <p:nvPr/>
        </p:nvSpPr>
        <p:spPr>
          <a:xfrm>
            <a:off x="11084169" y="2045675"/>
            <a:ext cx="202223" cy="272562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Multiply 49"/>
          <p:cNvSpPr/>
          <p:nvPr/>
        </p:nvSpPr>
        <p:spPr>
          <a:xfrm>
            <a:off x="9530861" y="2426675"/>
            <a:ext cx="202223" cy="272562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/>
          <p:cNvSpPr txBox="1"/>
          <p:nvPr/>
        </p:nvSpPr>
        <p:spPr>
          <a:xfrm>
            <a:off x="7243709" y="2765927"/>
            <a:ext cx="11505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[x0,x1,x2]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8563707" y="2765927"/>
            <a:ext cx="15034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[x0,x1,x2,x3]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10267870" y="2768860"/>
            <a:ext cx="9759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[x0,x4]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5" name="Multiply 54"/>
          <p:cNvSpPr/>
          <p:nvPr/>
        </p:nvSpPr>
        <p:spPr>
          <a:xfrm>
            <a:off x="9747739" y="2054468"/>
            <a:ext cx="202223" cy="272562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Multiply 55"/>
          <p:cNvSpPr/>
          <p:nvPr/>
        </p:nvSpPr>
        <p:spPr>
          <a:xfrm>
            <a:off x="11078308" y="2813537"/>
            <a:ext cx="202223" cy="272562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extBox 56"/>
          <p:cNvSpPr txBox="1"/>
          <p:nvPr/>
        </p:nvSpPr>
        <p:spPr>
          <a:xfrm>
            <a:off x="7221409" y="3176234"/>
            <a:ext cx="12205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[x0,x4,x5]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8748575" y="3162964"/>
            <a:ext cx="9759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[x0,x1]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9979269" y="3158650"/>
            <a:ext cx="13729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[x0,x3,x4,x5]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0" name="Multiply 59"/>
          <p:cNvSpPr/>
          <p:nvPr/>
        </p:nvSpPr>
        <p:spPr>
          <a:xfrm>
            <a:off x="11169162" y="2438398"/>
            <a:ext cx="202223" cy="272562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Multiply 61"/>
          <p:cNvSpPr/>
          <p:nvPr/>
        </p:nvSpPr>
        <p:spPr>
          <a:xfrm>
            <a:off x="9589477" y="3188675"/>
            <a:ext cx="202223" cy="272562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extBox 64"/>
          <p:cNvSpPr txBox="1"/>
          <p:nvPr/>
        </p:nvSpPr>
        <p:spPr>
          <a:xfrm>
            <a:off x="7080733" y="3533789"/>
            <a:ext cx="15034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[x0,x1,x2,x3]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8525601" y="3545512"/>
            <a:ext cx="15034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[x0,x1,x2,x3]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10096499" y="3557235"/>
            <a:ext cx="13729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[x0,x3,x4]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9" name="Multiply 68"/>
          <p:cNvSpPr/>
          <p:nvPr/>
        </p:nvSpPr>
        <p:spPr>
          <a:xfrm>
            <a:off x="9823939" y="2816468"/>
            <a:ext cx="202223" cy="272562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Multiply 69"/>
          <p:cNvSpPr/>
          <p:nvPr/>
        </p:nvSpPr>
        <p:spPr>
          <a:xfrm>
            <a:off x="9765323" y="3584330"/>
            <a:ext cx="202223" cy="272562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TextBox 70"/>
          <p:cNvSpPr txBox="1"/>
          <p:nvPr/>
        </p:nvSpPr>
        <p:spPr>
          <a:xfrm>
            <a:off x="7045569" y="3917719"/>
            <a:ext cx="13729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[x0,x3,x4,x5]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8650479" y="3944097"/>
            <a:ext cx="11505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[x0,x1,x3]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10052539" y="3926511"/>
            <a:ext cx="13729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[x0,x3,x4,x5]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5" name="Multiply 74"/>
          <p:cNvSpPr/>
          <p:nvPr/>
        </p:nvSpPr>
        <p:spPr>
          <a:xfrm>
            <a:off x="11245361" y="3200398"/>
            <a:ext cx="202223" cy="272562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Multiply 75"/>
          <p:cNvSpPr/>
          <p:nvPr/>
        </p:nvSpPr>
        <p:spPr>
          <a:xfrm>
            <a:off x="11309838" y="3968260"/>
            <a:ext cx="202223" cy="272562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TextBox 76"/>
          <p:cNvSpPr txBox="1"/>
          <p:nvPr/>
        </p:nvSpPr>
        <p:spPr>
          <a:xfrm>
            <a:off x="7167510" y="4325097"/>
            <a:ext cx="11505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[x0,x1,x3]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8502154" y="4295789"/>
            <a:ext cx="15034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[x0,x1,x2,x3]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10081845" y="4316304"/>
            <a:ext cx="13729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[x0,x3,x4]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0" name="Multiply 79"/>
          <p:cNvSpPr/>
          <p:nvPr/>
        </p:nvSpPr>
        <p:spPr>
          <a:xfrm>
            <a:off x="9777046" y="3965330"/>
            <a:ext cx="202223" cy="272562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Multiply 80"/>
          <p:cNvSpPr/>
          <p:nvPr/>
        </p:nvSpPr>
        <p:spPr>
          <a:xfrm>
            <a:off x="9771184" y="4381500"/>
            <a:ext cx="202223" cy="272562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TextBox 81"/>
          <p:cNvSpPr txBox="1"/>
          <p:nvPr/>
        </p:nvSpPr>
        <p:spPr>
          <a:xfrm>
            <a:off x="7180380" y="4703165"/>
            <a:ext cx="13729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[x0,x3,x4]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8601313" y="4717481"/>
            <a:ext cx="11505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[x0,x1,x3]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10066421" y="4704010"/>
            <a:ext cx="13729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[x0,x3,x4]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0" name="Multiply 89"/>
          <p:cNvSpPr/>
          <p:nvPr/>
        </p:nvSpPr>
        <p:spPr>
          <a:xfrm>
            <a:off x="11244401" y="3583028"/>
            <a:ext cx="202223" cy="272562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Multiply 90"/>
          <p:cNvSpPr/>
          <p:nvPr/>
        </p:nvSpPr>
        <p:spPr>
          <a:xfrm>
            <a:off x="11179419" y="4363882"/>
            <a:ext cx="202223" cy="272562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Multiply 91"/>
          <p:cNvSpPr/>
          <p:nvPr/>
        </p:nvSpPr>
        <p:spPr>
          <a:xfrm>
            <a:off x="9713794" y="4710990"/>
            <a:ext cx="202223" cy="272562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Multiply 96"/>
          <p:cNvSpPr/>
          <p:nvPr/>
        </p:nvSpPr>
        <p:spPr>
          <a:xfrm>
            <a:off x="11169161" y="4743986"/>
            <a:ext cx="202223" cy="272562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TextBox 101"/>
          <p:cNvSpPr txBox="1"/>
          <p:nvPr/>
        </p:nvSpPr>
        <p:spPr>
          <a:xfrm>
            <a:off x="6898395" y="4612597"/>
            <a:ext cx="4174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+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885650" y="4218708"/>
            <a:ext cx="4174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+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6885650" y="3840351"/>
            <a:ext cx="4174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+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893319" y="3446926"/>
            <a:ext cx="4174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+</a:t>
            </a:r>
          </a:p>
        </p:txBody>
      </p:sp>
    </p:spTree>
    <p:extLst>
      <p:ext uri="{BB962C8B-B14F-4D97-AF65-F5344CB8AC3E}">
        <p14:creationId xmlns:p14="http://schemas.microsoft.com/office/powerpoint/2010/main" val="3820485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" grpId="0"/>
      <p:bldP spid="89" grpId="0"/>
      <p:bldP spid="90" grpId="0" animBg="1"/>
      <p:bldP spid="91" grpId="0" animBg="1"/>
      <p:bldP spid="92" grpId="0" animBg="1"/>
      <p:bldP spid="97" grpId="0" animBg="1"/>
      <p:bldP spid="102" grpId="0"/>
      <p:bldP spid="103" grpId="0"/>
      <p:bldP spid="104" grpId="0"/>
      <p:bldP spid="105" grpId="0"/>
    </p:bld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116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46" y="917426"/>
            <a:ext cx="4565526" cy="3876735"/>
          </a:xfrm>
          <a:prstGeom prst="rect">
            <a:avLst/>
          </a:prstGeom>
        </p:spPr>
      </p:pic>
      <p:grpSp>
        <p:nvGrpSpPr>
          <p:cNvPr id="52" name="Group 51"/>
          <p:cNvGrpSpPr/>
          <p:nvPr/>
        </p:nvGrpSpPr>
        <p:grpSpPr>
          <a:xfrm>
            <a:off x="70603" y="1264062"/>
            <a:ext cx="4626411" cy="3479924"/>
            <a:chOff x="6885650" y="1594338"/>
            <a:chExt cx="4626411" cy="3479924"/>
          </a:xfrm>
        </p:grpSpPr>
        <p:sp>
          <p:nvSpPr>
            <p:cNvPr id="53" name="TextBox 52"/>
            <p:cNvSpPr txBox="1"/>
            <p:nvPr/>
          </p:nvSpPr>
          <p:spPr>
            <a:xfrm>
              <a:off x="7485185" y="1594338"/>
              <a:ext cx="62425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smtClean="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-  x0</a:t>
              </a:r>
              <a:endParaRPr lang="en-US" sz="16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10285067" y="1607058"/>
              <a:ext cx="97594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smtClean="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 [x0,x4]</a:t>
              </a:r>
              <a:endParaRPr lang="en-US" sz="16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8807190" y="1630172"/>
              <a:ext cx="97594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smtClean="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 [x0,x1]</a:t>
              </a:r>
              <a:endParaRPr lang="en-US" sz="16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7392395" y="1977167"/>
              <a:ext cx="97594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smtClean="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 [x0,x1]</a:t>
              </a:r>
              <a:endParaRPr lang="en-US" sz="16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8726679" y="2006858"/>
              <a:ext cx="115056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smtClean="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 [x0,x1,x2]</a:t>
              </a:r>
              <a:endParaRPr lang="en-US" sz="16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10264938" y="2000997"/>
              <a:ext cx="97594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smtClean="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 [x0,x4]</a:t>
              </a:r>
              <a:endParaRPr lang="en-US" sz="16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9" name="Multiply 58"/>
            <p:cNvSpPr/>
            <p:nvPr/>
          </p:nvSpPr>
          <p:spPr>
            <a:xfrm>
              <a:off x="9577754" y="1673468"/>
              <a:ext cx="202223" cy="272562"/>
            </a:xfrm>
            <a:prstGeom prst="mathMultiply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7360156" y="2374919"/>
              <a:ext cx="97594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smtClean="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 [x0,x4]</a:t>
              </a:r>
              <a:endParaRPr lang="en-US" sz="16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8793300" y="2384544"/>
              <a:ext cx="97594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smtClean="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 [x0,x1]</a:t>
              </a:r>
              <a:endParaRPr lang="en-US" sz="16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10155111" y="2399581"/>
              <a:ext cx="122058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smtClean="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 [x0,x4,x5]</a:t>
              </a:r>
              <a:endParaRPr lang="en-US" sz="16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3" name="Multiply 62"/>
            <p:cNvSpPr/>
            <p:nvPr/>
          </p:nvSpPr>
          <p:spPr>
            <a:xfrm>
              <a:off x="11084169" y="1641230"/>
              <a:ext cx="202223" cy="272562"/>
            </a:xfrm>
            <a:prstGeom prst="mathMultiply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Multiply 63"/>
            <p:cNvSpPr/>
            <p:nvPr/>
          </p:nvSpPr>
          <p:spPr>
            <a:xfrm>
              <a:off x="11084169" y="2045675"/>
              <a:ext cx="202223" cy="272562"/>
            </a:xfrm>
            <a:prstGeom prst="mathMultiply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Multiply 64"/>
            <p:cNvSpPr/>
            <p:nvPr/>
          </p:nvSpPr>
          <p:spPr>
            <a:xfrm>
              <a:off x="9530861" y="2426675"/>
              <a:ext cx="202223" cy="272562"/>
            </a:xfrm>
            <a:prstGeom prst="mathMultiply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7243709" y="2765927"/>
              <a:ext cx="115056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smtClean="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 [x0,x1,x2]</a:t>
              </a:r>
              <a:endParaRPr lang="en-US" sz="16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8563707" y="2765927"/>
              <a:ext cx="150348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smtClean="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 [x0,x1,x2,x3]</a:t>
              </a:r>
              <a:endParaRPr lang="en-US" sz="16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10267870" y="2768860"/>
              <a:ext cx="97594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smtClean="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 [x0,x4]</a:t>
              </a:r>
              <a:endParaRPr lang="en-US" sz="16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9" name="Multiply 68"/>
            <p:cNvSpPr/>
            <p:nvPr/>
          </p:nvSpPr>
          <p:spPr>
            <a:xfrm>
              <a:off x="9747739" y="2054468"/>
              <a:ext cx="202223" cy="272562"/>
            </a:xfrm>
            <a:prstGeom prst="mathMultiply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Multiply 69"/>
            <p:cNvSpPr/>
            <p:nvPr/>
          </p:nvSpPr>
          <p:spPr>
            <a:xfrm>
              <a:off x="11078308" y="2813537"/>
              <a:ext cx="202223" cy="272562"/>
            </a:xfrm>
            <a:prstGeom prst="mathMultiply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7221409" y="3176234"/>
              <a:ext cx="122058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smtClean="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 [x0,x4,x5]</a:t>
              </a:r>
              <a:endParaRPr lang="en-US" sz="16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8748575" y="3162964"/>
              <a:ext cx="97594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smtClean="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 [x0,x1]</a:t>
              </a:r>
              <a:endParaRPr lang="en-US" sz="16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9979269" y="3158650"/>
              <a:ext cx="137298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smtClean="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 [x0,x3,x4,x5]</a:t>
              </a:r>
              <a:endParaRPr lang="en-US" sz="16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4" name="Multiply 73"/>
            <p:cNvSpPr/>
            <p:nvPr/>
          </p:nvSpPr>
          <p:spPr>
            <a:xfrm>
              <a:off x="11169162" y="2438398"/>
              <a:ext cx="202223" cy="272562"/>
            </a:xfrm>
            <a:prstGeom prst="mathMultiply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Multiply 74"/>
            <p:cNvSpPr/>
            <p:nvPr/>
          </p:nvSpPr>
          <p:spPr>
            <a:xfrm>
              <a:off x="9589477" y="3188675"/>
              <a:ext cx="202223" cy="272562"/>
            </a:xfrm>
            <a:prstGeom prst="mathMultiply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7080733" y="3533789"/>
              <a:ext cx="150348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smtClean="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 [x0,x1,x2,x3]</a:t>
              </a:r>
              <a:endParaRPr lang="en-US" sz="16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8525601" y="3545512"/>
              <a:ext cx="150348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smtClean="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 [x0,x1,x2,x3]</a:t>
              </a:r>
              <a:endParaRPr lang="en-US" sz="16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10096499" y="3557235"/>
              <a:ext cx="137298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smtClean="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 [x0,x3,x4]</a:t>
              </a:r>
              <a:endParaRPr lang="en-US" sz="16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9" name="Multiply 78"/>
            <p:cNvSpPr/>
            <p:nvPr/>
          </p:nvSpPr>
          <p:spPr>
            <a:xfrm>
              <a:off x="9823939" y="2816468"/>
              <a:ext cx="202223" cy="272562"/>
            </a:xfrm>
            <a:prstGeom prst="mathMultiply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Multiply 79"/>
            <p:cNvSpPr/>
            <p:nvPr/>
          </p:nvSpPr>
          <p:spPr>
            <a:xfrm>
              <a:off x="9765323" y="3584330"/>
              <a:ext cx="202223" cy="272562"/>
            </a:xfrm>
            <a:prstGeom prst="mathMultiply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7045569" y="3917719"/>
              <a:ext cx="137298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smtClean="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 [x0,x3,x4,x5]</a:t>
              </a:r>
              <a:endParaRPr lang="en-US" sz="16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2" name="TextBox 81"/>
            <p:cNvSpPr txBox="1"/>
            <p:nvPr/>
          </p:nvSpPr>
          <p:spPr>
            <a:xfrm>
              <a:off x="8650479" y="3944097"/>
              <a:ext cx="115056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smtClean="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 [x0,x1,x3]</a:t>
              </a:r>
              <a:endParaRPr lang="en-US" sz="16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3" name="TextBox 82"/>
            <p:cNvSpPr txBox="1"/>
            <p:nvPr/>
          </p:nvSpPr>
          <p:spPr>
            <a:xfrm>
              <a:off x="10052539" y="3926511"/>
              <a:ext cx="137298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smtClean="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 [x0,x3,x4,x5]</a:t>
              </a:r>
              <a:endParaRPr lang="en-US" sz="16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4" name="Multiply 83"/>
            <p:cNvSpPr/>
            <p:nvPr/>
          </p:nvSpPr>
          <p:spPr>
            <a:xfrm>
              <a:off x="11245361" y="3200398"/>
              <a:ext cx="202223" cy="272562"/>
            </a:xfrm>
            <a:prstGeom prst="mathMultiply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Multiply 84"/>
            <p:cNvSpPr/>
            <p:nvPr/>
          </p:nvSpPr>
          <p:spPr>
            <a:xfrm>
              <a:off x="11309838" y="3968260"/>
              <a:ext cx="202223" cy="272562"/>
            </a:xfrm>
            <a:prstGeom prst="mathMultiply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TextBox 85"/>
            <p:cNvSpPr txBox="1"/>
            <p:nvPr/>
          </p:nvSpPr>
          <p:spPr>
            <a:xfrm>
              <a:off x="7167510" y="4325097"/>
              <a:ext cx="115056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smtClean="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 [x0,x1,x3]</a:t>
              </a:r>
              <a:endParaRPr lang="en-US" sz="16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8502154" y="4295789"/>
              <a:ext cx="150348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smtClean="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 [x0,x1,x2,x3]</a:t>
              </a:r>
              <a:endParaRPr lang="en-US" sz="16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10081845" y="4316304"/>
              <a:ext cx="137298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smtClean="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 [x0,x3,x4]</a:t>
              </a:r>
              <a:endParaRPr lang="en-US" sz="16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9" name="Multiply 88"/>
            <p:cNvSpPr/>
            <p:nvPr/>
          </p:nvSpPr>
          <p:spPr>
            <a:xfrm>
              <a:off x="9777046" y="3965330"/>
              <a:ext cx="202223" cy="272562"/>
            </a:xfrm>
            <a:prstGeom prst="mathMultiply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Multiply 89"/>
            <p:cNvSpPr/>
            <p:nvPr/>
          </p:nvSpPr>
          <p:spPr>
            <a:xfrm>
              <a:off x="9771184" y="4381500"/>
              <a:ext cx="202223" cy="272562"/>
            </a:xfrm>
            <a:prstGeom prst="mathMultiply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TextBox 90"/>
            <p:cNvSpPr txBox="1"/>
            <p:nvPr/>
          </p:nvSpPr>
          <p:spPr>
            <a:xfrm>
              <a:off x="7180380" y="4703165"/>
              <a:ext cx="137298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smtClean="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 [x0,x3,x4]</a:t>
              </a:r>
              <a:endParaRPr lang="en-US" sz="16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2" name="TextBox 91"/>
            <p:cNvSpPr txBox="1"/>
            <p:nvPr/>
          </p:nvSpPr>
          <p:spPr>
            <a:xfrm>
              <a:off x="8601313" y="4717481"/>
              <a:ext cx="115056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smtClean="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 [x0,x1,x3]</a:t>
              </a:r>
              <a:endParaRPr lang="en-US" sz="16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3" name="TextBox 92"/>
            <p:cNvSpPr txBox="1"/>
            <p:nvPr/>
          </p:nvSpPr>
          <p:spPr>
            <a:xfrm>
              <a:off x="10066421" y="4704010"/>
              <a:ext cx="137298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smtClean="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 [x0,x3,x4]</a:t>
              </a:r>
              <a:endParaRPr lang="en-US" sz="16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4" name="Multiply 93"/>
            <p:cNvSpPr/>
            <p:nvPr/>
          </p:nvSpPr>
          <p:spPr>
            <a:xfrm>
              <a:off x="11244401" y="3583028"/>
              <a:ext cx="202223" cy="272562"/>
            </a:xfrm>
            <a:prstGeom prst="mathMultiply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Multiply 94"/>
            <p:cNvSpPr/>
            <p:nvPr/>
          </p:nvSpPr>
          <p:spPr>
            <a:xfrm>
              <a:off x="11179419" y="4363882"/>
              <a:ext cx="202223" cy="272562"/>
            </a:xfrm>
            <a:prstGeom prst="mathMultiply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Multiply 95"/>
            <p:cNvSpPr/>
            <p:nvPr/>
          </p:nvSpPr>
          <p:spPr>
            <a:xfrm>
              <a:off x="9713794" y="4710990"/>
              <a:ext cx="202223" cy="272562"/>
            </a:xfrm>
            <a:prstGeom prst="mathMultiply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Multiply 96"/>
            <p:cNvSpPr/>
            <p:nvPr/>
          </p:nvSpPr>
          <p:spPr>
            <a:xfrm>
              <a:off x="11169161" y="4743986"/>
              <a:ext cx="202223" cy="272562"/>
            </a:xfrm>
            <a:prstGeom prst="mathMultiply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TextBox 97"/>
            <p:cNvSpPr txBox="1"/>
            <p:nvPr/>
          </p:nvSpPr>
          <p:spPr>
            <a:xfrm>
              <a:off x="6898395" y="4612597"/>
              <a:ext cx="41746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+</a:t>
              </a:r>
            </a:p>
          </p:txBody>
        </p:sp>
        <p:sp>
          <p:nvSpPr>
            <p:cNvPr id="99" name="TextBox 98"/>
            <p:cNvSpPr txBox="1"/>
            <p:nvPr/>
          </p:nvSpPr>
          <p:spPr>
            <a:xfrm>
              <a:off x="6885650" y="4218708"/>
              <a:ext cx="41746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+</a:t>
              </a:r>
            </a:p>
          </p:txBody>
        </p:sp>
        <p:sp>
          <p:nvSpPr>
            <p:cNvPr id="100" name="TextBox 99"/>
            <p:cNvSpPr txBox="1"/>
            <p:nvPr/>
          </p:nvSpPr>
          <p:spPr>
            <a:xfrm>
              <a:off x="6885650" y="3840351"/>
              <a:ext cx="41746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+</a:t>
              </a:r>
            </a:p>
          </p:txBody>
        </p:sp>
        <p:sp>
          <p:nvSpPr>
            <p:cNvPr id="101" name="TextBox 100"/>
            <p:cNvSpPr txBox="1"/>
            <p:nvPr/>
          </p:nvSpPr>
          <p:spPr>
            <a:xfrm>
              <a:off x="6893319" y="3446926"/>
              <a:ext cx="41746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+</a:t>
              </a:r>
            </a:p>
          </p:txBody>
        </p:sp>
      </p:grpSp>
      <p:sp>
        <p:nvSpPr>
          <p:cNvPr id="102" name="Oval 101">
            <a:extLst>
              <a:ext uri="{FF2B5EF4-FFF2-40B4-BE49-F238E27FC236}">
                <a16:creationId xmlns="" xmlns:a16="http://schemas.microsoft.com/office/drawing/2014/main" id="{5C988030-2BFA-466B-92B4-2814663FFAA3}"/>
              </a:ext>
            </a:extLst>
          </p:cNvPr>
          <p:cNvSpPr/>
          <p:nvPr/>
        </p:nvSpPr>
        <p:spPr>
          <a:xfrm>
            <a:off x="5658496" y="1785400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x0</a:t>
            </a:r>
          </a:p>
        </p:txBody>
      </p:sp>
      <p:cxnSp>
        <p:nvCxnSpPr>
          <p:cNvPr id="103" name="Straight Arrow Connector 102">
            <a:extLst>
              <a:ext uri="{FF2B5EF4-FFF2-40B4-BE49-F238E27FC236}">
                <a16:creationId xmlns="" xmlns:a16="http://schemas.microsoft.com/office/drawing/2014/main" id="{56F08B06-431F-4F2F-B2B2-658A2865D218}"/>
              </a:ext>
            </a:extLst>
          </p:cNvPr>
          <p:cNvCxnSpPr>
            <a:cxnSpLocks/>
          </p:cNvCxnSpPr>
          <p:nvPr/>
        </p:nvCxnSpPr>
        <p:spPr>
          <a:xfrm>
            <a:off x="5128437" y="2118655"/>
            <a:ext cx="556591" cy="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Oval 103">
            <a:extLst>
              <a:ext uri="{FF2B5EF4-FFF2-40B4-BE49-F238E27FC236}">
                <a16:creationId xmlns="" xmlns:a16="http://schemas.microsoft.com/office/drawing/2014/main" id="{5C988030-2BFA-466B-92B4-2814663FFAA3}"/>
              </a:ext>
            </a:extLst>
          </p:cNvPr>
          <p:cNvSpPr/>
          <p:nvPr/>
        </p:nvSpPr>
        <p:spPr>
          <a:xfrm>
            <a:off x="7406610" y="1785400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x0x1</a:t>
            </a:r>
            <a:endParaRPr lang="en-US" dirty="0"/>
          </a:p>
        </p:txBody>
      </p:sp>
      <p:sp>
        <p:nvSpPr>
          <p:cNvPr id="105" name="Oval 104">
            <a:extLst>
              <a:ext uri="{FF2B5EF4-FFF2-40B4-BE49-F238E27FC236}">
                <a16:creationId xmlns="" xmlns:a16="http://schemas.microsoft.com/office/drawing/2014/main" id="{5C988030-2BFA-466B-92B4-2814663FFAA3}"/>
              </a:ext>
            </a:extLst>
          </p:cNvPr>
          <p:cNvSpPr/>
          <p:nvPr/>
        </p:nvSpPr>
        <p:spPr>
          <a:xfrm>
            <a:off x="9035680" y="1506357"/>
            <a:ext cx="829813" cy="963208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X0</a:t>
            </a:r>
          </a:p>
          <a:p>
            <a:pPr algn="ctr"/>
            <a:r>
              <a:rPr lang="en-US" dirty="0" smtClean="0"/>
              <a:t>X1</a:t>
            </a:r>
          </a:p>
          <a:p>
            <a:pPr algn="ctr"/>
            <a:r>
              <a:rPr lang="en-US" dirty="0" smtClean="0"/>
              <a:t>x2</a:t>
            </a:r>
            <a:endParaRPr lang="en-US" dirty="0"/>
          </a:p>
        </p:txBody>
      </p:sp>
      <p:sp>
        <p:nvSpPr>
          <p:cNvPr id="106" name="Oval 105">
            <a:extLst>
              <a:ext uri="{FF2B5EF4-FFF2-40B4-BE49-F238E27FC236}">
                <a16:creationId xmlns="" xmlns:a16="http://schemas.microsoft.com/office/drawing/2014/main" id="{5C988030-2BFA-466B-92B4-2814663FFAA3}"/>
              </a:ext>
            </a:extLst>
          </p:cNvPr>
          <p:cNvSpPr/>
          <p:nvPr/>
        </p:nvSpPr>
        <p:spPr>
          <a:xfrm>
            <a:off x="5509209" y="3694233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x0x4</a:t>
            </a:r>
            <a:endParaRPr lang="en-US" dirty="0"/>
          </a:p>
        </p:txBody>
      </p:sp>
      <p:grpSp>
        <p:nvGrpSpPr>
          <p:cNvPr id="110" name="Group 109"/>
          <p:cNvGrpSpPr/>
          <p:nvPr/>
        </p:nvGrpSpPr>
        <p:grpSpPr>
          <a:xfrm>
            <a:off x="9412372" y="5134124"/>
            <a:ext cx="1038175" cy="1484011"/>
            <a:chOff x="8706325" y="3234519"/>
            <a:chExt cx="1038175" cy="1239248"/>
          </a:xfrm>
        </p:grpSpPr>
        <p:sp>
          <p:nvSpPr>
            <p:cNvPr id="111" name="Oval 110">
              <a:extLst>
                <a:ext uri="{FF2B5EF4-FFF2-40B4-BE49-F238E27FC236}">
                  <a16:creationId xmlns="" xmlns:a16="http://schemas.microsoft.com/office/drawing/2014/main" id="{5C988030-2BFA-466B-92B4-2814663FFAA3}"/>
                </a:ext>
              </a:extLst>
            </p:cNvPr>
            <p:cNvSpPr/>
            <p:nvPr/>
          </p:nvSpPr>
          <p:spPr>
            <a:xfrm>
              <a:off x="8706325" y="3234519"/>
              <a:ext cx="1038175" cy="1239248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2" name="Oval 111">
              <a:extLst>
                <a:ext uri="{FF2B5EF4-FFF2-40B4-BE49-F238E27FC236}">
                  <a16:creationId xmlns="" xmlns:a16="http://schemas.microsoft.com/office/drawing/2014/main" id="{5C988030-2BFA-466B-92B4-2814663FFAA3}"/>
                </a:ext>
              </a:extLst>
            </p:cNvPr>
            <p:cNvSpPr/>
            <p:nvPr/>
          </p:nvSpPr>
          <p:spPr>
            <a:xfrm>
              <a:off x="8799590" y="3371807"/>
              <a:ext cx="829813" cy="963208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X0</a:t>
              </a:r>
            </a:p>
            <a:p>
              <a:pPr algn="ctr"/>
              <a:r>
                <a:rPr lang="en-US" dirty="0" smtClean="0"/>
                <a:t>X3</a:t>
              </a:r>
            </a:p>
            <a:p>
              <a:pPr algn="ctr"/>
              <a:r>
                <a:rPr lang="en-US" dirty="0" smtClean="0"/>
                <a:t>x4</a:t>
              </a:r>
            </a:p>
            <a:p>
              <a:pPr algn="ctr"/>
              <a:r>
                <a:rPr lang="en-US" dirty="0" smtClean="0"/>
                <a:t>x5</a:t>
              </a:r>
              <a:endParaRPr lang="en-US" dirty="0"/>
            </a:p>
          </p:txBody>
        </p:sp>
      </p:grpSp>
      <p:grpSp>
        <p:nvGrpSpPr>
          <p:cNvPr id="113" name="Group 112"/>
          <p:cNvGrpSpPr/>
          <p:nvPr/>
        </p:nvGrpSpPr>
        <p:grpSpPr>
          <a:xfrm>
            <a:off x="9450586" y="3109352"/>
            <a:ext cx="947153" cy="1115608"/>
            <a:chOff x="10489671" y="3839763"/>
            <a:chExt cx="947153" cy="1115608"/>
          </a:xfrm>
        </p:grpSpPr>
        <p:sp>
          <p:nvSpPr>
            <p:cNvPr id="114" name="Oval 113">
              <a:extLst>
                <a:ext uri="{FF2B5EF4-FFF2-40B4-BE49-F238E27FC236}">
                  <a16:creationId xmlns="" xmlns:a16="http://schemas.microsoft.com/office/drawing/2014/main" id="{5C988030-2BFA-466B-92B4-2814663FFAA3}"/>
                </a:ext>
              </a:extLst>
            </p:cNvPr>
            <p:cNvSpPr/>
            <p:nvPr/>
          </p:nvSpPr>
          <p:spPr>
            <a:xfrm>
              <a:off x="10489671" y="3839763"/>
              <a:ext cx="947153" cy="1115608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5" name="Oval 114">
              <a:extLst>
                <a:ext uri="{FF2B5EF4-FFF2-40B4-BE49-F238E27FC236}">
                  <a16:creationId xmlns="" xmlns:a16="http://schemas.microsoft.com/office/drawing/2014/main" id="{5C988030-2BFA-466B-92B4-2814663FFAA3}"/>
                </a:ext>
              </a:extLst>
            </p:cNvPr>
            <p:cNvSpPr/>
            <p:nvPr/>
          </p:nvSpPr>
          <p:spPr>
            <a:xfrm>
              <a:off x="10555639" y="3908003"/>
              <a:ext cx="829813" cy="963208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X0</a:t>
              </a:r>
            </a:p>
            <a:p>
              <a:pPr algn="ctr"/>
              <a:r>
                <a:rPr lang="en-US" dirty="0" smtClean="0"/>
                <a:t>X1</a:t>
              </a:r>
            </a:p>
            <a:p>
              <a:pPr algn="ctr"/>
              <a:r>
                <a:rPr lang="en-US" dirty="0" smtClean="0"/>
                <a:t>x3</a:t>
              </a:r>
              <a:endParaRPr lang="en-US" dirty="0"/>
            </a:p>
          </p:txBody>
        </p:sp>
      </p:grpSp>
      <p:grpSp>
        <p:nvGrpSpPr>
          <p:cNvPr id="116" name="Group 115"/>
          <p:cNvGrpSpPr/>
          <p:nvPr/>
        </p:nvGrpSpPr>
        <p:grpSpPr>
          <a:xfrm>
            <a:off x="10803536" y="1555263"/>
            <a:ext cx="1223936" cy="1399086"/>
            <a:chOff x="8706326" y="4955371"/>
            <a:chExt cx="1223936" cy="1399086"/>
          </a:xfrm>
        </p:grpSpPr>
        <p:sp>
          <p:nvSpPr>
            <p:cNvPr id="117" name="Oval 116">
              <a:extLst>
                <a:ext uri="{FF2B5EF4-FFF2-40B4-BE49-F238E27FC236}">
                  <a16:creationId xmlns="" xmlns:a16="http://schemas.microsoft.com/office/drawing/2014/main" id="{5C988030-2BFA-466B-92B4-2814663FFAA3}"/>
                </a:ext>
              </a:extLst>
            </p:cNvPr>
            <p:cNvSpPr/>
            <p:nvPr/>
          </p:nvSpPr>
          <p:spPr>
            <a:xfrm>
              <a:off x="8706326" y="4955371"/>
              <a:ext cx="1223936" cy="1399086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8" name="Oval 117">
              <a:extLst>
                <a:ext uri="{FF2B5EF4-FFF2-40B4-BE49-F238E27FC236}">
                  <a16:creationId xmlns="" xmlns:a16="http://schemas.microsoft.com/office/drawing/2014/main" id="{5C988030-2BFA-466B-92B4-2814663FFAA3}"/>
                </a:ext>
              </a:extLst>
            </p:cNvPr>
            <p:cNvSpPr/>
            <p:nvPr/>
          </p:nvSpPr>
          <p:spPr>
            <a:xfrm>
              <a:off x="8785942" y="5067753"/>
              <a:ext cx="1072704" cy="1175248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X0</a:t>
              </a:r>
            </a:p>
            <a:p>
              <a:pPr algn="ctr"/>
              <a:r>
                <a:rPr lang="en-US" dirty="0" smtClean="0"/>
                <a:t>x1</a:t>
              </a:r>
            </a:p>
            <a:p>
              <a:pPr algn="ctr"/>
              <a:r>
                <a:rPr lang="en-US" dirty="0" smtClean="0"/>
                <a:t>X2</a:t>
              </a:r>
            </a:p>
            <a:p>
              <a:pPr algn="ctr"/>
              <a:r>
                <a:rPr lang="en-US" dirty="0" smtClean="0"/>
                <a:t>x3</a:t>
              </a:r>
              <a:endParaRPr lang="en-US" dirty="0"/>
            </a:p>
          </p:txBody>
        </p:sp>
      </p:grpSp>
      <p:cxnSp>
        <p:nvCxnSpPr>
          <p:cNvPr id="119" name="Straight Arrow Connector 118">
            <a:extLst>
              <a:ext uri="{FF2B5EF4-FFF2-40B4-BE49-F238E27FC236}">
                <a16:creationId xmlns="" xmlns:a16="http://schemas.microsoft.com/office/drawing/2014/main" id="{E76FD75B-469A-495F-86F9-CF358F01AFB4}"/>
              </a:ext>
            </a:extLst>
          </p:cNvPr>
          <p:cNvCxnSpPr>
            <a:stCxn id="102" idx="6"/>
            <a:endCxn id="104" idx="2"/>
          </p:cNvCxnSpPr>
          <p:nvPr/>
        </p:nvCxnSpPr>
        <p:spPr>
          <a:xfrm>
            <a:off x="6381827" y="2104971"/>
            <a:ext cx="1024783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Arrow Connector 119">
            <a:extLst>
              <a:ext uri="{FF2B5EF4-FFF2-40B4-BE49-F238E27FC236}">
                <a16:creationId xmlns="" xmlns:a16="http://schemas.microsoft.com/office/drawing/2014/main" id="{E76FD75B-469A-495F-86F9-CF358F01AFB4}"/>
              </a:ext>
            </a:extLst>
          </p:cNvPr>
          <p:cNvCxnSpPr>
            <a:endCxn id="106" idx="0"/>
          </p:cNvCxnSpPr>
          <p:nvPr/>
        </p:nvCxnSpPr>
        <p:spPr>
          <a:xfrm flipH="1">
            <a:off x="5870875" y="2424542"/>
            <a:ext cx="118787" cy="1269691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Arrow Connector 120">
            <a:extLst>
              <a:ext uri="{FF2B5EF4-FFF2-40B4-BE49-F238E27FC236}">
                <a16:creationId xmlns="" xmlns:a16="http://schemas.microsoft.com/office/drawing/2014/main" id="{E76FD75B-469A-495F-86F9-CF358F01AFB4}"/>
              </a:ext>
            </a:extLst>
          </p:cNvPr>
          <p:cNvCxnSpPr>
            <a:endCxn id="153" idx="0"/>
          </p:cNvCxnSpPr>
          <p:nvPr/>
        </p:nvCxnSpPr>
        <p:spPr>
          <a:xfrm>
            <a:off x="11513829" y="2997651"/>
            <a:ext cx="61387" cy="938986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Arrow Connector 121">
            <a:extLst>
              <a:ext uri="{FF2B5EF4-FFF2-40B4-BE49-F238E27FC236}">
                <a16:creationId xmlns="" xmlns:a16="http://schemas.microsoft.com/office/drawing/2014/main" id="{E76FD75B-469A-495F-86F9-CF358F01AFB4}"/>
              </a:ext>
            </a:extLst>
          </p:cNvPr>
          <p:cNvCxnSpPr>
            <a:endCxn id="106" idx="7"/>
          </p:cNvCxnSpPr>
          <p:nvPr/>
        </p:nvCxnSpPr>
        <p:spPr>
          <a:xfrm flipH="1">
            <a:off x="6126611" y="2459720"/>
            <a:ext cx="3064892" cy="1328113"/>
          </a:xfrm>
          <a:prstGeom prst="straightConnector1">
            <a:avLst/>
          </a:prstGeom>
          <a:ln w="381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Arrow Connector 122">
            <a:extLst>
              <a:ext uri="{FF2B5EF4-FFF2-40B4-BE49-F238E27FC236}">
                <a16:creationId xmlns="" xmlns:a16="http://schemas.microsoft.com/office/drawing/2014/main" id="{E76FD75B-469A-495F-86F9-CF358F01AFB4}"/>
              </a:ext>
            </a:extLst>
          </p:cNvPr>
          <p:cNvCxnSpPr>
            <a:endCxn id="117" idx="2"/>
          </p:cNvCxnSpPr>
          <p:nvPr/>
        </p:nvCxnSpPr>
        <p:spPr>
          <a:xfrm>
            <a:off x="9894555" y="1945854"/>
            <a:ext cx="908981" cy="308952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Arrow Connector 123">
            <a:extLst>
              <a:ext uri="{FF2B5EF4-FFF2-40B4-BE49-F238E27FC236}">
                <a16:creationId xmlns="" xmlns:a16="http://schemas.microsoft.com/office/drawing/2014/main" id="{E76FD75B-469A-495F-86F9-CF358F01AFB4}"/>
              </a:ext>
            </a:extLst>
          </p:cNvPr>
          <p:cNvCxnSpPr/>
          <p:nvPr/>
        </p:nvCxnSpPr>
        <p:spPr>
          <a:xfrm flipV="1">
            <a:off x="8188265" y="2045334"/>
            <a:ext cx="908981" cy="23971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Arc 124">
            <a:extLst>
              <a:ext uri="{FF2B5EF4-FFF2-40B4-BE49-F238E27FC236}">
                <a16:creationId xmlns="" xmlns:a16="http://schemas.microsoft.com/office/drawing/2014/main" id="{0F23AE9C-F3AD-487C-BA92-C0E9498BAF38}"/>
              </a:ext>
            </a:extLst>
          </p:cNvPr>
          <p:cNvSpPr/>
          <p:nvPr/>
        </p:nvSpPr>
        <p:spPr>
          <a:xfrm rot="159325">
            <a:off x="11202543" y="1181106"/>
            <a:ext cx="540134" cy="887105"/>
          </a:xfrm>
          <a:prstGeom prst="arc">
            <a:avLst>
              <a:gd name="adj1" fmla="val 10711483"/>
              <a:gd name="adj2" fmla="val 0"/>
            </a:avLst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TextBox 125">
            <a:extLst>
              <a:ext uri="{FF2B5EF4-FFF2-40B4-BE49-F238E27FC236}">
                <a16:creationId xmlns="" xmlns:a16="http://schemas.microsoft.com/office/drawing/2014/main" id="{88D9DE6D-7C32-4133-A619-45E5E940ADF5}"/>
              </a:ext>
            </a:extLst>
          </p:cNvPr>
          <p:cNvSpPr txBox="1"/>
          <p:nvPr/>
        </p:nvSpPr>
        <p:spPr>
          <a:xfrm>
            <a:off x="10719025" y="3468358"/>
            <a:ext cx="3379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b</a:t>
            </a: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7" name="TextBox 126">
            <a:extLst>
              <a:ext uri="{FF2B5EF4-FFF2-40B4-BE49-F238E27FC236}">
                <a16:creationId xmlns="" xmlns:a16="http://schemas.microsoft.com/office/drawing/2014/main" id="{88D9DE6D-7C32-4133-A619-45E5E940ADF5}"/>
              </a:ext>
            </a:extLst>
          </p:cNvPr>
          <p:cNvSpPr txBox="1"/>
          <p:nvPr/>
        </p:nvSpPr>
        <p:spPr>
          <a:xfrm>
            <a:off x="8397995" y="4794161"/>
            <a:ext cx="3379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b</a:t>
            </a: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8" name="TextBox 127">
            <a:extLst>
              <a:ext uri="{FF2B5EF4-FFF2-40B4-BE49-F238E27FC236}">
                <a16:creationId xmlns="" xmlns:a16="http://schemas.microsoft.com/office/drawing/2014/main" id="{88D9DE6D-7C32-4133-A619-45E5E940ADF5}"/>
              </a:ext>
            </a:extLst>
          </p:cNvPr>
          <p:cNvSpPr txBox="1"/>
          <p:nvPr/>
        </p:nvSpPr>
        <p:spPr>
          <a:xfrm>
            <a:off x="6381827" y="3735559"/>
            <a:ext cx="3379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b</a:t>
            </a: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9" name="TextBox 128">
            <a:extLst>
              <a:ext uri="{FF2B5EF4-FFF2-40B4-BE49-F238E27FC236}">
                <a16:creationId xmlns="" xmlns:a16="http://schemas.microsoft.com/office/drawing/2014/main" id="{88D9DE6D-7C32-4133-A619-45E5E940ADF5}"/>
              </a:ext>
            </a:extLst>
          </p:cNvPr>
          <p:cNvSpPr txBox="1"/>
          <p:nvPr/>
        </p:nvSpPr>
        <p:spPr>
          <a:xfrm>
            <a:off x="8095138" y="2438324"/>
            <a:ext cx="3379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endParaRPr lang="en-US" sz="2000" b="1" dirty="0">
              <a:solidFill>
                <a:srgbClr val="FFFF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="" xmlns:a16="http://schemas.microsoft.com/office/drawing/2014/main" id="{88D9DE6D-7C32-4133-A619-45E5E940ADF5}"/>
              </a:ext>
            </a:extLst>
          </p:cNvPr>
          <p:cNvSpPr txBox="1"/>
          <p:nvPr/>
        </p:nvSpPr>
        <p:spPr>
          <a:xfrm>
            <a:off x="11077560" y="5566253"/>
            <a:ext cx="3379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b</a:t>
            </a: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1" name="TextBox 130">
            <a:extLst>
              <a:ext uri="{FF2B5EF4-FFF2-40B4-BE49-F238E27FC236}">
                <a16:creationId xmlns="" xmlns:a16="http://schemas.microsoft.com/office/drawing/2014/main" id="{88D9DE6D-7C32-4133-A619-45E5E940ADF5}"/>
              </a:ext>
            </a:extLst>
          </p:cNvPr>
          <p:cNvSpPr txBox="1"/>
          <p:nvPr/>
        </p:nvSpPr>
        <p:spPr>
          <a:xfrm>
            <a:off x="10112603" y="1515344"/>
            <a:ext cx="3379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2" name="TextBox 131">
            <a:extLst>
              <a:ext uri="{FF2B5EF4-FFF2-40B4-BE49-F238E27FC236}">
                <a16:creationId xmlns="" xmlns:a16="http://schemas.microsoft.com/office/drawing/2014/main" id="{88D9DE6D-7C32-4133-A619-45E5E940ADF5}"/>
              </a:ext>
            </a:extLst>
          </p:cNvPr>
          <p:cNvSpPr txBox="1"/>
          <p:nvPr/>
        </p:nvSpPr>
        <p:spPr>
          <a:xfrm>
            <a:off x="6652151" y="1744822"/>
            <a:ext cx="3562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3" name="TextBox 132">
            <a:extLst>
              <a:ext uri="{FF2B5EF4-FFF2-40B4-BE49-F238E27FC236}">
                <a16:creationId xmlns="" xmlns:a16="http://schemas.microsoft.com/office/drawing/2014/main" id="{88D9DE6D-7C32-4133-A619-45E5E940ADF5}"/>
              </a:ext>
            </a:extLst>
          </p:cNvPr>
          <p:cNvSpPr txBox="1"/>
          <p:nvPr/>
        </p:nvSpPr>
        <p:spPr>
          <a:xfrm>
            <a:off x="10281575" y="2730851"/>
            <a:ext cx="3379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4" name="TextBox 133">
            <a:extLst>
              <a:ext uri="{FF2B5EF4-FFF2-40B4-BE49-F238E27FC236}">
                <a16:creationId xmlns="" xmlns:a16="http://schemas.microsoft.com/office/drawing/2014/main" id="{88D9DE6D-7C32-4133-A619-45E5E940ADF5}"/>
              </a:ext>
            </a:extLst>
          </p:cNvPr>
          <p:cNvSpPr txBox="1"/>
          <p:nvPr/>
        </p:nvSpPr>
        <p:spPr>
          <a:xfrm>
            <a:off x="11406243" y="722724"/>
            <a:ext cx="3379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7" name="TextBox 136">
            <a:extLst>
              <a:ext uri="{FF2B5EF4-FFF2-40B4-BE49-F238E27FC236}">
                <a16:creationId xmlns="" xmlns:a16="http://schemas.microsoft.com/office/drawing/2014/main" id="{88D9DE6D-7C32-4133-A619-45E5E940ADF5}"/>
              </a:ext>
            </a:extLst>
          </p:cNvPr>
          <p:cNvSpPr txBox="1"/>
          <p:nvPr/>
        </p:nvSpPr>
        <p:spPr>
          <a:xfrm>
            <a:off x="6839417" y="3067034"/>
            <a:ext cx="3379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b</a:t>
            </a: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8" name="TextBox 137">
            <a:extLst>
              <a:ext uri="{FF2B5EF4-FFF2-40B4-BE49-F238E27FC236}">
                <a16:creationId xmlns="" xmlns:a16="http://schemas.microsoft.com/office/drawing/2014/main" id="{88D9DE6D-7C32-4133-A619-45E5E940ADF5}"/>
              </a:ext>
            </a:extLst>
          </p:cNvPr>
          <p:cNvSpPr txBox="1"/>
          <p:nvPr/>
        </p:nvSpPr>
        <p:spPr>
          <a:xfrm>
            <a:off x="5587899" y="2754294"/>
            <a:ext cx="3379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b</a:t>
            </a: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9" name="TextBox 138">
            <a:extLst>
              <a:ext uri="{FF2B5EF4-FFF2-40B4-BE49-F238E27FC236}">
                <a16:creationId xmlns="" xmlns:a16="http://schemas.microsoft.com/office/drawing/2014/main" id="{88D9DE6D-7C32-4133-A619-45E5E940ADF5}"/>
              </a:ext>
            </a:extLst>
          </p:cNvPr>
          <p:cNvSpPr txBox="1"/>
          <p:nvPr/>
        </p:nvSpPr>
        <p:spPr>
          <a:xfrm>
            <a:off x="11582513" y="3162690"/>
            <a:ext cx="3379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b</a:t>
            </a: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0" name="TextBox 139">
            <a:extLst>
              <a:ext uri="{FF2B5EF4-FFF2-40B4-BE49-F238E27FC236}">
                <a16:creationId xmlns="" xmlns:a16="http://schemas.microsoft.com/office/drawing/2014/main" id="{88D9DE6D-7C32-4133-A619-45E5E940ADF5}"/>
              </a:ext>
            </a:extLst>
          </p:cNvPr>
          <p:cNvSpPr txBox="1"/>
          <p:nvPr/>
        </p:nvSpPr>
        <p:spPr>
          <a:xfrm>
            <a:off x="8473783" y="1644533"/>
            <a:ext cx="3379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43" name="Straight Arrow Connector 142">
            <a:extLst>
              <a:ext uri="{FF2B5EF4-FFF2-40B4-BE49-F238E27FC236}">
                <a16:creationId xmlns="" xmlns:a16="http://schemas.microsoft.com/office/drawing/2014/main" id="{E76FD75B-469A-495F-86F9-CF358F01AFB4}"/>
              </a:ext>
            </a:extLst>
          </p:cNvPr>
          <p:cNvCxnSpPr/>
          <p:nvPr/>
        </p:nvCxnSpPr>
        <p:spPr>
          <a:xfrm flipV="1">
            <a:off x="5989662" y="2281408"/>
            <a:ext cx="1425795" cy="1385748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Arrow Connector 143">
            <a:extLst>
              <a:ext uri="{FF2B5EF4-FFF2-40B4-BE49-F238E27FC236}">
                <a16:creationId xmlns="" xmlns:a16="http://schemas.microsoft.com/office/drawing/2014/main" id="{E76FD75B-469A-495F-86F9-CF358F01AFB4}"/>
              </a:ext>
            </a:extLst>
          </p:cNvPr>
          <p:cNvCxnSpPr>
            <a:endCxn id="114" idx="4"/>
          </p:cNvCxnSpPr>
          <p:nvPr/>
        </p:nvCxnSpPr>
        <p:spPr>
          <a:xfrm flipH="1" flipV="1">
            <a:off x="9924163" y="4224960"/>
            <a:ext cx="47401" cy="817897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Arrow Connector 144">
            <a:extLst>
              <a:ext uri="{FF2B5EF4-FFF2-40B4-BE49-F238E27FC236}">
                <a16:creationId xmlns="" xmlns:a16="http://schemas.microsoft.com/office/drawing/2014/main" id="{E76FD75B-469A-495F-86F9-CF358F01AFB4}"/>
              </a:ext>
            </a:extLst>
          </p:cNvPr>
          <p:cNvCxnSpPr/>
          <p:nvPr/>
        </p:nvCxnSpPr>
        <p:spPr>
          <a:xfrm>
            <a:off x="7970176" y="3950334"/>
            <a:ext cx="1442196" cy="1644567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Arrow Connector 145">
            <a:extLst>
              <a:ext uri="{FF2B5EF4-FFF2-40B4-BE49-F238E27FC236}">
                <a16:creationId xmlns="" xmlns:a16="http://schemas.microsoft.com/office/drawing/2014/main" id="{E76FD75B-469A-495F-86F9-CF358F01AFB4}"/>
              </a:ext>
            </a:extLst>
          </p:cNvPr>
          <p:cNvCxnSpPr/>
          <p:nvPr/>
        </p:nvCxnSpPr>
        <p:spPr>
          <a:xfrm flipV="1">
            <a:off x="6279541" y="4035079"/>
            <a:ext cx="845513" cy="4026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Arc 146">
            <a:extLst>
              <a:ext uri="{FF2B5EF4-FFF2-40B4-BE49-F238E27FC236}">
                <a16:creationId xmlns="" xmlns:a16="http://schemas.microsoft.com/office/drawing/2014/main" id="{0F23AE9C-F3AD-487C-BA92-C0E9498BAF38}"/>
              </a:ext>
            </a:extLst>
          </p:cNvPr>
          <p:cNvSpPr/>
          <p:nvPr/>
        </p:nvSpPr>
        <p:spPr>
          <a:xfrm rot="12287434">
            <a:off x="11112195" y="4401214"/>
            <a:ext cx="540134" cy="1266447"/>
          </a:xfrm>
          <a:prstGeom prst="arc">
            <a:avLst>
              <a:gd name="adj1" fmla="val 10711483"/>
              <a:gd name="adj2" fmla="val 0"/>
            </a:avLst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8" name="Straight Arrow Connector 147">
            <a:extLst>
              <a:ext uri="{FF2B5EF4-FFF2-40B4-BE49-F238E27FC236}">
                <a16:creationId xmlns="" xmlns:a16="http://schemas.microsoft.com/office/drawing/2014/main" id="{E76FD75B-469A-495F-86F9-CF358F01AFB4}"/>
              </a:ext>
            </a:extLst>
          </p:cNvPr>
          <p:cNvCxnSpPr/>
          <p:nvPr/>
        </p:nvCxnSpPr>
        <p:spPr>
          <a:xfrm flipV="1">
            <a:off x="10397739" y="2691752"/>
            <a:ext cx="510008" cy="670993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Oval 150">
            <a:extLst>
              <a:ext uri="{FF2B5EF4-FFF2-40B4-BE49-F238E27FC236}">
                <a16:creationId xmlns="" xmlns:a16="http://schemas.microsoft.com/office/drawing/2014/main" id="{5C988030-2BFA-466B-92B4-2814663FFAA3}"/>
              </a:ext>
            </a:extLst>
          </p:cNvPr>
          <p:cNvSpPr/>
          <p:nvPr/>
        </p:nvSpPr>
        <p:spPr>
          <a:xfrm>
            <a:off x="7092035" y="3531233"/>
            <a:ext cx="829813" cy="963208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X0</a:t>
            </a:r>
          </a:p>
          <a:p>
            <a:pPr algn="ctr"/>
            <a:r>
              <a:rPr lang="en-US" dirty="0" smtClean="0"/>
              <a:t>X4</a:t>
            </a:r>
          </a:p>
          <a:p>
            <a:pPr algn="ctr"/>
            <a:r>
              <a:rPr lang="en-US" dirty="0" smtClean="0"/>
              <a:t>x5</a:t>
            </a:r>
            <a:endParaRPr lang="en-US" dirty="0"/>
          </a:p>
        </p:txBody>
      </p:sp>
      <p:grpSp>
        <p:nvGrpSpPr>
          <p:cNvPr id="152" name="Group 151"/>
          <p:cNvGrpSpPr/>
          <p:nvPr/>
        </p:nvGrpSpPr>
        <p:grpSpPr>
          <a:xfrm>
            <a:off x="11101639" y="3936637"/>
            <a:ext cx="947153" cy="1115608"/>
            <a:chOff x="10489671" y="3839763"/>
            <a:chExt cx="947153" cy="1115608"/>
          </a:xfrm>
        </p:grpSpPr>
        <p:sp>
          <p:nvSpPr>
            <p:cNvPr id="153" name="Oval 152">
              <a:extLst>
                <a:ext uri="{FF2B5EF4-FFF2-40B4-BE49-F238E27FC236}">
                  <a16:creationId xmlns="" xmlns:a16="http://schemas.microsoft.com/office/drawing/2014/main" id="{5C988030-2BFA-466B-92B4-2814663FFAA3}"/>
                </a:ext>
              </a:extLst>
            </p:cNvPr>
            <p:cNvSpPr/>
            <p:nvPr/>
          </p:nvSpPr>
          <p:spPr>
            <a:xfrm>
              <a:off x="10489671" y="3839763"/>
              <a:ext cx="947153" cy="1115608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4" name="Oval 153">
              <a:extLst>
                <a:ext uri="{FF2B5EF4-FFF2-40B4-BE49-F238E27FC236}">
                  <a16:creationId xmlns="" xmlns:a16="http://schemas.microsoft.com/office/drawing/2014/main" id="{5C988030-2BFA-466B-92B4-2814663FFAA3}"/>
                </a:ext>
              </a:extLst>
            </p:cNvPr>
            <p:cNvSpPr/>
            <p:nvPr/>
          </p:nvSpPr>
          <p:spPr>
            <a:xfrm>
              <a:off x="10555639" y="3908003"/>
              <a:ext cx="829813" cy="963208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X0</a:t>
              </a:r>
            </a:p>
            <a:p>
              <a:pPr algn="ctr"/>
              <a:r>
                <a:rPr lang="en-US" dirty="0" smtClean="0"/>
                <a:t>X3</a:t>
              </a:r>
            </a:p>
            <a:p>
              <a:pPr algn="ctr"/>
              <a:r>
                <a:rPr lang="en-US" dirty="0" smtClean="0"/>
                <a:t>x4</a:t>
              </a:r>
              <a:endParaRPr lang="en-US" dirty="0"/>
            </a:p>
          </p:txBody>
        </p:sp>
      </p:grpSp>
      <p:cxnSp>
        <p:nvCxnSpPr>
          <p:cNvPr id="155" name="Straight Arrow Connector 154">
            <a:extLst>
              <a:ext uri="{FF2B5EF4-FFF2-40B4-BE49-F238E27FC236}">
                <a16:creationId xmlns="" xmlns:a16="http://schemas.microsoft.com/office/drawing/2014/main" id="{E76FD75B-469A-495F-86F9-CF358F01AFB4}"/>
              </a:ext>
            </a:extLst>
          </p:cNvPr>
          <p:cNvCxnSpPr>
            <a:endCxn id="106" idx="7"/>
          </p:cNvCxnSpPr>
          <p:nvPr/>
        </p:nvCxnSpPr>
        <p:spPr>
          <a:xfrm flipH="1">
            <a:off x="6126611" y="2469565"/>
            <a:ext cx="1380330" cy="1318268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" name="TextBox 155">
            <a:extLst>
              <a:ext uri="{FF2B5EF4-FFF2-40B4-BE49-F238E27FC236}">
                <a16:creationId xmlns="" xmlns:a16="http://schemas.microsoft.com/office/drawing/2014/main" id="{88D9DE6D-7C32-4133-A619-45E5E940ADF5}"/>
              </a:ext>
            </a:extLst>
          </p:cNvPr>
          <p:cNvSpPr txBox="1"/>
          <p:nvPr/>
        </p:nvSpPr>
        <p:spPr>
          <a:xfrm>
            <a:off x="9619581" y="4537207"/>
            <a:ext cx="3379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7" name="TextBox 156">
            <a:extLst>
              <a:ext uri="{FF2B5EF4-FFF2-40B4-BE49-F238E27FC236}">
                <a16:creationId xmlns="" xmlns:a16="http://schemas.microsoft.com/office/drawing/2014/main" id="{88D9DE6D-7C32-4133-A619-45E5E940ADF5}"/>
              </a:ext>
            </a:extLst>
          </p:cNvPr>
          <p:cNvSpPr txBox="1"/>
          <p:nvPr/>
        </p:nvSpPr>
        <p:spPr>
          <a:xfrm>
            <a:off x="7632232" y="3131123"/>
            <a:ext cx="3379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8" name="TextBox 157">
            <a:extLst>
              <a:ext uri="{FF2B5EF4-FFF2-40B4-BE49-F238E27FC236}">
                <a16:creationId xmlns="" xmlns:a16="http://schemas.microsoft.com/office/drawing/2014/main" id="{88D9DE6D-7C32-4133-A619-45E5E940ADF5}"/>
              </a:ext>
            </a:extLst>
          </p:cNvPr>
          <p:cNvSpPr txBox="1"/>
          <p:nvPr/>
        </p:nvSpPr>
        <p:spPr>
          <a:xfrm>
            <a:off x="6401574" y="2615125"/>
            <a:ext cx="3379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59" name="Straight Arrow Connector 158">
            <a:extLst>
              <a:ext uri="{FF2B5EF4-FFF2-40B4-BE49-F238E27FC236}">
                <a16:creationId xmlns="" xmlns:a16="http://schemas.microsoft.com/office/drawing/2014/main" id="{E76FD75B-469A-495F-86F9-CF358F01AFB4}"/>
              </a:ext>
            </a:extLst>
          </p:cNvPr>
          <p:cNvCxnSpPr/>
          <p:nvPr/>
        </p:nvCxnSpPr>
        <p:spPr>
          <a:xfrm flipV="1">
            <a:off x="7495979" y="2423795"/>
            <a:ext cx="320427" cy="1052865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Arrow Connector 159">
            <a:extLst>
              <a:ext uri="{FF2B5EF4-FFF2-40B4-BE49-F238E27FC236}">
                <a16:creationId xmlns="" xmlns:a16="http://schemas.microsoft.com/office/drawing/2014/main" id="{E76FD75B-469A-495F-86F9-CF358F01AFB4}"/>
              </a:ext>
            </a:extLst>
          </p:cNvPr>
          <p:cNvCxnSpPr/>
          <p:nvPr/>
        </p:nvCxnSpPr>
        <p:spPr>
          <a:xfrm>
            <a:off x="10450547" y="3613822"/>
            <a:ext cx="717060" cy="573683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Arrow Connector 160">
            <a:extLst>
              <a:ext uri="{FF2B5EF4-FFF2-40B4-BE49-F238E27FC236}">
                <a16:creationId xmlns="" xmlns:a16="http://schemas.microsoft.com/office/drawing/2014/main" id="{E76FD75B-469A-495F-86F9-CF358F01AFB4}"/>
              </a:ext>
            </a:extLst>
          </p:cNvPr>
          <p:cNvCxnSpPr/>
          <p:nvPr/>
        </p:nvCxnSpPr>
        <p:spPr>
          <a:xfrm flipH="1" flipV="1">
            <a:off x="10397739" y="3972616"/>
            <a:ext cx="642572" cy="488506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2" name="TextBox 161">
            <a:extLst>
              <a:ext uri="{FF2B5EF4-FFF2-40B4-BE49-F238E27FC236}">
                <a16:creationId xmlns="" xmlns:a16="http://schemas.microsoft.com/office/drawing/2014/main" id="{88D9DE6D-7C32-4133-A619-45E5E940ADF5}"/>
              </a:ext>
            </a:extLst>
          </p:cNvPr>
          <p:cNvSpPr txBox="1"/>
          <p:nvPr/>
        </p:nvSpPr>
        <p:spPr>
          <a:xfrm>
            <a:off x="10483771" y="4116686"/>
            <a:ext cx="3379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3" name="Arc 162">
            <a:extLst>
              <a:ext uri="{FF2B5EF4-FFF2-40B4-BE49-F238E27FC236}">
                <a16:creationId xmlns="" xmlns:a16="http://schemas.microsoft.com/office/drawing/2014/main" id="{0F23AE9C-F3AD-487C-BA92-C0E9498BAF38}"/>
              </a:ext>
            </a:extLst>
          </p:cNvPr>
          <p:cNvSpPr/>
          <p:nvPr/>
        </p:nvSpPr>
        <p:spPr>
          <a:xfrm rot="16200000">
            <a:off x="9142304" y="5415028"/>
            <a:ext cx="540134" cy="1266447"/>
          </a:xfrm>
          <a:prstGeom prst="arc">
            <a:avLst>
              <a:gd name="adj1" fmla="val 10711483"/>
              <a:gd name="adj2" fmla="val 0"/>
            </a:avLst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4" name="TextBox 163">
            <a:extLst>
              <a:ext uri="{FF2B5EF4-FFF2-40B4-BE49-F238E27FC236}">
                <a16:creationId xmlns="" xmlns:a16="http://schemas.microsoft.com/office/drawing/2014/main" id="{88D9DE6D-7C32-4133-A619-45E5E940ADF5}"/>
              </a:ext>
            </a:extLst>
          </p:cNvPr>
          <p:cNvSpPr txBox="1"/>
          <p:nvPr/>
        </p:nvSpPr>
        <p:spPr>
          <a:xfrm>
            <a:off x="8485857" y="5875253"/>
            <a:ext cx="3379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b</a:t>
            </a: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1532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" grpId="0" animBg="1"/>
      <p:bldP spid="104" grpId="0" animBg="1"/>
      <p:bldP spid="105" grpId="0" animBg="1"/>
      <p:bldP spid="106" grpId="0" animBg="1"/>
      <p:bldP spid="125" grpId="0" animBg="1"/>
      <p:bldP spid="126" grpId="0"/>
      <p:bldP spid="127" grpId="0"/>
      <p:bldP spid="128" grpId="0"/>
      <p:bldP spid="129" grpId="0"/>
      <p:bldP spid="130" grpId="0"/>
      <p:bldP spid="131" grpId="0"/>
      <p:bldP spid="132" grpId="0"/>
      <p:bldP spid="133" grpId="0"/>
      <p:bldP spid="134" grpId="0"/>
      <p:bldP spid="137" grpId="0"/>
      <p:bldP spid="138" grpId="0"/>
      <p:bldP spid="139" grpId="0"/>
      <p:bldP spid="140" grpId="0"/>
      <p:bldP spid="147" grpId="0" animBg="1"/>
      <p:bldP spid="151" grpId="0" animBg="1"/>
      <p:bldP spid="156" grpId="0"/>
      <p:bldP spid="157" grpId="0"/>
      <p:bldP spid="158" grpId="0"/>
      <p:bldP spid="162" grpId="0"/>
      <p:bldP spid="163" grpId="0" animBg="1"/>
      <p:bldP spid="164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1325</TotalTime>
  <Words>7980</Words>
  <Application>Microsoft Office PowerPoint</Application>
  <PresentationFormat>Widescreen</PresentationFormat>
  <Paragraphs>3475</Paragraphs>
  <Slides>116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116</vt:i4>
      </vt:variant>
    </vt:vector>
  </HeadingPairs>
  <TitlesOfParts>
    <vt:vector size="122" baseType="lpstr">
      <vt:lpstr>Arial</vt:lpstr>
      <vt:lpstr>Calibri</vt:lpstr>
      <vt:lpstr>Century Gothic</vt:lpstr>
      <vt:lpstr>Times New Roman</vt:lpstr>
      <vt:lpstr>Wingdings 3</vt:lpstr>
      <vt:lpstr>Ion</vt:lpstr>
      <vt:lpstr>Theory of Automata  &amp;  Formal Languages CS-224</vt:lpstr>
      <vt:lpstr>Nondeterministic Finite Automata</vt:lpstr>
      <vt:lpstr>Nondeterministic Finite Automata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NFA Continues</vt:lpstr>
      <vt:lpstr>NFA Continues</vt:lpstr>
      <vt:lpstr>NFA Continues</vt:lpstr>
      <vt:lpstr>NFA Continues</vt:lpstr>
      <vt:lpstr>NFA Continues</vt:lpstr>
      <vt:lpstr>NFA Continues</vt:lpstr>
      <vt:lpstr>NFA Continues</vt:lpstr>
      <vt:lpstr>NFA Continues</vt:lpstr>
      <vt:lpstr>NFA Continues</vt:lpstr>
      <vt:lpstr>NFA Continues</vt:lpstr>
      <vt:lpstr>NFA Continues</vt:lpstr>
      <vt:lpstr>NFA Continues</vt:lpstr>
      <vt:lpstr>NFA Continues</vt:lpstr>
      <vt:lpstr>NFA Continues</vt:lpstr>
      <vt:lpstr>NFA Continues</vt:lpstr>
      <vt:lpstr>NFA Continues</vt:lpstr>
      <vt:lpstr>NFA Continues</vt:lpstr>
      <vt:lpstr>NFA Continues</vt:lpstr>
      <vt:lpstr>NFA Continues</vt:lpstr>
      <vt:lpstr>NFA Continues</vt:lpstr>
      <vt:lpstr>NFA Continues</vt:lpstr>
      <vt:lpstr>NFA Continues</vt:lpstr>
      <vt:lpstr>NFA Continues</vt:lpstr>
      <vt:lpstr>NFA Continues</vt:lpstr>
      <vt:lpstr>NFA Continues</vt:lpstr>
      <vt:lpstr>NFA Continues</vt:lpstr>
      <vt:lpstr>NFA Continues</vt:lpstr>
      <vt:lpstr>NFA Continues</vt:lpstr>
      <vt:lpstr>NFA Continues</vt:lpstr>
      <vt:lpstr>Transaction Table</vt:lpstr>
      <vt:lpstr>PowerPoint Presentation</vt:lpstr>
      <vt:lpstr>PowerPoint Presentation</vt:lpstr>
      <vt:lpstr>PowerPoint Presentation</vt:lpstr>
      <vt:lpstr>NFA Continue</vt:lpstr>
      <vt:lpstr>NFA Continue</vt:lpstr>
      <vt:lpstr>Conversion of NFA into DFA</vt:lpstr>
      <vt:lpstr>Conversion of NFA into DFA</vt:lpstr>
      <vt:lpstr>Conversion of NFA into DFA</vt:lpstr>
      <vt:lpstr>Conversion of NFA into DFA</vt:lpstr>
      <vt:lpstr>Conversion Example</vt:lpstr>
      <vt:lpstr>Conversion Example</vt:lpstr>
      <vt:lpstr>Conversion Example</vt:lpstr>
      <vt:lpstr>Conversion Example</vt:lpstr>
      <vt:lpstr>Conversion Example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NFA Continue</vt:lpstr>
      <vt:lpstr>Conversion of NFA into DFA</vt:lpstr>
      <vt:lpstr>Conversion of NFA into DFA</vt:lpstr>
      <vt:lpstr>Conversion of NFA into DFA</vt:lpstr>
      <vt:lpstr>Conversion of NFA into DFA</vt:lpstr>
      <vt:lpstr>Conversion of NFA into DFA</vt:lpstr>
      <vt:lpstr>Conversion of NFA into DFA</vt:lpstr>
      <vt:lpstr>Conversion of NFA into DFA</vt:lpstr>
      <vt:lpstr>Conversion of NFA into DFA</vt:lpstr>
      <vt:lpstr>Conversion of NFA into DFA</vt:lpstr>
      <vt:lpstr>Conversion of NFA into DFA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Theory of Automata  &amp;  Formal Languages CS-214</dc:title>
  <dc:creator>Lenovo</dc:creator>
  <cp:lastModifiedBy>Dr. Amir Mehmood</cp:lastModifiedBy>
  <cp:revision>106</cp:revision>
  <dcterms:created xsi:type="dcterms:W3CDTF">2020-08-06T16:55:45Z</dcterms:created>
  <dcterms:modified xsi:type="dcterms:W3CDTF">2024-04-15T03:51:33Z</dcterms:modified>
</cp:coreProperties>
</file>