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3"/>
  </p:notesMasterIdLst>
  <p:sldIdLst>
    <p:sldId id="446" r:id="rId2"/>
    <p:sldId id="447" r:id="rId3"/>
    <p:sldId id="448" r:id="rId4"/>
    <p:sldId id="449" r:id="rId5"/>
    <p:sldId id="450" r:id="rId6"/>
    <p:sldId id="338" r:id="rId7"/>
    <p:sldId id="339" r:id="rId8"/>
    <p:sldId id="341" r:id="rId9"/>
    <p:sldId id="342" r:id="rId10"/>
    <p:sldId id="344" r:id="rId11"/>
    <p:sldId id="345" r:id="rId12"/>
    <p:sldId id="348" r:id="rId13"/>
    <p:sldId id="347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65" r:id="rId23"/>
    <p:sldId id="343" r:id="rId24"/>
    <p:sldId id="358" r:id="rId25"/>
    <p:sldId id="362" r:id="rId26"/>
    <p:sldId id="361" r:id="rId27"/>
    <p:sldId id="363" r:id="rId28"/>
    <p:sldId id="364" r:id="rId29"/>
    <p:sldId id="366" r:id="rId30"/>
    <p:sldId id="367" r:id="rId31"/>
    <p:sldId id="368" r:id="rId32"/>
    <p:sldId id="369" r:id="rId33"/>
    <p:sldId id="370" r:id="rId34"/>
    <p:sldId id="359" r:id="rId35"/>
    <p:sldId id="371" r:id="rId36"/>
    <p:sldId id="373" r:id="rId37"/>
    <p:sldId id="376" r:id="rId38"/>
    <p:sldId id="374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  <p:sldId id="385" r:id="rId48"/>
    <p:sldId id="386" r:id="rId49"/>
    <p:sldId id="387" r:id="rId50"/>
    <p:sldId id="388" r:id="rId51"/>
    <p:sldId id="389" r:id="rId52"/>
    <p:sldId id="390" r:id="rId53"/>
    <p:sldId id="391" r:id="rId54"/>
    <p:sldId id="392" r:id="rId55"/>
    <p:sldId id="393" r:id="rId56"/>
    <p:sldId id="394" r:id="rId57"/>
    <p:sldId id="395" r:id="rId58"/>
    <p:sldId id="396" r:id="rId59"/>
    <p:sldId id="397" r:id="rId60"/>
    <p:sldId id="398" r:id="rId61"/>
    <p:sldId id="399" r:id="rId62"/>
    <p:sldId id="400" r:id="rId63"/>
    <p:sldId id="401" r:id="rId64"/>
    <p:sldId id="402" r:id="rId65"/>
    <p:sldId id="403" r:id="rId66"/>
    <p:sldId id="404" r:id="rId67"/>
    <p:sldId id="405" r:id="rId68"/>
    <p:sldId id="408" r:id="rId69"/>
    <p:sldId id="410" r:id="rId70"/>
    <p:sldId id="409" r:id="rId71"/>
    <p:sldId id="411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9EBA8-DDA1-4AB3-B07E-8AA6C4D205AC}" type="datetimeFigureOut">
              <a:rPr lang="en-US" smtClean="0"/>
              <a:pPr/>
              <a:t>6/24/2022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4BAD-4C6F-4963-9982-EA3E7F549A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B22B-F392-4B25-AB04-0A5AAD448F9C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BD49-2BAF-4B95-86E0-118A92E5E563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E944-CDEE-4D0D-A847-C60B84B72808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AB84-7F29-494F-ADE2-A98E6EFD2F7B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F32E-3F89-4168-AFD8-A604666AC102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857-0DE5-41E8-B03F-8919884F36FC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9B9F-4709-4E7A-A91A-C4C980098F49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14C3-4346-4F5B-861E-A1A0641A9428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7D17-787E-4508-8684-BE220DC9491E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8AF0-6F54-48F0-84DD-8981FD128CDC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AE74-0E77-4AF9-A65B-78E647684C61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074-D7C2-4DFE-B201-6B2F5B874030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34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2D29A-28BE-4E69-A65A-4D7B03795170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3BE3-AD7C-4DFA-8E74-D64362321A0C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4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E7AC6-8E32-4991-87BE-E815C5FC85F7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2D84-5099-469C-885E-3D9EDC2AB8E0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2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7865-681A-43C5-AC62-12B2C76D9845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C87C72-48BC-46D9-818F-5C441AA70BC9}" type="datetime1">
              <a:rPr lang="en-US" smtClean="0"/>
              <a:pPr/>
              <a:t>6/24/2022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2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408" y="0"/>
            <a:ext cx="5918462" cy="789228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27" y="824619"/>
            <a:ext cx="8946541" cy="5576180"/>
          </a:xfrm>
        </p:spPr>
        <p:txBody>
          <a:bodyPr>
            <a:normAutofit lnSpcReduction="10000"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Pushdown Automata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is a finite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automata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with extra memory called stack which helps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Pushdown automata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to recognize Context Free Languages.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pushdown automaton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reads a given input string from left to right.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each step, it chooses a transition by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input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symbol, current state, and the symbol at the top of the stack.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pushdown automaton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can also manipulate the stack, as part of performing a transition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pushdown automaton is −</a:t>
            </a:r>
          </a:p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"Finite state machine" + "a stack"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4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47" y="1278836"/>
            <a:ext cx="9857256" cy="478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78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811" y="442482"/>
            <a:ext cx="8946541" cy="616303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PDA can be formally described as a 7-tuple (Q, ∑, S, δ, q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I, F) −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the finite number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states</a:t>
            </a:r>
          </a:p>
          <a:p>
            <a:pPr marL="857250" lvl="1" indent="-457200">
              <a:buFont typeface="+mj-lt"/>
              <a:buAutoNum type="arabicPeriod"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input alphabet</a:t>
            </a:r>
          </a:p>
          <a:p>
            <a:pPr marL="857250" lvl="1" indent="-457200">
              <a:buFont typeface="+mj-lt"/>
              <a:buAutoNum type="arabicPeriod"/>
            </a:pPr>
            <a:endParaRPr lang="en-US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stack symbols</a:t>
            </a:r>
          </a:p>
          <a:p>
            <a:pPr marL="857250" lvl="1" indent="-457200">
              <a:buFont typeface="+mj-lt"/>
              <a:buAutoNum type="arabicPeriod"/>
            </a:pPr>
            <a:endParaRPr lang="en-US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the transition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function</a:t>
            </a:r>
          </a:p>
          <a:p>
            <a:pPr marL="857250" lvl="1" indent="-457200">
              <a:buFont typeface="+mj-lt"/>
              <a:buAutoNum type="arabicPeriod"/>
            </a:pPr>
            <a:endParaRPr lang="en-US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b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the initial state (q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∈ Q)</a:t>
            </a:r>
          </a:p>
          <a:p>
            <a:pPr marL="857250" lvl="1" indent="-457200">
              <a:buFont typeface="+mj-lt"/>
              <a:buAutoNum type="arabicPeriod"/>
            </a:pPr>
            <a:endParaRPr lang="en-US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the initial stack top symbol (I ∈ S)</a:t>
            </a:r>
          </a:p>
          <a:p>
            <a:pPr marL="857250" lvl="1" indent="-457200">
              <a:buFont typeface="+mj-lt"/>
              <a:buAutoNum type="arabicPeriod"/>
            </a:pPr>
            <a:endParaRPr lang="en-US" sz="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a set of accepting states (F ∈ Q)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7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544" y="166115"/>
            <a:ext cx="9404723" cy="748285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Transection Process in PDA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589361" y="3684896"/>
            <a:ext cx="873457" cy="859808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418996" y="3684896"/>
            <a:ext cx="873457" cy="859808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9" idx="6"/>
            <a:endCxn id="10" idx="2"/>
          </p:cNvCxnSpPr>
          <p:nvPr/>
        </p:nvCxnSpPr>
        <p:spPr>
          <a:xfrm>
            <a:off x="4462818" y="4114800"/>
            <a:ext cx="1956178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97354" y="3609832"/>
            <a:ext cx="887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28299" y="1569493"/>
            <a:ext cx="2797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DFA or NFA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4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589361" y="3684896"/>
            <a:ext cx="873457" cy="859808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418996" y="3684896"/>
            <a:ext cx="873457" cy="859808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9" idx="6"/>
            <a:endCxn id="10" idx="2"/>
          </p:cNvCxnSpPr>
          <p:nvPr/>
        </p:nvCxnSpPr>
        <p:spPr>
          <a:xfrm>
            <a:off x="4462818" y="4114800"/>
            <a:ext cx="1956178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52998" y="3609832"/>
            <a:ext cx="9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c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52998" y="3188266"/>
            <a:ext cx="1243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571" y="889998"/>
            <a:ext cx="2797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PDA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738544" y="166115"/>
            <a:ext cx="9404723" cy="748285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Transection Process in PDA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97458" y="1615014"/>
            <a:ext cx="2140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 Symbol</a:t>
            </a:r>
            <a:endParaRPr lang="en-US" sz="2800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87350" y="1399570"/>
            <a:ext cx="2268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Symbol at Top of Stack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2453" y="1615014"/>
            <a:ext cx="2083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Push Symbol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308409" y="2238605"/>
            <a:ext cx="0" cy="1042540"/>
          </a:xfrm>
          <a:prstGeom prst="straightConnector1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1"/>
          </p:cNvCxnSpPr>
          <p:nvPr/>
        </p:nvCxnSpPr>
        <p:spPr>
          <a:xfrm flipH="1" flipV="1">
            <a:off x="3664425" y="2088440"/>
            <a:ext cx="1288573" cy="1330659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086901" y="2088441"/>
            <a:ext cx="1810603" cy="133065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53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/>
      <p:bldP spid="11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22AE27-8E85-4CCC-BA01-8559F511D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938" y="2782957"/>
            <a:ext cx="8825658" cy="1000511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6000" dirty="0" smtClean="0">
                <a:latin typeface="Algerian" panose="04020705040A02060702" pitchFamily="82" charset="0"/>
                <a:cs typeface="Times New Roman" panose="02020603050405020304" pitchFamily="18" charset="0"/>
              </a:rPr>
              <a:t>Session – 24</a:t>
            </a:r>
            <a:endParaRPr lang="en-US" sz="60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1545371-F2D1-481F-AF9E-B538D343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6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746248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727887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5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70899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33808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19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943808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03602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36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067673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87591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74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300574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72382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10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88412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9717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48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762790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964153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73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13159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911900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11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62286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238728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66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0593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544890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2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451956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934782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56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804790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421690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91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072649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40311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13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231213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00558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27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921999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168434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40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671816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466505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79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391669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443792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71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30693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935678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64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04284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215734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5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51924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550890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147365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796988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28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852387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99181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8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3728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26177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56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281716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58156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41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566469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67730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55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057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664224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12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684134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675151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11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727784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057957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31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|  n 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=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aaaaabbbbb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044293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8" name="Oval 7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141081" y="5482397"/>
            <a:ext cx="933031" cy="858717"/>
            <a:chOff x="7504915" y="4936486"/>
            <a:chExt cx="933031" cy="858717"/>
          </a:xfrm>
        </p:grpSpPr>
        <p:sp>
          <p:nvSpPr>
            <p:cNvPr id="11" name="Oval 10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x2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13" name="Arc 12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3389" y="367910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 rot="5921677">
            <a:off x="6256921" y="3407779"/>
            <a:ext cx="747443" cy="668741"/>
            <a:chOff x="1311775" y="5132242"/>
            <a:chExt cx="747443" cy="668741"/>
          </a:xfrm>
        </p:grpSpPr>
        <p:sp>
          <p:nvSpPr>
            <p:cNvPr id="24" name="Arc 2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023319" y="2962653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cxnSp>
        <p:nvCxnSpPr>
          <p:cNvPr id="28" name="Straight Arrow Connector 27"/>
          <p:cNvCxnSpPr>
            <a:stCxn id="9" idx="4"/>
          </p:cNvCxnSpPr>
          <p:nvPr/>
        </p:nvCxnSpPr>
        <p:spPr>
          <a:xfrm>
            <a:off x="6603347" y="4476465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30642" y="4629954"/>
            <a:ext cx="1571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Є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561193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2383" y="262492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32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202893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12700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39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 animBg="1"/>
      <p:bldP spid="10" grpId="0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291428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37845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34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707299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0121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249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11262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290078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821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724641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073329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307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22282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926366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347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92581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20738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9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64822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586250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5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02598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14912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69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494935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814948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9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723593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246125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50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116741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703530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323444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342428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89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| n&gt;0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420729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59522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3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94765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978344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51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106253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166072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13321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3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643761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478955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13321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27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0894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572173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13321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259674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905542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13321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880902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50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437540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959680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38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236288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7881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17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63793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807072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13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25191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18052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46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759929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284326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38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330917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381257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73327" y="285401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 rot="5590547">
            <a:off x="9263980" y="3421263"/>
            <a:ext cx="747443" cy="668741"/>
            <a:chOff x="1311775" y="5132242"/>
            <a:chExt cx="747443" cy="668741"/>
          </a:xfrm>
        </p:grpSpPr>
        <p:sp>
          <p:nvSpPr>
            <p:cNvPr id="34" name="Arc 3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579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008720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700187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73327" y="285401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 rot="5590547">
            <a:off x="9263980" y="3421263"/>
            <a:ext cx="747443" cy="668741"/>
            <a:chOff x="1311775" y="5132242"/>
            <a:chExt cx="747443" cy="668741"/>
          </a:xfrm>
        </p:grpSpPr>
        <p:sp>
          <p:nvSpPr>
            <p:cNvPr id="34" name="Arc 3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734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38881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616811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73327" y="285401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 rot="5590547">
            <a:off x="9263980" y="3421263"/>
            <a:ext cx="747443" cy="668741"/>
            <a:chOff x="1311775" y="5132242"/>
            <a:chExt cx="747443" cy="668741"/>
          </a:xfrm>
        </p:grpSpPr>
        <p:sp>
          <p:nvSpPr>
            <p:cNvPr id="34" name="Arc 3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901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668169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420772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73327" y="285401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 rot="5590547">
            <a:off x="9263980" y="3421263"/>
            <a:ext cx="747443" cy="668741"/>
            <a:chOff x="1311775" y="5132242"/>
            <a:chExt cx="747443" cy="668741"/>
          </a:xfrm>
        </p:grpSpPr>
        <p:sp>
          <p:nvSpPr>
            <p:cNvPr id="34" name="Arc 3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358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71106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932430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73327" y="285401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 rot="5590547">
            <a:off x="9263980" y="3421263"/>
            <a:ext cx="747443" cy="668741"/>
            <a:chOff x="1311775" y="5132242"/>
            <a:chExt cx="747443" cy="668741"/>
          </a:xfrm>
        </p:grpSpPr>
        <p:sp>
          <p:nvSpPr>
            <p:cNvPr id="34" name="Arc 3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376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8891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9737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73327" y="285401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 rot="5590547">
            <a:off x="9263980" y="3421263"/>
            <a:ext cx="747443" cy="668741"/>
            <a:chOff x="1311775" y="5132242"/>
            <a:chExt cx="747443" cy="668741"/>
          </a:xfrm>
        </p:grpSpPr>
        <p:sp>
          <p:nvSpPr>
            <p:cNvPr id="34" name="Arc 3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488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054" y="0"/>
            <a:ext cx="3794078" cy="464024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Push Down Automata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3" y="974745"/>
            <a:ext cx="2499697" cy="429329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n&gt;0;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4,  m= 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aaaaccbbbb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404992"/>
              </p:ext>
            </p:extLst>
          </p:nvPr>
        </p:nvGraphicFramePr>
        <p:xfrm>
          <a:off x="2741683" y="709684"/>
          <a:ext cx="7389085" cy="1083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  <a:gridCol w="671735"/>
              </a:tblGrid>
              <a:tr h="541789">
                <a:tc gridSpan="11">
                  <a:txBody>
                    <a:bodyPr/>
                    <a:lstStyle/>
                    <a:p>
                      <a:pPr algn="l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L                              Input String                          R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417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≠</a:t>
                      </a:r>
                      <a:endParaRPr lang="en-US" sz="28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901726"/>
              </p:ext>
            </p:extLst>
          </p:nvPr>
        </p:nvGraphicFramePr>
        <p:xfrm>
          <a:off x="10561850" y="1833093"/>
          <a:ext cx="1175224" cy="4851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24"/>
              </a:tblGrid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92482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22374">
                <a:tc>
                  <a:txBody>
                    <a:bodyPr/>
                    <a:lstStyle/>
                    <a:p>
                      <a:pPr algn="ctr"/>
                      <a:r>
                        <a:rPr lang="az-Cyrl-AZ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Є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49719" y="1214648"/>
            <a:ext cx="12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061" y="4860786"/>
            <a:ext cx="3116013" cy="19379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40952" y="372310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179242" y="369581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215697" y="5556914"/>
            <a:ext cx="933031" cy="858717"/>
            <a:chOff x="7504915" y="4936486"/>
            <a:chExt cx="933031" cy="858717"/>
          </a:xfrm>
        </p:grpSpPr>
        <p:sp>
          <p:nvSpPr>
            <p:cNvPr id="12" name="Oval 1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x3</a:t>
              </a:r>
              <a:endParaRPr lang="en-US" dirty="0"/>
            </a:p>
          </p:txBody>
        </p:sp>
      </p:grpSp>
      <p:cxnSp>
        <p:nvCxnSpPr>
          <p:cNvPr id="14" name="Straight Arrow Connector 13"/>
          <p:cNvCxnSpPr/>
          <p:nvPr/>
        </p:nvCxnSpPr>
        <p:spPr>
          <a:xfrm>
            <a:off x="3991503" y="411343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666695" y="4542702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44759" y="369217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057020" y="410979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2383" y="296156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 rot="5590547">
            <a:off x="3077687" y="3446287"/>
            <a:ext cx="747443" cy="668741"/>
            <a:chOff x="1311775" y="5132242"/>
            <a:chExt cx="747443" cy="668741"/>
          </a:xfrm>
        </p:grpSpPr>
        <p:sp>
          <p:nvSpPr>
            <p:cNvPr id="21" name="Arc 2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2879679" y="265221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8103" y="364130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1423" y="3640617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 rot="5590547">
            <a:off x="6229625" y="3376929"/>
            <a:ext cx="747443" cy="668741"/>
            <a:chOff x="1311775" y="5132242"/>
            <a:chExt cx="747443" cy="668741"/>
          </a:xfrm>
        </p:grpSpPr>
        <p:sp>
          <p:nvSpPr>
            <p:cNvPr id="27" name="Arc 26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061887" y="29088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 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55207" y="2908198"/>
            <a:ext cx="37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7607" y="362083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73327" y="285401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 rot="5590547">
            <a:off x="9263980" y="3421263"/>
            <a:ext cx="747443" cy="668741"/>
            <a:chOff x="1311775" y="5132242"/>
            <a:chExt cx="747443" cy="668741"/>
          </a:xfrm>
        </p:grpSpPr>
        <p:sp>
          <p:nvSpPr>
            <p:cNvPr id="34" name="Arc 3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8131152" y="481483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(≠,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3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47" y="224118"/>
            <a:ext cx="3591518" cy="419548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n,m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&gt;  0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 =  4,  m  =  3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aaaabbbbcccddd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82244" y="412389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920534" y="409660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732795" y="451422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986051" y="409296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798312" y="451058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3675" y="336235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 rot="5590547">
            <a:off x="818979" y="3847077"/>
            <a:ext cx="747443" cy="668741"/>
            <a:chOff x="1311775" y="5132242"/>
            <a:chExt cx="747443" cy="668741"/>
          </a:xfrm>
        </p:grpSpPr>
        <p:sp>
          <p:nvSpPr>
            <p:cNvPr id="16" name="Arc 15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620971" y="305300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99395" y="404209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 rot="5590547">
            <a:off x="3970917" y="3777719"/>
            <a:ext cx="747443" cy="668741"/>
            <a:chOff x="1311775" y="5132242"/>
            <a:chExt cx="747443" cy="668741"/>
          </a:xfrm>
        </p:grpSpPr>
        <p:sp>
          <p:nvSpPr>
            <p:cNvPr id="22" name="Arc 21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 rot="5590547">
            <a:off x="7005272" y="3822053"/>
            <a:ext cx="747443" cy="668741"/>
            <a:chOff x="1311775" y="5132242"/>
            <a:chExt cx="747443" cy="668741"/>
          </a:xfrm>
        </p:grpSpPr>
        <p:sp>
          <p:nvSpPr>
            <p:cNvPr id="29" name="Arc 28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3641779" y="330103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69583" y="4056188"/>
            <a:ext cx="15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(c,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c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07870" y="3256697"/>
            <a:ext cx="15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c,c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cc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050463" y="403798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x3</a:t>
            </a:r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862724" y="4455611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39202" y="400387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d,c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021401" y="313379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d,c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 rot="5590547">
            <a:off x="10170390" y="3721817"/>
            <a:ext cx="747443" cy="668741"/>
            <a:chOff x="1311775" y="5132242"/>
            <a:chExt cx="747443" cy="668741"/>
          </a:xfrm>
        </p:grpSpPr>
        <p:sp>
          <p:nvSpPr>
            <p:cNvPr id="40" name="Arc 39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10050463" y="5883188"/>
            <a:ext cx="933031" cy="858717"/>
            <a:chOff x="7504915" y="4936486"/>
            <a:chExt cx="933031" cy="858717"/>
          </a:xfrm>
        </p:grpSpPr>
        <p:sp>
          <p:nvSpPr>
            <p:cNvPr id="43" name="Oval 42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x4</a:t>
              </a:r>
              <a:endParaRPr lang="en-US" dirty="0"/>
            </a:p>
          </p:txBody>
        </p:sp>
      </p:grpSp>
      <p:cxnSp>
        <p:nvCxnSpPr>
          <p:cNvPr id="45" name="Straight Arrow Connector 44"/>
          <p:cNvCxnSpPr/>
          <p:nvPr/>
        </p:nvCxnSpPr>
        <p:spPr>
          <a:xfrm>
            <a:off x="10501461" y="4868976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965918" y="5141109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(≠,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24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4" grpId="0"/>
      <p:bldP spid="18" grpId="0"/>
      <p:bldP spid="19" grpId="0"/>
      <p:bldP spid="32" grpId="0"/>
      <p:bldP spid="33" grpId="0"/>
      <p:bldP spid="34" grpId="0"/>
      <p:bldP spid="35" grpId="0" animBg="1"/>
      <p:bldP spid="37" grpId="0"/>
      <p:bldP spid="38" grpId="0"/>
      <p:bldP spid="4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22AE27-8E85-4CCC-BA01-8559F511D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938" y="2782957"/>
            <a:ext cx="8825658" cy="1000511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6000" dirty="0" smtClean="0">
                <a:latin typeface="Algerian" panose="04020705040A02060702" pitchFamily="82" charset="0"/>
                <a:cs typeface="Times New Roman" panose="02020603050405020304" pitchFamily="18" charset="0"/>
              </a:rPr>
              <a:t>Session – 25</a:t>
            </a:r>
            <a:endParaRPr lang="en-US" sz="60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1545371-F2D1-481F-AF9E-B538D343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0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47" y="224118"/>
            <a:ext cx="3591518" cy="419548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aseline="30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n,m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&gt;  0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  =  4,  m  =  3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 will be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aaaabbbbcccddd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82244" y="412389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920534" y="409660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732795" y="4514225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986051" y="409296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798312" y="4510583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3675" y="336235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 rot="5590547">
            <a:off x="818979" y="3847077"/>
            <a:ext cx="747443" cy="668741"/>
            <a:chOff x="1311775" y="5132242"/>
            <a:chExt cx="747443" cy="668741"/>
          </a:xfrm>
        </p:grpSpPr>
        <p:sp>
          <p:nvSpPr>
            <p:cNvPr id="16" name="Arc 15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620971" y="305300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99395" y="4042096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 rot="5590547">
            <a:off x="3970917" y="3777719"/>
            <a:ext cx="747443" cy="668741"/>
            <a:chOff x="1311775" y="5132242"/>
            <a:chExt cx="747443" cy="668741"/>
          </a:xfrm>
        </p:grpSpPr>
        <p:sp>
          <p:nvSpPr>
            <p:cNvPr id="22" name="Arc 21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 rot="5590547">
            <a:off x="7005272" y="3822053"/>
            <a:ext cx="747443" cy="668741"/>
            <a:chOff x="1311775" y="5132242"/>
            <a:chExt cx="747443" cy="668741"/>
          </a:xfrm>
        </p:grpSpPr>
        <p:sp>
          <p:nvSpPr>
            <p:cNvPr id="29" name="Arc 28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3641779" y="330103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69583" y="4056188"/>
            <a:ext cx="15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(c,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c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07870" y="3256697"/>
            <a:ext cx="15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cc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050463" y="403798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x3</a:t>
            </a:r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862724" y="4455611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39202" y="400387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d,c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021401" y="313379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d,c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 rot="5590547">
            <a:off x="10170390" y="3721817"/>
            <a:ext cx="747443" cy="668741"/>
            <a:chOff x="1311775" y="5132242"/>
            <a:chExt cx="747443" cy="668741"/>
          </a:xfrm>
        </p:grpSpPr>
        <p:sp>
          <p:nvSpPr>
            <p:cNvPr id="40" name="Arc 39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10050463" y="5883188"/>
            <a:ext cx="933031" cy="858717"/>
            <a:chOff x="7504915" y="4936486"/>
            <a:chExt cx="933031" cy="858717"/>
          </a:xfrm>
        </p:grpSpPr>
        <p:sp>
          <p:nvSpPr>
            <p:cNvPr id="43" name="Oval 42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x4</a:t>
              </a:r>
              <a:endParaRPr lang="en-US" dirty="0"/>
            </a:p>
          </p:txBody>
        </p:sp>
      </p:grpSp>
      <p:cxnSp>
        <p:nvCxnSpPr>
          <p:cNvPr id="45" name="Straight Arrow Connector 44"/>
          <p:cNvCxnSpPr/>
          <p:nvPr/>
        </p:nvCxnSpPr>
        <p:spPr>
          <a:xfrm>
            <a:off x="10501461" y="4868976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965918" y="5141109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(≠,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17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4" grpId="0"/>
      <p:bldP spid="18" grpId="0"/>
      <p:bldP spid="19" grpId="0"/>
      <p:bldP spid="32" grpId="0"/>
      <p:bldP spid="33" grpId="0"/>
      <p:bldP spid="34" grpId="0"/>
      <p:bldP spid="35" grpId="0" animBg="1"/>
      <p:bldP spid="37" grpId="0"/>
      <p:bldP spid="38" grpId="0"/>
      <p:bldP spid="4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20" y="142233"/>
            <a:ext cx="4396737" cy="662986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sz="2800" baseline="30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 smtClean="0"/>
              <a:t> c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 smtClean="0"/>
              <a:t> </a:t>
            </a:r>
            <a:r>
              <a:rPr lang="en-US" dirty="0" err="1" smtClean="0"/>
              <a:t>d</a:t>
            </a:r>
            <a:r>
              <a:rPr lang="en-US" sz="28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 smtClean="0"/>
              <a:t> </a:t>
            </a:r>
            <a:r>
              <a:rPr lang="en-US" dirty="0" err="1" smtClean="0"/>
              <a:t>e</a:t>
            </a:r>
            <a:r>
              <a:rPr lang="en-US" sz="2800" baseline="30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|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m,n,o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&gt;0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82244" y="412389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920534" y="409660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657750" y="4514225"/>
            <a:ext cx="2261018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986051" y="409296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3675" y="336235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 rot="5590547">
            <a:off x="818979" y="3847077"/>
            <a:ext cx="747443" cy="668741"/>
            <a:chOff x="1311775" y="5132242"/>
            <a:chExt cx="747443" cy="668741"/>
          </a:xfrm>
        </p:grpSpPr>
        <p:sp>
          <p:nvSpPr>
            <p:cNvPr id="11" name="Arc 1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620971" y="305300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99394" y="4042096"/>
            <a:ext cx="1521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 rot="5590547">
            <a:off x="3970917" y="3777719"/>
            <a:ext cx="747443" cy="668741"/>
            <a:chOff x="1311775" y="5132242"/>
            <a:chExt cx="747443" cy="668741"/>
          </a:xfrm>
        </p:grpSpPr>
        <p:sp>
          <p:nvSpPr>
            <p:cNvPr id="16" name="Arc 15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590547">
            <a:off x="7005272" y="3822053"/>
            <a:ext cx="747443" cy="668741"/>
            <a:chOff x="1311775" y="5132242"/>
            <a:chExt cx="747443" cy="668741"/>
          </a:xfrm>
        </p:grpSpPr>
        <p:sp>
          <p:nvSpPr>
            <p:cNvPr id="19" name="Arc 18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3641779" y="330103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bb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69583" y="4056188"/>
            <a:ext cx="15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c,b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050463" y="403798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x3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7862724" y="4455611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39202" y="400387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 rot="5590547">
            <a:off x="10170390" y="3721817"/>
            <a:ext cx="747443" cy="668741"/>
            <a:chOff x="1311775" y="5132242"/>
            <a:chExt cx="747443" cy="668741"/>
          </a:xfrm>
        </p:grpSpPr>
        <p:sp>
          <p:nvSpPr>
            <p:cNvPr id="29" name="Arc 28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6943640" y="5808672"/>
            <a:ext cx="933031" cy="858717"/>
            <a:chOff x="7504915" y="4936486"/>
            <a:chExt cx="933031" cy="858717"/>
          </a:xfrm>
        </p:grpSpPr>
        <p:sp>
          <p:nvSpPr>
            <p:cNvPr id="32" name="Oval 3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x5</a:t>
              </a:r>
              <a:endParaRPr lang="en-US" dirty="0"/>
            </a:p>
          </p:txBody>
        </p:sp>
      </p:grpSp>
      <p:cxnSp>
        <p:nvCxnSpPr>
          <p:cNvPr id="34" name="Straight Arrow Connector 33"/>
          <p:cNvCxnSpPr/>
          <p:nvPr/>
        </p:nvCxnSpPr>
        <p:spPr>
          <a:xfrm>
            <a:off x="10501461" y="4868976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29247" y="604948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(≠,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>
            <a:stCxn id="47" idx="3"/>
            <a:endCxn id="32" idx="5"/>
          </p:cNvCxnSpPr>
          <p:nvPr/>
        </p:nvCxnSpPr>
        <p:spPr>
          <a:xfrm flipH="1" flipV="1">
            <a:off x="7740032" y="6541633"/>
            <a:ext cx="2461541" cy="14689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819515" y="4502849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50770" y="3366999"/>
            <a:ext cx="15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c,b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771708" y="3192140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077356" y="5889994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0501460" y="5009567"/>
            <a:ext cx="1690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 rot="2458083">
            <a:off x="9822050" y="5770443"/>
            <a:ext cx="747443" cy="668741"/>
            <a:chOff x="1311775" y="5132242"/>
            <a:chExt cx="747443" cy="668741"/>
          </a:xfrm>
        </p:grpSpPr>
        <p:sp>
          <p:nvSpPr>
            <p:cNvPr id="50" name="Arc 49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 rot="19053004">
            <a:off x="8931629" y="5350767"/>
            <a:ext cx="1690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az-Cyrl-AZ" sz="2400" dirty="0">
                <a:latin typeface="Times New Roman" pitchFamily="18" charset="0"/>
                <a:cs typeface="Times New Roman" pitchFamily="18" charset="0"/>
              </a:rPr>
              <a:t> 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9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/>
      <p:bldP spid="13" grpId="0"/>
      <p:bldP spid="14" grpId="0"/>
      <p:bldP spid="21" grpId="0"/>
      <p:bldP spid="22" grpId="0"/>
      <p:bldP spid="24" grpId="0" animBg="1"/>
      <p:bldP spid="26" grpId="0"/>
      <p:bldP spid="35" grpId="0"/>
      <p:bldP spid="44" grpId="0"/>
      <p:bldP spid="45" grpId="0"/>
      <p:bldP spid="47" grpId="0" animBg="1"/>
      <p:bldP spid="48" grpId="0"/>
      <p:bldP spid="5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20" y="142233"/>
            <a:ext cx="6252832" cy="66298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baseline="30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|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m,n,o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&gt;0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82244" y="412389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x0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920534" y="4096603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657750" y="4514225"/>
            <a:ext cx="2261018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986051" y="4092961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3675" y="3362355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a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 rot="5590547">
            <a:off x="818979" y="3847077"/>
            <a:ext cx="747443" cy="668741"/>
            <a:chOff x="1311775" y="5132242"/>
            <a:chExt cx="747443" cy="668741"/>
          </a:xfrm>
        </p:grpSpPr>
        <p:sp>
          <p:nvSpPr>
            <p:cNvPr id="11" name="Arc 10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620971" y="3053007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a,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99394" y="4042096"/>
            <a:ext cx="1521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 rot="5590547">
            <a:off x="3970917" y="3777719"/>
            <a:ext cx="747443" cy="668741"/>
            <a:chOff x="1311775" y="5132242"/>
            <a:chExt cx="747443" cy="668741"/>
          </a:xfrm>
        </p:grpSpPr>
        <p:sp>
          <p:nvSpPr>
            <p:cNvPr id="16" name="Arc 15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590547">
            <a:off x="7005272" y="3822053"/>
            <a:ext cx="747443" cy="668741"/>
            <a:chOff x="1311775" y="5132242"/>
            <a:chExt cx="747443" cy="668741"/>
          </a:xfrm>
        </p:grpSpPr>
        <p:sp>
          <p:nvSpPr>
            <p:cNvPr id="19" name="Arc 18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3641779" y="330103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b,b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bb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69583" y="4056188"/>
            <a:ext cx="15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c,b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050463" y="4037989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x3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7862724" y="4455611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39202" y="4003871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d,c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 rot="5590547">
            <a:off x="10170390" y="3721817"/>
            <a:ext cx="747443" cy="668741"/>
            <a:chOff x="1311775" y="5132242"/>
            <a:chExt cx="747443" cy="668741"/>
          </a:xfrm>
        </p:grpSpPr>
        <p:sp>
          <p:nvSpPr>
            <p:cNvPr id="29" name="Arc 28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2534407" y="6028614"/>
            <a:ext cx="933031" cy="858717"/>
            <a:chOff x="7504915" y="4936486"/>
            <a:chExt cx="933031" cy="858717"/>
          </a:xfrm>
        </p:grpSpPr>
        <p:sp>
          <p:nvSpPr>
            <p:cNvPr id="32" name="Oval 31"/>
            <p:cNvSpPr/>
            <p:nvPr/>
          </p:nvSpPr>
          <p:spPr>
            <a:xfrm>
              <a:off x="7504915" y="4936486"/>
              <a:ext cx="933031" cy="8587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/>
            <p:cNvSpPr/>
            <p:nvPr/>
          </p:nvSpPr>
          <p:spPr>
            <a:xfrm>
              <a:off x="7585880" y="5011003"/>
              <a:ext cx="771100" cy="70968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x6</a:t>
              </a:r>
              <a:endParaRPr lang="en-US" dirty="0"/>
            </a:p>
          </p:txBody>
        </p:sp>
      </p:grpSp>
      <p:cxnSp>
        <p:nvCxnSpPr>
          <p:cNvPr id="34" name="Straight Arrow Connector 33"/>
          <p:cNvCxnSpPr/>
          <p:nvPr/>
        </p:nvCxnSpPr>
        <p:spPr>
          <a:xfrm>
            <a:off x="10501461" y="4868976"/>
            <a:ext cx="0" cy="10059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16655" y="6006009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(≠,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>
            <a:endCxn id="46" idx="6"/>
          </p:cNvCxnSpPr>
          <p:nvPr/>
        </p:nvCxnSpPr>
        <p:spPr>
          <a:xfrm flipH="1">
            <a:off x="7196502" y="6467674"/>
            <a:ext cx="2880854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819515" y="4502849"/>
            <a:ext cx="2158677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50770" y="3366999"/>
            <a:ext cx="15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c,c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cc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771708" y="3192140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d,c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077356" y="5889994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0501460" y="5009567"/>
            <a:ext cx="1690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(e,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 rot="2458083">
            <a:off x="9822050" y="5770443"/>
            <a:ext cx="747443" cy="668741"/>
            <a:chOff x="1311775" y="5132242"/>
            <a:chExt cx="747443" cy="668741"/>
          </a:xfrm>
        </p:grpSpPr>
        <p:sp>
          <p:nvSpPr>
            <p:cNvPr id="50" name="Arc 49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 rot="19053004">
            <a:off x="9068109" y="5350767"/>
            <a:ext cx="1690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(e,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348292" y="6077348"/>
            <a:ext cx="848210" cy="78065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x5</a:t>
            </a:r>
            <a:endParaRPr lang="en-US" dirty="0"/>
          </a:p>
        </p:txBody>
      </p:sp>
      <p:grpSp>
        <p:nvGrpSpPr>
          <p:cNvPr id="53" name="Group 52"/>
          <p:cNvGrpSpPr/>
          <p:nvPr/>
        </p:nvGrpSpPr>
        <p:grpSpPr>
          <a:xfrm rot="5590547">
            <a:off x="6367513" y="5806440"/>
            <a:ext cx="747443" cy="668741"/>
            <a:chOff x="1311775" y="5132242"/>
            <a:chExt cx="747443" cy="668741"/>
          </a:xfrm>
        </p:grpSpPr>
        <p:sp>
          <p:nvSpPr>
            <p:cNvPr id="54" name="Arc 53"/>
            <p:cNvSpPr/>
            <p:nvPr/>
          </p:nvSpPr>
          <p:spPr>
            <a:xfrm rot="15796249">
              <a:off x="1351126" y="5092891"/>
              <a:ext cx="668741" cy="747443"/>
            </a:xfrm>
            <a:prstGeom prst="arc">
              <a:avLst>
                <a:gd name="adj1" fmla="val 10721503"/>
                <a:gd name="adj2" fmla="val 71575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>
              <a:off x="1687933" y="5795203"/>
              <a:ext cx="120395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>
          <a:xfrm>
            <a:off x="7586197" y="5974022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14193" y="5346324"/>
            <a:ext cx="140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f,a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 </a:t>
            </a:r>
            <a:r>
              <a:rPr lang="az-Cyrl-AZ" sz="24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3467438" y="6494505"/>
            <a:ext cx="2880854" cy="0"/>
          </a:xfrm>
          <a:prstGeom prst="straightConnector1">
            <a:avLst/>
          </a:prstGeom>
          <a:ln w="317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27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/>
      <p:bldP spid="13" grpId="0"/>
      <p:bldP spid="14" grpId="0"/>
      <p:bldP spid="21" grpId="0"/>
      <p:bldP spid="22" grpId="0"/>
      <p:bldP spid="24" grpId="0" animBg="1"/>
      <p:bldP spid="26" grpId="0"/>
      <p:bldP spid="35" grpId="0"/>
      <p:bldP spid="44" grpId="0"/>
      <p:bldP spid="45" grpId="0"/>
      <p:bldP spid="47" grpId="0" animBg="1"/>
      <p:bldP spid="48" grpId="0"/>
      <p:bldP spid="52" grpId="0"/>
      <p:bldP spid="46" grpId="0" animBg="1"/>
      <p:bldP spid="58" grpId="0"/>
      <p:bldP spid="5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5579</TotalTime>
  <Words>3907</Words>
  <Application>Microsoft Office PowerPoint</Application>
  <PresentationFormat>Widescreen</PresentationFormat>
  <Paragraphs>1924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9" baseType="lpstr">
      <vt:lpstr>Algerian</vt:lpstr>
      <vt:lpstr>Arial</vt:lpstr>
      <vt:lpstr>Calibri</vt:lpstr>
      <vt:lpstr>Century Gothic</vt:lpstr>
      <vt:lpstr>Times New Roman</vt:lpstr>
      <vt:lpstr>Wingdings</vt:lpstr>
      <vt:lpstr>Wingdings 3</vt:lpstr>
      <vt:lpstr>Ion</vt:lpstr>
      <vt:lpstr>Push Down Automata</vt:lpstr>
      <vt:lpstr>PowerPoint Presentation</vt:lpstr>
      <vt:lpstr>PowerPoint Presentation</vt:lpstr>
      <vt:lpstr>Transection Process in PDA</vt:lpstr>
      <vt:lpstr>Transection Process in PDA</vt:lpstr>
      <vt:lpstr> Session – 24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Push Down Automata</vt:lpstr>
      <vt:lpstr>PowerPoint Presentation</vt:lpstr>
      <vt:lpstr> Session – 25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HameedPitafi</cp:lastModifiedBy>
  <cp:revision>511</cp:revision>
  <dcterms:created xsi:type="dcterms:W3CDTF">2020-08-06T16:55:45Z</dcterms:created>
  <dcterms:modified xsi:type="dcterms:W3CDTF">2022-06-24T07:45:43Z</dcterms:modified>
</cp:coreProperties>
</file>