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320" r:id="rId3"/>
    <p:sldId id="321" r:id="rId4"/>
    <p:sldId id="322" r:id="rId5"/>
    <p:sldId id="323" r:id="rId6"/>
    <p:sldId id="324" r:id="rId7"/>
    <p:sldId id="326" r:id="rId8"/>
    <p:sldId id="327" r:id="rId9"/>
    <p:sldId id="32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9EBA8-DDA1-4AB3-B07E-8AA6C4D205AC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64BAD-4C6F-4963-9982-EA3E7F549A2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B22B-F392-4B25-AB04-0A5AAD448F9C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6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BD49-2BAF-4B95-86E0-118A92E5E563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E944-CDEE-4D0D-A847-C60B84B72808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EAB84-7F29-494F-ADE2-A98E6EFD2F7B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8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F32E-3F89-4168-AFD8-A604666AC102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857-0DE5-41E8-B03F-8919884F36FC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29B9F-4709-4E7A-A91A-C4C980098F49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14C3-4346-4F5B-861E-A1A0641A9428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0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7D17-787E-4508-8684-BE220DC9491E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8AF0-6F54-48F0-84DD-8981FD128CDC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BAE74-0E77-4AF9-A65B-78E647684C61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3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F2074-D7C2-4DFE-B201-6B2F5B874030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034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2D29A-28BE-4E69-A65A-4D7B03795170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53BE3-AD7C-4DFA-8E74-D64362321A0C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48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E7AC6-8E32-4991-87BE-E815C5FC85F7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42D84-5099-469C-885E-3D9EDC2AB8E0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52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67865-681A-43C5-AC62-12B2C76D9845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EC87C72-48BC-46D9-818F-5C441AA70BC9}" type="datetime1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03168-B5C7-47B0-92CD-29BB54F18D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2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30FC02-A163-4881-AB92-5D58261BA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729" y="1192697"/>
            <a:ext cx="8825658" cy="4287050"/>
          </a:xfrm>
        </p:spPr>
        <p:txBody>
          <a:bodyPr/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of Automata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Languages</a:t>
            </a: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CS-224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7999725-D0CC-406C-B9E2-9CEA777B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E9B36-69C9-4307-A67C-96598040E01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5AAD019-5575-4FDF-9A25-A21EAAA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" y="0"/>
            <a:ext cx="1562983" cy="1562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6837D31-6D79-4AFC-9E3E-AE054EE8D669}"/>
              </a:ext>
            </a:extLst>
          </p:cNvPr>
          <p:cNvSpPr txBox="1"/>
          <p:nvPr/>
        </p:nvSpPr>
        <p:spPr>
          <a:xfrm>
            <a:off x="1603663" y="111063"/>
            <a:ext cx="763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 Syed University of Engineering &amp; Technology, Karachi</a:t>
            </a:r>
          </a:p>
        </p:txBody>
      </p:sp>
    </p:spTree>
    <p:extLst>
      <p:ext uri="{BB962C8B-B14F-4D97-AF65-F5344CB8AC3E}">
        <p14:creationId xmlns:p14="http://schemas.microsoft.com/office/powerpoint/2010/main" val="40224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03" y="248002"/>
            <a:ext cx="9404723" cy="680046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Transection Graph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29" y="1247700"/>
            <a:ext cx="10156090" cy="488014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transition graph, abbreviated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TG,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a collection of three things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finite set of states at least one of which is designated as the start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(-)        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 one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which are designated as final states (+).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An alphabet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possible input letters from which input strings are formed.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A finite set of transitions that show how to go from one state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another   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based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 reading specified substrings of input letters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possibly even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  null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800" dirty="0"/>
              <a:t>^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). 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7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689" y="461363"/>
            <a:ext cx="4232963" cy="444622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DFA that accept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string.</a:t>
            </a: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44404" y="0"/>
            <a:ext cx="2943250" cy="477672"/>
          </a:xfrm>
        </p:spPr>
        <p:txBody>
          <a:bodyPr/>
          <a:lstStyle/>
          <a:p>
            <a:r>
              <a:rPr lang="en-US" sz="28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Transection Graph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050160" y="4176317"/>
            <a:ext cx="586854" cy="600501"/>
          </a:xfrm>
          <a:prstGeom prst="ellips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x0</a:t>
            </a:r>
            <a:endParaRPr lang="en-US" sz="1600" b="1" dirty="0"/>
          </a:p>
        </p:txBody>
      </p:sp>
      <p:sp>
        <p:nvSpPr>
          <p:cNvPr id="7" name="Oval 6"/>
          <p:cNvSpPr/>
          <p:nvPr/>
        </p:nvSpPr>
        <p:spPr>
          <a:xfrm>
            <a:off x="6390692" y="5930053"/>
            <a:ext cx="586854" cy="600501"/>
          </a:xfrm>
          <a:prstGeom prst="ellips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x3</a:t>
            </a:r>
            <a:endParaRPr lang="en-US" sz="1600" b="1" dirty="0"/>
          </a:p>
        </p:txBody>
      </p:sp>
      <p:grpSp>
        <p:nvGrpSpPr>
          <p:cNvPr id="58" name="Group 57"/>
          <p:cNvGrpSpPr/>
          <p:nvPr/>
        </p:nvGrpSpPr>
        <p:grpSpPr>
          <a:xfrm>
            <a:off x="7738761" y="4083282"/>
            <a:ext cx="711254" cy="700361"/>
            <a:chOff x="9919567" y="1519675"/>
            <a:chExt cx="711254" cy="700361"/>
          </a:xfrm>
        </p:grpSpPr>
        <p:sp>
          <p:nvSpPr>
            <p:cNvPr id="57" name="Oval 56"/>
            <p:cNvSpPr/>
            <p:nvPr/>
          </p:nvSpPr>
          <p:spPr>
            <a:xfrm>
              <a:off x="9919567" y="1519675"/>
              <a:ext cx="711254" cy="700361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9995415" y="1562669"/>
              <a:ext cx="586854" cy="600501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/>
                <a:t>x4</a:t>
              </a:r>
              <a:endParaRPr lang="en-US" sz="1600" b="1" dirty="0"/>
            </a:p>
          </p:txBody>
        </p:sp>
      </p:grpSp>
      <p:cxnSp>
        <p:nvCxnSpPr>
          <p:cNvPr id="12" name="Straight Arrow Connector 11"/>
          <p:cNvCxnSpPr>
            <a:endCxn id="6" idx="2"/>
          </p:cNvCxnSpPr>
          <p:nvPr/>
        </p:nvCxnSpPr>
        <p:spPr>
          <a:xfrm>
            <a:off x="4790853" y="4476567"/>
            <a:ext cx="259307" cy="1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64" idx="2"/>
          </p:cNvCxnSpPr>
          <p:nvPr/>
        </p:nvCxnSpPr>
        <p:spPr>
          <a:xfrm>
            <a:off x="5598838" y="4726777"/>
            <a:ext cx="839869" cy="350292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65" idx="3"/>
          </p:cNvCxnSpPr>
          <p:nvPr/>
        </p:nvCxnSpPr>
        <p:spPr>
          <a:xfrm flipV="1">
            <a:off x="5664798" y="4113381"/>
            <a:ext cx="805771" cy="37001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08285" y="3965228"/>
            <a:ext cx="432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0" name="Straight Arrow Connector 59"/>
          <p:cNvCxnSpPr>
            <a:stCxn id="7" idx="7"/>
          </p:cNvCxnSpPr>
          <p:nvPr/>
        </p:nvCxnSpPr>
        <p:spPr>
          <a:xfrm flipV="1">
            <a:off x="6891603" y="4783644"/>
            <a:ext cx="997633" cy="123435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29640" y="5216799"/>
            <a:ext cx="645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55126" y="5191731"/>
            <a:ext cx="340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^</a:t>
            </a:r>
          </a:p>
        </p:txBody>
      </p:sp>
      <p:sp>
        <p:nvSpPr>
          <p:cNvPr id="64" name="Oval 63"/>
          <p:cNvSpPr/>
          <p:nvPr/>
        </p:nvSpPr>
        <p:spPr>
          <a:xfrm>
            <a:off x="6400531" y="4776818"/>
            <a:ext cx="586854" cy="600501"/>
          </a:xfrm>
          <a:prstGeom prst="ellips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x2</a:t>
            </a:r>
            <a:endParaRPr lang="en-US" sz="1600" b="1" dirty="0"/>
          </a:p>
        </p:txBody>
      </p:sp>
      <p:sp>
        <p:nvSpPr>
          <p:cNvPr id="65" name="Oval 64"/>
          <p:cNvSpPr/>
          <p:nvPr/>
        </p:nvSpPr>
        <p:spPr>
          <a:xfrm>
            <a:off x="6384626" y="3600821"/>
            <a:ext cx="586854" cy="600501"/>
          </a:xfrm>
          <a:prstGeom prst="ellips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x1</a:t>
            </a:r>
            <a:endParaRPr lang="en-US" sz="1600" b="1" dirty="0"/>
          </a:p>
        </p:txBody>
      </p:sp>
      <p:cxnSp>
        <p:nvCxnSpPr>
          <p:cNvPr id="66" name="Straight Arrow Connector 65"/>
          <p:cNvCxnSpPr>
            <a:stCxn id="65" idx="5"/>
          </p:cNvCxnSpPr>
          <p:nvPr/>
        </p:nvCxnSpPr>
        <p:spPr>
          <a:xfrm>
            <a:off x="6885537" y="4113381"/>
            <a:ext cx="845785" cy="33157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121883" y="3865932"/>
            <a:ext cx="645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843171" y="4482244"/>
            <a:ext cx="645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6987385" y="4585750"/>
            <a:ext cx="780037" cy="54615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080798" y="4542139"/>
            <a:ext cx="432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8" name="Straight Arrow Connector 77"/>
          <p:cNvCxnSpPr>
            <a:endCxn id="7" idx="1"/>
          </p:cNvCxnSpPr>
          <p:nvPr/>
        </p:nvCxnSpPr>
        <p:spPr>
          <a:xfrm>
            <a:off x="5388350" y="4808663"/>
            <a:ext cx="1088285" cy="120933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9" y="835130"/>
            <a:ext cx="4132924" cy="2100084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687" y="1074471"/>
            <a:ext cx="4870301" cy="810701"/>
          </a:xfrm>
          <a:prstGeom prst="rect">
            <a:avLst/>
          </a:prstGeom>
        </p:spPr>
      </p:pic>
      <p:sp>
        <p:nvSpPr>
          <p:cNvPr id="84" name="Content Placeholder 2"/>
          <p:cNvSpPr txBox="1">
            <a:spLocks/>
          </p:cNvSpPr>
          <p:nvPr/>
        </p:nvSpPr>
        <p:spPr>
          <a:xfrm>
            <a:off x="5843171" y="612819"/>
            <a:ext cx="4232963" cy="444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NFA that accept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string.</a:t>
            </a:r>
          </a:p>
          <a:p>
            <a:pPr marL="0" indent="0">
              <a:buFont typeface="Wingdings 3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Content Placeholder 2"/>
          <p:cNvSpPr txBox="1">
            <a:spLocks/>
          </p:cNvSpPr>
          <p:nvPr/>
        </p:nvSpPr>
        <p:spPr>
          <a:xfrm>
            <a:off x="3951201" y="2534151"/>
            <a:ext cx="4232963" cy="444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TG that accept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string.</a:t>
            </a:r>
          </a:p>
          <a:p>
            <a:pPr marL="0" indent="0">
              <a:buFont typeface="Wingdings 3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979679" y="5073983"/>
            <a:ext cx="586854" cy="600501"/>
          </a:xfrm>
          <a:prstGeom prst="ellips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x0</a:t>
            </a:r>
            <a:endParaRPr lang="en-US" sz="1600" b="1" dirty="0"/>
          </a:p>
        </p:txBody>
      </p:sp>
      <p:cxnSp>
        <p:nvCxnSpPr>
          <p:cNvPr id="89" name="Straight Arrow Connector 88"/>
          <p:cNvCxnSpPr>
            <a:endCxn id="87" idx="2"/>
          </p:cNvCxnSpPr>
          <p:nvPr/>
        </p:nvCxnSpPr>
        <p:spPr>
          <a:xfrm>
            <a:off x="8720372" y="5374233"/>
            <a:ext cx="259307" cy="1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/>
          <p:cNvGrpSpPr/>
          <p:nvPr/>
        </p:nvGrpSpPr>
        <p:grpSpPr>
          <a:xfrm>
            <a:off x="11019708" y="5026216"/>
            <a:ext cx="711254" cy="700361"/>
            <a:chOff x="11014193" y="2761963"/>
            <a:chExt cx="711254" cy="700361"/>
          </a:xfrm>
        </p:grpSpPr>
        <p:sp>
          <p:nvSpPr>
            <p:cNvPr id="88" name="Oval 87"/>
            <p:cNvSpPr/>
            <p:nvPr/>
          </p:nvSpPr>
          <p:spPr>
            <a:xfrm>
              <a:off x="11014193" y="2761963"/>
              <a:ext cx="711254" cy="700361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90" name="Oval 89"/>
            <p:cNvSpPr/>
            <p:nvPr/>
          </p:nvSpPr>
          <p:spPr>
            <a:xfrm>
              <a:off x="11076875" y="2807231"/>
              <a:ext cx="586854" cy="600501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/>
                <a:t>x4</a:t>
              </a:r>
              <a:endParaRPr lang="en-US" sz="1600" b="1" dirty="0"/>
            </a:p>
          </p:txBody>
        </p:sp>
      </p:grpSp>
      <p:cxnSp>
        <p:nvCxnSpPr>
          <p:cNvPr id="92" name="Straight Arrow Connector 91"/>
          <p:cNvCxnSpPr/>
          <p:nvPr/>
        </p:nvCxnSpPr>
        <p:spPr>
          <a:xfrm>
            <a:off x="9616089" y="5436180"/>
            <a:ext cx="1403619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969394" y="5028970"/>
            <a:ext cx="645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27618" y="4226025"/>
            <a:ext cx="573206" cy="5868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x0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044713" y="4214652"/>
            <a:ext cx="573206" cy="5868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x1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962820" y="5416434"/>
            <a:ext cx="573206" cy="5868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x2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520948" y="4171434"/>
            <a:ext cx="691486" cy="655093"/>
            <a:chOff x="7865660" y="3807725"/>
            <a:chExt cx="691486" cy="655093"/>
          </a:xfrm>
        </p:grpSpPr>
        <p:sp>
          <p:nvSpPr>
            <p:cNvPr id="51" name="Oval 50"/>
            <p:cNvSpPr/>
            <p:nvPr/>
          </p:nvSpPr>
          <p:spPr>
            <a:xfrm>
              <a:off x="7865660" y="3807725"/>
              <a:ext cx="691486" cy="655093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7933902" y="3853222"/>
              <a:ext cx="573206" cy="5868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x3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42" name="Straight Arrow Connector 41"/>
          <p:cNvCxnSpPr/>
          <p:nvPr/>
        </p:nvCxnSpPr>
        <p:spPr>
          <a:xfrm>
            <a:off x="2654335" y="4498980"/>
            <a:ext cx="866615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200824" y="4521727"/>
            <a:ext cx="866615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170240" y="4701421"/>
            <a:ext cx="786553" cy="937436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536031" y="4704194"/>
            <a:ext cx="1055215" cy="84817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27523" y="5084023"/>
            <a:ext cx="586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40704" y="4141415"/>
            <a:ext cx="586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34528" y="5165911"/>
            <a:ext cx="399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22634" y="4126277"/>
            <a:ext cx="399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31267" y="4569605"/>
            <a:ext cx="444711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83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52" grpId="0"/>
      <p:bldP spid="62" grpId="0"/>
      <p:bldP spid="63" grpId="0"/>
      <p:bldP spid="64" grpId="0" animBg="1"/>
      <p:bldP spid="65" grpId="0" animBg="1"/>
      <p:bldP spid="67" grpId="0"/>
      <p:bldP spid="71" grpId="0"/>
      <p:bldP spid="77" grpId="0"/>
      <p:bldP spid="84" grpId="0"/>
      <p:bldP spid="85" grpId="0"/>
      <p:bldP spid="87" grpId="0" animBg="1"/>
      <p:bldP spid="94" grpId="0"/>
      <p:bldP spid="38" grpId="0" animBg="1"/>
      <p:bldP spid="39" grpId="0" animBg="1"/>
      <p:bldP spid="40" grpId="0" animBg="1"/>
      <p:bldP spid="46" grpId="0"/>
      <p:bldP spid="47" grpId="0"/>
      <p:bldP spid="48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9344304" y="909778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478139" y="99613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B1683A0A-1C60-46A1-8B1E-D30F857EC5AA}"/>
              </a:ext>
            </a:extLst>
          </p:cNvPr>
          <p:cNvSpPr/>
          <p:nvPr/>
        </p:nvSpPr>
        <p:spPr>
          <a:xfrm>
            <a:off x="7412712" y="99722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9402150" y="9775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3725F07D-FDB6-4A11-86B1-C7210427437A}"/>
              </a:ext>
            </a:extLst>
          </p:cNvPr>
          <p:cNvCxnSpPr/>
          <p:nvPr/>
        </p:nvCxnSpPr>
        <p:spPr>
          <a:xfrm>
            <a:off x="8181899" y="1310823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6201470" y="1347399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>
            <a:endCxn id="6" idx="2"/>
          </p:cNvCxnSpPr>
          <p:nvPr/>
        </p:nvCxnSpPr>
        <p:spPr>
          <a:xfrm flipV="1">
            <a:off x="4927679" y="1315705"/>
            <a:ext cx="550460" cy="316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6426141" y="963433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BFAD3CB-8B1B-4B69-B994-B87B9A6AE9D8}"/>
              </a:ext>
            </a:extLst>
          </p:cNvPr>
          <p:cNvSpPr txBox="1"/>
          <p:nvPr/>
        </p:nvSpPr>
        <p:spPr>
          <a:xfrm>
            <a:off x="8394158" y="909778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37B8D91B-AE70-4540-B310-8F71D01E1B1F}"/>
              </a:ext>
            </a:extLst>
          </p:cNvPr>
          <p:cNvSpPr/>
          <p:nvPr/>
        </p:nvSpPr>
        <p:spPr>
          <a:xfrm>
            <a:off x="8139364" y="2694566"/>
            <a:ext cx="723331" cy="627153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D21D9718-691A-44B0-8407-1A80AE621839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8756766" y="1726850"/>
            <a:ext cx="734528" cy="10595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44C663F-07FA-4329-81A2-263AFD746F17}"/>
              </a:ext>
            </a:extLst>
          </p:cNvPr>
          <p:cNvSpPr txBox="1"/>
          <p:nvPr/>
        </p:nvSpPr>
        <p:spPr>
          <a:xfrm>
            <a:off x="9184219" y="208293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xmlns="" id="{8A32F044-BE83-4D0A-A22B-709C52119540}"/>
              </a:ext>
            </a:extLst>
          </p:cNvPr>
          <p:cNvSpPr/>
          <p:nvPr/>
        </p:nvSpPr>
        <p:spPr>
          <a:xfrm rot="14272751">
            <a:off x="7968404" y="2780879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766D196-CBFE-4FA4-9378-4BEC0D3C0F3C}"/>
              </a:ext>
            </a:extLst>
          </p:cNvPr>
          <p:cNvSpPr txBox="1"/>
          <p:nvPr/>
        </p:nvSpPr>
        <p:spPr>
          <a:xfrm>
            <a:off x="7833353" y="356518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069" y="482813"/>
            <a:ext cx="420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Eliminate State Methods: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1069" y="1100238"/>
            <a:ext cx="420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Convert the DFA into NFA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10392480" y="4433903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526315" y="452025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B1683A0A-1C60-46A1-8B1E-D30F857EC5AA}"/>
              </a:ext>
            </a:extLst>
          </p:cNvPr>
          <p:cNvSpPr/>
          <p:nvPr/>
        </p:nvSpPr>
        <p:spPr>
          <a:xfrm>
            <a:off x="8460888" y="452134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10450326" y="450169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3725F07D-FDB6-4A11-86B1-C7210427437A}"/>
              </a:ext>
            </a:extLst>
          </p:cNvPr>
          <p:cNvCxnSpPr/>
          <p:nvPr/>
        </p:nvCxnSpPr>
        <p:spPr>
          <a:xfrm>
            <a:off x="9230075" y="483494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7249646" y="4871524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7474317" y="4487558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BFAD3CB-8B1B-4B69-B994-B87B9A6AE9D8}"/>
              </a:ext>
            </a:extLst>
          </p:cNvPr>
          <p:cNvSpPr txBox="1"/>
          <p:nvPr/>
        </p:nvSpPr>
        <p:spPr>
          <a:xfrm>
            <a:off x="9442334" y="4433903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069" y="1690267"/>
            <a:ext cx="4203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Eliminate all sates between       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initial and final One by One.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/>
          <p:nvPr/>
        </p:nvCxnSpPr>
        <p:spPr>
          <a:xfrm>
            <a:off x="5975855" y="4871524"/>
            <a:ext cx="550460" cy="1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4729845" y="5141"/>
            <a:ext cx="2634141" cy="477672"/>
          </a:xfrm>
        </p:spPr>
        <p:txBody>
          <a:bodyPr/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DFA to RE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37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/>
      <p:bldP spid="13" grpId="0"/>
      <p:bldP spid="15" grpId="0" animBg="1"/>
      <p:bldP spid="17" grpId="0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8" grpId="0"/>
      <p:bldP spid="29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9344304" y="909778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478139" y="99613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B1683A0A-1C60-46A1-8B1E-D30F857EC5AA}"/>
              </a:ext>
            </a:extLst>
          </p:cNvPr>
          <p:cNvSpPr/>
          <p:nvPr/>
        </p:nvSpPr>
        <p:spPr>
          <a:xfrm>
            <a:off x="7412712" y="99722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9402150" y="9775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3725F07D-FDB6-4A11-86B1-C7210427437A}"/>
              </a:ext>
            </a:extLst>
          </p:cNvPr>
          <p:cNvCxnSpPr/>
          <p:nvPr/>
        </p:nvCxnSpPr>
        <p:spPr>
          <a:xfrm>
            <a:off x="8181899" y="1310823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6201470" y="1347399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>
            <a:endCxn id="6" idx="2"/>
          </p:cNvCxnSpPr>
          <p:nvPr/>
        </p:nvCxnSpPr>
        <p:spPr>
          <a:xfrm flipV="1">
            <a:off x="4927679" y="1315705"/>
            <a:ext cx="550460" cy="316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6426141" y="963433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BFAD3CB-8B1B-4B69-B994-B87B9A6AE9D8}"/>
              </a:ext>
            </a:extLst>
          </p:cNvPr>
          <p:cNvSpPr txBox="1"/>
          <p:nvPr/>
        </p:nvSpPr>
        <p:spPr>
          <a:xfrm>
            <a:off x="8394158" y="909778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37B8D91B-AE70-4540-B310-8F71D01E1B1F}"/>
              </a:ext>
            </a:extLst>
          </p:cNvPr>
          <p:cNvSpPr/>
          <p:nvPr/>
        </p:nvSpPr>
        <p:spPr>
          <a:xfrm>
            <a:off x="8139364" y="2694566"/>
            <a:ext cx="723331" cy="627153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D21D9718-691A-44B0-8407-1A80AE621839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8756766" y="1726850"/>
            <a:ext cx="734528" cy="105956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44C663F-07FA-4329-81A2-263AFD746F17}"/>
              </a:ext>
            </a:extLst>
          </p:cNvPr>
          <p:cNvSpPr txBox="1"/>
          <p:nvPr/>
        </p:nvSpPr>
        <p:spPr>
          <a:xfrm>
            <a:off x="9184219" y="208293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xmlns="" id="{8A32F044-BE83-4D0A-A22B-709C52119540}"/>
              </a:ext>
            </a:extLst>
          </p:cNvPr>
          <p:cNvSpPr/>
          <p:nvPr/>
        </p:nvSpPr>
        <p:spPr>
          <a:xfrm rot="14272751">
            <a:off x="7968404" y="2780879"/>
            <a:ext cx="540134" cy="887105"/>
          </a:xfrm>
          <a:prstGeom prst="arc">
            <a:avLst>
              <a:gd name="adj1" fmla="val 10711483"/>
              <a:gd name="adj2" fmla="val 0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1766D196-CBFE-4FA4-9378-4BEC0D3C0F3C}"/>
              </a:ext>
            </a:extLst>
          </p:cNvPr>
          <p:cNvSpPr txBox="1"/>
          <p:nvPr/>
        </p:nvSpPr>
        <p:spPr>
          <a:xfrm>
            <a:off x="7833353" y="3565185"/>
            <a:ext cx="614149" cy="3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069" y="482813"/>
            <a:ext cx="420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Eliminate State Methods: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1069" y="1100238"/>
            <a:ext cx="4203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Convert the DFA into NFA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10392480" y="4433903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526315" y="452025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B1683A0A-1C60-46A1-8B1E-D30F857EC5AA}"/>
              </a:ext>
            </a:extLst>
          </p:cNvPr>
          <p:cNvSpPr/>
          <p:nvPr/>
        </p:nvSpPr>
        <p:spPr>
          <a:xfrm>
            <a:off x="8460888" y="452134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10450326" y="450169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3725F07D-FDB6-4A11-86B1-C7210427437A}"/>
              </a:ext>
            </a:extLst>
          </p:cNvPr>
          <p:cNvCxnSpPr/>
          <p:nvPr/>
        </p:nvCxnSpPr>
        <p:spPr>
          <a:xfrm>
            <a:off x="9230075" y="4834948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7249646" y="4871524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7474317" y="4487558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9BFAD3CB-8B1B-4B69-B994-B87B9A6AE9D8}"/>
              </a:ext>
            </a:extLst>
          </p:cNvPr>
          <p:cNvSpPr txBox="1"/>
          <p:nvPr/>
        </p:nvSpPr>
        <p:spPr>
          <a:xfrm>
            <a:off x="9442334" y="4433903"/>
            <a:ext cx="6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a/b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069" y="1690267"/>
            <a:ext cx="4203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Eliminate all sates between       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initial and final One by One.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/>
          <p:nvPr/>
        </p:nvCxnSpPr>
        <p:spPr>
          <a:xfrm>
            <a:off x="5975855" y="4871524"/>
            <a:ext cx="550460" cy="1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4729845" y="5141"/>
            <a:ext cx="2634141" cy="477672"/>
          </a:xfrm>
        </p:spPr>
        <p:txBody>
          <a:bodyPr/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DFA to RE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4682746" y="3340460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816581" y="342681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B1683A0A-1C60-46A1-8B1E-D30F857EC5AA}"/>
              </a:ext>
            </a:extLst>
          </p:cNvPr>
          <p:cNvSpPr/>
          <p:nvPr/>
        </p:nvSpPr>
        <p:spPr>
          <a:xfrm>
            <a:off x="2751154" y="342790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4740592" y="340825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3725F07D-FDB6-4A11-86B1-C7210427437A}"/>
              </a:ext>
            </a:extLst>
          </p:cNvPr>
          <p:cNvCxnSpPr/>
          <p:nvPr/>
        </p:nvCxnSpPr>
        <p:spPr>
          <a:xfrm>
            <a:off x="3520341" y="3741505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1539912" y="3778081"/>
            <a:ext cx="11625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1764583" y="3394115"/>
            <a:ext cx="76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</a:t>
            </a:r>
            <a:r>
              <a:rPr lang="en-US" dirty="0" err="1" smtClean="0"/>
              <a:t>+b</a:t>
            </a:r>
            <a:endParaRPr lang="en-US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/>
          <p:nvPr/>
        </p:nvCxnSpPr>
        <p:spPr>
          <a:xfrm>
            <a:off x="266121" y="3778081"/>
            <a:ext cx="550460" cy="1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3721472" y="3328229"/>
            <a:ext cx="76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</a:t>
            </a:r>
            <a:r>
              <a:rPr lang="en-US" dirty="0" err="1" smtClean="0"/>
              <a:t>+b</a:t>
            </a:r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4608828" y="5053392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742663" y="5139748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4666674" y="512118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>
            <a:endCxn id="43" idx="2"/>
          </p:cNvCxnSpPr>
          <p:nvPr/>
        </p:nvCxnSpPr>
        <p:spPr>
          <a:xfrm flipV="1">
            <a:off x="1465994" y="5454438"/>
            <a:ext cx="3142834" cy="3657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2080239" y="5107047"/>
            <a:ext cx="101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a+b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xmlns="" id="{1DEEA4EA-443C-46EB-98EF-8AF4FB2D652C}"/>
              </a:ext>
            </a:extLst>
          </p:cNvPr>
          <p:cNvCxnSpPr/>
          <p:nvPr/>
        </p:nvCxnSpPr>
        <p:spPr>
          <a:xfrm>
            <a:off x="192203" y="5491013"/>
            <a:ext cx="550460" cy="164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BB927D62-B246-4288-85DC-D3E6A3144437}"/>
              </a:ext>
            </a:extLst>
          </p:cNvPr>
          <p:cNvSpPr txBox="1"/>
          <p:nvPr/>
        </p:nvSpPr>
        <p:spPr>
          <a:xfrm>
            <a:off x="2887301" y="5108530"/>
            <a:ext cx="94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a+b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98003" y="5855483"/>
            <a:ext cx="233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Multiply 2"/>
          <p:cNvSpPr/>
          <p:nvPr/>
        </p:nvSpPr>
        <p:spPr>
          <a:xfrm>
            <a:off x="2931986" y="3224431"/>
            <a:ext cx="361665" cy="1016187"/>
          </a:xfrm>
          <a:prstGeom prst="mathMultiply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5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9" grpId="0"/>
      <p:bldP spid="42" grpId="0"/>
      <p:bldP spid="43" grpId="0" animBg="1"/>
      <p:bldP spid="44" grpId="0" animBg="1"/>
      <p:bldP spid="46" grpId="0" animBg="1"/>
      <p:bldP spid="49" grpId="0"/>
      <p:bldP spid="51" grpId="0"/>
      <p:bldP spid="52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31342" y="111585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327513" y="1034380"/>
            <a:ext cx="839021" cy="802091"/>
            <a:chOff x="9344304" y="909778"/>
            <a:chExt cx="839021" cy="8020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183141" y="1433971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rved Up Arrow 12"/>
          <p:cNvSpPr/>
          <p:nvPr/>
        </p:nvSpPr>
        <p:spPr>
          <a:xfrm>
            <a:off x="1157061" y="1646039"/>
            <a:ext cx="1255594" cy="369505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 flipV="1">
            <a:off x="1203389" y="784761"/>
            <a:ext cx="1255594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6802" y="416633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6297" y="158504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855443" y="418590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551614" y="4104432"/>
            <a:ext cx="839021" cy="802091"/>
            <a:chOff x="9344304" y="909778"/>
            <a:chExt cx="839021" cy="80209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407242" y="4504023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rved Up Arrow 22"/>
          <p:cNvSpPr/>
          <p:nvPr/>
        </p:nvSpPr>
        <p:spPr>
          <a:xfrm flipV="1">
            <a:off x="889006" y="3772925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083" y="3355686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>
            <a:stCxn id="17" idx="6"/>
            <a:endCxn id="19" idx="2"/>
          </p:cNvCxnSpPr>
          <p:nvPr/>
        </p:nvCxnSpPr>
        <p:spPr>
          <a:xfrm>
            <a:off x="1578774" y="4505478"/>
            <a:ext cx="972840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29262" y="406090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4391184" y="93251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6087355" y="851040"/>
            <a:ext cx="839021" cy="802091"/>
            <a:chOff x="9344304" y="909778"/>
            <a:chExt cx="839021" cy="80209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3942983" y="1250631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4" idx="6"/>
            <a:endCxn id="46" idx="2"/>
          </p:cNvCxnSpPr>
          <p:nvPr/>
        </p:nvCxnSpPr>
        <p:spPr>
          <a:xfrm>
            <a:off x="5114515" y="1252086"/>
            <a:ext cx="972840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65003" y="807516"/>
            <a:ext cx="7223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+b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4739206" y="414238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6435377" y="4060908"/>
            <a:ext cx="839021" cy="802091"/>
            <a:chOff x="9344304" y="909778"/>
            <a:chExt cx="839021" cy="802091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4291005" y="4460499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2" idx="6"/>
            <a:endCxn id="54" idx="2"/>
          </p:cNvCxnSpPr>
          <p:nvPr/>
        </p:nvCxnSpPr>
        <p:spPr>
          <a:xfrm>
            <a:off x="5462537" y="4461954"/>
            <a:ext cx="972840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16817" y="4031067"/>
            <a:ext cx="361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5641" y="4031067"/>
            <a:ext cx="518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32598" y="991252"/>
            <a:ext cx="2006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</a:t>
            </a:r>
            <a:r>
              <a:rPr lang="en-US" sz="24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a+b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37106" y="4143869"/>
            <a:ext cx="2006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a* b</a:t>
            </a:r>
            <a:endParaRPr lang="en-US" sz="24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8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4" grpId="0" animBg="1"/>
      <p:bldP spid="15" grpId="0"/>
      <p:bldP spid="16" grpId="0"/>
      <p:bldP spid="17" grpId="0" animBg="1"/>
      <p:bldP spid="23" grpId="0" animBg="1"/>
      <p:bldP spid="24" grpId="0"/>
      <p:bldP spid="27" grpId="0"/>
      <p:bldP spid="44" grpId="0" animBg="1"/>
      <p:bldP spid="51" grpId="0"/>
      <p:bldP spid="52" grpId="0" animBg="1"/>
      <p:bldP spid="58" grpId="0"/>
      <p:bldP spid="59" grpId="0"/>
      <p:bldP spid="60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382198" y="105644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797985" y="945090"/>
            <a:ext cx="839021" cy="802091"/>
            <a:chOff x="9344304" y="909778"/>
            <a:chExt cx="839021" cy="80209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-66003" y="1374557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rved Up Arrow 9"/>
          <p:cNvSpPr/>
          <p:nvPr/>
        </p:nvSpPr>
        <p:spPr>
          <a:xfrm flipV="1">
            <a:off x="415761" y="643459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7838" y="226220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119797" y="1362329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56017" y="931442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2077714" y="102907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15" name="Curved Up Arrow 14"/>
          <p:cNvSpPr/>
          <p:nvPr/>
        </p:nvSpPr>
        <p:spPr>
          <a:xfrm flipV="1">
            <a:off x="2111277" y="616093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13354" y="198854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809403" y="1362329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45623" y="931442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9" name="Curved Up Arrow 18"/>
          <p:cNvSpPr/>
          <p:nvPr/>
        </p:nvSpPr>
        <p:spPr>
          <a:xfrm flipV="1">
            <a:off x="3946636" y="552959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8712" y="135720"/>
            <a:ext cx="698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,b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919468" y="104279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9335255" y="931442"/>
            <a:ext cx="839021" cy="802091"/>
            <a:chOff x="9344304" y="909778"/>
            <a:chExt cx="839021" cy="80209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5471267" y="1360909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rved Up Arrow 25"/>
          <p:cNvSpPr/>
          <p:nvPr/>
        </p:nvSpPr>
        <p:spPr>
          <a:xfrm flipV="1">
            <a:off x="5953031" y="629811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06968" y="905073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657067" y="1348681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93287" y="917794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7614984" y="101542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31" name="Curved Up Arrow 30"/>
          <p:cNvSpPr/>
          <p:nvPr/>
        </p:nvSpPr>
        <p:spPr>
          <a:xfrm flipV="1">
            <a:off x="7648547" y="602445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812595" y="209126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8346673" y="1348681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82893" y="917794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35" name="Curved Up Arrow 34"/>
          <p:cNvSpPr/>
          <p:nvPr/>
        </p:nvSpPr>
        <p:spPr>
          <a:xfrm flipV="1">
            <a:off x="9483906" y="539311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85982" y="122072"/>
            <a:ext cx="698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,b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382197" y="3023993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797984" y="2912642"/>
            <a:ext cx="839021" cy="802091"/>
            <a:chOff x="9344304" y="909778"/>
            <a:chExt cx="839021" cy="802091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-66004" y="3342109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69697" y="2886273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1119796" y="3329881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356016" y="2898994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2077713" y="299662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47" name="Curved Up Arrow 46"/>
          <p:cNvSpPr/>
          <p:nvPr/>
        </p:nvSpPr>
        <p:spPr>
          <a:xfrm flipV="1">
            <a:off x="2111276" y="2583645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42823" y="2173001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809402" y="3329881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045622" y="2898994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51" name="Curved Up Arrow 50"/>
          <p:cNvSpPr/>
          <p:nvPr/>
        </p:nvSpPr>
        <p:spPr>
          <a:xfrm flipV="1">
            <a:off x="3946635" y="2520511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48711" y="2103272"/>
            <a:ext cx="698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,b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919468" y="2928836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9335255" y="2817485"/>
            <a:ext cx="839021" cy="802091"/>
            <a:chOff x="9344304" y="909778"/>
            <a:chExt cx="839021" cy="80209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5471267" y="3246952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606968" y="2791116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6657067" y="3234724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93287" y="2803837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7614984" y="290147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62" name="Curved Up Arrow 61"/>
          <p:cNvSpPr/>
          <p:nvPr/>
        </p:nvSpPr>
        <p:spPr>
          <a:xfrm flipV="1">
            <a:off x="7648547" y="2488488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292598" y="2802807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 flipV="1">
            <a:off x="8346673" y="3234724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582893" y="2803837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66" name="Curved Up Arrow 65"/>
          <p:cNvSpPr/>
          <p:nvPr/>
        </p:nvSpPr>
        <p:spPr>
          <a:xfrm flipV="1">
            <a:off x="9483906" y="2425354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585982" y="2008115"/>
            <a:ext cx="6989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,b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30849" y="460235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4219596" y="4491006"/>
            <a:ext cx="839021" cy="802091"/>
            <a:chOff x="9344304" y="909778"/>
            <a:chExt cx="839021" cy="802091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82648" y="4920473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218349" y="4464637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1268448" y="4908245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504668" y="447735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2226365" y="457499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2903979" y="4476328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 flipV="1">
            <a:off x="2963294" y="4908245"/>
            <a:ext cx="1274988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194274" y="447735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51360" y="4461164"/>
            <a:ext cx="975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Curved Up Arrow 82"/>
          <p:cNvSpPr/>
          <p:nvPr/>
        </p:nvSpPr>
        <p:spPr>
          <a:xfrm flipV="1">
            <a:off x="4371688" y="4089999"/>
            <a:ext cx="627797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283565" y="450720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9972312" y="4395849"/>
            <a:ext cx="839021" cy="802091"/>
            <a:chOff x="9344304" y="909778"/>
            <a:chExt cx="839021" cy="802091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5835364" y="4825316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971065" y="4369480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7021164" y="4813088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257384" y="4382201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7979081" y="4479834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8656695" y="4381171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4" name="Straight Arrow Connector 93"/>
          <p:cNvCxnSpPr/>
          <p:nvPr/>
        </p:nvCxnSpPr>
        <p:spPr>
          <a:xfrm flipV="1">
            <a:off x="8716010" y="4813088"/>
            <a:ext cx="1274988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946990" y="4382201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04076" y="4366007"/>
            <a:ext cx="975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466174" y="5833307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99" name="Group 98"/>
          <p:cNvGrpSpPr/>
          <p:nvPr/>
        </p:nvGrpSpPr>
        <p:grpSpPr>
          <a:xfrm>
            <a:off x="4154921" y="5721956"/>
            <a:ext cx="839021" cy="802091"/>
            <a:chOff x="9344304" y="909778"/>
            <a:chExt cx="839021" cy="802091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17973" y="6151423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53674" y="5695587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4" name="Straight Arrow Connector 103"/>
          <p:cNvCxnSpPr/>
          <p:nvPr/>
        </p:nvCxnSpPr>
        <p:spPr>
          <a:xfrm flipV="1">
            <a:off x="1203773" y="6139195"/>
            <a:ext cx="957917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439993" y="570830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2161690" y="5805941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2839304" y="5707278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 flipV="1">
            <a:off x="2898619" y="6139195"/>
            <a:ext cx="1274988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129599" y="570830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86685" y="5692114"/>
            <a:ext cx="975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Multiply 110"/>
          <p:cNvSpPr/>
          <p:nvPr/>
        </p:nvSpPr>
        <p:spPr>
          <a:xfrm>
            <a:off x="2371434" y="5601225"/>
            <a:ext cx="361665" cy="1016187"/>
          </a:xfrm>
          <a:prstGeom prst="mathMultiply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5757207" y="569601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9445954" y="5584661"/>
            <a:ext cx="839021" cy="802091"/>
            <a:chOff x="9344304" y="909778"/>
            <a:chExt cx="839021" cy="802091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x2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5309006" y="6014128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841096" y="5547741"/>
            <a:ext cx="5788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8" name="Straight Arrow Connector 117"/>
          <p:cNvCxnSpPr/>
          <p:nvPr/>
        </p:nvCxnSpPr>
        <p:spPr>
          <a:xfrm flipV="1">
            <a:off x="6441394" y="6015583"/>
            <a:ext cx="3006356" cy="13683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127415" y="5560462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30337" y="5569983"/>
            <a:ext cx="52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420632" y="5571013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77718" y="5554819"/>
            <a:ext cx="975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657066" y="6335154"/>
            <a:ext cx="3422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a*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*b(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)*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7" grpId="0"/>
      <p:bldP spid="29" grpId="0"/>
      <p:bldP spid="30" grpId="0" animBg="1"/>
      <p:bldP spid="31" grpId="0" animBg="1"/>
      <p:bldP spid="32" grpId="0"/>
      <p:bldP spid="34" grpId="0"/>
      <p:bldP spid="35" grpId="0" animBg="1"/>
      <p:bldP spid="36" grpId="0"/>
      <p:bldP spid="37" grpId="0" animBg="1"/>
      <p:bldP spid="43" grpId="0"/>
      <p:bldP spid="45" grpId="0"/>
      <p:bldP spid="46" grpId="0" animBg="1"/>
      <p:bldP spid="47" grpId="0" animBg="1"/>
      <p:bldP spid="48" grpId="0"/>
      <p:bldP spid="50" grpId="0"/>
      <p:bldP spid="51" grpId="0" animBg="1"/>
      <p:bldP spid="52" grpId="0"/>
      <p:bldP spid="53" grpId="0" animBg="1"/>
      <p:bldP spid="58" grpId="0"/>
      <p:bldP spid="60" grpId="0"/>
      <p:bldP spid="61" grpId="0" animBg="1"/>
      <p:bldP spid="62" grpId="0" animBg="1"/>
      <p:bldP spid="63" grpId="0"/>
      <p:bldP spid="65" grpId="0"/>
      <p:bldP spid="66" grpId="0" animBg="1"/>
      <p:bldP spid="67" grpId="0"/>
      <p:bldP spid="68" grpId="0" animBg="1"/>
      <p:bldP spid="73" grpId="0"/>
      <p:bldP spid="75" grpId="0"/>
      <p:bldP spid="76" grpId="0" animBg="1"/>
      <p:bldP spid="78" grpId="0"/>
      <p:bldP spid="80" grpId="0"/>
      <p:bldP spid="82" grpId="0"/>
      <p:bldP spid="83" grpId="0" animBg="1"/>
      <p:bldP spid="84" grpId="0" animBg="1"/>
      <p:bldP spid="89" grpId="0"/>
      <p:bldP spid="91" grpId="0"/>
      <p:bldP spid="92" grpId="0" animBg="1"/>
      <p:bldP spid="93" grpId="0"/>
      <p:bldP spid="95" grpId="0"/>
      <p:bldP spid="96" grpId="0"/>
      <p:bldP spid="98" grpId="0" animBg="1"/>
      <p:bldP spid="103" grpId="0"/>
      <p:bldP spid="105" grpId="0"/>
      <p:bldP spid="106" grpId="0" animBg="1"/>
      <p:bldP spid="107" grpId="0"/>
      <p:bldP spid="109" grpId="0"/>
      <p:bldP spid="110" grpId="0"/>
      <p:bldP spid="111" grpId="0" animBg="1"/>
      <p:bldP spid="112" grpId="0" animBg="1"/>
      <p:bldP spid="117" grpId="0"/>
      <p:bldP spid="119" grpId="0"/>
      <p:bldP spid="121" grpId="0"/>
      <p:bldP spid="123" grpId="0"/>
      <p:bldP spid="124" grpId="0"/>
      <p:bldP spid="1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7101BBB-7F6C-4878-8A54-D0E9190D9F51}"/>
              </a:ext>
            </a:extLst>
          </p:cNvPr>
          <p:cNvSpPr/>
          <p:nvPr/>
        </p:nvSpPr>
        <p:spPr>
          <a:xfrm>
            <a:off x="549708" y="3162002"/>
            <a:ext cx="839021" cy="802091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urved Up Arrow 20"/>
          <p:cNvSpPr/>
          <p:nvPr/>
        </p:nvSpPr>
        <p:spPr>
          <a:xfrm flipV="1">
            <a:off x="1285531" y="2902438"/>
            <a:ext cx="1255594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31342" y="1115855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27513" y="1034380"/>
            <a:ext cx="839021" cy="802091"/>
            <a:chOff x="9344304" y="909778"/>
            <a:chExt cx="839021" cy="80209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183141" y="1433971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rved Up Arrow 9"/>
          <p:cNvSpPr/>
          <p:nvPr/>
        </p:nvSpPr>
        <p:spPr>
          <a:xfrm rot="10476663" flipV="1">
            <a:off x="1225405" y="3821329"/>
            <a:ext cx="1255594" cy="347526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Up Arrow 10"/>
          <p:cNvSpPr/>
          <p:nvPr/>
        </p:nvSpPr>
        <p:spPr>
          <a:xfrm flipV="1">
            <a:off x="1203389" y="784761"/>
            <a:ext cx="1255594" cy="41298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6802" y="416633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6297" y="1585048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778" y="1211444"/>
            <a:ext cx="1392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a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1748" y="1225145"/>
            <a:ext cx="1392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604300" y="3233532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ADAA8639-75D1-41F6-9E83-AE3CC412C4B0}"/>
              </a:ext>
            </a:extLst>
          </p:cNvPr>
          <p:cNvSpPr/>
          <p:nvPr/>
        </p:nvSpPr>
        <p:spPr>
          <a:xfrm>
            <a:off x="2358317" y="3219849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156099" y="3551648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69760" y="2534310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79255" y="3702725"/>
            <a:ext cx="361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728" y="3248731"/>
            <a:ext cx="898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14510" y="2993077"/>
            <a:ext cx="37863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ᵋ</a:t>
            </a:r>
            <a:endParaRPr lang="en-US" sz="6000" dirty="0"/>
          </a:p>
        </p:txBody>
      </p:sp>
      <p:sp>
        <p:nvSpPr>
          <p:cNvPr id="26" name="TextBox 25"/>
          <p:cNvSpPr txBox="1"/>
          <p:nvPr/>
        </p:nvSpPr>
        <p:spPr>
          <a:xfrm>
            <a:off x="5231121" y="3200224"/>
            <a:ext cx="1392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Curved Up Arrow 26"/>
          <p:cNvSpPr/>
          <p:nvPr/>
        </p:nvSpPr>
        <p:spPr>
          <a:xfrm rot="10476663" flipV="1">
            <a:off x="1116220" y="1731302"/>
            <a:ext cx="1255594" cy="347526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02105" y="1194523"/>
            <a:ext cx="1392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45706" y="3165292"/>
            <a:ext cx="1392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6862" y="3173052"/>
            <a:ext cx="1836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RE = (</a:t>
            </a:r>
            <a:r>
              <a:rPr lang="en-US" sz="2400" b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)* 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A6F81662-F656-469E-A7BC-A8717DFC1A27}"/>
              </a:ext>
            </a:extLst>
          </p:cNvPr>
          <p:cNvSpPr/>
          <p:nvPr/>
        </p:nvSpPr>
        <p:spPr>
          <a:xfrm>
            <a:off x="3906550" y="1197330"/>
            <a:ext cx="723331" cy="639142"/>
          </a:xfrm>
          <a:prstGeom prst="ellips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x0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602721" y="1115855"/>
            <a:ext cx="839021" cy="802091"/>
            <a:chOff x="9344304" y="909778"/>
            <a:chExt cx="839021" cy="80209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xmlns="" id="{E7101BBB-7F6C-4878-8A54-D0E9190D9F51}"/>
                </a:ext>
              </a:extLst>
            </p:cNvPr>
            <p:cNvSpPr/>
            <p:nvPr/>
          </p:nvSpPr>
          <p:spPr>
            <a:xfrm>
              <a:off x="9344304" y="909778"/>
              <a:ext cx="839021" cy="802091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xmlns="" id="{ADAA8639-75D1-41F6-9E83-AE3CC412C4B0}"/>
                </a:ext>
              </a:extLst>
            </p:cNvPr>
            <p:cNvSpPr/>
            <p:nvPr/>
          </p:nvSpPr>
          <p:spPr>
            <a:xfrm>
              <a:off x="9402150" y="977570"/>
              <a:ext cx="723331" cy="639142"/>
            </a:xfrm>
            <a:prstGeom prst="ellips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x1</a:t>
              </a:r>
              <a:endParaRPr lang="en-US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1DE68DE4-69F6-4492-A968-2A8959D11390}"/>
              </a:ext>
            </a:extLst>
          </p:cNvPr>
          <p:cNvCxnSpPr/>
          <p:nvPr/>
        </p:nvCxnSpPr>
        <p:spPr>
          <a:xfrm>
            <a:off x="3458349" y="1515446"/>
            <a:ext cx="44820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17161" y="1016732"/>
            <a:ext cx="11967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 (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4658786" y="1515446"/>
            <a:ext cx="972840" cy="0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10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10" grpId="0" animBg="1"/>
      <p:bldP spid="14" grpId="0"/>
      <p:bldP spid="15" grpId="0"/>
      <p:bldP spid="16" grpId="0" animBg="1"/>
      <p:bldP spid="19" grpId="0" animBg="1"/>
      <p:bldP spid="22" grpId="0"/>
      <p:bldP spid="23" grpId="0"/>
      <p:bldP spid="24" grpId="0"/>
      <p:bldP spid="25" grpId="0"/>
      <p:bldP spid="26" grpId="0"/>
      <p:bldP spid="28" grpId="0"/>
      <p:bldP spid="29" grpId="0"/>
      <p:bldP spid="31" grpId="0"/>
      <p:bldP spid="30" grpId="0" animBg="1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972" y="475857"/>
            <a:ext cx="4402138" cy="425263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a*b*   =   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)*                             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)*  =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)*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(a*)*  =  a*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(a*  +  b*)*  = 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a+b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)*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03168-B5C7-47B0-92CD-29BB54F18DB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76800" y="450562"/>
            <a:ext cx="895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6800" y="1593562"/>
            <a:ext cx="895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No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14900" y="2679412"/>
            <a:ext cx="895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44468" y="3746212"/>
            <a:ext cx="895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Yes</a:t>
            </a:r>
            <a:endParaRPr 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88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40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3424</TotalTime>
  <Words>361</Words>
  <Application>Microsoft Office PowerPoint</Application>
  <PresentationFormat>Widescreen</PresentationFormat>
  <Paragraphs>203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Ion</vt:lpstr>
      <vt:lpstr>Theory of Automata  &amp;  Formal Languages CS-224</vt:lpstr>
      <vt:lpstr>Transection Graph</vt:lpstr>
      <vt:lpstr>Transection Graph</vt:lpstr>
      <vt:lpstr>DFA to RE</vt:lpstr>
      <vt:lpstr>DFA to RE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  &amp;  Formal Languages CS-214</dc:title>
  <dc:creator>Lenovo</dc:creator>
  <cp:lastModifiedBy>Dr. Amir Mehmood</cp:lastModifiedBy>
  <cp:revision>251</cp:revision>
  <dcterms:created xsi:type="dcterms:W3CDTF">2020-08-06T16:55:45Z</dcterms:created>
  <dcterms:modified xsi:type="dcterms:W3CDTF">2024-05-03T06:39:18Z</dcterms:modified>
</cp:coreProperties>
</file>