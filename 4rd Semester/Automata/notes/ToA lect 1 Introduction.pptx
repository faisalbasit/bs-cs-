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5" r:id="rId18"/>
    <p:sldId id="283" r:id="rId19"/>
    <p:sldId id="276" r:id="rId20"/>
    <p:sldId id="277" r:id="rId21"/>
    <p:sldId id="278" r:id="rId22"/>
    <p:sldId id="279" r:id="rId23"/>
    <p:sldId id="280" r:id="rId24"/>
    <p:sldId id="30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ECD9B9F8-5A03-4B2A-9744-1433ADC116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Sir Syed Universiry of Enginering &amp; Technology, Karachi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ADF8422-0993-40CC-8529-339DDA8D5D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01DFC-ABF6-4E3B-ABDD-266D89C0F9C1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C4325F8-C9B4-4C1C-A544-633ECB7D22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FC391FE-CDB8-48BB-BE06-EC7DFAEFC4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956F2-A969-4981-89C3-6E60B19F5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9823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Sir Syed Universiry of Enginering &amp; Technology, Karachi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84302-7F06-4495-B63E-551AFCD22270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E15F48-0C45-40DA-A98A-A15942A3B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1072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046F-8C6E-4A50-916D-6F6A99B42A73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8C74-7A71-4AC2-8740-D96DFDE59415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2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4D17-C962-4CF5-AFDC-593AA835D77E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50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C064-084D-4A5A-83ED-65F05C969760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99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C23C5-2A29-43F3-A456-4FE7A65D88ED}" type="datetime1">
              <a:rPr lang="en-US" smtClean="0"/>
              <a:t>3/18/2024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6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9E50-6A70-4B20-B1A6-46677B429E2F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40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0F36-3141-4356-90CF-10303E07C676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73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4DCDC-FB4B-44C5-898A-EE5EAFB7E536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17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F5EE9-AA2A-4AD1-86FD-EBD948B130F6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48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D8E5C-2085-4CE6-8042-E823487A78EC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50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30CD9-B4BB-4FCA-B3C5-B6F45A37F83F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97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E175-14A6-4D90-AD9E-4352ABA28F73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3774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49565-0C37-41CC-90FC-A78204176F67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20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F165-86A3-41F6-802B-6F12FF4E583B}" type="datetime1">
              <a:rPr lang="en-US" smtClean="0"/>
              <a:t>3/18/2024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75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32DCF-791E-4424-A506-D9870709722F}" type="datetime1">
              <a:rPr lang="en-US" smtClean="0"/>
              <a:t>3/18/2024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93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99D6-EC23-4DD1-AFB9-2FC417AD22E1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55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82E0-9AA1-49DA-85F3-2EDD3EC48120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63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64D0DEE-251F-41C6-9F1F-3D5B56A5C550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453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30FC02-A163-4881-AB92-5D58261BA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729" y="1192697"/>
            <a:ext cx="8825658" cy="4287050"/>
          </a:xfrm>
        </p:spPr>
        <p:txBody>
          <a:bodyPr/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of Automata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Languages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7999725-D0CC-406C-B9E2-9CEA777B7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5AAD019-5575-4FDF-9A25-A21EAAA04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" y="0"/>
            <a:ext cx="1562983" cy="1562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6837D31-6D79-4AFC-9E3E-AE054EE8D669}"/>
              </a:ext>
            </a:extLst>
          </p:cNvPr>
          <p:cNvSpPr txBox="1"/>
          <p:nvPr/>
        </p:nvSpPr>
        <p:spPr>
          <a:xfrm>
            <a:off x="1603663" y="111063"/>
            <a:ext cx="7631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 Syed University of Engineering &amp; Technology, Karachi</a:t>
            </a:r>
          </a:p>
        </p:txBody>
      </p:sp>
    </p:spTree>
    <p:extLst>
      <p:ext uri="{BB962C8B-B14F-4D97-AF65-F5344CB8AC3E}">
        <p14:creationId xmlns:p14="http://schemas.microsoft.com/office/powerpoint/2010/main" val="4022469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B7811D-6891-4372-8470-938CF3BE6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411" y="295729"/>
            <a:ext cx="9404723" cy="92550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47C583D-C530-4B15-9D04-8D8AFA995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142" y="1221237"/>
            <a:ext cx="9085398" cy="5182769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Automata(FA)  (Deterministic FA and Non-Deterministic FAs.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expressions,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/>
              <a:t>ransition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 (TG)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of Regular Languages and Finite Automata;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Transducers (automata with output)Moore and Mealy Machines,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Non-regular Languages;.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Context-free Grammar and Languages;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Decidability for Context-free Languages;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Non-context-free Languages; Pushdown Automata,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Turing machines.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EDCA1C0-C2CF-4AFA-84EE-ED9BCC43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4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E9B4AF-4773-4D7E-AF5D-9CFFEA5D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017" y="143040"/>
            <a:ext cx="4464265" cy="648888"/>
          </a:xfrm>
        </p:spPr>
        <p:txBody>
          <a:bodyPr/>
          <a:lstStyle/>
          <a:p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7299B69-FA61-41EB-9208-353D5F479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829" y="1063416"/>
            <a:ext cx="10510198" cy="5794584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Book: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Denial I. A. Cohen Introduction to Computer Theory, Second Edition, John Wiley &amp; Sons.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Automata, Computability and Complexity: Theory and Applications, by Elaine Rich.</a:t>
            </a:r>
          </a:p>
          <a:p>
            <a:pPr marL="457200" lvl="1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Detail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Sessional                                    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Quizzes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Midterm Examination               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Examination                      50%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922D509-972C-407B-92A6-5122EAB0D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6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A2CF3A-6F7B-44F8-89AD-CBFF08BF0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6664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Automata?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FB9FEC5-A36C-44C4-B64F-FE15DBC01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629838"/>
            <a:ext cx="8946541" cy="419548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 "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is derived from the Greek word "α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ὐτόμ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ατα" which means "self-acting".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plural) is an abstract self-propelled computing device which follows a predetermined sequence of operations automatically.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8F4E82F-69E6-4126-B1DB-DD2EFC99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4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33FBF1-D479-4CCE-8EC0-4449D706C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64353"/>
            <a:ext cx="9404723" cy="767687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automata theory?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C0BF6F3-A7A9-4E9F-8799-6870CD155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470" y="1616190"/>
            <a:ext cx="9302364" cy="4538950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Automata theory is the study of “abstract computational devices”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devices are (simplified) models of real computations 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Computations happen everywhere: On your laptop, on your cell phone, in nature, …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1CFDECA-202E-4A65-AC14-BD609D997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2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BE1180-AB52-4FE1-B5F4-3BAE5DB0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40" y="141943"/>
            <a:ext cx="9404723" cy="77918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45B382D-085A-4565-8707-3EAE88DD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6</a:t>
            </a:fld>
            <a:endParaRPr lang="en-US"/>
          </a:p>
        </p:txBody>
      </p:sp>
      <p:sp>
        <p:nvSpPr>
          <p:cNvPr id="6" name="Text Box 4">
            <a:extLst>
              <a:ext uri="{FF2B5EF4-FFF2-40B4-BE49-F238E27FC236}">
                <a16:creationId xmlns="" xmlns:a16="http://schemas.microsoft.com/office/drawing/2014/main" id="{07266142-2D43-4B3B-8D98-0BA1BB10D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4173" y="1475104"/>
            <a:ext cx="1248815" cy="548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1930s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="" xmlns:a16="http://schemas.microsoft.com/office/drawing/2014/main" id="{0E2CB078-8472-4AE4-B54C-FF698C208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0910" y="1169647"/>
            <a:ext cx="6742423" cy="1404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Alan Turing defined machines more powerful than any in existence, or even any that we could imagine – Goal was to establish the boundary between what was and was not computable.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="" xmlns:a16="http://schemas.microsoft.com/office/drawing/2014/main" id="{34CEE09F-B7C0-449D-850C-70FF4B371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796" y="3121855"/>
            <a:ext cx="2208388" cy="548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1940-1950s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="" xmlns:a16="http://schemas.microsoft.com/office/drawing/2014/main" id="{FB9E1767-D5D8-4604-9DB1-8C13763EE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7686" y="2838069"/>
            <a:ext cx="6482497" cy="1078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machines studied</a:t>
            </a:r>
          </a:p>
          <a:p>
            <a:pPr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Noam Chomsky proposes the  “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Chomsky Hierarchy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for formal languages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="" xmlns:a16="http://schemas.microsoft.com/office/drawing/2014/main" id="{5733BE68-94D2-4F78-BC09-64B029D49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220" y="4732393"/>
            <a:ext cx="851515" cy="392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1960--</a:t>
            </a:r>
          </a:p>
        </p:txBody>
      </p:sp>
      <p:sp>
        <p:nvSpPr>
          <p:cNvPr id="14" name="Line 13">
            <a:extLst>
              <a:ext uri="{FF2B5EF4-FFF2-40B4-BE49-F238E27FC236}">
                <a16:creationId xmlns="" xmlns:a16="http://schemas.microsoft.com/office/drawing/2014/main" id="{82E5851F-7497-4ECF-B65D-BE24C3A21B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342" y="2527195"/>
            <a:ext cx="91931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4">
            <a:extLst>
              <a:ext uri="{FF2B5EF4-FFF2-40B4-BE49-F238E27FC236}">
                <a16:creationId xmlns="" xmlns:a16="http://schemas.microsoft.com/office/drawing/2014/main" id="{9C46E25F-DFB1-4A38-8400-C96A7991D4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534" y="4448404"/>
            <a:ext cx="91931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6">
            <a:extLst>
              <a:ext uri="{FF2B5EF4-FFF2-40B4-BE49-F238E27FC236}">
                <a16:creationId xmlns="" xmlns:a16="http://schemas.microsoft.com/office/drawing/2014/main" id="{A4078D35-3719-41C8-AC4F-5E7BCA8653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1340" y="1063416"/>
            <a:ext cx="11727" cy="47322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AC53D41E-26F5-489A-A30D-43A92F5B50E0}"/>
              </a:ext>
            </a:extLst>
          </p:cNvPr>
          <p:cNvSpPr/>
          <p:nvPr/>
        </p:nvSpPr>
        <p:spPr>
          <a:xfrm>
            <a:off x="3249184" y="4625872"/>
            <a:ext cx="657630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convergence of all this into a formal theory of computer science, with very deep philosophical implications as well as practical applications (compilers, web searching, hardware, A.I., algorithm design, software engineering,…)</a:t>
            </a:r>
          </a:p>
        </p:txBody>
      </p:sp>
    </p:spTree>
    <p:extLst>
      <p:ext uri="{BB962C8B-B14F-4D97-AF65-F5344CB8AC3E}">
        <p14:creationId xmlns:p14="http://schemas.microsoft.com/office/powerpoint/2010/main" val="2473227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DA5EA97-04E6-4D04-BEEF-20577AEC0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694" y="0"/>
            <a:ext cx="3995162" cy="767687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0FE783E-5CA5-4501-9E0C-0113EE83B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4C21826-4C85-40A5-B13A-DA21C80799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6" t="17778" b="3429"/>
          <a:stretch/>
        </p:blipFill>
        <p:spPr>
          <a:xfrm>
            <a:off x="1496289" y="1063416"/>
            <a:ext cx="8354291" cy="540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A0F6763-8B95-45AD-A75B-5A572D7CE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2FA6873-707C-4D81-AAF4-79B9D12F6D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80" b="3900"/>
          <a:stretch/>
        </p:blipFill>
        <p:spPr>
          <a:xfrm>
            <a:off x="1357744" y="937326"/>
            <a:ext cx="8728364" cy="558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5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0ED8345-8EF1-4AC9-AF70-D2FFE9E2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80EF56B-6D46-4A26-8607-E301D84D20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22"/>
          <a:stretch/>
        </p:blipFill>
        <p:spPr>
          <a:xfrm>
            <a:off x="1001261" y="679571"/>
            <a:ext cx="9015575" cy="595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99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A6009F0-44A6-4C99-844D-5CEC976D5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8CEC2576-EF22-4C21-840C-EADB12D2BB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1"/>
          <a:stretch/>
        </p:blipFill>
        <p:spPr>
          <a:xfrm>
            <a:off x="872836" y="596348"/>
            <a:ext cx="8933773" cy="616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3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FBDFF71-ED62-4650-86D8-02A6E254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26E9E39-EA71-4BDF-A8A3-343F3BE4BA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0"/>
          <a:stretch/>
        </p:blipFill>
        <p:spPr>
          <a:xfrm>
            <a:off x="1133783" y="809587"/>
            <a:ext cx="8492836" cy="575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76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39EEFDF-647E-40E4-B5A5-D9D355E7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3C4B819-CBDE-4025-B8F5-7E40CAD2F6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2"/>
          <a:stretch/>
        </p:blipFill>
        <p:spPr>
          <a:xfrm>
            <a:off x="1001261" y="841743"/>
            <a:ext cx="8911365" cy="578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73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FD33B2E8-9B2C-4230-966E-CAD45D6A04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7"/>
          <a:stretch/>
        </p:blipFill>
        <p:spPr>
          <a:xfrm>
            <a:off x="1321974" y="1063415"/>
            <a:ext cx="8696670" cy="5536167"/>
          </a:xfrm>
        </p:spPr>
      </p:pic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FCB215D-B8A9-4C20-9A03-59678B59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28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8668690-4A28-446B-BAA2-771AD2003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69" y="464477"/>
            <a:ext cx="10728470" cy="592904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Applications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for designing and checking the behavior of digital circuits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analyzer of a typical compiler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for scanning large bodies of text (e.g., web pages) for pattern finding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for verifying systems of all types that have a finite number of states (e.g., stock market transaction, communication/network protocol)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Applications 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/ Machine Learning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782A86C-8DAC-43F7-9A4D-F1C82C750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6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F38C2D-3DF3-4A7F-BC90-AC5DE8E5F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137" y="1178274"/>
            <a:ext cx="8587645" cy="5304484"/>
          </a:xfrm>
        </p:spPr>
        <p:txBody>
          <a:bodyPr>
            <a:normAutofit/>
          </a:bodyPr>
          <a:lstStyle/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common way to talk about words, number, pairs of words, etc. is by representing them as </a:t>
            </a:r>
            <a:r>
              <a:rPr lang="en-US" altLang="en-US" sz="22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endParaRPr lang="en-US" altLang="en-US" sz="2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define strings, we start with an </a:t>
            </a:r>
            <a:r>
              <a:rPr lang="en-US" altLang="en-US" sz="22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alphabet</a:t>
            </a:r>
          </a:p>
          <a:p>
            <a:endParaRPr lang="en-US" altLang="en-US" sz="2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>
              <a:spcBef>
                <a:spcPct val="20000"/>
              </a:spcBef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{a, b, c, d, …, z}: the set of letters in English</a:t>
            </a:r>
          </a:p>
          <a:p>
            <a:pPr>
              <a:spcBef>
                <a:spcPct val="20000"/>
              </a:spcBef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{0, 1, …, 9}: the set of (base 10) digits</a:t>
            </a:r>
          </a:p>
          <a:p>
            <a:pPr>
              <a:spcBef>
                <a:spcPct val="20000"/>
              </a:spcBef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{a, b, …, z, #}: the set of letters plus the </a:t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special symbol #</a:t>
            </a:r>
          </a:p>
          <a:p>
            <a:pPr>
              <a:spcBef>
                <a:spcPct val="20000"/>
              </a:spcBef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{(, )}: the set of open and closed brackets </a:t>
            </a:r>
          </a:p>
          <a:p>
            <a:endParaRPr lang="en-US" altLang="en-US" sz="2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44CA663-8198-4DE3-A14F-6B22AEE7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4FBB946E-4B34-4D36-B358-B8404AA07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5502" y="110198"/>
            <a:ext cx="9404350" cy="767687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Alphabets and strings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="" xmlns:a16="http://schemas.microsoft.com/office/drawing/2014/main" id="{BC386C51-21C3-4D95-BAF1-55A520264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427" y="2909887"/>
            <a:ext cx="5767387" cy="51911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2800" dirty="0">
                <a:solidFill>
                  <a:schemeClr val="bg1"/>
                </a:solidFill>
                <a:latin typeface="Gill Sans MT" panose="020B0502020104020203" pitchFamily="34" charset="0"/>
              </a:rPr>
              <a:t>An</a:t>
            </a:r>
            <a:r>
              <a:rPr lang="en-US" altLang="en-US" sz="2800" dirty="0">
                <a:latin typeface="Gill Sans MT" panose="020B0502020104020203" pitchFamily="34" charset="0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Gill Sans MT" panose="020B0502020104020203" pitchFamily="34" charset="0"/>
              </a:rPr>
              <a:t>alphabet</a:t>
            </a:r>
            <a:r>
              <a:rPr lang="en-US" altLang="en-US" sz="2800" dirty="0">
                <a:latin typeface="Gill Sans MT" panose="020B0502020104020203" pitchFamily="34" charset="0"/>
              </a:rPr>
              <a:t> </a:t>
            </a:r>
            <a:r>
              <a:rPr lang="en-US" altLang="en-US" sz="2800" dirty="0">
                <a:solidFill>
                  <a:schemeClr val="bg1"/>
                </a:solidFill>
                <a:latin typeface="Gill Sans MT" panose="020B0502020104020203" pitchFamily="34" charset="0"/>
              </a:rPr>
              <a:t>is a finite set of symbols.</a:t>
            </a:r>
          </a:p>
        </p:txBody>
      </p:sp>
    </p:spTree>
    <p:extLst>
      <p:ext uri="{BB962C8B-B14F-4D97-AF65-F5344CB8AC3E}">
        <p14:creationId xmlns:p14="http://schemas.microsoft.com/office/powerpoint/2010/main" val="2463234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2AF9AF-221C-4C08-BD15-3DBF5425D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99" y="2539615"/>
            <a:ext cx="8946541" cy="4195481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lvl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abfbz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string over S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{a, b, c, d, …, z}</a:t>
            </a:r>
          </a:p>
          <a:p>
            <a:pPr lvl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9021 is a string over S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{0, 1, …, 9}</a:t>
            </a:r>
          </a:p>
          <a:p>
            <a:pPr lvl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ab#bc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string over S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{a, b, …, z, #}</a:t>
            </a:r>
          </a:p>
          <a:p>
            <a:pPr lvl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))()(() is a string over S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{(, )}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 string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be denoted by 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or </a:t>
            </a:r>
            <a:r>
              <a:rPr lang="el-GR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A2E8F2C-7CD9-4F4D-B141-E94CC8E3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16</a:t>
            </a:fld>
            <a:endParaRPr lang="en-US"/>
          </a:p>
        </p:txBody>
      </p:sp>
      <p:sp>
        <p:nvSpPr>
          <p:cNvPr id="6" name="Text Box 4">
            <a:extLst>
              <a:ext uri="{FF2B5EF4-FFF2-40B4-BE49-F238E27FC236}">
                <a16:creationId xmlns="" xmlns:a16="http://schemas.microsoft.com/office/drawing/2014/main" id="{776EF83E-BEA7-4891-A0E2-7DACE0DFE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8810" y="586362"/>
            <a:ext cx="6479081" cy="9541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over alphabet S is a finite sequence</a:t>
            </a:r>
            <a:b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symbols in S.</a:t>
            </a:r>
          </a:p>
        </p:txBody>
      </p:sp>
    </p:spTree>
    <p:extLst>
      <p:ext uri="{BB962C8B-B14F-4D97-AF65-F5344CB8AC3E}">
        <p14:creationId xmlns:p14="http://schemas.microsoft.com/office/powerpoint/2010/main" val="119160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0502C62-E541-4E89-BB3F-D612707DA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054" y="1639964"/>
            <a:ext cx="8969836" cy="5218036"/>
          </a:xfrm>
        </p:spPr>
        <p:txBody>
          <a:bodyPr>
            <a:normAutofit lnSpcReduction="10000"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 can be used to describe problems with “yes/no” answers, for example:</a:t>
            </a:r>
          </a:p>
          <a:p>
            <a:pPr>
              <a:spcBef>
                <a:spcPct val="20000"/>
              </a:spcBef>
            </a:pP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	The set of all strings over S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contain</a:t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substring “fool”</a:t>
            </a:r>
          </a:p>
          <a:p>
            <a:pPr lvl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	The set of all strings over S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are divisible by 7</a:t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=	{7, 14, 21, …}</a:t>
            </a:r>
          </a:p>
          <a:p>
            <a:pPr lvl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	The set of all strings of the form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s#s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s is any</a:t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string over {a, b, …, z}</a:t>
            </a:r>
          </a:p>
          <a:p>
            <a:pPr lvl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	The set of all strings over S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every ( can be</a:t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matched with a subsequent 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3AAF3A0-CE2D-4463-BA44-27A2E8A1E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17</a:t>
            </a:fld>
            <a:endParaRPr lang="en-US"/>
          </a:p>
        </p:txBody>
      </p:sp>
      <p:sp>
        <p:nvSpPr>
          <p:cNvPr id="5" name="Text Box 4">
            <a:extLst>
              <a:ext uri="{FF2B5EF4-FFF2-40B4-BE49-F238E27FC236}">
                <a16:creationId xmlns="" xmlns:a16="http://schemas.microsoft.com/office/drawing/2014/main" id="{9A779737-96F0-405A-A94B-BE16C444C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644" y="644015"/>
            <a:ext cx="6869701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set of strings over an alphabet.</a:t>
            </a:r>
          </a:p>
        </p:txBody>
      </p:sp>
    </p:spTree>
    <p:extLst>
      <p:ext uri="{BB962C8B-B14F-4D97-AF65-F5344CB8AC3E}">
        <p14:creationId xmlns:p14="http://schemas.microsoft.com/office/powerpoint/2010/main" val="118919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353CBD-B7C8-4B96-897D-2A9E50A90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7676" y="28649"/>
            <a:ext cx="3939141" cy="56770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Automata.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5283848-55F1-4647-9C37-142BCEA54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345" y="930894"/>
            <a:ext cx="9799195" cy="576593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Automata are distinguished by the temporary memory</a:t>
            </a:r>
          </a:p>
          <a:p>
            <a:pPr lvl="1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temporary memory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model “small” computers</a:t>
            </a:r>
          </a:p>
          <a:p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Pushdown Automata: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with infinite memory that can be accessed in a restricted way.. Use to model parser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Turing Machines: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access memory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with infinite memory. Used to model any computer.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0258A0F-F700-4113-889C-26AED072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8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53B06DD-A062-48A0-85F0-0667C8AAA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294ADC3-7EE2-4CA1-83D3-9D93635C3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011" y="634621"/>
            <a:ext cx="7879307" cy="590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5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3D87D59-1C30-4196-93AC-E469ADCF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9AECB54-6F28-462A-AC02-814BA6333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648" y="612443"/>
            <a:ext cx="7852012" cy="588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6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12C9D4C3-4523-48F5-B3DF-AE182B0E8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513" y="777922"/>
            <a:ext cx="7475441" cy="5497773"/>
          </a:xfrm>
        </p:spPr>
      </p:pic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DD1B739-859B-4FF2-BB85-4B27FF0F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1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501D11-EE4E-41CD-9327-D5E3336D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768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Of Automata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C644B9F-38D6-482C-A84B-A85C112C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7AF074B-0115-4371-985C-9A0EFED6E029}"/>
              </a:ext>
            </a:extLst>
          </p:cNvPr>
          <p:cNvSpPr txBox="1"/>
          <p:nvPr/>
        </p:nvSpPr>
        <p:spPr>
          <a:xfrm>
            <a:off x="2101755" y="2088107"/>
            <a:ext cx="23245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BB69F8F-0AE8-45E1-B5C8-5F9E1A3F0180}"/>
              </a:ext>
            </a:extLst>
          </p:cNvPr>
          <p:cNvSpPr txBox="1"/>
          <p:nvPr/>
        </p:nvSpPr>
        <p:spPr>
          <a:xfrm>
            <a:off x="4697104" y="2021759"/>
            <a:ext cx="23245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down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737FC15-5515-4E07-8BC3-8D324BE7CA7E}"/>
              </a:ext>
            </a:extLst>
          </p:cNvPr>
          <p:cNvSpPr txBox="1"/>
          <p:nvPr/>
        </p:nvSpPr>
        <p:spPr>
          <a:xfrm>
            <a:off x="8278080" y="1994792"/>
            <a:ext cx="1392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Turing Machine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8020D93-BCE7-4DF8-9B05-ACA7E33FD9D8}"/>
              </a:ext>
            </a:extLst>
          </p:cNvPr>
          <p:cNvSpPr txBox="1"/>
          <p:nvPr/>
        </p:nvSpPr>
        <p:spPr>
          <a:xfrm>
            <a:off x="2101755" y="3753256"/>
            <a:ext cx="2324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Power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5A4977F-6820-417F-952B-DF4125C070A4}"/>
              </a:ext>
            </a:extLst>
          </p:cNvPr>
          <p:cNvSpPr txBox="1"/>
          <p:nvPr/>
        </p:nvSpPr>
        <p:spPr>
          <a:xfrm>
            <a:off x="8291728" y="3753256"/>
            <a:ext cx="2324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Power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5C1C8851-4C83-4205-BAA2-5E96EB7BCEEC}"/>
              </a:ext>
            </a:extLst>
          </p:cNvPr>
          <p:cNvSpPr txBox="1"/>
          <p:nvPr/>
        </p:nvSpPr>
        <p:spPr>
          <a:xfrm>
            <a:off x="8291727" y="4485825"/>
            <a:ext cx="3399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More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Problem</a:t>
            </a:r>
          </a:p>
        </p:txBody>
      </p:sp>
      <p:sp>
        <p:nvSpPr>
          <p:cNvPr id="12" name="Half Frame 11">
            <a:extLst>
              <a:ext uri="{FF2B5EF4-FFF2-40B4-BE49-F238E27FC236}">
                <a16:creationId xmlns="" xmlns:a16="http://schemas.microsoft.com/office/drawing/2014/main" id="{8650565C-0649-43F4-980B-09519EFBF39E}"/>
              </a:ext>
            </a:extLst>
          </p:cNvPr>
          <p:cNvSpPr/>
          <p:nvPr/>
        </p:nvSpPr>
        <p:spPr>
          <a:xfrm rot="8000859">
            <a:off x="2823977" y="1924731"/>
            <a:ext cx="1269298" cy="1170941"/>
          </a:xfrm>
          <a:prstGeom prst="halfFrame">
            <a:avLst>
              <a:gd name="adj1" fmla="val 3513"/>
              <a:gd name="adj2" fmla="val 4545"/>
            </a:avLst>
          </a:prstGeom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969E44C8-6166-4828-A008-C1E3C776FEF5}"/>
              </a:ext>
            </a:extLst>
          </p:cNvPr>
          <p:cNvCxnSpPr/>
          <p:nvPr/>
        </p:nvCxnSpPr>
        <p:spPr>
          <a:xfrm>
            <a:off x="3719376" y="4021052"/>
            <a:ext cx="4637919" cy="0"/>
          </a:xfrm>
          <a:prstGeom prst="straightConnector1">
            <a:avLst/>
          </a:prstGeom>
          <a:ln w="508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alf Frame 15">
            <a:extLst>
              <a:ext uri="{FF2B5EF4-FFF2-40B4-BE49-F238E27FC236}">
                <a16:creationId xmlns="" xmlns:a16="http://schemas.microsoft.com/office/drawing/2014/main" id="{7D793FD0-E4B4-4F59-BD4D-4874681734DD}"/>
              </a:ext>
            </a:extLst>
          </p:cNvPr>
          <p:cNvSpPr/>
          <p:nvPr/>
        </p:nvSpPr>
        <p:spPr>
          <a:xfrm rot="7574311">
            <a:off x="6178046" y="1901359"/>
            <a:ext cx="1269298" cy="1170941"/>
          </a:xfrm>
          <a:prstGeom prst="halfFrame">
            <a:avLst>
              <a:gd name="adj1" fmla="val 3513"/>
              <a:gd name="adj2" fmla="val 4545"/>
            </a:avLst>
          </a:prstGeom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436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2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DFE620B-4D92-4151-9DFB-AF53BB095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443" y="35859"/>
            <a:ext cx="9404723" cy="76768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4E102F8-7E5B-43C2-AD34-DD879E678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533" y="803546"/>
            <a:ext cx="8946541" cy="6512860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automata with a finite number of states is called a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(FA) or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Machine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(FSM)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automaton can be represented by a 5-tuple (Q, ∑, δ, q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F), where −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finite set of states.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finite set of symbols, called the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alphabet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the automaton.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the transition function.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the initial state from where any input is processed (q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∈ Q).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set of final state/states of Q (F ⊆ Q).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0C9206A-FF93-4EB9-BBB7-AEBC510A5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96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="" xmlns:a16="http://schemas.microsoft.com/office/drawing/2014/main" id="{62EDEDC5-BF32-467E-A33D-173C1DE524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simple computer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37C3F950-E6A9-48C2-AE16-45FDFE3071F3}"/>
              </a:ext>
            </a:extLst>
          </p:cNvPr>
          <p:cNvGrpSpPr/>
          <p:nvPr/>
        </p:nvGrpSpPr>
        <p:grpSpPr>
          <a:xfrm>
            <a:off x="1970555" y="1614206"/>
            <a:ext cx="3529012" cy="2107174"/>
            <a:chOff x="2141166" y="1614206"/>
            <a:chExt cx="3529012" cy="2107174"/>
          </a:xfrm>
        </p:grpSpPr>
        <p:sp>
          <p:nvSpPr>
            <p:cNvPr id="88074" name="Oval 10">
              <a:extLst>
                <a:ext uri="{FF2B5EF4-FFF2-40B4-BE49-F238E27FC236}">
                  <a16:creationId xmlns="" xmlns:a16="http://schemas.microsoft.com/office/drawing/2014/main" id="{90A719BA-4A89-4A6C-957E-14AA149D1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718" y="2010148"/>
              <a:ext cx="71438" cy="714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="" xmlns:a16="http://schemas.microsoft.com/office/drawing/2014/main" id="{6735FFC6-94D7-4140-8551-9C7F97378914}"/>
                </a:ext>
              </a:extLst>
            </p:cNvPr>
            <p:cNvGrpSpPr/>
            <p:nvPr/>
          </p:nvGrpSpPr>
          <p:grpSpPr>
            <a:xfrm>
              <a:off x="2141166" y="1614206"/>
              <a:ext cx="3529012" cy="2107174"/>
              <a:chOff x="2174082" y="1466289"/>
              <a:chExt cx="3529012" cy="2107174"/>
            </a:xfrm>
          </p:grpSpPr>
          <p:sp>
            <p:nvSpPr>
              <p:cNvPr id="88073" name="Line 9">
                <a:extLst>
                  <a:ext uri="{FF2B5EF4-FFF2-40B4-BE49-F238E27FC236}">
                    <a16:creationId xmlns="" xmlns:a16="http://schemas.microsoft.com/office/drawing/2014/main" id="{F9108959-4ECA-4BF1-BA21-4DF795F27B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69353" y="1595997"/>
                <a:ext cx="647700" cy="2873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="" xmlns:a16="http://schemas.microsoft.com/office/drawing/2014/main" id="{A6900876-8AEA-45AD-9CA8-7B4C45F69943}"/>
                  </a:ext>
                </a:extLst>
              </p:cNvPr>
              <p:cNvGrpSpPr/>
              <p:nvPr/>
            </p:nvGrpSpPr>
            <p:grpSpPr>
              <a:xfrm>
                <a:off x="2174082" y="1466289"/>
                <a:ext cx="3529012" cy="2107174"/>
                <a:chOff x="2174082" y="1493183"/>
                <a:chExt cx="3529012" cy="2107174"/>
              </a:xfrm>
            </p:grpSpPr>
            <p:sp>
              <p:nvSpPr>
                <p:cNvPr id="88075" name="Oval 11">
                  <a:extLst>
                    <a:ext uri="{FF2B5EF4-FFF2-40B4-BE49-F238E27FC236}">
                      <a16:creationId xmlns="" xmlns:a16="http://schemas.microsoft.com/office/drawing/2014/main" id="{C06D669C-3501-4582-B7A0-DBB13E682F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44989" y="1889125"/>
                  <a:ext cx="71437" cy="7143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="" xmlns:a16="http://schemas.microsoft.com/office/drawing/2014/main" id="{EFCB972B-3FF9-4894-9E56-934FF2B7E543}"/>
                    </a:ext>
                  </a:extLst>
                </p:cNvPr>
                <p:cNvGrpSpPr/>
                <p:nvPr/>
              </p:nvGrpSpPr>
              <p:grpSpPr>
                <a:xfrm>
                  <a:off x="2174082" y="1493183"/>
                  <a:ext cx="3529012" cy="2107174"/>
                  <a:chOff x="2133601" y="1466289"/>
                  <a:chExt cx="3529012" cy="2107174"/>
                </a:xfrm>
              </p:grpSpPr>
              <p:sp>
                <p:nvSpPr>
                  <p:cNvPr id="88067" name="Line 3">
                    <a:extLst>
                      <a:ext uri="{FF2B5EF4-FFF2-40B4-BE49-F238E27FC236}">
                        <a16:creationId xmlns="" xmlns:a16="http://schemas.microsoft.com/office/drawing/2014/main" id="{571E5DC2-809B-4282-9C9D-09B499B126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38426" y="1916113"/>
                    <a:ext cx="93662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8068" name="Line 4">
                    <a:extLst>
                      <a:ext uri="{FF2B5EF4-FFF2-40B4-BE49-F238E27FC236}">
                        <a16:creationId xmlns="" xmlns:a16="http://schemas.microsoft.com/office/drawing/2014/main" id="{66C33273-5440-4E60-97F3-1AF2FA46678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38425" y="1916114"/>
                    <a:ext cx="0" cy="50482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8069" name="Line 5">
                    <a:extLst>
                      <a:ext uri="{FF2B5EF4-FFF2-40B4-BE49-F238E27FC236}">
                        <a16:creationId xmlns="" xmlns:a16="http://schemas.microsoft.com/office/drawing/2014/main" id="{CA61C319-0314-4354-90D3-C3995A940A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38425" y="3068639"/>
                    <a:ext cx="0" cy="50323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8070" name="Line 6">
                    <a:extLst>
                      <a:ext uri="{FF2B5EF4-FFF2-40B4-BE49-F238E27FC236}">
                        <a16:creationId xmlns="" xmlns:a16="http://schemas.microsoft.com/office/drawing/2014/main" id="{C7ADA24B-CFD2-41FD-80FB-83A27E70CE6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38425" y="3571875"/>
                    <a:ext cx="2736850" cy="15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8071" name="Line 7">
                    <a:extLst>
                      <a:ext uri="{FF2B5EF4-FFF2-40B4-BE49-F238E27FC236}">
                        <a16:creationId xmlns="" xmlns:a16="http://schemas.microsoft.com/office/drawing/2014/main" id="{CAD8CA16-48C0-4B61-992D-B585FF32596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367213" y="1916113"/>
                    <a:ext cx="100806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8072" name="Line 8">
                    <a:extLst>
                      <a:ext uri="{FF2B5EF4-FFF2-40B4-BE49-F238E27FC236}">
                        <a16:creationId xmlns="" xmlns:a16="http://schemas.microsoft.com/office/drawing/2014/main" id="{7E2982A7-F733-4CC6-9131-AA00339311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73688" y="1916113"/>
                    <a:ext cx="0" cy="165576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8076" name="Rectangle 12">
                    <a:extLst>
                      <a:ext uri="{FF2B5EF4-FFF2-40B4-BE49-F238E27FC236}">
                        <a16:creationId xmlns="" xmlns:a16="http://schemas.microsoft.com/office/drawing/2014/main" id="{CEB6FCE3-5198-4054-AFCB-0861D148C4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3601" y="2420938"/>
                    <a:ext cx="1008063" cy="6477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en-US" sz="1400"/>
                      <a:t>BATTERY</a:t>
                    </a:r>
                  </a:p>
                </p:txBody>
              </p:sp>
              <p:sp>
                <p:nvSpPr>
                  <p:cNvPr id="88077" name="Litebulb">
                    <a:extLst>
                      <a:ext uri="{FF2B5EF4-FFF2-40B4-BE49-F238E27FC236}">
                        <a16:creationId xmlns="" xmlns:a16="http://schemas.microsoft.com/office/drawing/2014/main" id="{AFF2CA34-AC50-4038-A834-FFBEE84432A9}"/>
                      </a:ext>
                    </a:extLst>
                  </p:cNvPr>
                  <p:cNvSpPr>
                    <a:spLocks noEditPoints="1" noChangeArrowheads="1"/>
                  </p:cNvSpPr>
                  <p:nvPr/>
                </p:nvSpPr>
                <p:spPr bwMode="auto">
                  <a:xfrm>
                    <a:off x="5083175" y="2276475"/>
                    <a:ext cx="579438" cy="869950"/>
                  </a:xfrm>
                  <a:custGeom>
                    <a:avLst/>
                    <a:gdLst>
                      <a:gd name="T0" fmla="*/ 10800 w 21600"/>
                      <a:gd name="T1" fmla="*/ 0 h 21600"/>
                      <a:gd name="T2" fmla="*/ 21600 w 21600"/>
                      <a:gd name="T3" fmla="*/ 7782 h 21600"/>
                      <a:gd name="T4" fmla="*/ 0 w 21600"/>
                      <a:gd name="T5" fmla="*/ 7782 h 21600"/>
                      <a:gd name="T6" fmla="*/ 10800 w 21600"/>
                      <a:gd name="T7" fmla="*/ 21600 h 21600"/>
                      <a:gd name="T8" fmla="*/ 3556 w 21600"/>
                      <a:gd name="T9" fmla="*/ 2188 h 21600"/>
                      <a:gd name="T10" fmla="*/ 18277 w 21600"/>
                      <a:gd name="T11" fmla="*/ 9282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T8" t="T9" r="T10" b="T11"/>
                    <a:pathLst>
                      <a:path w="21600" h="21600" extrusionOk="0">
                        <a:moveTo>
                          <a:pt x="10825" y="21723"/>
                        </a:moveTo>
                        <a:lnTo>
                          <a:pt x="11215" y="21723"/>
                        </a:lnTo>
                        <a:lnTo>
                          <a:pt x="11552" y="21688"/>
                        </a:lnTo>
                        <a:lnTo>
                          <a:pt x="11916" y="21617"/>
                        </a:lnTo>
                        <a:lnTo>
                          <a:pt x="12253" y="21547"/>
                        </a:lnTo>
                        <a:lnTo>
                          <a:pt x="12617" y="21441"/>
                        </a:lnTo>
                        <a:lnTo>
                          <a:pt x="12902" y="21317"/>
                        </a:lnTo>
                        <a:lnTo>
                          <a:pt x="13162" y="21176"/>
                        </a:lnTo>
                        <a:lnTo>
                          <a:pt x="13396" y="21000"/>
                        </a:lnTo>
                        <a:lnTo>
                          <a:pt x="13655" y="20841"/>
                        </a:lnTo>
                        <a:lnTo>
                          <a:pt x="13863" y="20629"/>
                        </a:lnTo>
                        <a:lnTo>
                          <a:pt x="14045" y="20435"/>
                        </a:lnTo>
                        <a:lnTo>
                          <a:pt x="14200" y="20223"/>
                        </a:lnTo>
                        <a:lnTo>
                          <a:pt x="14356" y="19994"/>
                        </a:lnTo>
                        <a:lnTo>
                          <a:pt x="14460" y="19747"/>
                        </a:lnTo>
                        <a:lnTo>
                          <a:pt x="14512" y="19482"/>
                        </a:lnTo>
                        <a:lnTo>
                          <a:pt x="14512" y="19235"/>
                        </a:lnTo>
                        <a:lnTo>
                          <a:pt x="14512" y="19147"/>
                        </a:lnTo>
                        <a:lnTo>
                          <a:pt x="14512" y="18900"/>
                        </a:lnTo>
                        <a:lnTo>
                          <a:pt x="14512" y="18529"/>
                        </a:lnTo>
                        <a:lnTo>
                          <a:pt x="14512" y="18052"/>
                        </a:lnTo>
                        <a:lnTo>
                          <a:pt x="14512" y="17505"/>
                        </a:lnTo>
                        <a:lnTo>
                          <a:pt x="14512" y="16976"/>
                        </a:lnTo>
                        <a:lnTo>
                          <a:pt x="14512" y="16464"/>
                        </a:lnTo>
                        <a:lnTo>
                          <a:pt x="14512" y="15952"/>
                        </a:lnTo>
                        <a:lnTo>
                          <a:pt x="14512" y="15758"/>
                        </a:lnTo>
                        <a:lnTo>
                          <a:pt x="14616" y="15547"/>
                        </a:lnTo>
                        <a:lnTo>
                          <a:pt x="14694" y="15352"/>
                        </a:lnTo>
                        <a:lnTo>
                          <a:pt x="14798" y="15141"/>
                        </a:lnTo>
                        <a:lnTo>
                          <a:pt x="15161" y="14735"/>
                        </a:lnTo>
                        <a:lnTo>
                          <a:pt x="15602" y="14329"/>
                        </a:lnTo>
                        <a:lnTo>
                          <a:pt x="16745" y="13552"/>
                        </a:lnTo>
                        <a:lnTo>
                          <a:pt x="18043" y="12670"/>
                        </a:lnTo>
                        <a:lnTo>
                          <a:pt x="18744" y="12194"/>
                        </a:lnTo>
                        <a:lnTo>
                          <a:pt x="19341" y="11647"/>
                        </a:lnTo>
                        <a:lnTo>
                          <a:pt x="19938" y="11099"/>
                        </a:lnTo>
                        <a:lnTo>
                          <a:pt x="20483" y="10464"/>
                        </a:lnTo>
                        <a:lnTo>
                          <a:pt x="20743" y="10164"/>
                        </a:lnTo>
                        <a:lnTo>
                          <a:pt x="20950" y="9794"/>
                        </a:lnTo>
                        <a:lnTo>
                          <a:pt x="21132" y="9441"/>
                        </a:lnTo>
                        <a:lnTo>
                          <a:pt x="21288" y="9035"/>
                        </a:lnTo>
                        <a:lnTo>
                          <a:pt x="21444" y="8664"/>
                        </a:lnTo>
                        <a:lnTo>
                          <a:pt x="21548" y="8223"/>
                        </a:lnTo>
                        <a:lnTo>
                          <a:pt x="21600" y="7782"/>
                        </a:lnTo>
                        <a:lnTo>
                          <a:pt x="21600" y="7341"/>
                        </a:lnTo>
                        <a:lnTo>
                          <a:pt x="21600" y="6935"/>
                        </a:lnTo>
                        <a:lnTo>
                          <a:pt x="21548" y="6564"/>
                        </a:lnTo>
                        <a:lnTo>
                          <a:pt x="21496" y="6229"/>
                        </a:lnTo>
                        <a:lnTo>
                          <a:pt x="21392" y="5858"/>
                        </a:lnTo>
                        <a:lnTo>
                          <a:pt x="21288" y="5523"/>
                        </a:lnTo>
                        <a:lnTo>
                          <a:pt x="21132" y="5135"/>
                        </a:lnTo>
                        <a:lnTo>
                          <a:pt x="20950" y="4800"/>
                        </a:lnTo>
                        <a:lnTo>
                          <a:pt x="20743" y="4464"/>
                        </a:lnTo>
                        <a:lnTo>
                          <a:pt x="20535" y="4164"/>
                        </a:lnTo>
                        <a:lnTo>
                          <a:pt x="20301" y="3847"/>
                        </a:lnTo>
                        <a:lnTo>
                          <a:pt x="20042" y="3547"/>
                        </a:lnTo>
                        <a:lnTo>
                          <a:pt x="19782" y="3247"/>
                        </a:lnTo>
                        <a:lnTo>
                          <a:pt x="19133" y="2664"/>
                        </a:lnTo>
                        <a:lnTo>
                          <a:pt x="18458" y="2152"/>
                        </a:lnTo>
                        <a:lnTo>
                          <a:pt x="17705" y="1694"/>
                        </a:lnTo>
                        <a:lnTo>
                          <a:pt x="16849" y="1252"/>
                        </a:lnTo>
                        <a:lnTo>
                          <a:pt x="16407" y="1076"/>
                        </a:lnTo>
                        <a:lnTo>
                          <a:pt x="15940" y="900"/>
                        </a:lnTo>
                        <a:lnTo>
                          <a:pt x="15499" y="741"/>
                        </a:lnTo>
                        <a:lnTo>
                          <a:pt x="15057" y="600"/>
                        </a:lnTo>
                        <a:lnTo>
                          <a:pt x="14564" y="458"/>
                        </a:lnTo>
                        <a:lnTo>
                          <a:pt x="14045" y="335"/>
                        </a:lnTo>
                        <a:lnTo>
                          <a:pt x="13500" y="229"/>
                        </a:lnTo>
                        <a:lnTo>
                          <a:pt x="13006" y="158"/>
                        </a:lnTo>
                        <a:lnTo>
                          <a:pt x="12461" y="88"/>
                        </a:lnTo>
                        <a:lnTo>
                          <a:pt x="11968" y="52"/>
                        </a:lnTo>
                        <a:lnTo>
                          <a:pt x="11423" y="17"/>
                        </a:lnTo>
                        <a:lnTo>
                          <a:pt x="10825" y="17"/>
                        </a:lnTo>
                        <a:lnTo>
                          <a:pt x="10254" y="17"/>
                        </a:lnTo>
                        <a:lnTo>
                          <a:pt x="9709" y="52"/>
                        </a:lnTo>
                        <a:lnTo>
                          <a:pt x="9216" y="88"/>
                        </a:lnTo>
                        <a:lnTo>
                          <a:pt x="8671" y="158"/>
                        </a:lnTo>
                        <a:lnTo>
                          <a:pt x="8177" y="229"/>
                        </a:lnTo>
                        <a:lnTo>
                          <a:pt x="7632" y="335"/>
                        </a:lnTo>
                        <a:lnTo>
                          <a:pt x="7113" y="458"/>
                        </a:lnTo>
                        <a:lnTo>
                          <a:pt x="6620" y="600"/>
                        </a:lnTo>
                        <a:lnTo>
                          <a:pt x="6178" y="741"/>
                        </a:lnTo>
                        <a:lnTo>
                          <a:pt x="5737" y="900"/>
                        </a:lnTo>
                        <a:lnTo>
                          <a:pt x="5270" y="1076"/>
                        </a:lnTo>
                        <a:lnTo>
                          <a:pt x="4828" y="1252"/>
                        </a:lnTo>
                        <a:lnTo>
                          <a:pt x="3972" y="1694"/>
                        </a:lnTo>
                        <a:lnTo>
                          <a:pt x="3219" y="2152"/>
                        </a:lnTo>
                        <a:lnTo>
                          <a:pt x="2544" y="2664"/>
                        </a:lnTo>
                        <a:lnTo>
                          <a:pt x="1895" y="3247"/>
                        </a:lnTo>
                        <a:lnTo>
                          <a:pt x="1635" y="3547"/>
                        </a:lnTo>
                        <a:lnTo>
                          <a:pt x="1375" y="3847"/>
                        </a:lnTo>
                        <a:lnTo>
                          <a:pt x="1142" y="4164"/>
                        </a:lnTo>
                        <a:lnTo>
                          <a:pt x="934" y="4464"/>
                        </a:lnTo>
                        <a:lnTo>
                          <a:pt x="726" y="4800"/>
                        </a:lnTo>
                        <a:lnTo>
                          <a:pt x="545" y="5135"/>
                        </a:lnTo>
                        <a:lnTo>
                          <a:pt x="389" y="5523"/>
                        </a:lnTo>
                        <a:lnTo>
                          <a:pt x="285" y="5858"/>
                        </a:lnTo>
                        <a:lnTo>
                          <a:pt x="181" y="6229"/>
                        </a:lnTo>
                        <a:lnTo>
                          <a:pt x="129" y="6564"/>
                        </a:lnTo>
                        <a:lnTo>
                          <a:pt x="77" y="6935"/>
                        </a:lnTo>
                        <a:lnTo>
                          <a:pt x="77" y="7341"/>
                        </a:lnTo>
                        <a:lnTo>
                          <a:pt x="77" y="7782"/>
                        </a:lnTo>
                        <a:lnTo>
                          <a:pt x="129" y="8223"/>
                        </a:lnTo>
                        <a:lnTo>
                          <a:pt x="233" y="8664"/>
                        </a:lnTo>
                        <a:lnTo>
                          <a:pt x="389" y="9035"/>
                        </a:lnTo>
                        <a:lnTo>
                          <a:pt x="545" y="9441"/>
                        </a:lnTo>
                        <a:lnTo>
                          <a:pt x="726" y="9794"/>
                        </a:lnTo>
                        <a:lnTo>
                          <a:pt x="934" y="10164"/>
                        </a:lnTo>
                        <a:lnTo>
                          <a:pt x="1194" y="10464"/>
                        </a:lnTo>
                        <a:lnTo>
                          <a:pt x="1739" y="11099"/>
                        </a:lnTo>
                        <a:lnTo>
                          <a:pt x="2336" y="11647"/>
                        </a:lnTo>
                        <a:lnTo>
                          <a:pt x="2933" y="12194"/>
                        </a:lnTo>
                        <a:lnTo>
                          <a:pt x="3634" y="12670"/>
                        </a:lnTo>
                        <a:lnTo>
                          <a:pt x="4932" y="13552"/>
                        </a:lnTo>
                        <a:lnTo>
                          <a:pt x="6075" y="14329"/>
                        </a:lnTo>
                        <a:lnTo>
                          <a:pt x="6516" y="14735"/>
                        </a:lnTo>
                        <a:lnTo>
                          <a:pt x="6879" y="15141"/>
                        </a:lnTo>
                        <a:lnTo>
                          <a:pt x="6983" y="15352"/>
                        </a:lnTo>
                        <a:lnTo>
                          <a:pt x="7061" y="15547"/>
                        </a:lnTo>
                        <a:lnTo>
                          <a:pt x="7165" y="15758"/>
                        </a:lnTo>
                        <a:lnTo>
                          <a:pt x="7165" y="15952"/>
                        </a:lnTo>
                        <a:lnTo>
                          <a:pt x="7165" y="16464"/>
                        </a:lnTo>
                        <a:lnTo>
                          <a:pt x="7165" y="16976"/>
                        </a:lnTo>
                        <a:lnTo>
                          <a:pt x="7165" y="17505"/>
                        </a:lnTo>
                        <a:lnTo>
                          <a:pt x="7165" y="18052"/>
                        </a:lnTo>
                        <a:lnTo>
                          <a:pt x="7165" y="18529"/>
                        </a:lnTo>
                        <a:lnTo>
                          <a:pt x="7165" y="18900"/>
                        </a:lnTo>
                        <a:lnTo>
                          <a:pt x="7165" y="19147"/>
                        </a:lnTo>
                        <a:lnTo>
                          <a:pt x="7165" y="19235"/>
                        </a:lnTo>
                        <a:lnTo>
                          <a:pt x="7165" y="19482"/>
                        </a:lnTo>
                        <a:lnTo>
                          <a:pt x="7217" y="19747"/>
                        </a:lnTo>
                        <a:lnTo>
                          <a:pt x="7321" y="19994"/>
                        </a:lnTo>
                        <a:lnTo>
                          <a:pt x="7476" y="20223"/>
                        </a:lnTo>
                        <a:lnTo>
                          <a:pt x="7632" y="20435"/>
                        </a:lnTo>
                        <a:lnTo>
                          <a:pt x="7814" y="20629"/>
                        </a:lnTo>
                        <a:lnTo>
                          <a:pt x="8022" y="20841"/>
                        </a:lnTo>
                        <a:lnTo>
                          <a:pt x="8281" y="21000"/>
                        </a:lnTo>
                        <a:lnTo>
                          <a:pt x="8515" y="21176"/>
                        </a:lnTo>
                        <a:lnTo>
                          <a:pt x="8775" y="21317"/>
                        </a:lnTo>
                        <a:lnTo>
                          <a:pt x="9060" y="21441"/>
                        </a:lnTo>
                        <a:lnTo>
                          <a:pt x="9424" y="21547"/>
                        </a:lnTo>
                        <a:lnTo>
                          <a:pt x="9761" y="21617"/>
                        </a:lnTo>
                        <a:lnTo>
                          <a:pt x="10125" y="21688"/>
                        </a:lnTo>
                        <a:lnTo>
                          <a:pt x="10462" y="21723"/>
                        </a:lnTo>
                        <a:lnTo>
                          <a:pt x="10825" y="21723"/>
                        </a:lnTo>
                        <a:close/>
                      </a:path>
                      <a:path w="21600" h="21600" extrusionOk="0">
                        <a:moveTo>
                          <a:pt x="9242" y="14417"/>
                        </a:moveTo>
                        <a:lnTo>
                          <a:pt x="8541" y="12035"/>
                        </a:lnTo>
                        <a:lnTo>
                          <a:pt x="7295" y="10129"/>
                        </a:lnTo>
                        <a:lnTo>
                          <a:pt x="6905" y="9652"/>
                        </a:lnTo>
                        <a:lnTo>
                          <a:pt x="8541" y="10182"/>
                        </a:lnTo>
                        <a:lnTo>
                          <a:pt x="9787" y="9547"/>
                        </a:lnTo>
                        <a:lnTo>
                          <a:pt x="11189" y="10129"/>
                        </a:lnTo>
                        <a:lnTo>
                          <a:pt x="12279" y="9547"/>
                        </a:lnTo>
                        <a:lnTo>
                          <a:pt x="13370" y="10076"/>
                        </a:lnTo>
                        <a:lnTo>
                          <a:pt x="14850" y="9652"/>
                        </a:lnTo>
                        <a:lnTo>
                          <a:pt x="12902" y="12247"/>
                        </a:lnTo>
                        <a:lnTo>
                          <a:pt x="12357" y="14417"/>
                        </a:lnTo>
                        <a:moveTo>
                          <a:pt x="7191" y="15952"/>
                        </a:moveTo>
                        <a:lnTo>
                          <a:pt x="14512" y="15952"/>
                        </a:lnTo>
                        <a:lnTo>
                          <a:pt x="14512" y="17064"/>
                        </a:lnTo>
                        <a:lnTo>
                          <a:pt x="7191" y="17047"/>
                        </a:lnTo>
                        <a:lnTo>
                          <a:pt x="7191" y="18123"/>
                        </a:lnTo>
                        <a:lnTo>
                          <a:pt x="14512" y="18158"/>
                        </a:lnTo>
                        <a:lnTo>
                          <a:pt x="14538" y="19182"/>
                        </a:lnTo>
                        <a:lnTo>
                          <a:pt x="7217" y="19182"/>
                        </a:lnTo>
                      </a:path>
                    </a:pathLst>
                  </a:custGeom>
                  <a:solidFill>
                    <a:srgbClr val="FFFFCC"/>
                  </a:solidFill>
                  <a:ln w="571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8078" name="Text Box 14">
                    <a:extLst>
                      <a:ext uri="{FF2B5EF4-FFF2-40B4-BE49-F238E27FC236}">
                        <a16:creationId xmlns="" xmlns:a16="http://schemas.microsoft.com/office/drawing/2014/main" id="{4A1F7715-D10E-4CA6-8442-75A91C1A2A3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rot="20204209">
                    <a:off x="3355879" y="1466289"/>
                    <a:ext cx="865188" cy="3048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en-US" sz="1400"/>
                      <a:t>SWITCH</a:t>
                    </a:r>
                  </a:p>
                </p:txBody>
              </p:sp>
            </p:grpSp>
          </p:grpSp>
        </p:grpSp>
      </p:grpSp>
      <p:sp>
        <p:nvSpPr>
          <p:cNvPr id="88079" name="Text Box 15">
            <a:extLst>
              <a:ext uri="{FF2B5EF4-FFF2-40B4-BE49-F238E27FC236}">
                <a16:creationId xmlns="" xmlns:a16="http://schemas.microsoft.com/office/drawing/2014/main" id="{79C0FF1F-4413-41B6-815C-9EB67B0F3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2355" y="3974887"/>
            <a:ext cx="1333292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>
                <a:latin typeface="Gill Sans MT" panose="020B0502020104020203" pitchFamily="34" charset="0"/>
              </a:rPr>
              <a:t>input:</a:t>
            </a:r>
            <a:r>
              <a:rPr lang="en-US" altLang="en-US" sz="2400" dirty="0">
                <a:latin typeface="Gill Sans MT" panose="020B0502020104020203" pitchFamily="34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en-US" sz="2400" b="1" dirty="0">
                <a:latin typeface="Gill Sans MT" panose="020B0502020104020203" pitchFamily="34" charset="0"/>
              </a:rPr>
              <a:t>output:</a:t>
            </a:r>
            <a:r>
              <a:rPr lang="en-US" altLang="en-US" sz="2400" dirty="0">
                <a:latin typeface="Gill Sans MT" panose="020B0502020104020203" pitchFamily="34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en-US" sz="2400" b="1" dirty="0">
                <a:latin typeface="Gill Sans MT" panose="020B0502020104020203" pitchFamily="34" charset="0"/>
              </a:rPr>
              <a:t>actions:</a:t>
            </a:r>
            <a:endParaRPr lang="en-US" altLang="en-US" sz="2400" dirty="0">
              <a:latin typeface="Gill Sans MT" panose="020B0502020104020203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2400" b="1" dirty="0">
                <a:latin typeface="Gill Sans MT" panose="020B0502020104020203" pitchFamily="34" charset="0"/>
              </a:rPr>
              <a:t>states:</a:t>
            </a:r>
            <a:r>
              <a:rPr lang="en-US" altLang="en-US" sz="2400" dirty="0">
                <a:latin typeface="Gill Sans MT" panose="020B0502020104020203" pitchFamily="34" charset="0"/>
              </a:rPr>
              <a:t>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B37AED52-ABB4-4DD5-8684-FA7C83367613}"/>
              </a:ext>
            </a:extLst>
          </p:cNvPr>
          <p:cNvGrpSpPr/>
          <p:nvPr/>
        </p:nvGrpSpPr>
        <p:grpSpPr>
          <a:xfrm>
            <a:off x="6979773" y="1961355"/>
            <a:ext cx="3335337" cy="1379538"/>
            <a:chOff x="6529389" y="2049462"/>
            <a:chExt cx="3335337" cy="1379538"/>
          </a:xfrm>
        </p:grpSpPr>
        <p:sp>
          <p:nvSpPr>
            <p:cNvPr id="21" name="Text Box 27">
              <a:extLst>
                <a:ext uri="{FF2B5EF4-FFF2-40B4-BE49-F238E27FC236}">
                  <a16:creationId xmlns="" xmlns:a16="http://schemas.microsoft.com/office/drawing/2014/main" id="{C17E1747-2E7F-42CB-ACED-AE738E033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8250" y="2565401"/>
              <a:ext cx="446088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>
                  <a:latin typeface="Garamond" panose="02020404030301010803" pitchFamily="18" charset="0"/>
                  <a:ea typeface="新細明體" panose="02020500000000000000" pitchFamily="18" charset="-120"/>
                </a:rPr>
                <a:t>off</a:t>
              </a:r>
            </a:p>
          </p:txBody>
        </p:sp>
        <p:sp>
          <p:nvSpPr>
            <p:cNvPr id="22" name="Text Box 28">
              <a:extLst>
                <a:ext uri="{FF2B5EF4-FFF2-40B4-BE49-F238E27FC236}">
                  <a16:creationId xmlns="" xmlns:a16="http://schemas.microsoft.com/office/drawing/2014/main" id="{6B01FD9A-3BB7-4F75-9708-527662AF85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7201" y="2492376"/>
              <a:ext cx="41592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>
                  <a:latin typeface="Garamond" panose="02020404030301010803" pitchFamily="18" charset="0"/>
                  <a:ea typeface="新細明體" panose="02020500000000000000" pitchFamily="18" charset="-120"/>
                </a:rPr>
                <a:t>on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="" xmlns:a16="http://schemas.microsoft.com/office/drawing/2014/main" id="{3A1BAF77-A47B-4C9F-A86F-0DEE47625D29}"/>
                </a:ext>
              </a:extLst>
            </p:cNvPr>
            <p:cNvGrpSpPr/>
            <p:nvPr/>
          </p:nvGrpSpPr>
          <p:grpSpPr>
            <a:xfrm>
              <a:off x="6529389" y="2049462"/>
              <a:ext cx="3335337" cy="1379538"/>
              <a:chOff x="6527801" y="2054226"/>
              <a:chExt cx="3335337" cy="1379538"/>
            </a:xfrm>
          </p:grpSpPr>
          <p:sp>
            <p:nvSpPr>
              <p:cNvPr id="24" name="Oval 22">
                <a:extLst>
                  <a:ext uri="{FF2B5EF4-FFF2-40B4-BE49-F238E27FC236}">
                    <a16:creationId xmlns="" xmlns:a16="http://schemas.microsoft.com/office/drawing/2014/main" id="{7A22846C-D930-4310-9C04-1B69C0D64D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0938" y="2446338"/>
                <a:ext cx="609600" cy="6096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Oval 23">
                <a:extLst>
                  <a:ext uri="{FF2B5EF4-FFF2-40B4-BE49-F238E27FC236}">
                    <a16:creationId xmlns="" xmlns:a16="http://schemas.microsoft.com/office/drawing/2014/main" id="{AF3510FA-A4FC-4621-BD17-1BA9A64A1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3538" y="2370138"/>
                <a:ext cx="609600" cy="6096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Freeform 24">
                <a:extLst>
                  <a:ext uri="{FF2B5EF4-FFF2-40B4-BE49-F238E27FC236}">
                    <a16:creationId xmlns="" xmlns:a16="http://schemas.microsoft.com/office/drawing/2014/main" id="{B6950CA7-FD51-456A-90DE-2CEF17A0FA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4338" y="2420938"/>
                <a:ext cx="1295400" cy="101600"/>
              </a:xfrm>
              <a:custGeom>
                <a:avLst/>
                <a:gdLst>
                  <a:gd name="T0" fmla="*/ 0 w 816"/>
                  <a:gd name="T1" fmla="*/ 200 h 200"/>
                  <a:gd name="T2" fmla="*/ 384 w 816"/>
                  <a:gd name="T3" fmla="*/ 8 h 200"/>
                  <a:gd name="T4" fmla="*/ 816 w 816"/>
                  <a:gd name="T5" fmla="*/ 152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200">
                    <a:moveTo>
                      <a:pt x="0" y="200"/>
                    </a:moveTo>
                    <a:cubicBezTo>
                      <a:pt x="124" y="108"/>
                      <a:pt x="248" y="16"/>
                      <a:pt x="384" y="8"/>
                    </a:cubicBezTo>
                    <a:cubicBezTo>
                      <a:pt x="520" y="0"/>
                      <a:pt x="668" y="76"/>
                      <a:pt x="816" y="15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25">
                <a:extLst>
                  <a:ext uri="{FF2B5EF4-FFF2-40B4-BE49-F238E27FC236}">
                    <a16:creationId xmlns="" xmlns:a16="http://schemas.microsoft.com/office/drawing/2014/main" id="{FFD2470D-F1EC-4672-8AB4-2DDE81DA1F7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8110538" y="2890838"/>
                <a:ext cx="1295400" cy="177800"/>
              </a:xfrm>
              <a:custGeom>
                <a:avLst/>
                <a:gdLst>
                  <a:gd name="T0" fmla="*/ 0 w 816"/>
                  <a:gd name="T1" fmla="*/ 200 h 200"/>
                  <a:gd name="T2" fmla="*/ 384 w 816"/>
                  <a:gd name="T3" fmla="*/ 8 h 200"/>
                  <a:gd name="T4" fmla="*/ 816 w 816"/>
                  <a:gd name="T5" fmla="*/ 152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200">
                    <a:moveTo>
                      <a:pt x="0" y="200"/>
                    </a:moveTo>
                    <a:cubicBezTo>
                      <a:pt x="124" y="108"/>
                      <a:pt x="248" y="16"/>
                      <a:pt x="384" y="8"/>
                    </a:cubicBezTo>
                    <a:cubicBezTo>
                      <a:pt x="520" y="0"/>
                      <a:pt x="668" y="76"/>
                      <a:pt x="816" y="15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26">
                <a:extLst>
                  <a:ext uri="{FF2B5EF4-FFF2-40B4-BE49-F238E27FC236}">
                    <a16:creationId xmlns="" xmlns:a16="http://schemas.microsoft.com/office/drawing/2014/main" id="{D4247A5D-1489-4E01-8CB5-65F845F55F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19938" y="2751138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 Box 29">
                <a:extLst>
                  <a:ext uri="{FF2B5EF4-FFF2-40B4-BE49-F238E27FC236}">
                    <a16:creationId xmlns="" xmlns:a16="http://schemas.microsoft.com/office/drawing/2014/main" id="{C69D5913-B568-43C3-8F5E-BC5D15551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27801" y="2557463"/>
                <a:ext cx="580415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TW">
                    <a:latin typeface="Garamond" panose="02020404030301010803" pitchFamily="18" charset="0"/>
                    <a:ea typeface="新細明體" panose="02020500000000000000" pitchFamily="18" charset="-120"/>
                  </a:rPr>
                  <a:t>start</a:t>
                </a:r>
              </a:p>
            </p:txBody>
          </p:sp>
          <p:sp>
            <p:nvSpPr>
              <p:cNvPr id="30" name="Text Box 32">
                <a:extLst>
                  <a:ext uri="{FF2B5EF4-FFF2-40B4-BE49-F238E27FC236}">
                    <a16:creationId xmlns="" xmlns:a16="http://schemas.microsoft.com/office/drawing/2014/main" id="{586B581C-50E6-4BD8-BBAF-A341E1D903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91550" y="2054226"/>
                <a:ext cx="234950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TW" i="1">
                    <a:latin typeface="Garamond" panose="02020404030301010803" pitchFamily="18" charset="0"/>
                    <a:ea typeface="新細明體" panose="02020500000000000000" pitchFamily="18" charset="-120"/>
                  </a:rPr>
                  <a:t>f</a:t>
                </a:r>
              </a:p>
            </p:txBody>
          </p:sp>
          <p:sp>
            <p:nvSpPr>
              <p:cNvPr id="31" name="Text Box 33">
                <a:extLst>
                  <a:ext uri="{FF2B5EF4-FFF2-40B4-BE49-F238E27FC236}">
                    <a16:creationId xmlns="" xmlns:a16="http://schemas.microsoft.com/office/drawing/2014/main" id="{9B9B8D04-5BD1-495D-B441-D1C409319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75675" y="3067051"/>
                <a:ext cx="234950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TW" i="1">
                    <a:latin typeface="Garamond" panose="02020404030301010803" pitchFamily="18" charset="0"/>
                    <a:ea typeface="新細明體" panose="02020500000000000000" pitchFamily="18" charset="-120"/>
                  </a:rPr>
                  <a:t>f</a:t>
                </a:r>
              </a:p>
            </p:txBody>
          </p:sp>
        </p:grpSp>
      </p:grpSp>
      <p:sp>
        <p:nvSpPr>
          <p:cNvPr id="32" name="Text Box 35">
            <a:extLst>
              <a:ext uri="{FF2B5EF4-FFF2-40B4-BE49-F238E27FC236}">
                <a16:creationId xmlns="" xmlns:a16="http://schemas.microsoft.com/office/drawing/2014/main" id="{EC58B02F-83EE-4F55-8758-7A18BB71B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7201" y="4199733"/>
            <a:ext cx="36004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bulb is on if and only if there was an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of flips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E89D1C0-D713-45B6-AA27-811B4951DD8B}"/>
              </a:ext>
            </a:extLst>
          </p:cNvPr>
          <p:cNvSpPr txBox="1"/>
          <p:nvPr/>
        </p:nvSpPr>
        <p:spPr>
          <a:xfrm>
            <a:off x="3675495" y="4004883"/>
            <a:ext cx="1032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0957F179-9711-4D62-B3B1-9EE09E9527F9}"/>
              </a:ext>
            </a:extLst>
          </p:cNvPr>
          <p:cNvSpPr txBox="1"/>
          <p:nvPr/>
        </p:nvSpPr>
        <p:spPr>
          <a:xfrm>
            <a:off x="3689676" y="4569008"/>
            <a:ext cx="1333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bulb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128FC28A-DE9C-4A52-ABC2-C34F281C9854}"/>
              </a:ext>
            </a:extLst>
          </p:cNvPr>
          <p:cNvSpPr txBox="1"/>
          <p:nvPr/>
        </p:nvSpPr>
        <p:spPr>
          <a:xfrm>
            <a:off x="3713922" y="5132547"/>
            <a:ext cx="1333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 switch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9E333185-89BF-4B2C-92B2-DEC7FBE3914B}"/>
              </a:ext>
            </a:extLst>
          </p:cNvPr>
          <p:cNvSpPr txBox="1"/>
          <p:nvPr/>
        </p:nvSpPr>
        <p:spPr>
          <a:xfrm>
            <a:off x="3675494" y="5670123"/>
            <a:ext cx="1032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On, off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9" grpId="0"/>
      <p:bldP spid="32" grpId="0"/>
      <p:bldP spid="6" grpId="0"/>
      <p:bldP spid="34" grpId="0"/>
      <p:bldP spid="35" grpId="0"/>
      <p:bldP spid="3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822</TotalTime>
  <Words>728</Words>
  <Application>Microsoft Office PowerPoint</Application>
  <PresentationFormat>Widescreen</PresentationFormat>
  <Paragraphs>165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Century Gothic</vt:lpstr>
      <vt:lpstr>Garamond</vt:lpstr>
      <vt:lpstr>Gill Sans MT</vt:lpstr>
      <vt:lpstr>新細明體</vt:lpstr>
      <vt:lpstr>Times New Roman</vt:lpstr>
      <vt:lpstr>Wingdings</vt:lpstr>
      <vt:lpstr>Wingdings 3</vt:lpstr>
      <vt:lpstr>Ion</vt:lpstr>
      <vt:lpstr>Theory of Automata  &amp;  Formal Languages </vt:lpstr>
      <vt:lpstr>Course Outline </vt:lpstr>
      <vt:lpstr>Course Organization</vt:lpstr>
      <vt:lpstr>What is Automata?</vt:lpstr>
      <vt:lpstr>What is automata theory?</vt:lpstr>
      <vt:lpstr>History</vt:lpstr>
      <vt:lpstr>Computing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Alphabets and strings</vt:lpstr>
      <vt:lpstr>PowerPoint Presentation</vt:lpstr>
      <vt:lpstr>PowerPoint Presentation</vt:lpstr>
      <vt:lpstr>Types of Automata.</vt:lpstr>
      <vt:lpstr>PowerPoint Presentation</vt:lpstr>
      <vt:lpstr>PowerPoint Presentation</vt:lpstr>
      <vt:lpstr>PowerPoint Presentation</vt:lpstr>
      <vt:lpstr>Power Of Automata</vt:lpstr>
      <vt:lpstr>Finite Automata</vt:lpstr>
      <vt:lpstr>A simple computer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  &amp;  Formal Languages CS-214</dc:title>
  <dc:creator>Lenovo</dc:creator>
  <cp:lastModifiedBy>Dr. Amir Mehmood</cp:lastModifiedBy>
  <cp:revision>54</cp:revision>
  <dcterms:created xsi:type="dcterms:W3CDTF">2020-07-16T12:56:43Z</dcterms:created>
  <dcterms:modified xsi:type="dcterms:W3CDTF">2024-03-18T04:45:19Z</dcterms:modified>
</cp:coreProperties>
</file>