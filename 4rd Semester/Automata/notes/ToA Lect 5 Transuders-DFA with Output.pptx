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7" r:id="rId2"/>
    <p:sldId id="260" r:id="rId3"/>
    <p:sldId id="261" r:id="rId4"/>
    <p:sldId id="262" r:id="rId5"/>
    <p:sldId id="264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CS-224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496" y="0"/>
            <a:ext cx="9404723" cy="668740"/>
          </a:xfrm>
        </p:spPr>
        <p:txBody>
          <a:bodyPr/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Introduction To Transducers (DFA with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90" y="1002041"/>
            <a:ext cx="10005965" cy="5855959"/>
          </a:xfrm>
        </p:spPr>
        <p:txBody>
          <a:bodyPr>
            <a:noAutofit/>
          </a:bodyPr>
          <a:lstStyle/>
          <a:p>
            <a:pPr fontAlgn="base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previous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Topics,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abstract model of a machine that accepts input values but doesn't produce any output values, was discussed.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fontAlgn="base"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case of FSA (finite state automata), movements from state xi to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depend on the input at 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xi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and no output emerges.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machines, however, produce output values after accepting input values.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fontAlgn="base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the case of FSM, a move from a state 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to state 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results in an output. </a:t>
            </a:r>
          </a:p>
          <a:p>
            <a:pPr fontAlgn="base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8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4" y="97876"/>
            <a:ext cx="9404723" cy="461682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 To Transducers (DFA with Output)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968" y="933801"/>
            <a:ext cx="10115148" cy="4195481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Tuples for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Transducer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 Q is a finite set called the states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Σ is a finite set called the alphabet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Γ is a finite set called the output alphabet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δ : Q × Σ ∪ {ε}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Q,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Γ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transition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Next State = {Current State, Input}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Output       = {Current State}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q0 ∈ Q is the start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4" y="97876"/>
            <a:ext cx="9404723" cy="461682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 To Transducers (DFA with Output)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968" y="933801"/>
            <a:ext cx="10115148" cy="4195481"/>
          </a:xfrm>
        </p:spPr>
        <p:txBody>
          <a:bodyPr>
            <a:noAutofit/>
          </a:bodyPr>
          <a:lstStyle/>
          <a:p>
            <a:pPr fontAlgn="base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classical machines are designed that transform input strings into output strings. They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are: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Moore </a:t>
            </a: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named after 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Edward Moore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who introduced it in 1956.</a:t>
            </a:r>
          </a:p>
          <a:p>
            <a:pPr fontAlgn="base"/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Mealy </a:t>
            </a: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named after 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George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H.Mealy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who introduced it in 1955.</a:t>
            </a:r>
          </a:p>
          <a:p>
            <a:pPr fontAlgn="base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machines are basically DFAs, except that they associate an output symbol with each state or with each state transition.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there are 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no final states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because there is no acceptance or rejection involved.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3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269" y="0"/>
            <a:ext cx="3925889" cy="641445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Moore machine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 – </a:t>
            </a:r>
            <a:r>
              <a:rPr lang="en-US" sz="32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47" y="933801"/>
            <a:ext cx="8067983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Moore machine is a finite state machine with the output philosophy - One State - One output.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state will have an output associated with it. Even the start state.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can have an output since the machine is in the start state and it has an output.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Moore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machines can respond to empty string.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430603" y="399879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 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5" idx="2"/>
          </p:cNvCxnSpPr>
          <p:nvPr/>
        </p:nvCxnSpPr>
        <p:spPr>
          <a:xfrm>
            <a:off x="9007522" y="445599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097904" y="400107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/ 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0345562" y="446736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460171" y="561150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 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9894627" y="4913194"/>
            <a:ext cx="1" cy="69831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70106" y="4098037"/>
            <a:ext cx="409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98924" y="5077683"/>
            <a:ext cx="409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9275927" y="190870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Straight Arrow Connector 16"/>
          <p:cNvCxnSpPr>
            <a:endCxn id="16" idx="2"/>
          </p:cNvCxnSpPr>
          <p:nvPr/>
        </p:nvCxnSpPr>
        <p:spPr>
          <a:xfrm>
            <a:off x="8852846" y="236590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3228" y="191098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/ 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0190886" y="237728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03975" y="1977173"/>
            <a:ext cx="779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99644" y="2223394"/>
            <a:ext cx="779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 0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4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  <p:bldP spid="10" grpId="0" animBg="1"/>
      <p:bldP spid="14" grpId="0"/>
      <p:bldP spid="15" grpId="0"/>
      <p:bldP spid="16" grpId="0" animBg="1"/>
      <p:bldP spid="18" grpId="0" animBg="1"/>
      <p:bldP spid="2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50" y="442481"/>
            <a:ext cx="7276414" cy="530322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Count the numbers of a’s in the given input.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Draw the DFA with that restriction.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275927" y="190870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8852846" y="236590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190886" y="237728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2343" y="200446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rc 11"/>
          <p:cNvSpPr/>
          <p:nvPr/>
        </p:nvSpPr>
        <p:spPr>
          <a:xfrm>
            <a:off x="11075157" y="1533620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9407856" y="1560916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545038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2339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931150" y="1854936"/>
            <a:ext cx="1049035" cy="10369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991643" y="190982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urved Down Arrow 16"/>
          <p:cNvSpPr/>
          <p:nvPr/>
        </p:nvSpPr>
        <p:spPr>
          <a:xfrm rot="10800000">
            <a:off x="9739949" y="2824225"/>
            <a:ext cx="1542197" cy="327546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57079" y="280099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8824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2" grpId="0" animBg="1"/>
      <p:bldP spid="13" grpId="0" animBg="1"/>
      <p:bldP spid="14" grpId="0"/>
      <p:bldP spid="15" grpId="0"/>
      <p:bldP spid="16" grpId="0" animBg="1"/>
      <p:bldP spid="8" grpId="0" animBg="1"/>
      <p:bldP spid="1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50" y="442481"/>
            <a:ext cx="7276414" cy="530322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Count the numbers of a’s in the given input.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Draw the DFA with that restriction.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Put 1 as output in the final state.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Put 0 as output in the remaining states.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Make final state as non final state.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275927" y="190870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8852846" y="236590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190886" y="237728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2343" y="200446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rc 11"/>
          <p:cNvSpPr/>
          <p:nvPr/>
        </p:nvSpPr>
        <p:spPr>
          <a:xfrm>
            <a:off x="11075157" y="1533620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9407856" y="1560916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545038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2339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931150" y="1854936"/>
            <a:ext cx="1049035" cy="10369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991643" y="190982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7174" y="219261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28929" y="218146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216786" y="424475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endCxn id="18" idx="2"/>
          </p:cNvCxnSpPr>
          <p:nvPr/>
        </p:nvCxnSpPr>
        <p:spPr>
          <a:xfrm>
            <a:off x="8793705" y="4701950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0131745" y="47133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63202" y="434051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Arc 21"/>
          <p:cNvSpPr/>
          <p:nvPr/>
        </p:nvSpPr>
        <p:spPr>
          <a:xfrm>
            <a:off x="11016016" y="3869662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>
            <a:off x="9348715" y="3896958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485897" y="34968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3198" y="34968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932502" y="424586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378033" y="452865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69788" y="451750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Curved Down Arrow 29"/>
          <p:cNvSpPr/>
          <p:nvPr/>
        </p:nvSpPr>
        <p:spPr>
          <a:xfrm rot="10800000">
            <a:off x="9739949" y="2824225"/>
            <a:ext cx="1542197" cy="327546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57079" y="280099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2" name="Curved Down Arrow 31"/>
          <p:cNvSpPr/>
          <p:nvPr/>
        </p:nvSpPr>
        <p:spPr>
          <a:xfrm rot="10800000">
            <a:off x="9651244" y="5159150"/>
            <a:ext cx="1542197" cy="327546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68374" y="513592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9577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8" grpId="0" animBg="1"/>
      <p:bldP spid="21" grpId="0"/>
      <p:bldP spid="22" grpId="0" animBg="1"/>
      <p:bldP spid="23" grpId="0" animBg="1"/>
      <p:bldP spid="24" grpId="0"/>
      <p:bldP spid="25" grpId="0"/>
      <p:bldP spid="27" grpId="0" animBg="1"/>
      <p:bldP spid="28" grpId="0"/>
      <p:bldP spid="29" grpId="0"/>
      <p:bldP spid="32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6768936" y="671761"/>
            <a:ext cx="3106784" cy="2039184"/>
            <a:chOff x="8793705" y="3496848"/>
            <a:chExt cx="3106784" cy="2039184"/>
          </a:xfrm>
        </p:grpSpPr>
        <p:sp>
          <p:nvSpPr>
            <p:cNvPr id="5" name="Oval 4"/>
            <p:cNvSpPr/>
            <p:nvPr/>
          </p:nvSpPr>
          <p:spPr>
            <a:xfrm>
              <a:off x="9216786" y="4244750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X0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" name="Straight Arrow Connector 5"/>
            <p:cNvCxnSpPr>
              <a:endCxn id="5" idx="2"/>
            </p:cNvCxnSpPr>
            <p:nvPr/>
          </p:nvCxnSpPr>
          <p:spPr>
            <a:xfrm>
              <a:off x="8793705" y="4701950"/>
              <a:ext cx="423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10131745" y="4713325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0363202" y="4340511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Arc 8"/>
            <p:cNvSpPr/>
            <p:nvPr/>
          </p:nvSpPr>
          <p:spPr>
            <a:xfrm>
              <a:off x="11016016" y="3869662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/>
            <p:cNvSpPr/>
            <p:nvPr/>
          </p:nvSpPr>
          <p:spPr>
            <a:xfrm>
              <a:off x="9348715" y="3896958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485897" y="3496848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153198" y="3496848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10932502" y="4245867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378033" y="4528659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 1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69788" y="4517509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Curved Down Arrow 15"/>
            <p:cNvSpPr/>
            <p:nvPr/>
          </p:nvSpPr>
          <p:spPr>
            <a:xfrm rot="10800000">
              <a:off x="9651244" y="5159150"/>
              <a:ext cx="1542197" cy="327546"/>
            </a:xfrm>
            <a:prstGeom prst="curved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68374" y="5135922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14150" y="1740650"/>
            <a:ext cx="3302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abaaba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40090"/>
              </p:ext>
            </p:extLst>
          </p:nvPr>
        </p:nvGraphicFramePr>
        <p:xfrm>
          <a:off x="210433" y="3326389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39284" y="3655914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3278" y="3667708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30957" y="3663157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97860" y="3685905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44349" y="3669982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55619" y="3673269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81059" y="4085819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42214" y="4059786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02351" y="4044454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86325" y="4055237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91672" y="4058523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73513" y="4061640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77529" y="4079838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9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7" grpId="0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209" y="278709"/>
            <a:ext cx="6634968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Count the pattern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given input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Draw the DFA with that restriction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Put 1 as output in the final state.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Put 0 as output in the remaining states.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Make final state as non final state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662785" y="212181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Arrow Connector 5"/>
          <p:cNvCxnSpPr>
            <a:endCxn id="5" idx="2"/>
          </p:cNvCxnSpPr>
          <p:nvPr/>
        </p:nvCxnSpPr>
        <p:spPr>
          <a:xfrm>
            <a:off x="7239704" y="2579017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8577744" y="259039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09201" y="221757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Arc 8"/>
          <p:cNvSpPr/>
          <p:nvPr/>
        </p:nvSpPr>
        <p:spPr>
          <a:xfrm rot="20632216">
            <a:off x="9407423" y="1814969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>
            <a:off x="7794714" y="1774025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931896" y="137391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87309" y="159455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010330" y="1983588"/>
            <a:ext cx="1049035" cy="10369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070823" y="203847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urved Down Arrow 14"/>
          <p:cNvSpPr/>
          <p:nvPr/>
        </p:nvSpPr>
        <p:spPr>
          <a:xfrm rot="10800000">
            <a:off x="8126806" y="3050986"/>
            <a:ext cx="3322741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43454" y="2115406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0258413" y="2583981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38258" y="218387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9570" y="29874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2" name="Curved Up Arrow 21"/>
          <p:cNvSpPr/>
          <p:nvPr/>
        </p:nvSpPr>
        <p:spPr>
          <a:xfrm rot="10800000">
            <a:off x="9989020" y="1936118"/>
            <a:ext cx="1256028" cy="204717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17655" y="15128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18487" y="23173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92962" y="24015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76342" y="23920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6820658" y="4092094"/>
            <a:ext cx="4801239" cy="2013605"/>
            <a:chOff x="6820658" y="4092094"/>
            <a:chExt cx="4801239" cy="2013605"/>
          </a:xfrm>
        </p:grpSpPr>
        <p:sp>
          <p:nvSpPr>
            <p:cNvPr id="27" name="Oval 26"/>
            <p:cNvSpPr/>
            <p:nvPr/>
          </p:nvSpPr>
          <p:spPr>
            <a:xfrm>
              <a:off x="7243739" y="4839996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X0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" name="Straight Arrow Connector 27"/>
            <p:cNvCxnSpPr>
              <a:endCxn id="27" idx="2"/>
            </p:cNvCxnSpPr>
            <p:nvPr/>
          </p:nvCxnSpPr>
          <p:spPr>
            <a:xfrm>
              <a:off x="6820658" y="5297196"/>
              <a:ext cx="423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8158698" y="5308571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8390155" y="4935757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20632216">
              <a:off x="8988377" y="4533148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/>
            <p:cNvSpPr/>
            <p:nvPr/>
          </p:nvSpPr>
          <p:spPr>
            <a:xfrm>
              <a:off x="7375668" y="4492204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12850" y="4092094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068263" y="4312734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10651777" y="4756656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Curved Down Arrow 36"/>
            <p:cNvSpPr/>
            <p:nvPr/>
          </p:nvSpPr>
          <p:spPr>
            <a:xfrm rot="10800000">
              <a:off x="7707760" y="5769165"/>
              <a:ext cx="3322741" cy="296482"/>
            </a:xfrm>
            <a:prstGeom prst="curved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8924408" y="4833585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X1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9839367" y="5302160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10019212" y="4902050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20524" y="5705589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2" name="Curved Up Arrow 41"/>
            <p:cNvSpPr/>
            <p:nvPr/>
          </p:nvSpPr>
          <p:spPr>
            <a:xfrm rot="10800000">
              <a:off x="9569974" y="4654297"/>
              <a:ext cx="1256028" cy="204717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998609" y="4230997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099441" y="503556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 1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673916" y="511976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357296" y="511025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171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7" grpId="0" animBg="1"/>
      <p:bldP spid="19" grpId="0"/>
      <p:bldP spid="20" grpId="0"/>
      <p:bldP spid="22" grpId="0" animBg="1"/>
      <p:bldP spid="2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42" y="360596"/>
            <a:ext cx="3168437" cy="49921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: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aabbaababab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279384" y="803879"/>
            <a:ext cx="4801239" cy="2013605"/>
            <a:chOff x="6820658" y="4092094"/>
            <a:chExt cx="4801239" cy="2013605"/>
          </a:xfrm>
        </p:grpSpPr>
        <p:sp>
          <p:nvSpPr>
            <p:cNvPr id="6" name="Oval 5"/>
            <p:cNvSpPr/>
            <p:nvPr/>
          </p:nvSpPr>
          <p:spPr>
            <a:xfrm>
              <a:off x="7243739" y="4839996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X0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" name="Straight Arrow Connector 6"/>
            <p:cNvCxnSpPr>
              <a:endCxn id="6" idx="2"/>
            </p:cNvCxnSpPr>
            <p:nvPr/>
          </p:nvCxnSpPr>
          <p:spPr>
            <a:xfrm>
              <a:off x="6820658" y="5297196"/>
              <a:ext cx="423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8158698" y="5308571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8390155" y="4935757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Arc 9"/>
            <p:cNvSpPr/>
            <p:nvPr/>
          </p:nvSpPr>
          <p:spPr>
            <a:xfrm rot="20632216">
              <a:off x="8988377" y="4533148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/>
            <p:cNvSpPr/>
            <p:nvPr/>
          </p:nvSpPr>
          <p:spPr>
            <a:xfrm>
              <a:off x="7375668" y="4492204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12850" y="4092094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68263" y="4312734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10651777" y="4756656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Curved Down Arrow 14"/>
            <p:cNvSpPr/>
            <p:nvPr/>
          </p:nvSpPr>
          <p:spPr>
            <a:xfrm rot="10800000">
              <a:off x="7707760" y="5769165"/>
              <a:ext cx="3322741" cy="296482"/>
            </a:xfrm>
            <a:prstGeom prst="curved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8924408" y="4833585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X1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9839367" y="5302160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0019212" y="4902050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20524" y="5705589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0" name="Curved Up Arrow 19"/>
            <p:cNvSpPr/>
            <p:nvPr/>
          </p:nvSpPr>
          <p:spPr>
            <a:xfrm rot="10800000">
              <a:off x="9569974" y="4654297"/>
              <a:ext cx="1256028" cy="204717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98609" y="4230997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099441" y="503556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 1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673916" y="511976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57296" y="511025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41735"/>
              </p:ext>
            </p:extLst>
          </p:nvPr>
        </p:nvGraphicFramePr>
        <p:xfrm>
          <a:off x="302321" y="3845004"/>
          <a:ext cx="9954126" cy="145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443"/>
                <a:gridCol w="805218"/>
                <a:gridCol w="661445"/>
                <a:gridCol w="765702"/>
                <a:gridCol w="765702"/>
                <a:gridCol w="765702"/>
                <a:gridCol w="765702"/>
                <a:gridCol w="765702"/>
                <a:gridCol w="765702"/>
                <a:gridCol w="765702"/>
                <a:gridCol w="765702"/>
                <a:gridCol w="765702"/>
                <a:gridCol w="765702"/>
              </a:tblGrid>
              <a:tr h="48344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8344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x0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8344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773984" y="4344283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45040" y="4330635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28276" y="4348157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30389" y="4348157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94234" y="4342672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96397" y="4354473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08687" y="4348157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16314" y="4380418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18697" y="4380418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85315" y="4354219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63863" y="4348157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03042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72708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803523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43475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03199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57335" y="4820859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89228" y="4813781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28267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52367" y="4799458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61613" y="4816985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748404" y="4820859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937257" y="4823550"/>
            <a:ext cx="22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0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561" y="401539"/>
            <a:ext cx="6061762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Count the pattern aba in the given input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4549349" y="115538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Curved Up Arrow 19"/>
          <p:cNvSpPr/>
          <p:nvPr/>
        </p:nvSpPr>
        <p:spPr>
          <a:xfrm rot="10800000">
            <a:off x="2996985" y="1453130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25940" y="1976329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Straight Arrow Connector 25"/>
          <p:cNvCxnSpPr>
            <a:endCxn id="25" idx="2"/>
          </p:cNvCxnSpPr>
          <p:nvPr/>
        </p:nvCxnSpPr>
        <p:spPr>
          <a:xfrm>
            <a:off x="202859" y="2433529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540899" y="244490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72356" y="207209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033978" y="1892989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06609" y="196991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221568" y="243849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01413" y="203838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962572" y="240519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11630" y="19699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Arc 35"/>
          <p:cNvSpPr/>
          <p:nvPr/>
        </p:nvSpPr>
        <p:spPr>
          <a:xfrm>
            <a:off x="757869" y="1628537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95051" y="122842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8" name="Arc 37"/>
          <p:cNvSpPr/>
          <p:nvPr/>
        </p:nvSpPr>
        <p:spPr>
          <a:xfrm>
            <a:off x="2469981" y="1613539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607162" y="125307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Curved Down Arrow 39"/>
          <p:cNvSpPr/>
          <p:nvPr/>
        </p:nvSpPr>
        <p:spPr>
          <a:xfrm rot="10800000">
            <a:off x="1124780" y="2854675"/>
            <a:ext cx="3322741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37544" y="279109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4" name="Curved Down Arrow 43"/>
          <p:cNvSpPr/>
          <p:nvPr/>
        </p:nvSpPr>
        <p:spPr>
          <a:xfrm rot="10800000">
            <a:off x="4502933" y="2783080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93367" y="275918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1700" y="217193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5591526" y="1825162"/>
            <a:ext cx="1173218" cy="1066800"/>
            <a:chOff x="5591526" y="1825162"/>
            <a:chExt cx="1173218" cy="1066800"/>
          </a:xfrm>
        </p:grpSpPr>
        <p:sp>
          <p:nvSpPr>
            <p:cNvPr id="51" name="Oval 50"/>
            <p:cNvSpPr/>
            <p:nvPr/>
          </p:nvSpPr>
          <p:spPr>
            <a:xfrm>
              <a:off x="5591526" y="1825162"/>
              <a:ext cx="1173218" cy="10668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712086" y="1893402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406541" y="2944480"/>
            <a:ext cx="6561885" cy="2094597"/>
            <a:chOff x="4448492" y="4134373"/>
            <a:chExt cx="6561885" cy="2094597"/>
          </a:xfrm>
        </p:grpSpPr>
        <p:sp>
          <p:nvSpPr>
            <p:cNvPr id="53" name="TextBox 52"/>
            <p:cNvSpPr txBox="1"/>
            <p:nvPr/>
          </p:nvSpPr>
          <p:spPr>
            <a:xfrm>
              <a:off x="8693154" y="4134373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Curved Up Arrow 53"/>
            <p:cNvSpPr/>
            <p:nvPr/>
          </p:nvSpPr>
          <p:spPr>
            <a:xfrm rot="10800000">
              <a:off x="7242618" y="4490891"/>
              <a:ext cx="3104730" cy="523198"/>
            </a:xfrm>
            <a:prstGeom prst="curved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4871573" y="5014090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X0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6" name="Straight Arrow Connector 55"/>
            <p:cNvCxnSpPr>
              <a:endCxn id="55" idx="2"/>
            </p:cNvCxnSpPr>
            <p:nvPr/>
          </p:nvCxnSpPr>
          <p:spPr>
            <a:xfrm>
              <a:off x="4448492" y="5471290"/>
              <a:ext cx="423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5786532" y="5482665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6017989" y="5109851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8279611" y="4930750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X2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6552242" y="5007679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X1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>
              <a:off x="7467201" y="5476254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7647046" y="5076144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9208205" y="5442955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9457263" y="5007679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Arc 64"/>
            <p:cNvSpPr/>
            <p:nvPr/>
          </p:nvSpPr>
          <p:spPr>
            <a:xfrm>
              <a:off x="5003502" y="4666298"/>
              <a:ext cx="527005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140684" y="4266188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7" name="Arc 66"/>
            <p:cNvSpPr/>
            <p:nvPr/>
          </p:nvSpPr>
          <p:spPr>
            <a:xfrm>
              <a:off x="6715614" y="4651300"/>
              <a:ext cx="491782" cy="902103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852795" y="4290836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Curved Down Arrow 68"/>
            <p:cNvSpPr/>
            <p:nvPr/>
          </p:nvSpPr>
          <p:spPr>
            <a:xfrm rot="10800000">
              <a:off x="5370413" y="5892436"/>
              <a:ext cx="3322741" cy="296482"/>
            </a:xfrm>
            <a:prstGeom prst="curved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383177" y="5828860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71" name="Curved Down Arrow 70"/>
            <p:cNvSpPr/>
            <p:nvPr/>
          </p:nvSpPr>
          <p:spPr>
            <a:xfrm rot="10800000">
              <a:off x="8748566" y="5820841"/>
              <a:ext cx="1462377" cy="296482"/>
            </a:xfrm>
            <a:prstGeom prst="curved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339000" y="5796949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407333" y="5209700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9837159" y="4862923"/>
              <a:ext cx="1173218" cy="1066800"/>
              <a:chOff x="5591526" y="1825162"/>
              <a:chExt cx="1173218" cy="1066800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5591526" y="1825162"/>
                <a:ext cx="1173218" cy="106680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5712086" y="1893402"/>
                <a:ext cx="928048" cy="91440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latin typeface="Times New Roman" pitchFamily="18" charset="0"/>
                    <a:cs typeface="Times New Roman" pitchFamily="18" charset="0"/>
                  </a:rPr>
                  <a:t>X3</a:t>
                </a:r>
                <a:endParaRPr 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80" name="TextBox 79"/>
          <p:cNvSpPr txBox="1"/>
          <p:nvPr/>
        </p:nvSpPr>
        <p:spPr>
          <a:xfrm>
            <a:off x="9688036" y="400106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954774" y="408804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1387285" y="40214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69584" y="410810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78249" y="4543206"/>
            <a:ext cx="6503200" cy="2094597"/>
            <a:chOff x="78249" y="4543206"/>
            <a:chExt cx="6503200" cy="2094597"/>
          </a:xfrm>
        </p:grpSpPr>
        <p:grpSp>
          <p:nvGrpSpPr>
            <p:cNvPr id="85" name="Group 84"/>
            <p:cNvGrpSpPr/>
            <p:nvPr/>
          </p:nvGrpSpPr>
          <p:grpSpPr>
            <a:xfrm>
              <a:off x="78249" y="4543206"/>
              <a:ext cx="6481297" cy="2094597"/>
              <a:chOff x="4448492" y="4134373"/>
              <a:chExt cx="6481297" cy="2094597"/>
            </a:xfrm>
          </p:grpSpPr>
          <p:sp>
            <p:nvSpPr>
              <p:cNvPr id="86" name="TextBox 85"/>
              <p:cNvSpPr txBox="1"/>
              <p:nvPr/>
            </p:nvSpPr>
            <p:spPr>
              <a:xfrm>
                <a:off x="8693154" y="4134373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7" name="Curved Up Arrow 86"/>
              <p:cNvSpPr/>
              <p:nvPr/>
            </p:nvSpPr>
            <p:spPr>
              <a:xfrm rot="10800000">
                <a:off x="7242618" y="4490891"/>
                <a:ext cx="3104730" cy="523198"/>
              </a:xfrm>
              <a:prstGeom prst="curvedUp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4871573" y="5014090"/>
                <a:ext cx="928048" cy="91440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latin typeface="Times New Roman" pitchFamily="18" charset="0"/>
                    <a:cs typeface="Times New Roman" pitchFamily="18" charset="0"/>
                  </a:rPr>
                  <a:t>X0 </a:t>
                </a:r>
                <a:endParaRPr 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89" name="Straight Arrow Connector 88"/>
              <p:cNvCxnSpPr>
                <a:endCxn id="88" idx="2"/>
              </p:cNvCxnSpPr>
              <p:nvPr/>
            </p:nvCxnSpPr>
            <p:spPr>
              <a:xfrm>
                <a:off x="4448492" y="5471290"/>
                <a:ext cx="423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/>
              <p:cNvCxnSpPr/>
              <p:nvPr/>
            </p:nvCxnSpPr>
            <p:spPr>
              <a:xfrm>
                <a:off x="5786532" y="5482665"/>
                <a:ext cx="749514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TextBox 90"/>
              <p:cNvSpPr txBox="1"/>
              <p:nvPr/>
            </p:nvSpPr>
            <p:spPr>
              <a:xfrm>
                <a:off x="6017989" y="5109851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8279611" y="4930750"/>
                <a:ext cx="928048" cy="91440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latin typeface="Times New Roman" pitchFamily="18" charset="0"/>
                    <a:cs typeface="Times New Roman" pitchFamily="18" charset="0"/>
                  </a:rPr>
                  <a:t>X2</a:t>
                </a:r>
                <a:endParaRPr 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6552242" y="5007679"/>
                <a:ext cx="928048" cy="91440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latin typeface="Times New Roman" pitchFamily="18" charset="0"/>
                    <a:cs typeface="Times New Roman" pitchFamily="18" charset="0"/>
                  </a:rPr>
                  <a:t>X1 </a:t>
                </a:r>
                <a:endParaRPr 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94" name="Straight Arrow Connector 93"/>
              <p:cNvCxnSpPr/>
              <p:nvPr/>
            </p:nvCxnSpPr>
            <p:spPr>
              <a:xfrm>
                <a:off x="7467201" y="5476254"/>
                <a:ext cx="749514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/>
              <p:cNvSpPr txBox="1"/>
              <p:nvPr/>
            </p:nvSpPr>
            <p:spPr>
              <a:xfrm>
                <a:off x="7647046" y="5076144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cxnSp>
            <p:nvCxnSpPr>
              <p:cNvPr id="96" name="Straight Arrow Connector 95"/>
              <p:cNvCxnSpPr/>
              <p:nvPr/>
            </p:nvCxnSpPr>
            <p:spPr>
              <a:xfrm>
                <a:off x="9208205" y="5442955"/>
                <a:ext cx="749514" cy="0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/>
              <p:cNvSpPr txBox="1"/>
              <p:nvPr/>
            </p:nvSpPr>
            <p:spPr>
              <a:xfrm>
                <a:off x="9457263" y="5007679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Arc 97"/>
              <p:cNvSpPr/>
              <p:nvPr/>
            </p:nvSpPr>
            <p:spPr>
              <a:xfrm>
                <a:off x="5003502" y="4666298"/>
                <a:ext cx="527005" cy="887105"/>
              </a:xfrm>
              <a:prstGeom prst="arc">
                <a:avLst>
                  <a:gd name="adj1" fmla="val 10656844"/>
                  <a:gd name="adj2" fmla="val 0"/>
                </a:avLst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140684" y="4266188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00" name="Arc 99"/>
              <p:cNvSpPr/>
              <p:nvPr/>
            </p:nvSpPr>
            <p:spPr>
              <a:xfrm>
                <a:off x="6715614" y="4651300"/>
                <a:ext cx="491782" cy="902103"/>
              </a:xfrm>
              <a:prstGeom prst="arc">
                <a:avLst>
                  <a:gd name="adj1" fmla="val 10656844"/>
                  <a:gd name="adj2" fmla="val 0"/>
                </a:avLst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6852795" y="4290836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Curved Down Arrow 101"/>
              <p:cNvSpPr/>
              <p:nvPr/>
            </p:nvSpPr>
            <p:spPr>
              <a:xfrm rot="10800000">
                <a:off x="5370413" y="5892436"/>
                <a:ext cx="3322741" cy="296482"/>
              </a:xfrm>
              <a:prstGeom prst="curvedDown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7383177" y="5828860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04" name="Curved Down Arrow 103"/>
              <p:cNvSpPr/>
              <p:nvPr/>
            </p:nvSpPr>
            <p:spPr>
              <a:xfrm rot="10800000">
                <a:off x="8748566" y="5820841"/>
                <a:ext cx="1462377" cy="296482"/>
              </a:xfrm>
              <a:prstGeom prst="curvedDown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9339000" y="5796949"/>
                <a:ext cx="389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10407333" y="5209700"/>
                <a:ext cx="522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9957719" y="4931163"/>
                <a:ext cx="928048" cy="91440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latin typeface="Times New Roman" pitchFamily="18" charset="0"/>
                    <a:cs typeface="Times New Roman" pitchFamily="18" charset="0"/>
                  </a:rPr>
                  <a:t>X3</a:t>
                </a:r>
                <a:endParaRPr 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0" name="TextBox 109"/>
            <p:cNvSpPr txBox="1"/>
            <p:nvPr/>
          </p:nvSpPr>
          <p:spPr>
            <a:xfrm>
              <a:off x="4359744" y="5599794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26482" y="5686773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058993" y="5620200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 1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41292" y="5706832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21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0" grpId="0" animBg="1"/>
      <p:bldP spid="25" grpId="0" animBg="1"/>
      <p:bldP spid="28" grpId="0"/>
      <p:bldP spid="29" grpId="0" animBg="1"/>
      <p:bldP spid="30" grpId="0" animBg="1"/>
      <p:bldP spid="32" grpId="0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4" grpId="0" animBg="1"/>
      <p:bldP spid="45" grpId="0"/>
      <p:bldP spid="80" grpId="0"/>
      <p:bldP spid="82" grpId="0"/>
      <p:bldP spid="83" grpId="0"/>
      <p:bldP spid="8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07" y="117254"/>
            <a:ext cx="10101527" cy="51054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Count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the occurrence of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aba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bb in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(Single Moore Machine)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77179" y="16173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29" idx="2"/>
          </p:cNvCxnSpPr>
          <p:nvPr/>
        </p:nvCxnSpPr>
        <p:spPr>
          <a:xfrm>
            <a:off x="454098" y="207450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805227" y="2074501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74391" y="27273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Arc 32"/>
          <p:cNvSpPr/>
          <p:nvPr/>
        </p:nvSpPr>
        <p:spPr>
          <a:xfrm rot="10377834">
            <a:off x="3938107" y="3788399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/>
          <p:cNvSpPr/>
          <p:nvPr/>
        </p:nvSpPr>
        <p:spPr>
          <a:xfrm>
            <a:off x="2666456" y="1328199"/>
            <a:ext cx="54247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116233" y="463793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7939" y="169035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530547" y="160365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3485891" y="204266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33596" y="167193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963" y="353264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3570" y="9780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42443" y="188089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98431" y="18856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urved Up Arrow 46"/>
          <p:cNvSpPr/>
          <p:nvPr/>
        </p:nvSpPr>
        <p:spPr>
          <a:xfrm rot="10800000">
            <a:off x="4940906" y="1419406"/>
            <a:ext cx="1256028" cy="204717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4235405" y="16173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74355" y="339833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X4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5194163" y="205858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3176375" y="2504405"/>
            <a:ext cx="847044" cy="97768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4368995" y="2531701"/>
            <a:ext cx="330434" cy="86663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379040" y="2571825"/>
            <a:ext cx="0" cy="86663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39" idx="3"/>
          </p:cNvCxnSpPr>
          <p:nvPr/>
        </p:nvCxnSpPr>
        <p:spPr>
          <a:xfrm flipV="1">
            <a:off x="1725351" y="2384142"/>
            <a:ext cx="941105" cy="114612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1858657" y="3855534"/>
            <a:ext cx="1924661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5979868" y="1521765"/>
            <a:ext cx="1048725" cy="1048609"/>
            <a:chOff x="5925276" y="1521765"/>
            <a:chExt cx="1048725" cy="1048609"/>
          </a:xfrm>
        </p:grpSpPr>
        <p:sp>
          <p:nvSpPr>
            <p:cNvPr id="63" name="Oval 62"/>
            <p:cNvSpPr/>
            <p:nvPr/>
          </p:nvSpPr>
          <p:spPr>
            <a:xfrm>
              <a:off x="5925276" y="1521765"/>
              <a:ext cx="1048725" cy="104860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5977597" y="1585462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786781" y="3409889"/>
            <a:ext cx="1048725" cy="1048609"/>
            <a:chOff x="5925276" y="1521765"/>
            <a:chExt cx="1048725" cy="1048609"/>
          </a:xfrm>
        </p:grpSpPr>
        <p:sp>
          <p:nvSpPr>
            <p:cNvPr id="67" name="Oval 66"/>
            <p:cNvSpPr/>
            <p:nvPr/>
          </p:nvSpPr>
          <p:spPr>
            <a:xfrm>
              <a:off x="5925276" y="1521765"/>
              <a:ext cx="1048725" cy="104860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5977597" y="1585462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X5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9" name="Curved Up Arrow 68"/>
          <p:cNvSpPr/>
          <p:nvPr/>
        </p:nvSpPr>
        <p:spPr>
          <a:xfrm rot="10800000">
            <a:off x="3115929" y="1195032"/>
            <a:ext cx="3166999" cy="36627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981489" y="173080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12049" y="277779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23787" y="27298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00991" y="255709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03970" y="133069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08628" y="85984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685355" y="18898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24448" y="367086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77963" y="1862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270196" y="37344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5977412" y="364657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1" name="Straight Arrow Connector 80"/>
          <p:cNvCxnSpPr>
            <a:endCxn id="80" idx="2"/>
          </p:cNvCxnSpPr>
          <p:nvPr/>
        </p:nvCxnSpPr>
        <p:spPr>
          <a:xfrm>
            <a:off x="5554331" y="410377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6905460" y="410377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674624" y="475666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Arc 83"/>
          <p:cNvSpPr/>
          <p:nvPr/>
        </p:nvSpPr>
        <p:spPr>
          <a:xfrm rot="10377834">
            <a:off x="9038340" y="5817672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c 84"/>
          <p:cNvSpPr/>
          <p:nvPr/>
        </p:nvSpPr>
        <p:spPr>
          <a:xfrm>
            <a:off x="7766689" y="3357472"/>
            <a:ext cx="54247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9697973" y="634200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58172" y="371963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7630780" y="3632926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8586124" y="40719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733829" y="370120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97196" y="556192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93803" y="300733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042676" y="39101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98664" y="391491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5" name="Curved Up Arrow 94"/>
          <p:cNvSpPr/>
          <p:nvPr/>
        </p:nvSpPr>
        <p:spPr>
          <a:xfrm rot="10800000">
            <a:off x="10041139" y="3448679"/>
            <a:ext cx="1256028" cy="204717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Oval 95"/>
          <p:cNvSpPr/>
          <p:nvPr/>
        </p:nvSpPr>
        <p:spPr>
          <a:xfrm>
            <a:off x="9335638" y="364657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5974588" y="542760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X4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Straight Arrow Connector 97"/>
          <p:cNvCxnSpPr/>
          <p:nvPr/>
        </p:nvCxnSpPr>
        <p:spPr>
          <a:xfrm>
            <a:off x="10294396" y="408785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H="1" flipV="1">
            <a:off x="8276608" y="4533678"/>
            <a:ext cx="847044" cy="97768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H="1">
            <a:off x="9469228" y="4560974"/>
            <a:ext cx="330434" cy="86663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6479273" y="4601098"/>
            <a:ext cx="0" cy="86663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endCxn id="88" idx="3"/>
          </p:cNvCxnSpPr>
          <p:nvPr/>
        </p:nvCxnSpPr>
        <p:spPr>
          <a:xfrm flipV="1">
            <a:off x="6825584" y="4413415"/>
            <a:ext cx="941105" cy="114612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958890" y="5884807"/>
            <a:ext cx="1924661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11132422" y="361473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8939335" y="5502859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X5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Curved Up Arrow 109"/>
          <p:cNvSpPr/>
          <p:nvPr/>
        </p:nvSpPr>
        <p:spPr>
          <a:xfrm rot="10800000">
            <a:off x="8216162" y="3224305"/>
            <a:ext cx="3166999" cy="36627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081722" y="376008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212282" y="480706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24020" y="47591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01224" y="45863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0604203" y="335997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08861" y="288912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9785588" y="391910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424681" y="570014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1578196" y="38917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370429" y="57637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3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9" grpId="0" animBg="1"/>
      <p:bldP spid="32" grpId="0"/>
      <p:bldP spid="33" grpId="0" animBg="1"/>
      <p:bldP spid="34" grpId="0" animBg="1"/>
      <p:bldP spid="35" grpId="0"/>
      <p:bldP spid="36" grpId="0"/>
      <p:bldP spid="39" grpId="0" animBg="1"/>
      <p:bldP spid="41" grpId="0"/>
      <p:bldP spid="42" grpId="0"/>
      <p:bldP spid="43" grpId="0"/>
      <p:bldP spid="45" grpId="0"/>
      <p:bldP spid="46" grpId="0"/>
      <p:bldP spid="47" grpId="0" animBg="1"/>
      <p:bldP spid="48" grpId="0" animBg="1"/>
      <p:bldP spid="50" grpId="0" animBg="1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 animBg="1"/>
      <p:bldP spid="83" grpId="0"/>
      <p:bldP spid="84" grpId="0" animBg="1"/>
      <p:bldP spid="85" grpId="0" animBg="1"/>
      <p:bldP spid="86" grpId="0"/>
      <p:bldP spid="87" grpId="0"/>
      <p:bldP spid="88" grpId="0" animBg="1"/>
      <p:bldP spid="90" grpId="0"/>
      <p:bldP spid="91" grpId="0"/>
      <p:bldP spid="92" grpId="0"/>
      <p:bldP spid="93" grpId="0"/>
      <p:bldP spid="94" grpId="0"/>
      <p:bldP spid="95" grpId="0" animBg="1"/>
      <p:bldP spid="96" grpId="0" animBg="1"/>
      <p:bldP spid="97" grpId="0" animBg="1"/>
      <p:bldP spid="106" grpId="0" animBg="1"/>
      <p:bldP spid="109" grpId="0" animBg="1"/>
      <p:bldP spid="110" grpId="0" animBg="1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7467"/>
          </a:xfrm>
        </p:spPr>
        <p:txBody>
          <a:bodyPr/>
          <a:lstStyle/>
          <a:p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Mealy machine</a:t>
            </a:r>
            <a:r>
              <a:rPr lang="en-US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 – </a:t>
            </a:r>
            <a:r>
              <a:rPr lang="en-US" sz="4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4400" baseline="-25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346" y="1343235"/>
            <a:ext cx="6443900" cy="5248634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 Mealy machine is a machine in which output symbol depends upon the present input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symbol.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Mealy machine, the output is represented with each input symbol for each state separated by 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430603" y="399879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Arrow Connector 5"/>
          <p:cNvCxnSpPr>
            <a:endCxn id="5" idx="2"/>
          </p:cNvCxnSpPr>
          <p:nvPr/>
        </p:nvCxnSpPr>
        <p:spPr>
          <a:xfrm>
            <a:off x="9007522" y="445599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097904" y="400107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345562" y="446736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460171" y="561150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9894627" y="4913194"/>
            <a:ext cx="1" cy="69831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70106" y="4098037"/>
            <a:ext cx="494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57807" y="5064751"/>
            <a:ext cx="566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893783" y="190870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43228" y="191098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9866834" y="2377283"/>
            <a:ext cx="1097363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93932" y="1737637"/>
            <a:ext cx="779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a/0,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422943" y="237728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20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9" grpId="0" animBg="1"/>
      <p:bldP spid="11" grpId="0"/>
      <p:bldP spid="12" grpId="0"/>
      <p:bldP spid="13" grpId="0" animBg="1"/>
      <p:bldP spid="14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50" y="442481"/>
            <a:ext cx="7276414" cy="530322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Count the numbers of a’s in the given input.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Draw the DFA with that restriction.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275927" y="190870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8852846" y="236590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190886" y="237728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2343" y="200446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rc 11"/>
          <p:cNvSpPr/>
          <p:nvPr/>
        </p:nvSpPr>
        <p:spPr>
          <a:xfrm>
            <a:off x="11075157" y="1533620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9407856" y="1560916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545038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2339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931150" y="1854936"/>
            <a:ext cx="1049035" cy="10369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991643" y="190982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urved Down Arrow 16"/>
          <p:cNvSpPr/>
          <p:nvPr/>
        </p:nvSpPr>
        <p:spPr>
          <a:xfrm rot="10800000">
            <a:off x="9739949" y="2824225"/>
            <a:ext cx="1542197" cy="327546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57079" y="280099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05121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2" grpId="0" animBg="1"/>
      <p:bldP spid="13" grpId="0" animBg="1"/>
      <p:bldP spid="14" grpId="0"/>
      <p:bldP spid="15" grpId="0"/>
      <p:bldP spid="16" grpId="0" animBg="1"/>
      <p:bldP spid="8" grpId="0" animBg="1"/>
      <p:bldP spid="17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49" y="442481"/>
            <a:ext cx="8027041" cy="530322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Count the numbers of a’s in the given input.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Draw the DFA with that restriction.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Put 1 as output with all those edges that end in final state.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Put 0 as output with all remaining edges.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Make final state as non final state.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275927" y="192125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8852846" y="2378450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190886" y="237728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2343" y="200446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rc 11"/>
          <p:cNvSpPr/>
          <p:nvPr/>
        </p:nvSpPr>
        <p:spPr>
          <a:xfrm>
            <a:off x="11075157" y="1533620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9407856" y="1560916"/>
            <a:ext cx="664189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545038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2339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931150" y="1854936"/>
            <a:ext cx="1049035" cy="10369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991643" y="190982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58062" y="117793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Curved Down Arrow 29"/>
          <p:cNvSpPr/>
          <p:nvPr/>
        </p:nvSpPr>
        <p:spPr>
          <a:xfrm rot="10800000">
            <a:off x="9739949" y="2824225"/>
            <a:ext cx="1542197" cy="327546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57079" y="280099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03261" y="11865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11382" y="203111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468544" y="28300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810342" y="4233827"/>
            <a:ext cx="3066845" cy="2040301"/>
            <a:chOff x="8810342" y="4233827"/>
            <a:chExt cx="3066845" cy="2040301"/>
          </a:xfrm>
        </p:grpSpPr>
        <p:sp>
          <p:nvSpPr>
            <p:cNvPr id="38" name="Oval 37"/>
            <p:cNvSpPr/>
            <p:nvPr/>
          </p:nvSpPr>
          <p:spPr>
            <a:xfrm>
              <a:off x="9233423" y="4994271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X0 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9" name="Straight Arrow Connector 38"/>
            <p:cNvCxnSpPr>
              <a:endCxn id="38" idx="2"/>
            </p:cNvCxnSpPr>
            <p:nvPr/>
          </p:nvCxnSpPr>
          <p:spPr>
            <a:xfrm>
              <a:off x="8810342" y="5451471"/>
              <a:ext cx="423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0148382" y="5450304"/>
              <a:ext cx="74951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0379839" y="5077490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Arc 41"/>
            <p:cNvSpPr/>
            <p:nvPr/>
          </p:nvSpPr>
          <p:spPr>
            <a:xfrm>
              <a:off x="11032653" y="4606641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Arc 42"/>
            <p:cNvSpPr/>
            <p:nvPr/>
          </p:nvSpPr>
          <p:spPr>
            <a:xfrm>
              <a:off x="9365352" y="4633937"/>
              <a:ext cx="664189" cy="887105"/>
            </a:xfrm>
            <a:prstGeom prst="arc">
              <a:avLst>
                <a:gd name="adj1" fmla="val 10656844"/>
                <a:gd name="adj2" fmla="val 0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502534" y="4233827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69835" y="4233827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10949139" y="4982846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X1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615558" y="425095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Curved Down Arrow 48"/>
            <p:cNvSpPr/>
            <p:nvPr/>
          </p:nvSpPr>
          <p:spPr>
            <a:xfrm rot="10800000">
              <a:off x="9697445" y="5897246"/>
              <a:ext cx="1542197" cy="327546"/>
            </a:xfrm>
            <a:prstGeom prst="curved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314575" y="5874018"/>
              <a:ext cx="389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1260757" y="4259567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 1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468878" y="5104134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 1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426040" y="5903055"/>
              <a:ext cx="522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/0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21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4" grpId="0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45" y="363087"/>
            <a:ext cx="6130004" cy="530322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Count the occurrence of pattern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given input.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Draw the DFA with that restriction.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452373" y="19821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017923" y="244802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8428892" y="246920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62167" y="209422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Arc 12"/>
          <p:cNvSpPr/>
          <p:nvPr/>
        </p:nvSpPr>
        <p:spPr>
          <a:xfrm>
            <a:off x="9407856" y="1560916"/>
            <a:ext cx="527005" cy="908286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545038" y="11608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944217" y="3794886"/>
            <a:ext cx="1049035" cy="1036932"/>
            <a:chOff x="10931150" y="1854936"/>
            <a:chExt cx="1049035" cy="1036932"/>
          </a:xfrm>
        </p:grpSpPr>
        <p:sp>
          <p:nvSpPr>
            <p:cNvPr id="16" name="Oval 15"/>
            <p:cNvSpPr/>
            <p:nvPr/>
          </p:nvSpPr>
          <p:spPr>
            <a:xfrm>
              <a:off x="10931150" y="1854936"/>
              <a:ext cx="1049035" cy="10369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0991643" y="1909825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0" name="Curved Down Arrow 29"/>
          <p:cNvSpPr/>
          <p:nvPr/>
        </p:nvSpPr>
        <p:spPr>
          <a:xfrm rot="10800000">
            <a:off x="7988125" y="2932739"/>
            <a:ext cx="3225430" cy="314607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9190190" y="200536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0922044" y="199171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10132585" y="246920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11536975" y="2948288"/>
            <a:ext cx="0" cy="84659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413826" y="207662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05215" y="303364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2" name="Arc 61"/>
          <p:cNvSpPr/>
          <p:nvPr/>
        </p:nvSpPr>
        <p:spPr>
          <a:xfrm>
            <a:off x="7652894" y="1537569"/>
            <a:ext cx="527005" cy="908286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7652894" y="113745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220959" y="286088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H="1" flipV="1">
            <a:off x="11303261" y="2906112"/>
            <a:ext cx="42642" cy="88877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0864792" y="32359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9739949" y="2919760"/>
            <a:ext cx="1184792" cy="134060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795604" y="339779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8188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3" grpId="0" animBg="1"/>
      <p:bldP spid="14" grpId="0"/>
      <p:bldP spid="30" grpId="0" animBg="1"/>
      <p:bldP spid="46" grpId="0" animBg="1"/>
      <p:bldP spid="55" grpId="0" animBg="1"/>
      <p:bldP spid="58" grpId="0"/>
      <p:bldP spid="59" grpId="0"/>
      <p:bldP spid="62" grpId="0" animBg="1"/>
      <p:bldP spid="63" grpId="0"/>
      <p:bldP spid="67" grpId="0"/>
      <p:bldP spid="69" grpId="0"/>
      <p:bldP spid="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44" y="363087"/>
            <a:ext cx="6389311" cy="5303225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Count the occurrence of pattern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given input.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to draw a transducer for the given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 for the pattern that needs to be 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given pattern as an ending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Draw the DFA with that restriction.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Put 1 as output with all those edges that end in final state.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Put 0 as output with all remaining edges.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Make final state as non final state.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515372" y="160984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080922" y="2075730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8491891" y="2096911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25166" y="1721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Arc 12"/>
          <p:cNvSpPr/>
          <p:nvPr/>
        </p:nvSpPr>
        <p:spPr>
          <a:xfrm>
            <a:off x="9470855" y="1188625"/>
            <a:ext cx="527005" cy="908286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608037" y="78851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007216" y="3422595"/>
            <a:ext cx="1049035" cy="1036932"/>
            <a:chOff x="10931150" y="1854936"/>
            <a:chExt cx="1049035" cy="1036932"/>
          </a:xfrm>
        </p:grpSpPr>
        <p:sp>
          <p:nvSpPr>
            <p:cNvPr id="16" name="Oval 15"/>
            <p:cNvSpPr/>
            <p:nvPr/>
          </p:nvSpPr>
          <p:spPr>
            <a:xfrm>
              <a:off x="10931150" y="1854936"/>
              <a:ext cx="1049035" cy="10369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0991643" y="1909825"/>
              <a:ext cx="928048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4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789896" y="79950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Curved Down Arrow 29"/>
          <p:cNvSpPr/>
          <p:nvPr/>
        </p:nvSpPr>
        <p:spPr>
          <a:xfrm rot="10800000">
            <a:off x="8051124" y="2560448"/>
            <a:ext cx="3225430" cy="314607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728569" y="270075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9253189" y="1633069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0985043" y="161942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10195584" y="2096911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11599974" y="2575997"/>
            <a:ext cx="0" cy="84659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476825" y="170433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99974" y="266135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4782" y="80390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73432" y="17374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Arc 61"/>
          <p:cNvSpPr/>
          <p:nvPr/>
        </p:nvSpPr>
        <p:spPr>
          <a:xfrm>
            <a:off x="7715893" y="1165278"/>
            <a:ext cx="527005" cy="908286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7715893" y="76516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360600" y="252140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82021" y="173510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989610" y="294376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283958" y="24885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H="1" flipV="1">
            <a:off x="11366260" y="2533821"/>
            <a:ext cx="42642" cy="88877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0878095" y="290064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9802948" y="2547469"/>
            <a:ext cx="1184792" cy="134060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858603" y="302550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55348" y="304089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32" y="3061462"/>
            <a:ext cx="4559431" cy="3736539"/>
          </a:xfrm>
          <a:prstGeom prst="rect">
            <a:avLst/>
          </a:prstGeom>
        </p:spPr>
      </p:pic>
      <p:cxnSp>
        <p:nvCxnSpPr>
          <p:cNvPr id="85" name="Straight Arrow Connector 84"/>
          <p:cNvCxnSpPr/>
          <p:nvPr/>
        </p:nvCxnSpPr>
        <p:spPr>
          <a:xfrm>
            <a:off x="6163851" y="4369660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0793971" y="499875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1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6" grpId="0"/>
      <p:bldP spid="60" grpId="0"/>
      <p:bldP spid="61" grpId="0"/>
      <p:bldP spid="64" grpId="0"/>
      <p:bldP spid="65" grpId="0"/>
      <p:bldP spid="66" grpId="0"/>
      <p:bldP spid="72" grpId="0"/>
      <p:bldP spid="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4" y="237766"/>
            <a:ext cx="3141142" cy="62204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Input: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abaababab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88992"/>
              </p:ext>
            </p:extLst>
          </p:nvPr>
        </p:nvGraphicFramePr>
        <p:xfrm>
          <a:off x="312382" y="4688425"/>
          <a:ext cx="9186463" cy="1889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269"/>
                <a:gridCol w="767997"/>
                <a:gridCol w="835133"/>
                <a:gridCol w="835133"/>
                <a:gridCol w="835133"/>
                <a:gridCol w="835133"/>
                <a:gridCol w="835133"/>
                <a:gridCol w="835133"/>
                <a:gridCol w="835133"/>
                <a:gridCol w="835133"/>
                <a:gridCol w="835133"/>
              </a:tblGrid>
              <a:tr h="629932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29932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29932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968" y="141363"/>
            <a:ext cx="4922832" cy="429415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4653887" y="169739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86280" y="6042362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34715" y="6071334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83151" y="6071334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11116" y="6046734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66375" y="6091805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4811" y="6053735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5761" y="6046734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56694" y="6071334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5527" y="6059783"/>
            <a:ext cx="36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5753" y="5431216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x3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13577" y="5421389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95538" y="5410744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09127" y="5421389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0635" y="5410744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2060" y="5431216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x0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86849" y="5431216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x1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94341" y="5421389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2353" y="5403103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x3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8939" y="5413971"/>
            <a:ext cx="5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x2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29388" y="24056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29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9"/>
            <a:ext cx="5402054" cy="348488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50138" y="519376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64948" y="521382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87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6" grpId="0"/>
      <p:bldP spid="17" grpId="0" animBg="1"/>
      <p:bldP spid="18" grpId="0" animBg="1"/>
      <p:bldP spid="20" grpId="0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/>
      <p:bldP spid="32" grpId="0" animBg="1"/>
      <p:bldP spid="7" grpId="0"/>
      <p:bldP spid="8" grpId="0"/>
      <p:bldP spid="9" grpId="0"/>
      <p:bldP spid="10" grpId="0"/>
      <p:bldP spid="33" grpId="0"/>
      <p:bldP spid="34" grpId="0" animBg="1"/>
      <p:bldP spid="35" grpId="0" animBg="1"/>
      <p:bldP spid="38" grpId="0"/>
      <p:bldP spid="39" grpId="0" animBg="1"/>
      <p:bldP spid="40" grpId="0" animBg="1"/>
      <p:bldP spid="42" grpId="0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/>
      <p:bldP spid="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9"/>
            <a:ext cx="5402054" cy="348488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50138" y="519376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0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9"/>
            <a:ext cx="5402054" cy="348488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50138" y="519376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43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50138" y="519376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02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50138" y="519376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88433" y="42272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30880" y="407847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04252" y="50498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61" grpId="0"/>
      <p:bldP spid="62" grpId="0"/>
      <p:bldP spid="6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88433" y="42272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30880" y="407847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04252" y="50498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7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769752" y="511073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88433" y="42272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30880" y="407847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345845" y="568705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04252" y="50498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68766" y="50475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64" grpId="0"/>
      <p:bldP spid="6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001" y="513113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88433" y="42272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30880" y="407847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345845" y="568705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04252" y="50498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68766" y="50475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5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9877" y="513155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88433" y="42272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30880" y="407847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345845" y="568705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04252" y="50498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68766" y="50475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394280" y="499749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11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6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Mo To Me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4968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sate with the incoming edges to that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from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 step-2,3 for all states in DFA.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88601" y="113845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urved Up Arrow 11"/>
          <p:cNvSpPr/>
          <p:nvPr/>
        </p:nvSpPr>
        <p:spPr>
          <a:xfrm rot="10800000">
            <a:off x="8338065" y="1494969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67020" y="201816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endCxn id="13" idx="2"/>
          </p:cNvCxnSpPr>
          <p:nvPr/>
        </p:nvCxnSpPr>
        <p:spPr>
          <a:xfrm>
            <a:off x="5543939" y="2475368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81979" y="248674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76956" y="211392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75058" y="193482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47689" y="201175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8562648" y="2480332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2365" y="210751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0303652" y="2447033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34342" y="205270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rc 22"/>
          <p:cNvSpPr/>
          <p:nvPr/>
        </p:nvSpPr>
        <p:spPr>
          <a:xfrm>
            <a:off x="6098949" y="1670376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113299" y="129756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5" name="Arc 24"/>
          <p:cNvSpPr/>
          <p:nvPr/>
        </p:nvSpPr>
        <p:spPr>
          <a:xfrm>
            <a:off x="7811061" y="1655378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852706" y="129491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Down Arrow 26"/>
          <p:cNvSpPr/>
          <p:nvPr/>
        </p:nvSpPr>
        <p:spPr>
          <a:xfrm rot="10800000">
            <a:off x="6465859" y="2896513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32704" y="303765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9" name="Curved Down Arrow 28"/>
          <p:cNvSpPr/>
          <p:nvPr/>
        </p:nvSpPr>
        <p:spPr>
          <a:xfrm rot="10800000">
            <a:off x="9844013" y="2824919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70671" y="27464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2780" y="22137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53166" y="1935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08298" y="220148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8684" y="22845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7547" y="222189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3494" y="230457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50055" y="404769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8299519" y="4404216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28474" y="492741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5505393" y="5384615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843433" y="539599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8410" y="502317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36512" y="4844075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609143" y="492100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524102" y="538957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53819" y="501676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0265106" y="5356280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95796" y="49619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6060403" y="4579623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74753" y="4206809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7772515" y="4564625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14160" y="420416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6427313" y="5805760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4158" y="594690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9805467" y="5734166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25" y="565568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4234" y="51230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4620" y="4844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88021" y="597915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83464" y="422534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68455" y="519593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88433" y="42272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30880" y="407847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345845" y="568705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04252" y="504981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68766" y="50475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394280" y="499749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1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 Example:-1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52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/>
      <p:bldP spid="39" grpId="0" animBg="1"/>
      <p:bldP spid="40" grpId="0" animBg="1"/>
      <p:bldP spid="42" grpId="0"/>
      <p:bldP spid="60" grpId="0"/>
      <p:bldP spid="65" grpId="0"/>
      <p:bldP spid="66" grpId="0"/>
      <p:bldP spid="82" grpId="0" animBg="1"/>
      <p:bldP spid="85" grpId="0"/>
      <p:bldP spid="86" grpId="0" animBg="1"/>
      <p:bldP spid="87" grpId="0" animBg="1"/>
      <p:bldP spid="89" grpId="0"/>
      <p:bldP spid="90" grpId="0"/>
      <p:bldP spid="91" grpId="0"/>
      <p:bldP spid="92" grpId="0"/>
      <p:bldP spid="9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 Example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70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0247" y="416758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26534" y="58743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8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of edges.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0247" y="416758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26534" y="58743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92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of edges.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0247" y="416758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26534" y="58743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28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 Example: 2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92361" y="3637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87804" y="188417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12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92361" y="3637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07688" y="188241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01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94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8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69249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1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49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63181" y="2779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9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63181" y="2779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2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2815</TotalTime>
  <Words>2922</Words>
  <Application>Microsoft Office PowerPoint</Application>
  <PresentationFormat>Widescreen</PresentationFormat>
  <Paragraphs>1218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Theory of Automata  &amp;  Formal Languages CS-224</vt:lpstr>
      <vt:lpstr>Introduction To Transducers (DFA with Output)</vt:lpstr>
      <vt:lpstr>Introduction To Transducers (DFA with Output)</vt:lpstr>
      <vt:lpstr>Introduction To Transducers (DFA with Output)</vt:lpstr>
      <vt:lpstr>Moore machine – M0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Mealy machine – 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Conversion from Mo To Me</vt:lpstr>
      <vt:lpstr>Conversion from Mo To Me</vt:lpstr>
      <vt:lpstr>Conversion from Mo To Me</vt:lpstr>
      <vt:lpstr>Conversion from Mo To Me</vt:lpstr>
      <vt:lpstr>Conversion from Mo To Me</vt:lpstr>
      <vt:lpstr>Conversion from Mo To Me</vt:lpstr>
      <vt:lpstr>Conversion from Mo To Me</vt:lpstr>
      <vt:lpstr>Conversion from Mo To Me</vt:lpstr>
      <vt:lpstr>Conversion from Mo To Me</vt:lpstr>
      <vt:lpstr>Conversion from Mo To Me</vt:lpstr>
      <vt:lpstr>Conversion from Me To Mo Example:-1</vt:lpstr>
      <vt:lpstr>Conversion from Me To Mo Example:-1</vt:lpstr>
      <vt:lpstr>Conversion from Me To Mo Example:-1</vt:lpstr>
      <vt:lpstr>Conversion from Me To Mo Example:-1</vt:lpstr>
      <vt:lpstr>Conversion from Me To Mo Example:-1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199</cp:revision>
  <dcterms:created xsi:type="dcterms:W3CDTF">2020-08-06T16:55:45Z</dcterms:created>
  <dcterms:modified xsi:type="dcterms:W3CDTF">2024-04-18T04:18:54Z</dcterms:modified>
</cp:coreProperties>
</file>