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1"/>
  </p:notesMasterIdLst>
  <p:sldIdLst>
    <p:sldId id="319" r:id="rId2"/>
    <p:sldId id="321" r:id="rId3"/>
    <p:sldId id="322" r:id="rId4"/>
    <p:sldId id="323" r:id="rId5"/>
    <p:sldId id="324" r:id="rId6"/>
    <p:sldId id="325" r:id="rId7"/>
    <p:sldId id="274" r:id="rId8"/>
    <p:sldId id="276" r:id="rId9"/>
    <p:sldId id="277" r:id="rId10"/>
    <p:sldId id="278" r:id="rId11"/>
    <p:sldId id="279" r:id="rId12"/>
    <p:sldId id="280" r:id="rId13"/>
    <p:sldId id="281" r:id="rId14"/>
    <p:sldId id="282" r:id="rId15"/>
    <p:sldId id="283" r:id="rId16"/>
    <p:sldId id="284" r:id="rId17"/>
    <p:sldId id="286" r:id="rId18"/>
    <p:sldId id="287" r:id="rId19"/>
    <p:sldId id="288" r:id="rId20"/>
    <p:sldId id="289" r:id="rId21"/>
    <p:sldId id="290" r:id="rId22"/>
    <p:sldId id="291" r:id="rId23"/>
    <p:sldId id="285" r:id="rId24"/>
    <p:sldId id="292" r:id="rId25"/>
    <p:sldId id="295" r:id="rId26"/>
    <p:sldId id="296" r:id="rId27"/>
    <p:sldId id="293" r:id="rId28"/>
    <p:sldId id="297" r:id="rId29"/>
    <p:sldId id="298" r:id="rId30"/>
    <p:sldId id="299" r:id="rId31"/>
    <p:sldId id="300" r:id="rId32"/>
    <p:sldId id="301" r:id="rId33"/>
    <p:sldId id="302" r:id="rId34"/>
    <p:sldId id="303" r:id="rId35"/>
    <p:sldId id="304" r:id="rId36"/>
    <p:sldId id="305" r:id="rId37"/>
    <p:sldId id="306" r:id="rId38"/>
    <p:sldId id="307" r:id="rId39"/>
    <p:sldId id="308" r:id="rId40"/>
    <p:sldId id="309" r:id="rId41"/>
    <p:sldId id="310" r:id="rId42"/>
    <p:sldId id="311" r:id="rId43"/>
    <p:sldId id="312" r:id="rId44"/>
    <p:sldId id="313" r:id="rId45"/>
    <p:sldId id="314" r:id="rId46"/>
    <p:sldId id="315" r:id="rId47"/>
    <p:sldId id="316" r:id="rId48"/>
    <p:sldId id="317" r:id="rId49"/>
    <p:sldId id="318" r:id="rId5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43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79EBA8-DDA1-4AB3-B07E-8AA6C4D205AC}" type="datetimeFigureOut">
              <a:rPr lang="en-US" smtClean="0"/>
              <a:pPr/>
              <a:t>6/2/2024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464BAD-4C6F-4963-9982-EA3E7F549A2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087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B22B-F392-4B25-AB04-0A5AAD448F9C}" type="datetime1">
              <a:rPr lang="en-US" smtClean="0"/>
              <a:pPr/>
              <a:t>6/2/2024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267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DBD49-2BAF-4B95-86E0-118A92E5E563}" type="datetime1">
              <a:rPr lang="en-US" smtClean="0"/>
              <a:pPr/>
              <a:t>6/2/2024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725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EE944-CDEE-4D0D-A847-C60B84B72808}" type="datetime1">
              <a:rPr lang="en-US" smtClean="0"/>
              <a:pPr/>
              <a:t>6/2/2024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50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EAB84-7F29-494F-ADE2-A98E6EFD2F7B}" type="datetime1">
              <a:rPr lang="en-US" smtClean="0"/>
              <a:pPr/>
              <a:t>6/2/2024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482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5F32E-3F89-4168-AFD8-A604666AC102}" type="datetime1">
              <a:rPr lang="en-US" smtClean="0"/>
              <a:pPr/>
              <a:t>6/2/2024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648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E0857-0DE5-41E8-B03F-8919884F36FC}" type="datetime1">
              <a:rPr lang="en-US" smtClean="0"/>
              <a:pPr/>
              <a:t>6/2/2024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23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29B9F-4709-4E7A-A91A-C4C980098F49}" type="datetime1">
              <a:rPr lang="en-US" smtClean="0"/>
              <a:pPr/>
              <a:t>6/2/2024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806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314C3-4346-4F5B-861E-A1A0641A9428}" type="datetime1">
              <a:rPr lang="en-US" smtClean="0"/>
              <a:pPr/>
              <a:t>6/2/2024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407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17D17-787E-4508-8684-BE220DC9491E}" type="datetime1">
              <a:rPr lang="en-US" smtClean="0"/>
              <a:pPr/>
              <a:t>6/2/2024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145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E8AF0-6F54-48F0-84DD-8981FD128CDC}" type="datetime1">
              <a:rPr lang="en-US" smtClean="0"/>
              <a:pPr/>
              <a:t>6/2/2024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314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BAE74-0E77-4AF9-A65B-78E647684C61}" type="datetime1">
              <a:rPr lang="en-US" smtClean="0"/>
              <a:pPr/>
              <a:t>6/2/2024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1304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F2074-D7C2-4DFE-B201-6B2F5B874030}" type="datetime1">
              <a:rPr lang="en-US" smtClean="0"/>
              <a:pPr/>
              <a:t>6/2/2024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803463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2D29A-28BE-4E69-A65A-4D7B03795170}" type="datetime1">
              <a:rPr lang="en-US" smtClean="0"/>
              <a:pPr/>
              <a:t>6/2/2024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4479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53BE3-AD7C-4DFA-8E74-D64362321A0C}" type="datetime1">
              <a:rPr lang="en-US" smtClean="0"/>
              <a:pPr/>
              <a:t>6/2/2024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0480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E7AC6-8E32-4991-87BE-E815C5FC85F7}" type="datetime1">
              <a:rPr lang="en-US" smtClean="0"/>
              <a:pPr/>
              <a:t>6/2/2024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5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42D84-5099-469C-885E-3D9EDC2AB8E0}" type="datetime1">
              <a:rPr lang="en-US" smtClean="0"/>
              <a:pPr/>
              <a:t>6/2/2024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0528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67865-681A-43C5-AC62-12B2C76D9845}" type="datetime1">
              <a:rPr lang="en-US" smtClean="0"/>
              <a:pPr/>
              <a:t>6/2/2024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197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EC87C72-48BC-46D9-818F-5C441AA70BC9}" type="datetime1">
              <a:rPr lang="en-US" smtClean="0"/>
              <a:pPr/>
              <a:t>6/2/2024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4423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2971800"/>
            <a:ext cx="8077200" cy="2057400"/>
          </a:xfrm>
        </p:spPr>
        <p:txBody>
          <a:bodyPr>
            <a:normAutofit/>
          </a:bodyPr>
          <a:lstStyle/>
          <a:p>
            <a:pPr algn="ctr"/>
            <a:r>
              <a:rPr lang="en-US" sz="4800" dirty="0"/>
              <a:t>Chomsky Normal Form</a:t>
            </a:r>
            <a:br>
              <a:rPr lang="en-US" sz="4800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4688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4400" dirty="0"/>
              <a:t>Chomsky Normal Form: CNF</a:t>
            </a:r>
            <a:br>
              <a:rPr lang="en-US" sz="4400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00" y="1775192"/>
            <a:ext cx="8458200" cy="4625609"/>
          </a:xfrm>
        </p:spPr>
        <p:txBody>
          <a:bodyPr/>
          <a:lstStyle/>
          <a:p>
            <a:pPr marL="118872" indent="0">
              <a:buNone/>
            </a:pPr>
            <a:r>
              <a:rPr lang="en-US" sz="2800" b="1" dirty="0">
                <a:solidFill>
                  <a:srgbClr val="C00000"/>
                </a:solidFill>
                <a:latin typeface="Bell MT" panose="02020503060305020303" pitchFamily="18" charset="0"/>
              </a:rPr>
              <a:t>Q#1:</a:t>
            </a:r>
            <a:r>
              <a:rPr lang="en-US" sz="2800" dirty="0">
                <a:latin typeface="Bell MT" panose="02020503060305020303" pitchFamily="18" charset="0"/>
              </a:rPr>
              <a:t> The format of presenting the production rules in CFG was invented by???</a:t>
            </a:r>
          </a:p>
          <a:p>
            <a:pPr algn="just">
              <a:buNone/>
            </a:pPr>
            <a:endParaRPr lang="en-US" sz="2400" b="1" dirty="0">
              <a:solidFill>
                <a:srgbClr val="C00000"/>
              </a:solidFill>
              <a:latin typeface="Bell MT" panose="02020503060305020303" pitchFamily="18" charset="0"/>
            </a:endParaRPr>
          </a:p>
          <a:p>
            <a:pPr algn="just"/>
            <a:r>
              <a:rPr lang="en-US" sz="2400" dirty="0">
                <a:latin typeface="Bell MT" panose="02020503060305020303" pitchFamily="18" charset="0"/>
              </a:rPr>
              <a:t>arrows, vertical bars, terminals, and nonterminals-for presenting a CFG, was invented by </a:t>
            </a:r>
            <a:r>
              <a:rPr lang="en-US" sz="2400" b="1" dirty="0">
                <a:solidFill>
                  <a:srgbClr val="C00000"/>
                </a:solidFill>
                <a:latin typeface="Bell MT" panose="02020503060305020303" pitchFamily="18" charset="0"/>
              </a:rPr>
              <a:t>BNF</a:t>
            </a:r>
            <a:r>
              <a:rPr lang="en-US" sz="2400" dirty="0">
                <a:solidFill>
                  <a:srgbClr val="0000CC"/>
                </a:solidFill>
                <a:latin typeface="Bell MT" panose="02020503060305020303" pitchFamily="18" charset="0"/>
              </a:rPr>
              <a:t> </a:t>
            </a:r>
            <a:r>
              <a:rPr lang="en-US" sz="2400" dirty="0">
                <a:solidFill>
                  <a:srgbClr val="FFFF00"/>
                </a:solidFill>
                <a:latin typeface="Bell MT" panose="02020503060305020303" pitchFamily="18" charset="0"/>
              </a:rPr>
              <a:t>standing for</a:t>
            </a:r>
            <a:r>
              <a:rPr lang="en-US" sz="2400" dirty="0">
                <a:solidFill>
                  <a:srgbClr val="0000CC"/>
                </a:solidFill>
                <a:latin typeface="Bell MT" panose="02020503060305020303" pitchFamily="18" charset="0"/>
              </a:rPr>
              <a:t> </a:t>
            </a:r>
            <a:r>
              <a:rPr lang="en-US" sz="2400" b="1" dirty="0">
                <a:solidFill>
                  <a:srgbClr val="C00000"/>
                </a:solidFill>
                <a:latin typeface="Bell MT" panose="02020503060305020303" pitchFamily="18" charset="0"/>
              </a:rPr>
              <a:t>Backus Normal Form or Backus-Naur Form. </a:t>
            </a:r>
            <a:r>
              <a:rPr lang="en-US" sz="2400" dirty="0">
                <a:solidFill>
                  <a:srgbClr val="FFFF00"/>
                </a:solidFill>
                <a:latin typeface="Bell MT" panose="02020503060305020303" pitchFamily="18" charset="0"/>
              </a:rPr>
              <a:t>It was invented by </a:t>
            </a:r>
            <a:r>
              <a:rPr lang="en-US" sz="2400" b="1" dirty="0">
                <a:solidFill>
                  <a:srgbClr val="C00000"/>
                </a:solidFill>
                <a:latin typeface="Bell MT" panose="02020503060305020303" pitchFamily="18" charset="0"/>
              </a:rPr>
              <a:t>John W Backus</a:t>
            </a:r>
            <a:r>
              <a:rPr lang="en-US" sz="2400" dirty="0">
                <a:solidFill>
                  <a:srgbClr val="0000CC"/>
                </a:solidFill>
                <a:latin typeface="Bell MT" panose="02020503060305020303" pitchFamily="18" charset="0"/>
              </a:rPr>
              <a:t> </a:t>
            </a:r>
            <a:r>
              <a:rPr lang="en-US" sz="2400" dirty="0">
                <a:solidFill>
                  <a:srgbClr val="FFFF00"/>
                </a:solidFill>
                <a:latin typeface="Bell MT" panose="02020503060305020303" pitchFamily="18" charset="0"/>
              </a:rPr>
              <a:t>for describing the high-level language ALGOL</a:t>
            </a:r>
            <a:r>
              <a:rPr lang="en-US" sz="2400" dirty="0">
                <a:solidFill>
                  <a:srgbClr val="0000CC"/>
                </a:solidFill>
                <a:latin typeface="Bell MT" panose="02020503060305020303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40330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4800" dirty="0"/>
              <a:t/>
            </a:r>
            <a:br>
              <a:rPr lang="en-US" sz="4800" dirty="0"/>
            </a:br>
            <a:r>
              <a:rPr lang="en-US" sz="4800" dirty="0"/>
              <a:t>Chomsky Normal Form: CNF</a:t>
            </a:r>
            <a:br>
              <a:rPr lang="en-US" sz="4800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1775192"/>
            <a:ext cx="8610600" cy="4701809"/>
          </a:xfrm>
        </p:spPr>
        <p:txBody>
          <a:bodyPr>
            <a:noAutofit/>
          </a:bodyPr>
          <a:lstStyle/>
          <a:p>
            <a:pPr marL="118872" indent="0" algn="just">
              <a:buNone/>
            </a:pPr>
            <a:r>
              <a:rPr lang="en-US" sz="2400" b="1" dirty="0">
                <a:solidFill>
                  <a:srgbClr val="C00000"/>
                </a:solidFill>
                <a:latin typeface="Bell MT" panose="02020503060305020303" pitchFamily="18" charset="0"/>
              </a:rPr>
              <a:t>Q# 2: </a:t>
            </a:r>
            <a:r>
              <a:rPr lang="en-US" sz="2400" dirty="0">
                <a:latin typeface="Bell MT" panose="02020503060305020303" pitchFamily="18" charset="0"/>
              </a:rPr>
              <a:t>What is the difference b/w CFG and CNF?</a:t>
            </a:r>
          </a:p>
          <a:p>
            <a:pPr marL="118872" indent="0" algn="just">
              <a:buNone/>
            </a:pPr>
            <a:endParaRPr lang="en-US" sz="2400" dirty="0">
              <a:latin typeface="Bell MT" panose="02020503060305020303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C00000"/>
                </a:solidFill>
                <a:latin typeface="Bell MT" panose="02020503060305020303" pitchFamily="18" charset="0"/>
              </a:rPr>
              <a:t>CFG stands for “Context- free Grammar”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C00000"/>
                </a:solidFill>
                <a:latin typeface="Bell MT" panose="02020503060305020303" pitchFamily="18" charset="0"/>
              </a:rPr>
              <a:t>CNF stands for “Chomsky Normal Form”</a:t>
            </a:r>
          </a:p>
          <a:p>
            <a:pPr marL="118872" indent="0" algn="just">
              <a:buNone/>
            </a:pPr>
            <a:endParaRPr lang="en-US" sz="2400" dirty="0">
              <a:solidFill>
                <a:srgbClr val="0000CC"/>
              </a:solidFill>
              <a:latin typeface="Bell MT" panose="02020503060305020303" pitchFamily="18" charset="0"/>
            </a:endParaRPr>
          </a:p>
          <a:p>
            <a:pPr marL="118872" indent="0" algn="just">
              <a:buNone/>
            </a:pPr>
            <a:r>
              <a:rPr lang="en-US" sz="2400" dirty="0">
                <a:latin typeface="Bell MT" panose="02020503060305020303" pitchFamily="18" charset="0"/>
              </a:rPr>
              <a:t>By the presentation both are same  but the difference is </a:t>
            </a:r>
          </a:p>
          <a:p>
            <a:pPr marL="118872" indent="0" algn="just">
              <a:buNone/>
            </a:pPr>
            <a:endParaRPr lang="en-US" sz="2400" dirty="0">
              <a:solidFill>
                <a:srgbClr val="0000CC"/>
              </a:solidFill>
              <a:latin typeface="Bell MT" panose="02020503060305020303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FFFF00"/>
                </a:solidFill>
                <a:latin typeface="Bell MT" panose="02020503060305020303" pitchFamily="18" charset="0"/>
              </a:rPr>
              <a:t>CFG can contain a null string in production rules or as a terminal</a:t>
            </a:r>
          </a:p>
          <a:p>
            <a:pPr marL="118872" indent="0" algn="ctr">
              <a:buNone/>
            </a:pPr>
            <a:r>
              <a:rPr lang="en-US" sz="2400" dirty="0">
                <a:solidFill>
                  <a:srgbClr val="C00000"/>
                </a:solidFill>
                <a:latin typeface="Bell MT" panose="02020503060305020303" pitchFamily="18" charset="0"/>
                <a:sym typeface="Wingdings" panose="05000000000000000000" pitchFamily="2" charset="2"/>
              </a:rPr>
              <a:t>Example  The language generated by Kleen star closure (*)</a:t>
            </a:r>
          </a:p>
          <a:p>
            <a:pPr marL="118872" indent="0" algn="ctr">
              <a:buNone/>
            </a:pPr>
            <a:endParaRPr lang="en-US" sz="2400" dirty="0">
              <a:solidFill>
                <a:srgbClr val="C00000"/>
              </a:solidFill>
              <a:latin typeface="Bell MT" panose="02020503060305020303" pitchFamily="18" charset="0"/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FFFF00"/>
                </a:solidFill>
                <a:latin typeface="Bell MT" panose="02020503060305020303" pitchFamily="18" charset="0"/>
                <a:sym typeface="Wingdings" panose="05000000000000000000" pitchFamily="2" charset="2"/>
              </a:rPr>
              <a:t>CNF would not contain a null/empty string in production rules</a:t>
            </a:r>
          </a:p>
          <a:p>
            <a:pPr marL="118872" indent="0" algn="ctr">
              <a:buNone/>
            </a:pPr>
            <a:r>
              <a:rPr lang="en-US" sz="2400" dirty="0">
                <a:solidFill>
                  <a:srgbClr val="C00000"/>
                </a:solidFill>
                <a:latin typeface="Bell MT" panose="02020503060305020303" pitchFamily="18" charset="0"/>
                <a:sym typeface="Wingdings" panose="05000000000000000000" pitchFamily="2" charset="2"/>
              </a:rPr>
              <a:t>Example  The language generated by Super script or plus operation (+)</a:t>
            </a:r>
            <a:endParaRPr lang="en-US" sz="2400" dirty="0">
              <a:solidFill>
                <a:srgbClr val="C00000"/>
              </a:solidFill>
              <a:latin typeface="Bell MT" panose="02020503060305020303" pitchFamily="18" charset="0"/>
            </a:endParaRPr>
          </a:p>
          <a:p>
            <a:pPr marL="118872" indent="0" algn="just">
              <a:buNone/>
            </a:pPr>
            <a:endParaRPr lang="en-US" sz="2400" dirty="0"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8186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4400" dirty="0"/>
              <a:t/>
            </a:r>
            <a:br>
              <a:rPr lang="en-US" sz="4400" dirty="0"/>
            </a:br>
            <a:r>
              <a:rPr lang="en-US" sz="4400" dirty="0"/>
              <a:t>Chomsky Normal Form: CNF</a:t>
            </a:r>
            <a:br>
              <a:rPr lang="en-US" sz="4400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2003792"/>
            <a:ext cx="8229600" cy="3558809"/>
          </a:xfrm>
        </p:spPr>
        <p:txBody>
          <a:bodyPr>
            <a:normAutofit/>
          </a:bodyPr>
          <a:lstStyle/>
          <a:p>
            <a:pPr marL="118872" indent="0" algn="just">
              <a:lnSpc>
                <a:spcPct val="80000"/>
              </a:lnSpc>
              <a:buNone/>
            </a:pPr>
            <a:r>
              <a:rPr lang="en-US" sz="3200" b="1" dirty="0">
                <a:solidFill>
                  <a:srgbClr val="C00000"/>
                </a:solidFill>
                <a:latin typeface="Bell MT" panose="02020503060305020303" pitchFamily="18" charset="0"/>
              </a:rPr>
              <a:t>Q#3:</a:t>
            </a:r>
            <a:r>
              <a:rPr lang="en-US" sz="2800" dirty="0" smtClean="0">
                <a:latin typeface="Bell MT" panose="02020503060305020303" pitchFamily="18" charset="0"/>
              </a:rPr>
              <a:t> </a:t>
            </a:r>
            <a:r>
              <a:rPr lang="en-US" sz="3200" dirty="0">
                <a:latin typeface="Bell MT" panose="02020503060305020303" pitchFamily="18" charset="0"/>
              </a:rPr>
              <a:t>By Whom both were invented?</a:t>
            </a:r>
          </a:p>
          <a:p>
            <a:pPr marL="118872" indent="0" algn="just">
              <a:lnSpc>
                <a:spcPct val="80000"/>
              </a:lnSpc>
              <a:buNone/>
            </a:pPr>
            <a:endParaRPr lang="en-US" sz="3200" dirty="0">
              <a:latin typeface="Bell MT" panose="02020503060305020303" pitchFamily="18" charset="0"/>
            </a:endParaRPr>
          </a:p>
          <a:p>
            <a:pPr marL="118872" indent="0" algn="just">
              <a:lnSpc>
                <a:spcPct val="80000"/>
              </a:lnSpc>
              <a:buNone/>
            </a:pPr>
            <a:endParaRPr lang="en-US" sz="3200" dirty="0">
              <a:latin typeface="Bell MT" panose="02020503060305020303" pitchFamily="18" charset="0"/>
            </a:endParaRPr>
          </a:p>
          <a:p>
            <a:pPr marL="118872" indent="0" algn="ctr">
              <a:lnSpc>
                <a:spcPct val="80000"/>
              </a:lnSpc>
              <a:buNone/>
            </a:pPr>
            <a:r>
              <a:rPr lang="en-US" sz="3200" dirty="0">
                <a:solidFill>
                  <a:srgbClr val="FFFF00"/>
                </a:solidFill>
                <a:latin typeface="Bell MT" panose="02020503060305020303" pitchFamily="18" charset="0"/>
              </a:rPr>
              <a:t>The concept of CFG's was invented by the linguist Noam Chomsky in 1956.</a:t>
            </a:r>
          </a:p>
          <a:p>
            <a:pPr marL="118872" indent="0" algn="ctr">
              <a:lnSpc>
                <a:spcPct val="80000"/>
              </a:lnSpc>
              <a:buNone/>
            </a:pPr>
            <a:endParaRPr lang="en-US" sz="3200" dirty="0">
              <a:solidFill>
                <a:srgbClr val="0000CC"/>
              </a:solidFill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1751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4800" dirty="0"/>
              <a:t/>
            </a:r>
            <a:br>
              <a:rPr lang="en-US" sz="4800" dirty="0"/>
            </a:br>
            <a:r>
              <a:rPr lang="en-US" sz="4800" dirty="0"/>
              <a:t>Chomsky Normal Form: CNF</a:t>
            </a:r>
            <a:br>
              <a:rPr lang="en-US" sz="4800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 smtClean="0">
                <a:latin typeface="Bell MT" panose="02020503060305020303" pitchFamily="18" charset="0"/>
              </a:rPr>
              <a:t>Definition</a:t>
            </a:r>
          </a:p>
          <a:p>
            <a:endParaRPr lang="en-US" b="1" dirty="0">
              <a:latin typeface="Bell MT" panose="02020503060305020303" pitchFamily="18" charset="0"/>
            </a:endParaRPr>
          </a:p>
          <a:p>
            <a:pPr marL="118872" indent="0">
              <a:buNone/>
            </a:pPr>
            <a:r>
              <a:rPr lang="en-US" sz="2800" dirty="0">
                <a:solidFill>
                  <a:srgbClr val="FFFF00"/>
                </a:solidFill>
                <a:latin typeface="Bell MT" panose="02020503060305020303" pitchFamily="18" charset="0"/>
              </a:rPr>
              <a:t>If a CFG has only productions of the form</a:t>
            </a:r>
          </a:p>
          <a:p>
            <a:pPr marL="118872" indent="0">
              <a:buNone/>
            </a:pPr>
            <a:endParaRPr lang="en-US" sz="2800" dirty="0">
              <a:solidFill>
                <a:srgbClr val="0000CC"/>
              </a:solidFill>
              <a:latin typeface="Bell MT" panose="02020503060305020303" pitchFamily="18" charset="0"/>
            </a:endParaRPr>
          </a:p>
          <a:p>
            <a:pPr marL="118872" indent="0" algn="ctr">
              <a:buNone/>
            </a:pPr>
            <a:r>
              <a:rPr lang="en-US" sz="2400" b="1" dirty="0">
                <a:solidFill>
                  <a:srgbClr val="C00000"/>
                </a:solidFill>
                <a:latin typeface="Bell MT" panose="02020503060305020303" pitchFamily="18" charset="0"/>
              </a:rPr>
              <a:t>nonterminal → string of two nonterminals</a:t>
            </a:r>
          </a:p>
          <a:p>
            <a:pPr marL="118872" indent="0" algn="ctr">
              <a:buNone/>
            </a:pPr>
            <a:r>
              <a:rPr lang="en-US" sz="2400" b="1" dirty="0">
                <a:solidFill>
                  <a:srgbClr val="C00000"/>
                </a:solidFill>
                <a:latin typeface="Bell MT" panose="02020503060305020303" pitchFamily="18" charset="0"/>
              </a:rPr>
              <a:t>or</a:t>
            </a:r>
          </a:p>
          <a:p>
            <a:pPr marL="118872" indent="0" algn="ctr">
              <a:buNone/>
            </a:pPr>
            <a:r>
              <a:rPr lang="en-US" sz="2400" b="1" dirty="0">
                <a:solidFill>
                  <a:srgbClr val="C00000"/>
                </a:solidFill>
                <a:latin typeface="Bell MT" panose="02020503060305020303" pitchFamily="18" charset="0"/>
              </a:rPr>
              <a:t>nonterminal → one terminal</a:t>
            </a:r>
          </a:p>
          <a:p>
            <a:pPr marL="118872" indent="0" algn="ctr">
              <a:buNone/>
            </a:pPr>
            <a:endParaRPr lang="en-US" sz="2400" b="1" dirty="0">
              <a:solidFill>
                <a:srgbClr val="C00000"/>
              </a:solidFill>
              <a:latin typeface="Bell MT" panose="02020503060305020303" pitchFamily="18" charset="0"/>
            </a:endParaRPr>
          </a:p>
          <a:p>
            <a:pPr marL="118872" indent="0">
              <a:buNone/>
            </a:pPr>
            <a:r>
              <a:rPr lang="en-US" sz="2800" dirty="0">
                <a:solidFill>
                  <a:srgbClr val="FFFF00"/>
                </a:solidFill>
                <a:latin typeface="Bell MT" panose="02020503060305020303" pitchFamily="18" charset="0"/>
              </a:rPr>
              <a:t>then the CFG is said to be in Chomsky Normal Form (CNF).</a:t>
            </a:r>
          </a:p>
        </p:txBody>
      </p:sp>
    </p:spTree>
    <p:extLst>
      <p:ext uri="{BB962C8B-B14F-4D97-AF65-F5344CB8AC3E}">
        <p14:creationId xmlns:p14="http://schemas.microsoft.com/office/powerpoint/2010/main" val="761371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4400" dirty="0"/>
              <a:t/>
            </a:r>
            <a:br>
              <a:rPr lang="en-US" sz="4400" dirty="0"/>
            </a:br>
            <a:r>
              <a:rPr lang="en-US" sz="4400" dirty="0"/>
              <a:t>Chomsky Normal Form: CNF</a:t>
            </a:r>
            <a:br>
              <a:rPr lang="en-US" sz="4400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00" y="2133600"/>
            <a:ext cx="8458200" cy="3657600"/>
          </a:xfrm>
        </p:spPr>
        <p:txBody>
          <a:bodyPr>
            <a:noAutofit/>
          </a:bodyPr>
          <a:lstStyle/>
          <a:p>
            <a:pPr marL="118872" indent="0" algn="ctr">
              <a:buNone/>
            </a:pPr>
            <a:r>
              <a:rPr lang="en-US" sz="2800" b="1" dirty="0">
                <a:solidFill>
                  <a:srgbClr val="C00000"/>
                </a:solidFill>
                <a:latin typeface="Bell MT" panose="02020503060305020303" pitchFamily="18" charset="0"/>
              </a:rPr>
              <a:t>Remarks</a:t>
            </a:r>
            <a:r>
              <a:rPr lang="en-US" sz="2800" b="1" dirty="0" smtClean="0">
                <a:solidFill>
                  <a:srgbClr val="C00000"/>
                </a:solidFill>
                <a:latin typeface="Bell MT" panose="02020503060305020303" pitchFamily="18" charset="0"/>
              </a:rPr>
              <a:t>!</a:t>
            </a:r>
          </a:p>
          <a:p>
            <a:pPr marL="118872" indent="0" algn="ctr">
              <a:buNone/>
            </a:pPr>
            <a:endParaRPr lang="en-US" sz="2800" b="1" dirty="0">
              <a:solidFill>
                <a:srgbClr val="C00000"/>
              </a:solidFill>
              <a:latin typeface="Bell MT" panose="02020503060305020303" pitchFamily="18" charset="0"/>
            </a:endParaRPr>
          </a:p>
          <a:p>
            <a:pPr marL="118872" indent="0" algn="ctr">
              <a:buNone/>
            </a:pPr>
            <a:r>
              <a:rPr lang="en-US" sz="3200" dirty="0">
                <a:solidFill>
                  <a:srgbClr val="FFFF00"/>
                </a:solidFill>
                <a:latin typeface="Bell MT" panose="02020503060305020303" pitchFamily="18" charset="0"/>
              </a:rPr>
              <a:t>It is to be noted that any CFG can be converted to be in CNF, </a:t>
            </a:r>
          </a:p>
          <a:p>
            <a:pPr marL="118872" indent="0" algn="ctr">
              <a:buNone/>
            </a:pPr>
            <a:r>
              <a:rPr lang="en-US" sz="3200" dirty="0">
                <a:solidFill>
                  <a:srgbClr val="C00000"/>
                </a:solidFill>
                <a:latin typeface="Bell MT" panose="02020503060305020303" pitchFamily="18" charset="0"/>
              </a:rPr>
              <a:t>if the null productions and unit productions are removed</a:t>
            </a:r>
            <a:r>
              <a:rPr lang="en-US" sz="3200" dirty="0">
                <a:solidFill>
                  <a:srgbClr val="FFFF00"/>
                </a:solidFill>
                <a:latin typeface="Bell MT" panose="02020503060305020303" pitchFamily="18" charset="0"/>
              </a:rPr>
              <a:t>. Also if a CFG contains null able productions as well, then the corresponding new production are also to be added. </a:t>
            </a:r>
          </a:p>
        </p:txBody>
      </p:sp>
    </p:spTree>
    <p:extLst>
      <p:ext uri="{BB962C8B-B14F-4D97-AF65-F5344CB8AC3E}">
        <p14:creationId xmlns:p14="http://schemas.microsoft.com/office/powerpoint/2010/main" val="1270068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09" y="0"/>
            <a:ext cx="9404723" cy="639103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Chomsky Normal Form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6333" y="688142"/>
            <a:ext cx="10019613" cy="6169858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Normal forms can give us more structure to work with, resulting in easier parsing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algorithms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Chomsky normal form put restriction on the length of RHS of the production.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1. If there is a terminal it should be single terminal</a:t>
            </a:r>
          </a:p>
          <a:p>
            <a:pPr lvl="2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→ a</a:t>
            </a:r>
          </a:p>
          <a:p>
            <a:pPr lvl="2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 →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</a:t>
            </a:r>
          </a:p>
          <a:p>
            <a:pPr lvl="2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 →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ab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2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 →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aA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2. If there is a Non-Terminal on the right side it must be in Two</a:t>
            </a:r>
          </a:p>
          <a:p>
            <a:pPr lvl="2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 → AS</a:t>
            </a:r>
          </a:p>
          <a:p>
            <a:pPr lvl="2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AB</a:t>
            </a:r>
          </a:p>
          <a:p>
            <a:pPr lvl="2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 →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AA</a:t>
            </a:r>
          </a:p>
          <a:p>
            <a:pPr lvl="2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 →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</a:p>
          <a:p>
            <a:pPr lvl="2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 →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314131" y="5256438"/>
            <a:ext cx="6141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Yes</a:t>
            </a:r>
            <a:endParaRPr lang="en-US" sz="2000" b="1" dirty="0">
              <a:solidFill>
                <a:srgbClr val="92D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25507" y="4838131"/>
            <a:ext cx="6141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Yes</a:t>
            </a:r>
            <a:endParaRPr lang="en-US" sz="2000" b="1" dirty="0">
              <a:solidFill>
                <a:srgbClr val="92D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325507" y="3129324"/>
            <a:ext cx="6141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Yes</a:t>
            </a:r>
            <a:endParaRPr lang="en-US" sz="2000" b="1" dirty="0">
              <a:solidFill>
                <a:srgbClr val="92D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4132" y="2797678"/>
            <a:ext cx="6141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Yes</a:t>
            </a:r>
            <a:endParaRPr lang="en-US" sz="2000" b="1" dirty="0">
              <a:solidFill>
                <a:srgbClr val="92D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325507" y="6056658"/>
            <a:ext cx="6141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No</a:t>
            </a:r>
            <a:endParaRPr lang="en-US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59540" y="3980963"/>
            <a:ext cx="6141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No</a:t>
            </a:r>
            <a:endParaRPr lang="en-US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286837" y="3542633"/>
            <a:ext cx="6141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No</a:t>
            </a:r>
            <a:endParaRPr lang="en-US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327779" y="6386482"/>
            <a:ext cx="6141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No</a:t>
            </a:r>
            <a:endParaRPr lang="en-US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343699" y="5599910"/>
            <a:ext cx="6141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Yes</a:t>
            </a:r>
            <a:endParaRPr lang="en-US" sz="2000" b="1" dirty="0">
              <a:solidFill>
                <a:srgbClr val="92D05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3675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038" y="756380"/>
            <a:ext cx="10074204" cy="5992438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Steps to convert a CFG into CNF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Step-1: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Make sure the start symbol (S) doesn't appear on right hand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side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 If so, add new Start symbol. 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 → Sa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b="1" baseline="30000" dirty="0" smtClean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→ Sa</a:t>
            </a:r>
          </a:p>
          <a:p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Step-2: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Remove ε-productions.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(if it necessary it may appear only in S production).</a:t>
            </a:r>
          </a:p>
          <a:p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Step-3: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Remove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rules that have single Non-Terminal on right side.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59509" y="0"/>
            <a:ext cx="4226139" cy="518615"/>
          </a:xfrm>
        </p:spPr>
        <p:txBody>
          <a:bodyPr/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Chomsky Normal Form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0474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51" y="688142"/>
            <a:ext cx="9910431" cy="6012909"/>
          </a:xfrm>
        </p:spPr>
        <p:txBody>
          <a:bodyPr>
            <a:normAutofit/>
          </a:bodyPr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Step-2: Removal of ε-productions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aSb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| 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aAb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 → ε 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First Find the variable who can generate null directly or indirectly.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Now write the actual product and product after replacing ε. And eliminate the ε-productions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We get: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aSb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| 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aAb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A  → ε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So finally we got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baseline="30000" dirty="0" smtClean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aSb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| 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ab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 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aSb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| 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ab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085348" y="0"/>
            <a:ext cx="2738533" cy="518615"/>
          </a:xfrm>
        </p:spPr>
        <p:txBody>
          <a:bodyPr/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Chomsky Normal Form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492618" y="2402007"/>
            <a:ext cx="450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81697" y="3577988"/>
            <a:ext cx="625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| </a:t>
            </a:r>
            <a:r>
              <a:rPr lang="en-US" sz="2000" b="1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ab</a:t>
            </a:r>
            <a:endParaRPr lang="en-US" sz="2000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Minus 7"/>
          <p:cNvSpPr/>
          <p:nvPr/>
        </p:nvSpPr>
        <p:spPr>
          <a:xfrm>
            <a:off x="914399" y="4135271"/>
            <a:ext cx="1091821" cy="177421"/>
          </a:xfrm>
          <a:prstGeom prst="mathMinu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Multiply 8"/>
          <p:cNvSpPr/>
          <p:nvPr/>
        </p:nvSpPr>
        <p:spPr>
          <a:xfrm>
            <a:off x="2224585" y="3489501"/>
            <a:ext cx="218364" cy="716283"/>
          </a:xfrm>
          <a:prstGeom prst="mathMultiply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950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8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7277" y="619903"/>
            <a:ext cx="8504694" cy="6238097"/>
          </a:xfrm>
        </p:spPr>
        <p:txBody>
          <a:bodyPr/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Example-2: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AB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aAA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| ε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| ε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First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Find the variable who can generate null directly or indirectly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  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Now write the actual product and product after replacing ε. And eliminate the ε-productions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We get: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S  → AB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aAA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A  → ε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B  →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bBB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B  → ε </a:t>
            </a:r>
          </a:p>
          <a:p>
            <a:pPr marL="0" indent="0"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085348" y="0"/>
            <a:ext cx="2738533" cy="518615"/>
          </a:xfrm>
        </p:spPr>
        <p:txBody>
          <a:bodyPr/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Chomsky Normal Form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97076" y="2665984"/>
            <a:ext cx="545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{A</a:t>
            </a:r>
            <a:endParaRPr lang="en-US" sz="2000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01856" y="2675314"/>
            <a:ext cx="545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, B</a:t>
            </a:r>
            <a:endParaRPr lang="en-US" sz="2000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29405" y="2665984"/>
            <a:ext cx="7187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, S}</a:t>
            </a:r>
            <a:endParaRPr lang="en-US" sz="2000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521122" y="880044"/>
            <a:ext cx="185609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S  → AB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aAA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A  → ε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B  →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bBB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B  → ε </a:t>
            </a:r>
          </a:p>
          <a:p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2044858" y="4129154"/>
            <a:ext cx="545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| B</a:t>
            </a:r>
            <a:endParaRPr lang="en-US" sz="2000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454269" y="4118133"/>
            <a:ext cx="545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| A</a:t>
            </a:r>
            <a:endParaRPr lang="en-US" sz="2000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822762" y="4059456"/>
            <a:ext cx="5459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| </a:t>
            </a: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ε</a:t>
            </a:r>
            <a:endParaRPr lang="en-US" sz="2400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167662" y="4542912"/>
            <a:ext cx="655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| </a:t>
            </a:r>
            <a:r>
              <a:rPr lang="en-US" sz="2000" b="1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aA</a:t>
            </a:r>
            <a:endParaRPr lang="en-US" sz="2000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738557" y="4538843"/>
            <a:ext cx="545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| a</a:t>
            </a:r>
            <a:endParaRPr lang="en-US" sz="2400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192633" y="5336757"/>
            <a:ext cx="655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| </a:t>
            </a:r>
            <a:r>
              <a:rPr lang="en-US" sz="2000" b="1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bB</a:t>
            </a:r>
            <a:endParaRPr lang="en-US" sz="2000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740873" y="5323109"/>
            <a:ext cx="545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| b</a:t>
            </a:r>
            <a:endParaRPr lang="en-US" sz="2400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Minus 18"/>
          <p:cNvSpPr/>
          <p:nvPr/>
        </p:nvSpPr>
        <p:spPr>
          <a:xfrm>
            <a:off x="1075869" y="5091096"/>
            <a:ext cx="1091821" cy="177421"/>
          </a:xfrm>
          <a:prstGeom prst="mathMinu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Minus 19"/>
          <p:cNvSpPr/>
          <p:nvPr/>
        </p:nvSpPr>
        <p:spPr>
          <a:xfrm>
            <a:off x="1100812" y="5857647"/>
            <a:ext cx="1091821" cy="177421"/>
          </a:xfrm>
          <a:prstGeom prst="mathMinu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ontent Placeholder 2"/>
          <p:cNvSpPr txBox="1">
            <a:spLocks/>
          </p:cNvSpPr>
          <p:nvPr/>
        </p:nvSpPr>
        <p:spPr>
          <a:xfrm>
            <a:off x="5673507" y="3749440"/>
            <a:ext cx="4248415" cy="26833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Finally we get: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  → AB  |  B  |  A  |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ε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| 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| a 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  →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bBB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| 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bB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|  b</a:t>
            </a:r>
          </a:p>
          <a:p>
            <a:pPr marL="0" indent="0">
              <a:buFont typeface="Wingdings 3" charset="2"/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8298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 animBg="1"/>
      <p:bldP spid="2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025" y="497073"/>
            <a:ext cx="8946541" cy="6238097"/>
          </a:xfrm>
        </p:spPr>
        <p:txBody>
          <a:bodyPr/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Example-3: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AbaC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BC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| ε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|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ε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 → d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First Find the variable who can generate null directly or indirectly.   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Now write the actual product and product after replacing ε. And eliminate the ε-productions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We get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AbaC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lvl="1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085348" y="0"/>
            <a:ext cx="2738533" cy="518615"/>
          </a:xfrm>
        </p:spPr>
        <p:txBody>
          <a:bodyPr/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Chomsky Normal Form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24119" y="2934632"/>
            <a:ext cx="545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{B</a:t>
            </a:r>
            <a:endParaRPr lang="en-US" sz="2000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28899" y="2943962"/>
            <a:ext cx="545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, C</a:t>
            </a:r>
            <a:endParaRPr lang="en-US" sz="2000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56448" y="2934632"/>
            <a:ext cx="7187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,  A}</a:t>
            </a:r>
            <a:endParaRPr lang="en-US" sz="2000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48170" y="776436"/>
            <a:ext cx="1787857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AbaC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BC</a:t>
            </a:r>
          </a:p>
          <a:p>
            <a:pPr marL="0"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 b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ε</a:t>
            </a:r>
          </a:p>
          <a:p>
            <a:pPr marL="0"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 D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ε</a:t>
            </a:r>
          </a:p>
          <a:p>
            <a:pPr marL="0"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 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649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025" y="497073"/>
            <a:ext cx="8946541" cy="6238097"/>
          </a:xfrm>
        </p:spPr>
        <p:txBody>
          <a:bodyPr/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Example-3: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AbaC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BC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| ε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|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ε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 → d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First Find the variable who can generate null directly or indirectly.   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Now write the actual product and product after replacing ε. And eliminate the ε-productions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We get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AbaC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|  Aba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085348" y="0"/>
            <a:ext cx="2738533" cy="518615"/>
          </a:xfrm>
        </p:spPr>
        <p:txBody>
          <a:bodyPr/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Chomsky Normal Form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24119" y="2934632"/>
            <a:ext cx="545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{B</a:t>
            </a:r>
            <a:endParaRPr lang="en-US" sz="2000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28899" y="2943962"/>
            <a:ext cx="545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, C</a:t>
            </a:r>
            <a:endParaRPr lang="en-US" sz="2000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56448" y="2934632"/>
            <a:ext cx="7187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,  A}</a:t>
            </a:r>
            <a:endParaRPr lang="en-US" sz="2000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48170" y="776436"/>
            <a:ext cx="1787857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AbaC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BC</a:t>
            </a:r>
          </a:p>
          <a:p>
            <a:pPr marL="0"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 b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ε</a:t>
            </a:r>
          </a:p>
          <a:p>
            <a:pPr marL="0"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 D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ε</a:t>
            </a:r>
          </a:p>
          <a:p>
            <a:pPr marL="0"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 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292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025" y="497073"/>
            <a:ext cx="8946541" cy="6238097"/>
          </a:xfrm>
        </p:spPr>
        <p:txBody>
          <a:bodyPr/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Example-3: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AbaC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BC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| ε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|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ε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 → d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First Find the variable who can generate null directly or indirectly.   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Now write the actual product and product after replacing ε. And eliminate the ε-productions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We get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AbaC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|  Aba  | 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baC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085348" y="0"/>
            <a:ext cx="2738533" cy="518615"/>
          </a:xfrm>
        </p:spPr>
        <p:txBody>
          <a:bodyPr/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Chomsky Normal Form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24119" y="2934632"/>
            <a:ext cx="545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{B</a:t>
            </a:r>
            <a:endParaRPr lang="en-US" sz="2000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28899" y="2943962"/>
            <a:ext cx="545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, C</a:t>
            </a:r>
            <a:endParaRPr lang="en-US" sz="2000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56448" y="2934632"/>
            <a:ext cx="7187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,  A}</a:t>
            </a:r>
            <a:endParaRPr lang="en-US" sz="2000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48170" y="776436"/>
            <a:ext cx="1787857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AbaC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BC</a:t>
            </a:r>
          </a:p>
          <a:p>
            <a:pPr marL="0"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 b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ε</a:t>
            </a:r>
          </a:p>
          <a:p>
            <a:pPr marL="0"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 D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ε</a:t>
            </a:r>
          </a:p>
          <a:p>
            <a:pPr marL="0"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 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891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025" y="497073"/>
            <a:ext cx="8946541" cy="6238097"/>
          </a:xfrm>
        </p:spPr>
        <p:txBody>
          <a:bodyPr/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Example-3: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AbaC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BC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| ε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|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ε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 → d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First Find the variable who can generate null directly or indirectly.   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Now write the actual product and product after replacing ε. And eliminate the ε-productions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We get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AbaC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|  Aba  | 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| 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085348" y="0"/>
            <a:ext cx="2738533" cy="518615"/>
          </a:xfrm>
        </p:spPr>
        <p:txBody>
          <a:bodyPr/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Chomsky Normal Form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24119" y="2934632"/>
            <a:ext cx="545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{B</a:t>
            </a:r>
            <a:endParaRPr lang="en-US" sz="2000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28899" y="2943962"/>
            <a:ext cx="545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, C</a:t>
            </a:r>
            <a:endParaRPr lang="en-US" sz="2000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56448" y="2934632"/>
            <a:ext cx="7187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,  A}</a:t>
            </a:r>
            <a:endParaRPr lang="en-US" sz="2000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48170" y="776436"/>
            <a:ext cx="1787857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AbaC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BC</a:t>
            </a:r>
          </a:p>
          <a:p>
            <a:pPr marL="0"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 b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ε</a:t>
            </a:r>
          </a:p>
          <a:p>
            <a:pPr marL="0"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 D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ε</a:t>
            </a:r>
          </a:p>
          <a:p>
            <a:pPr marL="0"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 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4308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025" y="497073"/>
            <a:ext cx="8946541" cy="6238097"/>
          </a:xfrm>
        </p:spPr>
        <p:txBody>
          <a:bodyPr/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Example-3: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AbaC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BC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| ε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|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ε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 → d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First Find the variable who can generate null directly or indirectly.   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Now write the actual product and product after replacing ε. And eliminate the ε-productions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We get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AbaC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|  Aba  | 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| 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BC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085348" y="0"/>
            <a:ext cx="2738533" cy="518615"/>
          </a:xfrm>
        </p:spPr>
        <p:txBody>
          <a:bodyPr/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Chomsky Normal Form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24119" y="2934632"/>
            <a:ext cx="545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{B</a:t>
            </a:r>
            <a:endParaRPr lang="en-US" sz="2000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28899" y="2943962"/>
            <a:ext cx="545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, C</a:t>
            </a:r>
            <a:endParaRPr lang="en-US" sz="2000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56448" y="2934632"/>
            <a:ext cx="7187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,  A}</a:t>
            </a:r>
            <a:endParaRPr lang="en-US" sz="2000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48170" y="776436"/>
            <a:ext cx="1787857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AbaC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BC</a:t>
            </a:r>
          </a:p>
          <a:p>
            <a:pPr marL="0"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 b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ε</a:t>
            </a:r>
          </a:p>
          <a:p>
            <a:pPr marL="0"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 D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ε</a:t>
            </a:r>
          </a:p>
          <a:p>
            <a:pPr marL="0"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 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5870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025" y="497073"/>
            <a:ext cx="8946541" cy="6238097"/>
          </a:xfrm>
        </p:spPr>
        <p:txBody>
          <a:bodyPr/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Example-3: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AbaC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BC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| ε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|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ε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 → d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First Find the variable who can generate null directly or indirectly.   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Now write the actual product and product after replacing ε. And eliminate the ε-productions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We get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AbaC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|  Aba  | 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| 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BC  |  C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085348" y="0"/>
            <a:ext cx="2738533" cy="518615"/>
          </a:xfrm>
        </p:spPr>
        <p:txBody>
          <a:bodyPr/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Chomsky Normal Form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24119" y="2934632"/>
            <a:ext cx="545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{B</a:t>
            </a:r>
            <a:endParaRPr lang="en-US" sz="2000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28899" y="2943962"/>
            <a:ext cx="545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, C</a:t>
            </a:r>
            <a:endParaRPr lang="en-US" sz="2000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56448" y="2934632"/>
            <a:ext cx="7187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,  A}</a:t>
            </a:r>
            <a:endParaRPr lang="en-US" sz="2000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48170" y="776436"/>
            <a:ext cx="1787857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AbaC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BC</a:t>
            </a:r>
          </a:p>
          <a:p>
            <a:pPr marL="0"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 b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ε</a:t>
            </a:r>
          </a:p>
          <a:p>
            <a:pPr marL="0"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 D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ε</a:t>
            </a:r>
          </a:p>
          <a:p>
            <a:pPr marL="0"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 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838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025" y="497073"/>
            <a:ext cx="8946541" cy="6238097"/>
          </a:xfrm>
        </p:spPr>
        <p:txBody>
          <a:bodyPr/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Example-3: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AbaC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BC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| ε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|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ε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 → d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First Find the variable who can generate null directly or indirectly.   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Now write the actual product and product after replacing ε. And eliminate the ε-productions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We get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AbaC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|  Aba  | 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| 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BC  |  C  |  B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085348" y="0"/>
            <a:ext cx="2738533" cy="518615"/>
          </a:xfrm>
        </p:spPr>
        <p:txBody>
          <a:bodyPr/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Chomsky Normal Form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24119" y="2934632"/>
            <a:ext cx="545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{B</a:t>
            </a:r>
            <a:endParaRPr lang="en-US" sz="2000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28899" y="2943962"/>
            <a:ext cx="545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, C</a:t>
            </a:r>
            <a:endParaRPr lang="en-US" sz="2000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56448" y="2934632"/>
            <a:ext cx="7187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,  A}</a:t>
            </a:r>
            <a:endParaRPr lang="en-US" sz="2000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48170" y="776436"/>
            <a:ext cx="1787857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AbaC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BC</a:t>
            </a:r>
          </a:p>
          <a:p>
            <a:pPr marL="0"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 b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ε</a:t>
            </a:r>
          </a:p>
          <a:p>
            <a:pPr marL="0"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 D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ε</a:t>
            </a:r>
          </a:p>
          <a:p>
            <a:pPr marL="0"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 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2882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025" y="497073"/>
            <a:ext cx="8946541" cy="6238097"/>
          </a:xfrm>
        </p:spPr>
        <p:txBody>
          <a:bodyPr/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Example-3: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AbaC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BC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| ε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|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ε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 → d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First Find the variable who can generate null directly or indirectly.   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Now write the actual product and product after replacing ε. And eliminate the ε-productions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We get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AbaC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|  Aba  | 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| 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BC  |  C  |  B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B  → b </a:t>
            </a:r>
          </a:p>
          <a:p>
            <a:pPr lvl="1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085348" y="0"/>
            <a:ext cx="2738533" cy="518615"/>
          </a:xfrm>
        </p:spPr>
        <p:txBody>
          <a:bodyPr/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Chomsky Normal Form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24119" y="2934632"/>
            <a:ext cx="545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{B</a:t>
            </a:r>
            <a:endParaRPr lang="en-US" sz="2000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28899" y="2943962"/>
            <a:ext cx="545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, C</a:t>
            </a:r>
            <a:endParaRPr lang="en-US" sz="2000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56448" y="2934632"/>
            <a:ext cx="7187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,  A}</a:t>
            </a:r>
            <a:endParaRPr lang="en-US" sz="2000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48170" y="776436"/>
            <a:ext cx="1787857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AbaC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BC</a:t>
            </a:r>
          </a:p>
          <a:p>
            <a:pPr marL="0"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 b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ε</a:t>
            </a:r>
          </a:p>
          <a:p>
            <a:pPr marL="0"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 D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ε</a:t>
            </a:r>
          </a:p>
          <a:p>
            <a:pPr marL="0"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 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1074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025" y="497073"/>
            <a:ext cx="8946541" cy="6238097"/>
          </a:xfrm>
        </p:spPr>
        <p:txBody>
          <a:bodyPr/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Example-3: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AbaC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BC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| ε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|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ε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 → d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First Find the variable who can generate null directly or indirectly.   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Now write the actual product and product after replacing ε. And eliminate the ε-productions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We get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AbaC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|  Aba  | 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| 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BC  |  C  |  B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B  → b 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B  → ε</a:t>
            </a:r>
          </a:p>
          <a:p>
            <a:pPr lvl="1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085348" y="0"/>
            <a:ext cx="2738533" cy="518615"/>
          </a:xfrm>
        </p:spPr>
        <p:txBody>
          <a:bodyPr/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Chomsky Normal Form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24119" y="2934632"/>
            <a:ext cx="545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{B</a:t>
            </a:r>
            <a:endParaRPr lang="en-US" sz="2000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28899" y="2943962"/>
            <a:ext cx="545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, C</a:t>
            </a:r>
            <a:endParaRPr lang="en-US" sz="2000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56448" y="2934632"/>
            <a:ext cx="7187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,  A}</a:t>
            </a:r>
            <a:endParaRPr lang="en-US" sz="2000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48170" y="776436"/>
            <a:ext cx="1787857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AbaC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BC</a:t>
            </a:r>
          </a:p>
          <a:p>
            <a:pPr marL="0"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 b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ε</a:t>
            </a:r>
          </a:p>
          <a:p>
            <a:pPr marL="0"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 D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ε</a:t>
            </a:r>
          </a:p>
          <a:p>
            <a:pPr marL="0"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 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755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025" y="497073"/>
            <a:ext cx="8946541" cy="6238097"/>
          </a:xfrm>
        </p:spPr>
        <p:txBody>
          <a:bodyPr/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Example-3: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AbaC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BC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| ε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|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ε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 → d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First Find the variable who can generate null directly or indirectly.   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Now write the actual product and product after replacing ε. And eliminate the ε-productions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We get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AbaC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|  Aba  | 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| 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BC  |  C  |  B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B  → b 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B  → ε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C → D </a:t>
            </a:r>
          </a:p>
          <a:p>
            <a:pPr lvl="1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085348" y="0"/>
            <a:ext cx="2738533" cy="518615"/>
          </a:xfrm>
        </p:spPr>
        <p:txBody>
          <a:bodyPr/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Chomsky Normal Form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24119" y="2934632"/>
            <a:ext cx="545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{B</a:t>
            </a:r>
            <a:endParaRPr lang="en-US" sz="2000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28899" y="2943962"/>
            <a:ext cx="545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, C</a:t>
            </a:r>
            <a:endParaRPr lang="en-US" sz="2000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56448" y="2934632"/>
            <a:ext cx="7187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,  A}</a:t>
            </a:r>
            <a:endParaRPr lang="en-US" sz="2000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48170" y="776436"/>
            <a:ext cx="1787857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AbaC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BC</a:t>
            </a:r>
          </a:p>
          <a:p>
            <a:pPr marL="0"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 b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ε</a:t>
            </a:r>
          </a:p>
          <a:p>
            <a:pPr marL="0"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 D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ε</a:t>
            </a:r>
          </a:p>
          <a:p>
            <a:pPr marL="0"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 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0398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025" y="497073"/>
            <a:ext cx="8946541" cy="6238097"/>
          </a:xfrm>
        </p:spPr>
        <p:txBody>
          <a:bodyPr>
            <a:normAutofit lnSpcReduction="10000"/>
          </a:bodyPr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Example-3: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AbaC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BC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| ε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|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ε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 → d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First Find the variable who can generate null directly or indirectly.   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Now write the actual product and product after replacing ε. And eliminate the ε-productions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We get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AbaC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|  Aba  | 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| 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BC  |  C  |  B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B  → b 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B  → ε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C → D 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C  → ε</a:t>
            </a:r>
          </a:p>
          <a:p>
            <a:pPr lvl="1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085348" y="0"/>
            <a:ext cx="2738533" cy="518615"/>
          </a:xfrm>
        </p:spPr>
        <p:txBody>
          <a:bodyPr/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Chomsky Normal Form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87639" y="2757208"/>
            <a:ext cx="545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{B</a:t>
            </a:r>
            <a:endParaRPr lang="en-US" sz="2000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292419" y="2766538"/>
            <a:ext cx="545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, C</a:t>
            </a:r>
            <a:endParaRPr lang="en-US" sz="2000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19968" y="2757208"/>
            <a:ext cx="7187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,  A}</a:t>
            </a:r>
            <a:endParaRPr lang="en-US" sz="2000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48170" y="776436"/>
            <a:ext cx="1787857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AbaC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BC</a:t>
            </a:r>
          </a:p>
          <a:p>
            <a:pPr marL="0"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 b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ε</a:t>
            </a:r>
          </a:p>
          <a:p>
            <a:pPr marL="0"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 D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ε</a:t>
            </a:r>
          </a:p>
          <a:p>
            <a:pPr marL="0"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 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01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025" y="497073"/>
            <a:ext cx="8946541" cy="6238097"/>
          </a:xfrm>
        </p:spPr>
        <p:txBody>
          <a:bodyPr>
            <a:normAutofit fontScale="92500"/>
          </a:bodyPr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Example-3: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AbaC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BC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| ε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|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ε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 → d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First Find the variable who can generate null directly or indirectly.   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Now write the actual product and product after replacing ε. And eliminate the ε-productions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We get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AbaC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|  Aba  | 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| 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BC  |  C  |  B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B  → b 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B  → ε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C → D 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C  → ε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D → d</a:t>
            </a:r>
          </a:p>
          <a:p>
            <a:pPr lvl="1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085348" y="0"/>
            <a:ext cx="2738533" cy="518615"/>
          </a:xfrm>
        </p:spPr>
        <p:txBody>
          <a:bodyPr/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Chomsky Normal Form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46442" y="2830476"/>
            <a:ext cx="545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{B</a:t>
            </a:r>
            <a:endParaRPr lang="en-US" sz="2000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51222" y="2839806"/>
            <a:ext cx="545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, C</a:t>
            </a:r>
            <a:endParaRPr lang="en-US" sz="2000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278771" y="2830476"/>
            <a:ext cx="7187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,  A}</a:t>
            </a:r>
            <a:endParaRPr lang="en-US" sz="2000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48170" y="776436"/>
            <a:ext cx="1787857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AbaC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BC</a:t>
            </a:r>
          </a:p>
          <a:p>
            <a:pPr marL="0"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 b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ε</a:t>
            </a:r>
          </a:p>
          <a:p>
            <a:pPr marL="0"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 D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ε</a:t>
            </a:r>
          </a:p>
          <a:p>
            <a:pPr marL="0"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 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30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15693"/>
            <a:ext cx="8946541" cy="6238097"/>
          </a:xfrm>
        </p:spPr>
        <p:txBody>
          <a:bodyPr>
            <a:normAutofit fontScale="92500"/>
          </a:bodyPr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Example-3: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AbaC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BC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| ε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|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ε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 → d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First Find the variable who can generate null directly or indirectly.   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Now write the actual product and product after replacing ε. And eliminate the ε-productions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We get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AbaC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|  Aba  | 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| 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BC  |  C  |  B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B  → b 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B  → ε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C → D 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C  → ε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D → d</a:t>
            </a:r>
          </a:p>
          <a:p>
            <a:pPr lvl="1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085348" y="0"/>
            <a:ext cx="2738533" cy="518615"/>
          </a:xfrm>
        </p:spPr>
        <p:txBody>
          <a:bodyPr/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Chomsky Normal Form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91790" y="2536316"/>
            <a:ext cx="545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{B</a:t>
            </a:r>
            <a:endParaRPr lang="en-US" sz="2000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796570" y="2545646"/>
            <a:ext cx="545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, C</a:t>
            </a:r>
            <a:endParaRPr lang="en-US" sz="2000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124119" y="2536316"/>
            <a:ext cx="7187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,  A}</a:t>
            </a:r>
            <a:endParaRPr lang="en-US" sz="2000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852383" y="421625"/>
            <a:ext cx="1787857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AbaC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BC</a:t>
            </a:r>
          </a:p>
          <a:p>
            <a:pPr marL="0"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 b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ε</a:t>
            </a:r>
          </a:p>
          <a:p>
            <a:pPr marL="0"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 D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ε</a:t>
            </a:r>
          </a:p>
          <a:p>
            <a:pPr marL="0"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 d</a:t>
            </a:r>
          </a:p>
          <a:p>
            <a:endParaRPr lang="en-US" dirty="0"/>
          </a:p>
        </p:txBody>
      </p:sp>
      <p:sp>
        <p:nvSpPr>
          <p:cNvPr id="10" name="Minus 9"/>
          <p:cNvSpPr/>
          <p:nvPr/>
        </p:nvSpPr>
        <p:spPr>
          <a:xfrm>
            <a:off x="680082" y="5753012"/>
            <a:ext cx="1091821" cy="177421"/>
          </a:xfrm>
          <a:prstGeom prst="mathMinu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Minus 10"/>
          <p:cNvSpPr/>
          <p:nvPr/>
        </p:nvSpPr>
        <p:spPr>
          <a:xfrm>
            <a:off x="680083" y="4984189"/>
            <a:ext cx="1091821" cy="177421"/>
          </a:xfrm>
          <a:prstGeom prst="mathMinu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5496086" y="3462837"/>
            <a:ext cx="4917156" cy="268331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Finally we get:</a:t>
            </a:r>
          </a:p>
          <a:p>
            <a:pPr lvl="1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AbaC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|  Aba  | 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baC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| 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ba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  → BC  |  C  |  B</a:t>
            </a:r>
          </a:p>
          <a:p>
            <a:pPr lvl="1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B  → b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 → D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 → d</a:t>
            </a:r>
          </a:p>
          <a:p>
            <a:pPr lvl="1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6911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321" y="128584"/>
            <a:ext cx="5870693" cy="6729416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Step-3: Elimination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of Single Variable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Production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Example1: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|  B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 |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688607" y="1187355"/>
            <a:ext cx="169232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  →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3497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321" y="128584"/>
            <a:ext cx="5843397" cy="6729416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Step-3: Elimination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of Single Variable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Production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Example1: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|  B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 |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Elimination of Single variable Production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688607" y="1187355"/>
            <a:ext cx="169232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  </a:t>
            </a: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  →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8644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322" y="128584"/>
            <a:ext cx="6389308" cy="6729416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Step-3: Elimination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of Single Variable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Production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Example1: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|  B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 |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Elimination of Single variable Production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aA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aA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B  → b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688607" y="1187355"/>
            <a:ext cx="169232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  </a:t>
            </a: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  →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099746" y="1633631"/>
            <a:ext cx="287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113393" y="2404753"/>
            <a:ext cx="287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B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113394" y="3203118"/>
            <a:ext cx="287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b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8256896" y="1937980"/>
            <a:ext cx="0" cy="532263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8272816" y="2731836"/>
            <a:ext cx="0" cy="532263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Minus 12"/>
          <p:cNvSpPr/>
          <p:nvPr/>
        </p:nvSpPr>
        <p:spPr>
          <a:xfrm>
            <a:off x="366180" y="4997837"/>
            <a:ext cx="1201003" cy="177421"/>
          </a:xfrm>
          <a:prstGeom prst="mathMinu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3534768" y="3728113"/>
            <a:ext cx="256578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Finally we will get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 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 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b</a:t>
            </a: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0173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8" grpId="0"/>
      <p:bldP spid="13" grpId="0" animBg="1"/>
      <p:bldP spid="1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0"/>
            <a:ext cx="2702256" cy="6858000"/>
          </a:xfrm>
        </p:spPr>
        <p:txBody>
          <a:bodyPr>
            <a:normAutofit/>
          </a:bodyPr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Example-2: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 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|  B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  | 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bc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|  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B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bb |  c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944484" y="573186"/>
            <a:ext cx="1726442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 →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Aa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 → B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bc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 →  B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B → bb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B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→ c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0011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0"/>
            <a:ext cx="2702256" cy="6858000"/>
          </a:xfrm>
        </p:spPr>
        <p:txBody>
          <a:bodyPr>
            <a:normAutofit/>
          </a:bodyPr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Example-2: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 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|  B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  | 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bc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|  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B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bb 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 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Aa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bb  |  c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 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→ a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bc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bb  |  c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B →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bb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B →  c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944484" y="573186"/>
            <a:ext cx="1726442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 →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Aa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 → B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bc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 →  B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B → bb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→ c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099746" y="1633631"/>
            <a:ext cx="287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873316" y="1619584"/>
            <a:ext cx="287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B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730850" y="1587720"/>
            <a:ext cx="587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bb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8318510" y="1817898"/>
            <a:ext cx="620772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9148947" y="1799681"/>
            <a:ext cx="609199" cy="1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Minus 21"/>
          <p:cNvSpPr/>
          <p:nvPr/>
        </p:nvSpPr>
        <p:spPr>
          <a:xfrm>
            <a:off x="284292" y="5666589"/>
            <a:ext cx="1201003" cy="177421"/>
          </a:xfrm>
          <a:prstGeom prst="mathMinu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3330033" y="4220039"/>
            <a:ext cx="309806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Final Productions will be </a:t>
            </a:r>
          </a:p>
          <a:p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 →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|  bb  |  c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→ a  | 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bc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|  bb  |  c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8" name="Straight Arrow Connector 27"/>
          <p:cNvCxnSpPr/>
          <p:nvPr/>
        </p:nvCxnSpPr>
        <p:spPr>
          <a:xfrm flipV="1">
            <a:off x="9044114" y="2279627"/>
            <a:ext cx="609199" cy="1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flipH="1">
            <a:off x="9044114" y="1907028"/>
            <a:ext cx="1" cy="358499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765521" y="2080861"/>
            <a:ext cx="587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33" name="Minus 32"/>
          <p:cNvSpPr/>
          <p:nvPr/>
        </p:nvSpPr>
        <p:spPr>
          <a:xfrm>
            <a:off x="286564" y="6132893"/>
            <a:ext cx="1201003" cy="177421"/>
          </a:xfrm>
          <a:prstGeom prst="mathMinu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8144070" y="3588143"/>
            <a:ext cx="287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A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985880" y="3574096"/>
            <a:ext cx="287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B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843414" y="3542232"/>
            <a:ext cx="587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bb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37" name="Straight Arrow Connector 36"/>
          <p:cNvCxnSpPr/>
          <p:nvPr/>
        </p:nvCxnSpPr>
        <p:spPr>
          <a:xfrm>
            <a:off x="8431074" y="3772410"/>
            <a:ext cx="620772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V="1">
            <a:off x="9261511" y="3754193"/>
            <a:ext cx="609199" cy="1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V="1">
            <a:off x="9156678" y="4234139"/>
            <a:ext cx="609199" cy="1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H="1">
            <a:off x="9156678" y="3861540"/>
            <a:ext cx="1" cy="358499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9878085" y="4035373"/>
            <a:ext cx="587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2" name="Multiply 1"/>
          <p:cNvSpPr/>
          <p:nvPr/>
        </p:nvSpPr>
        <p:spPr>
          <a:xfrm>
            <a:off x="8962095" y="1470279"/>
            <a:ext cx="122210" cy="696036"/>
          </a:xfrm>
          <a:prstGeom prst="mathMultiply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Multiply 24"/>
          <p:cNvSpPr/>
          <p:nvPr/>
        </p:nvSpPr>
        <p:spPr>
          <a:xfrm>
            <a:off x="9067681" y="3410744"/>
            <a:ext cx="122210" cy="696036"/>
          </a:xfrm>
          <a:prstGeom prst="mathMultiply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010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22" grpId="0" animBg="1"/>
      <p:bldP spid="23" grpId="0"/>
      <p:bldP spid="32" grpId="0"/>
      <p:bldP spid="33" grpId="0" animBg="1"/>
      <p:bldP spid="34" grpId="0"/>
      <p:bldP spid="35" grpId="0"/>
      <p:bldP spid="36" grpId="0"/>
      <p:bldP spid="41" grpId="0"/>
      <p:bldP spid="2" grpId="0" animBg="1"/>
      <p:bldP spid="2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322" y="196822"/>
            <a:ext cx="2622526" cy="6661178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Example-3: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 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AB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  |  b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  → D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  → E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  → a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524836" y="750626"/>
            <a:ext cx="148760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 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 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D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E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982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322" y="196822"/>
            <a:ext cx="2622526" cy="6661178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Example-3: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 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AB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  |  b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  → D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  → E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  → a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/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  → AB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→ a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B  →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C  →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D  → a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E  →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524836" y="750626"/>
            <a:ext cx="148760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 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endParaRPr lang="en-US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  </a:t>
            </a: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</a:t>
            </a:r>
            <a:endParaRPr lang="en-US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endParaRPr lang="en-US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031506" y="1606335"/>
            <a:ext cx="2870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endParaRPr lang="en-US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873316" y="1592288"/>
            <a:ext cx="2870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endParaRPr lang="en-US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771794" y="1587720"/>
            <a:ext cx="3286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</a:t>
            </a:r>
            <a:endParaRPr lang="en-US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8318510" y="1817898"/>
            <a:ext cx="620772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9244483" y="1799681"/>
            <a:ext cx="609199" cy="1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10100447" y="1799682"/>
            <a:ext cx="609199" cy="1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Multiply 13"/>
          <p:cNvSpPr/>
          <p:nvPr/>
        </p:nvSpPr>
        <p:spPr>
          <a:xfrm>
            <a:off x="9007518" y="1544943"/>
            <a:ext cx="109182" cy="545910"/>
          </a:xfrm>
          <a:prstGeom prst="mathMultiply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10642510" y="1590547"/>
            <a:ext cx="3286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endParaRPr lang="en-US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 flipV="1">
            <a:off x="10943867" y="1790601"/>
            <a:ext cx="609199" cy="1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1483189" y="1565750"/>
            <a:ext cx="3286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873316" y="2623823"/>
            <a:ext cx="2870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endParaRPr lang="en-US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771794" y="2619255"/>
            <a:ext cx="3286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</a:t>
            </a:r>
            <a:endParaRPr lang="en-US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2" name="Straight Arrow Connector 21"/>
          <p:cNvCxnSpPr/>
          <p:nvPr/>
        </p:nvCxnSpPr>
        <p:spPr>
          <a:xfrm flipV="1">
            <a:off x="9244483" y="2831216"/>
            <a:ext cx="609199" cy="1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V="1">
            <a:off x="10100447" y="2831217"/>
            <a:ext cx="609199" cy="1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Multiply 23"/>
          <p:cNvSpPr/>
          <p:nvPr/>
        </p:nvSpPr>
        <p:spPr>
          <a:xfrm>
            <a:off x="9881529" y="2597285"/>
            <a:ext cx="109182" cy="545910"/>
          </a:xfrm>
          <a:prstGeom prst="mathMultiply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10642510" y="2622082"/>
            <a:ext cx="3286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endParaRPr lang="en-US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6" name="Straight Arrow Connector 25"/>
          <p:cNvCxnSpPr/>
          <p:nvPr/>
        </p:nvCxnSpPr>
        <p:spPr>
          <a:xfrm flipV="1">
            <a:off x="10943867" y="2822136"/>
            <a:ext cx="609199" cy="1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1483189" y="2597285"/>
            <a:ext cx="3286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643012" y="4136431"/>
            <a:ext cx="3286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</a:t>
            </a:r>
            <a:endParaRPr lang="en-US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1" name="Straight Arrow Connector 30"/>
          <p:cNvCxnSpPr/>
          <p:nvPr/>
        </p:nvCxnSpPr>
        <p:spPr>
          <a:xfrm flipV="1">
            <a:off x="9971665" y="4348393"/>
            <a:ext cx="609199" cy="1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Multiply 31"/>
          <p:cNvSpPr/>
          <p:nvPr/>
        </p:nvSpPr>
        <p:spPr>
          <a:xfrm>
            <a:off x="10642510" y="4114461"/>
            <a:ext cx="109182" cy="545910"/>
          </a:xfrm>
          <a:prstGeom prst="mathMultiply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10513728" y="4139258"/>
            <a:ext cx="3286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endParaRPr lang="en-US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4" name="Straight Arrow Connector 33"/>
          <p:cNvCxnSpPr/>
          <p:nvPr/>
        </p:nvCxnSpPr>
        <p:spPr>
          <a:xfrm flipV="1">
            <a:off x="10815085" y="4339312"/>
            <a:ext cx="609199" cy="1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1354407" y="4114461"/>
            <a:ext cx="3286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Minus 35"/>
          <p:cNvSpPr/>
          <p:nvPr/>
        </p:nvSpPr>
        <p:spPr>
          <a:xfrm>
            <a:off x="338883" y="5502815"/>
            <a:ext cx="1201003" cy="177421"/>
          </a:xfrm>
          <a:prstGeom prst="mathMinu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Minus 36"/>
          <p:cNvSpPr/>
          <p:nvPr/>
        </p:nvSpPr>
        <p:spPr>
          <a:xfrm>
            <a:off x="338883" y="5955465"/>
            <a:ext cx="1201003" cy="177421"/>
          </a:xfrm>
          <a:prstGeom prst="mathMinu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Minus 37"/>
          <p:cNvSpPr/>
          <p:nvPr/>
        </p:nvSpPr>
        <p:spPr>
          <a:xfrm>
            <a:off x="354803" y="6353529"/>
            <a:ext cx="1201003" cy="177421"/>
          </a:xfrm>
          <a:prstGeom prst="mathMinu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47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14" grpId="0" animBg="1"/>
      <p:bldP spid="15" grpId="0"/>
      <p:bldP spid="17" grpId="0"/>
      <p:bldP spid="19" grpId="0"/>
      <p:bldP spid="20" grpId="0"/>
      <p:bldP spid="24" grpId="0" animBg="1"/>
      <p:bldP spid="25" grpId="0"/>
      <p:bldP spid="27" grpId="0"/>
      <p:bldP spid="29" grpId="0"/>
      <p:bldP spid="32" grpId="0" animBg="1"/>
      <p:bldP spid="33" grpId="0"/>
      <p:bldP spid="35" grpId="0"/>
      <p:bldP spid="36" grpId="0" animBg="1"/>
      <p:bldP spid="37" grpId="0" animBg="1"/>
      <p:bldP spid="3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7969" y="101288"/>
            <a:ext cx="3209379" cy="5589828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Example 1: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 →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aXbX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X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|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bY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| </a:t>
            </a:r>
            <a:r>
              <a:rPr lang="el-GR" dirty="0">
                <a:latin typeface="Times New Roman" pitchFamily="18" charset="0"/>
                <a:cs typeface="Times New Roman" pitchFamily="18" charset="0"/>
              </a:rPr>
              <a:t>ε </a:t>
            </a:r>
            <a:r>
              <a:rPr lang="el-GR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Y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→ X |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Eliminating </a:t>
            </a:r>
            <a:r>
              <a:rPr lang="el-GR" dirty="0" smtClean="0">
                <a:latin typeface="Times New Roman" pitchFamily="18" charset="0"/>
                <a:cs typeface="Times New Roman" pitchFamily="18" charset="0"/>
              </a:rPr>
              <a:t>ε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-production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 →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aXbX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X →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X →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bY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X → </a:t>
            </a:r>
            <a:r>
              <a:rPr lang="el-GR" dirty="0">
                <a:latin typeface="Times New Roman" pitchFamily="18" charset="0"/>
                <a:cs typeface="Times New Roman" pitchFamily="18" charset="0"/>
              </a:rPr>
              <a:t>ε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Y → X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Y → c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098042" y="436728"/>
            <a:ext cx="141936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 →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aXbX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X →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X →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bY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X →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sz="2000" dirty="0">
                <a:latin typeface="Times New Roman" pitchFamily="18" charset="0"/>
                <a:cs typeface="Times New Roman" pitchFamily="18" charset="0"/>
              </a:rPr>
              <a:t>ε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Y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 X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Y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705966" y="3115902"/>
            <a:ext cx="859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|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abX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303062" y="3118177"/>
            <a:ext cx="859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|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aXb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914935" y="3115902"/>
            <a:ext cx="6778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|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162870" y="2729440"/>
            <a:ext cx="6448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endParaRPr lang="en-US" sz="20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497224" y="2717954"/>
            <a:ext cx="6926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420500" y="3556393"/>
            <a:ext cx="4901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| 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20500" y="3983799"/>
            <a:ext cx="4901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| 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Minus 13"/>
          <p:cNvSpPr/>
          <p:nvPr/>
        </p:nvSpPr>
        <p:spPr>
          <a:xfrm>
            <a:off x="313898" y="4487756"/>
            <a:ext cx="1214651" cy="256330"/>
          </a:xfrm>
          <a:prstGeom prst="mathMinus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5406787" y="3516012"/>
            <a:ext cx="35052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S → </a:t>
            </a:r>
            <a:r>
              <a:rPr lang="en-US" sz="20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aXbX</a:t>
            </a:r>
            <a:r>
              <a:rPr lang="en-US" sz="2000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|  </a:t>
            </a:r>
            <a:r>
              <a:rPr lang="en-US" sz="2000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abX</a:t>
            </a:r>
            <a:r>
              <a:rPr lang="en-US" sz="2000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 |  </a:t>
            </a:r>
            <a:r>
              <a:rPr lang="en-US" sz="2000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aXb</a:t>
            </a:r>
            <a:r>
              <a:rPr lang="en-US" sz="2000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 |  </a:t>
            </a:r>
            <a:r>
              <a:rPr lang="en-US" sz="2000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ab</a:t>
            </a:r>
            <a:endParaRPr lang="en-US" sz="2000" dirty="0" smtClean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X </a:t>
            </a:r>
            <a:r>
              <a:rPr lang="en-US" sz="2000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0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aY</a:t>
            </a:r>
            <a:r>
              <a:rPr lang="en-US" sz="2000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| </a:t>
            </a:r>
            <a:r>
              <a:rPr lang="en-US" sz="2000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bY</a:t>
            </a:r>
            <a:r>
              <a:rPr lang="en-US" sz="2000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 |  a  |  b</a:t>
            </a:r>
            <a:endParaRPr lang="en-US" sz="2000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Y </a:t>
            </a:r>
            <a:r>
              <a:rPr lang="en-US" sz="2000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→ X </a:t>
            </a:r>
            <a:r>
              <a:rPr lang="en-US" sz="2000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 |  c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4631257" y="0"/>
            <a:ext cx="2124385" cy="543569"/>
          </a:xfrm>
        </p:spPr>
        <p:txBody>
          <a:bodyPr/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CFG To CNF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852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2" grpId="0"/>
      <p:bldP spid="13" grpId="0"/>
      <p:bldP spid="14" grpId="0" animBg="1"/>
      <p:bldP spid="1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0" y="8537"/>
            <a:ext cx="35052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S → </a:t>
            </a:r>
            <a:r>
              <a:rPr lang="en-US" sz="20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aXbX</a:t>
            </a:r>
            <a:r>
              <a:rPr lang="en-US" sz="2000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|  </a:t>
            </a:r>
            <a:r>
              <a:rPr lang="en-US" sz="2000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abX</a:t>
            </a:r>
            <a:r>
              <a:rPr lang="en-US" sz="2000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 |  </a:t>
            </a:r>
            <a:r>
              <a:rPr lang="en-US" sz="2000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aXb</a:t>
            </a:r>
            <a:r>
              <a:rPr lang="en-US" sz="2000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 |  </a:t>
            </a:r>
            <a:r>
              <a:rPr lang="en-US" sz="2000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ab</a:t>
            </a:r>
            <a:endParaRPr lang="en-US" sz="2000" dirty="0" smtClean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X </a:t>
            </a:r>
            <a:r>
              <a:rPr lang="en-US" sz="2000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0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aY</a:t>
            </a:r>
            <a:r>
              <a:rPr lang="en-US" sz="2000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| </a:t>
            </a:r>
            <a:r>
              <a:rPr lang="en-US" sz="2000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bY</a:t>
            </a:r>
            <a:r>
              <a:rPr lang="en-US" sz="2000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 |  a  |  b</a:t>
            </a:r>
            <a:endParaRPr lang="en-US" sz="2000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Y </a:t>
            </a:r>
            <a:r>
              <a:rPr lang="en-US" sz="2000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→ X </a:t>
            </a:r>
            <a:r>
              <a:rPr lang="en-US" sz="2000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 | 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293701"/>
            <a:ext cx="350520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 →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aXbX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| 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abX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| 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aXb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| 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ab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X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|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bY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|  a  |  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Y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→ X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Y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2719302"/>
            <a:ext cx="50223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Eliminating single variable productions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9613" y="3684334"/>
            <a:ext cx="350520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 →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aXbX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| 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abX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| 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aXb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| 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ab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X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|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bY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|  a  |  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 </a:t>
            </a: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→ X </a:t>
            </a: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Y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c</a:t>
            </a:r>
          </a:p>
        </p:txBody>
      </p:sp>
    </p:spTree>
    <p:extLst>
      <p:ext uri="{BB962C8B-B14F-4D97-AF65-F5344CB8AC3E}">
        <p14:creationId xmlns:p14="http://schemas.microsoft.com/office/powerpoint/2010/main" val="1068430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0" y="8537"/>
            <a:ext cx="35052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S → </a:t>
            </a:r>
            <a:r>
              <a:rPr lang="en-US" sz="20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aXbX</a:t>
            </a:r>
            <a:r>
              <a:rPr lang="en-US" sz="2000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|  </a:t>
            </a:r>
            <a:r>
              <a:rPr lang="en-US" sz="2000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abX</a:t>
            </a:r>
            <a:r>
              <a:rPr lang="en-US" sz="2000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 |  </a:t>
            </a:r>
            <a:r>
              <a:rPr lang="en-US" sz="2000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aXb</a:t>
            </a:r>
            <a:r>
              <a:rPr lang="en-US" sz="2000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 |  </a:t>
            </a:r>
            <a:r>
              <a:rPr lang="en-US" sz="2000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ab</a:t>
            </a:r>
            <a:endParaRPr lang="en-US" sz="2000" dirty="0" smtClean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X </a:t>
            </a:r>
            <a:r>
              <a:rPr lang="en-US" sz="2000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0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aY</a:t>
            </a:r>
            <a:r>
              <a:rPr lang="en-US" sz="2000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| </a:t>
            </a:r>
            <a:r>
              <a:rPr lang="en-US" sz="2000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bY</a:t>
            </a:r>
            <a:r>
              <a:rPr lang="en-US" sz="2000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 |  a  |  b</a:t>
            </a:r>
            <a:endParaRPr lang="en-US" sz="2000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Y </a:t>
            </a:r>
            <a:r>
              <a:rPr lang="en-US" sz="2000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→ X </a:t>
            </a:r>
            <a:r>
              <a:rPr lang="en-US" sz="2000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 | 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293702"/>
            <a:ext cx="350520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 →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aXbX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| 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abX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| 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aXb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| 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ab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X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|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bY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|  a  |  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 </a:t>
            </a: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→ X </a:t>
            </a: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Y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c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0" y="2876448"/>
            <a:ext cx="5147362" cy="3638199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After eliminating single variable production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 →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aXbX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| 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abX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 | 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aXb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 | 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ab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X →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|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|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|  b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Y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|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bY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 |  a  |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Y → c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328614" y="3602448"/>
            <a:ext cx="43104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S → </a:t>
            </a:r>
            <a:r>
              <a:rPr lang="en-US" sz="24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aXbX</a:t>
            </a: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|  </a:t>
            </a:r>
            <a:r>
              <a:rPr lang="en-US" sz="2400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abX</a:t>
            </a:r>
            <a:r>
              <a:rPr lang="en-US" sz="2400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 |  </a:t>
            </a:r>
            <a:r>
              <a:rPr lang="en-US" sz="2400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aXb</a:t>
            </a:r>
            <a:r>
              <a:rPr lang="en-US" sz="2400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 |  </a:t>
            </a:r>
            <a:r>
              <a:rPr lang="en-US" sz="2400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ab</a:t>
            </a:r>
            <a:endParaRPr lang="en-US" sz="2400" dirty="0" smtClean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X </a:t>
            </a: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4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aY</a:t>
            </a: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| </a:t>
            </a:r>
            <a:r>
              <a:rPr lang="en-US" sz="2400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bY</a:t>
            </a:r>
            <a:r>
              <a:rPr lang="en-US" sz="2400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 |  a  |  b</a:t>
            </a:r>
            <a:endParaRPr lang="en-US" sz="2400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Y </a:t>
            </a:r>
            <a:r>
              <a:rPr 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4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aY</a:t>
            </a: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| </a:t>
            </a:r>
            <a:r>
              <a:rPr lang="en-US" sz="2400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bY</a:t>
            </a:r>
            <a:r>
              <a:rPr lang="en-US" sz="2400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|  </a:t>
            </a:r>
            <a:r>
              <a:rPr lang="en-US" sz="2400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  </a:t>
            </a: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|  </a:t>
            </a:r>
            <a:r>
              <a:rPr lang="en-US" sz="2400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b  | 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57648" y="1325828"/>
            <a:ext cx="1776483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S → </a:t>
            </a:r>
            <a:r>
              <a:rPr lang="en-US" sz="24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aXbX</a:t>
            </a: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S →</a:t>
            </a:r>
            <a:r>
              <a:rPr lang="en-US" sz="2400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abX</a:t>
            </a:r>
            <a:r>
              <a:rPr lang="en-US" sz="2400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</a:t>
            </a:r>
          </a:p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S → </a:t>
            </a:r>
            <a:r>
              <a:rPr lang="en-US" sz="2400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aXb</a:t>
            </a:r>
            <a:r>
              <a:rPr lang="en-US" sz="2400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S → </a:t>
            </a:r>
            <a:r>
              <a:rPr lang="en-US" sz="2400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ab</a:t>
            </a:r>
            <a:endParaRPr lang="en-US" sz="2400" dirty="0" smtClean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X </a:t>
            </a: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4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aY</a:t>
            </a: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sz="2400" dirty="0" smtClean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X →</a:t>
            </a:r>
            <a:r>
              <a:rPr lang="en-US" sz="2400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bY</a:t>
            </a:r>
            <a:r>
              <a:rPr lang="en-US" sz="2400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X →</a:t>
            </a:r>
            <a:r>
              <a:rPr lang="en-US" sz="2400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a</a:t>
            </a:r>
          </a:p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X → </a:t>
            </a:r>
            <a:r>
              <a:rPr lang="en-US" sz="2400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endParaRPr lang="en-US" sz="2400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Y </a:t>
            </a:r>
            <a:r>
              <a:rPr 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4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aY</a:t>
            </a: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sz="2400" dirty="0" smtClean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Y → </a:t>
            </a:r>
            <a:r>
              <a:rPr lang="en-US" sz="2400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bY</a:t>
            </a:r>
            <a:r>
              <a:rPr lang="en-US" sz="2400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r>
              <a:rPr 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Y → </a:t>
            </a:r>
            <a:r>
              <a:rPr lang="en-US" sz="2400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</a:t>
            </a:r>
          </a:p>
          <a:p>
            <a:r>
              <a:rPr 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Y → </a:t>
            </a:r>
            <a:r>
              <a:rPr lang="en-US" sz="2400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b  </a:t>
            </a:r>
          </a:p>
          <a:p>
            <a:r>
              <a:rPr 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Y → </a:t>
            </a:r>
            <a:r>
              <a:rPr lang="en-US" sz="2400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39218" y="365701"/>
            <a:ext cx="313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30119" y="1236555"/>
            <a:ext cx="313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X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38558" y="1971683"/>
            <a:ext cx="696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solidFill>
                  <a:srgbClr val="FF0000"/>
                </a:solidFill>
              </a:rPr>
              <a:t>aY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032316" y="1997125"/>
            <a:ext cx="500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solidFill>
                  <a:srgbClr val="FF0000"/>
                </a:solidFill>
              </a:rPr>
              <a:t>bY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82849" y="1997125"/>
            <a:ext cx="598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a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281077" y="1985331"/>
            <a:ext cx="313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b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6309815" y="687698"/>
            <a:ext cx="0" cy="610691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6302990" y="1605887"/>
            <a:ext cx="978087" cy="445377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6309815" y="1605887"/>
            <a:ext cx="555010" cy="445377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6293892" y="1592442"/>
            <a:ext cx="0" cy="458822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1" idx="2"/>
          </p:cNvCxnSpPr>
          <p:nvPr/>
        </p:nvCxnSpPr>
        <p:spPr>
          <a:xfrm flipH="1">
            <a:off x="5581935" y="1605887"/>
            <a:ext cx="705134" cy="391238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Multiply 1"/>
          <p:cNvSpPr/>
          <p:nvPr/>
        </p:nvSpPr>
        <p:spPr>
          <a:xfrm>
            <a:off x="6180166" y="1155089"/>
            <a:ext cx="204716" cy="532263"/>
          </a:xfrm>
          <a:prstGeom prst="mathMultiply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142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3648" y="727318"/>
            <a:ext cx="1776483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 →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aXbX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 →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abX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 →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aXb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 →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ab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X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X →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X →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X →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Y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Y →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Y →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</a:t>
            </a: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Y →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  </a:t>
            </a: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Y →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1901705" y="1913027"/>
            <a:ext cx="2274508" cy="229048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000" dirty="0" smtClean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Convert all terminal in mix and multiple terminal production into non-terminal, with making new products  if necessary</a:t>
            </a:r>
            <a:endParaRPr lang="en-US" sz="2000" dirty="0">
              <a:solidFill>
                <a:srgbClr val="FFC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481132" y="577192"/>
            <a:ext cx="1869743" cy="5878198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S → </a:t>
            </a:r>
            <a:r>
              <a:rPr lang="en-US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aXbX</a:t>
            </a: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S → </a:t>
            </a:r>
            <a:r>
              <a:rPr lang="en-US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abX</a:t>
            </a: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S → </a:t>
            </a:r>
            <a:r>
              <a:rPr lang="en-US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aXb</a:t>
            </a: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S → </a:t>
            </a:r>
            <a:r>
              <a:rPr lang="en-US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ab</a:t>
            </a:r>
            <a:endParaRPr lang="en-US" dirty="0">
              <a:solidFill>
                <a:schemeClr val="accent1">
                  <a:lumMod val="40000"/>
                  <a:lumOff val="6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X → </a:t>
            </a:r>
            <a:r>
              <a:rPr lang="en-US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aY</a:t>
            </a: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X → </a:t>
            </a:r>
            <a:r>
              <a:rPr lang="en-US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bY</a:t>
            </a: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X → a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X → b</a:t>
            </a:r>
          </a:p>
          <a:p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Y → </a:t>
            </a:r>
            <a:r>
              <a:rPr lang="en-US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aY</a:t>
            </a: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Y → </a:t>
            </a:r>
            <a:r>
              <a:rPr lang="en-US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bY</a:t>
            </a: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Y →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Y →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b  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Y →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6353150" y="2767015"/>
            <a:ext cx="1753619" cy="8142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2000" dirty="0" smtClean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Terminals are</a:t>
            </a:r>
          </a:p>
          <a:p>
            <a:pPr algn="ctr"/>
            <a:r>
              <a:rPr lang="en-US" sz="2000" dirty="0" smtClean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a and b</a:t>
            </a:r>
            <a:endParaRPr lang="en-US" sz="2000" dirty="0">
              <a:solidFill>
                <a:srgbClr val="FFC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10638549" y="1892621"/>
            <a:ext cx="1180414" cy="58451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  → a</a:t>
            </a:r>
          </a:p>
          <a:p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 </a:t>
            </a: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b</a:t>
            </a:r>
            <a:endParaRPr lang="en-US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8307056" y="375764"/>
            <a:ext cx="1869743" cy="64110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 → AXBX 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 → ABX  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 → AXB 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 → AB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X →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Y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X → BY 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X → a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X → b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Y → 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Y 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Y →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Y  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Y →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Y →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  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Y →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</a:t>
            </a:r>
          </a:p>
          <a:p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  → a</a:t>
            </a:r>
          </a:p>
          <a:p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 →  b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497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5" grpId="0" build="p"/>
      <p:bldP spid="7" grpId="0"/>
      <p:bldP spid="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38609" y="254786"/>
            <a:ext cx="1869743" cy="64110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 → AXBX 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 → ABX  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 → AXB 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 → AB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X →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Y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X → BY 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X → a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X → b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Y → 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Y 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Y →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Y  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Y →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Y →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  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Y →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A  → a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B →  b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1742246" y="3003671"/>
            <a:ext cx="1662752" cy="114524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800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Single Terminal productions are </a:t>
            </a:r>
            <a:endParaRPr lang="en-US" sz="1800" b="1" dirty="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3459586" y="254785"/>
            <a:ext cx="1869743" cy="64110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 → AXBX 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 → ABX  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 → AXB 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 → AB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X →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Y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X → BY  </a:t>
            </a:r>
          </a:p>
          <a:p>
            <a:r>
              <a:rPr lang="en-US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X → a</a:t>
            </a:r>
          </a:p>
          <a:p>
            <a:r>
              <a:rPr lang="en-US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X → b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Y → 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Y 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Y →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Y  </a:t>
            </a:r>
          </a:p>
          <a:p>
            <a:r>
              <a:rPr lang="en-US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Y → a</a:t>
            </a:r>
          </a:p>
          <a:p>
            <a:r>
              <a:rPr lang="en-US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Y → b  </a:t>
            </a:r>
          </a:p>
          <a:p>
            <a:r>
              <a:rPr lang="en-US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Y → c</a:t>
            </a:r>
          </a:p>
          <a:p>
            <a:r>
              <a:rPr lang="en-US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A  → a</a:t>
            </a:r>
          </a:p>
          <a:p>
            <a:r>
              <a:rPr lang="en-US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B →  b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8118020" y="188852"/>
            <a:ext cx="1869743" cy="64110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 → AXBX 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 → ABX  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 → AXB  </a:t>
            </a:r>
          </a:p>
          <a:p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 → AB</a:t>
            </a:r>
          </a:p>
          <a:p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 →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 </a:t>
            </a:r>
          </a:p>
          <a:p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 → BY  </a:t>
            </a:r>
          </a:p>
          <a:p>
            <a:r>
              <a:rPr lang="en-US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X → a</a:t>
            </a:r>
          </a:p>
          <a:p>
            <a:r>
              <a:rPr lang="en-US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X → b</a:t>
            </a:r>
          </a:p>
          <a:p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 → AY </a:t>
            </a:r>
          </a:p>
          <a:p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 →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  </a:t>
            </a:r>
          </a:p>
          <a:p>
            <a:r>
              <a:rPr lang="en-US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Y → a</a:t>
            </a:r>
          </a:p>
          <a:p>
            <a:r>
              <a:rPr lang="en-US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Y → b  </a:t>
            </a:r>
          </a:p>
          <a:p>
            <a:r>
              <a:rPr lang="en-US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Y → c</a:t>
            </a:r>
          </a:p>
          <a:p>
            <a:r>
              <a:rPr lang="en-US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A  → a</a:t>
            </a:r>
          </a:p>
          <a:p>
            <a:r>
              <a:rPr lang="en-US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B →  b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494301" y="3045778"/>
            <a:ext cx="1984672" cy="91323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Two non-terminal productions are </a:t>
            </a:r>
            <a:endParaRPr lang="en-US" sz="18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7831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333173" y="446997"/>
            <a:ext cx="1869743" cy="64110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 → AXBX 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 → ABX  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 → AXB  </a:t>
            </a:r>
          </a:p>
          <a:p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 → AB</a:t>
            </a:r>
          </a:p>
          <a:p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 →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 </a:t>
            </a:r>
          </a:p>
          <a:p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 → BY  </a:t>
            </a:r>
          </a:p>
          <a:p>
            <a:r>
              <a:rPr lang="en-US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X → a</a:t>
            </a:r>
          </a:p>
          <a:p>
            <a:r>
              <a:rPr lang="en-US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X → b</a:t>
            </a:r>
          </a:p>
          <a:p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 → AY </a:t>
            </a:r>
          </a:p>
          <a:p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 →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  </a:t>
            </a:r>
          </a:p>
          <a:p>
            <a:r>
              <a:rPr lang="en-US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Y → a</a:t>
            </a:r>
          </a:p>
          <a:p>
            <a:r>
              <a:rPr lang="en-US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Y → b  </a:t>
            </a:r>
          </a:p>
          <a:p>
            <a:r>
              <a:rPr lang="en-US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Y → c</a:t>
            </a:r>
          </a:p>
          <a:p>
            <a:r>
              <a:rPr lang="en-US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A  → a</a:t>
            </a:r>
          </a:p>
          <a:p>
            <a:r>
              <a:rPr lang="en-US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B →  b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058400" y="1746913"/>
            <a:ext cx="13374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</a:rPr>
              <a:t>C → AX</a:t>
            </a:r>
          </a:p>
          <a:p>
            <a:r>
              <a:rPr lang="en-US" sz="2000" b="1" dirty="0" smtClean="0">
                <a:solidFill>
                  <a:srgbClr val="FF0000"/>
                </a:solidFill>
              </a:rPr>
              <a:t>D → BX</a:t>
            </a: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4061286" y="363328"/>
            <a:ext cx="1869743" cy="64110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 →  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 → A  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 →     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 → AB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X →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Y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X → BY  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X → a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X → b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Y → AY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Y →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Y  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Y → a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Y → b  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Y → c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A  → a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B →  b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730621" y="3060997"/>
            <a:ext cx="362803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S → CD  </a:t>
            </a:r>
            <a:r>
              <a:rPr lang="en-US" sz="2000" b="1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|  AD  </a:t>
            </a:r>
            <a:r>
              <a:rPr lang="en-US" sz="20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|  CB  |  AB</a:t>
            </a:r>
          </a:p>
          <a:p>
            <a:r>
              <a:rPr lang="en-US" sz="20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X </a:t>
            </a:r>
            <a:r>
              <a:rPr lang="en-US" sz="20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0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AY  </a:t>
            </a:r>
            <a:r>
              <a:rPr lang="en-US" sz="20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|  </a:t>
            </a:r>
            <a:r>
              <a:rPr lang="en-US" sz="20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BY  </a:t>
            </a:r>
            <a:r>
              <a:rPr lang="en-US" sz="20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|  </a:t>
            </a:r>
            <a:r>
              <a:rPr lang="en-US" sz="20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  |  b</a:t>
            </a:r>
            <a:endParaRPr lang="en-US" sz="2000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Y → AY  |  BY  |  a  |  b|  c</a:t>
            </a:r>
            <a:endParaRPr lang="en-US" sz="2000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 → a</a:t>
            </a:r>
          </a:p>
          <a:p>
            <a:r>
              <a:rPr lang="en-US" sz="20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B → b</a:t>
            </a:r>
            <a:endParaRPr lang="en-US" sz="2000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C → AX</a:t>
            </a:r>
          </a:p>
          <a:p>
            <a:r>
              <a:rPr lang="en-US" sz="20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D → BX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15570" y="367400"/>
            <a:ext cx="4026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</a:rPr>
              <a:t>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00621" y="376976"/>
            <a:ext cx="4435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04194" y="806408"/>
            <a:ext cx="4026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</a:rPr>
              <a:t>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5597" y="1239072"/>
            <a:ext cx="4435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9421" y="1233214"/>
            <a:ext cx="4435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074666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7" grpId="0"/>
      <p:bldP spid="9" grpId="0"/>
      <p:bldP spid="10" grpId="0"/>
      <p:bldP spid="12" grpId="0"/>
      <p:bldP spid="13" grpId="0"/>
      <p:bldP spid="1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5265" y="210470"/>
            <a:ext cx="3414096" cy="664753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Example-2: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  →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abAB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bAB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| </a:t>
            </a:r>
            <a:r>
              <a:rPr lang="el-GR" sz="2400" dirty="0">
                <a:latin typeface="Times New Roman" pitchFamily="18" charset="0"/>
                <a:cs typeface="Times New Roman" pitchFamily="18" charset="0"/>
              </a:rPr>
              <a:t>ε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  →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BAa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|  A  | </a:t>
            </a:r>
            <a:r>
              <a:rPr lang="el-GR" sz="2400" dirty="0">
                <a:latin typeface="Times New Roman" pitchFamily="18" charset="0"/>
                <a:cs typeface="Times New Roman" pitchFamily="18" charset="0"/>
              </a:rPr>
              <a:t>ε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Null Variable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Elimination of </a:t>
            </a:r>
            <a:r>
              <a:rPr lang="el-GR" dirty="0" smtClean="0">
                <a:latin typeface="Times New Roman" pitchFamily="18" charset="0"/>
                <a:cs typeface="Times New Roman" pitchFamily="18" charset="0"/>
              </a:rPr>
              <a:t>ε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-production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abAB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bAB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l-GR" b="1" dirty="0" smtClean="0">
                <a:latin typeface="Times New Roman" pitchFamily="18" charset="0"/>
                <a:cs typeface="Times New Roman" pitchFamily="18" charset="0"/>
              </a:rPr>
              <a:t>ε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B  →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BAa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B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→ A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B → </a:t>
            </a:r>
            <a:r>
              <a:rPr lang="el-GR" b="1" dirty="0">
                <a:latin typeface="Times New Roman" pitchFamily="18" charset="0"/>
                <a:cs typeface="Times New Roman" pitchFamily="18" charset="0"/>
              </a:rPr>
              <a:t>ε 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725957" y="0"/>
            <a:ext cx="1733148" cy="28580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S  →</a:t>
            </a:r>
            <a:r>
              <a:rPr lang="en-US" sz="2400" b="1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abAB</a:t>
            </a:r>
            <a:endParaRPr lang="en-US" sz="2400" b="1" dirty="0" smtClean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sz="2400" b="1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bAB</a:t>
            </a:r>
            <a:r>
              <a:rPr lang="en-US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indent="0">
              <a:buNone/>
            </a:pPr>
            <a:r>
              <a:rPr lang="en-US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l-GR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ε </a:t>
            </a:r>
            <a:endParaRPr lang="en-US" sz="2400" b="1" dirty="0" smtClean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B  → </a:t>
            </a:r>
            <a:r>
              <a:rPr lang="en-US" sz="2400" b="1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BAa</a:t>
            </a:r>
            <a:r>
              <a:rPr lang="en-US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marL="0" indent="0">
              <a:buNone/>
            </a:pPr>
            <a:r>
              <a:rPr lang="en-US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B → A  </a:t>
            </a:r>
          </a:p>
          <a:p>
            <a:pPr marL="0" indent="0">
              <a:buNone/>
            </a:pPr>
            <a:r>
              <a:rPr lang="en-US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B → </a:t>
            </a:r>
            <a:r>
              <a:rPr lang="el-GR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ε </a:t>
            </a:r>
            <a:endParaRPr lang="en-US" sz="2400" b="1" dirty="0" smtClean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224584" y="2712539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A,B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3736" y="3591840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| </a:t>
            </a:r>
            <a:r>
              <a:rPr lang="en-US" sz="2000" b="1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abB</a:t>
            </a:r>
            <a:endParaRPr lang="en-US" sz="2000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74792" y="3591840"/>
            <a:ext cx="10190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| </a:t>
            </a:r>
            <a:r>
              <a:rPr lang="en-US" sz="2000" b="1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abA</a:t>
            </a:r>
            <a:endParaRPr lang="en-US" sz="2000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14044" y="3578192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| </a:t>
            </a:r>
            <a:r>
              <a:rPr lang="en-US" sz="2000" b="1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ab</a:t>
            </a:r>
            <a:endParaRPr lang="en-US" sz="2000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245052" y="4026569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| </a:t>
            </a:r>
            <a:r>
              <a:rPr lang="en-US" sz="2000" b="1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bA</a:t>
            </a:r>
            <a:endParaRPr lang="en-US" sz="2000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71848" y="4033414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| </a:t>
            </a:r>
            <a:r>
              <a:rPr lang="en-US" sz="2000" b="1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bB</a:t>
            </a:r>
            <a:endParaRPr lang="en-US" sz="2000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825080" y="4026569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| b</a:t>
            </a:r>
            <a:endParaRPr lang="en-US" sz="2000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916069" y="4891466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| a</a:t>
            </a:r>
            <a:endParaRPr lang="en-US" sz="2000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299644" y="4905114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| </a:t>
            </a:r>
            <a:r>
              <a:rPr lang="en-US" sz="20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0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endParaRPr lang="en-US" sz="2000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69570" y="4905114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| </a:t>
            </a:r>
            <a:r>
              <a:rPr lang="en-US" sz="2000" b="1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Aa</a:t>
            </a:r>
            <a:endParaRPr lang="en-US" sz="2000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Minus 17"/>
          <p:cNvSpPr/>
          <p:nvPr/>
        </p:nvSpPr>
        <p:spPr>
          <a:xfrm>
            <a:off x="327546" y="4572620"/>
            <a:ext cx="1214651" cy="256330"/>
          </a:xfrm>
          <a:prstGeom prst="mathMinus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Minus 18"/>
          <p:cNvSpPr/>
          <p:nvPr/>
        </p:nvSpPr>
        <p:spPr>
          <a:xfrm>
            <a:off x="327545" y="5844137"/>
            <a:ext cx="1214651" cy="256330"/>
          </a:xfrm>
          <a:prstGeom prst="mathMinus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4032910" y="3657675"/>
            <a:ext cx="4189863" cy="1649001"/>
          </a:xfrm>
          <a:prstGeom prst="rect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sz="2400" b="1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abAB</a:t>
            </a:r>
            <a:r>
              <a:rPr lang="en-US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 |  </a:t>
            </a:r>
            <a:r>
              <a:rPr lang="en-US" sz="2400" b="1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abB</a:t>
            </a:r>
            <a:r>
              <a:rPr lang="en-US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 |  </a:t>
            </a:r>
            <a:r>
              <a:rPr lang="en-US" sz="2400" b="1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abA</a:t>
            </a:r>
            <a:r>
              <a:rPr lang="en-US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 |  </a:t>
            </a:r>
            <a:r>
              <a:rPr lang="en-US" sz="2400" b="1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ab</a:t>
            </a:r>
            <a:endParaRPr lang="en-US" sz="2400" b="1" dirty="0" smtClean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sz="2400" b="1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bAB</a:t>
            </a:r>
            <a:r>
              <a:rPr lang="en-US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 | </a:t>
            </a:r>
            <a:r>
              <a:rPr lang="en-US" sz="2400" b="1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bB</a:t>
            </a:r>
            <a:r>
              <a:rPr lang="en-US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 |  </a:t>
            </a:r>
            <a:r>
              <a:rPr lang="en-US" sz="2400" b="1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 |  b</a:t>
            </a:r>
          </a:p>
          <a:p>
            <a:pPr marL="0" indent="0">
              <a:buNone/>
            </a:pPr>
            <a:r>
              <a:rPr lang="en-US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B  → </a:t>
            </a:r>
            <a:r>
              <a:rPr lang="en-US" sz="2400" b="1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BAa</a:t>
            </a:r>
            <a:r>
              <a:rPr lang="en-US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 | </a:t>
            </a:r>
            <a:r>
              <a:rPr lang="en-US" sz="2400" b="1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 |  Ba  |  a  |  A </a:t>
            </a:r>
          </a:p>
        </p:txBody>
      </p:sp>
      <p:sp>
        <p:nvSpPr>
          <p:cNvPr id="21" name="Content Placeholder 2"/>
          <p:cNvSpPr txBox="1">
            <a:spLocks/>
          </p:cNvSpPr>
          <p:nvPr/>
        </p:nvSpPr>
        <p:spPr>
          <a:xfrm>
            <a:off x="8627659" y="147087"/>
            <a:ext cx="1703697" cy="6510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sz="22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sz="2200" b="1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abAB</a:t>
            </a:r>
            <a:r>
              <a:rPr lang="en-US" sz="22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marL="0" indent="0">
              <a:buNone/>
            </a:pPr>
            <a:r>
              <a:rPr lang="en-US" sz="22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sz="2200" b="1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abB</a:t>
            </a:r>
            <a:r>
              <a:rPr lang="en-US" sz="22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marL="0" indent="0">
              <a:buNone/>
            </a:pPr>
            <a:r>
              <a:rPr lang="en-US" sz="22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sz="2200" b="1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abA</a:t>
            </a:r>
            <a:r>
              <a:rPr lang="en-US" sz="22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marL="0" indent="0">
              <a:buNone/>
            </a:pPr>
            <a:r>
              <a:rPr lang="en-US" sz="22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sz="2200" b="1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ab</a:t>
            </a:r>
            <a:endParaRPr lang="en-US" sz="2200" b="1" dirty="0" smtClean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2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sz="2200" b="1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bAB</a:t>
            </a:r>
            <a:r>
              <a:rPr lang="en-US" sz="22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marL="0" indent="0">
              <a:buNone/>
            </a:pPr>
            <a:r>
              <a:rPr lang="en-US" sz="22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sz="2200" b="1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bB</a:t>
            </a:r>
            <a:r>
              <a:rPr lang="en-US" sz="22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marL="0" indent="0">
              <a:buNone/>
            </a:pPr>
            <a:r>
              <a:rPr lang="en-US" sz="22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sz="2200" b="1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sz="22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marL="0" indent="0">
              <a:buNone/>
            </a:pPr>
            <a:r>
              <a:rPr lang="en-US" sz="22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sz="22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b</a:t>
            </a:r>
          </a:p>
          <a:p>
            <a:pPr marL="0" indent="0">
              <a:buNone/>
            </a:pPr>
            <a:r>
              <a:rPr lang="en-US" sz="22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B  → </a:t>
            </a:r>
            <a:r>
              <a:rPr lang="en-US" sz="2200" b="1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BAa</a:t>
            </a:r>
            <a:r>
              <a:rPr lang="en-US" sz="22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indent="0">
              <a:buNone/>
            </a:pPr>
            <a:r>
              <a:rPr lang="en-US" sz="22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sz="22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200" b="1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sz="22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marL="0" indent="0">
              <a:buNone/>
            </a:pPr>
            <a:r>
              <a:rPr lang="en-US" sz="22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sz="22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2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Ba  </a:t>
            </a:r>
          </a:p>
          <a:p>
            <a:pPr marL="0" indent="0">
              <a:buNone/>
            </a:pPr>
            <a:r>
              <a:rPr lang="en-US" sz="22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B  → </a:t>
            </a:r>
            <a:r>
              <a:rPr lang="en-US" sz="22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  </a:t>
            </a:r>
          </a:p>
          <a:p>
            <a:pPr marL="0" indent="0">
              <a:buNone/>
            </a:pPr>
            <a:r>
              <a:rPr lang="en-US" sz="22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B  → </a:t>
            </a:r>
            <a:r>
              <a:rPr lang="en-US" sz="22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 </a:t>
            </a:r>
          </a:p>
        </p:txBody>
      </p:sp>
    </p:spTree>
    <p:extLst>
      <p:ext uri="{BB962C8B-B14F-4D97-AF65-F5344CB8AC3E}">
        <p14:creationId xmlns:p14="http://schemas.microsoft.com/office/powerpoint/2010/main" val="2578431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 animBg="1"/>
      <p:bldP spid="19" grpId="0" animBg="1"/>
      <p:bldP spid="20" grpId="0" animBg="1"/>
      <p:bldP spid="2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0" y="723239"/>
            <a:ext cx="1703697" cy="61347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sz="2200" b="1" dirty="0" err="1" smtClean="0">
                <a:latin typeface="Times New Roman" pitchFamily="18" charset="0"/>
                <a:cs typeface="Times New Roman" pitchFamily="18" charset="0"/>
              </a:rPr>
              <a:t>abAB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marL="0" indent="0"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sz="2200" b="1" dirty="0" err="1" smtClean="0">
                <a:latin typeface="Times New Roman" pitchFamily="18" charset="0"/>
                <a:cs typeface="Times New Roman" pitchFamily="18" charset="0"/>
              </a:rPr>
              <a:t>abB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marL="0" indent="0"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sz="2200" b="1" dirty="0" err="1" smtClean="0">
                <a:latin typeface="Times New Roman" pitchFamily="18" charset="0"/>
                <a:cs typeface="Times New Roman" pitchFamily="18" charset="0"/>
              </a:rPr>
              <a:t>abA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marL="0" indent="0"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sz="2200" b="1" dirty="0" err="1" smtClean="0">
                <a:latin typeface="Times New Roman" pitchFamily="18" charset="0"/>
                <a:cs typeface="Times New Roman" pitchFamily="18" charset="0"/>
              </a:rPr>
              <a:t>ab</a:t>
            </a:r>
            <a:endParaRPr lang="en-US" sz="22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sz="2200" b="1" dirty="0" err="1" smtClean="0">
                <a:latin typeface="Times New Roman" pitchFamily="18" charset="0"/>
                <a:cs typeface="Times New Roman" pitchFamily="18" charset="0"/>
              </a:rPr>
              <a:t>bAB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marL="0" indent="0"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sz="2200" b="1" dirty="0" err="1" smtClean="0">
                <a:latin typeface="Times New Roman" pitchFamily="18" charset="0"/>
                <a:cs typeface="Times New Roman" pitchFamily="18" charset="0"/>
              </a:rPr>
              <a:t>bB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marL="0" indent="0"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sz="2200" b="1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marL="0" indent="0"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b</a:t>
            </a:r>
          </a:p>
          <a:p>
            <a:pPr marL="0" indent="0">
              <a:buNone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B  → </a:t>
            </a:r>
            <a:r>
              <a:rPr lang="en-US" sz="2200" b="1" dirty="0" err="1" smtClean="0">
                <a:latin typeface="Times New Roman" pitchFamily="18" charset="0"/>
                <a:cs typeface="Times New Roman" pitchFamily="18" charset="0"/>
              </a:rPr>
              <a:t>BAa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indent="0">
              <a:buNone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200" b="1" dirty="0" err="1" smtClean="0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marL="0" indent="0">
              <a:buNone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Ba  </a:t>
            </a:r>
          </a:p>
          <a:p>
            <a:pPr marL="0" indent="0"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B  → 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a  </a:t>
            </a:r>
          </a:p>
          <a:p>
            <a:pPr marL="0" indent="0"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B  → 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A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38233" y="33698"/>
            <a:ext cx="2947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Single Variable Production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2677236" y="723238"/>
            <a:ext cx="1703697" cy="61347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sz="2200" b="1" dirty="0" err="1" smtClean="0">
                <a:latin typeface="Times New Roman" pitchFamily="18" charset="0"/>
                <a:cs typeface="Times New Roman" pitchFamily="18" charset="0"/>
              </a:rPr>
              <a:t>abAB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marL="0" indent="0"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sz="2200" b="1" dirty="0" err="1" smtClean="0">
                <a:latin typeface="Times New Roman" pitchFamily="18" charset="0"/>
                <a:cs typeface="Times New Roman" pitchFamily="18" charset="0"/>
              </a:rPr>
              <a:t>abB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marL="0" indent="0"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sz="2200" b="1" dirty="0" err="1" smtClean="0">
                <a:latin typeface="Times New Roman" pitchFamily="18" charset="0"/>
                <a:cs typeface="Times New Roman" pitchFamily="18" charset="0"/>
              </a:rPr>
              <a:t>abA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marL="0" indent="0"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sz="2200" b="1" dirty="0" err="1" smtClean="0">
                <a:latin typeface="Times New Roman" pitchFamily="18" charset="0"/>
                <a:cs typeface="Times New Roman" pitchFamily="18" charset="0"/>
              </a:rPr>
              <a:t>ab</a:t>
            </a:r>
            <a:endParaRPr lang="en-US" sz="22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sz="2200" b="1" dirty="0" err="1" smtClean="0">
                <a:latin typeface="Times New Roman" pitchFamily="18" charset="0"/>
                <a:cs typeface="Times New Roman" pitchFamily="18" charset="0"/>
              </a:rPr>
              <a:t>bAB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marL="0" indent="0"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sz="2200" b="1" dirty="0" err="1" smtClean="0">
                <a:latin typeface="Times New Roman" pitchFamily="18" charset="0"/>
                <a:cs typeface="Times New Roman" pitchFamily="18" charset="0"/>
              </a:rPr>
              <a:t>bB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marL="0" indent="0"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sz="2200" b="1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marL="0" indent="0"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b</a:t>
            </a:r>
          </a:p>
          <a:p>
            <a:pPr marL="0" indent="0">
              <a:buNone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B  → </a:t>
            </a:r>
            <a:r>
              <a:rPr lang="en-US" sz="2200" b="1" dirty="0" err="1" smtClean="0">
                <a:latin typeface="Times New Roman" pitchFamily="18" charset="0"/>
                <a:cs typeface="Times New Roman" pitchFamily="18" charset="0"/>
              </a:rPr>
              <a:t>BAa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indent="0">
              <a:buNone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200" b="1" dirty="0" err="1" smtClean="0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marL="0" indent="0">
              <a:buNone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Ba  </a:t>
            </a:r>
          </a:p>
          <a:p>
            <a:pPr marL="0" indent="0"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B  → 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a  </a:t>
            </a:r>
          </a:p>
          <a:p>
            <a:pPr marL="0" indent="0">
              <a:buNone/>
            </a:pPr>
            <a:r>
              <a:rPr lang="en-US" sz="2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  → </a:t>
            </a:r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9618" y="33698"/>
            <a:ext cx="29479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After eliminating Single Variable Production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646692" y="538573"/>
            <a:ext cx="313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B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637593" y="1409427"/>
            <a:ext cx="313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A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614016" y="2158203"/>
            <a:ext cx="696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solidFill>
                  <a:srgbClr val="FF0000"/>
                </a:solidFill>
              </a:rPr>
              <a:t>bAB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539790" y="2169997"/>
            <a:ext cx="500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solidFill>
                  <a:srgbClr val="FF0000"/>
                </a:solidFill>
              </a:rPr>
              <a:t>bB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190323" y="2169997"/>
            <a:ext cx="598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solidFill>
                  <a:srgbClr val="FF0000"/>
                </a:solidFill>
              </a:rPr>
              <a:t>bA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788551" y="2158203"/>
            <a:ext cx="313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b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4" name="Content Placeholder 2"/>
          <p:cNvSpPr txBox="1">
            <a:spLocks/>
          </p:cNvSpPr>
          <p:nvPr/>
        </p:nvSpPr>
        <p:spPr>
          <a:xfrm>
            <a:off x="5791199" y="680029"/>
            <a:ext cx="3298209" cy="61347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sz="2200" b="1" dirty="0" err="1" smtClean="0">
                <a:latin typeface="Times New Roman" pitchFamily="18" charset="0"/>
                <a:cs typeface="Times New Roman" pitchFamily="18" charset="0"/>
              </a:rPr>
              <a:t>abAB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marL="0" indent="0"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sz="2200" b="1" dirty="0" err="1" smtClean="0">
                <a:latin typeface="Times New Roman" pitchFamily="18" charset="0"/>
                <a:cs typeface="Times New Roman" pitchFamily="18" charset="0"/>
              </a:rPr>
              <a:t>abB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marL="0" indent="0"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sz="2200" b="1" dirty="0" err="1" smtClean="0">
                <a:latin typeface="Times New Roman" pitchFamily="18" charset="0"/>
                <a:cs typeface="Times New Roman" pitchFamily="18" charset="0"/>
              </a:rPr>
              <a:t>abA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marL="0" indent="0"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sz="2200" b="1" dirty="0" err="1" smtClean="0">
                <a:latin typeface="Times New Roman" pitchFamily="18" charset="0"/>
                <a:cs typeface="Times New Roman" pitchFamily="18" charset="0"/>
              </a:rPr>
              <a:t>ab</a:t>
            </a:r>
            <a:endParaRPr lang="en-US" sz="22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sz="2200" b="1" dirty="0" err="1" smtClean="0">
                <a:latin typeface="Times New Roman" pitchFamily="18" charset="0"/>
                <a:cs typeface="Times New Roman" pitchFamily="18" charset="0"/>
              </a:rPr>
              <a:t>bAB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marL="0" indent="0"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sz="2200" b="1" dirty="0" err="1" smtClean="0">
                <a:latin typeface="Times New Roman" pitchFamily="18" charset="0"/>
                <a:cs typeface="Times New Roman" pitchFamily="18" charset="0"/>
              </a:rPr>
              <a:t>bB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marL="0" indent="0"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sz="2200" b="1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marL="0" indent="0"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b</a:t>
            </a:r>
          </a:p>
          <a:p>
            <a:pPr marL="0" indent="0">
              <a:buNone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B  → </a:t>
            </a:r>
            <a:r>
              <a:rPr lang="en-US" sz="2200" b="1" dirty="0" err="1" smtClean="0">
                <a:latin typeface="Times New Roman" pitchFamily="18" charset="0"/>
                <a:cs typeface="Times New Roman" pitchFamily="18" charset="0"/>
              </a:rPr>
              <a:t>BAa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indent="0">
              <a:buNone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200" b="1" dirty="0" err="1" smtClean="0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marL="0" indent="0">
              <a:buNone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Ba  </a:t>
            </a:r>
          </a:p>
          <a:p>
            <a:pPr marL="0" indent="0"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B  → 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a  </a:t>
            </a:r>
          </a:p>
          <a:p>
            <a:pPr marL="0" indent="0">
              <a:buNone/>
            </a:pPr>
            <a:r>
              <a:rPr lang="en-US" sz="2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200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bAB</a:t>
            </a:r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|  </a:t>
            </a:r>
            <a:r>
              <a:rPr lang="en-US" sz="2200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bB</a:t>
            </a:r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|  </a:t>
            </a:r>
            <a:r>
              <a:rPr lang="en-US" sz="2200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|  b 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9817289" y="860570"/>
            <a:ext cx="0" cy="610691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9810464" y="1778759"/>
            <a:ext cx="978087" cy="445377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9817289" y="1778759"/>
            <a:ext cx="555010" cy="445377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9801366" y="1765314"/>
            <a:ext cx="0" cy="458822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14" idx="2"/>
          </p:cNvCxnSpPr>
          <p:nvPr/>
        </p:nvCxnSpPr>
        <p:spPr>
          <a:xfrm flipH="1">
            <a:off x="9089409" y="1778759"/>
            <a:ext cx="705134" cy="391238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Multiply 1"/>
          <p:cNvSpPr/>
          <p:nvPr/>
        </p:nvSpPr>
        <p:spPr>
          <a:xfrm>
            <a:off x="9668864" y="1346581"/>
            <a:ext cx="299114" cy="600501"/>
          </a:xfrm>
          <a:prstGeom prst="mathMultiply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500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9" grpId="0"/>
      <p:bldP spid="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" y="0"/>
            <a:ext cx="1649104" cy="6858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abAB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abB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abA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ab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bAB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bB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</a:t>
            </a:r>
          </a:p>
          <a:p>
            <a:pPr marL="0" indent="0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  →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BAa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indent="0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marL="0" indent="0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Ba  </a:t>
            </a: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B  →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  </a:t>
            </a: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bAB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B  →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bB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  </a:t>
            </a: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B  →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   </a:t>
            </a: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B  →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03693" y="1713762"/>
            <a:ext cx="1464861" cy="3139321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Conversion of Terminal into </a:t>
            </a:r>
          </a:p>
          <a:p>
            <a:r>
              <a:rPr lang="en-US" dirty="0" smtClean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non-Terminal in Mix Production</a:t>
            </a:r>
          </a:p>
          <a:p>
            <a:endParaRPr lang="en-US" dirty="0">
              <a:solidFill>
                <a:srgbClr val="FFC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You can make new production if necessary</a:t>
            </a:r>
            <a:endParaRPr lang="en-US" dirty="0">
              <a:solidFill>
                <a:srgbClr val="FFC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04514" y="2782669"/>
            <a:ext cx="1464861" cy="646331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Terminal are</a:t>
            </a:r>
          </a:p>
          <a:p>
            <a:r>
              <a:rPr lang="en-US" b="1" dirty="0" smtClean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a  and  b</a:t>
            </a:r>
            <a:endParaRPr lang="en-US" b="1" dirty="0">
              <a:solidFill>
                <a:srgbClr val="FFC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3755410" y="0"/>
            <a:ext cx="1649104" cy="6858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b="1" dirty="0" err="1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abAB</a:t>
            </a:r>
            <a:r>
              <a:rPr lang="en-US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b="1" dirty="0" err="1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abB</a:t>
            </a:r>
            <a:r>
              <a:rPr lang="en-US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b="1" dirty="0" err="1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abA</a:t>
            </a:r>
            <a:r>
              <a:rPr lang="en-US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b="1" dirty="0" err="1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ab</a:t>
            </a:r>
            <a:endParaRPr lang="en-US" b="1" dirty="0" smtClean="0">
              <a:solidFill>
                <a:schemeClr val="accent1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b="1" dirty="0" err="1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bAB</a:t>
            </a:r>
            <a:r>
              <a:rPr lang="en-US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b="1" dirty="0" err="1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bB</a:t>
            </a:r>
            <a:r>
              <a:rPr lang="en-US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b="1" dirty="0" err="1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B  → </a:t>
            </a:r>
            <a:r>
              <a:rPr lang="en-US" b="1" dirty="0" err="1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BAa</a:t>
            </a:r>
            <a:r>
              <a:rPr lang="en-US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b="1" dirty="0" err="1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Ba  </a:t>
            </a: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B  →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 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b="1" dirty="0" err="1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bAB</a:t>
            </a:r>
            <a:r>
              <a:rPr lang="en-US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B  → </a:t>
            </a:r>
            <a:r>
              <a:rPr lang="en-US" b="1" dirty="0" err="1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bB</a:t>
            </a:r>
            <a:r>
              <a:rPr lang="en-US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B  → </a:t>
            </a:r>
            <a:r>
              <a:rPr lang="en-US" b="1" dirty="0" err="1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</a:t>
            </a: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B  →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5639" y="1226824"/>
            <a:ext cx="1464861" cy="646331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X </a:t>
            </a:r>
            <a:r>
              <a:rPr lang="en-US" b="1" dirty="0" smtClean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a</a:t>
            </a:r>
          </a:p>
          <a:p>
            <a:r>
              <a:rPr lang="en-US" b="1" dirty="0" smtClean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Y  b</a:t>
            </a:r>
            <a:endParaRPr lang="en-US" b="1" dirty="0">
              <a:solidFill>
                <a:srgbClr val="FFC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7715535" y="3412"/>
            <a:ext cx="1649104" cy="6858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  → XYAB  </a:t>
            </a: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XYB  </a:t>
            </a: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XYA  </a:t>
            </a: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XY</a:t>
            </a:r>
          </a:p>
          <a:p>
            <a:pPr marL="0" indent="0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  → YAB  </a:t>
            </a: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YB  </a:t>
            </a: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YA  </a:t>
            </a: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</a:t>
            </a:r>
          </a:p>
          <a:p>
            <a:pPr marL="0" indent="0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  → BAX </a:t>
            </a:r>
          </a:p>
          <a:p>
            <a:pPr marL="0" indent="0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AX  </a:t>
            </a:r>
          </a:p>
          <a:p>
            <a:pPr marL="0" indent="0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BX  </a:t>
            </a: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B  →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  </a:t>
            </a: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→ YAB  </a:t>
            </a: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B  →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YB   </a:t>
            </a: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B  →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YA    </a:t>
            </a: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B  →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 </a:t>
            </a:r>
          </a:p>
        </p:txBody>
      </p:sp>
    </p:spTree>
    <p:extLst>
      <p:ext uri="{BB962C8B-B14F-4D97-AF65-F5344CB8AC3E}">
        <p14:creationId xmlns:p14="http://schemas.microsoft.com/office/powerpoint/2010/main" val="2837717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11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-25021" y="3412"/>
            <a:ext cx="1649104" cy="6858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S  → XYAB  </a:t>
            </a:r>
          </a:p>
          <a:p>
            <a:pPr marL="0" indent="0">
              <a:buNone/>
            </a:pP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XYB  </a:t>
            </a:r>
          </a:p>
          <a:p>
            <a:pPr marL="0" indent="0">
              <a:buNone/>
            </a:pP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XYA  </a:t>
            </a:r>
          </a:p>
          <a:p>
            <a:pPr marL="0" indent="0">
              <a:buNone/>
            </a:pP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XY</a:t>
            </a:r>
          </a:p>
          <a:p>
            <a:pPr marL="0" indent="0">
              <a:buNone/>
            </a:pP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A  → YAB </a:t>
            </a:r>
          </a:p>
          <a:p>
            <a:pPr marL="0" indent="0">
              <a:buNone/>
            </a:pP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YB  </a:t>
            </a:r>
          </a:p>
          <a:p>
            <a:pPr marL="0" indent="0">
              <a:buNone/>
            </a:pP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YA  </a:t>
            </a:r>
          </a:p>
          <a:p>
            <a:pPr marL="0" indent="0">
              <a:buNone/>
            </a:pP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b</a:t>
            </a:r>
          </a:p>
          <a:p>
            <a:pPr marL="0" indent="0">
              <a:buNone/>
            </a:pP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B  → BAX </a:t>
            </a:r>
          </a:p>
          <a:p>
            <a:pPr marL="0" indent="0">
              <a:buNone/>
            </a:pP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AX  </a:t>
            </a:r>
          </a:p>
          <a:p>
            <a:pPr marL="0" indent="0">
              <a:buNone/>
            </a:pP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BX  </a:t>
            </a:r>
          </a:p>
          <a:p>
            <a:pPr marL="0" indent="0">
              <a:buNone/>
            </a:pP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B  → </a:t>
            </a: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a  </a:t>
            </a:r>
          </a:p>
          <a:p>
            <a:pPr marL="0" indent="0">
              <a:buNone/>
            </a:pP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→ YAB  </a:t>
            </a:r>
          </a:p>
          <a:p>
            <a:pPr marL="0" indent="0">
              <a:buNone/>
            </a:pP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B  → </a:t>
            </a: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YB   </a:t>
            </a:r>
          </a:p>
          <a:p>
            <a:pPr marL="0" indent="0">
              <a:buNone/>
            </a:pP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B  → </a:t>
            </a: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YA    </a:t>
            </a:r>
          </a:p>
          <a:p>
            <a:pPr marL="0" indent="0">
              <a:buNone/>
            </a:pP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B  → </a:t>
            </a: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b </a:t>
            </a:r>
          </a:p>
          <a:p>
            <a:pPr marL="0" indent="0">
              <a:buNone/>
            </a:pPr>
            <a:r>
              <a:rPr lang="en-US" sz="1700" b="1" dirty="0" smtClean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X  </a:t>
            </a:r>
            <a:r>
              <a:rPr lang="en-US" sz="1700" b="1" dirty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1700" b="1" dirty="0" smtClean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</a:p>
          <a:p>
            <a:pPr marL="0" indent="0">
              <a:buNone/>
            </a:pPr>
            <a:r>
              <a:rPr lang="en-US" sz="1700" b="1" dirty="0" smtClean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Y  </a:t>
            </a:r>
            <a:r>
              <a:rPr lang="en-US" sz="1700" b="1" dirty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→ b</a:t>
            </a:r>
            <a:endParaRPr lang="en-US" sz="1700" b="1" dirty="0" smtClean="0">
              <a:solidFill>
                <a:srgbClr val="FFC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719617" y="2934269"/>
            <a:ext cx="117370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Products with single terminal</a:t>
            </a:r>
            <a:endParaRPr lang="en-US" sz="2000" dirty="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3621208" y="3412"/>
            <a:ext cx="1649104" cy="6858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S  → XYAB  </a:t>
            </a:r>
          </a:p>
          <a:p>
            <a:pPr marL="0" indent="0">
              <a:buNone/>
            </a:pP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XYB  </a:t>
            </a:r>
          </a:p>
          <a:p>
            <a:pPr marL="0" indent="0">
              <a:buNone/>
            </a:pP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XYA  </a:t>
            </a:r>
          </a:p>
          <a:p>
            <a:pPr marL="0" indent="0">
              <a:buNone/>
            </a:pP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XY</a:t>
            </a:r>
          </a:p>
          <a:p>
            <a:pPr marL="0" indent="0">
              <a:buNone/>
            </a:pP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A  → YAB  </a:t>
            </a:r>
          </a:p>
          <a:p>
            <a:pPr marL="0" indent="0">
              <a:buNone/>
            </a:pP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YB  </a:t>
            </a:r>
          </a:p>
          <a:p>
            <a:pPr marL="0" indent="0">
              <a:buNone/>
            </a:pP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YA  </a:t>
            </a:r>
          </a:p>
          <a:p>
            <a:pPr marL="0" indent="0">
              <a:buNone/>
            </a:pPr>
            <a:r>
              <a:rPr lang="en-US" sz="17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sz="1700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b</a:t>
            </a:r>
          </a:p>
          <a:p>
            <a:pPr marL="0" indent="0">
              <a:buNone/>
            </a:pP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B  → BAX </a:t>
            </a:r>
          </a:p>
          <a:p>
            <a:pPr marL="0" indent="0">
              <a:buNone/>
            </a:pP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AX  </a:t>
            </a:r>
          </a:p>
          <a:p>
            <a:pPr marL="0" indent="0">
              <a:buNone/>
            </a:pP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BX  </a:t>
            </a:r>
          </a:p>
          <a:p>
            <a:pPr marL="0" indent="0">
              <a:buNone/>
            </a:pPr>
            <a:r>
              <a:rPr lang="en-US" sz="17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B  → </a:t>
            </a:r>
            <a:r>
              <a:rPr lang="en-US" sz="1700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a  </a:t>
            </a:r>
          </a:p>
          <a:p>
            <a:pPr marL="0" indent="0">
              <a:buNone/>
            </a:pP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→ YAB  </a:t>
            </a:r>
          </a:p>
          <a:p>
            <a:pPr marL="0" indent="0">
              <a:buNone/>
            </a:pP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B  → </a:t>
            </a: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YB   </a:t>
            </a:r>
          </a:p>
          <a:p>
            <a:pPr marL="0" indent="0">
              <a:buNone/>
            </a:pP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B  → </a:t>
            </a: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YA    </a:t>
            </a:r>
          </a:p>
          <a:p>
            <a:pPr marL="0" indent="0">
              <a:buNone/>
            </a:pPr>
            <a:r>
              <a:rPr lang="en-US" sz="17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B  → </a:t>
            </a:r>
            <a:r>
              <a:rPr lang="en-US" sz="1700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b </a:t>
            </a:r>
          </a:p>
          <a:p>
            <a:pPr marL="0" indent="0">
              <a:buNone/>
            </a:pPr>
            <a:r>
              <a:rPr lang="en-US" sz="1700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X  </a:t>
            </a:r>
            <a:r>
              <a:rPr lang="en-US" sz="17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1700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a</a:t>
            </a:r>
          </a:p>
          <a:p>
            <a:pPr marL="0" indent="0">
              <a:buNone/>
            </a:pPr>
            <a:r>
              <a:rPr lang="en-US" sz="1700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Y  </a:t>
            </a:r>
            <a:r>
              <a:rPr lang="en-US" sz="17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→ b</a:t>
            </a:r>
            <a:endParaRPr lang="en-US" sz="1700" b="1" dirty="0" smtClean="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652447" y="2934268"/>
            <a:ext cx="15126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Products with Two non-terminal</a:t>
            </a:r>
            <a:endParaRPr lang="en-US" sz="20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7772399" y="3412"/>
            <a:ext cx="1649104" cy="6858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S  → XYAB  </a:t>
            </a:r>
          </a:p>
          <a:p>
            <a:pPr marL="0" indent="0">
              <a:buNone/>
            </a:pP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XYB  </a:t>
            </a:r>
          </a:p>
          <a:p>
            <a:pPr marL="0" indent="0">
              <a:buNone/>
            </a:pP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XYA  </a:t>
            </a:r>
          </a:p>
          <a:p>
            <a:pPr marL="0" indent="0">
              <a:buNone/>
            </a:pPr>
            <a:r>
              <a:rPr lang="en-US" sz="17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sz="17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XY</a:t>
            </a:r>
          </a:p>
          <a:p>
            <a:pPr marL="0" indent="0">
              <a:buNone/>
            </a:pP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A  → YAB  </a:t>
            </a:r>
          </a:p>
          <a:p>
            <a:pPr marL="0" indent="0">
              <a:buNone/>
            </a:pPr>
            <a:r>
              <a:rPr lang="en-US" sz="17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sz="17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YB  </a:t>
            </a:r>
          </a:p>
          <a:p>
            <a:pPr marL="0" indent="0">
              <a:buNone/>
            </a:pPr>
            <a:r>
              <a:rPr lang="en-US" sz="17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sz="17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YA  </a:t>
            </a:r>
          </a:p>
          <a:p>
            <a:pPr marL="0" indent="0">
              <a:buNone/>
            </a:pPr>
            <a:r>
              <a:rPr lang="en-US" sz="17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sz="1700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b</a:t>
            </a:r>
          </a:p>
          <a:p>
            <a:pPr marL="0" indent="0">
              <a:buNone/>
            </a:pP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B  → BAX </a:t>
            </a:r>
          </a:p>
          <a:p>
            <a:pPr marL="0" indent="0">
              <a:buNone/>
            </a:pPr>
            <a:r>
              <a:rPr lang="en-US" sz="17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sz="17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17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AX  </a:t>
            </a:r>
          </a:p>
          <a:p>
            <a:pPr marL="0" indent="0">
              <a:buNone/>
            </a:pPr>
            <a:r>
              <a:rPr lang="en-US" sz="17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sz="17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17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BX  </a:t>
            </a:r>
          </a:p>
          <a:p>
            <a:pPr marL="0" indent="0">
              <a:buNone/>
            </a:pPr>
            <a:r>
              <a:rPr lang="en-US" sz="17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B  → </a:t>
            </a:r>
            <a:r>
              <a:rPr lang="en-US" sz="1700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a  </a:t>
            </a:r>
          </a:p>
          <a:p>
            <a:pPr marL="0" indent="0">
              <a:buNone/>
            </a:pP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→ YAB  </a:t>
            </a:r>
          </a:p>
          <a:p>
            <a:pPr marL="0" indent="0">
              <a:buNone/>
            </a:pPr>
            <a:r>
              <a:rPr lang="en-US" sz="17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  → </a:t>
            </a:r>
            <a:r>
              <a:rPr lang="en-US" sz="17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YB   </a:t>
            </a:r>
          </a:p>
          <a:p>
            <a:pPr marL="0" indent="0">
              <a:buNone/>
            </a:pPr>
            <a:r>
              <a:rPr lang="en-US" sz="17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  → </a:t>
            </a:r>
            <a:r>
              <a:rPr lang="en-US" sz="17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YA    </a:t>
            </a:r>
          </a:p>
          <a:p>
            <a:pPr marL="0" indent="0">
              <a:buNone/>
            </a:pPr>
            <a:r>
              <a:rPr lang="en-US" sz="17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B  → </a:t>
            </a:r>
            <a:r>
              <a:rPr lang="en-US" sz="1700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b </a:t>
            </a:r>
          </a:p>
          <a:p>
            <a:pPr marL="0" indent="0">
              <a:buNone/>
            </a:pPr>
            <a:r>
              <a:rPr lang="en-US" sz="1700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X  </a:t>
            </a:r>
            <a:r>
              <a:rPr lang="en-US" sz="17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1700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a</a:t>
            </a:r>
          </a:p>
          <a:p>
            <a:pPr marL="0" indent="0">
              <a:buNone/>
            </a:pPr>
            <a:r>
              <a:rPr lang="en-US" sz="1700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Y  </a:t>
            </a:r>
            <a:r>
              <a:rPr lang="en-US" sz="17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→ b</a:t>
            </a:r>
            <a:endParaRPr lang="en-US" sz="1700" b="1" dirty="0" smtClean="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9885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31843" y="3412"/>
            <a:ext cx="1649104" cy="6858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S  → XYAB  </a:t>
            </a:r>
          </a:p>
          <a:p>
            <a:pPr marL="0" indent="0">
              <a:buNone/>
            </a:pP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XYB  </a:t>
            </a:r>
          </a:p>
          <a:p>
            <a:pPr marL="0" indent="0">
              <a:buNone/>
            </a:pP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XYA  </a:t>
            </a:r>
          </a:p>
          <a:p>
            <a:pPr marL="0" indent="0">
              <a:buNone/>
            </a:pPr>
            <a:r>
              <a:rPr lang="en-US" sz="17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sz="17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XY</a:t>
            </a:r>
          </a:p>
          <a:p>
            <a:pPr marL="0" indent="0">
              <a:buNone/>
            </a:pP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A  → YAB  </a:t>
            </a:r>
          </a:p>
          <a:p>
            <a:pPr marL="0" indent="0">
              <a:buNone/>
            </a:pPr>
            <a:r>
              <a:rPr lang="en-US" sz="17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sz="17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YB  </a:t>
            </a:r>
          </a:p>
          <a:p>
            <a:pPr marL="0" indent="0">
              <a:buNone/>
            </a:pPr>
            <a:r>
              <a:rPr lang="en-US" sz="17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sz="17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YA  </a:t>
            </a:r>
          </a:p>
          <a:p>
            <a:pPr marL="0" indent="0">
              <a:buNone/>
            </a:pPr>
            <a:r>
              <a:rPr lang="en-US" sz="17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sz="1700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b</a:t>
            </a:r>
          </a:p>
          <a:p>
            <a:pPr marL="0" indent="0">
              <a:buNone/>
            </a:pP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B  → BAX </a:t>
            </a:r>
          </a:p>
          <a:p>
            <a:pPr marL="0" indent="0">
              <a:buNone/>
            </a:pPr>
            <a:r>
              <a:rPr lang="en-US" sz="17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sz="17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17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AX  </a:t>
            </a:r>
          </a:p>
          <a:p>
            <a:pPr marL="0" indent="0">
              <a:buNone/>
            </a:pPr>
            <a:r>
              <a:rPr lang="en-US" sz="17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sz="17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17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BX  </a:t>
            </a:r>
          </a:p>
          <a:p>
            <a:pPr marL="0" indent="0">
              <a:buNone/>
            </a:pPr>
            <a:r>
              <a:rPr lang="en-US" sz="17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B  → </a:t>
            </a:r>
            <a:r>
              <a:rPr lang="en-US" sz="1700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a  </a:t>
            </a:r>
          </a:p>
          <a:p>
            <a:pPr marL="0" indent="0">
              <a:buNone/>
            </a:pP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→ YAB  </a:t>
            </a:r>
          </a:p>
          <a:p>
            <a:pPr marL="0" indent="0">
              <a:buNone/>
            </a:pPr>
            <a:r>
              <a:rPr lang="en-US" sz="17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  → </a:t>
            </a:r>
            <a:r>
              <a:rPr lang="en-US" sz="17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YB   </a:t>
            </a:r>
          </a:p>
          <a:p>
            <a:pPr marL="0" indent="0">
              <a:buNone/>
            </a:pPr>
            <a:r>
              <a:rPr lang="en-US" sz="17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  → </a:t>
            </a:r>
            <a:r>
              <a:rPr lang="en-US" sz="17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YA    </a:t>
            </a:r>
          </a:p>
          <a:p>
            <a:pPr marL="0" indent="0">
              <a:buNone/>
            </a:pPr>
            <a:r>
              <a:rPr lang="en-US" sz="17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B  → </a:t>
            </a:r>
            <a:r>
              <a:rPr lang="en-US" sz="1700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b </a:t>
            </a:r>
          </a:p>
          <a:p>
            <a:pPr marL="0" indent="0">
              <a:buNone/>
            </a:pPr>
            <a:r>
              <a:rPr lang="en-US" sz="1700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X  </a:t>
            </a:r>
            <a:r>
              <a:rPr lang="en-US" sz="17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1700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a</a:t>
            </a:r>
          </a:p>
          <a:p>
            <a:pPr marL="0" indent="0">
              <a:buNone/>
            </a:pPr>
            <a:r>
              <a:rPr lang="en-US" sz="1700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Y  </a:t>
            </a:r>
            <a:r>
              <a:rPr lang="en-US" sz="17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→ b</a:t>
            </a:r>
            <a:endParaRPr lang="en-US" sz="1700" b="1" dirty="0" smtClean="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78424" y="1955083"/>
            <a:ext cx="14807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New Rules</a:t>
            </a:r>
          </a:p>
          <a:p>
            <a:endParaRPr lang="en-US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  </a:t>
            </a: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XY</a:t>
            </a:r>
          </a:p>
          <a:p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Q  AB</a:t>
            </a:r>
            <a:endParaRPr lang="en-US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3418769" y="3412"/>
            <a:ext cx="1649104" cy="6858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S  →    </a:t>
            </a:r>
          </a:p>
          <a:p>
            <a:pPr marL="0" indent="0">
              <a:buNone/>
            </a:pP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marL="0" indent="0">
              <a:buNone/>
            </a:pP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   </a:t>
            </a:r>
          </a:p>
          <a:p>
            <a:pPr marL="0" indent="0">
              <a:buNone/>
            </a:pPr>
            <a:r>
              <a:rPr lang="en-US" sz="17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sz="17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XY</a:t>
            </a:r>
          </a:p>
          <a:p>
            <a:pPr marL="0" indent="0">
              <a:buNone/>
            </a:pP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A  → Y</a:t>
            </a:r>
            <a:r>
              <a:rPr lang="en-US" sz="17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marL="0" indent="0">
              <a:buNone/>
            </a:pPr>
            <a:r>
              <a:rPr lang="en-US" sz="17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sz="17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YB  </a:t>
            </a:r>
          </a:p>
          <a:p>
            <a:pPr marL="0" indent="0">
              <a:buNone/>
            </a:pPr>
            <a:r>
              <a:rPr lang="en-US" sz="17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sz="17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YA  </a:t>
            </a:r>
          </a:p>
          <a:p>
            <a:pPr marL="0" indent="0">
              <a:buNone/>
            </a:pPr>
            <a:r>
              <a:rPr lang="en-US" sz="17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sz="1700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b</a:t>
            </a:r>
          </a:p>
          <a:p>
            <a:pPr marL="0" indent="0">
              <a:buNone/>
            </a:pP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B  → BAX </a:t>
            </a:r>
          </a:p>
          <a:p>
            <a:pPr marL="0" indent="0">
              <a:buNone/>
            </a:pPr>
            <a:r>
              <a:rPr lang="en-US" sz="17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sz="17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17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AX  </a:t>
            </a:r>
          </a:p>
          <a:p>
            <a:pPr marL="0" indent="0">
              <a:buNone/>
            </a:pPr>
            <a:r>
              <a:rPr lang="en-US" sz="17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sz="17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17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BX  </a:t>
            </a:r>
          </a:p>
          <a:p>
            <a:pPr marL="0" indent="0">
              <a:buNone/>
            </a:pPr>
            <a:r>
              <a:rPr lang="en-US" sz="17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B  → </a:t>
            </a:r>
            <a:r>
              <a:rPr lang="en-US" sz="1700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a  </a:t>
            </a:r>
          </a:p>
          <a:p>
            <a:pPr marL="0" indent="0">
              <a:buNone/>
            </a:pP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→ Y  </a:t>
            </a:r>
          </a:p>
          <a:p>
            <a:pPr marL="0" indent="0">
              <a:buNone/>
            </a:pPr>
            <a:r>
              <a:rPr lang="en-US" sz="17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  → </a:t>
            </a:r>
            <a:r>
              <a:rPr lang="en-US" sz="17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YB   </a:t>
            </a:r>
          </a:p>
          <a:p>
            <a:pPr marL="0" indent="0">
              <a:buNone/>
            </a:pPr>
            <a:r>
              <a:rPr lang="en-US" sz="17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  → </a:t>
            </a:r>
            <a:r>
              <a:rPr lang="en-US" sz="17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YA    </a:t>
            </a:r>
          </a:p>
          <a:p>
            <a:pPr marL="0" indent="0">
              <a:buNone/>
            </a:pPr>
            <a:r>
              <a:rPr lang="en-US" sz="17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B  → </a:t>
            </a:r>
            <a:r>
              <a:rPr lang="en-US" sz="1700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b </a:t>
            </a:r>
          </a:p>
          <a:p>
            <a:pPr marL="0" indent="0">
              <a:buNone/>
            </a:pPr>
            <a:r>
              <a:rPr lang="en-US" sz="1700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X  </a:t>
            </a:r>
            <a:r>
              <a:rPr lang="en-US" sz="17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1700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a</a:t>
            </a:r>
          </a:p>
          <a:p>
            <a:pPr marL="0" indent="0">
              <a:buNone/>
            </a:pPr>
            <a:r>
              <a:rPr lang="en-US" sz="1700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Y  </a:t>
            </a:r>
            <a:r>
              <a:rPr lang="en-US" sz="17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→ b</a:t>
            </a:r>
            <a:endParaRPr lang="en-US" sz="1700" b="1" dirty="0" smtClean="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5356753" y="3412"/>
            <a:ext cx="1649104" cy="6858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sz="17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  →  PQ  </a:t>
            </a:r>
          </a:p>
          <a:p>
            <a:pPr marL="0" indent="0">
              <a:buNone/>
            </a:pPr>
            <a:r>
              <a:rPr lang="en-US" sz="17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sz="17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PB  </a:t>
            </a:r>
          </a:p>
          <a:p>
            <a:pPr marL="0" indent="0">
              <a:buNone/>
            </a:pPr>
            <a:r>
              <a:rPr lang="en-US" sz="17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sz="17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PA  </a:t>
            </a:r>
          </a:p>
          <a:p>
            <a:pPr marL="0" indent="0">
              <a:buNone/>
            </a:pPr>
            <a:r>
              <a:rPr lang="en-US" sz="17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sz="17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XY</a:t>
            </a:r>
          </a:p>
          <a:p>
            <a:pPr marL="0" indent="0">
              <a:buNone/>
            </a:pPr>
            <a:r>
              <a:rPr lang="en-US" sz="17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  → YQ</a:t>
            </a: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marL="0" indent="0">
              <a:buNone/>
            </a:pPr>
            <a:r>
              <a:rPr lang="en-US" sz="17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sz="17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YB  </a:t>
            </a:r>
          </a:p>
          <a:p>
            <a:pPr marL="0" indent="0">
              <a:buNone/>
            </a:pPr>
            <a:r>
              <a:rPr lang="en-US" sz="17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sz="17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YA  </a:t>
            </a:r>
          </a:p>
          <a:p>
            <a:pPr marL="0" indent="0">
              <a:buNone/>
            </a:pPr>
            <a:r>
              <a:rPr lang="en-US" sz="17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sz="1700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b</a:t>
            </a:r>
          </a:p>
          <a:p>
            <a:pPr marL="0" indent="0">
              <a:buNone/>
            </a:pP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B  → BAX </a:t>
            </a:r>
          </a:p>
          <a:p>
            <a:pPr marL="0" indent="0">
              <a:buNone/>
            </a:pPr>
            <a:r>
              <a:rPr lang="en-US" sz="17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sz="17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17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AX  </a:t>
            </a:r>
          </a:p>
          <a:p>
            <a:pPr marL="0" indent="0">
              <a:buNone/>
            </a:pPr>
            <a:r>
              <a:rPr lang="en-US" sz="17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sz="17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17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BX  </a:t>
            </a:r>
          </a:p>
          <a:p>
            <a:pPr marL="0" indent="0">
              <a:buNone/>
            </a:pPr>
            <a:r>
              <a:rPr lang="en-US" sz="17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B  → </a:t>
            </a:r>
            <a:r>
              <a:rPr lang="en-US" sz="1700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a  </a:t>
            </a:r>
          </a:p>
          <a:p>
            <a:pPr marL="0" indent="0">
              <a:buNone/>
            </a:pPr>
            <a:r>
              <a:rPr lang="en-US" sz="17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sz="17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YQ</a:t>
            </a: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marL="0" indent="0">
              <a:buNone/>
            </a:pPr>
            <a:r>
              <a:rPr lang="en-US" sz="17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  → </a:t>
            </a:r>
            <a:r>
              <a:rPr lang="en-US" sz="17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YB   </a:t>
            </a:r>
          </a:p>
          <a:p>
            <a:pPr marL="0" indent="0">
              <a:buNone/>
            </a:pPr>
            <a:r>
              <a:rPr lang="en-US" sz="17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  → </a:t>
            </a:r>
            <a:r>
              <a:rPr lang="en-US" sz="17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YA    </a:t>
            </a:r>
          </a:p>
          <a:p>
            <a:pPr marL="0" indent="0">
              <a:buNone/>
            </a:pPr>
            <a:r>
              <a:rPr lang="en-US" sz="17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B  → </a:t>
            </a:r>
            <a:r>
              <a:rPr lang="en-US" sz="1700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b </a:t>
            </a:r>
          </a:p>
          <a:p>
            <a:pPr marL="0" indent="0">
              <a:buNone/>
            </a:pPr>
            <a:r>
              <a:rPr lang="en-US" sz="1700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X  </a:t>
            </a:r>
            <a:r>
              <a:rPr lang="en-US" sz="17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1700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a</a:t>
            </a:r>
          </a:p>
          <a:p>
            <a:pPr marL="0" indent="0">
              <a:buNone/>
            </a:pPr>
            <a:r>
              <a:rPr lang="en-US" sz="1700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Y  </a:t>
            </a:r>
            <a:r>
              <a:rPr lang="en-US" sz="17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→ b</a:t>
            </a:r>
            <a:endParaRPr lang="en-US" sz="1700" b="1" dirty="0" smtClean="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183280" y="1955084"/>
            <a:ext cx="16195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More New Rules</a:t>
            </a:r>
          </a:p>
          <a:p>
            <a:endParaRPr lang="en-US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BA</a:t>
            </a: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9153112" y="3412"/>
            <a:ext cx="1649104" cy="6858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sz="17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  →  PQ  </a:t>
            </a:r>
          </a:p>
          <a:p>
            <a:pPr marL="0" indent="0">
              <a:buNone/>
            </a:pPr>
            <a:r>
              <a:rPr lang="en-US" sz="17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sz="17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PB  </a:t>
            </a:r>
          </a:p>
          <a:p>
            <a:pPr marL="0" indent="0">
              <a:buNone/>
            </a:pPr>
            <a:r>
              <a:rPr lang="en-US" sz="17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sz="17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PA  </a:t>
            </a:r>
          </a:p>
          <a:p>
            <a:pPr marL="0" indent="0">
              <a:buNone/>
            </a:pPr>
            <a:r>
              <a:rPr lang="en-US" sz="17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sz="17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XY</a:t>
            </a:r>
          </a:p>
          <a:p>
            <a:pPr marL="0" indent="0">
              <a:buNone/>
            </a:pPr>
            <a:r>
              <a:rPr lang="en-US" sz="17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  → YQ</a:t>
            </a: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marL="0" indent="0">
              <a:buNone/>
            </a:pPr>
            <a:r>
              <a:rPr lang="en-US" sz="17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sz="17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YB  </a:t>
            </a:r>
          </a:p>
          <a:p>
            <a:pPr marL="0" indent="0">
              <a:buNone/>
            </a:pPr>
            <a:r>
              <a:rPr lang="en-US" sz="17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sz="17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YA  </a:t>
            </a:r>
          </a:p>
          <a:p>
            <a:pPr marL="0" indent="0">
              <a:buNone/>
            </a:pPr>
            <a:r>
              <a:rPr lang="en-US" sz="17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sz="1700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b</a:t>
            </a:r>
          </a:p>
          <a:p>
            <a:pPr marL="0" indent="0">
              <a:buNone/>
            </a:pP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B  → TX </a:t>
            </a:r>
          </a:p>
          <a:p>
            <a:pPr marL="0" indent="0">
              <a:buNone/>
            </a:pPr>
            <a:r>
              <a:rPr lang="en-US" sz="17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sz="17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17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AX  </a:t>
            </a:r>
          </a:p>
          <a:p>
            <a:pPr marL="0" indent="0">
              <a:buNone/>
            </a:pPr>
            <a:r>
              <a:rPr lang="en-US" sz="17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sz="17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17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BX  </a:t>
            </a:r>
          </a:p>
          <a:p>
            <a:pPr marL="0" indent="0">
              <a:buNone/>
            </a:pPr>
            <a:r>
              <a:rPr lang="en-US" sz="17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B  → </a:t>
            </a:r>
            <a:r>
              <a:rPr lang="en-US" sz="1700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a  </a:t>
            </a:r>
          </a:p>
          <a:p>
            <a:pPr marL="0" indent="0">
              <a:buNone/>
            </a:pPr>
            <a:r>
              <a:rPr lang="en-US" sz="17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sz="17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→ YQ  </a:t>
            </a:r>
          </a:p>
          <a:p>
            <a:pPr marL="0" indent="0">
              <a:buNone/>
            </a:pPr>
            <a:r>
              <a:rPr lang="en-US" sz="17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  → </a:t>
            </a:r>
            <a:r>
              <a:rPr lang="en-US" sz="17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YB   </a:t>
            </a:r>
          </a:p>
          <a:p>
            <a:pPr marL="0" indent="0">
              <a:buNone/>
            </a:pPr>
            <a:r>
              <a:rPr lang="en-US" sz="17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  → </a:t>
            </a:r>
            <a:r>
              <a:rPr lang="en-US" sz="17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YA    </a:t>
            </a:r>
          </a:p>
          <a:p>
            <a:pPr marL="0" indent="0">
              <a:buNone/>
            </a:pPr>
            <a:r>
              <a:rPr lang="en-US" sz="17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B  → </a:t>
            </a:r>
            <a:r>
              <a:rPr lang="en-US" sz="1700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b </a:t>
            </a:r>
          </a:p>
          <a:p>
            <a:pPr marL="0" indent="0">
              <a:buNone/>
            </a:pPr>
            <a:r>
              <a:rPr lang="en-US" sz="1700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X  </a:t>
            </a:r>
            <a:r>
              <a:rPr lang="en-US" sz="17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1700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a</a:t>
            </a:r>
          </a:p>
          <a:p>
            <a:pPr marL="0" indent="0">
              <a:buNone/>
            </a:pPr>
            <a:r>
              <a:rPr lang="en-US" sz="1700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Y  </a:t>
            </a:r>
            <a:r>
              <a:rPr lang="en-US" sz="17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→ b</a:t>
            </a:r>
            <a:endParaRPr lang="en-US" sz="1700" b="1" dirty="0" smtClean="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908949" y="3412"/>
            <a:ext cx="450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endParaRPr lang="en-US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074997" y="3412"/>
            <a:ext cx="450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3621" y="401476"/>
            <a:ext cx="450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883925" y="415124"/>
            <a:ext cx="450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endParaRPr lang="en-US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858901" y="772244"/>
            <a:ext cx="450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endParaRPr lang="en-US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011301" y="758596"/>
            <a:ext cx="450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90917" y="4618708"/>
            <a:ext cx="450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Q</a:t>
            </a:r>
          </a:p>
        </p:txBody>
      </p:sp>
    </p:spTree>
    <p:extLst>
      <p:ext uri="{BB962C8B-B14F-4D97-AF65-F5344CB8AC3E}">
        <p14:creationId xmlns:p14="http://schemas.microsoft.com/office/powerpoint/2010/main" val="3977674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5" grpId="0"/>
      <p:bldP spid="2" grpId="0"/>
      <p:bldP spid="10" grpId="0"/>
      <p:bldP spid="12" grpId="0"/>
      <p:bldP spid="13" grpId="0"/>
      <p:bldP spid="17" grpId="0"/>
      <p:bldP spid="18" grpId="0"/>
      <p:bldP spid="1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794683" y="631251"/>
            <a:ext cx="14807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accent3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New Rules</a:t>
            </a:r>
          </a:p>
          <a:p>
            <a:endParaRPr lang="en-US" sz="2000" b="1" dirty="0">
              <a:solidFill>
                <a:schemeClr val="accent3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solidFill>
                  <a:schemeClr val="accent3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  </a:t>
            </a:r>
            <a:r>
              <a:rPr lang="en-US" sz="2000" b="1" dirty="0" smtClean="0">
                <a:solidFill>
                  <a:schemeClr val="accent3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XY</a:t>
            </a:r>
          </a:p>
          <a:p>
            <a:r>
              <a:rPr lang="en-US" sz="2000" b="1" dirty="0" smtClean="0">
                <a:solidFill>
                  <a:schemeClr val="accent3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Q  AB</a:t>
            </a:r>
            <a:endParaRPr lang="en-US" sz="2000" b="1" dirty="0">
              <a:solidFill>
                <a:schemeClr val="accent3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655925" y="3894076"/>
            <a:ext cx="16195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accent3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More New Rules</a:t>
            </a:r>
          </a:p>
          <a:p>
            <a:endParaRPr lang="en-US" sz="2000" b="1" dirty="0">
              <a:solidFill>
                <a:schemeClr val="accent3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solidFill>
                  <a:schemeClr val="accent3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BA</a:t>
            </a: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6821" y="3412"/>
            <a:ext cx="1649104" cy="6858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S  →  PQ  </a:t>
            </a:r>
          </a:p>
          <a:p>
            <a:pPr marL="0" indent="0">
              <a:buNone/>
            </a:pP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PB  </a:t>
            </a:r>
          </a:p>
          <a:p>
            <a:pPr marL="0" indent="0">
              <a:buNone/>
            </a:pP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PA  </a:t>
            </a:r>
          </a:p>
          <a:p>
            <a:pPr marL="0" indent="0">
              <a:buNone/>
            </a:pP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S  → </a:t>
            </a: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XY</a:t>
            </a:r>
          </a:p>
          <a:p>
            <a:pPr marL="0" indent="0">
              <a:buNone/>
            </a:pP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A  → YQ  </a:t>
            </a:r>
          </a:p>
          <a:p>
            <a:pPr marL="0" indent="0">
              <a:buNone/>
            </a:pP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YB  </a:t>
            </a:r>
          </a:p>
          <a:p>
            <a:pPr marL="0" indent="0">
              <a:buNone/>
            </a:pP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YA  </a:t>
            </a:r>
          </a:p>
          <a:p>
            <a:pPr marL="0" indent="0">
              <a:buNone/>
            </a:pP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A  → </a:t>
            </a: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b</a:t>
            </a:r>
          </a:p>
          <a:p>
            <a:pPr marL="0" indent="0">
              <a:buNone/>
            </a:pP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B  → TX </a:t>
            </a:r>
          </a:p>
          <a:p>
            <a:pPr marL="0" indent="0">
              <a:buNone/>
            </a:pP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AX  </a:t>
            </a:r>
          </a:p>
          <a:p>
            <a:pPr marL="0" indent="0">
              <a:buNone/>
            </a:pP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BX  </a:t>
            </a:r>
          </a:p>
          <a:p>
            <a:pPr marL="0" indent="0">
              <a:buNone/>
            </a:pP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B  → </a:t>
            </a: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a  </a:t>
            </a:r>
          </a:p>
          <a:p>
            <a:pPr marL="0" indent="0">
              <a:buNone/>
            </a:pP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→ YQ  </a:t>
            </a:r>
          </a:p>
          <a:p>
            <a:pPr marL="0" indent="0">
              <a:buNone/>
            </a:pP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B  → </a:t>
            </a: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YB   </a:t>
            </a:r>
          </a:p>
          <a:p>
            <a:pPr marL="0" indent="0">
              <a:buNone/>
            </a:pP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B  → </a:t>
            </a: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YA    </a:t>
            </a:r>
          </a:p>
          <a:p>
            <a:pPr marL="0" indent="0">
              <a:buNone/>
            </a:pP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B  → </a:t>
            </a: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b </a:t>
            </a:r>
          </a:p>
          <a:p>
            <a:pPr marL="0" indent="0">
              <a:buNone/>
            </a:pP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X  </a:t>
            </a: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a</a:t>
            </a:r>
          </a:p>
          <a:p>
            <a:pPr marL="0" indent="0">
              <a:buNone/>
            </a:pP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Y  </a:t>
            </a: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→ b</a:t>
            </a:r>
            <a:endParaRPr lang="en-US" sz="17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5031470" y="1122528"/>
            <a:ext cx="5477306" cy="38906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  →  PQ  |  PB  |  PA  |  XY</a:t>
            </a:r>
          </a:p>
          <a:p>
            <a:pPr marL="0" indent="0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  → YQ  |  YB  |  YA  |  b</a:t>
            </a:r>
          </a:p>
          <a:p>
            <a:pPr marL="0" indent="0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  → TX  |  AX  |  BX  |  a  |  YU  |  YB  |  YA  |  b </a:t>
            </a:r>
          </a:p>
          <a:p>
            <a:pPr marL="0" indent="0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X 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</a:t>
            </a:r>
          </a:p>
          <a:p>
            <a:pPr marL="0" indent="0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Y 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</a:t>
            </a:r>
          </a:p>
          <a:p>
            <a:pPr marL="0" indent="0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  → XY</a:t>
            </a:r>
          </a:p>
          <a:p>
            <a:pPr marL="0" indent="0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Q 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AB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b="1" smtClean="0">
                <a:latin typeface="Times New Roman" pitchFamily="18" charset="0"/>
                <a:cs typeface="Times New Roman" pitchFamily="18" charset="0"/>
              </a:rPr>
              <a:t>T 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BA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6980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5" grpId="0"/>
      <p:bldP spid="1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674" y="538017"/>
            <a:ext cx="5461260" cy="5344168"/>
          </a:xfrm>
        </p:spPr>
        <p:txBody>
          <a:bodyPr>
            <a:no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Example:3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 →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XaX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|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| Y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X →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XaX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| 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XbX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|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Y →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ab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XaX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 →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bY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 → Y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X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XaX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X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XbX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X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→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Y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ab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501930" y="1359972"/>
            <a:ext cx="3145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ε</a:t>
            </a:r>
            <a:endParaRPr lang="en-US" sz="2400" dirty="0"/>
          </a:p>
        </p:txBody>
      </p:sp>
      <p:sp>
        <p:nvSpPr>
          <p:cNvPr id="6" name="Rectangle 5"/>
          <p:cNvSpPr/>
          <p:nvPr/>
        </p:nvSpPr>
        <p:spPr>
          <a:xfrm>
            <a:off x="1045564" y="4827392"/>
            <a:ext cx="3145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ε</a:t>
            </a:r>
            <a:endParaRPr lang="en-US" sz="2400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3805570" y="415186"/>
            <a:ext cx="4219314" cy="63199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Variable that generate null   </a:t>
            </a:r>
            <a:r>
              <a:rPr lang="en-US" sz="18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X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S → 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XaX</a:t>
            </a: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S → 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bY</a:t>
            </a: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S → Y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X → 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XaX</a:t>
            </a: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X → 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XbX</a:t>
            </a: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X → 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Y → 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ab</a:t>
            </a: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Font typeface="Wingdings 3" charset="2"/>
              <a:buNone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155930" y="813009"/>
            <a:ext cx="676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|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aX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19954" y="799361"/>
            <a:ext cx="676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|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Xa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56682" y="799361"/>
            <a:ext cx="507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| a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209872" y="2043582"/>
            <a:ext cx="676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|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aX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73896" y="2029934"/>
            <a:ext cx="676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|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Xa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110624" y="2029934"/>
            <a:ext cx="507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| a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209872" y="2426562"/>
            <a:ext cx="676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|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bX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673896" y="2412914"/>
            <a:ext cx="676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|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Xb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10624" y="2412914"/>
            <a:ext cx="507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| b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677486" y="2759990"/>
            <a:ext cx="3145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ε</a:t>
            </a:r>
            <a:endParaRPr lang="en-US" sz="2400" dirty="0"/>
          </a:p>
        </p:txBody>
      </p:sp>
      <p:sp>
        <p:nvSpPr>
          <p:cNvPr id="18" name="Minus 17"/>
          <p:cNvSpPr/>
          <p:nvPr/>
        </p:nvSpPr>
        <p:spPr>
          <a:xfrm>
            <a:off x="3995221" y="2949878"/>
            <a:ext cx="1201003" cy="177421"/>
          </a:xfrm>
          <a:prstGeom prst="mathMinu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5548142" y="3871544"/>
            <a:ext cx="343923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S → </a:t>
            </a:r>
            <a:r>
              <a:rPr lang="en-US" sz="2400" dirty="0" err="1" smtClean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XaX</a:t>
            </a:r>
            <a:r>
              <a:rPr lang="en-US" sz="2400" dirty="0" smtClean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 | </a:t>
            </a:r>
            <a:r>
              <a:rPr lang="en-US" sz="2400" dirty="0" err="1" smtClean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aX</a:t>
            </a:r>
            <a:r>
              <a:rPr lang="en-US" sz="2400" dirty="0" smtClean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 |</a:t>
            </a:r>
            <a:r>
              <a:rPr lang="en-US" sz="2400" dirty="0" err="1" smtClean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Xa</a:t>
            </a:r>
            <a:r>
              <a:rPr lang="en-US" sz="2400" dirty="0" smtClean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 | a</a:t>
            </a:r>
          </a:p>
          <a:p>
            <a:r>
              <a:rPr lang="en-US" sz="2400" dirty="0" smtClean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en-US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sz="2400" dirty="0" smtClean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bY</a:t>
            </a:r>
            <a:r>
              <a:rPr lang="en-US" sz="2400" dirty="0" smtClean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 | Y</a:t>
            </a:r>
          </a:p>
          <a:p>
            <a:r>
              <a:rPr lang="en-US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X → </a:t>
            </a:r>
            <a:r>
              <a:rPr lang="en-US" sz="2400" dirty="0" err="1" smtClean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XaX</a:t>
            </a:r>
            <a:r>
              <a:rPr lang="en-US" sz="2400" dirty="0" smtClean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 | </a:t>
            </a:r>
            <a:r>
              <a:rPr lang="en-US" sz="2400" dirty="0" err="1" smtClean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aX</a:t>
            </a:r>
            <a:r>
              <a:rPr lang="en-US" sz="2400" dirty="0" smtClean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  |  </a:t>
            </a:r>
            <a:r>
              <a:rPr lang="en-US" sz="2400" dirty="0" err="1" smtClean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Xa</a:t>
            </a:r>
            <a:r>
              <a:rPr lang="en-US" sz="2400" dirty="0" smtClean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  |  a</a:t>
            </a:r>
            <a:endParaRPr lang="en-US" sz="2400" dirty="0">
              <a:solidFill>
                <a:schemeClr val="accent3">
                  <a:lumMod val="40000"/>
                  <a:lumOff val="6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X → </a:t>
            </a:r>
            <a:r>
              <a:rPr lang="en-US" sz="2400" dirty="0" err="1" smtClean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XbX</a:t>
            </a:r>
            <a:r>
              <a:rPr lang="en-US" sz="2400" dirty="0" smtClean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 | </a:t>
            </a:r>
            <a:r>
              <a:rPr lang="en-US" sz="2400" dirty="0" err="1" smtClean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bX</a:t>
            </a:r>
            <a:r>
              <a:rPr lang="en-US" sz="2400" dirty="0" smtClean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  |  </a:t>
            </a:r>
            <a:r>
              <a:rPr lang="en-US" sz="2400" dirty="0" err="1" smtClean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Xb</a:t>
            </a:r>
            <a:r>
              <a:rPr lang="en-US" sz="2400" dirty="0" smtClean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  | b</a:t>
            </a:r>
            <a:endParaRPr lang="en-US" sz="2400" dirty="0">
              <a:solidFill>
                <a:schemeClr val="accent3">
                  <a:lumMod val="40000"/>
                  <a:lumOff val="6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Y </a:t>
            </a:r>
            <a:r>
              <a:rPr lang="en-US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400" dirty="0" err="1" smtClean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ab</a:t>
            </a:r>
            <a:endParaRPr lang="en-US" sz="2400" dirty="0" smtClean="0">
              <a:solidFill>
                <a:schemeClr val="accent3">
                  <a:lumMod val="40000"/>
                  <a:lumOff val="6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8613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 animBg="1"/>
      <p:bldP spid="19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416671"/>
            <a:ext cx="6196084" cy="4195481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 →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XaX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|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aX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|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| a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bY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 →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Y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X →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XaX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|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aX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 | 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Xa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 |  a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X →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XbX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|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bX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 | 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Xb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 | b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Y →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ab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Elimination of single Variable Production.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0" y="13655"/>
            <a:ext cx="343923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S → </a:t>
            </a:r>
            <a:r>
              <a:rPr lang="en-US" sz="2400" dirty="0" err="1" smtClean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XaX</a:t>
            </a:r>
            <a:r>
              <a:rPr lang="en-US" sz="2400" dirty="0" smtClean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 | </a:t>
            </a:r>
            <a:r>
              <a:rPr lang="en-US" sz="2400" dirty="0" err="1" smtClean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aX</a:t>
            </a:r>
            <a:r>
              <a:rPr lang="en-US" sz="2400" dirty="0" smtClean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 |</a:t>
            </a:r>
            <a:r>
              <a:rPr lang="en-US" sz="2400" dirty="0" err="1" smtClean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Xa</a:t>
            </a:r>
            <a:r>
              <a:rPr lang="en-US" sz="2400" dirty="0" smtClean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 | a</a:t>
            </a:r>
          </a:p>
          <a:p>
            <a:r>
              <a:rPr lang="en-US" sz="2400" dirty="0" smtClean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en-US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sz="2400" dirty="0" smtClean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bY</a:t>
            </a:r>
            <a:r>
              <a:rPr lang="en-US" sz="2400" dirty="0" smtClean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 | Y</a:t>
            </a:r>
          </a:p>
          <a:p>
            <a:r>
              <a:rPr lang="en-US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X → </a:t>
            </a:r>
            <a:r>
              <a:rPr lang="en-US" sz="2400" dirty="0" err="1" smtClean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XaX</a:t>
            </a:r>
            <a:r>
              <a:rPr lang="en-US" sz="2400" dirty="0" smtClean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 | </a:t>
            </a:r>
            <a:r>
              <a:rPr lang="en-US" sz="2400" dirty="0" err="1" smtClean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aX</a:t>
            </a:r>
            <a:r>
              <a:rPr lang="en-US" sz="2400" dirty="0" smtClean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  |  </a:t>
            </a:r>
            <a:r>
              <a:rPr lang="en-US" sz="2400" dirty="0" err="1" smtClean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Xa</a:t>
            </a:r>
            <a:r>
              <a:rPr lang="en-US" sz="2400" dirty="0" smtClean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  |  a</a:t>
            </a:r>
            <a:endParaRPr lang="en-US" sz="2400" dirty="0">
              <a:solidFill>
                <a:schemeClr val="accent3">
                  <a:lumMod val="40000"/>
                  <a:lumOff val="6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X → </a:t>
            </a:r>
            <a:r>
              <a:rPr lang="en-US" sz="2400" dirty="0" err="1" smtClean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XbX</a:t>
            </a:r>
            <a:r>
              <a:rPr lang="en-US" sz="2400" dirty="0" smtClean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 | </a:t>
            </a:r>
            <a:r>
              <a:rPr lang="en-US" sz="2400" dirty="0" err="1" smtClean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bX</a:t>
            </a:r>
            <a:r>
              <a:rPr lang="en-US" sz="2400" dirty="0" smtClean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  |  </a:t>
            </a:r>
            <a:r>
              <a:rPr lang="en-US" sz="2400" dirty="0" err="1" smtClean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Xb</a:t>
            </a:r>
            <a:r>
              <a:rPr lang="en-US" sz="2400" dirty="0" smtClean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  | b</a:t>
            </a:r>
            <a:endParaRPr lang="en-US" sz="2400" dirty="0">
              <a:solidFill>
                <a:schemeClr val="accent3">
                  <a:lumMod val="40000"/>
                  <a:lumOff val="6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Y </a:t>
            </a:r>
            <a:r>
              <a:rPr lang="en-US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400" dirty="0" err="1" smtClean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ab</a:t>
            </a:r>
            <a:endParaRPr lang="en-US" sz="2400" dirty="0" smtClean="0">
              <a:solidFill>
                <a:schemeClr val="accent3">
                  <a:lumMod val="40000"/>
                  <a:lumOff val="6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3075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8313"/>
            <a:ext cx="4967785" cy="6829687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 →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XaX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|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aX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|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| a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bY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 → 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endParaRPr lang="en-US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X →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XaX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|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aX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 | 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Xa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 |  a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X →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XbX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|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bX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 | 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Xb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 | b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Y →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ab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564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8313"/>
            <a:ext cx="6005015" cy="6829687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 →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XaX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|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aX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|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| a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bY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 → 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endParaRPr lang="en-US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X →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XaX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|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aX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 | 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Xa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 |  a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X →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XbX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|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bX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 | 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Xb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 | b</a:t>
            </a:r>
          </a:p>
          <a:p>
            <a:r>
              <a:rPr lang="en-US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Y → </a:t>
            </a:r>
            <a:r>
              <a:rPr lang="en-US" b="1" dirty="0" err="1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ab</a:t>
            </a:r>
            <a:endParaRPr lang="en-US" b="1" dirty="0" smtClean="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After Elimination of Single variable Productions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 →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XaX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|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aX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 |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Xa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| a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 →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bY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 →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ab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X →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XaX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|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aX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 | 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Xa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 |  a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X →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XbX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|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bX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 | 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Xb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 | b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Y →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ab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892119" y="559558"/>
            <a:ext cx="1665027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en-US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400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XaX</a:t>
            </a:r>
            <a:r>
              <a:rPr lang="en-US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sz="2400" dirty="0" smtClean="0">
              <a:solidFill>
                <a:schemeClr val="accent3">
                  <a:lumMod val="40000"/>
                  <a:lumOff val="6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S →</a:t>
            </a:r>
            <a:r>
              <a:rPr lang="en-US" sz="2400" dirty="0" smtClean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aX</a:t>
            </a:r>
            <a:r>
              <a:rPr lang="en-US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endParaRPr lang="en-US" sz="2400" dirty="0" smtClean="0">
              <a:solidFill>
                <a:schemeClr val="accent3">
                  <a:lumMod val="40000"/>
                  <a:lumOff val="6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S → </a:t>
            </a:r>
            <a:r>
              <a:rPr lang="en-US" sz="2400" dirty="0" err="1" smtClean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Xa</a:t>
            </a:r>
            <a:r>
              <a:rPr lang="en-US" sz="2400" dirty="0" smtClean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400" dirty="0" smtClean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en-US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400" dirty="0" smtClean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endParaRPr lang="en-US" sz="2400" dirty="0">
              <a:solidFill>
                <a:schemeClr val="accent3">
                  <a:lumMod val="40000"/>
                  <a:lumOff val="6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S → </a:t>
            </a:r>
            <a:r>
              <a:rPr lang="en-US" sz="2400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bY</a:t>
            </a:r>
            <a:endParaRPr lang="en-US" sz="2400" dirty="0">
              <a:solidFill>
                <a:schemeClr val="accent3">
                  <a:lumMod val="40000"/>
                  <a:lumOff val="6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S → </a:t>
            </a:r>
            <a:r>
              <a:rPr lang="en-US" sz="2400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ab</a:t>
            </a:r>
            <a:endParaRPr lang="en-US" sz="2400" dirty="0">
              <a:solidFill>
                <a:schemeClr val="accent3">
                  <a:lumMod val="40000"/>
                  <a:lumOff val="6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X → </a:t>
            </a:r>
            <a:r>
              <a:rPr lang="en-US" sz="2400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XaX</a:t>
            </a:r>
            <a:r>
              <a:rPr lang="en-US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sz="2400" dirty="0" smtClean="0">
              <a:solidFill>
                <a:schemeClr val="accent3">
                  <a:lumMod val="40000"/>
                  <a:lumOff val="6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X → </a:t>
            </a:r>
            <a:r>
              <a:rPr lang="en-US" sz="2400" dirty="0" err="1" smtClean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aX</a:t>
            </a:r>
            <a:r>
              <a:rPr lang="en-US" sz="2400" dirty="0" smtClean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X → </a:t>
            </a:r>
            <a:r>
              <a:rPr lang="en-US" sz="2400" dirty="0" err="1" smtClean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Xa</a:t>
            </a:r>
            <a:r>
              <a:rPr lang="en-US" sz="2400" dirty="0" smtClean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r>
              <a:rPr lang="en-US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X → </a:t>
            </a:r>
            <a:r>
              <a:rPr lang="en-US" sz="2400" dirty="0" smtClean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endParaRPr lang="en-US" sz="2400" dirty="0">
              <a:solidFill>
                <a:schemeClr val="accent3">
                  <a:lumMod val="40000"/>
                  <a:lumOff val="6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X → </a:t>
            </a:r>
            <a:r>
              <a:rPr lang="en-US" sz="2400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XbX</a:t>
            </a:r>
            <a:r>
              <a:rPr lang="en-US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sz="2400" dirty="0" smtClean="0">
              <a:solidFill>
                <a:schemeClr val="accent3">
                  <a:lumMod val="40000"/>
                  <a:lumOff val="6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X → </a:t>
            </a:r>
            <a:r>
              <a:rPr lang="en-US" sz="2400" dirty="0" err="1" smtClean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bX</a:t>
            </a:r>
            <a:r>
              <a:rPr lang="en-US" sz="2400" dirty="0" smtClean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r>
              <a:rPr lang="en-US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X → </a:t>
            </a:r>
            <a:r>
              <a:rPr lang="en-US" sz="2400" dirty="0" err="1" smtClean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Xb</a:t>
            </a:r>
            <a:r>
              <a:rPr lang="en-US" sz="2400" dirty="0" smtClean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X → </a:t>
            </a:r>
            <a:r>
              <a:rPr lang="en-US" sz="2400" dirty="0" smtClean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endParaRPr lang="en-US" sz="2400" dirty="0">
              <a:solidFill>
                <a:schemeClr val="accent3">
                  <a:lumMod val="40000"/>
                  <a:lumOff val="6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Y → </a:t>
            </a:r>
            <a:r>
              <a:rPr lang="en-US" sz="2400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ab</a:t>
            </a:r>
            <a:endParaRPr lang="en-US" sz="2400" dirty="0">
              <a:solidFill>
                <a:schemeClr val="accent3">
                  <a:lumMod val="40000"/>
                  <a:lumOff val="6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9301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2043" y="469778"/>
            <a:ext cx="1721775" cy="6067500"/>
          </a:xfrm>
        </p:spPr>
        <p:txBody>
          <a:bodyPr>
            <a:noAutofit/>
          </a:bodyPr>
          <a:lstStyle/>
          <a:p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S → </a:t>
            </a:r>
            <a:r>
              <a:rPr lang="en-US" sz="1800" b="1" dirty="0" err="1">
                <a:latin typeface="Times New Roman" pitchFamily="18" charset="0"/>
                <a:cs typeface="Times New Roman" pitchFamily="18" charset="0"/>
              </a:rPr>
              <a:t>XaX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S → </a:t>
            </a:r>
            <a:r>
              <a:rPr lang="en-US" sz="1800" b="1" dirty="0" err="1">
                <a:latin typeface="Times New Roman" pitchFamily="18" charset="0"/>
                <a:cs typeface="Times New Roman" pitchFamily="18" charset="0"/>
              </a:rPr>
              <a:t>aX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S → </a:t>
            </a:r>
            <a:r>
              <a:rPr lang="en-US" sz="1800" b="1" dirty="0" err="1">
                <a:latin typeface="Times New Roman" pitchFamily="18" charset="0"/>
                <a:cs typeface="Times New Roman" pitchFamily="18" charset="0"/>
              </a:rPr>
              <a:t>Xa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 S → a</a:t>
            </a:r>
          </a:p>
          <a:p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S → </a:t>
            </a:r>
            <a:r>
              <a:rPr lang="en-US" sz="1800" b="1" dirty="0" err="1">
                <a:latin typeface="Times New Roman" pitchFamily="18" charset="0"/>
                <a:cs typeface="Times New Roman" pitchFamily="18" charset="0"/>
              </a:rPr>
              <a:t>bY</a:t>
            </a:r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S → </a:t>
            </a:r>
            <a:r>
              <a:rPr lang="en-US" sz="1800" b="1" dirty="0" err="1">
                <a:latin typeface="Times New Roman" pitchFamily="18" charset="0"/>
                <a:cs typeface="Times New Roman" pitchFamily="18" charset="0"/>
              </a:rPr>
              <a:t>ab</a:t>
            </a:r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X → </a:t>
            </a:r>
            <a:r>
              <a:rPr lang="en-US" sz="1800" b="1" dirty="0" err="1">
                <a:latin typeface="Times New Roman" pitchFamily="18" charset="0"/>
                <a:cs typeface="Times New Roman" pitchFamily="18" charset="0"/>
              </a:rPr>
              <a:t>XaX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X → </a:t>
            </a:r>
            <a:r>
              <a:rPr lang="en-US" sz="1800" b="1" dirty="0" err="1">
                <a:latin typeface="Times New Roman" pitchFamily="18" charset="0"/>
                <a:cs typeface="Times New Roman" pitchFamily="18" charset="0"/>
              </a:rPr>
              <a:t>aX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X → </a:t>
            </a:r>
            <a:r>
              <a:rPr lang="en-US" sz="1800" b="1" dirty="0" err="1">
                <a:latin typeface="Times New Roman" pitchFamily="18" charset="0"/>
                <a:cs typeface="Times New Roman" pitchFamily="18" charset="0"/>
              </a:rPr>
              <a:t>Xa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X → a</a:t>
            </a:r>
          </a:p>
          <a:p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X → </a:t>
            </a:r>
            <a:r>
              <a:rPr lang="en-US" sz="1800" b="1" dirty="0" err="1">
                <a:latin typeface="Times New Roman" pitchFamily="18" charset="0"/>
                <a:cs typeface="Times New Roman" pitchFamily="18" charset="0"/>
              </a:rPr>
              <a:t>XbX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X → </a:t>
            </a:r>
            <a:r>
              <a:rPr lang="en-US" sz="1800" b="1" dirty="0" err="1">
                <a:latin typeface="Times New Roman" pitchFamily="18" charset="0"/>
                <a:cs typeface="Times New Roman" pitchFamily="18" charset="0"/>
              </a:rPr>
              <a:t>bX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X → </a:t>
            </a:r>
            <a:r>
              <a:rPr lang="en-US" sz="1800" b="1" dirty="0" err="1">
                <a:latin typeface="Times New Roman" pitchFamily="18" charset="0"/>
                <a:cs typeface="Times New Roman" pitchFamily="18" charset="0"/>
              </a:rPr>
              <a:t>Xb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X → b</a:t>
            </a:r>
          </a:p>
          <a:p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Y → </a:t>
            </a:r>
            <a:r>
              <a:rPr lang="en-US" sz="1800" b="1" dirty="0" err="1">
                <a:latin typeface="Times New Roman" pitchFamily="18" charset="0"/>
                <a:cs typeface="Times New Roman" pitchFamily="18" charset="0"/>
              </a:rPr>
              <a:t>ab</a:t>
            </a:r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  <a:p>
            <a:endParaRPr lang="en-US" sz="18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058534" y="1713760"/>
            <a:ext cx="1885668" cy="3139321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Conversion of Terminal into </a:t>
            </a:r>
          </a:p>
          <a:p>
            <a:r>
              <a:rPr lang="en-US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non-Terminal in Mix or more than one terminal Production</a:t>
            </a:r>
          </a:p>
          <a:p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You can make new production if necessary</a:t>
            </a:r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624431" y="417462"/>
            <a:ext cx="1721775" cy="60675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sz="18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S → </a:t>
            </a:r>
            <a:r>
              <a:rPr lang="en-US" sz="1800" b="1" dirty="0" err="1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XaX</a:t>
            </a:r>
            <a:r>
              <a:rPr lang="en-US" sz="18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18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S → </a:t>
            </a:r>
            <a:r>
              <a:rPr lang="en-US" sz="1800" b="1" dirty="0" err="1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aX</a:t>
            </a:r>
            <a:r>
              <a:rPr lang="en-US" sz="18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r>
              <a:rPr lang="en-US" sz="18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S → </a:t>
            </a:r>
            <a:r>
              <a:rPr lang="en-US" sz="1800" b="1" dirty="0" err="1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Xa</a:t>
            </a:r>
            <a:r>
              <a:rPr lang="en-US" sz="18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 S → a</a:t>
            </a:r>
          </a:p>
          <a:p>
            <a:r>
              <a:rPr lang="en-US" sz="18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S → </a:t>
            </a:r>
            <a:r>
              <a:rPr lang="en-US" sz="1800" b="1" dirty="0" err="1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bY</a:t>
            </a:r>
            <a:endParaRPr lang="en-US" sz="1800" b="1" dirty="0" smtClean="0">
              <a:solidFill>
                <a:schemeClr val="accent1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S → </a:t>
            </a:r>
            <a:r>
              <a:rPr lang="en-US" sz="1800" b="1" dirty="0" err="1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ab</a:t>
            </a:r>
            <a:endParaRPr lang="en-US" sz="1800" b="1" dirty="0" smtClean="0">
              <a:solidFill>
                <a:schemeClr val="accent1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X → </a:t>
            </a:r>
            <a:r>
              <a:rPr lang="en-US" sz="1800" b="1" dirty="0" err="1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XaX</a:t>
            </a:r>
            <a:r>
              <a:rPr lang="en-US" sz="18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18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X → </a:t>
            </a:r>
            <a:r>
              <a:rPr lang="en-US" sz="1800" b="1" dirty="0" err="1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aX</a:t>
            </a:r>
            <a:r>
              <a:rPr lang="en-US" sz="18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18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X → </a:t>
            </a:r>
            <a:r>
              <a:rPr lang="en-US" sz="1800" b="1" dirty="0" err="1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Xa</a:t>
            </a:r>
            <a:r>
              <a:rPr lang="en-US" sz="18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X → a</a:t>
            </a:r>
          </a:p>
          <a:p>
            <a:r>
              <a:rPr lang="en-US" sz="18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X → </a:t>
            </a:r>
            <a:r>
              <a:rPr lang="en-US" sz="1800" b="1" dirty="0" err="1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XbX</a:t>
            </a:r>
            <a:r>
              <a:rPr lang="en-US" sz="18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18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X → </a:t>
            </a:r>
            <a:r>
              <a:rPr lang="en-US" sz="1800" b="1" dirty="0" err="1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bX</a:t>
            </a:r>
            <a:r>
              <a:rPr lang="en-US" sz="18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r>
              <a:rPr lang="en-US" sz="18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X → </a:t>
            </a:r>
            <a:r>
              <a:rPr lang="en-US" sz="1800" b="1" dirty="0" err="1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Xb</a:t>
            </a:r>
            <a:r>
              <a:rPr lang="en-US" sz="18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X → b</a:t>
            </a:r>
          </a:p>
          <a:p>
            <a:r>
              <a:rPr lang="en-US" sz="18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Y → </a:t>
            </a:r>
            <a:r>
              <a:rPr lang="en-US" sz="1800" b="1" dirty="0" err="1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ab</a:t>
            </a:r>
            <a:endParaRPr lang="en-US" sz="1800" b="1" dirty="0" smtClean="0">
              <a:solidFill>
                <a:schemeClr val="accent1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18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6321179" y="2628161"/>
            <a:ext cx="1885668" cy="646331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Terminal are</a:t>
            </a:r>
          </a:p>
          <a:p>
            <a:pPr algn="ctr"/>
            <a:r>
              <a:rPr lang="en-US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 and b</a:t>
            </a:r>
            <a:endParaRPr lang="en-US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595211" y="1359817"/>
            <a:ext cx="15967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  → a</a:t>
            </a:r>
          </a:p>
          <a:p>
            <a:r>
              <a:rPr lang="en-US" sz="20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B  </a:t>
            </a:r>
            <a:r>
              <a:rPr lang="en-US" sz="20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→ b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8618556" y="249670"/>
            <a:ext cx="1721775" cy="60675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sz="18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S → X</a:t>
            </a:r>
            <a:r>
              <a:rPr lang="en-US" sz="18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18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X </a:t>
            </a:r>
          </a:p>
          <a:p>
            <a:r>
              <a:rPr lang="en-US" sz="18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S → </a:t>
            </a:r>
            <a:r>
              <a:rPr lang="en-US" sz="18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18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X  </a:t>
            </a:r>
          </a:p>
          <a:p>
            <a:r>
              <a:rPr lang="en-US" sz="18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S → X</a:t>
            </a:r>
            <a:r>
              <a:rPr lang="en-US" sz="18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18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 S → a</a:t>
            </a:r>
          </a:p>
          <a:p>
            <a:r>
              <a:rPr lang="en-US" sz="18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S → </a:t>
            </a:r>
            <a:r>
              <a:rPr lang="en-US" sz="18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18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Y</a:t>
            </a:r>
          </a:p>
          <a:p>
            <a:r>
              <a:rPr lang="en-US" sz="18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S → </a:t>
            </a:r>
            <a:r>
              <a:rPr lang="en-US" sz="18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AB</a:t>
            </a:r>
          </a:p>
          <a:p>
            <a:r>
              <a:rPr lang="en-US" sz="18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X → X</a:t>
            </a:r>
            <a:r>
              <a:rPr lang="en-US" sz="18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18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X </a:t>
            </a:r>
          </a:p>
          <a:p>
            <a:r>
              <a:rPr lang="en-US" sz="18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X → </a:t>
            </a:r>
            <a:r>
              <a:rPr lang="en-US" sz="18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18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X </a:t>
            </a:r>
          </a:p>
          <a:p>
            <a:r>
              <a:rPr lang="en-US" sz="18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X → X</a:t>
            </a:r>
            <a:r>
              <a:rPr lang="en-US" sz="18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18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X → a</a:t>
            </a:r>
          </a:p>
          <a:p>
            <a:r>
              <a:rPr lang="en-US" sz="18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X → X</a:t>
            </a:r>
            <a:r>
              <a:rPr lang="en-US" sz="18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18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X </a:t>
            </a:r>
          </a:p>
          <a:p>
            <a:r>
              <a:rPr lang="en-US" sz="18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X → </a:t>
            </a:r>
            <a:r>
              <a:rPr lang="en-US" sz="18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18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X  </a:t>
            </a:r>
          </a:p>
          <a:p>
            <a:r>
              <a:rPr lang="en-US" sz="18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X → X</a:t>
            </a:r>
            <a:r>
              <a:rPr lang="en-US" sz="18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18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X → b</a:t>
            </a:r>
          </a:p>
          <a:p>
            <a:r>
              <a:rPr lang="en-US" sz="18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Y → </a:t>
            </a:r>
            <a:r>
              <a:rPr lang="en-US" sz="18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AB</a:t>
            </a:r>
          </a:p>
          <a:p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2246878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2624" y="0"/>
            <a:ext cx="1721775" cy="6858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S → XAX </a:t>
            </a:r>
          </a:p>
          <a:p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S → AX  </a:t>
            </a:r>
          </a:p>
          <a:p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S → XA </a:t>
            </a:r>
          </a:p>
          <a:p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 S → a</a:t>
            </a:r>
          </a:p>
          <a:p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S → BY</a:t>
            </a:r>
          </a:p>
          <a:p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S → AB</a:t>
            </a:r>
          </a:p>
          <a:p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X → XAX </a:t>
            </a:r>
          </a:p>
          <a:p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X → AX </a:t>
            </a:r>
          </a:p>
          <a:p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X → XA  </a:t>
            </a:r>
          </a:p>
          <a:p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X → a</a:t>
            </a:r>
          </a:p>
          <a:p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X → XBX </a:t>
            </a:r>
          </a:p>
          <a:p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X →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X  </a:t>
            </a:r>
          </a:p>
          <a:p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X → XB </a:t>
            </a:r>
          </a:p>
          <a:p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X → b</a:t>
            </a:r>
          </a:p>
          <a:p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Y → AB</a:t>
            </a:r>
          </a:p>
          <a:p>
            <a:r>
              <a:rPr lang="en-US" sz="18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18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a</a:t>
            </a:r>
          </a:p>
          <a:p>
            <a:r>
              <a:rPr lang="en-US" sz="18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B  b</a:t>
            </a:r>
            <a:endParaRPr lang="en-US" sz="1800" b="1" dirty="0" smtClean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18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1880877" y="2647666"/>
            <a:ext cx="117370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Products with single terminal</a:t>
            </a:r>
            <a:endParaRPr lang="en-US" sz="2000" dirty="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3300361" y="0"/>
            <a:ext cx="1721775" cy="6858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S → XAX </a:t>
            </a:r>
          </a:p>
          <a:p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S → AX  </a:t>
            </a:r>
          </a:p>
          <a:p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S → XA </a:t>
            </a:r>
          </a:p>
          <a:p>
            <a:r>
              <a:rPr lang="en-US" sz="1800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 S → a</a:t>
            </a:r>
          </a:p>
          <a:p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S → BY</a:t>
            </a:r>
          </a:p>
          <a:p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S → AB</a:t>
            </a:r>
          </a:p>
          <a:p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X → XAX </a:t>
            </a:r>
          </a:p>
          <a:p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X → AX </a:t>
            </a:r>
          </a:p>
          <a:p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X → XA  </a:t>
            </a:r>
          </a:p>
          <a:p>
            <a:r>
              <a:rPr lang="en-US" sz="1800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X → a</a:t>
            </a:r>
          </a:p>
          <a:p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X → XBX </a:t>
            </a:r>
          </a:p>
          <a:p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X →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X  </a:t>
            </a:r>
          </a:p>
          <a:p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X → XB </a:t>
            </a:r>
          </a:p>
          <a:p>
            <a:r>
              <a:rPr lang="en-US" sz="1800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X → b</a:t>
            </a:r>
          </a:p>
          <a:p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Y → AB</a:t>
            </a:r>
          </a:p>
          <a:p>
            <a:r>
              <a:rPr lang="en-US" sz="1800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1800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a</a:t>
            </a:r>
          </a:p>
          <a:p>
            <a:r>
              <a:rPr lang="en-US" sz="1800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B  b</a:t>
            </a:r>
            <a:endParaRPr lang="en-US" sz="1800" b="1" dirty="0" smtClean="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18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5365844" y="2647666"/>
            <a:ext cx="15126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Products with Two non-terminal</a:t>
            </a:r>
            <a:endParaRPr lang="en-US" sz="20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7506147" y="0"/>
            <a:ext cx="1721775" cy="6858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S → XAX </a:t>
            </a:r>
          </a:p>
          <a:p>
            <a:r>
              <a:rPr lang="en-US" sz="1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 → AX  </a:t>
            </a:r>
          </a:p>
          <a:p>
            <a:r>
              <a:rPr lang="en-US" sz="1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 → XA </a:t>
            </a:r>
          </a:p>
          <a:p>
            <a:r>
              <a:rPr lang="en-US" sz="1800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 S → a</a:t>
            </a:r>
          </a:p>
          <a:p>
            <a:r>
              <a:rPr lang="en-US" sz="1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 → BY</a:t>
            </a:r>
          </a:p>
          <a:p>
            <a:r>
              <a:rPr lang="en-US" sz="1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 → AB</a:t>
            </a:r>
          </a:p>
          <a:p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X → XAX </a:t>
            </a:r>
          </a:p>
          <a:p>
            <a:r>
              <a:rPr lang="en-US" sz="1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 → AX </a:t>
            </a:r>
          </a:p>
          <a:p>
            <a:r>
              <a:rPr lang="en-US" sz="1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 → XA  </a:t>
            </a:r>
          </a:p>
          <a:p>
            <a:r>
              <a:rPr lang="en-US" sz="1800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X → a</a:t>
            </a:r>
          </a:p>
          <a:p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X → XBX </a:t>
            </a:r>
          </a:p>
          <a:p>
            <a:r>
              <a:rPr lang="en-US" sz="1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 → </a:t>
            </a:r>
            <a:r>
              <a:rPr lang="en-US" sz="1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1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  </a:t>
            </a:r>
          </a:p>
          <a:p>
            <a:r>
              <a:rPr lang="en-US" sz="1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 → XB </a:t>
            </a:r>
          </a:p>
          <a:p>
            <a:r>
              <a:rPr lang="en-US" sz="1800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X → b</a:t>
            </a:r>
          </a:p>
          <a:p>
            <a:r>
              <a:rPr lang="en-US" sz="1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 → AB</a:t>
            </a:r>
          </a:p>
          <a:p>
            <a:r>
              <a:rPr lang="en-US" sz="1800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1800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a</a:t>
            </a:r>
          </a:p>
          <a:p>
            <a:r>
              <a:rPr lang="en-US" sz="1800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B  b</a:t>
            </a:r>
            <a:endParaRPr lang="en-US" sz="1800" b="1" dirty="0" smtClean="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1029682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047165" y="2497540"/>
            <a:ext cx="11600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C  → XA</a:t>
            </a:r>
          </a:p>
          <a:p>
            <a:endParaRPr lang="en-US" b="1" dirty="0" smtClean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D  </a:t>
            </a:r>
            <a:r>
              <a:rPr lang="en-US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XB</a:t>
            </a:r>
            <a:endParaRPr lang="en-US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0" y="0"/>
            <a:ext cx="1721775" cy="6858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S → XAX </a:t>
            </a:r>
          </a:p>
          <a:p>
            <a:r>
              <a:rPr lang="en-US" sz="1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 → AX  </a:t>
            </a:r>
          </a:p>
          <a:p>
            <a:r>
              <a:rPr lang="en-US" sz="1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 → XA </a:t>
            </a:r>
          </a:p>
          <a:p>
            <a:r>
              <a:rPr lang="en-US" sz="1800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 S → a</a:t>
            </a:r>
          </a:p>
          <a:p>
            <a:r>
              <a:rPr lang="en-US" sz="1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 → BY</a:t>
            </a:r>
          </a:p>
          <a:p>
            <a:r>
              <a:rPr lang="en-US" sz="1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 → AB</a:t>
            </a:r>
          </a:p>
          <a:p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X → XAX </a:t>
            </a:r>
          </a:p>
          <a:p>
            <a:r>
              <a:rPr lang="en-US" sz="1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 → AX </a:t>
            </a:r>
          </a:p>
          <a:p>
            <a:r>
              <a:rPr lang="en-US" sz="1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 → XA  </a:t>
            </a:r>
          </a:p>
          <a:p>
            <a:r>
              <a:rPr lang="en-US" sz="1800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X → a</a:t>
            </a:r>
          </a:p>
          <a:p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X → XBX </a:t>
            </a:r>
          </a:p>
          <a:p>
            <a:r>
              <a:rPr lang="en-US" sz="1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 → </a:t>
            </a:r>
            <a:r>
              <a:rPr lang="en-US" sz="1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1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  </a:t>
            </a:r>
          </a:p>
          <a:p>
            <a:r>
              <a:rPr lang="en-US" sz="1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 → XB </a:t>
            </a:r>
          </a:p>
          <a:p>
            <a:r>
              <a:rPr lang="en-US" sz="1800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X → b</a:t>
            </a:r>
          </a:p>
          <a:p>
            <a:r>
              <a:rPr lang="en-US" sz="1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 → AB</a:t>
            </a:r>
          </a:p>
          <a:p>
            <a:r>
              <a:rPr lang="en-US" sz="1800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1800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a</a:t>
            </a:r>
          </a:p>
          <a:p>
            <a:r>
              <a:rPr lang="en-US" sz="1800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B  b</a:t>
            </a:r>
            <a:endParaRPr lang="en-US" sz="1800" b="1" dirty="0" smtClean="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1800" b="1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3769056" y="0"/>
            <a:ext cx="1721775" cy="6858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S → </a:t>
            </a:r>
            <a:r>
              <a:rPr lang="en-US" sz="18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X </a:t>
            </a:r>
          </a:p>
          <a:p>
            <a:r>
              <a:rPr lang="en-US" sz="1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 → AX  </a:t>
            </a:r>
          </a:p>
          <a:p>
            <a:r>
              <a:rPr lang="en-US" sz="1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 → XA </a:t>
            </a:r>
          </a:p>
          <a:p>
            <a:r>
              <a:rPr lang="en-US" sz="1800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 S → a</a:t>
            </a:r>
          </a:p>
          <a:p>
            <a:r>
              <a:rPr lang="en-US" sz="1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 → BY</a:t>
            </a:r>
          </a:p>
          <a:p>
            <a:r>
              <a:rPr lang="en-US" sz="1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 → AB</a:t>
            </a:r>
          </a:p>
          <a:p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X → </a:t>
            </a:r>
            <a:r>
              <a:rPr lang="en-US" sz="18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X </a:t>
            </a:r>
          </a:p>
          <a:p>
            <a:r>
              <a:rPr lang="en-US" sz="1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 → AX </a:t>
            </a:r>
          </a:p>
          <a:p>
            <a:r>
              <a:rPr lang="en-US" sz="1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 → XA  </a:t>
            </a:r>
          </a:p>
          <a:p>
            <a:r>
              <a:rPr lang="en-US" sz="1800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X → a</a:t>
            </a:r>
          </a:p>
          <a:p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X → </a:t>
            </a:r>
            <a:r>
              <a:rPr lang="en-US" sz="18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X </a:t>
            </a:r>
          </a:p>
          <a:p>
            <a:r>
              <a:rPr lang="en-US" sz="1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 → </a:t>
            </a:r>
            <a:r>
              <a:rPr lang="en-US" sz="1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1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  </a:t>
            </a:r>
          </a:p>
          <a:p>
            <a:r>
              <a:rPr lang="en-US" sz="1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 → XB </a:t>
            </a:r>
          </a:p>
          <a:p>
            <a:r>
              <a:rPr lang="en-US" sz="1800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X → b</a:t>
            </a:r>
          </a:p>
          <a:p>
            <a:r>
              <a:rPr lang="en-US" sz="1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 → AB</a:t>
            </a:r>
          </a:p>
          <a:p>
            <a:r>
              <a:rPr lang="en-US" sz="1800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1800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a</a:t>
            </a:r>
          </a:p>
          <a:p>
            <a:r>
              <a:rPr lang="en-US" sz="1800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B  b</a:t>
            </a:r>
            <a:endParaRPr lang="en-US" sz="1800" b="1" dirty="0" smtClean="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18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6960357" y="2157185"/>
            <a:ext cx="412162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S →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CX  |  AX  |  XA  |  a 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S →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BY  |  AB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→ CX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| AX | XA | a | DX | BX | XB | b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Y → AB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A → a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B → b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C  → XA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D  →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XB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5214269" y="122829"/>
            <a:ext cx="174640" cy="1473960"/>
            <a:chOff x="7164938" y="736979"/>
            <a:chExt cx="178270" cy="398060"/>
          </a:xfrm>
        </p:grpSpPr>
        <p:cxnSp>
          <p:nvCxnSpPr>
            <p:cNvPr id="11" name="Straight Connector 10"/>
            <p:cNvCxnSpPr/>
            <p:nvPr/>
          </p:nvCxnSpPr>
          <p:spPr>
            <a:xfrm>
              <a:off x="7179336" y="740287"/>
              <a:ext cx="162063" cy="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7164938" y="1135039"/>
              <a:ext cx="178270" cy="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7342496" y="736979"/>
              <a:ext cx="0" cy="39806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/>
          <p:cNvGrpSpPr/>
          <p:nvPr/>
        </p:nvGrpSpPr>
        <p:grpSpPr>
          <a:xfrm>
            <a:off x="5221323" y="1760560"/>
            <a:ext cx="167586" cy="518616"/>
            <a:chOff x="7164938" y="736979"/>
            <a:chExt cx="178270" cy="398060"/>
          </a:xfrm>
        </p:grpSpPr>
        <p:cxnSp>
          <p:nvCxnSpPr>
            <p:cNvPr id="18" name="Straight Connector 17"/>
            <p:cNvCxnSpPr/>
            <p:nvPr/>
          </p:nvCxnSpPr>
          <p:spPr>
            <a:xfrm>
              <a:off x="7179336" y="740287"/>
              <a:ext cx="162063" cy="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164938" y="1135039"/>
              <a:ext cx="178270" cy="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7342496" y="736979"/>
              <a:ext cx="0" cy="39806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/>
          <p:cNvGrpSpPr/>
          <p:nvPr/>
        </p:nvGrpSpPr>
        <p:grpSpPr>
          <a:xfrm>
            <a:off x="5105360" y="5695005"/>
            <a:ext cx="199790" cy="330959"/>
            <a:chOff x="7164938" y="736979"/>
            <a:chExt cx="178270" cy="398060"/>
          </a:xfrm>
        </p:grpSpPr>
        <p:cxnSp>
          <p:nvCxnSpPr>
            <p:cNvPr id="22" name="Straight Connector 21"/>
            <p:cNvCxnSpPr/>
            <p:nvPr/>
          </p:nvCxnSpPr>
          <p:spPr>
            <a:xfrm>
              <a:off x="7179336" y="740287"/>
              <a:ext cx="162063" cy="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7164938" y="1135039"/>
              <a:ext cx="178270" cy="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7342496" y="736979"/>
              <a:ext cx="0" cy="39806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/>
          <p:cNvGrpSpPr/>
          <p:nvPr/>
        </p:nvGrpSpPr>
        <p:grpSpPr>
          <a:xfrm>
            <a:off x="5114374" y="6105101"/>
            <a:ext cx="199790" cy="304800"/>
            <a:chOff x="7164938" y="736979"/>
            <a:chExt cx="178270" cy="398060"/>
          </a:xfrm>
        </p:grpSpPr>
        <p:cxnSp>
          <p:nvCxnSpPr>
            <p:cNvPr id="26" name="Straight Connector 25"/>
            <p:cNvCxnSpPr/>
            <p:nvPr/>
          </p:nvCxnSpPr>
          <p:spPr>
            <a:xfrm>
              <a:off x="7179336" y="740287"/>
              <a:ext cx="162063" cy="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7164938" y="1135039"/>
              <a:ext cx="178270" cy="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7342496" y="736979"/>
              <a:ext cx="0" cy="39806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/>
          <p:cNvGrpSpPr/>
          <p:nvPr/>
        </p:nvGrpSpPr>
        <p:grpSpPr>
          <a:xfrm>
            <a:off x="5114374" y="6446294"/>
            <a:ext cx="199790" cy="304800"/>
            <a:chOff x="7164938" y="736979"/>
            <a:chExt cx="178270" cy="398060"/>
          </a:xfrm>
        </p:grpSpPr>
        <p:cxnSp>
          <p:nvCxnSpPr>
            <p:cNvPr id="30" name="Straight Connector 29"/>
            <p:cNvCxnSpPr/>
            <p:nvPr/>
          </p:nvCxnSpPr>
          <p:spPr>
            <a:xfrm>
              <a:off x="7179336" y="740287"/>
              <a:ext cx="162063" cy="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7164938" y="1135039"/>
              <a:ext cx="178270" cy="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7342496" y="736979"/>
              <a:ext cx="0" cy="39806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/>
          <p:cNvGrpSpPr/>
          <p:nvPr/>
        </p:nvGrpSpPr>
        <p:grpSpPr>
          <a:xfrm>
            <a:off x="5112026" y="2574366"/>
            <a:ext cx="255973" cy="2925681"/>
            <a:chOff x="7164938" y="736979"/>
            <a:chExt cx="178270" cy="398060"/>
          </a:xfrm>
        </p:grpSpPr>
        <p:cxnSp>
          <p:nvCxnSpPr>
            <p:cNvPr id="34" name="Straight Connector 33"/>
            <p:cNvCxnSpPr/>
            <p:nvPr/>
          </p:nvCxnSpPr>
          <p:spPr>
            <a:xfrm>
              <a:off x="7179336" y="740287"/>
              <a:ext cx="162063" cy="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7164938" y="1135039"/>
              <a:ext cx="178270" cy="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7342496" y="736979"/>
              <a:ext cx="0" cy="39806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/>
          <p:cNvGrpSpPr/>
          <p:nvPr/>
        </p:nvGrpSpPr>
        <p:grpSpPr>
          <a:xfrm>
            <a:off x="3023571" y="3081872"/>
            <a:ext cx="199790" cy="304800"/>
            <a:chOff x="7164938" y="736979"/>
            <a:chExt cx="178270" cy="398060"/>
          </a:xfrm>
        </p:grpSpPr>
        <p:cxnSp>
          <p:nvCxnSpPr>
            <p:cNvPr id="38" name="Straight Connector 37"/>
            <p:cNvCxnSpPr/>
            <p:nvPr/>
          </p:nvCxnSpPr>
          <p:spPr>
            <a:xfrm>
              <a:off x="7179336" y="740287"/>
              <a:ext cx="162063" cy="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7164938" y="1135039"/>
              <a:ext cx="178270" cy="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>
              <a:off x="7342496" y="736979"/>
              <a:ext cx="0" cy="39806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/>
          <p:cNvGrpSpPr/>
          <p:nvPr/>
        </p:nvGrpSpPr>
        <p:grpSpPr>
          <a:xfrm>
            <a:off x="3007435" y="2549859"/>
            <a:ext cx="199790" cy="304800"/>
            <a:chOff x="7164938" y="736979"/>
            <a:chExt cx="178270" cy="398060"/>
          </a:xfrm>
        </p:grpSpPr>
        <p:cxnSp>
          <p:nvCxnSpPr>
            <p:cNvPr id="42" name="Straight Connector 41"/>
            <p:cNvCxnSpPr/>
            <p:nvPr/>
          </p:nvCxnSpPr>
          <p:spPr>
            <a:xfrm>
              <a:off x="7179336" y="740287"/>
              <a:ext cx="162063" cy="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>
              <a:off x="7164938" y="1135039"/>
              <a:ext cx="178270" cy="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>
              <a:off x="7342496" y="736979"/>
              <a:ext cx="0" cy="39806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85700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5027</TotalTime>
  <Words>4969</Words>
  <Application>Microsoft Office PowerPoint</Application>
  <PresentationFormat>Widescreen</PresentationFormat>
  <Paragraphs>1398</Paragraphs>
  <Slides>49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7" baseType="lpstr">
      <vt:lpstr>Arial</vt:lpstr>
      <vt:lpstr>Bell MT</vt:lpstr>
      <vt:lpstr>Calibri</vt:lpstr>
      <vt:lpstr>Century Gothic</vt:lpstr>
      <vt:lpstr>Times New Roman</vt:lpstr>
      <vt:lpstr>Wingdings</vt:lpstr>
      <vt:lpstr>Wingdings 3</vt:lpstr>
      <vt:lpstr>Ion</vt:lpstr>
      <vt:lpstr>Chomsky Normal Form </vt:lpstr>
      <vt:lpstr>Chomsky Normal Form: CNF </vt:lpstr>
      <vt:lpstr> Chomsky Normal Form: CNF </vt:lpstr>
      <vt:lpstr> Chomsky Normal Form: CNF </vt:lpstr>
      <vt:lpstr> Chomsky Normal Form: CNF </vt:lpstr>
      <vt:lpstr> Chomsky Normal Form: CNF </vt:lpstr>
      <vt:lpstr>Chomsky Normal Form</vt:lpstr>
      <vt:lpstr>Chomsky Normal Form</vt:lpstr>
      <vt:lpstr>Chomsky Normal Form</vt:lpstr>
      <vt:lpstr>Chomsky Normal Form</vt:lpstr>
      <vt:lpstr>Chomsky Normal Form</vt:lpstr>
      <vt:lpstr>Chomsky Normal Form</vt:lpstr>
      <vt:lpstr>Chomsky Normal Form</vt:lpstr>
      <vt:lpstr>Chomsky Normal Form</vt:lpstr>
      <vt:lpstr>Chomsky Normal Form</vt:lpstr>
      <vt:lpstr>Chomsky Normal Form</vt:lpstr>
      <vt:lpstr>Chomsky Normal Form</vt:lpstr>
      <vt:lpstr>Chomsky Normal Form</vt:lpstr>
      <vt:lpstr>Chomsky Normal Form</vt:lpstr>
      <vt:lpstr>Chomsky Normal Form</vt:lpstr>
      <vt:lpstr>Chomsky Normal Form</vt:lpstr>
      <vt:lpstr>Chomsky Normal Form</vt:lpstr>
      <vt:lpstr>Chomsky Normal Form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CFG To CNF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Theory of Automata  &amp;  Formal Languages CS-214</dc:title>
  <dc:creator>Lenovo</dc:creator>
  <cp:lastModifiedBy>Dr. Amir Mehmood</cp:lastModifiedBy>
  <cp:revision>370</cp:revision>
  <dcterms:created xsi:type="dcterms:W3CDTF">2020-08-06T16:55:45Z</dcterms:created>
  <dcterms:modified xsi:type="dcterms:W3CDTF">2024-06-03T04:47:01Z</dcterms:modified>
</cp:coreProperties>
</file>