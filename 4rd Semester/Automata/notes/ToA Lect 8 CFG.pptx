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7" r:id="rId2"/>
    <p:sldId id="347" r:id="rId3"/>
    <p:sldId id="343" r:id="rId4"/>
    <p:sldId id="342" r:id="rId5"/>
    <p:sldId id="341" r:id="rId6"/>
    <p:sldId id="349" r:id="rId7"/>
    <p:sldId id="344" r:id="rId8"/>
    <p:sldId id="348" r:id="rId9"/>
    <p:sldId id="355" r:id="rId10"/>
    <p:sldId id="354" r:id="rId11"/>
    <p:sldId id="351" r:id="rId12"/>
    <p:sldId id="353" r:id="rId13"/>
    <p:sldId id="356" r:id="rId14"/>
    <p:sldId id="357" r:id="rId15"/>
    <p:sldId id="358" r:id="rId16"/>
    <p:sldId id="359" r:id="rId17"/>
    <p:sldId id="360" r:id="rId18"/>
    <p:sldId id="361" r:id="rId19"/>
    <p:sldId id="362" r:id="rId20"/>
    <p:sldId id="363" r:id="rId21"/>
    <p:sldId id="364" r:id="rId22"/>
    <p:sldId id="365" r:id="rId23"/>
    <p:sldId id="366" r:id="rId24"/>
    <p:sldId id="367" r:id="rId25"/>
    <p:sldId id="368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43" autoAdjust="0"/>
    <p:restoredTop sz="94660"/>
  </p:normalViewPr>
  <p:slideViewPr>
    <p:cSldViewPr snapToGrid="0">
      <p:cViewPr varScale="1">
        <p:scale>
          <a:sx n="65" d="100"/>
          <a:sy n="65" d="100"/>
        </p:scale>
        <p:origin x="48" y="2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79EBA8-DDA1-4AB3-B07E-8AA6C4D205AC}" type="datetimeFigureOut">
              <a:rPr lang="en-US" smtClean="0"/>
              <a:pPr/>
              <a:t>5/24/2024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64BAD-4C6F-4963-9982-EA3E7F549A2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8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B22B-F392-4B25-AB04-0A5AAD448F9C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67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DBD49-2BAF-4B95-86E0-118A92E5E563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25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EE944-CDEE-4D0D-A847-C60B84B72808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50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EAB84-7F29-494F-ADE2-A98E6EFD2F7B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482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F32E-3F89-4168-AFD8-A604666AC102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648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0857-0DE5-41E8-B03F-8919884F36FC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3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29B9F-4709-4E7A-A91A-C4C980098F49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06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14C3-4346-4F5B-861E-A1A0641A9428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07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17D17-787E-4508-8684-BE220DC9491E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45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8AF0-6F54-48F0-84DD-8981FD128CDC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14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AE74-0E77-4AF9-A65B-78E647684C61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30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F2074-D7C2-4DFE-B201-6B2F5B874030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0346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2D29A-28BE-4E69-A65A-4D7B03795170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479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53BE3-AD7C-4DFA-8E74-D64362321A0C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048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E7AC6-8E32-4991-87BE-E815C5FC85F7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42D84-5099-469C-885E-3D9EDC2AB8E0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052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67865-681A-43C5-AC62-12B2C76D9845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197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EC87C72-48BC-46D9-818F-5C441AA70BC9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4423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brilliant.org/wiki/context-free-languages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30FC02-A163-4881-AB92-5D58261BA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0729" y="1192697"/>
            <a:ext cx="8825658" cy="4287050"/>
          </a:xfrm>
        </p:spPr>
        <p:txBody>
          <a:bodyPr/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 of Automata 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Languages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CS-224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7999725-D0CC-406C-B9E2-9CEA777B7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5AAD019-5575-4FDF-9A25-A21EAAA04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" y="0"/>
            <a:ext cx="1562983" cy="15629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6837D31-6D79-4AFC-9E3E-AE054EE8D669}"/>
              </a:ext>
            </a:extLst>
          </p:cNvPr>
          <p:cNvSpPr txBox="1"/>
          <p:nvPr/>
        </p:nvSpPr>
        <p:spPr>
          <a:xfrm>
            <a:off x="1603663" y="111063"/>
            <a:ext cx="7631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 Syed University of Engineering &amp; Technology, Karachi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475DEA5-836A-4454-AEBE-DB7FDA57F650}"/>
              </a:ext>
            </a:extLst>
          </p:cNvPr>
          <p:cNvSpPr txBox="1"/>
          <p:nvPr/>
        </p:nvSpPr>
        <p:spPr>
          <a:xfrm>
            <a:off x="4020579" y="6099716"/>
            <a:ext cx="4413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  <a:r>
              <a:rPr lang="en-US" sz="24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022469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2" y="452718"/>
            <a:ext cx="6396134" cy="625455"/>
          </a:xfrm>
        </p:spPr>
        <p:txBody>
          <a:bodyPr/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Context-free grammars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 (CFGs)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118" y="1261348"/>
            <a:ext cx="8946541" cy="4195481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Context-free grammars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(CFGs) are used to describe context-free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hlinkClick r:id="rId2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languages.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context-free grammar is a set of recursive rules used to generate patterns of strings.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context-free grammar can describe all regular languages and more, but they cannot describe 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all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possible languages.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338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162" y="906507"/>
            <a:ext cx="8946541" cy="5412407"/>
          </a:xfrm>
        </p:spPr>
        <p:txBody>
          <a:bodyPr>
            <a:no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Context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' in case of a 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grammar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refers to the position or setting in which a symbol appears in a string.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More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precisely the symbols that precede or succeed a particular symbol(terminal or non-terminal), determine its 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context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formal 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grammar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is considered "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context free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" when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production rules can be applied regardless of the 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context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of a nonterminal.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No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matter which symbols surround it,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single nonterminal on the left hand side can always be replaced by the right hand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82589" y="111524"/>
            <a:ext cx="4649220" cy="666398"/>
          </a:xfrm>
        </p:spPr>
        <p:txBody>
          <a:bodyPr/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Context Free Grammar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24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572" y="415188"/>
            <a:ext cx="8946541" cy="5862782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One can provide a formal definition of a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context free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grammar.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a 4-tuple (V, Σ, S, P) where: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a finite set of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variables (In Upper case);</a:t>
            </a:r>
          </a:p>
          <a:p>
            <a:pPr lvl="1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Σ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a finite alphabet of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terminals (In lower case); </a:t>
            </a:r>
          </a:p>
          <a:p>
            <a:pPr marL="457200" lvl="1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the start variable; and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the finite set of 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93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577" y="125172"/>
            <a:ext cx="4649220" cy="666398"/>
          </a:xfrm>
        </p:spPr>
        <p:txBody>
          <a:bodyPr/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Context Free Grammar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992" y="1206757"/>
            <a:ext cx="8946541" cy="419548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grammar consists of: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set of variables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one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of which is designated the start variable; It is customary to use upper-case letters for variables; </a:t>
            </a:r>
          </a:p>
          <a:p>
            <a:pPr marL="457200" lvl="1" indent="0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set of terminals (from the alphabet); and </a:t>
            </a:r>
          </a:p>
          <a:p>
            <a:pPr lvl="1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list of productions (also called rules).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0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471" y="565312"/>
            <a:ext cx="8946541" cy="419548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 as a start variable: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                V | VV | t | V t | t V</a:t>
            </a:r>
          </a:p>
          <a:p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V  is any Non-terminal Variable</a:t>
            </a:r>
          </a:p>
          <a:p>
            <a:pPr marL="742950" lvl="2" indent="-342900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     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AB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|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6</a:t>
            </a:fld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937981" y="1801504"/>
            <a:ext cx="777923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885668" y="3345975"/>
            <a:ext cx="777923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112059" y="2992032"/>
            <a:ext cx="3145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48017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4" y="97876"/>
            <a:ext cx="5549973" cy="748285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Symbols used in CFG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45002"/>
              </p:ext>
            </p:extLst>
          </p:nvPr>
        </p:nvGraphicFramePr>
        <p:xfrm>
          <a:off x="2032000" y="1433014"/>
          <a:ext cx="8128000" cy="2063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2300"/>
                <a:gridCol w="1822300"/>
                <a:gridCol w="1897907"/>
                <a:gridCol w="2585493"/>
              </a:tblGrid>
              <a:tr h="79223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Symbol</a:t>
                      </a:r>
                      <a:r>
                        <a:rPr lang="en-US" sz="2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in RE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Example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Symbol</a:t>
                      </a:r>
                      <a:r>
                        <a:rPr lang="en-US" sz="2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in CFG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Times New Roman" pitchFamily="18" charset="0"/>
                          <a:cs typeface="Times New Roman" pitchFamily="18" charset="0"/>
                        </a:rPr>
                        <a:t>Example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592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592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193" y="2361065"/>
            <a:ext cx="4094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32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62132" y="2296523"/>
            <a:ext cx="4094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|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96847" y="2308750"/>
            <a:ext cx="994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a+b</a:t>
            </a:r>
            <a:endParaRPr lang="en-US" sz="3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43323" y="2361065"/>
            <a:ext cx="11418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a</a:t>
            </a:r>
            <a:r>
              <a:rPr lang="en-US" sz="3200" dirty="0" err="1" smtClean="0">
                <a:solidFill>
                  <a:schemeClr val="bg1"/>
                </a:solidFill>
              </a:rPr>
              <a:t>|b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90705" y="2895802"/>
            <a:ext cx="1323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* ,+</a:t>
            </a:r>
            <a:endParaRPr lang="en-US" sz="4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93603" y="2797290"/>
            <a:ext cx="7017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a*</a:t>
            </a:r>
            <a:endParaRPr lang="en-US" sz="4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28897" y="2852781"/>
            <a:ext cx="15865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Recursive definition</a:t>
            </a:r>
            <a:endParaRPr lang="en-US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13154" y="3006669"/>
            <a:ext cx="6022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Aa</a:t>
            </a:r>
            <a:endParaRPr lang="en-US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876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652" y="1493360"/>
            <a:ext cx="8946541" cy="419548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Left Side of Every Production contains only One Variable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On right side of any production it may be only V or only t or any combination of V and t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42900" lvl="2" indent="-342900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             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| AB | a |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| b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| 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9228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Some rules for using Production.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580259" y="4056135"/>
            <a:ext cx="777923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806650" y="3702192"/>
            <a:ext cx="3145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681626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3953" y="0"/>
            <a:ext cx="2520170" cy="552667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Examples: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808" y="439001"/>
            <a:ext cx="7126290" cy="6418999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CFG for the language that contain words of one length character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  =   a + b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CFG :</a:t>
            </a:r>
          </a:p>
          <a:p>
            <a:pPr lvl="2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 → a  |  b 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CFG for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language that contain words of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two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length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character.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  =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b)(a + b)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CFG :</a:t>
            </a:r>
          </a:p>
          <a:p>
            <a:pPr lvl="2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|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|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|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bb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179929" y="2295406"/>
            <a:ext cx="20881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 → A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→ a | b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360459" y="5768779"/>
            <a:ext cx="20881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 → A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→ a | b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167960" y="5768124"/>
            <a:ext cx="4003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22850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4" grpId="0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0756" y="0"/>
            <a:ext cx="2547465" cy="720989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Examples: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616" y="865562"/>
            <a:ext cx="10101500" cy="5753602"/>
          </a:xfrm>
        </p:spPr>
        <p:txBody>
          <a:bodyPr/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CFG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for the  language that contain at most 3 character words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  =   (a + b +   ) (a + b +   ) (a + b +   )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CFG :</a:t>
            </a:r>
          </a:p>
          <a:p>
            <a:pPr lvl="2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 A</a:t>
            </a:r>
          </a:p>
          <a:p>
            <a:pPr lvl="2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→ a |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|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914400" lvl="2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CFG for the  language that contain at most 3 character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words, but start with a.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  =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a(a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+ b +   ) (a + b +   ) 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CFG :</a:t>
            </a:r>
          </a:p>
          <a:p>
            <a:pPr lvl="2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→ a | b |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876771" y="1238115"/>
            <a:ext cx="3273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400" dirty="0"/>
          </a:p>
        </p:txBody>
      </p:sp>
      <p:sp>
        <p:nvSpPr>
          <p:cNvPr id="7" name="Rectangle 6"/>
          <p:cNvSpPr/>
          <p:nvPr/>
        </p:nvSpPr>
        <p:spPr>
          <a:xfrm>
            <a:off x="4216527" y="1240392"/>
            <a:ext cx="3273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400" dirty="0"/>
          </a:p>
        </p:txBody>
      </p:sp>
      <p:sp>
        <p:nvSpPr>
          <p:cNvPr id="8" name="Rectangle 7"/>
          <p:cNvSpPr/>
          <p:nvPr/>
        </p:nvSpPr>
        <p:spPr>
          <a:xfrm>
            <a:off x="5583578" y="1238114"/>
            <a:ext cx="3273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400" dirty="0"/>
          </a:p>
        </p:txBody>
      </p:sp>
      <p:sp>
        <p:nvSpPr>
          <p:cNvPr id="9" name="Rectangle 8"/>
          <p:cNvSpPr/>
          <p:nvPr/>
        </p:nvSpPr>
        <p:spPr>
          <a:xfrm>
            <a:off x="2564408" y="2673405"/>
            <a:ext cx="3273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400" dirty="0"/>
          </a:p>
        </p:txBody>
      </p:sp>
      <p:sp>
        <p:nvSpPr>
          <p:cNvPr id="10" name="TextBox 9"/>
          <p:cNvSpPr txBox="1"/>
          <p:nvPr/>
        </p:nvSpPr>
        <p:spPr>
          <a:xfrm>
            <a:off x="2386782" y="2344268"/>
            <a:ext cx="4003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8421" y="2339700"/>
            <a:ext cx="4003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31363" y="4122350"/>
            <a:ext cx="3273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400" dirty="0"/>
          </a:p>
        </p:txBody>
      </p:sp>
      <p:sp>
        <p:nvSpPr>
          <p:cNvPr id="13" name="Rectangle 12"/>
          <p:cNvSpPr/>
          <p:nvPr/>
        </p:nvSpPr>
        <p:spPr>
          <a:xfrm>
            <a:off x="4284767" y="4097327"/>
            <a:ext cx="3273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400" dirty="0"/>
          </a:p>
        </p:txBody>
      </p:sp>
      <p:sp>
        <p:nvSpPr>
          <p:cNvPr id="14" name="TextBox 13"/>
          <p:cNvSpPr txBox="1"/>
          <p:nvPr/>
        </p:nvSpPr>
        <p:spPr>
          <a:xfrm>
            <a:off x="2298769" y="5182983"/>
            <a:ext cx="4003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5056" y="5182984"/>
            <a:ext cx="4003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86801" y="5548554"/>
            <a:ext cx="3273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458493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0881" y="0"/>
            <a:ext cx="2683943" cy="693694"/>
          </a:xfrm>
        </p:spPr>
        <p:txBody>
          <a:bodyPr/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Examples: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696" y="1192334"/>
            <a:ext cx="8946541" cy="549429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CFG for the  language that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contain only single a. 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{a}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 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  a 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CFG :</a:t>
            </a:r>
          </a:p>
          <a:p>
            <a:pPr lvl="2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/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CFG for the  language that contain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at least one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    </a:t>
            </a:r>
            <a:r>
              <a:rPr lang="el-GR" dirty="0" smtClean="0"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{a}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  =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300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{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a,aa,aaa,aaaa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,…………..}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CFG :</a:t>
            </a:r>
          </a:p>
          <a:p>
            <a:pPr lvl="2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 lvl="2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| a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120418" y="3195259"/>
            <a:ext cx="477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S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8359253" y="3523647"/>
            <a:ext cx="1" cy="422238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20417" y="3939482"/>
            <a:ext cx="477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53399" y="4801566"/>
            <a:ext cx="477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a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8392235" y="4250095"/>
            <a:ext cx="0" cy="551471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60675" y="3149595"/>
            <a:ext cx="477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S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10285861" y="3487501"/>
            <a:ext cx="1" cy="422238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060675" y="3861550"/>
            <a:ext cx="477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A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10060675" y="4203586"/>
            <a:ext cx="225189" cy="597980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0315422" y="4193231"/>
            <a:ext cx="222924" cy="608335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837751" y="4801566"/>
            <a:ext cx="477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315422" y="4706702"/>
            <a:ext cx="477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a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H="1">
            <a:off x="10075457" y="5102658"/>
            <a:ext cx="1" cy="422238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837743" y="5443008"/>
            <a:ext cx="477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9935570" y="4954139"/>
            <a:ext cx="805218" cy="858201"/>
          </a:xfrm>
          <a:custGeom>
            <a:avLst/>
            <a:gdLst>
              <a:gd name="connsiteX0" fmla="*/ 0 w 805218"/>
              <a:gd name="connsiteY0" fmla="*/ 914400 h 981376"/>
              <a:gd name="connsiteX1" fmla="*/ 395785 w 805218"/>
              <a:gd name="connsiteY1" fmla="*/ 914400 h 981376"/>
              <a:gd name="connsiteX2" fmla="*/ 504967 w 805218"/>
              <a:gd name="connsiteY2" fmla="*/ 218365 h 981376"/>
              <a:gd name="connsiteX3" fmla="*/ 805218 w 805218"/>
              <a:gd name="connsiteY3" fmla="*/ 0 h 981376"/>
              <a:gd name="connsiteX4" fmla="*/ 805218 w 805218"/>
              <a:gd name="connsiteY4" fmla="*/ 0 h 981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5218" h="981376">
                <a:moveTo>
                  <a:pt x="0" y="914400"/>
                </a:moveTo>
                <a:cubicBezTo>
                  <a:pt x="155812" y="972403"/>
                  <a:pt x="311624" y="1030406"/>
                  <a:pt x="395785" y="914400"/>
                </a:cubicBezTo>
                <a:cubicBezTo>
                  <a:pt x="479946" y="798394"/>
                  <a:pt x="436728" y="370765"/>
                  <a:pt x="504967" y="218365"/>
                </a:cubicBezTo>
                <a:cubicBezTo>
                  <a:pt x="573206" y="65965"/>
                  <a:pt x="805218" y="0"/>
                  <a:pt x="805218" y="0"/>
                </a:cubicBezTo>
                <a:lnTo>
                  <a:pt x="805218" y="0"/>
                </a:lnTo>
              </a:path>
            </a:pathLst>
          </a:custGeom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9730854" y="5838939"/>
            <a:ext cx="607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10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8" grpId="0"/>
      <p:bldP spid="10" grpId="0"/>
      <p:bldP spid="20" grpId="0"/>
      <p:bldP spid="22" grpId="0"/>
      <p:bldP spid="27" grpId="0"/>
      <p:bldP spid="28" grpId="0"/>
      <p:bldP spid="30" grpId="0"/>
      <p:bldP spid="32" grpId="0" animBg="1"/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9120" y="111523"/>
            <a:ext cx="2683943" cy="761933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Examples: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685" y="699207"/>
            <a:ext cx="8946541" cy="5869608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CFG for the  language that contain at least one a.     </a:t>
            </a:r>
            <a:r>
              <a:rPr lang="el-GR" sz="2400" dirty="0"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 {a}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  =   a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  {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a,aa,aaa,aaaa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,…………..}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CFG :</a:t>
            </a:r>
          </a:p>
          <a:p>
            <a:pPr lvl="2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 → A</a:t>
            </a:r>
          </a:p>
          <a:p>
            <a:pPr lvl="2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→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| a</a:t>
            </a:r>
          </a:p>
          <a:p>
            <a:endParaRPr lang="en-US" dirty="0" smtClean="0"/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CFG for the  language that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contains words of  any length.     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a,b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 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CFG :</a:t>
            </a:r>
          </a:p>
          <a:p>
            <a:pPr lvl="2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 → A</a:t>
            </a:r>
          </a:p>
          <a:p>
            <a:pPr lvl="2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| b |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|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791664" y="5173957"/>
            <a:ext cx="3273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400" dirty="0"/>
          </a:p>
        </p:txBody>
      </p:sp>
      <p:sp>
        <p:nvSpPr>
          <p:cNvPr id="7" name="TextBox 6"/>
          <p:cNvSpPr txBox="1"/>
          <p:nvPr/>
        </p:nvSpPr>
        <p:spPr>
          <a:xfrm>
            <a:off x="4612942" y="2115402"/>
            <a:ext cx="16377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 → A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→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→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29009" y="3945750"/>
            <a:ext cx="16377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 → A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→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→ a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→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→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→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24107" y="3759759"/>
            <a:ext cx="16377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 → A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→ a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→ B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→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→ A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584208" y="5635598"/>
            <a:ext cx="3273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400" dirty="0"/>
          </a:p>
        </p:txBody>
      </p:sp>
      <p:sp>
        <p:nvSpPr>
          <p:cNvPr id="11" name="Rectangle 10"/>
          <p:cNvSpPr/>
          <p:nvPr/>
        </p:nvSpPr>
        <p:spPr>
          <a:xfrm>
            <a:off x="7811066" y="5992104"/>
            <a:ext cx="3273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400" dirty="0"/>
          </a:p>
        </p:txBody>
      </p:sp>
      <p:sp>
        <p:nvSpPr>
          <p:cNvPr id="12" name="Rectangle 11"/>
          <p:cNvSpPr/>
          <p:nvPr/>
        </p:nvSpPr>
        <p:spPr>
          <a:xfrm>
            <a:off x="7838362" y="4623916"/>
            <a:ext cx="3273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87049" y="3329836"/>
            <a:ext cx="16377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 → AB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→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→ a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→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→ B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 →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 → A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619288" y="5742916"/>
            <a:ext cx="3273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400" dirty="0"/>
          </a:p>
        </p:txBody>
      </p:sp>
      <p:sp>
        <p:nvSpPr>
          <p:cNvPr id="15" name="Rectangle 14"/>
          <p:cNvSpPr/>
          <p:nvPr/>
        </p:nvSpPr>
        <p:spPr>
          <a:xfrm>
            <a:off x="9642248" y="4284373"/>
            <a:ext cx="3273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10686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9120" y="111523"/>
            <a:ext cx="2683943" cy="761933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Examples: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685" y="699207"/>
            <a:ext cx="8946541" cy="5869608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CFG for the  language that contain at least one a.     </a:t>
            </a:r>
            <a:r>
              <a:rPr lang="el-GR" sz="2400" dirty="0"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 {a}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  =   a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  {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a,aa,aaa,aaaa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,…………..}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CFG :</a:t>
            </a:r>
          </a:p>
          <a:p>
            <a:pPr lvl="2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 → A</a:t>
            </a:r>
          </a:p>
          <a:p>
            <a:pPr lvl="2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→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| a</a:t>
            </a:r>
          </a:p>
          <a:p>
            <a:endParaRPr lang="en-US" dirty="0" smtClean="0"/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CFG for the  language that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contains words of  any length.     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a,b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 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CFG :</a:t>
            </a:r>
          </a:p>
          <a:p>
            <a:pPr lvl="2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 → A</a:t>
            </a:r>
          </a:p>
          <a:p>
            <a:pPr lvl="2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| b |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|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791664" y="5173957"/>
            <a:ext cx="3273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400" dirty="0"/>
          </a:p>
        </p:txBody>
      </p:sp>
      <p:sp>
        <p:nvSpPr>
          <p:cNvPr id="7" name="TextBox 6"/>
          <p:cNvSpPr txBox="1"/>
          <p:nvPr/>
        </p:nvSpPr>
        <p:spPr>
          <a:xfrm>
            <a:off x="4612942" y="2115402"/>
            <a:ext cx="16377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 → A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→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→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29009" y="3945750"/>
            <a:ext cx="16377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 → A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→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→ a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→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→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→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584208" y="5635598"/>
            <a:ext cx="3273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0786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1445" y="1"/>
            <a:ext cx="4444504" cy="477672"/>
          </a:xfrm>
        </p:spPr>
        <p:txBody>
          <a:bodyPr/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CFG Continues…..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616" y="415182"/>
            <a:ext cx="6443899" cy="5183846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CFG for  a language that contains at least two characters with start and end with same symbol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CFG: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aAa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P-1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P-2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→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P-3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→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P-4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          P-5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         P-6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→              P-7</a:t>
            </a:r>
          </a:p>
          <a:p>
            <a:pPr lvl="1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Word to generate:  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ababbaa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Sequence of Production to use</a:t>
            </a: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410734" y="928049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62468" y="1687124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03580" y="2551512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90595" y="2583021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10734" y="1734892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7608626" y="1277694"/>
            <a:ext cx="0" cy="55955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/>
          <p:cNvGrpSpPr/>
          <p:nvPr/>
        </p:nvGrpSpPr>
        <p:grpSpPr>
          <a:xfrm>
            <a:off x="602223" y="5902823"/>
            <a:ext cx="3174193" cy="362404"/>
            <a:chOff x="450376" y="5599028"/>
            <a:chExt cx="3174193" cy="362404"/>
          </a:xfrm>
        </p:grpSpPr>
        <p:sp>
          <p:nvSpPr>
            <p:cNvPr id="16" name="TextBox 15"/>
            <p:cNvSpPr txBox="1"/>
            <p:nvPr/>
          </p:nvSpPr>
          <p:spPr>
            <a:xfrm>
              <a:off x="450376" y="5622878"/>
              <a:ext cx="4640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P1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25600" y="5611505"/>
              <a:ext cx="7483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═&gt;P4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243071" y="5613780"/>
              <a:ext cx="8165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═&gt;P3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781025" y="5610775"/>
              <a:ext cx="8165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═&gt;P4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288228" y="5599028"/>
              <a:ext cx="8165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═&gt;P4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807979" y="5600938"/>
              <a:ext cx="8165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═&gt;P5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22" name="Straight Arrow Connector 21"/>
          <p:cNvCxnSpPr/>
          <p:nvPr/>
        </p:nvCxnSpPr>
        <p:spPr>
          <a:xfrm>
            <a:off x="7622275" y="1290696"/>
            <a:ext cx="486770" cy="54655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6946713" y="1276400"/>
            <a:ext cx="627797" cy="52153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965744" y="1672831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7642743" y="2145649"/>
            <a:ext cx="323001" cy="54655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7130957" y="2131353"/>
            <a:ext cx="464022" cy="52153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390265" y="3371076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8029428" y="2965213"/>
            <a:ext cx="323001" cy="54655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7517642" y="2950917"/>
            <a:ext cx="464022" cy="52153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04576" y="3363269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792868" y="4164222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579883" y="4195731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8432031" y="3758359"/>
            <a:ext cx="323001" cy="54655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920245" y="3744063"/>
            <a:ext cx="464022" cy="52153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161357" y="4985725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48372" y="5017234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8800520" y="4579862"/>
            <a:ext cx="323001" cy="54655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8288734" y="4565566"/>
            <a:ext cx="464022" cy="52153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957460" y="5852248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9132616" y="5416612"/>
            <a:ext cx="0" cy="55955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2807979" y="1537168"/>
            <a:ext cx="4316152" cy="260769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V="1">
            <a:off x="2807979" y="2103718"/>
            <a:ext cx="4602755" cy="986602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2711589" y="2692205"/>
            <a:ext cx="5038064" cy="258712"/>
          </a:xfrm>
          <a:prstGeom prst="straightConnector1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2807979" y="3090319"/>
            <a:ext cx="5221449" cy="653744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2807979" y="3090319"/>
            <a:ext cx="5790096" cy="1528801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2960379" y="3511769"/>
            <a:ext cx="5987993" cy="1904843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6701051" y="1897039"/>
            <a:ext cx="423080" cy="286603"/>
          </a:xfrm>
          <a:custGeom>
            <a:avLst/>
            <a:gdLst>
              <a:gd name="connsiteX0" fmla="*/ 0 w 423080"/>
              <a:gd name="connsiteY0" fmla="*/ 0 h 286603"/>
              <a:gd name="connsiteX1" fmla="*/ 13648 w 423080"/>
              <a:gd name="connsiteY1" fmla="*/ 68239 h 286603"/>
              <a:gd name="connsiteX2" fmla="*/ 95534 w 423080"/>
              <a:gd name="connsiteY2" fmla="*/ 122830 h 286603"/>
              <a:gd name="connsiteX3" fmla="*/ 163773 w 423080"/>
              <a:gd name="connsiteY3" fmla="*/ 218364 h 286603"/>
              <a:gd name="connsiteX4" fmla="*/ 245659 w 423080"/>
              <a:gd name="connsiteY4" fmla="*/ 286603 h 286603"/>
              <a:gd name="connsiteX5" fmla="*/ 286603 w 423080"/>
              <a:gd name="connsiteY5" fmla="*/ 272955 h 286603"/>
              <a:gd name="connsiteX6" fmla="*/ 368489 w 423080"/>
              <a:gd name="connsiteY6" fmla="*/ 191068 h 286603"/>
              <a:gd name="connsiteX7" fmla="*/ 395785 w 423080"/>
              <a:gd name="connsiteY7" fmla="*/ 40943 h 286603"/>
              <a:gd name="connsiteX8" fmla="*/ 423080 w 423080"/>
              <a:gd name="connsiteY8" fmla="*/ 13648 h 28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3080" h="286603">
                <a:moveTo>
                  <a:pt x="0" y="0"/>
                </a:moveTo>
                <a:cubicBezTo>
                  <a:pt x="4549" y="22746"/>
                  <a:pt x="-593" y="49929"/>
                  <a:pt x="13648" y="68239"/>
                </a:cubicBezTo>
                <a:cubicBezTo>
                  <a:pt x="33788" y="94134"/>
                  <a:pt x="72337" y="99633"/>
                  <a:pt x="95534" y="122830"/>
                </a:cubicBezTo>
                <a:cubicBezTo>
                  <a:pt x="201987" y="229283"/>
                  <a:pt x="73955" y="92620"/>
                  <a:pt x="163773" y="218364"/>
                </a:cubicBezTo>
                <a:cubicBezTo>
                  <a:pt x="187655" y="251799"/>
                  <a:pt x="213013" y="264838"/>
                  <a:pt x="245659" y="286603"/>
                </a:cubicBezTo>
                <a:cubicBezTo>
                  <a:pt x="259307" y="282054"/>
                  <a:pt x="275247" y="281787"/>
                  <a:pt x="286603" y="272955"/>
                </a:cubicBezTo>
                <a:cubicBezTo>
                  <a:pt x="317073" y="249256"/>
                  <a:pt x="368489" y="191068"/>
                  <a:pt x="368489" y="191068"/>
                </a:cubicBezTo>
                <a:cubicBezTo>
                  <a:pt x="369401" y="185593"/>
                  <a:pt x="390583" y="53081"/>
                  <a:pt x="395785" y="40943"/>
                </a:cubicBezTo>
                <a:cubicBezTo>
                  <a:pt x="400854" y="29116"/>
                  <a:pt x="413982" y="22746"/>
                  <a:pt x="423080" y="13648"/>
                </a:cubicBezTo>
              </a:path>
            </a:pathLst>
          </a:custGeom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67"/>
          <p:cNvSpPr/>
          <p:nvPr/>
        </p:nvSpPr>
        <p:spPr>
          <a:xfrm>
            <a:off x="6927411" y="1897039"/>
            <a:ext cx="442380" cy="1214651"/>
          </a:xfrm>
          <a:custGeom>
            <a:avLst/>
            <a:gdLst>
              <a:gd name="connsiteX0" fmla="*/ 183073 w 442380"/>
              <a:gd name="connsiteY0" fmla="*/ 0 h 1214651"/>
              <a:gd name="connsiteX1" fmla="*/ 169425 w 442380"/>
              <a:gd name="connsiteY1" fmla="*/ 436728 h 1214651"/>
              <a:gd name="connsiteX2" fmla="*/ 155777 w 442380"/>
              <a:gd name="connsiteY2" fmla="*/ 477671 h 1214651"/>
              <a:gd name="connsiteX3" fmla="*/ 73890 w 442380"/>
              <a:gd name="connsiteY3" fmla="*/ 559558 h 1214651"/>
              <a:gd name="connsiteX4" fmla="*/ 60243 w 442380"/>
              <a:gd name="connsiteY4" fmla="*/ 614149 h 1214651"/>
              <a:gd name="connsiteX5" fmla="*/ 46595 w 442380"/>
              <a:gd name="connsiteY5" fmla="*/ 682388 h 1214651"/>
              <a:gd name="connsiteX6" fmla="*/ 19299 w 442380"/>
              <a:gd name="connsiteY6" fmla="*/ 736979 h 1214651"/>
              <a:gd name="connsiteX7" fmla="*/ 19299 w 442380"/>
              <a:gd name="connsiteY7" fmla="*/ 1146412 h 1214651"/>
              <a:gd name="connsiteX8" fmla="*/ 101186 w 442380"/>
              <a:gd name="connsiteY8" fmla="*/ 1173707 h 1214651"/>
              <a:gd name="connsiteX9" fmla="*/ 169425 w 442380"/>
              <a:gd name="connsiteY9" fmla="*/ 1201003 h 1214651"/>
              <a:gd name="connsiteX10" fmla="*/ 224016 w 442380"/>
              <a:gd name="connsiteY10" fmla="*/ 1214651 h 1214651"/>
              <a:gd name="connsiteX11" fmla="*/ 360493 w 442380"/>
              <a:gd name="connsiteY11" fmla="*/ 1201003 h 1214651"/>
              <a:gd name="connsiteX12" fmla="*/ 374141 w 442380"/>
              <a:gd name="connsiteY12" fmla="*/ 1160060 h 1214651"/>
              <a:gd name="connsiteX13" fmla="*/ 401437 w 442380"/>
              <a:gd name="connsiteY13" fmla="*/ 1119116 h 1214651"/>
              <a:gd name="connsiteX14" fmla="*/ 415085 w 442380"/>
              <a:gd name="connsiteY14" fmla="*/ 941695 h 1214651"/>
              <a:gd name="connsiteX15" fmla="*/ 442380 w 442380"/>
              <a:gd name="connsiteY15" fmla="*/ 900752 h 1214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380" h="1214651">
                <a:moveTo>
                  <a:pt x="183073" y="0"/>
                </a:moveTo>
                <a:cubicBezTo>
                  <a:pt x="178524" y="145576"/>
                  <a:pt x="177734" y="291318"/>
                  <a:pt x="169425" y="436728"/>
                </a:cubicBezTo>
                <a:cubicBezTo>
                  <a:pt x="168604" y="451091"/>
                  <a:pt x="164609" y="466315"/>
                  <a:pt x="155777" y="477671"/>
                </a:cubicBezTo>
                <a:cubicBezTo>
                  <a:pt x="132078" y="508141"/>
                  <a:pt x="73890" y="559558"/>
                  <a:pt x="73890" y="559558"/>
                </a:cubicBezTo>
                <a:cubicBezTo>
                  <a:pt x="69341" y="577755"/>
                  <a:pt x="64312" y="595839"/>
                  <a:pt x="60243" y="614149"/>
                </a:cubicBezTo>
                <a:cubicBezTo>
                  <a:pt x="55211" y="636793"/>
                  <a:pt x="53931" y="660382"/>
                  <a:pt x="46595" y="682388"/>
                </a:cubicBezTo>
                <a:cubicBezTo>
                  <a:pt x="40161" y="701689"/>
                  <a:pt x="28398" y="718782"/>
                  <a:pt x="19299" y="736979"/>
                </a:cubicBezTo>
                <a:cubicBezTo>
                  <a:pt x="6842" y="861554"/>
                  <a:pt x="-17063" y="1032130"/>
                  <a:pt x="19299" y="1146412"/>
                </a:cubicBezTo>
                <a:cubicBezTo>
                  <a:pt x="28023" y="1173830"/>
                  <a:pt x="74472" y="1163021"/>
                  <a:pt x="101186" y="1173707"/>
                </a:cubicBezTo>
                <a:cubicBezTo>
                  <a:pt x="123932" y="1182806"/>
                  <a:pt x="146184" y="1193256"/>
                  <a:pt x="169425" y="1201003"/>
                </a:cubicBezTo>
                <a:cubicBezTo>
                  <a:pt x="187219" y="1206935"/>
                  <a:pt x="205819" y="1210102"/>
                  <a:pt x="224016" y="1214651"/>
                </a:cubicBezTo>
                <a:cubicBezTo>
                  <a:pt x="269508" y="1210102"/>
                  <a:pt x="317526" y="1216627"/>
                  <a:pt x="360493" y="1201003"/>
                </a:cubicBezTo>
                <a:cubicBezTo>
                  <a:pt x="374013" y="1196087"/>
                  <a:pt x="367707" y="1172927"/>
                  <a:pt x="374141" y="1160060"/>
                </a:cubicBezTo>
                <a:cubicBezTo>
                  <a:pt x="381477" y="1145389"/>
                  <a:pt x="392338" y="1132764"/>
                  <a:pt x="401437" y="1119116"/>
                </a:cubicBezTo>
                <a:cubicBezTo>
                  <a:pt x="405986" y="1059976"/>
                  <a:pt x="404154" y="999994"/>
                  <a:pt x="415085" y="941695"/>
                </a:cubicBezTo>
                <a:cubicBezTo>
                  <a:pt x="418108" y="925574"/>
                  <a:pt x="442380" y="900752"/>
                  <a:pt x="442380" y="900752"/>
                </a:cubicBezTo>
              </a:path>
            </a:pathLst>
          </a:custGeom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Freeform 68"/>
          <p:cNvSpPr/>
          <p:nvPr/>
        </p:nvSpPr>
        <p:spPr>
          <a:xfrm>
            <a:off x="7272155" y="2825087"/>
            <a:ext cx="534364" cy="1132764"/>
          </a:xfrm>
          <a:custGeom>
            <a:avLst/>
            <a:gdLst>
              <a:gd name="connsiteX0" fmla="*/ 97636 w 534364"/>
              <a:gd name="connsiteY0" fmla="*/ 0 h 1132764"/>
              <a:gd name="connsiteX1" fmla="*/ 83988 w 534364"/>
              <a:gd name="connsiteY1" fmla="*/ 68238 h 1132764"/>
              <a:gd name="connsiteX2" fmla="*/ 70341 w 534364"/>
              <a:gd name="connsiteY2" fmla="*/ 109182 h 1132764"/>
              <a:gd name="connsiteX3" fmla="*/ 56693 w 534364"/>
              <a:gd name="connsiteY3" fmla="*/ 177420 h 1132764"/>
              <a:gd name="connsiteX4" fmla="*/ 43045 w 534364"/>
              <a:gd name="connsiteY4" fmla="*/ 218364 h 1132764"/>
              <a:gd name="connsiteX5" fmla="*/ 29397 w 534364"/>
              <a:gd name="connsiteY5" fmla="*/ 272955 h 1132764"/>
              <a:gd name="connsiteX6" fmla="*/ 15749 w 534364"/>
              <a:gd name="connsiteY6" fmla="*/ 313898 h 1132764"/>
              <a:gd name="connsiteX7" fmla="*/ 2102 w 534364"/>
              <a:gd name="connsiteY7" fmla="*/ 382137 h 1132764"/>
              <a:gd name="connsiteX8" fmla="*/ 15749 w 534364"/>
              <a:gd name="connsiteY8" fmla="*/ 1037229 h 1132764"/>
              <a:gd name="connsiteX9" fmla="*/ 97636 w 534364"/>
              <a:gd name="connsiteY9" fmla="*/ 1119116 h 1132764"/>
              <a:gd name="connsiteX10" fmla="*/ 165875 w 534364"/>
              <a:gd name="connsiteY10" fmla="*/ 1132764 h 1132764"/>
              <a:gd name="connsiteX11" fmla="*/ 425182 w 534364"/>
              <a:gd name="connsiteY11" fmla="*/ 1091820 h 1132764"/>
              <a:gd name="connsiteX12" fmla="*/ 507069 w 534364"/>
              <a:gd name="connsiteY12" fmla="*/ 1023582 h 1132764"/>
              <a:gd name="connsiteX13" fmla="*/ 520717 w 534364"/>
              <a:gd name="connsiteY13" fmla="*/ 968991 h 1132764"/>
              <a:gd name="connsiteX14" fmla="*/ 534364 w 534364"/>
              <a:gd name="connsiteY14" fmla="*/ 777922 h 1132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4364" h="1132764">
                <a:moveTo>
                  <a:pt x="97636" y="0"/>
                </a:moveTo>
                <a:cubicBezTo>
                  <a:pt x="93087" y="22746"/>
                  <a:pt x="89614" y="45734"/>
                  <a:pt x="83988" y="68238"/>
                </a:cubicBezTo>
                <a:cubicBezTo>
                  <a:pt x="80499" y="82195"/>
                  <a:pt x="73830" y="95225"/>
                  <a:pt x="70341" y="109182"/>
                </a:cubicBezTo>
                <a:cubicBezTo>
                  <a:pt x="64715" y="131686"/>
                  <a:pt x="62319" y="154916"/>
                  <a:pt x="56693" y="177420"/>
                </a:cubicBezTo>
                <a:cubicBezTo>
                  <a:pt x="53204" y="191377"/>
                  <a:pt x="46997" y="204531"/>
                  <a:pt x="43045" y="218364"/>
                </a:cubicBezTo>
                <a:cubicBezTo>
                  <a:pt x="37892" y="236399"/>
                  <a:pt x="34550" y="254920"/>
                  <a:pt x="29397" y="272955"/>
                </a:cubicBezTo>
                <a:cubicBezTo>
                  <a:pt x="25445" y="286787"/>
                  <a:pt x="19238" y="299942"/>
                  <a:pt x="15749" y="313898"/>
                </a:cubicBezTo>
                <a:cubicBezTo>
                  <a:pt x="10123" y="336402"/>
                  <a:pt x="6651" y="359391"/>
                  <a:pt x="2102" y="382137"/>
                </a:cubicBezTo>
                <a:cubicBezTo>
                  <a:pt x="6651" y="600501"/>
                  <a:pt x="-12329" y="820630"/>
                  <a:pt x="15749" y="1037229"/>
                </a:cubicBezTo>
                <a:cubicBezTo>
                  <a:pt x="20711" y="1075511"/>
                  <a:pt x="59784" y="1111545"/>
                  <a:pt x="97636" y="1119116"/>
                </a:cubicBezTo>
                <a:lnTo>
                  <a:pt x="165875" y="1132764"/>
                </a:lnTo>
                <a:cubicBezTo>
                  <a:pt x="342747" y="1097389"/>
                  <a:pt x="256242" y="1110591"/>
                  <a:pt x="425182" y="1091820"/>
                </a:cubicBezTo>
                <a:cubicBezTo>
                  <a:pt x="451273" y="1074427"/>
                  <a:pt x="490902" y="1051875"/>
                  <a:pt x="507069" y="1023582"/>
                </a:cubicBezTo>
                <a:cubicBezTo>
                  <a:pt x="516375" y="1007296"/>
                  <a:pt x="516168" y="987188"/>
                  <a:pt x="520717" y="968991"/>
                </a:cubicBezTo>
                <a:lnTo>
                  <a:pt x="534364" y="777922"/>
                </a:lnTo>
              </a:path>
            </a:pathLst>
          </a:custGeom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reeform 69"/>
          <p:cNvSpPr/>
          <p:nvPr/>
        </p:nvSpPr>
        <p:spPr>
          <a:xfrm>
            <a:off x="7637627" y="3643952"/>
            <a:ext cx="579938" cy="1132764"/>
          </a:xfrm>
          <a:custGeom>
            <a:avLst/>
            <a:gdLst>
              <a:gd name="connsiteX0" fmla="*/ 168892 w 579938"/>
              <a:gd name="connsiteY0" fmla="*/ 0 h 1132764"/>
              <a:gd name="connsiteX1" fmla="*/ 155245 w 579938"/>
              <a:gd name="connsiteY1" fmla="*/ 204717 h 1132764"/>
              <a:gd name="connsiteX2" fmla="*/ 114301 w 579938"/>
              <a:gd name="connsiteY2" fmla="*/ 395785 h 1132764"/>
              <a:gd name="connsiteX3" fmla="*/ 100654 w 579938"/>
              <a:gd name="connsiteY3" fmla="*/ 450376 h 1132764"/>
              <a:gd name="connsiteX4" fmla="*/ 32415 w 579938"/>
              <a:gd name="connsiteY4" fmla="*/ 573206 h 1132764"/>
              <a:gd name="connsiteX5" fmla="*/ 18767 w 579938"/>
              <a:gd name="connsiteY5" fmla="*/ 668741 h 1132764"/>
              <a:gd name="connsiteX6" fmla="*/ 18767 w 579938"/>
              <a:gd name="connsiteY6" fmla="*/ 1023582 h 1132764"/>
              <a:gd name="connsiteX7" fmla="*/ 73358 w 579938"/>
              <a:gd name="connsiteY7" fmla="*/ 1050878 h 1132764"/>
              <a:gd name="connsiteX8" fmla="*/ 155245 w 579938"/>
              <a:gd name="connsiteY8" fmla="*/ 1132764 h 1132764"/>
              <a:gd name="connsiteX9" fmla="*/ 428200 w 579938"/>
              <a:gd name="connsiteY9" fmla="*/ 1119117 h 1132764"/>
              <a:gd name="connsiteX10" fmla="*/ 510086 w 579938"/>
              <a:gd name="connsiteY10" fmla="*/ 1037230 h 1132764"/>
              <a:gd name="connsiteX11" fmla="*/ 551030 w 579938"/>
              <a:gd name="connsiteY11" fmla="*/ 941696 h 1132764"/>
              <a:gd name="connsiteX12" fmla="*/ 564677 w 579938"/>
              <a:gd name="connsiteY12" fmla="*/ 887105 h 1132764"/>
              <a:gd name="connsiteX13" fmla="*/ 578325 w 579938"/>
              <a:gd name="connsiteY13" fmla="*/ 846161 h 1132764"/>
              <a:gd name="connsiteX14" fmla="*/ 578325 w 579938"/>
              <a:gd name="connsiteY14" fmla="*/ 682388 h 1132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79938" h="1132764">
                <a:moveTo>
                  <a:pt x="168892" y="0"/>
                </a:moveTo>
                <a:cubicBezTo>
                  <a:pt x="164343" y="68239"/>
                  <a:pt x="161729" y="136635"/>
                  <a:pt x="155245" y="204717"/>
                </a:cubicBezTo>
                <a:cubicBezTo>
                  <a:pt x="149148" y="268734"/>
                  <a:pt x="129710" y="334147"/>
                  <a:pt x="114301" y="395785"/>
                </a:cubicBezTo>
                <a:cubicBezTo>
                  <a:pt x="109752" y="413982"/>
                  <a:pt x="111058" y="434769"/>
                  <a:pt x="100654" y="450376"/>
                </a:cubicBezTo>
                <a:cubicBezTo>
                  <a:pt x="38083" y="544233"/>
                  <a:pt x="56437" y="501141"/>
                  <a:pt x="32415" y="573206"/>
                </a:cubicBezTo>
                <a:cubicBezTo>
                  <a:pt x="27866" y="605051"/>
                  <a:pt x="23019" y="636855"/>
                  <a:pt x="18767" y="668741"/>
                </a:cubicBezTo>
                <a:cubicBezTo>
                  <a:pt x="2449" y="791126"/>
                  <a:pt x="-13691" y="893749"/>
                  <a:pt x="18767" y="1023582"/>
                </a:cubicBezTo>
                <a:cubicBezTo>
                  <a:pt x="23701" y="1043319"/>
                  <a:pt x="57471" y="1038169"/>
                  <a:pt x="73358" y="1050878"/>
                </a:cubicBezTo>
                <a:cubicBezTo>
                  <a:pt x="103501" y="1074992"/>
                  <a:pt x="155245" y="1132764"/>
                  <a:pt x="155245" y="1132764"/>
                </a:cubicBezTo>
                <a:cubicBezTo>
                  <a:pt x="246230" y="1128215"/>
                  <a:pt x="337867" y="1130900"/>
                  <a:pt x="428200" y="1119117"/>
                </a:cubicBezTo>
                <a:cubicBezTo>
                  <a:pt x="459577" y="1115024"/>
                  <a:pt x="498812" y="1055269"/>
                  <a:pt x="510086" y="1037230"/>
                </a:cubicBezTo>
                <a:cubicBezTo>
                  <a:pt x="529240" y="1006584"/>
                  <a:pt x="541255" y="975910"/>
                  <a:pt x="551030" y="941696"/>
                </a:cubicBezTo>
                <a:cubicBezTo>
                  <a:pt x="556183" y="923661"/>
                  <a:pt x="559524" y="905140"/>
                  <a:pt x="564677" y="887105"/>
                </a:cubicBezTo>
                <a:cubicBezTo>
                  <a:pt x="568629" y="873272"/>
                  <a:pt x="577368" y="860515"/>
                  <a:pt x="578325" y="846161"/>
                </a:cubicBezTo>
                <a:cubicBezTo>
                  <a:pt x="581956" y="791691"/>
                  <a:pt x="578325" y="736979"/>
                  <a:pt x="578325" y="682388"/>
                </a:cubicBezTo>
              </a:path>
            </a:pathLst>
          </a:custGeom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 70"/>
          <p:cNvSpPr/>
          <p:nvPr/>
        </p:nvSpPr>
        <p:spPr>
          <a:xfrm>
            <a:off x="8079475" y="4339988"/>
            <a:ext cx="492662" cy="1269242"/>
          </a:xfrm>
          <a:custGeom>
            <a:avLst/>
            <a:gdLst>
              <a:gd name="connsiteX0" fmla="*/ 150125 w 492662"/>
              <a:gd name="connsiteY0" fmla="*/ 0 h 1269242"/>
              <a:gd name="connsiteX1" fmla="*/ 136477 w 492662"/>
              <a:gd name="connsiteY1" fmla="*/ 163773 h 1269242"/>
              <a:gd name="connsiteX2" fmla="*/ 109182 w 492662"/>
              <a:gd name="connsiteY2" fmla="*/ 232012 h 1269242"/>
              <a:gd name="connsiteX3" fmla="*/ 81886 w 492662"/>
              <a:gd name="connsiteY3" fmla="*/ 341194 h 1269242"/>
              <a:gd name="connsiteX4" fmla="*/ 54591 w 492662"/>
              <a:gd name="connsiteY4" fmla="*/ 545911 h 1269242"/>
              <a:gd name="connsiteX5" fmla="*/ 40943 w 492662"/>
              <a:gd name="connsiteY5" fmla="*/ 614149 h 1269242"/>
              <a:gd name="connsiteX6" fmla="*/ 27295 w 492662"/>
              <a:gd name="connsiteY6" fmla="*/ 777922 h 1269242"/>
              <a:gd name="connsiteX7" fmla="*/ 0 w 492662"/>
              <a:gd name="connsiteY7" fmla="*/ 1119116 h 1269242"/>
              <a:gd name="connsiteX8" fmla="*/ 13647 w 492662"/>
              <a:gd name="connsiteY8" fmla="*/ 1255594 h 1269242"/>
              <a:gd name="connsiteX9" fmla="*/ 54591 w 492662"/>
              <a:gd name="connsiteY9" fmla="*/ 1269242 h 1269242"/>
              <a:gd name="connsiteX10" fmla="*/ 300250 w 492662"/>
              <a:gd name="connsiteY10" fmla="*/ 1255594 h 1269242"/>
              <a:gd name="connsiteX11" fmla="*/ 382137 w 492662"/>
              <a:gd name="connsiteY11" fmla="*/ 1201003 h 1269242"/>
              <a:gd name="connsiteX12" fmla="*/ 423080 w 492662"/>
              <a:gd name="connsiteY12" fmla="*/ 1173708 h 1269242"/>
              <a:gd name="connsiteX13" fmla="*/ 464024 w 492662"/>
              <a:gd name="connsiteY13" fmla="*/ 1078173 h 1269242"/>
              <a:gd name="connsiteX14" fmla="*/ 491319 w 492662"/>
              <a:gd name="connsiteY14" fmla="*/ 982639 h 1269242"/>
              <a:gd name="connsiteX15" fmla="*/ 491319 w 492662"/>
              <a:gd name="connsiteY15" fmla="*/ 873457 h 1269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92662" h="1269242">
                <a:moveTo>
                  <a:pt x="150125" y="0"/>
                </a:moveTo>
                <a:cubicBezTo>
                  <a:pt x="145576" y="54591"/>
                  <a:pt x="145997" y="109826"/>
                  <a:pt x="136477" y="163773"/>
                </a:cubicBezTo>
                <a:cubicBezTo>
                  <a:pt x="132220" y="187899"/>
                  <a:pt x="117784" y="209073"/>
                  <a:pt x="109182" y="232012"/>
                </a:cubicBezTo>
                <a:cubicBezTo>
                  <a:pt x="92469" y="276580"/>
                  <a:pt x="91469" y="288487"/>
                  <a:pt x="81886" y="341194"/>
                </a:cubicBezTo>
                <a:cubicBezTo>
                  <a:pt x="53311" y="498356"/>
                  <a:pt x="83434" y="344009"/>
                  <a:pt x="54591" y="545911"/>
                </a:cubicBezTo>
                <a:cubicBezTo>
                  <a:pt x="51311" y="568874"/>
                  <a:pt x="45492" y="591403"/>
                  <a:pt x="40943" y="614149"/>
                </a:cubicBezTo>
                <a:cubicBezTo>
                  <a:pt x="36394" y="668740"/>
                  <a:pt x="30512" y="723236"/>
                  <a:pt x="27295" y="777922"/>
                </a:cubicBezTo>
                <a:cubicBezTo>
                  <a:pt x="7886" y="1107868"/>
                  <a:pt x="46061" y="980926"/>
                  <a:pt x="0" y="1119116"/>
                </a:cubicBezTo>
                <a:cubicBezTo>
                  <a:pt x="4549" y="1164609"/>
                  <a:pt x="-1977" y="1212627"/>
                  <a:pt x="13647" y="1255594"/>
                </a:cubicBezTo>
                <a:cubicBezTo>
                  <a:pt x="18563" y="1269114"/>
                  <a:pt x="40205" y="1269242"/>
                  <a:pt x="54591" y="1269242"/>
                </a:cubicBezTo>
                <a:cubicBezTo>
                  <a:pt x="136604" y="1269242"/>
                  <a:pt x="218364" y="1260143"/>
                  <a:pt x="300250" y="1255594"/>
                </a:cubicBezTo>
                <a:lnTo>
                  <a:pt x="382137" y="1201003"/>
                </a:lnTo>
                <a:lnTo>
                  <a:pt x="423080" y="1173708"/>
                </a:lnTo>
                <a:cubicBezTo>
                  <a:pt x="464633" y="1111379"/>
                  <a:pt x="441992" y="1155285"/>
                  <a:pt x="464024" y="1078173"/>
                </a:cubicBezTo>
                <a:cubicBezTo>
                  <a:pt x="472383" y="1048915"/>
                  <a:pt x="488810" y="1012749"/>
                  <a:pt x="491319" y="982639"/>
                </a:cubicBezTo>
                <a:cubicBezTo>
                  <a:pt x="494341" y="946371"/>
                  <a:pt x="491319" y="909851"/>
                  <a:pt x="491319" y="873457"/>
                </a:cubicBezTo>
              </a:path>
            </a:pathLst>
          </a:custGeom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 71"/>
          <p:cNvSpPr/>
          <p:nvPr/>
        </p:nvSpPr>
        <p:spPr>
          <a:xfrm>
            <a:off x="8420669" y="5240740"/>
            <a:ext cx="1105468" cy="1189169"/>
          </a:xfrm>
          <a:custGeom>
            <a:avLst/>
            <a:gdLst>
              <a:gd name="connsiteX0" fmla="*/ 136477 w 1105468"/>
              <a:gd name="connsiteY0" fmla="*/ 0 h 1189169"/>
              <a:gd name="connsiteX1" fmla="*/ 95534 w 1105468"/>
              <a:gd name="connsiteY1" fmla="*/ 68239 h 1189169"/>
              <a:gd name="connsiteX2" fmla="*/ 68238 w 1105468"/>
              <a:gd name="connsiteY2" fmla="*/ 150126 h 1189169"/>
              <a:gd name="connsiteX3" fmla="*/ 54591 w 1105468"/>
              <a:gd name="connsiteY3" fmla="*/ 286603 h 1189169"/>
              <a:gd name="connsiteX4" fmla="*/ 27295 w 1105468"/>
              <a:gd name="connsiteY4" fmla="*/ 327547 h 1189169"/>
              <a:gd name="connsiteX5" fmla="*/ 0 w 1105468"/>
              <a:gd name="connsiteY5" fmla="*/ 423081 h 1189169"/>
              <a:gd name="connsiteX6" fmla="*/ 13647 w 1105468"/>
              <a:gd name="connsiteY6" fmla="*/ 941696 h 1189169"/>
              <a:gd name="connsiteX7" fmla="*/ 27295 w 1105468"/>
              <a:gd name="connsiteY7" fmla="*/ 982639 h 1189169"/>
              <a:gd name="connsiteX8" fmla="*/ 81886 w 1105468"/>
              <a:gd name="connsiteY8" fmla="*/ 1064526 h 1189169"/>
              <a:gd name="connsiteX9" fmla="*/ 150125 w 1105468"/>
              <a:gd name="connsiteY9" fmla="*/ 1105469 h 1189169"/>
              <a:gd name="connsiteX10" fmla="*/ 327546 w 1105468"/>
              <a:gd name="connsiteY10" fmla="*/ 1132764 h 1189169"/>
              <a:gd name="connsiteX11" fmla="*/ 423080 w 1105468"/>
              <a:gd name="connsiteY11" fmla="*/ 1146412 h 1189169"/>
              <a:gd name="connsiteX12" fmla="*/ 723331 w 1105468"/>
              <a:gd name="connsiteY12" fmla="*/ 1173708 h 1189169"/>
              <a:gd name="connsiteX13" fmla="*/ 1091821 w 1105468"/>
              <a:gd name="connsiteY13" fmla="*/ 1119117 h 1189169"/>
              <a:gd name="connsiteX14" fmla="*/ 1105468 w 1105468"/>
              <a:gd name="connsiteY14" fmla="*/ 1064526 h 1189169"/>
              <a:gd name="connsiteX15" fmla="*/ 1078173 w 1105468"/>
              <a:gd name="connsiteY15" fmla="*/ 832514 h 1189169"/>
              <a:gd name="connsiteX16" fmla="*/ 1050877 w 1105468"/>
              <a:gd name="connsiteY16" fmla="*/ 723332 h 118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05468" h="1189169">
                <a:moveTo>
                  <a:pt x="136477" y="0"/>
                </a:moveTo>
                <a:cubicBezTo>
                  <a:pt x="122829" y="22746"/>
                  <a:pt x="106511" y="44090"/>
                  <a:pt x="95534" y="68239"/>
                </a:cubicBezTo>
                <a:cubicBezTo>
                  <a:pt x="83628" y="94432"/>
                  <a:pt x="68238" y="150126"/>
                  <a:pt x="68238" y="150126"/>
                </a:cubicBezTo>
                <a:cubicBezTo>
                  <a:pt x="63689" y="195618"/>
                  <a:pt x="64871" y="242055"/>
                  <a:pt x="54591" y="286603"/>
                </a:cubicBezTo>
                <a:cubicBezTo>
                  <a:pt x="50903" y="302586"/>
                  <a:pt x="34631" y="312876"/>
                  <a:pt x="27295" y="327547"/>
                </a:cubicBezTo>
                <a:cubicBezTo>
                  <a:pt x="17504" y="347130"/>
                  <a:pt x="4374" y="405585"/>
                  <a:pt x="0" y="423081"/>
                </a:cubicBezTo>
                <a:cubicBezTo>
                  <a:pt x="4549" y="595953"/>
                  <a:pt x="5221" y="768970"/>
                  <a:pt x="13647" y="941696"/>
                </a:cubicBezTo>
                <a:cubicBezTo>
                  <a:pt x="14348" y="956065"/>
                  <a:pt x="20309" y="970063"/>
                  <a:pt x="27295" y="982639"/>
                </a:cubicBezTo>
                <a:cubicBezTo>
                  <a:pt x="43227" y="1011316"/>
                  <a:pt x="53756" y="1047648"/>
                  <a:pt x="81886" y="1064526"/>
                </a:cubicBezTo>
                <a:cubicBezTo>
                  <a:pt x="104632" y="1078174"/>
                  <a:pt x="125885" y="1094696"/>
                  <a:pt x="150125" y="1105469"/>
                </a:cubicBezTo>
                <a:cubicBezTo>
                  <a:pt x="189929" y="1123159"/>
                  <a:pt x="306324" y="1130111"/>
                  <a:pt x="327546" y="1132764"/>
                </a:cubicBezTo>
                <a:cubicBezTo>
                  <a:pt x="359466" y="1136754"/>
                  <a:pt x="391083" y="1143102"/>
                  <a:pt x="423080" y="1146412"/>
                </a:cubicBezTo>
                <a:cubicBezTo>
                  <a:pt x="523043" y="1156753"/>
                  <a:pt x="623247" y="1164609"/>
                  <a:pt x="723331" y="1173708"/>
                </a:cubicBezTo>
                <a:cubicBezTo>
                  <a:pt x="776312" y="1171500"/>
                  <a:pt x="1025507" y="1235167"/>
                  <a:pt x="1091821" y="1119117"/>
                </a:cubicBezTo>
                <a:cubicBezTo>
                  <a:pt x="1101127" y="1102831"/>
                  <a:pt x="1100919" y="1082723"/>
                  <a:pt x="1105468" y="1064526"/>
                </a:cubicBezTo>
                <a:cubicBezTo>
                  <a:pt x="1081107" y="723447"/>
                  <a:pt x="1114196" y="964597"/>
                  <a:pt x="1078173" y="832514"/>
                </a:cubicBezTo>
                <a:cubicBezTo>
                  <a:pt x="1068302" y="796322"/>
                  <a:pt x="1050877" y="723332"/>
                  <a:pt x="1050877" y="723332"/>
                </a:cubicBezTo>
              </a:path>
            </a:pathLst>
          </a:custGeom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reeform 72"/>
          <p:cNvSpPr/>
          <p:nvPr/>
        </p:nvSpPr>
        <p:spPr>
          <a:xfrm>
            <a:off x="7965819" y="1883391"/>
            <a:ext cx="1573966" cy="4107976"/>
          </a:xfrm>
          <a:custGeom>
            <a:avLst/>
            <a:gdLst>
              <a:gd name="connsiteX0" fmla="*/ 1492080 w 1573966"/>
              <a:gd name="connsiteY0" fmla="*/ 4107976 h 4107976"/>
              <a:gd name="connsiteX1" fmla="*/ 1505727 w 1573966"/>
              <a:gd name="connsiteY1" fmla="*/ 3957851 h 4107976"/>
              <a:gd name="connsiteX2" fmla="*/ 1546671 w 1573966"/>
              <a:gd name="connsiteY2" fmla="*/ 3807725 h 4107976"/>
              <a:gd name="connsiteX3" fmla="*/ 1560318 w 1573966"/>
              <a:gd name="connsiteY3" fmla="*/ 3698543 h 4107976"/>
              <a:gd name="connsiteX4" fmla="*/ 1573966 w 1573966"/>
              <a:gd name="connsiteY4" fmla="*/ 3657600 h 4107976"/>
              <a:gd name="connsiteX5" fmla="*/ 1560318 w 1573966"/>
              <a:gd name="connsiteY5" fmla="*/ 2852382 h 4107976"/>
              <a:gd name="connsiteX6" fmla="*/ 1546671 w 1573966"/>
              <a:gd name="connsiteY6" fmla="*/ 2797791 h 4107976"/>
              <a:gd name="connsiteX7" fmla="*/ 1519375 w 1573966"/>
              <a:gd name="connsiteY7" fmla="*/ 2729552 h 4107976"/>
              <a:gd name="connsiteX8" fmla="*/ 1492080 w 1573966"/>
              <a:gd name="connsiteY8" fmla="*/ 2634018 h 4107976"/>
              <a:gd name="connsiteX9" fmla="*/ 1464784 w 1573966"/>
              <a:gd name="connsiteY9" fmla="*/ 2593075 h 4107976"/>
              <a:gd name="connsiteX10" fmla="*/ 1451136 w 1573966"/>
              <a:gd name="connsiteY10" fmla="*/ 2538484 h 4107976"/>
              <a:gd name="connsiteX11" fmla="*/ 1437488 w 1573966"/>
              <a:gd name="connsiteY11" fmla="*/ 2470245 h 4107976"/>
              <a:gd name="connsiteX12" fmla="*/ 1382897 w 1573966"/>
              <a:gd name="connsiteY12" fmla="*/ 2402006 h 4107976"/>
              <a:gd name="connsiteX13" fmla="*/ 1355602 w 1573966"/>
              <a:gd name="connsiteY13" fmla="*/ 2333767 h 4107976"/>
              <a:gd name="connsiteX14" fmla="*/ 1260068 w 1573966"/>
              <a:gd name="connsiteY14" fmla="*/ 2183642 h 4107976"/>
              <a:gd name="connsiteX15" fmla="*/ 1246420 w 1573966"/>
              <a:gd name="connsiteY15" fmla="*/ 2142699 h 4107976"/>
              <a:gd name="connsiteX16" fmla="*/ 1178181 w 1573966"/>
              <a:gd name="connsiteY16" fmla="*/ 2019869 h 4107976"/>
              <a:gd name="connsiteX17" fmla="*/ 1150885 w 1573966"/>
              <a:gd name="connsiteY17" fmla="*/ 1937982 h 4107976"/>
              <a:gd name="connsiteX18" fmla="*/ 1068999 w 1573966"/>
              <a:gd name="connsiteY18" fmla="*/ 1828800 h 4107976"/>
              <a:gd name="connsiteX19" fmla="*/ 987112 w 1573966"/>
              <a:gd name="connsiteY19" fmla="*/ 1678675 h 4107976"/>
              <a:gd name="connsiteX20" fmla="*/ 973465 w 1573966"/>
              <a:gd name="connsiteY20" fmla="*/ 1637731 h 4107976"/>
              <a:gd name="connsiteX21" fmla="*/ 946169 w 1573966"/>
              <a:gd name="connsiteY21" fmla="*/ 1596788 h 4107976"/>
              <a:gd name="connsiteX22" fmla="*/ 932521 w 1573966"/>
              <a:gd name="connsiteY22" fmla="*/ 1528549 h 4107976"/>
              <a:gd name="connsiteX23" fmla="*/ 877930 w 1573966"/>
              <a:gd name="connsiteY23" fmla="*/ 1419367 h 4107976"/>
              <a:gd name="connsiteX24" fmla="*/ 836987 w 1573966"/>
              <a:gd name="connsiteY24" fmla="*/ 1323833 h 4107976"/>
              <a:gd name="connsiteX25" fmla="*/ 809691 w 1573966"/>
              <a:gd name="connsiteY25" fmla="*/ 1255594 h 4107976"/>
              <a:gd name="connsiteX26" fmla="*/ 768748 w 1573966"/>
              <a:gd name="connsiteY26" fmla="*/ 1201003 h 4107976"/>
              <a:gd name="connsiteX27" fmla="*/ 700509 w 1573966"/>
              <a:gd name="connsiteY27" fmla="*/ 1105469 h 4107976"/>
              <a:gd name="connsiteX28" fmla="*/ 618623 w 1573966"/>
              <a:gd name="connsiteY28" fmla="*/ 982639 h 4107976"/>
              <a:gd name="connsiteX29" fmla="*/ 591327 w 1573966"/>
              <a:gd name="connsiteY29" fmla="*/ 928048 h 4107976"/>
              <a:gd name="connsiteX30" fmla="*/ 536736 w 1573966"/>
              <a:gd name="connsiteY30" fmla="*/ 846161 h 4107976"/>
              <a:gd name="connsiteX31" fmla="*/ 482145 w 1573966"/>
              <a:gd name="connsiteY31" fmla="*/ 764275 h 4107976"/>
              <a:gd name="connsiteX32" fmla="*/ 441202 w 1573966"/>
              <a:gd name="connsiteY32" fmla="*/ 709684 h 4107976"/>
              <a:gd name="connsiteX33" fmla="*/ 345668 w 1573966"/>
              <a:gd name="connsiteY33" fmla="*/ 614149 h 4107976"/>
              <a:gd name="connsiteX34" fmla="*/ 318372 w 1573966"/>
              <a:gd name="connsiteY34" fmla="*/ 573206 h 4107976"/>
              <a:gd name="connsiteX35" fmla="*/ 277429 w 1573966"/>
              <a:gd name="connsiteY35" fmla="*/ 532263 h 4107976"/>
              <a:gd name="connsiteX36" fmla="*/ 250133 w 1573966"/>
              <a:gd name="connsiteY36" fmla="*/ 491319 h 4107976"/>
              <a:gd name="connsiteX37" fmla="*/ 236485 w 1573966"/>
              <a:gd name="connsiteY37" fmla="*/ 450376 h 4107976"/>
              <a:gd name="connsiteX38" fmla="*/ 181894 w 1573966"/>
              <a:gd name="connsiteY38" fmla="*/ 395785 h 4107976"/>
              <a:gd name="connsiteX39" fmla="*/ 168247 w 1573966"/>
              <a:gd name="connsiteY39" fmla="*/ 354842 h 4107976"/>
              <a:gd name="connsiteX40" fmla="*/ 72712 w 1573966"/>
              <a:gd name="connsiteY40" fmla="*/ 286603 h 4107976"/>
              <a:gd name="connsiteX41" fmla="*/ 31769 w 1573966"/>
              <a:gd name="connsiteY41" fmla="*/ 245660 h 4107976"/>
              <a:gd name="connsiteX42" fmla="*/ 4474 w 1573966"/>
              <a:gd name="connsiteY42" fmla="*/ 204716 h 4107976"/>
              <a:gd name="connsiteX43" fmla="*/ 59065 w 1573966"/>
              <a:gd name="connsiteY43" fmla="*/ 245660 h 4107976"/>
              <a:gd name="connsiteX44" fmla="*/ 100008 w 1573966"/>
              <a:gd name="connsiteY44" fmla="*/ 259308 h 4107976"/>
              <a:gd name="connsiteX45" fmla="*/ 140951 w 1573966"/>
              <a:gd name="connsiteY45" fmla="*/ 286603 h 4107976"/>
              <a:gd name="connsiteX46" fmla="*/ 236485 w 1573966"/>
              <a:gd name="connsiteY46" fmla="*/ 313899 h 4107976"/>
              <a:gd name="connsiteX47" fmla="*/ 372963 w 1573966"/>
              <a:gd name="connsiteY47" fmla="*/ 272955 h 4107976"/>
              <a:gd name="connsiteX48" fmla="*/ 427554 w 1573966"/>
              <a:gd name="connsiteY48" fmla="*/ 191069 h 4107976"/>
              <a:gd name="connsiteX49" fmla="*/ 413906 w 1573966"/>
              <a:gd name="connsiteY49" fmla="*/ 54591 h 4107976"/>
              <a:gd name="connsiteX50" fmla="*/ 400259 w 1573966"/>
              <a:gd name="connsiteY50" fmla="*/ 0 h 4107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573966" h="4107976">
                <a:moveTo>
                  <a:pt x="1492080" y="4107976"/>
                </a:moveTo>
                <a:cubicBezTo>
                  <a:pt x="1496629" y="4057934"/>
                  <a:pt x="1497890" y="4007484"/>
                  <a:pt x="1505727" y="3957851"/>
                </a:cubicBezTo>
                <a:cubicBezTo>
                  <a:pt x="1514962" y="3899364"/>
                  <a:pt x="1529424" y="3859465"/>
                  <a:pt x="1546671" y="3807725"/>
                </a:cubicBezTo>
                <a:cubicBezTo>
                  <a:pt x="1551220" y="3771331"/>
                  <a:pt x="1553757" y="3734629"/>
                  <a:pt x="1560318" y="3698543"/>
                </a:cubicBezTo>
                <a:cubicBezTo>
                  <a:pt x="1562891" y="3684389"/>
                  <a:pt x="1573966" y="3671986"/>
                  <a:pt x="1573966" y="3657600"/>
                </a:cubicBezTo>
                <a:cubicBezTo>
                  <a:pt x="1573966" y="3389155"/>
                  <a:pt x="1568836" y="3120691"/>
                  <a:pt x="1560318" y="2852382"/>
                </a:cubicBezTo>
                <a:cubicBezTo>
                  <a:pt x="1559723" y="2833634"/>
                  <a:pt x="1552602" y="2815585"/>
                  <a:pt x="1546671" y="2797791"/>
                </a:cubicBezTo>
                <a:cubicBezTo>
                  <a:pt x="1538924" y="2774550"/>
                  <a:pt x="1527122" y="2752793"/>
                  <a:pt x="1519375" y="2729552"/>
                </a:cubicBezTo>
                <a:cubicBezTo>
                  <a:pt x="1510633" y="2703325"/>
                  <a:pt x="1505220" y="2660298"/>
                  <a:pt x="1492080" y="2634018"/>
                </a:cubicBezTo>
                <a:cubicBezTo>
                  <a:pt x="1484745" y="2619347"/>
                  <a:pt x="1473883" y="2606723"/>
                  <a:pt x="1464784" y="2593075"/>
                </a:cubicBezTo>
                <a:cubicBezTo>
                  <a:pt x="1460235" y="2574878"/>
                  <a:pt x="1455205" y="2556794"/>
                  <a:pt x="1451136" y="2538484"/>
                </a:cubicBezTo>
                <a:cubicBezTo>
                  <a:pt x="1446104" y="2515840"/>
                  <a:pt x="1447862" y="2490993"/>
                  <a:pt x="1437488" y="2470245"/>
                </a:cubicBezTo>
                <a:cubicBezTo>
                  <a:pt x="1424461" y="2444191"/>
                  <a:pt x="1401094" y="2424752"/>
                  <a:pt x="1382897" y="2402006"/>
                </a:cubicBezTo>
                <a:cubicBezTo>
                  <a:pt x="1373799" y="2379260"/>
                  <a:pt x="1366558" y="2355679"/>
                  <a:pt x="1355602" y="2333767"/>
                </a:cubicBezTo>
                <a:cubicBezTo>
                  <a:pt x="1310091" y="2242743"/>
                  <a:pt x="1314150" y="2280989"/>
                  <a:pt x="1260068" y="2183642"/>
                </a:cubicBezTo>
                <a:cubicBezTo>
                  <a:pt x="1253082" y="2171066"/>
                  <a:pt x="1252854" y="2155566"/>
                  <a:pt x="1246420" y="2142699"/>
                </a:cubicBezTo>
                <a:cubicBezTo>
                  <a:pt x="1211796" y="2073451"/>
                  <a:pt x="1204465" y="2085579"/>
                  <a:pt x="1178181" y="2019869"/>
                </a:cubicBezTo>
                <a:cubicBezTo>
                  <a:pt x="1167495" y="1993155"/>
                  <a:pt x="1168859" y="1960449"/>
                  <a:pt x="1150885" y="1937982"/>
                </a:cubicBezTo>
                <a:cubicBezTo>
                  <a:pt x="1130143" y="1912054"/>
                  <a:pt x="1087623" y="1862943"/>
                  <a:pt x="1068999" y="1828800"/>
                </a:cubicBezTo>
                <a:cubicBezTo>
                  <a:pt x="976115" y="1658512"/>
                  <a:pt x="1049458" y="1772192"/>
                  <a:pt x="987112" y="1678675"/>
                </a:cubicBezTo>
                <a:cubicBezTo>
                  <a:pt x="982563" y="1665027"/>
                  <a:pt x="979899" y="1650598"/>
                  <a:pt x="973465" y="1637731"/>
                </a:cubicBezTo>
                <a:cubicBezTo>
                  <a:pt x="966130" y="1623060"/>
                  <a:pt x="951928" y="1612146"/>
                  <a:pt x="946169" y="1596788"/>
                </a:cubicBezTo>
                <a:cubicBezTo>
                  <a:pt x="938024" y="1575068"/>
                  <a:pt x="940848" y="1550200"/>
                  <a:pt x="932521" y="1528549"/>
                </a:cubicBezTo>
                <a:cubicBezTo>
                  <a:pt x="917914" y="1490571"/>
                  <a:pt x="887799" y="1458842"/>
                  <a:pt x="877930" y="1419367"/>
                </a:cubicBezTo>
                <a:cubicBezTo>
                  <a:pt x="849526" y="1305753"/>
                  <a:pt x="884111" y="1418082"/>
                  <a:pt x="836987" y="1323833"/>
                </a:cubicBezTo>
                <a:cubicBezTo>
                  <a:pt x="826031" y="1301921"/>
                  <a:pt x="821589" y="1277010"/>
                  <a:pt x="809691" y="1255594"/>
                </a:cubicBezTo>
                <a:cubicBezTo>
                  <a:pt x="798644" y="1235710"/>
                  <a:pt x="780803" y="1220292"/>
                  <a:pt x="768748" y="1201003"/>
                </a:cubicBezTo>
                <a:cubicBezTo>
                  <a:pt x="708871" y="1105199"/>
                  <a:pt x="778561" y="1183519"/>
                  <a:pt x="700509" y="1105469"/>
                </a:cubicBezTo>
                <a:cubicBezTo>
                  <a:pt x="674059" y="999662"/>
                  <a:pt x="708703" y="1098456"/>
                  <a:pt x="618623" y="982639"/>
                </a:cubicBezTo>
                <a:cubicBezTo>
                  <a:pt x="606132" y="966580"/>
                  <a:pt x="601794" y="945494"/>
                  <a:pt x="591327" y="928048"/>
                </a:cubicBezTo>
                <a:cubicBezTo>
                  <a:pt x="574449" y="899918"/>
                  <a:pt x="554933" y="873457"/>
                  <a:pt x="536736" y="846161"/>
                </a:cubicBezTo>
                <a:cubicBezTo>
                  <a:pt x="536725" y="846144"/>
                  <a:pt x="482157" y="764291"/>
                  <a:pt x="482145" y="764275"/>
                </a:cubicBezTo>
                <a:cubicBezTo>
                  <a:pt x="468497" y="746078"/>
                  <a:pt x="456503" y="726515"/>
                  <a:pt x="441202" y="709684"/>
                </a:cubicBezTo>
                <a:cubicBezTo>
                  <a:pt x="410908" y="676360"/>
                  <a:pt x="370650" y="651620"/>
                  <a:pt x="345668" y="614149"/>
                </a:cubicBezTo>
                <a:cubicBezTo>
                  <a:pt x="336569" y="600501"/>
                  <a:pt x="328873" y="585807"/>
                  <a:pt x="318372" y="573206"/>
                </a:cubicBezTo>
                <a:cubicBezTo>
                  <a:pt x="306016" y="558379"/>
                  <a:pt x="289785" y="547090"/>
                  <a:pt x="277429" y="532263"/>
                </a:cubicBezTo>
                <a:cubicBezTo>
                  <a:pt x="266928" y="519662"/>
                  <a:pt x="257469" y="505990"/>
                  <a:pt x="250133" y="491319"/>
                </a:cubicBezTo>
                <a:cubicBezTo>
                  <a:pt x="243699" y="478452"/>
                  <a:pt x="244847" y="462082"/>
                  <a:pt x="236485" y="450376"/>
                </a:cubicBezTo>
                <a:cubicBezTo>
                  <a:pt x="221527" y="429435"/>
                  <a:pt x="200091" y="413982"/>
                  <a:pt x="181894" y="395785"/>
                </a:cubicBezTo>
                <a:cubicBezTo>
                  <a:pt x="177345" y="382137"/>
                  <a:pt x="176227" y="366812"/>
                  <a:pt x="168247" y="354842"/>
                </a:cubicBezTo>
                <a:cubicBezTo>
                  <a:pt x="129538" y="296778"/>
                  <a:pt x="127046" y="325413"/>
                  <a:pt x="72712" y="286603"/>
                </a:cubicBezTo>
                <a:cubicBezTo>
                  <a:pt x="57006" y="275385"/>
                  <a:pt x="44125" y="260487"/>
                  <a:pt x="31769" y="245660"/>
                </a:cubicBezTo>
                <a:cubicBezTo>
                  <a:pt x="21268" y="233059"/>
                  <a:pt x="-11929" y="204716"/>
                  <a:pt x="4474" y="204716"/>
                </a:cubicBezTo>
                <a:cubicBezTo>
                  <a:pt x="27220" y="204716"/>
                  <a:pt x="39316" y="234374"/>
                  <a:pt x="59065" y="245660"/>
                </a:cubicBezTo>
                <a:cubicBezTo>
                  <a:pt x="71555" y="252798"/>
                  <a:pt x="87141" y="252874"/>
                  <a:pt x="100008" y="259308"/>
                </a:cubicBezTo>
                <a:cubicBezTo>
                  <a:pt x="114679" y="266643"/>
                  <a:pt x="126280" y="279268"/>
                  <a:pt x="140951" y="286603"/>
                </a:cubicBezTo>
                <a:cubicBezTo>
                  <a:pt x="160531" y="296393"/>
                  <a:pt x="218992" y="309526"/>
                  <a:pt x="236485" y="313899"/>
                </a:cubicBezTo>
                <a:cubicBezTo>
                  <a:pt x="285027" y="306964"/>
                  <a:pt x="337496" y="313489"/>
                  <a:pt x="372963" y="272955"/>
                </a:cubicBezTo>
                <a:cubicBezTo>
                  <a:pt x="394565" y="248267"/>
                  <a:pt x="427554" y="191069"/>
                  <a:pt x="427554" y="191069"/>
                </a:cubicBezTo>
                <a:cubicBezTo>
                  <a:pt x="423005" y="145576"/>
                  <a:pt x="420858" y="99779"/>
                  <a:pt x="413906" y="54591"/>
                </a:cubicBezTo>
                <a:cubicBezTo>
                  <a:pt x="398820" y="-43467"/>
                  <a:pt x="400259" y="44731"/>
                  <a:pt x="400259" y="0"/>
                </a:cubicBezTo>
              </a:path>
            </a:pathLst>
          </a:custGeom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9539786" y="1563974"/>
            <a:ext cx="25384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aAa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bAb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| a | b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498891" y="4057231"/>
            <a:ext cx="3145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099974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2" grpId="0"/>
      <p:bldP spid="13" grpId="0"/>
      <p:bldP spid="28" grpId="0"/>
      <p:bldP spid="33" grpId="0"/>
      <p:bldP spid="36" grpId="0"/>
      <p:bldP spid="37" grpId="0"/>
      <p:bldP spid="38" grpId="0"/>
      <p:bldP spid="41" grpId="0"/>
      <p:bldP spid="42" grpId="0"/>
      <p:bldP spid="45" grpId="0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/>
      <p:bldP spid="5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935"/>
            <a:ext cx="6184593" cy="6422343"/>
          </a:xfrm>
        </p:spPr>
        <p:txBody>
          <a:bodyPr>
            <a:noAutofit/>
          </a:bodyPr>
          <a:lstStyle/>
          <a:p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Language that contains  b as a third last character</a:t>
            </a:r>
          </a:p>
          <a:p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RE:   (</a:t>
            </a:r>
            <a:r>
              <a:rPr lang="en-US" sz="21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)*b(</a:t>
            </a:r>
            <a:r>
              <a:rPr lang="en-US" sz="21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)(</a:t>
            </a:r>
            <a:r>
              <a:rPr lang="en-US" sz="21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CFG:</a:t>
            </a:r>
          </a:p>
          <a:p>
            <a:pPr marL="0" indent="0">
              <a:buNone/>
            </a:pPr>
            <a:endParaRPr lang="en-US" sz="21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100" dirty="0" err="1" smtClean="0">
                <a:latin typeface="Times New Roman" pitchFamily="18" charset="0"/>
                <a:cs typeface="Times New Roman" pitchFamily="18" charset="0"/>
              </a:rPr>
              <a:t>AbBB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  P-1</a:t>
            </a:r>
          </a:p>
          <a:p>
            <a:pPr lvl="1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1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       P-2</a:t>
            </a:r>
          </a:p>
          <a:p>
            <a:pPr lvl="1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1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       P-3</a:t>
            </a:r>
          </a:p>
          <a:p>
            <a:pPr lvl="1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a           P-4</a:t>
            </a:r>
          </a:p>
          <a:p>
            <a:pPr lvl="1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b           P-5</a:t>
            </a:r>
          </a:p>
          <a:p>
            <a:pPr lvl="1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→              P-6</a:t>
            </a:r>
          </a:p>
          <a:p>
            <a:pPr lvl="1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B→ a            P-7</a:t>
            </a:r>
          </a:p>
          <a:p>
            <a:pPr lvl="1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B→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b            P-8</a:t>
            </a:r>
          </a:p>
          <a:p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Word  :-    </a:t>
            </a:r>
            <a:r>
              <a:rPr lang="en-US" sz="2100" dirty="0" err="1" smtClean="0">
                <a:latin typeface="Times New Roman" pitchFamily="18" charset="0"/>
                <a:cs typeface="Times New Roman" pitchFamily="18" charset="0"/>
              </a:rPr>
              <a:t>baaabab</a:t>
            </a:r>
            <a:endParaRPr lang="en-US" sz="2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Sequence of Productions:- </a:t>
            </a:r>
          </a:p>
          <a:p>
            <a:pPr lvl="1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smtClean="0">
                <a:latin typeface="Times New Roman" pitchFamily="18" charset="0"/>
                <a:cs typeface="Times New Roman" pitchFamily="18" charset="0"/>
              </a:rPr>
              <a:t>P1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→P3→P2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→P2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→P4 →P7 →P8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156347" y="1068962"/>
            <a:ext cx="282508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 →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AbBB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| a  | b |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| 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25432" y="4040869"/>
            <a:ext cx="3145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000" dirty="0"/>
          </a:p>
        </p:txBody>
      </p:sp>
      <p:sp>
        <p:nvSpPr>
          <p:cNvPr id="6" name="Rectangle 5"/>
          <p:cNvSpPr/>
          <p:nvPr/>
        </p:nvSpPr>
        <p:spPr>
          <a:xfrm>
            <a:off x="4327943" y="1251887"/>
            <a:ext cx="3145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88013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935"/>
            <a:ext cx="6184593" cy="6743065"/>
          </a:xfrm>
        </p:spPr>
        <p:txBody>
          <a:bodyPr>
            <a:no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Language that contains  b as a third last character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RE:   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)*b(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CFG:</a:t>
            </a: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AbBB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P-1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P-2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P-3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          P-4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          P-5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B→ a            P-7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           P-8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Word  :-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baaabab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Sequence of Productions:- </a:t>
            </a:r>
          </a:p>
          <a:p>
            <a:pPr lvl="1"/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P1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→P3→P2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→P2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→P4 →P7 →P8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156347" y="1068962"/>
            <a:ext cx="247024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 →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AbBB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| a  | b |  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| 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5050" y="242097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8381998" y="617939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44768" y="891217"/>
            <a:ext cx="207446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8821001" y="892458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9423790" y="881795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7337918" y="884067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8072649" y="899879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15700" y="1076332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36756" y="1051951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48631" y="1034098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53673" y="1050325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2807978" y="1155073"/>
            <a:ext cx="4345695" cy="1297956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3057098" y="4088825"/>
            <a:ext cx="1569494" cy="801960"/>
            <a:chOff x="5513696" y="3229016"/>
            <a:chExt cx="1009934" cy="801960"/>
          </a:xfrm>
        </p:grpSpPr>
        <p:sp>
          <p:nvSpPr>
            <p:cNvPr id="5" name="TextBox 4"/>
            <p:cNvSpPr txBox="1"/>
            <p:nvPr/>
          </p:nvSpPr>
          <p:spPr>
            <a:xfrm>
              <a:off x="5513696" y="3384645"/>
              <a:ext cx="10099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 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→      P-6</a:t>
              </a:r>
              <a:endParaRPr lang="en-US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851805" y="3229016"/>
              <a:ext cx="31451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 b="1" dirty="0" smtClean="0">
                  <a:latin typeface="Times New Roman" pitchFamily="18" charset="0"/>
                  <a:cs typeface="Times New Roman" pitchFamily="18" charset="0"/>
                </a:rPr>
                <a:t>ᵋ</a:t>
              </a:r>
              <a:endParaRPr lang="en-US" sz="4000" dirty="0"/>
            </a:p>
          </p:txBody>
        </p:sp>
      </p:grpSp>
      <p:sp>
        <p:nvSpPr>
          <p:cNvPr id="26" name="Rectangle 25"/>
          <p:cNvSpPr/>
          <p:nvPr/>
        </p:nvSpPr>
        <p:spPr>
          <a:xfrm>
            <a:off x="4271194" y="1265375"/>
            <a:ext cx="48876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553983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9" grpId="0"/>
      <p:bldP spid="20" grpId="0"/>
      <p:bldP spid="21" grpId="0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935"/>
            <a:ext cx="6184593" cy="6743065"/>
          </a:xfrm>
        </p:spPr>
        <p:txBody>
          <a:bodyPr>
            <a:no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Language that contains  b as a third last character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RE:   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)*b(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CFG:</a:t>
            </a: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AbBB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P-1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P-2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P-3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          P-4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          P-5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B→ a            P-7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           P-8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Word  :-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baaabab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Sequence of Productions:- </a:t>
            </a:r>
          </a:p>
          <a:p>
            <a:pPr lvl="1"/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P1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P3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→P2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→P2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→P4 →P7 →P8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156347" y="1068962"/>
            <a:ext cx="247024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 →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AbBB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| a  | b | 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| 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5050" y="242097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8381998" y="617939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44768" y="891217"/>
            <a:ext cx="207446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8821001" y="892458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9423790" y="881795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7337918" y="884067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8072649" y="899879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15700" y="1076332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36756" y="1051951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48631" y="1034098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53673" y="1050325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2807977" y="1155073"/>
            <a:ext cx="4345695" cy="1297956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2794330" y="1741980"/>
            <a:ext cx="4056846" cy="1671378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362962" y="1413620"/>
            <a:ext cx="323001" cy="54655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6851176" y="1399324"/>
            <a:ext cx="464022" cy="52153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66931" y="1792620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10814" y="1834853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3057098" y="3994751"/>
            <a:ext cx="1569494" cy="801960"/>
            <a:chOff x="5513696" y="3229016"/>
            <a:chExt cx="1009934" cy="801960"/>
          </a:xfrm>
        </p:grpSpPr>
        <p:sp>
          <p:nvSpPr>
            <p:cNvPr id="33" name="TextBox 32"/>
            <p:cNvSpPr txBox="1"/>
            <p:nvPr/>
          </p:nvSpPr>
          <p:spPr>
            <a:xfrm>
              <a:off x="5513696" y="3384645"/>
              <a:ext cx="10099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 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→      P-6</a:t>
              </a:r>
              <a:endParaRPr lang="en-US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851805" y="3229016"/>
              <a:ext cx="31451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 b="1" dirty="0" smtClean="0">
                  <a:latin typeface="Times New Roman" pitchFamily="18" charset="0"/>
                  <a:cs typeface="Times New Roman" pitchFamily="18" charset="0"/>
                </a:rPr>
                <a:t>ᵋ</a:t>
              </a:r>
              <a:endParaRPr lang="en-US" sz="4000" dirty="0"/>
            </a:p>
          </p:txBody>
        </p:sp>
      </p:grpSp>
      <p:sp>
        <p:nvSpPr>
          <p:cNvPr id="35" name="Rectangle 34"/>
          <p:cNvSpPr/>
          <p:nvPr/>
        </p:nvSpPr>
        <p:spPr>
          <a:xfrm>
            <a:off x="4333987" y="1273741"/>
            <a:ext cx="48876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191883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935"/>
            <a:ext cx="6184593" cy="6743065"/>
          </a:xfrm>
        </p:spPr>
        <p:txBody>
          <a:bodyPr>
            <a:no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Language that contains  b as a third last character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RE:   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)*b(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CFG:</a:t>
            </a: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AbBB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P-1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P-2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P-3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          P-4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          P-5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B→ a            P-7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           P-8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Word  :-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baaabab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Sequence of Productions:- </a:t>
            </a:r>
          </a:p>
          <a:p>
            <a:pPr lvl="1"/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P1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P3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→P2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→P4 →P7 →P8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156347" y="1068962"/>
            <a:ext cx="257299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 →</a:t>
            </a:r>
            <a:r>
              <a:rPr lang="en-US" dirty="0" err="1" smtClean="0"/>
              <a:t>AbBB</a:t>
            </a:r>
            <a:endParaRPr lang="en-US" dirty="0"/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| a  | b | B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| b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5050" y="242097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8381998" y="617939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44768" y="891217"/>
            <a:ext cx="207446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8821001" y="892458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9423790" y="881795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7337918" y="884067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8072649" y="899879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15700" y="1076332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36756" y="1051951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48631" y="1034098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53673" y="1050325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2807977" y="1155073"/>
            <a:ext cx="4345695" cy="1297956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2794330" y="1741980"/>
            <a:ext cx="4056846" cy="1671378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362962" y="1413620"/>
            <a:ext cx="323001" cy="54655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6851176" y="1399324"/>
            <a:ext cx="464022" cy="52153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66931" y="1792620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10814" y="1834853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2807977" y="2453029"/>
            <a:ext cx="4507221" cy="467594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7720075" y="2225937"/>
            <a:ext cx="323001" cy="54655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7208289" y="2211641"/>
            <a:ext cx="464022" cy="52153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024044" y="2604937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867927" y="2647170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3057098" y="4088825"/>
            <a:ext cx="1569494" cy="801960"/>
            <a:chOff x="5513696" y="3229016"/>
            <a:chExt cx="1009934" cy="801960"/>
          </a:xfrm>
        </p:grpSpPr>
        <p:sp>
          <p:nvSpPr>
            <p:cNvPr id="38" name="TextBox 37"/>
            <p:cNvSpPr txBox="1"/>
            <p:nvPr/>
          </p:nvSpPr>
          <p:spPr>
            <a:xfrm>
              <a:off x="5513696" y="3384645"/>
              <a:ext cx="10099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 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→      P-6</a:t>
              </a:r>
              <a:endParaRPr lang="en-US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5851805" y="3229016"/>
              <a:ext cx="31451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 b="1" dirty="0" smtClean="0">
                  <a:latin typeface="Times New Roman" pitchFamily="18" charset="0"/>
                  <a:cs typeface="Times New Roman" pitchFamily="18" charset="0"/>
                </a:rPr>
                <a:t>ᵋ</a:t>
              </a:r>
              <a:endParaRPr lang="en-US" sz="4000" dirty="0"/>
            </a:p>
          </p:txBody>
        </p:sp>
      </p:grpSp>
      <p:sp>
        <p:nvSpPr>
          <p:cNvPr id="40" name="Rectangle 39"/>
          <p:cNvSpPr/>
          <p:nvPr/>
        </p:nvSpPr>
        <p:spPr>
          <a:xfrm>
            <a:off x="4484956" y="1279183"/>
            <a:ext cx="48876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717168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935"/>
            <a:ext cx="6184593" cy="6743065"/>
          </a:xfrm>
        </p:spPr>
        <p:txBody>
          <a:bodyPr>
            <a:no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Language that contains  b as a third last character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RE:   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)*b(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CFG:</a:t>
            </a: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AbBB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P-1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P-2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P-3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          P-4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          P-5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B→ a            P-7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           P-8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Word  :-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baaabab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Sequence of Productions:- </a:t>
            </a:r>
          </a:p>
          <a:p>
            <a:pPr lvl="1"/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P1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P3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→P4 →P7 →P8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156347" y="1068962"/>
            <a:ext cx="247024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 →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AbBB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| a  | b | 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| 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5050" y="242097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8381998" y="617939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44768" y="891217"/>
            <a:ext cx="207446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8821001" y="892458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9423790" y="881795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7337918" y="884067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8072649" y="899879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15700" y="1076332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36756" y="1051951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48631" y="1034098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53673" y="1050325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2807977" y="1155073"/>
            <a:ext cx="4345695" cy="1297956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2794330" y="1741980"/>
            <a:ext cx="4056846" cy="1671378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362962" y="1413620"/>
            <a:ext cx="323001" cy="54655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6851176" y="1399324"/>
            <a:ext cx="464022" cy="52153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66931" y="1792620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10814" y="1834853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2807977" y="2453029"/>
            <a:ext cx="4507221" cy="467594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7720075" y="2225937"/>
            <a:ext cx="323001" cy="54655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7208289" y="2211641"/>
            <a:ext cx="464022" cy="52153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024044" y="2604937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867927" y="2647170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8090843" y="2997951"/>
            <a:ext cx="323001" cy="54655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7579057" y="2983655"/>
            <a:ext cx="464022" cy="52153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394812" y="3376951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38695" y="3419184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2807977" y="2920623"/>
            <a:ext cx="4632323" cy="456328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/>
          <p:cNvGrpSpPr/>
          <p:nvPr/>
        </p:nvGrpSpPr>
        <p:grpSpPr>
          <a:xfrm>
            <a:off x="2950191" y="3947714"/>
            <a:ext cx="1569494" cy="801960"/>
            <a:chOff x="5513696" y="3229016"/>
            <a:chExt cx="1009934" cy="801960"/>
          </a:xfrm>
        </p:grpSpPr>
        <p:sp>
          <p:nvSpPr>
            <p:cNvPr id="43" name="TextBox 42"/>
            <p:cNvSpPr txBox="1"/>
            <p:nvPr/>
          </p:nvSpPr>
          <p:spPr>
            <a:xfrm>
              <a:off x="5513696" y="3384645"/>
              <a:ext cx="10099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 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→      P-6</a:t>
              </a:r>
              <a:endParaRPr lang="en-US" dirty="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5851805" y="3229016"/>
              <a:ext cx="31451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 b="1" dirty="0" smtClean="0">
                  <a:latin typeface="Times New Roman" pitchFamily="18" charset="0"/>
                  <a:cs typeface="Times New Roman" pitchFamily="18" charset="0"/>
                </a:rPr>
                <a:t>ᵋ</a:t>
              </a:r>
              <a:endParaRPr lang="en-US" sz="4000" dirty="0"/>
            </a:p>
          </p:txBody>
        </p:sp>
      </p:grpSp>
      <p:sp>
        <p:nvSpPr>
          <p:cNvPr id="45" name="Rectangle 44"/>
          <p:cNvSpPr/>
          <p:nvPr/>
        </p:nvSpPr>
        <p:spPr>
          <a:xfrm>
            <a:off x="4299590" y="1252290"/>
            <a:ext cx="48876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89231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935"/>
            <a:ext cx="6184593" cy="6743065"/>
          </a:xfrm>
        </p:spPr>
        <p:txBody>
          <a:bodyPr>
            <a:no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Language that contains  b as a third last character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RE:   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)*b(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CFG:</a:t>
            </a: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AbBB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P-1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P-2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P-3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          P-4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          P-5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B→ a            P-7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           P-8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Word  :-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baaabab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Sequence of Productions:- </a:t>
            </a:r>
          </a:p>
          <a:p>
            <a:pPr lvl="1"/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P1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P3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P4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→P7 →P8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156347" y="1068962"/>
            <a:ext cx="260361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 →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AbBB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| a  | b| 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| 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5050" y="242097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8381998" y="617939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44768" y="891217"/>
            <a:ext cx="207446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8821001" y="892458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9423790" y="881795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7337918" y="884067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8072649" y="899879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15700" y="1076332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36756" y="1051951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48631" y="1034098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53673" y="1050325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2807977" y="1155073"/>
            <a:ext cx="4345695" cy="1297956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2794330" y="1741980"/>
            <a:ext cx="4056846" cy="1671378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362962" y="1413620"/>
            <a:ext cx="323001" cy="54655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6851176" y="1399324"/>
            <a:ext cx="464022" cy="52153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66931" y="1792620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10814" y="1834853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2807977" y="2453029"/>
            <a:ext cx="4507221" cy="467594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7720075" y="2225937"/>
            <a:ext cx="323001" cy="54655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7208289" y="2211641"/>
            <a:ext cx="464022" cy="52153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024044" y="2604937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867927" y="2647170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8090843" y="2997951"/>
            <a:ext cx="323001" cy="54655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7579057" y="2983655"/>
            <a:ext cx="464022" cy="52153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394812" y="3376951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38695" y="3419184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2807977" y="2920623"/>
            <a:ext cx="4632323" cy="456328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2762489" y="3859975"/>
            <a:ext cx="5521700" cy="344236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8475255" y="3850071"/>
            <a:ext cx="0" cy="70828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329681" y="4443749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3057098" y="4088825"/>
            <a:ext cx="1569494" cy="801960"/>
            <a:chOff x="5513696" y="3229016"/>
            <a:chExt cx="1009934" cy="801960"/>
          </a:xfrm>
        </p:grpSpPr>
        <p:sp>
          <p:nvSpPr>
            <p:cNvPr id="46" name="TextBox 45"/>
            <p:cNvSpPr txBox="1"/>
            <p:nvPr/>
          </p:nvSpPr>
          <p:spPr>
            <a:xfrm>
              <a:off x="5513696" y="3384645"/>
              <a:ext cx="10099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 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→      P-6</a:t>
              </a:r>
              <a:endParaRPr lang="en-US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851805" y="3229016"/>
              <a:ext cx="31451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 b="1" dirty="0" smtClean="0">
                  <a:latin typeface="Times New Roman" pitchFamily="18" charset="0"/>
                  <a:cs typeface="Times New Roman" pitchFamily="18" charset="0"/>
                </a:rPr>
                <a:t>ᵋ</a:t>
              </a:r>
              <a:endParaRPr lang="en-US" sz="4000" dirty="0"/>
            </a:p>
          </p:txBody>
        </p:sp>
      </p:grpSp>
      <p:sp>
        <p:nvSpPr>
          <p:cNvPr id="48" name="Rectangle 47"/>
          <p:cNvSpPr/>
          <p:nvPr/>
        </p:nvSpPr>
        <p:spPr>
          <a:xfrm>
            <a:off x="4271193" y="1252290"/>
            <a:ext cx="48876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150862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935"/>
            <a:ext cx="6184593" cy="6743065"/>
          </a:xfrm>
        </p:spPr>
        <p:txBody>
          <a:bodyPr>
            <a:no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Language that contains  b as a third last character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RE:   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)*b(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CFG:</a:t>
            </a: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AbBB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P-1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P-2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P-3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          P-4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          P-5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B→ a            P-7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           P-8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Word  :-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baaabab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Sequence of Productions:- </a:t>
            </a:r>
          </a:p>
          <a:p>
            <a:pPr lvl="1"/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P1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P3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P4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P7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→P8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156347" y="1068962"/>
            <a:ext cx="247024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 →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AbBB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| a  | b | 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| 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5050" y="242097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8381998" y="617939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44768" y="891217"/>
            <a:ext cx="207446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8821001" y="892458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9423790" y="881795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7337918" y="884067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8072649" y="899879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15700" y="1076332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36756" y="1051951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48631" y="1034098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53673" y="1050325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2807977" y="1155073"/>
            <a:ext cx="4345695" cy="1297956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2794330" y="1741980"/>
            <a:ext cx="4056846" cy="1671378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362962" y="1413620"/>
            <a:ext cx="323001" cy="54655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6851176" y="1399324"/>
            <a:ext cx="464022" cy="52153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66931" y="1792620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10814" y="1834853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2807977" y="2453029"/>
            <a:ext cx="4507221" cy="467594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7720075" y="2225937"/>
            <a:ext cx="323001" cy="54655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7208289" y="2211641"/>
            <a:ext cx="464022" cy="52153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024044" y="2604937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867927" y="2647170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8090843" y="2997951"/>
            <a:ext cx="323001" cy="54655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7579057" y="2983655"/>
            <a:ext cx="464022" cy="52153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394812" y="3376951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38695" y="3419184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2807977" y="2920623"/>
            <a:ext cx="4632323" cy="456328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2762489" y="3859975"/>
            <a:ext cx="5521700" cy="344236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8475255" y="3850071"/>
            <a:ext cx="0" cy="70828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329681" y="4443749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8422942" y="1592182"/>
            <a:ext cx="316172" cy="0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94330" y="4776716"/>
            <a:ext cx="6210915" cy="97920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8409294" y="1592182"/>
            <a:ext cx="595951" cy="3282454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8848302" y="1401904"/>
            <a:ext cx="0" cy="484132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682243" y="1752965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7" name="Group 46"/>
          <p:cNvGrpSpPr/>
          <p:nvPr/>
        </p:nvGrpSpPr>
        <p:grpSpPr>
          <a:xfrm>
            <a:off x="3057098" y="4088825"/>
            <a:ext cx="1569494" cy="801960"/>
            <a:chOff x="5513696" y="3229016"/>
            <a:chExt cx="1009934" cy="801960"/>
          </a:xfrm>
        </p:grpSpPr>
        <p:sp>
          <p:nvSpPr>
            <p:cNvPr id="48" name="TextBox 47"/>
            <p:cNvSpPr txBox="1"/>
            <p:nvPr/>
          </p:nvSpPr>
          <p:spPr>
            <a:xfrm>
              <a:off x="5513696" y="3384645"/>
              <a:ext cx="10099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 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→      P-6</a:t>
              </a:r>
              <a:endParaRPr lang="en-US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851805" y="3229016"/>
              <a:ext cx="31451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 b="1" dirty="0" smtClean="0">
                  <a:latin typeface="Times New Roman" pitchFamily="18" charset="0"/>
                  <a:cs typeface="Times New Roman" pitchFamily="18" charset="0"/>
                </a:rPr>
                <a:t>ᵋ</a:t>
              </a:r>
              <a:endParaRPr lang="en-US" sz="4000" dirty="0"/>
            </a:p>
          </p:txBody>
        </p:sp>
      </p:grpSp>
      <p:sp>
        <p:nvSpPr>
          <p:cNvPr id="50" name="Rectangle 49"/>
          <p:cNvSpPr/>
          <p:nvPr/>
        </p:nvSpPr>
        <p:spPr>
          <a:xfrm>
            <a:off x="4333987" y="1265768"/>
            <a:ext cx="48876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7278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935"/>
            <a:ext cx="6184593" cy="6743065"/>
          </a:xfrm>
        </p:spPr>
        <p:txBody>
          <a:bodyPr>
            <a:no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Language that contains  b as a third last character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RE:   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)*b(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CFG:</a:t>
            </a: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AbBB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P-1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P-2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P-3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          P-4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          P-5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B→ a            P-7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           P-8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Word  :-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baaabab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Sequence of Productions:- </a:t>
            </a:r>
          </a:p>
          <a:p>
            <a:pPr lvl="1"/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P1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P3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P4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P7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P8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156347" y="1068962"/>
            <a:ext cx="247024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 →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AbBB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| a  | b | 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| 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5050" y="242097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8381998" y="617939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44768" y="891217"/>
            <a:ext cx="207446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8821001" y="892458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9423790" y="881795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7337918" y="884067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8072649" y="899879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15700" y="1076332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36756" y="1051951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48631" y="1034098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53673" y="1050325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2807977" y="1155073"/>
            <a:ext cx="4345695" cy="1297956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2794330" y="1741980"/>
            <a:ext cx="4056846" cy="1671378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362962" y="1413620"/>
            <a:ext cx="323001" cy="54655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6851176" y="1399324"/>
            <a:ext cx="464022" cy="52153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66931" y="1792620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10814" y="1834853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2807977" y="2453029"/>
            <a:ext cx="4507221" cy="467594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7720075" y="2225937"/>
            <a:ext cx="323001" cy="54655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7208289" y="2211641"/>
            <a:ext cx="464022" cy="52153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024044" y="2604937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867927" y="2647170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8090843" y="2997951"/>
            <a:ext cx="323001" cy="54655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7579057" y="2983655"/>
            <a:ext cx="464022" cy="52153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394812" y="3376951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38695" y="3419184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2807977" y="2920623"/>
            <a:ext cx="4632323" cy="456328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2762489" y="3859975"/>
            <a:ext cx="5521700" cy="344236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8475255" y="3850071"/>
            <a:ext cx="0" cy="70828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329681" y="4443749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8422942" y="1592182"/>
            <a:ext cx="316172" cy="0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94330" y="4776716"/>
            <a:ext cx="6210915" cy="97920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8409294" y="1592182"/>
            <a:ext cx="595951" cy="3282454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8848302" y="1401904"/>
            <a:ext cx="0" cy="484132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682243" y="1752965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 flipH="1">
            <a:off x="9512477" y="1755138"/>
            <a:ext cx="464030" cy="0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2839817" y="5296579"/>
            <a:ext cx="8528768" cy="97920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9962866" y="1741980"/>
            <a:ext cx="1405719" cy="3627112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9419228" y="1404378"/>
            <a:ext cx="0" cy="484132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285027" y="1796181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4" name="Group 53"/>
          <p:cNvGrpSpPr/>
          <p:nvPr/>
        </p:nvGrpSpPr>
        <p:grpSpPr>
          <a:xfrm>
            <a:off x="3057098" y="4088825"/>
            <a:ext cx="1569494" cy="801960"/>
            <a:chOff x="5513696" y="3229016"/>
            <a:chExt cx="1009934" cy="801960"/>
          </a:xfrm>
        </p:grpSpPr>
        <p:sp>
          <p:nvSpPr>
            <p:cNvPr id="55" name="TextBox 54"/>
            <p:cNvSpPr txBox="1"/>
            <p:nvPr/>
          </p:nvSpPr>
          <p:spPr>
            <a:xfrm>
              <a:off x="5513696" y="3384645"/>
              <a:ext cx="10099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 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→      P-6</a:t>
              </a:r>
              <a:endParaRPr lang="en-US" dirty="0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5851805" y="3229016"/>
              <a:ext cx="31451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 b="1" dirty="0" smtClean="0">
                  <a:latin typeface="Times New Roman" pitchFamily="18" charset="0"/>
                  <a:cs typeface="Times New Roman" pitchFamily="18" charset="0"/>
                </a:rPr>
                <a:t>ᵋ</a:t>
              </a:r>
              <a:endParaRPr lang="en-US" sz="4000" dirty="0"/>
            </a:p>
          </p:txBody>
        </p:sp>
      </p:grpSp>
      <p:sp>
        <p:nvSpPr>
          <p:cNvPr id="57" name="Rectangle 56"/>
          <p:cNvSpPr/>
          <p:nvPr/>
        </p:nvSpPr>
        <p:spPr>
          <a:xfrm>
            <a:off x="4333987" y="1251557"/>
            <a:ext cx="48876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26988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935"/>
            <a:ext cx="6184593" cy="6743065"/>
          </a:xfrm>
        </p:spPr>
        <p:txBody>
          <a:bodyPr>
            <a:no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Language that contains  b as a third last character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RE:   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)*b(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CFG:</a:t>
            </a: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AbBB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P-1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P-2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P-3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          P-4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          P-5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B→ a            P-7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           P-8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Word  :-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baaabab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Sequence of Productions:- </a:t>
            </a:r>
          </a:p>
          <a:p>
            <a:pPr lvl="1"/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P1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P3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P4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P7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→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P8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156347" y="1068962"/>
            <a:ext cx="247024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 →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AbBB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| a  | b | 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| 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5050" y="242097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8381998" y="617939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44768" y="891217"/>
            <a:ext cx="207446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8821001" y="892458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9423790" y="881795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7337918" y="884067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8072649" y="899879"/>
            <a:ext cx="0" cy="27327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15700" y="1076332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36756" y="1051951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48631" y="1034098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53673" y="1050325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2807977" y="1155073"/>
            <a:ext cx="4345695" cy="1297956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2794330" y="1741980"/>
            <a:ext cx="4056846" cy="1671378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362962" y="1413620"/>
            <a:ext cx="323001" cy="54655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6851176" y="1399324"/>
            <a:ext cx="464022" cy="52153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66931" y="1792620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10814" y="1834853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2807977" y="2453029"/>
            <a:ext cx="4507221" cy="467594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7720075" y="2225937"/>
            <a:ext cx="323001" cy="54655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7208289" y="2211641"/>
            <a:ext cx="464022" cy="52153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024044" y="2604937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867927" y="2647170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8090843" y="2997951"/>
            <a:ext cx="323001" cy="54655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7579057" y="2983655"/>
            <a:ext cx="464022" cy="52153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394812" y="3376951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38695" y="3419184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2807977" y="2920623"/>
            <a:ext cx="4632323" cy="456328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2762489" y="3859975"/>
            <a:ext cx="5521700" cy="344236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8475255" y="3850071"/>
            <a:ext cx="0" cy="70828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329681" y="4443749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8422942" y="1592182"/>
            <a:ext cx="316172" cy="0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94330" y="4776716"/>
            <a:ext cx="6210915" cy="97920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8409294" y="1592182"/>
            <a:ext cx="595951" cy="3282454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8848302" y="1401904"/>
            <a:ext cx="0" cy="484132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682243" y="1752965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 flipH="1">
            <a:off x="9512477" y="1755138"/>
            <a:ext cx="464030" cy="0"/>
          </a:xfrm>
          <a:prstGeom prst="straightConnector1">
            <a:avLst/>
          </a:prstGeom>
          <a:ln w="22225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2839817" y="5296579"/>
            <a:ext cx="8528768" cy="97920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9962866" y="1741980"/>
            <a:ext cx="1405719" cy="3627112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9419228" y="1404378"/>
            <a:ext cx="0" cy="484132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285027" y="1796181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6615906" y="1937982"/>
            <a:ext cx="415449" cy="327546"/>
          </a:xfrm>
          <a:custGeom>
            <a:avLst/>
            <a:gdLst>
              <a:gd name="connsiteX0" fmla="*/ 30554 w 415449"/>
              <a:gd name="connsiteY0" fmla="*/ 0 h 327546"/>
              <a:gd name="connsiteX1" fmla="*/ 3258 w 415449"/>
              <a:gd name="connsiteY1" fmla="*/ 68239 h 327546"/>
              <a:gd name="connsiteX2" fmla="*/ 44201 w 415449"/>
              <a:gd name="connsiteY2" fmla="*/ 286603 h 327546"/>
              <a:gd name="connsiteX3" fmla="*/ 85145 w 415449"/>
              <a:gd name="connsiteY3" fmla="*/ 313899 h 327546"/>
              <a:gd name="connsiteX4" fmla="*/ 126088 w 415449"/>
              <a:gd name="connsiteY4" fmla="*/ 327546 h 327546"/>
              <a:gd name="connsiteX5" fmla="*/ 248918 w 415449"/>
              <a:gd name="connsiteY5" fmla="*/ 313899 h 327546"/>
              <a:gd name="connsiteX6" fmla="*/ 317157 w 415449"/>
              <a:gd name="connsiteY6" fmla="*/ 300251 h 327546"/>
              <a:gd name="connsiteX7" fmla="*/ 358100 w 415449"/>
              <a:gd name="connsiteY7" fmla="*/ 259308 h 327546"/>
              <a:gd name="connsiteX8" fmla="*/ 412691 w 415449"/>
              <a:gd name="connsiteY8" fmla="*/ 150125 h 327546"/>
              <a:gd name="connsiteX9" fmla="*/ 412691 w 415449"/>
              <a:gd name="connsiteY9" fmla="*/ 0 h 327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5449" h="327546">
                <a:moveTo>
                  <a:pt x="30554" y="0"/>
                </a:moveTo>
                <a:cubicBezTo>
                  <a:pt x="21455" y="22746"/>
                  <a:pt x="4617" y="43778"/>
                  <a:pt x="3258" y="68239"/>
                </a:cubicBezTo>
                <a:cubicBezTo>
                  <a:pt x="-427" y="134575"/>
                  <a:pt x="-10855" y="231547"/>
                  <a:pt x="44201" y="286603"/>
                </a:cubicBezTo>
                <a:cubicBezTo>
                  <a:pt x="55800" y="298202"/>
                  <a:pt x="70474" y="306563"/>
                  <a:pt x="85145" y="313899"/>
                </a:cubicBezTo>
                <a:cubicBezTo>
                  <a:pt x="98012" y="320332"/>
                  <a:pt x="112440" y="322997"/>
                  <a:pt x="126088" y="327546"/>
                </a:cubicBezTo>
                <a:cubicBezTo>
                  <a:pt x="167031" y="322997"/>
                  <a:pt x="208137" y="319725"/>
                  <a:pt x="248918" y="313899"/>
                </a:cubicBezTo>
                <a:cubicBezTo>
                  <a:pt x="271882" y="310619"/>
                  <a:pt x="296409" y="310625"/>
                  <a:pt x="317157" y="300251"/>
                </a:cubicBezTo>
                <a:cubicBezTo>
                  <a:pt x="334420" y="291619"/>
                  <a:pt x="345744" y="274135"/>
                  <a:pt x="358100" y="259308"/>
                </a:cubicBezTo>
                <a:cubicBezTo>
                  <a:pt x="379099" y="234108"/>
                  <a:pt x="409002" y="179633"/>
                  <a:pt x="412691" y="150125"/>
                </a:cubicBezTo>
                <a:cubicBezTo>
                  <a:pt x="418898" y="100470"/>
                  <a:pt x="412691" y="50042"/>
                  <a:pt x="412691" y="0"/>
                </a:cubicBezTo>
              </a:path>
            </a:pathLst>
          </a:custGeom>
          <a:ln w="222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7001301" y="1937982"/>
            <a:ext cx="384769" cy="1214651"/>
          </a:xfrm>
          <a:custGeom>
            <a:avLst/>
            <a:gdLst>
              <a:gd name="connsiteX0" fmla="*/ 27296 w 384769"/>
              <a:gd name="connsiteY0" fmla="*/ 0 h 1214651"/>
              <a:gd name="connsiteX1" fmla="*/ 40944 w 384769"/>
              <a:gd name="connsiteY1" fmla="*/ 81887 h 1214651"/>
              <a:gd name="connsiteX2" fmla="*/ 68239 w 384769"/>
              <a:gd name="connsiteY2" fmla="*/ 204717 h 1214651"/>
              <a:gd name="connsiteX3" fmla="*/ 54592 w 384769"/>
              <a:gd name="connsiteY3" fmla="*/ 805218 h 1214651"/>
              <a:gd name="connsiteX4" fmla="*/ 40944 w 384769"/>
              <a:gd name="connsiteY4" fmla="*/ 846161 h 1214651"/>
              <a:gd name="connsiteX5" fmla="*/ 0 w 384769"/>
              <a:gd name="connsiteY5" fmla="*/ 941696 h 1214651"/>
              <a:gd name="connsiteX6" fmla="*/ 13648 w 384769"/>
              <a:gd name="connsiteY6" fmla="*/ 1078173 h 1214651"/>
              <a:gd name="connsiteX7" fmla="*/ 150126 w 384769"/>
              <a:gd name="connsiteY7" fmla="*/ 1187355 h 1214651"/>
              <a:gd name="connsiteX8" fmla="*/ 191069 w 384769"/>
              <a:gd name="connsiteY8" fmla="*/ 1214651 h 1214651"/>
              <a:gd name="connsiteX9" fmla="*/ 259308 w 384769"/>
              <a:gd name="connsiteY9" fmla="*/ 1146412 h 1214651"/>
              <a:gd name="connsiteX10" fmla="*/ 300251 w 384769"/>
              <a:gd name="connsiteY10" fmla="*/ 1119117 h 1214651"/>
              <a:gd name="connsiteX11" fmla="*/ 341195 w 384769"/>
              <a:gd name="connsiteY11" fmla="*/ 1037230 h 1214651"/>
              <a:gd name="connsiteX12" fmla="*/ 354842 w 384769"/>
              <a:gd name="connsiteY12" fmla="*/ 996287 h 1214651"/>
              <a:gd name="connsiteX13" fmla="*/ 382138 w 384769"/>
              <a:gd name="connsiteY13" fmla="*/ 955343 h 1214651"/>
              <a:gd name="connsiteX14" fmla="*/ 382138 w 384769"/>
              <a:gd name="connsiteY14" fmla="*/ 873457 h 1214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4769" h="1214651">
                <a:moveTo>
                  <a:pt x="27296" y="0"/>
                </a:moveTo>
                <a:cubicBezTo>
                  <a:pt x="31845" y="27296"/>
                  <a:pt x="35517" y="54752"/>
                  <a:pt x="40944" y="81887"/>
                </a:cubicBezTo>
                <a:cubicBezTo>
                  <a:pt x="49169" y="123015"/>
                  <a:pt x="67448" y="162782"/>
                  <a:pt x="68239" y="204717"/>
                </a:cubicBezTo>
                <a:cubicBezTo>
                  <a:pt x="72016" y="404900"/>
                  <a:pt x="63104" y="605180"/>
                  <a:pt x="54592" y="805218"/>
                </a:cubicBezTo>
                <a:cubicBezTo>
                  <a:pt x="53980" y="819591"/>
                  <a:pt x="44896" y="832329"/>
                  <a:pt x="40944" y="846161"/>
                </a:cubicBezTo>
                <a:cubicBezTo>
                  <a:pt x="18911" y="923275"/>
                  <a:pt x="41554" y="879365"/>
                  <a:pt x="0" y="941696"/>
                </a:cubicBezTo>
                <a:cubicBezTo>
                  <a:pt x="4549" y="987188"/>
                  <a:pt x="-4677" y="1036287"/>
                  <a:pt x="13648" y="1078173"/>
                </a:cubicBezTo>
                <a:cubicBezTo>
                  <a:pt x="44763" y="1149292"/>
                  <a:pt x="95349" y="1156054"/>
                  <a:pt x="150126" y="1187355"/>
                </a:cubicBezTo>
                <a:cubicBezTo>
                  <a:pt x="164367" y="1195493"/>
                  <a:pt x="177421" y="1205552"/>
                  <a:pt x="191069" y="1214651"/>
                </a:cubicBezTo>
                <a:cubicBezTo>
                  <a:pt x="300254" y="1141859"/>
                  <a:pt x="168319" y="1237400"/>
                  <a:pt x="259308" y="1146412"/>
                </a:cubicBezTo>
                <a:cubicBezTo>
                  <a:pt x="270906" y="1134814"/>
                  <a:pt x="286603" y="1128215"/>
                  <a:pt x="300251" y="1119117"/>
                </a:cubicBezTo>
                <a:cubicBezTo>
                  <a:pt x="334557" y="1016199"/>
                  <a:pt x="288279" y="1143061"/>
                  <a:pt x="341195" y="1037230"/>
                </a:cubicBezTo>
                <a:cubicBezTo>
                  <a:pt x="347629" y="1024363"/>
                  <a:pt x="348409" y="1009154"/>
                  <a:pt x="354842" y="996287"/>
                </a:cubicBezTo>
                <a:cubicBezTo>
                  <a:pt x="362178" y="981616"/>
                  <a:pt x="378580" y="971355"/>
                  <a:pt x="382138" y="955343"/>
                </a:cubicBezTo>
                <a:cubicBezTo>
                  <a:pt x="388059" y="928698"/>
                  <a:pt x="382138" y="900752"/>
                  <a:pt x="382138" y="873457"/>
                </a:cubicBezTo>
              </a:path>
            </a:pathLst>
          </a:custGeom>
          <a:ln w="222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7274257" y="2784143"/>
            <a:ext cx="504967" cy="1154084"/>
          </a:xfrm>
          <a:custGeom>
            <a:avLst/>
            <a:gdLst>
              <a:gd name="connsiteX0" fmla="*/ 109182 w 504967"/>
              <a:gd name="connsiteY0" fmla="*/ 0 h 1154084"/>
              <a:gd name="connsiteX1" fmla="*/ 136477 w 504967"/>
              <a:gd name="connsiteY1" fmla="*/ 95535 h 1154084"/>
              <a:gd name="connsiteX2" fmla="*/ 122830 w 504967"/>
              <a:gd name="connsiteY2" fmla="*/ 545911 h 1154084"/>
              <a:gd name="connsiteX3" fmla="*/ 95534 w 504967"/>
              <a:gd name="connsiteY3" fmla="*/ 627797 h 1154084"/>
              <a:gd name="connsiteX4" fmla="*/ 81886 w 504967"/>
              <a:gd name="connsiteY4" fmla="*/ 682388 h 1154084"/>
              <a:gd name="connsiteX5" fmla="*/ 54591 w 504967"/>
              <a:gd name="connsiteY5" fmla="*/ 764275 h 1154084"/>
              <a:gd name="connsiteX6" fmla="*/ 40943 w 504967"/>
              <a:gd name="connsiteY6" fmla="*/ 818866 h 1154084"/>
              <a:gd name="connsiteX7" fmla="*/ 0 w 504967"/>
              <a:gd name="connsiteY7" fmla="*/ 941696 h 1154084"/>
              <a:gd name="connsiteX8" fmla="*/ 27295 w 504967"/>
              <a:gd name="connsiteY8" fmla="*/ 1132764 h 1154084"/>
              <a:gd name="connsiteX9" fmla="*/ 177421 w 504967"/>
              <a:gd name="connsiteY9" fmla="*/ 1146412 h 1154084"/>
              <a:gd name="connsiteX10" fmla="*/ 395785 w 504967"/>
              <a:gd name="connsiteY10" fmla="*/ 1132764 h 1154084"/>
              <a:gd name="connsiteX11" fmla="*/ 436728 w 504967"/>
              <a:gd name="connsiteY11" fmla="*/ 1091821 h 1154084"/>
              <a:gd name="connsiteX12" fmla="*/ 477671 w 504967"/>
              <a:gd name="connsiteY12" fmla="*/ 1064526 h 1154084"/>
              <a:gd name="connsiteX13" fmla="*/ 491319 w 504967"/>
              <a:gd name="connsiteY13" fmla="*/ 832514 h 1154084"/>
              <a:gd name="connsiteX14" fmla="*/ 504967 w 504967"/>
              <a:gd name="connsiteY14" fmla="*/ 791570 h 1154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04967" h="1154084">
                <a:moveTo>
                  <a:pt x="109182" y="0"/>
                </a:moveTo>
                <a:cubicBezTo>
                  <a:pt x="118280" y="31845"/>
                  <a:pt x="135649" y="62426"/>
                  <a:pt x="136477" y="95535"/>
                </a:cubicBezTo>
                <a:cubicBezTo>
                  <a:pt x="140231" y="245682"/>
                  <a:pt x="134349" y="396159"/>
                  <a:pt x="122830" y="545911"/>
                </a:cubicBezTo>
                <a:cubicBezTo>
                  <a:pt x="120623" y="574598"/>
                  <a:pt x="102512" y="599884"/>
                  <a:pt x="95534" y="627797"/>
                </a:cubicBezTo>
                <a:cubicBezTo>
                  <a:pt x="90985" y="645994"/>
                  <a:pt x="87276" y="664422"/>
                  <a:pt x="81886" y="682388"/>
                </a:cubicBezTo>
                <a:cubicBezTo>
                  <a:pt x="73618" y="709947"/>
                  <a:pt x="61569" y="736362"/>
                  <a:pt x="54591" y="764275"/>
                </a:cubicBezTo>
                <a:cubicBezTo>
                  <a:pt x="50042" y="782472"/>
                  <a:pt x="46875" y="801072"/>
                  <a:pt x="40943" y="818866"/>
                </a:cubicBezTo>
                <a:cubicBezTo>
                  <a:pt x="-10445" y="973029"/>
                  <a:pt x="32701" y="810886"/>
                  <a:pt x="0" y="941696"/>
                </a:cubicBezTo>
                <a:cubicBezTo>
                  <a:pt x="9098" y="1005385"/>
                  <a:pt x="-14841" y="1084146"/>
                  <a:pt x="27295" y="1132764"/>
                </a:cubicBezTo>
                <a:cubicBezTo>
                  <a:pt x="60204" y="1170736"/>
                  <a:pt x="127173" y="1146412"/>
                  <a:pt x="177421" y="1146412"/>
                </a:cubicBezTo>
                <a:cubicBezTo>
                  <a:pt x="250351" y="1146412"/>
                  <a:pt x="322997" y="1137313"/>
                  <a:pt x="395785" y="1132764"/>
                </a:cubicBezTo>
                <a:cubicBezTo>
                  <a:pt x="409433" y="1119116"/>
                  <a:pt x="421901" y="1104177"/>
                  <a:pt x="436728" y="1091821"/>
                </a:cubicBezTo>
                <a:cubicBezTo>
                  <a:pt x="449329" y="1081320"/>
                  <a:pt x="474292" y="1080577"/>
                  <a:pt x="477671" y="1064526"/>
                </a:cubicBezTo>
                <a:cubicBezTo>
                  <a:pt x="493631" y="988717"/>
                  <a:pt x="483610" y="909601"/>
                  <a:pt x="491319" y="832514"/>
                </a:cubicBezTo>
                <a:cubicBezTo>
                  <a:pt x="492751" y="818199"/>
                  <a:pt x="504967" y="791570"/>
                  <a:pt x="504967" y="791570"/>
                </a:cubicBezTo>
              </a:path>
            </a:pathLst>
          </a:custGeom>
          <a:ln w="222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7765576" y="3630304"/>
            <a:ext cx="928173" cy="1392072"/>
          </a:xfrm>
          <a:custGeom>
            <a:avLst/>
            <a:gdLst>
              <a:gd name="connsiteX0" fmla="*/ 0 w 928173"/>
              <a:gd name="connsiteY0" fmla="*/ 0 h 1392072"/>
              <a:gd name="connsiteX1" fmla="*/ 27296 w 928173"/>
              <a:gd name="connsiteY1" fmla="*/ 518615 h 1392072"/>
              <a:gd name="connsiteX2" fmla="*/ 68239 w 928173"/>
              <a:gd name="connsiteY2" fmla="*/ 736980 h 1392072"/>
              <a:gd name="connsiteX3" fmla="*/ 109182 w 928173"/>
              <a:gd name="connsiteY3" fmla="*/ 764275 h 1392072"/>
              <a:gd name="connsiteX4" fmla="*/ 136478 w 928173"/>
              <a:gd name="connsiteY4" fmla="*/ 832514 h 1392072"/>
              <a:gd name="connsiteX5" fmla="*/ 218364 w 928173"/>
              <a:gd name="connsiteY5" fmla="*/ 900753 h 1392072"/>
              <a:gd name="connsiteX6" fmla="*/ 245660 w 928173"/>
              <a:gd name="connsiteY6" fmla="*/ 955344 h 1392072"/>
              <a:gd name="connsiteX7" fmla="*/ 286603 w 928173"/>
              <a:gd name="connsiteY7" fmla="*/ 1009935 h 1392072"/>
              <a:gd name="connsiteX8" fmla="*/ 341194 w 928173"/>
              <a:gd name="connsiteY8" fmla="*/ 1091821 h 1392072"/>
              <a:gd name="connsiteX9" fmla="*/ 395785 w 928173"/>
              <a:gd name="connsiteY9" fmla="*/ 1173708 h 1392072"/>
              <a:gd name="connsiteX10" fmla="*/ 436728 w 928173"/>
              <a:gd name="connsiteY10" fmla="*/ 1255595 h 1392072"/>
              <a:gd name="connsiteX11" fmla="*/ 518615 w 928173"/>
              <a:gd name="connsiteY11" fmla="*/ 1364777 h 1392072"/>
              <a:gd name="connsiteX12" fmla="*/ 641445 w 928173"/>
              <a:gd name="connsiteY12" fmla="*/ 1392072 h 1392072"/>
              <a:gd name="connsiteX13" fmla="*/ 723331 w 928173"/>
              <a:gd name="connsiteY13" fmla="*/ 1378424 h 1392072"/>
              <a:gd name="connsiteX14" fmla="*/ 750627 w 928173"/>
              <a:gd name="connsiteY14" fmla="*/ 1337481 h 1392072"/>
              <a:gd name="connsiteX15" fmla="*/ 791570 w 928173"/>
              <a:gd name="connsiteY15" fmla="*/ 1310186 h 1392072"/>
              <a:gd name="connsiteX16" fmla="*/ 846161 w 928173"/>
              <a:gd name="connsiteY16" fmla="*/ 1228299 h 1392072"/>
              <a:gd name="connsiteX17" fmla="*/ 873457 w 928173"/>
              <a:gd name="connsiteY17" fmla="*/ 1132765 h 1392072"/>
              <a:gd name="connsiteX18" fmla="*/ 900752 w 928173"/>
              <a:gd name="connsiteY18" fmla="*/ 1091821 h 1392072"/>
              <a:gd name="connsiteX19" fmla="*/ 928048 w 928173"/>
              <a:gd name="connsiteY19" fmla="*/ 900753 h 139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28173" h="1392072">
                <a:moveTo>
                  <a:pt x="0" y="0"/>
                </a:moveTo>
                <a:cubicBezTo>
                  <a:pt x="22404" y="649698"/>
                  <a:pt x="-3219" y="198197"/>
                  <a:pt x="27296" y="518615"/>
                </a:cubicBezTo>
                <a:cubicBezTo>
                  <a:pt x="33111" y="579671"/>
                  <a:pt x="19980" y="679070"/>
                  <a:pt x="68239" y="736980"/>
                </a:cubicBezTo>
                <a:cubicBezTo>
                  <a:pt x="78740" y="749581"/>
                  <a:pt x="95534" y="755177"/>
                  <a:pt x="109182" y="764275"/>
                </a:cubicBezTo>
                <a:cubicBezTo>
                  <a:pt x="118281" y="787021"/>
                  <a:pt x="123494" y="811739"/>
                  <a:pt x="136478" y="832514"/>
                </a:cubicBezTo>
                <a:cubicBezTo>
                  <a:pt x="155242" y="862537"/>
                  <a:pt x="190067" y="881888"/>
                  <a:pt x="218364" y="900753"/>
                </a:cubicBezTo>
                <a:cubicBezTo>
                  <a:pt x="227463" y="918950"/>
                  <a:pt x="234877" y="938092"/>
                  <a:pt x="245660" y="955344"/>
                </a:cubicBezTo>
                <a:cubicBezTo>
                  <a:pt x="257715" y="974633"/>
                  <a:pt x="273559" y="991301"/>
                  <a:pt x="286603" y="1009935"/>
                </a:cubicBezTo>
                <a:cubicBezTo>
                  <a:pt x="305415" y="1036810"/>
                  <a:pt x="322997" y="1064526"/>
                  <a:pt x="341194" y="1091821"/>
                </a:cubicBezTo>
                <a:lnTo>
                  <a:pt x="395785" y="1173708"/>
                </a:lnTo>
                <a:cubicBezTo>
                  <a:pt x="420807" y="1248772"/>
                  <a:pt x="394399" y="1181519"/>
                  <a:pt x="436728" y="1255595"/>
                </a:cubicBezTo>
                <a:cubicBezTo>
                  <a:pt x="469854" y="1313567"/>
                  <a:pt x="456821" y="1320639"/>
                  <a:pt x="518615" y="1364777"/>
                </a:cubicBezTo>
                <a:cubicBezTo>
                  <a:pt x="539064" y="1379383"/>
                  <a:pt x="635288" y="1391046"/>
                  <a:pt x="641445" y="1392072"/>
                </a:cubicBezTo>
                <a:cubicBezTo>
                  <a:pt x="668740" y="1387523"/>
                  <a:pt x="698581" y="1390799"/>
                  <a:pt x="723331" y="1378424"/>
                </a:cubicBezTo>
                <a:cubicBezTo>
                  <a:pt x="738002" y="1371089"/>
                  <a:pt x="739029" y="1349079"/>
                  <a:pt x="750627" y="1337481"/>
                </a:cubicBezTo>
                <a:cubicBezTo>
                  <a:pt x="762225" y="1325883"/>
                  <a:pt x="777922" y="1319284"/>
                  <a:pt x="791570" y="1310186"/>
                </a:cubicBezTo>
                <a:cubicBezTo>
                  <a:pt x="809767" y="1282890"/>
                  <a:pt x="838204" y="1260125"/>
                  <a:pt x="846161" y="1228299"/>
                </a:cubicBezTo>
                <a:cubicBezTo>
                  <a:pt x="850534" y="1210806"/>
                  <a:pt x="863667" y="1152346"/>
                  <a:pt x="873457" y="1132765"/>
                </a:cubicBezTo>
                <a:cubicBezTo>
                  <a:pt x="880792" y="1118094"/>
                  <a:pt x="891654" y="1105469"/>
                  <a:pt x="900752" y="1091821"/>
                </a:cubicBezTo>
                <a:cubicBezTo>
                  <a:pt x="931617" y="937500"/>
                  <a:pt x="928048" y="1001737"/>
                  <a:pt x="928048" y="900753"/>
                </a:cubicBezTo>
              </a:path>
            </a:pathLst>
          </a:custGeom>
          <a:ln w="222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7788472" y="1214651"/>
            <a:ext cx="905152" cy="3343701"/>
          </a:xfrm>
          <a:custGeom>
            <a:avLst/>
            <a:gdLst>
              <a:gd name="connsiteX0" fmla="*/ 905152 w 905152"/>
              <a:gd name="connsiteY0" fmla="*/ 3343701 h 3343701"/>
              <a:gd name="connsiteX1" fmla="*/ 877856 w 905152"/>
              <a:gd name="connsiteY1" fmla="*/ 1733265 h 3343701"/>
              <a:gd name="connsiteX2" fmla="*/ 850561 w 905152"/>
              <a:gd name="connsiteY2" fmla="*/ 1610436 h 3343701"/>
              <a:gd name="connsiteX3" fmla="*/ 836913 w 905152"/>
              <a:gd name="connsiteY3" fmla="*/ 1555845 h 3343701"/>
              <a:gd name="connsiteX4" fmla="*/ 809618 w 905152"/>
              <a:gd name="connsiteY4" fmla="*/ 1514901 h 3343701"/>
              <a:gd name="connsiteX5" fmla="*/ 768674 w 905152"/>
              <a:gd name="connsiteY5" fmla="*/ 1433015 h 3343701"/>
              <a:gd name="connsiteX6" fmla="*/ 755027 w 905152"/>
              <a:gd name="connsiteY6" fmla="*/ 1392071 h 3343701"/>
              <a:gd name="connsiteX7" fmla="*/ 727731 w 905152"/>
              <a:gd name="connsiteY7" fmla="*/ 1351128 h 3343701"/>
              <a:gd name="connsiteX8" fmla="*/ 673140 w 905152"/>
              <a:gd name="connsiteY8" fmla="*/ 1105468 h 3343701"/>
              <a:gd name="connsiteX9" fmla="*/ 632197 w 905152"/>
              <a:gd name="connsiteY9" fmla="*/ 996286 h 3343701"/>
              <a:gd name="connsiteX10" fmla="*/ 591253 w 905152"/>
              <a:gd name="connsiteY10" fmla="*/ 968991 h 3343701"/>
              <a:gd name="connsiteX11" fmla="*/ 536662 w 905152"/>
              <a:gd name="connsiteY11" fmla="*/ 887104 h 3343701"/>
              <a:gd name="connsiteX12" fmla="*/ 495719 w 905152"/>
              <a:gd name="connsiteY12" fmla="*/ 846161 h 3343701"/>
              <a:gd name="connsiteX13" fmla="*/ 400185 w 905152"/>
              <a:gd name="connsiteY13" fmla="*/ 696036 h 3343701"/>
              <a:gd name="connsiteX14" fmla="*/ 263707 w 905152"/>
              <a:gd name="connsiteY14" fmla="*/ 545910 h 3343701"/>
              <a:gd name="connsiteX15" fmla="*/ 140877 w 905152"/>
              <a:gd name="connsiteY15" fmla="*/ 409433 h 3343701"/>
              <a:gd name="connsiteX16" fmla="*/ 99934 w 905152"/>
              <a:gd name="connsiteY16" fmla="*/ 368489 h 3343701"/>
              <a:gd name="connsiteX17" fmla="*/ 72638 w 905152"/>
              <a:gd name="connsiteY17" fmla="*/ 286603 h 3343701"/>
              <a:gd name="connsiteX18" fmla="*/ 58991 w 905152"/>
              <a:gd name="connsiteY18" fmla="*/ 245659 h 3343701"/>
              <a:gd name="connsiteX19" fmla="*/ 31695 w 905152"/>
              <a:gd name="connsiteY19" fmla="*/ 204716 h 3343701"/>
              <a:gd name="connsiteX20" fmla="*/ 4400 w 905152"/>
              <a:gd name="connsiteY20" fmla="*/ 136477 h 3343701"/>
              <a:gd name="connsiteX21" fmla="*/ 18047 w 905152"/>
              <a:gd name="connsiteY21" fmla="*/ 191068 h 3343701"/>
              <a:gd name="connsiteX22" fmla="*/ 86286 w 905152"/>
              <a:gd name="connsiteY22" fmla="*/ 286603 h 3343701"/>
              <a:gd name="connsiteX23" fmla="*/ 99934 w 905152"/>
              <a:gd name="connsiteY23" fmla="*/ 341194 h 3343701"/>
              <a:gd name="connsiteX24" fmla="*/ 263707 w 905152"/>
              <a:gd name="connsiteY24" fmla="*/ 382137 h 3343701"/>
              <a:gd name="connsiteX25" fmla="*/ 331946 w 905152"/>
              <a:gd name="connsiteY25" fmla="*/ 395785 h 3343701"/>
              <a:gd name="connsiteX26" fmla="*/ 495719 w 905152"/>
              <a:gd name="connsiteY26" fmla="*/ 368489 h 3343701"/>
              <a:gd name="connsiteX27" fmla="*/ 536662 w 905152"/>
              <a:gd name="connsiteY27" fmla="*/ 327546 h 3343701"/>
              <a:gd name="connsiteX28" fmla="*/ 577606 w 905152"/>
              <a:gd name="connsiteY28" fmla="*/ 313898 h 3343701"/>
              <a:gd name="connsiteX29" fmla="*/ 618549 w 905152"/>
              <a:gd name="connsiteY29" fmla="*/ 272955 h 3343701"/>
              <a:gd name="connsiteX30" fmla="*/ 632197 w 905152"/>
              <a:gd name="connsiteY30" fmla="*/ 191068 h 3343701"/>
              <a:gd name="connsiteX31" fmla="*/ 645844 w 905152"/>
              <a:gd name="connsiteY31" fmla="*/ 150125 h 3343701"/>
              <a:gd name="connsiteX32" fmla="*/ 659492 w 905152"/>
              <a:gd name="connsiteY32" fmla="*/ 0 h 3343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905152" h="3343701">
                <a:moveTo>
                  <a:pt x="905152" y="3343701"/>
                </a:moveTo>
                <a:cubicBezTo>
                  <a:pt x="790068" y="2768292"/>
                  <a:pt x="905307" y="3366647"/>
                  <a:pt x="877856" y="1733265"/>
                </a:cubicBezTo>
                <a:cubicBezTo>
                  <a:pt x="876756" y="1667838"/>
                  <a:pt x="865207" y="1661697"/>
                  <a:pt x="850561" y="1610436"/>
                </a:cubicBezTo>
                <a:cubicBezTo>
                  <a:pt x="845408" y="1592401"/>
                  <a:pt x="844302" y="1573085"/>
                  <a:pt x="836913" y="1555845"/>
                </a:cubicBezTo>
                <a:cubicBezTo>
                  <a:pt x="830452" y="1540769"/>
                  <a:pt x="816953" y="1529572"/>
                  <a:pt x="809618" y="1514901"/>
                </a:cubicBezTo>
                <a:cubicBezTo>
                  <a:pt x="753121" y="1401906"/>
                  <a:pt x="846891" y="1550338"/>
                  <a:pt x="768674" y="1433015"/>
                </a:cubicBezTo>
                <a:cubicBezTo>
                  <a:pt x="764125" y="1419367"/>
                  <a:pt x="761461" y="1404938"/>
                  <a:pt x="755027" y="1392071"/>
                </a:cubicBezTo>
                <a:cubicBezTo>
                  <a:pt x="747692" y="1377400"/>
                  <a:pt x="731289" y="1367140"/>
                  <a:pt x="727731" y="1351128"/>
                </a:cubicBezTo>
                <a:cubicBezTo>
                  <a:pt x="668802" y="1085954"/>
                  <a:pt x="745641" y="1214224"/>
                  <a:pt x="673140" y="1105468"/>
                </a:cubicBezTo>
                <a:cubicBezTo>
                  <a:pt x="663958" y="1068740"/>
                  <a:pt x="657684" y="1026870"/>
                  <a:pt x="632197" y="996286"/>
                </a:cubicBezTo>
                <a:cubicBezTo>
                  <a:pt x="621696" y="983685"/>
                  <a:pt x="604901" y="978089"/>
                  <a:pt x="591253" y="968991"/>
                </a:cubicBezTo>
                <a:cubicBezTo>
                  <a:pt x="573056" y="941695"/>
                  <a:pt x="559859" y="910301"/>
                  <a:pt x="536662" y="887104"/>
                </a:cubicBezTo>
                <a:cubicBezTo>
                  <a:pt x="523014" y="873456"/>
                  <a:pt x="507299" y="861602"/>
                  <a:pt x="495719" y="846161"/>
                </a:cubicBezTo>
                <a:cubicBezTo>
                  <a:pt x="464134" y="804048"/>
                  <a:pt x="437044" y="732896"/>
                  <a:pt x="400185" y="696036"/>
                </a:cubicBezTo>
                <a:cubicBezTo>
                  <a:pt x="235605" y="531455"/>
                  <a:pt x="333512" y="643636"/>
                  <a:pt x="263707" y="545910"/>
                </a:cubicBezTo>
                <a:cubicBezTo>
                  <a:pt x="210283" y="471117"/>
                  <a:pt x="220724" y="489280"/>
                  <a:pt x="140877" y="409433"/>
                </a:cubicBezTo>
                <a:lnTo>
                  <a:pt x="99934" y="368489"/>
                </a:lnTo>
                <a:lnTo>
                  <a:pt x="72638" y="286603"/>
                </a:lnTo>
                <a:cubicBezTo>
                  <a:pt x="68089" y="272955"/>
                  <a:pt x="66971" y="257629"/>
                  <a:pt x="58991" y="245659"/>
                </a:cubicBezTo>
                <a:cubicBezTo>
                  <a:pt x="49892" y="232011"/>
                  <a:pt x="39030" y="219387"/>
                  <a:pt x="31695" y="204716"/>
                </a:cubicBezTo>
                <a:cubicBezTo>
                  <a:pt x="20739" y="182804"/>
                  <a:pt x="21723" y="153800"/>
                  <a:pt x="4400" y="136477"/>
                </a:cubicBezTo>
                <a:cubicBezTo>
                  <a:pt x="-8863" y="123214"/>
                  <a:pt x="11461" y="173505"/>
                  <a:pt x="18047" y="191068"/>
                </a:cubicBezTo>
                <a:cubicBezTo>
                  <a:pt x="39602" y="248550"/>
                  <a:pt x="44592" y="244908"/>
                  <a:pt x="86286" y="286603"/>
                </a:cubicBezTo>
                <a:cubicBezTo>
                  <a:pt x="90835" y="304800"/>
                  <a:pt x="89529" y="325587"/>
                  <a:pt x="99934" y="341194"/>
                </a:cubicBezTo>
                <a:cubicBezTo>
                  <a:pt x="130262" y="386685"/>
                  <a:pt x="237323" y="378368"/>
                  <a:pt x="263707" y="382137"/>
                </a:cubicBezTo>
                <a:cubicBezTo>
                  <a:pt x="286671" y="385418"/>
                  <a:pt x="309200" y="391236"/>
                  <a:pt x="331946" y="395785"/>
                </a:cubicBezTo>
                <a:cubicBezTo>
                  <a:pt x="386537" y="386686"/>
                  <a:pt x="443215" y="385990"/>
                  <a:pt x="495719" y="368489"/>
                </a:cubicBezTo>
                <a:cubicBezTo>
                  <a:pt x="514029" y="362386"/>
                  <a:pt x="520603" y="338252"/>
                  <a:pt x="536662" y="327546"/>
                </a:cubicBezTo>
                <a:cubicBezTo>
                  <a:pt x="548632" y="319566"/>
                  <a:pt x="563958" y="318447"/>
                  <a:pt x="577606" y="313898"/>
                </a:cubicBezTo>
                <a:cubicBezTo>
                  <a:pt x="591254" y="300250"/>
                  <a:pt x="610710" y="290592"/>
                  <a:pt x="618549" y="272955"/>
                </a:cubicBezTo>
                <a:cubicBezTo>
                  <a:pt x="629788" y="247668"/>
                  <a:pt x="626194" y="218081"/>
                  <a:pt x="632197" y="191068"/>
                </a:cubicBezTo>
                <a:cubicBezTo>
                  <a:pt x="635318" y="177025"/>
                  <a:pt x="641295" y="163773"/>
                  <a:pt x="645844" y="150125"/>
                </a:cubicBezTo>
                <a:lnTo>
                  <a:pt x="659492" y="0"/>
                </a:lnTo>
              </a:path>
            </a:pathLst>
          </a:custGeom>
          <a:ln w="222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 46"/>
          <p:cNvSpPr/>
          <p:nvPr/>
        </p:nvSpPr>
        <p:spPr>
          <a:xfrm>
            <a:off x="8461612" y="1241946"/>
            <a:ext cx="696036" cy="969695"/>
          </a:xfrm>
          <a:custGeom>
            <a:avLst/>
            <a:gdLst>
              <a:gd name="connsiteX0" fmla="*/ 0 w 696036"/>
              <a:gd name="connsiteY0" fmla="*/ 0 h 1133052"/>
              <a:gd name="connsiteX1" fmla="*/ 13648 w 696036"/>
              <a:gd name="connsiteY1" fmla="*/ 559558 h 1133052"/>
              <a:gd name="connsiteX2" fmla="*/ 27295 w 696036"/>
              <a:gd name="connsiteY2" fmla="*/ 750627 h 1133052"/>
              <a:gd name="connsiteX3" fmla="*/ 54591 w 696036"/>
              <a:gd name="connsiteY3" fmla="*/ 832514 h 1133052"/>
              <a:gd name="connsiteX4" fmla="*/ 68239 w 696036"/>
              <a:gd name="connsiteY4" fmla="*/ 873457 h 1133052"/>
              <a:gd name="connsiteX5" fmla="*/ 81887 w 696036"/>
              <a:gd name="connsiteY5" fmla="*/ 914400 h 1133052"/>
              <a:gd name="connsiteX6" fmla="*/ 109182 w 696036"/>
              <a:gd name="connsiteY6" fmla="*/ 955344 h 1133052"/>
              <a:gd name="connsiteX7" fmla="*/ 122830 w 696036"/>
              <a:gd name="connsiteY7" fmla="*/ 1023582 h 1133052"/>
              <a:gd name="connsiteX8" fmla="*/ 163773 w 696036"/>
              <a:gd name="connsiteY8" fmla="*/ 1050878 h 1133052"/>
              <a:gd name="connsiteX9" fmla="*/ 313898 w 696036"/>
              <a:gd name="connsiteY9" fmla="*/ 1091821 h 1133052"/>
              <a:gd name="connsiteX10" fmla="*/ 423081 w 696036"/>
              <a:gd name="connsiteY10" fmla="*/ 1132764 h 1133052"/>
              <a:gd name="connsiteX11" fmla="*/ 477672 w 696036"/>
              <a:gd name="connsiteY11" fmla="*/ 1105469 h 1133052"/>
              <a:gd name="connsiteX12" fmla="*/ 504967 w 696036"/>
              <a:gd name="connsiteY12" fmla="*/ 1064526 h 1133052"/>
              <a:gd name="connsiteX13" fmla="*/ 545910 w 696036"/>
              <a:gd name="connsiteY13" fmla="*/ 1023582 h 1133052"/>
              <a:gd name="connsiteX14" fmla="*/ 600501 w 696036"/>
              <a:gd name="connsiteY14" fmla="*/ 941696 h 1133052"/>
              <a:gd name="connsiteX15" fmla="*/ 641445 w 696036"/>
              <a:gd name="connsiteY15" fmla="*/ 791570 h 1133052"/>
              <a:gd name="connsiteX16" fmla="*/ 655092 w 696036"/>
              <a:gd name="connsiteY16" fmla="*/ 682388 h 1133052"/>
              <a:gd name="connsiteX17" fmla="*/ 682388 w 696036"/>
              <a:gd name="connsiteY17" fmla="*/ 600502 h 1133052"/>
              <a:gd name="connsiteX18" fmla="*/ 696036 w 696036"/>
              <a:gd name="connsiteY18" fmla="*/ 559558 h 1133052"/>
              <a:gd name="connsiteX19" fmla="*/ 696036 w 696036"/>
              <a:gd name="connsiteY19" fmla="*/ 532263 h 1133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96036" h="1133052">
                <a:moveTo>
                  <a:pt x="0" y="0"/>
                </a:moveTo>
                <a:cubicBezTo>
                  <a:pt x="4549" y="186519"/>
                  <a:pt x="6868" y="373106"/>
                  <a:pt x="13648" y="559558"/>
                </a:cubicBezTo>
                <a:cubicBezTo>
                  <a:pt x="15968" y="623368"/>
                  <a:pt x="17823" y="687482"/>
                  <a:pt x="27295" y="750627"/>
                </a:cubicBezTo>
                <a:cubicBezTo>
                  <a:pt x="31563" y="779081"/>
                  <a:pt x="45492" y="805218"/>
                  <a:pt x="54591" y="832514"/>
                </a:cubicBezTo>
                <a:lnTo>
                  <a:pt x="68239" y="873457"/>
                </a:lnTo>
                <a:cubicBezTo>
                  <a:pt x="72788" y="887105"/>
                  <a:pt x="73907" y="902430"/>
                  <a:pt x="81887" y="914400"/>
                </a:cubicBezTo>
                <a:lnTo>
                  <a:pt x="109182" y="955344"/>
                </a:lnTo>
                <a:cubicBezTo>
                  <a:pt x="113731" y="978090"/>
                  <a:pt x="111321" y="1003442"/>
                  <a:pt x="122830" y="1023582"/>
                </a:cubicBezTo>
                <a:cubicBezTo>
                  <a:pt x="130968" y="1037823"/>
                  <a:pt x="148784" y="1044216"/>
                  <a:pt x="163773" y="1050878"/>
                </a:cubicBezTo>
                <a:cubicBezTo>
                  <a:pt x="220438" y="1076062"/>
                  <a:pt x="255523" y="1080146"/>
                  <a:pt x="313898" y="1091821"/>
                </a:cubicBezTo>
                <a:cubicBezTo>
                  <a:pt x="336896" y="1103320"/>
                  <a:pt x="393346" y="1136481"/>
                  <a:pt x="423081" y="1132764"/>
                </a:cubicBezTo>
                <a:cubicBezTo>
                  <a:pt x="443269" y="1130241"/>
                  <a:pt x="459475" y="1114567"/>
                  <a:pt x="477672" y="1105469"/>
                </a:cubicBezTo>
                <a:cubicBezTo>
                  <a:pt x="486770" y="1091821"/>
                  <a:pt x="494467" y="1077127"/>
                  <a:pt x="504967" y="1064526"/>
                </a:cubicBezTo>
                <a:cubicBezTo>
                  <a:pt x="517323" y="1049698"/>
                  <a:pt x="535204" y="1039641"/>
                  <a:pt x="545910" y="1023582"/>
                </a:cubicBezTo>
                <a:cubicBezTo>
                  <a:pt x="624912" y="905078"/>
                  <a:pt x="469893" y="1072304"/>
                  <a:pt x="600501" y="941696"/>
                </a:cubicBezTo>
                <a:cubicBezTo>
                  <a:pt x="624877" y="868569"/>
                  <a:pt x="630422" y="863218"/>
                  <a:pt x="641445" y="791570"/>
                </a:cubicBezTo>
                <a:cubicBezTo>
                  <a:pt x="647022" y="755319"/>
                  <a:pt x="647407" y="718251"/>
                  <a:pt x="655092" y="682388"/>
                </a:cubicBezTo>
                <a:cubicBezTo>
                  <a:pt x="661121" y="654255"/>
                  <a:pt x="673289" y="627797"/>
                  <a:pt x="682388" y="600502"/>
                </a:cubicBezTo>
                <a:cubicBezTo>
                  <a:pt x="686937" y="586854"/>
                  <a:pt x="696036" y="573944"/>
                  <a:pt x="696036" y="559558"/>
                </a:cubicBezTo>
                <a:lnTo>
                  <a:pt x="696036" y="532263"/>
                </a:lnTo>
              </a:path>
            </a:pathLst>
          </a:custGeom>
          <a:ln w="222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 48"/>
          <p:cNvSpPr/>
          <p:nvPr/>
        </p:nvSpPr>
        <p:spPr>
          <a:xfrm>
            <a:off x="9103057" y="1746913"/>
            <a:ext cx="668844" cy="628085"/>
          </a:xfrm>
          <a:custGeom>
            <a:avLst/>
            <a:gdLst>
              <a:gd name="connsiteX0" fmla="*/ 68239 w 668844"/>
              <a:gd name="connsiteY0" fmla="*/ 0 h 859809"/>
              <a:gd name="connsiteX1" fmla="*/ 40943 w 668844"/>
              <a:gd name="connsiteY1" fmla="*/ 68239 h 859809"/>
              <a:gd name="connsiteX2" fmla="*/ 27295 w 668844"/>
              <a:gd name="connsiteY2" fmla="*/ 109183 h 859809"/>
              <a:gd name="connsiteX3" fmla="*/ 0 w 668844"/>
              <a:gd name="connsiteY3" fmla="*/ 150126 h 859809"/>
              <a:gd name="connsiteX4" fmla="*/ 27295 w 668844"/>
              <a:gd name="connsiteY4" fmla="*/ 559559 h 859809"/>
              <a:gd name="connsiteX5" fmla="*/ 40943 w 668844"/>
              <a:gd name="connsiteY5" fmla="*/ 600502 h 859809"/>
              <a:gd name="connsiteX6" fmla="*/ 54591 w 668844"/>
              <a:gd name="connsiteY6" fmla="*/ 696036 h 859809"/>
              <a:gd name="connsiteX7" fmla="*/ 95534 w 668844"/>
              <a:gd name="connsiteY7" fmla="*/ 723332 h 859809"/>
              <a:gd name="connsiteX8" fmla="*/ 191068 w 668844"/>
              <a:gd name="connsiteY8" fmla="*/ 818866 h 859809"/>
              <a:gd name="connsiteX9" fmla="*/ 232012 w 668844"/>
              <a:gd name="connsiteY9" fmla="*/ 832514 h 859809"/>
              <a:gd name="connsiteX10" fmla="*/ 395785 w 668844"/>
              <a:gd name="connsiteY10" fmla="*/ 859809 h 859809"/>
              <a:gd name="connsiteX11" fmla="*/ 559558 w 668844"/>
              <a:gd name="connsiteY11" fmla="*/ 846162 h 859809"/>
              <a:gd name="connsiteX12" fmla="*/ 627797 w 668844"/>
              <a:gd name="connsiteY12" fmla="*/ 586854 h 859809"/>
              <a:gd name="connsiteX13" fmla="*/ 655092 w 668844"/>
              <a:gd name="connsiteY13" fmla="*/ 545911 h 859809"/>
              <a:gd name="connsiteX14" fmla="*/ 614149 w 668844"/>
              <a:gd name="connsiteY14" fmla="*/ 504968 h 859809"/>
              <a:gd name="connsiteX15" fmla="*/ 641444 w 668844"/>
              <a:gd name="connsiteY15" fmla="*/ 232012 h 859809"/>
              <a:gd name="connsiteX16" fmla="*/ 655092 w 668844"/>
              <a:gd name="connsiteY16" fmla="*/ 191069 h 859809"/>
              <a:gd name="connsiteX17" fmla="*/ 668740 w 668844"/>
              <a:gd name="connsiteY17" fmla="*/ 109183 h 859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68844" h="859809">
                <a:moveTo>
                  <a:pt x="68239" y="0"/>
                </a:moveTo>
                <a:cubicBezTo>
                  <a:pt x="59140" y="22746"/>
                  <a:pt x="49545" y="45300"/>
                  <a:pt x="40943" y="68239"/>
                </a:cubicBezTo>
                <a:cubicBezTo>
                  <a:pt x="35892" y="81709"/>
                  <a:pt x="33729" y="96316"/>
                  <a:pt x="27295" y="109183"/>
                </a:cubicBezTo>
                <a:cubicBezTo>
                  <a:pt x="19960" y="123854"/>
                  <a:pt x="9098" y="136478"/>
                  <a:pt x="0" y="150126"/>
                </a:cubicBezTo>
                <a:cubicBezTo>
                  <a:pt x="5197" y="274851"/>
                  <a:pt x="-1887" y="428244"/>
                  <a:pt x="27295" y="559559"/>
                </a:cubicBezTo>
                <a:cubicBezTo>
                  <a:pt x="30416" y="573602"/>
                  <a:pt x="36394" y="586854"/>
                  <a:pt x="40943" y="600502"/>
                </a:cubicBezTo>
                <a:cubicBezTo>
                  <a:pt x="45492" y="632347"/>
                  <a:pt x="41526" y="666641"/>
                  <a:pt x="54591" y="696036"/>
                </a:cubicBezTo>
                <a:cubicBezTo>
                  <a:pt x="61253" y="711025"/>
                  <a:pt x="83342" y="712359"/>
                  <a:pt x="95534" y="723332"/>
                </a:cubicBezTo>
                <a:cubicBezTo>
                  <a:pt x="129008" y="753459"/>
                  <a:pt x="148344" y="804625"/>
                  <a:pt x="191068" y="818866"/>
                </a:cubicBezTo>
                <a:cubicBezTo>
                  <a:pt x="204716" y="823415"/>
                  <a:pt x="218055" y="829025"/>
                  <a:pt x="232012" y="832514"/>
                </a:cubicBezTo>
                <a:cubicBezTo>
                  <a:pt x="285236" y="845820"/>
                  <a:pt x="341852" y="852105"/>
                  <a:pt x="395785" y="859809"/>
                </a:cubicBezTo>
                <a:cubicBezTo>
                  <a:pt x="450376" y="855260"/>
                  <a:pt x="505842" y="856905"/>
                  <a:pt x="559558" y="846162"/>
                </a:cubicBezTo>
                <a:cubicBezTo>
                  <a:pt x="659499" y="826174"/>
                  <a:pt x="626089" y="595393"/>
                  <a:pt x="627797" y="586854"/>
                </a:cubicBezTo>
                <a:cubicBezTo>
                  <a:pt x="631014" y="570770"/>
                  <a:pt x="645994" y="559559"/>
                  <a:pt x="655092" y="545911"/>
                </a:cubicBezTo>
                <a:cubicBezTo>
                  <a:pt x="641444" y="532263"/>
                  <a:pt x="614987" y="524250"/>
                  <a:pt x="614149" y="504968"/>
                </a:cubicBezTo>
                <a:cubicBezTo>
                  <a:pt x="610177" y="413615"/>
                  <a:pt x="629617" y="322683"/>
                  <a:pt x="641444" y="232012"/>
                </a:cubicBezTo>
                <a:cubicBezTo>
                  <a:pt x="643305" y="217747"/>
                  <a:pt x="651140" y="204901"/>
                  <a:pt x="655092" y="191069"/>
                </a:cubicBezTo>
                <a:cubicBezTo>
                  <a:pt x="670947" y="135579"/>
                  <a:pt x="668740" y="151390"/>
                  <a:pt x="668740" y="109183"/>
                </a:cubicBezTo>
              </a:path>
            </a:pathLst>
          </a:custGeom>
          <a:ln w="222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/>
          <p:cNvGrpSpPr/>
          <p:nvPr/>
        </p:nvGrpSpPr>
        <p:grpSpPr>
          <a:xfrm>
            <a:off x="2950191" y="4023716"/>
            <a:ext cx="1569494" cy="801960"/>
            <a:chOff x="5513696" y="3229016"/>
            <a:chExt cx="1009934" cy="801960"/>
          </a:xfrm>
        </p:grpSpPr>
        <p:sp>
          <p:nvSpPr>
            <p:cNvPr id="58" name="TextBox 57"/>
            <p:cNvSpPr txBox="1"/>
            <p:nvPr/>
          </p:nvSpPr>
          <p:spPr>
            <a:xfrm>
              <a:off x="5513696" y="3384645"/>
              <a:ext cx="10099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 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→      P-6</a:t>
              </a:r>
              <a:endParaRPr lang="en-US" dirty="0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851805" y="3229016"/>
              <a:ext cx="31451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 b="1" dirty="0" smtClean="0">
                  <a:latin typeface="Times New Roman" pitchFamily="18" charset="0"/>
                  <a:cs typeface="Times New Roman" pitchFamily="18" charset="0"/>
                </a:rPr>
                <a:t>ᵋ</a:t>
              </a:r>
              <a:endParaRPr lang="en-US" sz="40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4257545" y="1265768"/>
            <a:ext cx="48876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ᵋ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415053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  <p:bldP spid="12" grpId="0" animBg="1"/>
      <p:bldP spid="47" grpId="0" animBg="1"/>
      <p:bldP spid="4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968" y="346948"/>
            <a:ext cx="8946541" cy="5439703"/>
          </a:xfrm>
        </p:spPr>
        <p:txBody>
          <a:bodyPr>
            <a:normAutofit lnSpcReduction="10000"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CFG for a programming variable.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CFG;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 →MO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 → a | b |c…….|z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 → M | OM | 1O |2O |….|9O |_O |</a:t>
            </a:r>
          </a:p>
          <a:p>
            <a:pPr lvl="1"/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X</a:t>
            </a:r>
          </a:p>
          <a:p>
            <a:pPr lvl="1"/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Xy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X123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Number_1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899540" y="1951633"/>
            <a:ext cx="3002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Times New Roman"/>
                <a:cs typeface="Times New Roman"/>
              </a:rPr>
              <a:t>ᵋ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23830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9759" y="125172"/>
            <a:ext cx="9404723" cy="748285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CFG for Arithmetic Expression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220" y="742732"/>
            <a:ext cx="7290062" cy="5705835"/>
          </a:xfrm>
        </p:spPr>
        <p:txBody>
          <a:bodyPr>
            <a:normAutofit fontScale="925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AE = a+(b*c)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CFG: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 → E               P-1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→ (E)            P-2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 + E        P-3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 →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 * E        P-4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 →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              P-5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              P-6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 →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             P-7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Production Sequence: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→ P3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→ P5(L)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P2(R)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→P4(C)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→P6(L)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→P7(R)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225050" y="242097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8391098" y="610925"/>
            <a:ext cx="0" cy="532142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0500" y="1055415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8404745" y="1445358"/>
            <a:ext cx="616425" cy="64274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7833815" y="1472654"/>
            <a:ext cx="543634" cy="615453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8413843" y="1447867"/>
            <a:ext cx="0" cy="532142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5049" y="1957383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79124" y="1988023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27828" y="1990295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7849720" y="2360974"/>
            <a:ext cx="0" cy="532142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689374" y="2758823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8998421" y="2362058"/>
            <a:ext cx="616425" cy="64274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8427491" y="2389354"/>
            <a:ext cx="543634" cy="615453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9007519" y="2364567"/>
            <a:ext cx="0" cy="532142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38696" y="2881975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836925" y="2834531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85193" y="2851434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9027992" y="3179446"/>
            <a:ext cx="616425" cy="64274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8457062" y="3206742"/>
            <a:ext cx="543634" cy="615453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9037090" y="3181955"/>
            <a:ext cx="0" cy="532142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876744" y="3720772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30819" y="3751412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479523" y="3753684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31957" y="4580233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485193" y="4539289"/>
            <a:ext cx="368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8502554" y="4157275"/>
            <a:ext cx="0" cy="532142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9669437" y="4143627"/>
            <a:ext cx="0" cy="532142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217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7" grpId="0"/>
      <p:bldP spid="17" grpId="0"/>
      <p:bldP spid="18" grpId="0"/>
      <p:bldP spid="19" grpId="0"/>
      <p:bldP spid="21" grpId="0"/>
      <p:bldP spid="25" grpId="0"/>
      <p:bldP spid="26" grpId="0"/>
      <p:bldP spid="27" grpId="0"/>
      <p:bldP spid="31" grpId="0"/>
      <p:bldP spid="32" grpId="0"/>
      <p:bldP spid="33" grpId="0"/>
      <p:bldP spid="35" grpId="0"/>
      <p:bldP spid="36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3965</TotalTime>
  <Words>1906</Words>
  <Application>Microsoft Office PowerPoint</Application>
  <PresentationFormat>Widescreen</PresentationFormat>
  <Paragraphs>559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Century Gothic</vt:lpstr>
      <vt:lpstr>Times New Roman</vt:lpstr>
      <vt:lpstr>Wingdings 3</vt:lpstr>
      <vt:lpstr>Ion</vt:lpstr>
      <vt:lpstr>Theory of Automata  &amp;  Formal Languages CS-224</vt:lpstr>
      <vt:lpstr>Context-free grammars (CFGs)</vt:lpstr>
      <vt:lpstr>Context Free Grammar</vt:lpstr>
      <vt:lpstr>PowerPoint Presentation</vt:lpstr>
      <vt:lpstr>Context Free Grammar</vt:lpstr>
      <vt:lpstr>PowerPoint Presentation</vt:lpstr>
      <vt:lpstr>Symbols used in CFG</vt:lpstr>
      <vt:lpstr>Some rules for using Production. </vt:lpstr>
      <vt:lpstr>Examples:</vt:lpstr>
      <vt:lpstr>Examples:</vt:lpstr>
      <vt:lpstr>Examples:</vt:lpstr>
      <vt:lpstr>Examples:</vt:lpstr>
      <vt:lpstr>Examples:</vt:lpstr>
      <vt:lpstr>CFG Continues…..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CFG for Arithmetic Expression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Automata  &amp;  Formal Languages CS-214</dc:title>
  <dc:creator>Lenovo</dc:creator>
  <cp:lastModifiedBy>Dr. Amir Mehmood</cp:lastModifiedBy>
  <cp:revision>292</cp:revision>
  <dcterms:created xsi:type="dcterms:W3CDTF">2020-08-06T16:55:45Z</dcterms:created>
  <dcterms:modified xsi:type="dcterms:W3CDTF">2024-05-24T08:09:25Z</dcterms:modified>
</cp:coreProperties>
</file>