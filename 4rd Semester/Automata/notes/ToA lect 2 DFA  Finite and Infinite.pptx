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09"/>
  </p:notesMasterIdLst>
  <p:handoutMasterIdLst>
    <p:handoutMasterId r:id="rId110"/>
  </p:handoutMasterIdLst>
  <p:sldIdLst>
    <p:sldId id="256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259" r:id="rId21"/>
    <p:sldId id="261" r:id="rId22"/>
    <p:sldId id="260" r:id="rId23"/>
    <p:sldId id="262" r:id="rId24"/>
    <p:sldId id="263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8" r:id="rId37"/>
    <p:sldId id="289" r:id="rId38"/>
    <p:sldId id="290" r:id="rId39"/>
    <p:sldId id="291" r:id="rId40"/>
    <p:sldId id="292" r:id="rId41"/>
    <p:sldId id="293" r:id="rId42"/>
    <p:sldId id="264" r:id="rId43"/>
    <p:sldId id="265" r:id="rId44"/>
    <p:sldId id="271" r:id="rId45"/>
    <p:sldId id="266" r:id="rId46"/>
    <p:sldId id="267" r:id="rId47"/>
    <p:sldId id="272" r:id="rId48"/>
    <p:sldId id="275" r:id="rId49"/>
    <p:sldId id="273" r:id="rId50"/>
    <p:sldId id="268" r:id="rId51"/>
    <p:sldId id="269" r:id="rId52"/>
    <p:sldId id="270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341" r:id="rId100"/>
    <p:sldId id="342" r:id="rId101"/>
    <p:sldId id="343" r:id="rId102"/>
    <p:sldId id="344" r:id="rId103"/>
    <p:sldId id="345" r:id="rId104"/>
    <p:sldId id="346" r:id="rId105"/>
    <p:sldId id="347" r:id="rId106"/>
    <p:sldId id="348" r:id="rId107"/>
    <p:sldId id="349" r:id="rId10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1" autoAdjust="0"/>
    <p:restoredTop sz="94660"/>
  </p:normalViewPr>
  <p:slideViewPr>
    <p:cSldViewPr snapToGrid="0">
      <p:cViewPr varScale="1">
        <p:scale>
          <a:sx n="70" d="100"/>
          <a:sy n="70" d="100"/>
        </p:scale>
        <p:origin x="59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CD9B9F8-5A03-4B2A-9744-1433ADC116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Sir Syed Universiry of Enginering &amp; Technology, Karachi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DF8422-0993-40CC-8529-339DDA8D5D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01DFC-ABF6-4E3B-ABDD-266D89C0F9C1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C4325F8-C9B4-4C1C-A544-633ECB7D22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FC391FE-CDB8-48BB-BE06-EC7DFAEFC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956F2-A969-4981-89C3-6E60B19F5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823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Sir Syed Universiry of Enginering &amp; Technology, Karachi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84302-7F06-4495-B63E-551AFCD22270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15F48-0C45-40DA-A98A-A15942A3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072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046F-8C6E-4A50-916D-6F6A99B42A73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8C74-7A71-4AC2-8740-D96DFDE59415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4D17-C962-4CF5-AFDC-593AA835D77E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5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DC064-084D-4A5A-83ED-65F05C969760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99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C23C5-2A29-43F3-A456-4FE7A65D88ED}" type="datetime1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6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69E50-6A70-4B20-B1A6-46677B429E2F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4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0F36-3141-4356-90CF-10303E07C676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7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DCDC-FB4B-44C5-898A-EE5EAFB7E536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1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EE9-AA2A-4AD1-86FD-EBD948B130F6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4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D8E5C-2085-4CE6-8042-E823487A78EC}" type="datetime1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5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30CD9-B4BB-4FCA-B3C5-B6F45A37F83F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9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E175-14A6-4D90-AD9E-4352ABA28F73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774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49565-0C37-41CC-90FC-A78204176F67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0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F165-86A3-41F6-802B-6F12FF4E583B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75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32DCF-791E-4424-A506-D9870709722F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93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99D6-EC23-4DD1-AFB9-2FC417AD22E1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55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82E0-9AA1-49DA-85F3-2EDD3EC48120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6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64D0DEE-251F-41C6-9F1F-3D5B56A5C550}" type="datetime1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E9B36-69C9-4307-A67C-96598040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5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75DEA5-836A-4454-AEBE-DB7FDA57F650}"/>
              </a:ext>
            </a:extLst>
          </p:cNvPr>
          <p:cNvSpPr txBox="1"/>
          <p:nvPr/>
        </p:nvSpPr>
        <p:spPr>
          <a:xfrm>
            <a:off x="3814262" y="6210779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0403EE-8B39-4B97-9B81-519E09881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77" y="679572"/>
            <a:ext cx="8946541" cy="419548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Automaton can be classified into two types −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Automaton (DFA)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 Finite Automaton (NFA)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56A87F-959B-4995-B493-E6DFF234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0DB9FD-9801-458D-A610-76A6219F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Automaton (DFA)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A8FAFD-7F29-4F19-B1B8-9E5D655BD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9"/>
            <a:ext cx="9707410" cy="539227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DFA,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input symbol in ∑ from each state, 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a single path.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can determine the state to which the machine will move. Hence, it is called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Automaton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has a finite number of states, the machine is called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Machine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Automaton.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DFA can be represented by a 5-tuple (Q, ∑, δ, q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F) where −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finite set of states.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finite set of symbols called the alphabet.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transition function where δ: Q × ∑ → Q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initial state from where any input is processed (q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∈ Q).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set of final state/states of Q (F ⊆ Q)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D5A77BB-5141-486E-80B5-FD06909A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7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A38A0-C30F-4269-846E-E8FE9DFC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41" y="295729"/>
            <a:ext cx="9404723" cy="767687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a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05BEB8-362C-4AD6-9FBC-B16520618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924" y="1582271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DFA is represented by digraphs called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vertices represent the states.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arcs labeled with an input alphabet show the transitions.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state is denoted by an empty single incoming arc.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state is indicated by double circles.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2293ECD-F98E-4FBE-95FB-71974C35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5D8630FD-313B-4552-BB92-93137191E6A8}"/>
              </a:ext>
            </a:extLst>
          </p:cNvPr>
          <p:cNvSpPr/>
          <p:nvPr/>
        </p:nvSpPr>
        <p:spPr>
          <a:xfrm>
            <a:off x="9916364" y="236336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B8A5004D-9BC3-4CDF-8E07-CAF564BDCED2}"/>
              </a:ext>
            </a:extLst>
          </p:cNvPr>
          <p:cNvCxnSpPr/>
          <p:nvPr/>
        </p:nvCxnSpPr>
        <p:spPr>
          <a:xfrm>
            <a:off x="9691693" y="3628300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20E938-20E0-44FE-82B4-E19E8A8D601C}"/>
              </a:ext>
            </a:extLst>
          </p:cNvPr>
          <p:cNvSpPr txBox="1"/>
          <p:nvPr/>
        </p:nvSpPr>
        <p:spPr>
          <a:xfrm>
            <a:off x="9916364" y="3244334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8CE1E2C5-47F0-4207-8783-1B90C164A617}"/>
              </a:ext>
            </a:extLst>
          </p:cNvPr>
          <p:cNvCxnSpPr>
            <a:cxnSpLocks/>
          </p:cNvCxnSpPr>
          <p:nvPr/>
        </p:nvCxnSpPr>
        <p:spPr>
          <a:xfrm flipV="1">
            <a:off x="9291455" y="2682937"/>
            <a:ext cx="550460" cy="170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75845344-1EC1-4BFD-BF20-ECE0BB00192F}"/>
              </a:ext>
            </a:extLst>
          </p:cNvPr>
          <p:cNvGrpSpPr/>
          <p:nvPr/>
        </p:nvGrpSpPr>
        <p:grpSpPr>
          <a:xfrm>
            <a:off x="10015188" y="5180029"/>
            <a:ext cx="839021" cy="802091"/>
            <a:chOff x="10015188" y="5180029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C8F746FB-5B80-40A2-9EFF-05DD33C9C5AB}"/>
                </a:ext>
              </a:extLst>
            </p:cNvPr>
            <p:cNvSpPr/>
            <p:nvPr/>
          </p:nvSpPr>
          <p:spPr>
            <a:xfrm>
              <a:off x="10015188" y="5180029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31B6365A-AF67-423B-8881-53CE136FD621}"/>
                </a:ext>
              </a:extLst>
            </p:cNvPr>
            <p:cNvSpPr/>
            <p:nvPr/>
          </p:nvSpPr>
          <p:spPr>
            <a:xfrm>
              <a:off x="10073034" y="5247821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98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1A4E21-924A-49C6-A3B2-70CBA075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15DF1C-4AFE-400A-ADB6-F41F3DD0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10714616" cy="540205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All words having two character length are valid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{aa, ab,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bb}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Finite Language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fix number of valid words.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you can follow the following sequence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state diagram for valid inputs first.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initial state and move forward and check for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input there must be only one path.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849967B-A155-4DAD-ACC7-8484CB5C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1936AE-1E19-4F90-A7EB-147E401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52540" cy="891988"/>
          </a:xfrm>
        </p:spPr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for state diagram  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aa,ab,ba,bb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9A9CCB-5410-438F-850E-C7BB895B3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91" y="1063416"/>
            <a:ext cx="564223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make number of valid sates ( length of valid word + 1 = 3) and label them.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 arrow for initial and over circle in final state.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arcs with valid input as label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F1C043-7743-4FA7-8810-E39428C0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6F81662-F656-469E-A7BC-A8717DFC1A27}"/>
              </a:ext>
            </a:extLst>
          </p:cNvPr>
          <p:cNvSpPr/>
          <p:nvPr/>
        </p:nvSpPr>
        <p:spPr>
          <a:xfrm>
            <a:off x="6646460" y="183110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B1683A0A-1C60-46A1-8B1E-D30F857EC5AA}"/>
              </a:ext>
            </a:extLst>
          </p:cNvPr>
          <p:cNvSpPr/>
          <p:nvPr/>
        </p:nvSpPr>
        <p:spPr>
          <a:xfrm>
            <a:off x="8581033" y="183219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0864F7FF-D0C1-4FA9-9CAC-754DB0EEDE1E}"/>
              </a:ext>
            </a:extLst>
          </p:cNvPr>
          <p:cNvGrpSpPr/>
          <p:nvPr/>
        </p:nvGrpSpPr>
        <p:grpSpPr>
          <a:xfrm>
            <a:off x="10512625" y="1744747"/>
            <a:ext cx="839021" cy="802091"/>
            <a:chOff x="10512625" y="1744747"/>
            <a:chExt cx="839021" cy="802091"/>
          </a:xfrm>
        </p:grpSpPr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E7101BBB-7F6C-4878-8A54-D0E9190D9F5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ADAA8639-75D1-41F6-9E83-AE3CC412C4B0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3725F07D-FDB6-4A11-86B1-C7210427437A}"/>
              </a:ext>
            </a:extLst>
          </p:cNvPr>
          <p:cNvCxnSpPr/>
          <p:nvPr/>
        </p:nvCxnSpPr>
        <p:spPr>
          <a:xfrm>
            <a:off x="9377516" y="2145792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DE68DE4-69F6-4492-A968-2A8959D11390}"/>
              </a:ext>
            </a:extLst>
          </p:cNvPr>
          <p:cNvCxnSpPr/>
          <p:nvPr/>
        </p:nvCxnSpPr>
        <p:spPr>
          <a:xfrm>
            <a:off x="7369791" y="218236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1DEEA4EA-443C-46EB-98EF-8AF4FB2D652C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6096000" y="2150674"/>
            <a:ext cx="550460" cy="1706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B927D62-B246-4288-85DC-D3E6A3144437}"/>
              </a:ext>
            </a:extLst>
          </p:cNvPr>
          <p:cNvSpPr txBox="1"/>
          <p:nvPr/>
        </p:nvSpPr>
        <p:spPr>
          <a:xfrm>
            <a:off x="7594462" y="1798402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BFAD3CB-8B1B-4B69-B994-B87B9A6AE9D8}"/>
              </a:ext>
            </a:extLst>
          </p:cNvPr>
          <p:cNvSpPr txBox="1"/>
          <p:nvPr/>
        </p:nvSpPr>
        <p:spPr>
          <a:xfrm>
            <a:off x="9562479" y="1744747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</p:spTree>
    <p:extLst>
      <p:ext uri="{BB962C8B-B14F-4D97-AF65-F5344CB8AC3E}">
        <p14:creationId xmlns:p14="http://schemas.microsoft.com/office/powerpoint/2010/main" val="30059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7101BBB-7F6C-4878-8A54-D0E9190D9F51}"/>
              </a:ext>
            </a:extLst>
          </p:cNvPr>
          <p:cNvSpPr/>
          <p:nvPr/>
        </p:nvSpPr>
        <p:spPr>
          <a:xfrm>
            <a:off x="10512625" y="1744747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1936AE-1E19-4F90-A7EB-147E401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52540" cy="891988"/>
          </a:xfrm>
        </p:spPr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for state diagram  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aa,ab,ba,bb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9A9CCB-5410-438F-850E-C7BB895B3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90" y="1063416"/>
            <a:ext cx="5029847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make number of valid sates ( length of valid word + 1 = 3) and label them.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 arrow for initial and over circle in final state.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arcs with valid input as label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from initial check for all possible inputs.  Use Language symbols . ∑ =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F1C043-7743-4FA7-8810-E39428C0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6F81662-F656-469E-A7BC-A8717DFC1A27}"/>
              </a:ext>
            </a:extLst>
          </p:cNvPr>
          <p:cNvSpPr/>
          <p:nvPr/>
        </p:nvSpPr>
        <p:spPr>
          <a:xfrm>
            <a:off x="6646460" y="183110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B1683A0A-1C60-46A1-8B1E-D30F857EC5AA}"/>
              </a:ext>
            </a:extLst>
          </p:cNvPr>
          <p:cNvSpPr/>
          <p:nvPr/>
        </p:nvSpPr>
        <p:spPr>
          <a:xfrm>
            <a:off x="8581033" y="183219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ADAA8639-75D1-41F6-9E83-AE3CC412C4B0}"/>
              </a:ext>
            </a:extLst>
          </p:cNvPr>
          <p:cNvSpPr/>
          <p:nvPr/>
        </p:nvSpPr>
        <p:spPr>
          <a:xfrm>
            <a:off x="10570471" y="181253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3725F07D-FDB6-4A11-86B1-C7210427437A}"/>
              </a:ext>
            </a:extLst>
          </p:cNvPr>
          <p:cNvCxnSpPr/>
          <p:nvPr/>
        </p:nvCxnSpPr>
        <p:spPr>
          <a:xfrm>
            <a:off x="9350220" y="2145792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DE68DE4-69F6-4492-A968-2A8959D11390}"/>
              </a:ext>
            </a:extLst>
          </p:cNvPr>
          <p:cNvCxnSpPr/>
          <p:nvPr/>
        </p:nvCxnSpPr>
        <p:spPr>
          <a:xfrm>
            <a:off x="7369791" y="218236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1DEEA4EA-443C-46EB-98EF-8AF4FB2D652C}"/>
              </a:ext>
            </a:extLst>
          </p:cNvPr>
          <p:cNvCxnSpPr>
            <a:endCxn id="5" idx="2"/>
          </p:cNvCxnSpPr>
          <p:nvPr/>
        </p:nvCxnSpPr>
        <p:spPr>
          <a:xfrm flipV="1">
            <a:off x="6096000" y="2150674"/>
            <a:ext cx="550460" cy="316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B927D62-B246-4288-85DC-D3E6A3144437}"/>
              </a:ext>
            </a:extLst>
          </p:cNvPr>
          <p:cNvSpPr txBox="1"/>
          <p:nvPr/>
        </p:nvSpPr>
        <p:spPr>
          <a:xfrm>
            <a:off x="7594462" y="1798402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BFAD3CB-8B1B-4B69-B994-B87B9A6AE9D8}"/>
              </a:ext>
            </a:extLst>
          </p:cNvPr>
          <p:cNvSpPr txBox="1"/>
          <p:nvPr/>
        </p:nvSpPr>
        <p:spPr>
          <a:xfrm>
            <a:off x="9562479" y="1744747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="" xmlns:a16="http://schemas.microsoft.com/office/drawing/2014/main" id="{FCE110D6-77EC-44F2-91E9-ECD1848FA6CD}"/>
              </a:ext>
            </a:extLst>
          </p:cNvPr>
          <p:cNvSpPr/>
          <p:nvPr/>
        </p:nvSpPr>
        <p:spPr>
          <a:xfrm>
            <a:off x="6933063" y="2594074"/>
            <a:ext cx="191070" cy="63914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8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7101BBB-7F6C-4878-8A54-D0E9190D9F51}"/>
              </a:ext>
            </a:extLst>
          </p:cNvPr>
          <p:cNvSpPr/>
          <p:nvPr/>
        </p:nvSpPr>
        <p:spPr>
          <a:xfrm>
            <a:off x="10512625" y="1744747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1936AE-1E19-4F90-A7EB-147E401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52540" cy="891988"/>
          </a:xfrm>
        </p:spPr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for state diagram  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aa,ab,ba,bb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9A9CCB-5410-438F-850E-C7BB895B3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90" y="1063416"/>
            <a:ext cx="5063501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make number of valid sates ( length of valid word + 1 = 3) and label them.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 arrow for initial and over circle in final state.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arcs with valid input as label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from initial check for all possible inputs.  Use Language symbols . ∑ =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F1C043-7743-4FA7-8810-E39428C0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6F81662-F656-469E-A7BC-A8717DFC1A27}"/>
              </a:ext>
            </a:extLst>
          </p:cNvPr>
          <p:cNvSpPr/>
          <p:nvPr/>
        </p:nvSpPr>
        <p:spPr>
          <a:xfrm>
            <a:off x="6646460" y="183110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B1683A0A-1C60-46A1-8B1E-D30F857EC5AA}"/>
              </a:ext>
            </a:extLst>
          </p:cNvPr>
          <p:cNvSpPr/>
          <p:nvPr/>
        </p:nvSpPr>
        <p:spPr>
          <a:xfrm>
            <a:off x="8581033" y="183219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ADAA8639-75D1-41F6-9E83-AE3CC412C4B0}"/>
              </a:ext>
            </a:extLst>
          </p:cNvPr>
          <p:cNvSpPr/>
          <p:nvPr/>
        </p:nvSpPr>
        <p:spPr>
          <a:xfrm>
            <a:off x="10570471" y="181253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3725F07D-FDB6-4A11-86B1-C7210427437A}"/>
              </a:ext>
            </a:extLst>
          </p:cNvPr>
          <p:cNvCxnSpPr/>
          <p:nvPr/>
        </p:nvCxnSpPr>
        <p:spPr>
          <a:xfrm>
            <a:off x="9350220" y="2145792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DE68DE4-69F6-4492-A968-2A8959D11390}"/>
              </a:ext>
            </a:extLst>
          </p:cNvPr>
          <p:cNvCxnSpPr/>
          <p:nvPr/>
        </p:nvCxnSpPr>
        <p:spPr>
          <a:xfrm>
            <a:off x="7369791" y="218236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1DEEA4EA-443C-46EB-98EF-8AF4FB2D652C}"/>
              </a:ext>
            </a:extLst>
          </p:cNvPr>
          <p:cNvCxnSpPr>
            <a:endCxn id="5" idx="2"/>
          </p:cNvCxnSpPr>
          <p:nvPr/>
        </p:nvCxnSpPr>
        <p:spPr>
          <a:xfrm flipV="1">
            <a:off x="6096000" y="2150674"/>
            <a:ext cx="550460" cy="316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B927D62-B246-4288-85DC-D3E6A3144437}"/>
              </a:ext>
            </a:extLst>
          </p:cNvPr>
          <p:cNvSpPr txBox="1"/>
          <p:nvPr/>
        </p:nvSpPr>
        <p:spPr>
          <a:xfrm>
            <a:off x="7594462" y="1798402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BFAD3CB-8B1B-4B69-B994-B87B9A6AE9D8}"/>
              </a:ext>
            </a:extLst>
          </p:cNvPr>
          <p:cNvSpPr txBox="1"/>
          <p:nvPr/>
        </p:nvSpPr>
        <p:spPr>
          <a:xfrm>
            <a:off x="9562479" y="1744747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5" name="Arrow: Up 24">
            <a:extLst>
              <a:ext uri="{FF2B5EF4-FFF2-40B4-BE49-F238E27FC236}">
                <a16:creationId xmlns="" xmlns:a16="http://schemas.microsoft.com/office/drawing/2014/main" id="{54B76088-84DA-4254-87A1-D8D3A4A6F86A}"/>
              </a:ext>
            </a:extLst>
          </p:cNvPr>
          <p:cNvSpPr/>
          <p:nvPr/>
        </p:nvSpPr>
        <p:spPr>
          <a:xfrm>
            <a:off x="8847163" y="2584803"/>
            <a:ext cx="191070" cy="63914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7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="" xmlns:a16="http://schemas.microsoft.com/office/drawing/2014/main" id="{E7101BBB-7F6C-4878-8A54-D0E9190D9F51}"/>
              </a:ext>
            </a:extLst>
          </p:cNvPr>
          <p:cNvSpPr/>
          <p:nvPr/>
        </p:nvSpPr>
        <p:spPr>
          <a:xfrm>
            <a:off x="10512625" y="1744747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1936AE-1E19-4F90-A7EB-147E401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52540" cy="891988"/>
          </a:xfrm>
        </p:spPr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for state diagram  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aa,ab,ba,bb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9A9CCB-5410-438F-850E-C7BB895B3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90" y="1063416"/>
            <a:ext cx="5063501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make number of valid sates ( length of valid word + 1 = 3) and label them.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 arrow for initial and over circle in final state.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arcs with valid input as label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from initial check for all possible inputs.  Use Language symbols . ∑ =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F1C043-7743-4FA7-8810-E39428C0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6F81662-F656-469E-A7BC-A8717DFC1A27}"/>
              </a:ext>
            </a:extLst>
          </p:cNvPr>
          <p:cNvSpPr/>
          <p:nvPr/>
        </p:nvSpPr>
        <p:spPr>
          <a:xfrm>
            <a:off x="6646460" y="183110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B1683A0A-1C60-46A1-8B1E-D30F857EC5AA}"/>
              </a:ext>
            </a:extLst>
          </p:cNvPr>
          <p:cNvSpPr/>
          <p:nvPr/>
        </p:nvSpPr>
        <p:spPr>
          <a:xfrm>
            <a:off x="8581033" y="183219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ADAA8639-75D1-41F6-9E83-AE3CC412C4B0}"/>
              </a:ext>
            </a:extLst>
          </p:cNvPr>
          <p:cNvSpPr/>
          <p:nvPr/>
        </p:nvSpPr>
        <p:spPr>
          <a:xfrm>
            <a:off x="10570471" y="181253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3725F07D-FDB6-4A11-86B1-C7210427437A}"/>
              </a:ext>
            </a:extLst>
          </p:cNvPr>
          <p:cNvCxnSpPr/>
          <p:nvPr/>
        </p:nvCxnSpPr>
        <p:spPr>
          <a:xfrm>
            <a:off x="9350220" y="2145792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DE68DE4-69F6-4492-A968-2A8959D11390}"/>
              </a:ext>
            </a:extLst>
          </p:cNvPr>
          <p:cNvCxnSpPr/>
          <p:nvPr/>
        </p:nvCxnSpPr>
        <p:spPr>
          <a:xfrm>
            <a:off x="7369791" y="218236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1DEEA4EA-443C-46EB-98EF-8AF4FB2D652C}"/>
              </a:ext>
            </a:extLst>
          </p:cNvPr>
          <p:cNvCxnSpPr>
            <a:endCxn id="5" idx="2"/>
          </p:cNvCxnSpPr>
          <p:nvPr/>
        </p:nvCxnSpPr>
        <p:spPr>
          <a:xfrm flipV="1">
            <a:off x="6096000" y="2150674"/>
            <a:ext cx="550460" cy="316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B927D62-B246-4288-85DC-D3E6A3144437}"/>
              </a:ext>
            </a:extLst>
          </p:cNvPr>
          <p:cNvSpPr txBox="1"/>
          <p:nvPr/>
        </p:nvSpPr>
        <p:spPr>
          <a:xfrm>
            <a:off x="7594462" y="1798402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BFAD3CB-8B1B-4B69-B994-B87B9A6AE9D8}"/>
              </a:ext>
            </a:extLst>
          </p:cNvPr>
          <p:cNvSpPr txBox="1"/>
          <p:nvPr/>
        </p:nvSpPr>
        <p:spPr>
          <a:xfrm>
            <a:off x="9562479" y="1744747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9A3EA01-6A3A-4B18-B7EF-1894B7082F61}"/>
              </a:ext>
            </a:extLst>
          </p:cNvPr>
          <p:cNvSpPr txBox="1"/>
          <p:nvPr/>
        </p:nvSpPr>
        <p:spPr>
          <a:xfrm>
            <a:off x="3277156" y="4968660"/>
            <a:ext cx="6454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Suppose the input is  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aba or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any word having more than two character length</a:t>
            </a:r>
          </a:p>
          <a:p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It Valid?</a:t>
            </a:r>
          </a:p>
        </p:txBody>
      </p:sp>
      <p:sp>
        <p:nvSpPr>
          <p:cNvPr id="26" name="Arrow: Up 25">
            <a:extLst>
              <a:ext uri="{FF2B5EF4-FFF2-40B4-BE49-F238E27FC236}">
                <a16:creationId xmlns="" xmlns:a16="http://schemas.microsoft.com/office/drawing/2014/main" id="{4FE34667-A18B-40A5-9A0C-093747C60182}"/>
              </a:ext>
            </a:extLst>
          </p:cNvPr>
          <p:cNvSpPr/>
          <p:nvPr/>
        </p:nvSpPr>
        <p:spPr>
          <a:xfrm>
            <a:off x="10937029" y="2614630"/>
            <a:ext cx="191070" cy="63914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37B8D91B-AE70-4540-B310-8F71D01E1B1F}"/>
              </a:ext>
            </a:extLst>
          </p:cNvPr>
          <p:cNvSpPr/>
          <p:nvPr/>
        </p:nvSpPr>
        <p:spPr>
          <a:xfrm>
            <a:off x="9307685" y="3529535"/>
            <a:ext cx="723331" cy="627153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D21D9718-691A-44B0-8407-1A80AE621839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9925087" y="2561819"/>
            <a:ext cx="734528" cy="10595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44C663F-07FA-4329-81A2-263AFD746F17}"/>
              </a:ext>
            </a:extLst>
          </p:cNvPr>
          <p:cNvSpPr txBox="1"/>
          <p:nvPr/>
        </p:nvSpPr>
        <p:spPr>
          <a:xfrm>
            <a:off x="10352540" y="2917904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9" name="Arc 18">
            <a:extLst>
              <a:ext uri="{FF2B5EF4-FFF2-40B4-BE49-F238E27FC236}">
                <a16:creationId xmlns="" xmlns:a16="http://schemas.microsoft.com/office/drawing/2014/main" id="{8A32F044-BE83-4D0A-A22B-709C52119540}"/>
              </a:ext>
            </a:extLst>
          </p:cNvPr>
          <p:cNvSpPr/>
          <p:nvPr/>
        </p:nvSpPr>
        <p:spPr>
          <a:xfrm rot="14272751">
            <a:off x="9136725" y="3615848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766D196-CBFE-4FA4-9378-4BEC0D3C0F3C}"/>
              </a:ext>
            </a:extLst>
          </p:cNvPr>
          <p:cNvSpPr txBox="1"/>
          <p:nvPr/>
        </p:nvSpPr>
        <p:spPr>
          <a:xfrm>
            <a:off x="9001674" y="4400154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</p:spTree>
    <p:extLst>
      <p:ext uri="{BB962C8B-B14F-4D97-AF65-F5344CB8AC3E}">
        <p14:creationId xmlns:p14="http://schemas.microsoft.com/office/powerpoint/2010/main" val="261678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8" grpId="0"/>
      <p:bldP spid="1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</a:t>
            </a:r>
          </a:p>
        </p:txBody>
      </p:sp>
    </p:spTree>
    <p:extLst>
      <p:ext uri="{BB962C8B-B14F-4D97-AF65-F5344CB8AC3E}">
        <p14:creationId xmlns:p14="http://schemas.microsoft.com/office/powerpoint/2010/main" val="197419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6924745" y="2274367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B1CC65F-0A06-47F0-AE31-A8FF65261869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7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8829116" y="2315734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E500D54-07CB-4AB6-8F67-960B766224CB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5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10847458" y="2181039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792645C2-F5E2-4CBF-A3EC-779DD8DFCC38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85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0" y="1338470"/>
            <a:ext cx="1961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6924745" y="2274367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EFC8639D-2C1E-4257-8A2B-6A7D43B64608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76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0" y="1338470"/>
            <a:ext cx="1815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8829116" y="2315734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BF7E7D0-508E-47E2-BE3C-A36B1D6CD6EE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48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0" y="1338470"/>
            <a:ext cx="1815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10847458" y="2181039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1997858F-F3EB-44DA-8EC5-E72148150802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0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446" y="3732726"/>
              <a:ext cx="550460" cy="887105"/>
              <a:chOff x="6369983" y="4120973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69983" y="4120973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10" y="4572032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0" y="1338470"/>
            <a:ext cx="1815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aba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9589689" y="4047170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224C86BC-D714-40A3-AB45-7155B0D06C64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81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6924745" y="2274367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B1CC65F-0A06-47F0-AE31-A8FF65261869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45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880552-37B6-415C-91FF-1FBA0470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46" y="68874"/>
            <a:ext cx="9404723" cy="6106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that Input is Valid or Invalid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86E311-5E3B-452C-9DE3-F0F5F7A55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36" y="1063416"/>
            <a:ext cx="4399164" cy="519161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input string character by character.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use of Transection function move to new state.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input is completely read, check the current state 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state diagram.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final state, input is valid, if cs is any other than final state than input is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6DF71-BEBE-43EB-B9C4-D287B1F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97D32680-CFB2-4C3E-A3AD-ABE9DE45E098}"/>
              </a:ext>
            </a:extLst>
          </p:cNvPr>
          <p:cNvGrpSpPr/>
          <p:nvPr/>
        </p:nvGrpSpPr>
        <p:grpSpPr>
          <a:xfrm>
            <a:off x="6255026" y="3167324"/>
            <a:ext cx="5255646" cy="3087702"/>
            <a:chOff x="6096000" y="1744747"/>
            <a:chExt cx="5255646" cy="3146730"/>
          </a:xfrm>
        </p:grpSpPr>
        <p:sp>
          <p:nvSpPr>
            <p:cNvPr id="6" name="Oval 5">
              <a:extLst>
                <a:ext uri="{FF2B5EF4-FFF2-40B4-BE49-F238E27FC236}">
                  <a16:creationId xmlns="" xmlns:a16="http://schemas.microsoft.com/office/drawing/2014/main" id="{62C8E053-C559-4191-951B-84598A1093E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="" xmlns:a16="http://schemas.microsoft.com/office/drawing/2014/main" id="{E0B8109D-DA24-4004-9D6E-453DB62B02F8}"/>
                </a:ext>
              </a:extLst>
            </p:cNvPr>
            <p:cNvSpPr/>
            <p:nvPr/>
          </p:nvSpPr>
          <p:spPr>
            <a:xfrm>
              <a:off x="6646460" y="1831103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E4AA5D4C-A5FB-4F62-A2E6-4A9BE2339206}"/>
                </a:ext>
              </a:extLst>
            </p:cNvPr>
            <p:cNvSpPr/>
            <p:nvPr/>
          </p:nvSpPr>
          <p:spPr>
            <a:xfrm>
              <a:off x="8581033" y="183219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7F965D83-FCF8-427A-B54B-E46B437DB26D}"/>
                </a:ext>
              </a:extLst>
            </p:cNvPr>
            <p:cNvSpPr/>
            <p:nvPr/>
          </p:nvSpPr>
          <p:spPr>
            <a:xfrm>
              <a:off x="10570471" y="1812539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="" xmlns:a16="http://schemas.microsoft.com/office/drawing/2014/main" id="{FD9B0296-FD17-4C23-A420-CAD57B402527}"/>
                </a:ext>
              </a:extLst>
            </p:cNvPr>
            <p:cNvCxnSpPr/>
            <p:nvPr/>
          </p:nvCxnSpPr>
          <p:spPr>
            <a:xfrm>
              <a:off x="9350220" y="2145792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2F109D5-3BC5-4A70-8AEE-2D571EAF5A20}"/>
                </a:ext>
              </a:extLst>
            </p:cNvPr>
            <p:cNvCxnSpPr/>
            <p:nvPr/>
          </p:nvCxnSpPr>
          <p:spPr>
            <a:xfrm>
              <a:off x="7369791" y="2182368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9E90D144-FE51-45B4-99E8-5EA8380A7384}"/>
                </a:ext>
              </a:extLst>
            </p:cNvPr>
            <p:cNvCxnSpPr>
              <a:endCxn id="7" idx="2"/>
            </p:cNvCxnSpPr>
            <p:nvPr/>
          </p:nvCxnSpPr>
          <p:spPr>
            <a:xfrm flipV="1">
              <a:off x="6096000" y="2150674"/>
              <a:ext cx="550460" cy="316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D7A35020-0C3B-4674-A9C3-1188D5E0EA8D}"/>
                </a:ext>
              </a:extLst>
            </p:cNvPr>
            <p:cNvSpPr txBox="1"/>
            <p:nvPr/>
          </p:nvSpPr>
          <p:spPr>
            <a:xfrm>
              <a:off x="7594462" y="1798402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D6E7DF3E-F8C8-44F9-9BC7-DA945FDA8FCF}"/>
                </a:ext>
              </a:extLst>
            </p:cNvPr>
            <p:cNvSpPr txBox="1"/>
            <p:nvPr/>
          </p:nvSpPr>
          <p:spPr>
            <a:xfrm>
              <a:off x="9562479" y="1744747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B07D51ED-366B-4434-A991-599B05DB9E8F}"/>
                </a:ext>
              </a:extLst>
            </p:cNvPr>
            <p:cNvSpPr/>
            <p:nvPr/>
          </p:nvSpPr>
          <p:spPr>
            <a:xfrm>
              <a:off x="9418459" y="3634882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849E56D1-5AE0-4EA6-BC27-34E656D00A4C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10035861" y="2648666"/>
              <a:ext cx="734528" cy="107981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29F4ED1A-4F2A-431C-B3C5-C6F1EBF6107D}"/>
                </a:ext>
              </a:extLst>
            </p:cNvPr>
            <p:cNvSpPr txBox="1"/>
            <p:nvPr/>
          </p:nvSpPr>
          <p:spPr>
            <a:xfrm>
              <a:off x="10463314" y="3011559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="" xmlns:a16="http://schemas.microsoft.com/office/drawing/2014/main" id="{94490776-3867-4559-949B-E6F67388EAAF}"/>
                </a:ext>
              </a:extLst>
            </p:cNvPr>
            <p:cNvGrpSpPr/>
            <p:nvPr/>
          </p:nvGrpSpPr>
          <p:grpSpPr>
            <a:xfrm rot="14272751">
              <a:off x="9242336" y="3731325"/>
              <a:ext cx="550460" cy="887105"/>
              <a:chOff x="6371230" y="4121624"/>
              <a:chExt cx="550460" cy="887105"/>
            </a:xfrm>
          </p:grpSpPr>
          <p:sp>
            <p:nvSpPr>
              <p:cNvPr id="20" name="Arc 19">
                <a:extLst>
                  <a:ext uri="{FF2B5EF4-FFF2-40B4-BE49-F238E27FC236}">
                    <a16:creationId xmlns="" xmlns:a16="http://schemas.microsoft.com/office/drawing/2014/main" id="{EB9350B2-D96A-45D7-A195-17C2E5724508}"/>
                  </a:ext>
                </a:extLst>
              </p:cNvPr>
              <p:cNvSpPr/>
              <p:nvPr/>
            </p:nvSpPr>
            <p:spPr>
              <a:xfrm>
                <a:off x="6371230" y="4121624"/>
                <a:ext cx="550460" cy="887105"/>
              </a:xfrm>
              <a:prstGeom prst="arc">
                <a:avLst>
                  <a:gd name="adj1" fmla="val 10711483"/>
                  <a:gd name="adj2" fmla="val 0"/>
                </a:avLst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="" xmlns:a16="http://schemas.microsoft.com/office/drawing/2014/main" id="{31EC4F01-C5FD-4394-A2AB-3A211A26DCEF}"/>
                  </a:ext>
                </a:extLst>
              </p:cNvPr>
              <p:cNvCxnSpPr/>
              <p:nvPr/>
            </p:nvCxnSpPr>
            <p:spPr>
              <a:xfrm>
                <a:off x="6371230" y="4572001"/>
                <a:ext cx="0" cy="95534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7BFF616D-BEC7-4FBA-B4FE-244DE91E2214}"/>
                </a:ext>
              </a:extLst>
            </p:cNvPr>
            <p:cNvSpPr txBox="1"/>
            <p:nvPr/>
          </p:nvSpPr>
          <p:spPr>
            <a:xfrm>
              <a:off x="9112448" y="4522145"/>
              <a:ext cx="614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9E4A962-1B7D-4CF8-B984-2C2F0AC2F737}"/>
              </a:ext>
            </a:extLst>
          </p:cNvPr>
          <p:cNvSpPr txBox="1"/>
          <p:nvPr/>
        </p:nvSpPr>
        <p:spPr>
          <a:xfrm>
            <a:off x="6096001" y="1338470"/>
            <a:ext cx="165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is  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BC2DBCFE-EFD7-4294-B5E4-991B519E9ABF}"/>
              </a:ext>
            </a:extLst>
          </p:cNvPr>
          <p:cNvGrpSpPr/>
          <p:nvPr/>
        </p:nvGrpSpPr>
        <p:grpSpPr>
          <a:xfrm>
            <a:off x="8843532" y="2258976"/>
            <a:ext cx="591868" cy="936326"/>
            <a:chOff x="6924745" y="2274367"/>
            <a:chExt cx="591868" cy="936326"/>
          </a:xfrm>
        </p:grpSpPr>
        <p:sp>
          <p:nvSpPr>
            <p:cNvPr id="23" name="Arrow: Up 22">
              <a:extLst>
                <a:ext uri="{FF2B5EF4-FFF2-40B4-BE49-F238E27FC236}">
                  <a16:creationId xmlns="" xmlns:a16="http://schemas.microsoft.com/office/drawing/2014/main" id="{F7F6C203-C2A2-45E5-8FA5-6F23179B5CE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26A637F2-3518-4374-B6AE-06F208F5FFC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9B1CC65F-0A06-47F0-AE31-A8FF65261869}"/>
              </a:ext>
            </a:extLst>
          </p:cNvPr>
          <p:cNvSpPr txBox="1"/>
          <p:nvPr/>
        </p:nvSpPr>
        <p:spPr>
          <a:xfrm>
            <a:off x="3187202" y="2516870"/>
            <a:ext cx="227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82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8F3A34-8F22-43A8-892A-00102964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4" y="65082"/>
            <a:ext cx="4893298" cy="61867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Example-1 Finite Languages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AE4CDC-BE03-405E-AA54-216A4F32F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37" y="826746"/>
            <a:ext cx="4818726" cy="556383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having at least one and at most 3 character length are valid.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1  = 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2 = 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3 =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a, b,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D057A5-E85D-495E-B430-3E508DD0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5EAB10FD-C4FD-4A07-A2B5-5C34DF6E672D}"/>
              </a:ext>
            </a:extLst>
          </p:cNvPr>
          <p:cNvSpPr/>
          <p:nvPr/>
        </p:nvSpPr>
        <p:spPr>
          <a:xfrm>
            <a:off x="5734334" y="246720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0374AAEF-718D-4CAE-9C6F-53BCA842B493}"/>
              </a:ext>
            </a:extLst>
          </p:cNvPr>
          <p:cNvCxnSpPr>
            <a:cxnSpLocks/>
          </p:cNvCxnSpPr>
          <p:nvPr/>
        </p:nvCxnSpPr>
        <p:spPr>
          <a:xfrm>
            <a:off x="5155095" y="2782183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49F116F-7B11-4BF2-804C-58CD0AC10253}"/>
              </a:ext>
            </a:extLst>
          </p:cNvPr>
          <p:cNvGrpSpPr/>
          <p:nvPr/>
        </p:nvGrpSpPr>
        <p:grpSpPr>
          <a:xfrm>
            <a:off x="7287332" y="2304258"/>
            <a:ext cx="839021" cy="802091"/>
            <a:chOff x="10512625" y="1744747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6531EACF-1E30-421C-AAB3-B2F8CCAB287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E568D3D6-8E75-4070-B280-43369E0CE631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136D84E-E97B-4F6D-AA8D-B9E0A831FFA1}"/>
              </a:ext>
            </a:extLst>
          </p:cNvPr>
          <p:cNvGrpSpPr/>
          <p:nvPr/>
        </p:nvGrpSpPr>
        <p:grpSpPr>
          <a:xfrm>
            <a:off x="8956020" y="2304257"/>
            <a:ext cx="839021" cy="802091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40CADAC7-26A7-4583-8EBA-B91B92C46BC7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D58EF55A-E3D3-42A9-A17E-6C9A89F1C161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9D8848C0-BB83-41D6-8C95-85790FBE88F4}"/>
              </a:ext>
            </a:extLst>
          </p:cNvPr>
          <p:cNvGrpSpPr/>
          <p:nvPr/>
        </p:nvGrpSpPr>
        <p:grpSpPr>
          <a:xfrm>
            <a:off x="10624708" y="2247666"/>
            <a:ext cx="839021" cy="802091"/>
            <a:chOff x="10512625" y="1744747"/>
            <a:chExt cx="839021" cy="802091"/>
          </a:xfrm>
        </p:grpSpPr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9B12E018-39AD-4E2F-90C1-635417AD7DB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90127DFB-9A6E-41E8-89D8-E88750A4729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51CC5EE2-F171-4F26-B4A4-CD1CD3B76903}"/>
              </a:ext>
            </a:extLst>
          </p:cNvPr>
          <p:cNvGrpSpPr/>
          <p:nvPr/>
        </p:nvGrpSpPr>
        <p:grpSpPr>
          <a:xfrm>
            <a:off x="9822033" y="2322544"/>
            <a:ext cx="839021" cy="376763"/>
            <a:chOff x="7528817" y="3219973"/>
            <a:chExt cx="1162516" cy="376763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="" xmlns:a16="http://schemas.microsoft.com/office/drawing/2014/main" id="{DE2FF976-30DD-4FDB-B0C8-AE842B429FC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11B90FF9-4688-42D9-B9DB-A8DC3CAD38AD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7A60E76-AB4D-4752-BBDB-99B6DF5B4D13}"/>
              </a:ext>
            </a:extLst>
          </p:cNvPr>
          <p:cNvGrpSpPr/>
          <p:nvPr/>
        </p:nvGrpSpPr>
        <p:grpSpPr>
          <a:xfrm>
            <a:off x="6449259" y="2353139"/>
            <a:ext cx="839021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B1EE1CF6-BF3C-4E1A-B64C-0508A0C41ED0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70840EF0-0789-4DA1-8EDB-1B202EEC06AC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F04F3F5E-5904-414D-BBFC-41FAF9E52C4B}"/>
              </a:ext>
            </a:extLst>
          </p:cNvPr>
          <p:cNvGrpSpPr/>
          <p:nvPr/>
        </p:nvGrpSpPr>
        <p:grpSpPr>
          <a:xfrm>
            <a:off x="8130994" y="2322544"/>
            <a:ext cx="839021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206B9328-099E-476D-BFA3-3D21E689B625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F5445CD6-9FAC-46E5-ACD5-D2BE3AEE847A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D85352A1-F4B2-4586-A08E-9F3F60DDCB5A}"/>
              </a:ext>
            </a:extLst>
          </p:cNvPr>
          <p:cNvSpPr/>
          <p:nvPr/>
        </p:nvSpPr>
        <p:spPr>
          <a:xfrm>
            <a:off x="9433375" y="40588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x4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B20BEABD-D059-49FE-966A-48FF8FE7D39E}"/>
              </a:ext>
            </a:extLst>
          </p:cNvPr>
          <p:cNvGrpSpPr/>
          <p:nvPr/>
        </p:nvGrpSpPr>
        <p:grpSpPr>
          <a:xfrm>
            <a:off x="10058964" y="3071376"/>
            <a:ext cx="1041602" cy="1059560"/>
            <a:chOff x="10194887" y="4054287"/>
            <a:chExt cx="1041602" cy="105956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5049627F-B99F-4705-B66C-5D5FA781C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4887" y="4054287"/>
              <a:ext cx="734528" cy="105956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C596F8A8-2C07-46A8-A19D-01E25122AE0F}"/>
                </a:ext>
              </a:extLst>
            </p:cNvPr>
            <p:cNvSpPr txBox="1"/>
            <p:nvPr/>
          </p:nvSpPr>
          <p:spPr>
            <a:xfrm>
              <a:off x="10622340" y="4410372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35ABDB6C-03F0-46E9-BF76-061ADF378B44}"/>
              </a:ext>
            </a:extLst>
          </p:cNvPr>
          <p:cNvGrpSpPr/>
          <p:nvPr/>
        </p:nvGrpSpPr>
        <p:grpSpPr>
          <a:xfrm rot="3146306">
            <a:off x="9224861" y="4092631"/>
            <a:ext cx="540585" cy="887105"/>
            <a:chOff x="1984650" y="2985447"/>
            <a:chExt cx="540585" cy="887105"/>
          </a:xfrm>
        </p:grpSpPr>
        <p:sp>
          <p:nvSpPr>
            <p:cNvPr id="41" name="Arc 40">
              <a:extLst>
                <a:ext uri="{FF2B5EF4-FFF2-40B4-BE49-F238E27FC236}">
                  <a16:creationId xmlns="" xmlns:a16="http://schemas.microsoft.com/office/drawing/2014/main" id="{0C22F9BC-D0FA-4E00-BD05-173447532EB2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="" xmlns:a16="http://schemas.microsoft.com/office/drawing/2014/main" id="{B62E5F6F-8C30-4EE6-AFBE-1EED16D39781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E58E3FC8-EA68-4BFA-8CA1-F7C7587E3C19}"/>
              </a:ext>
            </a:extLst>
          </p:cNvPr>
          <p:cNvSpPr txBox="1"/>
          <p:nvPr/>
        </p:nvSpPr>
        <p:spPr>
          <a:xfrm>
            <a:off x="9062409" y="482449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120EC450-61CC-4A80-AA4F-7A2BFE59084B}"/>
              </a:ext>
            </a:extLst>
          </p:cNvPr>
          <p:cNvSpPr txBox="1"/>
          <p:nvPr/>
        </p:nvSpPr>
        <p:spPr>
          <a:xfrm>
            <a:off x="1619411" y="2785908"/>
            <a:ext cx="103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DBF0630A-E8FA-491E-B7D1-D40C414B89A4}"/>
              </a:ext>
            </a:extLst>
          </p:cNvPr>
          <p:cNvSpPr txBox="1"/>
          <p:nvPr/>
        </p:nvSpPr>
        <p:spPr>
          <a:xfrm>
            <a:off x="1619411" y="3144399"/>
            <a:ext cx="1615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aa, ab,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F0259B31-ECA2-4339-9989-BBC5847596F7}"/>
              </a:ext>
            </a:extLst>
          </p:cNvPr>
          <p:cNvSpPr txBox="1"/>
          <p:nvPr/>
        </p:nvSpPr>
        <p:spPr>
          <a:xfrm>
            <a:off x="1619411" y="3544509"/>
            <a:ext cx="3982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356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43" grpId="0"/>
      <p:bldP spid="44" grpId="0"/>
      <p:bldP spid="45" grpId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8F3A34-8F22-43A8-892A-00102964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4" y="65082"/>
            <a:ext cx="4893298" cy="61867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Example-2 Finite Languages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5AE4CDC-BE03-405E-AA54-216A4F32F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37" y="826746"/>
            <a:ext cx="4818726" cy="556383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having at most 3 character length are valid.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0 =  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1  = 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2 = 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3 =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</a:t>
            </a:r>
            <a:r>
              <a:rPr lang="el-GR" dirty="0"/>
              <a:t>λ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D057A5-E85D-495E-B430-3E508DD0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21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0374AAEF-718D-4CAE-9C6F-53BCA842B493}"/>
              </a:ext>
            </a:extLst>
          </p:cNvPr>
          <p:cNvCxnSpPr>
            <a:cxnSpLocks/>
          </p:cNvCxnSpPr>
          <p:nvPr/>
        </p:nvCxnSpPr>
        <p:spPr>
          <a:xfrm>
            <a:off x="4931358" y="2765246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949F116F-7B11-4BF2-804C-58CD0AC10253}"/>
              </a:ext>
            </a:extLst>
          </p:cNvPr>
          <p:cNvGrpSpPr/>
          <p:nvPr/>
        </p:nvGrpSpPr>
        <p:grpSpPr>
          <a:xfrm>
            <a:off x="7287332" y="2304258"/>
            <a:ext cx="839021" cy="802091"/>
            <a:chOff x="10512625" y="1744747"/>
            <a:chExt cx="839021" cy="802091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6531EACF-1E30-421C-AAB3-B2F8CCAB287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E568D3D6-8E75-4070-B280-43369E0CE631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136D84E-E97B-4F6D-AA8D-B9E0A831FFA1}"/>
              </a:ext>
            </a:extLst>
          </p:cNvPr>
          <p:cNvGrpSpPr/>
          <p:nvPr/>
        </p:nvGrpSpPr>
        <p:grpSpPr>
          <a:xfrm>
            <a:off x="8956020" y="2304257"/>
            <a:ext cx="839021" cy="802091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40CADAC7-26A7-4583-8EBA-B91B92C46BC7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D58EF55A-E3D3-42A9-A17E-6C9A89F1C161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9D8848C0-BB83-41D6-8C95-85790FBE88F4}"/>
              </a:ext>
            </a:extLst>
          </p:cNvPr>
          <p:cNvGrpSpPr/>
          <p:nvPr/>
        </p:nvGrpSpPr>
        <p:grpSpPr>
          <a:xfrm>
            <a:off x="10624708" y="2247666"/>
            <a:ext cx="839021" cy="802091"/>
            <a:chOff x="10512625" y="1744747"/>
            <a:chExt cx="839021" cy="802091"/>
          </a:xfrm>
        </p:grpSpPr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9B12E018-39AD-4E2F-90C1-635417AD7DBC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90127DFB-9A6E-41E8-89D8-E88750A4729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51CC5EE2-F171-4F26-B4A4-CD1CD3B76903}"/>
              </a:ext>
            </a:extLst>
          </p:cNvPr>
          <p:cNvGrpSpPr/>
          <p:nvPr/>
        </p:nvGrpSpPr>
        <p:grpSpPr>
          <a:xfrm>
            <a:off x="9822033" y="2322544"/>
            <a:ext cx="839021" cy="376763"/>
            <a:chOff x="7528817" y="3219973"/>
            <a:chExt cx="1162516" cy="376763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="" xmlns:a16="http://schemas.microsoft.com/office/drawing/2014/main" id="{DE2FF976-30DD-4FDB-B0C8-AE842B429FC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11B90FF9-4688-42D9-B9DB-A8DC3CAD38AD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7A60E76-AB4D-4752-BBDB-99B6DF5B4D13}"/>
              </a:ext>
            </a:extLst>
          </p:cNvPr>
          <p:cNvGrpSpPr/>
          <p:nvPr/>
        </p:nvGrpSpPr>
        <p:grpSpPr>
          <a:xfrm>
            <a:off x="6449259" y="2353139"/>
            <a:ext cx="839021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B1EE1CF6-BF3C-4E1A-B64C-0508A0C41ED0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70840EF0-0789-4DA1-8EDB-1B202EEC06AC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F04F3F5E-5904-414D-BBFC-41FAF9E52C4B}"/>
              </a:ext>
            </a:extLst>
          </p:cNvPr>
          <p:cNvGrpSpPr/>
          <p:nvPr/>
        </p:nvGrpSpPr>
        <p:grpSpPr>
          <a:xfrm>
            <a:off x="8130994" y="2322544"/>
            <a:ext cx="839021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206B9328-099E-476D-BFA3-3D21E689B625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F5445CD6-9FAC-46E5-ACD5-D2BE3AEE847A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="" xmlns:a16="http://schemas.microsoft.com/office/drawing/2014/main" id="{D85352A1-F4B2-4586-A08E-9F3F60DDCB5A}"/>
              </a:ext>
            </a:extLst>
          </p:cNvPr>
          <p:cNvSpPr/>
          <p:nvPr/>
        </p:nvSpPr>
        <p:spPr>
          <a:xfrm>
            <a:off x="9433375" y="40588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x4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B20BEABD-D059-49FE-966A-48FF8FE7D39E}"/>
              </a:ext>
            </a:extLst>
          </p:cNvPr>
          <p:cNvGrpSpPr/>
          <p:nvPr/>
        </p:nvGrpSpPr>
        <p:grpSpPr>
          <a:xfrm>
            <a:off x="10058964" y="3071376"/>
            <a:ext cx="1041602" cy="1059560"/>
            <a:chOff x="10194887" y="4054287"/>
            <a:chExt cx="1041602" cy="105956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5049627F-B99F-4705-B66C-5D5FA781C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4887" y="4054287"/>
              <a:ext cx="734528" cy="105956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C596F8A8-2C07-46A8-A19D-01E25122AE0F}"/>
                </a:ext>
              </a:extLst>
            </p:cNvPr>
            <p:cNvSpPr txBox="1"/>
            <p:nvPr/>
          </p:nvSpPr>
          <p:spPr>
            <a:xfrm>
              <a:off x="10622340" y="4410372"/>
              <a:ext cx="614149" cy="362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35ABDB6C-03F0-46E9-BF76-061ADF378B44}"/>
              </a:ext>
            </a:extLst>
          </p:cNvPr>
          <p:cNvGrpSpPr/>
          <p:nvPr/>
        </p:nvGrpSpPr>
        <p:grpSpPr>
          <a:xfrm rot="3146306">
            <a:off x="9224861" y="4092631"/>
            <a:ext cx="540585" cy="887105"/>
            <a:chOff x="1984650" y="2985447"/>
            <a:chExt cx="540585" cy="887105"/>
          </a:xfrm>
        </p:grpSpPr>
        <p:sp>
          <p:nvSpPr>
            <p:cNvPr id="41" name="Arc 40">
              <a:extLst>
                <a:ext uri="{FF2B5EF4-FFF2-40B4-BE49-F238E27FC236}">
                  <a16:creationId xmlns="" xmlns:a16="http://schemas.microsoft.com/office/drawing/2014/main" id="{0C22F9BC-D0FA-4E00-BD05-173447532EB2}"/>
                </a:ext>
              </a:extLst>
            </p:cNvPr>
            <p:cNvSpPr/>
            <p:nvPr/>
          </p:nvSpPr>
          <p:spPr>
            <a:xfrm rot="11054314">
              <a:off x="1985101" y="2985447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="" xmlns:a16="http://schemas.microsoft.com/office/drawing/2014/main" id="{B62E5F6F-8C30-4EE6-AFBE-1EED16D39781}"/>
                </a:ext>
              </a:extLst>
            </p:cNvPr>
            <p:cNvCxnSpPr/>
            <p:nvPr/>
          </p:nvCxnSpPr>
          <p:spPr>
            <a:xfrm rot="11054314">
              <a:off x="1984650" y="3331902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E58E3FC8-EA68-4BFA-8CA1-F7C7587E3C19}"/>
              </a:ext>
            </a:extLst>
          </p:cNvPr>
          <p:cNvSpPr txBox="1"/>
          <p:nvPr/>
        </p:nvSpPr>
        <p:spPr>
          <a:xfrm>
            <a:off x="9062409" y="482449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120EC450-61CC-4A80-AA4F-7A2BFE59084B}"/>
              </a:ext>
            </a:extLst>
          </p:cNvPr>
          <p:cNvSpPr txBox="1"/>
          <p:nvPr/>
        </p:nvSpPr>
        <p:spPr>
          <a:xfrm>
            <a:off x="1619411" y="3174824"/>
            <a:ext cx="1037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DBF0630A-E8FA-491E-B7D1-D40C414B89A4}"/>
              </a:ext>
            </a:extLst>
          </p:cNvPr>
          <p:cNvSpPr txBox="1"/>
          <p:nvPr/>
        </p:nvSpPr>
        <p:spPr>
          <a:xfrm>
            <a:off x="1619411" y="3517872"/>
            <a:ext cx="1615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aa, ab,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F0259B31-ECA2-4339-9989-BBC5847596F7}"/>
              </a:ext>
            </a:extLst>
          </p:cNvPr>
          <p:cNvSpPr txBox="1"/>
          <p:nvPr/>
        </p:nvSpPr>
        <p:spPr>
          <a:xfrm>
            <a:off x="1527529" y="3917982"/>
            <a:ext cx="3982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baa,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7CBCCB7-5F85-42EB-9153-A73B9E747062}"/>
              </a:ext>
            </a:extLst>
          </p:cNvPr>
          <p:cNvSpPr/>
          <p:nvPr/>
        </p:nvSpPr>
        <p:spPr>
          <a:xfrm>
            <a:off x="1628021" y="2831776"/>
            <a:ext cx="7689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l-GR" dirty="0"/>
              <a:t>λ</a:t>
            </a:r>
            <a:r>
              <a:rPr lang="en-US" dirty="0">
                <a:latin typeface="arial" panose="020B0604020202020204" pitchFamily="34" charset="0"/>
              </a:rPr>
              <a:t> /  ɛ</a:t>
            </a:r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3E44857D-9EDC-42B5-BB71-8F9D98419882}"/>
              </a:ext>
            </a:extLst>
          </p:cNvPr>
          <p:cNvGrpSpPr/>
          <p:nvPr/>
        </p:nvGrpSpPr>
        <p:grpSpPr>
          <a:xfrm>
            <a:off x="5520876" y="2338470"/>
            <a:ext cx="839021" cy="802091"/>
            <a:chOff x="10512625" y="1744747"/>
            <a:chExt cx="839021" cy="802091"/>
          </a:xfrm>
        </p:grpSpPr>
        <p:sp>
          <p:nvSpPr>
            <p:cNvPr id="48" name="Oval 47">
              <a:extLst>
                <a:ext uri="{FF2B5EF4-FFF2-40B4-BE49-F238E27FC236}">
                  <a16:creationId xmlns="" xmlns:a16="http://schemas.microsoft.com/office/drawing/2014/main" id="{3C6D5922-169B-4BE5-9FB9-A56571E58F4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="" xmlns:a16="http://schemas.microsoft.com/office/drawing/2014/main" id="{A7FF6F20-188A-4D2C-A4AC-AA48F4A877E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76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3" grpId="0"/>
      <p:bldP spid="44" grpId="0"/>
      <p:bldP spid="45" grpId="0"/>
      <p:bldP spid="4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A976B8-9B96-43F0-902A-B8A0F0C1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4" y="225757"/>
            <a:ext cx="9404723" cy="767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 for Infinite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2376B2-8E7A-4F56-8EF6-ECFEB77C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94" y="1063416"/>
            <a:ext cx="6298028" cy="530098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languages have infinite words of finite length.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having at least length of one character are valid.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All words having at least length of Two character are valid.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All words that start with a are valid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ab are valid.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6216F0F-514D-4898-B8D3-188BEDF2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2E5A5371-D21F-4FAC-B8E6-6DF6B7415349}"/>
              </a:ext>
            </a:extLst>
          </p:cNvPr>
          <p:cNvSpPr txBox="1">
            <a:spLocks/>
          </p:cNvSpPr>
          <p:nvPr/>
        </p:nvSpPr>
        <p:spPr>
          <a:xfrm>
            <a:off x="6533322" y="2506734"/>
            <a:ext cx="5579028" cy="3927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a, b,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………….}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{aa,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………………..}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{a,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………………...}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</p:txBody>
      </p:sp>
    </p:spTree>
    <p:extLst>
      <p:ext uri="{BB962C8B-B14F-4D97-AF65-F5344CB8AC3E}">
        <p14:creationId xmlns:p14="http://schemas.microsoft.com/office/powerpoint/2010/main" val="104434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529938-8C7E-409E-821E-3CCD25475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256"/>
            <a:ext cx="7028597" cy="658443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All words having at least length of one character are valid.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∑ = {a, b}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a, b,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(a / b)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(1 + 1 = 2)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All words having at least length of Two character are valid.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= {aa,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………………..}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(aa /ab/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/bb)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D8ABE48-2185-4FDA-9C09-FFF5BC3D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9C7DA3C9-07BB-4EED-AFF4-EB6233D9F7BE}"/>
              </a:ext>
            </a:extLst>
          </p:cNvPr>
          <p:cNvSpPr/>
          <p:nvPr/>
        </p:nvSpPr>
        <p:spPr>
          <a:xfrm>
            <a:off x="8399416" y="159342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F2C54317-3504-480D-965B-5546C88AC8EA}"/>
              </a:ext>
            </a:extLst>
          </p:cNvPr>
          <p:cNvCxnSpPr>
            <a:cxnSpLocks/>
          </p:cNvCxnSpPr>
          <p:nvPr/>
        </p:nvCxnSpPr>
        <p:spPr>
          <a:xfrm>
            <a:off x="7782478" y="1944709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0351F401-ECEE-4572-8E3E-1133ED672EE0}"/>
              </a:ext>
            </a:extLst>
          </p:cNvPr>
          <p:cNvGrpSpPr/>
          <p:nvPr/>
        </p:nvGrpSpPr>
        <p:grpSpPr>
          <a:xfrm>
            <a:off x="10004184" y="1543665"/>
            <a:ext cx="839021" cy="802091"/>
            <a:chOff x="10512625" y="1744747"/>
            <a:chExt cx="839021" cy="802091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79A7A19F-526C-4DF7-8F98-E784ABDFFA13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0BB3AE69-E465-48E8-9568-E69D631C495B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8250388D-9796-42CF-B2F3-D54D1D8AC456}"/>
              </a:ext>
            </a:extLst>
          </p:cNvPr>
          <p:cNvGrpSpPr/>
          <p:nvPr/>
        </p:nvGrpSpPr>
        <p:grpSpPr>
          <a:xfrm>
            <a:off x="9165163" y="1543665"/>
            <a:ext cx="839021" cy="376763"/>
            <a:chOff x="7528817" y="3219973"/>
            <a:chExt cx="1162516" cy="3767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95E782D2-F7EC-4EC4-9B89-74522E17877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5C60767D-59D6-47F4-8B88-E45D9B1380C2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DCD69DD8-DB80-45DB-AF16-D640FF367A58}"/>
              </a:ext>
            </a:extLst>
          </p:cNvPr>
          <p:cNvGrpSpPr/>
          <p:nvPr/>
        </p:nvGrpSpPr>
        <p:grpSpPr>
          <a:xfrm rot="11975915">
            <a:off x="10404768" y="155640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C75EDAC-C5F4-498C-B2E9-D13E47D6447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B5AD30F5-1145-49D7-91CD-2C68976C8C5B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C95A60F-F791-465E-BF83-7EDFB72DC99F}"/>
              </a:ext>
            </a:extLst>
          </p:cNvPr>
          <p:cNvSpPr txBox="1"/>
          <p:nvPr/>
        </p:nvSpPr>
        <p:spPr>
          <a:xfrm>
            <a:off x="11190739" y="133369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A01E90B8-B608-4047-B9B2-214AA8F5A431}"/>
              </a:ext>
            </a:extLst>
          </p:cNvPr>
          <p:cNvSpPr/>
          <p:nvPr/>
        </p:nvSpPr>
        <p:spPr>
          <a:xfrm>
            <a:off x="7165607" y="459087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96B08503-3C7E-4CCC-94AD-141B0FD25BF9}"/>
              </a:ext>
            </a:extLst>
          </p:cNvPr>
          <p:cNvSpPr/>
          <p:nvPr/>
        </p:nvSpPr>
        <p:spPr>
          <a:xfrm>
            <a:off x="8749254" y="455369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06B4870-FB65-4B22-BB0E-0CE5FFD81B6D}"/>
              </a:ext>
            </a:extLst>
          </p:cNvPr>
          <p:cNvGrpSpPr/>
          <p:nvPr/>
        </p:nvGrpSpPr>
        <p:grpSpPr>
          <a:xfrm>
            <a:off x="10350726" y="4472220"/>
            <a:ext cx="839021" cy="802091"/>
            <a:chOff x="10512625" y="1744747"/>
            <a:chExt cx="839021" cy="802091"/>
          </a:xfrm>
        </p:grpSpPr>
        <p:sp>
          <p:nvSpPr>
            <p:cNvPr id="21" name="Oval 20">
              <a:extLst>
                <a:ext uri="{FF2B5EF4-FFF2-40B4-BE49-F238E27FC236}">
                  <a16:creationId xmlns="" xmlns:a16="http://schemas.microsoft.com/office/drawing/2014/main" id="{F138E04A-4458-422D-AA9A-1628DACB15B2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="" xmlns:a16="http://schemas.microsoft.com/office/drawing/2014/main" id="{E625AD3A-526A-4A00-B586-0525E531DAB3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AE53F63F-7BE3-4C77-8369-F3E538058636}"/>
              </a:ext>
            </a:extLst>
          </p:cNvPr>
          <p:cNvCxnSpPr>
            <a:cxnSpLocks/>
          </p:cNvCxnSpPr>
          <p:nvPr/>
        </p:nvCxnSpPr>
        <p:spPr>
          <a:xfrm>
            <a:off x="6619076" y="4945004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5ED61825-809C-42B8-B08C-A00D69AF9E34}"/>
              </a:ext>
            </a:extLst>
          </p:cNvPr>
          <p:cNvGrpSpPr/>
          <p:nvPr/>
        </p:nvGrpSpPr>
        <p:grpSpPr>
          <a:xfrm>
            <a:off x="7922060" y="4541112"/>
            <a:ext cx="839021" cy="376763"/>
            <a:chOff x="7528817" y="3219973"/>
            <a:chExt cx="1162516" cy="37676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8980F41F-4430-44C3-95F5-6A088D76286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3C5CD26A-E3D0-4F26-9661-4C7A2718FA9B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="" xmlns:a16="http://schemas.microsoft.com/office/drawing/2014/main" id="{20D0BFDA-DD55-407C-91AF-B0B9CAB8034F}"/>
              </a:ext>
            </a:extLst>
          </p:cNvPr>
          <p:cNvGrpSpPr/>
          <p:nvPr/>
        </p:nvGrpSpPr>
        <p:grpSpPr>
          <a:xfrm>
            <a:off x="9495389" y="4516249"/>
            <a:ext cx="839021" cy="376763"/>
            <a:chOff x="7528817" y="3219973"/>
            <a:chExt cx="1162516" cy="37676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A767442C-2C6D-4119-9464-8C90561E3D1D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6844894A-0DBA-4612-8D66-AA63A6E56684}"/>
                </a:ext>
              </a:extLst>
            </p:cNvPr>
            <p:cNvSpPr txBox="1"/>
            <p:nvPr/>
          </p:nvSpPr>
          <p:spPr>
            <a:xfrm>
              <a:off x="7592139" y="3219973"/>
              <a:ext cx="93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a/b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92AED612-705A-495F-98BD-66B55F7EAA70}"/>
              </a:ext>
            </a:extLst>
          </p:cNvPr>
          <p:cNvGrpSpPr/>
          <p:nvPr/>
        </p:nvGrpSpPr>
        <p:grpSpPr>
          <a:xfrm rot="11975915">
            <a:off x="10734539" y="4513029"/>
            <a:ext cx="887105" cy="540134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9645314F-BBCB-458B-B6CA-58E8B347FC8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EA9F726E-E180-47DC-88FE-16416FCD3E5D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4C895F07-79D3-4E11-B8BF-EE58AD827B11}"/>
              </a:ext>
            </a:extLst>
          </p:cNvPr>
          <p:cNvSpPr txBox="1"/>
          <p:nvPr/>
        </p:nvSpPr>
        <p:spPr>
          <a:xfrm>
            <a:off x="11520510" y="4290320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</p:spTree>
    <p:extLst>
      <p:ext uri="{BB962C8B-B14F-4D97-AF65-F5344CB8AC3E}">
        <p14:creationId xmlns:p14="http://schemas.microsoft.com/office/powerpoint/2010/main" val="319708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16" grpId="0" uiExpand="1"/>
      <p:bldP spid="17" grpId="0" uiExpand="1" animBg="1"/>
      <p:bldP spid="18" grpId="0" uiExpand="1" animBg="1"/>
      <p:bldP spid="33" grpId="0" uiExpan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D1307E-017C-498C-8A64-4B23D752D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29" y="295729"/>
            <a:ext cx="5903915" cy="630385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All words that start with a are valid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{a, aa, ab,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aba, ………………...}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(a)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(1 + 1 = 2)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(ab)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C3AAFF7-4514-4298-A3A3-34BF6990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3A327952-DEBF-4482-9019-6ABF1E666C02}"/>
              </a:ext>
            </a:extLst>
          </p:cNvPr>
          <p:cNvSpPr/>
          <p:nvPr/>
        </p:nvSpPr>
        <p:spPr>
          <a:xfrm>
            <a:off x="7123638" y="134063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30B14623-B935-41E8-8D3E-2B4065B42971}"/>
              </a:ext>
            </a:extLst>
          </p:cNvPr>
          <p:cNvCxnSpPr>
            <a:cxnSpLocks/>
          </p:cNvCxnSpPr>
          <p:nvPr/>
        </p:nvCxnSpPr>
        <p:spPr>
          <a:xfrm>
            <a:off x="6506700" y="1691920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3C8D38F6-0D94-4E5E-A984-73F965C723BA}"/>
              </a:ext>
            </a:extLst>
          </p:cNvPr>
          <p:cNvGrpSpPr/>
          <p:nvPr/>
        </p:nvGrpSpPr>
        <p:grpSpPr>
          <a:xfrm>
            <a:off x="8728406" y="1290876"/>
            <a:ext cx="839021" cy="802091"/>
            <a:chOff x="10512625" y="1744747"/>
            <a:chExt cx="839021" cy="802091"/>
          </a:xfrm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B7DFD13E-7714-4865-96D1-6D7FCFDA54E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117A8983-D12A-46CF-A805-FC087365A03D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F29CD4A-21E4-4641-921D-0E55524B62BC}"/>
              </a:ext>
            </a:extLst>
          </p:cNvPr>
          <p:cNvGrpSpPr/>
          <p:nvPr/>
        </p:nvGrpSpPr>
        <p:grpSpPr>
          <a:xfrm>
            <a:off x="7889385" y="1304720"/>
            <a:ext cx="921687" cy="369332"/>
            <a:chOff x="7528817" y="3233817"/>
            <a:chExt cx="1277055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209BC1BA-0E7C-4D11-B9D4-312486A34ABB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C29ECD15-3047-412F-982F-1C09E9DA9B48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7123A08D-47AF-49E3-A624-EDCABC532567}"/>
              </a:ext>
            </a:extLst>
          </p:cNvPr>
          <p:cNvGrpSpPr/>
          <p:nvPr/>
        </p:nvGrpSpPr>
        <p:grpSpPr>
          <a:xfrm rot="11975915">
            <a:off x="9128990" y="1303617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DCA4815E-C5DF-4B50-BD8F-9862B85D0CD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6B0CA875-D11B-422F-80E2-F981F1583622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9A328D8-E56D-45FD-9246-083C1D44BC65}"/>
              </a:ext>
            </a:extLst>
          </p:cNvPr>
          <p:cNvSpPr txBox="1"/>
          <p:nvPr/>
        </p:nvSpPr>
        <p:spPr>
          <a:xfrm>
            <a:off x="9914961" y="1080908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BA28A471-67AB-4564-B656-AF2153A78ED0}"/>
              </a:ext>
            </a:extLst>
          </p:cNvPr>
          <p:cNvSpPr/>
          <p:nvPr/>
        </p:nvSpPr>
        <p:spPr>
          <a:xfrm>
            <a:off x="8216995" y="2573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721E9CD6-3F9B-4F01-80A2-67A8E6FCB731}"/>
              </a:ext>
            </a:extLst>
          </p:cNvPr>
          <p:cNvCxnSpPr>
            <a:cxnSpLocks/>
          </p:cNvCxnSpPr>
          <p:nvPr/>
        </p:nvCxnSpPr>
        <p:spPr>
          <a:xfrm>
            <a:off x="7614544" y="2011493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AD91F124-6CFB-42DC-B438-807672E1F146}"/>
              </a:ext>
            </a:extLst>
          </p:cNvPr>
          <p:cNvGrpSpPr/>
          <p:nvPr/>
        </p:nvGrpSpPr>
        <p:grpSpPr>
          <a:xfrm rot="14411572">
            <a:off x="8484465" y="2813809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DE0B04A8-A930-4981-99FE-269A4DC718CF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E022C1C9-864E-471C-8638-8F41F418E1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5FEBDE2-5939-4EC4-B86E-2C2C1A0B1CAE}"/>
              </a:ext>
            </a:extLst>
          </p:cNvPr>
          <p:cNvSpPr txBox="1"/>
          <p:nvPr/>
        </p:nvSpPr>
        <p:spPr>
          <a:xfrm>
            <a:off x="9351276" y="2995009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37D4682C-05F8-4708-9A2E-265154FAE92D}"/>
              </a:ext>
            </a:extLst>
          </p:cNvPr>
          <p:cNvSpPr txBox="1"/>
          <p:nvPr/>
        </p:nvSpPr>
        <p:spPr>
          <a:xfrm>
            <a:off x="7915769" y="2068126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A3225554-EEDA-46F3-BA0B-FB82B45EACE4}"/>
              </a:ext>
            </a:extLst>
          </p:cNvPr>
          <p:cNvCxnSpPr>
            <a:cxnSpLocks/>
          </p:cNvCxnSpPr>
          <p:nvPr/>
        </p:nvCxnSpPr>
        <p:spPr>
          <a:xfrm>
            <a:off x="6257043" y="4622422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045BD02C-54B6-422C-A206-2900B825D2A8}"/>
              </a:ext>
            </a:extLst>
          </p:cNvPr>
          <p:cNvSpPr/>
          <p:nvPr/>
        </p:nvSpPr>
        <p:spPr>
          <a:xfrm>
            <a:off x="6833325" y="430285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108782AD-DCE1-409A-AD7C-AE0F59DEB57C}"/>
              </a:ext>
            </a:extLst>
          </p:cNvPr>
          <p:cNvSpPr/>
          <p:nvPr/>
        </p:nvSpPr>
        <p:spPr>
          <a:xfrm>
            <a:off x="8464221" y="431478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41271470-2B56-4CD1-8A77-DA444D7C868A}"/>
              </a:ext>
            </a:extLst>
          </p:cNvPr>
          <p:cNvGrpSpPr/>
          <p:nvPr/>
        </p:nvGrpSpPr>
        <p:grpSpPr>
          <a:xfrm>
            <a:off x="10084177" y="4238841"/>
            <a:ext cx="839021" cy="802091"/>
            <a:chOff x="10512625" y="1744747"/>
            <a:chExt cx="839021" cy="802091"/>
          </a:xfrm>
        </p:grpSpPr>
        <p:sp>
          <p:nvSpPr>
            <p:cNvPr id="32" name="Oval 31">
              <a:extLst>
                <a:ext uri="{FF2B5EF4-FFF2-40B4-BE49-F238E27FC236}">
                  <a16:creationId xmlns="" xmlns:a16="http://schemas.microsoft.com/office/drawing/2014/main" id="{648E7E00-D716-4984-8661-0985930CD883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="" xmlns:a16="http://schemas.microsoft.com/office/drawing/2014/main" id="{DAB1E809-1711-4A4B-AD55-620ACB52E9ED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="" xmlns:a16="http://schemas.microsoft.com/office/drawing/2014/main" id="{E9FE84CE-1FF0-4E0B-B985-2A8D0960E195}"/>
              </a:ext>
            </a:extLst>
          </p:cNvPr>
          <p:cNvGrpSpPr/>
          <p:nvPr/>
        </p:nvGrpSpPr>
        <p:grpSpPr>
          <a:xfrm rot="12358995">
            <a:off x="10467990" y="4308791"/>
            <a:ext cx="887105" cy="540134"/>
            <a:chOff x="9634394" y="3771847"/>
            <a:chExt cx="887105" cy="540134"/>
          </a:xfrm>
        </p:grpSpPr>
        <p:sp>
          <p:nvSpPr>
            <p:cNvPr id="35" name="Arc 34">
              <a:extLst>
                <a:ext uri="{FF2B5EF4-FFF2-40B4-BE49-F238E27FC236}">
                  <a16:creationId xmlns="" xmlns:a16="http://schemas.microsoft.com/office/drawing/2014/main" id="{FF7D255A-64CE-46D5-8353-D88BD2FF45E0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="" xmlns:a16="http://schemas.microsoft.com/office/drawing/2014/main" id="{5A1EE6D3-70C1-410A-A4C9-38D1BE7EED18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1656A456-AA62-4455-83B2-9AD46663FDC6}"/>
              </a:ext>
            </a:extLst>
          </p:cNvPr>
          <p:cNvSpPr txBox="1"/>
          <p:nvPr/>
        </p:nvSpPr>
        <p:spPr>
          <a:xfrm>
            <a:off x="11174449" y="4086082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8E8005EC-1AE1-491D-9F0F-A40347958577}"/>
              </a:ext>
            </a:extLst>
          </p:cNvPr>
          <p:cNvGrpSpPr/>
          <p:nvPr/>
        </p:nvGrpSpPr>
        <p:grpSpPr>
          <a:xfrm>
            <a:off x="7628824" y="4253090"/>
            <a:ext cx="921687" cy="369332"/>
            <a:chOff x="7528817" y="3233817"/>
            <a:chExt cx="1277055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="" xmlns:a16="http://schemas.microsoft.com/office/drawing/2014/main" id="{749EE536-4B9A-4345-9265-7A2E0D4851B5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E9F8B880-BF68-4FC5-8CE3-61BBBCB05C7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="" xmlns:a16="http://schemas.microsoft.com/office/drawing/2014/main" id="{3FEF4DCF-3B43-4DCE-B206-3E42F525CF1D}"/>
              </a:ext>
            </a:extLst>
          </p:cNvPr>
          <p:cNvGrpSpPr/>
          <p:nvPr/>
        </p:nvGrpSpPr>
        <p:grpSpPr>
          <a:xfrm>
            <a:off x="9240334" y="4276820"/>
            <a:ext cx="921687" cy="369332"/>
            <a:chOff x="7528817" y="3233817"/>
            <a:chExt cx="1277055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="" xmlns:a16="http://schemas.microsoft.com/office/drawing/2014/main" id="{E42B46BC-177E-4730-A9B0-9C9523108E0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134A1B3-C58B-4F79-B3A2-3F3A49CF1874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652D4064-5F30-40CC-9EAA-F523EC9C49AE}"/>
              </a:ext>
            </a:extLst>
          </p:cNvPr>
          <p:cNvSpPr/>
          <p:nvPr/>
        </p:nvSpPr>
        <p:spPr>
          <a:xfrm>
            <a:off x="8038309" y="550473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="" xmlns:a16="http://schemas.microsoft.com/office/drawing/2014/main" id="{F5A4E6D4-79A0-4CE2-9302-CEED534948EC}"/>
              </a:ext>
            </a:extLst>
          </p:cNvPr>
          <p:cNvCxnSpPr>
            <a:cxnSpLocks/>
          </p:cNvCxnSpPr>
          <p:nvPr/>
        </p:nvCxnSpPr>
        <p:spPr>
          <a:xfrm>
            <a:off x="7435858" y="4943012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51E57163-E7BD-40F2-9E98-4D6404E8D826}"/>
              </a:ext>
            </a:extLst>
          </p:cNvPr>
          <p:cNvGrpSpPr/>
          <p:nvPr/>
        </p:nvGrpSpPr>
        <p:grpSpPr>
          <a:xfrm rot="14411572">
            <a:off x="8305779" y="5745328"/>
            <a:ext cx="887105" cy="551432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4DB35D1C-E1E6-41F3-AF5E-F615E51DF1C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BB64BE19-8B2D-44EC-A2BE-40A17F86F668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978EC2C-8E81-43EB-B56F-B87E72E0D66D}"/>
              </a:ext>
            </a:extLst>
          </p:cNvPr>
          <p:cNvSpPr txBox="1"/>
          <p:nvPr/>
        </p:nvSpPr>
        <p:spPr>
          <a:xfrm>
            <a:off x="9172590" y="5926528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E98A389D-119A-48C4-8D82-D8450010371B}"/>
              </a:ext>
            </a:extLst>
          </p:cNvPr>
          <p:cNvSpPr txBox="1"/>
          <p:nvPr/>
        </p:nvSpPr>
        <p:spPr>
          <a:xfrm>
            <a:off x="7418247" y="5184145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3814CD3D-481D-420A-9B71-998AE6461B2F}"/>
              </a:ext>
            </a:extLst>
          </p:cNvPr>
          <p:cNvSpPr txBox="1"/>
          <p:nvPr/>
        </p:nvSpPr>
        <p:spPr>
          <a:xfrm>
            <a:off x="8647461" y="506512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="" xmlns:a16="http://schemas.microsoft.com/office/drawing/2014/main" id="{4034F623-D7A4-4914-8654-EA9A684BDC8E}"/>
              </a:ext>
            </a:extLst>
          </p:cNvPr>
          <p:cNvCxnSpPr>
            <a:cxnSpLocks/>
          </p:cNvCxnSpPr>
          <p:nvPr/>
        </p:nvCxnSpPr>
        <p:spPr>
          <a:xfrm flipH="1">
            <a:off x="8576104" y="5006157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8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17" grpId="0" animBg="1"/>
      <p:bldP spid="26" grpId="0"/>
      <p:bldP spid="27" grpId="0"/>
      <p:bldP spid="29" grpId="0" animBg="1"/>
      <p:bldP spid="30" grpId="0" animBg="1"/>
      <p:bldP spid="37" grpId="0"/>
      <p:bldP spid="44" grpId="0" animBg="1"/>
      <p:bldP spid="49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All words that start with “ab” sub-string are valid.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25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04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26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6452899" y="490330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27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8099693" y="475988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5408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28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8099693" y="475988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701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29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9760673" y="475721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140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30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9760673" y="475721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2493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31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9760673" y="475721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1708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32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9760673" y="475721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6129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33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6AC0B14-E11A-4906-84AE-3E1726A165F3}"/>
              </a:ext>
            </a:extLst>
          </p:cNvPr>
          <p:cNvSpPr txBox="1"/>
          <p:nvPr/>
        </p:nvSpPr>
        <p:spPr>
          <a:xfrm>
            <a:off x="251831" y="2663401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EF8A122C-EFB6-4BBD-BAE3-BC6067697D64}"/>
              </a:ext>
            </a:extLst>
          </p:cNvPr>
          <p:cNvGrpSpPr/>
          <p:nvPr/>
        </p:nvGrpSpPr>
        <p:grpSpPr>
          <a:xfrm>
            <a:off x="9760673" y="475721"/>
            <a:ext cx="591867" cy="1096368"/>
            <a:chOff x="6924745" y="2274367"/>
            <a:chExt cx="591867" cy="936326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501EC085-5009-4ECD-B269-B55D86182401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75DFF35D-A566-46B5-9425-7DCF044134E4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</p:spTree>
    <p:extLst>
      <p:ext uri="{BB962C8B-B14F-4D97-AF65-F5344CB8AC3E}">
        <p14:creationId xmlns:p14="http://schemas.microsoft.com/office/powerpoint/2010/main" val="67599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34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="" xmlns:a16="http://schemas.microsoft.com/office/drawing/2014/main" id="{226CE678-52E8-4792-AFEC-23EB38AAAE77}"/>
              </a:ext>
            </a:extLst>
          </p:cNvPr>
          <p:cNvGrpSpPr/>
          <p:nvPr/>
        </p:nvGrpSpPr>
        <p:grpSpPr>
          <a:xfrm>
            <a:off x="6408469" y="626573"/>
            <a:ext cx="591868" cy="936326"/>
            <a:chOff x="6924745" y="2274367"/>
            <a:chExt cx="591868" cy="936326"/>
          </a:xfrm>
        </p:grpSpPr>
        <p:sp>
          <p:nvSpPr>
            <p:cNvPr id="38" name="Arrow: Up 37">
              <a:extLst>
                <a:ext uri="{FF2B5EF4-FFF2-40B4-BE49-F238E27FC236}">
                  <a16:creationId xmlns="" xmlns:a16="http://schemas.microsoft.com/office/drawing/2014/main" id="{C7A902A0-DE45-4F96-9624-3D509F3D1E7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44884A22-47BF-49EA-AA89-0CE9062180B3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775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35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>
            <a:off x="6408469" y="626573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46371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36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>
            <a:off x="8077139" y="626573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667397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37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>
            <a:off x="8077139" y="626573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310251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38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 rot="16200000">
            <a:off x="6774867" y="2596467"/>
            <a:ext cx="369332" cy="1087350"/>
            <a:chOff x="6983005" y="2123343"/>
            <a:chExt cx="369332" cy="1087350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 rot="5400000">
              <a:off x="6871737" y="2234611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3728295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39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 rot="16200000">
            <a:off x="6774867" y="2596467"/>
            <a:ext cx="369332" cy="1087350"/>
            <a:chOff x="6983005" y="2123343"/>
            <a:chExt cx="369332" cy="1087350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 rot="5400000">
              <a:off x="6871737" y="2234611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3690471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40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 rot="16200000">
            <a:off x="6774867" y="2596467"/>
            <a:ext cx="369332" cy="1087350"/>
            <a:chOff x="6983005" y="2123343"/>
            <a:chExt cx="369332" cy="1087350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 rot="5400000">
              <a:off x="6871737" y="2234611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614240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A2C4EF-FA7D-4D5A-A808-AAB8F28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47" y="123451"/>
            <a:ext cx="552277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All words that start with “ab”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= {ab, aba,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abb,abaa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abba,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…..}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Input-1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527E95A-C10B-467C-88BB-523F2002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41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EB0B123-5EA2-4EC2-843B-99961B2B3405}"/>
              </a:ext>
            </a:extLst>
          </p:cNvPr>
          <p:cNvCxnSpPr>
            <a:cxnSpLocks/>
          </p:cNvCxnSpPr>
          <p:nvPr/>
        </p:nvCxnSpPr>
        <p:spPr>
          <a:xfrm>
            <a:off x="5753460" y="1932231"/>
            <a:ext cx="556591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="" xmlns:a16="http://schemas.microsoft.com/office/drawing/2014/main" id="{5B433A07-0CFF-4973-89CD-E890A40918E6}"/>
              </a:ext>
            </a:extLst>
          </p:cNvPr>
          <p:cNvSpPr/>
          <p:nvPr/>
        </p:nvSpPr>
        <p:spPr>
          <a:xfrm>
            <a:off x="6329742" y="161266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BDF8A26E-D665-400F-A14A-4A5786F65FD5}"/>
              </a:ext>
            </a:extLst>
          </p:cNvPr>
          <p:cNvSpPr/>
          <p:nvPr/>
        </p:nvSpPr>
        <p:spPr>
          <a:xfrm>
            <a:off x="7960638" y="162459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02E477B2-C33B-4203-9685-B1CE2097BFF6}"/>
              </a:ext>
            </a:extLst>
          </p:cNvPr>
          <p:cNvGrpSpPr/>
          <p:nvPr/>
        </p:nvGrpSpPr>
        <p:grpSpPr>
          <a:xfrm>
            <a:off x="9739618" y="1588406"/>
            <a:ext cx="839021" cy="802091"/>
            <a:chOff x="10512625" y="1744747"/>
            <a:chExt cx="839021" cy="802091"/>
          </a:xfrm>
        </p:grpSpPr>
        <p:sp>
          <p:nvSpPr>
            <p:cNvPr id="29" name="Oval 28">
              <a:extLst>
                <a:ext uri="{FF2B5EF4-FFF2-40B4-BE49-F238E27FC236}">
                  <a16:creationId xmlns="" xmlns:a16="http://schemas.microsoft.com/office/drawing/2014/main" id="{FE78225A-E7AB-4E51-9D37-4E8EEAD4C511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="" xmlns:a16="http://schemas.microsoft.com/office/drawing/2014/main" id="{3A8963E9-FA6D-4416-A6F2-900BE3C3FE92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EC144DA-A0FD-41F4-B45D-6AE9A675365E}"/>
              </a:ext>
            </a:extLst>
          </p:cNvPr>
          <p:cNvGrpSpPr/>
          <p:nvPr/>
        </p:nvGrpSpPr>
        <p:grpSpPr>
          <a:xfrm rot="11975915">
            <a:off x="10123431" y="1618600"/>
            <a:ext cx="887105" cy="540134"/>
            <a:chOff x="9634394" y="3771847"/>
            <a:chExt cx="887105" cy="540134"/>
          </a:xfrm>
        </p:grpSpPr>
        <p:sp>
          <p:nvSpPr>
            <p:cNvPr id="27" name="Arc 26">
              <a:extLst>
                <a:ext uri="{FF2B5EF4-FFF2-40B4-BE49-F238E27FC236}">
                  <a16:creationId xmlns="" xmlns:a16="http://schemas.microsoft.com/office/drawing/2014/main" id="{D9401756-784F-4679-86DC-2C0528C5632B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BD09FDC6-3901-486D-8382-139C98CAC93A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5FAB901-3D28-4C5A-AAD5-9F20E7B27512}"/>
              </a:ext>
            </a:extLst>
          </p:cNvPr>
          <p:cNvSpPr txBox="1"/>
          <p:nvPr/>
        </p:nvSpPr>
        <p:spPr>
          <a:xfrm>
            <a:off x="10909402" y="1395891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0CDF66CF-C799-48A0-866D-62FB8150DBD8}"/>
              </a:ext>
            </a:extLst>
          </p:cNvPr>
          <p:cNvGrpSpPr/>
          <p:nvPr/>
        </p:nvGrpSpPr>
        <p:grpSpPr>
          <a:xfrm>
            <a:off x="7125241" y="1562899"/>
            <a:ext cx="921687" cy="369332"/>
            <a:chOff x="7528817" y="3233817"/>
            <a:chExt cx="1277055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54968D2F-CB09-457B-A74C-DF9AC9A2035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50577165-F11A-4977-B605-501556B5BF06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2966BE0-CCB8-4DF5-BC09-E9DD289E5FE3}"/>
              </a:ext>
            </a:extLst>
          </p:cNvPr>
          <p:cNvGrpSpPr/>
          <p:nvPr/>
        </p:nvGrpSpPr>
        <p:grpSpPr>
          <a:xfrm>
            <a:off x="8736751" y="1586629"/>
            <a:ext cx="921687" cy="369332"/>
            <a:chOff x="7528817" y="3233817"/>
            <a:chExt cx="1277055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E26A094-3A2E-4985-B3ED-399FE3C2452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8D51091-6D97-421A-85CC-EF3518E4AF61}"/>
                </a:ext>
              </a:extLst>
            </p:cNvPr>
            <p:cNvSpPr txBox="1"/>
            <p:nvPr/>
          </p:nvSpPr>
          <p:spPr>
            <a:xfrm>
              <a:off x="7815175" y="3233817"/>
              <a:ext cx="990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E35D4C1-7AF3-4608-A453-12E5014133DC}"/>
              </a:ext>
            </a:extLst>
          </p:cNvPr>
          <p:cNvSpPr/>
          <p:nvPr/>
        </p:nvSpPr>
        <p:spPr>
          <a:xfrm>
            <a:off x="7534726" y="28145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C4CC40E-DF6F-4FED-97E1-33F3F99594C2}"/>
              </a:ext>
            </a:extLst>
          </p:cNvPr>
          <p:cNvCxnSpPr>
            <a:cxnSpLocks/>
          </p:cNvCxnSpPr>
          <p:nvPr/>
        </p:nvCxnSpPr>
        <p:spPr>
          <a:xfrm>
            <a:off x="6932275" y="2252821"/>
            <a:ext cx="602451" cy="69095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FD9BCB86-D7B0-4F7A-9E60-1E480256FC10}"/>
              </a:ext>
            </a:extLst>
          </p:cNvPr>
          <p:cNvGrpSpPr/>
          <p:nvPr/>
        </p:nvGrpSpPr>
        <p:grpSpPr>
          <a:xfrm rot="14411572">
            <a:off x="7802196" y="3055137"/>
            <a:ext cx="887105" cy="551432"/>
            <a:chOff x="9634394" y="3771847"/>
            <a:chExt cx="887105" cy="540134"/>
          </a:xfrm>
        </p:grpSpPr>
        <p:sp>
          <p:nvSpPr>
            <p:cNvPr id="21" name="Arc 20">
              <a:extLst>
                <a:ext uri="{FF2B5EF4-FFF2-40B4-BE49-F238E27FC236}">
                  <a16:creationId xmlns="" xmlns:a16="http://schemas.microsoft.com/office/drawing/2014/main" id="{523DCC5A-A93C-4DDB-B575-83AA8030CA81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1322929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="" xmlns:a16="http://schemas.microsoft.com/office/drawing/2014/main" id="{4DC6A6A8-03FD-4762-B594-E5A68456D1D0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7F91DC-C4AF-4A1C-A8F3-99FB1E17C7DE}"/>
              </a:ext>
            </a:extLst>
          </p:cNvPr>
          <p:cNvSpPr txBox="1"/>
          <p:nvPr/>
        </p:nvSpPr>
        <p:spPr>
          <a:xfrm>
            <a:off x="8669007" y="3236337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0CFA87E0-E4E1-4F37-87F9-7630F0DF098F}"/>
              </a:ext>
            </a:extLst>
          </p:cNvPr>
          <p:cNvSpPr txBox="1"/>
          <p:nvPr/>
        </p:nvSpPr>
        <p:spPr>
          <a:xfrm>
            <a:off x="6914664" y="2493954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CD2CCC1-48EC-4E57-9687-081B81C2E754}"/>
              </a:ext>
            </a:extLst>
          </p:cNvPr>
          <p:cNvSpPr txBox="1"/>
          <p:nvPr/>
        </p:nvSpPr>
        <p:spPr>
          <a:xfrm>
            <a:off x="8143878" y="2374933"/>
            <a:ext cx="71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73D8F961-9D12-4C12-88C4-47BCB2D90172}"/>
              </a:ext>
            </a:extLst>
          </p:cNvPr>
          <p:cNvCxnSpPr>
            <a:cxnSpLocks/>
          </p:cNvCxnSpPr>
          <p:nvPr/>
        </p:nvCxnSpPr>
        <p:spPr>
          <a:xfrm flipH="1">
            <a:off x="8072521" y="2315966"/>
            <a:ext cx="173227" cy="53085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E6C672-CD18-49F6-A920-DC5C71FCEA94}"/>
              </a:ext>
            </a:extLst>
          </p:cNvPr>
          <p:cNvSpPr txBox="1"/>
          <p:nvPr/>
        </p:nvSpPr>
        <p:spPr>
          <a:xfrm>
            <a:off x="2533562" y="1344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CF772676-FEA9-4418-922F-25058CDFB2A0}"/>
              </a:ext>
            </a:extLst>
          </p:cNvPr>
          <p:cNvGrpSpPr/>
          <p:nvPr/>
        </p:nvGrpSpPr>
        <p:grpSpPr>
          <a:xfrm rot="16200000">
            <a:off x="6774867" y="2596467"/>
            <a:ext cx="369332" cy="1087350"/>
            <a:chOff x="6983005" y="2123343"/>
            <a:chExt cx="369332" cy="1087350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AE374279-3E0C-48EF-ADB3-7B6367EE8A06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DBDE2719-8538-4101-85DB-DA977C114959}"/>
                </a:ext>
              </a:extLst>
            </p:cNvPr>
            <p:cNvSpPr txBox="1"/>
            <p:nvPr/>
          </p:nvSpPr>
          <p:spPr>
            <a:xfrm rot="5400000">
              <a:off x="6871737" y="2234611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15AFAF-2E5B-4FB1-971C-11411EB6B964}"/>
              </a:ext>
            </a:extLst>
          </p:cNvPr>
          <p:cNvSpPr txBox="1"/>
          <p:nvPr/>
        </p:nvSpPr>
        <p:spPr>
          <a:xfrm>
            <a:off x="251831" y="2432399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8D179080-8A57-4AC3-BDA1-F7106E0CE761}"/>
              </a:ext>
            </a:extLst>
          </p:cNvPr>
          <p:cNvSpPr txBox="1"/>
          <p:nvPr/>
        </p:nvSpPr>
        <p:spPr>
          <a:xfrm>
            <a:off x="2533562" y="175949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59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42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A36D8B2F-6D0B-4143-8003-67172ABD7601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97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3" grpId="0"/>
      <p:bldP spid="24" grpId="0" animBg="1"/>
      <p:bldP spid="25" grpId="0"/>
      <p:bldP spid="26" grpId="0" animBg="1"/>
      <p:bldP spid="27" grpId="0"/>
      <p:bldP spid="37" grpId="0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43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1032259" y="4188215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 rot="14018388">
            <a:off x="4674043" y="4504525"/>
            <a:ext cx="467767" cy="1247927"/>
            <a:chOff x="6986795" y="2225375"/>
            <a:chExt cx="467767" cy="985318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56882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44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1032259" y="4188215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 rot="14018388">
            <a:off x="4674043" y="4504525"/>
            <a:ext cx="467767" cy="1247927"/>
            <a:chOff x="6986795" y="2225375"/>
            <a:chExt cx="467767" cy="985318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42708063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45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 rot="14018388">
            <a:off x="4674043" y="4504525"/>
            <a:ext cx="467767" cy="1247927"/>
            <a:chOff x="6986795" y="2225375"/>
            <a:chExt cx="467767" cy="985318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 rot="7741181">
              <a:off x="6987020" y="2225150"/>
              <a:ext cx="467317" cy="467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7516315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46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7395300" y="3039243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1152391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47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7395300" y="3039243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1995159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9037490" y="3067191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897983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49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9037660" y="3037608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4177796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9053187" y="3027146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928315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51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9053187" y="3027146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3768505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52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2D63A606-662E-45E4-9B27-30DE3247DDA3}"/>
              </a:ext>
            </a:extLst>
          </p:cNvPr>
          <p:cNvGrpSpPr/>
          <p:nvPr/>
        </p:nvGrpSpPr>
        <p:grpSpPr>
          <a:xfrm>
            <a:off x="9053187" y="3027146"/>
            <a:ext cx="591867" cy="1185878"/>
            <a:chOff x="6924745" y="2274367"/>
            <a:chExt cx="591867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C493D7AD-0A88-41F0-8B22-FD67EA4E6762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8908C0-CEC4-48E3-87E6-D6E02AD966AC}"/>
                </a:ext>
              </a:extLst>
            </p:cNvPr>
            <p:cNvSpPr txBox="1"/>
            <p:nvPr/>
          </p:nvSpPr>
          <p:spPr>
            <a:xfrm>
              <a:off x="6924745" y="2274367"/>
              <a:ext cx="591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3BC356F-AB35-4875-999A-EAC9CEF816F3}"/>
              </a:ext>
            </a:extLst>
          </p:cNvPr>
          <p:cNvSpPr txBox="1"/>
          <p:nvPr/>
        </p:nvSpPr>
        <p:spPr>
          <a:xfrm>
            <a:off x="500402" y="480688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</p:spTree>
    <p:extLst>
      <p:ext uri="{BB962C8B-B14F-4D97-AF65-F5344CB8AC3E}">
        <p14:creationId xmlns:p14="http://schemas.microsoft.com/office/powerpoint/2010/main" val="209440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53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FE9ADA49-FBCF-4786-B776-23A484A9E2CF}"/>
              </a:ext>
            </a:extLst>
          </p:cNvPr>
          <p:cNvGrpSpPr/>
          <p:nvPr/>
        </p:nvGrpSpPr>
        <p:grpSpPr>
          <a:xfrm rot="14287373">
            <a:off x="4748654" y="4555304"/>
            <a:ext cx="369332" cy="1047594"/>
            <a:chOff x="7036013" y="2163099"/>
            <a:chExt cx="369332" cy="1047594"/>
          </a:xfrm>
        </p:grpSpPr>
        <p:sp>
          <p:nvSpPr>
            <p:cNvPr id="39" name="Arrow: Up 38">
              <a:extLst>
                <a:ext uri="{FF2B5EF4-FFF2-40B4-BE49-F238E27FC236}">
                  <a16:creationId xmlns="" xmlns:a16="http://schemas.microsoft.com/office/drawing/2014/main" id="{EC320567-CB98-459C-8E50-482A1D67A98E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34CB11C9-AED5-44A0-8E44-117F4C19B619}"/>
                </a:ext>
              </a:extLst>
            </p:cNvPr>
            <p:cNvSpPr txBox="1"/>
            <p:nvPr/>
          </p:nvSpPr>
          <p:spPr>
            <a:xfrm rot="7125421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07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54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 rot="14287373">
            <a:off x="4748654" y="4555304"/>
            <a:ext cx="369332" cy="1047594"/>
            <a:chOff x="7036013" y="2163099"/>
            <a:chExt cx="369332" cy="1047594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7125421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421929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55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 rot="14287373">
            <a:off x="4748654" y="4555304"/>
            <a:ext cx="369332" cy="1047594"/>
            <a:chOff x="7036013" y="2163099"/>
            <a:chExt cx="369332" cy="1047594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7125421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11247356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56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7341037" y="3288795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34866524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57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7341037" y="3288795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4638778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5114006" y="3514372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05334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59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5114006" y="3514372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2812123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60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7380526" y="3302867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</p:spTree>
    <p:extLst>
      <p:ext uri="{BB962C8B-B14F-4D97-AF65-F5344CB8AC3E}">
        <p14:creationId xmlns:p14="http://schemas.microsoft.com/office/powerpoint/2010/main" val="3459624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D8C03-8D78-4DD5-B7EA-29493005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436153"/>
            <a:ext cx="6026358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All words that ends with bb are valid.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L5 = {bb,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……….}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(bb)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(2 + 1 = 3)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D4448E-1F00-4AEA-A314-26A94B97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61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D9E680BC-F8E6-441A-9A82-29C71A92B190}"/>
              </a:ext>
            </a:extLst>
          </p:cNvPr>
          <p:cNvCxnSpPr>
            <a:cxnSpLocks/>
          </p:cNvCxnSpPr>
          <p:nvPr/>
        </p:nvCxnSpPr>
        <p:spPr>
          <a:xfrm>
            <a:off x="4810539" y="463163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6AEEAB4E-CB7D-4A63-97FD-B6C9A4527C3D}"/>
              </a:ext>
            </a:extLst>
          </p:cNvPr>
          <p:cNvSpPr/>
          <p:nvPr/>
        </p:nvSpPr>
        <p:spPr>
          <a:xfrm>
            <a:off x="5381564" y="431206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E1C5441E-15F0-4335-9E94-6E0A62DACD9E}"/>
              </a:ext>
            </a:extLst>
          </p:cNvPr>
          <p:cNvSpPr/>
          <p:nvPr/>
        </p:nvSpPr>
        <p:spPr>
          <a:xfrm>
            <a:off x="7267411" y="42702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A3C0447B-4654-4ADA-B976-4679F08E9C96}"/>
              </a:ext>
            </a:extLst>
          </p:cNvPr>
          <p:cNvGrpSpPr/>
          <p:nvPr/>
        </p:nvGrpSpPr>
        <p:grpSpPr>
          <a:xfrm>
            <a:off x="6104895" y="4266032"/>
            <a:ext cx="1162516" cy="376763"/>
            <a:chOff x="7528817" y="3219973"/>
            <a:chExt cx="1162516" cy="3767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445BF751-1BA5-4141-9CC9-07D6B04995A8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0A4A9EDE-BD78-4AFC-A06F-2A624F5D6D2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24B807F5-B75F-4848-8CFF-BB5D8C3CE590}"/>
              </a:ext>
            </a:extLst>
          </p:cNvPr>
          <p:cNvGrpSpPr/>
          <p:nvPr/>
        </p:nvGrpSpPr>
        <p:grpSpPr>
          <a:xfrm>
            <a:off x="9153258" y="4161183"/>
            <a:ext cx="838881" cy="829649"/>
            <a:chOff x="10512625" y="1744747"/>
            <a:chExt cx="839021" cy="802091"/>
          </a:xfrm>
        </p:grpSpPr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825F333E-E927-4ABE-BC66-3B931A9DD875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05130110-3178-467C-8FBD-89815395E210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3A7BCDE4-6F6B-4F50-8A2D-11A500F3CE13}"/>
              </a:ext>
            </a:extLst>
          </p:cNvPr>
          <p:cNvGrpSpPr/>
          <p:nvPr/>
        </p:nvGrpSpPr>
        <p:grpSpPr>
          <a:xfrm>
            <a:off x="8012273" y="4213024"/>
            <a:ext cx="1162516" cy="376763"/>
            <a:chOff x="7528817" y="3219973"/>
            <a:chExt cx="1162516" cy="3767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7F49440-7D53-42C3-B27F-B370E1A2F351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09084DF-1C2A-4200-8E7F-E2FAEF92EC65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BE7BA0A-C148-4636-9284-3C36F7B0FB9A}"/>
              </a:ext>
            </a:extLst>
          </p:cNvPr>
          <p:cNvGrpSpPr/>
          <p:nvPr/>
        </p:nvGrpSpPr>
        <p:grpSpPr>
          <a:xfrm rot="7310991">
            <a:off x="5299677" y="3995964"/>
            <a:ext cx="887105" cy="540134"/>
            <a:chOff x="9634394" y="3771847"/>
            <a:chExt cx="887105" cy="540134"/>
          </a:xfrm>
        </p:grpSpPr>
        <p:sp>
          <p:nvSpPr>
            <p:cNvPr id="18" name="Arc 17">
              <a:extLst>
                <a:ext uri="{FF2B5EF4-FFF2-40B4-BE49-F238E27FC236}">
                  <a16:creationId xmlns="" xmlns:a16="http://schemas.microsoft.com/office/drawing/2014/main" id="{5D69C1D7-0571-48E3-A981-F4220543287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="" xmlns:a16="http://schemas.microsoft.com/office/drawing/2014/main" id="{9548D92F-1819-4E97-B6FD-B9A7EDCBB3A4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1F58489-76B0-4D8F-8626-38CF315F60F6}"/>
              </a:ext>
            </a:extLst>
          </p:cNvPr>
          <p:cNvSpPr txBox="1"/>
          <p:nvPr/>
        </p:nvSpPr>
        <p:spPr>
          <a:xfrm>
            <a:off x="5554313" y="3464273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4" name="Arrow: Curved Down 23">
            <a:extLst>
              <a:ext uri="{FF2B5EF4-FFF2-40B4-BE49-F238E27FC236}">
                <a16:creationId xmlns="" xmlns:a16="http://schemas.microsoft.com/office/drawing/2014/main" id="{8C6E1144-D24F-429B-B331-3FE25102E5C9}"/>
              </a:ext>
            </a:extLst>
          </p:cNvPr>
          <p:cNvSpPr/>
          <p:nvPr/>
        </p:nvSpPr>
        <p:spPr>
          <a:xfrm rot="10800000">
            <a:off x="5969202" y="4885197"/>
            <a:ext cx="1504257" cy="316515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6B3D954-4BC2-48B6-BEAA-22069DA97A20}"/>
              </a:ext>
            </a:extLst>
          </p:cNvPr>
          <p:cNvSpPr txBox="1"/>
          <p:nvPr/>
        </p:nvSpPr>
        <p:spPr>
          <a:xfrm>
            <a:off x="6585941" y="486518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Arrow: Curved Down 25">
            <a:extLst>
              <a:ext uri="{FF2B5EF4-FFF2-40B4-BE49-F238E27FC236}">
                <a16:creationId xmlns="" xmlns:a16="http://schemas.microsoft.com/office/drawing/2014/main" id="{7A7F215F-C35D-4C54-B467-099144445AE4}"/>
              </a:ext>
            </a:extLst>
          </p:cNvPr>
          <p:cNvSpPr/>
          <p:nvPr/>
        </p:nvSpPr>
        <p:spPr>
          <a:xfrm rot="10800000">
            <a:off x="5679831" y="4975387"/>
            <a:ext cx="3778040" cy="485289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1FDC1EB0-068C-4F1D-815E-9C105B0714A6}"/>
              </a:ext>
            </a:extLst>
          </p:cNvPr>
          <p:cNvSpPr txBox="1"/>
          <p:nvPr/>
        </p:nvSpPr>
        <p:spPr>
          <a:xfrm>
            <a:off x="7670319" y="5087926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="" xmlns:a16="http://schemas.microsoft.com/office/drawing/2014/main" id="{D3988D3E-4E8D-4C57-9A5F-24854FB0344E}"/>
              </a:ext>
            </a:extLst>
          </p:cNvPr>
          <p:cNvGrpSpPr/>
          <p:nvPr/>
        </p:nvGrpSpPr>
        <p:grpSpPr>
          <a:xfrm rot="7915140">
            <a:off x="9238668" y="3888617"/>
            <a:ext cx="887105" cy="540134"/>
            <a:chOff x="9634394" y="3771847"/>
            <a:chExt cx="887105" cy="540134"/>
          </a:xfrm>
        </p:grpSpPr>
        <p:sp>
          <p:nvSpPr>
            <p:cNvPr id="29" name="Arc 28">
              <a:extLst>
                <a:ext uri="{FF2B5EF4-FFF2-40B4-BE49-F238E27FC236}">
                  <a16:creationId xmlns="" xmlns:a16="http://schemas.microsoft.com/office/drawing/2014/main" id="{7537E216-C8FF-48C8-9B19-7B0D5518734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7A49BE9E-037B-45B6-9C7F-53867323B4C6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97B44C19-DA90-46CF-A08A-203B9A2240C3}"/>
              </a:ext>
            </a:extLst>
          </p:cNvPr>
          <p:cNvSpPr txBox="1"/>
          <p:nvPr/>
        </p:nvSpPr>
        <p:spPr>
          <a:xfrm>
            <a:off x="9629357" y="3306310"/>
            <a:ext cx="36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8A8417-8812-42DD-9662-949580DD1CFC}"/>
              </a:ext>
            </a:extLst>
          </p:cNvPr>
          <p:cNvSpPr txBox="1"/>
          <p:nvPr/>
        </p:nvSpPr>
        <p:spPr>
          <a:xfrm>
            <a:off x="980662" y="4275682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CF9C4C70-BCF3-4F67-B361-88A7974AB970}"/>
              </a:ext>
            </a:extLst>
          </p:cNvPr>
          <p:cNvSpPr txBox="1"/>
          <p:nvPr/>
        </p:nvSpPr>
        <p:spPr>
          <a:xfrm>
            <a:off x="2537151" y="4268439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8387F61-B897-48E4-B90E-2E87AAADDD00}"/>
              </a:ext>
            </a:extLst>
          </p:cNvPr>
          <p:cNvSpPr txBox="1"/>
          <p:nvPr/>
        </p:nvSpPr>
        <p:spPr>
          <a:xfrm>
            <a:off x="988177" y="4721924"/>
            <a:ext cx="17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-2: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86CCB52-CCA2-4C91-A9B5-5B31C4237F09}"/>
              </a:ext>
            </a:extLst>
          </p:cNvPr>
          <p:cNvGrpSpPr/>
          <p:nvPr/>
        </p:nvGrpSpPr>
        <p:grpSpPr>
          <a:xfrm>
            <a:off x="7380526" y="3302867"/>
            <a:ext cx="591868" cy="936326"/>
            <a:chOff x="6924745" y="2274367"/>
            <a:chExt cx="591868" cy="936326"/>
          </a:xfrm>
        </p:grpSpPr>
        <p:sp>
          <p:nvSpPr>
            <p:cNvPr id="32" name="Arrow: Up 31">
              <a:extLst>
                <a:ext uri="{FF2B5EF4-FFF2-40B4-BE49-F238E27FC236}">
                  <a16:creationId xmlns="" xmlns:a16="http://schemas.microsoft.com/office/drawing/2014/main" id="{002F9073-E90C-40D9-94DA-8BFEC04B1E2D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CEBD9A73-A0A6-4F79-AFE4-E26E4CBAF8B8}"/>
                </a:ext>
              </a:extLst>
            </p:cNvPr>
            <p:cNvSpPr txBox="1"/>
            <p:nvPr/>
          </p:nvSpPr>
          <p:spPr>
            <a:xfrm rot="249907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AA7253DB-C322-4D0B-93BA-A1B2FCB0838B}"/>
              </a:ext>
            </a:extLst>
          </p:cNvPr>
          <p:cNvSpPr txBox="1"/>
          <p:nvPr/>
        </p:nvSpPr>
        <p:spPr>
          <a:xfrm>
            <a:off x="7302101" y="1837326"/>
            <a:ext cx="2605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δ: Q × ∑ → Q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A7D6ED0D-7053-424B-95E3-5214347B0895}"/>
              </a:ext>
            </a:extLst>
          </p:cNvPr>
          <p:cNvSpPr txBox="1"/>
          <p:nvPr/>
        </p:nvSpPr>
        <p:spPr>
          <a:xfrm>
            <a:off x="2573864" y="4738497"/>
            <a:ext cx="1645184" cy="366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6392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176941" y="403517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73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7" grpId="0" animBg="1"/>
      <p:bldP spid="21" grpId="0" animBg="1"/>
      <p:bldP spid="29" grpId="0"/>
      <p:bldP spid="33" grpId="0"/>
      <p:bldP spid="34" grpId="0"/>
      <p:bldP spid="41" grpId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176941" y="403517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50144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176941" y="403517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726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176941" y="403517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8685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32292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303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32292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4603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32292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0894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69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32292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11499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8563928" y="399640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8888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8563928" y="399640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4489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10319796" y="403229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37974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10319796" y="403229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2521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6" y="4024255"/>
            <a:ext cx="220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10319796" y="403229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68606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10319796" y="403229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</p:spTree>
    <p:extLst>
      <p:ext uri="{BB962C8B-B14F-4D97-AF65-F5344CB8AC3E}">
        <p14:creationId xmlns:p14="http://schemas.microsoft.com/office/powerpoint/2010/main" val="337421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10319796" y="403229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0648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19778" y="407766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417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19778" y="407766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692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79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19778" y="407766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03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19778" y="4077669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1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65994" y="4039725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9496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65994" y="4039725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772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65994" y="4039725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0145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65994" y="4039725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097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8622971" y="4039233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6654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8622971" y="4039233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94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82736" y="4116223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197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5282736" y="4116223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1676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89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6028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0988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09D3E3-F6BE-4C7F-8C42-B358003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22" y="422900"/>
            <a:ext cx="6384166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All words that contain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sub-string are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L6 =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bbabbabaab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………...}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(3 + 1 = 4)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088A70-3B11-4B67-9C5D-FDFCD5F7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A770A916-2CBF-4EAC-A236-DFC542554411}"/>
              </a:ext>
            </a:extLst>
          </p:cNvPr>
          <p:cNvSpPr/>
          <p:nvPr/>
        </p:nvSpPr>
        <p:spPr>
          <a:xfrm>
            <a:off x="5804529" y="379531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84D23B9C-A139-422C-9CFB-D64FC8ECB650}"/>
              </a:ext>
            </a:extLst>
          </p:cNvPr>
          <p:cNvSpPr/>
          <p:nvPr/>
        </p:nvSpPr>
        <p:spPr>
          <a:xfrm>
            <a:off x="7531300" y="375088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2C11D14-AF22-4EC1-BCF3-71C86486BD17}"/>
              </a:ext>
            </a:extLst>
          </p:cNvPr>
          <p:cNvGrpSpPr/>
          <p:nvPr/>
        </p:nvGrpSpPr>
        <p:grpSpPr>
          <a:xfrm>
            <a:off x="6605584" y="3724553"/>
            <a:ext cx="873415" cy="376763"/>
            <a:chOff x="7528817" y="3219973"/>
            <a:chExt cx="1162516" cy="3767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738E259A-A666-4944-A346-875AA8AF314E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6FE1242-5E4B-4088-B216-9657AAC8B88D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602461DE-2A93-4B9A-A436-5ED94ED71E23}"/>
              </a:ext>
            </a:extLst>
          </p:cNvPr>
          <p:cNvGrpSpPr/>
          <p:nvPr/>
        </p:nvGrpSpPr>
        <p:grpSpPr>
          <a:xfrm>
            <a:off x="10890460" y="3604806"/>
            <a:ext cx="838881" cy="829649"/>
            <a:chOff x="10512625" y="1744747"/>
            <a:chExt cx="839021" cy="802091"/>
          </a:xfrm>
        </p:grpSpPr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FD6BD7A1-E6A5-44BA-8F3C-73CEC0EA1C4A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A7011481-9B43-42A8-8856-7D1FF548411E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A8CF9A6-D3A6-4F83-B25F-7ED8DD4CAB8A}"/>
              </a:ext>
            </a:extLst>
          </p:cNvPr>
          <p:cNvGrpSpPr/>
          <p:nvPr/>
        </p:nvGrpSpPr>
        <p:grpSpPr>
          <a:xfrm rot="7310991">
            <a:off x="5725674" y="3525246"/>
            <a:ext cx="887105" cy="540134"/>
            <a:chOff x="9634394" y="3771847"/>
            <a:chExt cx="887105" cy="540134"/>
          </a:xfrm>
        </p:grpSpPr>
        <p:sp>
          <p:nvSpPr>
            <p:cNvPr id="14" name="Arc 13">
              <a:extLst>
                <a:ext uri="{FF2B5EF4-FFF2-40B4-BE49-F238E27FC236}">
                  <a16:creationId xmlns="" xmlns:a16="http://schemas.microsoft.com/office/drawing/2014/main" id="{6D046E54-7E36-439F-B253-2EB166F329F4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FFAE3863-F533-48ED-B409-2D6D0A6127F7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rrow: Curved Down 16">
            <a:extLst>
              <a:ext uri="{FF2B5EF4-FFF2-40B4-BE49-F238E27FC236}">
                <a16:creationId xmlns="" xmlns:a16="http://schemas.microsoft.com/office/drawing/2014/main" id="{83873E8A-098F-4C73-B030-5C9818BEAF30}"/>
              </a:ext>
            </a:extLst>
          </p:cNvPr>
          <p:cNvSpPr/>
          <p:nvPr/>
        </p:nvSpPr>
        <p:spPr>
          <a:xfrm rot="10800000">
            <a:off x="6347791" y="4351342"/>
            <a:ext cx="3325398" cy="359054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8D5F50E8-5005-49C2-BC29-11ABA86E4B58}"/>
              </a:ext>
            </a:extLst>
          </p:cNvPr>
          <p:cNvSpPr/>
          <p:nvPr/>
        </p:nvSpPr>
        <p:spPr>
          <a:xfrm>
            <a:off x="9210880" y="37376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6D0EC67-4115-4891-9DB3-DF7196E0C71E}"/>
              </a:ext>
            </a:extLst>
          </p:cNvPr>
          <p:cNvGrpSpPr/>
          <p:nvPr/>
        </p:nvGrpSpPr>
        <p:grpSpPr>
          <a:xfrm>
            <a:off x="8322877" y="3703077"/>
            <a:ext cx="873415" cy="376763"/>
            <a:chOff x="7528817" y="3219973"/>
            <a:chExt cx="1162516" cy="37676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DA5E8165-DE6A-458B-9FBF-94CD00D3141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3F8827C-B48D-4E4B-924A-037B2B9D125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494B95FF-2153-4029-B224-8DFBC2729048}"/>
              </a:ext>
            </a:extLst>
          </p:cNvPr>
          <p:cNvCxnSpPr>
            <a:cxnSpLocks/>
          </p:cNvCxnSpPr>
          <p:nvPr/>
        </p:nvCxnSpPr>
        <p:spPr>
          <a:xfrm>
            <a:off x="5207017" y="4114884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65F7A56D-EE48-4DEC-8524-DF68B4ADA54B}"/>
              </a:ext>
            </a:extLst>
          </p:cNvPr>
          <p:cNvGrpSpPr/>
          <p:nvPr/>
        </p:nvGrpSpPr>
        <p:grpSpPr>
          <a:xfrm>
            <a:off x="9995553" y="3703597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5968456F-02FB-4A26-8E80-0F5CB894BACF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0BFBD8B6-5543-4AC8-9329-87878870F75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2ED8DE5-946B-4136-800F-B9220A31823E}"/>
              </a:ext>
            </a:extLst>
          </p:cNvPr>
          <p:cNvSpPr txBox="1"/>
          <p:nvPr/>
        </p:nvSpPr>
        <p:spPr>
          <a:xfrm>
            <a:off x="5959718" y="302610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8339ECCE-5ED4-484E-81B0-8A3049FD32B1}"/>
              </a:ext>
            </a:extLst>
          </p:cNvPr>
          <p:cNvGrpSpPr/>
          <p:nvPr/>
        </p:nvGrpSpPr>
        <p:grpSpPr>
          <a:xfrm rot="7310991">
            <a:off x="7405298" y="3451060"/>
            <a:ext cx="887105" cy="452390"/>
            <a:chOff x="9634394" y="3771847"/>
            <a:chExt cx="887105" cy="540134"/>
          </a:xfrm>
        </p:grpSpPr>
        <p:sp>
          <p:nvSpPr>
            <p:cNvPr id="31" name="Arc 30">
              <a:extLst>
                <a:ext uri="{FF2B5EF4-FFF2-40B4-BE49-F238E27FC236}">
                  <a16:creationId xmlns="" xmlns:a16="http://schemas.microsoft.com/office/drawing/2014/main" id="{3A7E94F0-B474-425D-BE47-1E95538ADA58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="" xmlns:a16="http://schemas.microsoft.com/office/drawing/2014/main" id="{5CE9E5A3-0AF1-45B2-AF40-1D84FCDBA192}"/>
                </a:ext>
              </a:extLst>
            </p:cNvPr>
            <p:cNvCxnSpPr/>
            <p:nvPr/>
          </p:nvCxnSpPr>
          <p:spPr>
            <a:xfrm rot="14272751">
              <a:off x="10209731" y="4196509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A3D59E3-13DC-40D3-B36C-255DC12C5C6D}"/>
              </a:ext>
            </a:extLst>
          </p:cNvPr>
          <p:cNvSpPr txBox="1"/>
          <p:nvPr/>
        </p:nvSpPr>
        <p:spPr>
          <a:xfrm>
            <a:off x="7593637" y="2895945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35A4BE4-76FE-47A9-9432-F01DC0A59E59}"/>
              </a:ext>
            </a:extLst>
          </p:cNvPr>
          <p:cNvSpPr txBox="1"/>
          <p:nvPr/>
        </p:nvSpPr>
        <p:spPr>
          <a:xfrm>
            <a:off x="7767745" y="4396913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3D407654-7E5D-4526-A2CC-58152EE03374}"/>
              </a:ext>
            </a:extLst>
          </p:cNvPr>
          <p:cNvGrpSpPr/>
          <p:nvPr/>
        </p:nvGrpSpPr>
        <p:grpSpPr>
          <a:xfrm rot="7603744">
            <a:off x="10899280" y="3290371"/>
            <a:ext cx="887105" cy="540134"/>
            <a:chOff x="9634394" y="3771847"/>
            <a:chExt cx="887105" cy="540134"/>
          </a:xfrm>
        </p:grpSpPr>
        <p:sp>
          <p:nvSpPr>
            <p:cNvPr id="39" name="Arc 38">
              <a:extLst>
                <a:ext uri="{FF2B5EF4-FFF2-40B4-BE49-F238E27FC236}">
                  <a16:creationId xmlns="" xmlns:a16="http://schemas.microsoft.com/office/drawing/2014/main" id="{FBEBF443-91DB-4270-AD45-7A47F98589D3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="" xmlns:a16="http://schemas.microsoft.com/office/drawing/2014/main" id="{3B3C9877-1CFD-488A-8431-F7BBFB93C88C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7215B376-64E7-4E93-8347-BBD08D37991E}"/>
              </a:ext>
            </a:extLst>
          </p:cNvPr>
          <p:cNvSpPr txBox="1"/>
          <p:nvPr/>
        </p:nvSpPr>
        <p:spPr>
          <a:xfrm>
            <a:off x="11008766" y="2781279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00112AF-08A3-4DDE-BD58-C68992289D63}"/>
              </a:ext>
            </a:extLst>
          </p:cNvPr>
          <p:cNvSpPr txBox="1"/>
          <p:nvPr/>
        </p:nvSpPr>
        <p:spPr>
          <a:xfrm>
            <a:off x="954157" y="4024255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aabbabab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="" xmlns:a16="http://schemas.microsoft.com/office/drawing/2014/main" id="{1BD7011A-2090-4140-8849-FDCBD071F0C9}"/>
              </a:ext>
            </a:extLst>
          </p:cNvPr>
          <p:cNvGrpSpPr/>
          <p:nvPr/>
        </p:nvGrpSpPr>
        <p:grpSpPr>
          <a:xfrm rot="14067158">
            <a:off x="6938658" y="4060281"/>
            <a:ext cx="369332" cy="1047594"/>
            <a:chOff x="7036013" y="2163099"/>
            <a:chExt cx="369332" cy="1047594"/>
          </a:xfrm>
        </p:grpSpPr>
        <p:sp>
          <p:nvSpPr>
            <p:cNvPr id="36" name="Arrow: Up 35">
              <a:extLst>
                <a:ext uri="{FF2B5EF4-FFF2-40B4-BE49-F238E27FC236}">
                  <a16:creationId xmlns="" xmlns:a16="http://schemas.microsoft.com/office/drawing/2014/main" id="{6D999AEC-E0A3-4B2E-85F5-59BDE65E8CCB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E10876F9-9D19-41C3-B1DE-A9633AA97C64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3C7B5E85-A30C-4512-AC81-DA641A2D9681}"/>
              </a:ext>
            </a:extLst>
          </p:cNvPr>
          <p:cNvSpPr txBox="1"/>
          <p:nvPr/>
        </p:nvSpPr>
        <p:spPr>
          <a:xfrm>
            <a:off x="2936205" y="4019630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CAB93EA3-386B-4D8C-AA55-E74EAA5B5362}"/>
              </a:ext>
            </a:extLst>
          </p:cNvPr>
          <p:cNvSpPr txBox="1"/>
          <p:nvPr/>
        </p:nvSpPr>
        <p:spPr>
          <a:xfrm>
            <a:off x="954157" y="4503896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EB1EAA9-29A0-412F-BAC1-B68235F3253A}"/>
              </a:ext>
            </a:extLst>
          </p:cNvPr>
          <p:cNvSpPr txBox="1"/>
          <p:nvPr/>
        </p:nvSpPr>
        <p:spPr>
          <a:xfrm>
            <a:off x="2927380" y="4530664"/>
            <a:ext cx="192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</p:txBody>
      </p:sp>
    </p:spTree>
    <p:extLst>
      <p:ext uri="{BB962C8B-B14F-4D97-AF65-F5344CB8AC3E}">
        <p14:creationId xmlns:p14="http://schemas.microsoft.com/office/powerpoint/2010/main" val="130662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4067158">
            <a:off x="1126983" y="4863747"/>
            <a:ext cx="369332" cy="1047594"/>
            <a:chOff x="7036013" y="2163099"/>
            <a:chExt cx="369332" cy="1047594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7629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2" grpId="0" animBg="1"/>
      <p:bldP spid="22" grpId="0" animBg="1"/>
      <p:bldP spid="23" grpId="0" animBg="1"/>
      <p:bldP spid="24" grpId="0" animBg="1"/>
      <p:bldP spid="36" grpId="0"/>
      <p:bldP spid="37" grpId="0"/>
      <p:bldP spid="39" grpId="0" animBg="1"/>
      <p:bldP spid="49" grpId="0"/>
      <p:bldP spid="53" grpId="0"/>
      <p:bldP spid="54" grpId="0"/>
      <p:bldP spid="55" grpId="0" animBg="1"/>
      <p:bldP spid="5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4067158">
            <a:off x="1126983" y="4863747"/>
            <a:ext cx="369332" cy="1047594"/>
            <a:chOff x="7036013" y="2163099"/>
            <a:chExt cx="369332" cy="1047594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 rot="7532842"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97086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3466239" y="3548548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502127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3466239" y="3548548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440359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9509698">
            <a:off x="4513792" y="3678820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569770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9509698">
            <a:off x="4513792" y="3678820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803176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6849482" y="349291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548856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6849482" y="349291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38254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99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8462982" y="3401560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202028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8462982" y="3401560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9987879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9503037">
            <a:off x="4474903" y="373927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8860024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9503037">
            <a:off x="4474903" y="373927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203441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 rot="19503037">
            <a:off x="4474903" y="373927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868508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6822404" y="3486072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072487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6822404" y="3486072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836387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8397851" y="340738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babbaab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542155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C352C4-7A4A-4985-8AD1-D0CC4CB0D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295730"/>
            <a:ext cx="9004958" cy="313327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∑ = {a, b}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All words that starts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with bb are valid.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babbb,baaabb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babbabb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……….}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FA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smallest length word. 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draw the state Diagram add 1 in the length of smallest word    (4 + 1 = 5)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7F007A-6822-4AEF-95D0-AF354BD0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t>107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6F908271-350F-4930-B11C-746D7C68A1C3}"/>
              </a:ext>
            </a:extLst>
          </p:cNvPr>
          <p:cNvSpPr/>
          <p:nvPr/>
        </p:nvSpPr>
        <p:spPr>
          <a:xfrm>
            <a:off x="1672175" y="453437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AD7A4CBC-ED84-4AA6-8E0D-2575CE125830}"/>
              </a:ext>
            </a:extLst>
          </p:cNvPr>
          <p:cNvGrpSpPr/>
          <p:nvPr/>
        </p:nvGrpSpPr>
        <p:grpSpPr>
          <a:xfrm>
            <a:off x="2422858" y="4471966"/>
            <a:ext cx="873415" cy="376763"/>
            <a:chOff x="7528817" y="3219973"/>
            <a:chExt cx="1162516" cy="37676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="" xmlns:a16="http://schemas.microsoft.com/office/drawing/2014/main" id="{07E1AD77-7925-408A-BBE5-A4C0BD11D06A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2D7EBB22-075A-4A1F-9A61-8C815D18DACC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6740A22-28BF-42F4-ADDD-F6616E747C11}"/>
              </a:ext>
            </a:extLst>
          </p:cNvPr>
          <p:cNvGrpSpPr/>
          <p:nvPr/>
        </p:nvGrpSpPr>
        <p:grpSpPr>
          <a:xfrm>
            <a:off x="8318143" y="4362282"/>
            <a:ext cx="838881" cy="829649"/>
            <a:chOff x="10512625" y="1744747"/>
            <a:chExt cx="839021" cy="802091"/>
          </a:xfrm>
        </p:grpSpPr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B6D6E4F2-63EF-49DE-BC29-40F01B5546D6}"/>
                </a:ext>
              </a:extLst>
            </p:cNvPr>
            <p:cNvSpPr/>
            <p:nvPr/>
          </p:nvSpPr>
          <p:spPr>
            <a:xfrm>
              <a:off x="10512625" y="1744747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A3989C0A-BAC5-4B53-BE30-0EEBD1828178}"/>
                </a:ext>
              </a:extLst>
            </p:cNvPr>
            <p:cNvSpPr/>
            <p:nvPr/>
          </p:nvSpPr>
          <p:spPr>
            <a:xfrm>
              <a:off x="10585318" y="1837172"/>
              <a:ext cx="681980" cy="62819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x4</a:t>
              </a:r>
            </a:p>
          </p:txBody>
        </p:sp>
      </p:grpSp>
      <p:sp>
        <p:nvSpPr>
          <p:cNvPr id="12" name="Arrow: Curved Down 11">
            <a:extLst>
              <a:ext uri="{FF2B5EF4-FFF2-40B4-BE49-F238E27FC236}">
                <a16:creationId xmlns="" xmlns:a16="http://schemas.microsoft.com/office/drawing/2014/main" id="{D55373FC-E0EE-43FC-83E8-DE52B482C60E}"/>
              </a:ext>
            </a:extLst>
          </p:cNvPr>
          <p:cNvSpPr/>
          <p:nvPr/>
        </p:nvSpPr>
        <p:spPr>
          <a:xfrm rot="10800000">
            <a:off x="5560912" y="5073943"/>
            <a:ext cx="1210108" cy="19913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CB095B4F-D29F-4E28-A64E-E0FE50DF495F}"/>
              </a:ext>
            </a:extLst>
          </p:cNvPr>
          <p:cNvGrpSpPr/>
          <p:nvPr/>
        </p:nvGrpSpPr>
        <p:grpSpPr>
          <a:xfrm rot="10800000">
            <a:off x="8605044" y="4247214"/>
            <a:ext cx="887105" cy="540134"/>
            <a:chOff x="9634394" y="3771847"/>
            <a:chExt cx="887105" cy="540134"/>
          </a:xfrm>
        </p:grpSpPr>
        <p:sp>
          <p:nvSpPr>
            <p:cNvPr id="17" name="Arc 16">
              <a:extLst>
                <a:ext uri="{FF2B5EF4-FFF2-40B4-BE49-F238E27FC236}">
                  <a16:creationId xmlns="" xmlns:a16="http://schemas.microsoft.com/office/drawing/2014/main" id="{1DF3977A-E5E2-4F5F-AAC7-EEABE2357359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0D36F3C8-4603-4929-B9CC-A7628C219541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7B22EC60-4C9C-4271-B6F8-61CF2223FB1E}"/>
              </a:ext>
            </a:extLst>
          </p:cNvPr>
          <p:cNvGrpSpPr/>
          <p:nvPr/>
        </p:nvGrpSpPr>
        <p:grpSpPr>
          <a:xfrm>
            <a:off x="8397851" y="3407384"/>
            <a:ext cx="591868" cy="936326"/>
            <a:chOff x="6924745" y="2274367"/>
            <a:chExt cx="591868" cy="936326"/>
          </a:xfrm>
        </p:grpSpPr>
        <p:sp>
          <p:nvSpPr>
            <p:cNvPr id="20" name="Arrow: Up 19">
              <a:extLst>
                <a:ext uri="{FF2B5EF4-FFF2-40B4-BE49-F238E27FC236}">
                  <a16:creationId xmlns="" xmlns:a16="http://schemas.microsoft.com/office/drawing/2014/main" id="{D8268EF9-41F1-49B7-8402-306669FF5C03}"/>
                </a:ext>
              </a:extLst>
            </p:cNvPr>
            <p:cNvSpPr/>
            <p:nvPr/>
          </p:nvSpPr>
          <p:spPr>
            <a:xfrm rot="10800000">
              <a:off x="7044865" y="2571551"/>
              <a:ext cx="191070" cy="639142"/>
            </a:xfrm>
            <a:prstGeom prst="up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5FD64A-6BDD-4E6E-92F8-48AB6CF3C221}"/>
                </a:ext>
              </a:extLst>
            </p:cNvPr>
            <p:cNvSpPr txBox="1"/>
            <p:nvPr/>
          </p:nvSpPr>
          <p:spPr>
            <a:xfrm>
              <a:off x="6924745" y="2274367"/>
              <a:ext cx="591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F2DAFA7-88F5-4500-83CA-CF330F3B319E}"/>
              </a:ext>
            </a:extLst>
          </p:cNvPr>
          <p:cNvSpPr/>
          <p:nvPr/>
        </p:nvSpPr>
        <p:spPr>
          <a:xfrm>
            <a:off x="6666456" y="446204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97B60F7-D184-4D6A-A8CB-77EDED620F75}"/>
              </a:ext>
            </a:extLst>
          </p:cNvPr>
          <p:cNvSpPr/>
          <p:nvPr/>
        </p:nvSpPr>
        <p:spPr>
          <a:xfrm>
            <a:off x="4998474" y="449315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0058B82B-D1E4-4179-B5F0-C28794C88EB0}"/>
              </a:ext>
            </a:extLst>
          </p:cNvPr>
          <p:cNvSpPr/>
          <p:nvPr/>
        </p:nvSpPr>
        <p:spPr>
          <a:xfrm>
            <a:off x="3308940" y="451303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50658008-EDB3-4593-B06B-B5CDE1766BDB}"/>
              </a:ext>
            </a:extLst>
          </p:cNvPr>
          <p:cNvGrpSpPr/>
          <p:nvPr/>
        </p:nvGrpSpPr>
        <p:grpSpPr>
          <a:xfrm>
            <a:off x="7441350" y="4402480"/>
            <a:ext cx="873415" cy="376763"/>
            <a:chOff x="7528817" y="3219973"/>
            <a:chExt cx="1162516" cy="376763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10EBA3EC-4E6E-487D-B4E0-74605C4D9982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9B4FD184-96C6-4A76-B529-BC38EE624290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="" xmlns:a16="http://schemas.microsoft.com/office/drawing/2014/main" id="{79C2799A-9FAB-4EEC-84D2-72B35BED8E7A}"/>
              </a:ext>
            </a:extLst>
          </p:cNvPr>
          <p:cNvGrpSpPr/>
          <p:nvPr/>
        </p:nvGrpSpPr>
        <p:grpSpPr>
          <a:xfrm>
            <a:off x="5781234" y="4424182"/>
            <a:ext cx="873415" cy="376763"/>
            <a:chOff x="7528817" y="3219973"/>
            <a:chExt cx="1162516" cy="37676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EB956072-CDA4-4228-89AC-4B8FAC856929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548D8900-1CD4-4D41-8A2C-1D9697B44B1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="" xmlns:a16="http://schemas.microsoft.com/office/drawing/2014/main" id="{15F0243F-DD8B-49B4-BED9-CBBA28B25A4F}"/>
              </a:ext>
            </a:extLst>
          </p:cNvPr>
          <p:cNvGrpSpPr/>
          <p:nvPr/>
        </p:nvGrpSpPr>
        <p:grpSpPr>
          <a:xfrm>
            <a:off x="4082339" y="4448792"/>
            <a:ext cx="873415" cy="376763"/>
            <a:chOff x="7528817" y="3219973"/>
            <a:chExt cx="1162516" cy="3767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="" xmlns:a16="http://schemas.microsoft.com/office/drawing/2014/main" id="{EE62E01B-FBC5-479B-B06F-BCF8933DF50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1076E04-8FBA-4EBF-B4FB-FBB27836BF39}"/>
                </a:ext>
              </a:extLst>
            </p:cNvPr>
            <p:cNvSpPr txBox="1"/>
            <p:nvPr/>
          </p:nvSpPr>
          <p:spPr>
            <a:xfrm>
              <a:off x="7859505" y="3219973"/>
              <a:ext cx="3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52869AA1-E5E0-4B35-A1F9-4417A330E048}"/>
              </a:ext>
            </a:extLst>
          </p:cNvPr>
          <p:cNvCxnSpPr>
            <a:cxnSpLocks/>
          </p:cNvCxnSpPr>
          <p:nvPr/>
        </p:nvCxnSpPr>
        <p:spPr>
          <a:xfrm>
            <a:off x="1085375" y="4848729"/>
            <a:ext cx="55046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B018D9-8B19-48D4-A557-97C5E4A0F638}"/>
              </a:ext>
            </a:extLst>
          </p:cNvPr>
          <p:cNvSpPr txBox="1"/>
          <p:nvPr/>
        </p:nvSpPr>
        <p:spPr>
          <a:xfrm>
            <a:off x="875310" y="3593675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babbaabb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EC4596DE-D9E2-4A27-AD17-64F30F99CE39}"/>
              </a:ext>
            </a:extLst>
          </p:cNvPr>
          <p:cNvSpPr txBox="1"/>
          <p:nvPr/>
        </p:nvSpPr>
        <p:spPr>
          <a:xfrm>
            <a:off x="9376521" y="398894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E6B792A3-628A-4FEC-AA23-1B04AE0871CF}"/>
              </a:ext>
            </a:extLst>
          </p:cNvPr>
          <p:cNvSpPr/>
          <p:nvPr/>
        </p:nvSpPr>
        <p:spPr>
          <a:xfrm>
            <a:off x="2497899" y="594888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824F2A7F-BB01-4E25-920D-9C95B1B4CB09}"/>
              </a:ext>
            </a:extLst>
          </p:cNvPr>
          <p:cNvGrpSpPr/>
          <p:nvPr/>
        </p:nvGrpSpPr>
        <p:grpSpPr>
          <a:xfrm rot="3647484">
            <a:off x="1880481" y="5513912"/>
            <a:ext cx="873415" cy="277262"/>
            <a:chOff x="7528817" y="3596736"/>
            <a:chExt cx="1162516" cy="27726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="" xmlns:a16="http://schemas.microsoft.com/office/drawing/2014/main" id="{E466A810-387B-4FF5-8577-6FD94E8EDECC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D764B510-FDB0-42BE-AB5F-327B25837A4F}"/>
                </a:ext>
              </a:extLst>
            </p:cNvPr>
            <p:cNvSpPr txBox="1"/>
            <p:nvPr/>
          </p:nvSpPr>
          <p:spPr>
            <a:xfrm rot="17681979">
              <a:off x="7757804" y="3491926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="" xmlns:a16="http://schemas.microsoft.com/office/drawing/2014/main" id="{C5F596D7-0284-44E2-B373-5BC96D7653BE}"/>
              </a:ext>
            </a:extLst>
          </p:cNvPr>
          <p:cNvGrpSpPr/>
          <p:nvPr/>
        </p:nvGrpSpPr>
        <p:grpSpPr>
          <a:xfrm rot="7234626">
            <a:off x="2723149" y="5354896"/>
            <a:ext cx="873415" cy="288671"/>
            <a:chOff x="7528817" y="3596736"/>
            <a:chExt cx="1162516" cy="28867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="" xmlns:a16="http://schemas.microsoft.com/office/drawing/2014/main" id="{EBC98F4D-FA4E-46EB-A1E0-1AD5644F2C64}"/>
                </a:ext>
              </a:extLst>
            </p:cNvPr>
            <p:cNvCxnSpPr/>
            <p:nvPr/>
          </p:nvCxnSpPr>
          <p:spPr>
            <a:xfrm>
              <a:off x="7528817" y="3596736"/>
              <a:ext cx="116251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3E51E8E8-3CEA-4378-83C3-5E239511C335}"/>
                </a:ext>
              </a:extLst>
            </p:cNvPr>
            <p:cNvSpPr txBox="1"/>
            <p:nvPr/>
          </p:nvSpPr>
          <p:spPr>
            <a:xfrm rot="14365374">
              <a:off x="7766776" y="3503335"/>
              <a:ext cx="27256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="" xmlns:a16="http://schemas.microsoft.com/office/drawing/2014/main" id="{29DAF528-A73C-4E60-8969-F2D491BEB740}"/>
              </a:ext>
            </a:extLst>
          </p:cNvPr>
          <p:cNvGrpSpPr/>
          <p:nvPr/>
        </p:nvGrpSpPr>
        <p:grpSpPr>
          <a:xfrm rot="1179062">
            <a:off x="2048116" y="6113022"/>
            <a:ext cx="887105" cy="540134"/>
            <a:chOff x="9634394" y="3771847"/>
            <a:chExt cx="887105" cy="540134"/>
          </a:xfrm>
        </p:grpSpPr>
        <p:sp>
          <p:nvSpPr>
            <p:cNvPr id="47" name="Arc 46">
              <a:extLst>
                <a:ext uri="{FF2B5EF4-FFF2-40B4-BE49-F238E27FC236}">
                  <a16:creationId xmlns="" xmlns:a16="http://schemas.microsoft.com/office/drawing/2014/main" id="{F664F53A-7747-4C52-828F-6D7CE9BD7EAE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="" xmlns:a16="http://schemas.microsoft.com/office/drawing/2014/main" id="{66B66306-DFD3-4EE1-A059-3D11A2FBF2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5548AB4-3BA2-4925-8987-DC30D7062480}"/>
              </a:ext>
            </a:extLst>
          </p:cNvPr>
          <p:cNvSpPr txBox="1"/>
          <p:nvPr/>
        </p:nvSpPr>
        <p:spPr>
          <a:xfrm>
            <a:off x="1347655" y="6228762"/>
            <a:ext cx="72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/ 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D53610D8-2FF2-490B-AB90-4B959240767F}"/>
              </a:ext>
            </a:extLst>
          </p:cNvPr>
          <p:cNvGrpSpPr/>
          <p:nvPr/>
        </p:nvGrpSpPr>
        <p:grpSpPr>
          <a:xfrm rot="7570297">
            <a:off x="4886836" y="4201899"/>
            <a:ext cx="887105" cy="540134"/>
            <a:chOff x="9634394" y="3771847"/>
            <a:chExt cx="887105" cy="540134"/>
          </a:xfrm>
        </p:grpSpPr>
        <p:sp>
          <p:nvSpPr>
            <p:cNvPr id="51" name="Arc 50">
              <a:extLst>
                <a:ext uri="{FF2B5EF4-FFF2-40B4-BE49-F238E27FC236}">
                  <a16:creationId xmlns="" xmlns:a16="http://schemas.microsoft.com/office/drawing/2014/main" id="{437AAAC5-72D5-43E8-829C-14E00F45438C}"/>
                </a:ext>
              </a:extLst>
            </p:cNvPr>
            <p:cNvSpPr/>
            <p:nvPr/>
          </p:nvSpPr>
          <p:spPr>
            <a:xfrm rot="14272751">
              <a:off x="9807880" y="3598361"/>
              <a:ext cx="540134" cy="887105"/>
            </a:xfrm>
            <a:prstGeom prst="arc">
              <a:avLst>
                <a:gd name="adj1" fmla="val 10711483"/>
                <a:gd name="adj2" fmla="val 0"/>
              </a:avLst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="" xmlns:a16="http://schemas.microsoft.com/office/drawing/2014/main" id="{500982B2-3116-421A-9939-7AA9C4DAA15F}"/>
                </a:ext>
              </a:extLst>
            </p:cNvPr>
            <p:cNvCxnSpPr/>
            <p:nvPr/>
          </p:nvCxnSpPr>
          <p:spPr>
            <a:xfrm rot="14272751">
              <a:off x="10268744" y="4192465"/>
              <a:ext cx="0" cy="9553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5555D085-E07A-44E4-9927-EB0D717F4FE1}"/>
              </a:ext>
            </a:extLst>
          </p:cNvPr>
          <p:cNvSpPr txBox="1"/>
          <p:nvPr/>
        </p:nvSpPr>
        <p:spPr>
          <a:xfrm flipH="1">
            <a:off x="5222196" y="3704897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DFDD3A2D-18EB-4CD0-BB69-1FE328221AB3}"/>
              </a:ext>
            </a:extLst>
          </p:cNvPr>
          <p:cNvSpPr txBox="1"/>
          <p:nvPr/>
        </p:nvSpPr>
        <p:spPr>
          <a:xfrm flipH="1">
            <a:off x="6010698" y="4930720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Arrow: Curved Down 54">
            <a:extLst>
              <a:ext uri="{FF2B5EF4-FFF2-40B4-BE49-F238E27FC236}">
                <a16:creationId xmlns="" xmlns:a16="http://schemas.microsoft.com/office/drawing/2014/main" id="{0473115C-340C-49F0-B9E0-D666FDC63B97}"/>
              </a:ext>
            </a:extLst>
          </p:cNvPr>
          <p:cNvSpPr/>
          <p:nvPr/>
        </p:nvSpPr>
        <p:spPr>
          <a:xfrm rot="10800000">
            <a:off x="5380382" y="5133578"/>
            <a:ext cx="3050198" cy="364025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9A15C2B0-DA24-40C3-89C4-74959FB99FA0}"/>
              </a:ext>
            </a:extLst>
          </p:cNvPr>
          <p:cNvSpPr txBox="1"/>
          <p:nvPr/>
        </p:nvSpPr>
        <p:spPr>
          <a:xfrm flipH="1">
            <a:off x="6971479" y="5189136"/>
            <a:ext cx="27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E3CB511B-102F-4AB9-A6E6-073BE331F56F}"/>
              </a:ext>
            </a:extLst>
          </p:cNvPr>
          <p:cNvSpPr txBox="1"/>
          <p:nvPr/>
        </p:nvSpPr>
        <p:spPr>
          <a:xfrm>
            <a:off x="3095761" y="3598302"/>
            <a:ext cx="23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</p:txBody>
      </p:sp>
    </p:spTree>
    <p:extLst>
      <p:ext uri="{BB962C8B-B14F-4D97-AF65-F5344CB8AC3E}">
        <p14:creationId xmlns:p14="http://schemas.microsoft.com/office/powerpoint/2010/main" val="565855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3937</TotalTime>
  <Words>8463</Words>
  <Application>Microsoft Office PowerPoint</Application>
  <PresentationFormat>Widescreen</PresentationFormat>
  <Paragraphs>2213</Paragraphs>
  <Slides>107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5" baseType="lpstr">
      <vt:lpstr>Arial</vt:lpstr>
      <vt:lpstr>Arial</vt:lpstr>
      <vt:lpstr>Calibri</vt:lpstr>
      <vt:lpstr>Century Gothic</vt:lpstr>
      <vt:lpstr>Times New Roman</vt:lpstr>
      <vt:lpstr>Wingdings</vt:lpstr>
      <vt:lpstr>Wingdings 3</vt:lpstr>
      <vt:lpstr>Ion</vt:lpstr>
      <vt:lpstr>Theory of Automata  &amp;  Formal Languages CS-224</vt:lpstr>
      <vt:lpstr>PowerPoint Presentation</vt:lpstr>
      <vt:lpstr>Deterministic Finite Automaton (DFA) </vt:lpstr>
      <vt:lpstr>Graphical Representation of a DFA</vt:lpstr>
      <vt:lpstr>Example:</vt:lpstr>
      <vt:lpstr>Process for state diagram  {aa,ab,ba,bb}</vt:lpstr>
      <vt:lpstr>Process for state diagram  {aa,ab,ba,bb}</vt:lpstr>
      <vt:lpstr>Process for state diagram  {aa,ab,ba,bb}</vt:lpstr>
      <vt:lpstr>Process for state diagram  {aa,ab,ba,bb}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How to Know that Input is Valid or Invalid</vt:lpstr>
      <vt:lpstr>Example-1 Finite Languages </vt:lpstr>
      <vt:lpstr>Example-2 Finite Languages </vt:lpstr>
      <vt:lpstr>FA for Infinite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111</cp:revision>
  <dcterms:created xsi:type="dcterms:W3CDTF">2020-07-16T12:56:43Z</dcterms:created>
  <dcterms:modified xsi:type="dcterms:W3CDTF">2024-03-22T03:31:47Z</dcterms:modified>
</cp:coreProperties>
</file>