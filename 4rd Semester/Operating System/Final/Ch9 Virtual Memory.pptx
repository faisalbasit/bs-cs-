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80" r:id="rId24"/>
    <p:sldId id="281" r:id="rId25"/>
    <p:sldId id="282" r:id="rId26"/>
    <p:sldId id="283" r:id="rId27"/>
    <p:sldId id="284" r:id="rId28"/>
    <p:sldId id="287" r:id="rId29"/>
    <p:sldId id="288" r:id="rId30"/>
    <p:sldId id="289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06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DF391-2B81-4DAD-9A46-D39174D05539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644D2-3596-4613-BFB6-32132ACDF8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1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49A767-EC21-4EB1-A8A9-21790DCD481A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3774831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BCD3D2-200E-42CB-8915-4D05EDB9F7BF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2557691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CE2FF5-8A2A-4999-B248-3F16EF3E5B7F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3573293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7AE154-2582-4BC2-8AF5-00DF23D5B848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563821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2AA872-D611-4A6D-9C00-5301979D95D7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625130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FF499E-8A05-492A-9CA1-18B2D0FA17FD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83011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5ADF59-8AA5-4887-B40C-E94392675881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918323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6BEE4B-C212-4264-947B-A557FFBD3806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3103883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E9F67C-E3DA-4237-A069-BCD51DA826AA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2668745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ACAEB3-E275-4944-A5B8-1A05E6014328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321262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BC15B1-57F9-4E09-9BCE-3EB00A690FF6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2895447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333402-7859-4FFC-822B-D6AF1A46D085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1674418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FED1D6-618B-42B1-9ABE-29F1176B6B82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1528402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E8BAA7-536B-4C78-B3DE-AB31839DBC0F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1866434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B15763-EE53-40E2-807B-B8B0CF28BD49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866348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BBD103-60F5-4993-99AA-68AE9D0FDD26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25311700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66355F-2256-4A3B-B96A-12DEE42A558B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17971572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1D1208-B084-4D3F-AF2A-5DF95753B0CF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1435245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CF6562-6C3C-4552-B8DD-126A9466C3D4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40753295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4908A6-99C0-49EA-9CB8-DA54E6C33169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4120782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226D36-0D66-4D36-A000-66621E967F42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28376487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CBF4F6-0F2E-422C-9AA7-5ADE313EF616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1197378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9BE8E2-1CF0-465D-B818-150CB9DE3D8F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34005376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184F1A-E526-4DE0-B264-8D5930E38816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25708645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8289AD-CAAA-462E-AD42-339135F07A85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29377707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4C5EA3-671F-4013-A730-6BC335E23557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2026035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B538AB-98C0-4282-A501-5EEFA7CCD0DB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23624123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BA139-E2A5-4D06-8018-E078E92B346C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</p:spTree>
    <p:extLst>
      <p:ext uri="{BB962C8B-B14F-4D97-AF65-F5344CB8AC3E}">
        <p14:creationId xmlns:p14="http://schemas.microsoft.com/office/powerpoint/2010/main" val="102355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0C2E7-F992-4DCB-9094-A035BFA16C8B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15B6C-C387-4B84-8FF6-5C0D3950F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Virtual Memory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A1AB325-A4DC-41B5-AB94-A72103AE90EF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Background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000" b="1" dirty="0" smtClean="0"/>
              <a:t>Virtual memory</a:t>
            </a:r>
            <a:r>
              <a:rPr lang="en-US" sz="2000" dirty="0" smtClean="0"/>
              <a:t> – program uses virtual memory which can be partially loaded into physical memory</a:t>
            </a:r>
          </a:p>
          <a:p>
            <a:pPr eaLnBrk="1" hangingPunct="1"/>
            <a:endParaRPr lang="en-US" sz="2000" dirty="0" smtClean="0"/>
          </a:p>
          <a:p>
            <a:pPr eaLnBrk="1" hangingPunct="1"/>
            <a:r>
              <a:rPr lang="en-US" sz="2000" b="1" dirty="0" smtClean="0"/>
              <a:t>Benefits</a:t>
            </a:r>
            <a:r>
              <a:rPr lang="en-US" sz="2000" dirty="0" smtClean="0"/>
              <a:t>:</a:t>
            </a:r>
          </a:p>
          <a:p>
            <a:pPr lvl="1" eaLnBrk="1" hangingPunct="1"/>
            <a:r>
              <a:rPr lang="en-US" sz="2000" dirty="0" smtClean="0"/>
              <a:t>Only </a:t>
            </a:r>
            <a:r>
              <a:rPr lang="en-US" sz="2000" dirty="0" smtClean="0">
                <a:solidFill>
                  <a:srgbClr val="CC0000"/>
                </a:solidFill>
              </a:rPr>
              <a:t>part of the program</a:t>
            </a:r>
            <a:r>
              <a:rPr lang="en-US" sz="2000" dirty="0" smtClean="0"/>
              <a:t> needs to be in memory for execution</a:t>
            </a:r>
          </a:p>
          <a:p>
            <a:pPr lvl="2" eaLnBrk="1" hangingPunct="1"/>
            <a:r>
              <a:rPr lang="en-US" sz="2000" dirty="0" smtClean="0"/>
              <a:t>more concurrent programs</a:t>
            </a:r>
          </a:p>
          <a:p>
            <a:pPr lvl="1" eaLnBrk="1" hangingPunct="1"/>
            <a:r>
              <a:rPr lang="en-US" sz="2000" dirty="0" smtClean="0"/>
              <a:t>Logical address space can therefore be </a:t>
            </a:r>
            <a:r>
              <a:rPr lang="en-US" sz="2000" dirty="0" smtClean="0">
                <a:solidFill>
                  <a:srgbClr val="CC0000"/>
                </a:solidFill>
              </a:rPr>
              <a:t>much larger than physical address space</a:t>
            </a:r>
          </a:p>
          <a:p>
            <a:pPr lvl="2" eaLnBrk="1" hangingPunct="1"/>
            <a:r>
              <a:rPr lang="en-US" sz="2000" dirty="0" smtClean="0"/>
              <a:t>execute programs larger than RAM size</a:t>
            </a:r>
          </a:p>
          <a:p>
            <a:pPr lvl="1" eaLnBrk="1" hangingPunct="1"/>
            <a:r>
              <a:rPr lang="en-US" sz="2000" dirty="0" smtClean="0"/>
              <a:t>Easy </a:t>
            </a:r>
            <a:r>
              <a:rPr lang="en-US" sz="2000" dirty="0" smtClean="0">
                <a:solidFill>
                  <a:srgbClr val="CC0000"/>
                </a:solidFill>
              </a:rPr>
              <a:t>sharing</a:t>
            </a:r>
            <a:r>
              <a:rPr lang="en-US" sz="2000" dirty="0" smtClean="0"/>
              <a:t> of  address spaces by several processes</a:t>
            </a:r>
          </a:p>
          <a:p>
            <a:pPr lvl="2" eaLnBrk="1" hangingPunct="1"/>
            <a:r>
              <a:rPr lang="en-US" sz="2000" dirty="0" smtClean="0"/>
              <a:t>Library or a memory segment can be shared</a:t>
            </a:r>
          </a:p>
          <a:p>
            <a:pPr lvl="1" eaLnBrk="1" hangingPunct="1"/>
            <a:r>
              <a:rPr lang="en-US" sz="2000" dirty="0" smtClean="0"/>
              <a:t>Allows for more </a:t>
            </a:r>
            <a:r>
              <a:rPr lang="en-US" sz="2000" dirty="0" smtClean="0">
                <a:solidFill>
                  <a:srgbClr val="CC0000"/>
                </a:solidFill>
              </a:rPr>
              <a:t>efficient process creation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 eaLnBrk="1" hangingPunct="1"/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87052F8-EAB8-4023-8582-02B091377729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Virtual Memory That is Larger Than Physical Memory</a:t>
            </a:r>
          </a:p>
        </p:txBody>
      </p:sp>
      <p:sp>
        <p:nvSpPr>
          <p:cNvPr id="4100" name="Rectangle 8"/>
          <p:cNvSpPr>
            <a:spLocks noChangeArrowheads="1"/>
          </p:cNvSpPr>
          <p:nvPr/>
        </p:nvSpPr>
        <p:spPr bwMode="auto">
          <a:xfrm>
            <a:off x="673100" y="1484313"/>
            <a:ext cx="936625" cy="433387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0</a:t>
            </a:r>
          </a:p>
        </p:txBody>
      </p:sp>
      <p:sp>
        <p:nvSpPr>
          <p:cNvPr id="4101" name="Rectangle 10"/>
          <p:cNvSpPr>
            <a:spLocks noChangeArrowheads="1"/>
          </p:cNvSpPr>
          <p:nvPr/>
        </p:nvSpPr>
        <p:spPr bwMode="auto">
          <a:xfrm>
            <a:off x="673100" y="1916113"/>
            <a:ext cx="936625" cy="433387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1</a:t>
            </a:r>
          </a:p>
        </p:txBody>
      </p:sp>
      <p:sp>
        <p:nvSpPr>
          <p:cNvPr id="4102" name="Rectangle 11"/>
          <p:cNvSpPr>
            <a:spLocks noChangeArrowheads="1"/>
          </p:cNvSpPr>
          <p:nvPr/>
        </p:nvSpPr>
        <p:spPr bwMode="auto">
          <a:xfrm>
            <a:off x="673100" y="2347913"/>
            <a:ext cx="936625" cy="433387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2</a:t>
            </a:r>
          </a:p>
        </p:txBody>
      </p:sp>
      <p:sp>
        <p:nvSpPr>
          <p:cNvPr id="4103" name="Rectangle 12"/>
          <p:cNvSpPr>
            <a:spLocks noChangeArrowheads="1"/>
          </p:cNvSpPr>
          <p:nvPr/>
        </p:nvSpPr>
        <p:spPr bwMode="auto">
          <a:xfrm>
            <a:off x="673100" y="2781300"/>
            <a:ext cx="936625" cy="4333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3</a:t>
            </a:r>
          </a:p>
        </p:txBody>
      </p:sp>
      <p:sp>
        <p:nvSpPr>
          <p:cNvPr id="4104" name="Rectangle 15"/>
          <p:cNvSpPr>
            <a:spLocks noChangeArrowheads="1"/>
          </p:cNvSpPr>
          <p:nvPr/>
        </p:nvSpPr>
        <p:spPr bwMode="auto">
          <a:xfrm>
            <a:off x="673100" y="5083175"/>
            <a:ext cx="936625" cy="4333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n-2</a:t>
            </a:r>
          </a:p>
        </p:txBody>
      </p:sp>
      <p:sp>
        <p:nvSpPr>
          <p:cNvPr id="4105" name="Rectangle 16"/>
          <p:cNvSpPr>
            <a:spLocks noChangeArrowheads="1"/>
          </p:cNvSpPr>
          <p:nvPr/>
        </p:nvSpPr>
        <p:spPr bwMode="auto">
          <a:xfrm>
            <a:off x="673100" y="5516563"/>
            <a:ext cx="936625" cy="433387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n-1</a:t>
            </a:r>
          </a:p>
        </p:txBody>
      </p:sp>
      <p:sp>
        <p:nvSpPr>
          <p:cNvPr id="4106" name="Rectangle 17"/>
          <p:cNvSpPr>
            <a:spLocks noChangeArrowheads="1"/>
          </p:cNvSpPr>
          <p:nvPr/>
        </p:nvSpPr>
        <p:spPr bwMode="auto">
          <a:xfrm>
            <a:off x="673100" y="3213100"/>
            <a:ext cx="936625" cy="1871663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…</a:t>
            </a:r>
          </a:p>
        </p:txBody>
      </p:sp>
      <p:sp>
        <p:nvSpPr>
          <p:cNvPr id="4107" name="Text Box 18"/>
          <p:cNvSpPr txBox="1">
            <a:spLocks noChangeArrowheads="1"/>
          </p:cNvSpPr>
          <p:nvPr/>
        </p:nvSpPr>
        <p:spPr bwMode="auto">
          <a:xfrm>
            <a:off x="179388" y="5949950"/>
            <a:ext cx="1717675" cy="36671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Virtual memory</a:t>
            </a:r>
          </a:p>
        </p:txBody>
      </p:sp>
      <p:sp>
        <p:nvSpPr>
          <p:cNvPr id="4108" name="AutoShape 19"/>
          <p:cNvSpPr>
            <a:spLocks noChangeArrowheads="1"/>
          </p:cNvSpPr>
          <p:nvPr/>
        </p:nvSpPr>
        <p:spPr bwMode="auto">
          <a:xfrm>
            <a:off x="6372225" y="1700213"/>
            <a:ext cx="2303463" cy="3816350"/>
          </a:xfrm>
          <a:prstGeom prst="can">
            <a:avLst>
              <a:gd name="adj" fmla="val 15893"/>
            </a:avLst>
          </a:prstGeom>
          <a:noFill/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495060" name="Rectangle 20"/>
          <p:cNvSpPr>
            <a:spLocks noChangeArrowheads="1"/>
          </p:cNvSpPr>
          <p:nvPr/>
        </p:nvSpPr>
        <p:spPr bwMode="auto">
          <a:xfrm>
            <a:off x="4251325" y="2562225"/>
            <a:ext cx="936625" cy="433388"/>
          </a:xfrm>
          <a:prstGeom prst="rect">
            <a:avLst/>
          </a:prstGeom>
          <a:solidFill>
            <a:srgbClr val="3333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unavail</a:t>
            </a:r>
          </a:p>
        </p:txBody>
      </p:sp>
      <p:sp>
        <p:nvSpPr>
          <p:cNvPr id="1495061" name="Rectangle 21"/>
          <p:cNvSpPr>
            <a:spLocks noChangeArrowheads="1"/>
          </p:cNvSpPr>
          <p:nvPr/>
        </p:nvSpPr>
        <p:spPr bwMode="auto">
          <a:xfrm>
            <a:off x="4251325" y="2994025"/>
            <a:ext cx="936625" cy="433388"/>
          </a:xfrm>
          <a:prstGeom prst="rect">
            <a:avLst/>
          </a:prstGeom>
          <a:solidFill>
            <a:schemeClr val="accent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/>
              <a:t>Page 0</a:t>
            </a:r>
          </a:p>
        </p:txBody>
      </p:sp>
      <p:sp>
        <p:nvSpPr>
          <p:cNvPr id="1495062" name="Rectangle 22"/>
          <p:cNvSpPr>
            <a:spLocks noChangeArrowheads="1"/>
          </p:cNvSpPr>
          <p:nvPr/>
        </p:nvSpPr>
        <p:spPr bwMode="auto">
          <a:xfrm>
            <a:off x="4251325" y="3425825"/>
            <a:ext cx="936625" cy="433388"/>
          </a:xfrm>
          <a:prstGeom prst="rect">
            <a:avLst/>
          </a:prstGeom>
          <a:solidFill>
            <a:srgbClr val="3333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unavail</a:t>
            </a:r>
          </a:p>
        </p:txBody>
      </p:sp>
      <p:sp>
        <p:nvSpPr>
          <p:cNvPr id="1495063" name="Rectangle 23"/>
          <p:cNvSpPr>
            <a:spLocks noChangeArrowheads="1"/>
          </p:cNvSpPr>
          <p:nvPr/>
        </p:nvSpPr>
        <p:spPr bwMode="auto">
          <a:xfrm>
            <a:off x="4251325" y="3859213"/>
            <a:ext cx="936625" cy="433387"/>
          </a:xfrm>
          <a:prstGeom prst="rect">
            <a:avLst/>
          </a:prstGeom>
          <a:solidFill>
            <a:schemeClr val="accent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/>
              <a:t>Page 3</a:t>
            </a:r>
          </a:p>
        </p:txBody>
      </p:sp>
      <p:sp>
        <p:nvSpPr>
          <p:cNvPr id="4113" name="Rectangle 24"/>
          <p:cNvSpPr>
            <a:spLocks noChangeArrowheads="1"/>
          </p:cNvSpPr>
          <p:nvPr/>
        </p:nvSpPr>
        <p:spPr bwMode="auto">
          <a:xfrm>
            <a:off x="673100" y="3213100"/>
            <a:ext cx="936625" cy="4333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4</a:t>
            </a:r>
          </a:p>
        </p:txBody>
      </p:sp>
      <p:sp>
        <p:nvSpPr>
          <p:cNvPr id="4114" name="Text Box 25"/>
          <p:cNvSpPr txBox="1">
            <a:spLocks noChangeArrowheads="1"/>
          </p:cNvSpPr>
          <p:nvPr/>
        </p:nvSpPr>
        <p:spPr bwMode="auto">
          <a:xfrm>
            <a:off x="3770313" y="4724400"/>
            <a:ext cx="1920875" cy="36671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Physical memory</a:t>
            </a:r>
          </a:p>
        </p:txBody>
      </p:sp>
      <p:sp>
        <p:nvSpPr>
          <p:cNvPr id="1495066" name="Rectangle 26"/>
          <p:cNvSpPr>
            <a:spLocks noChangeArrowheads="1"/>
          </p:cNvSpPr>
          <p:nvPr/>
        </p:nvSpPr>
        <p:spPr bwMode="auto">
          <a:xfrm>
            <a:off x="4251325" y="2132013"/>
            <a:ext cx="936625" cy="433387"/>
          </a:xfrm>
          <a:prstGeom prst="rect">
            <a:avLst/>
          </a:prstGeom>
          <a:solidFill>
            <a:schemeClr val="accent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/>
              <a:t>Page 2</a:t>
            </a:r>
          </a:p>
        </p:txBody>
      </p:sp>
      <p:sp>
        <p:nvSpPr>
          <p:cNvPr id="1495067" name="Rectangle 27"/>
          <p:cNvSpPr>
            <a:spLocks noChangeArrowheads="1"/>
          </p:cNvSpPr>
          <p:nvPr/>
        </p:nvSpPr>
        <p:spPr bwMode="auto">
          <a:xfrm>
            <a:off x="4251325" y="4291013"/>
            <a:ext cx="936625" cy="433387"/>
          </a:xfrm>
          <a:prstGeom prst="rect">
            <a:avLst/>
          </a:prstGeom>
          <a:solidFill>
            <a:schemeClr val="accent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/>
              <a:t>Page 1</a:t>
            </a:r>
          </a:p>
        </p:txBody>
      </p:sp>
      <p:sp>
        <p:nvSpPr>
          <p:cNvPr id="4117" name="Rectangle 28"/>
          <p:cNvSpPr>
            <a:spLocks noChangeArrowheads="1"/>
          </p:cNvSpPr>
          <p:nvPr/>
        </p:nvSpPr>
        <p:spPr bwMode="auto">
          <a:xfrm>
            <a:off x="6516688" y="2276475"/>
            <a:ext cx="936625" cy="4333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0</a:t>
            </a:r>
          </a:p>
        </p:txBody>
      </p:sp>
      <p:sp>
        <p:nvSpPr>
          <p:cNvPr id="4118" name="Rectangle 29"/>
          <p:cNvSpPr>
            <a:spLocks noChangeArrowheads="1"/>
          </p:cNvSpPr>
          <p:nvPr/>
        </p:nvSpPr>
        <p:spPr bwMode="auto">
          <a:xfrm>
            <a:off x="7596188" y="2274888"/>
            <a:ext cx="936625" cy="433387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1</a:t>
            </a:r>
          </a:p>
        </p:txBody>
      </p:sp>
      <p:sp>
        <p:nvSpPr>
          <p:cNvPr id="4119" name="Rectangle 30"/>
          <p:cNvSpPr>
            <a:spLocks noChangeArrowheads="1"/>
          </p:cNvSpPr>
          <p:nvPr/>
        </p:nvSpPr>
        <p:spPr bwMode="auto">
          <a:xfrm>
            <a:off x="6516688" y="2852738"/>
            <a:ext cx="936625" cy="433387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2</a:t>
            </a:r>
          </a:p>
        </p:txBody>
      </p:sp>
      <p:sp>
        <p:nvSpPr>
          <p:cNvPr id="4120" name="Rectangle 31"/>
          <p:cNvSpPr>
            <a:spLocks noChangeArrowheads="1"/>
          </p:cNvSpPr>
          <p:nvPr/>
        </p:nvSpPr>
        <p:spPr bwMode="auto">
          <a:xfrm>
            <a:off x="7596188" y="2852738"/>
            <a:ext cx="936625" cy="433387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3</a:t>
            </a:r>
          </a:p>
        </p:txBody>
      </p:sp>
      <p:sp>
        <p:nvSpPr>
          <p:cNvPr id="4121" name="Rectangle 32"/>
          <p:cNvSpPr>
            <a:spLocks noChangeArrowheads="1"/>
          </p:cNvSpPr>
          <p:nvPr/>
        </p:nvSpPr>
        <p:spPr bwMode="auto">
          <a:xfrm>
            <a:off x="6516688" y="3429000"/>
            <a:ext cx="936625" cy="4333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4</a:t>
            </a:r>
          </a:p>
        </p:txBody>
      </p:sp>
      <p:sp>
        <p:nvSpPr>
          <p:cNvPr id="4122" name="Rectangle 33"/>
          <p:cNvSpPr>
            <a:spLocks noChangeArrowheads="1"/>
          </p:cNvSpPr>
          <p:nvPr/>
        </p:nvSpPr>
        <p:spPr bwMode="auto">
          <a:xfrm>
            <a:off x="6516688" y="4365625"/>
            <a:ext cx="936625" cy="4333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n-2</a:t>
            </a:r>
          </a:p>
        </p:txBody>
      </p:sp>
      <p:sp>
        <p:nvSpPr>
          <p:cNvPr id="4123" name="Rectangle 34"/>
          <p:cNvSpPr>
            <a:spLocks noChangeArrowheads="1"/>
          </p:cNvSpPr>
          <p:nvPr/>
        </p:nvSpPr>
        <p:spPr bwMode="auto">
          <a:xfrm>
            <a:off x="7596188" y="4365625"/>
            <a:ext cx="936625" cy="4333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Page n-1</a:t>
            </a:r>
          </a:p>
        </p:txBody>
      </p:sp>
      <p:sp>
        <p:nvSpPr>
          <p:cNvPr id="4124" name="Line 35"/>
          <p:cNvSpPr>
            <a:spLocks noChangeShapeType="1"/>
          </p:cNvSpPr>
          <p:nvPr/>
        </p:nvSpPr>
        <p:spPr bwMode="auto">
          <a:xfrm flipH="1">
            <a:off x="6372225" y="5084763"/>
            <a:ext cx="720725" cy="57626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25" name="Text Box 36"/>
          <p:cNvSpPr txBox="1">
            <a:spLocks noChangeArrowheads="1"/>
          </p:cNvSpPr>
          <p:nvPr/>
        </p:nvSpPr>
        <p:spPr bwMode="auto">
          <a:xfrm>
            <a:off x="4037013" y="5608638"/>
            <a:ext cx="4638675" cy="366712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all pages of program sitting on physical Disk</a:t>
            </a:r>
          </a:p>
        </p:txBody>
      </p:sp>
      <p:sp>
        <p:nvSpPr>
          <p:cNvPr id="4126" name="Rectangle 37"/>
          <p:cNvSpPr>
            <a:spLocks noChangeArrowheads="1"/>
          </p:cNvSpPr>
          <p:nvPr/>
        </p:nvSpPr>
        <p:spPr bwMode="auto">
          <a:xfrm>
            <a:off x="2833688" y="1773238"/>
            <a:ext cx="503237" cy="21590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27" name="Rectangle 38"/>
          <p:cNvSpPr>
            <a:spLocks noChangeArrowheads="1"/>
          </p:cNvSpPr>
          <p:nvPr/>
        </p:nvSpPr>
        <p:spPr bwMode="auto">
          <a:xfrm>
            <a:off x="2833688" y="1989138"/>
            <a:ext cx="503237" cy="21590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28" name="Rectangle 39"/>
          <p:cNvSpPr>
            <a:spLocks noChangeArrowheads="1"/>
          </p:cNvSpPr>
          <p:nvPr/>
        </p:nvSpPr>
        <p:spPr bwMode="auto">
          <a:xfrm>
            <a:off x="2833688" y="2205038"/>
            <a:ext cx="503237" cy="21590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29" name="Rectangle 40"/>
          <p:cNvSpPr>
            <a:spLocks noChangeArrowheads="1"/>
          </p:cNvSpPr>
          <p:nvPr/>
        </p:nvSpPr>
        <p:spPr bwMode="auto">
          <a:xfrm>
            <a:off x="2833688" y="2420938"/>
            <a:ext cx="503237" cy="21590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30" name="Rectangle 41"/>
          <p:cNvSpPr>
            <a:spLocks noChangeArrowheads="1"/>
          </p:cNvSpPr>
          <p:nvPr/>
        </p:nvSpPr>
        <p:spPr bwMode="auto">
          <a:xfrm>
            <a:off x="2833688" y="2636838"/>
            <a:ext cx="503237" cy="21590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31" name="Rectangle 42"/>
          <p:cNvSpPr>
            <a:spLocks noChangeArrowheads="1"/>
          </p:cNvSpPr>
          <p:nvPr/>
        </p:nvSpPr>
        <p:spPr bwMode="auto">
          <a:xfrm>
            <a:off x="2833688" y="2852738"/>
            <a:ext cx="503237" cy="21590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32" name="Rectangle 43"/>
          <p:cNvSpPr>
            <a:spLocks noChangeArrowheads="1"/>
          </p:cNvSpPr>
          <p:nvPr/>
        </p:nvSpPr>
        <p:spPr bwMode="auto">
          <a:xfrm>
            <a:off x="2833688" y="4149725"/>
            <a:ext cx="503237" cy="21590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33" name="Rectangle 44"/>
          <p:cNvSpPr>
            <a:spLocks noChangeArrowheads="1"/>
          </p:cNvSpPr>
          <p:nvPr/>
        </p:nvSpPr>
        <p:spPr bwMode="auto">
          <a:xfrm>
            <a:off x="2833688" y="4365625"/>
            <a:ext cx="503237" cy="21590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34" name="Rectangle 45"/>
          <p:cNvSpPr>
            <a:spLocks noChangeArrowheads="1"/>
          </p:cNvSpPr>
          <p:nvPr/>
        </p:nvSpPr>
        <p:spPr bwMode="auto">
          <a:xfrm>
            <a:off x="2833688" y="4581525"/>
            <a:ext cx="503237" cy="21590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35" name="Rectangle 46"/>
          <p:cNvSpPr>
            <a:spLocks noChangeArrowheads="1"/>
          </p:cNvSpPr>
          <p:nvPr/>
        </p:nvSpPr>
        <p:spPr bwMode="auto">
          <a:xfrm>
            <a:off x="2833688" y="3068638"/>
            <a:ext cx="503237" cy="1081087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…</a:t>
            </a:r>
          </a:p>
        </p:txBody>
      </p:sp>
      <p:sp>
        <p:nvSpPr>
          <p:cNvPr id="4136" name="Text Box 47"/>
          <p:cNvSpPr txBox="1">
            <a:spLocks noChangeArrowheads="1"/>
          </p:cNvSpPr>
          <p:nvPr/>
        </p:nvSpPr>
        <p:spPr bwMode="auto">
          <a:xfrm>
            <a:off x="2592388" y="1725613"/>
            <a:ext cx="279400" cy="3048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4137" name="Text Box 48"/>
          <p:cNvSpPr txBox="1">
            <a:spLocks noChangeArrowheads="1"/>
          </p:cNvSpPr>
          <p:nvPr/>
        </p:nvSpPr>
        <p:spPr bwMode="auto">
          <a:xfrm>
            <a:off x="2582863" y="1941513"/>
            <a:ext cx="279400" cy="3048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4138" name="Text Box 49"/>
          <p:cNvSpPr txBox="1">
            <a:spLocks noChangeArrowheads="1"/>
          </p:cNvSpPr>
          <p:nvPr/>
        </p:nvSpPr>
        <p:spPr bwMode="auto">
          <a:xfrm>
            <a:off x="2592388" y="2146300"/>
            <a:ext cx="279400" cy="3048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sz="1400"/>
              <a:t>2</a:t>
            </a:r>
          </a:p>
        </p:txBody>
      </p:sp>
      <p:sp>
        <p:nvSpPr>
          <p:cNvPr id="4139" name="Text Box 50"/>
          <p:cNvSpPr txBox="1">
            <a:spLocks noChangeArrowheads="1"/>
          </p:cNvSpPr>
          <p:nvPr/>
        </p:nvSpPr>
        <p:spPr bwMode="auto">
          <a:xfrm>
            <a:off x="2592388" y="2370138"/>
            <a:ext cx="279400" cy="3048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sz="1400"/>
              <a:t>3</a:t>
            </a:r>
          </a:p>
        </p:txBody>
      </p:sp>
      <p:sp>
        <p:nvSpPr>
          <p:cNvPr id="4140" name="Text Box 51"/>
          <p:cNvSpPr txBox="1">
            <a:spLocks noChangeArrowheads="1"/>
          </p:cNvSpPr>
          <p:nvPr/>
        </p:nvSpPr>
        <p:spPr bwMode="auto">
          <a:xfrm>
            <a:off x="2582863" y="2606675"/>
            <a:ext cx="279400" cy="3048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sz="1400"/>
              <a:t>4</a:t>
            </a:r>
          </a:p>
        </p:txBody>
      </p:sp>
      <p:sp>
        <p:nvSpPr>
          <p:cNvPr id="4141" name="Text Box 52"/>
          <p:cNvSpPr txBox="1">
            <a:spLocks noChangeArrowheads="1"/>
          </p:cNvSpPr>
          <p:nvPr/>
        </p:nvSpPr>
        <p:spPr bwMode="auto">
          <a:xfrm>
            <a:off x="2457450" y="4305300"/>
            <a:ext cx="436563" cy="3048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sz="1400"/>
              <a:t>n-2</a:t>
            </a:r>
          </a:p>
        </p:txBody>
      </p:sp>
      <p:sp>
        <p:nvSpPr>
          <p:cNvPr id="4142" name="Text Box 53"/>
          <p:cNvSpPr txBox="1">
            <a:spLocks noChangeArrowheads="1"/>
          </p:cNvSpPr>
          <p:nvPr/>
        </p:nvSpPr>
        <p:spPr bwMode="auto">
          <a:xfrm>
            <a:off x="2468563" y="4521200"/>
            <a:ext cx="436562" cy="3048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sz="1400"/>
              <a:t>n-1</a:t>
            </a:r>
          </a:p>
        </p:txBody>
      </p:sp>
      <p:sp>
        <p:nvSpPr>
          <p:cNvPr id="4143" name="Freeform 56"/>
          <p:cNvSpPr>
            <a:spLocks/>
          </p:cNvSpPr>
          <p:nvPr/>
        </p:nvSpPr>
        <p:spPr bwMode="auto">
          <a:xfrm>
            <a:off x="3194050" y="1724025"/>
            <a:ext cx="1079500" cy="1489075"/>
          </a:xfrm>
          <a:custGeom>
            <a:avLst/>
            <a:gdLst>
              <a:gd name="T0" fmla="*/ 0 w 680"/>
              <a:gd name="T1" fmla="*/ 191531875 h 938"/>
              <a:gd name="T2" fmla="*/ 569555306 w 680"/>
              <a:gd name="T3" fmla="*/ 191531875 h 938"/>
              <a:gd name="T4" fmla="*/ 685482452 w 680"/>
              <a:gd name="T5" fmla="*/ 1335682862 h 938"/>
              <a:gd name="T6" fmla="*/ 1141629974 w 680"/>
              <a:gd name="T7" fmla="*/ 2134573376 h 938"/>
              <a:gd name="T8" fmla="*/ 1713706428 w 680"/>
              <a:gd name="T9" fmla="*/ 2147483647 h 9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80"/>
              <a:gd name="T16" fmla="*/ 0 h 938"/>
              <a:gd name="T17" fmla="*/ 680 w 680"/>
              <a:gd name="T18" fmla="*/ 938 h 9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80" h="938">
                <a:moveTo>
                  <a:pt x="0" y="76"/>
                </a:moveTo>
                <a:cubicBezTo>
                  <a:pt x="90" y="38"/>
                  <a:pt x="181" y="0"/>
                  <a:pt x="226" y="76"/>
                </a:cubicBezTo>
                <a:cubicBezTo>
                  <a:pt x="271" y="152"/>
                  <a:pt x="234" y="402"/>
                  <a:pt x="272" y="530"/>
                </a:cubicBezTo>
                <a:cubicBezTo>
                  <a:pt x="310" y="658"/>
                  <a:pt x="385" y="779"/>
                  <a:pt x="453" y="847"/>
                </a:cubicBezTo>
                <a:cubicBezTo>
                  <a:pt x="521" y="915"/>
                  <a:pt x="600" y="926"/>
                  <a:pt x="680" y="938"/>
                </a:cubicBezTo>
              </a:path>
            </a:pathLst>
          </a:cu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44" name="Freeform 57"/>
          <p:cNvSpPr>
            <a:spLocks/>
          </p:cNvSpPr>
          <p:nvPr/>
        </p:nvSpPr>
        <p:spPr bwMode="auto">
          <a:xfrm>
            <a:off x="3194050" y="1954213"/>
            <a:ext cx="1008063" cy="2578100"/>
          </a:xfrm>
          <a:custGeom>
            <a:avLst/>
            <a:gdLst>
              <a:gd name="T0" fmla="*/ 0 w 635"/>
              <a:gd name="T1" fmla="*/ 168851261 h 1624"/>
              <a:gd name="T2" fmla="*/ 456149324 w 635"/>
              <a:gd name="T3" fmla="*/ 284776876 h 1624"/>
              <a:gd name="T4" fmla="*/ 569555574 w 635"/>
              <a:gd name="T5" fmla="*/ 1885077102 h 1624"/>
              <a:gd name="T6" fmla="*/ 798890613 w 635"/>
              <a:gd name="T7" fmla="*/ 2147483647 h 1624"/>
              <a:gd name="T8" fmla="*/ 1370965550 w 635"/>
              <a:gd name="T9" fmla="*/ 2147483647 h 1624"/>
              <a:gd name="T10" fmla="*/ 1600300588 w 635"/>
              <a:gd name="T11" fmla="*/ 2147483647 h 16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35"/>
              <a:gd name="T19" fmla="*/ 0 h 1624"/>
              <a:gd name="T20" fmla="*/ 635 w 635"/>
              <a:gd name="T21" fmla="*/ 1624 h 16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35" h="1624">
                <a:moveTo>
                  <a:pt x="0" y="67"/>
                </a:moveTo>
                <a:cubicBezTo>
                  <a:pt x="71" y="33"/>
                  <a:pt x="143" y="0"/>
                  <a:pt x="181" y="113"/>
                </a:cubicBezTo>
                <a:cubicBezTo>
                  <a:pt x="219" y="226"/>
                  <a:pt x="203" y="559"/>
                  <a:pt x="226" y="748"/>
                </a:cubicBezTo>
                <a:cubicBezTo>
                  <a:pt x="249" y="937"/>
                  <a:pt x="264" y="1111"/>
                  <a:pt x="317" y="1247"/>
                </a:cubicBezTo>
                <a:cubicBezTo>
                  <a:pt x="370" y="1383"/>
                  <a:pt x="491" y="1504"/>
                  <a:pt x="544" y="1564"/>
                </a:cubicBezTo>
                <a:cubicBezTo>
                  <a:pt x="597" y="1624"/>
                  <a:pt x="628" y="1594"/>
                  <a:pt x="635" y="1609"/>
                </a:cubicBezTo>
              </a:path>
            </a:pathLst>
          </a:cu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45" name="Freeform 58"/>
          <p:cNvSpPr>
            <a:spLocks/>
          </p:cNvSpPr>
          <p:nvPr/>
        </p:nvSpPr>
        <p:spPr bwMode="auto">
          <a:xfrm>
            <a:off x="3194050" y="2205038"/>
            <a:ext cx="1079500" cy="71437"/>
          </a:xfrm>
          <a:custGeom>
            <a:avLst/>
            <a:gdLst>
              <a:gd name="T0" fmla="*/ 0 w 680"/>
              <a:gd name="T1" fmla="*/ 113405455 h 45"/>
              <a:gd name="T2" fmla="*/ 914815993 w 680"/>
              <a:gd name="T3" fmla="*/ 0 h 45"/>
              <a:gd name="T4" fmla="*/ 1713706428 w 680"/>
              <a:gd name="T5" fmla="*/ 113405455 h 45"/>
              <a:gd name="T6" fmla="*/ 0 60000 65536"/>
              <a:gd name="T7" fmla="*/ 0 60000 65536"/>
              <a:gd name="T8" fmla="*/ 0 60000 65536"/>
              <a:gd name="T9" fmla="*/ 0 w 680"/>
              <a:gd name="T10" fmla="*/ 0 h 45"/>
              <a:gd name="T11" fmla="*/ 680 w 680"/>
              <a:gd name="T12" fmla="*/ 45 h 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0" h="45">
                <a:moveTo>
                  <a:pt x="0" y="45"/>
                </a:moveTo>
                <a:cubicBezTo>
                  <a:pt x="125" y="22"/>
                  <a:pt x="250" y="0"/>
                  <a:pt x="363" y="0"/>
                </a:cubicBezTo>
                <a:cubicBezTo>
                  <a:pt x="476" y="0"/>
                  <a:pt x="642" y="15"/>
                  <a:pt x="680" y="45"/>
                </a:cubicBezTo>
              </a:path>
            </a:pathLst>
          </a:cu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46" name="Freeform 59"/>
          <p:cNvSpPr>
            <a:spLocks/>
          </p:cNvSpPr>
          <p:nvPr/>
        </p:nvSpPr>
        <p:spPr bwMode="auto">
          <a:xfrm>
            <a:off x="3143250" y="2505075"/>
            <a:ext cx="1079500" cy="1512888"/>
          </a:xfrm>
          <a:custGeom>
            <a:avLst/>
            <a:gdLst>
              <a:gd name="T0" fmla="*/ 0 w 680"/>
              <a:gd name="T1" fmla="*/ 0 h 953"/>
              <a:gd name="T2" fmla="*/ 798890237 w 680"/>
              <a:gd name="T3" fmla="*/ 458668670 h 953"/>
              <a:gd name="T4" fmla="*/ 1141629974 w 680"/>
              <a:gd name="T5" fmla="*/ 1486892695 h 953"/>
              <a:gd name="T6" fmla="*/ 1257557120 w 680"/>
              <a:gd name="T7" fmla="*/ 2058969397 h 953"/>
              <a:gd name="T8" fmla="*/ 1713706428 w 680"/>
              <a:gd name="T9" fmla="*/ 2147483647 h 9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80"/>
              <a:gd name="T16" fmla="*/ 0 h 953"/>
              <a:gd name="T17" fmla="*/ 680 w 680"/>
              <a:gd name="T18" fmla="*/ 953 h 9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80" h="953">
                <a:moveTo>
                  <a:pt x="0" y="0"/>
                </a:moveTo>
                <a:cubicBezTo>
                  <a:pt x="120" y="42"/>
                  <a:pt x="241" y="84"/>
                  <a:pt x="317" y="182"/>
                </a:cubicBezTo>
                <a:cubicBezTo>
                  <a:pt x="393" y="280"/>
                  <a:pt x="423" y="484"/>
                  <a:pt x="453" y="590"/>
                </a:cubicBezTo>
                <a:cubicBezTo>
                  <a:pt x="483" y="696"/>
                  <a:pt x="461" y="757"/>
                  <a:pt x="499" y="817"/>
                </a:cubicBezTo>
                <a:cubicBezTo>
                  <a:pt x="537" y="877"/>
                  <a:pt x="673" y="923"/>
                  <a:pt x="680" y="953"/>
                </a:cubicBezTo>
              </a:path>
            </a:pathLst>
          </a:cu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47" name="AutoShape 60"/>
          <p:cNvSpPr>
            <a:spLocks noChangeArrowheads="1"/>
          </p:cNvSpPr>
          <p:nvPr/>
        </p:nvSpPr>
        <p:spPr bwMode="auto">
          <a:xfrm>
            <a:off x="5435600" y="2854325"/>
            <a:ext cx="792163" cy="360363"/>
          </a:xfrm>
          <a:prstGeom prst="notchedRightArrow">
            <a:avLst>
              <a:gd name="adj1" fmla="val 50000"/>
              <a:gd name="adj2" fmla="val 54956"/>
            </a:avLst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48" name="AutoShape 61"/>
          <p:cNvSpPr>
            <a:spLocks noChangeArrowheads="1"/>
          </p:cNvSpPr>
          <p:nvPr/>
        </p:nvSpPr>
        <p:spPr bwMode="auto">
          <a:xfrm rot="10800000">
            <a:off x="5435600" y="3646488"/>
            <a:ext cx="720725" cy="358775"/>
          </a:xfrm>
          <a:prstGeom prst="notchedRightArrow">
            <a:avLst>
              <a:gd name="adj1" fmla="val 50000"/>
              <a:gd name="adj2" fmla="val 50221"/>
            </a:avLst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149" name="Text Box 62"/>
          <p:cNvSpPr txBox="1">
            <a:spLocks noChangeArrowheads="1"/>
          </p:cNvSpPr>
          <p:nvPr/>
        </p:nvSpPr>
        <p:spPr bwMode="auto">
          <a:xfrm>
            <a:off x="5484813" y="3068638"/>
            <a:ext cx="803275" cy="64135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move </a:t>
            </a:r>
            <a:br>
              <a:rPr lang="en-US"/>
            </a:br>
            <a:r>
              <a:rPr lang="en-US"/>
              <a:t>pages</a:t>
            </a:r>
          </a:p>
        </p:txBody>
      </p:sp>
      <p:sp>
        <p:nvSpPr>
          <p:cNvPr id="4150" name="Text Box 63"/>
          <p:cNvSpPr txBox="1">
            <a:spLocks noChangeArrowheads="1"/>
          </p:cNvSpPr>
          <p:nvPr/>
        </p:nvSpPr>
        <p:spPr bwMode="auto">
          <a:xfrm>
            <a:off x="2447925" y="4749800"/>
            <a:ext cx="1247775" cy="36671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page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E03DDF3-CB1C-455F-8855-8BB18F69B270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A typical virtual-address space layout of a process</a:t>
            </a:r>
          </a:p>
        </p:txBody>
      </p:sp>
      <p:pic>
        <p:nvPicPr>
          <p:cNvPr id="512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97225" y="1597025"/>
            <a:ext cx="2063750" cy="456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5" name="Line 6"/>
          <p:cNvSpPr>
            <a:spLocks noChangeShapeType="1"/>
          </p:cNvSpPr>
          <p:nvPr/>
        </p:nvSpPr>
        <p:spPr bwMode="auto">
          <a:xfrm flipV="1">
            <a:off x="4859338" y="3068638"/>
            <a:ext cx="1296987" cy="4318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5126" name="Text Box 7"/>
          <p:cNvSpPr txBox="1">
            <a:spLocks noChangeArrowheads="1"/>
          </p:cNvSpPr>
          <p:nvPr/>
        </p:nvSpPr>
        <p:spPr bwMode="auto">
          <a:xfrm>
            <a:off x="6124575" y="2841625"/>
            <a:ext cx="2479675" cy="11906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unused address space</a:t>
            </a:r>
          </a:p>
          <a:p>
            <a:endParaRPr lang="en-US"/>
          </a:p>
          <a:p>
            <a:r>
              <a:rPr lang="en-US"/>
              <a:t>will be used whenever</a:t>
            </a:r>
          </a:p>
          <a:p>
            <a:r>
              <a:rPr lang="en-US"/>
              <a:t>needed</a:t>
            </a:r>
          </a:p>
        </p:txBody>
      </p:sp>
      <p:sp>
        <p:nvSpPr>
          <p:cNvPr id="5127" name="Line 8"/>
          <p:cNvSpPr>
            <a:spLocks noChangeShapeType="1"/>
          </p:cNvSpPr>
          <p:nvPr/>
        </p:nvSpPr>
        <p:spPr bwMode="auto">
          <a:xfrm flipH="1" flipV="1">
            <a:off x="2268538" y="4076700"/>
            <a:ext cx="1511300" cy="57626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5128" name="Text Box 9"/>
          <p:cNvSpPr txBox="1">
            <a:spLocks noChangeArrowheads="1"/>
          </p:cNvSpPr>
          <p:nvPr/>
        </p:nvSpPr>
        <p:spPr bwMode="auto">
          <a:xfrm>
            <a:off x="361950" y="3716338"/>
            <a:ext cx="1997075" cy="11906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malloc() allocates</a:t>
            </a:r>
          </a:p>
          <a:p>
            <a:r>
              <a:rPr lang="en-US"/>
              <a:t>space from here</a:t>
            </a:r>
          </a:p>
          <a:p>
            <a:r>
              <a:rPr lang="en-US"/>
              <a:t>(dynamic memory</a:t>
            </a:r>
            <a:br>
              <a:rPr lang="en-US"/>
            </a:br>
            <a:r>
              <a:rPr lang="en-US"/>
              <a:t>allocation)</a:t>
            </a:r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>
            <a:off x="5003800" y="5157788"/>
            <a:ext cx="720725" cy="71437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5130" name="Text Box 11"/>
          <p:cNvSpPr txBox="1">
            <a:spLocks noChangeArrowheads="1"/>
          </p:cNvSpPr>
          <p:nvPr/>
        </p:nvSpPr>
        <p:spPr bwMode="auto">
          <a:xfrm>
            <a:off x="5699125" y="5013325"/>
            <a:ext cx="2428875" cy="36671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global data (variables)</a:t>
            </a:r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 flipV="1">
            <a:off x="5076825" y="1916113"/>
            <a:ext cx="935038" cy="730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5132" name="Text Box 13"/>
          <p:cNvSpPr txBox="1">
            <a:spLocks noChangeArrowheads="1"/>
          </p:cNvSpPr>
          <p:nvPr/>
        </p:nvSpPr>
        <p:spPr bwMode="auto">
          <a:xfrm>
            <a:off x="5940425" y="1484313"/>
            <a:ext cx="2327275" cy="91598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function parameters; </a:t>
            </a:r>
          </a:p>
          <a:p>
            <a:r>
              <a:rPr lang="en-US"/>
              <a:t>local variables; </a:t>
            </a:r>
          </a:p>
          <a:p>
            <a:r>
              <a:rPr lang="en-US"/>
              <a:t>return addresses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53E6A52-B8CC-4A8A-9D4F-B35E1D2D5616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Shared Library Using Virtual Memory</a:t>
            </a:r>
          </a:p>
        </p:txBody>
      </p:sp>
      <p:pic>
        <p:nvPicPr>
          <p:cNvPr id="614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5538" y="1838325"/>
            <a:ext cx="6770687" cy="447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9" name="Text Box 6"/>
          <p:cNvSpPr txBox="1">
            <a:spLocks noChangeArrowheads="1"/>
          </p:cNvSpPr>
          <p:nvPr/>
        </p:nvSpPr>
        <p:spPr bwMode="auto">
          <a:xfrm>
            <a:off x="584200" y="1431925"/>
            <a:ext cx="3051175" cy="36671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Virtual memory of process A</a:t>
            </a:r>
          </a:p>
        </p:txBody>
      </p:sp>
      <p:sp>
        <p:nvSpPr>
          <p:cNvPr id="6150" name="Text Box 7"/>
          <p:cNvSpPr txBox="1">
            <a:spLocks noChangeArrowheads="1"/>
          </p:cNvSpPr>
          <p:nvPr/>
        </p:nvSpPr>
        <p:spPr bwMode="auto">
          <a:xfrm>
            <a:off x="5148263" y="1484313"/>
            <a:ext cx="3051175" cy="366712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Virtual memory of process B</a:t>
            </a:r>
          </a:p>
        </p:txBody>
      </p:sp>
      <p:sp>
        <p:nvSpPr>
          <p:cNvPr id="6151" name="Line 8"/>
          <p:cNvSpPr>
            <a:spLocks noChangeShapeType="1"/>
          </p:cNvSpPr>
          <p:nvPr/>
        </p:nvSpPr>
        <p:spPr bwMode="auto">
          <a:xfrm flipH="1">
            <a:off x="4284663" y="4149725"/>
            <a:ext cx="142875" cy="64770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6152" name="Text Box 9"/>
          <p:cNvSpPr txBox="1">
            <a:spLocks noChangeArrowheads="1"/>
          </p:cNvSpPr>
          <p:nvPr/>
        </p:nvSpPr>
        <p:spPr bwMode="auto">
          <a:xfrm>
            <a:off x="3492500" y="4686300"/>
            <a:ext cx="1844675" cy="11906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only one copy of</a:t>
            </a:r>
          </a:p>
          <a:p>
            <a:r>
              <a:rPr lang="en-US">
                <a:solidFill>
                  <a:srgbClr val="000000"/>
                </a:solidFill>
              </a:rPr>
              <a:t> a page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needs to </a:t>
            </a:r>
          </a:p>
          <a:p>
            <a:r>
              <a:rPr lang="en-US">
                <a:solidFill>
                  <a:srgbClr val="000000"/>
                </a:solidFill>
              </a:rPr>
              <a:t>be in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2EA5514-F4C4-489D-92EA-FD98B36B9C88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Implementing Virtual Memory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1800" smtClean="0"/>
              <a:t>Virtual memory can be implemented via:</a:t>
            </a:r>
          </a:p>
          <a:p>
            <a:pPr eaLnBrk="1" hangingPunct="1"/>
            <a:endParaRPr lang="en-US" sz="1800" smtClean="0"/>
          </a:p>
          <a:p>
            <a:pPr lvl="1" eaLnBrk="1" hangingPunct="1"/>
            <a:r>
              <a:rPr lang="en-US" sz="1800" smtClean="0">
                <a:solidFill>
                  <a:srgbClr val="FF3300"/>
                </a:solidFill>
              </a:rPr>
              <a:t>Demand paging </a:t>
            </a:r>
          </a:p>
          <a:p>
            <a:pPr lvl="2" eaLnBrk="1" hangingPunct="1"/>
            <a:r>
              <a:rPr lang="en-US" sz="1800" smtClean="0"/>
              <a:t>Bring pages into memory when they are used, i.e. allocate memory for pages when they are used</a:t>
            </a:r>
          </a:p>
          <a:p>
            <a:pPr lvl="2" eaLnBrk="1" hangingPunct="1"/>
            <a:endParaRPr lang="en-US" sz="1800" smtClean="0"/>
          </a:p>
          <a:p>
            <a:pPr lvl="1" eaLnBrk="1" hangingPunct="1"/>
            <a:r>
              <a:rPr lang="en-US" sz="1800" smtClean="0">
                <a:solidFill>
                  <a:srgbClr val="FF3300"/>
                </a:solidFill>
              </a:rPr>
              <a:t>Demand segmentation</a:t>
            </a:r>
          </a:p>
          <a:p>
            <a:pPr lvl="2" eaLnBrk="1" hangingPunct="1"/>
            <a:r>
              <a:rPr lang="en-US" sz="1800" smtClean="0"/>
              <a:t>Bring segments into memory when they are used, i.e. allocate memory for segments when they are used.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cs typeface="Arial" pitchFamily="34" charset="0"/>
              </a:rPr>
              <a:t>Policies for Paging/ Segmentation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233488"/>
            <a:ext cx="8301037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 dirty="0" smtClean="0">
                <a:solidFill>
                  <a:srgbClr val="3366FF"/>
                </a:solidFill>
              </a:rPr>
              <a:t>Fetch Strategies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 smtClean="0"/>
              <a:t>When should a page or segment be brought into primary memory from secondary (disk) storage?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 smtClean="0"/>
              <a:t>Demand Fetch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 smtClean="0"/>
              <a:t>Anticipatory Fetch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 smtClean="0">
                <a:solidFill>
                  <a:srgbClr val="3366FF"/>
                </a:solidFill>
              </a:rPr>
              <a:t>Placement Strategies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 smtClean="0"/>
              <a:t> where is it to be put?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 smtClean="0"/>
              <a:t>Paging - trivial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 smtClean="0"/>
              <a:t>Segmentation - significant problem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 smtClean="0">
                <a:solidFill>
                  <a:srgbClr val="3366FF"/>
                </a:solidFill>
              </a:rPr>
              <a:t>Replacement Strategies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 smtClean="0"/>
              <a:t>Which page/segment should be replaced if there is not enough room for a required page/segment?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34914EB-5531-46BE-873D-0ACE8E4954FB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Demand Paging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1800" smtClean="0"/>
              <a:t>Bring a page into memory only when it is needed</a:t>
            </a:r>
          </a:p>
          <a:p>
            <a:pPr lvl="1" eaLnBrk="1" hangingPunct="1"/>
            <a:r>
              <a:rPr lang="en-US" sz="1800" smtClean="0"/>
              <a:t>Less I/O needed</a:t>
            </a:r>
          </a:p>
          <a:p>
            <a:pPr lvl="1" eaLnBrk="1" hangingPunct="1"/>
            <a:r>
              <a:rPr lang="en-US" sz="1800" smtClean="0"/>
              <a:t>Less memory needed </a:t>
            </a:r>
          </a:p>
          <a:p>
            <a:pPr lvl="1" eaLnBrk="1" hangingPunct="1"/>
            <a:r>
              <a:rPr lang="en-US" sz="1800" smtClean="0"/>
              <a:t>Faster response</a:t>
            </a:r>
          </a:p>
          <a:p>
            <a:pPr lvl="1" eaLnBrk="1" hangingPunct="1"/>
            <a:r>
              <a:rPr lang="en-US" sz="1800" smtClean="0"/>
              <a:t>More users</a:t>
            </a:r>
            <a:br>
              <a:rPr lang="en-US" sz="1800" smtClean="0"/>
            </a:br>
            <a:endParaRPr lang="en-US" sz="1800" smtClean="0"/>
          </a:p>
          <a:p>
            <a:pPr eaLnBrk="1" hangingPunct="1"/>
            <a:r>
              <a:rPr lang="en-US" sz="1800" smtClean="0"/>
              <a:t>Page is needed </a:t>
            </a:r>
            <a:r>
              <a:rPr lang="en-US" sz="1800" smtClean="0">
                <a:sym typeface="Symbol" pitchFamily="18" charset="2"/>
              </a:rPr>
              <a:t> reference to it</a:t>
            </a:r>
          </a:p>
          <a:p>
            <a:pPr lvl="1" eaLnBrk="1" hangingPunct="1"/>
            <a:r>
              <a:rPr lang="en-US" sz="1800" smtClean="0"/>
              <a:t>invalid reference (page is not in used portion of address space) </a:t>
            </a:r>
            <a:r>
              <a:rPr lang="en-US" sz="1800" smtClean="0">
                <a:sym typeface="Symbol" pitchFamily="18" charset="2"/>
              </a:rPr>
              <a:t> abort</a:t>
            </a:r>
          </a:p>
          <a:p>
            <a:pPr lvl="1" eaLnBrk="1" hangingPunct="1"/>
            <a:r>
              <a:rPr lang="en-US" sz="1800" smtClean="0">
                <a:sym typeface="Symbol" pitchFamily="18" charset="2"/>
              </a:rPr>
              <a:t>not-in-memory  bring to memory</a:t>
            </a:r>
          </a:p>
          <a:p>
            <a:pPr lvl="1" eaLnBrk="1" hangingPunct="1"/>
            <a:endParaRPr lang="en-US" sz="1800" smtClean="0">
              <a:sym typeface="Symbol" pitchFamily="18" charset="2"/>
            </a:endParaRPr>
          </a:p>
          <a:p>
            <a:pPr eaLnBrk="1" hangingPunct="1"/>
            <a:r>
              <a:rPr lang="en-US" sz="1800" b="1" smtClean="0">
                <a:sym typeface="Symbol" pitchFamily="18" charset="2"/>
              </a:rPr>
              <a:t>Pager </a:t>
            </a:r>
            <a:r>
              <a:rPr lang="en-US" sz="1800" smtClean="0">
                <a:sym typeface="Symbol" pitchFamily="18" charset="2"/>
              </a:rPr>
              <a:t>never brings a page into memory unless page will be needed</a:t>
            </a:r>
          </a:p>
          <a:p>
            <a:pPr eaLnBrk="1" hangingPunct="1"/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79B7DD0-1691-4622-BAF9-DF21DE595593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Valid-Invalid Bit</a:t>
            </a: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468313" y="1530350"/>
            <a:ext cx="8713787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/>
              <a:t>With each </a:t>
            </a:r>
            <a:r>
              <a:rPr lang="en-US" b="1"/>
              <a:t>page table entry</a:t>
            </a:r>
            <a:r>
              <a:rPr lang="en-US"/>
              <a:t> a </a:t>
            </a:r>
            <a:r>
              <a:rPr lang="en-US">
                <a:solidFill>
                  <a:srgbClr val="FF3300"/>
                </a:solidFill>
              </a:rPr>
              <a:t>valid–invalid bit</a:t>
            </a:r>
            <a:r>
              <a:rPr lang="en-US"/>
              <a:t> is associated</a:t>
            </a:r>
            <a:br>
              <a:rPr lang="en-US"/>
            </a:br>
            <a:r>
              <a:rPr lang="en-US"/>
              <a:t>(</a:t>
            </a:r>
            <a:r>
              <a:rPr lang="en-US" b="1"/>
              <a:t>v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 in-memory, </a:t>
            </a:r>
            <a:r>
              <a:rPr lang="en-US" b="1">
                <a:sym typeface="Symbol" pitchFamily="18" charset="2"/>
              </a:rPr>
              <a:t>i</a:t>
            </a:r>
            <a:r>
              <a:rPr lang="en-US">
                <a:sym typeface="Symbol" pitchFamily="18" charset="2"/>
              </a:rPr>
              <a:t>  not-in-memory)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>
                <a:sym typeface="Symbol" pitchFamily="18" charset="2"/>
              </a:rPr>
              <a:t>Initially valid–invalid bit is set to</a:t>
            </a:r>
            <a:r>
              <a:rPr lang="en-US" b="1">
                <a:sym typeface="Symbol" pitchFamily="18" charset="2"/>
              </a:rPr>
              <a:t> i </a:t>
            </a:r>
            <a:r>
              <a:rPr lang="en-US">
                <a:sym typeface="Symbol" pitchFamily="18" charset="2"/>
              </a:rPr>
              <a:t>on all entries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>
                <a:sym typeface="Symbol" pitchFamily="18" charset="2"/>
              </a:rPr>
              <a:t>Example of a page table snapshot:</a:t>
            </a:r>
            <a:br>
              <a:rPr lang="en-US">
                <a:sym typeface="Symbol" pitchFamily="18" charset="2"/>
              </a:rPr>
            </a:br>
            <a:r>
              <a:rPr lang="en-US" sz="1600">
                <a:sym typeface="Symbol" pitchFamily="18" charset="2"/>
              </a:rPr>
              <a:t/>
            </a:r>
            <a:br>
              <a:rPr lang="en-US" sz="1600">
                <a:sym typeface="Symbol" pitchFamily="18" charset="2"/>
              </a:rPr>
            </a:br>
            <a:r>
              <a:rPr lang="en-US" sz="1600">
                <a:sym typeface="Symbol" pitchFamily="18" charset="2"/>
              </a:rPr>
              <a:t/>
            </a:r>
            <a:br>
              <a:rPr lang="en-US" sz="1600">
                <a:sym typeface="Symbol" pitchFamily="18" charset="2"/>
              </a:rPr>
            </a:br>
            <a:endParaRPr lang="en-US" sz="1600">
              <a:sym typeface="Symbol" pitchFamily="18" charset="2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</a:pPr>
            <a:r>
              <a:rPr lang="en-US" sz="1600">
                <a:sym typeface="Symbol" pitchFamily="18" charset="2"/>
              </a:rPr>
              <a:t/>
            </a:r>
            <a:br>
              <a:rPr lang="en-US" sz="1600">
                <a:sym typeface="Symbol" pitchFamily="18" charset="2"/>
              </a:rPr>
            </a:br>
            <a:r>
              <a:rPr lang="en-US" sz="1600">
                <a:sym typeface="Symbol" pitchFamily="18" charset="2"/>
              </a:rPr>
              <a:t/>
            </a:r>
            <a:br>
              <a:rPr lang="en-US" sz="1600">
                <a:sym typeface="Symbol" pitchFamily="18" charset="2"/>
              </a:rPr>
            </a:br>
            <a:r>
              <a:rPr lang="en-US" sz="1600">
                <a:sym typeface="Symbol" pitchFamily="18" charset="2"/>
              </a:rPr>
              <a:t/>
            </a:r>
            <a:br>
              <a:rPr lang="en-US" sz="1600">
                <a:sym typeface="Symbol" pitchFamily="18" charset="2"/>
              </a:rPr>
            </a:br>
            <a:r>
              <a:rPr lang="en-US" sz="1600">
                <a:sym typeface="Symbol" pitchFamily="18" charset="2"/>
              </a:rPr>
              <a:t/>
            </a:r>
            <a:br>
              <a:rPr lang="en-US" sz="1600">
                <a:sym typeface="Symbol" pitchFamily="18" charset="2"/>
              </a:rPr>
            </a:br>
            <a:r>
              <a:rPr lang="en-US" sz="1600">
                <a:sym typeface="Symbol" pitchFamily="18" charset="2"/>
              </a:rPr>
              <a:t/>
            </a:r>
            <a:br>
              <a:rPr lang="en-US" sz="1600">
                <a:sym typeface="Symbol" pitchFamily="18" charset="2"/>
              </a:rPr>
            </a:br>
            <a:r>
              <a:rPr lang="en-US" sz="1600">
                <a:sym typeface="Symbol" pitchFamily="18" charset="2"/>
              </a:rPr>
              <a:t/>
            </a:r>
            <a:br>
              <a:rPr lang="en-US" sz="1600">
                <a:sym typeface="Symbol" pitchFamily="18" charset="2"/>
              </a:rPr>
            </a:br>
            <a:r>
              <a:rPr lang="en-US" sz="1600">
                <a:sym typeface="Symbol" pitchFamily="18" charset="2"/>
              </a:rPr>
              <a:t/>
            </a:r>
            <a:br>
              <a:rPr lang="en-US" sz="1600">
                <a:sym typeface="Symbol" pitchFamily="18" charset="2"/>
              </a:rPr>
            </a:br>
            <a:r>
              <a:rPr lang="en-US" sz="1600">
                <a:sym typeface="Symbol" pitchFamily="18" charset="2"/>
              </a:rPr>
              <a:t/>
            </a:r>
            <a:br>
              <a:rPr lang="en-US" sz="1600">
                <a:sym typeface="Symbol" pitchFamily="18" charset="2"/>
              </a:rPr>
            </a:br>
            <a:endParaRPr lang="en-US" sz="1600">
              <a:sym typeface="Symbol" pitchFamily="18" charset="2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</a:pPr>
            <a:endParaRPr lang="en-US" sz="1600">
              <a:sym typeface="Symbol" pitchFamily="18" charset="2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>
                <a:sym typeface="Symbol" pitchFamily="18" charset="2"/>
              </a:rPr>
              <a:t>During address translation, if valid–invalid bit in page table entry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      is</a:t>
            </a:r>
            <a:r>
              <a:rPr lang="en-US" b="1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b="1">
                <a:sym typeface="Symbol" pitchFamily="18" charset="2"/>
              </a:rPr>
              <a:t>i</a:t>
            </a:r>
            <a:r>
              <a:rPr lang="en-US">
                <a:sym typeface="Symbol" pitchFamily="18" charset="2"/>
              </a:rPr>
              <a:t>  page fault</a:t>
            </a:r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5618163" y="2638425"/>
            <a:ext cx="1878012" cy="2667000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tr-TR"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9222" name="Line 5"/>
          <p:cNvSpPr>
            <a:spLocks noChangeShapeType="1"/>
          </p:cNvSpPr>
          <p:nvPr/>
        </p:nvSpPr>
        <p:spPr bwMode="auto">
          <a:xfrm>
            <a:off x="5568950" y="29225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Line 6"/>
          <p:cNvSpPr>
            <a:spLocks noChangeShapeType="1"/>
          </p:cNvSpPr>
          <p:nvPr/>
        </p:nvSpPr>
        <p:spPr bwMode="auto">
          <a:xfrm>
            <a:off x="5568950" y="32273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Line 7"/>
          <p:cNvSpPr>
            <a:spLocks noChangeShapeType="1"/>
          </p:cNvSpPr>
          <p:nvPr/>
        </p:nvSpPr>
        <p:spPr bwMode="auto">
          <a:xfrm>
            <a:off x="5568950" y="35321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Line 8"/>
          <p:cNvSpPr>
            <a:spLocks noChangeShapeType="1"/>
          </p:cNvSpPr>
          <p:nvPr/>
        </p:nvSpPr>
        <p:spPr bwMode="auto">
          <a:xfrm>
            <a:off x="5568950" y="38369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>
            <a:off x="5568950" y="41417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>
            <a:off x="5568950" y="46990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>
            <a:off x="5568950" y="49799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>
            <a:off x="7016750" y="2312988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7094538" y="2589213"/>
            <a:ext cx="307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latin typeface="Helvetica" pitchFamily="-84" charset="0"/>
                <a:ea typeface="ＭＳ Ｐゴシック" pitchFamily="34" charset="-128"/>
              </a:rPr>
              <a:t>v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7096125" y="2889250"/>
            <a:ext cx="307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latin typeface="Helvetica" pitchFamily="-84" charset="0"/>
                <a:ea typeface="ＭＳ Ｐゴシック" pitchFamily="34" charset="-128"/>
              </a:rPr>
              <a:t>v</a:t>
            </a: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7094538" y="3189288"/>
            <a:ext cx="307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latin typeface="Helvetica" pitchFamily="-84" charset="0"/>
                <a:ea typeface="ＭＳ Ｐゴシック" pitchFamily="34" charset="-128"/>
              </a:rPr>
              <a:t>v</a:t>
            </a:r>
          </a:p>
        </p:txBody>
      </p: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7096125" y="3517900"/>
            <a:ext cx="307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latin typeface="Helvetica" pitchFamily="-84" charset="0"/>
                <a:ea typeface="ＭＳ Ｐゴシック" pitchFamily="34" charset="-128"/>
              </a:rPr>
              <a:t>v</a:t>
            </a: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7124700" y="3836988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latin typeface="Helvetica" pitchFamily="-84" charset="0"/>
                <a:ea typeface="ＭＳ Ｐゴシック" pitchFamily="34" charset="-128"/>
              </a:rPr>
              <a:t>i</a:t>
            </a: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7124700" y="4675188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latin typeface="Helvetica" pitchFamily="-84" charset="0"/>
                <a:ea typeface="ＭＳ Ｐゴシック" pitchFamily="34" charset="-128"/>
              </a:rPr>
              <a:t>i</a:t>
            </a:r>
          </a:p>
        </p:txBody>
      </p:sp>
      <p:sp>
        <p:nvSpPr>
          <p:cNvPr id="9236" name="Text Box 20"/>
          <p:cNvSpPr txBox="1">
            <a:spLocks noChangeArrowheads="1"/>
          </p:cNvSpPr>
          <p:nvPr/>
        </p:nvSpPr>
        <p:spPr bwMode="auto">
          <a:xfrm>
            <a:off x="7124700" y="4979988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latin typeface="Helvetica" pitchFamily="-84" charset="0"/>
                <a:ea typeface="ＭＳ Ｐゴシック" pitchFamily="34" charset="-128"/>
              </a:rPr>
              <a:t>i</a:t>
            </a:r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6070600" y="4217988"/>
            <a:ext cx="476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….</a:t>
            </a:r>
          </a:p>
        </p:txBody>
      </p:sp>
      <p:sp>
        <p:nvSpPr>
          <p:cNvPr id="9238" name="Text Box 22"/>
          <p:cNvSpPr txBox="1">
            <a:spLocks noChangeArrowheads="1"/>
          </p:cNvSpPr>
          <p:nvPr/>
        </p:nvSpPr>
        <p:spPr bwMode="auto">
          <a:xfrm>
            <a:off x="5924550" y="2312988"/>
            <a:ext cx="8429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latin typeface="Helvetica" pitchFamily="-84" charset="0"/>
                <a:ea typeface="ＭＳ Ｐゴシック" pitchFamily="34" charset="-128"/>
              </a:rPr>
              <a:t>Frame #</a:t>
            </a:r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7040563" y="2312988"/>
            <a:ext cx="1347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latin typeface="Helvetica" pitchFamily="-84" charset="0"/>
                <a:ea typeface="ＭＳ Ｐゴシック" pitchFamily="34" charset="-128"/>
              </a:rPr>
              <a:t>valid-invalid bit</a:t>
            </a: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6119813" y="5284788"/>
            <a:ext cx="10112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latin typeface="Helvetica" pitchFamily="-84" charset="0"/>
                <a:ea typeface="ＭＳ Ｐゴシック" pitchFamily="34" charset="-128"/>
              </a:rPr>
              <a:t>page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AECAD58-CA20-482C-BBE5-855E6A313495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Page Table When Some Pages Are Not in Main Memory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52625" y="1584325"/>
            <a:ext cx="474345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9FF3AC3-17BE-42D5-95BC-6DA979140A4D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Page Fault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557338"/>
            <a:ext cx="8496300" cy="4679950"/>
          </a:xfrm>
        </p:spPr>
        <p:txBody>
          <a:bodyPr/>
          <a:lstStyle/>
          <a:p>
            <a:pPr eaLnBrk="1" hangingPunct="1"/>
            <a:r>
              <a:rPr lang="en-US" sz="1800" smtClean="0"/>
              <a:t>When CPU makes a memory reference (i.e. page reference), HW consults the  page table. If entry is invalid, then exception occurs and kernel gets executed.  </a:t>
            </a:r>
            <a:endParaRPr lang="en-US" sz="1800" b="1" smtClean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en-US" sz="1800" b="1" smtClean="0">
                <a:sym typeface="Symbol" pitchFamily="18" charset="2"/>
              </a:rPr>
              <a:t>Kernel handling such as case:</a:t>
            </a:r>
          </a:p>
          <a:p>
            <a:pPr eaLnBrk="1" hangingPunct="1">
              <a:buFont typeface="Monotype Sorts" charset="2"/>
              <a:buAutoNum type="arabicPeriod"/>
            </a:pPr>
            <a:r>
              <a:rPr lang="en-US" sz="1800" smtClean="0">
                <a:sym typeface="Symbol" pitchFamily="18" charset="2"/>
              </a:rPr>
              <a:t>Kernel looks at another table to decide:</a:t>
            </a:r>
          </a:p>
          <a:p>
            <a:pPr lvl="1" eaLnBrk="1" hangingPunct="1"/>
            <a:r>
              <a:rPr lang="en-US" sz="1800" smtClean="0"/>
              <a:t>Invalid reference (page is in </a:t>
            </a:r>
            <a:r>
              <a:rPr lang="en-US" sz="1800" i="1" smtClean="0"/>
              <a:t>unused</a:t>
            </a:r>
            <a:r>
              <a:rPr lang="en-US" sz="1800" smtClean="0"/>
              <a:t> portion of address space) </a:t>
            </a:r>
            <a:r>
              <a:rPr lang="en-US" sz="1800" smtClean="0">
                <a:sym typeface="Wingdings" pitchFamily="2" charset="2"/>
              </a:rPr>
              <a:t></a:t>
            </a:r>
            <a:r>
              <a:rPr lang="en-US" sz="1800" smtClean="0">
                <a:sym typeface="Symbol" pitchFamily="18" charset="2"/>
              </a:rPr>
              <a:t> </a:t>
            </a:r>
            <a:r>
              <a:rPr lang="en-US" sz="1800" smtClean="0">
                <a:solidFill>
                  <a:srgbClr val="FF3300"/>
                </a:solidFill>
                <a:sym typeface="Symbol" pitchFamily="18" charset="2"/>
              </a:rPr>
              <a:t>Abort</a:t>
            </a:r>
          </a:p>
          <a:p>
            <a:pPr lvl="1" eaLnBrk="1" hangingPunct="1"/>
            <a:r>
              <a:rPr lang="en-US" sz="1800" smtClean="0">
                <a:sym typeface="Symbol" pitchFamily="18" charset="2"/>
              </a:rPr>
              <a:t>Just not in memory (page is in used portion, but not in RAM) </a:t>
            </a:r>
            <a:r>
              <a:rPr lang="en-US" sz="1800" smtClean="0">
                <a:sym typeface="Wingdings" pitchFamily="2" charset="2"/>
              </a:rPr>
              <a:t></a:t>
            </a:r>
            <a:r>
              <a:rPr lang="en-US" sz="1800" smtClean="0">
                <a:sym typeface="Symbol" pitchFamily="18" charset="2"/>
              </a:rPr>
              <a:t> </a:t>
            </a:r>
            <a:r>
              <a:rPr lang="en-US" sz="1800" smtClean="0">
                <a:solidFill>
                  <a:srgbClr val="FF3300"/>
                </a:solidFill>
                <a:sym typeface="Symbol" pitchFamily="18" charset="2"/>
              </a:rPr>
              <a:t>Page Fault</a:t>
            </a:r>
          </a:p>
          <a:p>
            <a:pPr eaLnBrk="1" hangingPunct="1">
              <a:buFont typeface="Monotype Sorts" charset="2"/>
              <a:buAutoNum type="arabicPeriod"/>
            </a:pPr>
            <a:r>
              <a:rPr lang="en-US" sz="1800" smtClean="0">
                <a:sym typeface="Symbol" pitchFamily="18" charset="2"/>
              </a:rPr>
              <a:t>Get empty frame </a:t>
            </a:r>
            <a:br>
              <a:rPr lang="en-US" sz="1800" smtClean="0">
                <a:sym typeface="Symbol" pitchFamily="18" charset="2"/>
              </a:rPr>
            </a:br>
            <a:r>
              <a:rPr lang="en-US" sz="1800" smtClean="0">
                <a:sym typeface="Symbol" pitchFamily="18" charset="2"/>
              </a:rPr>
              <a:t>(we may need to remove a page; if removed page is modified, we need </a:t>
            </a:r>
            <a:r>
              <a:rPr lang="en-US" sz="1800" b="1" smtClean="0">
                <a:sym typeface="Symbol" pitchFamily="18" charset="2"/>
              </a:rPr>
              <a:t>disk I/O</a:t>
            </a:r>
            <a:r>
              <a:rPr lang="en-US" sz="1800" smtClean="0">
                <a:sym typeface="Symbol" pitchFamily="18" charset="2"/>
              </a:rPr>
              <a:t> to swap it out)</a:t>
            </a:r>
          </a:p>
          <a:p>
            <a:pPr eaLnBrk="1" hangingPunct="1">
              <a:buFont typeface="Monotype Sorts" charset="2"/>
              <a:buAutoNum type="arabicPeriod"/>
            </a:pPr>
            <a:r>
              <a:rPr lang="en-US" sz="1800" smtClean="0">
                <a:sym typeface="Symbol" pitchFamily="18" charset="2"/>
              </a:rPr>
              <a:t>Swap page into frame </a:t>
            </a:r>
            <a:br>
              <a:rPr lang="en-US" sz="1800" smtClean="0">
                <a:sym typeface="Symbol" pitchFamily="18" charset="2"/>
              </a:rPr>
            </a:br>
            <a:r>
              <a:rPr lang="en-US" sz="1800" smtClean="0">
                <a:sym typeface="Symbol" pitchFamily="18" charset="2"/>
              </a:rPr>
              <a:t>(we need </a:t>
            </a:r>
            <a:r>
              <a:rPr lang="en-US" sz="1800" b="1" smtClean="0">
                <a:sym typeface="Symbol" pitchFamily="18" charset="2"/>
              </a:rPr>
              <a:t>disk I/O</a:t>
            </a:r>
            <a:r>
              <a:rPr lang="en-US" sz="1800" smtClean="0">
                <a:sym typeface="Symbol" pitchFamily="18" charset="2"/>
              </a:rPr>
              <a:t>)</a:t>
            </a:r>
          </a:p>
          <a:p>
            <a:pPr eaLnBrk="1" hangingPunct="1">
              <a:buFont typeface="Monotype Sorts" charset="2"/>
              <a:buAutoNum type="arabicPeriod"/>
            </a:pPr>
            <a:r>
              <a:rPr lang="en-US" sz="1800" smtClean="0">
                <a:sym typeface="Symbol" pitchFamily="18" charset="2"/>
              </a:rPr>
              <a:t>Reset tables (install mapping into page table)</a:t>
            </a:r>
          </a:p>
          <a:p>
            <a:pPr eaLnBrk="1" hangingPunct="1">
              <a:buFont typeface="Monotype Sorts" charset="2"/>
              <a:buAutoNum type="arabicPeriod"/>
            </a:pPr>
            <a:r>
              <a:rPr lang="en-US" sz="1800" smtClean="0">
                <a:sym typeface="Symbol" pitchFamily="18" charset="2"/>
              </a:rPr>
              <a:t>Set validation bit = </a:t>
            </a:r>
            <a:r>
              <a:rPr lang="en-US" sz="1800" b="1" smtClean="0">
                <a:sym typeface="Symbol" pitchFamily="18" charset="2"/>
              </a:rPr>
              <a:t>v</a:t>
            </a:r>
            <a:endParaRPr lang="en-US" sz="1800" smtClean="0">
              <a:sym typeface="Symbol" pitchFamily="18" charset="2"/>
            </a:endParaRPr>
          </a:p>
          <a:p>
            <a:pPr eaLnBrk="1" hangingPunct="1">
              <a:buFont typeface="Monotype Sorts" charset="2"/>
              <a:buAutoNum type="arabicPeriod"/>
            </a:pPr>
            <a:r>
              <a:rPr lang="en-US" sz="1800" smtClean="0">
                <a:sym typeface="Symbol" pitchFamily="18" charset="2"/>
              </a:rPr>
              <a:t>Restart the instruction that caused the page fault</a:t>
            </a:r>
          </a:p>
          <a:p>
            <a:pPr eaLnBrk="1" hangingPunct="1"/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7DE4EFD-E3C2-486E-839E-6DB2554206EC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Page Fault (Cont.)</a:t>
            </a: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811213" y="1557338"/>
            <a:ext cx="77025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dirty="0">
                <a:sym typeface="Symbol" pitchFamily="18" charset="2"/>
              </a:rPr>
              <a:t>If page fault occurs when trying to fetch an instruction, fetch the instruction again after bringing the page in. 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dirty="0">
                <a:sym typeface="Symbol" pitchFamily="18" charset="2"/>
              </a:rPr>
              <a:t>If page fault occurs while we are executing an instruction: Restart the instruction after bringing the page in. 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sym typeface="Symbol" pitchFamily="18" charset="2"/>
              </a:rPr>
              <a:t/>
            </a:r>
            <a:br>
              <a:rPr lang="en-US" sz="1600" dirty="0">
                <a:sym typeface="Symbol" pitchFamily="18" charset="2"/>
              </a:rPr>
            </a:br>
            <a:r>
              <a:rPr lang="en-US" sz="1600" dirty="0">
                <a:sym typeface="Symbol" pitchFamily="18" charset="2"/>
              </a:rPr>
              <a:t/>
            </a:r>
            <a:br>
              <a:rPr lang="en-US" sz="1600" dirty="0">
                <a:sym typeface="Symbol" pitchFamily="18" charset="2"/>
              </a:rPr>
            </a:br>
            <a:r>
              <a:rPr lang="en-US" sz="1600" dirty="0">
                <a:sym typeface="Symbol" pitchFamily="18" charset="2"/>
              </a:rPr>
              <a:t/>
            </a:r>
            <a:br>
              <a:rPr lang="en-US" sz="1600" dirty="0">
                <a:sym typeface="Symbol" pitchFamily="18" charset="2"/>
              </a:rPr>
            </a:br>
            <a:r>
              <a:rPr lang="en-US" sz="1600" dirty="0">
                <a:sym typeface="Symbol" pitchFamily="18" charset="2"/>
              </a:rPr>
              <a:t/>
            </a:r>
            <a:br>
              <a:rPr lang="en-US" sz="1600" dirty="0">
                <a:sym typeface="Symbol" pitchFamily="18" charset="2"/>
              </a:rPr>
            </a:br>
            <a:endParaRPr lang="en-US" sz="1600" dirty="0">
              <a:sym typeface="Symbol" pitchFamily="18" charset="2"/>
            </a:endParaRP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sym typeface="Symbol" pitchFamily="18" charset="2"/>
            </a:endParaRP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sym typeface="Symbol" pitchFamily="18" charset="2"/>
            </a:endParaRP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27B5396-17F1-4AAA-9ADB-E2519C0098C3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1331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Steps in Handling a Page Fault</a:t>
            </a:r>
          </a:p>
        </p:txBody>
      </p:sp>
      <p:pic>
        <p:nvPicPr>
          <p:cNvPr id="13316" name="Picture 5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1454150" y="1557338"/>
            <a:ext cx="6213475" cy="4679950"/>
          </a:xfrm>
          <a:noFill/>
        </p:spPr>
      </p:pic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6877050" y="3429000"/>
            <a:ext cx="790575" cy="64135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swap </a:t>
            </a:r>
          </a:p>
          <a:p>
            <a:r>
              <a:rPr lang="en-US">
                <a:solidFill>
                  <a:srgbClr val="000000"/>
                </a:solidFill>
              </a:rPr>
              <a:t>space</a:t>
            </a:r>
          </a:p>
        </p:txBody>
      </p:sp>
      <p:sp>
        <p:nvSpPr>
          <p:cNvPr id="13318" name="Rectangle 7"/>
          <p:cNvSpPr>
            <a:spLocks noChangeArrowheads="1"/>
          </p:cNvSpPr>
          <p:nvPr/>
        </p:nvSpPr>
        <p:spPr bwMode="auto">
          <a:xfrm>
            <a:off x="6156325" y="2781300"/>
            <a:ext cx="1439863" cy="1368425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4F5274A-CD60-465C-A002-C71F2BCA3636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What happens if there is no free frame?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1800" dirty="0" smtClean="0">
                <a:solidFill>
                  <a:srgbClr val="FF3300"/>
                </a:solidFill>
              </a:rPr>
              <a:t>Page replacement</a:t>
            </a:r>
            <a:r>
              <a:rPr lang="en-US" sz="1800" dirty="0" smtClean="0"/>
              <a:t> – find some page in memory, but not really in use, swap it out</a:t>
            </a:r>
          </a:p>
          <a:p>
            <a:pPr eaLnBrk="1" hangingPunct="1"/>
            <a:endParaRPr lang="en-US" sz="1800" dirty="0" smtClean="0"/>
          </a:p>
          <a:p>
            <a:pPr lvl="1" eaLnBrk="1" hangingPunct="1"/>
            <a:r>
              <a:rPr lang="en-US" sz="1800" dirty="0" smtClean="0"/>
              <a:t>Algorithm ? Which page should be remove?</a:t>
            </a:r>
          </a:p>
          <a:p>
            <a:pPr lvl="1" eaLnBrk="1" hangingPunct="1"/>
            <a:endParaRPr lang="en-US" sz="1800" dirty="0" smtClean="0"/>
          </a:p>
          <a:p>
            <a:pPr lvl="1" eaLnBrk="1" hangingPunct="1"/>
            <a:r>
              <a:rPr lang="en-US" sz="1800" dirty="0" smtClean="0"/>
              <a:t>performance – want an algorithm which will result in </a:t>
            </a:r>
            <a:r>
              <a:rPr lang="en-US" sz="1800" dirty="0" smtClean="0">
                <a:solidFill>
                  <a:srgbClr val="FF3300"/>
                </a:solidFill>
              </a:rPr>
              <a:t>minimum number of page faults</a:t>
            </a:r>
          </a:p>
          <a:p>
            <a:pPr lvl="1" eaLnBrk="1" hangingPunct="1"/>
            <a:endParaRPr lang="en-US" sz="1800" dirty="0" smtClean="0">
              <a:solidFill>
                <a:srgbClr val="FF3300"/>
              </a:solidFill>
            </a:endParaRPr>
          </a:p>
          <a:p>
            <a:pPr eaLnBrk="1" hangingPunct="1"/>
            <a:r>
              <a:rPr lang="en-US" sz="1800" dirty="0" smtClean="0"/>
              <a:t>With page replacement, same page may be brought into memory several times</a:t>
            </a:r>
          </a:p>
          <a:p>
            <a:pPr eaLnBrk="1" hangingPunct="1">
              <a:buNone/>
            </a:pPr>
            <a:r>
              <a:rPr lang="en-US" sz="1800" dirty="0" smtClean="0"/>
              <a:t/>
            </a:r>
            <a:br>
              <a:rPr lang="en-US" sz="1800" dirty="0" smtClean="0"/>
            </a:br>
            <a:endParaRPr lang="en-US" sz="1800" dirty="0" smtClean="0"/>
          </a:p>
          <a:p>
            <a:pPr eaLnBrk="1" hangingPunct="1"/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3C24E99-ADBA-4795-9208-FE504F3DECDE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Need For Page Replacement</a:t>
            </a:r>
          </a:p>
        </p:txBody>
      </p:sp>
      <p:pic>
        <p:nvPicPr>
          <p:cNvPr id="2355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92250" y="1473200"/>
            <a:ext cx="6464300" cy="484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Text Box 6"/>
          <p:cNvSpPr txBox="1">
            <a:spLocks noChangeArrowheads="1"/>
          </p:cNvSpPr>
          <p:nvPr/>
        </p:nvSpPr>
        <p:spPr bwMode="auto">
          <a:xfrm>
            <a:off x="4589463" y="5191125"/>
            <a:ext cx="2936875" cy="11906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While executing “load M”</a:t>
            </a:r>
          </a:p>
          <a:p>
            <a:r>
              <a:rPr lang="en-US" b="1">
                <a:solidFill>
                  <a:srgbClr val="000000"/>
                </a:solidFill>
              </a:rPr>
              <a:t>we will have a page</a:t>
            </a:r>
            <a:br>
              <a:rPr lang="en-US" b="1">
                <a:solidFill>
                  <a:srgbClr val="000000"/>
                </a:solidFill>
              </a:rPr>
            </a:br>
            <a:r>
              <a:rPr lang="en-US" b="1">
                <a:solidFill>
                  <a:srgbClr val="000000"/>
                </a:solidFill>
              </a:rPr>
              <a:t>fault and we need </a:t>
            </a:r>
          </a:p>
          <a:p>
            <a:r>
              <a:rPr lang="en-US" b="1">
                <a:solidFill>
                  <a:srgbClr val="000000"/>
                </a:solidFill>
              </a:rPr>
              <a:t>page replacement</a:t>
            </a:r>
            <a:r>
              <a:rPr lang="en-US">
                <a:solidFill>
                  <a:srgbClr val="000000"/>
                </a:solidFill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DFA18F4-C98A-49C1-A424-E4651EED1D63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Basic Page Replacement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81000" indent="-381000" eaLnBrk="1" hangingPunct="1">
              <a:buFont typeface="Monotype Sorts" charset="2"/>
              <a:buAutoNum type="arabicPeriod"/>
            </a:pPr>
            <a:endParaRPr lang="en-US" sz="1800" smtClean="0"/>
          </a:p>
          <a:p>
            <a:pPr marL="381000" indent="-381000" eaLnBrk="1" hangingPunct="1">
              <a:buFont typeface="Monotype Sorts" charset="2"/>
              <a:buNone/>
            </a:pPr>
            <a:r>
              <a:rPr lang="en-US" sz="1800" smtClean="0"/>
              <a:t>Steps performed by OS while replacing a page upon a page fault: </a:t>
            </a:r>
          </a:p>
          <a:p>
            <a:pPr marL="381000" indent="-381000" eaLnBrk="1" hangingPunct="1">
              <a:buFont typeface="Monotype Sorts" charset="2"/>
              <a:buAutoNum type="arabicPeriod"/>
            </a:pPr>
            <a:endParaRPr lang="en-US" sz="1800" smtClean="0"/>
          </a:p>
          <a:p>
            <a:pPr marL="381000" indent="-381000" eaLnBrk="1" hangingPunct="1">
              <a:buFont typeface="Monotype Sorts" charset="2"/>
              <a:buAutoNum type="arabicPeriod"/>
            </a:pPr>
            <a:r>
              <a:rPr lang="en-US" sz="1800" smtClean="0"/>
              <a:t>Find the location of the desired page on disk</a:t>
            </a:r>
            <a:br>
              <a:rPr lang="en-US" sz="1800" smtClean="0"/>
            </a:br>
            <a:endParaRPr lang="en-US" sz="1800" smtClean="0"/>
          </a:p>
          <a:p>
            <a:pPr marL="381000" indent="-381000" eaLnBrk="1" hangingPunct="1">
              <a:buFont typeface="Monotype Sorts" charset="2"/>
              <a:buAutoNum type="arabicPeriod"/>
            </a:pPr>
            <a:r>
              <a:rPr lang="en-US" sz="1800" smtClean="0"/>
              <a:t>Find a free frame:</a:t>
            </a:r>
            <a:br>
              <a:rPr lang="en-US" sz="1800" smtClean="0"/>
            </a:br>
            <a:r>
              <a:rPr lang="en-US" sz="1800" smtClean="0"/>
              <a:t>   -  If there is a free frame, use it</a:t>
            </a:r>
            <a:br>
              <a:rPr lang="en-US" sz="1800" smtClean="0"/>
            </a:br>
            <a:r>
              <a:rPr lang="en-US" sz="1800" smtClean="0"/>
              <a:t>   -  If there is no free frame, use a page replacement algorithm to select a </a:t>
            </a:r>
            <a:r>
              <a:rPr lang="en-US" sz="1800" b="1" smtClean="0"/>
              <a:t>victim</a:t>
            </a:r>
            <a:r>
              <a:rPr lang="en-US" sz="1800" smtClean="0">
                <a:solidFill>
                  <a:srgbClr val="3366FF"/>
                </a:solidFill>
              </a:rPr>
              <a:t> </a:t>
            </a:r>
            <a:r>
              <a:rPr lang="en-US" sz="1800" smtClean="0"/>
              <a:t>frame; if the victim page is modified, write it back to disk. </a:t>
            </a:r>
          </a:p>
          <a:p>
            <a:pPr marL="381000" indent="-381000" eaLnBrk="1" hangingPunct="1">
              <a:buFont typeface="Monotype Sorts" charset="2"/>
              <a:buAutoNum type="arabicPeriod"/>
            </a:pPr>
            <a:endParaRPr lang="en-US" sz="1800" smtClean="0"/>
          </a:p>
          <a:p>
            <a:pPr marL="381000" indent="-381000" eaLnBrk="1" hangingPunct="1">
              <a:buFont typeface="Monotype Sorts" charset="2"/>
              <a:buAutoNum type="arabicPeriod"/>
            </a:pPr>
            <a:r>
              <a:rPr lang="en-US" sz="1800" smtClean="0"/>
              <a:t>Bring  the desired page into the (new) free frame; update the page and frame tables</a:t>
            </a:r>
            <a:br>
              <a:rPr lang="en-US" sz="1800" smtClean="0"/>
            </a:br>
            <a:endParaRPr lang="en-US" sz="1800" smtClean="0"/>
          </a:p>
          <a:p>
            <a:pPr marL="381000" indent="-381000" eaLnBrk="1" hangingPunct="1">
              <a:buFont typeface="Monotype Sorts" charset="2"/>
              <a:buAutoNum type="arabicPeriod"/>
            </a:pPr>
            <a:r>
              <a:rPr lang="en-US" sz="1800" smtClean="0"/>
              <a:t>Restart the process</a:t>
            </a:r>
          </a:p>
          <a:p>
            <a:pPr marL="381000" indent="-381000" eaLnBrk="1" hangingPunct="1"/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C6EC282-695F-446F-976A-4C5B8964CB8E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Page Replacement</a:t>
            </a:r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4775" y="1527175"/>
            <a:ext cx="6488113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1069276-F233-4982-BDE5-02BE3F243AFD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Page Replacement Algorithms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1800" smtClean="0"/>
              <a:t>Want lowest page-fault rate</a:t>
            </a:r>
          </a:p>
          <a:p>
            <a:pPr eaLnBrk="1" hangingPunct="1">
              <a:buFontTx/>
              <a:buNone/>
            </a:pPr>
            <a:endParaRPr lang="en-US" sz="1800" smtClean="0"/>
          </a:p>
          <a:p>
            <a:pPr eaLnBrk="1" hangingPunct="1"/>
            <a:r>
              <a:rPr lang="en-US" sz="1800" smtClean="0"/>
              <a:t>Evaluate algorithm by running it on a particular string of memory references (reference string) and computing the number of page faults on that string</a:t>
            </a:r>
          </a:p>
          <a:p>
            <a:pPr eaLnBrk="1" hangingPunct="1">
              <a:buFontTx/>
              <a:buNone/>
            </a:pPr>
            <a:endParaRPr lang="en-US" sz="1800" smtClean="0"/>
          </a:p>
          <a:p>
            <a:pPr eaLnBrk="1" hangingPunct="1"/>
            <a:r>
              <a:rPr lang="en-US" sz="1800" smtClean="0"/>
              <a:t>In all our examples, the reference string is </a:t>
            </a:r>
          </a:p>
          <a:p>
            <a:pPr eaLnBrk="1" hangingPunct="1">
              <a:buFontTx/>
              <a:buNone/>
            </a:pPr>
            <a:r>
              <a:rPr lang="en-US" sz="1800" smtClean="0"/>
              <a:t>	   </a:t>
            </a:r>
          </a:p>
          <a:p>
            <a:pPr eaLnBrk="1" hangingPunct="1">
              <a:buFontTx/>
              <a:buNone/>
            </a:pPr>
            <a:r>
              <a:rPr lang="en-US" sz="1800" b="1" smtClean="0"/>
              <a:t>               1, 2, 3, 4, 1, 2, 5, 1, 2, 3, 4, 5</a:t>
            </a:r>
          </a:p>
          <a:p>
            <a:pPr eaLnBrk="1" hangingPunct="1"/>
            <a:endParaRPr lang="en-US" sz="18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D3C1C67-36D3-4970-9141-B529797117A0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Driving reference string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1800" smtClean="0"/>
              <a:t>Assume process makes the following memory references (in </a:t>
            </a:r>
            <a:r>
              <a:rPr lang="en-US" sz="1800" b="1" smtClean="0"/>
              <a:t>decimal</a:t>
            </a:r>
            <a:r>
              <a:rPr lang="en-US" sz="1800" smtClean="0"/>
              <a:t>) in a system with 100 bytes per page: </a:t>
            </a:r>
          </a:p>
          <a:p>
            <a:pPr eaLnBrk="1" hangingPunct="1"/>
            <a:endParaRPr lang="en-US" sz="1800" smtClean="0"/>
          </a:p>
          <a:p>
            <a:pPr eaLnBrk="1" hangingPunct="1"/>
            <a:r>
              <a:rPr lang="en-US" sz="1800" smtClean="0"/>
              <a:t>0100  0432  0101  0612  0102  0103  0104  0101  0611  0102  0103  0104   0101  0610  0102  0103  0104  0609  0102  0105</a:t>
            </a:r>
          </a:p>
          <a:p>
            <a:pPr eaLnBrk="1" hangingPunct="1"/>
            <a:r>
              <a:rPr lang="en-US" sz="1800" smtClean="0"/>
              <a:t>Example: Bytes (addresses) 0…99 will be in page 0</a:t>
            </a:r>
          </a:p>
          <a:p>
            <a:pPr eaLnBrk="1" hangingPunct="1"/>
            <a:r>
              <a:rPr lang="en-US" sz="1800" smtClean="0"/>
              <a:t>Pages referenced with each memory reference</a:t>
            </a:r>
          </a:p>
          <a:p>
            <a:pPr lvl="1" eaLnBrk="1" hangingPunct="1"/>
            <a:r>
              <a:rPr lang="en-US" sz="1800" smtClean="0"/>
              <a:t>1, 4, 1, 6, 1, 1, 1, 1, 6, 1, 1, 1, 1, 6, 1, 1, 6, 1, 1 </a:t>
            </a:r>
          </a:p>
          <a:p>
            <a:pPr lvl="1" eaLnBrk="1" hangingPunct="1"/>
            <a:endParaRPr lang="en-US" sz="1800" smtClean="0"/>
          </a:p>
          <a:p>
            <a:pPr eaLnBrk="1" hangingPunct="1"/>
            <a:r>
              <a:rPr lang="en-US" sz="1800" smtClean="0"/>
              <a:t>Corresponding </a:t>
            </a:r>
            <a:r>
              <a:rPr lang="en-US" sz="1800" b="1" smtClean="0"/>
              <a:t>page reference string</a:t>
            </a:r>
          </a:p>
          <a:p>
            <a:pPr lvl="1" eaLnBrk="1" hangingPunct="1"/>
            <a:r>
              <a:rPr lang="en-US" sz="1800" smtClean="0">
                <a:solidFill>
                  <a:srgbClr val="FF3300"/>
                </a:solidFill>
              </a:rPr>
              <a:t>1, 4, 1, 6, 1, 6, 1, 6, 1, 6, 1 </a:t>
            </a:r>
          </a:p>
          <a:p>
            <a:pPr eaLnBrk="1" hangingPunct="1"/>
            <a:endParaRPr lang="en-US" sz="1800" smtClean="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D21BB19-3839-497E-B14C-D71CCABC384E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296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First-In-First-Out (FIFO) Algorithm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831850" y="1411288"/>
            <a:ext cx="8132763" cy="576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/>
              <a:t>Reference string: 1, 2, 3, 4, 1, 2, 5, 1, 2, 3, 4, 5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/>
              <a:t>3 frames (3 pages can be in memory at a time per process)</a:t>
            </a:r>
          </a:p>
          <a:p>
            <a:pPr marL="342900" indent="-342900" algn="l">
              <a:spcBef>
                <a:spcPct val="20000"/>
              </a:spcBef>
            </a:pPr>
            <a:endParaRPr lang="en-US"/>
          </a:p>
          <a:p>
            <a:pPr marL="342900" indent="-342900" algn="l">
              <a:spcBef>
                <a:spcPct val="20000"/>
              </a:spcBef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342900" indent="-342900" algn="l">
              <a:spcBef>
                <a:spcPct val="20000"/>
              </a:spcBef>
            </a:pPr>
            <a:endParaRPr lang="en-US"/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/>
              <a:t>4 frames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 lang="en-US"/>
          </a:p>
          <a:p>
            <a:pPr marL="342900" indent="-342900" algn="l">
              <a:spcBef>
                <a:spcPct val="20000"/>
              </a:spcBef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342900" indent="-342900" algn="l">
              <a:spcBef>
                <a:spcPct val="20000"/>
              </a:spcBef>
            </a:pPr>
            <a:endParaRPr lang="en-US"/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/>
              <a:t>Belady’s Anomaly: more frames </a:t>
            </a:r>
            <a:r>
              <a:rPr lang="en-US">
                <a:sym typeface="Symbol" pitchFamily="18" charset="2"/>
              </a:rPr>
              <a:t> more page faults</a:t>
            </a:r>
            <a:endParaRPr lang="en-US"/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3441700" y="2225675"/>
            <a:ext cx="441325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1</a:t>
            </a:r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3441700" y="2682875"/>
            <a:ext cx="441325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3441700" y="3140075"/>
            <a:ext cx="441325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3</a:t>
            </a:r>
          </a:p>
        </p:txBody>
      </p:sp>
      <p:sp>
        <p:nvSpPr>
          <p:cNvPr id="29704" name="Text Box 7"/>
          <p:cNvSpPr txBox="1">
            <a:spLocks noChangeArrowheads="1"/>
          </p:cNvSpPr>
          <p:nvPr/>
        </p:nvSpPr>
        <p:spPr bwMode="auto">
          <a:xfrm>
            <a:off x="3078163" y="22590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1</a:t>
            </a:r>
          </a:p>
        </p:txBody>
      </p:sp>
      <p:sp>
        <p:nvSpPr>
          <p:cNvPr id="29705" name="Text Box 8"/>
          <p:cNvSpPr txBox="1">
            <a:spLocks noChangeArrowheads="1"/>
          </p:cNvSpPr>
          <p:nvPr/>
        </p:nvSpPr>
        <p:spPr bwMode="auto">
          <a:xfrm>
            <a:off x="3078163" y="27019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29706" name="Text Box 9"/>
          <p:cNvSpPr txBox="1">
            <a:spLocks noChangeArrowheads="1"/>
          </p:cNvSpPr>
          <p:nvPr/>
        </p:nvSpPr>
        <p:spPr bwMode="auto">
          <a:xfrm>
            <a:off x="3078163" y="31781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3</a:t>
            </a:r>
          </a:p>
        </p:txBody>
      </p:sp>
      <p:sp>
        <p:nvSpPr>
          <p:cNvPr id="29707" name="Text Box 10"/>
          <p:cNvSpPr txBox="1">
            <a:spLocks noChangeArrowheads="1"/>
          </p:cNvSpPr>
          <p:nvPr/>
        </p:nvSpPr>
        <p:spPr bwMode="auto">
          <a:xfrm>
            <a:off x="3922713" y="22971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4</a:t>
            </a:r>
          </a:p>
        </p:txBody>
      </p:sp>
      <p:sp>
        <p:nvSpPr>
          <p:cNvPr id="29708" name="Text Box 11"/>
          <p:cNvSpPr txBox="1">
            <a:spLocks noChangeArrowheads="1"/>
          </p:cNvSpPr>
          <p:nvPr/>
        </p:nvSpPr>
        <p:spPr bwMode="auto">
          <a:xfrm>
            <a:off x="3922713" y="27400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1</a:t>
            </a:r>
          </a:p>
        </p:txBody>
      </p:sp>
      <p:sp>
        <p:nvSpPr>
          <p:cNvPr id="29709" name="Text Box 12"/>
          <p:cNvSpPr txBox="1">
            <a:spLocks noChangeArrowheads="1"/>
          </p:cNvSpPr>
          <p:nvPr/>
        </p:nvSpPr>
        <p:spPr bwMode="auto">
          <a:xfrm>
            <a:off x="3922713" y="32162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29710" name="Text Box 13"/>
          <p:cNvSpPr txBox="1">
            <a:spLocks noChangeArrowheads="1"/>
          </p:cNvSpPr>
          <p:nvPr/>
        </p:nvSpPr>
        <p:spPr bwMode="auto">
          <a:xfrm>
            <a:off x="4303713" y="22971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5</a:t>
            </a:r>
          </a:p>
        </p:txBody>
      </p:sp>
      <p:sp>
        <p:nvSpPr>
          <p:cNvPr id="29711" name="Text Box 14"/>
          <p:cNvSpPr txBox="1">
            <a:spLocks noChangeArrowheads="1"/>
          </p:cNvSpPr>
          <p:nvPr/>
        </p:nvSpPr>
        <p:spPr bwMode="auto">
          <a:xfrm>
            <a:off x="4303713" y="27400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3</a:t>
            </a:r>
          </a:p>
        </p:txBody>
      </p:sp>
      <p:sp>
        <p:nvSpPr>
          <p:cNvPr id="29712" name="Text Box 15"/>
          <p:cNvSpPr txBox="1">
            <a:spLocks noChangeArrowheads="1"/>
          </p:cNvSpPr>
          <p:nvPr/>
        </p:nvSpPr>
        <p:spPr bwMode="auto">
          <a:xfrm>
            <a:off x="4303713" y="32162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4</a:t>
            </a:r>
          </a:p>
        </p:txBody>
      </p:sp>
      <p:sp>
        <p:nvSpPr>
          <p:cNvPr id="29713" name="Text Box 16"/>
          <p:cNvSpPr txBox="1">
            <a:spLocks noChangeArrowheads="1"/>
          </p:cNvSpPr>
          <p:nvPr/>
        </p:nvSpPr>
        <p:spPr bwMode="auto">
          <a:xfrm>
            <a:off x="4854575" y="2740025"/>
            <a:ext cx="1492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9 page faults</a:t>
            </a:r>
          </a:p>
        </p:txBody>
      </p:sp>
      <p:sp>
        <p:nvSpPr>
          <p:cNvPr id="29714" name="Rectangle 17"/>
          <p:cNvSpPr>
            <a:spLocks noChangeArrowheads="1"/>
          </p:cNvSpPr>
          <p:nvPr/>
        </p:nvSpPr>
        <p:spPr bwMode="auto">
          <a:xfrm>
            <a:off x="3409950" y="3949700"/>
            <a:ext cx="441325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1</a:t>
            </a:r>
          </a:p>
        </p:txBody>
      </p:sp>
      <p:sp>
        <p:nvSpPr>
          <p:cNvPr id="29715" name="Rectangle 18"/>
          <p:cNvSpPr>
            <a:spLocks noChangeArrowheads="1"/>
          </p:cNvSpPr>
          <p:nvPr/>
        </p:nvSpPr>
        <p:spPr bwMode="auto">
          <a:xfrm>
            <a:off x="3409950" y="4406900"/>
            <a:ext cx="441325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29716" name="Rectangle 19"/>
          <p:cNvSpPr>
            <a:spLocks noChangeArrowheads="1"/>
          </p:cNvSpPr>
          <p:nvPr/>
        </p:nvSpPr>
        <p:spPr bwMode="auto">
          <a:xfrm>
            <a:off x="3409950" y="4864100"/>
            <a:ext cx="441325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3</a:t>
            </a:r>
          </a:p>
        </p:txBody>
      </p:sp>
      <p:sp>
        <p:nvSpPr>
          <p:cNvPr id="29717" name="Text Box 20"/>
          <p:cNvSpPr txBox="1">
            <a:spLocks noChangeArrowheads="1"/>
          </p:cNvSpPr>
          <p:nvPr/>
        </p:nvSpPr>
        <p:spPr bwMode="auto">
          <a:xfrm>
            <a:off x="3046413" y="39830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1</a:t>
            </a:r>
          </a:p>
        </p:txBody>
      </p:sp>
      <p:sp>
        <p:nvSpPr>
          <p:cNvPr id="29718" name="Text Box 21"/>
          <p:cNvSpPr txBox="1">
            <a:spLocks noChangeArrowheads="1"/>
          </p:cNvSpPr>
          <p:nvPr/>
        </p:nvSpPr>
        <p:spPr bwMode="auto">
          <a:xfrm>
            <a:off x="3046413" y="442595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29719" name="Text Box 22"/>
          <p:cNvSpPr txBox="1">
            <a:spLocks noChangeArrowheads="1"/>
          </p:cNvSpPr>
          <p:nvPr/>
        </p:nvSpPr>
        <p:spPr bwMode="auto">
          <a:xfrm>
            <a:off x="3046413" y="4902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3</a:t>
            </a:r>
          </a:p>
        </p:txBody>
      </p:sp>
      <p:sp>
        <p:nvSpPr>
          <p:cNvPr id="29720" name="Text Box 23"/>
          <p:cNvSpPr txBox="1">
            <a:spLocks noChangeArrowheads="1"/>
          </p:cNvSpPr>
          <p:nvPr/>
        </p:nvSpPr>
        <p:spPr bwMode="auto">
          <a:xfrm>
            <a:off x="3890963" y="40211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5</a:t>
            </a:r>
          </a:p>
        </p:txBody>
      </p:sp>
      <p:sp>
        <p:nvSpPr>
          <p:cNvPr id="29721" name="Text Box 24"/>
          <p:cNvSpPr txBox="1">
            <a:spLocks noChangeArrowheads="1"/>
          </p:cNvSpPr>
          <p:nvPr/>
        </p:nvSpPr>
        <p:spPr bwMode="auto">
          <a:xfrm>
            <a:off x="3890963" y="446405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1</a:t>
            </a:r>
          </a:p>
        </p:txBody>
      </p:sp>
      <p:sp>
        <p:nvSpPr>
          <p:cNvPr id="29722" name="Text Box 25"/>
          <p:cNvSpPr txBox="1">
            <a:spLocks noChangeArrowheads="1"/>
          </p:cNvSpPr>
          <p:nvPr/>
        </p:nvSpPr>
        <p:spPr bwMode="auto">
          <a:xfrm>
            <a:off x="3890963" y="49403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29723" name="Text Box 26"/>
          <p:cNvSpPr txBox="1">
            <a:spLocks noChangeArrowheads="1"/>
          </p:cNvSpPr>
          <p:nvPr/>
        </p:nvSpPr>
        <p:spPr bwMode="auto">
          <a:xfrm>
            <a:off x="4271963" y="40211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4</a:t>
            </a:r>
          </a:p>
        </p:txBody>
      </p:sp>
      <p:sp>
        <p:nvSpPr>
          <p:cNvPr id="29724" name="Text Box 28"/>
          <p:cNvSpPr txBox="1">
            <a:spLocks noChangeArrowheads="1"/>
          </p:cNvSpPr>
          <p:nvPr/>
        </p:nvSpPr>
        <p:spPr bwMode="auto">
          <a:xfrm>
            <a:off x="4271963" y="44831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5</a:t>
            </a:r>
          </a:p>
        </p:txBody>
      </p:sp>
      <p:sp>
        <p:nvSpPr>
          <p:cNvPr id="29725" name="Text Box 29"/>
          <p:cNvSpPr txBox="1">
            <a:spLocks noChangeArrowheads="1"/>
          </p:cNvSpPr>
          <p:nvPr/>
        </p:nvSpPr>
        <p:spPr bwMode="auto">
          <a:xfrm>
            <a:off x="4768850" y="4464050"/>
            <a:ext cx="161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10 page faults</a:t>
            </a:r>
          </a:p>
        </p:txBody>
      </p:sp>
      <p:sp>
        <p:nvSpPr>
          <p:cNvPr id="29726" name="Rectangle 30"/>
          <p:cNvSpPr>
            <a:spLocks noChangeArrowheads="1"/>
          </p:cNvSpPr>
          <p:nvPr/>
        </p:nvSpPr>
        <p:spPr bwMode="auto">
          <a:xfrm>
            <a:off x="3409950" y="5321300"/>
            <a:ext cx="441325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4</a:t>
            </a:r>
          </a:p>
        </p:txBody>
      </p:sp>
      <p:sp>
        <p:nvSpPr>
          <p:cNvPr id="29727" name="Text Box 31"/>
          <p:cNvSpPr txBox="1">
            <a:spLocks noChangeArrowheads="1"/>
          </p:cNvSpPr>
          <p:nvPr/>
        </p:nvSpPr>
        <p:spPr bwMode="auto">
          <a:xfrm>
            <a:off x="3052763" y="53975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4</a:t>
            </a:r>
          </a:p>
        </p:txBody>
      </p:sp>
      <p:sp>
        <p:nvSpPr>
          <p:cNvPr id="29728" name="Text Box 32"/>
          <p:cNvSpPr txBox="1">
            <a:spLocks noChangeArrowheads="1"/>
          </p:cNvSpPr>
          <p:nvPr/>
        </p:nvSpPr>
        <p:spPr bwMode="auto">
          <a:xfrm>
            <a:off x="3890963" y="53975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3F56C7D-C1B9-44A6-B564-CB62FF7ABA2D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3072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FIFO Page Replacement</a:t>
            </a: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6013" y="2060575"/>
            <a:ext cx="6915150" cy="218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168D465-9BB5-47D4-BDC6-064B73131688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3277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Optimal Algorithm</a:t>
            </a:r>
          </a:p>
        </p:txBody>
      </p:sp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468313" y="1635125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1890713" algn="l"/>
              </a:tabLst>
            </a:pPr>
            <a:r>
              <a:rPr lang="en-US"/>
              <a:t>Replace page that will not be used for longest period of time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1890713" algn="l"/>
              </a:tabLst>
            </a:pPr>
            <a:r>
              <a:rPr lang="en-US"/>
              <a:t>4 frames example</a:t>
            </a:r>
          </a:p>
          <a:p>
            <a:pPr marL="342900" indent="-342900" algn="l">
              <a:spcBef>
                <a:spcPct val="20000"/>
              </a:spcBef>
              <a:tabLst>
                <a:tab pos="1890713" algn="l"/>
              </a:tabLst>
            </a:pPr>
            <a:r>
              <a:rPr lang="en-US"/>
              <a:t>		 1, 2, 3, 4, 1, 2, 5, 1, 2, 3, 4, 5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 lang="en-US"/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1890713" algn="l"/>
              </a:tabLst>
            </a:pPr>
            <a:endParaRPr lang="en-US"/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1890713" algn="l"/>
              </a:tabLst>
            </a:pPr>
            <a:r>
              <a:rPr lang="en-US"/>
              <a:t>How do you know this?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1890713" algn="l"/>
              </a:tabLst>
            </a:pPr>
            <a:r>
              <a:rPr lang="en-US"/>
              <a:t>Used for measuring how well your algorithm performs</a:t>
            </a:r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3222625" y="30130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1</a:t>
            </a:r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auto">
          <a:xfrm>
            <a:off x="3222625" y="34702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3222625" y="39274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3</a:t>
            </a:r>
          </a:p>
        </p:txBody>
      </p:sp>
      <p:sp>
        <p:nvSpPr>
          <p:cNvPr id="32776" name="Text Box 7"/>
          <p:cNvSpPr txBox="1">
            <a:spLocks noChangeArrowheads="1"/>
          </p:cNvSpPr>
          <p:nvPr/>
        </p:nvSpPr>
        <p:spPr bwMode="auto">
          <a:xfrm>
            <a:off x="3959225" y="30845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4</a:t>
            </a:r>
          </a:p>
        </p:txBody>
      </p:sp>
      <p:sp>
        <p:nvSpPr>
          <p:cNvPr id="32777" name="Text Box 8"/>
          <p:cNvSpPr txBox="1">
            <a:spLocks noChangeArrowheads="1"/>
          </p:cNvSpPr>
          <p:nvPr/>
        </p:nvSpPr>
        <p:spPr bwMode="auto">
          <a:xfrm>
            <a:off x="4772025" y="3527425"/>
            <a:ext cx="1492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6 page faults</a:t>
            </a:r>
          </a:p>
        </p:txBody>
      </p:sp>
      <p:sp>
        <p:nvSpPr>
          <p:cNvPr id="32778" name="Rectangle 9"/>
          <p:cNvSpPr>
            <a:spLocks noChangeArrowheads="1"/>
          </p:cNvSpPr>
          <p:nvPr/>
        </p:nvSpPr>
        <p:spPr bwMode="auto">
          <a:xfrm>
            <a:off x="3222625" y="43846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4</a:t>
            </a:r>
          </a:p>
        </p:txBody>
      </p:sp>
      <p:sp>
        <p:nvSpPr>
          <p:cNvPr id="32779" name="Text Box 10"/>
          <p:cNvSpPr txBox="1">
            <a:spLocks noChangeArrowheads="1"/>
          </p:cNvSpPr>
          <p:nvPr/>
        </p:nvSpPr>
        <p:spPr bwMode="auto">
          <a:xfrm>
            <a:off x="3679825" y="44608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Helvetica" pitchFamily="-84" charset="0"/>
                <a:ea typeface="ＭＳ Ｐゴシック" pitchFamily="34" charset="-128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AC2A56E-5480-4F4C-B94B-A2CEAF496A70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3379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Optimal Page Replacement</a:t>
            </a:r>
          </a:p>
        </p:txBody>
      </p:sp>
      <p:pic>
        <p:nvPicPr>
          <p:cNvPr id="33796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6013" y="2297113"/>
            <a:ext cx="7034212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A3AC9-8E4D-4F9B-8C0C-86C63AE4789C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34819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Least Recently Used (LRU) Algorithm</a:t>
            </a:r>
          </a:p>
        </p:txBody>
      </p:sp>
      <p:sp>
        <p:nvSpPr>
          <p:cNvPr id="34820" name="Rectangle 3"/>
          <p:cNvSpPr>
            <a:spLocks noChangeArrowheads="1"/>
          </p:cNvSpPr>
          <p:nvPr/>
        </p:nvSpPr>
        <p:spPr bwMode="auto">
          <a:xfrm>
            <a:off x="838200" y="1682750"/>
            <a:ext cx="7351713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/>
              <a:t>Reference string:  1, 2, 3, 4, 1, 2, </a:t>
            </a:r>
            <a:r>
              <a:rPr lang="en-US" b="1"/>
              <a:t>5</a:t>
            </a:r>
            <a:r>
              <a:rPr lang="en-US"/>
              <a:t>, 1, 2, </a:t>
            </a:r>
            <a:r>
              <a:rPr lang="en-US" b="1"/>
              <a:t>3</a:t>
            </a:r>
            <a:r>
              <a:rPr lang="en-US"/>
              <a:t>, </a:t>
            </a:r>
            <a:r>
              <a:rPr lang="en-US" b="1"/>
              <a:t>4</a:t>
            </a:r>
            <a:r>
              <a:rPr lang="en-US"/>
              <a:t>, </a:t>
            </a:r>
            <a:r>
              <a:rPr lang="en-US" b="1"/>
              <a:t>5</a:t>
            </a: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 lang="en-US"/>
          </a:p>
          <a:p>
            <a:pPr marL="342900" indent="-342900" algn="l">
              <a:spcBef>
                <a:spcPct val="20000"/>
              </a:spcBef>
            </a:pPr>
            <a:endParaRPr lang="en-US"/>
          </a:p>
          <a:p>
            <a:pPr marL="342900" indent="-342900" algn="l">
              <a:spcBef>
                <a:spcPct val="20000"/>
              </a:spcBef>
            </a:pPr>
            <a:endParaRPr lang="en-US"/>
          </a:p>
        </p:txBody>
      </p:sp>
      <p:sp>
        <p:nvSpPr>
          <p:cNvPr id="34821" name="Rectangle 50"/>
          <p:cNvSpPr>
            <a:spLocks noChangeArrowheads="1"/>
          </p:cNvSpPr>
          <p:nvPr/>
        </p:nvSpPr>
        <p:spPr bwMode="auto">
          <a:xfrm>
            <a:off x="4638675" y="221456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b="1">
                <a:latin typeface="Helvetica" pitchFamily="-84" charset="0"/>
                <a:ea typeface="ＭＳ Ｐゴシック" pitchFamily="34" charset="-128"/>
              </a:rPr>
              <a:t>5</a:t>
            </a:r>
          </a:p>
        </p:txBody>
      </p:sp>
      <p:sp>
        <p:nvSpPr>
          <p:cNvPr id="34822" name="Rectangle 51"/>
          <p:cNvSpPr>
            <a:spLocks noChangeArrowheads="1"/>
          </p:cNvSpPr>
          <p:nvPr/>
        </p:nvSpPr>
        <p:spPr bwMode="auto">
          <a:xfrm>
            <a:off x="4638675" y="267176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34823" name="Rectangle 52"/>
          <p:cNvSpPr>
            <a:spLocks noChangeArrowheads="1"/>
          </p:cNvSpPr>
          <p:nvPr/>
        </p:nvSpPr>
        <p:spPr bwMode="auto">
          <a:xfrm>
            <a:off x="4638675" y="312896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4</a:t>
            </a:r>
          </a:p>
        </p:txBody>
      </p:sp>
      <p:sp>
        <p:nvSpPr>
          <p:cNvPr id="34824" name="Rectangle 53"/>
          <p:cNvSpPr>
            <a:spLocks noChangeArrowheads="1"/>
          </p:cNvSpPr>
          <p:nvPr/>
        </p:nvSpPr>
        <p:spPr bwMode="auto">
          <a:xfrm>
            <a:off x="4638675" y="358616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3</a:t>
            </a:r>
          </a:p>
        </p:txBody>
      </p:sp>
      <p:sp>
        <p:nvSpPr>
          <p:cNvPr id="34825" name="Rectangle 54"/>
          <p:cNvSpPr>
            <a:spLocks noChangeArrowheads="1"/>
          </p:cNvSpPr>
          <p:nvPr/>
        </p:nvSpPr>
        <p:spPr bwMode="auto">
          <a:xfrm>
            <a:off x="2620963" y="22129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1</a:t>
            </a:r>
          </a:p>
        </p:txBody>
      </p:sp>
      <p:sp>
        <p:nvSpPr>
          <p:cNvPr id="34826" name="Rectangle 55"/>
          <p:cNvSpPr>
            <a:spLocks noChangeArrowheads="1"/>
          </p:cNvSpPr>
          <p:nvPr/>
        </p:nvSpPr>
        <p:spPr bwMode="auto">
          <a:xfrm>
            <a:off x="2620963" y="26701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34827" name="Rectangle 56"/>
          <p:cNvSpPr>
            <a:spLocks noChangeArrowheads="1"/>
          </p:cNvSpPr>
          <p:nvPr/>
        </p:nvSpPr>
        <p:spPr bwMode="auto">
          <a:xfrm>
            <a:off x="2620963" y="31273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3</a:t>
            </a:r>
          </a:p>
        </p:txBody>
      </p:sp>
      <p:sp>
        <p:nvSpPr>
          <p:cNvPr id="34828" name="Rectangle 57"/>
          <p:cNvSpPr>
            <a:spLocks noChangeArrowheads="1"/>
          </p:cNvSpPr>
          <p:nvPr/>
        </p:nvSpPr>
        <p:spPr bwMode="auto">
          <a:xfrm>
            <a:off x="2620963" y="35845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4</a:t>
            </a:r>
          </a:p>
        </p:txBody>
      </p:sp>
      <p:sp>
        <p:nvSpPr>
          <p:cNvPr id="34829" name="Rectangle 58"/>
          <p:cNvSpPr>
            <a:spLocks noChangeArrowheads="1"/>
          </p:cNvSpPr>
          <p:nvPr/>
        </p:nvSpPr>
        <p:spPr bwMode="auto">
          <a:xfrm>
            <a:off x="3124200" y="222091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1</a:t>
            </a:r>
          </a:p>
        </p:txBody>
      </p:sp>
      <p:sp>
        <p:nvSpPr>
          <p:cNvPr id="34830" name="Rectangle 59"/>
          <p:cNvSpPr>
            <a:spLocks noChangeArrowheads="1"/>
          </p:cNvSpPr>
          <p:nvPr/>
        </p:nvSpPr>
        <p:spPr bwMode="auto">
          <a:xfrm>
            <a:off x="3124200" y="267811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34831" name="Rectangle 60"/>
          <p:cNvSpPr>
            <a:spLocks noChangeArrowheads="1"/>
          </p:cNvSpPr>
          <p:nvPr/>
        </p:nvSpPr>
        <p:spPr bwMode="auto">
          <a:xfrm>
            <a:off x="3124200" y="313531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b="1">
                <a:latin typeface="Helvetica" pitchFamily="-84" charset="0"/>
                <a:ea typeface="ＭＳ Ｐゴシック" pitchFamily="34" charset="-128"/>
              </a:rPr>
              <a:t>5</a:t>
            </a:r>
          </a:p>
        </p:txBody>
      </p:sp>
      <p:sp>
        <p:nvSpPr>
          <p:cNvPr id="34832" name="Rectangle 61"/>
          <p:cNvSpPr>
            <a:spLocks noChangeArrowheads="1"/>
          </p:cNvSpPr>
          <p:nvPr/>
        </p:nvSpPr>
        <p:spPr bwMode="auto">
          <a:xfrm>
            <a:off x="3124200" y="359251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4</a:t>
            </a:r>
          </a:p>
        </p:txBody>
      </p:sp>
      <p:sp>
        <p:nvSpPr>
          <p:cNvPr id="34833" name="Rectangle 62"/>
          <p:cNvSpPr>
            <a:spLocks noChangeArrowheads="1"/>
          </p:cNvSpPr>
          <p:nvPr/>
        </p:nvSpPr>
        <p:spPr bwMode="auto">
          <a:xfrm>
            <a:off x="3643313" y="22002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1</a:t>
            </a:r>
          </a:p>
        </p:txBody>
      </p:sp>
      <p:sp>
        <p:nvSpPr>
          <p:cNvPr id="34834" name="Rectangle 63"/>
          <p:cNvSpPr>
            <a:spLocks noChangeArrowheads="1"/>
          </p:cNvSpPr>
          <p:nvPr/>
        </p:nvSpPr>
        <p:spPr bwMode="auto">
          <a:xfrm>
            <a:off x="3643313" y="26574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34835" name="Rectangle 64"/>
          <p:cNvSpPr>
            <a:spLocks noChangeArrowheads="1"/>
          </p:cNvSpPr>
          <p:nvPr/>
        </p:nvSpPr>
        <p:spPr bwMode="auto">
          <a:xfrm>
            <a:off x="3643313" y="31146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5</a:t>
            </a:r>
          </a:p>
        </p:txBody>
      </p:sp>
      <p:sp>
        <p:nvSpPr>
          <p:cNvPr id="34836" name="Rectangle 65"/>
          <p:cNvSpPr>
            <a:spLocks noChangeArrowheads="1"/>
          </p:cNvSpPr>
          <p:nvPr/>
        </p:nvSpPr>
        <p:spPr bwMode="auto">
          <a:xfrm>
            <a:off x="3643313" y="35718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b="1">
                <a:latin typeface="Helvetica" pitchFamily="-84" charset="0"/>
                <a:ea typeface="ＭＳ Ｐゴシック" pitchFamily="34" charset="-128"/>
              </a:rPr>
              <a:t>3</a:t>
            </a:r>
          </a:p>
        </p:txBody>
      </p:sp>
      <p:sp>
        <p:nvSpPr>
          <p:cNvPr id="34837" name="Rectangle 66"/>
          <p:cNvSpPr>
            <a:spLocks noChangeArrowheads="1"/>
          </p:cNvSpPr>
          <p:nvPr/>
        </p:nvSpPr>
        <p:spPr bwMode="auto">
          <a:xfrm>
            <a:off x="4146550" y="220821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1</a:t>
            </a:r>
          </a:p>
        </p:txBody>
      </p:sp>
      <p:sp>
        <p:nvSpPr>
          <p:cNvPr id="34838" name="Rectangle 67"/>
          <p:cNvSpPr>
            <a:spLocks noChangeArrowheads="1"/>
          </p:cNvSpPr>
          <p:nvPr/>
        </p:nvSpPr>
        <p:spPr bwMode="auto">
          <a:xfrm>
            <a:off x="4146550" y="266541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2</a:t>
            </a:r>
          </a:p>
        </p:txBody>
      </p:sp>
      <p:sp>
        <p:nvSpPr>
          <p:cNvPr id="34839" name="Rectangle 68"/>
          <p:cNvSpPr>
            <a:spLocks noChangeArrowheads="1"/>
          </p:cNvSpPr>
          <p:nvPr/>
        </p:nvSpPr>
        <p:spPr bwMode="auto">
          <a:xfrm>
            <a:off x="4146550" y="312261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b="1">
                <a:latin typeface="Helvetica" pitchFamily="-84" charset="0"/>
                <a:ea typeface="ＭＳ Ｐゴシック" pitchFamily="34" charset="-128"/>
              </a:rPr>
              <a:t>4</a:t>
            </a:r>
          </a:p>
        </p:txBody>
      </p:sp>
      <p:sp>
        <p:nvSpPr>
          <p:cNvPr id="34840" name="Rectangle 69"/>
          <p:cNvSpPr>
            <a:spLocks noChangeArrowheads="1"/>
          </p:cNvSpPr>
          <p:nvPr/>
        </p:nvSpPr>
        <p:spPr bwMode="auto">
          <a:xfrm>
            <a:off x="4146550" y="3579813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latin typeface="Helvetica" pitchFamily="-84" charset="0"/>
                <a:ea typeface="ＭＳ Ｐゴシック" pitchFamily="34" charset="-128"/>
              </a:rPr>
              <a:t>3</a:t>
            </a:r>
          </a:p>
        </p:txBody>
      </p:sp>
      <p:sp>
        <p:nvSpPr>
          <p:cNvPr id="34841" name="Text Box 26"/>
          <p:cNvSpPr txBox="1">
            <a:spLocks noChangeArrowheads="1"/>
          </p:cNvSpPr>
          <p:nvPr/>
        </p:nvSpPr>
        <p:spPr bwMode="auto">
          <a:xfrm>
            <a:off x="1379538" y="4673600"/>
            <a:ext cx="1489075" cy="36671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8 page faults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AF87E93-743E-4133-949F-1CC7085DC87F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358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LRU Page Replacement</a:t>
            </a: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3"/>
          <a:srcRect l="809" t="32875" r="789" b="32362"/>
          <a:stretch>
            <a:fillRect/>
          </a:stretch>
        </p:blipFill>
        <p:spPr bwMode="auto">
          <a:xfrm>
            <a:off x="911225" y="2506663"/>
            <a:ext cx="7286625" cy="1930400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4C4E9C3-390F-4CEE-BBC2-5CBC6FD7C3A6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LRU Algorithm Implementation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1800" b="1" smtClean="0"/>
              <a:t>Counter</a:t>
            </a:r>
            <a:r>
              <a:rPr lang="en-US" sz="1800" smtClean="0"/>
              <a:t> implementation</a:t>
            </a:r>
          </a:p>
          <a:p>
            <a:pPr eaLnBrk="1" hangingPunct="1"/>
            <a:endParaRPr lang="en-US" sz="1800" smtClean="0"/>
          </a:p>
          <a:p>
            <a:pPr lvl="1" eaLnBrk="1" hangingPunct="1"/>
            <a:r>
              <a:rPr lang="en-US" sz="1800" smtClean="0"/>
              <a:t>Every page entry has a counter field; every time page is referenced through this entry, copy the clock into the counter field</a:t>
            </a:r>
          </a:p>
          <a:p>
            <a:pPr lvl="1" eaLnBrk="1" hangingPunct="1"/>
            <a:endParaRPr lang="en-US" sz="1800" smtClean="0"/>
          </a:p>
          <a:p>
            <a:pPr lvl="1" eaLnBrk="1" hangingPunct="1"/>
            <a:r>
              <a:rPr lang="en-US" sz="1800" smtClean="0"/>
              <a:t>When a page needs to be replaced, look at the counters to determine which one to replace</a:t>
            </a:r>
          </a:p>
          <a:p>
            <a:pPr lvl="2" eaLnBrk="1" hangingPunct="1"/>
            <a:r>
              <a:rPr lang="en-US" sz="1800" smtClean="0"/>
              <a:t>The one with the smallest counter value will be replaced</a:t>
            </a:r>
          </a:p>
          <a:p>
            <a:pPr eaLnBrk="1" hangingPunct="1"/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7647BD8-D1D6-4CB9-95D4-54C61B56275A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LRU Algorithm Implementation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1800" b="1" dirty="0" smtClean="0"/>
              <a:t>Stack</a:t>
            </a:r>
            <a:r>
              <a:rPr lang="en-US" sz="1800" dirty="0" smtClean="0"/>
              <a:t> implementation – keep a stack of page numbers </a:t>
            </a:r>
          </a:p>
          <a:p>
            <a:pPr lvl="1" eaLnBrk="1" hangingPunct="1"/>
            <a:r>
              <a:rPr lang="en-US" sz="1800" dirty="0" smtClean="0"/>
              <a:t>Page referenced:</a:t>
            </a:r>
          </a:p>
          <a:p>
            <a:pPr lvl="2" eaLnBrk="1" hangingPunct="1"/>
            <a:r>
              <a:rPr lang="en-US" sz="1800" dirty="0" smtClean="0"/>
              <a:t>move it to the top</a:t>
            </a:r>
          </a:p>
          <a:p>
            <a:pPr lvl="1" eaLnBrk="1" hangingPunct="1"/>
            <a:r>
              <a:rPr lang="en-US" sz="1800" dirty="0" smtClean="0"/>
              <a:t>No search for replacement (replacement fast)</a:t>
            </a:r>
          </a:p>
          <a:p>
            <a:pPr eaLnBrk="1" hangingPunct="1"/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490B54A-7D63-4961-AD0A-664ABAFD0637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6963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Buddy System Allocator</a:t>
            </a:r>
          </a:p>
        </p:txBody>
      </p:sp>
      <p:pic>
        <p:nvPicPr>
          <p:cNvPr id="69636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5638" y="1589088"/>
            <a:ext cx="5526087" cy="450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861FB47-99E4-4B51-B215-537BE513EDC9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4968875" cy="2808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800" smtClean="0"/>
              <a:t>Object  A needs memory 45 KB in size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smtClean="0"/>
              <a:t>Object  B needs memory 70 KB in size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smtClean="0"/>
              <a:t>Object  C needs memory 50 KB in size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smtClean="0"/>
              <a:t>Object  D needs memory 90 KB in size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smtClean="0"/>
              <a:t>Object  C removed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smtClean="0"/>
              <a:t>Object  A removed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smtClean="0"/>
              <a:t>Object B removed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smtClean="0"/>
              <a:t>Object D removed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957A5D8-D67A-4322-BF55-2A9FC1AC59F2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71683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8496300" cy="1143000"/>
          </a:xfrm>
        </p:spPr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1607719" name="Rectangle 39"/>
          <p:cNvSpPr>
            <a:spLocks noChangeArrowheads="1"/>
          </p:cNvSpPr>
          <p:nvPr/>
        </p:nvSpPr>
        <p:spPr bwMode="auto">
          <a:xfrm>
            <a:off x="323850" y="1916113"/>
            <a:ext cx="4032250" cy="792162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20" name="Rectangle 40"/>
          <p:cNvSpPr>
            <a:spLocks noChangeArrowheads="1"/>
          </p:cNvSpPr>
          <p:nvPr/>
        </p:nvSpPr>
        <p:spPr bwMode="auto">
          <a:xfrm>
            <a:off x="4356100" y="1916113"/>
            <a:ext cx="4032250" cy="792162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71686" name="Rectangle 41"/>
          <p:cNvSpPr>
            <a:spLocks noChangeArrowheads="1"/>
          </p:cNvSpPr>
          <p:nvPr/>
        </p:nvSpPr>
        <p:spPr bwMode="auto">
          <a:xfrm>
            <a:off x="323850" y="1916113"/>
            <a:ext cx="8064500" cy="792162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30" name="Rectangle 50"/>
          <p:cNvSpPr>
            <a:spLocks noChangeArrowheads="1"/>
          </p:cNvSpPr>
          <p:nvPr/>
        </p:nvSpPr>
        <p:spPr bwMode="auto">
          <a:xfrm>
            <a:off x="323850" y="1916113"/>
            <a:ext cx="2016125" cy="792162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31" name="Rectangle 51"/>
          <p:cNvSpPr>
            <a:spLocks noChangeArrowheads="1"/>
          </p:cNvSpPr>
          <p:nvPr/>
        </p:nvSpPr>
        <p:spPr bwMode="auto">
          <a:xfrm>
            <a:off x="2339975" y="1916113"/>
            <a:ext cx="2016125" cy="792162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32" name="Rectangle 52"/>
          <p:cNvSpPr>
            <a:spLocks noChangeArrowheads="1"/>
          </p:cNvSpPr>
          <p:nvPr/>
        </p:nvSpPr>
        <p:spPr bwMode="auto">
          <a:xfrm>
            <a:off x="323850" y="1916113"/>
            <a:ext cx="1008063" cy="792162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33" name="Rectangle 53"/>
          <p:cNvSpPr>
            <a:spLocks noChangeArrowheads="1"/>
          </p:cNvSpPr>
          <p:nvPr/>
        </p:nvSpPr>
        <p:spPr bwMode="auto">
          <a:xfrm>
            <a:off x="1331913" y="1916113"/>
            <a:ext cx="1008062" cy="792162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34" name="Rectangle 54"/>
          <p:cNvSpPr>
            <a:spLocks noChangeArrowheads="1"/>
          </p:cNvSpPr>
          <p:nvPr/>
        </p:nvSpPr>
        <p:spPr bwMode="auto">
          <a:xfrm>
            <a:off x="323850" y="1916113"/>
            <a:ext cx="1008063" cy="792162"/>
          </a:xfrm>
          <a:prstGeom prst="rect">
            <a:avLst/>
          </a:prstGeom>
          <a:solidFill>
            <a:schemeClr val="accent1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A</a:t>
            </a:r>
          </a:p>
        </p:txBody>
      </p:sp>
      <p:sp>
        <p:nvSpPr>
          <p:cNvPr id="1607735" name="Rectangle 55"/>
          <p:cNvSpPr>
            <a:spLocks noChangeArrowheads="1"/>
          </p:cNvSpPr>
          <p:nvPr/>
        </p:nvSpPr>
        <p:spPr bwMode="auto">
          <a:xfrm>
            <a:off x="2339975" y="1916113"/>
            <a:ext cx="2016125" cy="792162"/>
          </a:xfrm>
          <a:prstGeom prst="rect">
            <a:avLst/>
          </a:prstGeom>
          <a:solidFill>
            <a:schemeClr val="accent1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B</a:t>
            </a:r>
          </a:p>
        </p:txBody>
      </p:sp>
      <p:sp>
        <p:nvSpPr>
          <p:cNvPr id="1607736" name="Rectangle 56"/>
          <p:cNvSpPr>
            <a:spLocks noChangeArrowheads="1"/>
          </p:cNvSpPr>
          <p:nvPr/>
        </p:nvSpPr>
        <p:spPr bwMode="auto">
          <a:xfrm>
            <a:off x="1331913" y="1916113"/>
            <a:ext cx="1008062" cy="792162"/>
          </a:xfrm>
          <a:prstGeom prst="rect">
            <a:avLst/>
          </a:prstGeom>
          <a:solidFill>
            <a:schemeClr val="accent1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C</a:t>
            </a:r>
          </a:p>
        </p:txBody>
      </p:sp>
      <p:sp>
        <p:nvSpPr>
          <p:cNvPr id="1607737" name="Rectangle 57"/>
          <p:cNvSpPr>
            <a:spLocks noChangeArrowheads="1"/>
          </p:cNvSpPr>
          <p:nvPr/>
        </p:nvSpPr>
        <p:spPr bwMode="auto">
          <a:xfrm>
            <a:off x="4356100" y="1916113"/>
            <a:ext cx="2016125" cy="792162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38" name="Rectangle 58"/>
          <p:cNvSpPr>
            <a:spLocks noChangeArrowheads="1"/>
          </p:cNvSpPr>
          <p:nvPr/>
        </p:nvSpPr>
        <p:spPr bwMode="auto">
          <a:xfrm>
            <a:off x="6372225" y="1916113"/>
            <a:ext cx="2016125" cy="792162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39" name="Rectangle 59"/>
          <p:cNvSpPr>
            <a:spLocks noChangeArrowheads="1"/>
          </p:cNvSpPr>
          <p:nvPr/>
        </p:nvSpPr>
        <p:spPr bwMode="auto">
          <a:xfrm>
            <a:off x="4356100" y="1916113"/>
            <a:ext cx="2016125" cy="792162"/>
          </a:xfrm>
          <a:prstGeom prst="rect">
            <a:avLst/>
          </a:prstGeom>
          <a:solidFill>
            <a:schemeClr val="accent1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/>
              <a:t>D</a:t>
            </a:r>
          </a:p>
        </p:txBody>
      </p:sp>
      <p:sp>
        <p:nvSpPr>
          <p:cNvPr id="71697" name="Text Box 61"/>
          <p:cNvSpPr txBox="1">
            <a:spLocks noChangeArrowheads="1"/>
          </p:cNvSpPr>
          <p:nvPr/>
        </p:nvSpPr>
        <p:spPr bwMode="auto">
          <a:xfrm>
            <a:off x="4051300" y="2911475"/>
            <a:ext cx="561975" cy="366713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512</a:t>
            </a:r>
          </a:p>
        </p:txBody>
      </p:sp>
      <p:sp>
        <p:nvSpPr>
          <p:cNvPr id="1607742" name="Text Box 62"/>
          <p:cNvSpPr txBox="1">
            <a:spLocks noChangeArrowheads="1"/>
          </p:cNvSpPr>
          <p:nvPr/>
        </p:nvSpPr>
        <p:spPr bwMode="auto">
          <a:xfrm>
            <a:off x="2360613" y="3775075"/>
            <a:ext cx="561975" cy="366713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256</a:t>
            </a:r>
          </a:p>
        </p:txBody>
      </p:sp>
      <p:sp>
        <p:nvSpPr>
          <p:cNvPr id="1607743" name="Text Box 63"/>
          <p:cNvSpPr txBox="1">
            <a:spLocks noChangeArrowheads="1"/>
          </p:cNvSpPr>
          <p:nvPr/>
        </p:nvSpPr>
        <p:spPr bwMode="auto">
          <a:xfrm>
            <a:off x="5816600" y="3775075"/>
            <a:ext cx="561975" cy="366713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256</a:t>
            </a:r>
          </a:p>
        </p:txBody>
      </p:sp>
      <p:sp>
        <p:nvSpPr>
          <p:cNvPr id="1607744" name="Text Box 64"/>
          <p:cNvSpPr txBox="1">
            <a:spLocks noChangeArrowheads="1"/>
          </p:cNvSpPr>
          <p:nvPr/>
        </p:nvSpPr>
        <p:spPr bwMode="auto">
          <a:xfrm>
            <a:off x="1423988" y="4640263"/>
            <a:ext cx="561975" cy="366712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128</a:t>
            </a:r>
          </a:p>
        </p:txBody>
      </p:sp>
      <p:sp>
        <p:nvSpPr>
          <p:cNvPr id="1607746" name="Text Box 66"/>
          <p:cNvSpPr txBox="1">
            <a:spLocks noChangeArrowheads="1"/>
          </p:cNvSpPr>
          <p:nvPr/>
        </p:nvSpPr>
        <p:spPr bwMode="auto">
          <a:xfrm>
            <a:off x="712788" y="5445125"/>
            <a:ext cx="434975" cy="366713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64</a:t>
            </a:r>
          </a:p>
        </p:txBody>
      </p:sp>
      <p:sp>
        <p:nvSpPr>
          <p:cNvPr id="1607751" name="Line 71"/>
          <p:cNvSpPr>
            <a:spLocks noChangeShapeType="1"/>
          </p:cNvSpPr>
          <p:nvPr/>
        </p:nvSpPr>
        <p:spPr bwMode="auto">
          <a:xfrm>
            <a:off x="2690813" y="3349625"/>
            <a:ext cx="3455987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52" name="Line 72"/>
          <p:cNvSpPr>
            <a:spLocks noChangeShapeType="1"/>
          </p:cNvSpPr>
          <p:nvPr/>
        </p:nvSpPr>
        <p:spPr bwMode="auto">
          <a:xfrm>
            <a:off x="2690813" y="3349625"/>
            <a:ext cx="0" cy="4333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53" name="Line 73"/>
          <p:cNvSpPr>
            <a:spLocks noChangeShapeType="1"/>
          </p:cNvSpPr>
          <p:nvPr/>
        </p:nvSpPr>
        <p:spPr bwMode="auto">
          <a:xfrm>
            <a:off x="6146800" y="3349625"/>
            <a:ext cx="0" cy="4333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54" name="Line 74"/>
          <p:cNvSpPr>
            <a:spLocks noChangeShapeType="1"/>
          </p:cNvSpPr>
          <p:nvPr/>
        </p:nvSpPr>
        <p:spPr bwMode="auto">
          <a:xfrm>
            <a:off x="1754188" y="4214813"/>
            <a:ext cx="201612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55" name="Line 75"/>
          <p:cNvSpPr>
            <a:spLocks noChangeShapeType="1"/>
          </p:cNvSpPr>
          <p:nvPr/>
        </p:nvSpPr>
        <p:spPr bwMode="auto">
          <a:xfrm>
            <a:off x="1754188" y="4214813"/>
            <a:ext cx="0" cy="4318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56" name="Line 76"/>
          <p:cNvSpPr>
            <a:spLocks noChangeShapeType="1"/>
          </p:cNvSpPr>
          <p:nvPr/>
        </p:nvSpPr>
        <p:spPr bwMode="auto">
          <a:xfrm>
            <a:off x="3770313" y="4214813"/>
            <a:ext cx="0" cy="4318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57" name="Text Box 77"/>
          <p:cNvSpPr txBox="1">
            <a:spLocks noChangeArrowheads="1"/>
          </p:cNvSpPr>
          <p:nvPr/>
        </p:nvSpPr>
        <p:spPr bwMode="auto">
          <a:xfrm>
            <a:off x="3467100" y="4652963"/>
            <a:ext cx="561975" cy="366712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128</a:t>
            </a:r>
          </a:p>
        </p:txBody>
      </p:sp>
      <p:sp>
        <p:nvSpPr>
          <p:cNvPr id="1607758" name="Line 78"/>
          <p:cNvSpPr>
            <a:spLocks noChangeShapeType="1"/>
          </p:cNvSpPr>
          <p:nvPr/>
        </p:nvSpPr>
        <p:spPr bwMode="auto">
          <a:xfrm>
            <a:off x="962025" y="5078413"/>
            <a:ext cx="136842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59" name="Line 79"/>
          <p:cNvSpPr>
            <a:spLocks noChangeShapeType="1"/>
          </p:cNvSpPr>
          <p:nvPr/>
        </p:nvSpPr>
        <p:spPr bwMode="auto">
          <a:xfrm>
            <a:off x="962025" y="5078413"/>
            <a:ext cx="0" cy="36036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60" name="Line 80"/>
          <p:cNvSpPr>
            <a:spLocks noChangeShapeType="1"/>
          </p:cNvSpPr>
          <p:nvPr/>
        </p:nvSpPr>
        <p:spPr bwMode="auto">
          <a:xfrm>
            <a:off x="2330450" y="5078413"/>
            <a:ext cx="0" cy="36036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61" name="Text Box 81"/>
          <p:cNvSpPr txBox="1">
            <a:spLocks noChangeArrowheads="1"/>
          </p:cNvSpPr>
          <p:nvPr/>
        </p:nvSpPr>
        <p:spPr bwMode="auto">
          <a:xfrm>
            <a:off x="2071688" y="5445125"/>
            <a:ext cx="434975" cy="366713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64</a:t>
            </a:r>
          </a:p>
        </p:txBody>
      </p:sp>
      <p:sp>
        <p:nvSpPr>
          <p:cNvPr id="1607762" name="Text Box 82"/>
          <p:cNvSpPr txBox="1">
            <a:spLocks noChangeArrowheads="1"/>
          </p:cNvSpPr>
          <p:nvPr/>
        </p:nvSpPr>
        <p:spPr bwMode="auto">
          <a:xfrm>
            <a:off x="582613" y="5445125"/>
            <a:ext cx="739775" cy="366713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64(A)</a:t>
            </a:r>
          </a:p>
        </p:txBody>
      </p:sp>
      <p:sp>
        <p:nvSpPr>
          <p:cNvPr id="1607747" name="Text Box 67"/>
          <p:cNvSpPr txBox="1">
            <a:spLocks noChangeArrowheads="1"/>
          </p:cNvSpPr>
          <p:nvPr/>
        </p:nvSpPr>
        <p:spPr bwMode="auto">
          <a:xfrm>
            <a:off x="3348038" y="4652963"/>
            <a:ext cx="866775" cy="366712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128(B)</a:t>
            </a:r>
          </a:p>
        </p:txBody>
      </p:sp>
      <p:sp>
        <p:nvSpPr>
          <p:cNvPr id="1607763" name="Text Box 83"/>
          <p:cNvSpPr txBox="1">
            <a:spLocks noChangeArrowheads="1"/>
          </p:cNvSpPr>
          <p:nvPr/>
        </p:nvSpPr>
        <p:spPr bwMode="auto">
          <a:xfrm>
            <a:off x="1878013" y="5445125"/>
            <a:ext cx="752475" cy="366713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64(C)</a:t>
            </a:r>
          </a:p>
        </p:txBody>
      </p:sp>
      <p:sp>
        <p:nvSpPr>
          <p:cNvPr id="1607765" name="Text Box 85"/>
          <p:cNvSpPr txBox="1">
            <a:spLocks noChangeArrowheads="1"/>
          </p:cNvSpPr>
          <p:nvPr/>
        </p:nvSpPr>
        <p:spPr bwMode="auto">
          <a:xfrm>
            <a:off x="4735513" y="4646613"/>
            <a:ext cx="561975" cy="366712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128</a:t>
            </a:r>
          </a:p>
        </p:txBody>
      </p:sp>
      <p:sp>
        <p:nvSpPr>
          <p:cNvPr id="1607766" name="Line 86"/>
          <p:cNvSpPr>
            <a:spLocks noChangeShapeType="1"/>
          </p:cNvSpPr>
          <p:nvPr/>
        </p:nvSpPr>
        <p:spPr bwMode="auto">
          <a:xfrm>
            <a:off x="5065713" y="4221163"/>
            <a:ext cx="201612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67" name="Line 87"/>
          <p:cNvSpPr>
            <a:spLocks noChangeShapeType="1"/>
          </p:cNvSpPr>
          <p:nvPr/>
        </p:nvSpPr>
        <p:spPr bwMode="auto">
          <a:xfrm>
            <a:off x="5065713" y="4221163"/>
            <a:ext cx="0" cy="4318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68" name="Line 88"/>
          <p:cNvSpPr>
            <a:spLocks noChangeShapeType="1"/>
          </p:cNvSpPr>
          <p:nvPr/>
        </p:nvSpPr>
        <p:spPr bwMode="auto">
          <a:xfrm>
            <a:off x="7081838" y="4221163"/>
            <a:ext cx="0" cy="4318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07769" name="Text Box 89"/>
          <p:cNvSpPr txBox="1">
            <a:spLocks noChangeArrowheads="1"/>
          </p:cNvSpPr>
          <p:nvPr/>
        </p:nvSpPr>
        <p:spPr bwMode="auto">
          <a:xfrm>
            <a:off x="6778625" y="4659313"/>
            <a:ext cx="561975" cy="366712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128</a:t>
            </a:r>
          </a:p>
        </p:txBody>
      </p:sp>
      <p:sp>
        <p:nvSpPr>
          <p:cNvPr id="1607772" name="Text Box 92"/>
          <p:cNvSpPr txBox="1">
            <a:spLocks noChangeArrowheads="1"/>
          </p:cNvSpPr>
          <p:nvPr/>
        </p:nvSpPr>
        <p:spPr bwMode="auto">
          <a:xfrm>
            <a:off x="4686300" y="4652963"/>
            <a:ext cx="879475" cy="366712"/>
          </a:xfrm>
          <a:prstGeom prst="rect">
            <a:avLst/>
          </a:prstGeom>
          <a:solidFill>
            <a:schemeClr val="accent1"/>
          </a:solidFill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128(D)</a:t>
            </a:r>
          </a:p>
        </p:txBody>
      </p:sp>
      <p:sp>
        <p:nvSpPr>
          <p:cNvPr id="1607773" name="Rectangle 93"/>
          <p:cNvSpPr>
            <a:spLocks noChangeArrowheads="1"/>
          </p:cNvSpPr>
          <p:nvPr/>
        </p:nvSpPr>
        <p:spPr bwMode="auto">
          <a:xfrm>
            <a:off x="7380288" y="2708275"/>
            <a:ext cx="1728787" cy="280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/>
              <a:t>Alloc A 45 KB</a:t>
            </a:r>
          </a:p>
          <a:p>
            <a:pPr marL="342900" indent="-342900" algn="l">
              <a:spcBef>
                <a:spcPct val="20000"/>
              </a:spcBef>
            </a:pPr>
            <a:r>
              <a:rPr lang="en-US"/>
              <a:t>Alloc B 70 KB</a:t>
            </a:r>
          </a:p>
          <a:p>
            <a:pPr marL="342900" indent="-342900" algn="l">
              <a:spcBef>
                <a:spcPct val="20000"/>
              </a:spcBef>
            </a:pPr>
            <a:r>
              <a:rPr lang="en-US"/>
              <a:t>Alloc C 50 KB</a:t>
            </a:r>
          </a:p>
          <a:p>
            <a:pPr marL="342900" indent="-342900" algn="l">
              <a:spcBef>
                <a:spcPct val="20000"/>
              </a:spcBef>
            </a:pPr>
            <a:r>
              <a:rPr lang="en-US"/>
              <a:t>Alloc D 90 KB</a:t>
            </a:r>
          </a:p>
          <a:p>
            <a:pPr marL="342900" indent="-342900" algn="l">
              <a:spcBef>
                <a:spcPct val="20000"/>
              </a:spcBef>
            </a:pPr>
            <a:r>
              <a:rPr lang="en-US"/>
              <a:t>Free C</a:t>
            </a:r>
          </a:p>
          <a:p>
            <a:pPr marL="342900" indent="-342900" algn="l">
              <a:spcBef>
                <a:spcPct val="20000"/>
              </a:spcBef>
            </a:pPr>
            <a:r>
              <a:rPr lang="en-US"/>
              <a:t>Free A</a:t>
            </a:r>
          </a:p>
          <a:p>
            <a:pPr marL="342900" indent="-342900" algn="l">
              <a:spcBef>
                <a:spcPct val="20000"/>
              </a:spcBef>
            </a:pPr>
            <a:r>
              <a:rPr lang="en-US"/>
              <a:t>Free B</a:t>
            </a:r>
          </a:p>
          <a:p>
            <a:pPr marL="342900" indent="-342900" algn="l">
              <a:spcBef>
                <a:spcPct val="20000"/>
              </a:spcBef>
            </a:pPr>
            <a:r>
              <a:rPr lang="en-US"/>
              <a:t>Free D</a:t>
            </a:r>
          </a:p>
        </p:txBody>
      </p:sp>
      <p:sp>
        <p:nvSpPr>
          <p:cNvPr id="71723" name="Line 94"/>
          <p:cNvSpPr>
            <a:spLocks noChangeShapeType="1"/>
          </p:cNvSpPr>
          <p:nvPr/>
        </p:nvSpPr>
        <p:spPr bwMode="auto">
          <a:xfrm>
            <a:off x="323850" y="1773238"/>
            <a:ext cx="80645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71724" name="Text Box 95"/>
          <p:cNvSpPr txBox="1">
            <a:spLocks noChangeArrowheads="1"/>
          </p:cNvSpPr>
          <p:nvPr/>
        </p:nvSpPr>
        <p:spPr bwMode="auto">
          <a:xfrm>
            <a:off x="2147888" y="1412875"/>
            <a:ext cx="5032375" cy="36671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512  KB of Memory (physically contiguous area)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7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7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07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0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0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0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07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07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0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0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07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0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0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60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07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60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60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60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0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60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60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60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60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60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607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60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60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607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60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60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6077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60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60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60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60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160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160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160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1607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60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16077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5" dur="500"/>
                                        <p:tgtEl>
                                          <p:spTgt spid="1607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8" dur="500"/>
                                        <p:tgtEl>
                                          <p:spTgt spid="16077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16077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8" dur="500"/>
                                        <p:tgtEl>
                                          <p:spTgt spid="1607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1" dur="500"/>
                                        <p:tgtEl>
                                          <p:spTgt spid="16077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6" dur="500"/>
                                        <p:tgtEl>
                                          <p:spTgt spid="1607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9" dur="500"/>
                                        <p:tgtEl>
                                          <p:spTgt spid="1607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2" dur="500"/>
                                        <p:tgtEl>
                                          <p:spTgt spid="16077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5" dur="500"/>
                                        <p:tgtEl>
                                          <p:spTgt spid="1607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8" dur="500"/>
                                        <p:tgtEl>
                                          <p:spTgt spid="16077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1" dur="500"/>
                                        <p:tgtEl>
                                          <p:spTgt spid="16077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4" dur="500"/>
                                        <p:tgtEl>
                                          <p:spTgt spid="1607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0" dur="500"/>
                                        <p:tgtEl>
                                          <p:spTgt spid="16077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4" dur="500"/>
                                        <p:tgtEl>
                                          <p:spTgt spid="1607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7" dur="500"/>
                                        <p:tgtEl>
                                          <p:spTgt spid="1607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2" dur="500"/>
                                        <p:tgtEl>
                                          <p:spTgt spid="1607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5" dur="500"/>
                                        <p:tgtEl>
                                          <p:spTgt spid="1607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8" dur="500"/>
                                        <p:tgtEl>
                                          <p:spTgt spid="1607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1" dur="500"/>
                                        <p:tgtEl>
                                          <p:spTgt spid="1607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4" dur="500"/>
                                        <p:tgtEl>
                                          <p:spTgt spid="1607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7" dur="500"/>
                                        <p:tgtEl>
                                          <p:spTgt spid="16077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0" dur="500"/>
                                        <p:tgtEl>
                                          <p:spTgt spid="1607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6" dur="500"/>
                                        <p:tgtEl>
                                          <p:spTgt spid="16077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0" dur="500"/>
                                        <p:tgtEl>
                                          <p:spTgt spid="1607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3" dur="500"/>
                                        <p:tgtEl>
                                          <p:spTgt spid="16077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8" dur="500"/>
                                        <p:tgtEl>
                                          <p:spTgt spid="16077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1" dur="500"/>
                                        <p:tgtEl>
                                          <p:spTgt spid="1607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4" dur="500"/>
                                        <p:tgtEl>
                                          <p:spTgt spid="16077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7" dur="500"/>
                                        <p:tgtEl>
                                          <p:spTgt spid="16077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0" dur="500"/>
                                        <p:tgtEl>
                                          <p:spTgt spid="16077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3" dur="500"/>
                                        <p:tgtEl>
                                          <p:spTgt spid="1607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6" dur="500"/>
                                        <p:tgtEl>
                                          <p:spTgt spid="16077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1" dur="500"/>
                                        <p:tgtEl>
                                          <p:spTgt spid="1607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4" dur="500"/>
                                        <p:tgtEl>
                                          <p:spTgt spid="16077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7" dur="500"/>
                                        <p:tgtEl>
                                          <p:spTgt spid="1607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0" dur="500"/>
                                        <p:tgtEl>
                                          <p:spTgt spid="16077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3" dur="500"/>
                                        <p:tgtEl>
                                          <p:spTgt spid="16077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6" dur="500"/>
                                        <p:tgtEl>
                                          <p:spTgt spid="16077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9" dur="500"/>
                                        <p:tgtEl>
                                          <p:spTgt spid="1607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9" grpId="0" animBg="1"/>
      <p:bldP spid="1607719" grpId="1" animBg="1"/>
      <p:bldP spid="1607720" grpId="0" animBg="1"/>
      <p:bldP spid="1607720" grpId="1" animBg="1"/>
      <p:bldP spid="1607730" grpId="0" animBg="1"/>
      <p:bldP spid="1607730" grpId="1" animBg="1"/>
      <p:bldP spid="1607731" grpId="0" animBg="1"/>
      <p:bldP spid="1607731" grpId="1" animBg="1"/>
      <p:bldP spid="1607732" grpId="0" animBg="1"/>
      <p:bldP spid="1607732" grpId="1" animBg="1"/>
      <p:bldP spid="1607733" grpId="0" animBg="1"/>
      <p:bldP spid="1607733" grpId="1" animBg="1"/>
      <p:bldP spid="1607734" grpId="0" animBg="1"/>
      <p:bldP spid="1607734" grpId="1" animBg="1"/>
      <p:bldP spid="1607735" grpId="0" animBg="1"/>
      <p:bldP spid="1607735" grpId="1" animBg="1"/>
      <p:bldP spid="1607736" grpId="0" animBg="1"/>
      <p:bldP spid="1607736" grpId="1" animBg="1"/>
      <p:bldP spid="1607737" grpId="0" animBg="1"/>
      <p:bldP spid="1607737" grpId="1" animBg="1"/>
      <p:bldP spid="1607738" grpId="0" animBg="1"/>
      <p:bldP spid="1607738" grpId="1" animBg="1"/>
      <p:bldP spid="1607739" grpId="0" animBg="1"/>
      <p:bldP spid="1607739" grpId="1" animBg="1"/>
      <p:bldP spid="1607742" grpId="0" animBg="1"/>
      <p:bldP spid="1607742" grpId="1" animBg="1"/>
      <p:bldP spid="1607743" grpId="0" animBg="1"/>
      <p:bldP spid="1607743" grpId="1" animBg="1"/>
      <p:bldP spid="1607744" grpId="0" animBg="1"/>
      <p:bldP spid="1607744" grpId="1" animBg="1"/>
      <p:bldP spid="1607746" grpId="0" animBg="1"/>
      <p:bldP spid="1607746" grpId="1" animBg="1"/>
      <p:bldP spid="1607751" grpId="0" animBg="1"/>
      <p:bldP spid="1607751" grpId="1" animBg="1"/>
      <p:bldP spid="1607752" grpId="0" animBg="1"/>
      <p:bldP spid="1607752" grpId="1" animBg="1"/>
      <p:bldP spid="1607753" grpId="0" animBg="1"/>
      <p:bldP spid="1607753" grpId="1" animBg="1"/>
      <p:bldP spid="1607754" grpId="0" animBg="1"/>
      <p:bldP spid="1607754" grpId="1" animBg="1"/>
      <p:bldP spid="1607755" grpId="0" animBg="1"/>
      <p:bldP spid="1607755" grpId="1" animBg="1"/>
      <p:bldP spid="1607756" grpId="0" animBg="1"/>
      <p:bldP spid="1607756" grpId="1" animBg="1"/>
      <p:bldP spid="1607757" grpId="0" animBg="1"/>
      <p:bldP spid="1607757" grpId="1" animBg="1"/>
      <p:bldP spid="1607758" grpId="0" animBg="1"/>
      <p:bldP spid="1607758" grpId="1" animBg="1"/>
      <p:bldP spid="1607759" grpId="0" animBg="1"/>
      <p:bldP spid="1607759" grpId="1" animBg="1"/>
      <p:bldP spid="1607760" grpId="0" animBg="1"/>
      <p:bldP spid="1607760" grpId="1" animBg="1"/>
      <p:bldP spid="1607761" grpId="0" animBg="1"/>
      <p:bldP spid="1607761" grpId="1" animBg="1"/>
      <p:bldP spid="1607762" grpId="0" animBg="1"/>
      <p:bldP spid="1607762" grpId="1" animBg="1"/>
      <p:bldP spid="1607747" grpId="0" animBg="1"/>
      <p:bldP spid="1607747" grpId="1" animBg="1"/>
      <p:bldP spid="1607763" grpId="0" animBg="1"/>
      <p:bldP spid="1607763" grpId="1" animBg="1"/>
      <p:bldP spid="1607765" grpId="0" animBg="1"/>
      <p:bldP spid="1607765" grpId="1" animBg="1"/>
      <p:bldP spid="1607766" grpId="0" animBg="1"/>
      <p:bldP spid="1607766" grpId="1" animBg="1"/>
      <p:bldP spid="1607767" grpId="0" animBg="1"/>
      <p:bldP spid="1607767" grpId="1" animBg="1"/>
      <p:bldP spid="1607768" grpId="0" animBg="1"/>
      <p:bldP spid="1607768" grpId="1" animBg="1"/>
      <p:bldP spid="1607769" grpId="0" animBg="1"/>
      <p:bldP spid="1607769" grpId="1" animBg="1"/>
      <p:bldP spid="1607772" grpId="0" animBg="1"/>
      <p:bldP spid="1607772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1200</Words>
  <Application>Microsoft Office PowerPoint</Application>
  <PresentationFormat>On-screen Show (4:3)</PresentationFormat>
  <Paragraphs>359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ＭＳ Ｐゴシック</vt:lpstr>
      <vt:lpstr>Arial</vt:lpstr>
      <vt:lpstr>Calibri</vt:lpstr>
      <vt:lpstr>Helvetica</vt:lpstr>
      <vt:lpstr>Monotype Sorts</vt:lpstr>
      <vt:lpstr>Symbol</vt:lpstr>
      <vt:lpstr>Verdana</vt:lpstr>
      <vt:lpstr>Wingdings</vt:lpstr>
      <vt:lpstr>Office Theme</vt:lpstr>
      <vt:lpstr>Virtual Memory</vt:lpstr>
      <vt:lpstr>Background</vt:lpstr>
      <vt:lpstr>Virtual Memory That is Larger Than Physical Memory</vt:lpstr>
      <vt:lpstr>A typical virtual-address space layout of a process</vt:lpstr>
      <vt:lpstr>Shared Library Using Virtual Memory</vt:lpstr>
      <vt:lpstr>Implementing Virtual Memory</vt:lpstr>
      <vt:lpstr>Policies for Paging/ Segmentation</vt:lpstr>
      <vt:lpstr>Demand Paging</vt:lpstr>
      <vt:lpstr>Valid-Invalid Bit</vt:lpstr>
      <vt:lpstr>Page Table When Some Pages Are Not in Main Memory</vt:lpstr>
      <vt:lpstr>Page Fault</vt:lpstr>
      <vt:lpstr>Page Fault (Cont.)</vt:lpstr>
      <vt:lpstr>Steps in Handling a Page Fault</vt:lpstr>
      <vt:lpstr>What happens if there is no free frame?</vt:lpstr>
      <vt:lpstr>Need For Page Replacement</vt:lpstr>
      <vt:lpstr>Basic Page Replacement</vt:lpstr>
      <vt:lpstr>Page Replacement</vt:lpstr>
      <vt:lpstr>Page Replacement Algorithms</vt:lpstr>
      <vt:lpstr>Driving reference string</vt:lpstr>
      <vt:lpstr>First-In-First-Out (FIFO) Algorithm</vt:lpstr>
      <vt:lpstr>FIFO Page Replacement</vt:lpstr>
      <vt:lpstr>Optimal Algorithm</vt:lpstr>
      <vt:lpstr>Optimal Page Replacement</vt:lpstr>
      <vt:lpstr>Least Recently Used (LRU) Algorithm</vt:lpstr>
      <vt:lpstr>LRU Page Replacement</vt:lpstr>
      <vt:lpstr>LRU Algorithm Implementation</vt:lpstr>
      <vt:lpstr>LRU Algorithm Implementation</vt:lpstr>
      <vt:lpstr>Buddy System Allocator</vt:lpstr>
      <vt:lpstr>Example</vt:lpstr>
      <vt:lpstr>Example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</dc:title>
  <dc:creator>Hamaila Saeed</dc:creator>
  <cp:lastModifiedBy>Adeel</cp:lastModifiedBy>
  <cp:revision>28</cp:revision>
  <dcterms:created xsi:type="dcterms:W3CDTF">2016-11-13T15:23:49Z</dcterms:created>
  <dcterms:modified xsi:type="dcterms:W3CDTF">2021-04-19T06:57:33Z</dcterms:modified>
</cp:coreProperties>
</file>